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37"/>
  </p:notesMasterIdLst>
  <p:sldIdLst>
    <p:sldId id="385" r:id="rId2"/>
    <p:sldId id="527" r:id="rId3"/>
    <p:sldId id="512" r:id="rId4"/>
    <p:sldId id="532" r:id="rId5"/>
    <p:sldId id="452" r:id="rId6"/>
    <p:sldId id="515" r:id="rId7"/>
    <p:sldId id="516" r:id="rId8"/>
    <p:sldId id="447" r:id="rId9"/>
    <p:sldId id="469" r:id="rId10"/>
    <p:sldId id="357" r:id="rId11"/>
    <p:sldId id="513" r:id="rId12"/>
    <p:sldId id="390" r:id="rId13"/>
    <p:sldId id="538" r:id="rId14"/>
    <p:sldId id="539" r:id="rId15"/>
    <p:sldId id="348" r:id="rId16"/>
    <p:sldId id="391" r:id="rId17"/>
    <p:sldId id="533" r:id="rId18"/>
    <p:sldId id="535" r:id="rId19"/>
    <p:sldId id="536" r:id="rId20"/>
    <p:sldId id="376" r:id="rId21"/>
    <p:sldId id="488" r:id="rId22"/>
    <p:sldId id="490" r:id="rId23"/>
    <p:sldId id="492" r:id="rId24"/>
    <p:sldId id="323" r:id="rId25"/>
    <p:sldId id="496" r:id="rId26"/>
    <p:sldId id="495" r:id="rId27"/>
    <p:sldId id="500" r:id="rId28"/>
    <p:sldId id="514" r:id="rId29"/>
    <p:sldId id="487" r:id="rId30"/>
    <p:sldId id="262" r:id="rId31"/>
    <p:sldId id="341" r:id="rId32"/>
    <p:sldId id="521" r:id="rId33"/>
    <p:sldId id="522" r:id="rId34"/>
    <p:sldId id="509" r:id="rId35"/>
    <p:sldId id="540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0446" autoAdjust="0"/>
  </p:normalViewPr>
  <p:slideViewPr>
    <p:cSldViewPr>
      <p:cViewPr varScale="1">
        <p:scale>
          <a:sx n="72" d="100"/>
          <a:sy n="72" d="100"/>
        </p:scale>
        <p:origin x="14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en-GB" dirty="0"/>
            <a:t>Expansion.</a:t>
          </a:r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en-US" dirty="0"/>
            <a:t>Community participation &amp; </a:t>
          </a:r>
          <a:r>
            <a:rPr lang="en-US" dirty="0" err="1"/>
            <a:t>comette</a:t>
          </a:r>
          <a:r>
            <a:rPr lang="en-US" dirty="0"/>
            <a:t> formation</a:t>
          </a:r>
          <a:r>
            <a:rPr lang="bn-IN" dirty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/>
            <a:t>Staff increase :44</a:t>
          </a:r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en-US" dirty="0"/>
            <a:t>Security</a:t>
          </a:r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en-GB" dirty="0"/>
            <a:t>Corruption  prevention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en-US" dirty="0"/>
            <a:t>Cleaning &amp;beautification</a:t>
          </a:r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US" dirty="0"/>
            <a:t>Best UHC</a:t>
          </a:r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</dgm:pt>
    <dgm:pt modelId="{D046EDB0-D1C9-407A-A55E-5858E1E5D4AF}" type="pres">
      <dgm:prSet presAssocID="{4F97281A-802C-4000-8D2A-66142CFFCE3C}" presName="sibTransFirstNode" presStyleLbl="bgShp" presStyleIdx="0" presStyleCnt="1"/>
      <dgm:spPr/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</dgm:pt>
    <dgm:pt modelId="{C4FF0D0D-74E1-473C-A1E9-CFD413B11028}" type="pres">
      <dgm:prSet presAssocID="{610D7153-D836-425E-ABAB-41B69166C8FA}" presName="nodeFollowingNodes" presStyleLbl="node1" presStyleIdx="4" presStyleCnt="7" custRadScaleRad="99591" custRadScaleInc="-114317">
        <dgm:presLayoutVars>
          <dgm:bulletEnabled val="1"/>
        </dgm:presLayoutVars>
      </dgm:prSet>
      <dgm:spPr/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</dgm:pt>
  </dgm:ptLst>
  <dgm:cxnLst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313915" y="93300"/>
          <a:ext cx="4585807" cy="4585807"/>
        </a:xfrm>
        <a:prstGeom prst="circularArrow">
          <a:avLst>
            <a:gd name="adj1" fmla="val 5544"/>
            <a:gd name="adj2" fmla="val 330680"/>
            <a:gd name="adj3" fmla="val 14545437"/>
            <a:gd name="adj4" fmla="val 1693328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1908018" y="126834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Best UHC</a:t>
          </a:r>
        </a:p>
      </dsp:txBody>
      <dsp:txXfrm>
        <a:off x="1942131" y="160947"/>
        <a:ext cx="1329375" cy="630574"/>
      </dsp:txXfrm>
    </dsp:sp>
    <dsp:sp modelId="{CB4F0E61-DC7F-4119-ABA9-796676CB2FA1}">
      <dsp:nvSpPr>
        <dsp:cNvPr id="0" name=""/>
        <dsp:cNvSpPr/>
      </dsp:nvSpPr>
      <dsp:spPr>
        <a:xfrm>
          <a:off x="441971" y="852167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Expansion.</a:t>
          </a:r>
        </a:p>
      </dsp:txBody>
      <dsp:txXfrm>
        <a:off x="476084" y="886280"/>
        <a:ext cx="1329375" cy="630574"/>
      </dsp:txXfrm>
    </dsp:sp>
    <dsp:sp modelId="{57FC54FE-E97C-4F29-92CF-2A7248720E8D}">
      <dsp:nvSpPr>
        <dsp:cNvPr id="0" name=""/>
        <dsp:cNvSpPr/>
      </dsp:nvSpPr>
      <dsp:spPr>
        <a:xfrm>
          <a:off x="3814549" y="2364251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Community participation &amp; </a:t>
          </a:r>
          <a:r>
            <a:rPr lang="en-US" sz="1200" kern="1200" dirty="0" err="1"/>
            <a:t>comette</a:t>
          </a:r>
          <a:r>
            <a:rPr lang="en-US" sz="1200" kern="1200" dirty="0"/>
            <a:t> formation</a:t>
          </a:r>
          <a:r>
            <a:rPr lang="bn-IN" sz="1200" kern="1200" dirty="0"/>
            <a:t> </a:t>
          </a:r>
          <a:endParaRPr lang="en-US" sz="1200" kern="1200" dirty="0"/>
        </a:p>
      </dsp:txBody>
      <dsp:txXfrm>
        <a:off x="3848662" y="2398364"/>
        <a:ext cx="1329375" cy="630574"/>
      </dsp:txXfrm>
    </dsp:sp>
    <dsp:sp modelId="{E2E5C2CC-16B6-414F-A1E4-8C9432894059}">
      <dsp:nvSpPr>
        <dsp:cNvPr id="0" name=""/>
        <dsp:cNvSpPr/>
      </dsp:nvSpPr>
      <dsp:spPr>
        <a:xfrm>
          <a:off x="932773" y="3814047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Staff increase :44</a:t>
          </a:r>
        </a:p>
      </dsp:txBody>
      <dsp:txXfrm>
        <a:off x="966886" y="3848160"/>
        <a:ext cx="1329375" cy="630574"/>
      </dsp:txXfrm>
    </dsp:sp>
    <dsp:sp modelId="{C4FF0D0D-74E1-473C-A1E9-CFD413B11028}">
      <dsp:nvSpPr>
        <dsp:cNvPr id="0" name=""/>
        <dsp:cNvSpPr/>
      </dsp:nvSpPr>
      <dsp:spPr>
        <a:xfrm>
          <a:off x="2753468" y="3836894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Security</a:t>
          </a:r>
        </a:p>
      </dsp:txBody>
      <dsp:txXfrm>
        <a:off x="2787581" y="3871007"/>
        <a:ext cx="1329375" cy="630574"/>
      </dsp:txXfrm>
    </dsp:sp>
    <dsp:sp modelId="{8D24C1E3-835B-4535-A9EB-AB5FCDF4505F}">
      <dsp:nvSpPr>
        <dsp:cNvPr id="0" name=""/>
        <dsp:cNvSpPr/>
      </dsp:nvSpPr>
      <dsp:spPr>
        <a:xfrm>
          <a:off x="289" y="2285323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Corruption  prevention </a:t>
          </a:r>
          <a:endParaRPr lang="en-US" sz="1200" kern="1200" dirty="0"/>
        </a:p>
      </dsp:txBody>
      <dsp:txXfrm>
        <a:off x="34402" y="2319436"/>
        <a:ext cx="1329375" cy="630574"/>
      </dsp:txXfrm>
    </dsp:sp>
    <dsp:sp modelId="{8173D7A6-1922-458F-9222-CB9A92415CD8}">
      <dsp:nvSpPr>
        <dsp:cNvPr id="0" name=""/>
        <dsp:cNvSpPr/>
      </dsp:nvSpPr>
      <dsp:spPr>
        <a:xfrm>
          <a:off x="3445059" y="833105"/>
          <a:ext cx="1397601" cy="69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Cleaning &amp;beautification</a:t>
          </a:r>
        </a:p>
      </dsp:txBody>
      <dsp:txXfrm>
        <a:off x="3479172" y="867218"/>
        <a:ext cx="1329375" cy="630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10/20/2022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2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A6AD93-BD72-42ED-B1DC-C5E58BE4E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E77E2E-B07E-48FD-91A3-58E45726F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6555712-0B84-4C3A-9118-B3E48184A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8DBCCB-4C23-435A-8E51-FBD2B31FEC8C}" type="slidenum">
              <a:rPr lang="en-US" altLang="en-US"/>
              <a:pPr eaLnBrk="1" hangingPunct="1"/>
              <a:t>13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2257331-E17E-4C34-ACBB-D2849C4C6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A6E0831-79F6-435B-B69B-D7A870F9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5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745A486-D04E-4858-ACD6-AEE5D957B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BAC74D-5FC4-4CD9-AAE7-6B58F7832856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D7204C3-3D7C-44CF-B1C4-458B16267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6FA1C3-20ED-42CC-BC9D-06769CA8E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C37F067-449D-4686-A358-95C1FE389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BC43C7-29B3-414C-8996-97B66DCD6CC5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A8C737F-C937-4FB2-8536-2494E8DEC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48AFE14-7CFA-47D6-875B-4EE0B6F1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4F4F54C2-9248-43C0-9FBB-13F2A5802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6117B931-8D96-4F4A-A722-FE05E31681A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31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A8524B9-F19A-4A07-A542-84083CE75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44D836B-BF78-4E6F-9B2D-0EB6AA34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A7F6AF17-4B02-4774-B145-0B533BA06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79D858D4-236D-4872-91CD-7001687E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9ED7A956-EE2C-46D8-82F0-F744D584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4AA9FDC3-594D-4D50-8719-29FB87987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10/20/2022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F48E46-651E-4A25-8C45-5E50D3C6F0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B1F6F67-C9E9-4051-A654-02685ADD7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AB8AAC6-DE81-40DE-A858-F57EB4DEC0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7483D-2146-4775-927D-60B547393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40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2022/10/20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jpe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4.wmf"/><Relationship Id="rId10" Type="http://schemas.openxmlformats.org/officeDocument/2006/relationships/image" Target="../media/image56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457200" y="304800"/>
            <a:ext cx="85344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Role of the community in developing </a:t>
            </a:r>
          </a:p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UHC Model.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6019800"/>
            <a:ext cx="4572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</a:p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44591"/>
            <a:ext cx="6629400" cy="437520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95082"/>
              </p:ext>
            </p:extLst>
          </p:nvPr>
        </p:nvGraphicFramePr>
        <p:xfrm>
          <a:off x="144439" y="1295400"/>
          <a:ext cx="9213348" cy="484306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2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 rot="10800000" flipV="1">
            <a:off x="5181600" y="6415951"/>
            <a:ext cx="37731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Bank 2018,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resources of different countries  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903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SAARC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310072"/>
              </p:ext>
            </p:extLst>
          </p:nvPr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29389" y="1900622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29389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632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219200" y="5070226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932190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with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19175" y="3696839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257800" y="1143000"/>
            <a:ext cx="41910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Blood donor list &gt;1000 donor</a:t>
            </a:r>
            <a:r>
              <a:rPr lang="en-US" dirty="0">
                <a:latin typeface="Calibri" pitchFamily="34" charset="0"/>
              </a:rPr>
              <a:t>.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Birth-death recording through out the Upazilla.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Autofit/>
          </a:bodyPr>
          <a:lstStyle/>
          <a:p>
            <a:r>
              <a:rPr lang="en-US" sz="2800" dirty="0"/>
              <a:t>Cycle stand near the entrance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" y="1319904"/>
            <a:ext cx="4349848" cy="3175895"/>
          </a:xfrm>
        </p:spPr>
      </p:pic>
      <p:sp>
        <p:nvSpPr>
          <p:cNvPr id="9" name="Rectangle 8"/>
          <p:cNvSpPr/>
          <p:nvPr/>
        </p:nvSpPr>
        <p:spPr>
          <a:xfrm>
            <a:off x="0" y="5107209"/>
            <a:ext cx="6019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2200" b="1" dirty="0"/>
              <a:t>Pushti Tray”-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97695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the health complex.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3" y="3770723"/>
            <a:ext cx="4127497" cy="29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990600"/>
            <a:ext cx="3962400" cy="1219200"/>
          </a:xfrm>
        </p:spPr>
        <p:txBody>
          <a:bodyPr>
            <a:noAutofit/>
          </a:bodyPr>
          <a:lstStyle/>
          <a:p>
            <a:pPr algn="ctr"/>
            <a:r>
              <a:rPr lang="en-US" dirty="0" err="1"/>
              <a:t>Labour</a:t>
            </a:r>
            <a:r>
              <a:rPr lang="en-US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55890" y="5791200"/>
            <a:ext cx="4983418" cy="47148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3F51AF1-FD59-4942-8F00-267233307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 dirty="0"/>
              <a:t>All mother will take ANC &amp; PNC Care in the Health Complex(Minimum 5 Visit</a:t>
            </a:r>
            <a:r>
              <a:rPr lang="en-US" altLang="en-US" sz="2000" b="1" dirty="0"/>
              <a:t>)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1661D01-577D-4F3A-AF86-1D2945DA56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/>
          </a:p>
          <a:p>
            <a:pPr algn="ctr">
              <a:buFontTx/>
              <a:buNone/>
            </a:pPr>
            <a:endParaRPr lang="en-US" altLang="en-US" sz="2800"/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E9477B92-AA10-4251-B80A-38389EBD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9461" name="Object 25">
            <a:extLst>
              <a:ext uri="{FF2B5EF4-FFF2-40B4-BE49-F238E27FC236}">
                <a16:creationId xmlns:a16="http://schemas.microsoft.com/office/drawing/2014/main" id="{1F9264CA-D3DE-4070-9B16-D7A9224FB4F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9461" name="Object 25">
                        <a:extLst>
                          <a:ext uri="{FF2B5EF4-FFF2-40B4-BE49-F238E27FC236}">
                            <a16:creationId xmlns:a16="http://schemas.microsoft.com/office/drawing/2014/main" id="{1F9264CA-D3DE-4070-9B16-D7A9224FB4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All mother will deliver their baby in Hospital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dirty="0"/>
              <a:t>All Caesarian Section Perform in Govt. Hospital</a:t>
            </a:r>
            <a:r>
              <a:rPr lang="en-US" sz="2000" b="1" dirty="0"/>
              <a:t>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1612262"/>
              </p:ext>
            </p:extLst>
          </p:nvPr>
        </p:nvGraphicFramePr>
        <p:xfrm>
          <a:off x="990600" y="2678112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678112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6B77D2-4122-4E45-9F4E-C7BA6C3F5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640"/>
            <a:ext cx="8153400" cy="97555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UHC,CHOWGACHA,JASHORE.</a:t>
            </a:r>
            <a:br>
              <a:rPr lang="en-US" altLang="en-US" sz="3600" b="1" dirty="0"/>
            </a:br>
            <a:endParaRPr lang="en-US" altLang="en-US" sz="2800" b="1" dirty="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9689E5E-2CF0-42C3-A770-171EB38F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3401"/>
            <a:ext cx="81153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20216" name="Group 760">
            <a:extLst>
              <a:ext uri="{FF2B5EF4-FFF2-40B4-BE49-F238E27FC236}">
                <a16:creationId xmlns:a16="http://schemas.microsoft.com/office/drawing/2014/main" id="{D86488D1-44EB-4DD7-902F-D51CEB2DC8F3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2057400"/>
          <a:ext cx="8153400" cy="478541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6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Kustia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Fatima Hospital Jessore.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1586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011316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8910652-6617-46CB-9760-29CB7EB57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731836"/>
            <a:ext cx="8229600" cy="8683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100 Bedded Upazilla Health Complex</a:t>
            </a:r>
            <a:r>
              <a:rPr lang="en-US" altLang="en-US" sz="2000" b="1" dirty="0"/>
              <a:t>.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519B08-538D-4990-AC1E-B9627E1316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57400"/>
            <a:ext cx="4038600" cy="40687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graphicFrame>
        <p:nvGraphicFramePr>
          <p:cNvPr id="1154" name="Group 130">
            <a:extLst>
              <a:ext uri="{FF2B5EF4-FFF2-40B4-BE49-F238E27FC236}">
                <a16:creationId xmlns:a16="http://schemas.microsoft.com/office/drawing/2014/main" id="{4CC30397-DD21-45D1-8F8B-FBC5002310EF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04935859"/>
              </p:ext>
            </p:extLst>
          </p:nvPr>
        </p:nvGraphicFramePr>
        <p:xfrm>
          <a:off x="457200" y="2667000"/>
          <a:ext cx="7848600" cy="4068761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6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Year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Indoor Service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cs typeface="Arial" charset="0"/>
                        </a:rPr>
                        <a:t>No of Bed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Bed occupancy rate</a:t>
                      </a: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7126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8743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10944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12717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185.0%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13887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14819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208.0%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2688" name="Rectangle 48">
            <a:extLst>
              <a:ext uri="{FF2B5EF4-FFF2-40B4-BE49-F238E27FC236}">
                <a16:creationId xmlns:a16="http://schemas.microsoft.com/office/drawing/2014/main" id="{A036C37C-E526-427E-8C8D-F53B5999E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05002"/>
            <a:ext cx="78486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36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Indoor Service 2005 to 2011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6229C8-5D49-42D7-8AC0-9E28D93B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2400" b="1" dirty="0"/>
              <a:t>UHC CHOWGACHA , JESSORE.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7E6642F-7054-43F6-8075-AB34A48D8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E28113D7-0757-4E8C-B081-F3FABF45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EE17513F-14C1-40B7-BAB8-0A27EEC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65300"/>
            <a:ext cx="8016875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    ANC&amp; Growth Monitoring Card, </a:t>
            </a:r>
            <a:r>
              <a:rPr lang="en-US" altLang="en-US" sz="2000" dirty="0" err="1">
                <a:latin typeface="Arial Rounded MT Bold" panose="020F0704030504030204" pitchFamily="34" charset="0"/>
              </a:rPr>
              <a:t>Matir</a:t>
            </a:r>
            <a:r>
              <a:rPr lang="en-US" altLang="en-US" sz="2000" dirty="0">
                <a:latin typeface="Arial Rounded MT Bold" panose="020F0704030504030204" pitchFamily="34" charset="0"/>
              </a:rPr>
              <a:t> Bank donated by Ad-Din hospital &amp; 1 NGO.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 Rounded MT Bold" panose="020F0704030504030204" pitchFamily="34" charset="0"/>
              </a:rPr>
              <a:t> IPS &amp; 2 cleaners donated by Chairman Municipalities.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 Rounded MT Bold" panose="020F0704030504030204" pitchFamily="34" charset="0"/>
              </a:rPr>
              <a:t> 46 Manpower (Volunteer 26,Cleaner &amp; guard16,others 4)donated by the Community. </a:t>
            </a:r>
          </a:p>
          <a:p>
            <a:pPr>
              <a:spcBef>
                <a:spcPct val="0"/>
              </a:spcBef>
              <a:buNone/>
            </a:pPr>
            <a:endParaRPr lang="en-US" altLang="en-US" sz="2000" dirty="0">
              <a:latin typeface="Arial Rounded MT Bold" panose="020F070403050403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 Rounded MT Bold" panose="020F0704030504030204" pitchFamily="34" charset="0"/>
              </a:rPr>
              <a:t> Mobile phone, Dustbin and salary of 7 manpower &amp;,renovation of the hospital by Devine group.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000" dirty="0">
                <a:latin typeface="Arial Rounded MT Bold" panose="020F0704030504030204" pitchFamily="34" charset="0"/>
              </a:rPr>
              <a:t>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 Rounded MT Bold" panose="020F0704030504030204" pitchFamily="34" charset="0"/>
              </a:rPr>
              <a:t> Fuel of generator, tiers of ambulance ,drugs for </a:t>
            </a:r>
            <a:r>
              <a:rPr lang="en-US" altLang="en-US" sz="2000" dirty="0" err="1">
                <a:latin typeface="Arial Rounded MT Bold" panose="020F0704030504030204" pitchFamily="34" charset="0"/>
              </a:rPr>
              <a:t>arsenicosis</a:t>
            </a:r>
            <a:r>
              <a:rPr lang="en-US" altLang="en-US" sz="2000" dirty="0">
                <a:latin typeface="Arial Rounded MT Bold" panose="020F0704030504030204" pitchFamily="34" charset="0"/>
              </a:rPr>
              <a:t> , blood bag donated by Upazilla  Parishad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2000" dirty="0">
              <a:latin typeface="Arial Rounded MT Bold" panose="020F070403050403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 Rounded MT Bold" panose="020F0704030504030204" pitchFamily="34" charset="0"/>
              </a:rPr>
              <a:t> Various types of donations  by the service provider of the hospital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44558144-930D-4A26-9489-4C34F1A9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82192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45582"/>
              </p:ext>
            </p:extLst>
          </p:nvPr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donor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2802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20249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3352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107018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" y="1066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" y="0"/>
            <a:ext cx="9126078" cy="1066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Learning visit in other hospital  to develop quality of care.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370598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90593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875" y="993319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062722" y="1012155"/>
            <a:ext cx="4537074" cy="138499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800" dirty="0"/>
              <a:t> Health Education for the patients and their attendance by health Manager</a:t>
            </a:r>
            <a:r>
              <a:rPr lang="en-US" sz="2000" dirty="0"/>
              <a:t>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14300" y="4318876"/>
            <a:ext cx="4152900" cy="107721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3200" dirty="0"/>
              <a:t>Motivation of the community leaders </a:t>
            </a:r>
            <a:r>
              <a:rPr lang="en-US" sz="2000" dirty="0"/>
              <a:t>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0"/>
            <a:ext cx="8229599" cy="914400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Hospital</a:t>
            </a:r>
          </a:p>
        </p:txBody>
      </p:sp>
    </p:spTree>
    <p:extLst>
      <p:ext uri="{BB962C8B-B14F-4D97-AF65-F5344CB8AC3E}">
        <p14:creationId xmlns:p14="http://schemas.microsoft.com/office/powerpoint/2010/main" val="25154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6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79697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CD6D1931-655F-4D84-A296-9848D6DF4814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68F90AF-8BCF-45C9-8B5A-A0C26024C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F8D9B85C-E4BA-40AC-9837-C1F4B10DA3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F8D9B85C-E4BA-40AC-9837-C1F4B10DA3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AB86F339-AFF8-4730-95B4-7250F98979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AB86F339-AFF8-4730-95B4-7250F98979C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19311BE0-D067-40BB-9555-6D700675B1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19311BE0-D067-40BB-9555-6D700675B17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8646076C-EB4C-4B67-88F7-9225EA7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F8E4F45F-48E7-4304-9737-049866B73C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5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F8E4F45F-48E7-4304-9737-049866B73C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5723377-BB97-462D-BCB3-B10EFC9F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D259A4AB-7168-4D5F-95FB-389DDBD81EC8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886B46D3-0111-4D23-9440-61CD01521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4E3CBF06-8BEE-4F25-8EAF-D9CC3DE72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BC4B32C9-1EFE-44CA-9238-08D4CF601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5A04FDFD-9E8E-4D31-89CE-33C501441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86C7CCE1-8626-4F8C-B50F-B1F17B8B00E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50E59F01-05F0-416B-ACDB-4C2F9815AD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8C6E77E7-359D-48F2-BC4D-648881F3D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46C9B740-F1FF-4AC0-A04B-E6937896C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B2F41BC6-ED88-4046-94ED-B594E0B37B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B6905DE0-D0DF-4B1A-B3F3-1A54110DA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7B398AC8-8170-44EA-BF04-44A3BB7D5C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3899AC48-9F59-43BA-A9F5-C66D26A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397233C8-1238-4939-AB6E-D20EBC6AA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DDBAD37F-2081-4973-B3A9-763CE020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652E968C-0467-48B4-AD22-9BD91DC543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1E2B9B2F-8C7F-4974-81F9-155989CA2A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A9E9B7D4-88D1-4AC1-881B-6AAF7CCE14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4F1197A-1BD7-4FF8-A569-6AB1644C6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10BE0FEE-1E2C-4CB4-8DC9-5AE99780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4B1666E5-7CA7-45B9-A155-3A978E9EA5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502C1DAA-982F-4E4F-929E-C8F98D059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1565BAB2-304F-46D6-B387-20A0D8A6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143E79DC-BB44-433F-AA46-EC583A805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6512632-686B-498A-AE63-2C5AE9A3C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028854E4-1FDA-4395-938F-0C65EA7FC542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207EB77B-EBA9-447E-8266-99061764B5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A1910A79-0A20-4A3A-A527-5F157A8ED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5E185FCF-BA67-407F-B978-B656A9C4D2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878C23D6-5C41-4FE5-A33C-04A5C1571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874BB8AF-7870-4A4C-A42F-FF554CED2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78364900-3A0E-4D1E-BF40-94438DCD75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244B1FA4-AEAC-4EFD-A20B-293C868B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2DBF7F4D-B7B5-40CD-88C9-B4215284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</a:rPr>
              <a:t>A frontline-based problem solving approach </a:t>
            </a:r>
          </a:p>
          <a:p>
            <a:pPr>
              <a:spcBef>
                <a:spcPct val="50000"/>
              </a:spcBef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4E7E8-0C26-4313-93B5-50EB8C7D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16B70414-1123-498D-97C2-7C8A7F6CFFC8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B7084EBC-E9A1-4EA0-8CB0-5601C91C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0A16C013-782C-4192-86C5-B34C5F29D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48528052-A283-4D37-A46B-02641C0ED37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36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48528052-A283-4D37-A46B-02641C0ED37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4A4197-6A11-4341-9602-BC959749C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6444E49D-093D-49A4-9B42-D36E6DD10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4A943EDB-8A4F-4B4C-9F06-39D545050C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37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4A943EDB-8A4F-4B4C-9F06-39D545050CC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56A559BE-F4C1-42D3-83EB-FFC86BF5D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215FCBE3-0102-4D59-B2A5-50E644B9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429D8178-1E67-47FB-908C-ADEBFF4DBF2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38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429D8178-1E67-47FB-908C-ADEBFF4DBF2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E5B280B4-DBB6-4729-B517-0967AF56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09F0099C-D599-483E-9E11-71E0020969FB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6F9624EC-2042-48B9-B45D-5DD72675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B8E4B9D5-76F6-49F0-B6A9-8BE5FA168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F4AF6568-A6C1-4E8A-B1D0-818463583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D9E72E28-DD56-4130-A0FB-ACB3AF5480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634DC60C-48DD-448D-AE01-F169F1E8A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766E21B5-1F76-457E-BD1C-CC9808514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81A9CB65-829B-4E79-9B46-FB759F80CC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7F86EF57-30BA-449C-B07D-A1ABE1126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921F3A9E-D4C6-408A-B9C7-A4B9DCE2C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DC8B2C24-EAF9-4C4A-B161-EFDEA621AC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4496C39E-123A-4B94-A2B4-9E5E36E96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594E6046-FD7B-44F1-BBCF-21734FC49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EF8FCE6B-4734-49D1-A427-9FCBBC240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62DEB5E7-4D51-4BA5-B5B6-73BD3B5BD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8FBF486B-A58E-4FA6-8BC9-79C2BB0034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7E9705D2-4E0F-4D98-9122-CD8D0E919E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1B948C8C-08E4-4D67-BC09-E895F58834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A89D79A7-60F7-45A3-8D62-FD8C60F88E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F3713B55-EEE0-40D0-B95E-1321157D1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BCB30E9C-CA79-495D-9EF5-6AA14983E9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0FBFBC55-6D0A-4636-A427-066EA63699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9627A7D8-E081-4C1A-9BAD-1025BB812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23A99D1D-0214-4554-B19D-2FD27B659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E49B8F8F-F139-467B-AE54-9118302D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BC6F1B86-ED7B-404A-B8A1-7FCD4DD7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49C9133-3D28-4D27-A97E-A543DBBE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6D5E9297-374E-40A4-9486-D5D94BBA1CD3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CF99CC2-2FEF-4B27-B0FD-BBA29B92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CEEC06B2-5603-452D-B9B4-92FEFC32E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91F6EDCF-9252-474A-A683-E010B8D1F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7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91F6EDCF-9252-474A-A683-E010B8D1F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63CC3C8D-5D96-47E9-83EF-9D049F2D64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63CC3C8D-5D96-47E9-83EF-9D049F2D64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222D71CC-50BF-424B-ACCC-46812F4429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9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222D71CC-50BF-424B-ACCC-46812F4429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9DDF2585-7A56-4276-A9F1-B9C34AE37A0D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ADE2E927-785A-4250-910F-99051EB2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293E6E7D-3BD2-48F9-B927-162EA9A8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FA3BB798-48FD-4CB2-B7E8-AC0B306B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4B957200-3598-4DAA-8F04-5C6D7BA46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B3B42804-FD76-45F8-A6A0-C957F0791200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03376C3E-C276-49B7-B627-0E534A950A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5107A71E-A0A9-44DC-AFD5-700049F86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90AA7722-3BDF-40AB-8882-D4F46C5FF0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8B5F3B30-867B-4B0F-882F-E0E3D90E93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1AFF1450-04A3-4D69-9E54-ECE36A75DB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5B38B01C-F229-447D-BABB-471106D9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34D23594-1B3F-455F-A921-A16073D0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2EEB879E-3B9D-45FC-A2B4-07F7BD9063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1C8F3B33-AD45-478C-BDC8-CC8170E7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DBBC0679-1806-4D67-8304-FFD9AF078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695C1CC9-C6A9-48DC-A6FE-CE787AC4E7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DDDE5E05-2D49-4999-95B0-321AA17D86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FF2128F6-14CF-4A42-8E74-AA4AE48C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71C6522B-0461-466B-BD69-5000A0F96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56508A6-10B6-4BA3-AD80-63B5D431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E5D96428-2E93-464A-8FCB-59FE9EF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37F49550-DEC0-469E-86C8-7005A56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C12BEC5D-7C3B-4776-89A9-9D44338D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FA348AAC-0804-4FDC-8F86-8CA9942B1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A3C5BD49-C774-4E9A-9B29-EA112A87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AB404DB0-5130-4577-ADBC-3F90CB398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7261AA67-E903-4098-A647-E15486FFC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A03B6B5E-28B1-45D8-BC18-767B3FB09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6315B84C-0041-450F-8A19-C0FEAF68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EC0E3959-EB6C-4891-9F79-1102BCF2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828AE3E1-9E6F-47B3-B8A5-14577531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22B733B0-7127-43E5-812D-49B490BF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chemeClr val="tx1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:a16="http://schemas.microsoft.com/office/drawing/2014/main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340979"/>
              </p:ext>
            </p:extLst>
          </p:nvPr>
        </p:nvGraphicFramePr>
        <p:xfrm>
          <a:off x="218334" y="1151165"/>
          <a:ext cx="5213638" cy="4669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514" y="1800225"/>
            <a:ext cx="3037114" cy="3191152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GB" sz="3600" b="1" dirty="0">
                <a:latin typeface="SolaimanLipi" panose="03000609000000000000" pitchFamily="65" charset="0"/>
                <a:cs typeface="SolaimanLipi" panose="03000609000000000000" pitchFamily="65" charset="0"/>
              </a:rPr>
              <a:t>2018</a:t>
            </a:r>
            <a:endParaRPr lang="en-US" sz="3600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293779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7330</TotalTime>
  <Words>1019</Words>
  <Application>Microsoft Office PowerPoint</Application>
  <PresentationFormat>On-screen Show (4:3)</PresentationFormat>
  <Paragraphs>335</Paragraphs>
  <Slides>35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Albertus Extra Bold</vt:lpstr>
      <vt:lpstr>Andalus</vt:lpstr>
      <vt:lpstr>Arial</vt:lpstr>
      <vt:lpstr>Arial Black</vt:lpstr>
      <vt:lpstr>Arial Rounded MT Bold</vt:lpstr>
      <vt:lpstr>Book Antiqua</vt:lpstr>
      <vt:lpstr>Calibri</vt:lpstr>
      <vt:lpstr>Courier New</vt:lpstr>
      <vt:lpstr>NikoshBAN</vt:lpstr>
      <vt:lpstr>SolaimanLipi</vt:lpstr>
      <vt:lpstr>SutonnyMJ</vt:lpstr>
      <vt:lpstr>Times New Roman</vt:lpstr>
      <vt:lpstr>Wingdings</vt:lpstr>
      <vt:lpstr>Office Theme</vt:lpstr>
      <vt:lpstr>Chart</vt:lpstr>
      <vt:lpstr>ｸﾘｯﾌﾟ</vt:lpstr>
      <vt:lpstr>PowerPoint Presentation</vt:lpstr>
      <vt:lpstr>PowerPoint Presentation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 mother will take ANC &amp; PNC Care in the Health Complex(Minimum 5 Visit)</vt:lpstr>
      <vt:lpstr>All mother will deliver their baby in Hospital.</vt:lpstr>
      <vt:lpstr>All Caesarian Section Perform in Govt. Hospital.</vt:lpstr>
      <vt:lpstr>UHC,CHOWGACHA,JASHORE. </vt:lpstr>
      <vt:lpstr>100 Bedded Upazilla Health Complex.</vt:lpstr>
      <vt:lpstr>UHC CHOWGACHA , JESSORE.</vt:lpstr>
      <vt:lpstr>PowerPoint Presentation</vt:lpstr>
      <vt:lpstr>Criteria Of C-J Model.</vt:lpstr>
      <vt:lpstr>Criteria of C-J Model.</vt:lpstr>
      <vt:lpstr>Criteria of C-J Model.</vt:lpstr>
      <vt:lpstr>100 kh¨v wewkó m`i nvmcvZvj, wSbvB`n</vt:lpstr>
      <vt:lpstr>PowerPoint Presentation</vt:lpstr>
      <vt:lpstr>Changes in Pediatric Ward and EOC Ward </vt:lpstr>
      <vt:lpstr>PowerPoint Presentation</vt:lpstr>
      <vt:lpstr>Use of color code, alignment of picture &amp; continuous big cleaning day</vt:lpstr>
      <vt:lpstr>Innovative activities community supported manpower -  2</vt:lpstr>
      <vt:lpstr>Innovative activities of Hospital</vt:lpstr>
      <vt:lpstr>Innovative activities of Jhenaidah Sadar Hospital - 6</vt:lpstr>
      <vt:lpstr>PowerPoint Presentation</vt:lpstr>
      <vt:lpstr>PowerPoint Presentation</vt:lpstr>
      <vt:lpstr>Our usual solution:  We need more RESOURCES!!!!</vt:lpstr>
      <vt:lpstr>PowerPoint Presentation</vt:lpstr>
      <vt:lpstr>PowerPoint Presentation</vt:lpstr>
      <vt:lpstr>PowerPoint Presentation</vt:lpstr>
      <vt:lpstr>Thank You</vt:lpstr>
      <vt:lpstr>2018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1020</cp:revision>
  <cp:lastPrinted>2017-03-18T23:47:54Z</cp:lastPrinted>
  <dcterms:created xsi:type="dcterms:W3CDTF">2013-05-05T09:56:19Z</dcterms:created>
  <dcterms:modified xsi:type="dcterms:W3CDTF">2022-10-20T03:54:54Z</dcterms:modified>
</cp:coreProperties>
</file>