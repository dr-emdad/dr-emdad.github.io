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1"/>
  </p:sldMasterIdLst>
  <p:notesMasterIdLst>
    <p:notesMasterId r:id="rId53"/>
  </p:notesMasterIdLst>
  <p:sldIdLst>
    <p:sldId id="385" r:id="rId2"/>
    <p:sldId id="527" r:id="rId3"/>
    <p:sldId id="512" r:id="rId4"/>
    <p:sldId id="532" r:id="rId5"/>
    <p:sldId id="361" r:id="rId6"/>
    <p:sldId id="378" r:id="rId7"/>
    <p:sldId id="452" r:id="rId8"/>
    <p:sldId id="515" r:id="rId9"/>
    <p:sldId id="516" r:id="rId10"/>
    <p:sldId id="447" r:id="rId11"/>
    <p:sldId id="469" r:id="rId12"/>
    <p:sldId id="357" r:id="rId13"/>
    <p:sldId id="513" r:id="rId14"/>
    <p:sldId id="539" r:id="rId15"/>
    <p:sldId id="538" r:id="rId16"/>
    <p:sldId id="434" r:id="rId17"/>
    <p:sldId id="391" r:id="rId18"/>
    <p:sldId id="537" r:id="rId19"/>
    <p:sldId id="533" r:id="rId20"/>
    <p:sldId id="535" r:id="rId21"/>
    <p:sldId id="536" r:id="rId22"/>
    <p:sldId id="510" r:id="rId23"/>
    <p:sldId id="384" r:id="rId24"/>
    <p:sldId id="376" r:id="rId25"/>
    <p:sldId id="477" r:id="rId26"/>
    <p:sldId id="480" r:id="rId27"/>
    <p:sldId id="481" r:id="rId28"/>
    <p:sldId id="484" r:id="rId29"/>
    <p:sldId id="351" r:id="rId30"/>
    <p:sldId id="488" r:id="rId31"/>
    <p:sldId id="490" r:id="rId32"/>
    <p:sldId id="492" r:id="rId33"/>
    <p:sldId id="323" r:id="rId34"/>
    <p:sldId id="495" r:id="rId35"/>
    <p:sldId id="496" r:id="rId36"/>
    <p:sldId id="372" r:id="rId37"/>
    <p:sldId id="514" r:id="rId38"/>
    <p:sldId id="412" r:id="rId39"/>
    <p:sldId id="500" r:id="rId40"/>
    <p:sldId id="293" r:id="rId41"/>
    <p:sldId id="487" r:id="rId42"/>
    <p:sldId id="507" r:id="rId43"/>
    <p:sldId id="522" r:id="rId44"/>
    <p:sldId id="523" r:id="rId45"/>
    <p:sldId id="524" r:id="rId46"/>
    <p:sldId id="509" r:id="rId47"/>
    <p:sldId id="530" r:id="rId48"/>
    <p:sldId id="528" r:id="rId49"/>
    <p:sldId id="525" r:id="rId50"/>
    <p:sldId id="451" r:id="rId51"/>
    <p:sldId id="262" r:id="rId52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85" autoAdjust="0"/>
    <p:restoredTop sz="91459" autoAdjust="0"/>
  </p:normalViewPr>
  <p:slideViewPr>
    <p:cSldViewPr>
      <p:cViewPr varScale="1">
        <p:scale>
          <a:sx n="62" d="100"/>
          <a:sy n="62" d="100"/>
        </p:scale>
        <p:origin x="179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image" Target="../media/image35.jpeg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image" Target="../media/image37.jpeg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Human Resource Per 1000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74-4A03-9DED-7A8BD65DA5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WHO Standard</c:v>
                </c:pt>
                <c:pt idx="1">
                  <c:v>Maldives</c:v>
                </c:pt>
                <c:pt idx="2">
                  <c:v>Nepal</c:v>
                </c:pt>
                <c:pt idx="3">
                  <c:v>Sri-Lanka</c:v>
                </c:pt>
                <c:pt idx="4">
                  <c:v>Bhutan</c:v>
                </c:pt>
                <c:pt idx="5">
                  <c:v>India</c:v>
                </c:pt>
                <c:pt idx="6">
                  <c:v>Pakistan</c:v>
                </c:pt>
                <c:pt idx="7">
                  <c:v>Bangladesh</c:v>
                </c:pt>
                <c:pt idx="8">
                  <c:v>Afghanistan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4.45</c:v>
                </c:pt>
                <c:pt idx="1">
                  <c:v>6.71</c:v>
                </c:pt>
                <c:pt idx="2">
                  <c:v>4.1900000000000004</c:v>
                </c:pt>
                <c:pt idx="3">
                  <c:v>3.73</c:v>
                </c:pt>
                <c:pt idx="4">
                  <c:v>2.58</c:v>
                </c:pt>
                <c:pt idx="5">
                  <c:v>2.4900000000000002</c:v>
                </c:pt>
                <c:pt idx="6">
                  <c:v>1.6</c:v>
                </c:pt>
                <c:pt idx="7">
                  <c:v>1.1599999999999999</c:v>
                </c:pt>
                <c:pt idx="8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74-4A03-9DED-7A8BD65D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5"/>
        <c:overlap val="-27"/>
        <c:axId val="278835503"/>
        <c:axId val="1942959343"/>
      </c:barChart>
      <c:catAx>
        <c:axId val="278835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2959343"/>
        <c:crosses val="autoZero"/>
        <c:auto val="1"/>
        <c:lblAlgn val="ctr"/>
        <c:lblOffset val="100"/>
        <c:noMultiLvlLbl val="0"/>
      </c:catAx>
      <c:valAx>
        <c:axId val="1942959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8835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</c:numCache>
            </c:numRef>
          </c:cat>
          <c:val>
            <c:numRef>
              <c:f>Sheet1!$B$2:$B$9</c:f>
              <c:numCache>
                <c:formatCode>0%</c:formatCode>
                <c:ptCount val="8"/>
                <c:pt idx="0">
                  <c:v>1.26</c:v>
                </c:pt>
                <c:pt idx="1">
                  <c:v>1.46</c:v>
                </c:pt>
                <c:pt idx="2">
                  <c:v>1.6500000000000001</c:v>
                </c:pt>
                <c:pt idx="3">
                  <c:v>1.930000000000003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  <c:pt idx="7">
                  <c:v>2.88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1F-44CA-84E8-7BF74E19B8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88364800"/>
        <c:axId val="288370688"/>
      </c:barChart>
      <c:catAx>
        <c:axId val="2883648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000" baseline="0"/>
            </a:pPr>
            <a:endParaRPr lang="en-US"/>
          </a:p>
        </c:txPr>
        <c:crossAx val="288370688"/>
        <c:crosses val="autoZero"/>
        <c:auto val="1"/>
        <c:lblAlgn val="ctr"/>
        <c:lblOffset val="100"/>
        <c:noMultiLvlLbl val="0"/>
      </c:catAx>
      <c:valAx>
        <c:axId val="28837068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88364800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41903990973091"/>
          <c:y val="2.5792207312114252E-2"/>
          <c:w val="0.87858091957255369"/>
          <c:h val="0.869334959890577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  <c:pt idx="8">
                  <c:v>407474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A4-4B43-9B3D-389D9FD40D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6.2305295950156646E-3"/>
                  <c:y val="-1.11111111111112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5A4-4B43-9B3D-389D9FD40DB4}"/>
                </c:ext>
              </c:extLst>
            </c:dLbl>
            <c:dLbl>
              <c:idx val="5"/>
              <c:layout>
                <c:manualLayout>
                  <c:x val="6.2305295950156646E-3"/>
                  <c:y val="8.33333333333333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5A4-4B43-9B3D-389D9FD40DB4}"/>
                </c:ext>
              </c:extLst>
            </c:dLbl>
            <c:dLbl>
              <c:idx val="6"/>
              <c:layout>
                <c:manualLayout>
                  <c:x val="-1.0708427071616101E-3"/>
                  <c:y val="-1.38564222440944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5A4-4B43-9B3D-389D9FD40DB4}"/>
                </c:ext>
              </c:extLst>
            </c:dLbl>
            <c:dLbl>
              <c:idx val="7"/>
              <c:layout>
                <c:manualLayout>
                  <c:x val="-6.5370734908137547E-4"/>
                  <c:y val="-1.25793553149606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5A4-4B43-9B3D-389D9FD40DB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  <c:pt idx="8">
                  <c:v>42551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5A4-4B43-9B3D-389D9FD40D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40000"/>
        <c:axId val="14270464"/>
      </c:barChart>
      <c:catAx>
        <c:axId val="14240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270464"/>
        <c:crosses val="autoZero"/>
        <c:auto val="1"/>
        <c:lblAlgn val="ctr"/>
        <c:lblOffset val="100"/>
        <c:noMultiLvlLbl val="0"/>
      </c:catAx>
      <c:valAx>
        <c:axId val="142704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4240000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621293866044522"/>
          <c:y val="4.4861391929187228E-2"/>
          <c:w val="0.69983231262758827"/>
          <c:h val="0.857203428309069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ANC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0802590648391173E-2"/>
                  <c:y val="-1.68361959653668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080-4FAD-9110-D7C256A3E8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1354</c:v>
                </c:pt>
                <c:pt idx="1">
                  <c:v>2268</c:v>
                </c:pt>
                <c:pt idx="2">
                  <c:v>7096</c:v>
                </c:pt>
                <c:pt idx="3">
                  <c:v>13251</c:v>
                </c:pt>
                <c:pt idx="4">
                  <c:v>15309</c:v>
                </c:pt>
                <c:pt idx="5">
                  <c:v>14191</c:v>
                </c:pt>
                <c:pt idx="6">
                  <c:v>14712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80-4FAD-9110-D7C256A3E8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5432098765432098E-3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080-4FAD-9110-D7C256A3E8CF}"/>
                </c:ext>
              </c:extLst>
            </c:dLbl>
            <c:dLbl>
              <c:idx val="1"/>
              <c:layout>
                <c:manualLayout>
                  <c:x val="2.1604938271604937E-2"/>
                  <c:y val="-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080-4FAD-9110-D7C256A3E8CF}"/>
                </c:ext>
              </c:extLst>
            </c:dLbl>
            <c:dLbl>
              <c:idx val="2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080-4FAD-9110-D7C256A3E8CF}"/>
                </c:ext>
              </c:extLst>
            </c:dLbl>
            <c:dLbl>
              <c:idx val="3"/>
              <c:layout>
                <c:manualLayout>
                  <c:x val="1.8518518518518576E-2"/>
                  <c:y val="1.4030163304472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080-4FAD-9110-D7C256A3E8CF}"/>
                </c:ext>
              </c:extLst>
            </c:dLbl>
            <c:dLbl>
              <c:idx val="4"/>
              <c:layout>
                <c:manualLayout>
                  <c:x val="2.0061728395061727E-2"/>
                  <c:y val="1.1224130643577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080-4FAD-9110-D7C256A3E8CF}"/>
                </c:ext>
              </c:extLst>
            </c:dLbl>
            <c:dLbl>
              <c:idx val="5"/>
              <c:layout>
                <c:manualLayout>
                  <c:x val="1.6975308641975308E-2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080-4FAD-9110-D7C256A3E8CF}"/>
                </c:ext>
              </c:extLst>
            </c:dLbl>
            <c:dLbl>
              <c:idx val="6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080-4FAD-9110-D7C256A3E8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2375</c:v>
                </c:pt>
                <c:pt idx="1">
                  <c:v>2379</c:v>
                </c:pt>
                <c:pt idx="2">
                  <c:v>2796</c:v>
                </c:pt>
                <c:pt idx="3">
                  <c:v>3034</c:v>
                </c:pt>
                <c:pt idx="4">
                  <c:v>2981</c:v>
                </c:pt>
                <c:pt idx="5">
                  <c:v>2737</c:v>
                </c:pt>
                <c:pt idx="6">
                  <c:v>2753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080-4FAD-9110-D7C256A3E8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0569984"/>
        <c:axId val="200571520"/>
      </c:barChart>
      <c:catAx>
        <c:axId val="2005699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00571520"/>
        <c:crosses val="autoZero"/>
        <c:auto val="1"/>
        <c:lblAlgn val="ctr"/>
        <c:lblOffset val="100"/>
        <c:noMultiLvlLbl val="0"/>
      </c:catAx>
      <c:valAx>
        <c:axId val="20057152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005699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F36-415A-9D8B-B1D9EAB3B4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36-415A-9D8B-B1D9EAB3B4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F36-415A-9D8B-B1D9EAB3B4DF}"/>
                </c:ext>
              </c:extLst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36-415A-9D8B-B1D9EAB3B4DF}"/>
                </c:ext>
              </c:extLst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F36-415A-9D8B-B1D9EAB3B4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F36-415A-9D8B-B1D9EAB3B4D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F36-415A-9D8B-B1D9EAB3B4DF}"/>
                </c:ext>
              </c:extLst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F36-415A-9D8B-B1D9EAB3B4DF}"/>
                </c:ext>
              </c:extLst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F36-415A-9D8B-B1D9EAB3B4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F36-415A-9D8B-B1D9EAB3B4D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F36-415A-9D8B-B1D9EAB3B4DF}"/>
                </c:ext>
              </c:extLst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F36-415A-9D8B-B1D9EAB3B4DF}"/>
                </c:ext>
              </c:extLst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F36-415A-9D8B-B1D9EAB3B4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F36-415A-9D8B-B1D9EAB3B4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5630848"/>
        <c:axId val="225632640"/>
      </c:barChart>
      <c:catAx>
        <c:axId val="22563084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25632640"/>
        <c:crosses val="autoZero"/>
        <c:auto val="1"/>
        <c:lblAlgn val="ctr"/>
        <c:lblOffset val="100"/>
        <c:noMultiLvlLbl val="0"/>
      </c:catAx>
      <c:valAx>
        <c:axId val="2256326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2563084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8/27/2022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928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352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36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4563" y="746125"/>
            <a:ext cx="4968875" cy="3727450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724202"/>
            <a:ext cx="5483225" cy="447556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249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493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873E5E-FE9D-4022-BB0E-584F64AF886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148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11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4A6AD93-BD72-42ED-B1DC-C5E58BE4EF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7412"/>
          </a:xfrm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0E77E2E-B07E-48FD-91A3-58E45726F8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06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F745A486-D04E-4858-ACD6-AEE5D957BF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ABAC74D-5FC4-4CD9-AAE7-6B58F7832856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2D7204C3-3D7C-44CF-B1C4-458B16267C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576FA1C3-20ED-42CC-BC9D-06769CA8EE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16555712-0B84-4C3A-9118-B3E48184AA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78DBCCB-4C23-435A-8E51-FBD2B31FEC8C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A2257331-E17E-4C34-ACBB-D2849C4C6C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FA6E0831-79F6-435B-B69B-D7A870F95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57066" indent="-291179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64717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30604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96491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62377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3028264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94151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960038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20EF894-5C7A-4186-AC86-C2AA879455C3}" type="slidenum">
              <a:rPr lang="en-US" altLang="en-US">
                <a:latin typeface="Arial" panose="020B0604020202020204" pitchFamily="34" charset="0"/>
              </a:rPr>
              <a:pPr/>
              <a:t>18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1289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defTabSz="931774">
              <a:defRPr/>
            </a:pPr>
            <a:fld id="{3A337629-D36D-49E4-ACBA-6A81B0F14D58}" type="slidenum">
              <a:rPr lang="en-US">
                <a:solidFill>
                  <a:srgbClr val="000000"/>
                </a:solidFill>
              </a:rPr>
              <a:pPr defTabSz="931774">
                <a:defRPr/>
              </a:pPr>
              <a:t>22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0567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41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6630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46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57066" indent="-291179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64717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30604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96491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62377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3028264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94151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960038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20EF894-5C7A-4186-AC86-C2AA879455C3}" type="slidenum">
              <a:rPr lang="en-US" altLang="en-US">
                <a:latin typeface="Arial" panose="020B0604020202020204" pitchFamily="34" charset="0"/>
              </a:rPr>
              <a:pPr/>
              <a:t>50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442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C528EF-78D8-49A5-809B-2599B7DD834B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FA2A5-5979-48A6-9408-4607D4934B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538784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C57163-4E2A-442A-AF52-8DCCF3E5F898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4CFB5-2CC1-45EB-A3F2-C919B032989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419073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CADFD7-462D-4DC3-B03B-C216ECE8D47D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1B0A13-5CDD-4B02-825E-D5B70CB11E2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006264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CFF109-4CB5-4AAD-95FA-C87EB3E04025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13CE82-7117-4891-B558-D1CF2158FB3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992098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A6665-6F14-4A40-AA68-DF2D49F6DD20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395EA-16E2-485C-BE10-C0C30288CF7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237168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FB527-45A3-4F1F-BC31-990A27D35CF4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52998-14DA-4294-9809-0671B108F66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46267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20C454-2AF4-4F56-B134-15CC2881F322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FBE90-576A-469F-BB2C-57A27D47CF3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588089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80C9C6-69CB-45B7-9979-6C3E38187D0A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E9712-EA71-450B-AE72-6EC24D46A79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874313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E0AD57-2794-4A43-BC3A-6D6DEE633501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9D0AA-CDC8-41BE-AFF7-7A9CB8C401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42656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9D4D3F-EDC6-440C-ABD2-54996654AEC4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C68EAF-25D6-47A5-AF16-8E40A707229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3709647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15DA01-3A8D-4832-86F7-58BF2CA1F9C1}" type="datetimeFigureOut">
              <a:rPr lang="en-US" altLang="en-US" smtClean="0"/>
              <a:pPr>
                <a:defRPr/>
              </a:pPr>
              <a:t>8/27/2022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CA87E-87C4-451A-AA13-2FDE2706BB2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243769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313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AF48E46-651E-4A25-8C45-5E50D3C6F0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B1F6F67-C9E9-4051-A654-02685ADD75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AB8AAC6-DE81-40DE-A858-F57EB4DEC0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77483D-2146-4775-927D-60B5473935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40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 smtClean="0"/>
              <a:pPr>
                <a:defRPr/>
              </a:pPr>
              <a:t>2022/8/27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1328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034" r:id="rId12"/>
    <p:sldLayoutId id="2147484035" r:id="rId13"/>
    <p:sldLayoutId id="2147484036" r:id="rId14"/>
  </p:sldLayoutIdLst>
  <p:transition spd="slow">
    <p:zoom dir="in"/>
    <p:sndAc>
      <p:stSnd>
        <p:snd r:embed="rId16" name="chimes.wav"/>
      </p:stSnd>
    </p:sndAc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7" Type="http://schemas.openxmlformats.org/officeDocument/2006/relationships/image" Target="../media/image45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png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9.jpeg"/><Relationship Id="rId4" Type="http://schemas.openxmlformats.org/officeDocument/2006/relationships/image" Target="../media/image48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3.jpeg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jpeg"/><Relationship Id="rId4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7.jpeg"/><Relationship Id="rId4" Type="http://schemas.openxmlformats.org/officeDocument/2006/relationships/image" Target="../media/image6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jpeg"/><Relationship Id="rId4" Type="http://schemas.openxmlformats.org/officeDocument/2006/relationships/image" Target="../media/image7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8.jpeg"/><Relationship Id="rId5" Type="http://schemas.openxmlformats.org/officeDocument/2006/relationships/image" Target="../media/image77.jpeg"/><Relationship Id="rId4" Type="http://schemas.openxmlformats.org/officeDocument/2006/relationships/image" Target="../media/image76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-</a:t>
            </a:r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model is the best example of community participation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Haque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National Consultant(HEU) .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M0HFW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79676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3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450430"/>
              </p:ext>
            </p:extLst>
          </p:nvPr>
        </p:nvGraphicFramePr>
        <p:xfrm>
          <a:off x="144439" y="1295400"/>
          <a:ext cx="9016993" cy="496523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81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%GDP budget used in health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Total </a:t>
                      </a:r>
                      <a:r>
                        <a:rPr kumimoji="0" lang="en-US" sz="14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halth</a:t>
                      </a: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budget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Total population in 2018.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9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11462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17.6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3600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4270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252 .5Bil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426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3.75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26.58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 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162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2.9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85.1 Mil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2.95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14.7Bil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51</a:t>
                      </a:r>
                      <a:endParaRPr kumimoji="0" 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4.53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510 Mil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3.2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1.84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Bil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42  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2.5 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2.49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10108178" y="6075336"/>
            <a:ext cx="4522222" cy="3508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countries  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9903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4982936" y="6341722"/>
            <a:ext cx="3627664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World Health Bulletin 2022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01930" y="8684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HR of different SAARC countries(Doctors , Nurses &amp; Midwives)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270AB4A-A350-4AE2-A5E3-4D20C1FC13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6310072"/>
              </p:ext>
            </p:extLst>
          </p:nvPr>
        </p:nvGraphicFramePr>
        <p:xfrm>
          <a:off x="840105" y="1410155"/>
          <a:ext cx="7543800" cy="454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9556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567929"/>
            <a:ext cx="6172200" cy="12573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000" b="1" dirty="0"/>
              <a:t>A Hospital with a Vision </a:t>
            </a:r>
            <a:r>
              <a:rPr lang="en-US" sz="2700" b="1" dirty="0"/>
              <a:t>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129389" y="1900622"/>
            <a:ext cx="3682847" cy="131802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2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b="1" dirty="0"/>
              <a:t>Maximum utilization of Govt.</a:t>
            </a:r>
          </a:p>
          <a:p>
            <a:pPr algn="ctr" eaLnBrk="0" hangingPunct="0"/>
            <a:r>
              <a:rPr lang="en-US" b="1" dirty="0"/>
              <a:t>resources with </a:t>
            </a:r>
          </a:p>
          <a:p>
            <a:pPr algn="ctr" eaLnBrk="0" hangingPunct="0"/>
            <a:r>
              <a:rPr lang="en-US" b="1" dirty="0"/>
              <a:t>honesty and sincerity.</a:t>
            </a:r>
          </a:p>
          <a:p>
            <a:pPr algn="ctr" eaLnBrk="0" hangingPunct="0"/>
            <a:endParaRPr lang="en-US" sz="12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129389" y="4761693"/>
            <a:ext cx="4024011" cy="152837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 dirty="0"/>
              <a:t>Providing Effective  services </a:t>
            </a:r>
          </a:p>
          <a:p>
            <a:pPr algn="ctr" eaLnBrk="0" hangingPunct="0"/>
            <a:r>
              <a:rPr lang="en-US" sz="2000" b="1" dirty="0"/>
              <a:t>through improved </a:t>
            </a:r>
          </a:p>
          <a:p>
            <a:pPr algn="ctr" eaLnBrk="0" hangingPunct="0"/>
            <a:r>
              <a:rPr lang="en-US" sz="2000" b="1" dirty="0"/>
              <a:t>management system</a:t>
            </a:r>
            <a:r>
              <a:rPr lang="en-US" sz="1200" b="1" dirty="0"/>
              <a:t>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632348" y="2362200"/>
            <a:ext cx="2299842" cy="66675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219200" y="5070226"/>
            <a:ext cx="2493169" cy="804945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3932190" y="3328987"/>
            <a:ext cx="4082899" cy="143270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 dirty="0"/>
              <a:t>Integrated approach of </a:t>
            </a:r>
          </a:p>
          <a:p>
            <a:pPr algn="ctr" eaLnBrk="0" hangingPunct="0"/>
            <a:r>
              <a:rPr lang="en-US" sz="2000" b="1" dirty="0"/>
              <a:t>Administration, Community</a:t>
            </a:r>
          </a:p>
          <a:p>
            <a:pPr algn="ctr" eaLnBrk="0" hangingPunct="0"/>
            <a:r>
              <a:rPr lang="en-US" sz="2000" b="1" dirty="0"/>
              <a:t>Leaders </a:t>
            </a:r>
            <a:r>
              <a:rPr lang="en-US" sz="1200" b="1" dirty="0"/>
              <a:t>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19175" y="3696839"/>
            <a:ext cx="2482453" cy="666751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7293991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381000"/>
            <a:ext cx="7543800" cy="13906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/>
            <a:r>
              <a:rPr lang="en-US" sz="3600" b="1" dirty="0"/>
              <a:t>Background History  of </a:t>
            </a:r>
            <a:r>
              <a:rPr lang="en-US" sz="3600" b="1" dirty="0" err="1"/>
              <a:t>Chowgacha</a:t>
            </a:r>
            <a:r>
              <a:rPr lang="en-US" sz="3600" b="1" dirty="0"/>
              <a:t> Health </a:t>
            </a:r>
            <a:r>
              <a:rPr lang="en-US" sz="3600" b="1" dirty="0" err="1"/>
              <a:t>Complex,Model</a:t>
            </a:r>
            <a:endParaRPr lang="en-US" sz="3600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18145"/>
            <a:ext cx="8001000" cy="5108122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1800" b="1" dirty="0"/>
              <a:t>   </a:t>
            </a:r>
            <a:r>
              <a:rPr lang="en-US" sz="2400" b="1" dirty="0"/>
              <a:t>*</a:t>
            </a:r>
            <a:r>
              <a:rPr lang="en-US" sz="2600" b="1" dirty="0" err="1"/>
              <a:t>Choowgacha</a:t>
            </a:r>
            <a:r>
              <a:rPr lang="en-US" sz="2600" b="1" dirty="0"/>
              <a:t> UHC Model  starts in 1985 and effectively in Feb. 1996</a:t>
            </a:r>
            <a:r>
              <a:rPr lang="en-US" sz="3000" b="1" dirty="0"/>
              <a:t>. 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3300" b="1" dirty="0"/>
              <a:t>*</a:t>
            </a:r>
            <a:r>
              <a:rPr lang="en-US" sz="2600" b="1" dirty="0"/>
              <a:t>From January 1995 to 1997 </a:t>
            </a:r>
            <a:r>
              <a:rPr lang="en-US" sz="2600" b="1" dirty="0">
                <a:solidFill>
                  <a:srgbClr val="0000FF"/>
                </a:solidFill>
              </a:rPr>
              <a:t>JICA</a:t>
            </a:r>
            <a:r>
              <a:rPr lang="en-US" sz="2600" b="1" dirty="0"/>
              <a:t>  by Frontline MCH Program to  by giving technical and logistic supports.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1800" b="1" dirty="0"/>
              <a:t>  *</a:t>
            </a:r>
            <a:r>
              <a:rPr lang="en-US" sz="2800" b="1" dirty="0"/>
              <a:t> From 1998 </a:t>
            </a:r>
            <a:r>
              <a:rPr lang="en-US" sz="2800" b="1" dirty="0">
                <a:solidFill>
                  <a:srgbClr val="0000FF"/>
                </a:solidFill>
              </a:rPr>
              <a:t>DGHS</a:t>
            </a:r>
            <a:r>
              <a:rPr lang="en-US" sz="2800" b="1" dirty="0"/>
              <a:t> &amp; </a:t>
            </a:r>
            <a:r>
              <a:rPr lang="en-US" sz="2800" b="1" dirty="0">
                <a:solidFill>
                  <a:srgbClr val="0000FF"/>
                </a:solidFill>
              </a:rPr>
              <a:t>UNICEF</a:t>
            </a:r>
            <a:r>
              <a:rPr lang="en-US" sz="2800" b="1" dirty="0"/>
              <a:t> have continued the support.</a:t>
            </a:r>
            <a:endParaRPr lang="en-US" sz="18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None/>
            </a:pPr>
            <a:r>
              <a:rPr lang="en-US" sz="2400" b="1" dirty="0">
                <a:solidFill>
                  <a:srgbClr val="0000FF"/>
                </a:solidFill>
              </a:rPr>
              <a:t>&lt;4 Special activities&gt;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ANC-Corner</a:t>
            </a:r>
            <a:endParaRPr lang="en-US" sz="24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Basic EOC service</a:t>
            </a:r>
            <a:r>
              <a:rPr lang="en-US" sz="2400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Under 5 corner for under 5 children</a:t>
            </a:r>
            <a:r>
              <a:rPr lang="en-US" sz="2400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Monthly birth and death record</a:t>
            </a:r>
            <a:endParaRPr lang="en-US" sz="2400" b="1" dirty="0"/>
          </a:p>
          <a:p>
            <a:pPr marL="0" indent="0">
              <a:lnSpc>
                <a:spcPct val="80000"/>
              </a:lnSpc>
              <a:buNone/>
            </a:pPr>
            <a:r>
              <a:rPr lang="en-US" sz="1350" b="1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16764012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7" y="3794095"/>
            <a:ext cx="3248553" cy="2193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1390936" y="857252"/>
            <a:ext cx="6324600" cy="507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700" b="1" dirty="0">
                <a:solidFill>
                  <a:schemeClr val="tx1"/>
                </a:solidFill>
              </a:rPr>
              <a:t>CHOWGACHA UHC-Through the Ages</a:t>
            </a:r>
            <a:endParaRPr lang="en-US" sz="21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6801" y="1586446"/>
            <a:ext cx="3072205" cy="2071154"/>
          </a:xfrm>
          <a:prstGeom prst="rect">
            <a:avLst/>
          </a:prstGeom>
          <a:blipFill dpi="0" rotWithShape="1">
            <a:blip r:embed="rId5" cstate="print"/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233" y="3758665"/>
            <a:ext cx="3072205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066800" y="1600200"/>
            <a:ext cx="956196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Old UHC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066801" y="3733800"/>
            <a:ext cx="1427535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50-bedded UHC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6781800" y="3810000"/>
            <a:ext cx="1311578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31-bedded UHC</a:t>
            </a:r>
            <a:endParaRPr lang="en-US" sz="1350" dirty="0">
              <a:solidFill>
                <a:schemeClr val="tx1"/>
              </a:solidFill>
            </a:endParaRPr>
          </a:p>
        </p:txBody>
      </p:sp>
      <p:pic>
        <p:nvPicPr>
          <p:cNvPr id="1026" name="Picture 2" descr="E:\$L_AG\Final\IMG-20201113-WA000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6" y="1586447"/>
            <a:ext cx="3286014" cy="204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097197" y="1581009"/>
            <a:ext cx="933736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Old UHC</a:t>
            </a:r>
            <a:endParaRPr lang="en-US" sz="13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73780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ubtitle 2"/>
          <p:cNvSpPr>
            <a:spLocks noGrp="1"/>
          </p:cNvSpPr>
          <p:nvPr/>
        </p:nvSpPr>
        <p:spPr bwMode="auto">
          <a:xfrm>
            <a:off x="5110716" y="1295401"/>
            <a:ext cx="3733800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Blood donation program stared in 16 December, 1996 in </a:t>
            </a:r>
            <a:r>
              <a:rPr lang="en-US" dirty="0" err="1">
                <a:latin typeface="Calibri" pitchFamily="34" charset="0"/>
              </a:rPr>
              <a:t>Chowgacha</a:t>
            </a:r>
            <a:r>
              <a:rPr lang="en-US" dirty="0">
                <a:latin typeface="Calibri" pitchFamily="34" charset="0"/>
              </a:rPr>
              <a:t> UHC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37891" name="Picture 4" descr="H:\D. S. Islam\ee.jpg"/>
          <p:cNvPicPr>
            <a:picLocks noGrp="1"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49862"/>
            <a:ext cx="4781331" cy="315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 descr="H:\D. S. Islam\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710320"/>
            <a:ext cx="4882118" cy="314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Subtitle 2"/>
          <p:cNvSpPr txBox="1">
            <a:spLocks/>
          </p:cNvSpPr>
          <p:nvPr/>
        </p:nvSpPr>
        <p:spPr bwMode="auto">
          <a:xfrm>
            <a:off x="0" y="4648200"/>
            <a:ext cx="4267200" cy="1756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on ‘Importance of birth &amp; death registration and prevention of early marriage’ at </a:t>
            </a:r>
            <a:r>
              <a:rPr lang="en-US" dirty="0" err="1">
                <a:latin typeface="Calibri" pitchFamily="34" charset="0"/>
              </a:rPr>
              <a:t>Chowgacha</a:t>
            </a:r>
            <a:r>
              <a:rPr lang="en-US" dirty="0">
                <a:latin typeface="Calibri" pitchFamily="34" charset="0"/>
              </a:rPr>
              <a:t> Degree College in 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guest. </a:t>
            </a:r>
            <a:endParaRPr lang="en-GB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04630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389445" y="2000675"/>
            <a:ext cx="3623930" cy="513638"/>
          </a:xfrm>
        </p:spPr>
        <p:txBody>
          <a:bodyPr>
            <a:normAutofit fontScale="55000" lnSpcReduction="20000"/>
          </a:bodyPr>
          <a:lstStyle/>
          <a:p>
            <a:r>
              <a:rPr lang="en-US" sz="3200" dirty="0"/>
              <a:t>Cycle stand near the entrance</a:t>
            </a:r>
            <a:r>
              <a:rPr lang="en-US" dirty="0"/>
              <a:t>	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quarter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491885"/>
            <a:ext cx="4127500" cy="2800350"/>
          </a:xfrm>
        </p:spPr>
      </p:pic>
      <p:sp>
        <p:nvSpPr>
          <p:cNvPr id="9" name="Rectangle 8"/>
          <p:cNvSpPr/>
          <p:nvPr/>
        </p:nvSpPr>
        <p:spPr>
          <a:xfrm>
            <a:off x="1295400" y="5107209"/>
            <a:ext cx="4724400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/>
              <a:t>“</a:t>
            </a:r>
            <a:r>
              <a:rPr lang="en-US" sz="1700" b="1" dirty="0" err="1"/>
              <a:t>Pushti</a:t>
            </a:r>
            <a:r>
              <a:rPr lang="en-US" sz="1700" b="1" dirty="0"/>
              <a:t> Tray” – Nutritional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2100" y="297695"/>
            <a:ext cx="601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Innovations of Chowgacha Health Complex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1" y="3549825"/>
            <a:ext cx="3962399" cy="245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1548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3276600" y="2819400"/>
            <a:ext cx="2592572" cy="586446"/>
          </a:xfrm>
        </p:spPr>
        <p:txBody>
          <a:bodyPr>
            <a:normAutofit/>
          </a:bodyPr>
          <a:lstStyle/>
          <a:p>
            <a:pPr algn="ctr"/>
            <a:r>
              <a:rPr lang="en-US" sz="2100" dirty="0"/>
              <a:t>Citizen Charter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5" t="3481" r="11055" b="27102"/>
          <a:stretch/>
        </p:blipFill>
        <p:spPr>
          <a:xfrm>
            <a:off x="12405" y="838200"/>
            <a:ext cx="3441700" cy="516255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t="4074" b="23333"/>
          <a:stretch/>
        </p:blipFill>
        <p:spPr>
          <a:xfrm>
            <a:off x="5715000" y="846618"/>
            <a:ext cx="3429000" cy="515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0754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$L_AG\Final\DSC0558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0" y="990600"/>
            <a:ext cx="3938838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9"/>
          <p:cNvSpPr>
            <a:spLocks noGrp="1"/>
          </p:cNvSpPr>
          <p:nvPr>
            <p:ph type="body" idx="1"/>
          </p:nvPr>
        </p:nvSpPr>
        <p:spPr>
          <a:xfrm>
            <a:off x="4775857" y="1285910"/>
            <a:ext cx="3962400" cy="471487"/>
          </a:xfrm>
        </p:spPr>
        <p:txBody>
          <a:bodyPr>
            <a:noAutofit/>
          </a:bodyPr>
          <a:lstStyle/>
          <a:p>
            <a:pPr algn="ctr"/>
            <a:r>
              <a:rPr lang="en-US" sz="1800" dirty="0" err="1"/>
              <a:t>Labour</a:t>
            </a:r>
            <a:r>
              <a:rPr lang="en-US" sz="1800" dirty="0"/>
              <a:t> Ward  with 41=(11+30) beds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4114800" y="1314420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</a:p>
        </p:txBody>
      </p:sp>
      <p:pic>
        <p:nvPicPr>
          <p:cNvPr id="1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072" y="3062177"/>
            <a:ext cx="3842671" cy="3795823"/>
          </a:xfrm>
        </p:spPr>
      </p:pic>
      <p:sp>
        <p:nvSpPr>
          <p:cNvPr id="16" name="Text Placeholder 9"/>
          <p:cNvSpPr>
            <a:spLocks noGrp="1"/>
          </p:cNvSpPr>
          <p:nvPr>
            <p:ph type="body" idx="1"/>
          </p:nvPr>
        </p:nvSpPr>
        <p:spPr>
          <a:xfrm>
            <a:off x="1066800" y="5791200"/>
            <a:ext cx="3972508" cy="471487"/>
          </a:xfrm>
        </p:spPr>
        <p:txBody>
          <a:bodyPr>
            <a:noAutofit/>
          </a:bodyPr>
          <a:lstStyle/>
          <a:p>
            <a:pPr algn="ctr"/>
            <a:r>
              <a:rPr lang="en-US" sz="2000" dirty="0"/>
              <a:t>Rest room for pregnant mothers</a:t>
            </a:r>
          </a:p>
        </p:txBody>
      </p:sp>
    </p:spTree>
    <p:extLst>
      <p:ext uri="{BB962C8B-B14F-4D97-AF65-F5344CB8AC3E}">
        <p14:creationId xmlns:p14="http://schemas.microsoft.com/office/powerpoint/2010/main" val="1983761050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7" y="676563"/>
            <a:ext cx="3916795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804" y="672014"/>
            <a:ext cx="4156364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8" y="3798454"/>
            <a:ext cx="3916795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032" y="3798454"/>
            <a:ext cx="4162136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47633" y="226325"/>
            <a:ext cx="6705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Community Participation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36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3F51AF1-FD59-4942-8F00-2672333073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3200" b="1"/>
              <a:t>Upazila Health  Complex</a:t>
            </a:r>
            <a:br>
              <a:rPr lang="en-US" altLang="en-US" sz="3200" b="1"/>
            </a:br>
            <a:r>
              <a:rPr lang="en-US" altLang="en-US" sz="2000" b="1"/>
              <a:t>CHOWGACHA , JESSORE.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1661D01-577D-4F3A-AF86-1D2945DA561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altLang="en-US" sz="2800"/>
          </a:p>
          <a:p>
            <a:pPr algn="ctr">
              <a:buFontTx/>
              <a:buNone/>
            </a:pPr>
            <a:endParaRPr lang="en-US" altLang="en-US" sz="2800"/>
          </a:p>
        </p:txBody>
      </p:sp>
      <p:sp>
        <p:nvSpPr>
          <p:cNvPr id="78852" name="Rectangle 4">
            <a:extLst>
              <a:ext uri="{FF2B5EF4-FFF2-40B4-BE49-F238E27FC236}">
                <a16:creationId xmlns:a16="http://schemas.microsoft.com/office/drawing/2014/main" id="{E9477B92-AA10-4251-B80A-38389EBD2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(ANC First Visit)</a:t>
            </a:r>
          </a:p>
        </p:txBody>
      </p:sp>
      <p:graphicFrame>
        <p:nvGraphicFramePr>
          <p:cNvPr id="19461" name="Object 25">
            <a:extLst>
              <a:ext uri="{FF2B5EF4-FFF2-40B4-BE49-F238E27FC236}">
                <a16:creationId xmlns:a16="http://schemas.microsoft.com/office/drawing/2014/main" id="{1F9264CA-D3DE-4070-9B16-D7A9224FB4F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990600" y="2286000"/>
          <a:ext cx="7162800" cy="407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19461" name="Object 25">
                        <a:extLst>
                          <a:ext uri="{FF2B5EF4-FFF2-40B4-BE49-F238E27FC236}">
                            <a16:creationId xmlns:a16="http://schemas.microsoft.com/office/drawing/2014/main" id="{1F9264CA-D3DE-4070-9B16-D7A9224FB4F0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286000"/>
                        <a:ext cx="7162800" cy="407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1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31748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773531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8910652-6617-46CB-9760-29CB7EB57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17500"/>
            <a:ext cx="8229600" cy="825500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/>
              <a:t>Upazila Health  Complex</a:t>
            </a:r>
            <a:br>
              <a:rPr lang="en-US" altLang="en-US" sz="3200" b="1"/>
            </a:br>
            <a:r>
              <a:rPr lang="en-US" altLang="en-US" sz="2000" b="1"/>
              <a:t>CHOWGACHA , JESSORE.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7519B08-538D-4990-AC1E-B9627E13168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057400"/>
            <a:ext cx="4038600" cy="4068763"/>
          </a:xfrm>
        </p:spPr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/>
          </a:p>
          <a:p>
            <a:pPr algn="ctr" eaLnBrk="1" hangingPunct="1">
              <a:buFontTx/>
              <a:buNone/>
            </a:pPr>
            <a:endParaRPr lang="en-US" altLang="en-US" sz="2800"/>
          </a:p>
        </p:txBody>
      </p:sp>
      <p:graphicFrame>
        <p:nvGraphicFramePr>
          <p:cNvPr id="1154" name="Group 130">
            <a:extLst>
              <a:ext uri="{FF2B5EF4-FFF2-40B4-BE49-F238E27FC236}">
                <a16:creationId xmlns:a16="http://schemas.microsoft.com/office/drawing/2014/main" id="{4CC30397-DD21-45D1-8F8B-FBC5002310EF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228600" y="2667000"/>
          <a:ext cx="5334000" cy="3749674"/>
        </p:xfrm>
        <a:graphic>
          <a:graphicData uri="http://schemas.openxmlformats.org/drawingml/2006/table">
            <a:tbl>
              <a:tblPr/>
              <a:tblGrid>
                <a:gridCol w="6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060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 No</a:t>
                      </a:r>
                    </a:p>
                  </a:txBody>
                  <a:tcPr marT="45728" marB="4572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Year</a:t>
                      </a: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indoor Service</a:t>
                      </a: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No of Bed</a:t>
                      </a: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Bed occupancy rate</a:t>
                      </a: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7126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158.0%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8743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2008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10944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2009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12717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185.0%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05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13887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06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14819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208.0%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2688" name="Rectangle 48">
            <a:extLst>
              <a:ext uri="{FF2B5EF4-FFF2-40B4-BE49-F238E27FC236}">
                <a16:creationId xmlns:a16="http://schemas.microsoft.com/office/drawing/2014/main" id="{A036C37C-E526-427E-8C8D-F53B5999E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sz="36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Indoor Service 2005 to 2011</a:t>
            </a:r>
          </a:p>
        </p:txBody>
      </p:sp>
      <p:graphicFrame>
        <p:nvGraphicFramePr>
          <p:cNvPr id="17466" name="Object 131">
            <a:extLst>
              <a:ext uri="{FF2B5EF4-FFF2-40B4-BE49-F238E27FC236}">
                <a16:creationId xmlns:a16="http://schemas.microsoft.com/office/drawing/2014/main" id="{34A306BF-17CD-4388-8962-838A147031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3505200"/>
          <a:ext cx="3581400" cy="248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" name="Chart" r:id="rId4" imgW="4495800" imgH="2648102" progId="Excel.Chart.8">
                  <p:embed/>
                </p:oleObj>
              </mc:Choice>
              <mc:Fallback>
                <p:oleObj name="Chart" r:id="rId4" imgW="4495800" imgH="2648102" progId="Excel.Chart.8">
                  <p:embed/>
                  <p:pic>
                    <p:nvPicPr>
                      <p:cNvPr id="17466" name="Object 131">
                        <a:extLst>
                          <a:ext uri="{FF2B5EF4-FFF2-40B4-BE49-F238E27FC236}">
                            <a16:creationId xmlns:a16="http://schemas.microsoft.com/office/drawing/2014/main" id="{34A306BF-17CD-4388-8962-838A147031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505200"/>
                        <a:ext cx="3581400" cy="248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E6B77D2-4122-4E45-9F4E-C7BA6C3F52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3640"/>
            <a:ext cx="8153400" cy="975559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 dirty="0"/>
              <a:t>UHC,CHOWGACHA,JASHORE.</a:t>
            </a:r>
            <a:br>
              <a:rPr lang="en-US" altLang="en-US" sz="3600" b="1" dirty="0"/>
            </a:br>
            <a:endParaRPr lang="en-US" altLang="en-US" sz="2800" b="1" dirty="0"/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E9689E5E-2CF0-42C3-A770-171EB38F5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43401"/>
            <a:ext cx="8115300" cy="6604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graphicFrame>
        <p:nvGraphicFramePr>
          <p:cNvPr id="20216" name="Group 760">
            <a:extLst>
              <a:ext uri="{FF2B5EF4-FFF2-40B4-BE49-F238E27FC236}">
                <a16:creationId xmlns:a16="http://schemas.microsoft.com/office/drawing/2014/main" id="{D86488D1-44EB-4DD7-902F-D51CEB2DC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72944"/>
              </p:ext>
            </p:extLst>
          </p:nvPr>
        </p:nvGraphicFramePr>
        <p:xfrm>
          <a:off x="533400" y="2057400"/>
          <a:ext cx="8153400" cy="4785416"/>
        </p:xfrm>
        <a:graphic>
          <a:graphicData uri="http://schemas.openxmlformats.org/drawingml/2006/table">
            <a:tbl>
              <a:tblPr/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Name of institute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NVD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Vacuum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Del.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Breech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Section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3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Chowgacha UHC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3346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4413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02.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Ad-din Hospital Jessore.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1124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1864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3492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03.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Khulna Medical College Hospital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1581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58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1356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3013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04.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Jessore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1327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1498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2852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6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05.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Kustia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1728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34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915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2677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06.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Fatima Hospital Jessore.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519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1061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1586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zoom dir="in"/>
    <p:sndAc>
      <p:stSnd>
        <p:snd r:embed="rId3" name="chimes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/>
              <a:t>TOTAL</a:t>
            </a:r>
            <a:r>
              <a:rPr lang="en-US" dirty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sz="2000" dirty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416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8"/>
          <p:cNvSpPr>
            <a:spLocks noChangeArrowheads="1"/>
          </p:cNvSpPr>
          <p:nvPr/>
        </p:nvSpPr>
        <p:spPr bwMode="auto">
          <a:xfrm>
            <a:off x="228600" y="4168568"/>
            <a:ext cx="4724400" cy="1474509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400" b="1" dirty="0"/>
              <a:t>Secretary of MOHFW A.K.M. </a:t>
            </a:r>
            <a:r>
              <a:rPr lang="en-US" altLang="en-US" sz="1400" b="1" dirty="0" err="1"/>
              <a:t>Zaforullah</a:t>
            </a:r>
            <a:r>
              <a:rPr lang="en-US" altLang="en-US" sz="1400" b="1" dirty="0"/>
              <a:t> Khan </a:t>
            </a:r>
          </a:p>
          <a:p>
            <a:pPr algn="ctr"/>
            <a:r>
              <a:rPr lang="en-US" altLang="en-US" sz="1400" b="1" dirty="0"/>
              <a:t>declared “</a:t>
            </a:r>
            <a:r>
              <a:rPr lang="en-US" altLang="en-US" sz="1400" b="1" dirty="0" err="1"/>
              <a:t>Chowgacha</a:t>
            </a:r>
            <a:r>
              <a:rPr lang="en-US" altLang="en-US" sz="1400" b="1" dirty="0"/>
              <a:t> UHC model” in DSF</a:t>
            </a:r>
          </a:p>
          <a:p>
            <a:pPr algn="ctr"/>
            <a:r>
              <a:rPr lang="en-US" altLang="en-US" sz="1400" b="1" dirty="0"/>
              <a:t> voucher distribution ceremony on 20 June-2008</a:t>
            </a:r>
          </a:p>
        </p:txBody>
      </p:sp>
      <p:pic>
        <p:nvPicPr>
          <p:cNvPr id="13315" name="Picture 4" descr="IMGP238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652472"/>
            <a:ext cx="3651324" cy="3205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811358" y="1295400"/>
            <a:ext cx="4337124" cy="1730895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400" b="1" dirty="0"/>
              <a:t>Honorable Health Minister Prof </a:t>
            </a:r>
            <a:r>
              <a:rPr lang="en-US" sz="1400" b="1" dirty="0">
                <a:latin typeface="+mn-lt"/>
              </a:rPr>
              <a:t>Dr. </a:t>
            </a:r>
            <a:r>
              <a:rPr lang="en-US" sz="1400" b="1" dirty="0" err="1">
                <a:latin typeface="+mn-lt"/>
              </a:rPr>
              <a:t>Ruhul</a:t>
            </a:r>
            <a:r>
              <a:rPr lang="en-US" sz="1400" b="1" dirty="0">
                <a:latin typeface="+mn-lt"/>
              </a:rPr>
              <a:t> </a:t>
            </a:r>
            <a:r>
              <a:rPr lang="en-US" sz="1400" b="1" dirty="0" err="1">
                <a:latin typeface="+mn-lt"/>
              </a:rPr>
              <a:t>Haque</a:t>
            </a:r>
            <a:endParaRPr lang="en-US" sz="1400" b="1" dirty="0">
              <a:latin typeface="+mn-lt"/>
            </a:endParaRPr>
          </a:p>
          <a:p>
            <a:pPr algn="ctr"/>
            <a:r>
              <a:rPr lang="en-US" sz="1400" b="1" dirty="0">
                <a:latin typeface="+mn-lt"/>
              </a:rPr>
              <a:t> MP with WHO Representative handing over </a:t>
            </a:r>
          </a:p>
          <a:p>
            <a:pPr algn="ctr"/>
            <a:r>
              <a:rPr lang="en-US" sz="1400" b="1" dirty="0">
                <a:latin typeface="+mn-lt"/>
              </a:rPr>
              <a:t>money and gift of voucher scheme of </a:t>
            </a:r>
            <a:r>
              <a:rPr lang="en-US" sz="1400" b="1" dirty="0"/>
              <a:t>DSF</a:t>
            </a:r>
            <a:endParaRPr lang="en-US" altLang="en-US" sz="1400" b="1" dirty="0"/>
          </a:p>
        </p:txBody>
      </p:sp>
      <p:pic>
        <p:nvPicPr>
          <p:cNvPr id="6" name="Picture 4" descr="Razzak_Remove (Mama)"/>
          <p:cNvPicPr>
            <a:picLocks noGrp="1" noChangeAspect="1" noChangeArrowheads="1"/>
          </p:cNvPicPr>
          <p:nvPr>
            <p:ph type="body" sz="half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038004"/>
            <a:ext cx="3790749" cy="2837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371600" y="0"/>
            <a:ext cx="62156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Visit by Dignitaries – UHC Chowgacha</a:t>
            </a:r>
          </a:p>
        </p:txBody>
      </p:sp>
      <p:sp>
        <p:nvSpPr>
          <p:cNvPr id="8" name="Left Arrow 7"/>
          <p:cNvSpPr/>
          <p:nvPr/>
        </p:nvSpPr>
        <p:spPr>
          <a:xfrm>
            <a:off x="4113545" y="1717871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Left Arrow 9"/>
          <p:cNvSpPr/>
          <p:nvPr/>
        </p:nvSpPr>
        <p:spPr>
          <a:xfrm rot="10800000">
            <a:off x="4546092" y="4684335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7076704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7FD4-3840-4ED5-B018-64CF93AE7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-152399"/>
            <a:ext cx="7772400" cy="2106612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096A1-20AF-4D53-9DAD-79F3AEA38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" y="1524000"/>
            <a:ext cx="9067800" cy="5334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277CD99-8A87-4218-8C22-92C673BFDBAE}"/>
              </a:ext>
            </a:extLst>
          </p:cNvPr>
          <p:cNvGraphicFramePr>
            <a:graphicFrameLocks noGrp="1"/>
          </p:cNvGraphicFramePr>
          <p:nvPr/>
        </p:nvGraphicFramePr>
        <p:xfrm>
          <a:off x="76200" y="1542312"/>
          <a:ext cx="9067801" cy="533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7400">
                  <a:extLst>
                    <a:ext uri="{9D8B030D-6E8A-4147-A177-3AD203B41FA5}">
                      <a16:colId xmlns:a16="http://schemas.microsoft.com/office/drawing/2014/main" val="324917256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06574305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6791793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3078791361"/>
                    </a:ext>
                  </a:extLst>
                </a:gridCol>
              </a:tblGrid>
              <a:tr h="680848">
                <a:tc>
                  <a:txBody>
                    <a:bodyPr/>
                    <a:lstStyle/>
                    <a:p>
                      <a:r>
                        <a:rPr lang="en-IN" dirty="0"/>
                        <a:t>  </a:t>
                      </a:r>
                      <a:r>
                        <a:rPr lang="en-IN" sz="3200" dirty="0"/>
                        <a:t>Criteria  of C-J  Model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Best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Weak</a:t>
                      </a:r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547838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dirty="0"/>
                        <a:t> </a:t>
                      </a:r>
                      <a:r>
                        <a:rPr lang="en-IN" sz="2800" dirty="0"/>
                        <a:t>1.Cycle stand close to the main gate.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564194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800" dirty="0"/>
                        <a:t>2.Health Education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85467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sz="2800" dirty="0"/>
                        <a:t>3.Cleanliness &amp;  beautification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917439"/>
                  </a:ext>
                </a:extLst>
              </a:tr>
              <a:tr h="925561">
                <a:tc>
                  <a:txBody>
                    <a:bodyPr/>
                    <a:lstStyle/>
                    <a:p>
                      <a:r>
                        <a:rPr lang="en-IN" sz="2400" b="0" dirty="0"/>
                        <a:t>4.Separation of patients in out door &amp; indoor</a:t>
                      </a:r>
                      <a:endParaRPr lang="en-GB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54509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400" dirty="0"/>
                        <a:t>5.</a:t>
                      </a:r>
                      <a:r>
                        <a:rPr lang="en-IN" sz="2400" baseline="0" dirty="0"/>
                        <a:t>B</a:t>
                      </a:r>
                      <a:r>
                        <a:rPr lang="en-IN" sz="2400" dirty="0"/>
                        <a:t>lood  </a:t>
                      </a:r>
                      <a:r>
                        <a:rPr lang="en-IN" sz="2400" dirty="0" err="1"/>
                        <a:t>doner</a:t>
                      </a:r>
                      <a:r>
                        <a:rPr lang="en-IN" sz="2400" dirty="0"/>
                        <a:t> list with  24/7 B.T facility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128657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6.Birth- death recording 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90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28026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B6A7-25DF-4DF2-A52E-F4D228D61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1470025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17C04-BE57-4892-A83B-DEC08F71F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905000"/>
            <a:ext cx="8305800" cy="42672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B48B1AD-9122-4F00-8177-DE2A5E862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225637"/>
              </p:ext>
            </p:extLst>
          </p:nvPr>
        </p:nvGraphicFramePr>
        <p:xfrm>
          <a:off x="76200" y="1921113"/>
          <a:ext cx="8915399" cy="49644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4290">
                  <a:extLst>
                    <a:ext uri="{9D8B030D-6E8A-4147-A177-3AD203B41FA5}">
                      <a16:colId xmlns:a16="http://schemas.microsoft.com/office/drawing/2014/main" val="2240581806"/>
                    </a:ext>
                  </a:extLst>
                </a:gridCol>
                <a:gridCol w="1007828">
                  <a:extLst>
                    <a:ext uri="{9D8B030D-6E8A-4147-A177-3AD203B41FA5}">
                      <a16:colId xmlns:a16="http://schemas.microsoft.com/office/drawing/2014/main" val="1611971279"/>
                    </a:ext>
                  </a:extLst>
                </a:gridCol>
                <a:gridCol w="1240403">
                  <a:extLst>
                    <a:ext uri="{9D8B030D-6E8A-4147-A177-3AD203B41FA5}">
                      <a16:colId xmlns:a16="http://schemas.microsoft.com/office/drawing/2014/main" val="2709467331"/>
                    </a:ext>
                  </a:extLst>
                </a:gridCol>
                <a:gridCol w="1162878">
                  <a:extLst>
                    <a:ext uri="{9D8B030D-6E8A-4147-A177-3AD203B41FA5}">
                      <a16:colId xmlns:a16="http://schemas.microsoft.com/office/drawing/2014/main" val="2699123865"/>
                    </a:ext>
                  </a:extLst>
                </a:gridCol>
              </a:tblGrid>
              <a:tr h="623553">
                <a:tc>
                  <a:txBody>
                    <a:bodyPr/>
                    <a:lstStyle/>
                    <a:p>
                      <a:r>
                        <a:rPr lang="en-IN" sz="3200" dirty="0"/>
                        <a:t>Criteria  of C-J  Model.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Week</a:t>
                      </a:r>
                      <a:endParaRPr lang="en-GB" sz="32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3681846444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7. Reception</a:t>
                      </a:r>
                      <a:r>
                        <a:rPr lang="en-IN" sz="2400" baseline="0" dirty="0"/>
                        <a:t> Desk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83327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8 . Developed Emergency</a:t>
                      </a:r>
                      <a:r>
                        <a:rPr lang="en-IN" sz="2400" baseline="0" dirty="0"/>
                        <a:t>  Dept.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58263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9. 5S</a:t>
                      </a:r>
                      <a:r>
                        <a:rPr lang="en-IN" sz="2400" baseline="0" dirty="0"/>
                        <a:t> –KAIZEN implementation.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040395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10. Community</a:t>
                      </a:r>
                      <a:r>
                        <a:rPr lang="en-IN" sz="2400" baseline="0" dirty="0"/>
                        <a:t> Participation./Social welfare committee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375197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11. Hospital</a:t>
                      </a:r>
                      <a:r>
                        <a:rPr lang="en-IN" sz="2400" baseline="0" dirty="0"/>
                        <a:t> activities Display</a:t>
                      </a:r>
                      <a:endParaRPr lang="en-IN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2468"/>
                  </a:ext>
                </a:extLst>
              </a:tr>
              <a:tr h="623553">
                <a:tc>
                  <a:txBody>
                    <a:bodyPr/>
                    <a:lstStyle/>
                    <a:p>
                      <a:r>
                        <a:rPr lang="en-GB" sz="2400" dirty="0"/>
                        <a:t>12. Corner based service.6/7 EPI.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567929"/>
                  </a:ext>
                </a:extLst>
              </a:tr>
              <a:tr h="627357">
                <a:tc>
                  <a:txBody>
                    <a:bodyPr/>
                    <a:lstStyle/>
                    <a:p>
                      <a:r>
                        <a:rPr lang="en-IN" sz="2400" dirty="0"/>
                        <a:t>13. Cash counter for receiving Govt money.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535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6202499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4C5C-EB62-4DB3-B99C-71C341555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304799"/>
            <a:ext cx="8077201" cy="1288869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CDC4A-F424-4A38-B3B0-9D27479A2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2057400"/>
            <a:ext cx="8077200" cy="44958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92E863-F8F5-4CF1-B778-581E34C37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933522"/>
              </p:ext>
            </p:extLst>
          </p:nvPr>
        </p:nvGraphicFramePr>
        <p:xfrm>
          <a:off x="152400" y="1524000"/>
          <a:ext cx="8382000" cy="5114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235456119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64712403"/>
                    </a:ext>
                  </a:extLst>
                </a:gridCol>
                <a:gridCol w="979023">
                  <a:extLst>
                    <a:ext uri="{9D8B030D-6E8A-4147-A177-3AD203B41FA5}">
                      <a16:colId xmlns:a16="http://schemas.microsoft.com/office/drawing/2014/main" val="2495356835"/>
                    </a:ext>
                  </a:extLst>
                </a:gridCol>
                <a:gridCol w="925977">
                  <a:extLst>
                    <a:ext uri="{9D8B030D-6E8A-4147-A177-3AD203B41FA5}">
                      <a16:colId xmlns:a16="http://schemas.microsoft.com/office/drawing/2014/main" val="367797206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IN" sz="2400" dirty="0"/>
                        <a:t>Criteria  of C-J   Model.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Good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Week</a:t>
                      </a:r>
                      <a:endParaRPr lang="en-GB" sz="24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410735983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14.Devolped</a:t>
                      </a:r>
                      <a:r>
                        <a:rPr lang="en-IN" sz="2400" baseline="0" dirty="0"/>
                        <a:t> maternal health/labour word.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485239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15.Devolped</a:t>
                      </a:r>
                      <a:r>
                        <a:rPr lang="en-IN" sz="2400" baseline="0" dirty="0"/>
                        <a:t> paediatric health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54530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16.Position in HSS score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04961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17. Power point Presentation &amp;Video on UHC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69227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18.Knowledge about 8</a:t>
                      </a:r>
                      <a:r>
                        <a:rPr lang="en-GB" sz="2400" baseline="30000" dirty="0"/>
                        <a:t>th</a:t>
                      </a:r>
                      <a:r>
                        <a:rPr lang="en-GB" sz="2400" dirty="0"/>
                        <a:t> Five Year plan &amp;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     SDG.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09765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r>
                        <a:rPr lang="en-US" sz="2400" dirty="0"/>
                        <a:t>19.Zero-Tollarance on corruption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227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0107018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-38100" y="0"/>
            <a:ext cx="9220200" cy="791029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Acheivement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UHC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4472" y="791028"/>
            <a:ext cx="9178471" cy="6066971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 algn="just">
              <a:spcBef>
                <a:spcPts val="0"/>
              </a:spcBef>
              <a:buNone/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</a:t>
            </a:r>
            <a:r>
              <a:rPr lang="en-US" sz="2400" b="1" dirty="0">
                <a:solidFill>
                  <a:srgbClr val="FF0000"/>
                </a:solidFill>
              </a:rPr>
              <a:t>awarded for EPI in 1988,” Best </a:t>
            </a:r>
            <a:r>
              <a:rPr lang="en-US" sz="2400" b="1" dirty="0" err="1">
                <a:solidFill>
                  <a:srgbClr val="FF0000"/>
                </a:solidFill>
              </a:rPr>
              <a:t>PerformanceAward</a:t>
            </a:r>
            <a:r>
              <a:rPr lang="en-US" sz="2400" b="1" dirty="0">
                <a:solidFill>
                  <a:srgbClr val="FF0000"/>
                </a:solidFill>
              </a:rPr>
              <a:t>” in EOC form 2005 to  2014 &amp; Health Ministers Award stood 1</a:t>
            </a:r>
            <a:r>
              <a:rPr lang="en-US" sz="2400" b="1" baseline="30000" dirty="0">
                <a:solidFill>
                  <a:srgbClr val="FF0000"/>
                </a:solidFill>
              </a:rPr>
              <a:t>st</a:t>
            </a:r>
            <a:r>
              <a:rPr lang="en-US" sz="2400" b="1" dirty="0">
                <a:solidFill>
                  <a:srgbClr val="FF0000"/>
                </a:solidFill>
              </a:rPr>
              <a:t> in 2017, 2018 &amp; 2020.</a:t>
            </a:r>
          </a:p>
          <a:p>
            <a:pPr algn="just">
              <a:spcBef>
                <a:spcPts val="0"/>
              </a:spcBef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/>
              <a:t>In </a:t>
            </a:r>
            <a:r>
              <a:rPr lang="en-US" sz="2400" b="1" dirty="0">
                <a:solidFill>
                  <a:srgbClr val="FF0000"/>
                </a:solidFill>
              </a:rPr>
              <a:t>2008</a:t>
            </a:r>
            <a:r>
              <a:rPr lang="en-US" sz="2400" b="1" dirty="0"/>
              <a:t>, </a:t>
            </a:r>
            <a:r>
              <a:rPr lang="en-US" sz="2400" b="1" dirty="0" err="1"/>
              <a:t>Chowgacha</a:t>
            </a:r>
            <a:r>
              <a:rPr lang="en-US" sz="2400" b="1" dirty="0"/>
              <a:t> Health Complex declared as the “</a:t>
            </a:r>
            <a:r>
              <a:rPr lang="en-US" sz="2400" b="1" u="sng" dirty="0">
                <a:solidFill>
                  <a:srgbClr val="FF0000"/>
                </a:solidFill>
                <a:latin typeface="Century Schoolbook" pitchFamily="18" charset="0"/>
              </a:rPr>
              <a:t>Model </a:t>
            </a:r>
            <a:r>
              <a:rPr lang="en-US" sz="2400" b="1" u="sng" dirty="0" err="1">
                <a:solidFill>
                  <a:srgbClr val="FF0000"/>
                </a:solidFill>
                <a:latin typeface="Century Schoolbook" pitchFamily="18" charset="0"/>
              </a:rPr>
              <a:t>Upazilla</a:t>
            </a:r>
            <a:r>
              <a:rPr lang="en-US" sz="2400" b="1" u="sng" dirty="0">
                <a:solidFill>
                  <a:srgbClr val="FF0000"/>
                </a:solidFill>
                <a:latin typeface="Century Schoolbook" pitchFamily="18" charset="0"/>
              </a:rPr>
              <a:t> Health Complex by the M0HFW</a:t>
            </a:r>
            <a:endParaRPr lang="en-US" sz="2400" u="sng" dirty="0">
              <a:solidFill>
                <a:srgbClr val="FF0000"/>
              </a:solidFill>
              <a:latin typeface="Century Schoolbook" pitchFamily="18" charset="0"/>
            </a:endParaRPr>
          </a:p>
          <a:p>
            <a:pPr marL="300038" lvl="1" indent="0" algn="just">
              <a:spcBef>
                <a:spcPts val="0"/>
              </a:spcBef>
              <a:buNone/>
              <a:defRPr/>
            </a:pPr>
            <a:endParaRPr lang="en-US" sz="2400" b="1" dirty="0">
              <a:solidFill>
                <a:srgbClr val="FF0000"/>
              </a:solidFill>
            </a:endParaRP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 became the </a:t>
            </a:r>
            <a:r>
              <a:rPr lang="en-US" sz="2400" b="1" dirty="0">
                <a:solidFill>
                  <a:srgbClr val="FF0000"/>
                </a:solidFill>
              </a:rPr>
              <a:t>best EOC center having 41(11+30)  with 98.4%(4413) hospital delivery rate in 2011.</a:t>
            </a: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The UHC starts upgrade to 100  bedded hospital</a:t>
            </a: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model is being replicated throughout the country by DGHS, MOH &amp; FW since 2016 by the order of Prime Minister</a:t>
            </a:r>
          </a:p>
        </p:txBody>
      </p:sp>
    </p:spTree>
    <p:extLst>
      <p:ext uri="{BB962C8B-B14F-4D97-AF65-F5344CB8AC3E}">
        <p14:creationId xmlns:p14="http://schemas.microsoft.com/office/powerpoint/2010/main" val="140766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23338902_357949735289465_2022138112910056218_n.jpg"/>
          <p:cNvPicPr>
            <a:picLocks noChangeAspect="1"/>
          </p:cNvPicPr>
          <p:nvPr/>
        </p:nvPicPr>
        <p:blipFill>
          <a:blip r:embed="rId2"/>
          <a:srcRect l="14445" r="7778" b="33704"/>
          <a:stretch>
            <a:fillRect/>
          </a:stretch>
        </p:blipFill>
        <p:spPr>
          <a:xfrm>
            <a:off x="0" y="3711212"/>
            <a:ext cx="2743200" cy="2289538"/>
          </a:xfrm>
          <a:prstGeom prst="rect">
            <a:avLst/>
          </a:prstGeom>
        </p:spPr>
      </p:pic>
      <p:pic>
        <p:nvPicPr>
          <p:cNvPr id="8" name="Picture 7" descr="123987180_358016088633264_7440447193674186206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0200"/>
            <a:ext cx="9144000" cy="2146102"/>
          </a:xfrm>
          <a:prstGeom prst="rect">
            <a:avLst/>
          </a:prstGeom>
        </p:spPr>
      </p:pic>
      <p:pic>
        <p:nvPicPr>
          <p:cNvPr id="9" name="Picture 8" descr="124981287_284963982782478_7865259408336761610_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1" y="3714750"/>
            <a:ext cx="2967777" cy="2286000"/>
          </a:xfrm>
          <a:prstGeom prst="rect">
            <a:avLst/>
          </a:prstGeom>
        </p:spPr>
      </p:pic>
      <p:pic>
        <p:nvPicPr>
          <p:cNvPr id="10" name="Picture 9" descr="124577046_390549818733675_5808906727791639712_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733800"/>
            <a:ext cx="3429000" cy="2266950"/>
          </a:xfrm>
          <a:prstGeom prst="rect">
            <a:avLst/>
          </a:prstGeom>
        </p:spPr>
      </p:pic>
      <p:sp>
        <p:nvSpPr>
          <p:cNvPr id="11" name="Text Placeholder 9"/>
          <p:cNvSpPr txBox="1">
            <a:spLocks/>
          </p:cNvSpPr>
          <p:nvPr/>
        </p:nvSpPr>
        <p:spPr>
          <a:xfrm>
            <a:off x="1676400" y="857250"/>
            <a:ext cx="6172200" cy="5905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b="1" dirty="0">
                <a:latin typeface="Berlin Sans FB" pitchFamily="34" charset="0"/>
              </a:rPr>
              <a:t>Beautification of the Premises</a:t>
            </a:r>
          </a:p>
        </p:txBody>
      </p:sp>
    </p:spTree>
    <p:extLst>
      <p:ext uri="{BB962C8B-B14F-4D97-AF65-F5344CB8AC3E}">
        <p14:creationId xmlns:p14="http://schemas.microsoft.com/office/powerpoint/2010/main" val="3536372258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32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dirty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51054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/>
          </a:p>
          <a:p>
            <a:pPr algn="just">
              <a:defRPr/>
            </a:pPr>
            <a:r>
              <a:rPr lang="en-US" sz="3000" b="1" dirty="0" err="1"/>
              <a:t>Insecured</a:t>
            </a:r>
            <a:r>
              <a:rPr lang="en-US" sz="3000" b="1" dirty="0"/>
              <a:t>  hospital environment.</a:t>
            </a:r>
          </a:p>
          <a:p>
            <a:pPr algn="just">
              <a:defRPr/>
            </a:pPr>
            <a:r>
              <a:rPr lang="en-US" sz="3000" b="1" dirty="0"/>
              <a:t>Performance of all activities was very low.</a:t>
            </a:r>
          </a:p>
          <a:p>
            <a:pPr algn="just">
              <a:defRPr/>
            </a:pPr>
            <a:r>
              <a:rPr lang="en-US" sz="3000" b="1" dirty="0"/>
              <a:t>Very limited support staff.</a:t>
            </a:r>
          </a:p>
          <a:p>
            <a:pPr algn="just">
              <a:defRPr/>
            </a:pPr>
            <a:r>
              <a:rPr lang="en-US" sz="3000" b="1" dirty="0"/>
              <a:t>3 doctors including RMO was suspended. </a:t>
            </a:r>
          </a:p>
          <a:p>
            <a:pPr algn="just">
              <a:defRPr/>
            </a:pPr>
            <a:r>
              <a:rPr lang="en-US" sz="3000" b="1" dirty="0"/>
              <a:t>48 Non-gov. staff. demanding money from the patients.</a:t>
            </a:r>
          </a:p>
          <a:p>
            <a:pPr algn="just">
              <a:defRPr/>
            </a:pPr>
            <a:r>
              <a:rPr lang="en-US" sz="3000" b="1" dirty="0"/>
              <a:t>Waste management system was poor.</a:t>
            </a:r>
          </a:p>
          <a:p>
            <a:pPr algn="just">
              <a:defRPr/>
            </a:pPr>
            <a:r>
              <a:rPr lang="en-US" sz="3000" b="1" dirty="0"/>
              <a:t>Monitoring meeting was not performed regularl</a:t>
            </a:r>
            <a:r>
              <a:rPr lang="en-US" sz="2800" b="1" dirty="0"/>
              <a:t>y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 marL="0" indent="0">
              <a:buFont typeface="Arial" charset="0"/>
              <a:buNone/>
              <a:defRPr/>
            </a:pPr>
            <a:endParaRPr lang="en-US" sz="1800" b="1" dirty="0"/>
          </a:p>
          <a:p>
            <a:pPr marL="0" indent="0">
              <a:buFont typeface="Arial" charset="0"/>
              <a:buNone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35536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19100" y="609600"/>
            <a:ext cx="8229600" cy="60960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2019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572270648"/>
              </p:ext>
            </p:extLst>
          </p:nvPr>
        </p:nvGraphicFramePr>
        <p:xfrm>
          <a:off x="381000" y="1676400"/>
          <a:ext cx="8305800" cy="436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3068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655638"/>
          </a:xfrm>
          <a:blipFill>
            <a:blip r:embed="rId2"/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+ Out Door &amp; Indoor  Service 1998 to 2019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645567418"/>
              </p:ext>
            </p:extLst>
          </p:nvPr>
        </p:nvGraphicFramePr>
        <p:xfrm>
          <a:off x="228600" y="1219200"/>
          <a:ext cx="8534400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4800" y="838200"/>
            <a:ext cx="8610600" cy="36933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   </a:t>
            </a:r>
            <a:r>
              <a:rPr lang="en-US" b="1" dirty="0">
                <a:solidFill>
                  <a:srgbClr val="0070C0"/>
                </a:solidFill>
              </a:rPr>
              <a:t>Emergency + Outdoor visit</a:t>
            </a:r>
            <a:r>
              <a:rPr lang="en-US" dirty="0"/>
              <a:t>,       </a:t>
            </a:r>
            <a:r>
              <a:rPr lang="en-US" dirty="0">
                <a:solidFill>
                  <a:srgbClr val="C00000"/>
                </a:solidFill>
              </a:rPr>
              <a:t>Indoor (admission)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2600" y="990600"/>
            <a:ext cx="1524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57800" y="990600"/>
            <a:ext cx="1524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02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GB" sz="2400" dirty="0"/>
              <a:t>Total ANC and Delivery in Jhenaidah District Hospital 2011-2019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08028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>
                <a:ea typeface="Calibri"/>
                <a:cs typeface="Vrinda"/>
              </a:rPr>
              <a:t>3 best performing </a:t>
            </a:r>
            <a:r>
              <a:rPr lang="en-US" sz="2800" b="1" dirty="0" err="1">
                <a:ea typeface="Calibri"/>
                <a:cs typeface="Vrinda"/>
              </a:rPr>
              <a:t>EmOC</a:t>
            </a:r>
            <a:r>
              <a:rPr lang="en-US" sz="2800" b="1" dirty="0">
                <a:ea typeface="Calibri"/>
                <a:cs typeface="Vrinda"/>
              </a:rPr>
              <a:t> Hospital in Khulna division - 2017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Hospital and Introduction of TQM 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3886200"/>
            <a:ext cx="4281094" cy="3002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0412" y="15240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/>
              <a:t>A team of </a:t>
            </a:r>
            <a:r>
              <a:rPr lang="en-US" sz="2000" dirty="0" err="1"/>
              <a:t>Jhenaidah</a:t>
            </a:r>
            <a:r>
              <a:rPr lang="en-US" sz="2000" dirty="0"/>
              <a:t>  District hospital visited to </a:t>
            </a:r>
            <a:r>
              <a:rPr lang="en-US" sz="2000" dirty="0" err="1"/>
              <a:t>Shatkhira</a:t>
            </a:r>
            <a:r>
              <a:rPr lang="en-US" sz="2000" dirty="0"/>
              <a:t> District hospital in 2014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146" y="48768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/>
              <a:t>A meeting was held in </a:t>
            </a:r>
            <a:r>
              <a:rPr lang="en-US" sz="2000" dirty="0" err="1"/>
              <a:t>Shatkhira</a:t>
            </a:r>
            <a:r>
              <a:rPr lang="en-US" sz="2000" dirty="0"/>
              <a:t>  District conference room</a:t>
            </a:r>
          </a:p>
        </p:txBody>
      </p:sp>
    </p:spTree>
    <p:extLst>
      <p:ext uri="{BB962C8B-B14F-4D97-AF65-F5344CB8AC3E}">
        <p14:creationId xmlns:p14="http://schemas.microsoft.com/office/powerpoint/2010/main" val="261314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90407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Pediatric Ward and EOC Ward in 2014.</a:t>
            </a:r>
          </a:p>
        </p:txBody>
      </p:sp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8A6FAB46-D4DC-4955-B04D-5BF29585B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45100" y="782955"/>
            <a:ext cx="3589753" cy="274510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6E62CA87-33B8-441D-989B-1B1FAE89E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304800" y="782955"/>
            <a:ext cx="3789183" cy="2727508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>
            <a:extLst>
              <a:ext uri="{FF2B5EF4-FFF2-40B4-BE49-F238E27FC236}">
                <a16:creationId xmlns:a16="http://schemas.microsoft.com/office/drawing/2014/main" id="{55BFDDC4-F51C-41D7-B9F5-21DCA8EEE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33769"/>
            <a:ext cx="1058743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>
            <a:extLst>
              <a:ext uri="{FF2B5EF4-FFF2-40B4-BE49-F238E27FC236}">
                <a16:creationId xmlns:a16="http://schemas.microsoft.com/office/drawing/2014/main" id="{8C329F57-9516-40AD-8FA9-66514E421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025" y="678180"/>
            <a:ext cx="1058741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833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21404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Waste Management &amp; Campus Protection -2012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8" descr="DSC02406">
            <a:extLst>
              <a:ext uri="{FF2B5EF4-FFF2-40B4-BE49-F238E27FC236}">
                <a16:creationId xmlns:a16="http://schemas.microsoft.com/office/drawing/2014/main" id="{8F5E5399-F6B2-4D6F-9A39-73801E1E0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3867786"/>
            <a:ext cx="3962400" cy="300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9">
            <a:extLst>
              <a:ext uri="{FF2B5EF4-FFF2-40B4-BE49-F238E27FC236}">
                <a16:creationId xmlns:a16="http://schemas.microsoft.com/office/drawing/2014/main" id="{B38B44C1-EAF7-4A0F-9FF3-7058A3AFD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197" y="3906440"/>
            <a:ext cx="4082477" cy="2970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1">
            <a:extLst>
              <a:ext uri="{FF2B5EF4-FFF2-40B4-BE49-F238E27FC236}">
                <a16:creationId xmlns:a16="http://schemas.microsoft.com/office/drawing/2014/main" id="{25CFE8B7-28AF-42E6-B126-8138ABEFD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41" y="3896361"/>
            <a:ext cx="1003646" cy="3801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C1DE858F-CB10-4F27-A7AE-C07186A80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4198" y="3882075"/>
            <a:ext cx="793176" cy="38016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ight Arrow 9">
            <a:extLst>
              <a:ext uri="{FF2B5EF4-FFF2-40B4-BE49-F238E27FC236}">
                <a16:creationId xmlns:a16="http://schemas.microsoft.com/office/drawing/2014/main" id="{B97AA76F-4E97-4F6E-A0D7-6101C2960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8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43641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monthly meeting schedule.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73138"/>
            <a:ext cx="3886200" cy="26670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5040BD0C-06ED-4A4A-B5C0-ED079DF7CA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803650"/>
            <a:ext cx="4419600" cy="2914650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E8C7CBAC-33FC-4311-8B49-55546B23A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0" y="3838741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" y="665328"/>
            <a:ext cx="3848100" cy="2514600"/>
          </a:xfrm>
        </p:spPr>
      </p:pic>
      <p:sp>
        <p:nvSpPr>
          <p:cNvPr id="77827" name="Rectangle 4"/>
          <p:cNvSpPr>
            <a:spLocks noChangeArrowheads="1"/>
          </p:cNvSpPr>
          <p:nvPr/>
        </p:nvSpPr>
        <p:spPr bwMode="auto">
          <a:xfrm>
            <a:off x="4332288" y="990600"/>
            <a:ext cx="3429000" cy="132397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Creation of awareness towards Health Education for the patients and their attendances.</a:t>
            </a:r>
          </a:p>
        </p:txBody>
      </p:sp>
      <p:pic>
        <p:nvPicPr>
          <p:cNvPr id="77828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696" y="3418764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Rectangle 6"/>
          <p:cNvSpPr>
            <a:spLocks noChangeArrowheads="1"/>
          </p:cNvSpPr>
          <p:nvPr/>
        </p:nvSpPr>
        <p:spPr bwMode="auto">
          <a:xfrm>
            <a:off x="152400" y="4343400"/>
            <a:ext cx="3810000" cy="132397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Motivation of the community,  the teachers, reporters, social workers, cultural activists and donors of the hospital 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- 1</a:t>
            </a:r>
          </a:p>
        </p:txBody>
      </p:sp>
    </p:spTree>
    <p:extLst>
      <p:ext uri="{BB962C8B-B14F-4D97-AF65-F5344CB8AC3E}">
        <p14:creationId xmlns:p14="http://schemas.microsoft.com/office/powerpoint/2010/main" val="1925477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85799"/>
            <a:ext cx="4424362" cy="2996821"/>
          </a:xfrm>
        </p:spPr>
      </p:pic>
      <p:pic>
        <p:nvPicPr>
          <p:cNvPr id="75779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685800"/>
            <a:ext cx="44958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4038600"/>
            <a:ext cx="4498975" cy="285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5781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38600"/>
            <a:ext cx="442595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community supported manpower -  2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88813" y="4038600"/>
            <a:ext cx="864339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Guard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58817" y="685800"/>
            <a:ext cx="146713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Trolley man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8112949" y="685800"/>
            <a:ext cx="103105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Cleaner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7689756" y="4038600"/>
            <a:ext cx="145424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Nursing aid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57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52112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4010480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373" y="4185782"/>
            <a:ext cx="4067270" cy="252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Administrator &amp; Mayor in Sadar Hospital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9870"/>
            <a:ext cx="4363439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 </a:t>
            </a:r>
            <a:r>
              <a:rPr lang="en-US" sz="1500" b="1" dirty="0" err="1">
                <a:solidFill>
                  <a:srgbClr val="FF0000"/>
                </a:solidFill>
              </a:rPr>
              <a:t>Perticipation</a:t>
            </a:r>
            <a:r>
              <a:rPr lang="en-US" sz="1500" b="1" dirty="0">
                <a:solidFill>
                  <a:srgbClr val="FF0000"/>
                </a:solidFill>
              </a:rPr>
              <a:t> of Previous MP in beautification</a:t>
            </a:r>
            <a:endParaRPr lang="en-GB" sz="1500" dirty="0"/>
          </a:p>
        </p:txBody>
      </p:sp>
      <p:sp>
        <p:nvSpPr>
          <p:cNvPr id="12" name="Rectangle 11"/>
          <p:cNvSpPr/>
          <p:nvPr/>
        </p:nvSpPr>
        <p:spPr>
          <a:xfrm>
            <a:off x="-20039" y="3985289"/>
            <a:ext cx="3048527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A big cleaning day on 17 March</a:t>
            </a:r>
            <a:endParaRPr lang="en-GB" sz="1500" dirty="0"/>
          </a:p>
        </p:txBody>
      </p:sp>
      <p:sp>
        <p:nvSpPr>
          <p:cNvPr id="13" name="Rectangle 12"/>
          <p:cNvSpPr/>
          <p:nvPr/>
        </p:nvSpPr>
        <p:spPr>
          <a:xfrm>
            <a:off x="5691266" y="3850856"/>
            <a:ext cx="2329484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Crowd control by scout</a:t>
            </a:r>
            <a:endParaRPr lang="en-GB" sz="1500" dirty="0"/>
          </a:p>
        </p:txBody>
      </p:sp>
      <p:pic>
        <p:nvPicPr>
          <p:cNvPr id="16" name="Content Placeholder 3">
            <a:extLst>
              <a:ext uri="{FF2B5EF4-FFF2-40B4-BE49-F238E27FC236}">
                <a16:creationId xmlns:a16="http://schemas.microsoft.com/office/drawing/2014/main" id="{A3BB88F7-AC78-4669-9407-FFB2212920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59479" y="954520"/>
            <a:ext cx="3847874" cy="259614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A6D52DD-003A-4D35-984E-B94CFFD4555C}"/>
              </a:ext>
            </a:extLst>
          </p:cNvPr>
          <p:cNvSpPr/>
          <p:nvPr/>
        </p:nvSpPr>
        <p:spPr>
          <a:xfrm>
            <a:off x="4957563" y="582377"/>
            <a:ext cx="3651705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DC, </a:t>
            </a:r>
            <a:r>
              <a:rPr lang="en-US" sz="1500" b="1" dirty="0" err="1">
                <a:solidFill>
                  <a:srgbClr val="FF0000"/>
                </a:solidFill>
              </a:rPr>
              <a:t>Jhenaidah</a:t>
            </a:r>
            <a:r>
              <a:rPr lang="en-US" sz="1500" b="1" dirty="0">
                <a:solidFill>
                  <a:srgbClr val="FF0000"/>
                </a:solidFill>
              </a:rPr>
              <a:t> Visited </a:t>
            </a:r>
            <a:r>
              <a:rPr lang="en-US" sz="1500" b="1" dirty="0" err="1">
                <a:solidFill>
                  <a:srgbClr val="FF0000"/>
                </a:solidFill>
              </a:rPr>
              <a:t>Sadar</a:t>
            </a:r>
            <a:r>
              <a:rPr lang="en-US" sz="1500" b="1" dirty="0">
                <a:solidFill>
                  <a:srgbClr val="FF0000"/>
                </a:solidFill>
              </a:rPr>
              <a:t> Hospital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448160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9466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670561"/>
            <a:ext cx="4047260" cy="2698173"/>
          </a:xfrm>
          <a:prstGeom prst="rect">
            <a:avLst/>
          </a:prstGeom>
          <a:noFill/>
        </p:spPr>
      </p:pic>
      <p:pic>
        <p:nvPicPr>
          <p:cNvPr id="2051" name="Picture 3" descr="C:\Users\USER\Desktop\Medicine 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70561"/>
            <a:ext cx="4402282" cy="2698173"/>
          </a:xfrm>
          <a:prstGeom prst="rect">
            <a:avLst/>
          </a:prstGeom>
          <a:noFill/>
        </p:spPr>
      </p:pic>
      <p:pic>
        <p:nvPicPr>
          <p:cNvPr id="2052" name="Picture 4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642361"/>
            <a:ext cx="4402282" cy="3124200"/>
          </a:xfrm>
          <a:prstGeom prst="rect">
            <a:avLst/>
          </a:prstGeom>
          <a:noFill/>
        </p:spPr>
      </p:pic>
      <p:pic>
        <p:nvPicPr>
          <p:cNvPr id="2053" name="Picture 5" descr="C:\Users\USER\Desktop\Medicine 3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53000" y="3642361"/>
            <a:ext cx="4047259" cy="31242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9DA632E-D6A3-42BC-B01B-A055C1EBB13F}"/>
              </a:ext>
            </a:extLst>
          </p:cNvPr>
          <p:cNvSpPr txBox="1">
            <a:spLocks/>
          </p:cNvSpPr>
          <p:nvPr/>
        </p:nvSpPr>
        <p:spPr>
          <a:xfrm>
            <a:off x="152399" y="12213"/>
            <a:ext cx="8847859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Innovation in Medicine Ward by the consultants.</a:t>
            </a:r>
          </a:p>
        </p:txBody>
      </p:sp>
    </p:spTree>
    <p:extLst>
      <p:ext uri="{BB962C8B-B14F-4D97-AF65-F5344CB8AC3E}">
        <p14:creationId xmlns:p14="http://schemas.microsoft.com/office/powerpoint/2010/main" val="133199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5">
            <a:extLst>
              <a:ext uri="{FF2B5EF4-FFF2-40B4-BE49-F238E27FC236}">
                <a16:creationId xmlns:a16="http://schemas.microsoft.com/office/drawing/2014/main" id="{879CCA2B-0EFA-40EE-A405-083B9857D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3688079"/>
            <a:ext cx="4451959" cy="2844284"/>
          </a:xfrm>
          <a:prstGeom prst="rect">
            <a:avLst/>
          </a:prstGeom>
          <a:noFill/>
        </p:spPr>
      </p:pic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97468"/>
            <a:ext cx="4416426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738411"/>
            <a:ext cx="4532312" cy="28442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21" y="3657599"/>
            <a:ext cx="4416425" cy="2845482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-1" y="685800"/>
            <a:ext cx="418576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Intercom system by community sup.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5689208" y="738411"/>
            <a:ext cx="345479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Generator by community sup.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4842113" y="3915261"/>
            <a:ext cx="404469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Pcikup</a:t>
            </a:r>
            <a:r>
              <a:rPr lang="en-US" b="1" dirty="0">
                <a:solidFill>
                  <a:srgbClr val="FF0000"/>
                </a:solidFill>
              </a:rPr>
              <a:t> van by </a:t>
            </a:r>
            <a:r>
              <a:rPr lang="en-US" b="1" dirty="0" err="1">
                <a:solidFill>
                  <a:srgbClr val="FF0000"/>
                </a:solidFill>
              </a:rPr>
              <a:t>Jahedee</a:t>
            </a:r>
            <a:r>
              <a:rPr lang="en-US" b="1" dirty="0">
                <a:solidFill>
                  <a:srgbClr val="FF0000"/>
                </a:solidFill>
              </a:rPr>
              <a:t> Foundation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-1" y="4068574"/>
            <a:ext cx="346761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Extension </a:t>
            </a:r>
            <a:r>
              <a:rPr lang="en-US" b="1" dirty="0">
                <a:solidFill>
                  <a:srgbClr val="FF0000"/>
                </a:solidFill>
              </a:rPr>
              <a:t>of hospital mosque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305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21404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 in 2021.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3074" name="Picture 2" descr="F:\Hospital Picture\New 2022\IMG_5268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762000"/>
            <a:ext cx="4419600" cy="2819400"/>
          </a:xfrm>
          <a:prstGeom prst="rect">
            <a:avLst/>
          </a:prstGeom>
          <a:noFill/>
        </p:spPr>
      </p:pic>
      <p:pic>
        <p:nvPicPr>
          <p:cNvPr id="3077" name="Picture 5" descr="F:\Hospital Picture\New 2022\IMG_5270.JP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5800" y="685800"/>
            <a:ext cx="4489450" cy="2909888"/>
          </a:xfrm>
          <a:prstGeom prst="rect">
            <a:avLst/>
          </a:prstGeom>
          <a:noFill/>
        </p:spPr>
      </p:pic>
      <p:pic>
        <p:nvPicPr>
          <p:cNvPr id="3081" name="Picture 9" descr="C:\Users\USER\Desktop\rsz_1img_5277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3657600"/>
            <a:ext cx="4419600" cy="3200400"/>
          </a:xfrm>
          <a:prstGeom prst="rect">
            <a:avLst/>
          </a:prstGeom>
          <a:noFill/>
        </p:spPr>
      </p:pic>
      <p:pic>
        <p:nvPicPr>
          <p:cNvPr id="1026" name="Picture 2" descr="C:\Users\USER\Desktop\Screenshot_1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95800" y="3657601"/>
            <a:ext cx="4648200" cy="3200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3260203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94698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Staff : 53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Cleaner:	20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err="1">
                <a:solidFill>
                  <a:srgbClr val="1F497D">
                    <a:lumMod val="75000"/>
                  </a:srgbClr>
                </a:solidFill>
              </a:rPr>
              <a:t>Aya</a:t>
            </a: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 /Word boy:	21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Security guard:	6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Volunteer:	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Trolley man:	3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Generator.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Intercom.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Biochemical analyzer.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Reformation of medicine, surgery, pediatric word.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Boundary wall repair.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Pic up car.</a:t>
            </a:r>
          </a:p>
        </p:txBody>
      </p:sp>
      <p:sp>
        <p:nvSpPr>
          <p:cNvPr id="5" name="Rectangle 31"/>
          <p:cNvSpPr txBox="1">
            <a:spLocks noChangeArrowheads="1"/>
          </p:cNvSpPr>
          <p:nvPr/>
        </p:nvSpPr>
        <p:spPr bwMode="auto">
          <a:xfrm>
            <a:off x="4572000" y="781050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600" b="1" u="sng" dirty="0">
                <a:solidFill>
                  <a:srgbClr val="1F497D">
                    <a:lumMod val="75000"/>
                  </a:srgbClr>
                </a:solidFill>
              </a:rPr>
              <a:t>Donors: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MP.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Mayor.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Other donors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Retd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Secretary .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51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</a:t>
            </a: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1. Active Community Participation in health service is an example in Bangladesh.</a:t>
            </a:r>
          </a:p>
          <a:p>
            <a:pPr marL="0" algn="just">
              <a:defRPr/>
            </a:pPr>
            <a:r>
              <a:rPr lang="en-US" sz="2000" dirty="0"/>
              <a:t> </a:t>
            </a:r>
          </a:p>
          <a:p>
            <a:pPr marL="0" algn="just">
              <a:defRPr/>
            </a:pPr>
            <a:r>
              <a:rPr lang="en-US" sz="2000" b="1" dirty="0"/>
              <a:t>2. Improved   performance  of all IPD &amp; OPD services.</a:t>
            </a:r>
          </a:p>
          <a:p>
            <a:pPr marL="0">
              <a:defRPr/>
            </a:pPr>
            <a:endParaRPr lang="en-US" sz="2000" b="1" dirty="0"/>
          </a:p>
          <a:p>
            <a:pPr marL="0">
              <a:defRPr/>
            </a:pPr>
            <a:r>
              <a:rPr lang="en-US" sz="2000" b="1" dirty="0"/>
              <a:t>3. Improved cleanliness and beautification of campus.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4.. The hospital is awarded 7 times from 2013 to 2020. </a:t>
            </a:r>
            <a:endParaRPr lang="en-US" sz="2000" dirty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5. Improved Security.</a:t>
            </a:r>
            <a:endParaRPr lang="en-US" sz="1000" dirty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6. Improved financial management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7. Replication of C- J Model by DGHS in 20 District hospital &amp; 40 UHC.</a:t>
            </a:r>
          </a:p>
          <a:p>
            <a:pPr marL="0" algn="just">
              <a:defRPr/>
            </a:pPr>
            <a:r>
              <a:rPr lang="en-US" sz="2000" b="1" dirty="0"/>
              <a:t> </a:t>
            </a:r>
          </a:p>
          <a:p>
            <a:pPr marL="0" algn="just">
              <a:defRPr/>
            </a:pP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66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BA4BC-8525-4EEB-B12A-B9E74D66F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28601"/>
            <a:ext cx="7772400" cy="838200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2700" b="1" dirty="0"/>
              <a:t>7th Five Year Plan, Health, Nutrition and Population Target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A224D-FBD7-4615-A81A-D241A6E7F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524000"/>
            <a:ext cx="7772400" cy="4953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24E81D3-7098-4160-B448-0E2EFC6A2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781318"/>
              </p:ext>
            </p:extLst>
          </p:nvPr>
        </p:nvGraphicFramePr>
        <p:xfrm>
          <a:off x="457200" y="950340"/>
          <a:ext cx="8077200" cy="5298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04905989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11331188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304283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59636225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05302822"/>
                    </a:ext>
                  </a:extLst>
                </a:gridCol>
              </a:tblGrid>
              <a:tr h="10805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SL No.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Indicator (effect/ results)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Start Year Info (Start Year)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target of 7th Five-Year Plan is only by 2022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SDG by 2030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5845806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life expectancy at birth (in year)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70.4 (SVRS 2013)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546600"/>
                  </a:ext>
                </a:extLst>
              </a:tr>
              <a:tr h="6139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Under five mortality rate (per 1000 live birth)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46 (BDHS 2014)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2334868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Infant (0-1 </a:t>
                      </a:r>
                      <a:r>
                        <a:rPr lang="en-GB" sz="16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yr</a:t>
                      </a: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) mortality rate (per 1000 live births)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38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3982229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Maternal mortality ratio (per 100000 live birth)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170 (MMEIG 2013)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296337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ratio of underweight children under 5 years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32.6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5646935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Ratio of stunting in under 5 years children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36.1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3703974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 fertility rate (children per head of every woman of reproductive age)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2.3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215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964015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FA4A883-3C96-4EE0-8381-49912B31C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918485"/>
              </p:ext>
            </p:extLst>
          </p:nvPr>
        </p:nvGraphicFramePr>
        <p:xfrm>
          <a:off x="609600" y="457200"/>
          <a:ext cx="8153400" cy="5964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4163680596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579610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49449429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41929515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38225704"/>
                    </a:ext>
                  </a:extLst>
                </a:gridCol>
              </a:tblGrid>
              <a:tr h="7770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Contraceptive prevalence rate (%)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62.4 (BDHS 2014)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73111561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Immunization coverage among Children under the age of one year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78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181881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Ratio of childbirth (%) delivery by trained person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42.1 (BDHS 2014)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0314428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Rate of institutional delivery according to wealth status (ratio of highest and lowest fifth)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15:69.5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1:3.5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3195608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Tuberculosis identification rate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53 (GTR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016302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Neonatal mortality rate per 1000 live birth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 (2014)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09117782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wasting rate of children aged under five years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35877409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Ante-natal Health Care (ANC) 4</a:t>
                      </a:r>
                      <a:r>
                        <a:rPr lang="en-GB" sz="1600" baseline="300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visit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31.2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09798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5136437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8A62065-D262-4C8B-AA7F-FA5E49DED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167771"/>
              </p:ext>
            </p:extLst>
          </p:nvPr>
        </p:nvGraphicFramePr>
        <p:xfrm>
          <a:off x="762000" y="457200"/>
          <a:ext cx="8077200" cy="5921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650446907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3299152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63992833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605533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829105880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SL No.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Indicator (effect/ results)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Start Year Info (Start Year)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target of 7th Five-Year Plan is only by 2022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SDG by 2030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9115656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Exclusive Breastfeeding infant under 6 months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55.3 (2014)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2402765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Adolescent fertility rate (15-19) per 1000 married couple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1005158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Deaths due to NCD per ten thousand population (30 - 69 years)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332665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18. 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Heart disease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18. 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5430159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 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Cancer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 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727304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 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Diabetes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 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4353527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BD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 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BD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Chronic respiratory illness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BD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 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7903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87164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-30480"/>
            <a:ext cx="9144001" cy="688848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622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94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BA4BC-8525-4EEB-B12A-B9E74D66F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28601"/>
            <a:ext cx="7772400" cy="838200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2700" b="1" dirty="0"/>
              <a:t>8th Five Year Plan, Health, Nutrition and Population Target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A224D-FBD7-4615-A81A-D241A6E7F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524000"/>
            <a:ext cx="7772400" cy="4953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24E81D3-7098-4160-B448-0E2EFC6A23B2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950340"/>
          <a:ext cx="8077200" cy="5333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04905989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11331188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304283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59636225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05302822"/>
                    </a:ext>
                  </a:extLst>
                </a:gridCol>
              </a:tblGrid>
              <a:tr h="10805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SL No.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Indicator (effect/ results)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Start Year Info (Start Year2019)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target of 8th Five-Year Plan is only by 2025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SDG by 2030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5845806"/>
                  </a:ext>
                </a:extLst>
              </a:tr>
              <a:tr h="6361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life expectancy at birth (in year)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72.6 (SVRS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546600"/>
                  </a:ext>
                </a:extLst>
              </a:tr>
              <a:tr h="6139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Under five mortality rate (per 1000 live birth)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28(SVRS-2019)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2334868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Infant (0-1,year) mortality rate (per 1000 live births)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21(SVRS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3982229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Maternal mortality ratio (per 100000 live birth)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165 (SVRS-2019)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296337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ratio of underweight children under 5 years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32.6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5646935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Ratio of stunting in under 5 years children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28%(MICS- 2019)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3703974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 fertility rate (children per head of every woman of reproductive age)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2.04(SVRS- 2019)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215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5982489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FA4A883-3C96-4EE0-8381-49912B31C247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457200"/>
          <a:ext cx="8153400" cy="5964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4163680596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579610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49449429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41929515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38225704"/>
                    </a:ext>
                  </a:extLst>
                </a:gridCol>
              </a:tblGrid>
              <a:tr h="7770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Contraceptive prevalence rate (%)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63.4 (SVRS -2019)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73111561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Immunization coverage among Children under the age of one year(%)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86 (%)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98(%)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181881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Ratio of childbirth (%) delivery by trained person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59 (MICS- 2019)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0314428"/>
                  </a:ext>
                </a:extLst>
              </a:tr>
              <a:tr h="7952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Rate of institutional delivery according to wealth status (ratio of highest and lowest fifth)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1:3 (BDHS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1:1.5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3195608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Tuberculosis </a:t>
                      </a:r>
                      <a:r>
                        <a:rPr lang="en-GB" sz="160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incidance </a:t>
                      </a: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rate /1,00,000 pop.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221(GTR-2019)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016302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Neonatal mortality rate per 1000 live birth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 (SVRS-2019)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09117782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Mortality rate by NCD(Cardiovascular, Cancer </a:t>
                      </a:r>
                      <a:r>
                        <a:rPr lang="en-GB" sz="1600" dirty="0" err="1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Diabetis</a:t>
                      </a: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GB" sz="1600" dirty="0" err="1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Chorinicrespiratory</a:t>
                      </a: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illness)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Vrinda" panose="020B0502040204020203" pitchFamily="34" charset="0"/>
                        </a:rPr>
                        <a:t>21.6(WHO-2019)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Vrinda" panose="020B0502040204020203" pitchFamily="34" charset="0"/>
                        </a:rPr>
                        <a:t>16.8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35877409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Ante-natal Health Care (ANC) 4</a:t>
                      </a:r>
                      <a:r>
                        <a:rPr lang="en-GB" sz="1600" baseline="300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visit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09798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13183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059A3C3C-9BC5-42FF-9216-C3CC642A9083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143000"/>
          <a:ext cx="8153400" cy="4419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756354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318302488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93392277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3545994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969277320"/>
                    </a:ext>
                  </a:extLst>
                </a:gridCol>
              </a:tblGrid>
              <a:tr h="10343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SL No.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Indicator (effect/ results)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Start Year Info (Start Year)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target of 7th Five-Year Plan is only by 2025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SDG by 2030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0305934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19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Mortality in road traffic accidents (per 100,000 population)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675594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19a.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Male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9016653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19 b.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Women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1628612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Smoker's rate (every 100,000 population) in 15+ years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4165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33119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8"/>
          <p:cNvSpPr>
            <a:spLocks noChangeArrowheads="1"/>
          </p:cNvSpPr>
          <p:nvPr/>
        </p:nvSpPr>
        <p:spPr bwMode="auto">
          <a:xfrm>
            <a:off x="228600" y="4168568"/>
            <a:ext cx="4724400" cy="1474509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400" b="1" dirty="0"/>
              <a:t>Secretary of MOHFW A.K.M. </a:t>
            </a:r>
            <a:r>
              <a:rPr lang="en-US" altLang="en-US" sz="1400" b="1" dirty="0" err="1"/>
              <a:t>Zaforullah</a:t>
            </a:r>
            <a:r>
              <a:rPr lang="en-US" altLang="en-US" sz="1400" b="1" dirty="0"/>
              <a:t> Khan </a:t>
            </a:r>
          </a:p>
          <a:p>
            <a:pPr algn="ctr"/>
            <a:r>
              <a:rPr lang="en-US" altLang="en-US" sz="1400" b="1" dirty="0"/>
              <a:t>declared “</a:t>
            </a:r>
            <a:r>
              <a:rPr lang="en-US" altLang="en-US" sz="1400" b="1" dirty="0" err="1"/>
              <a:t>Chowgacha</a:t>
            </a:r>
            <a:r>
              <a:rPr lang="en-US" altLang="en-US" sz="1400" b="1" dirty="0"/>
              <a:t> UHC model” in DSF</a:t>
            </a:r>
          </a:p>
          <a:p>
            <a:pPr algn="ctr"/>
            <a:r>
              <a:rPr lang="en-US" altLang="en-US" sz="1400" b="1" dirty="0"/>
              <a:t> voucher distribution ceremony on 20 June-2008</a:t>
            </a:r>
          </a:p>
        </p:txBody>
      </p:sp>
      <p:pic>
        <p:nvPicPr>
          <p:cNvPr id="13315" name="Picture 4" descr="IMGP238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652472"/>
            <a:ext cx="3651324" cy="3205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811358" y="1295400"/>
            <a:ext cx="4337124" cy="1730895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400" b="1" dirty="0"/>
              <a:t>Honorable Health Minister Prof </a:t>
            </a:r>
            <a:r>
              <a:rPr lang="en-US" sz="1400" b="1" dirty="0">
                <a:latin typeface="+mn-lt"/>
              </a:rPr>
              <a:t>Dr. </a:t>
            </a:r>
            <a:r>
              <a:rPr lang="en-US" sz="1400" b="1" dirty="0" err="1">
                <a:latin typeface="+mn-lt"/>
              </a:rPr>
              <a:t>Ruhul</a:t>
            </a:r>
            <a:r>
              <a:rPr lang="en-US" sz="1400" b="1" dirty="0">
                <a:latin typeface="+mn-lt"/>
              </a:rPr>
              <a:t> </a:t>
            </a:r>
            <a:r>
              <a:rPr lang="en-US" sz="1400" b="1" dirty="0" err="1">
                <a:latin typeface="+mn-lt"/>
              </a:rPr>
              <a:t>Haque</a:t>
            </a:r>
            <a:endParaRPr lang="en-US" sz="1400" b="1" dirty="0">
              <a:latin typeface="+mn-lt"/>
            </a:endParaRPr>
          </a:p>
          <a:p>
            <a:pPr algn="ctr"/>
            <a:r>
              <a:rPr lang="en-US" sz="1400" b="1" dirty="0">
                <a:latin typeface="+mn-lt"/>
              </a:rPr>
              <a:t> MP with WHO Representative handing over </a:t>
            </a:r>
          </a:p>
          <a:p>
            <a:pPr algn="ctr"/>
            <a:r>
              <a:rPr lang="en-US" sz="1400" b="1" dirty="0">
                <a:latin typeface="+mn-lt"/>
              </a:rPr>
              <a:t>money and gift of voucher scheme of </a:t>
            </a:r>
            <a:r>
              <a:rPr lang="en-US" sz="1400" b="1" dirty="0"/>
              <a:t>DSF</a:t>
            </a:r>
            <a:endParaRPr lang="en-US" altLang="en-US" sz="1400" b="1" dirty="0"/>
          </a:p>
        </p:txBody>
      </p:sp>
      <p:pic>
        <p:nvPicPr>
          <p:cNvPr id="6" name="Picture 4" descr="Razzak_Remove (Mama)"/>
          <p:cNvPicPr>
            <a:picLocks noGrp="1" noChangeAspect="1" noChangeArrowheads="1"/>
          </p:cNvPicPr>
          <p:nvPr>
            <p:ph type="body" sz="half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038004"/>
            <a:ext cx="3790749" cy="2837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371600" y="0"/>
            <a:ext cx="62156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Visit by Dignitaries – UHC Chowgacha</a:t>
            </a:r>
          </a:p>
        </p:txBody>
      </p:sp>
      <p:sp>
        <p:nvSpPr>
          <p:cNvPr id="8" name="Left Arrow 7"/>
          <p:cNvSpPr/>
          <p:nvPr/>
        </p:nvSpPr>
        <p:spPr>
          <a:xfrm>
            <a:off x="4113545" y="1717871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Left Arrow 9"/>
          <p:cNvSpPr/>
          <p:nvPr/>
        </p:nvSpPr>
        <p:spPr>
          <a:xfrm rot="10800000">
            <a:off x="4546092" y="4684335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8375832"/>
      </p:ext>
    </p:extLst>
  </p:cSld>
  <p:clrMapOvr>
    <a:masterClrMapping/>
  </p:clrMapOvr>
  <p:transition spd="slow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/>
              <a:t>Our usual solution: </a:t>
            </a:r>
            <a:br>
              <a:rPr lang="en-US" sz="3600" dirty="0"/>
            </a:br>
            <a:r>
              <a:rPr lang="en-US" sz="3600" dirty="0"/>
              <a:t>We need more RESOURCES!!!!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6226"/>
            <a:ext cx="820891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5041983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7349</TotalTime>
  <Words>2093</Words>
  <Application>Microsoft Office PowerPoint</Application>
  <PresentationFormat>On-screen Show (4:3)</PresentationFormat>
  <Paragraphs>607</Paragraphs>
  <Slides>51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5" baseType="lpstr">
      <vt:lpstr>Albertus Extra Bold</vt:lpstr>
      <vt:lpstr>Andalus</vt:lpstr>
      <vt:lpstr>Arial</vt:lpstr>
      <vt:lpstr>Berlin Sans FB</vt:lpstr>
      <vt:lpstr>Book Antiqua</vt:lpstr>
      <vt:lpstr>Calibri</vt:lpstr>
      <vt:lpstr>Century Schoolbook</vt:lpstr>
      <vt:lpstr>Courier New</vt:lpstr>
      <vt:lpstr>NikoshBAN</vt:lpstr>
      <vt:lpstr>SutonnyMJ</vt:lpstr>
      <vt:lpstr>Times New Roman</vt:lpstr>
      <vt:lpstr>Wingdings 2</vt:lpstr>
      <vt:lpstr>Office Theme</vt:lpstr>
      <vt:lpstr>Chart</vt:lpstr>
      <vt:lpstr>PowerPoint Presentation</vt:lpstr>
      <vt:lpstr>PowerPoint Presentation</vt:lpstr>
      <vt:lpstr>PowerPoint Presentation</vt:lpstr>
      <vt:lpstr>A Hospital with a Vision …</vt:lpstr>
      <vt:lpstr>Background History  of Chowgacha Health Complex,Model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Upazila Health  Complex CHOWGACHA , JESSORE.</vt:lpstr>
      <vt:lpstr>Upazila Health  Complex CHOWGACHA , JESSORE.</vt:lpstr>
      <vt:lpstr>Upazila Health  Complex CHOWGACHA , JESSORE.</vt:lpstr>
      <vt:lpstr>UHC,CHOWGACHA,JASHORE. </vt:lpstr>
      <vt:lpstr>Upazilla Health  Complex CHOWGACHA , JESSORE.</vt:lpstr>
      <vt:lpstr>PowerPoint Presentation</vt:lpstr>
      <vt:lpstr>PowerPoint Presentation</vt:lpstr>
      <vt:lpstr>Criteria Of C-J Model.</vt:lpstr>
      <vt:lpstr>Criteria of C-J Model.</vt:lpstr>
      <vt:lpstr>Criteria of C-J Model.</vt:lpstr>
      <vt:lpstr>Acheivement of Chowgacha UHC</vt:lpstr>
      <vt:lpstr>PowerPoint Presentation</vt:lpstr>
      <vt:lpstr>100 kh¨v wewkó m`i nvmcvZvj, wSbvB`n</vt:lpstr>
      <vt:lpstr>Challenges of the hospital in 2012</vt:lpstr>
      <vt:lpstr>PowerPoint Presentation</vt:lpstr>
      <vt:lpstr>Emergency + Out Door &amp; Indoor  Service 1998 to 2019</vt:lpstr>
      <vt:lpstr>Total ANC and Delivery in Jhenaidah District Hospital 2011-2019</vt:lpstr>
      <vt:lpstr>3 best performing EmOC Hospital in Khulna division - 2017</vt:lpstr>
      <vt:lpstr>PowerPoint Presentation</vt:lpstr>
      <vt:lpstr>Changes in Pediatric Ward and EOC Ward in 2014.</vt:lpstr>
      <vt:lpstr>PowerPoint Presentation</vt:lpstr>
      <vt:lpstr>Use of color code, alignment of picture &amp; monthly meeting schedule.</vt:lpstr>
      <vt:lpstr>Innovative activities of Jhenaidah Sadar Hospital - 1</vt:lpstr>
      <vt:lpstr>Innovative activities community supported manpower -  2</vt:lpstr>
      <vt:lpstr>Involvement of MP, District Administrator &amp; Mayor in Sadar Hospital</vt:lpstr>
      <vt:lpstr>PowerPoint Presentation</vt:lpstr>
      <vt:lpstr>PowerPoint Presentation</vt:lpstr>
      <vt:lpstr>Innovative activities of Jhenaidah Sadar Hospital - 6</vt:lpstr>
      <vt:lpstr>PowerPoint Presentation</vt:lpstr>
      <vt:lpstr>PowerPoint Presentation</vt:lpstr>
      <vt:lpstr>PowerPoint Presentation</vt:lpstr>
      <vt:lpstr> 7th Five Year Plan, Health, Nutrition and Population Target </vt:lpstr>
      <vt:lpstr>PowerPoint Presentation</vt:lpstr>
      <vt:lpstr>PowerPoint Presentation</vt:lpstr>
      <vt:lpstr>Thank You</vt:lpstr>
      <vt:lpstr> 8th Five Year Plan, Health, Nutrition and Population Target </vt:lpstr>
      <vt:lpstr>PowerPoint Presentation</vt:lpstr>
      <vt:lpstr>PowerPoint Presentation</vt:lpstr>
      <vt:lpstr>PowerPoint Presentation</vt:lpstr>
      <vt:lpstr>Our usual solution:  We need more RESOURCES!!!!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Dell</cp:lastModifiedBy>
  <cp:revision>1007</cp:revision>
  <cp:lastPrinted>2017-03-18T23:47:54Z</cp:lastPrinted>
  <dcterms:created xsi:type="dcterms:W3CDTF">2013-05-05T09:56:19Z</dcterms:created>
  <dcterms:modified xsi:type="dcterms:W3CDTF">2022-08-27T00:28:51Z</dcterms:modified>
</cp:coreProperties>
</file>