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909" r:id="rId1"/>
  </p:sldMasterIdLst>
  <p:notesMasterIdLst>
    <p:notesMasterId r:id="rId36"/>
  </p:notesMasterIdLst>
  <p:sldIdLst>
    <p:sldId id="331" r:id="rId2"/>
    <p:sldId id="504" r:id="rId3"/>
    <p:sldId id="505" r:id="rId4"/>
    <p:sldId id="503" r:id="rId5"/>
    <p:sldId id="512" r:id="rId6"/>
    <p:sldId id="501" r:id="rId7"/>
    <p:sldId id="502" r:id="rId8"/>
    <p:sldId id="468" r:id="rId9"/>
    <p:sldId id="476" r:id="rId10"/>
    <p:sldId id="341" r:id="rId11"/>
    <p:sldId id="484" r:id="rId12"/>
    <p:sldId id="510" r:id="rId13"/>
    <p:sldId id="507" r:id="rId14"/>
    <p:sldId id="490" r:id="rId15"/>
    <p:sldId id="469" r:id="rId16"/>
    <p:sldId id="343" r:id="rId17"/>
    <p:sldId id="485" r:id="rId18"/>
    <p:sldId id="498" r:id="rId19"/>
    <p:sldId id="508" r:id="rId20"/>
    <p:sldId id="483" r:id="rId21"/>
    <p:sldId id="480" r:id="rId22"/>
    <p:sldId id="454" r:id="rId23"/>
    <p:sldId id="291" r:id="rId24"/>
    <p:sldId id="450" r:id="rId25"/>
    <p:sldId id="486" r:id="rId26"/>
    <p:sldId id="487" r:id="rId27"/>
    <p:sldId id="488" r:id="rId28"/>
    <p:sldId id="489" r:id="rId29"/>
    <p:sldId id="461" r:id="rId30"/>
    <p:sldId id="500" r:id="rId31"/>
    <p:sldId id="499" r:id="rId32"/>
    <p:sldId id="511" r:id="rId33"/>
    <p:sldId id="509" r:id="rId34"/>
    <p:sldId id="513" r:id="rId35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249F540A-C04E-43EC-89E0-CA8F4D47EC91}">
          <p14:sldIdLst>
            <p14:sldId id="331"/>
            <p14:sldId id="504"/>
            <p14:sldId id="505"/>
            <p14:sldId id="503"/>
            <p14:sldId id="512"/>
            <p14:sldId id="501"/>
            <p14:sldId id="502"/>
            <p14:sldId id="468"/>
            <p14:sldId id="476"/>
            <p14:sldId id="341"/>
            <p14:sldId id="484"/>
            <p14:sldId id="510"/>
            <p14:sldId id="507"/>
            <p14:sldId id="490"/>
            <p14:sldId id="469"/>
            <p14:sldId id="343"/>
            <p14:sldId id="485"/>
            <p14:sldId id="498"/>
            <p14:sldId id="508"/>
            <p14:sldId id="483"/>
            <p14:sldId id="480"/>
            <p14:sldId id="454"/>
            <p14:sldId id="291"/>
            <p14:sldId id="450"/>
            <p14:sldId id="486"/>
            <p14:sldId id="487"/>
            <p14:sldId id="488"/>
            <p14:sldId id="489"/>
            <p14:sldId id="461"/>
            <p14:sldId id="500"/>
            <p14:sldId id="499"/>
            <p14:sldId id="511"/>
            <p14:sldId id="509"/>
            <p14:sldId id="513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EEE00"/>
    <a:srgbClr val="CCFF99"/>
    <a:srgbClr val="33CC33"/>
    <a:srgbClr val="00FF99"/>
    <a:srgbClr val="0C7E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00" autoAdjust="0"/>
    <p:restoredTop sz="93238" autoAdjust="0"/>
  </p:normalViewPr>
  <p:slideViewPr>
    <p:cSldViewPr>
      <p:cViewPr>
        <p:scale>
          <a:sx n="66" d="100"/>
          <a:sy n="66" d="100"/>
        </p:scale>
        <p:origin x="-1734" y="-1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3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9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</c:numCache>
            </c:numRef>
          </c:cat>
          <c:val>
            <c:numRef>
              <c:f>Sheet1!$B$2:$B$8</c:f>
              <c:numCache>
                <c:formatCode>0%</c:formatCode>
                <c:ptCount val="7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  <c:pt idx="6">
                  <c:v>2.5099999999999998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0105344"/>
        <c:axId val="240106880"/>
      </c:barChart>
      <c:catAx>
        <c:axId val="2401053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40106880"/>
        <c:crosses val="autoZero"/>
        <c:auto val="1"/>
        <c:lblAlgn val="ctr"/>
        <c:lblOffset val="100"/>
        <c:noMultiLvlLbl val="0"/>
      </c:catAx>
      <c:valAx>
        <c:axId val="240106880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4010534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  <c:pt idx="7">
                  <c:v>384928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</c:numCache>
            </c:numRef>
          </c:cat>
          <c:val>
            <c:numRef>
              <c:f>Sheet1!$C$2:$C$9</c:f>
              <c:numCache>
                <c:formatCode>General</c:formatCode>
                <c:ptCount val="8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  <c:pt idx="7">
                  <c:v>37096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0163072"/>
        <c:axId val="240168960"/>
      </c:barChart>
      <c:catAx>
        <c:axId val="240163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40168960"/>
        <c:crosses val="autoZero"/>
        <c:auto val="1"/>
        <c:lblAlgn val="ctr"/>
        <c:lblOffset val="100"/>
        <c:noMultiLvlLbl val="0"/>
      </c:catAx>
      <c:valAx>
        <c:axId val="24016896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4016307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14367</c:v>
                </c:pt>
                <c:pt idx="1">
                  <c:v>12871</c:v>
                </c:pt>
                <c:pt idx="2">
                  <c:v>4122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4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3888888888888888E-2"/>
                  <c:y val="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2345679012345678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887</c:v>
                </c:pt>
                <c:pt idx="1">
                  <c:v>1573</c:v>
                </c:pt>
                <c:pt idx="2">
                  <c:v>1256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3148148148148206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1795</c:v>
                </c:pt>
                <c:pt idx="1">
                  <c:v>1517</c:v>
                </c:pt>
                <c:pt idx="2">
                  <c:v>1518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2690</c:v>
                </c:pt>
                <c:pt idx="1">
                  <c:v>3106</c:v>
                </c:pt>
                <c:pt idx="2">
                  <c:v>2870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60911872"/>
        <c:axId val="260913408"/>
      </c:barChart>
      <c:catAx>
        <c:axId val="260911872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60913408"/>
        <c:crosses val="autoZero"/>
        <c:auto val="1"/>
        <c:lblAlgn val="ctr"/>
        <c:lblOffset val="100"/>
        <c:noMultiLvlLbl val="0"/>
      </c:catAx>
      <c:valAx>
        <c:axId val="26091340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6091187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Sheet1!$B$2:$B$5</c:f>
              <c:numCache>
                <c:formatCode>#,##0</c:formatCode>
                <c:ptCount val="4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  <c:pt idx="3">
                  <c:v>7265145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260956160"/>
        <c:axId val="260957696"/>
        <c:axId val="0"/>
      </c:bar3DChart>
      <c:catAx>
        <c:axId val="2609561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60957696"/>
        <c:crosses val="autoZero"/>
        <c:auto val="1"/>
        <c:lblAlgn val="ctr"/>
        <c:lblOffset val="100"/>
        <c:noMultiLvlLbl val="0"/>
      </c:catAx>
      <c:valAx>
        <c:axId val="260957696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260956160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6/18/2019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2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9193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10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3620" y="698253"/>
            <a:ext cx="4463162" cy="3484718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15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18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19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29</a:t>
            </a:fld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31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32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51912577-2AF0-4D73-8CE0-8DD94AD34EF4}" type="slidenum">
              <a:rPr lang="en-US" smtClean="0"/>
              <a:pPr eaLnBrk="1" hangingPunct="1"/>
              <a:t>33</a:t>
            </a:fld>
            <a:endParaRPr lang="en-US" smtClean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6/18/2019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6/18/2019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6/18/2019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6/18/2019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6/18/2019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6/18/2019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6/18/2019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6/18/2019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6/18/2019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6/18/2019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6/18/2019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2019/6/18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2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3.png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181429" y="345893"/>
            <a:ext cx="8686800" cy="584775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-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Jhenaidah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Model</a:t>
            </a:r>
            <a:endParaRPr lang="en-US" sz="3200" b="1" dirty="0">
              <a:solidFill>
                <a:schemeClr val="bg1">
                  <a:lumMod val="95000"/>
                </a:schemeClr>
              </a:solidFill>
              <a:latin typeface="Book Antiqua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419600" y="5215957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Senior National Consultant </a:t>
            </a: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C -J model replication committee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2029" y="1596571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98" y="1600200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5B21C29-90F7-462A-A9E9-C39ED42AFF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8" r="5" b="5159"/>
          <a:stretch/>
        </p:blipFill>
        <p:spPr>
          <a:xfrm>
            <a:off x="518726" y="4946876"/>
            <a:ext cx="1819434" cy="1676936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1051" y="2362200"/>
            <a:ext cx="3837245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21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chemeClr val="bg1"/>
                </a:solidFill>
              </a:rPr>
              <a:t>CHOWGACHA UPAZILA  </a:t>
            </a:r>
            <a:r>
              <a:rPr lang="en-US" sz="3200" b="1" dirty="0">
                <a:solidFill>
                  <a:schemeClr val="bg1"/>
                </a:solidFill>
              </a:rPr>
              <a:t>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3401" y="2362200"/>
            <a:ext cx="4041940" cy="3124200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solidFill>
              <a:schemeClr val="accent1"/>
            </a:solidFill>
          </a:ln>
          <a:extLst/>
        </p:spPr>
      </p:pic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358941" y="5638800"/>
            <a:ext cx="4365459" cy="584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chemeClr val="bg1"/>
                </a:solidFill>
              </a:rPr>
              <a:t>Previous UHC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4987337" y="5638800"/>
            <a:ext cx="3828051" cy="584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chemeClr val="bg1"/>
                </a:solidFill>
              </a:rPr>
              <a:t>Present UHC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52341301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G:\G\Dr Emdad\Photo -Lohagara\ScreenShot_201605240637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5408" y="4289813"/>
            <a:ext cx="3620964" cy="2365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5" descr="G:\G\Dr Emdad\Photo -Lohagara\ScreenShot_2015120719482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529" y="1374776"/>
            <a:ext cx="3609975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G:\G\Dr Emdad\Photo -Lohagara\ScreenShot_20151207211013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772" y="1374775"/>
            <a:ext cx="36576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7" descr="G:\G\Dr Emdad\Photo -Lohagara\ScreenShot_20151207202519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608" y="4263956"/>
            <a:ext cx="3571875" cy="2355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02190" y="381000"/>
            <a:ext cx="8591426" cy="54042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 smtClean="0">
                <a:solidFill>
                  <a:srgbClr val="0070C0"/>
                </a:solidFill>
              </a:rPr>
              <a:t>Community Mobilization Meeting at Lohagara in </a:t>
            </a:r>
            <a:r>
              <a:rPr lang="en-US" sz="2400" b="1" dirty="0" smtClean="0">
                <a:solidFill>
                  <a:srgbClr val="0070C0"/>
                </a:solidFill>
                <a:latin typeface="Book Antiqua" pitchFamily="18" charset="0"/>
              </a:rPr>
              <a:t>1995</a:t>
            </a:r>
            <a:endParaRPr lang="en-US" sz="2400" b="1" dirty="0">
              <a:solidFill>
                <a:srgbClr val="0070C0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1762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066800"/>
          </a:xfrm>
          <a:solidFill>
            <a:schemeClr val="accent5"/>
          </a:solidFill>
        </p:spPr>
        <p:txBody>
          <a:bodyPr/>
          <a:lstStyle/>
          <a:p>
            <a:r>
              <a:rPr lang="en-GB" dirty="0" smtClean="0">
                <a:solidFill>
                  <a:schemeClr val="bg1"/>
                </a:solidFill>
              </a:rPr>
              <a:t>Background History of C-J Model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066800"/>
            <a:ext cx="8229600" cy="5770179"/>
          </a:xfrm>
          <a:solidFill>
            <a:schemeClr val="accent5">
              <a:lumMod val="5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marL="0" indent="0">
              <a:buNone/>
            </a:pPr>
            <a:r>
              <a:rPr lang="en-GB" sz="2800" dirty="0" smtClean="0"/>
              <a:t>The program starts  in Chowgacha UHC in 1985. </a:t>
            </a:r>
          </a:p>
          <a:p>
            <a:r>
              <a:rPr lang="en-GB" sz="2800" dirty="0" smtClean="0"/>
              <a:t>Social </a:t>
            </a:r>
            <a:r>
              <a:rPr lang="en-GB" sz="2800" dirty="0"/>
              <a:t>mobilization program starts in </a:t>
            </a:r>
            <a:r>
              <a:rPr lang="en-GB" sz="2800" dirty="0" err="1"/>
              <a:t>Lohagara</a:t>
            </a:r>
            <a:r>
              <a:rPr lang="en-GB" sz="2800" dirty="0"/>
              <a:t> UHC , </a:t>
            </a:r>
            <a:r>
              <a:rPr lang="en-GB" sz="2800" dirty="0" err="1"/>
              <a:t>Narail</a:t>
            </a:r>
            <a:r>
              <a:rPr lang="en-GB" sz="2800" dirty="0"/>
              <a:t>  from 1989 -</a:t>
            </a:r>
            <a:r>
              <a:rPr lang="en-GB" sz="2800" dirty="0" smtClean="0"/>
              <a:t> </a:t>
            </a:r>
            <a:r>
              <a:rPr lang="en-GB" sz="2800" dirty="0"/>
              <a:t>1995</a:t>
            </a:r>
            <a:endParaRPr lang="en-GB" sz="2800" dirty="0" smtClean="0"/>
          </a:p>
          <a:p>
            <a:r>
              <a:rPr lang="en-GB" sz="2800" dirty="0" smtClean="0"/>
              <a:t>In 1995   model activities started effectively.</a:t>
            </a:r>
          </a:p>
          <a:p>
            <a:pPr marL="0" indent="0">
              <a:buNone/>
            </a:pPr>
            <a:r>
              <a:rPr lang="en-GB" sz="2800" dirty="0"/>
              <a:t> </a:t>
            </a:r>
            <a:r>
              <a:rPr lang="en-GB" sz="2800" dirty="0" smtClean="0"/>
              <a:t>    In June 2008 ,MOH&amp;FW declared the Chowgacha            UHC as Model UHC .  </a:t>
            </a:r>
          </a:p>
          <a:p>
            <a:r>
              <a:rPr lang="en-GB" sz="2800" dirty="0" smtClean="0"/>
              <a:t>In 2010 D G of WHO recommended to replicate it.</a:t>
            </a:r>
          </a:p>
          <a:p>
            <a:r>
              <a:rPr lang="en-GB" sz="2800" dirty="0" smtClean="0"/>
              <a:t>Jhenaidah </a:t>
            </a:r>
            <a:r>
              <a:rPr lang="en-GB" sz="2800" dirty="0" err="1"/>
              <a:t>S</a:t>
            </a:r>
            <a:r>
              <a:rPr lang="en-GB" sz="2800" dirty="0" err="1" smtClean="0"/>
              <a:t>adar</a:t>
            </a:r>
            <a:r>
              <a:rPr lang="en-GB" sz="2800" dirty="0" smtClean="0"/>
              <a:t>  Hospital Model starts in 2012</a:t>
            </a:r>
          </a:p>
          <a:p>
            <a:r>
              <a:rPr lang="en-GB" sz="2800" dirty="0" smtClean="0"/>
              <a:t>C-J Model replicate in 2015 by MOHFW in 11 district hospital &amp; 5 Upazilla UHC.</a:t>
            </a:r>
          </a:p>
          <a:p>
            <a:r>
              <a:rPr lang="en-GB" sz="2800" dirty="0" smtClean="0"/>
              <a:t> Replicating  by the order of PM office, ADG(Admin) is  the Chairperson </a:t>
            </a:r>
            <a:r>
              <a:rPr lang="en-GB" sz="2800" dirty="0"/>
              <a:t> </a:t>
            </a:r>
            <a:r>
              <a:rPr lang="en-GB" sz="2800" dirty="0" smtClean="0"/>
              <a:t>for replication.                         </a:t>
            </a:r>
            <a:r>
              <a:rPr lang="en-GB" dirty="0" smtClean="0"/>
              <a:t>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392629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 smtClean="0"/>
              <a:t>A </a:t>
            </a:r>
            <a:r>
              <a:rPr lang="en-US" sz="3600" b="1" dirty="0"/>
              <a:t>Hospital with a Vision 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1905000"/>
            <a:ext cx="3124200" cy="14097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</a:t>
            </a:r>
            <a:r>
              <a:rPr lang="en-US" sz="1600" b="1" dirty="0" smtClean="0"/>
              <a:t>sincerity.</a:t>
            </a:r>
            <a:endParaRPr lang="en-US" sz="1600" b="1" dirty="0"/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029200"/>
            <a:ext cx="32004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</a:t>
            </a:r>
            <a:r>
              <a:rPr lang="en-US" sz="1600" b="1" dirty="0" smtClean="0"/>
              <a:t> </a:t>
            </a:r>
            <a:r>
              <a:rPr lang="en-US" sz="1600" b="1" dirty="0"/>
              <a:t>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</a:t>
            </a:r>
            <a:r>
              <a:rPr lang="en-US" sz="1600" b="1" dirty="0" smtClean="0"/>
              <a:t>system.</a:t>
            </a:r>
            <a:endParaRPr lang="en-US" sz="1600" b="1" dirty="0"/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988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19200"/>
            <a:ext cx="914400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Leadership (group / single) in health management.</a:t>
            </a:r>
          </a:p>
          <a:p>
            <a:pPr marL="514350" indent="-514350">
              <a:buFont typeface="+mj-lt"/>
              <a:buAutoNum type="arabicPeriod"/>
            </a:pPr>
            <a:endParaRPr lang="en-GB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Goal oriented </a:t>
            </a:r>
            <a:r>
              <a:rPr lang="en-GB" sz="2800" dirty="0" err="1" smtClean="0"/>
              <a:t>activites</a:t>
            </a:r>
            <a:r>
              <a:rPr lang="en-GB" sz="2800" dirty="0" smtClean="0"/>
              <a:t> &amp; community engagement.</a:t>
            </a:r>
          </a:p>
          <a:p>
            <a:pPr marL="514350" indent="-514350">
              <a:buFont typeface="+mj-lt"/>
              <a:buAutoNum type="arabicPeriod"/>
            </a:pPr>
            <a:endParaRPr lang="en-GB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Optimum </a:t>
            </a:r>
            <a:r>
              <a:rPr lang="en-GB" sz="2800" dirty="0"/>
              <a:t>use of government </a:t>
            </a:r>
            <a:r>
              <a:rPr lang="en-GB" sz="2800" dirty="0" smtClean="0"/>
              <a:t>resources.</a:t>
            </a:r>
          </a:p>
          <a:p>
            <a:pPr marL="514350" indent="-514350">
              <a:buFont typeface="+mj-lt"/>
              <a:buAutoNum type="arabicPeriod"/>
            </a:pPr>
            <a:endParaRPr lang="en-GB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Implement all the component of primary </a:t>
            </a:r>
            <a:r>
              <a:rPr lang="en-GB" sz="2800" smtClean="0"/>
              <a:t>health care </a:t>
            </a:r>
            <a:r>
              <a:rPr lang="en-GB" sz="2800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GB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Improved maternal health &amp; child care services.</a:t>
            </a:r>
          </a:p>
          <a:p>
            <a:pPr marL="514350" indent="-514350">
              <a:buFont typeface="+mj-lt"/>
              <a:buAutoNum type="arabicPeriod"/>
            </a:pPr>
            <a:endParaRPr lang="en-GB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Ensuring corner-based health care.</a:t>
            </a:r>
          </a:p>
          <a:p>
            <a:pPr marL="514350" indent="-514350">
              <a:buFont typeface="+mj-lt"/>
              <a:buAutoNum type="arabicPeriod"/>
            </a:pPr>
            <a:endParaRPr lang="en-GB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Improved the emergency service.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0" y="0"/>
            <a:ext cx="9144000" cy="1219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GB" sz="3600" dirty="0">
                <a:solidFill>
                  <a:schemeClr val="bg1"/>
                </a:solidFill>
              </a:rPr>
              <a:t>Characteristics of C-J Health Management Model</a:t>
            </a:r>
            <a:endParaRPr lang="en-US" sz="36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861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5943" y="965200"/>
            <a:ext cx="8763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buFont typeface="+mj-lt"/>
              <a:buAutoNum type="arabicPeriod" startAt="11"/>
            </a:pPr>
            <a:r>
              <a:rPr lang="en-GB" sz="2700" dirty="0" smtClean="0"/>
              <a:t>Birth and death recording for progress assessment .</a:t>
            </a:r>
          </a:p>
          <a:p>
            <a:pPr marL="514350" indent="-514350" algn="just">
              <a:buFont typeface="+mj-lt"/>
              <a:buAutoNum type="arabicPeriod" startAt="11"/>
            </a:pPr>
            <a:endParaRPr lang="en-GB" sz="2700" dirty="0" smtClean="0"/>
          </a:p>
          <a:p>
            <a:pPr marL="342900" indent="-342900" algn="just">
              <a:buFont typeface="+mj-lt"/>
              <a:buAutoNum type="arabicPeriod" startAt="11"/>
            </a:pPr>
            <a:r>
              <a:rPr lang="en-GB" sz="2700" dirty="0" smtClean="0"/>
              <a:t>Health awareness by health education</a:t>
            </a:r>
          </a:p>
          <a:p>
            <a:pPr marL="342900" indent="-342900" algn="just">
              <a:buFont typeface="+mj-lt"/>
              <a:buAutoNum type="arabicPeriod" startAt="11"/>
            </a:pPr>
            <a:endParaRPr lang="en-GB" sz="2700" dirty="0" smtClean="0"/>
          </a:p>
          <a:p>
            <a:pPr marL="342900" indent="-342900" algn="just">
              <a:buFont typeface="+mj-lt"/>
              <a:buAutoNum type="arabicPeriod" startAt="11"/>
            </a:pPr>
            <a:r>
              <a:rPr lang="en-GB" sz="2700" dirty="0" smtClean="0"/>
              <a:t>Cleanliness  and beautification of the facility .</a:t>
            </a:r>
          </a:p>
          <a:p>
            <a:pPr marL="342900" indent="-342900" algn="just">
              <a:buFont typeface="+mj-lt"/>
              <a:buAutoNum type="arabicPeriod" startAt="11"/>
            </a:pPr>
            <a:endParaRPr lang="en-GB" sz="2700" dirty="0" smtClean="0"/>
          </a:p>
          <a:p>
            <a:pPr marL="342900" indent="-342900" algn="just">
              <a:buFont typeface="+mj-lt"/>
              <a:buAutoNum type="arabicPeriod" startAt="11"/>
            </a:pPr>
            <a:r>
              <a:rPr lang="en-GB" sz="2700" dirty="0" smtClean="0"/>
              <a:t>Provision of safe blood transfusion.</a:t>
            </a:r>
          </a:p>
          <a:p>
            <a:pPr marL="342900" indent="-342900" algn="just">
              <a:buFont typeface="+mj-lt"/>
              <a:buAutoNum type="arabicPeriod" startAt="11"/>
            </a:pPr>
            <a:endParaRPr lang="en-GB" sz="2700" dirty="0" smtClean="0"/>
          </a:p>
          <a:p>
            <a:pPr marL="342900" indent="-342900" algn="just">
              <a:buFont typeface="+mj-lt"/>
              <a:buAutoNum type="arabicPeriod" startAt="11"/>
            </a:pPr>
            <a:r>
              <a:rPr lang="en-GB" sz="2700" dirty="0" smtClean="0"/>
              <a:t>Implementation of the 5S KAIZEN-TQM &amp; unit management. </a:t>
            </a:r>
          </a:p>
          <a:p>
            <a:pPr marL="342900" indent="-342900" algn="just">
              <a:buFont typeface="+mj-lt"/>
              <a:buAutoNum type="arabicPeriod" startAt="11"/>
            </a:pPr>
            <a:endParaRPr lang="en-GB" sz="2700" dirty="0" smtClean="0"/>
          </a:p>
          <a:p>
            <a:pPr marL="342900" indent="-342900" algn="just">
              <a:buFont typeface="+mj-lt"/>
              <a:buAutoNum type="arabicPeriod" startAt="11"/>
            </a:pPr>
            <a:r>
              <a:rPr lang="en-GB" sz="2700" dirty="0" smtClean="0"/>
              <a:t>Improved financial management .</a:t>
            </a:r>
          </a:p>
          <a:p>
            <a:pPr marL="342900" indent="-342900" algn="just">
              <a:buFont typeface="+mj-lt"/>
              <a:buAutoNum type="arabicPeriod" startAt="11"/>
            </a:pPr>
            <a:endParaRPr lang="en-GB" sz="2700" dirty="0" smtClean="0"/>
          </a:p>
          <a:p>
            <a:pPr marL="342900" indent="-342900" algn="just">
              <a:buFont typeface="+mj-lt"/>
              <a:buAutoNum type="arabicPeriod" startAt="11"/>
            </a:pPr>
            <a:r>
              <a:rPr lang="en-GB" sz="2700" dirty="0" smtClean="0"/>
              <a:t>Both the institutions awarded many times</a:t>
            </a:r>
            <a:endParaRPr lang="en-GB" sz="2700" dirty="0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206829" y="0"/>
            <a:ext cx="8458200" cy="10414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GB" sz="3600" dirty="0">
                <a:solidFill>
                  <a:schemeClr val="bg1"/>
                </a:solidFill>
              </a:rPr>
              <a:t>Characteristics of C-J </a:t>
            </a:r>
            <a:r>
              <a:rPr lang="en-GB" sz="3600" dirty="0" smtClean="0">
                <a:solidFill>
                  <a:schemeClr val="bg1"/>
                </a:solidFill>
              </a:rPr>
              <a:t>Health </a:t>
            </a:r>
            <a:r>
              <a:rPr lang="en-GB" sz="3600" dirty="0">
                <a:solidFill>
                  <a:schemeClr val="bg1"/>
                </a:solidFill>
              </a:rPr>
              <a:t>Management </a:t>
            </a:r>
            <a:r>
              <a:rPr lang="en-GB" sz="3600" dirty="0" smtClean="0">
                <a:solidFill>
                  <a:schemeClr val="bg1"/>
                </a:solidFill>
              </a:rPr>
              <a:t>Model</a:t>
            </a:r>
            <a:endParaRPr lang="en-US" sz="36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685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/>
        </p:nvSpPr>
        <p:spPr bwMode="auto">
          <a:xfrm>
            <a:off x="4991099" y="938149"/>
            <a:ext cx="4005940" cy="130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algn="l"/>
            <a:r>
              <a:rPr lang="en-US" sz="2300" dirty="0" smtClean="0">
                <a:latin typeface="Calibri" pitchFamily="34" charset="0"/>
              </a:rPr>
              <a:t>Blood donation program stared in 16 December, 1996 in Chowgacha UHC</a:t>
            </a:r>
            <a:endParaRPr lang="en-GB" sz="2300" dirty="0" smtClean="0">
              <a:latin typeface="Calibri" pitchFamily="34" charset="0"/>
            </a:endParaRPr>
          </a:p>
        </p:txBody>
      </p:sp>
      <p:pic>
        <p:nvPicPr>
          <p:cNvPr id="5" name="Picture 4" descr="H:\D. S. Islam\ee.jpg"/>
          <p:cNvPicPr>
            <a:picLocks noGrp="1"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4948002" cy="334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H:\D. S. Islam\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543300"/>
            <a:ext cx="4714093" cy="331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ubtitle 2"/>
          <p:cNvSpPr txBox="1">
            <a:spLocks/>
          </p:cNvSpPr>
          <p:nvPr/>
        </p:nvSpPr>
        <p:spPr bwMode="auto">
          <a:xfrm>
            <a:off x="-21772" y="4127500"/>
            <a:ext cx="4441372" cy="218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en-US" sz="2300" dirty="0">
                <a:latin typeface="Calibri" pitchFamily="34" charset="0"/>
              </a:rPr>
              <a:t>A seminar held on basic information system </a:t>
            </a:r>
            <a:r>
              <a:rPr lang="en-US" sz="2300" dirty="0" smtClean="0">
                <a:latin typeface="Calibri" pitchFamily="34" charset="0"/>
              </a:rPr>
              <a:t>at </a:t>
            </a:r>
            <a:r>
              <a:rPr lang="en-US" sz="2300" dirty="0">
                <a:latin typeface="Calibri" pitchFamily="34" charset="0"/>
              </a:rPr>
              <a:t>Chowgacha </a:t>
            </a:r>
            <a:r>
              <a:rPr lang="en-US" sz="2300" dirty="0" smtClean="0">
                <a:latin typeface="Calibri" pitchFamily="34" charset="0"/>
              </a:rPr>
              <a:t>Degree </a:t>
            </a:r>
            <a:r>
              <a:rPr lang="en-US" sz="2300" dirty="0">
                <a:latin typeface="Calibri" pitchFamily="34" charset="0"/>
              </a:rPr>
              <a:t>College </a:t>
            </a:r>
            <a:r>
              <a:rPr lang="en-US" sz="2300" dirty="0" smtClean="0">
                <a:latin typeface="Calibri" pitchFamily="34" charset="0"/>
              </a:rPr>
              <a:t>in </a:t>
            </a:r>
            <a:r>
              <a:rPr lang="en-US" sz="2300" dirty="0">
                <a:latin typeface="Calibri" pitchFamily="34" charset="0"/>
              </a:rPr>
              <a:t>June, 1997. DC </a:t>
            </a:r>
            <a:r>
              <a:rPr lang="en-US" sz="2300" dirty="0" err="1">
                <a:latin typeface="Calibri" pitchFamily="34" charset="0"/>
              </a:rPr>
              <a:t>Jessore</a:t>
            </a:r>
            <a:r>
              <a:rPr lang="en-US" sz="2300" dirty="0">
                <a:latin typeface="Calibri" pitchFamily="34" charset="0"/>
              </a:rPr>
              <a:t> was the chief </a:t>
            </a:r>
            <a:r>
              <a:rPr lang="en-US" sz="2300" dirty="0" smtClean="0">
                <a:latin typeface="Calibri" pitchFamily="34" charset="0"/>
              </a:rPr>
              <a:t>guest . </a:t>
            </a:r>
            <a:endParaRPr lang="en-GB" sz="23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806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0000">
            <a:off x="31236" y="649225"/>
            <a:ext cx="4570198" cy="3366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514000"/>
            <a:ext cx="4572000" cy="3343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1000" y="42863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Health Education Session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7425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43" y="182562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839" y="3462337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646839" y="609600"/>
            <a:ext cx="4039961" cy="137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dirty="0"/>
              <a:t>Community Supported </a:t>
            </a:r>
            <a:r>
              <a:rPr lang="en-US" dirty="0" smtClean="0"/>
              <a:t>Volunteer </a:t>
            </a:r>
            <a:r>
              <a:rPr lang="en-US" dirty="0"/>
              <a:t>Working as receptionist</a:t>
            </a:r>
            <a:r>
              <a:rPr lang="en-US" dirty="0" smtClean="0"/>
              <a:t>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743" y="4114800"/>
            <a:ext cx="4308475" cy="1143000"/>
          </a:xfrm>
        </p:spPr>
        <p:txBody>
          <a:bodyPr/>
          <a:lstStyle/>
          <a:p>
            <a:r>
              <a:rPr lang="en-GB" sz="3200" dirty="0" smtClean="0"/>
              <a:t>Community supported volunteer working in ANC corner</a:t>
            </a:r>
            <a:endParaRPr lang="en-GB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 smtClean="0"/>
          </a:p>
          <a:p>
            <a:pPr algn="ctr" eaLnBrk="1" hangingPunct="1">
              <a:buFontTx/>
              <a:buNone/>
            </a:pPr>
            <a:endParaRPr lang="en-US" sz="2800" dirty="0" smtClean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9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  <p:extLst>
      <p:ext uri="{BB962C8B-B14F-4D97-AF65-F5344CB8AC3E}">
        <p14:creationId xmlns:p14="http://schemas.microsoft.com/office/powerpoint/2010/main" val="13359016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3200" b="1" smtClean="0"/>
              <a:t>Upazila Health  Complex</a:t>
            </a:r>
            <a:br>
              <a:rPr lang="en-US" sz="3200" b="1" smtClean="0"/>
            </a:br>
            <a:r>
              <a:rPr lang="en-US" sz="2000" b="1" smtClean="0"/>
              <a:t>CHOWGACHA , JESSORE.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 smtClean="0"/>
          </a:p>
          <a:p>
            <a:pPr algn="ctr">
              <a:buFontTx/>
              <a:buNone/>
            </a:pPr>
            <a:endParaRPr lang="en-US" sz="2800" smtClean="0"/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Activities : 2000 - 2011 (Caesarian Section)</a:t>
            </a:r>
          </a:p>
        </p:txBody>
      </p:sp>
      <p:graphicFrame>
        <p:nvGraphicFramePr>
          <p:cNvPr id="13317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438400"/>
          <a:ext cx="6858000" cy="3906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438400"/>
                        <a:ext cx="6858000" cy="3906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42648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 smtClean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 smtClean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TOTAL</a:t>
            </a:r>
            <a:r>
              <a:rPr lang="en-US" dirty="0" smtClean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sz="2000" dirty="0" smtClean="0"/>
              <a:t>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135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575838"/>
              </p:ext>
            </p:extLst>
          </p:nvPr>
        </p:nvGraphicFramePr>
        <p:xfrm>
          <a:off x="761999" y="1181681"/>
          <a:ext cx="8001003" cy="558266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993899"/>
                <a:gridCol w="800101"/>
                <a:gridCol w="1155700"/>
                <a:gridCol w="1066800"/>
                <a:gridCol w="1066800"/>
                <a:gridCol w="977900"/>
                <a:gridCol w="939803"/>
              </a:tblGrid>
              <a:tr h="5027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BD" sz="1600" dirty="0">
                          <a:effectLst/>
                        </a:rPr>
                        <a:t>Subject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1995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1996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2000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2007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2011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2017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Bed Occupancy Rate %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-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</a:rPr>
                        <a:t>-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93</a:t>
                      </a:r>
                      <a:r>
                        <a:rPr lang="en-GB" sz="1800" b="1" dirty="0">
                          <a:effectLst/>
                        </a:rPr>
                        <a:t>.</a:t>
                      </a:r>
                      <a:r>
                        <a:rPr lang="bn-IN" sz="1800" b="1" dirty="0">
                          <a:effectLst/>
                        </a:rPr>
                        <a:t>5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201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208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171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5027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ANC (First Visit</a:t>
                      </a:r>
                      <a:r>
                        <a:rPr lang="en-GB" sz="1600" dirty="0" smtClean="0">
                          <a:effectLst/>
                        </a:rPr>
                        <a:t>)%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-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16</a:t>
                      </a:r>
                      <a:r>
                        <a:rPr lang="en-GB" sz="1800" b="1" dirty="0">
                          <a:effectLst/>
                        </a:rPr>
                        <a:t>.</a:t>
                      </a:r>
                      <a:r>
                        <a:rPr lang="bn-IN" sz="1800" b="1" dirty="0">
                          <a:effectLst/>
                        </a:rPr>
                        <a:t>3</a:t>
                      </a:r>
                      <a:r>
                        <a:rPr lang="en-GB" sz="1800" b="1" dirty="0">
                          <a:effectLst/>
                        </a:rPr>
                        <a:t> </a:t>
                      </a:r>
                      <a:endParaRPr lang="en-GB" sz="1800" b="1" dirty="0" smtClean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effectLst/>
                        </a:rPr>
                        <a:t>(</a:t>
                      </a:r>
                      <a:r>
                        <a:rPr lang="bn-IN" sz="1800" b="1" dirty="0">
                          <a:effectLst/>
                        </a:rPr>
                        <a:t>817</a:t>
                      </a:r>
                      <a:r>
                        <a:rPr lang="en-GB" sz="1800" b="1" dirty="0">
                          <a:effectLst/>
                        </a:rPr>
                        <a:t>)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59</a:t>
                      </a:r>
                      <a:r>
                        <a:rPr lang="en-GB" sz="1800" b="1">
                          <a:effectLst/>
                        </a:rPr>
                        <a:t>  (</a:t>
                      </a:r>
                      <a:r>
                        <a:rPr lang="bn-IN" sz="1800" b="1">
                          <a:effectLst/>
                        </a:rPr>
                        <a:t>2861</a:t>
                      </a:r>
                      <a:r>
                        <a:rPr lang="en-GB" sz="1800" b="1">
                          <a:effectLst/>
                        </a:rPr>
                        <a:t>) 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132</a:t>
                      </a:r>
                      <a:r>
                        <a:rPr lang="en-GB" sz="1800" b="1">
                          <a:effectLst/>
                        </a:rPr>
                        <a:t>  (</a:t>
                      </a:r>
                      <a:r>
                        <a:rPr lang="bn-IN" sz="1800" b="1">
                          <a:effectLst/>
                        </a:rPr>
                        <a:t>7292</a:t>
                      </a:r>
                      <a:r>
                        <a:rPr lang="en-GB" sz="1800" b="1">
                          <a:effectLst/>
                        </a:rPr>
                        <a:t>) 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170</a:t>
                      </a:r>
                      <a:r>
                        <a:rPr lang="en-GB" sz="1800" b="1">
                          <a:effectLst/>
                        </a:rPr>
                        <a:t>  (</a:t>
                      </a:r>
                      <a:r>
                        <a:rPr lang="bn-IN" sz="1800" b="1">
                          <a:effectLst/>
                        </a:rPr>
                        <a:t>8935</a:t>
                      </a:r>
                      <a:r>
                        <a:rPr lang="en-GB" sz="1800" b="1">
                          <a:effectLst/>
                        </a:rPr>
                        <a:t>)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</a:rPr>
                        <a:t>130 (6632)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Hospital Delivery Rate %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-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2</a:t>
                      </a:r>
                      <a:r>
                        <a:rPr lang="en-GB" sz="1800" b="1" dirty="0">
                          <a:effectLst/>
                        </a:rPr>
                        <a:t>.</a:t>
                      </a:r>
                      <a:r>
                        <a:rPr lang="bn-IN" sz="1800" b="1" dirty="0">
                          <a:effectLst/>
                        </a:rPr>
                        <a:t>1</a:t>
                      </a:r>
                      <a:r>
                        <a:rPr lang="en-GB" sz="1800" b="1" dirty="0">
                          <a:effectLst/>
                        </a:rPr>
                        <a:t> </a:t>
                      </a:r>
                      <a:endParaRPr lang="en-GB" sz="1800" b="1" dirty="0" smtClean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effectLst/>
                        </a:rPr>
                        <a:t>  </a:t>
                      </a:r>
                      <a:r>
                        <a:rPr lang="en-GB" sz="1800" b="1" dirty="0">
                          <a:effectLst/>
                        </a:rPr>
                        <a:t>(</a:t>
                      </a:r>
                      <a:r>
                        <a:rPr lang="bn-IN" sz="1800" b="1" dirty="0">
                          <a:effectLst/>
                        </a:rPr>
                        <a:t>99</a:t>
                      </a:r>
                      <a:r>
                        <a:rPr lang="en-GB" sz="1800" b="1" dirty="0">
                          <a:effectLst/>
                        </a:rPr>
                        <a:t>)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6</a:t>
                      </a:r>
                      <a:r>
                        <a:rPr lang="en-GB" sz="1800" b="1" dirty="0">
                          <a:effectLst/>
                        </a:rPr>
                        <a:t>.</a:t>
                      </a:r>
                      <a:r>
                        <a:rPr lang="bn-IN" sz="1800" b="1" dirty="0" smtClean="0">
                          <a:effectLst/>
                        </a:rPr>
                        <a:t>4</a:t>
                      </a:r>
                      <a:endParaRPr lang="en-GB" sz="1800" b="1" dirty="0" smtClean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effectLst/>
                        </a:rPr>
                        <a:t> </a:t>
                      </a:r>
                      <a:r>
                        <a:rPr lang="en-GB" sz="1800" b="1" dirty="0">
                          <a:effectLst/>
                        </a:rPr>
                        <a:t>(</a:t>
                      </a:r>
                      <a:r>
                        <a:rPr lang="bn-IN" sz="1800" b="1" dirty="0">
                          <a:effectLst/>
                        </a:rPr>
                        <a:t>422</a:t>
                      </a:r>
                      <a:r>
                        <a:rPr lang="en-GB" sz="1800" b="1" dirty="0">
                          <a:effectLst/>
                        </a:rPr>
                        <a:t>)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38</a:t>
                      </a:r>
                      <a:r>
                        <a:rPr lang="en-GB" sz="1800" b="1">
                          <a:effectLst/>
                        </a:rPr>
                        <a:t>.</a:t>
                      </a:r>
                      <a:r>
                        <a:rPr lang="bn-IN" sz="1800" b="1">
                          <a:effectLst/>
                        </a:rPr>
                        <a:t>1</a:t>
                      </a:r>
                      <a:r>
                        <a:rPr lang="en-GB" sz="1800" b="1">
                          <a:effectLst/>
                        </a:rPr>
                        <a:t>    (</a:t>
                      </a:r>
                      <a:r>
                        <a:rPr lang="bn-IN" sz="1800" b="1">
                          <a:effectLst/>
                        </a:rPr>
                        <a:t>1899</a:t>
                      </a:r>
                      <a:r>
                        <a:rPr lang="en-GB" sz="1800" b="1">
                          <a:effectLst/>
                        </a:rPr>
                        <a:t>)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98</a:t>
                      </a:r>
                      <a:r>
                        <a:rPr lang="en-GB" sz="1800" b="1">
                          <a:effectLst/>
                        </a:rPr>
                        <a:t>.</a:t>
                      </a:r>
                      <a:r>
                        <a:rPr lang="bn-IN" sz="1800" b="1">
                          <a:effectLst/>
                        </a:rPr>
                        <a:t>4</a:t>
                      </a:r>
                      <a:r>
                        <a:rPr lang="en-GB" sz="1800" b="1">
                          <a:effectLst/>
                        </a:rPr>
                        <a:t> (</a:t>
                      </a:r>
                      <a:r>
                        <a:rPr lang="bn-IN" sz="1800" b="1">
                          <a:effectLst/>
                        </a:rPr>
                        <a:t>4413</a:t>
                      </a:r>
                      <a:r>
                        <a:rPr lang="en-GB" sz="1800" b="1">
                          <a:effectLst/>
                        </a:rPr>
                        <a:t>)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</a:rPr>
                        <a:t>66 (</a:t>
                      </a:r>
                      <a:r>
                        <a:rPr lang="bn-IN" sz="1800" b="1">
                          <a:effectLst/>
                        </a:rPr>
                        <a:t>2932</a:t>
                      </a:r>
                      <a:r>
                        <a:rPr lang="en-GB" sz="1800" b="1">
                          <a:effectLst/>
                        </a:rPr>
                        <a:t>)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957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C-Section rate %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-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.</a:t>
                      </a:r>
                      <a:r>
                        <a:rPr lang="bn-IN" sz="1800" b="1" dirty="0">
                          <a:effectLst/>
                        </a:rPr>
                        <a:t>02</a:t>
                      </a:r>
                      <a:r>
                        <a:rPr lang="en-GB" sz="1800" b="1" dirty="0">
                          <a:effectLst/>
                        </a:rPr>
                        <a:t>    </a:t>
                      </a:r>
                      <a:endParaRPr lang="en-GB" sz="1800" b="1" dirty="0" smtClean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effectLst/>
                        </a:rPr>
                        <a:t>  </a:t>
                      </a:r>
                      <a:r>
                        <a:rPr lang="en-GB" sz="1800" b="1" dirty="0">
                          <a:effectLst/>
                        </a:rPr>
                        <a:t>(</a:t>
                      </a:r>
                      <a:r>
                        <a:rPr lang="bn-IN" sz="1800" b="1" dirty="0">
                          <a:effectLst/>
                        </a:rPr>
                        <a:t>1</a:t>
                      </a:r>
                      <a:r>
                        <a:rPr lang="en-GB" sz="1800" b="1" dirty="0">
                          <a:effectLst/>
                        </a:rPr>
                        <a:t>)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0</a:t>
                      </a:r>
                      <a:r>
                        <a:rPr lang="en-GB" sz="1800" b="1" dirty="0">
                          <a:effectLst/>
                        </a:rPr>
                        <a:t>.</a:t>
                      </a:r>
                      <a:r>
                        <a:rPr lang="bn-IN" sz="1800" b="1" dirty="0">
                          <a:effectLst/>
                        </a:rPr>
                        <a:t>07</a:t>
                      </a:r>
                      <a:r>
                        <a:rPr lang="en-GB" sz="1800" b="1" dirty="0">
                          <a:effectLst/>
                        </a:rPr>
                        <a:t>  </a:t>
                      </a:r>
                      <a:endParaRPr lang="en-GB" sz="1800" b="1" dirty="0" smtClean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effectLst/>
                        </a:rPr>
                        <a:t> </a:t>
                      </a:r>
                      <a:r>
                        <a:rPr lang="en-GB" sz="1800" b="1" dirty="0">
                          <a:effectLst/>
                        </a:rPr>
                        <a:t>(</a:t>
                      </a:r>
                      <a:r>
                        <a:rPr lang="bn-IN" sz="1800" b="1" dirty="0">
                          <a:effectLst/>
                        </a:rPr>
                        <a:t>3</a:t>
                      </a:r>
                      <a:r>
                        <a:rPr lang="en-GB" sz="1800" b="1" dirty="0">
                          <a:effectLst/>
                        </a:rPr>
                        <a:t>)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9</a:t>
                      </a:r>
                      <a:r>
                        <a:rPr lang="en-GB" sz="1800" b="1">
                          <a:effectLst/>
                        </a:rPr>
                        <a:t>.</a:t>
                      </a:r>
                      <a:r>
                        <a:rPr lang="bn-IN" sz="1800" b="1">
                          <a:effectLst/>
                        </a:rPr>
                        <a:t>6</a:t>
                      </a:r>
                      <a:r>
                        <a:rPr lang="en-GB" sz="1800" b="1">
                          <a:effectLst/>
                        </a:rPr>
                        <a:t>  (</a:t>
                      </a:r>
                      <a:r>
                        <a:rPr lang="bn-IN" sz="1800" b="1">
                          <a:effectLst/>
                        </a:rPr>
                        <a:t>473</a:t>
                      </a:r>
                      <a:r>
                        <a:rPr lang="en-GB" sz="1800" b="1">
                          <a:effectLst/>
                        </a:rPr>
                        <a:t>)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22</a:t>
                      </a:r>
                      <a:r>
                        <a:rPr lang="en-GB" sz="1800" b="1">
                          <a:effectLst/>
                        </a:rPr>
                        <a:t>.</a:t>
                      </a:r>
                      <a:r>
                        <a:rPr lang="bn-IN" sz="1800" b="1">
                          <a:effectLst/>
                        </a:rPr>
                        <a:t>5</a:t>
                      </a:r>
                      <a:r>
                        <a:rPr lang="en-GB" sz="1800" b="1">
                          <a:effectLst/>
                        </a:rPr>
                        <a:t> (</a:t>
                      </a:r>
                      <a:r>
                        <a:rPr lang="bn-IN" sz="1800" b="1">
                          <a:effectLst/>
                        </a:rPr>
                        <a:t>1107</a:t>
                      </a:r>
                      <a:r>
                        <a:rPr lang="en-GB" sz="1800" b="1">
                          <a:effectLst/>
                        </a:rPr>
                        <a:t>)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17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7435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MMR/100,000 live births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599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300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168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160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68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</a:rPr>
                        <a:t>91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NMR/ </a:t>
                      </a:r>
                      <a:r>
                        <a:rPr lang="en-GB" sz="1600" dirty="0">
                          <a:effectLst/>
                        </a:rPr>
                        <a:t>1000 live </a:t>
                      </a:r>
                      <a:r>
                        <a:rPr lang="en-GB" sz="1600" dirty="0" smtClean="0">
                          <a:effectLst/>
                        </a:rPr>
                        <a:t>births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42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47</a:t>
                      </a:r>
                      <a:r>
                        <a:rPr lang="en-GB" sz="1800" b="1" dirty="0">
                          <a:effectLst/>
                        </a:rPr>
                        <a:t>  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23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21</a:t>
                      </a:r>
                      <a:r>
                        <a:rPr lang="en-GB" sz="1800" b="1">
                          <a:effectLst/>
                        </a:rPr>
                        <a:t>.</a:t>
                      </a:r>
                      <a:r>
                        <a:rPr lang="bn-IN" sz="1800" b="1">
                          <a:effectLst/>
                        </a:rPr>
                        <a:t>5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18</a:t>
                      </a:r>
                      <a:r>
                        <a:rPr lang="en-GB" sz="1800" b="1">
                          <a:effectLst/>
                        </a:rPr>
                        <a:t>.</a:t>
                      </a:r>
                      <a:r>
                        <a:rPr lang="bn-IN" sz="1800" b="1">
                          <a:effectLst/>
                        </a:rPr>
                        <a:t>2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</a:rPr>
                        <a:t>16.6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IMR/ </a:t>
                      </a:r>
                      <a:r>
                        <a:rPr lang="en-GB" sz="1600" dirty="0">
                          <a:effectLst/>
                        </a:rPr>
                        <a:t>1000 live </a:t>
                      </a:r>
                      <a:r>
                        <a:rPr lang="en-GB" sz="1600" dirty="0" smtClean="0">
                          <a:effectLst/>
                        </a:rPr>
                        <a:t>births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65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58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36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29</a:t>
                      </a:r>
                      <a:r>
                        <a:rPr lang="en-GB" sz="1800" b="1">
                          <a:effectLst/>
                        </a:rPr>
                        <a:t>.</a:t>
                      </a:r>
                      <a:r>
                        <a:rPr lang="bn-IN" sz="1800" b="1">
                          <a:effectLst/>
                        </a:rPr>
                        <a:t>2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23</a:t>
                      </a:r>
                      <a:r>
                        <a:rPr lang="en-GB" sz="1800" b="1">
                          <a:effectLst/>
                        </a:rPr>
                        <a:t>.</a:t>
                      </a:r>
                      <a:r>
                        <a:rPr lang="bn-IN" sz="1800" b="1">
                          <a:effectLst/>
                        </a:rPr>
                        <a:t>6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</a:rPr>
                        <a:t>18.6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5068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U5MR/ 1000 live births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78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67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44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33</a:t>
                      </a:r>
                      <a:r>
                        <a:rPr lang="en-GB" sz="1800" b="1" dirty="0">
                          <a:effectLst/>
                        </a:rPr>
                        <a:t>.</a:t>
                      </a:r>
                      <a:r>
                        <a:rPr lang="bn-IN" sz="1800" b="1" dirty="0">
                          <a:effectLst/>
                        </a:rPr>
                        <a:t>3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25</a:t>
                      </a:r>
                      <a:r>
                        <a:rPr lang="en-GB" sz="1800" b="1" dirty="0">
                          <a:effectLst/>
                        </a:rPr>
                        <a:t>.</a:t>
                      </a:r>
                      <a:r>
                        <a:rPr lang="bn-IN" sz="1800" b="1" dirty="0">
                          <a:effectLst/>
                        </a:rPr>
                        <a:t>7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21.1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33400" y="127442"/>
            <a:ext cx="8229600" cy="907941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800" b="1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Chowgacha Health Complex – improvement evaluation</a:t>
            </a:r>
            <a:r>
              <a:rPr kumimoji="0" lang="en-GB" sz="2800" b="1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 </a:t>
            </a:r>
            <a:r>
              <a:rPr kumimoji="0" lang="bn-IN" sz="2800" b="0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(1995-2017)</a:t>
            </a:r>
            <a:endParaRPr kumimoji="0" lang="en-GB" sz="28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209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9600"/>
          </a:xfrm>
          <a:solidFill>
            <a:schemeClr val="accent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</a:t>
            </a:r>
            <a:r>
              <a:rPr lang="en-US" sz="32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Chowgacha</a:t>
            </a: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Health Complex</a:t>
            </a:r>
            <a:endParaRPr lang="en-US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400800"/>
          </a:xfrm>
          <a:solidFill>
            <a:schemeClr val="accent5">
              <a:lumMod val="50000"/>
            </a:schemeClr>
          </a:solidFill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0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2800" dirty="0" smtClean="0"/>
          </a:p>
          <a:p>
            <a:pPr marL="857250" lvl="2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800" dirty="0" smtClean="0">
                <a:solidFill>
                  <a:schemeClr val="bg1"/>
                </a:solidFill>
              </a:rPr>
              <a:t>Chowgacha </a:t>
            </a:r>
            <a:r>
              <a:rPr lang="en-US" sz="2800" dirty="0">
                <a:solidFill>
                  <a:schemeClr val="bg1"/>
                </a:solidFill>
              </a:rPr>
              <a:t>UHC declared as the model </a:t>
            </a:r>
            <a:r>
              <a:rPr lang="en-US" sz="2800" dirty="0" err="1">
                <a:solidFill>
                  <a:schemeClr val="bg1"/>
                </a:solidFill>
              </a:rPr>
              <a:t>upazilla</a:t>
            </a:r>
            <a:r>
              <a:rPr lang="en-US" sz="2800" dirty="0">
                <a:solidFill>
                  <a:schemeClr val="bg1"/>
                </a:solidFill>
              </a:rPr>
              <a:t> health complex in 2008.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dirty="0" smtClean="0">
              <a:solidFill>
                <a:schemeClr val="bg1"/>
              </a:solidFill>
            </a:endParaRPr>
          </a:p>
          <a:p>
            <a:pPr marL="857250" lvl="1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 smtClean="0">
                <a:solidFill>
                  <a:schemeClr val="bg1"/>
                </a:solidFill>
              </a:rPr>
              <a:t>Chowgacha </a:t>
            </a:r>
            <a:r>
              <a:rPr lang="en-US" dirty="0">
                <a:solidFill>
                  <a:schemeClr val="bg1"/>
                </a:solidFill>
              </a:rPr>
              <a:t>UHC achieved </a:t>
            </a:r>
            <a:r>
              <a:rPr lang="en-US" dirty="0" smtClean="0">
                <a:solidFill>
                  <a:schemeClr val="bg1"/>
                </a:solidFill>
              </a:rPr>
              <a:t>MDG target in 2009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en-US" dirty="0" smtClean="0">
              <a:solidFill>
                <a:schemeClr val="bg1"/>
              </a:solidFill>
            </a:endParaRPr>
          </a:p>
          <a:p>
            <a:pPr marL="857250" lvl="1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US" dirty="0" smtClean="0">
              <a:solidFill>
                <a:schemeClr val="bg1"/>
              </a:solidFill>
            </a:endParaRPr>
          </a:p>
          <a:p>
            <a:pPr marL="857250" lvl="1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 smtClean="0">
                <a:solidFill>
                  <a:schemeClr val="bg1"/>
                </a:solidFill>
              </a:rPr>
              <a:t>Awarded for best performance in EOC form 2005 to 2014 and 2017,2018.</a:t>
            </a:r>
          </a:p>
          <a:p>
            <a:pPr marL="857250" lvl="1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US" dirty="0" smtClean="0">
              <a:solidFill>
                <a:schemeClr val="bg1"/>
              </a:solidFill>
            </a:endParaRPr>
          </a:p>
          <a:p>
            <a:pPr marL="857250" lvl="1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 smtClean="0">
                <a:solidFill>
                  <a:schemeClr val="bg1"/>
                </a:solidFill>
              </a:rPr>
              <a:t>Achieve Health ministers Award for its best performances in 2016 to </a:t>
            </a:r>
            <a:r>
              <a:rPr lang="en-US" smtClean="0">
                <a:solidFill>
                  <a:schemeClr val="bg1"/>
                </a:solidFill>
              </a:rPr>
              <a:t>2018.</a:t>
            </a:r>
          </a:p>
          <a:p>
            <a:pPr marL="857250" lvl="1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US" dirty="0" smtClean="0">
              <a:solidFill>
                <a:schemeClr val="bg1"/>
              </a:solidFill>
            </a:endParaRPr>
          </a:p>
          <a:p>
            <a:pPr marL="857250" lvl="1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 smtClean="0">
                <a:solidFill>
                  <a:schemeClr val="bg1"/>
                </a:solidFill>
              </a:rPr>
              <a:t>The govt. taken the initiative to upgrade to 100 bedded in 2018.</a:t>
            </a:r>
          </a:p>
        </p:txBody>
      </p:sp>
    </p:spTree>
    <p:extLst>
      <p:ext uri="{BB962C8B-B14F-4D97-AF65-F5344CB8AC3E}">
        <p14:creationId xmlns:p14="http://schemas.microsoft.com/office/powerpoint/2010/main" val="222050451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0" y="0"/>
            <a:ext cx="4724400" cy="3048000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866" y="2971800"/>
            <a:ext cx="6629134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5334000" y="1419134"/>
            <a:ext cx="3048000" cy="1200329"/>
          </a:xfrm>
          <a:prstGeom prst="rect">
            <a:avLst/>
          </a:prstGeom>
          <a:solidFill>
            <a:schemeClr val="accent5">
              <a:lumMod val="50000"/>
            </a:schemeClr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chemeClr val="bg1"/>
                </a:solidFill>
              </a:rPr>
              <a:t>Report on national newspaper</a:t>
            </a:r>
            <a:endParaRPr lang="en-US" sz="2400" dirty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14th October 2005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139921" y="4618386"/>
            <a:ext cx="2243519" cy="1200329"/>
          </a:xfrm>
          <a:prstGeom prst="rect">
            <a:avLst/>
          </a:prstGeom>
          <a:solidFill>
            <a:schemeClr val="accent5">
              <a:lumMod val="50000"/>
            </a:schemeClr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>Visit of WHO DG on, 10</a:t>
            </a:r>
            <a:r>
              <a:rPr lang="en-US" sz="2400" b="1" baseline="30000" dirty="0" smtClean="0">
                <a:solidFill>
                  <a:schemeClr val="bg1"/>
                </a:solidFill>
              </a:rPr>
              <a:t>th</a:t>
            </a:r>
            <a:r>
              <a:rPr lang="en-US" sz="2400" b="1" dirty="0" smtClean="0">
                <a:solidFill>
                  <a:schemeClr val="bg1"/>
                </a:solidFill>
              </a:rPr>
              <a:t> March,2010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2222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9600"/>
          </a:xfrm>
          <a:solidFill>
            <a:schemeClr val="accent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/>
              <a:t>Challenges of the hospital in 2012</a:t>
            </a:r>
            <a:endParaRPr lang="en-US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400800"/>
          </a:xfrm>
          <a:solidFill>
            <a:schemeClr val="accent5">
              <a:lumMod val="50000"/>
            </a:schemeClr>
          </a:solidFill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0" indent="0">
              <a:buNone/>
              <a:defRPr/>
            </a:pPr>
            <a:endParaRPr lang="en-US" sz="2000" dirty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dirty="0" err="1">
                <a:solidFill>
                  <a:schemeClr val="bg1"/>
                </a:solidFill>
              </a:rPr>
              <a:t>Insecured</a:t>
            </a:r>
            <a:r>
              <a:rPr lang="en-US" dirty="0">
                <a:solidFill>
                  <a:schemeClr val="bg1"/>
                </a:solidFill>
              </a:rPr>
              <a:t>  hospital </a:t>
            </a:r>
            <a:r>
              <a:rPr lang="en-US" dirty="0" smtClean="0">
                <a:solidFill>
                  <a:schemeClr val="bg1"/>
                </a:solidFill>
              </a:rPr>
              <a:t>environment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  <a:defRPr/>
            </a:pPr>
            <a:r>
              <a:rPr lang="en-US" dirty="0">
                <a:solidFill>
                  <a:schemeClr val="bg1"/>
                </a:solidFill>
              </a:rPr>
              <a:t>	</a:t>
            </a: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Performance of all activities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was very </a:t>
            </a:r>
            <a:r>
              <a:rPr lang="en-US" dirty="0" smtClean="0">
                <a:solidFill>
                  <a:schemeClr val="bg1"/>
                </a:solidFill>
              </a:rPr>
              <a:t>low</a:t>
            </a:r>
            <a:endParaRPr lang="en-US" dirty="0">
              <a:solidFill>
                <a:schemeClr val="bg1"/>
              </a:solidFill>
            </a:endParaRPr>
          </a:p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Very limited support </a:t>
            </a:r>
            <a:r>
              <a:rPr lang="en-US" dirty="0" smtClean="0">
                <a:solidFill>
                  <a:schemeClr val="bg1"/>
                </a:solidFill>
              </a:rPr>
              <a:t>staff </a:t>
            </a:r>
            <a:endParaRPr lang="en-US" dirty="0">
              <a:solidFill>
                <a:schemeClr val="bg1"/>
              </a:solidFill>
            </a:endParaRPr>
          </a:p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Receiving money from the patients by </a:t>
            </a:r>
            <a:r>
              <a:rPr lang="en-US" dirty="0" smtClean="0">
                <a:solidFill>
                  <a:schemeClr val="bg1"/>
                </a:solidFill>
              </a:rPr>
              <a:t>non-govt. staff</a:t>
            </a:r>
            <a:endParaRPr lang="en-US" dirty="0">
              <a:solidFill>
                <a:schemeClr val="bg1"/>
              </a:solidFill>
            </a:endParaRPr>
          </a:p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Waste management system was </a:t>
            </a:r>
            <a:r>
              <a:rPr lang="en-US" dirty="0" smtClean="0">
                <a:solidFill>
                  <a:schemeClr val="bg1"/>
                </a:solidFill>
              </a:rPr>
              <a:t>poor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  <a:defRPr/>
            </a:pPr>
            <a:endParaRPr lang="en-US" dirty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Monitoring  meeting was not performed </a:t>
            </a:r>
            <a:r>
              <a:rPr lang="en-US" dirty="0" smtClean="0">
                <a:solidFill>
                  <a:schemeClr val="bg1"/>
                </a:solidFill>
              </a:rPr>
              <a:t>regularly</a:t>
            </a:r>
            <a:endParaRPr lang="en-US" dirty="0">
              <a:solidFill>
                <a:schemeClr val="bg1"/>
              </a:solidFill>
            </a:endParaRPr>
          </a:p>
          <a:p>
            <a:pPr marL="0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858967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21771" y="914400"/>
            <a:ext cx="9144000" cy="5924550"/>
          </a:xfrm>
          <a:prstGeom prst="rect">
            <a:avLst/>
          </a:prstGeom>
          <a:solidFill>
            <a:schemeClr val="accent5"/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45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Human resource 56 </a:t>
            </a:r>
          </a:p>
          <a:p>
            <a:pPr marL="1109662" lvl="1" indent="-4572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Cleaner 21</a:t>
            </a:r>
          </a:p>
          <a:p>
            <a:pPr marL="1109662" lvl="1" indent="-4572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Ayah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&amp; ward boy </a:t>
            </a: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22</a:t>
            </a:r>
          </a:p>
          <a:p>
            <a:pPr marL="1109662" lvl="1" indent="-4572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Guard </a:t>
            </a: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7</a:t>
            </a:r>
          </a:p>
          <a:p>
            <a:pPr marL="1109662" lvl="1" indent="-4572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Volunteer </a:t>
            </a: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3</a:t>
            </a:r>
          </a:p>
          <a:p>
            <a:pPr marL="1109662" lvl="1" indent="-4572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Trolley man 3 </a:t>
            </a:r>
          </a:p>
          <a:p>
            <a:pPr marL="457200" indent="-457200" algn="just">
              <a:buFontTx/>
              <a:buAutoNum type="arabicPeriod"/>
              <a:defRPr/>
            </a:pPr>
            <a:endParaRPr lang="en-US" sz="2400" dirty="0" smtClean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Paurasava supports </a:t>
            </a:r>
          </a:p>
          <a:p>
            <a:pPr marL="1109662" lvl="1" indent="-4572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Cleanliness</a:t>
            </a:r>
          </a:p>
          <a:p>
            <a:pPr marL="1109662" lvl="1" indent="-4572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Renovation of pediatric word</a:t>
            </a:r>
          </a:p>
          <a:p>
            <a:pPr marL="1109662" lvl="1" indent="-457200" algn="just"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A biochemistry analyzer</a:t>
            </a: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 marL="457200" indent="-457200" algn="just">
              <a:buFontTx/>
              <a:buAutoNum type="arabicPeriod"/>
              <a:defRPr/>
            </a:pPr>
            <a:endParaRPr lang="en-US" sz="2400" dirty="0" smtClean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Others</a:t>
            </a:r>
          </a:p>
          <a:p>
            <a:pPr marL="1109662" lvl="1" indent="-4572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A generator </a:t>
            </a:r>
          </a:p>
          <a:p>
            <a:pPr marL="1109662" lvl="1" indent="-4572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An inter-com</a:t>
            </a:r>
            <a:endParaRPr lang="en-US" sz="24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</a:t>
            </a:r>
            <a:r>
              <a:rPr lang="en-US" sz="2800" b="1" dirty="0" smtClean="0">
                <a:solidFill>
                  <a:prstClr val="white"/>
                </a:solidFill>
                <a:latin typeface="Arial" charset="0"/>
                <a:cs typeface="Arial" charset="0"/>
              </a:rPr>
              <a:t>in Jhenaidah </a:t>
            </a:r>
            <a:r>
              <a:rPr lang="en-US" sz="2800" b="1" dirty="0">
                <a:solidFill>
                  <a:prstClr val="white"/>
                </a:solidFill>
                <a:latin typeface="Arial" charset="0"/>
                <a:cs typeface="Arial" charset="0"/>
              </a:rPr>
              <a:t>Sadar Hospital</a:t>
            </a:r>
          </a:p>
        </p:txBody>
      </p:sp>
    </p:spTree>
    <p:extLst>
      <p:ext uri="{BB962C8B-B14F-4D97-AF65-F5344CB8AC3E}">
        <p14:creationId xmlns:p14="http://schemas.microsoft.com/office/powerpoint/2010/main" val="4209413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720242"/>
            <a:ext cx="3886200" cy="285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5562600" y="1893888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81000" y="42863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Page: 1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Content Placeholder 6" descr="G:\G\Dr Emdad\fromyumi\IMG_7464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19600" y="3675055"/>
            <a:ext cx="4444999" cy="3186574"/>
          </a:xfrm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38201" y="4771180"/>
            <a:ext cx="1905000" cy="369332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Big Cleaning Day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8140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10886" y="457200"/>
            <a:ext cx="4686299" cy="3124200"/>
          </a:xfrm>
          <a:noFill/>
        </p:spPr>
      </p:pic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1126783"/>
            <a:ext cx="441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/>
              <a:t>Meting of community support group committee</a:t>
            </a:r>
            <a:endParaRPr lang="en-US" dirty="0"/>
          </a:p>
        </p:txBody>
      </p:sp>
      <p:pic>
        <p:nvPicPr>
          <p:cNvPr id="5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42771" y="3810000"/>
            <a:ext cx="4535145" cy="2990850"/>
          </a:xfrm>
        </p:spPr>
      </p:pic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990600" y="4800600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/>
              <a:t>Monthly meeting schedule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0490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2800" b="1" dirty="0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 in official file arrangement</a:t>
            </a:r>
            <a:endParaRPr lang="en-US" sz="2000" b="1" dirty="0" smtClean="0">
              <a:solidFill>
                <a:srgbClr val="FFFFFF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3834746"/>
            <a:ext cx="4114800" cy="2823882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914400"/>
            <a:ext cx="4132263" cy="2695575"/>
          </a:xfrm>
        </p:spPr>
      </p:pic>
    </p:spTree>
    <p:extLst>
      <p:ext uri="{BB962C8B-B14F-4D97-AF65-F5344CB8AC3E}">
        <p14:creationId xmlns:p14="http://schemas.microsoft.com/office/powerpoint/2010/main" val="31891120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3505200"/>
            <a:ext cx="4576219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28362" y="3772089"/>
            <a:ext cx="4096757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396356" y="478234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257034" y="3899646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5224746" y="3922214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63319" y="655614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Content Placeholder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23019" y="655614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482" y="1874814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19" y="806427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550839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0" y="-1"/>
            <a:ext cx="9140825" cy="550839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Changes in pediatric ward  and waste management 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8" name="Picture 8" descr="DSC0240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85800"/>
            <a:ext cx="4114800" cy="283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0"/>
            <a:ext cx="9140825" cy="6096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  <a:latin typeface="Calibri"/>
                <a:ea typeface="+mj-ea"/>
                <a:cs typeface="+mj-cs"/>
              </a:rPr>
              <a:t>Improved security and recovery of valuable land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953000" y="1732181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 smtClean="0"/>
              <a:t>Campus protection</a:t>
            </a:r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554624"/>
            <a:ext cx="4771642" cy="3111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0" y="4741002"/>
            <a:ext cx="44551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/>
              <a:t>Recovered Valuable land after 50 </a:t>
            </a:r>
            <a:r>
              <a:rPr lang="en-GB" b="1" dirty="0" smtClean="0"/>
              <a:t>years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1060877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2018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4237253613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68389178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2018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960605757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5667216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 smtClean="0">
                <a:ea typeface="Calibri"/>
                <a:cs typeface="Vrinda"/>
              </a:rPr>
              <a:t>3 best performing </a:t>
            </a:r>
            <a:r>
              <a:rPr lang="en-US" sz="2800" b="1" dirty="0" err="1" smtClean="0">
                <a:ea typeface="Calibri"/>
                <a:cs typeface="Vrinda"/>
              </a:rPr>
              <a:t>EmOC</a:t>
            </a:r>
            <a:r>
              <a:rPr lang="en-US" sz="2800" b="1" dirty="0" smtClean="0">
                <a:ea typeface="Calibri"/>
                <a:cs typeface="Vrinda"/>
              </a:rPr>
              <a:t> Hospital </a:t>
            </a:r>
            <a:r>
              <a:rPr lang="en-US" sz="2800" b="1" dirty="0">
                <a:ea typeface="Calibri"/>
                <a:cs typeface="Vrinda"/>
              </a:rPr>
              <a:t>in Khulna division - </a:t>
            </a:r>
            <a:r>
              <a:rPr lang="en-US" sz="2800" b="1" dirty="0" smtClean="0">
                <a:ea typeface="Calibri"/>
                <a:cs typeface="Vrinda"/>
              </a:rPr>
              <a:t>2018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7398706"/>
              </p:ext>
            </p:extLst>
          </p:nvPr>
        </p:nvGraphicFramePr>
        <p:xfrm>
          <a:off x="-94343" y="1905000"/>
          <a:ext cx="10152743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51809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48102" y="828448"/>
            <a:ext cx="8310349" cy="808038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 smtClean="0">
                <a:solidFill>
                  <a:schemeClr val="bg1"/>
                </a:solidFill>
              </a:rPr>
              <a:t>Comparative </a:t>
            </a:r>
            <a:r>
              <a:rPr lang="en-US" sz="2800" b="1" dirty="0">
                <a:solidFill>
                  <a:schemeClr val="bg1"/>
                </a:solidFill>
              </a:rPr>
              <a:t>data of revenue </a:t>
            </a:r>
            <a:r>
              <a:rPr lang="en-US" sz="2800" b="1" dirty="0" smtClean="0">
                <a:solidFill>
                  <a:schemeClr val="bg1"/>
                </a:solidFill>
              </a:rPr>
              <a:t>income (in Taka) from 2015 to 2018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6829258"/>
              </p:ext>
            </p:extLst>
          </p:nvPr>
        </p:nvGraphicFramePr>
        <p:xfrm>
          <a:off x="1676400" y="2133600"/>
          <a:ext cx="55626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58720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2316" y="228600"/>
            <a:ext cx="8939284" cy="1143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6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Achievements of Jhenaidah </a:t>
            </a:r>
            <a:r>
              <a:rPr lang="en-US" altLang="ja-JP" sz="3600" b="1" dirty="0" err="1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Sadar</a:t>
            </a:r>
            <a:r>
              <a:rPr lang="en-US" altLang="ja-JP" sz="36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36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 </a:t>
            </a:r>
            <a:r>
              <a:rPr lang="en-US" altLang="ja-JP" sz="36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52316" y="1524000"/>
            <a:ext cx="8939284" cy="5257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</a:t>
            </a:r>
            <a:r>
              <a:rPr lang="en-US" sz="2000" b="1" dirty="0" smtClean="0"/>
              <a:t>. Active </a:t>
            </a:r>
            <a:r>
              <a:rPr lang="en-US" sz="2000" b="1" dirty="0"/>
              <a:t>C</a:t>
            </a:r>
            <a:r>
              <a:rPr lang="en-US" sz="2000" b="1" dirty="0" smtClean="0"/>
              <a:t>ommunity Participation  is an example in Bangladesh.</a:t>
            </a:r>
          </a:p>
          <a:p>
            <a:pPr marL="0" algn="just">
              <a:defRPr/>
            </a:pPr>
            <a:r>
              <a:rPr lang="en-US" sz="2000" dirty="0" smtClean="0"/>
              <a:t> </a:t>
            </a:r>
          </a:p>
          <a:p>
            <a:pPr marL="0" algn="just">
              <a:defRPr/>
            </a:pPr>
            <a:r>
              <a:rPr lang="en-US" sz="2000" b="1" dirty="0" smtClean="0"/>
              <a:t>2. Improved   </a:t>
            </a:r>
            <a:r>
              <a:rPr lang="en-US" sz="2000" b="1" dirty="0"/>
              <a:t>p</a:t>
            </a:r>
            <a:r>
              <a:rPr lang="en-US" sz="2000" b="1" dirty="0" smtClean="0"/>
              <a:t>erformance  of all services.</a:t>
            </a:r>
            <a:endParaRPr lang="en-US" sz="2000" b="1" dirty="0"/>
          </a:p>
          <a:p>
            <a:pPr marL="0">
              <a:defRPr/>
            </a:pPr>
            <a:endParaRPr lang="en-US" sz="2000" b="1" dirty="0" smtClean="0"/>
          </a:p>
          <a:p>
            <a:pPr marL="0">
              <a:defRPr/>
            </a:pPr>
            <a:r>
              <a:rPr lang="en-US" sz="2000" b="1" dirty="0" smtClean="0"/>
              <a:t>3</a:t>
            </a:r>
            <a:r>
              <a:rPr lang="en-US" sz="2000" b="1" dirty="0"/>
              <a:t>. Improved Cleanliness and </a:t>
            </a:r>
            <a:r>
              <a:rPr lang="en-US" sz="2000" b="1" dirty="0" smtClean="0"/>
              <a:t>Beautification of Campus.</a:t>
            </a:r>
            <a:endParaRPr lang="en-US" sz="2000" b="1" dirty="0"/>
          </a:p>
          <a:p>
            <a:pPr marL="0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4. </a:t>
            </a:r>
            <a:r>
              <a:rPr lang="en-US" sz="2000" b="1" dirty="0"/>
              <a:t>Functioning </a:t>
            </a:r>
            <a:r>
              <a:rPr lang="en-US" sz="2000" b="1" dirty="0" smtClean="0"/>
              <a:t>of X-Ray service and Biochemistry investigation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5. </a:t>
            </a:r>
            <a:r>
              <a:rPr lang="en-US" sz="2000" b="1" dirty="0"/>
              <a:t>Improved </a:t>
            </a:r>
            <a:r>
              <a:rPr lang="en-US" sz="2000" b="1" dirty="0" smtClean="0"/>
              <a:t> Security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6. </a:t>
            </a:r>
            <a:r>
              <a:rPr lang="en-US" sz="2000" b="1" dirty="0"/>
              <a:t>Improved Financial </a:t>
            </a:r>
            <a:r>
              <a:rPr lang="en-US" sz="2000" b="1" dirty="0" smtClean="0"/>
              <a:t>Management</a:t>
            </a:r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7. “Model  ” is replicating in 20 district hospital &amp; 40 </a:t>
            </a:r>
            <a:r>
              <a:rPr lang="en-US" sz="2000" b="1" dirty="0"/>
              <a:t>U</a:t>
            </a:r>
            <a:r>
              <a:rPr lang="en-US" sz="2000" b="1" dirty="0" smtClean="0"/>
              <a:t>pazilla hospital 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 smtClean="0"/>
              <a:t>8. </a:t>
            </a:r>
            <a:r>
              <a:rPr lang="en-US" sz="2000" b="1" dirty="0"/>
              <a:t>The hospital is </a:t>
            </a:r>
            <a:r>
              <a:rPr lang="en-US" sz="2000" b="1" dirty="0" smtClean="0"/>
              <a:t>awarded 7 </a:t>
            </a:r>
            <a:r>
              <a:rPr lang="en-US" sz="2000" b="1" dirty="0"/>
              <a:t>times from 2013 to </a:t>
            </a:r>
            <a:r>
              <a:rPr lang="en-US" sz="2000" b="1" dirty="0" smtClean="0"/>
              <a:t>2018. </a:t>
            </a:r>
            <a:endParaRPr lang="en-US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9788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3804137"/>
            <a:ext cx="4376056" cy="3011794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4213"/>
            <a:ext cx="4495799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36987"/>
            <a:ext cx="42672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4856343" y="684213"/>
            <a:ext cx="4287657" cy="2973387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4978400" y="751002"/>
            <a:ext cx="20320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Neonatal Care Unit 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081539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-32982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marL="0" indent="0" algn="ctr" eaLnBrk="1" hangingPunct="1">
              <a:spcBef>
                <a:spcPct val="0"/>
              </a:spcBef>
              <a:buNone/>
              <a:defRPr/>
            </a:pP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sz="4400" dirty="0"/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</p:txBody>
      </p:sp>
    </p:spTree>
    <p:extLst>
      <p:ext uri="{BB962C8B-B14F-4D97-AF65-F5344CB8AC3E}">
        <p14:creationId xmlns:p14="http://schemas.microsoft.com/office/powerpoint/2010/main" val="2591584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278245"/>
              </p:ext>
            </p:extLst>
          </p:nvPr>
        </p:nvGraphicFramePr>
        <p:xfrm>
          <a:off x="116329" y="1752600"/>
          <a:ext cx="8823564" cy="4362975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602806"/>
                <a:gridCol w="1743870"/>
                <a:gridCol w="1500688"/>
                <a:gridCol w="1303202"/>
                <a:gridCol w="1238042"/>
                <a:gridCol w="1217478"/>
                <a:gridCol w="1217478"/>
              </a:tblGrid>
              <a:tr h="928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SL  NO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Country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by  Govt.   ($)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Beds per 10000 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Out of pocket expenditure %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</a:tr>
              <a:tr h="4476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9536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25.5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99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37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11.08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</a:tr>
              <a:tr h="4198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UK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4356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28.0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84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30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14.79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</a:tr>
              <a:tr h="4198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Malaysia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386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12.8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34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36.67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</a:tr>
              <a:tr h="4198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118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7.3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17.5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31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38.43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</a:tr>
              <a:tr h="4198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India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63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7.3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20.4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65.06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</a:tr>
              <a:tr h="4198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44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4.7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-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60.41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</a:tr>
              <a:tr h="4148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38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66.40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</a:tr>
              <a:tr h="4198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37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*05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*03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*05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67.00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53200" y="6426200"/>
            <a:ext cx="241935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From internet </a:t>
            </a:r>
            <a:r>
              <a:rPr lang="en-US" sz="2000" dirty="0" smtClean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2018</a:t>
            </a:r>
            <a:endParaRPr lang="en-US" sz="2000" dirty="0">
              <a:solidFill>
                <a:srgbClr val="000000"/>
              </a:solidFill>
              <a:latin typeface="Andalus"/>
              <a:ea typeface="Andalus"/>
              <a:cs typeface="Andalu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45143" y="472391"/>
            <a:ext cx="8820150" cy="990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8100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2838037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2400" y="76200"/>
            <a:ext cx="8686800" cy="914400"/>
          </a:xfrm>
          <a:solidFill>
            <a:schemeClr val="tx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/>
          <a:lstStyle/>
          <a:p>
            <a:r>
              <a:rPr lang="en-GB" sz="4000" b="1" dirty="0" smtClean="0"/>
              <a:t>Community support in </a:t>
            </a:r>
            <a:r>
              <a:rPr lang="en-GB" sz="4000" b="1" dirty="0" err="1" smtClean="0"/>
              <a:t>Chowgacha</a:t>
            </a:r>
            <a:r>
              <a:rPr lang="en-GB" sz="4000" b="1" dirty="0" smtClean="0"/>
              <a:t> UHC</a:t>
            </a:r>
            <a:endParaRPr lang="en-GB" sz="4000" b="1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218117" name="Text Box 5"/>
          <p:cNvSpPr txBox="1">
            <a:spLocks noChangeArrowheads="1"/>
          </p:cNvSpPr>
          <p:nvPr/>
        </p:nvSpPr>
        <p:spPr bwMode="auto">
          <a:xfrm>
            <a:off x="620486" y="1066800"/>
            <a:ext cx="8016875" cy="563231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lvl="1">
              <a:buFont typeface="Wingdings" pitchFamily="2" charset="2"/>
              <a:buChar char="v"/>
            </a:pP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Human resource  46</a:t>
            </a:r>
          </a:p>
          <a:p>
            <a:pPr marL="1200150" lvl="2" indent="-285750">
              <a:buFont typeface="Arial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skerville Old Face" pitchFamily="18" charset="0"/>
              </a:rPr>
              <a:t>V</a:t>
            </a: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olunteer 26</a:t>
            </a:r>
          </a:p>
          <a:p>
            <a:pPr marL="1200150" lvl="2" indent="-285750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Cleaner&amp;guard16 </a:t>
            </a:r>
          </a:p>
          <a:p>
            <a:pPr marL="1200150" lvl="2" indent="-285750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Others 4</a:t>
            </a:r>
          </a:p>
          <a:p>
            <a:pPr marL="914400" lvl="2" indent="0"/>
            <a:endParaRPr lang="en-US" sz="2400" dirty="0" smtClean="0">
              <a:solidFill>
                <a:schemeClr val="bg1"/>
              </a:solidFill>
              <a:latin typeface="Baskerville Old Face" pitchFamily="18" charset="0"/>
            </a:endParaRPr>
          </a:p>
          <a:p>
            <a:pPr lvl="1">
              <a:buFont typeface="Wingdings" pitchFamily="2" charset="2"/>
              <a:buChar char="v"/>
            </a:pPr>
            <a:r>
              <a:rPr lang="en-US" sz="2400" dirty="0">
                <a:solidFill>
                  <a:schemeClr val="bg1"/>
                </a:solidFill>
                <a:latin typeface="Baskerville Old Face" pitchFamily="18" charset="0"/>
              </a:rPr>
              <a:t>A mobile </a:t>
            </a: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phone </a:t>
            </a:r>
          </a:p>
          <a:p>
            <a:pPr lvl="1">
              <a:buFont typeface="Wingdings" pitchFamily="2" charset="2"/>
              <a:buChar char="v"/>
            </a:pP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Dustbins </a:t>
            </a:r>
          </a:p>
          <a:p>
            <a:pPr lvl="1">
              <a:buFont typeface="Wingdings" pitchFamily="2" charset="2"/>
              <a:buChar char="v"/>
            </a:pP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A </a:t>
            </a:r>
            <a:r>
              <a:rPr lang="en-US" sz="2400" dirty="0">
                <a:solidFill>
                  <a:schemeClr val="bg1"/>
                </a:solidFill>
                <a:latin typeface="Baskerville Old Face" pitchFamily="18" charset="0"/>
              </a:rPr>
              <a:t>reception </a:t>
            </a: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center </a:t>
            </a:r>
          </a:p>
          <a:p>
            <a:pPr lvl="1">
              <a:buFont typeface="Wingdings" pitchFamily="2" charset="2"/>
              <a:buChar char="v"/>
            </a:pP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Tiles </a:t>
            </a:r>
            <a:r>
              <a:rPr lang="en-US" sz="2400" dirty="0">
                <a:solidFill>
                  <a:schemeClr val="bg1"/>
                </a:solidFill>
                <a:latin typeface="Baskerville Old Face" pitchFamily="18" charset="0"/>
              </a:rPr>
              <a:t>around  the pillars of outdoor </a:t>
            </a:r>
            <a:endParaRPr lang="en-US" sz="2400" dirty="0" smtClean="0">
              <a:solidFill>
                <a:schemeClr val="bg1"/>
              </a:solidFill>
              <a:latin typeface="Baskerville Old Face" pitchFamily="18" charset="0"/>
            </a:endParaRPr>
          </a:p>
          <a:p>
            <a:pPr lvl="1">
              <a:buFont typeface="Wingdings" pitchFamily="2" charset="2"/>
              <a:buChar char="v"/>
            </a:pP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Beautification </a:t>
            </a:r>
            <a:r>
              <a:rPr lang="en-US" sz="2400" dirty="0">
                <a:solidFill>
                  <a:schemeClr val="bg1"/>
                </a:solidFill>
                <a:latin typeface="Baskerville Old Face" pitchFamily="18" charset="0"/>
              </a:rPr>
              <a:t>of </a:t>
            </a: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road</a:t>
            </a:r>
          </a:p>
          <a:p>
            <a:pPr lvl="1">
              <a:buFont typeface="Wingdings" pitchFamily="2" charset="2"/>
              <a:buChar char="v"/>
            </a:pP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Others</a:t>
            </a:r>
          </a:p>
          <a:p>
            <a:pPr marL="1200150" lvl="2" indent="-285750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ANC, PNC, Growth Monitoring card</a:t>
            </a:r>
          </a:p>
          <a:p>
            <a:pPr marL="1200150" lvl="2" indent="-285750">
              <a:buFont typeface="Arial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skerville Old Face" pitchFamily="18" charset="0"/>
              </a:rPr>
              <a:t>Drugs for </a:t>
            </a:r>
            <a:r>
              <a:rPr lang="en-US" sz="2400" dirty="0" err="1">
                <a:solidFill>
                  <a:schemeClr val="bg1"/>
                </a:solidFill>
                <a:latin typeface="Baskerville Old Face" pitchFamily="18" charset="0"/>
              </a:rPr>
              <a:t>Arsenicosis</a:t>
            </a:r>
            <a:r>
              <a:rPr lang="en-US" sz="2400" dirty="0">
                <a:solidFill>
                  <a:schemeClr val="bg1"/>
                </a:solidFill>
                <a:latin typeface="Baskerville Old Face" pitchFamily="18" charset="0"/>
              </a:rPr>
              <a:t> </a:t>
            </a:r>
          </a:p>
          <a:p>
            <a:pPr marL="1200150" lvl="2" indent="-285750">
              <a:buFont typeface="Arial" pitchFamily="34" charset="0"/>
              <a:buChar char="•"/>
            </a:pPr>
            <a:r>
              <a:rPr lang="en-US" sz="2400" dirty="0" err="1" smtClean="0">
                <a:solidFill>
                  <a:schemeClr val="bg1"/>
                </a:solidFill>
                <a:latin typeface="Baskerville Old Face" pitchFamily="18" charset="0"/>
              </a:rPr>
              <a:t>Tyars</a:t>
            </a: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Baskerville Old Face" pitchFamily="18" charset="0"/>
              </a:rPr>
              <a:t>of </a:t>
            </a: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Ambulance</a:t>
            </a:r>
          </a:p>
          <a:p>
            <a:pPr marL="1200150" lvl="2" indent="-285750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Protocol board</a:t>
            </a:r>
            <a:endParaRPr lang="en-US" sz="2400" dirty="0">
              <a:solidFill>
                <a:schemeClr val="bg1"/>
              </a:solidFill>
              <a:latin typeface="Baskerville Old Face" pitchFamily="18" charset="0"/>
            </a:endParaRPr>
          </a:p>
        </p:txBody>
      </p:sp>
      <p:sp>
        <p:nvSpPr>
          <p:cNvPr id="30726" name="Text Box 6"/>
          <p:cNvSpPr txBox="1">
            <a:spLocks noChangeArrowheads="1"/>
          </p:cNvSpPr>
          <p:nvPr/>
        </p:nvSpPr>
        <p:spPr bwMode="auto">
          <a:xfrm>
            <a:off x="1447800" y="2353469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1811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GB" dirty="0" err="1" smtClean="0">
                <a:latin typeface="SolaimanLipi" pitchFamily="65" charset="0"/>
                <a:cs typeface="SolaimanLipi" pitchFamily="65" charset="0"/>
              </a:rPr>
              <a:t>নড়াইলের</a:t>
            </a:r>
            <a:r>
              <a:rPr lang="en-GB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dirty="0" err="1" smtClean="0">
                <a:latin typeface="SolaimanLipi" pitchFamily="65" charset="0"/>
                <a:cs typeface="SolaimanLipi" pitchFamily="65" charset="0"/>
              </a:rPr>
              <a:t>লোহাগড়া</a:t>
            </a:r>
            <a:r>
              <a:rPr lang="en-GB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dirty="0" err="1" smtClean="0">
                <a:latin typeface="SolaimanLipi" pitchFamily="65" charset="0"/>
                <a:cs typeface="SolaimanLipi" pitchFamily="65" charset="0"/>
              </a:rPr>
              <a:t>উপজেলায়</a:t>
            </a:r>
            <a:r>
              <a:rPr lang="en-GB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dirty="0" err="1" smtClean="0">
                <a:latin typeface="SolaimanLipi" pitchFamily="65" charset="0"/>
                <a:cs typeface="SolaimanLipi" pitchFamily="65" charset="0"/>
              </a:rPr>
              <a:t>ইউনিয়নওয়ারী</a:t>
            </a:r>
            <a:r>
              <a:rPr lang="en-GB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dirty="0" err="1" smtClean="0">
                <a:latin typeface="SolaimanLipi" pitchFamily="65" charset="0"/>
                <a:cs typeface="SolaimanLipi" pitchFamily="65" charset="0"/>
              </a:rPr>
              <a:t>জরীপে</a:t>
            </a:r>
            <a:r>
              <a:rPr lang="en-GB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dirty="0" err="1" smtClean="0">
                <a:latin typeface="SolaimanLipi" pitchFamily="65" charset="0"/>
                <a:cs typeface="SolaimanLipi" pitchFamily="65" charset="0"/>
              </a:rPr>
              <a:t>জনসম্পদের</a:t>
            </a:r>
            <a:r>
              <a:rPr lang="en-GB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dirty="0" err="1" smtClean="0">
                <a:latin typeface="SolaimanLipi" pitchFamily="65" charset="0"/>
                <a:cs typeface="SolaimanLipi" pitchFamily="65" charset="0"/>
              </a:rPr>
              <a:t>তথ্য</a:t>
            </a:r>
            <a:endParaRPr lang="en-GB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50" name="Picture 2" descr="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735880" y="-550121"/>
            <a:ext cx="5596041" cy="937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1363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Perspective">
      <a:dk1>
        <a:sysClr val="windowText" lastClr="000000"/>
      </a:dk1>
      <a:lt1>
        <a:sysClr val="window" lastClr="FFFFFF"/>
      </a:lt1>
      <a:dk2>
        <a:srgbClr val="283138"/>
      </a:dk2>
      <a:lt2>
        <a:srgbClr val="FF8600"/>
      </a:lt2>
      <a:accent1>
        <a:srgbClr val="838D9B"/>
      </a:accent1>
      <a:accent2>
        <a:srgbClr val="D2610C"/>
      </a:accent2>
      <a:accent3>
        <a:srgbClr val="80716A"/>
      </a:accent3>
      <a:accent4>
        <a:srgbClr val="94147C"/>
      </a:accent4>
      <a:accent5>
        <a:srgbClr val="5D5AD2"/>
      </a:accent5>
      <a:accent6>
        <a:srgbClr val="6F6C7D"/>
      </a:accent6>
      <a:hlink>
        <a:srgbClr val="6187E3"/>
      </a:hlink>
      <a:folHlink>
        <a:srgbClr val="7B8EB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15858</TotalTime>
  <Words>1036</Words>
  <Application>Microsoft Office PowerPoint</Application>
  <PresentationFormat>On-screen Show (4:3)</PresentationFormat>
  <Paragraphs>336</Paragraphs>
  <Slides>34</Slides>
  <Notes>14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6" baseType="lpstr">
      <vt:lpstr>Office Theme</vt:lpstr>
      <vt:lpstr>Chart</vt:lpstr>
      <vt:lpstr>PowerPoint Presentation</vt:lpstr>
      <vt:lpstr>PowerPoint Presentation</vt:lpstr>
      <vt:lpstr>PowerPoint Presentation</vt:lpstr>
      <vt:lpstr>Background History of C-J Model</vt:lpstr>
      <vt:lpstr>A Hospital with a Vision …</vt:lpstr>
      <vt:lpstr>PowerPoint Presentation</vt:lpstr>
      <vt:lpstr>PowerPoint Presentation</vt:lpstr>
      <vt:lpstr>PowerPoint Presentation</vt:lpstr>
      <vt:lpstr>Health Education Session</vt:lpstr>
      <vt:lpstr>Community supported volunteer working in ANC corner</vt:lpstr>
      <vt:lpstr>Upazila Health  Complex CHOWGACHA , JESSORE.</vt:lpstr>
      <vt:lpstr>Upazila Health  Complex CHOWGACHA , JESSORE.</vt:lpstr>
      <vt:lpstr>Upazilla Health  Complex CHOWGACHA , JESSORE.</vt:lpstr>
      <vt:lpstr>PowerPoint Presentation</vt:lpstr>
      <vt:lpstr>Achievement of Chowgacha Health Complex</vt:lpstr>
      <vt:lpstr>PowerPoint Presentation</vt:lpstr>
      <vt:lpstr>100 kh¨v wewkó m`i nvmcvZvj, wSbvB`n</vt:lpstr>
      <vt:lpstr>Challenges of the hospital in 2012</vt:lpstr>
      <vt:lpstr>PowerPoint Presentation</vt:lpstr>
      <vt:lpstr>Innovative activities of Jhenaidah Sadar Hospital Page: 1</vt:lpstr>
      <vt:lpstr>Internal Monitoring System</vt:lpstr>
      <vt:lpstr>Use of color code in official file arrangement</vt:lpstr>
      <vt:lpstr>PowerPoint Presentation</vt:lpstr>
      <vt:lpstr>PowerPoint Presentation</vt:lpstr>
      <vt:lpstr>PowerPoint Presentation</vt:lpstr>
      <vt:lpstr>Emergency &amp; Out Door, Indoor  Service 1998 to 2018</vt:lpstr>
      <vt:lpstr>3 best performing EmOC Hospital in Khulna division - 2018</vt:lpstr>
      <vt:lpstr>  Comparative data of revenue income (in Taka) from 2015 to 2018 </vt:lpstr>
      <vt:lpstr>PowerPoint Presentation</vt:lpstr>
      <vt:lpstr>Hospital Environment</vt:lpstr>
      <vt:lpstr>PowerPoint Presentation</vt:lpstr>
      <vt:lpstr>PowerPoint Presentation</vt:lpstr>
      <vt:lpstr>Community support in Chowgacha UHC</vt:lpstr>
      <vt:lpstr>নড়াইলের লোহাগড়া উপজেলায় ইউনিয়নওয়ারী জরীপে জনসম্পদের তথ্য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801</cp:revision>
  <cp:lastPrinted>2017-03-18T23:47:54Z</cp:lastPrinted>
  <dcterms:created xsi:type="dcterms:W3CDTF">2013-05-05T09:56:19Z</dcterms:created>
  <dcterms:modified xsi:type="dcterms:W3CDTF">2019-06-21T23:44:24Z</dcterms:modified>
</cp:coreProperties>
</file>