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40"/>
  </p:notesMasterIdLst>
  <p:sldIdLst>
    <p:sldId id="331" r:id="rId2"/>
    <p:sldId id="524" r:id="rId3"/>
    <p:sldId id="504" r:id="rId4"/>
    <p:sldId id="521" r:id="rId5"/>
    <p:sldId id="522" r:id="rId6"/>
    <p:sldId id="512" r:id="rId7"/>
    <p:sldId id="501" r:id="rId8"/>
    <p:sldId id="502" r:id="rId9"/>
    <p:sldId id="468" r:id="rId10"/>
    <p:sldId id="476" r:id="rId11"/>
    <p:sldId id="341" r:id="rId12"/>
    <p:sldId id="484" r:id="rId13"/>
    <p:sldId id="520" r:id="rId14"/>
    <p:sldId id="507" r:id="rId15"/>
    <p:sldId id="523" r:id="rId16"/>
    <p:sldId id="469" r:id="rId17"/>
    <p:sldId id="517" r:id="rId18"/>
    <p:sldId id="485" r:id="rId19"/>
    <p:sldId id="498" r:id="rId20"/>
    <p:sldId id="514" r:id="rId21"/>
    <p:sldId id="508" r:id="rId22"/>
    <p:sldId id="519" r:id="rId23"/>
    <p:sldId id="483" r:id="rId24"/>
    <p:sldId id="480" r:id="rId25"/>
    <p:sldId id="454" r:id="rId26"/>
    <p:sldId id="525" r:id="rId27"/>
    <p:sldId id="291" r:id="rId28"/>
    <p:sldId id="450" r:id="rId29"/>
    <p:sldId id="486" r:id="rId30"/>
    <p:sldId id="487" r:id="rId31"/>
    <p:sldId id="488" r:id="rId32"/>
    <p:sldId id="489" r:id="rId33"/>
    <p:sldId id="461" r:id="rId34"/>
    <p:sldId id="515" r:id="rId35"/>
    <p:sldId id="516" r:id="rId36"/>
    <p:sldId id="518" r:id="rId37"/>
    <p:sldId id="499" r:id="rId38"/>
    <p:sldId id="509" r:id="rId3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49F540A-C04E-43EC-89E0-CA8F4D47EC91}">
          <p14:sldIdLst>
            <p14:sldId id="331"/>
            <p14:sldId id="524"/>
            <p14:sldId id="504"/>
            <p14:sldId id="521"/>
            <p14:sldId id="522"/>
            <p14:sldId id="512"/>
            <p14:sldId id="501"/>
            <p14:sldId id="502"/>
            <p14:sldId id="468"/>
            <p14:sldId id="476"/>
            <p14:sldId id="341"/>
            <p14:sldId id="484"/>
            <p14:sldId id="520"/>
            <p14:sldId id="507"/>
            <p14:sldId id="523"/>
            <p14:sldId id="469"/>
            <p14:sldId id="517"/>
            <p14:sldId id="485"/>
            <p14:sldId id="498"/>
            <p14:sldId id="514"/>
            <p14:sldId id="508"/>
            <p14:sldId id="519"/>
            <p14:sldId id="483"/>
            <p14:sldId id="480"/>
            <p14:sldId id="454"/>
            <p14:sldId id="525"/>
            <p14:sldId id="291"/>
            <p14:sldId id="450"/>
            <p14:sldId id="486"/>
            <p14:sldId id="487"/>
            <p14:sldId id="488"/>
            <p14:sldId id="489"/>
            <p14:sldId id="461"/>
            <p14:sldId id="515"/>
            <p14:sldId id="516"/>
            <p14:sldId id="518"/>
            <p14:sldId id="499"/>
            <p14:sldId id="50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CCFF99"/>
    <a:srgbClr val="33CC33"/>
    <a:srgbClr val="00FF99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3238" autoAdjust="0"/>
  </p:normalViewPr>
  <p:slideViewPr>
    <p:cSldViewPr>
      <p:cViewPr>
        <p:scale>
          <a:sx n="66" d="100"/>
          <a:sy n="66" d="100"/>
        </p:scale>
        <p:origin x="-1734" y="-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1899904"/>
        <c:axId val="231901440"/>
      </c:barChart>
      <c:catAx>
        <c:axId val="2318999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1901440"/>
        <c:crosses val="autoZero"/>
        <c:auto val="1"/>
        <c:lblAlgn val="ctr"/>
        <c:lblOffset val="100"/>
        <c:noMultiLvlLbl val="0"/>
      </c:catAx>
      <c:valAx>
        <c:axId val="2319014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18999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068992"/>
        <c:axId val="232070528"/>
      </c:barChart>
      <c:catAx>
        <c:axId val="232068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2070528"/>
        <c:crosses val="autoZero"/>
        <c:auto val="1"/>
        <c:lblAlgn val="ctr"/>
        <c:lblOffset val="100"/>
        <c:noMultiLvlLbl val="0"/>
      </c:catAx>
      <c:valAx>
        <c:axId val="2320705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2068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161664"/>
        <c:axId val="232163200"/>
      </c:barChart>
      <c:catAx>
        <c:axId val="23216166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2163200"/>
        <c:crosses val="autoZero"/>
        <c:auto val="1"/>
        <c:lblAlgn val="ctr"/>
        <c:lblOffset val="100"/>
        <c:noMultiLvlLbl val="0"/>
      </c:catAx>
      <c:valAx>
        <c:axId val="2321632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21616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2279424"/>
        <c:axId val="232330368"/>
        <c:axId val="0"/>
      </c:bar3DChart>
      <c:catAx>
        <c:axId val="232279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2330368"/>
        <c:crosses val="autoZero"/>
        <c:auto val="1"/>
        <c:lblAlgn val="ctr"/>
        <c:lblOffset val="100"/>
        <c:noMultiLvlLbl val="0"/>
      </c:catAx>
      <c:valAx>
        <c:axId val="23233036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227942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7/17/2019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20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38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7/17/2019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2019/7/17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181429" y="345893"/>
            <a:ext cx="8686800" cy="584775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066800"/>
          </a:xfrm>
          <a:solidFill>
            <a:schemeClr val="accent5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Background History of C-J Model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5770179"/>
          </a:xfrm>
          <a:solidFill>
            <a:schemeClr val="accent5">
              <a:lumMod val="5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1985.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   model activities started effectively.</a:t>
            </a:r>
          </a:p>
          <a:p>
            <a:pPr marL="0" indent="0">
              <a:buNone/>
            </a:pPr>
            <a:r>
              <a:rPr lang="en-GB" sz="2800" dirty="0"/>
              <a:t> </a:t>
            </a:r>
            <a:r>
              <a:rPr lang="en-GB" sz="2800" dirty="0" smtClean="0"/>
              <a:t>    In June 2008 ,MOH&amp;FW declared the Chowgacha            UHC as Model UHC 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 &amp; 5 Upazilla UHC.</a:t>
            </a:r>
          </a:p>
          <a:p>
            <a:r>
              <a:rPr lang="en-GB" sz="2800" dirty="0" smtClean="0"/>
              <a:t> Replicating  by the order of PM office, ADG(Admin) is  the Chairperson </a:t>
            </a:r>
            <a:r>
              <a:rPr lang="en-GB" sz="2800" dirty="0"/>
              <a:t> </a:t>
            </a:r>
            <a:r>
              <a:rPr lang="en-GB" sz="2800" dirty="0" smtClean="0"/>
              <a:t>for replication.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3319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34130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নড়াইলের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লোহাগড়া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উপজেলায়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ইউনিয়নওয়ারী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জরীপে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জনসম্পদের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তথ্য</a:t>
            </a:r>
            <a:endParaRPr lang="en-GB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880" y="-550121"/>
            <a:ext cx="5596041" cy="937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643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07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1905000"/>
            <a:ext cx="3124200" cy="1409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029200"/>
            <a:ext cx="32004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</a:t>
            </a:r>
            <a:r>
              <a:rPr lang="en-US" sz="1600" b="1" dirty="0" smtClean="0"/>
              <a:t>,&amp; </a:t>
            </a:r>
            <a:r>
              <a:rPr lang="en-US" sz="1600" b="1" dirty="0"/>
              <a:t>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8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0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Leadership (group / single) in health management.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Goal oriented activities &amp; community engagement.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Optimum </a:t>
            </a:r>
            <a:r>
              <a:rPr lang="en-GB" sz="2800" dirty="0"/>
              <a:t>use of government </a:t>
            </a:r>
            <a:r>
              <a:rPr lang="en-GB" sz="2800" dirty="0" smtClean="0"/>
              <a:t>resources.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Implement all the component of primary health care .</a:t>
            </a:r>
          </a:p>
          <a:p>
            <a:endParaRPr lang="en-GB" sz="2800" dirty="0" smtClean="0"/>
          </a:p>
          <a:p>
            <a:r>
              <a:rPr lang="en-GB" sz="2800" dirty="0"/>
              <a:t> </a:t>
            </a:r>
            <a:r>
              <a:rPr lang="en-GB" sz="2800" dirty="0" smtClean="0"/>
              <a:t>5. Ensuring corner-based health care.</a:t>
            </a:r>
          </a:p>
          <a:p>
            <a:endParaRPr lang="en-GB" sz="2800" dirty="0" smtClean="0"/>
          </a:p>
          <a:p>
            <a:r>
              <a:rPr lang="en-GB" sz="2800" dirty="0" smtClean="0"/>
              <a:t>6   Improve maternal &amp; child health.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3600" dirty="0">
                <a:solidFill>
                  <a:schemeClr val="bg1"/>
                </a:solidFill>
              </a:rPr>
              <a:t>Characteristics of C-J Health Management Model</a:t>
            </a:r>
            <a:endParaRPr lang="en-US" sz="3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86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943" y="965200"/>
            <a:ext cx="87630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GB" sz="2700" dirty="0" smtClean="0"/>
          </a:p>
          <a:p>
            <a:pPr algn="just"/>
            <a:r>
              <a:rPr lang="en-GB" sz="2700" dirty="0" smtClean="0"/>
              <a:t>7.Cleanliness  and beautification of the facility 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algn="just"/>
            <a:r>
              <a:rPr lang="en-GB" sz="2700" dirty="0"/>
              <a:t>8</a:t>
            </a:r>
            <a:r>
              <a:rPr lang="en-GB" sz="2700" dirty="0" smtClean="0"/>
              <a:t>. Birth </a:t>
            </a:r>
            <a:r>
              <a:rPr lang="en-GB" sz="2700" dirty="0"/>
              <a:t>and death recording for progress </a:t>
            </a:r>
            <a:r>
              <a:rPr lang="en-GB" sz="2700" dirty="0" smtClean="0"/>
              <a:t>assessment</a:t>
            </a:r>
          </a:p>
          <a:p>
            <a:pPr algn="just"/>
            <a:endParaRPr lang="en-GB" sz="2700" dirty="0"/>
          </a:p>
          <a:p>
            <a:pPr algn="just"/>
            <a:r>
              <a:rPr lang="en-GB" sz="2700" dirty="0"/>
              <a:t>9</a:t>
            </a:r>
            <a:r>
              <a:rPr lang="en-GB" sz="2700" dirty="0" smtClean="0"/>
              <a:t>.Provision of safe blood transfusion.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algn="just"/>
            <a:r>
              <a:rPr lang="en-GB" sz="2700" dirty="0" smtClean="0"/>
              <a:t>10.Implementation of the 5S KAIZEN-TQM</a:t>
            </a:r>
          </a:p>
          <a:p>
            <a:pPr algn="just"/>
            <a:endParaRPr lang="en-GB" sz="2700" dirty="0"/>
          </a:p>
          <a:p>
            <a:pPr algn="just"/>
            <a:r>
              <a:rPr lang="en-GB" sz="2700" dirty="0" smtClean="0"/>
              <a:t>11. Improved financial management .</a:t>
            </a:r>
          </a:p>
          <a:p>
            <a:pPr marL="342900" indent="-342900" algn="just">
              <a:buFont typeface="+mj-lt"/>
              <a:buAutoNum type="arabicPeriod" startAt="11"/>
            </a:pPr>
            <a:endParaRPr lang="en-GB" sz="2700" dirty="0" smtClean="0"/>
          </a:p>
          <a:p>
            <a:pPr algn="just"/>
            <a:r>
              <a:rPr lang="en-GB" sz="2700" dirty="0" smtClean="0"/>
              <a:t>12.Both the institutions awarded many times</a:t>
            </a:r>
          </a:p>
          <a:p>
            <a:pPr algn="just"/>
            <a:endParaRPr lang="en-GB" sz="27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06829" y="0"/>
            <a:ext cx="8458200" cy="10414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sz="3600" dirty="0">
                <a:solidFill>
                  <a:schemeClr val="bg1"/>
                </a:solidFill>
              </a:rPr>
              <a:t>Characteristics of C-J </a:t>
            </a:r>
            <a:r>
              <a:rPr lang="en-GB" sz="3600" dirty="0" smtClean="0">
                <a:solidFill>
                  <a:schemeClr val="bg1"/>
                </a:solidFill>
              </a:rPr>
              <a:t>Health </a:t>
            </a:r>
            <a:r>
              <a:rPr lang="en-GB" sz="3600" dirty="0">
                <a:solidFill>
                  <a:schemeClr val="bg1"/>
                </a:solidFill>
              </a:rPr>
              <a:t>Management </a:t>
            </a:r>
            <a:r>
              <a:rPr lang="en-GB" sz="3600" dirty="0" smtClean="0">
                <a:solidFill>
                  <a:schemeClr val="bg1"/>
                </a:solidFill>
              </a:rPr>
              <a:t>Model</a:t>
            </a:r>
            <a:endParaRPr lang="en-US" sz="36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8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4991099" y="938149"/>
            <a:ext cx="4005940" cy="13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3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3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948002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543300"/>
            <a:ext cx="471409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21772" y="4127500"/>
            <a:ext cx="444137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sz="2300" dirty="0">
                <a:latin typeface="Calibri" pitchFamily="34" charset="0"/>
              </a:rPr>
              <a:t>A seminar held on basic information system </a:t>
            </a:r>
            <a:r>
              <a:rPr lang="en-US" sz="2300" dirty="0" smtClean="0">
                <a:latin typeface="Calibri" pitchFamily="34" charset="0"/>
              </a:rPr>
              <a:t>at </a:t>
            </a:r>
            <a:r>
              <a:rPr lang="en-US" sz="2300" dirty="0">
                <a:latin typeface="Calibri" pitchFamily="34" charset="0"/>
              </a:rPr>
              <a:t>Chowgacha </a:t>
            </a:r>
            <a:r>
              <a:rPr lang="en-US" sz="2300" dirty="0" smtClean="0">
                <a:latin typeface="Calibri" pitchFamily="34" charset="0"/>
              </a:rPr>
              <a:t>Degree </a:t>
            </a:r>
            <a:r>
              <a:rPr lang="en-US" sz="2300" dirty="0">
                <a:latin typeface="Calibri" pitchFamily="34" charset="0"/>
              </a:rPr>
              <a:t>College </a:t>
            </a:r>
            <a:r>
              <a:rPr lang="en-US" sz="2300" dirty="0" smtClean="0">
                <a:latin typeface="Calibri" pitchFamily="34" charset="0"/>
              </a:rPr>
              <a:t>in </a:t>
            </a:r>
            <a:r>
              <a:rPr lang="en-US" sz="2300" dirty="0">
                <a:latin typeface="Calibri" pitchFamily="34" charset="0"/>
              </a:rPr>
              <a:t>June, 1997. DC </a:t>
            </a:r>
            <a:r>
              <a:rPr lang="en-US" sz="2300" dirty="0" err="1">
                <a:latin typeface="Calibri" pitchFamily="34" charset="0"/>
              </a:rPr>
              <a:t>Jessore</a:t>
            </a:r>
            <a:r>
              <a:rPr lang="en-US" sz="2300" dirty="0">
                <a:latin typeface="Calibri" pitchFamily="34" charset="0"/>
              </a:rPr>
              <a:t> was the chief </a:t>
            </a:r>
            <a:r>
              <a:rPr lang="en-US" sz="2300" dirty="0" smtClean="0">
                <a:latin typeface="Calibri" pitchFamily="34" charset="0"/>
              </a:rPr>
              <a:t>guest . </a:t>
            </a:r>
            <a:endParaRPr lang="en-GB" sz="23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31236" y="649225"/>
            <a:ext cx="4570198" cy="336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14000"/>
            <a:ext cx="4572000" cy="3343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Health Education Session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25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13359016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2651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13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07836"/>
              </p:ext>
            </p:extLst>
          </p:nvPr>
        </p:nvGraphicFramePr>
        <p:xfrm>
          <a:off x="761999" y="1181681"/>
          <a:ext cx="8001003" cy="55826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-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93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5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208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171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</a:t>
                      </a:r>
                      <a:r>
                        <a:rPr lang="en-GB" sz="1600" dirty="0" smtClean="0">
                          <a:effectLst/>
                        </a:rPr>
                        <a:t>)%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817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59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2861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132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7292</a:t>
                      </a:r>
                      <a:r>
                        <a:rPr lang="en-GB" sz="1800" b="1">
                          <a:effectLst/>
                        </a:rPr>
                        <a:t>) 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170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8935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130 (6632)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99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 smtClean="0">
                          <a:effectLst/>
                        </a:rPr>
                        <a:t>4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422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38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1</a:t>
                      </a:r>
                      <a:r>
                        <a:rPr lang="en-GB" sz="1800" b="1">
                          <a:effectLst/>
                        </a:rPr>
                        <a:t>    (</a:t>
                      </a:r>
                      <a:r>
                        <a:rPr lang="bn-IN" sz="1800" b="1">
                          <a:effectLst/>
                        </a:rPr>
                        <a:t>1899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4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4413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66 (</a:t>
                      </a:r>
                      <a:r>
                        <a:rPr lang="bn-IN" sz="1800" b="1">
                          <a:effectLst/>
                        </a:rPr>
                        <a:t>2932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-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02</a:t>
                      </a:r>
                      <a:r>
                        <a:rPr lang="en-GB" sz="1800" b="1" dirty="0">
                          <a:effectLst/>
                        </a:rPr>
                        <a:t>  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1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0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07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 smtClean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effectLst/>
                        </a:rPr>
                        <a:t> </a:t>
                      </a:r>
                      <a:r>
                        <a:rPr lang="en-GB" sz="1800" b="1" dirty="0">
                          <a:effectLst/>
                        </a:rPr>
                        <a:t>(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r>
                        <a:rPr lang="en-GB" sz="1800" b="1" dirty="0">
                          <a:effectLst/>
                        </a:rPr>
                        <a:t>)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r>
                        <a:rPr lang="en-GB" sz="1800" b="1">
                          <a:effectLst/>
                        </a:rPr>
                        <a:t>  (</a:t>
                      </a:r>
                      <a:r>
                        <a:rPr lang="bn-IN" sz="1800" b="1">
                          <a:effectLst/>
                        </a:rPr>
                        <a:t>473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22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r>
                        <a:rPr lang="en-GB" sz="1800" b="1">
                          <a:effectLst/>
                        </a:rPr>
                        <a:t> (</a:t>
                      </a:r>
                      <a:r>
                        <a:rPr lang="bn-IN" sz="1800" b="1">
                          <a:effectLst/>
                        </a:rPr>
                        <a:t>1107</a:t>
                      </a:r>
                      <a:r>
                        <a:rPr lang="en-GB" sz="1800" b="1">
                          <a:effectLst/>
                        </a:rPr>
                        <a:t>)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17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599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300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168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160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91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42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47</a:t>
                      </a:r>
                      <a:r>
                        <a:rPr lang="en-GB" sz="1800" b="1" dirty="0">
                          <a:effectLst/>
                        </a:rPr>
                        <a:t>  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21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18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16.6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</a:t>
                      </a:r>
                      <a:r>
                        <a:rPr lang="en-GB" sz="1600" dirty="0" smtClean="0">
                          <a:effectLst/>
                        </a:rPr>
                        <a:t>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65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58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36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29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2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23</a:t>
                      </a:r>
                      <a:r>
                        <a:rPr lang="en-GB" sz="1800" b="1">
                          <a:effectLst/>
                        </a:rPr>
                        <a:t>.</a:t>
                      </a:r>
                      <a:r>
                        <a:rPr lang="bn-IN" sz="1800" b="1">
                          <a:effectLst/>
                        </a:rPr>
                        <a:t>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effectLst/>
                        </a:rPr>
                        <a:t>18.6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6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births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>
                          <a:effectLst/>
                        </a:rPr>
                        <a:t>78</a:t>
                      </a:r>
                      <a:endParaRPr lang="en-GB" sz="1800" b="1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67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44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33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3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b="1" dirty="0">
                          <a:effectLst/>
                        </a:rPr>
                        <a:t>25</a:t>
                      </a:r>
                      <a:r>
                        <a:rPr lang="en-GB" sz="1800" b="1" dirty="0">
                          <a:effectLst/>
                        </a:rPr>
                        <a:t>.</a:t>
                      </a:r>
                      <a:r>
                        <a:rPr lang="bn-IN" sz="1800" b="1" dirty="0">
                          <a:effectLst/>
                        </a:rPr>
                        <a:t>7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</a:rPr>
                        <a:t>21.1</a:t>
                      </a:r>
                      <a:endParaRPr lang="en-GB" sz="1800" b="1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33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solidFill>
            <a:schemeClr val="accent5">
              <a:lumMod val="5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800" dirty="0" smtClean="0"/>
          </a:p>
          <a:p>
            <a:pPr marL="857250" lvl="2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800" dirty="0" smtClean="0">
                <a:solidFill>
                  <a:schemeClr val="bg1"/>
                </a:solidFill>
              </a:rPr>
              <a:t>Chowgacha </a:t>
            </a:r>
            <a:r>
              <a:rPr lang="en-US" sz="2800" dirty="0">
                <a:solidFill>
                  <a:schemeClr val="bg1"/>
                </a:solidFill>
              </a:rPr>
              <a:t>UHC declared as the model </a:t>
            </a:r>
            <a:r>
              <a:rPr lang="en-US" sz="2800" dirty="0" err="1">
                <a:solidFill>
                  <a:schemeClr val="bg1"/>
                </a:solidFill>
              </a:rPr>
              <a:t>upazilla</a:t>
            </a:r>
            <a:r>
              <a:rPr lang="en-US" sz="2800" dirty="0">
                <a:solidFill>
                  <a:schemeClr val="bg1"/>
                </a:solidFill>
              </a:rPr>
              <a:t> health complex in 2008.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Chowgacha </a:t>
            </a:r>
            <a:r>
              <a:rPr lang="en-US" dirty="0">
                <a:solidFill>
                  <a:schemeClr val="bg1"/>
                </a:solidFill>
              </a:rPr>
              <a:t>UHC achieved </a:t>
            </a:r>
            <a:r>
              <a:rPr lang="en-US" dirty="0" smtClean="0">
                <a:solidFill>
                  <a:schemeClr val="bg1"/>
                </a:solidFill>
              </a:rPr>
              <a:t>MDG target in 2009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Awarded for best performance in EOC form 2005 to 2014 and 2017,2018.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Achieve Health ministers Award for its best performances in 2016 to </a:t>
            </a:r>
            <a:r>
              <a:rPr lang="en-US" smtClean="0">
                <a:solidFill>
                  <a:schemeClr val="bg1"/>
                </a:solidFill>
              </a:rPr>
              <a:t>2018.</a:t>
            </a: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marL="857250" lvl="1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chemeClr val="bg1"/>
                </a:solidFill>
              </a:rPr>
              <a:t>The govt. taken the initiative to upgrade to 100 bedded in 2018.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16435" y="246050"/>
            <a:ext cx="3974565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448" y="2567733"/>
            <a:ext cx="4579724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6334" y="247947"/>
            <a:ext cx="5330837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="" xmlns:a16="http://schemas.microsoft.com/office/drawing/2014/main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522515" y="5431284"/>
            <a:ext cx="383493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95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2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/>
              <a:t>Challenges of the hospital in 2012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solidFill>
            <a:schemeClr val="accent5">
              <a:lumMod val="5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0" indent="0">
              <a:buNone/>
              <a:defRPr/>
            </a:pPr>
            <a:endParaRPr lang="en-US" sz="20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bg1"/>
                </a:solidFill>
              </a:rPr>
              <a:t>Insecured</a:t>
            </a:r>
            <a:r>
              <a:rPr lang="en-US" dirty="0">
                <a:solidFill>
                  <a:schemeClr val="bg1"/>
                </a:solidFill>
              </a:rPr>
              <a:t>  hospital </a:t>
            </a:r>
            <a:r>
              <a:rPr lang="en-US" dirty="0" smtClean="0">
                <a:solidFill>
                  <a:schemeClr val="bg1"/>
                </a:solidFill>
              </a:rPr>
              <a:t>environment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Performance of all activities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was very </a:t>
            </a:r>
            <a:r>
              <a:rPr lang="en-US" dirty="0" smtClean="0">
                <a:solidFill>
                  <a:schemeClr val="bg1"/>
                </a:solidFill>
              </a:rPr>
              <a:t>low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Very limited support </a:t>
            </a:r>
            <a:r>
              <a:rPr lang="en-US" dirty="0" smtClean="0">
                <a:solidFill>
                  <a:schemeClr val="bg1"/>
                </a:solidFill>
              </a:rPr>
              <a:t>staff 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Receiving money from the patients by </a:t>
            </a:r>
            <a:r>
              <a:rPr lang="en-US" dirty="0" smtClean="0">
                <a:solidFill>
                  <a:schemeClr val="bg1"/>
                </a:solidFill>
              </a:rPr>
              <a:t>non-govt. staff</a:t>
            </a: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Waste management system was </a:t>
            </a:r>
            <a:r>
              <a:rPr lang="en-US" dirty="0" smtClean="0">
                <a:solidFill>
                  <a:schemeClr val="bg1"/>
                </a:solidFill>
              </a:rPr>
              <a:t>poor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Monitoring  meeting was not performed </a:t>
            </a:r>
            <a:r>
              <a:rPr lang="en-US" dirty="0" smtClean="0">
                <a:solidFill>
                  <a:schemeClr val="bg1"/>
                </a:solidFill>
              </a:rPr>
              <a:t>regularly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5896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646085"/>
              </p:ext>
            </p:extLst>
          </p:nvPr>
        </p:nvGraphicFramePr>
        <p:xfrm>
          <a:off x="116329" y="1752600"/>
          <a:ext cx="8823564" cy="436297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02806"/>
                <a:gridCol w="1743870"/>
                <a:gridCol w="1500688"/>
                <a:gridCol w="1303202"/>
                <a:gridCol w="1238042"/>
                <a:gridCol w="1217478"/>
                <a:gridCol w="1217478"/>
              </a:tblGrid>
              <a:tr h="9288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Beds per 10000 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Out of pocket expenditure %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47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11.08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14.79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36.67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38.43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65.06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-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60.41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4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66.40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4198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67.00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143" y="472391"/>
            <a:ext cx="8820150" cy="9906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9906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1771" y="914400"/>
            <a:ext cx="9144000" cy="5924550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45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Human resource 56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Cleaner 21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Ayah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&amp; ward boy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22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7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3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Trolley man 3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Paurasava supports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Cleanliness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Renovation of pediatric word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biochemistry analyzer</a:t>
            </a: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400" dirty="0" smtClean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Others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generator </a:t>
            </a:r>
          </a:p>
          <a:p>
            <a:pPr marL="1109662" lvl="1" indent="-457200" algn="just">
              <a:buFont typeface="Arial" pitchFamily="34" charset="0"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An inter-com</a:t>
            </a:r>
            <a:endParaRPr lang="en-US" sz="24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</a:t>
            </a:r>
            <a:r>
              <a:rPr lang="en-US" sz="28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in Jhenaidah </a:t>
            </a:r>
            <a:r>
              <a:rPr lang="en-US" sz="2800" b="1" dirty="0">
                <a:solidFill>
                  <a:prstClr val="white"/>
                </a:solidFill>
                <a:latin typeface="Arial" charset="0"/>
                <a:cs typeface="Arial" charset="0"/>
              </a:rPr>
              <a:t>Sadar Hospital</a:t>
            </a:r>
          </a:p>
        </p:txBody>
      </p:sp>
    </p:spTree>
    <p:extLst>
      <p:ext uri="{BB962C8B-B14F-4D97-AF65-F5344CB8AC3E}">
        <p14:creationId xmlns:p14="http://schemas.microsoft.com/office/powerpoint/2010/main" val="420941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304800"/>
            <a:ext cx="4038600" cy="3028950"/>
          </a:xfrm>
        </p:spPr>
      </p:pic>
      <p:pic>
        <p:nvPicPr>
          <p:cNvPr id="7987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367088"/>
            <a:ext cx="4160838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4381500" y="914400"/>
            <a:ext cx="42751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/>
              <a:t>Deputy Commissioner (DC), Jhenaidah visited the Sadar Hospital to observe the Hospital activities. </a:t>
            </a:r>
          </a:p>
        </p:txBody>
      </p:sp>
      <p:sp>
        <p:nvSpPr>
          <p:cNvPr id="79877" name="Rectangle 6"/>
          <p:cNvSpPr>
            <a:spLocks noChangeArrowheads="1"/>
          </p:cNvSpPr>
          <p:nvPr/>
        </p:nvSpPr>
        <p:spPr bwMode="auto">
          <a:xfrm>
            <a:off x="228600" y="4500563"/>
            <a:ext cx="40386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sz="2000"/>
              <a:t>Superintendent of Police (SP), Jhenaidah visited the Sadar Hospital to observe the Hospital activities and to ensure security of the hospital. </a:t>
            </a:r>
          </a:p>
          <a:p>
            <a:pPr algn="just" eaLnBrk="0" hangingPunct="0"/>
            <a:r>
              <a:rPr lang="en-US"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197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720242"/>
            <a:ext cx="3886200" cy="285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562600" y="1893888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3675055"/>
            <a:ext cx="4444999" cy="3186574"/>
          </a:xfr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1" y="4771180"/>
            <a:ext cx="190500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Big Cleaning Day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4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886" y="457200"/>
            <a:ext cx="4686299" cy="3124200"/>
          </a:xfrm>
          <a:noFill/>
        </p:spPr>
      </p:pic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1126783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Meting of community support group committee</a:t>
            </a:r>
            <a:endParaRPr lang="en-US" dirty="0"/>
          </a:p>
        </p:txBody>
      </p:sp>
      <p:pic>
        <p:nvPicPr>
          <p:cNvPr id="5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2771" y="3810000"/>
            <a:ext cx="4535145" cy="2990850"/>
          </a:xfr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90600" y="48006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/>
              <a:t>Monthly meeting schedule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4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2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 in official file arrangement</a:t>
            </a:r>
            <a:endParaRPr lang="en-US" sz="2000" b="1" dirty="0" smtClean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3834746"/>
            <a:ext cx="4114800" cy="2823882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</p:spTree>
    <p:extLst>
      <p:ext uri="{BB962C8B-B14F-4D97-AF65-F5344CB8AC3E}">
        <p14:creationId xmlns:p14="http://schemas.microsoft.com/office/powerpoint/2010/main" val="3189112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999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-1"/>
            <a:ext cx="9140825" cy="55083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Changes in pediatric ward  and waste management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8" descr="DSC0240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4114800" cy="283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0825" cy="6096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+mj-ea"/>
                <a:cs typeface="+mj-cs"/>
              </a:rPr>
              <a:t>Improved security and recovery of valuable land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53000" y="173218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 smtClean="0"/>
              <a:t>Campus protection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554624"/>
            <a:ext cx="4771642" cy="311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741002"/>
            <a:ext cx="445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/>
              <a:t>Recovered Valuable land after 50 </a:t>
            </a:r>
            <a:r>
              <a:rPr lang="en-GB" b="1" dirty="0" smtClean="0"/>
              <a:t>years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237253613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838917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60605757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66721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398706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5180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02" y="828448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829258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872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228600"/>
            <a:ext cx="8939284" cy="1143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Jhenaidah </a:t>
            </a:r>
            <a:r>
              <a:rPr lang="en-US" altLang="ja-JP" sz="36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8939284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20 district hospital &amp; 40 </a:t>
            </a:r>
            <a:r>
              <a:rPr lang="en-US" sz="2000" b="1" dirty="0"/>
              <a:t>U</a:t>
            </a:r>
            <a:r>
              <a:rPr lang="en-US" sz="2000" b="1" dirty="0" smtClean="0"/>
              <a:t>pazilla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191064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0847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/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Lessons learned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91141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Public health and hospital services and resources are inadequate vis-à-vis the need specially for the poor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This gap can be minimized through local participation.</a:t>
            </a:r>
          </a:p>
          <a:p>
            <a:pPr marL="514350" indent="-514350" algn="just" eaLnBrk="0" hangingPunct="0">
              <a:buFontTx/>
              <a:buAutoNum type="arabicPeriod"/>
            </a:pPr>
            <a:endParaRPr lang="en-US" sz="20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Effective health service and hospital management require local support and participation.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Health personnel, specially the local health manager should take the role of catalyst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Local support can be attracted through improved services, and visible efforts and morality of the health managers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MOHFW can take initiative to roll out the model and the message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/>
              <a:t>Jhenaidah-Chowgacha team will happy to volunteer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/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/>
          </a:p>
          <a:p>
            <a:pPr marL="514350" indent="-514350" algn="just" eaLnBrk="0" hangingPunct="0">
              <a:buFontTx/>
              <a:buAutoNum type="arabicPeriod"/>
            </a:pP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64989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59158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9144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sz="4000" b="1" dirty="0" smtClean="0"/>
              <a:t>Community support in </a:t>
            </a:r>
            <a:r>
              <a:rPr lang="en-GB" sz="4000" b="1" dirty="0" err="1" smtClean="0"/>
              <a:t>Chowgacha</a:t>
            </a:r>
            <a:r>
              <a:rPr lang="en-GB" sz="4000" b="1" dirty="0" smtClean="0"/>
              <a:t> UHC</a:t>
            </a:r>
            <a:endParaRPr lang="en-GB" sz="4000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20486" y="1066800"/>
            <a:ext cx="8016875" cy="5632311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Human resource  46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V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olunteer 26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Cleaner&amp;guard16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 4</a:t>
            </a:r>
          </a:p>
          <a:p>
            <a:pPr marL="914400" lvl="2" indent="0"/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 mobile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phone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Dustbins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reception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center 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Tiles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around  the pillars of outdoor </a:t>
            </a:r>
            <a:endParaRPr lang="en-US" sz="2400" dirty="0" smtClean="0">
              <a:solidFill>
                <a:schemeClr val="bg1"/>
              </a:solidFill>
              <a:latin typeface="Baskerville Old Face" pitchFamily="18" charset="0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Beautification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road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Others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ANC, PNC, Growth Monitoring card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Drugs for </a:t>
            </a:r>
            <a:r>
              <a:rPr lang="en-US" sz="2400" dirty="0" err="1">
                <a:solidFill>
                  <a:schemeClr val="bg1"/>
                </a:solidFill>
                <a:latin typeface="Baskerville Old Face" pitchFamily="18" charset="0"/>
              </a:rPr>
              <a:t>Arsenicosis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 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Baskerville Old Face" pitchFamily="18" charset="0"/>
              </a:rPr>
              <a:t>Tyars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</a:rPr>
              <a:t>of </a:t>
            </a: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Ambulance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itchFamily="18" charset="0"/>
              </a:rPr>
              <a:t>Protocol board</a:t>
            </a:r>
            <a:endParaRPr lang="en-US" sz="2400" dirty="0">
              <a:solidFill>
                <a:schemeClr val="bg1"/>
              </a:solidFill>
              <a:latin typeface="Baskerville Old Face" pitchFamily="18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811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15928</TotalTime>
  <Words>1163</Words>
  <Application>Microsoft Office PowerPoint</Application>
  <PresentationFormat>On-screen Show (4:3)</PresentationFormat>
  <Paragraphs>355</Paragraphs>
  <Slides>38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Office Theme</vt:lpstr>
      <vt:lpstr>Chart</vt:lpstr>
      <vt:lpstr>PowerPoint Presentation</vt:lpstr>
      <vt:lpstr>Background History of C-J Model</vt:lpstr>
      <vt:lpstr>PowerPoint Presentation</vt:lpstr>
      <vt:lpstr>নড়াইলের লোহাগড়া উপজেলায় ইউনিয়নওয়ারী জরীপে জনসম্পদের তথ্য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Health Education Session</vt:lpstr>
      <vt:lpstr>Community supported volunteer working in ANC corner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Achievement of Chowgacha Health Complex</vt:lpstr>
      <vt:lpstr>দৈনিক প্রথম-আলোর প্রতিবেদন ১৪ অক্টোবর, ২০০৫</vt:lpstr>
      <vt:lpstr>100 kh¨v wewkó m`i nvmcvZvj, wSbvB`n</vt:lpstr>
      <vt:lpstr>Challenges of the hospital in 2012</vt:lpstr>
      <vt:lpstr>PowerPoint Presentation</vt:lpstr>
      <vt:lpstr>PowerPoint Presentation</vt:lpstr>
      <vt:lpstr>PowerPoint Presentation</vt:lpstr>
      <vt:lpstr>Innovative activities of Jhenaidah Sadar Hospital Page: 1</vt:lpstr>
      <vt:lpstr>Internal Monitoring System</vt:lpstr>
      <vt:lpstr>Use of color code in official file arrangement</vt:lpstr>
      <vt:lpstr>Changes in EOC Ward</vt:lpstr>
      <vt:lpstr>PowerPoint Presentation</vt:lpstr>
      <vt:lpstr>PowerPoint Presentation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Community support in Chowgacha UHC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821</cp:revision>
  <cp:lastPrinted>2017-03-18T23:47:54Z</cp:lastPrinted>
  <dcterms:created xsi:type="dcterms:W3CDTF">2013-05-05T09:56:19Z</dcterms:created>
  <dcterms:modified xsi:type="dcterms:W3CDTF">2019-07-17T07:27:35Z</dcterms:modified>
</cp:coreProperties>
</file>