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2"/>
  </p:notesMasterIdLst>
  <p:sldIdLst>
    <p:sldId id="331" r:id="rId2"/>
    <p:sldId id="430" r:id="rId3"/>
    <p:sldId id="431" r:id="rId4"/>
    <p:sldId id="332" r:id="rId5"/>
    <p:sldId id="432" r:id="rId6"/>
    <p:sldId id="341" r:id="rId7"/>
    <p:sldId id="433" r:id="rId8"/>
    <p:sldId id="434" r:id="rId9"/>
    <p:sldId id="343" r:id="rId10"/>
    <p:sldId id="256" r:id="rId11"/>
    <p:sldId id="403" r:id="rId12"/>
    <p:sldId id="326" r:id="rId13"/>
    <p:sldId id="327" r:id="rId14"/>
    <p:sldId id="429" r:id="rId15"/>
    <p:sldId id="351" r:id="rId16"/>
    <p:sldId id="402" r:id="rId17"/>
    <p:sldId id="421" r:id="rId18"/>
    <p:sldId id="291" r:id="rId19"/>
    <p:sldId id="323" r:id="rId20"/>
    <p:sldId id="412" r:id="rId21"/>
    <p:sldId id="293" r:id="rId22"/>
    <p:sldId id="330" r:id="rId23"/>
    <p:sldId id="419" r:id="rId24"/>
    <p:sldId id="413" r:id="rId25"/>
    <p:sldId id="422" r:id="rId26"/>
    <p:sldId id="423" r:id="rId27"/>
    <p:sldId id="424" r:id="rId28"/>
    <p:sldId id="425" r:id="rId29"/>
    <p:sldId id="427" r:id="rId30"/>
    <p:sldId id="428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66" d="100"/>
          <a:sy n="66" d="100"/>
        </p:scale>
        <p:origin x="-1734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252672"/>
        <c:axId val="182254208"/>
      </c:barChart>
      <c:catAx>
        <c:axId val="182252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2254208"/>
        <c:crosses val="autoZero"/>
        <c:auto val="1"/>
        <c:lblAlgn val="ctr"/>
        <c:lblOffset val="100"/>
        <c:noMultiLvlLbl val="0"/>
      </c:catAx>
      <c:valAx>
        <c:axId val="1822542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822526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232576"/>
        <c:axId val="182234112"/>
      </c:barChart>
      <c:catAx>
        <c:axId val="182232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2234112"/>
        <c:crosses val="autoZero"/>
        <c:auto val="1"/>
        <c:lblAlgn val="ctr"/>
        <c:lblOffset val="100"/>
        <c:noMultiLvlLbl val="0"/>
      </c:catAx>
      <c:valAx>
        <c:axId val="1822341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22325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82104832"/>
        <c:axId val="182106368"/>
        <c:axId val="0"/>
      </c:bar3DChart>
      <c:catAx>
        <c:axId val="182104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2106368"/>
        <c:crosses val="autoZero"/>
        <c:auto val="1"/>
        <c:lblAlgn val="ctr"/>
        <c:lblOffset val="100"/>
        <c:noMultiLvlLbl val="0"/>
      </c:catAx>
      <c:valAx>
        <c:axId val="18210636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8210483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815360"/>
        <c:axId val="182841728"/>
      </c:barChart>
      <c:catAx>
        <c:axId val="1828153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2841728"/>
        <c:crosses val="autoZero"/>
        <c:auto val="1"/>
        <c:lblAlgn val="ctr"/>
        <c:lblOffset val="100"/>
        <c:noMultiLvlLbl val="0"/>
      </c:catAx>
      <c:valAx>
        <c:axId val="1828417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828153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Seasarean Section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410240"/>
        <c:axId val="182428416"/>
      </c:barChart>
      <c:catAx>
        <c:axId val="18241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2428416"/>
        <c:crosses val="autoZero"/>
        <c:auto val="1"/>
        <c:lblAlgn val="ctr"/>
        <c:lblOffset val="100"/>
        <c:noMultiLvlLbl val="0"/>
      </c:catAx>
      <c:valAx>
        <c:axId val="1824284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24102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477952"/>
        <c:axId val="182479488"/>
      </c:barChart>
      <c:catAx>
        <c:axId val="182477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2479488"/>
        <c:crosses val="autoZero"/>
        <c:auto val="1"/>
        <c:lblAlgn val="ctr"/>
        <c:lblOffset val="100"/>
        <c:noMultiLvlLbl val="0"/>
      </c:catAx>
      <c:valAx>
        <c:axId val="1824794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247795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504448"/>
        <c:axId val="163611392"/>
      </c:barChart>
      <c:catAx>
        <c:axId val="182504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611392"/>
        <c:crosses val="autoZero"/>
        <c:auto val="1"/>
        <c:lblAlgn val="ctr"/>
        <c:lblOffset val="100"/>
        <c:noMultiLvlLbl val="0"/>
      </c:catAx>
      <c:valAx>
        <c:axId val="1636113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25044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640448"/>
        <c:axId val="163641984"/>
      </c:barChart>
      <c:catAx>
        <c:axId val="163640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641984"/>
        <c:crosses val="autoZero"/>
        <c:auto val="1"/>
        <c:lblAlgn val="ctr"/>
        <c:lblOffset val="100"/>
        <c:noMultiLvlLbl val="0"/>
      </c:catAx>
      <c:valAx>
        <c:axId val="1636419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6404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3/27/2019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3/27/2019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2019/3/27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9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229600" cy="59737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 </a:t>
            </a:r>
            <a:r>
              <a:rPr lang="en-GB" sz="2800" dirty="0"/>
              <a:t>P</a:t>
            </a:r>
            <a:r>
              <a:rPr lang="en-GB" sz="2800" dirty="0" smtClean="0"/>
              <a:t>rogram starts primarily  in Chowgacha UHC in 1986 </a:t>
            </a:r>
          </a:p>
          <a:p>
            <a:r>
              <a:rPr lang="en-GB" sz="2800" dirty="0" smtClean="0"/>
              <a:t>In 1996 effectively   starts the model</a:t>
            </a:r>
          </a:p>
          <a:p>
            <a:r>
              <a:rPr lang="en-GB" sz="2800" dirty="0" smtClean="0"/>
              <a:t>In </a:t>
            </a:r>
            <a:r>
              <a:rPr lang="en-GB" sz="2800" dirty="0"/>
              <a:t>J</a:t>
            </a:r>
            <a:r>
              <a:rPr lang="en-GB" sz="2800" dirty="0" smtClean="0"/>
              <a:t>une 2008 ,MOH&amp;FW declared the Chowgacha                 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10 district hospital.</a:t>
            </a:r>
          </a:p>
          <a:p>
            <a:r>
              <a:rPr lang="en-GB" sz="2800" dirty="0" smtClean="0"/>
              <a:t>In2019 replicating  by the order of PM office in 60  district  &amp; Upazilla hospital by DGHS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7731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38100" y="4876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3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11430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b="1" dirty="0" smtClean="0"/>
              <a:t>Community support in </a:t>
            </a:r>
            <a:r>
              <a:rPr lang="en-GB" b="1" dirty="0" err="1" smtClean="0"/>
              <a:t>Chowgacha</a:t>
            </a:r>
            <a:r>
              <a:rPr lang="en-GB" b="1" dirty="0" smtClean="0"/>
              <a:t> UHC</a:t>
            </a:r>
            <a:endParaRPr lang="en-GB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09600" y="1460310"/>
            <a:ext cx="8016875" cy="5201424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Protocol board donated </a:t>
            </a:r>
            <a:r>
              <a:rPr lang="en-US" dirty="0" smtClean="0">
                <a:latin typeface="Arial Black" pitchFamily="34" charset="0"/>
              </a:rPr>
              <a:t>by D.C </a:t>
            </a:r>
            <a:r>
              <a:rPr lang="en-US" dirty="0" err="1">
                <a:latin typeface="Arial Black" pitchFamily="34" charset="0"/>
              </a:rPr>
              <a:t>Jessore</a:t>
            </a:r>
            <a:r>
              <a:rPr lang="en-US" dirty="0">
                <a:latin typeface="Arial Black" pitchFamily="34" charset="0"/>
              </a:rPr>
              <a:t>. </a:t>
            </a:r>
          </a:p>
          <a:p>
            <a:pPr>
              <a:buFont typeface="Wingdings" pitchFamily="2" charset="2"/>
              <a:buNone/>
            </a:pPr>
            <a:endParaRPr lang="en-US" sz="100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Blood Group reagents 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by Chairman </a:t>
            </a:r>
            <a:r>
              <a:rPr lang="en-US" dirty="0" err="1" smtClean="0">
                <a:latin typeface="Arial Black" pitchFamily="34" charset="0"/>
              </a:rPr>
              <a:t>Chowgacha</a:t>
            </a:r>
            <a:r>
              <a:rPr lang="en-US" dirty="0" smtClean="0">
                <a:latin typeface="Arial Black" pitchFamily="34" charset="0"/>
              </a:rPr>
              <a:t> up  </a:t>
            </a:r>
            <a:r>
              <a:rPr lang="en-US" dirty="0">
                <a:latin typeface="Arial Black" pitchFamily="34" charset="0"/>
              </a:rPr>
              <a:t>at  first </a:t>
            </a:r>
            <a:r>
              <a:rPr lang="en-US" dirty="0" smtClean="0">
                <a:latin typeface="Arial Black" pitchFamily="34" charset="0"/>
              </a:rPr>
              <a:t>in 1996&amp;enlisted 732 donor.  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ANC&amp; growth monitoring card donated by Ad-Din hospital , </a:t>
            </a:r>
            <a:r>
              <a:rPr lang="en-US" dirty="0" smtClean="0">
                <a:latin typeface="Arial Black" pitchFamily="34" charset="0"/>
              </a:rPr>
              <a:t>JICA .  </a:t>
            </a:r>
            <a:r>
              <a:rPr lang="en-US" dirty="0">
                <a:latin typeface="Arial Black" pitchFamily="34" charset="0"/>
              </a:rPr>
              <a:t>One IPS &amp; 2 cleaners donated by Chairman Municipalities. </a:t>
            </a: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</a:t>
            </a:r>
            <a:r>
              <a:rPr lang="en-US" dirty="0" err="1" smtClean="0">
                <a:latin typeface="Arial Black" pitchFamily="34" charset="0"/>
              </a:rPr>
              <a:t>Honourarium</a:t>
            </a:r>
            <a:r>
              <a:rPr lang="en-US" dirty="0" smtClean="0">
                <a:latin typeface="Arial Black" pitchFamily="34" charset="0"/>
              </a:rPr>
              <a:t> of 46 supportive workers(volunteer 26,cleaner&amp;guard16 others 4) donated by the community in 2011. </a:t>
            </a:r>
          </a:p>
          <a:p>
            <a:endParaRPr lang="en-US" sz="1100" dirty="0" smtClean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 Black" pitchFamily="34" charset="0"/>
              </a:rPr>
              <a:t>A mobile phone, Dustbins , 7 manpower, made a reception </a:t>
            </a:r>
            <a:r>
              <a:rPr lang="en-US" dirty="0" err="1" smtClean="0">
                <a:latin typeface="Arial Black" pitchFamily="34" charset="0"/>
              </a:rPr>
              <a:t>centre</a:t>
            </a:r>
            <a:r>
              <a:rPr lang="en-US" dirty="0" smtClean="0">
                <a:latin typeface="Arial Black" pitchFamily="34" charset="0"/>
              </a:rPr>
              <a:t>, tiles around  the pillars of outdoor and beautification of road by  Devine group.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100" dirty="0">
              <a:latin typeface="Arial Black" pitchFamily="34" charset="0"/>
            </a:endParaRPr>
          </a:p>
          <a:p>
            <a:pPr marL="0" lvl="3" indent="0"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Drugs for </a:t>
            </a:r>
            <a:r>
              <a:rPr lang="en-US" dirty="0" err="1" smtClean="0">
                <a:latin typeface="Arial Black" pitchFamily="34" charset="0"/>
              </a:rPr>
              <a:t>Arsenicosis</a:t>
            </a:r>
            <a:r>
              <a:rPr lang="en-US" dirty="0" smtClean="0">
                <a:latin typeface="Arial Black" pitchFamily="34" charset="0"/>
              </a:rPr>
              <a:t> , </a:t>
            </a:r>
            <a:r>
              <a:rPr lang="en-US" dirty="0" err="1">
                <a:latin typeface="Arial Black" pitchFamily="34" charset="0"/>
              </a:rPr>
              <a:t>Tyars</a:t>
            </a:r>
            <a:r>
              <a:rPr lang="en-US" dirty="0">
                <a:latin typeface="Arial Black" pitchFamily="34" charset="0"/>
              </a:rPr>
              <a:t> of </a:t>
            </a:r>
            <a:r>
              <a:rPr lang="en-US" dirty="0" smtClean="0">
                <a:latin typeface="Arial Black" pitchFamily="34" charset="0"/>
              </a:rPr>
              <a:t>Ambulance, ANC card donated by </a:t>
            </a:r>
            <a:r>
              <a:rPr lang="en-US" dirty="0" err="1" smtClean="0">
                <a:latin typeface="Arial Black" pitchFamily="34" charset="0"/>
              </a:rPr>
              <a:t>upazilla</a:t>
            </a:r>
            <a:r>
              <a:rPr lang="en-US" dirty="0" smtClean="0">
                <a:latin typeface="Arial Black" pitchFamily="34" charset="0"/>
              </a:rPr>
              <a:t> parisad. </a:t>
            </a:r>
            <a:endParaRPr lang="en-US" sz="900" dirty="0">
              <a:latin typeface="Arial Black" pitchFamily="34" charset="0"/>
            </a:endParaRPr>
          </a:p>
          <a:p>
            <a:pPr lvl="1">
              <a:buFont typeface="Wingdings" pitchFamily="2" charset="2"/>
              <a:buChar char="v"/>
            </a:pPr>
            <a:endParaRPr lang="en-US" dirty="0">
              <a:latin typeface="Arial Black" pitchFamily="34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36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err="1" smtClean="0"/>
              <a:t>Upazilla</a:t>
            </a:r>
            <a:r>
              <a:rPr lang="en-US" sz="2400" b="1" dirty="0" smtClean="0"/>
              <a:t>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</a:t>
            </a:r>
            <a:r>
              <a:rPr lang="en-US" sz="2400" dirty="0" err="1" smtClean="0"/>
              <a:t>Chowgacha</a:t>
            </a:r>
            <a:r>
              <a:rPr lang="en-US" sz="2400" dirty="0" smtClean="0"/>
              <a:t>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Achieve Health minister s Award for its best performances and also for EOC.in2017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The govt. taken the initiative to upgrade to 100 bedded in 20018.</a:t>
            </a:r>
          </a:p>
        </p:txBody>
      </p:sp>
    </p:spTree>
    <p:extLst>
      <p:ext uri="{BB962C8B-B14F-4D97-AF65-F5344CB8AC3E}">
        <p14:creationId xmlns:p14="http://schemas.microsoft.com/office/powerpoint/2010/main" val="21060257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400" b="1" dirty="0"/>
              <a:t> </a:t>
            </a:r>
            <a:r>
              <a:rPr lang="en-US" sz="2400" b="1" dirty="0" smtClean="0"/>
              <a:t>   </a:t>
            </a:r>
            <a:r>
              <a:rPr lang="en-US" sz="2400" b="1" i="1" dirty="0" smtClean="0"/>
              <a:t>In secured</a:t>
            </a:r>
            <a:r>
              <a:rPr lang="en-US" sz="24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400" dirty="0" smtClean="0"/>
              <a:t>	</a:t>
            </a:r>
            <a:endParaRPr lang="en-US" sz="2400" dirty="0"/>
          </a:p>
          <a:p>
            <a:pPr>
              <a:defRPr/>
            </a:pPr>
            <a:r>
              <a:rPr lang="en-US" sz="24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4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4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400" b="1" dirty="0" smtClean="0"/>
              <a:t>Waste management system was poor.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400" b="1" dirty="0" smtClean="0"/>
              <a:t>Monitoring  </a:t>
            </a:r>
            <a:r>
              <a:rPr lang="en-US" sz="2400" b="1" dirty="0"/>
              <a:t>m</a:t>
            </a:r>
            <a:r>
              <a:rPr lang="en-US" sz="2400" b="1" dirty="0" smtClean="0"/>
              <a:t>eeting was not performed regularly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596285625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596828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551994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497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114543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826404257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016536459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08503"/>
              </p:ext>
            </p:extLst>
          </p:nvPr>
        </p:nvGraphicFramePr>
        <p:xfrm>
          <a:off x="380997" y="759889"/>
          <a:ext cx="8534403" cy="6000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057"/>
                <a:gridCol w="685800"/>
                <a:gridCol w="990600"/>
                <a:gridCol w="838200"/>
                <a:gridCol w="914400"/>
                <a:gridCol w="838200"/>
                <a:gridCol w="914400"/>
                <a:gridCol w="838200"/>
                <a:gridCol w="805546"/>
              </a:tblGrid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400" dirty="0">
                          <a:effectLst/>
                        </a:rPr>
                        <a:t>Subject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2003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Bed Occupancy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ANC (First Visit)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817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24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1228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2861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4484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132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7292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170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8935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 (6632)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50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Hospital Delivery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151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6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4</a:t>
                      </a:r>
                      <a:r>
                        <a:rPr lang="en-GB" sz="1400" dirty="0">
                          <a:effectLst/>
                        </a:rPr>
                        <a:t> (</a:t>
                      </a:r>
                      <a:r>
                        <a:rPr lang="bn-IN" sz="1400" dirty="0">
                          <a:effectLst/>
                        </a:rPr>
                        <a:t>422</a:t>
                      </a:r>
                      <a:r>
                        <a:rPr lang="en-GB" sz="1400" dirty="0">
                          <a:effectLst/>
                        </a:rPr>
                        <a:t>)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661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1899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4413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66 (</a:t>
                      </a:r>
                      <a:r>
                        <a:rPr lang="bn-IN" sz="1400">
                          <a:effectLst/>
                        </a:rPr>
                        <a:t>2932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7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C-Section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02</a:t>
                      </a:r>
                      <a:r>
                        <a:rPr lang="en-GB" sz="1400">
                          <a:effectLst/>
                        </a:rPr>
                        <a:t>      (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07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473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1107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1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Population Increase rate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1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57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84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Maternal Mortality Rate/100,000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114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370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Neonatal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47</a:t>
                      </a:r>
                      <a:r>
                        <a:rPr lang="en-GB" sz="1400">
                          <a:effectLst/>
                        </a:rPr>
                        <a:t> 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23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Infant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18.6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8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Under 5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21.1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69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 birth weight rate(%)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288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636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72225"/>
            <a:ext cx="8382000" cy="35394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16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86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36010"/>
              </p:ext>
            </p:extLst>
          </p:nvPr>
        </p:nvGraphicFramePr>
        <p:xfrm>
          <a:off x="455473" y="1295400"/>
          <a:ext cx="8229599" cy="5138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3269"/>
                <a:gridCol w="2063731"/>
                <a:gridCol w="986131"/>
                <a:gridCol w="1131130"/>
                <a:gridCol w="1131130"/>
                <a:gridCol w="1157104"/>
                <a:gridCol w="1157104"/>
              </a:tblGrid>
              <a:tr h="9715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800" dirty="0">
                          <a:effectLst/>
                        </a:rPr>
                        <a:t>Serial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800">
                          <a:effectLst/>
                        </a:rPr>
                        <a:t>Subjecct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1998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8895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Emergency &amp; Out Door patient number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81795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170854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171070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277301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340932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82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Indoor patients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12973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22435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22951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29562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35569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Bed occupancy rate%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126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146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193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Number of EmOC service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1354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13251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15360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82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Number of deliveries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1106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2375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2379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3034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5098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Operation (Major)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780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977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1582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Revenue income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59765" algn="l"/>
                        </a:tabLs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60</a:t>
                      </a:r>
                      <a:r>
                        <a:rPr lang="en-GB" sz="1200">
                          <a:effectLst/>
                        </a:rPr>
                        <a:t>,</a:t>
                      </a:r>
                      <a:r>
                        <a:rPr lang="bn-IN" sz="1800">
                          <a:effectLst/>
                        </a:rPr>
                        <a:t>44</a:t>
                      </a:r>
                      <a:r>
                        <a:rPr lang="en-GB" sz="1200">
                          <a:effectLst/>
                        </a:rPr>
                        <a:t>,</a:t>
                      </a:r>
                      <a:r>
                        <a:rPr lang="bn-IN" sz="1800">
                          <a:effectLst/>
                        </a:rPr>
                        <a:t>715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70</a:t>
                      </a:r>
                      <a:r>
                        <a:rPr lang="en-GB" sz="1200" dirty="0">
                          <a:effectLst/>
                        </a:rPr>
                        <a:t>,</a:t>
                      </a:r>
                      <a:r>
                        <a:rPr lang="bn-IN" sz="1800" dirty="0">
                          <a:effectLst/>
                        </a:rPr>
                        <a:t>59</a:t>
                      </a:r>
                      <a:r>
                        <a:rPr lang="en-GB" sz="1200" dirty="0">
                          <a:effectLst/>
                        </a:rPr>
                        <a:t>,</a:t>
                      </a:r>
                      <a:r>
                        <a:rPr lang="bn-IN" sz="1800" dirty="0">
                          <a:effectLst/>
                        </a:rPr>
                        <a:t>560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1429" y="228600"/>
            <a:ext cx="8763000" cy="78483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60400" algn="l"/>
              </a:tabLst>
            </a:pP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Table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Vrinda"/>
              </a:rPr>
              <a:t> 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bn-IN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Vrinda"/>
              </a:rPr>
              <a:t>4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Jhenaidah </a:t>
            </a:r>
            <a:r>
              <a:rPr kumimoji="0" lang="en-GB" sz="2400" b="1" i="0" u="none" strike="noStrike" cap="none" normalizeH="0" baseline="0" dirty="0" err="1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Sadar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Hospital- Improvement Evaluation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         (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1998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-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2017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)</a:t>
            </a:r>
            <a:endParaRPr kumimoji="0" lang="en-GB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2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5801</TotalTime>
  <Words>1020</Words>
  <Application>Microsoft Office PowerPoint</Application>
  <PresentationFormat>On-screen Show (4:3)</PresentationFormat>
  <Paragraphs>304</Paragraphs>
  <Slides>30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A Sub-district level  Hospital with a Vision …</vt:lpstr>
      <vt:lpstr>Background History of C-J Model</vt:lpstr>
      <vt:lpstr>PowerPoint Presentation</vt:lpstr>
      <vt:lpstr>PowerPoint Presentation</vt:lpstr>
      <vt:lpstr>PowerPoint Presentation</vt:lpstr>
      <vt:lpstr>Community support in Chowgacha UHC</vt:lpstr>
      <vt:lpstr>Achievement of Chowgacha Health Complex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2018</vt:lpstr>
      <vt:lpstr>  Comparative data of revenue income (in Taka) from 2015 to 2018 </vt:lpstr>
      <vt:lpstr>3 best performing EmOC Hospital in Khulna division - 2018</vt:lpstr>
      <vt:lpstr>PowerPoint Presentation</vt:lpstr>
      <vt:lpstr>Changes in EOC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675</cp:revision>
  <cp:lastPrinted>2017-03-18T23:47:54Z</cp:lastPrinted>
  <dcterms:created xsi:type="dcterms:W3CDTF">2013-05-05T09:56:19Z</dcterms:created>
  <dcterms:modified xsi:type="dcterms:W3CDTF">2019-03-27T03:11:07Z</dcterms:modified>
</cp:coreProperties>
</file>