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4"/>
  </p:notesMasterIdLst>
  <p:sldIdLst>
    <p:sldId id="331" r:id="rId2"/>
    <p:sldId id="436" r:id="rId3"/>
    <p:sldId id="430" r:id="rId4"/>
    <p:sldId id="431" r:id="rId5"/>
    <p:sldId id="432" r:id="rId6"/>
    <p:sldId id="341" r:id="rId7"/>
    <p:sldId id="439" r:id="rId8"/>
    <p:sldId id="433" r:id="rId9"/>
    <p:sldId id="434" r:id="rId10"/>
    <p:sldId id="437" r:id="rId11"/>
    <p:sldId id="438" r:id="rId12"/>
    <p:sldId id="256" r:id="rId13"/>
    <p:sldId id="403" r:id="rId14"/>
    <p:sldId id="326" r:id="rId15"/>
    <p:sldId id="327" r:id="rId16"/>
    <p:sldId id="429" r:id="rId17"/>
    <p:sldId id="351" r:id="rId18"/>
    <p:sldId id="402" r:id="rId19"/>
    <p:sldId id="421" r:id="rId20"/>
    <p:sldId id="291" r:id="rId21"/>
    <p:sldId id="435" r:id="rId22"/>
    <p:sldId id="412" r:id="rId23"/>
    <p:sldId id="293" r:id="rId24"/>
    <p:sldId id="330" r:id="rId25"/>
    <p:sldId id="419" r:id="rId26"/>
    <p:sldId id="413" r:id="rId27"/>
    <p:sldId id="422" r:id="rId28"/>
    <p:sldId id="423" r:id="rId29"/>
    <p:sldId id="424" r:id="rId30"/>
    <p:sldId id="425" r:id="rId31"/>
    <p:sldId id="427" r:id="rId32"/>
    <p:sldId id="428" r:id="rId3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66" d="100"/>
          <a:sy n="66" d="100"/>
        </p:scale>
        <p:origin x="-173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5785472"/>
        <c:axId val="285898624"/>
      </c:barChart>
      <c:catAx>
        <c:axId val="28578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5898624"/>
        <c:crosses val="autoZero"/>
        <c:auto val="1"/>
        <c:lblAlgn val="ctr"/>
        <c:lblOffset val="100"/>
        <c:noMultiLvlLbl val="0"/>
      </c:catAx>
      <c:valAx>
        <c:axId val="28589862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85785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843328"/>
        <c:axId val="251844864"/>
      </c:barChart>
      <c:catAx>
        <c:axId val="251843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1844864"/>
        <c:crosses val="autoZero"/>
        <c:auto val="1"/>
        <c:lblAlgn val="ctr"/>
        <c:lblOffset val="100"/>
        <c:noMultiLvlLbl val="0"/>
      </c:catAx>
      <c:valAx>
        <c:axId val="2518448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184332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52166144"/>
        <c:axId val="252167680"/>
        <c:axId val="0"/>
      </c:bar3DChart>
      <c:catAx>
        <c:axId val="2521661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52167680"/>
        <c:crosses val="autoZero"/>
        <c:auto val="1"/>
        <c:lblAlgn val="ctr"/>
        <c:lblOffset val="100"/>
        <c:noMultiLvlLbl val="0"/>
      </c:catAx>
      <c:valAx>
        <c:axId val="25216768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5216614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14367</c:v>
                </c:pt>
                <c:pt idx="1">
                  <c:v>12871</c:v>
                </c:pt>
                <c:pt idx="2">
                  <c:v>4122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887</c:v>
                </c:pt>
                <c:pt idx="1">
                  <c:v>1573</c:v>
                </c:pt>
                <c:pt idx="2">
                  <c:v>1256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1795</c:v>
                </c:pt>
                <c:pt idx="1">
                  <c:v>1517</c:v>
                </c:pt>
                <c:pt idx="2">
                  <c:v>1518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2690</c:v>
                </c:pt>
                <c:pt idx="1">
                  <c:v>3106</c:v>
                </c:pt>
                <c:pt idx="2">
                  <c:v>2870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5407104"/>
        <c:axId val="285408640"/>
      </c:barChart>
      <c:catAx>
        <c:axId val="28540710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5408640"/>
        <c:crosses val="autoZero"/>
        <c:auto val="1"/>
        <c:lblAlgn val="ctr"/>
        <c:lblOffset val="100"/>
        <c:noMultiLvlLbl val="0"/>
      </c:catAx>
      <c:valAx>
        <c:axId val="285408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854071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 </a:t>
            </a:r>
            <a:r>
              <a:rPr lang="en-US" baseline="0" dirty="0" smtClean="0"/>
              <a:t>– S</a:t>
            </a:r>
            <a:r>
              <a:rPr lang="en-US" dirty="0" smtClean="0"/>
              <a:t>ection in </a:t>
            </a:r>
            <a:r>
              <a:rPr lang="en-US" dirty="0" err="1" smtClean="0"/>
              <a:t>Chowgacha</a:t>
            </a:r>
            <a:r>
              <a:rPr lang="en-US" baseline="0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Seasarean Section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5592192"/>
        <c:axId val="285602176"/>
      </c:barChart>
      <c:catAx>
        <c:axId val="285592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5602176"/>
        <c:crosses val="autoZero"/>
        <c:auto val="1"/>
        <c:lblAlgn val="ctr"/>
        <c:lblOffset val="100"/>
        <c:noMultiLvlLbl val="0"/>
      </c:catAx>
      <c:valAx>
        <c:axId val="285602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559219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6409472"/>
        <c:axId val="286411008"/>
      </c:barChart>
      <c:catAx>
        <c:axId val="286409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6411008"/>
        <c:crosses val="autoZero"/>
        <c:auto val="1"/>
        <c:lblAlgn val="ctr"/>
        <c:lblOffset val="100"/>
        <c:noMultiLvlLbl val="0"/>
      </c:catAx>
      <c:valAx>
        <c:axId val="2864110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6409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 smtClean="0"/>
              <a:t>Total no</a:t>
            </a:r>
            <a:r>
              <a:rPr lang="en-GB" baseline="0" dirty="0" smtClean="0"/>
              <a:t> of </a:t>
            </a:r>
            <a:r>
              <a:rPr lang="en-GB" dirty="0" smtClean="0"/>
              <a:t>ANC in </a:t>
            </a:r>
            <a:r>
              <a:rPr lang="en-GB" dirty="0" err="1" smtClean="0"/>
              <a:t>Chowgacha</a:t>
            </a:r>
            <a:r>
              <a:rPr lang="en-GB" dirty="0" smtClean="0"/>
              <a:t> UHC</a:t>
            </a:r>
            <a:endParaRPr lang="en-GB" dirty="0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6423680"/>
        <c:axId val="286433664"/>
      </c:barChart>
      <c:catAx>
        <c:axId val="286423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6433664"/>
        <c:crosses val="autoZero"/>
        <c:auto val="1"/>
        <c:lblAlgn val="ctr"/>
        <c:lblOffset val="100"/>
        <c:noMultiLvlLbl val="0"/>
      </c:catAx>
      <c:valAx>
        <c:axId val="2864336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64236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</a:t>
            </a:r>
            <a:r>
              <a:rPr lang="en-US" dirty="0" smtClean="0"/>
              <a:t>Delivery in </a:t>
            </a:r>
            <a:r>
              <a:rPr lang="en-US" dirty="0" err="1" smtClean="0"/>
              <a:t>Chowgacha</a:t>
            </a:r>
            <a:r>
              <a:rPr lang="en-US" dirty="0" smtClean="0"/>
              <a:t> UHC</a:t>
            </a:r>
            <a:endParaRPr lang="en-US" dirty="0"/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86327552"/>
        <c:axId val="286329088"/>
      </c:barChart>
      <c:catAx>
        <c:axId val="286327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86329088"/>
        <c:crosses val="autoZero"/>
        <c:auto val="1"/>
        <c:lblAlgn val="ctr"/>
        <c:lblOffset val="100"/>
        <c:noMultiLvlLbl val="0"/>
      </c:catAx>
      <c:valAx>
        <c:axId val="2863290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8632755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2/18/2019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26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2/18/2019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2019/2/18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&amp;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Sadar Hospital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 development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892716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9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Background History of C-J Model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85800"/>
            <a:ext cx="8229600" cy="5973763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 </a:t>
            </a:r>
            <a:r>
              <a:rPr lang="en-GB" sz="2800" dirty="0"/>
              <a:t>P</a:t>
            </a:r>
            <a:r>
              <a:rPr lang="en-GB" sz="2800" dirty="0" smtClean="0"/>
              <a:t>rogram starts primarily  in Chowgacha UHC in 1986 </a:t>
            </a:r>
          </a:p>
          <a:p>
            <a:r>
              <a:rPr lang="en-GB" sz="2800" dirty="0" smtClean="0"/>
              <a:t>In 1996 effectively   starts the model</a:t>
            </a:r>
          </a:p>
          <a:p>
            <a:r>
              <a:rPr lang="en-GB" sz="2800" dirty="0" smtClean="0"/>
              <a:t>In </a:t>
            </a:r>
            <a:r>
              <a:rPr lang="en-GB" sz="2800" dirty="0"/>
              <a:t>J</a:t>
            </a:r>
            <a:r>
              <a:rPr lang="en-GB" sz="2800" dirty="0" smtClean="0"/>
              <a:t>une 2008 ,MOH&amp;FW declared the Chowgacha                  UHC as Model UHC of Bangladesh.  </a:t>
            </a:r>
          </a:p>
          <a:p>
            <a:r>
              <a:rPr lang="en-GB" sz="2800" dirty="0" smtClean="0"/>
              <a:t>In 2010 D G of WHO recommended to replicate it.</a:t>
            </a:r>
          </a:p>
          <a:p>
            <a:r>
              <a:rPr lang="en-GB" sz="2800" dirty="0" smtClean="0"/>
              <a:t>Jhenaidah </a:t>
            </a:r>
            <a:r>
              <a:rPr lang="en-GB" sz="2800" dirty="0" err="1"/>
              <a:t>S</a:t>
            </a:r>
            <a:r>
              <a:rPr lang="en-GB" sz="2800" dirty="0" err="1" smtClean="0"/>
              <a:t>adar</a:t>
            </a:r>
            <a:r>
              <a:rPr lang="en-GB" sz="2800" dirty="0" smtClean="0"/>
              <a:t>  Hospital Model starts in 2012</a:t>
            </a:r>
          </a:p>
          <a:p>
            <a:r>
              <a:rPr lang="en-GB" sz="2800" dirty="0" smtClean="0"/>
              <a:t>C-J Model replicate in 2015 by MOHFW in 10 district hospital.</a:t>
            </a:r>
          </a:p>
          <a:p>
            <a:r>
              <a:rPr lang="en-GB" sz="2800" dirty="0" smtClean="0"/>
              <a:t>In2019 replicating  by the order of PM office in 60  district  &amp; Upazilla hospital by DGHS                              </a:t>
            </a:r>
            <a:r>
              <a:rPr lang="en-GB" dirty="0" smtClean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7731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-38100" y="4876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3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8100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72" y="34925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3787"/>
              </p:ext>
            </p:extLst>
          </p:nvPr>
        </p:nvGraphicFramePr>
        <p:xfrm>
          <a:off x="761999" y="1219200"/>
          <a:ext cx="8001003" cy="5533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93899"/>
                <a:gridCol w="800101"/>
                <a:gridCol w="1155700"/>
                <a:gridCol w="1066800"/>
                <a:gridCol w="1066800"/>
                <a:gridCol w="977900"/>
                <a:gridCol w="939803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27442"/>
            <a:ext cx="8229600" cy="907941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56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11430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b="1" dirty="0" smtClean="0"/>
              <a:t>Community support in </a:t>
            </a:r>
            <a:r>
              <a:rPr lang="en-GB" b="1" dirty="0" err="1" smtClean="0"/>
              <a:t>Chowgacha</a:t>
            </a:r>
            <a:r>
              <a:rPr lang="en-GB" b="1" dirty="0" smtClean="0"/>
              <a:t> UHC</a:t>
            </a:r>
            <a:endParaRPr lang="en-GB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09600" y="1460310"/>
            <a:ext cx="8016875" cy="46166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Honorarium of 46 supportive workers(volunteer 26,cleaner&amp;guard16 others 4) donated by the community in 2011. </a:t>
            </a: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Protocol board </a:t>
            </a:r>
            <a:r>
              <a:rPr lang="en-US" dirty="0" smtClean="0">
                <a:latin typeface="Arial Black" pitchFamily="34" charset="0"/>
              </a:rPr>
              <a:t> by D.C </a:t>
            </a:r>
            <a:r>
              <a:rPr lang="en-US" dirty="0" err="1">
                <a:latin typeface="Arial Black" pitchFamily="34" charset="0"/>
              </a:rPr>
              <a:t>Jessore</a:t>
            </a:r>
            <a:r>
              <a:rPr lang="en-US" dirty="0">
                <a:latin typeface="Arial Black" pitchFamily="34" charset="0"/>
              </a:rPr>
              <a:t>. </a:t>
            </a:r>
          </a:p>
          <a:p>
            <a:pPr>
              <a:buFont typeface="Wingdings" pitchFamily="2" charset="2"/>
              <a:buNone/>
            </a:pPr>
            <a:endParaRPr lang="en-US" sz="100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Blood Group reagents 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by Chairman </a:t>
            </a:r>
            <a:r>
              <a:rPr lang="en-US" dirty="0" err="1" smtClean="0">
                <a:latin typeface="Arial Black" pitchFamily="34" charset="0"/>
              </a:rPr>
              <a:t>Chowgacha</a:t>
            </a:r>
            <a:r>
              <a:rPr lang="en-US" dirty="0" smtClean="0">
                <a:latin typeface="Arial Black" pitchFamily="34" charset="0"/>
              </a:rPr>
              <a:t> up  </a:t>
            </a:r>
            <a:r>
              <a:rPr lang="en-US" dirty="0">
                <a:latin typeface="Arial Black" pitchFamily="34" charset="0"/>
              </a:rPr>
              <a:t>at  first </a:t>
            </a:r>
            <a:r>
              <a:rPr lang="en-US" dirty="0" smtClean="0">
                <a:latin typeface="Arial Black" pitchFamily="34" charset="0"/>
              </a:rPr>
              <a:t>in 1996&amp;enlisted 732 donor.  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ANC&amp; growth monitoring card 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by Ad-Din hospital , </a:t>
            </a:r>
            <a:r>
              <a:rPr lang="en-US" dirty="0" smtClean="0">
                <a:latin typeface="Arial Black" pitchFamily="34" charset="0"/>
              </a:rPr>
              <a:t>JICA .  </a:t>
            </a:r>
            <a:r>
              <a:rPr lang="en-US" dirty="0">
                <a:latin typeface="Arial Black" pitchFamily="34" charset="0"/>
              </a:rPr>
              <a:t>One IPS &amp; 2 cleaners donated by Chairman Municipalities. </a:t>
            </a: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endParaRPr lang="en-US" sz="1100" dirty="0" smtClean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Devine group supports a mobile phone, 4 dustbin   a reception Centre, reconstruction of pillars of outdoor and roadside </a:t>
            </a:r>
            <a:r>
              <a:rPr lang="en-US" dirty="0" err="1" smtClean="0">
                <a:latin typeface="Arial Black" pitchFamily="34" charset="0"/>
              </a:rPr>
              <a:t>gurden</a:t>
            </a:r>
            <a:r>
              <a:rPr lang="en-US" dirty="0" smtClean="0">
                <a:latin typeface="Arial Black" pitchFamily="34" charset="0"/>
              </a:rPr>
              <a:t>. </a:t>
            </a:r>
            <a:endParaRPr lang="en-US" sz="1100" dirty="0" smtClean="0">
              <a:latin typeface="Arial Black" pitchFamily="34" charset="0"/>
            </a:endParaRPr>
          </a:p>
          <a:p>
            <a:pPr marL="0" lvl="3" indent="0">
              <a:buFont typeface="Wingdings" pitchFamily="2" charset="2"/>
              <a:buChar char="v"/>
            </a:pPr>
            <a:r>
              <a:rPr lang="en-US" dirty="0" err="1" smtClean="0">
                <a:latin typeface="Arial Black" pitchFamily="34" charset="0"/>
              </a:rPr>
              <a:t>Upazila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 err="1" smtClean="0">
                <a:latin typeface="Arial Black" pitchFamily="34" charset="0"/>
              </a:rPr>
              <a:t>parishad</a:t>
            </a:r>
            <a:r>
              <a:rPr lang="en-US" dirty="0" smtClean="0">
                <a:latin typeface="Arial Black" pitchFamily="34" charset="0"/>
              </a:rPr>
              <a:t> supports </a:t>
            </a:r>
            <a:r>
              <a:rPr lang="en-US" dirty="0">
                <a:latin typeface="Arial Black" pitchFamily="34" charset="0"/>
              </a:rPr>
              <a:t>d</a:t>
            </a:r>
            <a:r>
              <a:rPr lang="en-US" dirty="0" smtClean="0">
                <a:latin typeface="Arial Black" pitchFamily="34" charset="0"/>
              </a:rPr>
              <a:t>rugs </a:t>
            </a:r>
            <a:r>
              <a:rPr lang="en-US" dirty="0">
                <a:latin typeface="Arial Black" pitchFamily="34" charset="0"/>
              </a:rPr>
              <a:t>for </a:t>
            </a:r>
            <a:r>
              <a:rPr lang="en-US" dirty="0" err="1" smtClean="0">
                <a:latin typeface="Arial Black" pitchFamily="34" charset="0"/>
              </a:rPr>
              <a:t>Arsenicosis</a:t>
            </a:r>
            <a:r>
              <a:rPr lang="en-US" dirty="0" smtClean="0">
                <a:latin typeface="Arial Black" pitchFamily="34" charset="0"/>
              </a:rPr>
              <a:t> , Tires </a:t>
            </a:r>
            <a:r>
              <a:rPr lang="en-US" dirty="0">
                <a:latin typeface="Arial Black" pitchFamily="34" charset="0"/>
              </a:rPr>
              <a:t>of </a:t>
            </a:r>
            <a:r>
              <a:rPr lang="en-US" dirty="0" smtClean="0">
                <a:latin typeface="Arial Black" pitchFamily="34" charset="0"/>
              </a:rPr>
              <a:t>Ambulance. </a:t>
            </a:r>
            <a:endParaRPr lang="en-US" sz="900" dirty="0">
              <a:latin typeface="Arial Black" pitchFamily="34" charset="0"/>
            </a:endParaRPr>
          </a:p>
          <a:p>
            <a:pPr lvl="1">
              <a:buFont typeface="Wingdings" pitchFamily="2" charset="2"/>
              <a:buChar char="v"/>
            </a:pPr>
            <a:endParaRPr lang="en-US" dirty="0">
              <a:latin typeface="Arial Black" pitchFamily="34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365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2571" y="6096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 Chowgacha Health Complex declared as the model </a:t>
            </a:r>
            <a:r>
              <a:rPr lang="en-US" sz="2800" dirty="0" err="1" smtClean="0"/>
              <a:t>upazilla</a:t>
            </a:r>
            <a:r>
              <a:rPr lang="en-US" sz="2800" dirty="0" smtClean="0"/>
              <a:t> health complex by MOH&amp;FW in 2008.</a:t>
            </a:r>
            <a:endParaRPr lang="en-US" sz="2800" dirty="0"/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cs typeface="Calibri" pitchFamily="34" charset="0"/>
              </a:rPr>
              <a:t> Mobilized 46 additional </a:t>
            </a:r>
            <a:r>
              <a:rPr lang="en-US" sz="2800" dirty="0" smtClean="0"/>
              <a:t>workers from community (26 </a:t>
            </a:r>
            <a:r>
              <a:rPr lang="en-US" sz="2800" dirty="0"/>
              <a:t>volunteer, 12 </a:t>
            </a:r>
            <a:r>
              <a:rPr lang="en-US" sz="2800" dirty="0" smtClean="0"/>
              <a:t>cleaners </a:t>
            </a:r>
            <a:r>
              <a:rPr lang="en-US" sz="2800" dirty="0"/>
              <a:t>and </a:t>
            </a:r>
            <a:r>
              <a:rPr lang="en-US" sz="2800" dirty="0" smtClean="0"/>
              <a:t>others 8).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Chowgacha UHC achieved MDG target in 2009. 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Chowgacha UHC  became the best EOC center  with 98.4% delivery rate in 2011.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Chowgacha Health complex is awarded for best performance in EOC form 2005 to 2014.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Achieve Health minister s Award for its best performances in 2017and also for EOC.in2017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/>
              <a:t>The govt. taken the initiative to upgrade to 100 bedded in 20018.</a:t>
            </a:r>
          </a:p>
        </p:txBody>
      </p:sp>
    </p:spTree>
    <p:extLst>
      <p:ext uri="{BB962C8B-B14F-4D97-AF65-F5344CB8AC3E}">
        <p14:creationId xmlns:p14="http://schemas.microsoft.com/office/powerpoint/2010/main" val="21060257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-25855"/>
            <a:ext cx="9144000" cy="6883855"/>
            <a:chOff x="116" y="-153"/>
            <a:chExt cx="7425" cy="5746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-153"/>
              <a:ext cx="4184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0" y="-153"/>
              <a:ext cx="3241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3761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239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800" b="1" dirty="0"/>
              <a:t> </a:t>
            </a:r>
            <a:r>
              <a:rPr lang="en-US" sz="2800" b="1" dirty="0" smtClean="0"/>
              <a:t>   </a:t>
            </a:r>
            <a:r>
              <a:rPr lang="en-US" sz="2800" b="1" i="1" dirty="0" smtClean="0"/>
              <a:t>In secured</a:t>
            </a:r>
            <a:r>
              <a:rPr lang="en-US" sz="28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 smtClean="0"/>
              <a:t>	</a:t>
            </a:r>
            <a:endParaRPr lang="en-US" sz="2800" dirty="0"/>
          </a:p>
          <a:p>
            <a:pPr>
              <a:defRPr/>
            </a:pPr>
            <a:r>
              <a:rPr lang="en-US" sz="28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8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800" b="1" dirty="0" smtClean="0"/>
              <a:t>Waste management system was poor.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Monitoring  </a:t>
            </a:r>
            <a:r>
              <a:rPr lang="en-US" sz="2800" b="1" dirty="0"/>
              <a:t>m</a:t>
            </a:r>
            <a:r>
              <a:rPr lang="en-US" sz="2800" b="1" dirty="0" smtClean="0"/>
              <a:t>eeting was not performed regularly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596285625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9596828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2018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551994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497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2018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114543"/>
              </p:ext>
            </p:extLst>
          </p:nvPr>
        </p:nvGraphicFramePr>
        <p:xfrm>
          <a:off x="-94343" y="1905000"/>
          <a:ext cx="1015274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56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12 , Mayor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donated an inter-com, mayor donated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611" y="3810001"/>
            <a:ext cx="4377403" cy="2666999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fifty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</a:t>
            </a:r>
            <a:r>
              <a:rPr lang="en-US" sz="2600" dirty="0" err="1" smtClean="0">
                <a:solidFill>
                  <a:srgbClr val="1F497D">
                    <a:lumMod val="75000"/>
                  </a:srgbClr>
                </a:solidFill>
              </a:rPr>
              <a:t>getman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33042064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</a:t>
            </a:r>
            <a:r>
              <a:rPr lang="en-US" sz="2000" b="1" dirty="0" smtClean="0"/>
              <a:t>cleanliness </a:t>
            </a:r>
            <a:r>
              <a:rPr lang="en-US" sz="2000" b="1" dirty="0"/>
              <a:t>and b</a:t>
            </a:r>
            <a:r>
              <a:rPr lang="en-US" sz="2000" b="1" dirty="0" smtClean="0"/>
              <a:t>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</a:t>
            </a:r>
            <a:r>
              <a:rPr lang="en-US" sz="2000" b="1" dirty="0" smtClean="0"/>
              <a:t>financial </a:t>
            </a:r>
            <a:r>
              <a:rPr lang="en-US" sz="2000" b="1" dirty="0"/>
              <a:t>m</a:t>
            </a:r>
            <a:r>
              <a:rPr lang="en-US" sz="2000" b="1" dirty="0" smtClean="0"/>
              <a:t>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20 district  and  40 Upazilla UHC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826404257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016536459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08503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Maternal Mortality Rate/100,000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586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336010"/>
              </p:ext>
            </p:extLst>
          </p:nvPr>
        </p:nvGraphicFramePr>
        <p:xfrm>
          <a:off x="455473" y="1295400"/>
          <a:ext cx="8229599" cy="51388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3269"/>
                <a:gridCol w="2063731"/>
                <a:gridCol w="986131"/>
                <a:gridCol w="1131130"/>
                <a:gridCol w="1131130"/>
                <a:gridCol w="1157104"/>
                <a:gridCol w="1157104"/>
              </a:tblGrid>
              <a:tr h="9715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 dirty="0">
                          <a:effectLst/>
                        </a:rPr>
                        <a:t>Serial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800">
                          <a:effectLst/>
                        </a:rPr>
                        <a:t>Subjecct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1998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88959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Emergency &amp; Out Door patient number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81795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170854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171070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277301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340932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Indoor patients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12973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22435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22951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29562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35569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Bed occupancy rate%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126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193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EmOC service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1354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2268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13251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15360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4825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</a:rPr>
                        <a:t>Number of deliveries</a:t>
                      </a:r>
                      <a:endParaRPr lang="en-GB" sz="3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1106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2379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3034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2997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5098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</a:rPr>
                        <a:t>Operation (Major)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780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977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1582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1578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  <a:tr h="335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Revenue income</a:t>
                      </a:r>
                      <a:endParaRPr lang="en-GB" sz="3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59765" algn="l"/>
                        </a:tabLs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>
                          <a:effectLst/>
                        </a:rPr>
                        <a:t>60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44</a:t>
                      </a:r>
                      <a:r>
                        <a:rPr lang="en-GB" sz="1200">
                          <a:effectLst/>
                        </a:rPr>
                        <a:t>,</a:t>
                      </a:r>
                      <a:r>
                        <a:rPr lang="bn-IN" sz="1800">
                          <a:effectLst/>
                        </a:rPr>
                        <a:t>715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800" dirty="0">
                          <a:effectLst/>
                        </a:rPr>
                        <a:t>70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59</a:t>
                      </a:r>
                      <a:r>
                        <a:rPr lang="en-GB" sz="1200" dirty="0">
                          <a:effectLst/>
                        </a:rPr>
                        <a:t>,</a:t>
                      </a:r>
                      <a:r>
                        <a:rPr lang="bn-IN" sz="1800" dirty="0">
                          <a:effectLst/>
                        </a:rPr>
                        <a:t>560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1429" y="228600"/>
            <a:ext cx="8763000" cy="784830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60400" algn="l"/>
              </a:tabLst>
            </a:pP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Table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 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bn-IN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Vrinda"/>
              </a:rPr>
              <a:t>4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. Jhenaidah </a:t>
            </a:r>
            <a:r>
              <a:rPr kumimoji="0" lang="en-GB" sz="2400" b="1" i="0" u="none" strike="noStrike" cap="none" normalizeH="0" baseline="0" dirty="0" err="1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Sadar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Hospital- Improvement Evaluation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         (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1998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-</a:t>
            </a:r>
            <a:r>
              <a:rPr kumimoji="0" lang="bn-IN" b="0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2017</a:t>
            </a:r>
            <a:r>
              <a:rPr kumimoji="0" lang="en-GB" sz="2400" b="1" i="0" u="none" strike="noStrike" cap="none" normalizeH="0" baseline="0" dirty="0" smtClean="0" bmk="_Toc531276492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)</a:t>
            </a:r>
            <a:endParaRPr kumimoji="0" lang="en-GB" sz="32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5662</TotalTime>
  <Words>1272</Words>
  <Application>Microsoft Office PowerPoint</Application>
  <PresentationFormat>On-screen Show (4:3)</PresentationFormat>
  <Paragraphs>377</Paragraphs>
  <Slides>32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A Sub-district level  Hospital with a Vision …</vt:lpstr>
      <vt:lpstr>Background History of C-J Model</vt:lpstr>
      <vt:lpstr>PowerPoint Presentation</vt:lpstr>
      <vt:lpstr>PowerPoint Presentation</vt:lpstr>
      <vt:lpstr>PowerPoint Presentation</vt:lpstr>
      <vt:lpstr>Community support in Chowgacha UHC</vt:lpstr>
      <vt:lpstr>Achievement of Chowgacha Health Complex</vt:lpstr>
      <vt:lpstr>PowerPoint Presentation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2018</vt:lpstr>
      <vt:lpstr>  Comparative data of revenue income (in Taka) from 2015 to 2018 </vt:lpstr>
      <vt:lpstr>3 best performing EmOC Hospital in Khulna division - 2018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690</cp:revision>
  <cp:lastPrinted>2017-03-18T23:47:54Z</cp:lastPrinted>
  <dcterms:created xsi:type="dcterms:W3CDTF">2013-05-05T09:56:19Z</dcterms:created>
  <dcterms:modified xsi:type="dcterms:W3CDTF">2019-02-18T17:32:49Z</dcterms:modified>
</cp:coreProperties>
</file>