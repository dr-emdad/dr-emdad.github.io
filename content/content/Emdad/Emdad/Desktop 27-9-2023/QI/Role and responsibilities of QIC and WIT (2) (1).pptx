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69" r:id="rId2"/>
    <p:sldId id="261" r:id="rId3"/>
    <p:sldId id="267" r:id="rId4"/>
    <p:sldId id="266" r:id="rId5"/>
    <p:sldId id="268" r:id="rId6"/>
    <p:sldId id="257" r:id="rId7"/>
    <p:sldId id="262" r:id="rId8"/>
    <p:sldId id="258" r:id="rId9"/>
    <p:sldId id="264" r:id="rId10"/>
    <p:sldId id="263" r:id="rId11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A274D-7585-400A-BE47-BBF19B226121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20D15-9F31-46B1-AC21-D1AC6F1DD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623903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C784-2CA8-4D4D-9121-2F417DB3B4A8}" type="datetimeFigureOut">
              <a:rPr lang="en-US" smtClean="0"/>
              <a:pPr/>
              <a:t>12/4/2022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A6AE9-70B5-4418-8615-F207A8FF8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457201"/>
            <a:ext cx="8763000" cy="2514599"/>
          </a:xfrm>
        </p:spPr>
        <p:txBody>
          <a:bodyPr/>
          <a:lstStyle/>
          <a:p>
            <a:r>
              <a:rPr lang="en-US" b="1" u="sng" dirty="0" smtClean="0">
                <a:solidFill>
                  <a:srgbClr val="7030A0"/>
                </a:solidFill>
              </a:rPr>
              <a:t>Quality improvement initiative-5S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00B050"/>
                </a:solidFill>
              </a:rPr>
              <a:t>QIC &amp; WIT </a:t>
            </a:r>
            <a:r>
              <a:rPr lang="en-US" dirty="0" smtClean="0"/>
              <a:t>(</a:t>
            </a:r>
            <a:r>
              <a:rPr lang="en-US" sz="3600" dirty="0" smtClean="0"/>
              <a:t>Formation and</a:t>
            </a:r>
            <a:r>
              <a:rPr lang="en-US" sz="3600" b="1" dirty="0" smtClean="0"/>
              <a:t> </a:t>
            </a:r>
            <a:r>
              <a:rPr lang="en-US" sz="3600" dirty="0" smtClean="0"/>
              <a:t>Responsibilities)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467600" cy="24384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3600" dirty="0" smtClean="0">
                <a:solidFill>
                  <a:schemeClr val="tx1"/>
                </a:solidFill>
              </a:rPr>
              <a:t>Quality Improvement Secretariat</a:t>
            </a:r>
          </a:p>
          <a:p>
            <a:pPr>
              <a:spcBef>
                <a:spcPct val="0"/>
              </a:spcBef>
            </a:pPr>
            <a:r>
              <a:rPr lang="en-US" altLang="en-US" sz="3600" dirty="0" smtClean="0">
                <a:solidFill>
                  <a:schemeClr val="tx1"/>
                </a:solidFill>
              </a:rPr>
              <a:t>Health Economics Unit, HSD, </a:t>
            </a:r>
            <a:r>
              <a:rPr lang="en-US" altLang="en-US" sz="3600" dirty="0" err="1" smtClean="0">
                <a:solidFill>
                  <a:schemeClr val="tx1"/>
                </a:solidFill>
              </a:rPr>
              <a:t>MoHFW</a:t>
            </a:r>
            <a:endParaRPr lang="en-US" altLang="en-US" sz="36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Quality improvement initiative-5S in Health Facility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</a:t>
            </a:r>
          </a:p>
          <a:p>
            <a:pPr marL="0" indent="0" algn="ctr">
              <a:buNone/>
            </a:pPr>
            <a:r>
              <a:rPr lang="en-US" sz="4000" dirty="0" smtClean="0"/>
              <a:t>QIC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______________________________________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WIT	       WIT	  WIT	     WIT	WIT	    WIT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143000" y="4048836"/>
            <a:ext cx="0" cy="751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48600" y="3962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553200" y="3962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181600" y="3962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038600" y="3962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667000" y="39624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572000" y="2791536"/>
            <a:ext cx="0" cy="1094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Composition of QIC for district hospital</a:t>
            </a:r>
            <a:br>
              <a:rPr lang="en-US" dirty="0" smtClean="0"/>
            </a:br>
            <a:r>
              <a:rPr lang="en-US" dirty="0" smtClean="0"/>
              <a:t>(DH-QIC)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317358465"/>
              </p:ext>
            </p:extLst>
          </p:nvPr>
        </p:nvGraphicFramePr>
        <p:xfrm>
          <a:off x="457200" y="1600200"/>
          <a:ext cx="822960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Person with designation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Superintendent/ Civil Surgeon cum Superintendent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Chairperson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AD/RMO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 Secretary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Gynae</a:t>
                      </a:r>
                      <a:r>
                        <a:rPr lang="en-US" dirty="0" smtClean="0"/>
                        <a:t> &amp; </a:t>
                      </a:r>
                      <a:r>
                        <a:rPr lang="en-US" dirty="0" err="1" smtClean="0"/>
                        <a:t>Obs</a:t>
                      </a:r>
                      <a:r>
                        <a:rPr lang="en-US" dirty="0" smtClean="0"/>
                        <a:t> Consultant-1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Surgery Consultant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Medicine Consultant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Anesthesia</a:t>
                      </a:r>
                      <a:r>
                        <a:rPr lang="en-US" baseline="0" dirty="0" smtClean="0"/>
                        <a:t>  </a:t>
                      </a:r>
                      <a:r>
                        <a:rPr lang="en-US" dirty="0" smtClean="0"/>
                        <a:t>Consultant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Pediatric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Consultant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BMA Representative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Nursing supervisor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Any selected person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Focal person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3107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and responsibilities of QIC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25000" lnSpcReduction="20000"/>
          </a:bodyPr>
          <a:lstStyle/>
          <a:p>
            <a:pPr hangingPunct="0">
              <a:buNone/>
            </a:pPr>
            <a:r>
              <a:rPr lang="en-US" dirty="0" smtClean="0"/>
              <a:t>.</a:t>
            </a:r>
            <a:r>
              <a:rPr lang="en-US" sz="11200" dirty="0" smtClean="0"/>
              <a:t> </a:t>
            </a:r>
            <a:r>
              <a:rPr lang="en-US" sz="12800" b="1" u="sng" dirty="0" smtClean="0"/>
              <a:t>1</a:t>
            </a:r>
            <a:r>
              <a:rPr lang="en-US" sz="12800" u="sng" dirty="0" smtClean="0"/>
              <a:t>. Monitoring </a:t>
            </a:r>
            <a:r>
              <a:rPr lang="en-US" sz="12800" u="sng" dirty="0"/>
              <a:t>and mentoring QI teams (WIT) </a:t>
            </a:r>
          </a:p>
          <a:p>
            <a:pPr lvl="0" hangingPunct="0"/>
            <a:endParaRPr lang="en-US" sz="11200" dirty="0" smtClean="0"/>
          </a:p>
          <a:p>
            <a:pPr lvl="0" hangingPunct="0"/>
            <a:r>
              <a:rPr lang="en-US" sz="12800" dirty="0" smtClean="0">
                <a:solidFill>
                  <a:srgbClr val="00B050"/>
                </a:solidFill>
              </a:rPr>
              <a:t>Regular </a:t>
            </a:r>
            <a:r>
              <a:rPr lang="en-US" sz="12800" dirty="0">
                <a:solidFill>
                  <a:srgbClr val="00B050"/>
                </a:solidFill>
              </a:rPr>
              <a:t>inspection</a:t>
            </a:r>
            <a:r>
              <a:rPr lang="en-US" sz="12800" dirty="0"/>
              <a:t>, review of QI activities and planning for continuous improvement</a:t>
            </a:r>
          </a:p>
          <a:p>
            <a:pPr lvl="0" hangingPunct="0"/>
            <a:r>
              <a:rPr lang="en-US" sz="12800" dirty="0"/>
              <a:t>Provide support for activities of quality improvement teams</a:t>
            </a:r>
          </a:p>
          <a:p>
            <a:pPr lvl="0" hangingPunct="0"/>
            <a:r>
              <a:rPr lang="en-US" sz="12800" dirty="0">
                <a:solidFill>
                  <a:srgbClr val="00B050"/>
                </a:solidFill>
              </a:rPr>
              <a:t>Ensure regular training and orientation </a:t>
            </a:r>
            <a:r>
              <a:rPr lang="en-US" sz="12800" dirty="0"/>
              <a:t>of the QI teams with support from National Task force</a:t>
            </a:r>
          </a:p>
          <a:p>
            <a:pPr lvl="0" hangingPunct="0"/>
            <a:r>
              <a:rPr lang="en-US" sz="12800" dirty="0">
                <a:solidFill>
                  <a:srgbClr val="00B050"/>
                </a:solidFill>
              </a:rPr>
              <a:t>Ensure interdepartmental coordination </a:t>
            </a:r>
            <a:r>
              <a:rPr lang="en-US" sz="12800" dirty="0"/>
              <a:t>through liaison with various departments within the facility for effective implementation of QI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4095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Role and responsibilities of QIC (</a:t>
            </a:r>
            <a:r>
              <a:rPr lang="en-US" b="1" dirty="0" err="1"/>
              <a:t>Cont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5181600"/>
          </a:xfrm>
        </p:spPr>
        <p:txBody>
          <a:bodyPr>
            <a:normAutofit fontScale="85000" lnSpcReduction="10000"/>
          </a:bodyPr>
          <a:lstStyle/>
          <a:p>
            <a:pPr hangingPunct="0">
              <a:buNone/>
            </a:pPr>
            <a:r>
              <a:rPr lang="en-US" b="1" u="sng" dirty="0" smtClean="0"/>
              <a:t>2</a:t>
            </a:r>
            <a:r>
              <a:rPr lang="en-US" u="sng" dirty="0" smtClean="0"/>
              <a:t>.Periodic </a:t>
            </a:r>
            <a:r>
              <a:rPr lang="en-US" u="sng" dirty="0"/>
              <a:t>Review of the progress of QI activities: </a:t>
            </a:r>
          </a:p>
          <a:p>
            <a:pPr marL="0" lvl="0" indent="0">
              <a:buNone/>
            </a:pPr>
            <a:endParaRPr lang="en-US" sz="1700" dirty="0" smtClean="0"/>
          </a:p>
          <a:p>
            <a:pPr lvl="0"/>
            <a:r>
              <a:rPr lang="en-US" sz="4300" dirty="0" smtClean="0">
                <a:solidFill>
                  <a:srgbClr val="7030A0"/>
                </a:solidFill>
              </a:rPr>
              <a:t>Conduct </a:t>
            </a:r>
            <a:r>
              <a:rPr lang="en-US" sz="4300" dirty="0">
                <a:solidFill>
                  <a:srgbClr val="7030A0"/>
                </a:solidFill>
              </a:rPr>
              <a:t>monthly review meetings.</a:t>
            </a:r>
          </a:p>
          <a:p>
            <a:pPr lvl="0"/>
            <a:r>
              <a:rPr lang="en-US" sz="4300" dirty="0"/>
              <a:t>Set targets, roadmaps and site example for best practices</a:t>
            </a:r>
          </a:p>
          <a:p>
            <a:pPr lvl="0"/>
            <a:r>
              <a:rPr lang="en-US" sz="4300" dirty="0"/>
              <a:t>Review Quality scores attained by teams</a:t>
            </a:r>
          </a:p>
          <a:p>
            <a:pPr lvl="0"/>
            <a:r>
              <a:rPr lang="en-US" sz="4300" dirty="0">
                <a:solidFill>
                  <a:srgbClr val="7030A0"/>
                </a:solidFill>
              </a:rPr>
              <a:t>Provide support for necessary corrections as per need </a:t>
            </a:r>
          </a:p>
          <a:p>
            <a:pPr lvl="0"/>
            <a:r>
              <a:rPr lang="en-US" sz="4300" dirty="0"/>
              <a:t> Support quality improvement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5586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Role and responsibilities of QIC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25000" lnSpcReduction="20000"/>
          </a:bodyPr>
          <a:lstStyle/>
          <a:p>
            <a:pPr hangingPunct="0">
              <a:buNone/>
            </a:pPr>
            <a:r>
              <a:rPr lang="en-US" sz="12800" b="1" dirty="0">
                <a:solidFill>
                  <a:srgbClr val="7030A0"/>
                </a:solidFill>
              </a:rPr>
              <a:t>3</a:t>
            </a:r>
            <a:r>
              <a:rPr lang="en-US" sz="12800" dirty="0">
                <a:solidFill>
                  <a:srgbClr val="7030A0"/>
                </a:solidFill>
              </a:rPr>
              <a:t>.Ensure implementation </a:t>
            </a:r>
            <a:r>
              <a:rPr lang="en-US" sz="12800" dirty="0"/>
              <a:t>of QI strategy &amp; </a:t>
            </a:r>
            <a:r>
              <a:rPr lang="en-US" sz="12800" dirty="0">
                <a:solidFill>
                  <a:srgbClr val="7030A0"/>
                </a:solidFill>
              </a:rPr>
              <a:t>guidelines</a:t>
            </a:r>
            <a:r>
              <a:rPr lang="en-US" sz="12800" dirty="0"/>
              <a:t> at hospitals to attain quality of care</a:t>
            </a:r>
          </a:p>
          <a:p>
            <a:pPr lvl="0" hangingPunct="0">
              <a:buNone/>
            </a:pPr>
            <a:endParaRPr lang="en-US" sz="12800" dirty="0"/>
          </a:p>
          <a:p>
            <a:pPr lvl="0" hangingPunct="0">
              <a:buNone/>
            </a:pPr>
            <a:r>
              <a:rPr lang="en-US" sz="14400" dirty="0" smtClean="0"/>
              <a:t>4. </a:t>
            </a:r>
            <a:r>
              <a:rPr lang="en-US" sz="12800" dirty="0"/>
              <a:t>Ensure adherence to the clinical protocols &amp;  quality standards:  </a:t>
            </a:r>
          </a:p>
          <a:p>
            <a:pPr lvl="0" hangingPunct="0">
              <a:buNone/>
            </a:pPr>
            <a:r>
              <a:rPr lang="en-US" sz="12800" dirty="0" smtClean="0"/>
              <a:t>    Through </a:t>
            </a:r>
            <a:r>
              <a:rPr lang="en-US" sz="12800" dirty="0">
                <a:solidFill>
                  <a:srgbClr val="7030A0"/>
                </a:solidFill>
              </a:rPr>
              <a:t>regular internal assessments</a:t>
            </a:r>
            <a:r>
              <a:rPr lang="en-US" sz="12800" dirty="0"/>
              <a:t>, audits, </a:t>
            </a:r>
            <a:r>
              <a:rPr lang="en-US" sz="12800" dirty="0" smtClean="0"/>
              <a:t>reviews </a:t>
            </a:r>
            <a:r>
              <a:rPr lang="en-US" sz="12800" dirty="0" err="1" smtClean="0"/>
              <a:t>etc</a:t>
            </a:r>
            <a:r>
              <a:rPr lang="en-US" sz="12800" dirty="0" smtClean="0"/>
              <a:t>   </a:t>
            </a:r>
            <a:r>
              <a:rPr lang="en-US" sz="12800" dirty="0"/>
              <a:t>and corrective action plans should be initiated for identified gaps. 	</a:t>
            </a:r>
          </a:p>
          <a:p>
            <a:pPr lvl="0" hangingPunct="0">
              <a:buNone/>
            </a:pPr>
            <a:endParaRPr lang="en-US" sz="12800" dirty="0" smtClean="0"/>
          </a:p>
          <a:p>
            <a:pPr lvl="0" hangingPunct="0">
              <a:buNone/>
            </a:pPr>
            <a:r>
              <a:rPr lang="en-US" sz="12800" b="1" dirty="0" smtClean="0">
                <a:solidFill>
                  <a:srgbClr val="7030A0"/>
                </a:solidFill>
              </a:rPr>
              <a:t>5</a:t>
            </a:r>
            <a:r>
              <a:rPr lang="en-US" sz="12800" dirty="0" smtClean="0">
                <a:solidFill>
                  <a:srgbClr val="7030A0"/>
                </a:solidFill>
              </a:rPr>
              <a:t>.Regular </a:t>
            </a:r>
            <a:r>
              <a:rPr lang="en-US" sz="12800" dirty="0">
                <a:solidFill>
                  <a:srgbClr val="7030A0"/>
                </a:solidFill>
              </a:rPr>
              <a:t>monthly reporting </a:t>
            </a:r>
            <a:r>
              <a:rPr lang="en-US" sz="12800" dirty="0"/>
              <a:t>to the appropriate authority/QIS and sharing of feedback of report in internal review meeting  </a:t>
            </a:r>
            <a:endParaRPr lang="en-US" sz="11200" dirty="0"/>
          </a:p>
          <a:p>
            <a:pPr hangingPunct="0">
              <a:buNone/>
            </a:pPr>
            <a:r>
              <a:rPr lang="en-US" sz="11200" dirty="0" smtClean="0"/>
              <a:t> 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 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Composition of WIT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hangingPunct="0"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97869884"/>
              </p:ext>
            </p:extLst>
          </p:nvPr>
        </p:nvGraphicFramePr>
        <p:xfrm>
          <a:off x="457200" y="1397000"/>
          <a:ext cx="8153400" cy="5232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619068">
                <a:tc>
                  <a:txBody>
                    <a:bodyPr/>
                    <a:lstStyle/>
                    <a:p>
                      <a:r>
                        <a:rPr lang="en-US" dirty="0" smtClean="0"/>
                        <a:t>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Person</a:t>
                      </a:r>
                      <a:endParaRPr lang="en-US" dirty="0"/>
                    </a:p>
                  </a:txBody>
                  <a:tcPr/>
                </a:tc>
              </a:tr>
              <a:tr h="619068">
                <a:tc>
                  <a:txBody>
                    <a:bodyPr/>
                    <a:lstStyle/>
                    <a:p>
                      <a:r>
                        <a:rPr lang="en-US" dirty="0" smtClean="0"/>
                        <a:t>Facilitator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 and above</a:t>
                      </a:r>
                      <a:endParaRPr lang="en-US" dirty="0"/>
                    </a:p>
                  </a:txBody>
                  <a:tcPr/>
                </a:tc>
              </a:tr>
              <a:tr h="1068529">
                <a:tc>
                  <a:txBody>
                    <a:bodyPr/>
                    <a:lstStyle/>
                    <a:p>
                      <a:r>
                        <a:rPr lang="en-US" dirty="0" smtClean="0"/>
                        <a:t>Team leader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Nursing supervisor/SSN/Any</a:t>
                      </a:r>
                      <a:r>
                        <a:rPr lang="en-US" baseline="0" dirty="0" smtClean="0"/>
                        <a:t> one suitable for the section</a:t>
                      </a:r>
                      <a:endParaRPr lang="en-US" dirty="0"/>
                    </a:p>
                  </a:txBody>
                  <a:tcPr/>
                </a:tc>
              </a:tr>
              <a:tr h="1068529">
                <a:tc>
                  <a:txBody>
                    <a:bodyPr/>
                    <a:lstStyle/>
                    <a:p>
                      <a:r>
                        <a:rPr lang="en-US" dirty="0" smtClean="0"/>
                        <a:t>Member secretary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SSN/Any</a:t>
                      </a:r>
                      <a:r>
                        <a:rPr lang="en-US" baseline="0" dirty="0" smtClean="0"/>
                        <a:t> one suitable for the section</a:t>
                      </a:r>
                      <a:endParaRPr lang="en-US" dirty="0"/>
                    </a:p>
                  </a:txBody>
                  <a:tcPr/>
                </a:tc>
              </a:tr>
              <a:tr h="619068"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MLSS</a:t>
                      </a:r>
                      <a:endParaRPr lang="en-US" dirty="0"/>
                    </a:p>
                  </a:txBody>
                  <a:tcPr/>
                </a:tc>
              </a:tr>
              <a:tr h="619068"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MLSS</a:t>
                      </a:r>
                      <a:endParaRPr lang="en-US" dirty="0"/>
                    </a:p>
                  </a:txBody>
                  <a:tcPr/>
                </a:tc>
              </a:tr>
              <a:tr h="619068">
                <a:tc>
                  <a:txBody>
                    <a:bodyPr/>
                    <a:lstStyle/>
                    <a:p>
                      <a:r>
                        <a:rPr lang="en-US" dirty="0" smtClean="0"/>
                        <a:t>Member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Cleaner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01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Roles and responsibilities of  WIT: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dirty="0" smtClean="0"/>
          </a:p>
          <a:p>
            <a:pPr lvl="0"/>
            <a:r>
              <a:rPr lang="en-US" sz="17600" dirty="0" smtClean="0"/>
              <a:t>5S implementation</a:t>
            </a:r>
          </a:p>
          <a:p>
            <a:pPr lvl="0"/>
            <a:r>
              <a:rPr lang="en-US" sz="17600" u="sng" dirty="0" smtClean="0"/>
              <a:t>Holding regular meetings</a:t>
            </a:r>
          </a:p>
          <a:p>
            <a:pPr lvl="0"/>
            <a:r>
              <a:rPr lang="en-US" sz="17600" dirty="0" smtClean="0"/>
              <a:t>Preparing action plan</a:t>
            </a:r>
          </a:p>
          <a:p>
            <a:pPr lvl="0"/>
            <a:r>
              <a:rPr lang="en-US" sz="17600" dirty="0" smtClean="0"/>
              <a:t>Taking pictures to demonstrate changes (</a:t>
            </a:r>
            <a:r>
              <a:rPr lang="en-US" sz="17600" u="sng" dirty="0" smtClean="0"/>
              <a:t>before and after</a:t>
            </a:r>
            <a:r>
              <a:rPr lang="en-US" sz="17600" dirty="0" smtClean="0"/>
              <a:t>) in their respective sections </a:t>
            </a:r>
          </a:p>
          <a:p>
            <a:pPr lvl="0">
              <a:buNone/>
            </a:pPr>
            <a:endParaRPr lang="en-US" sz="7400" dirty="0" smtClean="0"/>
          </a:p>
          <a:p>
            <a:pPr>
              <a:buNone/>
            </a:pPr>
            <a:r>
              <a:rPr lang="en-US" sz="7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en-US" sz="4000" b="1" dirty="0" smtClean="0"/>
              <a:t>Role and responsibilities of WIT--</a:t>
            </a:r>
            <a:endParaRPr lang="en-US" sz="4000" dirty="0" smtClean="0"/>
          </a:p>
          <a:p>
            <a:pPr lvl="0"/>
            <a:r>
              <a:rPr lang="en-US" sz="4000" u="sng" dirty="0" smtClean="0">
                <a:solidFill>
                  <a:srgbClr val="7030A0"/>
                </a:solidFill>
              </a:rPr>
              <a:t>Identifying problems </a:t>
            </a:r>
            <a:r>
              <a:rPr lang="en-US" sz="4000" dirty="0" smtClean="0"/>
              <a:t>in their own sections and present the future plan in QIC meeting through QI focal person of the facility</a:t>
            </a:r>
          </a:p>
          <a:p>
            <a:pPr lvl="0"/>
            <a:r>
              <a:rPr lang="en-US" sz="4000" dirty="0" smtClean="0">
                <a:solidFill>
                  <a:srgbClr val="00B050"/>
                </a:solidFill>
              </a:rPr>
              <a:t>Trying to solve the problems what they can solve with their existing resources</a:t>
            </a:r>
          </a:p>
          <a:p>
            <a:pPr lvl="0"/>
            <a:r>
              <a:rPr lang="en-US" sz="4000" dirty="0" smtClean="0">
                <a:solidFill>
                  <a:srgbClr val="00B050"/>
                </a:solidFill>
              </a:rPr>
              <a:t>Seeking support from QIC </a:t>
            </a:r>
            <a:r>
              <a:rPr lang="en-US" sz="4000" dirty="0" smtClean="0"/>
              <a:t>for the problems they cannot solve  </a:t>
            </a:r>
          </a:p>
          <a:p>
            <a:pPr lvl="0"/>
            <a:r>
              <a:rPr lang="en-US" sz="4000" dirty="0" smtClean="0"/>
              <a:t>Finding out innovative ways to work</a:t>
            </a:r>
            <a:endParaRPr lang="en-US" sz="3800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3323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83616"/>
            <a:ext cx="8229600" cy="1143000"/>
          </a:xfrm>
        </p:spPr>
        <p:txBody>
          <a:bodyPr/>
          <a:lstStyle/>
          <a:p>
            <a:r>
              <a:rPr lang="en-US" dirty="0" smtClean="0"/>
              <a:t>Possible WITs in a district hospital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384"/>
            <a:ext cx="8229600" cy="5493816"/>
          </a:xfrm>
        </p:spPr>
        <p:txBody>
          <a:bodyPr>
            <a:normAutofit fontScale="55000" lnSpcReduction="20000"/>
          </a:bodyPr>
          <a:lstStyle/>
          <a:p>
            <a:r>
              <a:rPr lang="en-US" sz="4500" dirty="0"/>
              <a:t>WITs for a district hospital</a:t>
            </a:r>
          </a:p>
          <a:p>
            <a:pPr lvl="0"/>
            <a:r>
              <a:rPr lang="en-US" sz="4500" dirty="0"/>
              <a:t>OPD</a:t>
            </a:r>
          </a:p>
          <a:p>
            <a:pPr lvl="0"/>
            <a:r>
              <a:rPr lang="en-US" sz="4500" dirty="0"/>
              <a:t>Emergency</a:t>
            </a:r>
          </a:p>
          <a:p>
            <a:pPr lvl="0"/>
            <a:r>
              <a:rPr lang="en-US" sz="4500" dirty="0"/>
              <a:t>Office rooms and store</a:t>
            </a:r>
          </a:p>
          <a:p>
            <a:pPr lvl="0"/>
            <a:r>
              <a:rPr lang="en-US" sz="4500" dirty="0"/>
              <a:t>Premises (Outside hospital building)</a:t>
            </a:r>
          </a:p>
          <a:p>
            <a:pPr lvl="0"/>
            <a:r>
              <a:rPr lang="en-US" sz="4500" dirty="0"/>
              <a:t>Pathology, X-ray, Blood bank</a:t>
            </a:r>
          </a:p>
          <a:p>
            <a:pPr lvl="0"/>
            <a:r>
              <a:rPr lang="en-US" sz="4500" dirty="0"/>
              <a:t>EOC (Labor ward, </a:t>
            </a:r>
            <a:r>
              <a:rPr lang="en-US" sz="4500" dirty="0" err="1"/>
              <a:t>Gynae</a:t>
            </a:r>
            <a:r>
              <a:rPr lang="en-US" sz="4500" dirty="0"/>
              <a:t> &amp; </a:t>
            </a:r>
            <a:r>
              <a:rPr lang="en-US" sz="4500" dirty="0" err="1"/>
              <a:t>Obs</a:t>
            </a:r>
            <a:r>
              <a:rPr lang="en-US" sz="4500" dirty="0"/>
              <a:t> ward)</a:t>
            </a:r>
          </a:p>
          <a:p>
            <a:pPr lvl="0"/>
            <a:r>
              <a:rPr lang="en-US" sz="4500" dirty="0"/>
              <a:t>Female surgery, Female Ortho, Female Eye and Female ENT</a:t>
            </a:r>
          </a:p>
          <a:p>
            <a:pPr lvl="0"/>
            <a:r>
              <a:rPr lang="en-US" sz="4500" dirty="0"/>
              <a:t>Male surgery, Male Ortho, Male Eye and Male ENT</a:t>
            </a:r>
          </a:p>
          <a:p>
            <a:pPr lvl="0"/>
            <a:r>
              <a:rPr lang="en-US" sz="4500" dirty="0"/>
              <a:t>Female medicine and Cardiology</a:t>
            </a:r>
          </a:p>
          <a:p>
            <a:pPr lvl="0"/>
            <a:r>
              <a:rPr lang="en-US" sz="4500" dirty="0"/>
              <a:t>Male medicine and Cardiology</a:t>
            </a:r>
          </a:p>
          <a:p>
            <a:pPr lvl="0"/>
            <a:r>
              <a:rPr lang="en-US" sz="4500" dirty="0"/>
              <a:t>OT</a:t>
            </a:r>
          </a:p>
          <a:p>
            <a:pPr lvl="0"/>
            <a:r>
              <a:rPr lang="en-US" sz="4500" dirty="0"/>
              <a:t>Pediatric 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7434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436</Words>
  <Application>Microsoft Office PowerPoint</Application>
  <PresentationFormat>On-screen Show (4:3)</PresentationFormat>
  <Paragraphs>100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Quality improvement initiative-5S  QIC &amp; WIT (Formation and Responsibilities) </vt:lpstr>
      <vt:lpstr>Quality improvement initiative-5S in Health Facility</vt:lpstr>
      <vt:lpstr>Composition of QIC for district hospital (DH-QIC)</vt:lpstr>
      <vt:lpstr>Role and responsibilities of QIC</vt:lpstr>
      <vt:lpstr>Role and responsibilities of QIC (Cont)</vt:lpstr>
      <vt:lpstr>Role and responsibilities of QIC (Cont)</vt:lpstr>
      <vt:lpstr>Composition of WIT</vt:lpstr>
      <vt:lpstr>Roles and responsibilities of  WIT: </vt:lpstr>
      <vt:lpstr>Slide 9</vt:lpstr>
      <vt:lpstr>Possible WITs in a district hospital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and responsibilities of QIC</dc:title>
  <dc:creator>HP</dc:creator>
  <cp:lastModifiedBy>DR. NAZMUL</cp:lastModifiedBy>
  <cp:revision>22</cp:revision>
  <dcterms:created xsi:type="dcterms:W3CDTF">2016-10-16T13:22:26Z</dcterms:created>
  <dcterms:modified xsi:type="dcterms:W3CDTF">2022-12-04T06:41:12Z</dcterms:modified>
</cp:coreProperties>
</file>