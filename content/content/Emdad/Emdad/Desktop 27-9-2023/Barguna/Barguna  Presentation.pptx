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384" r:id="rId3"/>
    <p:sldId id="512" r:id="rId4"/>
    <p:sldId id="420" r:id="rId5"/>
    <p:sldId id="257" r:id="rId6"/>
    <p:sldId id="406" r:id="rId7"/>
    <p:sldId id="278" r:id="rId8"/>
    <p:sldId id="341" r:id="rId9"/>
    <p:sldId id="419" r:id="rId10"/>
    <p:sldId id="390" r:id="rId11"/>
    <p:sldId id="343" r:id="rId12"/>
    <p:sldId id="407" r:id="rId13"/>
    <p:sldId id="51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 autoAdjust="0"/>
  </p:normalViewPr>
  <p:slideViewPr>
    <p:cSldViewPr snapToGrid="0">
      <p:cViewPr varScale="1">
        <p:scale>
          <a:sx n="68" d="100"/>
          <a:sy n="68" d="100"/>
        </p:scale>
        <p:origin x="53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38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660D2-7531-4B7B-9DC9-B462E3FDA8A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02B9F0-E626-4C8B-BD2A-5010DA3B9508}">
      <dgm:prSet/>
      <dgm:spPr/>
      <dgm:t>
        <a:bodyPr/>
        <a:lstStyle/>
        <a:p>
          <a:r>
            <a:rPr lang="bn-IN"/>
            <a:t>সম</a:t>
          </a:r>
          <a:r>
            <a:rPr lang="en-GB"/>
            <a:t>্প্রসারণ</a:t>
          </a:r>
          <a:endParaRPr lang="en-GB" dirty="0"/>
        </a:p>
      </dgm:t>
    </dgm:pt>
    <dgm:pt modelId="{A4D878FF-3C86-4BF2-B275-5C7CEF968DBF}" type="parTrans" cxnId="{8ABE57D6-2A0A-4702-BB91-B8B245AC27BA}">
      <dgm:prSet/>
      <dgm:spPr/>
      <dgm:t>
        <a:bodyPr/>
        <a:lstStyle/>
        <a:p>
          <a:endParaRPr lang="en-US"/>
        </a:p>
      </dgm:t>
    </dgm:pt>
    <dgm:pt modelId="{B1826330-98C3-41CB-B8D0-2180131A4C37}" type="sibTrans" cxnId="{8ABE57D6-2A0A-4702-BB91-B8B245AC27BA}">
      <dgm:prSet/>
      <dgm:spPr/>
      <dgm:t>
        <a:bodyPr/>
        <a:lstStyle/>
        <a:p>
          <a:endParaRPr lang="en-US"/>
        </a:p>
      </dgm:t>
    </dgm:pt>
    <dgm:pt modelId="{9AEA5E90-4BA3-4DD2-9B18-80F40A809CFB}">
      <dgm:prSet/>
      <dgm:spPr/>
      <dgm:t>
        <a:bodyPr/>
        <a:lstStyle/>
        <a:p>
          <a:r>
            <a:rPr lang="bn-IN" dirty="0"/>
            <a:t>জনসম্পৃক্ততা</a:t>
          </a:r>
          <a:r>
            <a:rPr lang="en-GB" dirty="0"/>
            <a:t> ও </a:t>
          </a:r>
          <a:r>
            <a:rPr lang="en-GB" dirty="0" err="1"/>
            <a:t>কমিটি</a:t>
          </a:r>
          <a:r>
            <a:rPr lang="en-GB" dirty="0"/>
            <a:t> </a:t>
          </a:r>
          <a:r>
            <a:rPr lang="en-GB" dirty="0" err="1"/>
            <a:t>গঠন</a:t>
          </a:r>
          <a:r>
            <a:rPr lang="bn-IN" dirty="0"/>
            <a:t> </a:t>
          </a:r>
          <a:endParaRPr lang="en-US" dirty="0"/>
        </a:p>
      </dgm:t>
    </dgm:pt>
    <dgm:pt modelId="{98546F5B-2118-40CD-B9FE-58E3011189BE}" type="parTrans" cxnId="{791D06BB-C3A8-4658-85D7-528F816FC9FB}">
      <dgm:prSet/>
      <dgm:spPr/>
      <dgm:t>
        <a:bodyPr/>
        <a:lstStyle/>
        <a:p>
          <a:endParaRPr lang="en-US"/>
        </a:p>
      </dgm:t>
    </dgm:pt>
    <dgm:pt modelId="{46721B0D-1AA6-4FC8-A238-D37C5C9FDA2F}" type="sibTrans" cxnId="{791D06BB-C3A8-4658-85D7-528F816FC9FB}">
      <dgm:prSet/>
      <dgm:spPr/>
      <dgm:t>
        <a:bodyPr/>
        <a:lstStyle/>
        <a:p>
          <a:endParaRPr lang="en-US"/>
        </a:p>
      </dgm:t>
    </dgm:pt>
    <dgm:pt modelId="{88D3464D-A729-40F4-BC36-33D77706DB6F}">
      <dgm:prSet/>
      <dgm:spPr/>
      <dgm:t>
        <a:bodyPr/>
        <a:lstStyle/>
        <a:p>
          <a:r>
            <a:rPr lang="en-US" dirty="0" err="1"/>
            <a:t>স্টাফ</a:t>
          </a:r>
          <a:r>
            <a:rPr lang="en-US" dirty="0"/>
            <a:t> </a:t>
          </a:r>
          <a:r>
            <a:rPr lang="en-US" dirty="0" err="1"/>
            <a:t>বৃদ্ধি</a:t>
          </a:r>
          <a:r>
            <a:rPr lang="en-US" dirty="0"/>
            <a:t>:     ৫৬ </a:t>
          </a:r>
          <a:r>
            <a:rPr lang="en-US" dirty="0" err="1"/>
            <a:t>জন</a:t>
          </a:r>
          <a:endParaRPr lang="en-US" dirty="0"/>
        </a:p>
      </dgm:t>
    </dgm:pt>
    <dgm:pt modelId="{7013BDC3-8014-4AF1-B8ED-04FED08A63B1}" type="parTrans" cxnId="{D2DF2B10-F455-4E92-9E93-98A19CBF2C56}">
      <dgm:prSet/>
      <dgm:spPr/>
      <dgm:t>
        <a:bodyPr/>
        <a:lstStyle/>
        <a:p>
          <a:endParaRPr lang="en-US"/>
        </a:p>
      </dgm:t>
    </dgm:pt>
    <dgm:pt modelId="{42B06845-0AB7-47D2-BB61-4A3F6D67E2E2}" type="sibTrans" cxnId="{D2DF2B10-F455-4E92-9E93-98A19CBF2C56}">
      <dgm:prSet/>
      <dgm:spPr/>
      <dgm:t>
        <a:bodyPr/>
        <a:lstStyle/>
        <a:p>
          <a:endParaRPr lang="en-US"/>
        </a:p>
      </dgm:t>
    </dgm:pt>
    <dgm:pt modelId="{610D7153-D836-425E-ABAB-41B69166C8FA}">
      <dgm:prSet/>
      <dgm:spPr/>
      <dgm:t>
        <a:bodyPr/>
        <a:lstStyle/>
        <a:p>
          <a:r>
            <a:rPr lang="bn-IN"/>
            <a:t>সুরক্ষা</a:t>
          </a:r>
          <a:endParaRPr lang="en-US"/>
        </a:p>
      </dgm:t>
    </dgm:pt>
    <dgm:pt modelId="{6CEE0124-3B99-402B-9A12-1318843520CA}" type="parTrans" cxnId="{9CC96D18-66E0-43F7-9580-25FB6CADC4DF}">
      <dgm:prSet/>
      <dgm:spPr/>
      <dgm:t>
        <a:bodyPr/>
        <a:lstStyle/>
        <a:p>
          <a:endParaRPr lang="en-US"/>
        </a:p>
      </dgm:t>
    </dgm:pt>
    <dgm:pt modelId="{8CCF91BC-C031-4D41-A211-F51D8C5F779A}" type="sibTrans" cxnId="{9CC96D18-66E0-43F7-9580-25FB6CADC4DF}">
      <dgm:prSet/>
      <dgm:spPr/>
      <dgm:t>
        <a:bodyPr/>
        <a:lstStyle/>
        <a:p>
          <a:endParaRPr lang="en-US"/>
        </a:p>
      </dgm:t>
    </dgm:pt>
    <dgm:pt modelId="{77B94860-9B07-4F13-B939-C7B0F42EECBC}">
      <dgm:prSet/>
      <dgm:spPr/>
      <dgm:t>
        <a:bodyPr/>
        <a:lstStyle/>
        <a:p>
          <a:r>
            <a:rPr lang="bn-IN" dirty="0"/>
            <a:t>দূর্নীতি প্রতিরোধ</a:t>
          </a:r>
          <a:r>
            <a:rPr lang="en-GB" dirty="0"/>
            <a:t>  </a:t>
          </a:r>
          <a:endParaRPr lang="en-US" dirty="0"/>
        </a:p>
      </dgm:t>
    </dgm:pt>
    <dgm:pt modelId="{51C5C389-9023-43AD-BE4D-242654F19991}" type="parTrans" cxnId="{5ECC7277-5B7A-4B43-B7F3-18C191279D21}">
      <dgm:prSet/>
      <dgm:spPr/>
      <dgm:t>
        <a:bodyPr/>
        <a:lstStyle/>
        <a:p>
          <a:endParaRPr lang="en-US"/>
        </a:p>
      </dgm:t>
    </dgm:pt>
    <dgm:pt modelId="{CADCDD1F-286D-489C-AED4-25F7A9A1E31E}" type="sibTrans" cxnId="{5ECC7277-5B7A-4B43-B7F3-18C191279D21}">
      <dgm:prSet/>
      <dgm:spPr/>
      <dgm:t>
        <a:bodyPr/>
        <a:lstStyle/>
        <a:p>
          <a:endParaRPr lang="en-US"/>
        </a:p>
      </dgm:t>
    </dgm:pt>
    <dgm:pt modelId="{4D71D476-FD32-44C8-A5D7-96F395056DC2}">
      <dgm:prSet/>
      <dgm:spPr/>
      <dgm:t>
        <a:bodyPr/>
        <a:lstStyle/>
        <a:p>
          <a:r>
            <a:rPr lang="bn-IN"/>
            <a:t>পরিচ্ছন্নতা</a:t>
          </a:r>
          <a:r>
            <a:rPr lang="bn-IN" b="1"/>
            <a:t> </a:t>
          </a:r>
          <a:r>
            <a:rPr lang="bn-IN"/>
            <a:t>ও</a:t>
          </a:r>
          <a:r>
            <a:rPr lang="bn-IN" b="1"/>
            <a:t> </a:t>
          </a:r>
          <a:r>
            <a:rPr lang="bn-IN"/>
            <a:t>সৌন্দর্যবর্ধন </a:t>
          </a:r>
          <a:endParaRPr lang="en-US" dirty="0"/>
        </a:p>
      </dgm:t>
    </dgm:pt>
    <dgm:pt modelId="{038FB7E5-7686-400C-8BFA-CF6A6DD230D6}" type="parTrans" cxnId="{5F1D6F3C-A09A-4277-9D10-F90228167CA5}">
      <dgm:prSet/>
      <dgm:spPr/>
      <dgm:t>
        <a:bodyPr/>
        <a:lstStyle/>
        <a:p>
          <a:endParaRPr lang="en-US"/>
        </a:p>
      </dgm:t>
    </dgm:pt>
    <dgm:pt modelId="{B4982816-5802-4A0A-BA19-DD21221289D4}" type="sibTrans" cxnId="{5F1D6F3C-A09A-4277-9D10-F90228167CA5}">
      <dgm:prSet/>
      <dgm:spPr/>
      <dgm:t>
        <a:bodyPr/>
        <a:lstStyle/>
        <a:p>
          <a:endParaRPr lang="en-US"/>
        </a:p>
      </dgm:t>
    </dgm:pt>
    <dgm:pt modelId="{A84A2978-2AC1-4303-BCBD-40A8C5C9F7B0}">
      <dgm:prSet/>
      <dgm:spPr/>
      <dgm:t>
        <a:bodyPr/>
        <a:lstStyle/>
        <a:p>
          <a:r>
            <a:rPr lang="en-GB" dirty="0" err="1"/>
            <a:t>শ্রেষ্ঠ</a:t>
          </a:r>
          <a:r>
            <a:rPr lang="en-GB" dirty="0"/>
            <a:t> </a:t>
          </a:r>
          <a:r>
            <a:rPr lang="en-GB" dirty="0" err="1"/>
            <a:t>মান</a:t>
          </a:r>
          <a:r>
            <a:rPr lang="en-GB" dirty="0"/>
            <a:t> </a:t>
          </a:r>
          <a:r>
            <a:rPr lang="en-GB" dirty="0" err="1"/>
            <a:t>সম্পন্ন</a:t>
          </a:r>
          <a:r>
            <a:rPr lang="en-GB" dirty="0"/>
            <a:t> </a:t>
          </a:r>
          <a:r>
            <a:rPr lang="en-GB" dirty="0" err="1"/>
            <a:t>সেবা</a:t>
          </a:r>
          <a:r>
            <a:rPr lang="en-GB" dirty="0"/>
            <a:t> </a:t>
          </a:r>
          <a:r>
            <a:rPr lang="en-GB" dirty="0" err="1"/>
            <a:t>কেন্দ্র</a:t>
          </a:r>
          <a:endParaRPr lang="en-US" dirty="0"/>
        </a:p>
      </dgm:t>
    </dgm:pt>
    <dgm:pt modelId="{4F97281A-802C-4000-8D2A-66142CFFCE3C}" type="sibTrans" cxnId="{166E3F99-1D73-450F-BDAA-30C14BAE59A4}">
      <dgm:prSet/>
      <dgm:spPr/>
      <dgm:t>
        <a:bodyPr/>
        <a:lstStyle/>
        <a:p>
          <a:endParaRPr lang="en-US"/>
        </a:p>
      </dgm:t>
    </dgm:pt>
    <dgm:pt modelId="{E3041B88-5468-4AB9-8D02-E4D51804522F}" type="parTrans" cxnId="{166E3F99-1D73-450F-BDAA-30C14BAE59A4}">
      <dgm:prSet/>
      <dgm:spPr/>
      <dgm:t>
        <a:bodyPr/>
        <a:lstStyle/>
        <a:p>
          <a:endParaRPr lang="en-US"/>
        </a:p>
      </dgm:t>
    </dgm:pt>
    <dgm:pt modelId="{D1F5521C-92B8-4D4D-8EED-39D567818230}" type="pres">
      <dgm:prSet presAssocID="{D9F660D2-7531-4B7B-9DC9-B462E3FDA8AA}" presName="Name0" presStyleCnt="0">
        <dgm:presLayoutVars>
          <dgm:dir/>
          <dgm:resizeHandles val="exact"/>
        </dgm:presLayoutVars>
      </dgm:prSet>
      <dgm:spPr/>
    </dgm:pt>
    <dgm:pt modelId="{570E10F7-852E-4DD4-A1D9-BE86AC68401E}" type="pres">
      <dgm:prSet presAssocID="{D9F660D2-7531-4B7B-9DC9-B462E3FDA8AA}" presName="cycle" presStyleCnt="0"/>
      <dgm:spPr/>
    </dgm:pt>
    <dgm:pt modelId="{DF5D109B-C564-497C-B822-FF07AB5AC3EF}" type="pres">
      <dgm:prSet presAssocID="{A84A2978-2AC1-4303-BCBD-40A8C5C9F7B0}" presName="nodeFirstNode" presStyleLbl="node1" presStyleIdx="0" presStyleCnt="7">
        <dgm:presLayoutVars>
          <dgm:bulletEnabled val="1"/>
        </dgm:presLayoutVars>
      </dgm:prSet>
      <dgm:spPr/>
    </dgm:pt>
    <dgm:pt modelId="{D046EDB0-D1C9-407A-A55E-5858E1E5D4AF}" type="pres">
      <dgm:prSet presAssocID="{4F97281A-802C-4000-8D2A-66142CFFCE3C}" presName="sibTransFirstNode" presStyleLbl="bgShp" presStyleIdx="0" presStyleCnt="1"/>
      <dgm:spPr/>
    </dgm:pt>
    <dgm:pt modelId="{CB4F0E61-DC7F-4119-ABA9-796676CB2FA1}" type="pres">
      <dgm:prSet presAssocID="{3D02B9F0-E626-4C8B-BD2A-5010DA3B9508}" presName="nodeFollowingNodes" presStyleLbl="node1" presStyleIdx="1" presStyleCnt="7" custRadScaleRad="97866" custRadScaleInc="-225393">
        <dgm:presLayoutVars>
          <dgm:bulletEnabled val="1"/>
        </dgm:presLayoutVars>
      </dgm:prSet>
      <dgm:spPr/>
    </dgm:pt>
    <dgm:pt modelId="{57FC54FE-E97C-4F29-92CF-2A7248720E8D}" type="pres">
      <dgm:prSet presAssocID="{9AEA5E90-4BA3-4DD2-9B18-80F40A809CFB}" presName="nodeFollowingNodes" presStyleLbl="node1" presStyleIdx="2" presStyleCnt="7" custRadScaleRad="98552" custRadScaleInc="-9884">
        <dgm:presLayoutVars>
          <dgm:bulletEnabled val="1"/>
        </dgm:presLayoutVars>
      </dgm:prSet>
      <dgm:spPr/>
    </dgm:pt>
    <dgm:pt modelId="{E2E5C2CC-16B6-414F-A1E4-8C9432894059}" type="pres">
      <dgm:prSet presAssocID="{88D3464D-A729-40F4-BC36-33D77706DB6F}" presName="nodeFollowingNodes" presStyleLbl="node1" presStyleIdx="3" presStyleCnt="7" custRadScaleRad="101627" custRadScaleInc="122449">
        <dgm:presLayoutVars>
          <dgm:bulletEnabled val="1"/>
        </dgm:presLayoutVars>
      </dgm:prSet>
      <dgm:spPr/>
    </dgm:pt>
    <dgm:pt modelId="{C4FF0D0D-74E1-473C-A1E9-CFD413B11028}" type="pres">
      <dgm:prSet presAssocID="{610D7153-D836-425E-ABAB-41B69166C8FA}" presName="nodeFollowingNodes" presStyleLbl="node1" presStyleIdx="4" presStyleCnt="7" custRadScaleRad="99563" custRadScaleInc="-117598">
        <dgm:presLayoutVars>
          <dgm:bulletEnabled val="1"/>
        </dgm:presLayoutVars>
      </dgm:prSet>
      <dgm:spPr/>
    </dgm:pt>
    <dgm:pt modelId="{8D24C1E3-835B-4535-A9EB-AB5FCDF4505F}" type="pres">
      <dgm:prSet presAssocID="{77B94860-9B07-4F13-B939-C7B0F42EECBC}" presName="nodeFollowingNodes" presStyleLbl="node1" presStyleIdx="5" presStyleCnt="7" custRadScaleRad="98104" custRadScaleInc="15079">
        <dgm:presLayoutVars>
          <dgm:bulletEnabled val="1"/>
        </dgm:presLayoutVars>
      </dgm:prSet>
      <dgm:spPr/>
    </dgm:pt>
    <dgm:pt modelId="{8173D7A6-1922-458F-9222-CB9A92415CD8}" type="pres">
      <dgm:prSet presAssocID="{4D71D476-FD32-44C8-A5D7-96F395056DC2}" presName="nodeFollowingNodes" presStyleLbl="node1" presStyleIdx="6" presStyleCnt="7" custRadScaleRad="101286" custRadScaleInc="227388">
        <dgm:presLayoutVars>
          <dgm:bulletEnabled val="1"/>
        </dgm:presLayoutVars>
      </dgm:prSet>
      <dgm:spPr/>
    </dgm:pt>
  </dgm:ptLst>
  <dgm:cxnLst>
    <dgm:cxn modelId="{D2DF2B10-F455-4E92-9E93-98A19CBF2C56}" srcId="{D9F660D2-7531-4B7B-9DC9-B462E3FDA8AA}" destId="{88D3464D-A729-40F4-BC36-33D77706DB6F}" srcOrd="3" destOrd="0" parTransId="{7013BDC3-8014-4AF1-B8ED-04FED08A63B1}" sibTransId="{42B06845-0AB7-47D2-BB61-4A3F6D67E2E2}"/>
    <dgm:cxn modelId="{9CC96D18-66E0-43F7-9580-25FB6CADC4DF}" srcId="{D9F660D2-7531-4B7B-9DC9-B462E3FDA8AA}" destId="{610D7153-D836-425E-ABAB-41B69166C8FA}" srcOrd="4" destOrd="0" parTransId="{6CEE0124-3B99-402B-9A12-1318843520CA}" sibTransId="{8CCF91BC-C031-4D41-A211-F51D8C5F779A}"/>
    <dgm:cxn modelId="{BA33D93A-AE1F-4349-BC94-EE1264459AE5}" type="presOf" srcId="{A84A2978-2AC1-4303-BCBD-40A8C5C9F7B0}" destId="{DF5D109B-C564-497C-B822-FF07AB5AC3EF}" srcOrd="0" destOrd="0" presId="urn:microsoft.com/office/officeart/2005/8/layout/cycle3"/>
    <dgm:cxn modelId="{5F1D6F3C-A09A-4277-9D10-F90228167CA5}" srcId="{D9F660D2-7531-4B7B-9DC9-B462E3FDA8AA}" destId="{4D71D476-FD32-44C8-A5D7-96F395056DC2}" srcOrd="6" destOrd="0" parTransId="{038FB7E5-7686-400C-8BFA-CF6A6DD230D6}" sibTransId="{B4982816-5802-4A0A-BA19-DD21221289D4}"/>
    <dgm:cxn modelId="{AE388074-7BCE-4DC5-A93D-92DE561DA4A4}" type="presOf" srcId="{77B94860-9B07-4F13-B939-C7B0F42EECBC}" destId="{8D24C1E3-835B-4535-A9EB-AB5FCDF4505F}" srcOrd="0" destOrd="0" presId="urn:microsoft.com/office/officeart/2005/8/layout/cycle3"/>
    <dgm:cxn modelId="{5ECC7277-5B7A-4B43-B7F3-18C191279D21}" srcId="{D9F660D2-7531-4B7B-9DC9-B462E3FDA8AA}" destId="{77B94860-9B07-4F13-B939-C7B0F42EECBC}" srcOrd="5" destOrd="0" parTransId="{51C5C389-9023-43AD-BE4D-242654F19991}" sibTransId="{CADCDD1F-286D-489C-AED4-25F7A9A1E31E}"/>
    <dgm:cxn modelId="{8432617A-D934-4ADD-A017-28D71B22766E}" type="presOf" srcId="{88D3464D-A729-40F4-BC36-33D77706DB6F}" destId="{E2E5C2CC-16B6-414F-A1E4-8C9432894059}" srcOrd="0" destOrd="0" presId="urn:microsoft.com/office/officeart/2005/8/layout/cycle3"/>
    <dgm:cxn modelId="{B312A496-23FC-4EC1-9917-4C6FF45AB17D}" type="presOf" srcId="{3D02B9F0-E626-4C8B-BD2A-5010DA3B9508}" destId="{CB4F0E61-DC7F-4119-ABA9-796676CB2FA1}" srcOrd="0" destOrd="0" presId="urn:microsoft.com/office/officeart/2005/8/layout/cycle3"/>
    <dgm:cxn modelId="{166E3F99-1D73-450F-BDAA-30C14BAE59A4}" srcId="{D9F660D2-7531-4B7B-9DC9-B462E3FDA8AA}" destId="{A84A2978-2AC1-4303-BCBD-40A8C5C9F7B0}" srcOrd="0" destOrd="0" parTransId="{E3041B88-5468-4AB9-8D02-E4D51804522F}" sibTransId="{4F97281A-802C-4000-8D2A-66142CFFCE3C}"/>
    <dgm:cxn modelId="{1A7B7DA8-78F7-45CF-BCFF-2D514BCA9371}" type="presOf" srcId="{610D7153-D836-425E-ABAB-41B69166C8FA}" destId="{C4FF0D0D-74E1-473C-A1E9-CFD413B11028}" srcOrd="0" destOrd="0" presId="urn:microsoft.com/office/officeart/2005/8/layout/cycle3"/>
    <dgm:cxn modelId="{791D06BB-C3A8-4658-85D7-528F816FC9FB}" srcId="{D9F660D2-7531-4B7B-9DC9-B462E3FDA8AA}" destId="{9AEA5E90-4BA3-4DD2-9B18-80F40A809CFB}" srcOrd="2" destOrd="0" parTransId="{98546F5B-2118-40CD-B9FE-58E3011189BE}" sibTransId="{46721B0D-1AA6-4FC8-A238-D37C5C9FDA2F}"/>
    <dgm:cxn modelId="{328E3CC5-1A88-4B63-9EA4-AA0C7780C381}" type="presOf" srcId="{9AEA5E90-4BA3-4DD2-9B18-80F40A809CFB}" destId="{57FC54FE-E97C-4F29-92CF-2A7248720E8D}" srcOrd="0" destOrd="0" presId="urn:microsoft.com/office/officeart/2005/8/layout/cycle3"/>
    <dgm:cxn modelId="{8ABE57D6-2A0A-4702-BB91-B8B245AC27BA}" srcId="{D9F660D2-7531-4B7B-9DC9-B462E3FDA8AA}" destId="{3D02B9F0-E626-4C8B-BD2A-5010DA3B9508}" srcOrd="1" destOrd="0" parTransId="{A4D878FF-3C86-4BF2-B275-5C7CEF968DBF}" sibTransId="{B1826330-98C3-41CB-B8D0-2180131A4C37}"/>
    <dgm:cxn modelId="{41CF2FE1-F406-4D15-BD41-2FC2F998AD6F}" type="presOf" srcId="{4F97281A-802C-4000-8D2A-66142CFFCE3C}" destId="{D046EDB0-D1C9-407A-A55E-5858E1E5D4AF}" srcOrd="0" destOrd="0" presId="urn:microsoft.com/office/officeart/2005/8/layout/cycle3"/>
    <dgm:cxn modelId="{B1C432EA-4813-4747-8615-6D860E20D057}" type="presOf" srcId="{D9F660D2-7531-4B7B-9DC9-B462E3FDA8AA}" destId="{D1F5521C-92B8-4D4D-8EED-39D567818230}" srcOrd="0" destOrd="0" presId="urn:microsoft.com/office/officeart/2005/8/layout/cycle3"/>
    <dgm:cxn modelId="{40389EFB-79C6-473A-9652-9C957BF4F0A3}" type="presOf" srcId="{4D71D476-FD32-44C8-A5D7-96F395056DC2}" destId="{8173D7A6-1922-458F-9222-CB9A92415CD8}" srcOrd="0" destOrd="0" presId="urn:microsoft.com/office/officeart/2005/8/layout/cycle3"/>
    <dgm:cxn modelId="{BFCD469E-AE63-49A0-AAA9-6EBAD75EEB7F}" type="presParOf" srcId="{D1F5521C-92B8-4D4D-8EED-39D567818230}" destId="{570E10F7-852E-4DD4-A1D9-BE86AC68401E}" srcOrd="0" destOrd="0" presId="urn:microsoft.com/office/officeart/2005/8/layout/cycle3"/>
    <dgm:cxn modelId="{1F38A63D-1766-4EA7-8F6C-B4125C965567}" type="presParOf" srcId="{570E10F7-852E-4DD4-A1D9-BE86AC68401E}" destId="{DF5D109B-C564-497C-B822-FF07AB5AC3EF}" srcOrd="0" destOrd="0" presId="urn:microsoft.com/office/officeart/2005/8/layout/cycle3"/>
    <dgm:cxn modelId="{8C335A4A-0805-4AFD-B0C6-0F8336F0070C}" type="presParOf" srcId="{570E10F7-852E-4DD4-A1D9-BE86AC68401E}" destId="{D046EDB0-D1C9-407A-A55E-5858E1E5D4AF}" srcOrd="1" destOrd="0" presId="urn:microsoft.com/office/officeart/2005/8/layout/cycle3"/>
    <dgm:cxn modelId="{921D464D-80BE-428B-B3B5-BB7A286F0085}" type="presParOf" srcId="{570E10F7-852E-4DD4-A1D9-BE86AC68401E}" destId="{CB4F0E61-DC7F-4119-ABA9-796676CB2FA1}" srcOrd="2" destOrd="0" presId="urn:microsoft.com/office/officeart/2005/8/layout/cycle3"/>
    <dgm:cxn modelId="{494C0E9E-0E71-421C-8032-5C0F96354044}" type="presParOf" srcId="{570E10F7-852E-4DD4-A1D9-BE86AC68401E}" destId="{57FC54FE-E97C-4F29-92CF-2A7248720E8D}" srcOrd="3" destOrd="0" presId="urn:microsoft.com/office/officeart/2005/8/layout/cycle3"/>
    <dgm:cxn modelId="{EF7791DF-23F7-44E8-B03D-7DAC30E26CC6}" type="presParOf" srcId="{570E10F7-852E-4DD4-A1D9-BE86AC68401E}" destId="{E2E5C2CC-16B6-414F-A1E4-8C9432894059}" srcOrd="4" destOrd="0" presId="urn:microsoft.com/office/officeart/2005/8/layout/cycle3"/>
    <dgm:cxn modelId="{4BACE444-A2AE-40F0-9521-6D093E7D43C5}" type="presParOf" srcId="{570E10F7-852E-4DD4-A1D9-BE86AC68401E}" destId="{C4FF0D0D-74E1-473C-A1E9-CFD413B11028}" srcOrd="5" destOrd="0" presId="urn:microsoft.com/office/officeart/2005/8/layout/cycle3"/>
    <dgm:cxn modelId="{E0F56571-1E3D-4460-A050-016D1EB6CA49}" type="presParOf" srcId="{570E10F7-852E-4DD4-A1D9-BE86AC68401E}" destId="{8D24C1E3-835B-4535-A9EB-AB5FCDF4505F}" srcOrd="6" destOrd="0" presId="urn:microsoft.com/office/officeart/2005/8/layout/cycle3"/>
    <dgm:cxn modelId="{8C0C5A0B-0944-4008-AD59-BA46819EE8C0}" type="presParOf" srcId="{570E10F7-852E-4DD4-A1D9-BE86AC68401E}" destId="{8173D7A6-1922-458F-9222-CB9A92415CD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6EDB0-D1C9-407A-A55E-5858E1E5D4AF}">
      <dsp:nvSpPr>
        <dsp:cNvPr id="0" name=""/>
        <dsp:cNvSpPr/>
      </dsp:nvSpPr>
      <dsp:spPr>
        <a:xfrm>
          <a:off x="436464" y="134228"/>
          <a:ext cx="6078588" cy="6078588"/>
        </a:xfrm>
        <a:prstGeom prst="circularArrow">
          <a:avLst>
            <a:gd name="adj1" fmla="val 5544"/>
            <a:gd name="adj2" fmla="val 330680"/>
            <a:gd name="adj3" fmla="val 14514598"/>
            <a:gd name="adj4" fmla="val 1695090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D109B-C564-497C-B822-FF07AB5AC3EF}">
      <dsp:nvSpPr>
        <dsp:cNvPr id="0" name=""/>
        <dsp:cNvSpPr/>
      </dsp:nvSpPr>
      <dsp:spPr>
        <a:xfrm>
          <a:off x="2528750" y="175994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শ্রেষ্ঠ</a:t>
          </a:r>
          <a:r>
            <a:rPr lang="en-GB" sz="1900" kern="1200" dirty="0"/>
            <a:t> </a:t>
          </a:r>
          <a:r>
            <a:rPr lang="en-GB" sz="1900" kern="1200" dirty="0" err="1"/>
            <a:t>মান</a:t>
          </a:r>
          <a:r>
            <a:rPr lang="en-GB" sz="1900" kern="1200" dirty="0"/>
            <a:t> </a:t>
          </a:r>
          <a:r>
            <a:rPr lang="en-GB" sz="1900" kern="1200" dirty="0" err="1"/>
            <a:t>সম্পন্ন</a:t>
          </a:r>
          <a:r>
            <a:rPr lang="en-GB" sz="1900" kern="1200" dirty="0"/>
            <a:t> </a:t>
          </a:r>
          <a:r>
            <a:rPr lang="en-GB" sz="1900" kern="1200" dirty="0" err="1"/>
            <a:t>সেবা</a:t>
          </a:r>
          <a:r>
            <a:rPr lang="en-GB" sz="1900" kern="1200" dirty="0"/>
            <a:t> </a:t>
          </a:r>
          <a:r>
            <a:rPr lang="en-GB" sz="1900" kern="1200" dirty="0" err="1"/>
            <a:t>কেন্দ্র</a:t>
          </a:r>
          <a:endParaRPr lang="en-US" sz="1900" kern="1200" dirty="0"/>
        </a:p>
      </dsp:txBody>
      <dsp:txXfrm>
        <a:off x="2574979" y="222223"/>
        <a:ext cx="1801558" cy="854550"/>
      </dsp:txXfrm>
    </dsp:sp>
    <dsp:sp modelId="{CB4F0E61-DC7F-4119-ABA9-796676CB2FA1}">
      <dsp:nvSpPr>
        <dsp:cNvPr id="0" name=""/>
        <dsp:cNvSpPr/>
      </dsp:nvSpPr>
      <dsp:spPr>
        <a:xfrm>
          <a:off x="585473" y="1137439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n-IN" sz="1900" kern="1200"/>
            <a:t>সম</a:t>
          </a:r>
          <a:r>
            <a:rPr lang="en-GB" sz="1900" kern="1200"/>
            <a:t>্প্রসারণ</a:t>
          </a:r>
          <a:endParaRPr lang="en-GB" sz="1900" kern="1200" dirty="0"/>
        </a:p>
      </dsp:txBody>
      <dsp:txXfrm>
        <a:off x="631702" y="1183668"/>
        <a:ext cx="1801558" cy="854550"/>
      </dsp:txXfrm>
    </dsp:sp>
    <dsp:sp modelId="{57FC54FE-E97C-4F29-92CF-2A7248720E8D}">
      <dsp:nvSpPr>
        <dsp:cNvPr id="0" name=""/>
        <dsp:cNvSpPr/>
      </dsp:nvSpPr>
      <dsp:spPr>
        <a:xfrm>
          <a:off x="5055898" y="3141740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n-IN" sz="1900" kern="1200" dirty="0"/>
            <a:t>জনসম্পৃক্ততা</a:t>
          </a:r>
          <a:r>
            <a:rPr lang="en-GB" sz="1900" kern="1200" dirty="0"/>
            <a:t> ও </a:t>
          </a:r>
          <a:r>
            <a:rPr lang="en-GB" sz="1900" kern="1200" dirty="0" err="1"/>
            <a:t>কমিটি</a:t>
          </a:r>
          <a:r>
            <a:rPr lang="en-GB" sz="1900" kern="1200" dirty="0"/>
            <a:t> </a:t>
          </a:r>
          <a:r>
            <a:rPr lang="en-GB" sz="1900" kern="1200" dirty="0" err="1"/>
            <a:t>গঠন</a:t>
          </a:r>
          <a:r>
            <a:rPr lang="bn-IN" sz="1900" kern="1200" dirty="0"/>
            <a:t> </a:t>
          </a:r>
          <a:endParaRPr lang="en-US" sz="1900" kern="1200" dirty="0"/>
        </a:p>
      </dsp:txBody>
      <dsp:txXfrm>
        <a:off x="5102127" y="3187969"/>
        <a:ext cx="1801558" cy="854550"/>
      </dsp:txXfrm>
    </dsp:sp>
    <dsp:sp modelId="{E2E5C2CC-16B6-414F-A1E4-8C9432894059}">
      <dsp:nvSpPr>
        <dsp:cNvPr id="0" name=""/>
        <dsp:cNvSpPr/>
      </dsp:nvSpPr>
      <dsp:spPr>
        <a:xfrm>
          <a:off x="1236041" y="5063476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স্টাফ</a:t>
          </a:r>
          <a:r>
            <a:rPr lang="en-US" sz="1900" kern="1200" dirty="0"/>
            <a:t> </a:t>
          </a:r>
          <a:r>
            <a:rPr lang="en-US" sz="1900" kern="1200" dirty="0" err="1"/>
            <a:t>বৃদ্ধি</a:t>
          </a:r>
          <a:r>
            <a:rPr lang="en-US" sz="1900" kern="1200" dirty="0"/>
            <a:t>:     ৫৬ </a:t>
          </a:r>
          <a:r>
            <a:rPr lang="en-US" sz="1900" kern="1200" dirty="0" err="1"/>
            <a:t>জন</a:t>
          </a:r>
          <a:endParaRPr lang="en-US" sz="1900" kern="1200" dirty="0"/>
        </a:p>
      </dsp:txBody>
      <dsp:txXfrm>
        <a:off x="1282270" y="5109705"/>
        <a:ext cx="1801558" cy="854550"/>
      </dsp:txXfrm>
    </dsp:sp>
    <dsp:sp modelId="{C4FF0D0D-74E1-473C-A1E9-CFD413B11028}">
      <dsp:nvSpPr>
        <dsp:cNvPr id="0" name=""/>
        <dsp:cNvSpPr/>
      </dsp:nvSpPr>
      <dsp:spPr>
        <a:xfrm>
          <a:off x="3708630" y="5063467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n-IN" sz="1900" kern="1200"/>
            <a:t>সুরক্ষা</a:t>
          </a:r>
          <a:endParaRPr lang="en-US" sz="1900" kern="1200"/>
        </a:p>
      </dsp:txBody>
      <dsp:txXfrm>
        <a:off x="3754859" y="5109696"/>
        <a:ext cx="1801558" cy="854550"/>
      </dsp:txXfrm>
    </dsp:sp>
    <dsp:sp modelId="{8D24C1E3-835B-4535-A9EB-AB5FCDF4505F}">
      <dsp:nvSpPr>
        <dsp:cNvPr id="0" name=""/>
        <dsp:cNvSpPr/>
      </dsp:nvSpPr>
      <dsp:spPr>
        <a:xfrm>
          <a:off x="13" y="3037118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n-IN" sz="1900" kern="1200" dirty="0"/>
            <a:t>দূর্নীতি প্রতিরোধ</a:t>
          </a:r>
          <a:r>
            <a:rPr lang="en-GB" sz="1900" kern="1200" dirty="0"/>
            <a:t>  </a:t>
          </a:r>
          <a:endParaRPr lang="en-US" sz="1900" kern="1200" dirty="0"/>
        </a:p>
      </dsp:txBody>
      <dsp:txXfrm>
        <a:off x="46242" y="3083347"/>
        <a:ext cx="1801558" cy="854550"/>
      </dsp:txXfrm>
    </dsp:sp>
    <dsp:sp modelId="{8173D7A6-1922-458F-9222-CB9A92415CD8}">
      <dsp:nvSpPr>
        <dsp:cNvPr id="0" name=""/>
        <dsp:cNvSpPr/>
      </dsp:nvSpPr>
      <dsp:spPr>
        <a:xfrm>
          <a:off x="4566132" y="1112172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n-IN" sz="1900" kern="1200"/>
            <a:t>পরিচ্ছন্নতা</a:t>
          </a:r>
          <a:r>
            <a:rPr lang="bn-IN" sz="1900" b="1" kern="1200"/>
            <a:t> </a:t>
          </a:r>
          <a:r>
            <a:rPr lang="bn-IN" sz="1900" kern="1200"/>
            <a:t>ও</a:t>
          </a:r>
          <a:r>
            <a:rPr lang="bn-IN" sz="1900" b="1" kern="1200"/>
            <a:t> </a:t>
          </a:r>
          <a:r>
            <a:rPr lang="bn-IN" sz="1900" kern="1200"/>
            <a:t>সৌন্দর্যবর্ধন </a:t>
          </a:r>
          <a:endParaRPr lang="en-US" sz="1900" kern="1200" dirty="0"/>
        </a:p>
      </dsp:txBody>
      <dsp:txXfrm>
        <a:off x="4612361" y="1158401"/>
        <a:ext cx="1801558" cy="854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539AD-9888-444D-B65C-76DECAF1EB84}" type="datetimeFigureOut">
              <a:rPr lang="bn-BD" smtClean="0"/>
              <a:pPr/>
              <a:t>6/12/1443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F21FC-2469-4510-B52A-1E80B6F41DF7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6975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17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0088"/>
            <a:ext cx="6191250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8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66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  <p:sldLayoutId id="214748367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D5FC-CC01-4A03-9708-9580A492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11" y="313358"/>
            <a:ext cx="11749177" cy="1314159"/>
          </a:xfrm>
        </p:spPr>
        <p:txBody>
          <a:bodyPr>
            <a:noAutofit/>
          </a:bodyPr>
          <a:lstStyle/>
          <a:p>
            <a:pPr algn="ctr"/>
            <a:r>
              <a:rPr lang="b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জনসম্পৃক্ত স্বাস্থ্য ব্যবস্থাপনা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5400" b="1" dirty="0">
                <a:latin typeface="SolaimanLipi" pitchFamily="65" charset="0"/>
                <a:cs typeface="SolaimanLipi" pitchFamily="65" charset="0"/>
              </a:rPr>
              <a:t>মডেল</a:t>
            </a:r>
            <a:endParaRPr lang="bn-BD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9AF61-9AC1-4937-8C6E-F00B0D21A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821" y="3226279"/>
            <a:ext cx="10850593" cy="3462068"/>
          </a:xfrm>
        </p:spPr>
        <p:txBody>
          <a:bodyPr>
            <a:normAutofit/>
          </a:bodyPr>
          <a:lstStyle/>
          <a:p>
            <a:pPr algn="ctr"/>
            <a:r>
              <a:rPr lang="en-GB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ডা</a:t>
            </a:r>
            <a:r>
              <a:rPr lang="en-GB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মো</a:t>
            </a:r>
            <a:r>
              <a:rPr lang="en-GB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ইমদাদুল</a:t>
            </a:r>
            <a:r>
              <a:rPr lang="en-GB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হক</a:t>
            </a:r>
            <a:endParaRPr lang="bn-IN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জাতীয় পরামর্শক</a:t>
            </a:r>
          </a:p>
        </p:txBody>
      </p:sp>
    </p:spTree>
    <p:extLst>
      <p:ext uri="{BB962C8B-B14F-4D97-AF65-F5344CB8AC3E}">
        <p14:creationId xmlns:p14="http://schemas.microsoft.com/office/powerpoint/2010/main" val="224483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152400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2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3200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161887455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5683348" y="6341722"/>
            <a:ext cx="4451252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FF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25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SEARC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/>
        </p:nvGraphicFramePr>
        <p:xfrm>
          <a:off x="2364105" y="1410155"/>
          <a:ext cx="7543800" cy="45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84D6FA-5BF0-4916-BAE3-6D6457E9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63902" y="8338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চ্যালেন্জ সমূহ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3AF0A6-9EA0-4460-8B16-2206F9374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45721"/>
            <a:ext cx="10131425" cy="5428890"/>
          </a:xfrm>
        </p:spPr>
        <p:txBody>
          <a:bodyPr>
            <a:normAutofit/>
          </a:bodyPr>
          <a:lstStyle/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অরক্ষিত হাসপাতাল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স্বাস্থ্য সেবা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সেবাদানকারী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রোগী হতে অর্থ গ্রহন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দ</a:t>
            </a:r>
            <a:r>
              <a:rPr lang="en-GB" sz="4000" dirty="0">
                <a:latin typeface="SolaimanLipi" pitchFamily="65" charset="0"/>
                <a:cs typeface="SolaimanLipi" pitchFamily="65" charset="0"/>
              </a:rPr>
              <a:t>ু</a:t>
            </a:r>
            <a:r>
              <a:rPr lang="bn-BD" sz="4000" dirty="0">
                <a:latin typeface="SolaimanLipi" pitchFamily="65" charset="0"/>
                <a:cs typeface="SolaimanLipi" pitchFamily="65" charset="0"/>
              </a:rPr>
              <a:t>র্বল অর্থ ব্যবস্থাপনা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</a:t>
            </a:r>
            <a:r>
              <a:rPr lang="en-GB" sz="4000" dirty="0" err="1">
                <a:latin typeface="SolaimanLipi" pitchFamily="65" charset="0"/>
                <a:cs typeface="SolaimanLipi" pitchFamily="65" charset="0"/>
              </a:rPr>
              <a:t>রি</a:t>
            </a:r>
            <a:r>
              <a:rPr lang="bn-BD" sz="4000" dirty="0">
                <a:latin typeface="SolaimanLipi" pitchFamily="65" charset="0"/>
                <a:cs typeface="SolaimanLipi" pitchFamily="65" charset="0"/>
              </a:rPr>
              <a:t>চ্ছন্নতা</a:t>
            </a:r>
          </a:p>
          <a:p>
            <a:pPr marL="0" indent="0">
              <a:buNone/>
            </a:pPr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55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FD3E7D-C67C-4A49-9ECA-ADEE4EB0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779" y="189782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bn-IN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ভূমিকা</a:t>
            </a:r>
            <a:endParaRPr lang="bn-BD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C56B05-E057-4D05-BEC9-A5A176CB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1708030"/>
            <a:ext cx="11731923" cy="4525993"/>
          </a:xfrm>
        </p:spPr>
        <p:txBody>
          <a:bodyPr>
            <a:normAutofit fontScale="92500" lnSpcReduction="20000"/>
          </a:bodyPr>
          <a:lstStyle/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জনসম্পৃক্ততা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সমাদৃত স্বাস্থ্য ব্যবস্থাপনা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একাধিকবার পুরস্কৃত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অপ্রতুল সম্পদে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সর্বোত্তম </a:t>
            </a:r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</a:p>
        </p:txBody>
      </p:sp>
    </p:spTree>
    <p:extLst>
      <p:ext uri="{BB962C8B-B14F-4D97-AF65-F5344CB8AC3E}">
        <p14:creationId xmlns:p14="http://schemas.microsoft.com/office/powerpoint/2010/main" val="241515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sz="6600" dirty="0">
                <a:latin typeface="SolaimanLipi" pitchFamily="65" charset="0"/>
                <a:cs typeface="SolaimanLipi" pitchFamily="65" charset="0"/>
              </a:rPr>
              <a:t>চৌগাছা মডেল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131425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১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৯৮৬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১৯৯৬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মডেল হিসাবে ঘোষনা: ২০০৮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ডিজি বিশ্বস্বাস্থ্য সংস্থা এর পরিদর্শন: ২০১০</a:t>
            </a:r>
            <a:endParaRPr lang="en-GB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সম্প্রসারনের উদ্যোগ : ২০১৬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7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54C379-12FB-4ED3-BD93-8FC5D6E9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028" y="0"/>
            <a:ext cx="8603374" cy="667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74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6" y="1113780"/>
            <a:ext cx="4590103" cy="270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29" y="1113780"/>
            <a:ext cx="4243036" cy="2725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5" y="3976911"/>
            <a:ext cx="4590104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30" y="3976911"/>
            <a:ext cx="4243036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86" y="348344"/>
            <a:ext cx="10131425" cy="50418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600" dirty="0" err="1">
                <a:latin typeface="SolaimanLipi" pitchFamily="65" charset="0"/>
                <a:cs typeface="SolaimanLipi" pitchFamily="65" charset="0"/>
              </a:rPr>
              <a:t>কলেজ</a:t>
            </a:r>
            <a:r>
              <a:rPr lang="en-GB" sz="66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>
                <a:latin typeface="SolaimanLipi" pitchFamily="65" charset="0"/>
                <a:cs typeface="SolaimanLipi" pitchFamily="65" charset="0"/>
              </a:rPr>
              <a:t>পড়ুয়া</a:t>
            </a:r>
            <a:r>
              <a:rPr lang="en-GB" sz="66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>
                <a:latin typeface="SolaimanLipi" pitchFamily="65" charset="0"/>
                <a:cs typeface="SolaimanLipi" pitchFamily="65" charset="0"/>
              </a:rPr>
              <a:t>ছাত্রী</a:t>
            </a:r>
            <a:r>
              <a:rPr lang="en-GB" sz="66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>
                <a:latin typeface="SolaimanLipi" pitchFamily="65" charset="0"/>
                <a:cs typeface="SolaimanLipi" pitchFamily="65" charset="0"/>
              </a:rPr>
              <a:t>ভলেন্টিয়ার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1237536"/>
            <a:ext cx="1251857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>
                <a:latin typeface="SolaimanLipi" pitchFamily="65" charset="0"/>
                <a:cs typeface="SolaimanLipi" pitchFamily="65" charset="0"/>
              </a:rPr>
              <a:t>রিসিপশনিস্ট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4249250"/>
            <a:ext cx="1672772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>
                <a:latin typeface="SolaimanLipi" pitchFamily="65" charset="0"/>
                <a:cs typeface="SolaimanLipi" pitchFamily="65" charset="0"/>
              </a:rPr>
              <a:t>টিকা-দান কার্যক্রম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8767936" y="4018169"/>
            <a:ext cx="1883229" cy="25209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>
                <a:latin typeface="SolaimanLipi" pitchFamily="65" charset="0"/>
                <a:cs typeface="SolaimanLipi" pitchFamily="65" charset="0"/>
              </a:rPr>
              <a:t>গর্ভবতী পরিচর্যায়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E666EE-FB06-4C1F-AED8-5F704341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9" y="145143"/>
            <a:ext cx="10131425" cy="1451428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প্রসববৃদ্ধি</a:t>
            </a:r>
            <a:b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</a:b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7021785"/>
              </p:ext>
            </p:extLst>
          </p:nvPr>
        </p:nvGraphicFramePr>
        <p:xfrm>
          <a:off x="632831" y="740241"/>
          <a:ext cx="10744452" cy="6117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831" y="740241"/>
                        <a:ext cx="10744452" cy="61177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53848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54722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2971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3317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1981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288580" y="246050"/>
            <a:ext cx="5299420" cy="4645264"/>
            <a:chOff x="1148" y="239"/>
            <a:chExt cx="3129" cy="2449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" y="240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39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931" y="2567733"/>
            <a:ext cx="6106298" cy="428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445" y="247947"/>
            <a:ext cx="7107783" cy="1456267"/>
          </a:xfrm>
        </p:spPr>
        <p:txBody>
          <a:bodyPr>
            <a:noAutofit/>
          </a:bodyPr>
          <a:lstStyle/>
          <a:p>
            <a:pPr algn="ctr"/>
            <a:r>
              <a:rPr lang="en-GB" b="1" dirty="0" err="1">
                <a:latin typeface="SolaimanLipi" pitchFamily="65" charset="0"/>
                <a:cs typeface="SolaimanLipi" pitchFamily="65" charset="0"/>
              </a:rPr>
              <a:t>দৈনিক</a:t>
            </a:r>
            <a:r>
              <a:rPr lang="en-GB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>
                <a:latin typeface="SolaimanLipi" pitchFamily="65" charset="0"/>
                <a:cs typeface="SolaimanLipi" pitchFamily="65" charset="0"/>
              </a:rPr>
              <a:t>প্রথম-আলোর</a:t>
            </a:r>
            <a:r>
              <a:rPr lang="en-GB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>
                <a:latin typeface="SolaimanLipi" pitchFamily="65" charset="0"/>
                <a:cs typeface="SolaimanLipi" pitchFamily="65" charset="0"/>
              </a:rPr>
              <a:t>প্রতিবেদন</a:t>
            </a:r>
            <a:br>
              <a:rPr lang="en-GB" b="1" dirty="0">
                <a:latin typeface="SolaimanLipi" pitchFamily="65" charset="0"/>
                <a:cs typeface="SolaimanLipi" pitchFamily="65" charset="0"/>
              </a:rPr>
            </a:br>
            <a:r>
              <a:rPr lang="en-GB" sz="2800" b="1" dirty="0">
                <a:latin typeface="SolaimanLipi" pitchFamily="65" charset="0"/>
                <a:cs typeface="SolaimanLipi" pitchFamily="65" charset="0"/>
              </a:rPr>
              <a:t>১৪ </a:t>
            </a:r>
            <a:r>
              <a:rPr lang="en-GB" sz="2800" b="1" dirty="0" err="1">
                <a:latin typeface="SolaimanLipi" pitchFamily="65" charset="0"/>
                <a:cs typeface="SolaimanLipi" pitchFamily="65" charset="0"/>
              </a:rPr>
              <a:t>অক্টোবর</a:t>
            </a:r>
            <a:r>
              <a:rPr lang="en-GB" sz="2800" b="1" dirty="0">
                <a:latin typeface="SolaimanLipi" pitchFamily="65" charset="0"/>
                <a:cs typeface="SolaimanLipi" pitchFamily="65" charset="0"/>
              </a:rPr>
              <a:t>, ২০০৫</a:t>
            </a:r>
            <a:endParaRPr lang="bn-BD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C474670-D0C5-4F5C-A0B6-A6F99CC2474D}"/>
              </a:ext>
            </a:extLst>
          </p:cNvPr>
          <p:cNvSpPr txBox="1">
            <a:spLocks/>
          </p:cNvSpPr>
          <p:nvPr/>
        </p:nvSpPr>
        <p:spPr>
          <a:xfrm>
            <a:off x="696686" y="5431283"/>
            <a:ext cx="511324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3200" b="1" dirty="0"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GB" sz="32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b="1" dirty="0" err="1">
                <a:latin typeface="SolaimanLipi" pitchFamily="65" charset="0"/>
                <a:cs typeface="SolaimanLipi" pitchFamily="65" charset="0"/>
              </a:rPr>
              <a:t>পরিদর্শন</a:t>
            </a:r>
            <a:r>
              <a:rPr lang="en-GB" sz="3200" b="1" dirty="0">
                <a:latin typeface="SolaimanLipi" pitchFamily="65" charset="0"/>
                <a:cs typeface="SolaimanLipi" pitchFamily="65" charset="0"/>
              </a:rPr>
              <a:t>, ১০ </a:t>
            </a:r>
            <a:r>
              <a:rPr lang="en-GB" sz="3200" b="1" dirty="0" err="1">
                <a:latin typeface="SolaimanLipi" pitchFamily="65" charset="0"/>
                <a:cs typeface="SolaimanLipi" pitchFamily="65" charset="0"/>
              </a:rPr>
              <a:t>মার্চ</a:t>
            </a:r>
            <a:r>
              <a:rPr lang="en-GB" sz="3200" b="1" dirty="0">
                <a:latin typeface="SolaimanLipi" pitchFamily="65" charset="0"/>
                <a:cs typeface="SolaimanLipi" pitchFamily="65" charset="0"/>
              </a:rPr>
              <a:t>, ২০১০</a:t>
            </a:r>
            <a:endParaRPr lang="bn-BD" sz="32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451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062" y="21565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8000" b="1" dirty="0">
                <a:latin typeface="SolaimanLipi" pitchFamily="65" charset="0"/>
                <a:cs typeface="SolaimanLipi" pitchFamily="65" charset="0"/>
              </a:rPr>
              <a:t>চৌগাছা: অর্জন </a:t>
            </a:r>
            <a:r>
              <a:rPr lang="en-GB" sz="8000" b="1" dirty="0">
                <a:latin typeface="SolaimanLipi" pitchFamily="65" charset="0"/>
                <a:cs typeface="SolaimanLipi" pitchFamily="65" charset="0"/>
              </a:rPr>
              <a:t>২০১১</a:t>
            </a:r>
            <a:endParaRPr lang="bn-BD" sz="80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0B7D69-6D00-40EC-9C3C-65B4FF90B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061" y="1817297"/>
            <a:ext cx="11616906" cy="4825043"/>
          </a:xfrm>
        </p:spPr>
        <p:txBody>
          <a:bodyPr>
            <a:normAutofit/>
          </a:bodyPr>
          <a:lstStyle/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স্টাফ বৃদ্ধি: ৪৬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প্রাথমিক স্বাস্থ্য পরিচর্যা</a:t>
            </a:r>
            <a:r>
              <a:rPr lang="en-GB" sz="48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>
                <a:latin typeface="SolaimanLipi" pitchFamily="65" charset="0"/>
                <a:cs typeface="SolaimanLipi" pitchFamily="65" charset="0"/>
              </a:rPr>
              <a:t>বাস্তবায়ন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: ২০</a:t>
            </a:r>
            <a:r>
              <a:rPr lang="en-GB" sz="4800" b="1" dirty="0">
                <a:latin typeface="SolaimanLipi" pitchFamily="65" charset="0"/>
                <a:cs typeface="SolaimanLipi" pitchFamily="65" charset="0"/>
              </a:rPr>
              <a:t>০০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শ্রেষ্ঠ জরুরী প্রসুতি কেন্দ্র: ২০০৫-২০১৪;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প্রতিষ্ঠানে প্রসব: </a:t>
            </a:r>
            <a:r>
              <a:rPr lang="en-GB" sz="4800" b="1" dirty="0">
                <a:latin typeface="SolaimanLipi" pitchFamily="65" charset="0"/>
                <a:cs typeface="SolaimanLipi" pitchFamily="65" charset="0"/>
              </a:rPr>
              <a:t>৯৮.৪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%</a:t>
            </a:r>
            <a:r>
              <a:rPr lang="en-GB" sz="4800" b="1" dirty="0">
                <a:latin typeface="SolaimanLipi" pitchFamily="65" charset="0"/>
                <a:cs typeface="SolaimanLipi" pitchFamily="65" charset="0"/>
              </a:rPr>
              <a:t> (৪৪১৩)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 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সহস্রাব্দি</a:t>
            </a:r>
            <a:r>
              <a:rPr lang="en-GB" sz="4800" b="1" dirty="0"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 লক্ষ্যমাত্রা অর্জন: ২০০৯</a:t>
            </a:r>
          </a:p>
          <a:p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85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id="{78BD8583-50A9-461F-A1D2-4E6356CBDD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1112" y="391887"/>
          <a:ext cx="6951517" cy="6226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3B1EE1F-6738-485F-A620-2602F768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7" y="0"/>
            <a:ext cx="4657344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8685" y="1257300"/>
            <a:ext cx="4049485" cy="425486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GB" b="1" dirty="0">
                <a:latin typeface="SolaimanLipi" panose="03000609000000000000" pitchFamily="65" charset="0"/>
                <a:cs typeface="SolaimanLipi" panose="03000609000000000000" pitchFamily="65" charset="0"/>
              </a:rPr>
              <a:t> </a:t>
            </a:r>
            <a:r>
              <a:rPr lang="en-GB" b="1" dirty="0" err="1">
                <a:latin typeface="SolaimanLipi" panose="03000609000000000000" pitchFamily="65" charset="0"/>
                <a:cs typeface="SolaimanLipi" panose="03000609000000000000" pitchFamily="65" charset="0"/>
              </a:rPr>
              <a:t>অর্জন</a:t>
            </a:r>
            <a:r>
              <a:rPr lang="en-GB" b="1" dirty="0">
                <a:latin typeface="SolaimanLipi" panose="03000609000000000000" pitchFamily="65" charset="0"/>
                <a:cs typeface="SolaimanLipi" panose="03000609000000000000" pitchFamily="65" charset="0"/>
              </a:rPr>
              <a:t> ২০১৮</a:t>
            </a:r>
            <a:endParaRPr lang="en-US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2937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571</TotalTime>
  <Words>199</Words>
  <Application>Microsoft Office PowerPoint</Application>
  <PresentationFormat>Widescreen</PresentationFormat>
  <Paragraphs>50</Paragraphs>
  <Slides>13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Andalus</vt:lpstr>
      <vt:lpstr>Arial</vt:lpstr>
      <vt:lpstr>Berlin Sans FB</vt:lpstr>
      <vt:lpstr>Calibri</vt:lpstr>
      <vt:lpstr>Calibri Light</vt:lpstr>
      <vt:lpstr>SolaimanLipi</vt:lpstr>
      <vt:lpstr>Celestial</vt:lpstr>
      <vt:lpstr>Chart</vt:lpstr>
      <vt:lpstr>সি-জে জনসম্পৃক্ত স্বাস্থ্য ব্যবস্থাপনা মডেল</vt:lpstr>
      <vt:lpstr>PowerPoint Presentation</vt:lpstr>
      <vt:lpstr>PowerPoint Presentation</vt:lpstr>
      <vt:lpstr> চ্যালেন্জ সমূহ </vt:lpstr>
      <vt:lpstr>ভূমিকা</vt:lpstr>
      <vt:lpstr>চৌগাছা মডেল</vt:lpstr>
      <vt:lpstr>PowerPoint Presentation</vt:lpstr>
      <vt:lpstr>কলেজ পড়ুয়া ছাত্রী ভলেন্টিয়ার</vt:lpstr>
      <vt:lpstr>চৌগাছা হাসপাতাল: প্রসববৃদ্ধি </vt:lpstr>
      <vt:lpstr>Upazila Health  Complex CHOWGACHA , JESSORE.</vt:lpstr>
      <vt:lpstr>দৈনিক প্রথম-আলোর প্রতিবেদন ১৪ অক্টোবর, ২০০৫</vt:lpstr>
      <vt:lpstr>চৌগাছা: অর্জন ২০১১</vt:lpstr>
      <vt:lpstr> অর্জন ২০১৮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নেতা</dc:title>
  <dc:creator>Prof. Be-nazir Ahmed</dc:creator>
  <cp:lastModifiedBy>Dell</cp:lastModifiedBy>
  <cp:revision>129</cp:revision>
  <dcterms:created xsi:type="dcterms:W3CDTF">2018-04-08T00:56:33Z</dcterms:created>
  <dcterms:modified xsi:type="dcterms:W3CDTF">2022-07-05T00:05:38Z</dcterms:modified>
</cp:coreProperties>
</file>