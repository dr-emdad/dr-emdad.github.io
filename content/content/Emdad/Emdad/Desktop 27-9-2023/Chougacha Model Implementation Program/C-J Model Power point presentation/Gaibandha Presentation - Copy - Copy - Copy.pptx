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52"/>
  </p:notesMasterIdLst>
  <p:sldIdLst>
    <p:sldId id="533" r:id="rId2"/>
    <p:sldId id="536" r:id="rId3"/>
    <p:sldId id="512" r:id="rId4"/>
    <p:sldId id="378" r:id="rId5"/>
    <p:sldId id="384" r:id="rId6"/>
    <p:sldId id="526" r:id="rId7"/>
    <p:sldId id="518" r:id="rId8"/>
    <p:sldId id="535" r:id="rId9"/>
    <p:sldId id="520" r:id="rId10"/>
    <p:sldId id="515" r:id="rId11"/>
    <p:sldId id="516" r:id="rId12"/>
    <p:sldId id="452" r:id="rId13"/>
    <p:sldId id="447" r:id="rId14"/>
    <p:sldId id="513" r:id="rId15"/>
    <p:sldId id="390" r:id="rId16"/>
    <p:sldId id="339" r:id="rId17"/>
    <p:sldId id="469" r:id="rId18"/>
    <p:sldId id="537" r:id="rId19"/>
    <p:sldId id="391" r:id="rId20"/>
    <p:sldId id="510" r:id="rId21"/>
    <p:sldId id="376" r:id="rId22"/>
    <p:sldId id="539" r:id="rId23"/>
    <p:sldId id="488" r:id="rId24"/>
    <p:sldId id="523" r:id="rId25"/>
    <p:sldId id="490" r:id="rId26"/>
    <p:sldId id="323" r:id="rId27"/>
    <p:sldId id="372" r:id="rId28"/>
    <p:sldId id="492" r:id="rId29"/>
    <p:sldId id="514" r:id="rId30"/>
    <p:sldId id="534" r:id="rId31"/>
    <p:sldId id="392" r:id="rId32"/>
    <p:sldId id="487" r:id="rId33"/>
    <p:sldId id="542" r:id="rId34"/>
    <p:sldId id="543" r:id="rId35"/>
    <p:sldId id="262" r:id="rId36"/>
    <p:sldId id="268" r:id="rId37"/>
    <p:sldId id="509" r:id="rId38"/>
    <p:sldId id="541" r:id="rId39"/>
    <p:sldId id="544" r:id="rId40"/>
    <p:sldId id="348" r:id="rId41"/>
    <p:sldId id="531" r:id="rId42"/>
    <p:sldId id="532" r:id="rId43"/>
    <p:sldId id="511" r:id="rId44"/>
    <p:sldId id="552" r:id="rId45"/>
    <p:sldId id="547" r:id="rId46"/>
    <p:sldId id="548" r:id="rId47"/>
    <p:sldId id="404" r:id="rId48"/>
    <p:sldId id="546" r:id="rId49"/>
    <p:sldId id="550" r:id="rId50"/>
    <p:sldId id="551" r:id="rId5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85" autoAdjust="0"/>
    <p:restoredTop sz="94206" autoAdjust="0"/>
  </p:normalViewPr>
  <p:slideViewPr>
    <p:cSldViewPr>
      <p:cViewPr varScale="1">
        <p:scale>
          <a:sx n="80" d="100"/>
          <a:sy n="80" d="100"/>
        </p:scale>
        <p:origin x="12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61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Human Resource Per 1000 Pop </a:t>
            </a:r>
          </a:p>
        </c:rich>
      </c:tx>
      <c:layout>
        <c:manualLayout>
          <c:xMode val="edge"/>
          <c:yMode val="edge"/>
          <c:x val="0.49589883541655194"/>
          <c:y val="2.16823173446161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3C-4F00-852B-783C8AC2C5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3C-4F00-852B-783C8AC2C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21885824"/>
        <c:axId val="121887360"/>
        <c:axId val="118889088"/>
      </c:bar3DChart>
      <c:catAx>
        <c:axId val="121885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21887360"/>
        <c:crosses val="autoZero"/>
        <c:auto val="1"/>
        <c:lblAlgn val="ctr"/>
        <c:lblOffset val="100"/>
        <c:noMultiLvlLbl val="0"/>
      </c:catAx>
      <c:valAx>
        <c:axId val="12188736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21885824"/>
        <c:crosses val="autoZero"/>
        <c:crossBetween val="between"/>
      </c:valAx>
      <c:serAx>
        <c:axId val="118889088"/>
        <c:scaling>
          <c:orientation val="minMax"/>
        </c:scaling>
        <c:delete val="1"/>
        <c:axPos val="b"/>
        <c:majorTickMark val="out"/>
        <c:minorTickMark val="none"/>
        <c:tickLblPos val="nextTo"/>
        <c:crossAx val="12188736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/>
            <a:t>Central oxygen system 	- 1</a:t>
          </a:r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/>
            <a:t>High flow nasal cannula	- 5</a:t>
          </a:r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/>
            <a:t>Oxygen concentrator	- 3</a:t>
          </a:r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/>
            <a:t>Large oxygen cylinder	- 48 </a:t>
          </a:r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/>
            <a:t>C-PAP machine		- 1</a:t>
          </a:r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/>
            <a:t>Pick-up </a:t>
          </a:r>
          <a:r>
            <a:rPr lang="en-GB" dirty="0" err="1"/>
            <a:t>caverd</a:t>
          </a:r>
          <a:r>
            <a:rPr lang="en-GB" dirty="0"/>
            <a:t> van	- 1</a:t>
          </a:r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/>
            <a:t>Prime minister’s relief fund.</a:t>
          </a:r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/>
            <a:t>MP, Jhenaidah-2.</a:t>
          </a:r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/>
            <a:t>Mayor, </a:t>
          </a:r>
          <a:r>
            <a:rPr lang="en-GB" dirty="0" err="1"/>
            <a:t>Jhenaidah</a:t>
          </a:r>
          <a:r>
            <a:rPr lang="en-GB" dirty="0"/>
            <a:t> </a:t>
          </a:r>
          <a:r>
            <a:rPr lang="en-GB" dirty="0" err="1"/>
            <a:t>pourosova</a:t>
          </a:r>
          <a:r>
            <a:rPr lang="en-GB" dirty="0"/>
            <a:t>.</a:t>
          </a:r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/>
            <a:t>Jaheedi Foundation.</a:t>
          </a:r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/>
            <a:t>Navana group.</a:t>
          </a:r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/>
            <a:t>Value – Nearly 52 Lac taka </a:t>
          </a:r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</dgm:pt>
  </dgm:ptLst>
  <dgm:cxnLst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22F9-F07C-4B23-BC93-E0F03E146D01}">
      <dsp:nvSpPr>
        <dsp:cNvPr id="0" name=""/>
        <dsp:cNvSpPr/>
      </dsp:nvSpPr>
      <dsp:spPr>
        <a:xfrm>
          <a:off x="0" y="1804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Central oxygen system 	- 1</a:t>
          </a:r>
        </a:p>
      </dsp:txBody>
      <dsp:txXfrm>
        <a:off x="19904" y="37951"/>
        <a:ext cx="4379792" cy="367937"/>
      </dsp:txXfrm>
    </dsp:sp>
    <dsp:sp modelId="{336BD10C-9BB5-469F-8BD4-A3494E0C75E9}">
      <dsp:nvSpPr>
        <dsp:cNvPr id="0" name=""/>
        <dsp:cNvSpPr/>
      </dsp:nvSpPr>
      <dsp:spPr>
        <a:xfrm>
          <a:off x="0" y="474752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High flow nasal cannula	- 5</a:t>
          </a:r>
        </a:p>
      </dsp:txBody>
      <dsp:txXfrm>
        <a:off x="19904" y="494656"/>
        <a:ext cx="4379792" cy="367937"/>
      </dsp:txXfrm>
    </dsp:sp>
    <dsp:sp modelId="{A893A7A7-CC28-4404-AD1A-6638F1AA5451}">
      <dsp:nvSpPr>
        <dsp:cNvPr id="0" name=""/>
        <dsp:cNvSpPr/>
      </dsp:nvSpPr>
      <dsp:spPr>
        <a:xfrm>
          <a:off x="0" y="93145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Oxygen concentrator	- 3</a:t>
          </a:r>
        </a:p>
      </dsp:txBody>
      <dsp:txXfrm>
        <a:off x="19904" y="951361"/>
        <a:ext cx="4379792" cy="367937"/>
      </dsp:txXfrm>
    </dsp:sp>
    <dsp:sp modelId="{CD71DDF5-A775-4A4F-B429-2F449530DD1D}">
      <dsp:nvSpPr>
        <dsp:cNvPr id="0" name=""/>
        <dsp:cNvSpPr/>
      </dsp:nvSpPr>
      <dsp:spPr>
        <a:xfrm>
          <a:off x="0" y="138816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Large oxygen cylinder	- 48 </a:t>
          </a:r>
        </a:p>
      </dsp:txBody>
      <dsp:txXfrm>
        <a:off x="19904" y="1408067"/>
        <a:ext cx="4379792" cy="367937"/>
      </dsp:txXfrm>
    </dsp:sp>
    <dsp:sp modelId="{DD6FDA14-5D81-4D91-815D-EF411B6DA3BB}">
      <dsp:nvSpPr>
        <dsp:cNvPr id="0" name=""/>
        <dsp:cNvSpPr/>
      </dsp:nvSpPr>
      <dsp:spPr>
        <a:xfrm>
          <a:off x="0" y="1844868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C-PAP machine		- 1</a:t>
          </a:r>
        </a:p>
      </dsp:txBody>
      <dsp:txXfrm>
        <a:off x="19904" y="1864772"/>
        <a:ext cx="4379792" cy="367937"/>
      </dsp:txXfrm>
    </dsp:sp>
    <dsp:sp modelId="{6325200D-4401-4F68-8132-B7BA410A12E6}">
      <dsp:nvSpPr>
        <dsp:cNvPr id="0" name=""/>
        <dsp:cNvSpPr/>
      </dsp:nvSpPr>
      <dsp:spPr>
        <a:xfrm>
          <a:off x="0" y="230157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Pick-up </a:t>
          </a:r>
          <a:r>
            <a:rPr lang="en-GB" sz="1700" kern="1200" dirty="0" err="1"/>
            <a:t>caverd</a:t>
          </a:r>
          <a:r>
            <a:rPr lang="en-GB" sz="1700" kern="1200" dirty="0"/>
            <a:t> van	- 1</a:t>
          </a:r>
        </a:p>
      </dsp:txBody>
      <dsp:txXfrm>
        <a:off x="19904" y="2321477"/>
        <a:ext cx="4379792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2EB3B-4393-4F62-9896-6CAC1D8C7C9F}">
      <dsp:nvSpPr>
        <dsp:cNvPr id="0" name=""/>
        <dsp:cNvSpPr/>
      </dsp:nvSpPr>
      <dsp:spPr>
        <a:xfrm>
          <a:off x="0" y="77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Prime minister’s relief fund.</a:t>
          </a:r>
        </a:p>
      </dsp:txBody>
      <dsp:txXfrm>
        <a:off x="17563" y="25325"/>
        <a:ext cx="4232073" cy="324648"/>
      </dsp:txXfrm>
    </dsp:sp>
    <dsp:sp modelId="{4957D60D-9A48-45C1-BAC6-F3D37092E3B1}">
      <dsp:nvSpPr>
        <dsp:cNvPr id="0" name=""/>
        <dsp:cNvSpPr/>
      </dsp:nvSpPr>
      <dsp:spPr>
        <a:xfrm>
          <a:off x="0" y="41073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MP, Jhenaidah-2.</a:t>
          </a:r>
        </a:p>
      </dsp:txBody>
      <dsp:txXfrm>
        <a:off x="17563" y="428300"/>
        <a:ext cx="4232073" cy="324648"/>
      </dsp:txXfrm>
    </dsp:sp>
    <dsp:sp modelId="{648756C2-CBEA-4503-B679-343ADD8DA048}">
      <dsp:nvSpPr>
        <dsp:cNvPr id="0" name=""/>
        <dsp:cNvSpPr/>
      </dsp:nvSpPr>
      <dsp:spPr>
        <a:xfrm>
          <a:off x="0" y="81371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Mayor, </a:t>
          </a:r>
          <a:r>
            <a:rPr lang="en-GB" sz="1500" kern="1200" dirty="0" err="1"/>
            <a:t>Jhenaidah</a:t>
          </a:r>
          <a:r>
            <a:rPr lang="en-GB" sz="1500" kern="1200" dirty="0"/>
            <a:t> </a:t>
          </a:r>
          <a:r>
            <a:rPr lang="en-GB" sz="1500" kern="1200" dirty="0" err="1"/>
            <a:t>pourosova</a:t>
          </a:r>
          <a:r>
            <a:rPr lang="en-GB" sz="1500" kern="1200" dirty="0"/>
            <a:t>.</a:t>
          </a:r>
        </a:p>
      </dsp:txBody>
      <dsp:txXfrm>
        <a:off x="17563" y="831275"/>
        <a:ext cx="4232073" cy="324648"/>
      </dsp:txXfrm>
    </dsp:sp>
    <dsp:sp modelId="{67D1A4F1-4413-4A6E-B170-3E78BE79127C}">
      <dsp:nvSpPr>
        <dsp:cNvPr id="0" name=""/>
        <dsp:cNvSpPr/>
      </dsp:nvSpPr>
      <dsp:spPr>
        <a:xfrm>
          <a:off x="0" y="121668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Jaheedi Foundation.</a:t>
          </a:r>
        </a:p>
      </dsp:txBody>
      <dsp:txXfrm>
        <a:off x="17563" y="1234250"/>
        <a:ext cx="4232073" cy="324648"/>
      </dsp:txXfrm>
    </dsp:sp>
    <dsp:sp modelId="{CA20AB46-4D56-4B7A-B508-C9C3AA679FFD}">
      <dsp:nvSpPr>
        <dsp:cNvPr id="0" name=""/>
        <dsp:cNvSpPr/>
      </dsp:nvSpPr>
      <dsp:spPr>
        <a:xfrm>
          <a:off x="0" y="16196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Navana group.</a:t>
          </a:r>
        </a:p>
      </dsp:txBody>
      <dsp:txXfrm>
        <a:off x="17563" y="1637225"/>
        <a:ext cx="4232073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508CE-5441-40F4-BF43-22D7E4368061}">
      <dsp:nvSpPr>
        <dsp:cNvPr id="0" name=""/>
        <dsp:cNvSpPr/>
      </dsp:nvSpPr>
      <dsp:spPr>
        <a:xfrm>
          <a:off x="0" y="254619"/>
          <a:ext cx="3962400" cy="647595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Value – Nearly 52 Lac taka </a:t>
          </a:r>
        </a:p>
      </dsp:txBody>
      <dsp:txXfrm>
        <a:off x="31613" y="286232"/>
        <a:ext cx="3899174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5/18/2023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219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2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51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68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5FA10A38-5972-4DE5-930E-B7F49B08B9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C062B81C-1FB7-4F66-B346-F4CF71C03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9D2CD4F-3787-4A19-A3A2-5242F2315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A0F12A-E350-446A-AF76-79C4F5732627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013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5FA10A38-5972-4DE5-930E-B7F49B08B9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C062B81C-1FB7-4F66-B346-F4CF71C03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9D2CD4F-3787-4A19-A3A2-5242F2315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A0F12A-E350-446A-AF76-79C4F5732627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1949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C37F067-449D-4686-A358-95C1FE3894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BC43C7-29B3-414C-8996-97B66DCD6CC5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A8C737F-C937-4FB2-8536-2494E8DEC6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48AFE14-7CFA-47D6-875B-4EE0B6F1D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37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4278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 noChangeArrowheads="1"/>
          </p:cNvSpPr>
          <p:nvPr/>
        </p:nvSpPr>
        <p:spPr bwMode="auto">
          <a:xfrm>
            <a:off x="4008438" y="8575675"/>
            <a:ext cx="30670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7D2F6527-8EB9-4497-A9D4-CE9218D33B17}" type="slidenum">
              <a:rPr lang="en-US" sz="1200"/>
              <a:pPr algn="r" eaLnBrk="1" hangingPunct="1"/>
              <a:t>47</a:t>
            </a:fld>
            <a:endParaRPr 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5/18/2023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2023/5/18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jp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23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326031"/>
              </p:ext>
            </p:extLst>
          </p:nvPr>
        </p:nvGraphicFramePr>
        <p:xfrm>
          <a:off x="144439" y="1295400"/>
          <a:ext cx="8823562" cy="462379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343400" y="6026060"/>
            <a:ext cx="46113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2018,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0394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SEARC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415530"/>
              </p:ext>
            </p:extLst>
          </p:nvPr>
        </p:nvGraphicFramePr>
        <p:xfrm>
          <a:off x="304800" y="1410154"/>
          <a:ext cx="8717280" cy="4685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794095"/>
            <a:ext cx="3248553" cy="21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85725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586446"/>
            <a:ext cx="3072205" cy="207115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33" y="3758665"/>
            <a:ext cx="307220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1600200"/>
            <a:ext cx="12192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733800"/>
            <a:ext cx="182018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50-bedded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1" y="3810000"/>
            <a:ext cx="16764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31-bedded UHC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1586447"/>
            <a:ext cx="3286014" cy="20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1581009"/>
            <a:ext cx="119056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05475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243606168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05172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3801629" y="1600200"/>
            <a:ext cx="5056632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2400" b="1" dirty="0"/>
              <a:t>Maximum utilization of Govt.</a:t>
            </a:r>
          </a:p>
          <a:p>
            <a:pPr algn="ctr" eaLnBrk="0" hangingPunct="0"/>
            <a:r>
              <a:rPr lang="en-US" sz="2400" b="1" dirty="0"/>
              <a:t>resources with </a:t>
            </a:r>
          </a:p>
          <a:p>
            <a:pPr algn="ctr" eaLnBrk="0" hangingPunct="0"/>
            <a:r>
              <a:rPr lang="en-US" sz="2400" b="1" dirty="0"/>
              <a:t>honesty and sincerity.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3962400" y="4899706"/>
            <a:ext cx="5056632" cy="17991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Providing Effective  services </a:t>
            </a:r>
          </a:p>
          <a:p>
            <a:pPr algn="ctr" eaLnBrk="0" hangingPunct="0"/>
            <a:r>
              <a:rPr lang="en-US" sz="2400" b="1" dirty="0"/>
              <a:t>through improved </a:t>
            </a:r>
          </a:p>
          <a:p>
            <a:pPr algn="ctr" eaLnBrk="0" hangingPunct="0"/>
            <a:r>
              <a:rPr lang="en-US" sz="2400" b="1" dirty="0"/>
              <a:t>management system</a:t>
            </a:r>
            <a:r>
              <a:rPr lang="en-US" sz="14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09600" y="2075249"/>
            <a:ext cx="3006105" cy="804944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09601" y="5431942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801628" y="3249953"/>
            <a:ext cx="5056631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Integrated approach of </a:t>
            </a:r>
          </a:p>
          <a:p>
            <a:pPr algn="ctr" eaLnBrk="0" hangingPunct="0"/>
            <a:r>
              <a:rPr lang="en-US" sz="2400" b="1" dirty="0"/>
              <a:t>Administration, Community</a:t>
            </a:r>
          </a:p>
          <a:p>
            <a:pPr algn="ctr" eaLnBrk="0" hangingPunct="0"/>
            <a:r>
              <a:rPr lang="en-US" sz="2400" b="1" dirty="0"/>
              <a:t>Leaders </a:t>
            </a:r>
            <a:r>
              <a:rPr lang="en-US" sz="14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609601" y="3819039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176885"/>
              </p:ext>
            </p:extLst>
          </p:nvPr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</a:t>
                      </a:r>
                      <a:r>
                        <a:rPr lang="en-IN" sz="2400" dirty="0" err="1"/>
                        <a:t>doner</a:t>
                      </a:r>
                      <a:r>
                        <a:rPr lang="en-IN" sz="2400" dirty="0"/>
                        <a:t>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32907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477443"/>
              </p:ext>
            </p:extLst>
          </p:nvPr>
        </p:nvGraphicFramePr>
        <p:xfrm>
          <a:off x="76200" y="1921113"/>
          <a:ext cx="8915399" cy="470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1851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507512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</a:t>
                      </a:r>
                      <a:r>
                        <a:rPr lang="en-GB" sz="2400"/>
                        <a:t>about 8</a:t>
                      </a:r>
                      <a:r>
                        <a:rPr lang="en-GB" sz="2400" baseline="30000"/>
                        <a:t>th</a:t>
                      </a:r>
                      <a:r>
                        <a:rPr lang="en-GB" sz="2400"/>
                        <a:t> </a:t>
                      </a:r>
                      <a:r>
                        <a:rPr lang="en-GB" sz="2400" dirty="0"/>
                        <a:t>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6729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13431" y="1823703"/>
            <a:ext cx="4127500" cy="6343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Cycle stand near the entrance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396822" y="5263287"/>
            <a:ext cx="4724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“Pushti Tray” – Nutritional Education in IMCI Corner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390986"/>
            <a:ext cx="720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4187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429000" y="234169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Activities of UHC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200461" y="932733"/>
            <a:ext cx="4102396" cy="569109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4876800" y="943983"/>
            <a:ext cx="3949996" cy="561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4959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533401"/>
            <a:ext cx="3733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20000"/>
              </a:spcBef>
            </a:pPr>
            <a:r>
              <a:rPr lang="en-US" sz="2800" dirty="0">
                <a:latin typeface="Calibri" pitchFamily="34" charset="0"/>
              </a:rPr>
              <a:t>Blood donation program stared in 16 December, 1996 in </a:t>
            </a:r>
            <a:r>
              <a:rPr lang="en-US" sz="2800" dirty="0" err="1">
                <a:latin typeface="Calibri" pitchFamily="34" charset="0"/>
              </a:rPr>
              <a:t>Chowgacha</a:t>
            </a:r>
            <a:r>
              <a:rPr lang="en-US" sz="2800" dirty="0">
                <a:latin typeface="Calibri" pitchFamily="34" charset="0"/>
              </a:rPr>
              <a:t> UHC</a:t>
            </a:r>
            <a:endParaRPr lang="en-GB" sz="2800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3939714"/>
            <a:ext cx="4267200" cy="2465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 seminar on ‘Importance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 of birth &amp; death registration and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prevention of early marriage’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at </a:t>
            </a:r>
            <a:r>
              <a:rPr lang="en-US" sz="2400" dirty="0" err="1">
                <a:latin typeface="Calibri" pitchFamily="34" charset="0"/>
              </a:rPr>
              <a:t>Chowgacha</a:t>
            </a:r>
            <a:r>
              <a:rPr lang="en-US" sz="2400" dirty="0">
                <a:latin typeface="Calibri" pitchFamily="34" charset="0"/>
              </a:rPr>
              <a:t>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Degree College in June, 1997.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DC Jessore was the chief guest.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897486" y="838201"/>
            <a:ext cx="4398914" cy="1142999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/>
              <a:t>Labour</a:t>
            </a:r>
            <a:r>
              <a:rPr lang="en-US" sz="2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543580"/>
            <a:ext cx="3972508" cy="100962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Rest room for</a:t>
            </a:r>
          </a:p>
          <a:p>
            <a:pPr algn="ctr"/>
            <a:r>
              <a:rPr lang="en-US" sz="3200" dirty="0"/>
              <a:t>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3317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86508" y="199231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32784007"/>
              </p:ext>
            </p:extLst>
          </p:nvPr>
        </p:nvGraphicFramePr>
        <p:xfrm>
          <a:off x="457201" y="2514600"/>
          <a:ext cx="8229599" cy="38862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6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9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355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institute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9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Ad-din Hospital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Jessore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2988</a:t>
                      </a: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Khulna Medical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College Hospital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5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250 bed Hospital,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1498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2852</a:t>
                      </a: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485105"/>
            <a:ext cx="82296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TOTAL</a:t>
            </a:r>
            <a:r>
              <a:rPr lang="en-US" sz="2600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19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Chowgacha UHC </a:t>
            </a:r>
            <a:r>
              <a:rPr lang="en-US" sz="2400" b="1" dirty="0">
                <a:solidFill>
                  <a:srgbClr val="FF0000"/>
                </a:solidFill>
              </a:rPr>
              <a:t>awarded for EPI in 1989,” Best </a:t>
            </a:r>
            <a:r>
              <a:rPr lang="en-US" sz="2400" b="1" dirty="0" err="1">
                <a:solidFill>
                  <a:srgbClr val="FF0000"/>
                </a:solidFill>
              </a:rPr>
              <a:t>PerformanceAward</a:t>
            </a:r>
            <a:r>
              <a:rPr lang="en-US" sz="2400" b="1" dirty="0">
                <a:solidFill>
                  <a:srgbClr val="FF0000"/>
                </a:solidFill>
              </a:rPr>
              <a:t>” in EOC form 2005 to  2014 &amp; Health Ministers Award stood 1</a:t>
            </a:r>
            <a:r>
              <a:rPr lang="en-US" sz="2400" b="1" baseline="30000" dirty="0">
                <a:solidFill>
                  <a:srgbClr val="FF0000"/>
                </a:solidFill>
              </a:rPr>
              <a:t>st</a:t>
            </a:r>
            <a:r>
              <a:rPr lang="en-US" sz="2400" b="1" dirty="0">
                <a:solidFill>
                  <a:srgbClr val="FF0000"/>
                </a:solidFill>
              </a:rPr>
              <a:t> in 2017, 2018 &amp; 2020.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</a:t>
            </a:r>
            <a:r>
              <a:rPr lang="en-US" sz="2400" b="1" dirty="0" err="1"/>
              <a:t>Chowgacha</a:t>
            </a:r>
            <a:r>
              <a:rPr lang="en-US" sz="2400" b="1" dirty="0"/>
              <a:t>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model is being replicated throughout the country by DGHS, MOH &amp; FW since 2016 by the order of Prime Minister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973512" cy="101566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396397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9E7FB7D3-FEC6-4E8C-BD67-137E97A3B9C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601" y="320041"/>
            <a:ext cx="8380800" cy="60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7783735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Word and Waste management System </a:t>
            </a: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544506" y="4880741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657600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5702" y="782955"/>
            <a:ext cx="3759152" cy="287464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69224" y="782954"/>
            <a:ext cx="3993593" cy="287464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6">
            <a:extLst>
              <a:ext uri="{FF2B5EF4-FFF2-40B4-BE49-F238E27FC236}">
                <a16:creationId xmlns:a16="http://schemas.microsoft.com/office/drawing/2014/main" id="{4FA71C37-1F33-4C79-88BE-A4572ECAD32A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6"/>
          <a:srcRect/>
          <a:stretch>
            <a:fillRect/>
          </a:stretch>
        </p:blipFill>
        <p:spPr>
          <a:xfrm>
            <a:off x="468296" y="3997315"/>
            <a:ext cx="3993593" cy="2847272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05C29715-A037-49CF-BDE0-659A284A08E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3954752"/>
            <a:ext cx="4205287" cy="2937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ight Arrow 11">
            <a:extLst>
              <a:ext uri="{FF2B5EF4-FFF2-40B4-BE49-F238E27FC236}">
                <a16:creationId xmlns:a16="http://schemas.microsoft.com/office/drawing/2014/main" id="{90E9A9B8-66C9-4CF5-99AD-5BE082661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1889" y="2183489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2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37049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52112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01048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73" y="4185782"/>
            <a:ext cx="4067270" cy="252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Sadar 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870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>
                <a:solidFill>
                  <a:srgbClr val="FF0000"/>
                </a:solidFill>
              </a:rPr>
              <a:t>Perticipation</a:t>
            </a:r>
            <a:r>
              <a:rPr lang="en-US" sz="1500" b="1" dirty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5691266" y="3850856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A3BB88F7-AC78-4669-9407-FFB2212920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479" y="954520"/>
            <a:ext cx="3847874" cy="25961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A6D52DD-003A-4D35-984E-B94CFFD4555C}"/>
              </a:ext>
            </a:extLst>
          </p:cNvPr>
          <p:cNvSpPr/>
          <p:nvPr/>
        </p:nvSpPr>
        <p:spPr>
          <a:xfrm>
            <a:off x="4957563" y="582377"/>
            <a:ext cx="3651705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DC, </a:t>
            </a:r>
            <a:r>
              <a:rPr lang="en-US" sz="1500" b="1" dirty="0" err="1">
                <a:solidFill>
                  <a:srgbClr val="FF0000"/>
                </a:solidFill>
              </a:rPr>
              <a:t>Jhenaidah</a:t>
            </a:r>
            <a:r>
              <a:rPr lang="en-US" sz="1500" b="1" dirty="0">
                <a:solidFill>
                  <a:srgbClr val="FF0000"/>
                </a:solidFill>
              </a:rPr>
              <a:t> Visited </a:t>
            </a:r>
            <a:r>
              <a:rPr lang="en-US" sz="1500" b="1" dirty="0" err="1">
                <a:solidFill>
                  <a:srgbClr val="FF0000"/>
                </a:solidFill>
              </a:rPr>
              <a:t>Sadar</a:t>
            </a:r>
            <a:r>
              <a:rPr lang="en-US" sz="1500" b="1" dirty="0">
                <a:solidFill>
                  <a:srgbClr val="FF0000"/>
                </a:solidFill>
              </a:rPr>
              <a:t> Hospital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64020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21404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 -2012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061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70561"/>
            <a:ext cx="4047260" cy="2698173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70561"/>
            <a:ext cx="4402282" cy="2698173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642361"/>
            <a:ext cx="4402282" cy="31242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642361"/>
            <a:ext cx="4047259" cy="31242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DA632E-D6A3-42BC-B01B-A055C1EBB13F}"/>
              </a:ext>
            </a:extLst>
          </p:cNvPr>
          <p:cNvSpPr txBox="1">
            <a:spLocks/>
          </p:cNvSpPr>
          <p:nvPr/>
        </p:nvSpPr>
        <p:spPr>
          <a:xfrm>
            <a:off x="152399" y="43210"/>
            <a:ext cx="8847859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Innovation in Medicine Ward</a:t>
            </a:r>
          </a:p>
        </p:txBody>
      </p:sp>
    </p:spTree>
    <p:extLst>
      <p:ext uri="{BB962C8B-B14F-4D97-AF65-F5344CB8AC3E}">
        <p14:creationId xmlns:p14="http://schemas.microsoft.com/office/powerpoint/2010/main" val="13319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>
                <a:solidFill>
                  <a:srgbClr val="00B050"/>
                </a:solidFill>
              </a:rPr>
              <a:t>Comparative data of revenue income </a:t>
            </a:r>
            <a:r>
              <a:rPr lang="en-US" sz="2800" b="1" dirty="0">
                <a:solidFill>
                  <a:srgbClr val="00B050"/>
                </a:solidFill>
              </a:rPr>
              <a:t>(</a:t>
            </a:r>
            <a:r>
              <a:rPr lang="en-US" sz="2200" b="1" dirty="0">
                <a:solidFill>
                  <a:srgbClr val="00B050"/>
                </a:solidFill>
              </a:rPr>
              <a:t>in Taka</a:t>
            </a:r>
            <a:r>
              <a:rPr lang="en-US" sz="2800" b="1" dirty="0">
                <a:solidFill>
                  <a:srgbClr val="00B050"/>
                </a:solidFill>
              </a:rPr>
              <a:t>) from </a:t>
            </a:r>
            <a:r>
              <a:rPr lang="en-US" sz="2600" b="1" dirty="0">
                <a:solidFill>
                  <a:srgbClr val="00B050"/>
                </a:solidFill>
              </a:rPr>
              <a:t>2015 to 2019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32011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936443"/>
              </p:ext>
            </p:extLst>
          </p:nvPr>
        </p:nvGraphicFramePr>
        <p:xfrm>
          <a:off x="533400" y="1143000"/>
          <a:ext cx="8077200" cy="557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  <a:p>
                      <a:r>
                        <a:rPr lang="en-US" sz="1800" dirty="0"/>
                        <a:t>2030.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0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IMR/1000LB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r>
                        <a:rPr lang="en-US" sz="1800" dirty="0"/>
                        <a:t>37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Deivery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Instituional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ANC 4</a:t>
                      </a:r>
                      <a:r>
                        <a:rPr kumimoji="0" lang="en-US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Malnutrtion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rate(&lt;5yr)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Stanting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 (&lt;5yr)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Immunization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coerage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T.B Case detection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2471"/>
            <a:ext cx="8229600" cy="8255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Plan.(2022-2028)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906569"/>
              </p:ext>
            </p:extLst>
          </p:nvPr>
        </p:nvGraphicFramePr>
        <p:xfrm>
          <a:off x="433266" y="972120"/>
          <a:ext cx="8394699" cy="5709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5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by 2025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TFR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15-19yr./1000 fertile couple.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Exclusive Breast. Feeding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NCD/1000 pop(30-69 </a:t>
                      </a: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)( % of total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( Do)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7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RTA(%of total death)(Do)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OPE(Out of pocket expenditure)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  <a:p>
                      <a:r>
                        <a:rPr lang="en-US" sz="1800" dirty="0"/>
                        <a:t>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30%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850" y="228600"/>
            <a:ext cx="8394700" cy="85725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Plan:2022-2028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92962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0214932-1674-4049-AB39-177C332ED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495023"/>
              </p:ext>
            </p:extLst>
          </p:nvPr>
        </p:nvGraphicFramePr>
        <p:xfrm>
          <a:off x="169444" y="994611"/>
          <a:ext cx="8364956" cy="5881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1563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</a:t>
                      </a:r>
                    </a:p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institute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Jan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Feb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Apr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Jun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Modhupur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Ghatail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144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Kalihati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Sakhipur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143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Nagorpur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169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06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Dhanbari UHC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108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Mirzapur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150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Delduar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287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Basail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289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Gopalpur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Bhuapur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102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819" name="Rectangle 2">
            <a:extLst>
              <a:ext uri="{FF2B5EF4-FFF2-40B4-BE49-F238E27FC236}">
                <a16:creationId xmlns:a16="http://schemas.microsoft.com/office/drawing/2014/main" id="{3749C072-2657-4F5E-AEF6-F3EF334EA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350" y="76200"/>
            <a:ext cx="8877300" cy="91440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dirty="0"/>
              <a:t>Status in HSS score of the UHCs of Tangail District</a:t>
            </a:r>
            <a:br>
              <a:rPr lang="en-US" altLang="en-US" sz="2800" b="1" dirty="0"/>
            </a:br>
            <a:r>
              <a:rPr lang="en-US" altLang="en-US" sz="2800" b="1" dirty="0"/>
              <a:t> Jan-22 to Jun-22 .</a:t>
            </a:r>
          </a:p>
        </p:txBody>
      </p:sp>
    </p:spTree>
    <p:extLst>
      <p:ext uri="{BB962C8B-B14F-4D97-AF65-F5344CB8AC3E}">
        <p14:creationId xmlns:p14="http://schemas.microsoft.com/office/powerpoint/2010/main" val="2835696156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0214932-1674-4049-AB39-177C332ED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705005"/>
              </p:ext>
            </p:extLst>
          </p:nvPr>
        </p:nvGraphicFramePr>
        <p:xfrm>
          <a:off x="609601" y="1143001"/>
          <a:ext cx="7543798" cy="5322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8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4837">
                  <a:extLst>
                    <a:ext uri="{9D8B030D-6E8A-4147-A177-3AD203B41FA5}">
                      <a16:colId xmlns:a16="http://schemas.microsoft.com/office/drawing/2014/main" val="39493033"/>
                    </a:ext>
                  </a:extLst>
                </a:gridCol>
                <a:gridCol w="835417">
                  <a:extLst>
                    <a:ext uri="{9D8B030D-6E8A-4147-A177-3AD203B41FA5}">
                      <a16:colId xmlns:a16="http://schemas.microsoft.com/office/drawing/2014/main" val="2621139303"/>
                    </a:ext>
                  </a:extLst>
                </a:gridCol>
                <a:gridCol w="835417">
                  <a:extLst>
                    <a:ext uri="{9D8B030D-6E8A-4147-A177-3AD203B41FA5}">
                      <a16:colId xmlns:a16="http://schemas.microsoft.com/office/drawing/2014/main" val="3986158010"/>
                    </a:ext>
                  </a:extLst>
                </a:gridCol>
                <a:gridCol w="835417">
                  <a:extLst>
                    <a:ext uri="{9D8B030D-6E8A-4147-A177-3AD203B41FA5}">
                      <a16:colId xmlns:a16="http://schemas.microsoft.com/office/drawing/2014/main" val="3207669117"/>
                    </a:ext>
                  </a:extLst>
                </a:gridCol>
                <a:gridCol w="729852">
                  <a:extLst>
                    <a:ext uri="{9D8B030D-6E8A-4147-A177-3AD203B41FA5}">
                      <a16:colId xmlns:a16="http://schemas.microsoft.com/office/drawing/2014/main" val="2171237787"/>
                    </a:ext>
                  </a:extLst>
                </a:gridCol>
              </a:tblGrid>
              <a:tr h="677594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</a:t>
                      </a:r>
                    </a:p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institute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July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Aug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Sept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Oct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Nov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Dec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05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Modhupur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Ghatail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113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Kalihati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72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Sakhipur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44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Nagorpur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174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06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Dhanbari UHC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322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72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Mirzapur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257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44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Delduar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170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575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Basail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217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2488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Gopalpur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254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5735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Bhuapur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171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819" name="Rectangle 2">
            <a:extLst>
              <a:ext uri="{FF2B5EF4-FFF2-40B4-BE49-F238E27FC236}">
                <a16:creationId xmlns:a16="http://schemas.microsoft.com/office/drawing/2014/main" id="{3749C072-2657-4F5E-AEF6-F3EF334EA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350" y="76200"/>
            <a:ext cx="8877300" cy="91440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dirty="0"/>
              <a:t>Status in HSS score of the UHCs of Tangail District</a:t>
            </a:r>
            <a:br>
              <a:rPr lang="en-US" altLang="en-US" sz="2800" b="1" dirty="0"/>
            </a:br>
            <a:r>
              <a:rPr lang="en-US" altLang="en-US" sz="2800" b="1" dirty="0"/>
              <a:t> Jul-22 to Dec-22 .</a:t>
            </a:r>
          </a:p>
        </p:txBody>
      </p:sp>
    </p:spTree>
    <p:extLst>
      <p:ext uri="{BB962C8B-B14F-4D97-AF65-F5344CB8AC3E}">
        <p14:creationId xmlns:p14="http://schemas.microsoft.com/office/powerpoint/2010/main" val="3908806071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56229C8-5D49-42D7-8AC0-9E28D93B0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7E6642F-7054-43F6-8075-AB34A48D8C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E28113D7-0757-4E8C-B081-F3FABF450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EE17513F-14C1-40B7-BAB8-0A27EECC4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765300"/>
            <a:ext cx="8016875" cy="528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Protocol board donated b y Deputy Commissioner Jessore.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7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Blood Group reagents and blood bags donated by Chairman Chowgacha up at  first in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 dirty="0">
                <a:latin typeface="Arial Black" panose="020B0A04020102020204" pitchFamily="34" charset="0"/>
              </a:rPr>
              <a:t>    1996  &amp;  recently  blood bags donated by 11 UP chairman 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3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ANC&amp; growth monitoring card donated by Ad-Din hospital , JICA , Upazilla  Parishad and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 dirty="0">
                <a:latin typeface="Arial Black" panose="020B0A04020102020204" pitchFamily="34" charset="0"/>
              </a:rPr>
              <a:t>    ACI Pharmaceutical.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4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One IPS &amp; 2 cleaners donated by Chairman Municipalities.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Salary of Aya, ward boy, Cleaners Security guard and other supporting stuffs (36 in no.)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 dirty="0">
                <a:latin typeface="Arial Black" panose="020B0A04020102020204" pitchFamily="34" charset="0"/>
              </a:rPr>
              <a:t>    are donated by the community.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Mobile phone, Dustbin and salary of 7 manpower donated by Mr. </a:t>
            </a:r>
            <a:r>
              <a:rPr lang="en-US" altLang="en-US" sz="1200" dirty="0" err="1">
                <a:latin typeface="Arial Black" panose="020B0A04020102020204" pitchFamily="34" charset="0"/>
              </a:rPr>
              <a:t>Hasnuzzaman</a:t>
            </a:r>
            <a:r>
              <a:rPr lang="en-US" altLang="en-US" sz="1200" dirty="0">
                <a:latin typeface="Arial Black" panose="020B0A04020102020204" pitchFamily="34" charset="0"/>
              </a:rPr>
              <a:t> </a:t>
            </a:r>
            <a:r>
              <a:rPr lang="en-US" altLang="en-US" sz="1200" dirty="0" err="1">
                <a:latin typeface="Arial Black" panose="020B0A04020102020204" pitchFamily="34" charset="0"/>
              </a:rPr>
              <a:t>Rahin</a:t>
            </a:r>
            <a:r>
              <a:rPr lang="en-US" altLang="en-US" sz="1200" dirty="0">
                <a:latin typeface="Arial Black" panose="020B0A04020102020204" pitchFamily="34" charset="0"/>
              </a:rPr>
              <a:t>,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 dirty="0">
                <a:latin typeface="Arial Black" panose="020B0A04020102020204" pitchFamily="34" charset="0"/>
              </a:rPr>
              <a:t>     Industrialist and recently he give the support of about one lack TK. for making a reception centre, tiles around  the pillars of outdoor and beautification of road.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Drugs for </a:t>
            </a:r>
            <a:r>
              <a:rPr lang="en-US" altLang="en-US" sz="1200" dirty="0" err="1">
                <a:latin typeface="Arial Black" panose="020B0A04020102020204" pitchFamily="34" charset="0"/>
              </a:rPr>
              <a:t>Arsenicosis</a:t>
            </a:r>
            <a:r>
              <a:rPr lang="en-US" altLang="en-US" sz="1200" dirty="0">
                <a:latin typeface="Arial Black" panose="020B0A04020102020204" pitchFamily="34" charset="0"/>
              </a:rPr>
              <a:t> donated by Upazila Parishad.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Salary of 01 cleaner donated by  Mr. </a:t>
            </a:r>
            <a:r>
              <a:rPr lang="en-US" altLang="en-US" sz="1200" dirty="0" err="1">
                <a:latin typeface="Arial Black" panose="020B0A04020102020204" pitchFamily="34" charset="0"/>
              </a:rPr>
              <a:t>Abdur</a:t>
            </a:r>
            <a:r>
              <a:rPr lang="en-US" altLang="en-US" sz="1200" dirty="0">
                <a:latin typeface="Arial Black" panose="020B0A04020102020204" pitchFamily="34" charset="0"/>
              </a:rPr>
              <a:t> Kader </a:t>
            </a:r>
            <a:r>
              <a:rPr lang="en-US" altLang="en-US" sz="1200" dirty="0" err="1">
                <a:latin typeface="Arial Black" panose="020B0A04020102020204" pitchFamily="34" charset="0"/>
              </a:rPr>
              <a:t>pintu</a:t>
            </a:r>
            <a:r>
              <a:rPr lang="en-US" altLang="en-US" sz="1200" dirty="0">
                <a:latin typeface="Arial Black" panose="020B0A04020102020204" pitchFamily="34" charset="0"/>
              </a:rPr>
              <a:t>, Industrialist.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Supply of Matir Bank by Some NGOs.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1</a:t>
            </a:r>
            <a:r>
              <a:rPr lang="en-US" altLang="en-US" sz="1200" baseline="30000" dirty="0">
                <a:latin typeface="Arial Black" panose="020B0A04020102020204" pitchFamily="34" charset="0"/>
              </a:rPr>
              <a:t>st</a:t>
            </a:r>
            <a:r>
              <a:rPr lang="en-US" altLang="en-US" sz="1200" dirty="0">
                <a:latin typeface="Arial Black" panose="020B0A04020102020204" pitchFamily="34" charset="0"/>
              </a:rPr>
              <a:t> Annual Report 1997 printed and all time Computer’s support by  Grameen </a:t>
            </a:r>
            <a:r>
              <a:rPr lang="en-US" altLang="en-US" sz="1200" dirty="0" err="1">
                <a:latin typeface="Arial Black" panose="020B0A04020102020204" pitchFamily="34" charset="0"/>
              </a:rPr>
              <a:t>Unnayan</a:t>
            </a:r>
            <a:r>
              <a:rPr lang="en-US" altLang="en-US" sz="1200" dirty="0">
                <a:latin typeface="Arial Black" panose="020B0A04020102020204" pitchFamily="34" charset="0"/>
              </a:rPr>
              <a:t>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 dirty="0">
                <a:latin typeface="Arial Black" panose="020B0A04020102020204" pitchFamily="34" charset="0"/>
              </a:rPr>
              <a:t>     </a:t>
            </a:r>
            <a:r>
              <a:rPr lang="en-US" altLang="en-US" sz="1200" dirty="0" err="1">
                <a:latin typeface="Arial Black" panose="020B0A04020102020204" pitchFamily="34" charset="0"/>
              </a:rPr>
              <a:t>Sangstha</a:t>
            </a:r>
            <a:r>
              <a:rPr lang="en-US" altLang="en-US" sz="1200" dirty="0">
                <a:latin typeface="Arial Black" panose="020B0A04020102020204" pitchFamily="34" charset="0"/>
              </a:rPr>
              <a:t> ( GUS) NGO, Chowgacha.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2 </a:t>
            </a:r>
            <a:r>
              <a:rPr lang="en-US" altLang="en-US" sz="1200" dirty="0" err="1">
                <a:latin typeface="Arial Black" panose="020B0A04020102020204" pitchFamily="34" charset="0"/>
              </a:rPr>
              <a:t>Tyars</a:t>
            </a:r>
            <a:r>
              <a:rPr lang="en-US" altLang="en-US" sz="1200" dirty="0">
                <a:latin typeface="Arial Black" panose="020B0A04020102020204" pitchFamily="34" charset="0"/>
              </a:rPr>
              <a:t> of Ambulance donated by 11 UP chairman.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Blood donated by about 732 enlisted blood donors in emergency need (Transfusion of </a:t>
            </a:r>
            <a:r>
              <a:rPr lang="en-US" altLang="en-US" sz="1200" dirty="0"/>
              <a:t>165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 dirty="0">
                <a:latin typeface="Arial Black" panose="020B0A04020102020204" pitchFamily="34" charset="0"/>
              </a:rPr>
              <a:t>bag F/blood are given in 2009)</a:t>
            </a:r>
            <a:endParaRPr lang="en-US" altLang="en-US" sz="5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Fuel of Generator donated by Upazilla  Parishad and UNICEF through WF.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Various types of donations  by the doctor's of the hospital.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 dirty="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 dirty="0">
                <a:latin typeface="Arial Black" panose="020B0A04020102020204" pitchFamily="34" charset="0"/>
              </a:rPr>
              <a:t> Out door and indoor tickets donated by Pharmaceuticals.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44558144-930D-4A26-9489-4C34F1A9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480659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309562" y="1180939"/>
            <a:ext cx="8524875" cy="224676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28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Motivation is the process that initiates, guides and maintain goal oriented behaviors. </a:t>
            </a:r>
          </a:p>
          <a:p>
            <a:pPr eaLnBrk="1" hangingPunct="1"/>
            <a:endParaRPr lang="en-US" sz="28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  <a:p>
            <a:pPr eaLnBrk="1" hangingPunct="1"/>
            <a:r>
              <a:rPr lang="en-US" sz="2800" dirty="0"/>
              <a:t>It is the driving force behind human action</a:t>
            </a:r>
          </a:p>
          <a:p>
            <a:pPr eaLnBrk="1" hangingPunct="1"/>
            <a:r>
              <a:rPr lang="en-US" sz="2800" dirty="0">
                <a:solidFill>
                  <a:srgbClr val="000000"/>
                </a:solidFill>
                <a:cs typeface="Andalus"/>
              </a:rPr>
              <a:t> </a:t>
            </a:r>
            <a:endParaRPr lang="en-US" sz="28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35486" y="-85128"/>
            <a:ext cx="7734300" cy="7279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What is Motivation?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6C7AA-A137-490E-BFE7-205F54A85B63}"/>
              </a:ext>
            </a:extLst>
          </p:cNvPr>
          <p:cNvSpPr txBox="1"/>
          <p:nvPr/>
        </p:nvSpPr>
        <p:spPr>
          <a:xfrm>
            <a:off x="397386" y="3427708"/>
            <a:ext cx="7696200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Types of motivation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30DDA-141E-40BC-A2FF-9B6763BEB7B2}"/>
              </a:ext>
            </a:extLst>
          </p:cNvPr>
          <p:cNvSpPr txBox="1"/>
          <p:nvPr/>
        </p:nvSpPr>
        <p:spPr>
          <a:xfrm>
            <a:off x="321186" y="4495800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/>
              <a:t>Extrinsic Motivation </a:t>
            </a:r>
            <a:r>
              <a:rPr lang="en-US" sz="2400" dirty="0"/>
              <a:t>(arise from the outside of the individual, such as money, social recognition, praise.)</a:t>
            </a:r>
          </a:p>
          <a:p>
            <a:pPr marL="342900" indent="-342900">
              <a:buAutoNum type="arabicPeriod"/>
            </a:pPr>
            <a:r>
              <a:rPr lang="en-US" sz="2400" b="1" dirty="0"/>
              <a:t>Intrinsic Motivation </a:t>
            </a:r>
            <a:r>
              <a:rPr lang="en-US" sz="2400" dirty="0"/>
              <a:t>(those arise from within the individual)</a:t>
            </a:r>
          </a:p>
        </p:txBody>
      </p:sp>
    </p:spTree>
    <p:extLst>
      <p:ext uri="{BB962C8B-B14F-4D97-AF65-F5344CB8AC3E}">
        <p14:creationId xmlns:p14="http://schemas.microsoft.com/office/powerpoint/2010/main" val="246887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A9186C-521D-46F6-80F7-74DBB4956F63}"/>
              </a:ext>
            </a:extLst>
          </p:cNvPr>
          <p:cNvSpPr txBox="1"/>
          <p:nvPr/>
        </p:nvSpPr>
        <p:spPr>
          <a:xfrm>
            <a:off x="723900" y="762000"/>
            <a:ext cx="7696200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Uses of motivation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DEBCE-C758-42CA-B26F-52E302E25E14}"/>
              </a:ext>
            </a:extLst>
          </p:cNvPr>
          <p:cNvSpPr txBox="1"/>
          <p:nvPr/>
        </p:nvSpPr>
        <p:spPr>
          <a:xfrm>
            <a:off x="762000" y="1781279"/>
            <a:ext cx="7848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/>
              <a:t>Improve efficiency </a:t>
            </a:r>
          </a:p>
          <a:p>
            <a:pPr marL="342900" indent="-342900">
              <a:buAutoNum type="arabicPeriod"/>
            </a:pPr>
            <a:r>
              <a:rPr lang="en-US" sz="2800" dirty="0"/>
              <a:t>To take action</a:t>
            </a:r>
          </a:p>
          <a:p>
            <a:pPr marL="342900" indent="-342900">
              <a:buAutoNum type="arabicPeriod"/>
            </a:pPr>
            <a:r>
              <a:rPr lang="en-US" sz="2800" dirty="0"/>
              <a:t>Increase in health oriented behaviors </a:t>
            </a:r>
          </a:p>
          <a:p>
            <a:pPr marL="342900" indent="-342900">
              <a:buAutoNum type="arabicPeriod"/>
            </a:pPr>
            <a:r>
              <a:rPr lang="en-US" sz="2800" dirty="0"/>
              <a:t>Avoid unhealthy or maladaptive behaviors</a:t>
            </a:r>
          </a:p>
          <a:p>
            <a:pPr marL="342900" indent="-342900">
              <a:buAutoNum type="arabicPeriod"/>
            </a:pPr>
            <a:r>
              <a:rPr lang="en-US" sz="2800" dirty="0"/>
              <a:t>Improve overall happiness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6B141-41A0-4975-9CBB-C4E3119694FA}"/>
              </a:ext>
            </a:extLst>
          </p:cNvPr>
          <p:cNvSpPr txBox="1"/>
          <p:nvPr/>
        </p:nvSpPr>
        <p:spPr>
          <a:xfrm>
            <a:off x="762000" y="4337786"/>
            <a:ext cx="7696200" cy="7694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Impact of motivation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F7717-D28C-49CD-B1B3-954272BC5C18}"/>
              </a:ext>
            </a:extLst>
          </p:cNvPr>
          <p:cNvSpPr txBox="1"/>
          <p:nvPr/>
        </p:nvSpPr>
        <p:spPr>
          <a:xfrm>
            <a:off x="647700" y="5311170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Activation </a:t>
            </a:r>
          </a:p>
          <a:p>
            <a:pPr marL="342900" indent="-342900">
              <a:buAutoNum type="arabicPeriod"/>
            </a:pPr>
            <a:r>
              <a:rPr lang="en-US" sz="3200" dirty="0"/>
              <a:t>Persistence</a:t>
            </a:r>
          </a:p>
          <a:p>
            <a:pPr marL="342900" indent="-342900">
              <a:buAutoNum type="arabicPeriod"/>
            </a:pPr>
            <a:r>
              <a:rPr lang="en-US" sz="3200" dirty="0"/>
              <a:t>intensity</a:t>
            </a:r>
          </a:p>
        </p:txBody>
      </p:sp>
    </p:spTree>
    <p:extLst>
      <p:ext uri="{BB962C8B-B14F-4D97-AF65-F5344CB8AC3E}">
        <p14:creationId xmlns:p14="http://schemas.microsoft.com/office/powerpoint/2010/main" val="172465165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Community support in COVID -19 Management-2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/>
                <a:t>Source of Donation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5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836190"/>
              </p:ext>
            </p:extLst>
          </p:nvPr>
        </p:nvGraphicFramePr>
        <p:xfrm>
          <a:off x="0" y="838200"/>
          <a:ext cx="9144000" cy="562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4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476">
                  <a:extLst>
                    <a:ext uri="{9D8B030D-6E8A-4147-A177-3AD203B41FA5}">
                      <a16:colId xmlns:a16="http://schemas.microsoft.com/office/drawing/2014/main" val="1629112992"/>
                    </a:ext>
                  </a:extLst>
                </a:gridCol>
                <a:gridCol w="1589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No2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 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  <a:p>
                      <a:r>
                        <a:rPr lang="en-US" sz="1800" dirty="0"/>
                        <a:t>2030.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CPR(Contractive Prevalence Rate)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831029"/>
                  </a:ext>
                </a:extLst>
              </a:tr>
              <a:tr h="2641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TFR(Total Fertility Rate)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31689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rate( 15-19)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/1000 fertile couple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18009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MMR( Maternal mortality ratio) 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ANC(Ante natal care) 4</a:t>
                      </a:r>
                      <a:r>
                        <a:rPr kumimoji="0" lang="en-US" sz="1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36.9%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27885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Delivery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645612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Institutional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49%(2018)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906082"/>
                  </a:ext>
                </a:extLst>
              </a:tr>
              <a:tr h="406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 (Neonatal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IMR(Infant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580856"/>
                  </a:ext>
                </a:extLst>
              </a:tr>
              <a:tr h="3149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 (Under 5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645810"/>
                  </a:ext>
                </a:extLst>
              </a:tr>
              <a:tr h="4775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Immunization Coverages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061316"/>
                  </a:ext>
                </a:extLst>
              </a:tr>
              <a:tr h="2541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Health-seeking behavior for Pneumonia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501573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9144000" cy="70572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sz="3200" b="1" baseline="30000" dirty="0"/>
            </a:br>
            <a:r>
              <a:rPr lang="en-US" altLang="en-US" sz="3200" b="1" baseline="30000" dirty="0"/>
              <a:t> </a:t>
            </a:r>
            <a:r>
              <a:rPr lang="en-US" altLang="en-US" sz="3600" b="1" baseline="30000" dirty="0"/>
              <a:t>Progress of Universal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769835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846033"/>
              </p:ext>
            </p:extLst>
          </p:nvPr>
        </p:nvGraphicFramePr>
        <p:xfrm>
          <a:off x="0" y="838200"/>
          <a:ext cx="9144000" cy="5980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108">
                  <a:extLst>
                    <a:ext uri="{9D8B030D-6E8A-4147-A177-3AD203B41FA5}">
                      <a16:colId xmlns:a16="http://schemas.microsoft.com/office/drawing/2014/main" val="3979855057"/>
                    </a:ext>
                  </a:extLst>
                </a:gridCol>
                <a:gridCol w="1494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6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Targets 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by 2028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TB case detection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268019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TB case cure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595410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6.0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HIV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790109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Use of bed nets for malaria prevention(%)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04338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Sanitation coverage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171470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9-12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NCD(30-69 </a:t>
                      </a: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 % of total death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319665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387127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     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838918"/>
                  </a:ext>
                </a:extLst>
              </a:tr>
              <a:tr h="389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Tobacco(Non)Smoking rate(%)15+years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34.70%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703419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altLang="en-US" sz="3600" b="1" baseline="30000" dirty="0"/>
              <a:t>Progress of Universal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1360092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652690"/>
              </p:ext>
            </p:extLst>
          </p:nvPr>
        </p:nvGraphicFramePr>
        <p:xfrm>
          <a:off x="8022" y="914400"/>
          <a:ext cx="9135978" cy="6474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7985505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Targets 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268019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access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49%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595410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14.1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Gov. Hospital access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790109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access rate(Non- Govt)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04338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Health worker density(Doctors ,nurses &amp; midwifes, paramedics )/1000 population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1.16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4.5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171470"/>
                  </a:ext>
                </a:extLst>
              </a:tr>
              <a:tr h="3446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Doctors.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Nurses &amp; midwifes.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Paramedics(Technologist)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medicines &amp;Vaccines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319665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medicines.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83240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vaccines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36613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medical error &amp; follow the internationally standardized measure.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838918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medical error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703419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Internationally standardized quality of care..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94553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21" y="12032"/>
            <a:ext cx="8998304" cy="749968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altLang="en-US" sz="3600" b="1" baseline="30000" dirty="0"/>
              <a:t>Progress of Universal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8465923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6000" dirty="0">
              <a:solidFill>
                <a:srgbClr val="FF0066"/>
              </a:solidFill>
              <a:latin typeface="Albertus Extra Bold" pitchFamily="34" charset="0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6000" dirty="0">
                <a:solidFill>
                  <a:srgbClr val="FF0066"/>
                </a:solidFill>
                <a:latin typeface="Albertus Extra Bold" pitchFamily="34" charset="0"/>
              </a:rPr>
              <a:t>   </a:t>
            </a:r>
          </a:p>
          <a:p>
            <a:pPr algn="ctr" eaLnBrk="1" hangingPunct="1">
              <a:buFontTx/>
              <a:buNone/>
              <a:defRPr/>
            </a:pPr>
            <a:r>
              <a:rPr lang="en-US" sz="6000" dirty="0">
                <a:solidFill>
                  <a:schemeClr val="bg1"/>
                </a:solidFill>
                <a:latin typeface="Albertus Extra Bold" pitchFamily="34" charset="0"/>
              </a:rPr>
              <a:t>Thank yo</a:t>
            </a:r>
            <a:r>
              <a:rPr lang="en-US" sz="6000" dirty="0">
                <a:solidFill>
                  <a:schemeClr val="bg1">
                    <a:lumMod val="85000"/>
                  </a:schemeClr>
                </a:solidFill>
                <a:latin typeface="Albertus Extra Bold" pitchFamily="34" charset="0"/>
              </a:rPr>
              <a:t>u</a:t>
            </a: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374794"/>
              </p:ext>
            </p:extLst>
          </p:nvPr>
        </p:nvGraphicFramePr>
        <p:xfrm>
          <a:off x="0" y="838200"/>
          <a:ext cx="9144000" cy="6258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4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476">
                  <a:extLst>
                    <a:ext uri="{9D8B030D-6E8A-4147-A177-3AD203B41FA5}">
                      <a16:colId xmlns:a16="http://schemas.microsoft.com/office/drawing/2014/main" val="1629112992"/>
                    </a:ext>
                  </a:extLst>
                </a:gridCol>
                <a:gridCol w="1589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No2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 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  <a:p>
                      <a:r>
                        <a:rPr lang="en-US" sz="1800" dirty="0"/>
                        <a:t>2030.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CPR(Contractive Prevalence Rate)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831029"/>
                  </a:ext>
                </a:extLst>
              </a:tr>
              <a:tr h="2641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TFR(Total Fertility Rate)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31689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rate( 15-19)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/1000 fertile couple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18009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MMR( Maternal mortality ratio) 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ANC(Ante natal care) 4</a:t>
                      </a:r>
                      <a:r>
                        <a:rPr kumimoji="0" lang="en-US" sz="1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36.9%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27885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Delivery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645612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Institutional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49%(2018)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906082"/>
                  </a:ext>
                </a:extLst>
              </a:tr>
              <a:tr h="406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 (Neonatal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IMR(Infant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580856"/>
                  </a:ext>
                </a:extLst>
              </a:tr>
              <a:tr h="3149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 (Under 5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64581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Immunization Coverages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061316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3.5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Malnutrition rate(&lt;5yr)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3.6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Stunting rate (&lt;5yr)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1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Health-seeking behavior for Pneumonia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501573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9144000" cy="70572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sz="3200" b="1" baseline="30000" dirty="0"/>
            </a:br>
            <a:r>
              <a:rPr lang="en-US" altLang="en-US" sz="3200" b="1" baseline="30000" dirty="0"/>
              <a:t> </a:t>
            </a:r>
            <a:r>
              <a:rPr lang="en-US" altLang="en-US" sz="3600" b="1" baseline="30000" dirty="0"/>
              <a:t>Progress of Universal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23802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374806"/>
              </p:ext>
            </p:extLst>
          </p:nvPr>
        </p:nvGraphicFramePr>
        <p:xfrm>
          <a:off x="0" y="914400"/>
          <a:ext cx="9144000" cy="6614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2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2796">
                  <a:extLst>
                    <a:ext uri="{9D8B030D-6E8A-4147-A177-3AD203B41FA5}">
                      <a16:colId xmlns:a16="http://schemas.microsoft.com/office/drawing/2014/main" val="3979855057"/>
                    </a:ext>
                  </a:extLst>
                </a:gridCol>
                <a:gridCol w="1161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8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6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Targets 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.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TB case detection rate/100000 pop(Bacteriologically conform new pulmonary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97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268019"/>
                  </a:ext>
                </a:extLst>
              </a:tr>
              <a:tr h="473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All forms of TB case detection rate/100000 pop (New + Relapse)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&lt;10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595410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MDR</a:t>
                      </a:r>
                      <a:r>
                        <a:rPr kumimoji="0" 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(Multi drug resistant)-TB treatment Success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81%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872724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6.0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HIV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790109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Use of bed nets for malaria prevention(%)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04338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Sanitation coverage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171470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9-12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NCD(30-69 </a:t>
                      </a: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 % of total death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50.25%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319665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387127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 (Road traffic accident)     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838918"/>
                  </a:ext>
                </a:extLst>
              </a:tr>
              <a:tr h="473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Tobacco Smoking(Smoked or smokeless formed) rate(%)15+years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34.70%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703419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altLang="en-US" sz="3600" b="1" baseline="30000" dirty="0"/>
              <a:t>Progress of Universal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900092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182865"/>
              </p:ext>
            </p:extLst>
          </p:nvPr>
        </p:nvGraphicFramePr>
        <p:xfrm>
          <a:off x="609600" y="1219200"/>
          <a:ext cx="8396725" cy="476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798550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Targets 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268019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access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49%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59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14.1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Gov. Hospital access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790109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access rate(Non- Govt)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04338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Health worker density(Doctors ,nurses &amp; midwifes, paramedics )/1000 population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171470"/>
                  </a:ext>
                </a:extLst>
              </a:tr>
              <a:tr h="2408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Doctors.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Nurses &amp; midwifes.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medicines &amp;Vaccines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319665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medicines.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83240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vaccines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36613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394700" cy="857250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altLang="en-US" sz="3600" b="1" baseline="30000" dirty="0"/>
              <a:t>Progress of Universal 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5470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8347</TotalTime>
  <Words>2720</Words>
  <Application>Microsoft Office PowerPoint</Application>
  <PresentationFormat>On-screen Show (4:3)</PresentationFormat>
  <Paragraphs>984</Paragraphs>
  <Slides>50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6" baseType="lpstr">
      <vt:lpstr>Albertus Extra Bold</vt:lpstr>
      <vt:lpstr>Andalus</vt:lpstr>
      <vt:lpstr>Arial</vt:lpstr>
      <vt:lpstr>Arial Black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</vt:lpstr>
      <vt:lpstr>Wingdings 2</vt:lpstr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Hospital with a Vision …</vt:lpstr>
      <vt:lpstr>Criteria Of C-J Model.</vt:lpstr>
      <vt:lpstr>Criteria of C-J Model.</vt:lpstr>
      <vt:lpstr>Criteria of C-J Model.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Upazila Health  Complex CHOWGACHA , JESSORE.</vt:lpstr>
      <vt:lpstr>PowerPoint Presentation</vt:lpstr>
      <vt:lpstr>Upazilla Health  Complex CHOWGACHA , JESSORE.</vt:lpstr>
      <vt:lpstr>PowerPoint Presentation</vt:lpstr>
      <vt:lpstr>Acheivement of Chowgacha UHC</vt:lpstr>
      <vt:lpstr>100 kh¨v wewkó m`i nvmcvZvj, wSbvB`n</vt:lpstr>
      <vt:lpstr>Innovative activities of Jhenaidah Sadar Hospital - 1</vt:lpstr>
      <vt:lpstr>PowerPoint Presentation</vt:lpstr>
      <vt:lpstr>PowerPoint Presentation</vt:lpstr>
      <vt:lpstr>Changes in Pediatric Word and Waste management System </vt:lpstr>
      <vt:lpstr>Use of color code, alignment of picture &amp; continuous big cleaning day</vt:lpstr>
      <vt:lpstr>Involvement of MP, District Administrator &amp; Mayor in Sadar Hospital</vt:lpstr>
      <vt:lpstr>PowerPoint Presentation</vt:lpstr>
      <vt:lpstr>PowerPoint Presentation</vt:lpstr>
      <vt:lpstr>PowerPoint Presentation</vt:lpstr>
      <vt:lpstr>  Comparative data of revenue income (in Taka) from 2015 to 2019 </vt:lpstr>
      <vt:lpstr>PowerPoint Presentation</vt:lpstr>
      <vt:lpstr>8th Five Year Plan.(2022-2028)</vt:lpstr>
      <vt:lpstr>8th Five Year Plan:2022-2028</vt:lpstr>
      <vt:lpstr>Our usual solution:  We need more RESOURCES!!!!</vt:lpstr>
      <vt:lpstr>PowerPoint Presentation</vt:lpstr>
      <vt:lpstr>Thank You</vt:lpstr>
      <vt:lpstr>Status in HSS score of the UHCs of Tangail District  Jan-22 to Jun-22 .</vt:lpstr>
      <vt:lpstr>Status in HSS score of the UHCs of Tangail District  Jul-22 to Dec-22 .</vt:lpstr>
      <vt:lpstr>Upazila Health  Complex CHOWGACHA , JESSORE.</vt:lpstr>
      <vt:lpstr>PowerPoint Presentation</vt:lpstr>
      <vt:lpstr>PowerPoint Presentation</vt:lpstr>
      <vt:lpstr>Community support in COVID -19 Management-2</vt:lpstr>
      <vt:lpstr>  Progress of Universal Health Coverage</vt:lpstr>
      <vt:lpstr>Progress of Universal Coverage</vt:lpstr>
      <vt:lpstr>Progress of Universal Health Coverage</vt:lpstr>
      <vt:lpstr>PowerPoint Presentation</vt:lpstr>
      <vt:lpstr>  Progress of Universal Health Coverage</vt:lpstr>
      <vt:lpstr>Progress of Universal Health Coverage</vt:lpstr>
      <vt:lpstr>Progress of Universal  Health Coverage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1146</cp:revision>
  <cp:lastPrinted>2017-03-18T23:47:54Z</cp:lastPrinted>
  <dcterms:created xsi:type="dcterms:W3CDTF">2013-05-05T09:56:19Z</dcterms:created>
  <dcterms:modified xsi:type="dcterms:W3CDTF">2023-05-18T04:12:08Z</dcterms:modified>
</cp:coreProperties>
</file>