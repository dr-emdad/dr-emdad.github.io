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23"/>
  </p:notesMasterIdLst>
  <p:sldIdLst>
    <p:sldId id="256" r:id="rId2"/>
    <p:sldId id="259" r:id="rId3"/>
    <p:sldId id="309" r:id="rId4"/>
    <p:sldId id="257" r:id="rId5"/>
    <p:sldId id="258" r:id="rId6"/>
    <p:sldId id="260" r:id="rId7"/>
    <p:sldId id="261" r:id="rId8"/>
    <p:sldId id="337" r:id="rId9"/>
    <p:sldId id="536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348" r:id="rId18"/>
    <p:sldId id="443" r:id="rId19"/>
    <p:sldId id="537" r:id="rId20"/>
    <p:sldId id="452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7CA"/>
          </a:solidFill>
        </a:fill>
      </a:tcStyle>
    </a:wholeTbl>
    <a:band2H>
      <a:tcTxStyle/>
      <a:tcStyle>
        <a:tcBdr/>
        <a:fill>
          <a:solidFill>
            <a:srgbClr val="FCECE6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0D6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9DDD0"/>
          </a:solidFill>
        </a:fill>
      </a:tcStyle>
    </a:wholeTbl>
    <a:band2H>
      <a:tcTxStyle/>
      <a:tcStyle>
        <a:tcBdr/>
        <a:fill>
          <a:solidFill>
            <a:srgbClr val="F4EF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4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4592"/>
          <c:y val="5.5822499999999997E-2"/>
          <c:w val="0.89040799999999998"/>
          <c:h val="0.846516999999999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flip="none" rotWithShape="1">
              <a:gsLst>
                <a:gs pos="0">
                  <a:srgbClr val="2E5E97"/>
                </a:gs>
                <a:gs pos="80000">
                  <a:srgbClr val="3C7BC7"/>
                </a:gs>
                <a:gs pos="100000">
                  <a:srgbClr val="3A7CCA"/>
                </a:gs>
              </a:gsLst>
              <a:lin ang="16200000" scaled="0"/>
            </a:gradFill>
            <a:ln w="12700" cap="flat">
              <a:noFill/>
              <a:miter lim="400000"/>
            </a:ln>
            <a:effectLst>
              <a:outerShdw blurRad="38100" dist="23000" dir="5400000" algn="tl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Upto September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</c:v>
                </c:pt>
                <c:pt idx="1">
                  <c:v>0.5</c:v>
                </c:pt>
                <c:pt idx="2">
                  <c:v>0.56499999999999995</c:v>
                </c:pt>
                <c:pt idx="3">
                  <c:v>0.59399999999999997</c:v>
                </c:pt>
                <c:pt idx="4">
                  <c:v>0.85499999999999998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85-425C-B998-1FB348AC05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3143992"/>
        <c:axId val="246885664"/>
      </c:barChart>
      <c:catAx>
        <c:axId val="2431439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sz="1800" b="1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46885664"/>
        <c:crosses val="autoZero"/>
        <c:auto val="1"/>
        <c:lblAlgn val="ctr"/>
        <c:lblOffset val="100"/>
        <c:noMultiLvlLbl val="1"/>
      </c:catAx>
      <c:valAx>
        <c:axId val="24688566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sz="1800" b="1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43143992"/>
        <c:crosses val="autoZero"/>
        <c:crossBetween val="between"/>
        <c:majorUnit val="0.22500000000000001"/>
        <c:minorUnit val="0.1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9491064366776279E-2"/>
          <c:y val="4.1004443491535592E-2"/>
          <c:w val="0.76506363697488211"/>
          <c:h val="0.90781699999999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+ Outdoor</c:v>
                </c:pt>
              </c:strCache>
            </c:strRef>
          </c:tx>
          <c:spPr>
            <a:solidFill>
              <a:srgbClr val="2E578C"/>
            </a:solidFill>
            <a:ln w="12700" cap="flat">
              <a:noFill/>
              <a:miter lim="400000"/>
            </a:ln>
            <a:effectLst>
              <a:outerShdw blurRad="38100" dist="23000" dir="5400000" algn="tl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18855</c:v>
                </c:pt>
                <c:pt idx="1">
                  <c:v>20889</c:v>
                </c:pt>
                <c:pt idx="2">
                  <c:v>30056</c:v>
                </c:pt>
                <c:pt idx="3">
                  <c:v>24754</c:v>
                </c:pt>
                <c:pt idx="4">
                  <c:v>30772</c:v>
                </c:pt>
                <c:pt idx="5">
                  <c:v>32379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21-40B5-AC2C-305EA40A93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5D9648"/>
            </a:solidFill>
            <a:ln w="12700" cap="flat">
              <a:noFill/>
              <a:miter lim="400000"/>
            </a:ln>
            <a:effectLst>
              <a:outerShdw blurRad="38100" dist="23000" dir="5400000" algn="tl">
                <a:srgbClr val="000000">
                  <a:alpha val="35000"/>
                </a:srgbClr>
              </a:outerShdw>
            </a:effectLst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4144</c:v>
                </c:pt>
                <c:pt idx="1">
                  <c:v>4119</c:v>
                </c:pt>
                <c:pt idx="2">
                  <c:v>4319</c:v>
                </c:pt>
                <c:pt idx="3">
                  <c:v>3920</c:v>
                </c:pt>
                <c:pt idx="4">
                  <c:v>5878</c:v>
                </c:pt>
                <c:pt idx="5">
                  <c:v>3961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21-40B5-AC2C-305EA40A93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0"/>
        <c:overlap val="-60"/>
        <c:axId val="246887232"/>
        <c:axId val="246886448"/>
      </c:barChart>
      <c:catAx>
        <c:axId val="2468872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46886448"/>
        <c:crosses val="autoZero"/>
        <c:auto val="1"/>
        <c:lblAlgn val="ctr"/>
        <c:lblOffset val="100"/>
        <c:noMultiLvlLbl val="1"/>
      </c:catAx>
      <c:valAx>
        <c:axId val="246886448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/>
            </a:pPr>
            <a:endParaRPr lang="en-US"/>
          </a:p>
        </c:txPr>
        <c:crossAx val="246887232"/>
        <c:crosses val="autoZero"/>
        <c:crossBetween val="between"/>
        <c:majorUnit val="7500"/>
        <c:minorUnit val="3750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2140016805908955"/>
          <c:y val="0.30078955700541743"/>
          <c:w val="0.16926740444127891"/>
          <c:h val="0.3574513455543894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6.1308421973569109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Up to July 2022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94</c:v>
                </c:pt>
                <c:pt idx="1">
                  <c:v>65</c:v>
                </c:pt>
                <c:pt idx="2">
                  <c:v>99</c:v>
                </c:pt>
                <c:pt idx="3">
                  <c:v>114</c:v>
                </c:pt>
                <c:pt idx="4">
                  <c:v>198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E-4423-9B5D-FBA0EAF017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2732084733237234"/>
          <c:h val="0.16207947690749183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863745292707976E-2"/>
          <c:y val="4.0840585716259148E-2"/>
          <c:w val="0.74457848339609722"/>
          <c:h val="0.83681539807524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1st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</c:v>
                </c:pt>
                <c:pt idx="1">
                  <c:v>283</c:v>
                </c:pt>
                <c:pt idx="2">
                  <c:v>306</c:v>
                </c:pt>
                <c:pt idx="3">
                  <c:v>506</c:v>
                </c:pt>
                <c:pt idx="4">
                  <c:v>578</c:v>
                </c:pt>
                <c:pt idx="5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EF-4A19-95F2-F422EC5BFB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ANC 4th Visit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123</c:v>
                </c:pt>
                <c:pt idx="1">
                  <c:v>112</c:v>
                </c:pt>
                <c:pt idx="2">
                  <c:v>143</c:v>
                </c:pt>
                <c:pt idx="3">
                  <c:v>195</c:v>
                </c:pt>
                <c:pt idx="4">
                  <c:v>222</c:v>
                </c:pt>
                <c:pt idx="5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3-44AF-85C1-79899E8BD0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7"/>
        <c:overlap val="7"/>
        <c:axId val="163961088"/>
        <c:axId val="163811328"/>
      </c:barChart>
      <c:catAx>
        <c:axId val="163961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3811328"/>
        <c:crosses val="autoZero"/>
        <c:auto val="1"/>
        <c:lblAlgn val="ctr"/>
        <c:lblOffset val="100"/>
        <c:noMultiLvlLbl val="0"/>
      </c:catAx>
      <c:valAx>
        <c:axId val="163811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63961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519585187721101"/>
          <c:y val="0.33374913662108024"/>
          <c:w val="0.17480414812278899"/>
          <c:h val="0.3141262605332228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view3D>
      <c:rotX val="0"/>
      <c:hPercent val="78"/>
      <c:rotY val="0"/>
      <c:depthPercent val="5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F81BD"/>
            </a:solidFill>
            <a:ln w="12700" cap="flat">
              <a:noFill/>
              <a:miter lim="400000"/>
            </a:ln>
            <a:effectLst/>
            <a:sp3d prstMaterial="matte"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 i="0" u="none" strike="noStrike">
                    <a:solidFill>
                      <a:srgbClr val="37609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539790</c:v>
                </c:pt>
                <c:pt idx="1">
                  <c:v>632948</c:v>
                </c:pt>
                <c:pt idx="2">
                  <c:v>969043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5B-44EA-9AB5-A0D243A37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shape val="cylinder"/>
        <c:axId val="246887624"/>
        <c:axId val="246884096"/>
        <c:axId val="243560464"/>
      </c:bar3DChart>
      <c:catAx>
        <c:axId val="2468876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700" b="1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46884096"/>
        <c:crosses val="autoZero"/>
        <c:auto val="1"/>
        <c:lblAlgn val="ctr"/>
        <c:lblOffset val="100"/>
        <c:noMultiLvlLbl val="1"/>
      </c:catAx>
      <c:valAx>
        <c:axId val="24688409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700" b="1" i="0" u="none" strike="noStrike">
                <a:solidFill>
                  <a:srgbClr val="1F497D"/>
                </a:solidFill>
                <a:latin typeface="Calibri"/>
              </a:defRPr>
            </a:pPr>
            <a:endParaRPr lang="en-US"/>
          </a:p>
        </c:txPr>
        <c:crossAx val="246887624"/>
        <c:crosses val="autoZero"/>
        <c:crossBetween val="between"/>
        <c:majorUnit val="250000"/>
        <c:minorUnit val="125000"/>
      </c:valAx>
      <c:serAx>
        <c:axId val="24356046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crossAx val="246884096"/>
        <c:crosses val="autoZero"/>
        <c:tickLblSkip val="1"/>
      </c:ser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9" name="Shape 4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163890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4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9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E013-00B3-4B72-9E69-454C8A4F4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A3A45-3ABC-4EF0-8CD7-0919BCF90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0E8D-C2E2-47DC-AEA7-D6FDEACF5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A18CE-A482-4831-BF87-90822EE5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F6630-7396-4B24-8A16-13D9B318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1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5062-7CDA-4761-83FF-D2EB48B8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5AE1-9CC5-400F-8DFC-D5331223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26241-42E6-425D-B6C2-EB94C622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275E0-C828-48A2-B9FF-BB9145BD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89072-A042-4649-A40E-C33847F4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7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F3E4-A8C8-4625-A1ED-49C33B21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3B70C-1E51-4539-8018-4F2C0B49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FF1A1-8F9D-423D-9510-0F832B02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25166-E710-4BFC-A9BB-B78A4FA9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31B28-D87C-48E5-A73B-E24CBFD6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3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1F3E-0EE4-4161-B400-532207CE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56EE-EEA2-43FD-97D5-103123B4A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2DBB1-A52B-4145-BF0A-0FA705E72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2EAFE-A6AD-4128-8DF6-96F37B62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73BC2-062C-4B16-BDFB-2A27EAB3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35FC1-B5B6-480F-82FC-3D03F9CC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1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E6CA-5D73-45D7-AB48-CC442656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3DAE7-ED60-4DFA-AAAC-F9BB8E540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0F55E-BB64-42A9-A35B-2BB63EC1B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BFDD7-631F-44F0-866C-B78BBF107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3240F-3670-424F-9FA8-96AB8D9A3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0702D-DFF2-498A-8294-E386C909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5B3F8-4DFF-4E5C-BD4E-F359E235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07FB7-3685-4F4D-93BA-97BCD09A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4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284-E8B5-426B-B032-DE191433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9FE7B-6A48-4670-ABA5-B8FE953B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85CB8-F820-4D6A-ADD6-51E79DF9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8BC79-5715-47C7-92AD-6E33019F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1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940BA-56E3-421E-8A23-1347E717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D2BAA-9455-4160-A6C5-8DBAA464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8EB80-8FFA-402F-A46A-5552A96A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9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050E-E1FE-4A99-945B-0C071295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FFE48-CB72-45D7-BBDF-4B7839D32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90674-5519-4A44-A0BD-C62B00D5A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97262-CBDD-4652-A317-6367A3F5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12712-3140-4501-B0B7-6CDA4BEC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705C6-C59C-4A5C-BC40-258B8A83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C02E-0FC1-4EA8-9CD7-B6CD02DB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74133-F6DE-40DE-9E8E-7C96B4651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F6EC9-E798-4207-92E2-43AA54A41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2CC82-0F4D-433B-A1EC-3E9B29A6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8AD62-EA11-4431-AFEE-58ED8042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2389D-307B-46F3-B239-DB7F763A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2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F442-8A74-43A6-A89A-B7BF7C23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792E8-1825-40CD-8F38-4628CC151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AFC10-0226-49FA-8F0D-AD18E208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E1554-2327-4CD5-A6F1-7FFC89FE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4762D-C7F8-4CB7-ABDF-CBD4DE0F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FBF10-DC7E-404E-B228-951146754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8C767-6390-4718-9CEB-8CC291823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BC000-60F6-4481-A9E5-9E294594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9B849-BA44-4033-AAE5-64D7C4BB7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DA78-DFD0-4D95-BC15-596189F8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 anchor="ctr"/>
          <a:lstStyle>
            <a:lvl1pPr algn="ctr">
              <a:defRPr sz="4400" b="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600"/>
              </a:spcBef>
              <a:buClrTx/>
              <a:buSzPct val="100000"/>
              <a:buFont typeface="Arial"/>
              <a:buChar char="•"/>
              <a:defRPr>
                <a:latin typeface="+mj-lt"/>
                <a:ea typeface="+mj-ea"/>
                <a:cs typeface="+mj-cs"/>
                <a:sym typeface="Calibri"/>
              </a:defRPr>
            </a:lvl1pPr>
            <a:lvl2pPr marL="790575" indent="-333375">
              <a:spcBef>
                <a:spcPts val="600"/>
              </a:spcBef>
              <a:buClrTx/>
              <a:buFont typeface="Arial"/>
              <a:buChar char="–"/>
              <a:defRPr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>
              <a:spcBef>
                <a:spcPts val="600"/>
              </a:spcBef>
              <a:buClrTx/>
              <a:buFont typeface="Arial"/>
              <a:buChar char="•"/>
              <a:defRPr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>
              <a:spcBef>
                <a:spcPts val="600"/>
              </a:spcBef>
              <a:buClrTx/>
              <a:buSzPct val="100000"/>
              <a:buFont typeface="Arial"/>
              <a:buChar char="–"/>
              <a:defRPr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>
              <a:spcBef>
                <a:spcPts val="600"/>
              </a:spcBef>
              <a:buClrTx/>
              <a:buFont typeface="Arial"/>
              <a:buChar char="»"/>
              <a:defRPr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3144" y="6406785"/>
            <a:ext cx="273657" cy="26425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096370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260143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38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C87CF-70FA-4410-8445-2B87C380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699C4-7199-430F-B8A8-0C3EE0A5A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0F32E-85D0-4DE8-BA22-17CAA2D2F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110A-AC4A-46EC-9389-5F8D08A8B9C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988E8-ABDB-447E-A196-D2E565AAD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37FDE-0526-4225-B09A-7C92B7FF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0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9" r:id="rId12"/>
    <p:sldLayoutId id="2147483710" r:id="rId13"/>
    <p:sldLayoutId id="2147483711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IMG_0224.jpeg" descr="IMG_0224.jpeg"/>
          <p:cNvPicPr>
            <a:picLocks noChangeAspect="1"/>
          </p:cNvPicPr>
          <p:nvPr/>
        </p:nvPicPr>
        <p:blipFill>
          <a:blip r:embed="rId2"/>
          <a:srcRect l="8780" r="8780"/>
          <a:stretch>
            <a:fillRect/>
          </a:stretch>
        </p:blipFill>
        <p:spPr>
          <a:xfrm>
            <a:off x="706238" y="1682083"/>
            <a:ext cx="7434462" cy="4891844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Rectangle 13"/>
          <p:cNvSpPr/>
          <p:nvPr/>
        </p:nvSpPr>
        <p:spPr>
          <a:xfrm>
            <a:off x="355599" y="368300"/>
            <a:ext cx="8432801" cy="1077218"/>
          </a:xfrm>
          <a:prstGeom prst="rect">
            <a:avLst/>
          </a:prstGeom>
          <a:gradFill>
            <a:gsLst>
              <a:gs pos="0">
                <a:srgbClr val="2A869F"/>
              </a:gs>
              <a:gs pos="80000">
                <a:srgbClr val="37B1D1"/>
              </a:gs>
              <a:gs pos="100000">
                <a:srgbClr val="34B3D5"/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50 BE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DED UPAZIL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A  HEALTH  COMPLEX </a:t>
            </a:r>
            <a:b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sz="3200" dirty="0">
                <a:latin typeface="Calibri" panose="020F0502020204030204" pitchFamily="34" charset="0"/>
                <a:cs typeface="Calibri" panose="020F0502020204030204" pitchFamily="34" charset="0"/>
              </a:rPr>
              <a:t>Patharghata, Barguna</a:t>
            </a:r>
            <a:r>
              <a:rPr sz="2400" dirty="0">
                <a:effectLst>
                  <a:outerShdw blurRad="38100" dist="38100" dir="2700000" rotWithShape="0">
                    <a:srgbClr val="C0C0C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Rectangle 2"/>
          <p:cNvSpPr txBox="1">
            <a:spLocks noGrp="1"/>
          </p:cNvSpPr>
          <p:nvPr>
            <p:ph type="title"/>
          </p:nvPr>
        </p:nvSpPr>
        <p:spPr>
          <a:xfrm>
            <a:off x="457200" y="173038"/>
            <a:ext cx="8229600" cy="1016001"/>
          </a:xfrm>
          <a:prstGeom prst="rect">
            <a:avLst/>
          </a:prstGeom>
          <a:solidFill>
            <a:srgbClr val="B7DEE8"/>
          </a:solidFill>
        </p:spPr>
        <p:txBody>
          <a:bodyPr/>
          <a:lstStyle>
            <a:lvl1pPr>
              <a:defRPr sz="3600" b="1"/>
            </a:lvl1pPr>
          </a:lstStyle>
          <a:p>
            <a:pPr algn="ctr">
              <a:defRPr>
                <a:effectLst/>
              </a:defRPr>
            </a:pPr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A Sub-district level Hospital with a Vision</a:t>
            </a:r>
          </a:p>
        </p:txBody>
      </p:sp>
      <p:grpSp>
        <p:nvGrpSpPr>
          <p:cNvPr id="442" name="Oval 3"/>
          <p:cNvGrpSpPr/>
          <p:nvPr/>
        </p:nvGrpSpPr>
        <p:grpSpPr>
          <a:xfrm>
            <a:off x="4281487" y="1543988"/>
            <a:ext cx="3738251" cy="1628160"/>
            <a:chOff x="0" y="0"/>
            <a:chExt cx="3124200" cy="1295400"/>
          </a:xfrm>
        </p:grpSpPr>
        <p:sp>
          <p:nvSpPr>
            <p:cNvPr id="440" name="Oval"/>
            <p:cNvSpPr/>
            <p:nvPr/>
          </p:nvSpPr>
          <p:spPr>
            <a:xfrm>
              <a:off x="0" y="0"/>
              <a:ext cx="3124200" cy="1295400"/>
            </a:xfrm>
            <a:prstGeom prst="ellipse">
              <a:avLst/>
            </a:prstGeom>
            <a:solidFill>
              <a:srgbClr val="B7DEE8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1" name="Maximum utilization of Govt.…"/>
            <p:cNvSpPr txBox="1"/>
            <p:nvPr/>
          </p:nvSpPr>
          <p:spPr>
            <a:xfrm>
              <a:off x="127119" y="33803"/>
              <a:ext cx="2869962" cy="12277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600" b="1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Maximum utilization of Govt.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resources with 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honesty and sincerity</a:t>
              </a:r>
            </a:p>
          </p:txBody>
        </p:sp>
      </p:grpSp>
      <p:grpSp>
        <p:nvGrpSpPr>
          <p:cNvPr id="445" name="Oval 4"/>
          <p:cNvGrpSpPr/>
          <p:nvPr/>
        </p:nvGrpSpPr>
        <p:grpSpPr>
          <a:xfrm>
            <a:off x="4281487" y="4658047"/>
            <a:ext cx="3829428" cy="1666553"/>
            <a:chOff x="0" y="0"/>
            <a:chExt cx="3200400" cy="1219200"/>
          </a:xfrm>
        </p:grpSpPr>
        <p:sp>
          <p:nvSpPr>
            <p:cNvPr id="443" name="Oval"/>
            <p:cNvSpPr/>
            <p:nvPr/>
          </p:nvSpPr>
          <p:spPr>
            <a:xfrm>
              <a:off x="0" y="0"/>
              <a:ext cx="3200400" cy="1219200"/>
            </a:xfrm>
            <a:prstGeom prst="ellipse">
              <a:avLst/>
            </a:prstGeom>
            <a:solidFill>
              <a:srgbClr val="B7DEE8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4" name="Providing Effective and…"/>
            <p:cNvSpPr txBox="1"/>
            <p:nvPr/>
          </p:nvSpPr>
          <p:spPr>
            <a:xfrm>
              <a:off x="390792" y="110003"/>
              <a:ext cx="2418816" cy="9991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Providing Effective and 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prompt services 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through improved 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management system</a:t>
              </a:r>
            </a:p>
          </p:txBody>
        </p:sp>
      </p:grpSp>
      <p:sp>
        <p:nvSpPr>
          <p:cNvPr id="446" name="AutoShape 6"/>
          <p:cNvSpPr/>
          <p:nvPr/>
        </p:nvSpPr>
        <p:spPr>
          <a:xfrm>
            <a:off x="1513162" y="2045588"/>
            <a:ext cx="2509848" cy="624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close/>
              </a:path>
            </a:pathLst>
          </a:custGeom>
          <a:solidFill>
            <a:srgbClr val="B7DEE8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47" name="AutoShape 7"/>
          <p:cNvSpPr/>
          <p:nvPr/>
        </p:nvSpPr>
        <p:spPr>
          <a:xfrm>
            <a:off x="1513164" y="5178844"/>
            <a:ext cx="2433792" cy="624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close/>
              </a:path>
            </a:pathLst>
          </a:custGeom>
          <a:solidFill>
            <a:srgbClr val="B7DEE8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450" name="Oval 9"/>
          <p:cNvGrpSpPr/>
          <p:nvPr/>
        </p:nvGrpSpPr>
        <p:grpSpPr>
          <a:xfrm>
            <a:off x="4281487" y="3172148"/>
            <a:ext cx="3829428" cy="1485900"/>
            <a:chOff x="0" y="0"/>
            <a:chExt cx="3200400" cy="1219200"/>
          </a:xfrm>
        </p:grpSpPr>
        <p:sp>
          <p:nvSpPr>
            <p:cNvPr id="448" name="Oval"/>
            <p:cNvSpPr/>
            <p:nvPr/>
          </p:nvSpPr>
          <p:spPr>
            <a:xfrm>
              <a:off x="0" y="0"/>
              <a:ext cx="3200400" cy="1219200"/>
            </a:xfrm>
            <a:prstGeom prst="ellipse">
              <a:avLst/>
            </a:prstGeom>
            <a:solidFill>
              <a:srgbClr val="B7DEE8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9" name="Integrated approach of…"/>
            <p:cNvSpPr txBox="1"/>
            <p:nvPr/>
          </p:nvSpPr>
          <p:spPr>
            <a:xfrm>
              <a:off x="216019" y="110003"/>
              <a:ext cx="2768362" cy="9991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Integrated approach of 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Administration, Community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Leaders &amp; Health </a:t>
              </a:r>
            </a:p>
            <a:p>
              <a:pPr algn="ctr">
                <a:defRPr sz="1600" b="1">
                  <a:latin typeface="Arial"/>
                  <a:ea typeface="Arial"/>
                  <a:cs typeface="Arial"/>
                  <a:sym typeface="Arial"/>
                </a:defRPr>
              </a:pPr>
              <a:r>
                <a:t>Management</a:t>
              </a:r>
            </a:p>
          </p:txBody>
        </p:sp>
      </p:grpSp>
      <p:sp>
        <p:nvSpPr>
          <p:cNvPr id="451" name="AutoShape 10"/>
          <p:cNvSpPr/>
          <p:nvPr/>
        </p:nvSpPr>
        <p:spPr>
          <a:xfrm>
            <a:off x="1513162" y="3602619"/>
            <a:ext cx="2433794" cy="624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close/>
              </a:path>
            </a:pathLst>
          </a:custGeom>
          <a:solidFill>
            <a:srgbClr val="B7DEE8"/>
          </a:solidFill>
          <a:ln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33E714C-BD82-494F-93A5-25F8194718DC}"/>
              </a:ext>
            </a:extLst>
          </p:cNvPr>
          <p:cNvSpPr txBox="1"/>
          <p:nvPr/>
        </p:nvSpPr>
        <p:spPr>
          <a:xfrm>
            <a:off x="893619" y="1598470"/>
            <a:ext cx="803563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As example: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In 1977, the hospital started as Thana Health Complex, Madhupur.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The health complex was declared as Upazilla Health Complex 1982.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It was upgraded to 31 bedded hospital in 2008.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C-section started in ……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SSK program was started in 2022.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The health complex is upgraded to 50 bedded hospital in 15 October 2020.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From 1 July 2020, the UHC started the service delivery system as 100 bedded hospital.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25000"/>
                  </a:schemeClr>
                </a:solidFill>
                <a:latin typeface="Kalpurush" panose="02000600000000000000" pitchFamily="2" charset="0"/>
                <a:cs typeface="Kalpurush" panose="02000600000000000000" pitchFamily="2" charset="0"/>
              </a:rPr>
              <a:t>NCD corner started in 2022</a:t>
            </a:r>
          </a:p>
        </p:txBody>
      </p:sp>
      <p:sp>
        <p:nvSpPr>
          <p:cNvPr id="18" name="Google Shape;164;p33">
            <a:extLst>
              <a:ext uri="{FF2B5EF4-FFF2-40B4-BE49-F238E27FC236}">
                <a16:creationId xmlns:a16="http://schemas.microsoft.com/office/drawing/2014/main" id="{52B67F91-0C68-48EA-8771-5FCF61F26CD5}"/>
              </a:ext>
            </a:extLst>
          </p:cNvPr>
          <p:cNvSpPr txBox="1">
            <a:spLocks/>
          </p:cNvSpPr>
          <p:nvPr/>
        </p:nvSpPr>
        <p:spPr>
          <a:xfrm>
            <a:off x="479685" y="389745"/>
            <a:ext cx="8387714" cy="726322"/>
          </a:xfrm>
          <a:prstGeom prst="rect">
            <a:avLst/>
          </a:prstGeom>
          <a:solidFill>
            <a:srgbClr val="B7DEE8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defTabSz="685800">
              <a:lnSpc>
                <a:spcPct val="90000"/>
              </a:lnSpc>
              <a:spcBef>
                <a:spcPct val="0"/>
              </a:spcBef>
              <a:buNone/>
              <a:defRPr sz="3600" b="1"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Background History of the Patharghata UHC</a:t>
            </a:r>
          </a:p>
        </p:txBody>
      </p:sp>
    </p:spTree>
    <p:extLst>
      <p:ext uri="{BB962C8B-B14F-4D97-AF65-F5344CB8AC3E}">
        <p14:creationId xmlns:p14="http://schemas.microsoft.com/office/powerpoint/2010/main" val="413491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Rectangle 3"/>
          <p:cNvSpPr txBox="1">
            <a:spLocks noGrp="1"/>
          </p:cNvSpPr>
          <p:nvPr>
            <p:ph type="title"/>
          </p:nvPr>
        </p:nvSpPr>
        <p:spPr>
          <a:xfrm>
            <a:off x="457200" y="376419"/>
            <a:ext cx="8229600" cy="508000"/>
          </a:xfrm>
          <a:prstGeom prst="rect">
            <a:avLst/>
          </a:prstGeom>
          <a:solidFill>
            <a:srgbClr val="B7DEE8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sz="2800" b="1"/>
            </a:lvl1pPr>
          </a:lstStyle>
          <a:p>
            <a:pPr algn="ctr"/>
            <a:r>
              <a:rPr sz="3000" dirty="0">
                <a:latin typeface="Calibri" panose="020F0502020204030204" pitchFamily="34" charset="0"/>
                <a:cs typeface="Calibri" panose="020F0502020204030204" pitchFamily="34" charset="0"/>
              </a:rPr>
              <a:t>Health Profile of Patharghata Upazil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3000" dirty="0">
                <a:latin typeface="Calibri" panose="020F0502020204030204" pitchFamily="34" charset="0"/>
                <a:cs typeface="Calibri" panose="020F0502020204030204" pitchFamily="34" charset="0"/>
              </a:rPr>
              <a:t>a(2017-2022)</a:t>
            </a:r>
          </a:p>
        </p:txBody>
      </p:sp>
      <p:sp>
        <p:nvSpPr>
          <p:cNvPr id="434" name="Rectangle 2"/>
          <p:cNvSpPr txBox="1">
            <a:spLocks noGrp="1"/>
          </p:cNvSpPr>
          <p:nvPr>
            <p:ph idx="1"/>
          </p:nvPr>
        </p:nvSpPr>
        <p:spPr>
          <a:xfrm>
            <a:off x="457200" y="965200"/>
            <a:ext cx="8229600" cy="55499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09600" indent="-609600">
              <a:spcBef>
                <a:spcPts val="400"/>
              </a:spcBef>
              <a:buFontTx/>
              <a:buAutoNum type="arabicPeriod"/>
              <a:defRPr sz="1800" b="1">
                <a:solidFill>
                  <a:srgbClr val="CC0000"/>
                </a:solidFill>
              </a:defRPr>
            </a:pPr>
            <a:r>
              <a:rPr sz="2400" dirty="0"/>
              <a:t>Total population	: 193744</a:t>
            </a:r>
          </a:p>
          <a:p>
            <a:pPr marL="609600" indent="-609600">
              <a:spcBef>
                <a:spcPts val="400"/>
              </a:spcBef>
              <a:buFontTx/>
              <a:buAutoNum type="arabicPeriod"/>
              <a:defRPr sz="1800" b="1">
                <a:solidFill>
                  <a:srgbClr val="CC0000"/>
                </a:solidFill>
              </a:defRPr>
            </a:pPr>
            <a:r>
              <a:rPr sz="2400" dirty="0"/>
              <a:t>Total Pregnant	: 3</a:t>
            </a:r>
            <a:r>
              <a:rPr lang="en-US" sz="2400" dirty="0"/>
              <a:t>874</a:t>
            </a:r>
          </a:p>
          <a:p>
            <a:pPr marL="609600" indent="-609600">
              <a:spcBef>
                <a:spcPts val="400"/>
              </a:spcBef>
              <a:buFontTx/>
              <a:buAutoNum type="arabicPeriod"/>
              <a:defRPr sz="1800" b="1">
                <a:solidFill>
                  <a:srgbClr val="CC0000"/>
                </a:solidFill>
              </a:defRPr>
            </a:pPr>
            <a:r>
              <a:rPr sz="2400" dirty="0"/>
              <a:t>Total Live birth	: </a:t>
            </a:r>
            <a:r>
              <a:rPr lang="en-US" sz="2400" dirty="0"/>
              <a:t>3770</a:t>
            </a:r>
            <a:endParaRPr sz="2400" dirty="0"/>
          </a:p>
          <a:p>
            <a:pPr marL="609600" indent="-609600">
              <a:spcBef>
                <a:spcPts val="400"/>
              </a:spcBef>
              <a:buFontTx/>
              <a:buAutoNum type="arabicPeriod"/>
              <a:defRPr sz="1800" b="1"/>
            </a:pPr>
            <a:r>
              <a:rPr sz="2400" dirty="0"/>
              <a:t>Total death 		: </a:t>
            </a:r>
            <a:r>
              <a:rPr lang="en-US" sz="2400" dirty="0"/>
              <a:t>754</a:t>
            </a:r>
          </a:p>
          <a:p>
            <a:pPr marL="609600" indent="-609600">
              <a:spcBef>
                <a:spcPts val="400"/>
              </a:spcBef>
              <a:buFontTx/>
              <a:buAutoNum type="arabicPeriod"/>
              <a:defRPr sz="1800" b="1"/>
            </a:pPr>
            <a:r>
              <a:rPr sz="2400" dirty="0"/>
              <a:t>Total Maternal death	: 0</a:t>
            </a:r>
            <a:r>
              <a:rPr lang="en-US" sz="2400" dirty="0"/>
              <a:t>7 </a:t>
            </a:r>
            <a:r>
              <a:rPr sz="2400" dirty="0"/>
              <a:t>                              </a:t>
            </a:r>
          </a:p>
          <a:p>
            <a:pPr marL="609600" indent="-609600">
              <a:spcBef>
                <a:spcPts val="400"/>
              </a:spcBef>
              <a:buFontTx/>
              <a:buAutoNum type="arabicPeriod"/>
              <a:defRPr sz="1800" b="1"/>
            </a:pPr>
            <a:r>
              <a:rPr sz="2400" dirty="0"/>
              <a:t>Health Man power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a. Doctor		: 17 ( 12 + 5)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b. Nurse                  	: 36 (33+3)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c. HA                   	: 32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           e. Volunteer, Security guard &amp; cleaner: 5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7.     Health Institutions			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a. Health Complex        : 01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b. H &amp; FWC                   	: 6 (RD- 1 + FWC– 5 )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</a:t>
            </a:r>
            <a:r>
              <a:rPr sz="2400" dirty="0">
                <a:solidFill>
                  <a:srgbClr val="CC0000"/>
                </a:solidFill>
              </a:rPr>
              <a:t>c. Community clinic	: 21</a:t>
            </a:r>
          </a:p>
          <a:p>
            <a:pPr marL="609600" indent="-609600">
              <a:spcBef>
                <a:spcPts val="400"/>
              </a:spcBef>
              <a:buSzTx/>
              <a:buNone/>
              <a:defRPr sz="1800" b="1"/>
            </a:pPr>
            <a:r>
              <a:rPr sz="2400" dirty="0"/>
              <a:t>	d. Non-Govt. Clinic  	: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2"/>
          <p:cNvSpPr txBox="1">
            <a:spLocks noGrp="1"/>
          </p:cNvSpPr>
          <p:nvPr>
            <p:ph idx="1"/>
          </p:nvPr>
        </p:nvSpPr>
        <p:spPr>
          <a:xfrm>
            <a:off x="457200" y="884237"/>
            <a:ext cx="8229600" cy="5059363"/>
          </a:xfrm>
          <a:prstGeom prst="rect">
            <a:avLst/>
          </a:prstGeom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10. Mother Taken-ANC	</a:t>
            </a:r>
            <a:r>
              <a:rPr lang="en-US" dirty="0"/>
              <a:t>          </a:t>
            </a:r>
            <a:r>
              <a:rPr dirty="0"/>
              <a:t>: 325 ( 1st Visit)</a:t>
            </a:r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11. Hospital Delivery Rate	</a:t>
            </a:r>
            <a:r>
              <a:rPr lang="en-US" dirty="0"/>
              <a:t>          </a:t>
            </a:r>
            <a:r>
              <a:rPr dirty="0"/>
              <a:t>: </a:t>
            </a:r>
            <a:r>
              <a:rPr lang="en-US" dirty="0"/>
              <a:t>15.4 (338)</a:t>
            </a:r>
            <a:endParaRPr dirty="0"/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12. Total C. Section rate</a:t>
            </a:r>
            <a:r>
              <a:rPr lang="en-US" dirty="0"/>
              <a:t>       </a:t>
            </a:r>
            <a:r>
              <a:rPr dirty="0"/>
              <a:t>	: </a:t>
            </a:r>
            <a:r>
              <a:rPr lang="en-US" dirty="0"/>
              <a:t>Nil</a:t>
            </a:r>
            <a:endParaRPr dirty="0"/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13. No. of Hospital bed	</a:t>
            </a:r>
            <a:r>
              <a:rPr lang="en-US" dirty="0"/>
              <a:t>          </a:t>
            </a:r>
            <a:r>
              <a:rPr dirty="0"/>
              <a:t>: 50</a:t>
            </a:r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14. Bed Occupancy Rate 	</a:t>
            </a:r>
            <a:r>
              <a:rPr lang="en-US" dirty="0"/>
              <a:t>          </a:t>
            </a:r>
            <a:r>
              <a:rPr dirty="0"/>
              <a:t>: 85% (2021)</a:t>
            </a:r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15. Maternal Mortality Ratio	:</a:t>
            </a:r>
            <a:r>
              <a:rPr lang="en-US" dirty="0"/>
              <a:t> 10</a:t>
            </a:r>
            <a:r>
              <a:rPr dirty="0"/>
              <a:t> / 100000 live Birth</a:t>
            </a:r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16. Neonatal Mortality Rate	: </a:t>
            </a:r>
            <a:r>
              <a:rPr lang="en-US" dirty="0"/>
              <a:t>20</a:t>
            </a:r>
            <a:r>
              <a:rPr dirty="0"/>
              <a:t> / 1000 live birth</a:t>
            </a:r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17. Infant Mortality Rate   </a:t>
            </a:r>
            <a:r>
              <a:rPr lang="en-US" dirty="0"/>
              <a:t>   </a:t>
            </a:r>
            <a:r>
              <a:rPr dirty="0"/>
              <a:t>	: </a:t>
            </a:r>
            <a:r>
              <a:rPr lang="en-US" dirty="0"/>
              <a:t>20</a:t>
            </a:r>
            <a:r>
              <a:rPr dirty="0"/>
              <a:t> /1000 live birth</a:t>
            </a:r>
          </a:p>
          <a:p>
            <a:pPr marL="609600" indent="-609600">
              <a:lnSpc>
                <a:spcPct val="90000"/>
              </a:lnSpc>
              <a:spcBef>
                <a:spcPts val="500"/>
              </a:spcBef>
              <a:buSzTx/>
              <a:buNone/>
              <a:defRPr sz="2400" b="1">
                <a:solidFill>
                  <a:srgbClr val="CC0000"/>
                </a:solidFill>
              </a:defRPr>
            </a:pPr>
            <a:r>
              <a:rPr dirty="0"/>
              <a:t>18. Under-5 Mortality Rate   	:</a:t>
            </a:r>
            <a:r>
              <a:rPr lang="en-US" dirty="0"/>
              <a:t> 24</a:t>
            </a:r>
            <a:r>
              <a:rPr dirty="0"/>
              <a:t>  /1000 live birth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"/>
          <p:cNvSpPr/>
          <p:nvPr/>
        </p:nvSpPr>
        <p:spPr>
          <a:xfrm>
            <a:off x="398676" y="983205"/>
            <a:ext cx="8229601" cy="609602"/>
          </a:xfrm>
          <a:prstGeom prst="rect">
            <a:avLst/>
          </a:prstGeom>
          <a:gradFill>
            <a:gsLst>
              <a:gs pos="0">
                <a:srgbClr val="9A2F2C"/>
              </a:gs>
              <a:gs pos="80000">
                <a:srgbClr val="CA3E3A"/>
              </a:gs>
              <a:gs pos="100000">
                <a:srgbClr val="CE3B37"/>
              </a:gs>
            </a:gsLst>
            <a:lin ang="16200000"/>
          </a:gra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54" name="Bed Occupancy Rate from 2017 to 2021"/>
          <p:cNvSpPr txBox="1"/>
          <p:nvPr/>
        </p:nvSpPr>
        <p:spPr>
          <a:xfrm>
            <a:off x="444395" y="1069472"/>
            <a:ext cx="8138161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 b="1">
                <a:solidFill>
                  <a:srgbClr val="FFFFFF"/>
                </a:solidFill>
                <a:effectLst>
                  <a:outerShdw blurRad="38100" dist="38100" dir="2700000" rotWithShape="0">
                    <a:srgbClr val="C0C0C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Bed Occupancy Rate from 2017 to 2021</a:t>
            </a:r>
          </a:p>
        </p:txBody>
      </p:sp>
      <p:pic>
        <p:nvPicPr>
          <p:cNvPr id="455" name="Title 1" descr="Titl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5" y="-28033"/>
            <a:ext cx="8339139" cy="1316039"/>
          </a:xfrm>
          <a:prstGeom prst="rect">
            <a:avLst/>
          </a:prstGeom>
          <a:ln w="12700">
            <a:miter lim="400000"/>
          </a:ln>
        </p:spPr>
      </p:pic>
      <p:sp>
        <p:nvSpPr>
          <p:cNvPr id="456" name="Text Box 32"/>
          <p:cNvSpPr txBox="1"/>
          <p:nvPr/>
        </p:nvSpPr>
        <p:spPr>
          <a:xfrm>
            <a:off x="507895" y="250872"/>
            <a:ext cx="8138161" cy="68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90000"/>
              </a:lnSpc>
              <a:defRPr sz="4300" b="1">
                <a:solidFill>
                  <a:srgbClr val="FFFFFF"/>
                </a:solidFill>
                <a:effectLst>
                  <a:outerShdw blurRad="38100" dist="38100" dir="2700000" rotWithShape="0">
                    <a:srgbClr val="C0C0C0"/>
                  </a:outerShdw>
                </a:effectLst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rPr lang="en-US" dirty="0"/>
              <a:t>Patharghata </a:t>
            </a:r>
            <a:r>
              <a:rPr dirty="0"/>
              <a:t>UHC</a:t>
            </a:r>
          </a:p>
        </p:txBody>
      </p:sp>
      <p:graphicFrame>
        <p:nvGraphicFramePr>
          <p:cNvPr id="457" name="Chart 2"/>
          <p:cNvGraphicFramePr/>
          <p:nvPr>
            <p:extLst>
              <p:ext uri="{D42A27DB-BD31-4B8C-83A1-F6EECF244321}">
                <p14:modId xmlns:p14="http://schemas.microsoft.com/office/powerpoint/2010/main" val="1430243093"/>
              </p:ext>
            </p:extLst>
          </p:nvPr>
        </p:nvGraphicFramePr>
        <p:xfrm>
          <a:off x="927027" y="1904652"/>
          <a:ext cx="7088563" cy="4328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tangle 57"/>
          <p:cNvSpPr txBox="1">
            <a:spLocks noGrp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prstGeom prst="rect">
            <a:avLst/>
          </a:prstGeom>
          <a:gradFill>
            <a:gsLst>
              <a:gs pos="0">
                <a:srgbClr val="9A2F2C"/>
              </a:gs>
              <a:gs pos="80000">
                <a:srgbClr val="CA3E3A"/>
              </a:gs>
              <a:gs pos="100000">
                <a:srgbClr val="CE3B37"/>
              </a:gs>
            </a:gsLst>
            <a:lin ang="16200000"/>
          </a:gradFill>
          <a:ln w="9525">
            <a:solidFill>
              <a:srgbClr val="BE4B48"/>
            </a:solidFill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/>
          <a:lstStyle>
            <a:lvl1pPr>
              <a:defRPr sz="2400" b="1">
                <a:solidFill>
                  <a:srgbClr val="FFFFFF"/>
                </a:solidFill>
                <a:effectLst>
                  <a:outerShdw blurRad="38100" dist="38100" dir="2700000" rotWithShape="0">
                    <a:srgbClr val="000000"/>
                  </a:outerShdw>
                </a:effectLst>
              </a:defRPr>
            </a:lvl1pPr>
          </a:lstStyle>
          <a:p>
            <a:r>
              <a:rPr dirty="0"/>
              <a:t>Emergency </a:t>
            </a:r>
            <a:r>
              <a:rPr lang="en-US" dirty="0"/>
              <a:t>+</a:t>
            </a:r>
            <a:r>
              <a:rPr dirty="0"/>
              <a:t> Out</a:t>
            </a:r>
            <a:r>
              <a:rPr lang="en-US" dirty="0"/>
              <a:t>d</a:t>
            </a:r>
            <a:r>
              <a:rPr dirty="0"/>
              <a:t>oor</a:t>
            </a:r>
            <a:r>
              <a:rPr lang="en-US" dirty="0"/>
              <a:t> &amp;</a:t>
            </a:r>
            <a:r>
              <a:rPr dirty="0"/>
              <a:t> Indoor  Service 2017 to 2021</a:t>
            </a:r>
          </a:p>
        </p:txBody>
      </p:sp>
      <p:grpSp>
        <p:nvGrpSpPr>
          <p:cNvPr id="462" name="Title 1"/>
          <p:cNvGrpSpPr/>
          <p:nvPr/>
        </p:nvGrpSpPr>
        <p:grpSpPr>
          <a:xfrm>
            <a:off x="228600" y="198618"/>
            <a:ext cx="8534400" cy="715964"/>
            <a:chOff x="0" y="0"/>
            <a:chExt cx="8534400" cy="715962"/>
          </a:xfrm>
        </p:grpSpPr>
        <p:sp>
          <p:nvSpPr>
            <p:cNvPr id="460" name="Rectangle"/>
            <p:cNvSpPr/>
            <p:nvPr/>
          </p:nvSpPr>
          <p:spPr>
            <a:xfrm>
              <a:off x="0" y="-1"/>
              <a:ext cx="8534400" cy="715964"/>
            </a:xfrm>
            <a:prstGeom prst="rect">
              <a:avLst/>
            </a:prstGeom>
            <a:gradFill flip="none" rotWithShape="1">
              <a:gsLst>
                <a:gs pos="0">
                  <a:srgbClr val="2A869F"/>
                </a:gs>
                <a:gs pos="80000">
                  <a:srgbClr val="37B1D1"/>
                </a:gs>
                <a:gs pos="100000">
                  <a:srgbClr val="34B3D5"/>
                </a:gs>
              </a:gsLst>
              <a:lin ang="16200000" scaled="0"/>
            </a:gra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44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461" name="UHC"/>
            <p:cNvSpPr txBox="1"/>
            <p:nvPr/>
          </p:nvSpPr>
          <p:spPr>
            <a:xfrm>
              <a:off x="45719" y="-1"/>
              <a:ext cx="8442961" cy="715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/>
            </a:bodyPr>
            <a:lstStyle>
              <a:lvl1pPr algn="ctr">
                <a:lnSpc>
                  <a:spcPct val="90000"/>
                </a:lnSpc>
                <a:defRPr sz="4200" b="1">
                  <a:solidFill>
                    <a:srgbClr val="FFFFFF"/>
                  </a:solidFill>
                  <a:effectLst>
                    <a:outerShdw blurRad="38100" dist="38100" dir="2700000" rotWithShape="0">
                      <a:srgbClr val="C0C0C0"/>
                    </a:outerShdw>
                  </a:effectLst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rPr lang="en-US" dirty="0"/>
                <a:t> Patharghata </a:t>
              </a:r>
              <a:r>
                <a:rPr dirty="0"/>
                <a:t>UHC</a:t>
              </a:r>
            </a:p>
          </p:txBody>
        </p:sp>
      </p:grpSp>
      <p:graphicFrame>
        <p:nvGraphicFramePr>
          <p:cNvPr id="463" name="Chart 2"/>
          <p:cNvGraphicFramePr/>
          <p:nvPr>
            <p:extLst>
              <p:ext uri="{D42A27DB-BD31-4B8C-83A1-F6EECF244321}">
                <p14:modId xmlns:p14="http://schemas.microsoft.com/office/powerpoint/2010/main" val="904308150"/>
              </p:ext>
            </p:extLst>
          </p:nvPr>
        </p:nvGraphicFramePr>
        <p:xfrm>
          <a:off x="274319" y="1692275"/>
          <a:ext cx="8488681" cy="4813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06078"/>
            <a:ext cx="6115050" cy="5369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2700" dirty="0"/>
              <a:t>Madhupur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485900" y="1609725"/>
            <a:ext cx="611505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July 2022 (NVD)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/>
        </p:nvGraphicFramePr>
        <p:xfrm>
          <a:off x="1079292" y="2194322"/>
          <a:ext cx="7082852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6978481" y="2406574"/>
            <a:ext cx="2030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Please add data of</a:t>
            </a:r>
          </a:p>
          <a:p>
            <a:r>
              <a:rPr lang="en-US" b="1" dirty="0"/>
              <a:t>Patharghata UHC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06078"/>
            <a:ext cx="6115050" cy="536972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2700" dirty="0"/>
              <a:t>Madhupur UHC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dirty="0"/>
          </a:p>
          <a:p>
            <a:pPr algn="ctr" eaLnBrk="1" hangingPunct="1">
              <a:buFontTx/>
              <a:buNone/>
            </a:pPr>
            <a:endParaRPr lang="en-US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485900" y="1609725"/>
            <a:ext cx="611505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ANC Care: 2017 to July 2022 (ANC 1</a:t>
            </a:r>
            <a:r>
              <a:rPr lang="en-US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st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and 4</a:t>
            </a:r>
            <a:r>
              <a:rPr lang="en-US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th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Visit)</a:t>
            </a:r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FDB99ED0-C427-4FFB-8D9C-17357E6A79B0}"/>
              </a:ext>
            </a:extLst>
          </p:cNvPr>
          <p:cNvGraphicFramePr>
            <a:graphicFrameLocks/>
          </p:cNvGraphicFramePr>
          <p:nvPr/>
        </p:nvGraphicFramePr>
        <p:xfrm>
          <a:off x="1259173" y="2194321"/>
          <a:ext cx="6801788" cy="325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B3C2B4-886A-4D42-95DF-24E3D9F22572}"/>
              </a:ext>
            </a:extLst>
          </p:cNvPr>
          <p:cNvSpPr txBox="1"/>
          <p:nvPr/>
        </p:nvSpPr>
        <p:spPr>
          <a:xfrm flipH="1">
            <a:off x="6952250" y="2406573"/>
            <a:ext cx="1708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Please add</a:t>
            </a:r>
          </a:p>
          <a:p>
            <a:r>
              <a:rPr lang="en-US" b="1" dirty="0"/>
              <a:t>as data of Ramgati UHC</a:t>
            </a:r>
          </a:p>
        </p:txBody>
      </p:sp>
    </p:spTree>
    <p:extLst>
      <p:ext uri="{BB962C8B-B14F-4D97-AF65-F5344CB8AC3E}">
        <p14:creationId xmlns:p14="http://schemas.microsoft.com/office/powerpoint/2010/main" val="343284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itle 3"/>
          <p:cNvSpPr txBox="1">
            <a:spLocks noGrp="1"/>
          </p:cNvSpPr>
          <p:nvPr>
            <p:ph type="title"/>
          </p:nvPr>
        </p:nvSpPr>
        <p:spPr>
          <a:xfrm>
            <a:off x="452650" y="792753"/>
            <a:ext cx="8310351" cy="808040"/>
          </a:xfrm>
          <a:prstGeom prst="rect">
            <a:avLst/>
          </a:prstGeom>
          <a:gradFill>
            <a:gsLst>
              <a:gs pos="0">
                <a:srgbClr val="9A2F2C"/>
              </a:gs>
              <a:gs pos="80000">
                <a:srgbClr val="CA3E3A"/>
              </a:gs>
              <a:gs pos="100000">
                <a:srgbClr val="CE3B37"/>
              </a:gs>
            </a:gsLst>
            <a:lin ang="16200000"/>
          </a:gradFill>
          <a:ln w="9525">
            <a:solidFill>
              <a:srgbClr val="BE4B48"/>
            </a:solidFill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>
            <a:noAutofit/>
          </a:bodyPr>
          <a:lstStyle/>
          <a:p>
            <a:pPr algn="ctr" defTabSz="539495">
              <a:defRPr sz="1416" b="1">
                <a:solidFill>
                  <a:srgbClr val="FFFFFF"/>
                </a:solidFill>
                <a:effectLst/>
              </a:defRPr>
            </a:pPr>
            <a:br>
              <a:rPr sz="2400" dirty="0"/>
            </a:br>
            <a:r>
              <a:rPr sz="2400" dirty="0"/>
              <a:t>Comparative data of revenue income (in Taka) from 2019 to 2021</a:t>
            </a:r>
            <a:br>
              <a:rPr sz="2400" dirty="0"/>
            </a:br>
            <a:endParaRPr sz="2400" dirty="0"/>
          </a:p>
        </p:txBody>
      </p:sp>
      <p:graphicFrame>
        <p:nvGraphicFramePr>
          <p:cNvPr id="466" name="Content Placeholder 8"/>
          <p:cNvGraphicFramePr/>
          <p:nvPr>
            <p:extLst>
              <p:ext uri="{D42A27DB-BD31-4B8C-83A1-F6EECF244321}">
                <p14:modId xmlns:p14="http://schemas.microsoft.com/office/powerpoint/2010/main" val="2244983941"/>
              </p:ext>
            </p:extLst>
          </p:nvPr>
        </p:nvGraphicFramePr>
        <p:xfrm>
          <a:off x="1348699" y="2083633"/>
          <a:ext cx="6745990" cy="4239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69" name="Title 1"/>
          <p:cNvGrpSpPr/>
          <p:nvPr/>
        </p:nvGrpSpPr>
        <p:grpSpPr>
          <a:xfrm>
            <a:off x="452651" y="76199"/>
            <a:ext cx="8305801" cy="715964"/>
            <a:chOff x="0" y="0"/>
            <a:chExt cx="8305800" cy="715962"/>
          </a:xfrm>
        </p:grpSpPr>
        <p:sp>
          <p:nvSpPr>
            <p:cNvPr id="467" name="Rectangle"/>
            <p:cNvSpPr/>
            <p:nvPr/>
          </p:nvSpPr>
          <p:spPr>
            <a:xfrm>
              <a:off x="0" y="-1"/>
              <a:ext cx="8305800" cy="715964"/>
            </a:xfrm>
            <a:prstGeom prst="rect">
              <a:avLst/>
            </a:prstGeom>
            <a:gradFill flip="none" rotWithShape="1">
              <a:gsLst>
                <a:gs pos="0">
                  <a:srgbClr val="2A869F"/>
                </a:gs>
                <a:gs pos="80000">
                  <a:srgbClr val="37B1D1"/>
                </a:gs>
                <a:gs pos="100000">
                  <a:srgbClr val="34B3D5"/>
                </a:gs>
              </a:gsLst>
              <a:lin ang="16200000" scaled="0"/>
            </a:gra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44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468" name="UHC"/>
            <p:cNvSpPr txBox="1"/>
            <p:nvPr/>
          </p:nvSpPr>
          <p:spPr>
            <a:xfrm>
              <a:off x="45719" y="-1"/>
              <a:ext cx="8214361" cy="7159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rmAutofit/>
            </a:bodyPr>
            <a:lstStyle>
              <a:lvl1pPr algn="ctr">
                <a:lnSpc>
                  <a:spcPct val="90000"/>
                </a:lnSpc>
                <a:defRPr sz="4200" b="1">
                  <a:solidFill>
                    <a:srgbClr val="FFFFFF"/>
                  </a:solidFill>
                  <a:effectLst>
                    <a:outerShdw blurRad="38100" dist="38100" dir="2700000" rotWithShape="0">
                      <a:srgbClr val="C0C0C0"/>
                    </a:outerShdw>
                  </a:effectLst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UHC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prstGeom prst="rect">
            <a:avLst/>
          </a:prstGeom>
          <a:solidFill>
            <a:srgbClr val="006600"/>
          </a:solidFill>
        </p:spPr>
        <p:txBody>
          <a:bodyPr>
            <a:normAutofit/>
          </a:bodyPr>
          <a:lstStyle>
            <a:lvl1pPr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>
                <a:effectLst/>
              </a:defRPr>
            </a:pPr>
            <a:r>
              <a:t>Changes in Gardens of The Hospital</a:t>
            </a:r>
          </a:p>
        </p:txBody>
      </p:sp>
      <p:pic>
        <p:nvPicPr>
          <p:cNvPr id="472" name="IMG_0201.jpeg" descr="IMG_0201.jpeg"/>
          <p:cNvPicPr>
            <a:picLocks noChangeAspect="1"/>
          </p:cNvPicPr>
          <p:nvPr/>
        </p:nvPicPr>
        <p:blipFill>
          <a:blip r:embed="rId2"/>
          <a:srcRect t="2902" b="2902"/>
          <a:stretch>
            <a:fillRect/>
          </a:stretch>
        </p:blipFill>
        <p:spPr>
          <a:xfrm>
            <a:off x="4784059" y="1839761"/>
            <a:ext cx="4175383" cy="2949740"/>
          </a:xfrm>
          <a:prstGeom prst="rect">
            <a:avLst/>
          </a:prstGeom>
          <a:ln>
            <a:solidFill>
              <a:srgbClr val="000000"/>
            </a:solidFill>
            <a:miter/>
          </a:ln>
        </p:spPr>
      </p:pic>
      <p:sp>
        <p:nvSpPr>
          <p:cNvPr id="473" name="Right Arrow 9"/>
          <p:cNvSpPr/>
          <p:nvPr/>
        </p:nvSpPr>
        <p:spPr>
          <a:xfrm>
            <a:off x="4305300" y="3124049"/>
            <a:ext cx="457200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74" name="Rectangle 14"/>
          <p:cNvSpPr/>
          <p:nvPr/>
        </p:nvSpPr>
        <p:spPr>
          <a:xfrm>
            <a:off x="4991800" y="1991338"/>
            <a:ext cx="647103" cy="360187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pic>
        <p:nvPicPr>
          <p:cNvPr id="475" name="page6image55948080.jpg" descr="page6image55948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21" y="1794497"/>
            <a:ext cx="4076504" cy="3040105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Text"/>
          <p:cNvSpPr txBox="1"/>
          <p:nvPr/>
        </p:nvSpPr>
        <p:spPr>
          <a:xfrm>
            <a:off x="0" y="0"/>
            <a:ext cx="142240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477" name="Rectangle 11"/>
          <p:cNvSpPr txBox="1"/>
          <p:nvPr/>
        </p:nvSpPr>
        <p:spPr>
          <a:xfrm>
            <a:off x="257744" y="1996101"/>
            <a:ext cx="82822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prstGeom prst="rect">
            <a:avLst/>
          </a:prstGeom>
          <a:solidFill>
            <a:srgbClr val="006600"/>
          </a:solidFill>
        </p:spPr>
        <p:txBody>
          <a:bodyPr>
            <a:normAutofit/>
          </a:bodyPr>
          <a:lstStyle>
            <a:lvl1pPr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>
                <a:effectLst/>
              </a:defRPr>
            </a:pPr>
            <a:r>
              <a:t>Changes around the Hospital Gate</a:t>
            </a:r>
          </a:p>
        </p:txBody>
      </p:sp>
      <p:sp>
        <p:nvSpPr>
          <p:cNvPr id="480" name="Right Arrow 9"/>
          <p:cNvSpPr/>
          <p:nvPr/>
        </p:nvSpPr>
        <p:spPr>
          <a:xfrm>
            <a:off x="4305300" y="2942170"/>
            <a:ext cx="457200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481" name="page6image55950784.jpg" descr="page6image559507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49" y="1920133"/>
            <a:ext cx="3740410" cy="2526674"/>
          </a:xfrm>
          <a:prstGeom prst="rect">
            <a:avLst/>
          </a:prstGeom>
          <a:ln w="12700">
            <a:miter lim="400000"/>
          </a:ln>
        </p:spPr>
      </p:pic>
      <p:sp>
        <p:nvSpPr>
          <p:cNvPr id="482" name="Text"/>
          <p:cNvSpPr txBox="1"/>
          <p:nvPr/>
        </p:nvSpPr>
        <p:spPr>
          <a:xfrm>
            <a:off x="462849" y="1869333"/>
            <a:ext cx="142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483" name="IMG_0207.jpeg" descr="IMG_0207.jpeg"/>
          <p:cNvPicPr>
            <a:picLocks noChangeAspect="1"/>
          </p:cNvPicPr>
          <p:nvPr/>
        </p:nvPicPr>
        <p:blipFill>
          <a:blip r:embed="rId3"/>
          <a:srcRect l="126" t="20205" r="126" b="34244"/>
          <a:stretch>
            <a:fillRect/>
          </a:stretch>
        </p:blipFill>
        <p:spPr>
          <a:xfrm>
            <a:off x="4864541" y="1869417"/>
            <a:ext cx="4149620" cy="2526540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Rectangle 14"/>
          <p:cNvSpPr/>
          <p:nvPr/>
        </p:nvSpPr>
        <p:spPr>
          <a:xfrm>
            <a:off x="4991800" y="1912760"/>
            <a:ext cx="647103" cy="360188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sp>
        <p:nvSpPr>
          <p:cNvPr id="485" name="Rectangle 11"/>
          <p:cNvSpPr txBox="1"/>
          <p:nvPr/>
        </p:nvSpPr>
        <p:spPr>
          <a:xfrm>
            <a:off x="400013" y="1917523"/>
            <a:ext cx="82822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prstGeom prst="rect">
            <a:avLst/>
          </a:prstGeom>
          <a:solidFill>
            <a:srgbClr val="006600"/>
          </a:solidFill>
        </p:spPr>
        <p:txBody>
          <a:bodyPr>
            <a:normAutofit/>
          </a:bodyPr>
          <a:lstStyle>
            <a:lvl1pPr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>
                <a:effectLst/>
              </a:defRPr>
            </a:pPr>
            <a:r>
              <a:t>Changes in the Roof of the Hospital</a:t>
            </a:r>
          </a:p>
        </p:txBody>
      </p:sp>
      <p:sp>
        <p:nvSpPr>
          <p:cNvPr id="488" name="Right Arrow 9"/>
          <p:cNvSpPr/>
          <p:nvPr/>
        </p:nvSpPr>
        <p:spPr>
          <a:xfrm>
            <a:off x="4093267" y="2770144"/>
            <a:ext cx="457201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489" name="page11image55677616.jpg" descr="page11image556776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5" y="1134887"/>
            <a:ext cx="3402612" cy="3848101"/>
          </a:xfrm>
          <a:prstGeom prst="rect">
            <a:avLst/>
          </a:prstGeom>
          <a:ln w="12700">
            <a:miter lim="400000"/>
          </a:ln>
        </p:spPr>
      </p:pic>
      <p:sp>
        <p:nvSpPr>
          <p:cNvPr id="490" name="Text"/>
          <p:cNvSpPr txBox="1"/>
          <p:nvPr/>
        </p:nvSpPr>
        <p:spPr>
          <a:xfrm>
            <a:off x="310395" y="1134887"/>
            <a:ext cx="142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491" name="Rectangle 11"/>
          <p:cNvSpPr txBox="1"/>
          <p:nvPr/>
        </p:nvSpPr>
        <p:spPr>
          <a:xfrm>
            <a:off x="1227758" y="1183076"/>
            <a:ext cx="828227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  <p:pic>
        <p:nvPicPr>
          <p:cNvPr id="492" name="IMG_0214.jpeg" descr="IMG_0214.jpeg"/>
          <p:cNvPicPr>
            <a:picLocks noChangeAspect="1"/>
          </p:cNvPicPr>
          <p:nvPr/>
        </p:nvPicPr>
        <p:blipFill>
          <a:blip r:embed="rId3"/>
          <a:srcRect b="25881"/>
          <a:stretch>
            <a:fillRect/>
          </a:stretch>
        </p:blipFill>
        <p:spPr>
          <a:xfrm>
            <a:off x="4930727" y="1058885"/>
            <a:ext cx="4047773" cy="4000210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Rectangle 14"/>
          <p:cNvSpPr/>
          <p:nvPr/>
        </p:nvSpPr>
        <p:spPr>
          <a:xfrm>
            <a:off x="6323953" y="1178314"/>
            <a:ext cx="647103" cy="360187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IMG_0213.jpeg" descr="IMG_0213.jpeg"/>
          <p:cNvPicPr>
            <a:picLocks noChangeAspect="1"/>
          </p:cNvPicPr>
          <p:nvPr/>
        </p:nvPicPr>
        <p:blipFill>
          <a:blip r:embed="rId2"/>
          <a:srcRect t="21400" r="7062"/>
          <a:stretch>
            <a:fillRect/>
          </a:stretch>
        </p:blipFill>
        <p:spPr>
          <a:xfrm>
            <a:off x="4941880" y="4056713"/>
            <a:ext cx="3233648" cy="3646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" name="IMG_0212.jpeg" descr="IMG_0212.jpeg"/>
          <p:cNvPicPr>
            <a:picLocks noChangeAspect="1"/>
          </p:cNvPicPr>
          <p:nvPr/>
        </p:nvPicPr>
        <p:blipFill>
          <a:blip r:embed="rId3"/>
          <a:srcRect t="23849" b="1767"/>
          <a:stretch>
            <a:fillRect/>
          </a:stretch>
        </p:blipFill>
        <p:spPr>
          <a:xfrm>
            <a:off x="4933495" y="745532"/>
            <a:ext cx="3306986" cy="3279772"/>
          </a:xfrm>
          <a:prstGeom prst="rect">
            <a:avLst/>
          </a:prstGeom>
          <a:ln w="12700">
            <a:miter lim="400000"/>
          </a:ln>
        </p:spPr>
      </p:pic>
      <p:sp>
        <p:nvSpPr>
          <p:cNvPr id="497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prstGeom prst="rect">
            <a:avLst/>
          </a:prstGeom>
          <a:solidFill>
            <a:srgbClr val="006600"/>
          </a:solidFill>
        </p:spPr>
        <p:txBody>
          <a:bodyPr>
            <a:normAutofit/>
          </a:bodyPr>
          <a:lstStyle>
            <a:lvl1pPr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>
                <a:effectLst/>
              </a:defRPr>
            </a:pPr>
            <a:r>
              <a:t>Changes in Office</a:t>
            </a:r>
          </a:p>
        </p:txBody>
      </p:sp>
      <p:sp>
        <p:nvSpPr>
          <p:cNvPr id="498" name="Right Arrow 9"/>
          <p:cNvSpPr/>
          <p:nvPr/>
        </p:nvSpPr>
        <p:spPr>
          <a:xfrm>
            <a:off x="4434104" y="2194920"/>
            <a:ext cx="457201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499" name="page8image56035152.jpg" descr="page8image56035152.jpg"/>
          <p:cNvPicPr>
            <a:picLocks noChangeAspect="1"/>
          </p:cNvPicPr>
          <p:nvPr/>
        </p:nvPicPr>
        <p:blipFill>
          <a:blip r:embed="rId4"/>
          <a:srcRect r="12625"/>
          <a:stretch>
            <a:fillRect/>
          </a:stretch>
        </p:blipFill>
        <p:spPr>
          <a:xfrm>
            <a:off x="1000219" y="3954395"/>
            <a:ext cx="3391872" cy="29098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" name="page8image56033904.jpg" descr="page8image56033904.jpg"/>
          <p:cNvPicPr>
            <a:picLocks noChangeAspect="1"/>
          </p:cNvPicPr>
          <p:nvPr/>
        </p:nvPicPr>
        <p:blipFill>
          <a:blip r:embed="rId5"/>
          <a:srcRect t="14059" b="5902"/>
          <a:stretch>
            <a:fillRect/>
          </a:stretch>
        </p:blipFill>
        <p:spPr>
          <a:xfrm>
            <a:off x="1000219" y="720487"/>
            <a:ext cx="3381875" cy="3231873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Text"/>
          <p:cNvSpPr txBox="1"/>
          <p:nvPr/>
        </p:nvSpPr>
        <p:spPr>
          <a:xfrm>
            <a:off x="1000219" y="927951"/>
            <a:ext cx="1803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 </a:t>
            </a:r>
          </a:p>
        </p:txBody>
      </p:sp>
      <p:sp>
        <p:nvSpPr>
          <p:cNvPr id="502" name="Rectangle 11"/>
          <p:cNvSpPr txBox="1"/>
          <p:nvPr/>
        </p:nvSpPr>
        <p:spPr>
          <a:xfrm>
            <a:off x="2003769" y="819150"/>
            <a:ext cx="82822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  <p:sp>
        <p:nvSpPr>
          <p:cNvPr id="503" name="Rectangle 11"/>
          <p:cNvSpPr txBox="1"/>
          <p:nvPr/>
        </p:nvSpPr>
        <p:spPr>
          <a:xfrm>
            <a:off x="2003769" y="4147828"/>
            <a:ext cx="82822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  <p:sp>
        <p:nvSpPr>
          <p:cNvPr id="504" name="Rectangle 14"/>
          <p:cNvSpPr/>
          <p:nvPr/>
        </p:nvSpPr>
        <p:spPr>
          <a:xfrm>
            <a:off x="6052349" y="814387"/>
            <a:ext cx="647103" cy="360188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sp>
        <p:nvSpPr>
          <p:cNvPr id="505" name="Rectangle 14"/>
          <p:cNvSpPr/>
          <p:nvPr/>
        </p:nvSpPr>
        <p:spPr>
          <a:xfrm>
            <a:off x="6052349" y="4166002"/>
            <a:ext cx="647103" cy="360188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sp>
        <p:nvSpPr>
          <p:cNvPr id="506" name="Right Arrow 9"/>
          <p:cNvSpPr/>
          <p:nvPr/>
        </p:nvSpPr>
        <p:spPr>
          <a:xfrm>
            <a:off x="4434104" y="5587317"/>
            <a:ext cx="457201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prstGeom prst="rect">
            <a:avLst/>
          </a:prstGeom>
          <a:solidFill>
            <a:srgbClr val="006600"/>
          </a:solidFill>
        </p:spPr>
        <p:txBody>
          <a:bodyPr>
            <a:normAutofit/>
          </a:bodyPr>
          <a:lstStyle>
            <a:lvl1pPr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>
                <a:effectLst/>
              </a:defRPr>
            </a:pPr>
            <a:r>
              <a:t>Changes in Poison washing area</a:t>
            </a:r>
          </a:p>
        </p:txBody>
      </p:sp>
      <p:sp>
        <p:nvSpPr>
          <p:cNvPr id="509" name="Right Arrow 9"/>
          <p:cNvSpPr/>
          <p:nvPr/>
        </p:nvSpPr>
        <p:spPr>
          <a:xfrm>
            <a:off x="4394186" y="2653682"/>
            <a:ext cx="457201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510" name="page7image56035568.jpg" descr="page7image560355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58" y="1324669"/>
            <a:ext cx="3981672" cy="2966938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Text"/>
          <p:cNvSpPr txBox="1"/>
          <p:nvPr/>
        </p:nvSpPr>
        <p:spPr>
          <a:xfrm>
            <a:off x="-1370954" y="-1112283"/>
            <a:ext cx="142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512" name="IMG_0210.jpeg" descr="IMG_0210.jpeg"/>
          <p:cNvPicPr>
            <a:picLocks noChangeAspect="1"/>
          </p:cNvPicPr>
          <p:nvPr/>
        </p:nvPicPr>
        <p:blipFill>
          <a:blip r:embed="rId3"/>
          <a:srcRect t="8600" b="31372"/>
          <a:stretch>
            <a:fillRect/>
          </a:stretch>
        </p:blipFill>
        <p:spPr>
          <a:xfrm>
            <a:off x="4999643" y="1302521"/>
            <a:ext cx="3852329" cy="3083274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Rectangle 14"/>
          <p:cNvSpPr/>
          <p:nvPr/>
        </p:nvSpPr>
        <p:spPr>
          <a:xfrm>
            <a:off x="5573809" y="1422643"/>
            <a:ext cx="647103" cy="360187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sp>
        <p:nvSpPr>
          <p:cNvPr id="514" name="Rectangle 11"/>
          <p:cNvSpPr txBox="1"/>
          <p:nvPr/>
        </p:nvSpPr>
        <p:spPr>
          <a:xfrm>
            <a:off x="412946" y="1427405"/>
            <a:ext cx="828227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itle 1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prstGeom prst="rect">
            <a:avLst/>
          </a:prstGeom>
          <a:solidFill>
            <a:srgbClr val="006600"/>
          </a:solidFill>
        </p:spPr>
        <p:txBody>
          <a:bodyPr>
            <a:normAutofit/>
          </a:bodyPr>
          <a:lstStyle>
            <a:lvl1pPr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>
                <a:effectLst/>
              </a:defRPr>
            </a:pPr>
            <a:r>
              <a:t>Changes in Motorcycle parking</a:t>
            </a:r>
          </a:p>
        </p:txBody>
      </p:sp>
      <p:sp>
        <p:nvSpPr>
          <p:cNvPr id="517" name="Right Arrow 9"/>
          <p:cNvSpPr/>
          <p:nvPr/>
        </p:nvSpPr>
        <p:spPr>
          <a:xfrm>
            <a:off x="4343400" y="2395072"/>
            <a:ext cx="457200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518" name="IMG_0206.jpeg" descr="IMG_02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936" y="721258"/>
            <a:ext cx="3384994" cy="253874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" name="IMG_0208.jpeg" descr="IMG_0208.jpeg"/>
          <p:cNvPicPr>
            <a:picLocks noChangeAspect="1"/>
          </p:cNvPicPr>
          <p:nvPr/>
        </p:nvPicPr>
        <p:blipFill>
          <a:blip r:embed="rId3"/>
          <a:srcRect t="11205" b="13557"/>
          <a:stretch>
            <a:fillRect/>
          </a:stretch>
        </p:blipFill>
        <p:spPr>
          <a:xfrm>
            <a:off x="5128768" y="3371661"/>
            <a:ext cx="3387413" cy="3398135"/>
          </a:xfrm>
          <a:prstGeom prst="rect">
            <a:avLst/>
          </a:prstGeom>
          <a:ln w="12700">
            <a:miter lim="400000"/>
          </a:ln>
        </p:spPr>
      </p:pic>
      <p:sp>
        <p:nvSpPr>
          <p:cNvPr id="520" name="Rectangle 14"/>
          <p:cNvSpPr/>
          <p:nvPr/>
        </p:nvSpPr>
        <p:spPr>
          <a:xfrm>
            <a:off x="5250470" y="866122"/>
            <a:ext cx="647104" cy="360187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sp>
        <p:nvSpPr>
          <p:cNvPr id="521" name="Rectangle 14"/>
          <p:cNvSpPr/>
          <p:nvPr/>
        </p:nvSpPr>
        <p:spPr>
          <a:xfrm>
            <a:off x="5250470" y="3605693"/>
            <a:ext cx="647104" cy="360187"/>
          </a:xfrm>
          <a:prstGeom prst="rect">
            <a:avLst/>
          </a:prstGeom>
          <a:ln>
            <a:solidFill>
              <a:srgbClr val="0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After</a:t>
            </a:r>
          </a:p>
        </p:txBody>
      </p:sp>
      <p:sp>
        <p:nvSpPr>
          <p:cNvPr id="522" name="Right Arrow 9"/>
          <p:cNvSpPr/>
          <p:nvPr/>
        </p:nvSpPr>
        <p:spPr>
          <a:xfrm>
            <a:off x="4343400" y="4880183"/>
            <a:ext cx="457200" cy="381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523" name="page12image55691504.png" descr="page12image55691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69" y="3758451"/>
            <a:ext cx="3974550" cy="2624465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Text"/>
          <p:cNvSpPr txBox="1"/>
          <p:nvPr/>
        </p:nvSpPr>
        <p:spPr>
          <a:xfrm>
            <a:off x="-3894396" y="721258"/>
            <a:ext cx="142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pic>
        <p:nvPicPr>
          <p:cNvPr id="525" name="page8image56034944.jpg" descr="page8image5603494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77" y="721258"/>
            <a:ext cx="3912134" cy="2925536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Text"/>
          <p:cNvSpPr txBox="1"/>
          <p:nvPr/>
        </p:nvSpPr>
        <p:spPr>
          <a:xfrm>
            <a:off x="1101352" y="721258"/>
            <a:ext cx="142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 </a:t>
            </a:r>
          </a:p>
        </p:txBody>
      </p:sp>
      <p:sp>
        <p:nvSpPr>
          <p:cNvPr id="527" name="Rectangle 11"/>
          <p:cNvSpPr txBox="1"/>
          <p:nvPr/>
        </p:nvSpPr>
        <p:spPr>
          <a:xfrm>
            <a:off x="296545" y="696912"/>
            <a:ext cx="828227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  <p:sp>
        <p:nvSpPr>
          <p:cNvPr id="528" name="Rectangle 11"/>
          <p:cNvSpPr txBox="1"/>
          <p:nvPr/>
        </p:nvSpPr>
        <p:spPr>
          <a:xfrm>
            <a:off x="296545" y="3915024"/>
            <a:ext cx="82822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Before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1216" y="1368964"/>
            <a:ext cx="6172200" cy="498872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eaLnBrk="1" hangingPunct="1"/>
            <a:r>
              <a:rPr lang="en-US" altLang="en-US" sz="2700" b="1" dirty="0"/>
              <a:t>Community Support in Ramgati UHC</a:t>
            </a:r>
            <a:endParaRPr lang="en-US" altLang="en-US" sz="1800" b="1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/>
          </a:p>
          <a:p>
            <a:pPr algn="ctr" eaLnBrk="1" hangingPunct="1">
              <a:buFontTx/>
              <a:buNone/>
            </a:pPr>
            <a:endParaRPr lang="en-US" altLang="en-US"/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295" y="2293777"/>
            <a:ext cx="5967412" cy="3303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-137160" algn="just">
              <a:spcBef>
                <a:spcPts val="45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</a:t>
            </a:r>
          </a:p>
          <a:p>
            <a:pPr indent="-137160" algn="just">
              <a:spcBef>
                <a:spcPts val="45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IPS &amp; delivery instruments financed by JICA for 10 delivery centres in each union.</a:t>
            </a:r>
          </a:p>
          <a:p>
            <a:pPr indent="-137160" algn="just">
              <a:spcBef>
                <a:spcPts val="45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Central oxygen system  financed and organized  by Upazila Parishad.  </a:t>
            </a:r>
          </a:p>
          <a:p>
            <a:pPr indent="-137160" algn="just">
              <a:spcBef>
                <a:spcPts val="45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100 enlisted blood donors in emergency need (Transfusion of 165 bag F/blood are given in 2021, 2022)</a:t>
            </a:r>
          </a:p>
          <a:p>
            <a:pPr indent="-137160" algn="just">
              <a:spcBef>
                <a:spcPts val="450"/>
              </a:spcBef>
              <a:spcAft>
                <a:spcPts val="90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MP and Upazilla Parishad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294" y="2484835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34878714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3000" b="1" dirty="0"/>
              <a:t>Achievements of the UHC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For Example:</a:t>
            </a:r>
          </a:p>
          <a:p>
            <a:r>
              <a:rPr lang="en-US" dirty="0">
                <a:solidFill>
                  <a:srgbClr val="FF0000"/>
                </a:solidFill>
              </a:rPr>
              <a:t>Strong support from Upazilla </a:t>
            </a:r>
            <a:r>
              <a:rPr lang="en-US" dirty="0" err="1">
                <a:solidFill>
                  <a:srgbClr val="FF0000"/>
                </a:solidFill>
              </a:rPr>
              <a:t>Parisad</a:t>
            </a:r>
            <a:r>
              <a:rPr lang="en-US" dirty="0">
                <a:solidFill>
                  <a:srgbClr val="FF0000"/>
                </a:solidFill>
              </a:rPr>
              <a:t> for renovation of the UHC.</a:t>
            </a:r>
          </a:p>
          <a:p>
            <a:r>
              <a:rPr lang="en-US" dirty="0">
                <a:solidFill>
                  <a:srgbClr val="FF0000"/>
                </a:solidFill>
              </a:rPr>
              <a:t>A Jeep was allocated for UH&amp;FPO by Govt.</a:t>
            </a:r>
          </a:p>
          <a:p>
            <a:r>
              <a:rPr lang="en-US" dirty="0">
                <a:solidFill>
                  <a:srgbClr val="FF0000"/>
                </a:solidFill>
              </a:rPr>
              <a:t>Our corona vaccine coverage- 1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dose-86.25% and 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dose-81.3%</a:t>
            </a:r>
          </a:p>
          <a:p>
            <a:r>
              <a:rPr lang="en-US" dirty="0">
                <a:solidFill>
                  <a:srgbClr val="FF0000"/>
                </a:solidFill>
              </a:rPr>
              <a:t>EPI coverage-99.99%</a:t>
            </a:r>
          </a:p>
          <a:p>
            <a:r>
              <a:rPr lang="en-US" dirty="0">
                <a:solidFill>
                  <a:srgbClr val="FF0000"/>
                </a:solidFill>
              </a:rPr>
              <a:t>Establishment of effective dental unit.</a:t>
            </a:r>
          </a:p>
          <a:p>
            <a:r>
              <a:rPr lang="en-US" dirty="0">
                <a:solidFill>
                  <a:srgbClr val="FF0000"/>
                </a:solidFill>
              </a:rPr>
              <a:t>Establishment of NCD corner.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3000" b="1" dirty="0"/>
              <a:t>Challenges of the UHC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For Example:</a:t>
            </a:r>
          </a:p>
          <a:p>
            <a:r>
              <a:rPr lang="en-US" dirty="0">
                <a:solidFill>
                  <a:srgbClr val="FF0000"/>
                </a:solidFill>
              </a:rPr>
              <a:t>Strong support from Upazilla </a:t>
            </a:r>
            <a:r>
              <a:rPr lang="en-US" dirty="0" err="1">
                <a:solidFill>
                  <a:srgbClr val="FF0000"/>
                </a:solidFill>
              </a:rPr>
              <a:t>Parisad</a:t>
            </a:r>
            <a:r>
              <a:rPr lang="en-US" dirty="0">
                <a:solidFill>
                  <a:srgbClr val="FF0000"/>
                </a:solidFill>
              </a:rPr>
              <a:t> for renovation of the UHC.</a:t>
            </a:r>
          </a:p>
          <a:p>
            <a:r>
              <a:rPr lang="en-US" dirty="0">
                <a:solidFill>
                  <a:srgbClr val="FF0000"/>
                </a:solidFill>
              </a:rPr>
              <a:t>A Jeep was allocated for UH&amp;FPO by Govt.</a:t>
            </a:r>
          </a:p>
          <a:p>
            <a:r>
              <a:rPr lang="en-US" dirty="0">
                <a:solidFill>
                  <a:srgbClr val="FF0000"/>
                </a:solidFill>
              </a:rPr>
              <a:t>Our corona vaccine coverage- 1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dose-86.25% and 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dose-81.3%</a:t>
            </a:r>
          </a:p>
          <a:p>
            <a:r>
              <a:rPr lang="en-US" dirty="0">
                <a:solidFill>
                  <a:srgbClr val="FF0000"/>
                </a:solidFill>
              </a:rPr>
              <a:t>EPI coverage-99.99%</a:t>
            </a:r>
          </a:p>
          <a:p>
            <a:r>
              <a:rPr lang="en-US" dirty="0">
                <a:solidFill>
                  <a:srgbClr val="FF0000"/>
                </a:solidFill>
              </a:rPr>
              <a:t>Establishment of effective dental unit.</a:t>
            </a:r>
          </a:p>
          <a:p>
            <a:r>
              <a:rPr lang="en-US" dirty="0">
                <a:solidFill>
                  <a:srgbClr val="FF0000"/>
                </a:solidFill>
              </a:rPr>
              <a:t>Establishment of NCD corner.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381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en-US" sz="3000" b="1" dirty="0"/>
              <a:t>Way Forward….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For Example: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Starting of VIA activities to prevent cervical and breast cancer of female.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Starting of C-section for delivery mother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Functioning of X-ray facility.     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Establishment of USG service.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Functioning of ECG service.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Implementation of effective SSK program.</a:t>
            </a: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en-US" sz="1800" dirty="0">
                <a:solidFill>
                  <a:srgbClr val="FF0000"/>
                </a:solidFill>
              </a:rPr>
              <a:t>Establish a cycle stand close to the main gate.</a:t>
            </a:r>
          </a:p>
        </p:txBody>
      </p:sp>
    </p:spTree>
    <p:extLst>
      <p:ext uri="{BB962C8B-B14F-4D97-AF65-F5344CB8AC3E}">
        <p14:creationId xmlns:p14="http://schemas.microsoft.com/office/powerpoint/2010/main" val="343836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Title 1"/>
          <p:cNvSpPr txBox="1">
            <a:spLocks noGrp="1"/>
          </p:cNvSpPr>
          <p:nvPr>
            <p:ph type="title" idx="4294967295"/>
          </p:nvPr>
        </p:nvSpPr>
        <p:spPr>
          <a:xfrm>
            <a:off x="0" y="1733550"/>
            <a:ext cx="8181975" cy="2428875"/>
          </a:xfrm>
          <a:prstGeom prst="rect">
            <a:avLst/>
          </a:prstGeom>
        </p:spPr>
        <p:txBody>
          <a:bodyPr/>
          <a:lstStyle>
            <a:lvl1pPr algn="ctr">
              <a:defRPr sz="4400" cap="all">
                <a:ln w="9000" cap="flat">
                  <a:solidFill>
                    <a:srgbClr val="36662B"/>
                  </a:solidFill>
                  <a:prstDash val="solid"/>
                  <a:round/>
                </a:ln>
                <a:gradFill flip="none" rotWithShape="1">
                  <a:gsLst>
                    <a:gs pos="0">
                      <a:srgbClr val="175708"/>
                    </a:gs>
                    <a:gs pos="43000">
                      <a:srgbClr val="2DB90E"/>
                    </a:gs>
                    <a:gs pos="48000">
                      <a:srgbClr val="29AC0D"/>
                    </a:gs>
                    <a:gs pos="100000">
                      <a:srgbClr val="175708"/>
                    </a:gs>
                  </a:gsLst>
                  <a:lin ang="5400000" scaled="0"/>
                </a:gra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シック">
  <a:themeElements>
    <a:clrScheme name="5_シック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0000FF"/>
      </a:hlink>
      <a:folHlink>
        <a:srgbClr val="FF00FF"/>
      </a:folHlink>
    </a:clrScheme>
    <a:fontScheme name="5_シック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5_シック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42500" cap="flat">
          <a:solidFill>
            <a:schemeClr val="accent1"/>
          </a:solidFill>
          <a:prstDash val="solid"/>
          <a:round/>
        </a:ln>
        <a:effectLst>
          <a:outerShdw blurRad="63500" dist="381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42500" cap="flat">
          <a:solidFill>
            <a:schemeClr val="accent1"/>
          </a:solidFill>
          <a:prstDash val="solid"/>
          <a:round/>
        </a:ln>
        <a:effectLst>
          <a:outerShdw blurRad="63500" dist="381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512</Words>
  <Application>Microsoft Office PowerPoint</Application>
  <PresentationFormat>On-screen Show (4:3)</PresentationFormat>
  <Paragraphs>133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Helvetica Neue</vt:lpstr>
      <vt:lpstr>Kalpurush</vt:lpstr>
      <vt:lpstr>Times New Roman</vt:lpstr>
      <vt:lpstr>Times Roman</vt:lpstr>
      <vt:lpstr>Wingdings</vt:lpstr>
      <vt:lpstr>Office Theme</vt:lpstr>
      <vt:lpstr>PowerPoint Presentation</vt:lpstr>
      <vt:lpstr>A Sub-district level Hospital with a Vision</vt:lpstr>
      <vt:lpstr>PowerPoint Presentation</vt:lpstr>
      <vt:lpstr>Health Profile of Patharghata Upazilla(2017-2022)</vt:lpstr>
      <vt:lpstr>PowerPoint Presentation</vt:lpstr>
      <vt:lpstr>PowerPoint Presentation</vt:lpstr>
      <vt:lpstr>Emergency + Outdoor &amp; Indoor  Service 2017 to 2021</vt:lpstr>
      <vt:lpstr>Madhupur UHC</vt:lpstr>
      <vt:lpstr>Madhupur UHC</vt:lpstr>
      <vt:lpstr> Comparative data of revenue income (in Taka) from 2019 to 2021 </vt:lpstr>
      <vt:lpstr>Changes in Gardens of The Hospital</vt:lpstr>
      <vt:lpstr>Changes around the Hospital Gate</vt:lpstr>
      <vt:lpstr>Changes in the Roof of the Hospital</vt:lpstr>
      <vt:lpstr>Changes in Office</vt:lpstr>
      <vt:lpstr>Changes in Poison washing area</vt:lpstr>
      <vt:lpstr>Changes in Motorcycle parking</vt:lpstr>
      <vt:lpstr>Community Support in Ramgati UHC</vt:lpstr>
      <vt:lpstr>Achievements of the UHC</vt:lpstr>
      <vt:lpstr>Challenges of the UHC</vt:lpstr>
      <vt:lpstr>Way Forward….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11</cp:revision>
  <dcterms:modified xsi:type="dcterms:W3CDTF">2022-10-24T06:42:03Z</dcterms:modified>
</cp:coreProperties>
</file>