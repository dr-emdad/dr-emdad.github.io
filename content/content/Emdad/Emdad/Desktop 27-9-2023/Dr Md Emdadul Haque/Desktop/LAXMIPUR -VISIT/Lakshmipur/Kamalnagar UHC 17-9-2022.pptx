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00" r:id="rId2"/>
    <p:sldId id="532" r:id="rId3"/>
    <p:sldId id="341" r:id="rId4"/>
    <p:sldId id="384" r:id="rId5"/>
    <p:sldId id="361" r:id="rId6"/>
    <p:sldId id="298" r:id="rId7"/>
    <p:sldId id="535" r:id="rId8"/>
    <p:sldId id="274" r:id="rId9"/>
    <p:sldId id="294" r:id="rId10"/>
    <p:sldId id="295" r:id="rId11"/>
    <p:sldId id="296" r:id="rId12"/>
    <p:sldId id="297" r:id="rId13"/>
    <p:sldId id="299" r:id="rId14"/>
    <p:sldId id="285" r:id="rId15"/>
    <p:sldId id="286" r:id="rId16"/>
    <p:sldId id="279" r:id="rId17"/>
    <p:sldId id="533" r:id="rId18"/>
    <p:sldId id="534" r:id="rId19"/>
    <p:sldId id="3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DCEB9-23BD-4045-94F4-BAB49842817A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725DD-B116-4FE6-9AAC-79AA76CB7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61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6EA92A3-7171-458B-AB4B-B713F49A2A6B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8" y="746125"/>
            <a:ext cx="6626225" cy="372745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202"/>
            <a:ext cx="5483225" cy="447556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4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83F0-0D4F-44E5-BBAF-E6B09FF9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5F0-B9C2-49DC-9969-C94CD3F77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B36A0-10C0-4207-A29D-99209934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E275F-4621-4317-95EF-C1A7A379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49E8F-8250-4D04-AD62-04781B31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70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9E0E-0997-4C1D-A226-984095394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266F7-3160-4F82-95D2-94B4545B0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24CC9-B3DE-4F26-9D3C-CCBBAA4D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5B7B4-8CD7-4CAB-B676-EAEBDEFF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459D8-2A91-48F6-9FE0-B008DC8D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6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8797-F0B3-4C0B-B6C2-15095BE6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CAEC9-AEDA-493C-B145-860FA5C43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79D3B-4DB2-4D9F-BBB3-53990223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83FA5-24AB-4EB3-A38A-120781C8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91C0-E6B8-49DA-9E96-E79F05D6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3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E127-22D1-4BAB-9A4F-F0A5EE72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8FCC8-A794-4354-8CDC-4ECE43A5E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4A0FD-F7DF-45B5-9DCB-209699503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DC968-A88E-42F8-A13F-90BBFC42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62CC9-E205-4F5B-B6BF-7BCB77C5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24275-425D-4575-807C-446EC3E7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0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F1D5-135C-4467-B226-A932D017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91C9-A1F5-49EB-AD6C-ABC963FD8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445C9-9A01-429C-BB33-A7FF76A13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6C21E-A77C-4D02-8E84-1F10B86B1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1641A-B170-4E16-AE08-3B5252399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4B23A-0B5A-4725-AB4E-3CA60C11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F198F-CDC1-47A5-B2A8-15AFCB81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1FC4C-0504-408F-977A-FC27E170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0CEB-260F-47FC-9D3C-D4BBD909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82DB3-E044-4EF2-9021-06AB9C26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0B8FD-33AB-4C1E-AFAC-1A50C089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7D63A-A0E8-4722-8146-22D059C4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0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995A3C-1387-4F89-B3CD-0AE05B19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F3C0D-F7AF-41CA-A78D-608110EA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69F8C-9B4A-4CC4-A306-075BBA0D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7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1844-8934-41BE-BD7F-F26F89F1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19242-5870-4AE4-A647-66683987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F5610-5CC6-4E86-8B3A-3CD53DEB4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52E81-C589-42AD-A5E4-A074C45E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49002-988C-484E-8B0D-5F323B53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2DD02-8599-4F7F-AC91-430529B5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9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1AD1-400C-4A5E-B46D-BC697CDE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2C13-3D0A-4CE0-9608-807E903CA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A9B69-85DF-4F13-89F4-B7A9754C5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81C4A-17F6-4C3E-8117-06134FA5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1BE01-DF84-49E3-9B4C-4C9792493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6F8ED-7D6F-4E28-83D3-5956E6F4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6F11-FBA3-4D4A-9F78-ED216B69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254DF-B3C5-4952-813C-EBC2A0EC7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1C5B-0835-478A-8953-AB0DFC82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1EDDB-1659-4CE7-8772-B9ACCBA4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FE565-3973-437F-9612-22320A12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1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5E5E3D-4046-4134-87FE-278EA5C7D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A4F48-6B77-4FB4-87ED-42D1D41A3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70703-7208-42A6-AC06-9E93A69B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E89D3-802A-45BC-AC68-9C5BF659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61726-6B43-4583-BE96-C4AF8F03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7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252D5-E7EB-4B56-897E-6FE292876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4E242-3314-4DCA-A59C-9CDAFA0A7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0BCA3-DEDA-4473-AF98-475DFDBFB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E28BB-AE5D-4A2F-AACA-C43CC357A700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8A4FF-B118-497C-81D5-E309E1D98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F2DC3-9A2C-4712-9E75-E63D8EC96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6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533D-3903-482D-812E-103887615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592" y="473852"/>
            <a:ext cx="8409481" cy="1225869"/>
          </a:xfrm>
        </p:spPr>
        <p:txBody>
          <a:bodyPr/>
          <a:lstStyle/>
          <a:p>
            <a:r>
              <a:rPr lang="en-US" b="1" dirty="0"/>
              <a:t>          Kamalnagar UHC, Lakshmipur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9B2F-FA3B-44CA-924B-D5DDC0C52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2157" y="2099939"/>
            <a:ext cx="3144353" cy="367127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IMG_20220802_142148">
            <a:extLst>
              <a:ext uri="{FF2B5EF4-FFF2-40B4-BE49-F238E27FC236}">
                <a16:creationId xmlns:a16="http://schemas.microsoft.com/office/drawing/2014/main" id="{F3A6B093-EBA6-43A8-95EA-C4D9EE62A58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590" y="1627749"/>
            <a:ext cx="6370819" cy="46156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96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567289" y="463325"/>
            <a:ext cx="6768947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5653389" y="1923137"/>
            <a:ext cx="3682847" cy="131802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b="1" dirty="0"/>
              <a:t>Maximum utilization of Govt.</a:t>
            </a:r>
          </a:p>
          <a:p>
            <a:pPr algn="ctr" eaLnBrk="0" hangingPunct="0"/>
            <a:r>
              <a:rPr lang="en-US" b="1" dirty="0"/>
              <a:t>resources with </a:t>
            </a:r>
          </a:p>
          <a:p>
            <a:pPr algn="ctr" eaLnBrk="0" hangingPunct="0"/>
            <a:r>
              <a:rPr lang="en-US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5682833" y="4866297"/>
            <a:ext cx="3653403" cy="15283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Providing Effective  services </a:t>
            </a:r>
          </a:p>
          <a:p>
            <a:pPr algn="ctr" eaLnBrk="0" hangingPunct="0"/>
            <a:r>
              <a:rPr lang="en-US" sz="2000" b="1" dirty="0"/>
              <a:t>through improved </a:t>
            </a:r>
          </a:p>
          <a:p>
            <a:pPr algn="ctr" eaLnBrk="0" hangingPunct="0"/>
            <a:r>
              <a:rPr lang="en-US" sz="2000" b="1" dirty="0"/>
              <a:t>management system</a:t>
            </a:r>
            <a:r>
              <a:rPr lang="en-US" sz="12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3156348" y="2248772"/>
            <a:ext cx="2299842" cy="66675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963021" y="5228013"/>
            <a:ext cx="2493169" cy="804945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5653391" y="3328987"/>
            <a:ext cx="3682846" cy="1432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Integrated approach of </a:t>
            </a:r>
          </a:p>
          <a:p>
            <a:pPr algn="ctr" eaLnBrk="0" hangingPunct="0"/>
            <a:r>
              <a:rPr lang="en-US" sz="2000" b="1" dirty="0"/>
              <a:t>Administration, Community</a:t>
            </a:r>
          </a:p>
          <a:p>
            <a:pPr algn="ctr" eaLnBrk="0" hangingPunct="0"/>
            <a:r>
              <a:rPr lang="en-US" sz="2000" b="1" dirty="0"/>
              <a:t>Leaders </a:t>
            </a:r>
            <a:r>
              <a:rPr lang="en-US" sz="12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963021" y="3711964"/>
            <a:ext cx="2482453" cy="666751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0C83-B8D2-C25F-634F-C2996141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-1453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Health Profile of Kamalnagar Upazila- 2022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1C85-E2A1-8126-B31F-71134368E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11031"/>
            <a:ext cx="4634895" cy="4875684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dirty="0"/>
              <a:t>Total Union: 09</a:t>
            </a:r>
          </a:p>
          <a:p>
            <a:r>
              <a:rPr lang="en-US" sz="2600" b="1" dirty="0" err="1"/>
              <a:t>Pourosova</a:t>
            </a:r>
            <a:r>
              <a:rPr lang="en-US" sz="2600" b="1" dirty="0"/>
              <a:t> </a:t>
            </a:r>
          </a:p>
          <a:p>
            <a:r>
              <a:rPr lang="en-US" sz="2600" b="1" dirty="0"/>
              <a:t>Total Population: </a:t>
            </a:r>
            <a:r>
              <a:rPr lang="en-US" dirty="0"/>
              <a:t>2,63,545</a:t>
            </a:r>
          </a:p>
          <a:p>
            <a:r>
              <a:rPr lang="en-US" sz="2600" b="1" dirty="0"/>
              <a:t>Total Fertile Couple</a:t>
            </a:r>
          </a:p>
          <a:p>
            <a:r>
              <a:rPr lang="en-US" sz="2600" b="1" dirty="0"/>
              <a:t>Total Pregnant Mother</a:t>
            </a:r>
          </a:p>
          <a:p>
            <a:r>
              <a:rPr lang="en-US" sz="2600" b="1" dirty="0"/>
              <a:t>Total Under 5 Children</a:t>
            </a:r>
          </a:p>
          <a:p>
            <a:r>
              <a:rPr lang="en-US" b="1" dirty="0"/>
              <a:t>Health Man Power</a:t>
            </a:r>
          </a:p>
          <a:p>
            <a:pPr>
              <a:buFont typeface="+mj-lt"/>
              <a:buAutoNum type="alphaLcParenR"/>
            </a:pPr>
            <a:r>
              <a:rPr lang="en-US" dirty="0"/>
              <a:t>Doctor : 13</a:t>
            </a:r>
          </a:p>
          <a:p>
            <a:pPr>
              <a:buFont typeface="+mj-lt"/>
              <a:buAutoNum type="alphaLcParenR"/>
            </a:pPr>
            <a:r>
              <a:rPr lang="en-US" dirty="0"/>
              <a:t>Nurse: 15</a:t>
            </a:r>
          </a:p>
          <a:p>
            <a:pPr>
              <a:buFont typeface="+mj-lt"/>
              <a:buAutoNum type="alphaLcParenR"/>
            </a:pPr>
            <a:r>
              <a:rPr lang="en-US" dirty="0"/>
              <a:t>Midwives:0</a:t>
            </a:r>
          </a:p>
          <a:p>
            <a:pPr>
              <a:buFont typeface="+mj-lt"/>
              <a:buAutoNum type="alphaLcParenR"/>
            </a:pPr>
            <a:r>
              <a:rPr lang="en-US" dirty="0"/>
              <a:t>Medical  Technologist: 3</a:t>
            </a:r>
          </a:p>
          <a:p>
            <a:pPr>
              <a:buFont typeface="+mj-lt"/>
              <a:buAutoNum type="alphaLcParenR"/>
            </a:pPr>
            <a:r>
              <a:rPr lang="en-US" dirty="0"/>
              <a:t>HA: 33</a:t>
            </a:r>
          </a:p>
          <a:p>
            <a:pPr>
              <a:buFont typeface="+mj-lt"/>
              <a:buAutoNum type="alphaLcParenR"/>
            </a:pPr>
            <a:r>
              <a:rPr lang="en-US" dirty="0"/>
              <a:t>Security Guard &amp; Cleaner: 7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F1F555-6AAA-4274-8259-E331E528C41D}"/>
              </a:ext>
            </a:extLst>
          </p:cNvPr>
          <p:cNvSpPr txBox="1">
            <a:spLocks/>
          </p:cNvSpPr>
          <p:nvPr/>
        </p:nvSpPr>
        <p:spPr>
          <a:xfrm>
            <a:off x="6335151" y="1547081"/>
            <a:ext cx="3984506" cy="3051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400" b="1" dirty="0">
                <a:solidFill>
                  <a:schemeClr val="tx1"/>
                </a:solidFill>
              </a:rPr>
              <a:t>Health Institutions</a:t>
            </a:r>
          </a:p>
          <a:p>
            <a:pPr>
              <a:buClr>
                <a:schemeClr val="tx1"/>
              </a:buClr>
              <a:buFont typeface="+mj-lt"/>
              <a:buAutoNum type="alphaUcPeriod"/>
            </a:pPr>
            <a:r>
              <a:rPr lang="en-US" sz="2600" dirty="0"/>
              <a:t>Health Complex: 01</a:t>
            </a:r>
          </a:p>
          <a:p>
            <a:pPr>
              <a:buClrTx/>
              <a:buFont typeface="+mj-lt"/>
              <a:buAutoNum type="alphaUcPeriod"/>
            </a:pPr>
            <a:r>
              <a:rPr lang="en-US" sz="2600" dirty="0"/>
              <a:t> Sub-Centre:2, </a:t>
            </a:r>
          </a:p>
          <a:p>
            <a:pPr>
              <a:buClrTx/>
              <a:buFont typeface="+mj-lt"/>
              <a:buAutoNum type="alphaUcPeriod"/>
            </a:pPr>
            <a:r>
              <a:rPr lang="en-US" sz="2600" dirty="0"/>
              <a:t>FWC: 4</a:t>
            </a:r>
          </a:p>
          <a:p>
            <a:pPr>
              <a:buClr>
                <a:schemeClr val="tx1"/>
              </a:buClr>
              <a:buFont typeface="+mj-lt"/>
              <a:buAutoNum type="alphaUcPeriod"/>
            </a:pPr>
            <a:r>
              <a:rPr lang="en-US" sz="2600" dirty="0"/>
              <a:t>Community Clinic: 22</a:t>
            </a:r>
          </a:p>
          <a:p>
            <a:pPr marL="457200" indent="-457200">
              <a:buClr>
                <a:schemeClr val="tx1"/>
              </a:buClr>
              <a:buFont typeface="+mj-lt"/>
              <a:buAutoNum type="alphaUcPeriod"/>
            </a:pPr>
            <a:r>
              <a:rPr lang="en-US" sz="2600" dirty="0"/>
              <a:t>Non- Govt Clinic: -</a:t>
            </a:r>
          </a:p>
        </p:txBody>
      </p:sp>
    </p:spTree>
    <p:extLst>
      <p:ext uri="{BB962C8B-B14F-4D97-AF65-F5344CB8AC3E}">
        <p14:creationId xmlns:p14="http://schemas.microsoft.com/office/powerpoint/2010/main" val="219030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609600" y="457200"/>
            <a:ext cx="109728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/>
              <a:t> Mother Taken-ANC	1</a:t>
            </a:r>
            <a:r>
              <a:rPr lang="en-US" sz="2133" b="1" baseline="30000" dirty="0"/>
              <a:t>st</a:t>
            </a:r>
            <a:r>
              <a:rPr lang="en-US" sz="2133" b="1" dirty="0"/>
              <a:t> 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0"/>
            </a:pPr>
            <a:r>
              <a:rPr lang="en-US" sz="2133" b="1" dirty="0"/>
              <a:t> Hospital Delivery Rate	               :    		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No. of Hospital bed		:    50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Bed Occupancy Rate 		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EPI Coverage                     :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Covid-19 ( Immunization Coverage ):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CPR    			: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TFR                                       :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CBR			: 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CDR       		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Population Growth Rate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Maternal Mortality Ratio	:   </a:t>
            </a: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Neonatal Mortality Rate	:   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Infant Mortality Rate   	:    </a:t>
            </a:r>
            <a:endParaRPr lang="en-US" sz="2133" b="1" u="sng" dirty="0">
              <a:solidFill>
                <a:srgbClr val="FF0000"/>
              </a:solidFill>
            </a:endParaRPr>
          </a:p>
          <a:p>
            <a:pPr marL="812780" indent="-812780" eaLnBrk="0" hangingPunct="0">
              <a:lnSpc>
                <a:spcPct val="80000"/>
              </a:lnSpc>
              <a:spcBef>
                <a:spcPct val="20000"/>
              </a:spcBef>
              <a:buClr>
                <a:srgbClr val="00B0F0"/>
              </a:buClr>
              <a:buFont typeface="+mj-lt"/>
              <a:buAutoNum type="arabicPeriod" startAt="13"/>
            </a:pPr>
            <a:r>
              <a:rPr lang="en-US" sz="2133" b="1" dirty="0"/>
              <a:t>Under-5 Mortality Rate   	:   </a:t>
            </a:r>
            <a:endParaRPr lang="en-US" sz="2133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481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9836" y="134911"/>
            <a:ext cx="9548112" cy="1379096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 eaLnBrk="1" hangingPunct="1"/>
            <a:r>
              <a:rPr lang="en-US" sz="3600" b="1" dirty="0"/>
              <a:t>Background History  of Kamalnagar UHC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818145"/>
            <a:ext cx="8001000" cy="510812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dirty="0"/>
              <a:t>   </a:t>
            </a:r>
            <a:r>
              <a:rPr lang="en-US" sz="2400" b="1" dirty="0"/>
              <a:t>*Kamalnagar</a:t>
            </a:r>
            <a:r>
              <a:rPr lang="en-US" sz="2600" b="1" dirty="0"/>
              <a:t> UHC started as 31 bedded Hospital in 1981 </a:t>
            </a:r>
            <a:r>
              <a:rPr lang="en-US" sz="3000" b="1" dirty="0"/>
              <a:t> 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3300" b="1" dirty="0"/>
              <a:t>*</a:t>
            </a:r>
            <a:r>
              <a:rPr lang="en-US" b="1" dirty="0"/>
              <a:t>The Health complex upgraded to 50 bedded in.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dirty="0"/>
              <a:t>  *</a:t>
            </a:r>
            <a:r>
              <a:rPr lang="en-US" b="1" dirty="0"/>
              <a:t> From 2012 </a:t>
            </a:r>
            <a:r>
              <a:rPr lang="en-US" dirty="0"/>
              <a:t>UH&amp;FPO started 3  special activates</a:t>
            </a:r>
            <a:r>
              <a:rPr lang="en-US" b="1" dirty="0"/>
              <a:t> </a:t>
            </a:r>
            <a:endParaRPr lang="en-US" sz="18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ANC-Corner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Basic EOC service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/>
              <a:t>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350" b="1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6764012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3BBD1B7-C142-4F87-AEA9-56F175775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069" y="585084"/>
            <a:ext cx="4517036" cy="2734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4D2A2-B951-496B-865C-664423578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349" y="585084"/>
            <a:ext cx="4280012" cy="2669971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87E1770-E963-4CA1-9C17-5C633CDE4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45502" y="2849847"/>
            <a:ext cx="3121702" cy="428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1E2D32B-ED61-4976-B5C3-A2AB8418DA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069" y="3429001"/>
            <a:ext cx="4517036" cy="312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9">
            <a:extLst>
              <a:ext uri="{FF2B5EF4-FFF2-40B4-BE49-F238E27FC236}">
                <a16:creationId xmlns:a16="http://schemas.microsoft.com/office/drawing/2014/main" id="{D597990E-353B-4580-9D2B-4D27E1BF1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189" y="617506"/>
            <a:ext cx="1955860" cy="31869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en-US" sz="1400" b="1" dirty="0">
                <a:latin typeface="Calibri" panose="020F0502020204030204" pitchFamily="34" charset="0"/>
              </a:rPr>
              <a:t>Female Prayer Room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1B596F22-2A24-4646-8556-1B1CB477C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8925" y="3424758"/>
            <a:ext cx="2700388" cy="31869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en-US" sz="1400" b="1" dirty="0">
                <a:latin typeface="Calibri" panose="020F0502020204030204" pitchFamily="34" charset="0"/>
              </a:rPr>
              <a:t>Air mark for Administrative Block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06703AAF-4EB1-4355-8360-2DC67AC10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1657" y="3428999"/>
            <a:ext cx="1955860" cy="31869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NCD Corner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82BBA974-BEE8-497F-A075-F4C660303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527" y="610326"/>
            <a:ext cx="2453390" cy="32564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Phone Booth free of cost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C8F0D02-4E05-4FEF-9ECE-49ECB6E5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39" y="169532"/>
            <a:ext cx="10074639" cy="35382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New Innovation</a:t>
            </a:r>
          </a:p>
        </p:txBody>
      </p:sp>
    </p:spTree>
    <p:extLst>
      <p:ext uri="{BB962C8B-B14F-4D97-AF65-F5344CB8AC3E}">
        <p14:creationId xmlns:p14="http://schemas.microsoft.com/office/powerpoint/2010/main" val="245936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9" y="16391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KMC &amp; SAM Corner &amp; Paediatrics Ward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190E76-BC05-484B-8277-A8A56FC3B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38" y="1449699"/>
            <a:ext cx="5635178" cy="39586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37BF56-F7F9-488E-A5C1-0A593713B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447" y="1449699"/>
            <a:ext cx="5281115" cy="395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53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CA6852B0-BF85-4F64-ABB0-7460F4D22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93924"/>
            <a:ext cx="4716733" cy="353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589B1-D5DE-40C7-890D-3C93C30BA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4" y="2214643"/>
            <a:ext cx="4716733" cy="3537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Changes in the Display Board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585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4F3714-8BF6-4793-A3AE-0238B5677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4644"/>
            <a:ext cx="4719395" cy="3537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8BEB04-DB46-4F10-A91F-42DDDEDB3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3" y="2193924"/>
            <a:ext cx="4716733" cy="3537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Removal of unwanted items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1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D51DFAC-06C1-432B-ABAD-C12FB7841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4643"/>
            <a:ext cx="4722061" cy="3539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8A66EE-5385-451B-B6A9-9B3270CB9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4" y="2214644"/>
            <a:ext cx="4719396" cy="35395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Removal of unwanted items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728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F4D234-0EE2-4CAB-9B08-3A3F942E2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4644"/>
            <a:ext cx="4722058" cy="3539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CE87E8-535A-4770-9BA9-E1C8072B1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4" y="2214644"/>
            <a:ext cx="4719395" cy="35395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9" y="5599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Removal of unwanted items from OT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49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263B0FC-A886-4424-8995-D14FFF88D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214642"/>
            <a:ext cx="4412105" cy="35415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EE7CD3-774D-480C-862C-5CBC2C7D5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3" y="2214643"/>
            <a:ext cx="4722057" cy="35415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9" y="5599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Removal of unwanted items from OT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1464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184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7C1AD155-F271-4DCA-8AAF-153EC43695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389973" y="1905680"/>
            <a:ext cx="3524354" cy="411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445D5B-AD2C-4256-8D5F-791DE5504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17098" y="1814668"/>
            <a:ext cx="3524355" cy="4294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9" y="5599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Cleanliness of Toilet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714DEC47-8E6D-4B3D-94B4-95FD1C46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219965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BEFORE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9F8FF3-E2F7-4037-827A-00AE7D0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199654"/>
            <a:ext cx="685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AFTER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470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022F-7401-4405-8AFC-F981768E4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Preparation of OT by removing </a:t>
            </a:r>
            <a:br>
              <a:rPr lang="en-US" dirty="0"/>
            </a:br>
            <a:r>
              <a:rPr lang="en-US" dirty="0"/>
              <a:t>all unwanted Items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25A0631-0992-48A7-A9A0-6CE736744E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580820" y="646882"/>
            <a:ext cx="4654286" cy="668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294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022F-7401-4405-8AFC-F981768E4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New desk funded by Medical Officer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AC850-4CF8-4071-AE0A-397D5E54E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338" y="1409075"/>
            <a:ext cx="6855501" cy="493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59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31" y="0"/>
            <a:ext cx="11158538" cy="6064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Training on Quality of Care and formation of QIC committee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D05BB-8002-4926-9E86-46DD58835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553" y="606425"/>
            <a:ext cx="8469444" cy="593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89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0F4D-EF98-447E-A8B4-DCBE2455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Challenges of the Health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07491-103D-41C2-9B46-F55CEE61D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61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0F4D-EF98-447E-A8B4-DCBE2455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Way Forward….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07491-103D-41C2-9B46-F55CEE61D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83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309914">
            <a:off x="8064236" y="2777315"/>
            <a:ext cx="4257275" cy="85133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Thanks You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91" y="265584"/>
            <a:ext cx="7459462" cy="6478693"/>
          </a:xfrm>
        </p:spPr>
      </p:pic>
    </p:spTree>
    <p:extLst>
      <p:ext uri="{BB962C8B-B14F-4D97-AF65-F5344CB8AC3E}">
        <p14:creationId xmlns:p14="http://schemas.microsoft.com/office/powerpoint/2010/main" val="299732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266</Words>
  <Application>Microsoft Office PowerPoint</Application>
  <PresentationFormat>Widescreen</PresentationFormat>
  <Paragraphs>89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 3</vt:lpstr>
      <vt:lpstr>Office Theme</vt:lpstr>
      <vt:lpstr>          Kamalnagar UHC, Lakshmipur</vt:lpstr>
      <vt:lpstr>A Hospital with a Vision …</vt:lpstr>
      <vt:lpstr>Health Profile of Kamalnagar Upazila- 2022</vt:lpstr>
      <vt:lpstr>PowerPoint Presentation</vt:lpstr>
      <vt:lpstr>Background History  of Kamalnagar UHC</vt:lpstr>
      <vt:lpstr>New Innovation</vt:lpstr>
      <vt:lpstr>KMC &amp; SAM Corner &amp; Paediatrics Ward</vt:lpstr>
      <vt:lpstr>Changes in the Display Board</vt:lpstr>
      <vt:lpstr>Removal of unwanted items</vt:lpstr>
      <vt:lpstr>Removal of unwanted items</vt:lpstr>
      <vt:lpstr>Removal of unwanted items from OT</vt:lpstr>
      <vt:lpstr>Removal of unwanted items from OT</vt:lpstr>
      <vt:lpstr>Cleanliness of Toilet</vt:lpstr>
      <vt:lpstr>Preparation of OT by removing  all unwanted Items</vt:lpstr>
      <vt:lpstr>New desk funded by Medical Officer</vt:lpstr>
      <vt:lpstr>Training on Quality of Care and formation of QIC committee</vt:lpstr>
      <vt:lpstr>Challenges of the Health Complex</vt:lpstr>
      <vt:lpstr>Way Forward….</vt:lpstr>
      <vt:lpstr>Thanks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98</cp:revision>
  <dcterms:created xsi:type="dcterms:W3CDTF">2022-09-16T15:27:42Z</dcterms:created>
  <dcterms:modified xsi:type="dcterms:W3CDTF">2022-09-21T03:58:48Z</dcterms:modified>
</cp:coreProperties>
</file>