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1"/>
  </p:sldMasterIdLst>
  <p:notesMasterIdLst>
    <p:notesMasterId r:id="rId45"/>
  </p:notesMasterIdLst>
  <p:sldIdLst>
    <p:sldId id="533" r:id="rId2"/>
    <p:sldId id="536" r:id="rId3"/>
    <p:sldId id="512" r:id="rId4"/>
    <p:sldId id="262" r:id="rId5"/>
    <p:sldId id="341" r:id="rId6"/>
    <p:sldId id="521" r:id="rId7"/>
    <p:sldId id="522" r:id="rId8"/>
    <p:sldId id="268" r:id="rId9"/>
    <p:sldId id="378" r:id="rId10"/>
    <p:sldId id="384" r:id="rId11"/>
    <p:sldId id="526" r:id="rId12"/>
    <p:sldId id="515" r:id="rId13"/>
    <p:sldId id="516" r:id="rId14"/>
    <p:sldId id="452" r:id="rId15"/>
    <p:sldId id="447" r:id="rId16"/>
    <p:sldId id="513" r:id="rId17"/>
    <p:sldId id="390" r:id="rId18"/>
    <p:sldId id="469" r:id="rId19"/>
    <p:sldId id="537" r:id="rId20"/>
    <p:sldId id="391" r:id="rId21"/>
    <p:sldId id="510" r:id="rId22"/>
    <p:sldId id="376" r:id="rId23"/>
    <p:sldId id="539" r:id="rId24"/>
    <p:sldId id="488" r:id="rId25"/>
    <p:sldId id="545" r:id="rId26"/>
    <p:sldId id="323" r:id="rId27"/>
    <p:sldId id="372" r:id="rId28"/>
    <p:sldId id="492" r:id="rId29"/>
    <p:sldId id="514" r:id="rId30"/>
    <p:sldId id="500" r:id="rId31"/>
    <p:sldId id="534" r:id="rId32"/>
    <p:sldId id="392" r:id="rId33"/>
    <p:sldId id="487" r:id="rId34"/>
    <p:sldId id="507" r:id="rId35"/>
    <p:sldId id="541" r:id="rId36"/>
    <p:sldId id="518" r:id="rId37"/>
    <p:sldId id="535" r:id="rId38"/>
    <p:sldId id="520" r:id="rId39"/>
    <p:sldId id="509" r:id="rId40"/>
    <p:sldId id="523" r:id="rId41"/>
    <p:sldId id="542" r:id="rId42"/>
    <p:sldId id="543" r:id="rId43"/>
    <p:sldId id="544" r:id="rId4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85" autoAdjust="0"/>
    <p:restoredTop sz="94206" autoAdjust="0"/>
  </p:normalViewPr>
  <p:slideViewPr>
    <p:cSldViewPr>
      <p:cViewPr varScale="1">
        <p:scale>
          <a:sx n="77" d="100"/>
          <a:sy n="77" d="100"/>
        </p:scale>
        <p:origin x="142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image" Target="../media/image73.jpe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Human Resource Per 1000 Pop </a:t>
            </a:r>
          </a:p>
        </c:rich>
      </c:tx>
      <c:layout>
        <c:manualLayout>
          <c:xMode val="edge"/>
          <c:yMode val="edge"/>
          <c:x val="0.49589883541655194"/>
          <c:y val="2.16823173446161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Human Resource Per 1000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74-4A03-9DED-7A8BD65DA5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WHO Standard</c:v>
                </c:pt>
                <c:pt idx="1">
                  <c:v>Maldives</c:v>
                </c:pt>
                <c:pt idx="2">
                  <c:v>Nepal</c:v>
                </c:pt>
                <c:pt idx="3">
                  <c:v>Sri-Lanka</c:v>
                </c:pt>
                <c:pt idx="4">
                  <c:v>Bhutan</c:v>
                </c:pt>
                <c:pt idx="5">
                  <c:v>India</c:v>
                </c:pt>
                <c:pt idx="6">
                  <c:v>Pakistan</c:v>
                </c:pt>
                <c:pt idx="7">
                  <c:v>Bangladesh</c:v>
                </c:pt>
                <c:pt idx="8">
                  <c:v>Afghanistan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4.45</c:v>
                </c:pt>
                <c:pt idx="1">
                  <c:v>6.71</c:v>
                </c:pt>
                <c:pt idx="2">
                  <c:v>4.1900000000000004</c:v>
                </c:pt>
                <c:pt idx="3">
                  <c:v>3.73</c:v>
                </c:pt>
                <c:pt idx="4">
                  <c:v>2.58</c:v>
                </c:pt>
                <c:pt idx="5">
                  <c:v>2.4900000000000002</c:v>
                </c:pt>
                <c:pt idx="6">
                  <c:v>1.6</c:v>
                </c:pt>
                <c:pt idx="7">
                  <c:v>1.1599999999999999</c:v>
                </c:pt>
                <c:pt idx="8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74-4A03-9DED-7A8BD65D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5"/>
        <c:overlap val="-27"/>
        <c:axId val="278835503"/>
        <c:axId val="1942959343"/>
      </c:barChart>
      <c:catAx>
        <c:axId val="278835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2959343"/>
        <c:crosses val="autoZero"/>
        <c:auto val="1"/>
        <c:lblAlgn val="ctr"/>
        <c:lblOffset val="100"/>
        <c:noMultiLvlLbl val="0"/>
      </c:catAx>
      <c:valAx>
        <c:axId val="1942959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8835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10"/>
      <c:rAngAx val="1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4.2372881355932999E-2"/>
          <c:y val="3.2163742690058485E-2"/>
          <c:w val="0.94209039548022599"/>
          <c:h val="0.82278998019984362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4.166666666666668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23C-4F00-852B-783C8AC2C58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numCache>
            </c:numRef>
          </c:cat>
          <c:val>
            <c:numRef>
              <c:f>Sheet1!$B$2:$B$6</c:f>
              <c:numCache>
                <c:formatCode>#,##0</c:formatCode>
                <c:ptCount val="5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  <c:pt idx="4" formatCode="General">
                  <c:v>8903675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3C-4F00-852B-783C8AC2C5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one"/>
        <c:axId val="121885824"/>
        <c:axId val="121887360"/>
        <c:axId val="118889088"/>
      </c:bar3DChart>
      <c:catAx>
        <c:axId val="1218858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900" b="1" baseline="0"/>
            </a:pPr>
            <a:endParaRPr lang="en-US"/>
          </a:p>
        </c:txPr>
        <c:crossAx val="121887360"/>
        <c:crosses val="autoZero"/>
        <c:auto val="1"/>
        <c:lblAlgn val="ctr"/>
        <c:lblOffset val="100"/>
        <c:noMultiLvlLbl val="0"/>
      </c:catAx>
      <c:valAx>
        <c:axId val="121887360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121885824"/>
        <c:crosses val="autoZero"/>
        <c:crossBetween val="between"/>
      </c:valAx>
      <c:serAx>
        <c:axId val="118889088"/>
        <c:scaling>
          <c:orientation val="minMax"/>
        </c:scaling>
        <c:delete val="1"/>
        <c:axPos val="b"/>
        <c:majorTickMark val="out"/>
        <c:minorTickMark val="none"/>
        <c:tickLblPos val="nextTo"/>
        <c:crossAx val="121887360"/>
        <c:crosses val="autoZero"/>
      </c:serAx>
      <c:spPr>
        <a:noFill/>
        <a:ln w="25386">
          <a:noFill/>
        </a:ln>
      </c:spPr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797"/>
      </a:pPr>
      <a:endParaRPr lang="en-US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5/31/2023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219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352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1">
            <a:extLst>
              <a:ext uri="{FF2B5EF4-FFF2-40B4-BE49-F238E27FC236}">
                <a16:creationId xmlns:a16="http://schemas.microsoft.com/office/drawing/2014/main" id="{4F4F54C2-9248-43C0-9FBB-13F2A58023B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/>
            <a:fld id="{6117B931-8D96-4F4A-A722-FE05E31681A5}" type="slidenum">
              <a:rPr lang="en-US" altLang="en-US" sz="1300">
                <a:solidFill>
                  <a:srgbClr val="000000"/>
                </a:solidFill>
                <a:latin typeface="Times New Roman" panose="02020603050405020304" pitchFamily="18" charset="0"/>
                <a:ea typeface="ＭＳ Ｐ明朝" panose="02020600040205080304" pitchFamily="18" charset="-128"/>
              </a:rPr>
              <a:pPr eaLnBrk="1"/>
              <a:t>5</a:t>
            </a:fld>
            <a:endParaRPr lang="en-US" altLang="en-US" sz="1300">
              <a:solidFill>
                <a:srgbClr val="000000"/>
              </a:solidFill>
              <a:latin typeface="Times New Roman" panose="02020603050405020304" pitchFamily="18" charset="0"/>
              <a:ea typeface="ＭＳ Ｐ明朝" panose="02020600040205080304" pitchFamily="18" charset="-128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AA8524B9-F19A-4A07-A542-84083CE754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F44D836B-BF78-4E6F-9B2D-0EB6AA340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5" rIns="93170" bIns="46585"/>
          <a:lstStyle/>
          <a:p>
            <a:pPr defTabSz="815975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1678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>
            <a:extLst>
              <a:ext uri="{FF2B5EF4-FFF2-40B4-BE49-F238E27FC236}">
                <a16:creationId xmlns:a16="http://schemas.microsoft.com/office/drawing/2014/main" id="{A7F6AF17-4B02-4774-B145-0B533BA06D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</p:spPr>
      </p:sp>
      <p:sp>
        <p:nvSpPr>
          <p:cNvPr id="54275" name="Rectangle 1027">
            <a:extLst>
              <a:ext uri="{FF2B5EF4-FFF2-40B4-BE49-F238E27FC236}">
                <a16:creationId xmlns:a16="http://schemas.microsoft.com/office/drawing/2014/main" id="{79D858D4-236D-4872-91CD-7001687E8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5" rIns="93170" bIns="46585"/>
          <a:lstStyle/>
          <a:p>
            <a:pPr defTabSz="91440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5520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026">
            <a:extLst>
              <a:ext uri="{FF2B5EF4-FFF2-40B4-BE49-F238E27FC236}">
                <a16:creationId xmlns:a16="http://schemas.microsoft.com/office/drawing/2014/main" id="{9ED7A956-EE2C-46D8-82F0-F744D58469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  <a:ln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55299" name="Rectangle 1028">
            <a:extLst>
              <a:ext uri="{FF2B5EF4-FFF2-40B4-BE49-F238E27FC236}">
                <a16:creationId xmlns:a16="http://schemas.microsoft.com/office/drawing/2014/main" id="{4AA9FDC3-594D-4D50-8719-29FB87987A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5" rIns="93170" bIns="46585"/>
          <a:lstStyle/>
          <a:p>
            <a:pPr defTabSz="914400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3284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825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369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873E5E-FE9D-4022-BB0E-584F64AF886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951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06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18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1686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defTabSz="931774">
              <a:defRPr/>
            </a:pPr>
            <a:fld id="{3A337629-D36D-49E4-ACBA-6A81B0F14D58}" type="slidenum">
              <a:rPr lang="en-US">
                <a:solidFill>
                  <a:srgbClr val="000000"/>
                </a:solidFill>
              </a:rPr>
              <a:pPr defTabSz="931774">
                <a:defRPr/>
              </a:pPr>
              <a:t>21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0567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33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6630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35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7074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39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3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defTabSz="931774">
              <a:defRPr/>
            </a:pPr>
            <a:fld id="{3A337629-D36D-49E4-ACBA-6A81B0F14D58}" type="slidenum">
              <a:rPr lang="en-US">
                <a:solidFill>
                  <a:srgbClr val="000000"/>
                </a:solidFill>
              </a:rPr>
              <a:pPr defTabSz="931774">
                <a:defRPr/>
              </a:pPr>
              <a:t>43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714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C528EF-78D8-49A5-809B-2599B7DD834B}" type="datetimeFigureOut">
              <a:rPr lang="en-US" altLang="en-US" smtClean="0"/>
              <a:pPr>
                <a:defRPr/>
              </a:pPr>
              <a:t>5/31/2023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FA2A5-5979-48A6-9408-4607D4934B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538784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C57163-4E2A-442A-AF52-8DCCF3E5F898}" type="datetimeFigureOut">
              <a:rPr lang="en-US" altLang="en-US" smtClean="0"/>
              <a:pPr>
                <a:defRPr/>
              </a:pPr>
              <a:t>5/31/2023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4CFB5-2CC1-45EB-A3F2-C919B032989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419073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CADFD7-462D-4DC3-B03B-C216ECE8D47D}" type="datetimeFigureOut">
              <a:rPr lang="en-US" altLang="en-US" smtClean="0"/>
              <a:pPr>
                <a:defRPr/>
              </a:pPr>
              <a:t>5/31/2023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1B0A13-5CDD-4B02-825E-D5B70CB11E2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006264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CFF109-4CB5-4AAD-95FA-C87EB3E04025}" type="datetimeFigureOut">
              <a:rPr lang="en-US" altLang="en-US" smtClean="0"/>
              <a:pPr>
                <a:defRPr/>
              </a:pPr>
              <a:t>5/31/2023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13CE82-7117-4891-B558-D1CF2158FB3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992098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A6665-6F14-4A40-AA68-DF2D49F6DD20}" type="datetimeFigureOut">
              <a:rPr lang="en-US" altLang="en-US" smtClean="0"/>
              <a:pPr>
                <a:defRPr/>
              </a:pPr>
              <a:t>5/31/2023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395EA-16E2-485C-BE10-C0C30288CF7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237168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FB527-45A3-4F1F-BC31-990A27D35CF4}" type="datetimeFigureOut">
              <a:rPr lang="en-US" altLang="en-US" smtClean="0"/>
              <a:pPr>
                <a:defRPr/>
              </a:pPr>
              <a:t>5/31/2023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52998-14DA-4294-9809-0671B108F66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46267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20C454-2AF4-4F56-B134-15CC2881F322}" type="datetimeFigureOut">
              <a:rPr lang="en-US" altLang="en-US" smtClean="0"/>
              <a:pPr>
                <a:defRPr/>
              </a:pPr>
              <a:t>5/31/2023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FBE90-576A-469F-BB2C-57A27D47CF3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588089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80C9C6-69CB-45B7-9979-6C3E38187D0A}" type="datetimeFigureOut">
              <a:rPr lang="en-US" altLang="en-US" smtClean="0"/>
              <a:pPr>
                <a:defRPr/>
              </a:pPr>
              <a:t>5/31/2023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E9712-EA71-450B-AE72-6EC24D46A79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874313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E0AD57-2794-4A43-BC3A-6D6DEE633501}" type="datetimeFigureOut">
              <a:rPr lang="en-US" altLang="en-US" smtClean="0"/>
              <a:pPr>
                <a:defRPr/>
              </a:pPr>
              <a:t>5/31/2023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9D0AA-CDC8-41BE-AFF7-7A9CB8C401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42656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9D4D3F-EDC6-440C-ABD2-54996654AEC4}" type="datetimeFigureOut">
              <a:rPr lang="en-US" altLang="en-US" smtClean="0"/>
              <a:pPr>
                <a:defRPr/>
              </a:pPr>
              <a:t>5/31/2023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C68EAF-25D6-47A5-AF16-8E40A707229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3709647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15DA01-3A8D-4832-86F7-58BF2CA1F9C1}" type="datetimeFigureOut">
              <a:rPr lang="en-US" altLang="en-US" smtClean="0"/>
              <a:pPr>
                <a:defRPr/>
              </a:pPr>
              <a:t>5/31/2023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CA87E-87C4-451A-AA13-2FDE2706BB2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243769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313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 smtClean="0"/>
              <a:pPr>
                <a:defRPr/>
              </a:pPr>
              <a:t>2023/5/31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1328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034" r:id="rId12"/>
    <p:sldLayoutId id="2147484035" r:id="rId13"/>
  </p:sldLayoutIdLst>
  <p:transition spd="slow">
    <p:zoom dir="in"/>
    <p:sndAc>
      <p:stSnd>
        <p:snd r:embed="rId15" name="chimes.wav"/>
      </p:stSnd>
    </p:sndAc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7.emf"/><Relationship Id="rId4" Type="http://schemas.openxmlformats.org/officeDocument/2006/relationships/oleObject" Target="../embeddings/oleObject1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8.emf"/><Relationship Id="rId4" Type="http://schemas.openxmlformats.org/officeDocument/2006/relationships/oleObject" Target="../embeddings/oleObject1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7" Type="http://schemas.openxmlformats.org/officeDocument/2006/relationships/image" Target="../media/image48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7.png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2.jpeg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jpeg"/><Relationship Id="rId4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0.jpeg"/><Relationship Id="rId4" Type="http://schemas.openxmlformats.org/officeDocument/2006/relationships/image" Target="../media/image59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4.jpeg"/><Relationship Id="rId4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jpeg"/><Relationship Id="rId4" Type="http://schemas.openxmlformats.org/officeDocument/2006/relationships/image" Target="../media/image6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-</a:t>
            </a:r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model is the best example of community participation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Haque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National Consultant(HEU) .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M0HFW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79676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234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889101"/>
              </p:ext>
            </p:extLst>
          </p:nvPr>
        </p:nvGraphicFramePr>
        <p:xfrm>
          <a:off x="144439" y="1295400"/>
          <a:ext cx="8823562" cy="462379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4343400" y="6026060"/>
            <a:ext cx="4611337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 World Bank 2018, 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</a:t>
            </a:r>
            <a:r>
              <a:rPr lang="en-US" sz="2800" b="1" dirty="0" err="1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resourses</a:t>
            </a: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of different countries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03941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4982936" y="6341722"/>
            <a:ext cx="3627664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World Health Bulletin 2022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01930" y="8684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HR of different SEARC countries(Doctors , Nurses &amp; Midwives)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270AB4A-A350-4AE2-A5E3-4D20C1FC13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4415530"/>
              </p:ext>
            </p:extLst>
          </p:nvPr>
        </p:nvGraphicFramePr>
        <p:xfrm>
          <a:off x="304800" y="1410154"/>
          <a:ext cx="8717280" cy="4685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9556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/>
              <a:t>Our usual solution: </a:t>
            </a:r>
            <a:br>
              <a:rPr lang="en-US" sz="3600" dirty="0"/>
            </a:br>
            <a:r>
              <a:rPr lang="en-US" sz="3600" dirty="0"/>
              <a:t>We need more RESOURCES!!!!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6226"/>
            <a:ext cx="820891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190820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8">
            <a:extLst>
              <a:ext uri="{FF2B5EF4-FFF2-40B4-BE49-F238E27FC236}">
                <a16:creationId xmlns:a16="http://schemas.microsoft.com/office/drawing/2014/main" id="{CD6D1931-655F-4D84-A296-9848D6DF4814}"/>
              </a:ext>
            </a:extLst>
          </p:cNvPr>
          <p:cNvGrpSpPr>
            <a:grpSpLocks/>
          </p:cNvGrpSpPr>
          <p:nvPr/>
        </p:nvGrpSpPr>
        <p:grpSpPr bwMode="auto">
          <a:xfrm>
            <a:off x="-1439" y="1905481"/>
            <a:ext cx="9145440" cy="4952160"/>
            <a:chOff x="-1" y="1200"/>
            <a:chExt cx="5761" cy="3120"/>
          </a:xfrm>
        </p:grpSpPr>
        <p:sp>
          <p:nvSpPr>
            <p:cNvPr id="23590" name="Freeform 2">
              <a:extLst>
                <a:ext uri="{FF2B5EF4-FFF2-40B4-BE49-F238E27FC236}">
                  <a16:creationId xmlns:a16="http://schemas.microsoft.com/office/drawing/2014/main" id="{468F90AF-8BCF-45C9-8B5A-A0C26024C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2427"/>
              <a:ext cx="4512" cy="1893"/>
            </a:xfrm>
            <a:custGeom>
              <a:avLst/>
              <a:gdLst>
                <a:gd name="T0" fmla="*/ 4511 w 4512"/>
                <a:gd name="T1" fmla="*/ 0 h 1893"/>
                <a:gd name="T2" fmla="*/ 4147 w 4512"/>
                <a:gd name="T3" fmla="*/ 194 h 1893"/>
                <a:gd name="T4" fmla="*/ 4120 w 4512"/>
                <a:gd name="T5" fmla="*/ 335 h 1893"/>
                <a:gd name="T6" fmla="*/ 3933 w 4512"/>
                <a:gd name="T7" fmla="*/ 557 h 1893"/>
                <a:gd name="T8" fmla="*/ 3713 w 4512"/>
                <a:gd name="T9" fmla="*/ 588 h 1893"/>
                <a:gd name="T10" fmla="*/ 3525 w 4512"/>
                <a:gd name="T11" fmla="*/ 599 h 1893"/>
                <a:gd name="T12" fmla="*/ 3482 w 4512"/>
                <a:gd name="T13" fmla="*/ 817 h 1893"/>
                <a:gd name="T14" fmla="*/ 3350 w 4512"/>
                <a:gd name="T15" fmla="*/ 726 h 1893"/>
                <a:gd name="T16" fmla="*/ 3118 w 4512"/>
                <a:gd name="T17" fmla="*/ 726 h 1893"/>
                <a:gd name="T18" fmla="*/ 2916 w 4512"/>
                <a:gd name="T19" fmla="*/ 678 h 1893"/>
                <a:gd name="T20" fmla="*/ 2799 w 4512"/>
                <a:gd name="T21" fmla="*/ 805 h 1893"/>
                <a:gd name="T22" fmla="*/ 2711 w 4512"/>
                <a:gd name="T23" fmla="*/ 1025 h 1893"/>
                <a:gd name="T24" fmla="*/ 2655 w 4512"/>
                <a:gd name="T25" fmla="*/ 931 h 1893"/>
                <a:gd name="T26" fmla="*/ 2538 w 4512"/>
                <a:gd name="T27" fmla="*/ 884 h 1893"/>
                <a:gd name="T28" fmla="*/ 2233 w 4512"/>
                <a:gd name="T29" fmla="*/ 1282 h 1893"/>
                <a:gd name="T30" fmla="*/ 2057 w 4512"/>
                <a:gd name="T31" fmla="*/ 1267 h 1893"/>
                <a:gd name="T32" fmla="*/ 1811 w 4512"/>
                <a:gd name="T33" fmla="*/ 1388 h 1893"/>
                <a:gd name="T34" fmla="*/ 1582 w 4512"/>
                <a:gd name="T35" fmla="*/ 1357 h 1893"/>
                <a:gd name="T36" fmla="*/ 1375 w 4512"/>
                <a:gd name="T37" fmla="*/ 1230 h 1893"/>
                <a:gd name="T38" fmla="*/ 1204 w 4512"/>
                <a:gd name="T39" fmla="*/ 1372 h 1893"/>
                <a:gd name="T40" fmla="*/ 970 w 4512"/>
                <a:gd name="T41" fmla="*/ 1357 h 1893"/>
                <a:gd name="T42" fmla="*/ 738 w 4512"/>
                <a:gd name="T43" fmla="*/ 1704 h 1893"/>
                <a:gd name="T44" fmla="*/ 507 w 4512"/>
                <a:gd name="T45" fmla="*/ 1700 h 1893"/>
                <a:gd name="T46" fmla="*/ 243 w 4512"/>
                <a:gd name="T47" fmla="*/ 1751 h 1893"/>
                <a:gd name="T48" fmla="*/ 73 w 4512"/>
                <a:gd name="T49" fmla="*/ 1851 h 1893"/>
                <a:gd name="T50" fmla="*/ 0 w 4512"/>
                <a:gd name="T51" fmla="*/ 1889 h 1893"/>
                <a:gd name="T52" fmla="*/ 4511 w 4512"/>
                <a:gd name="T53" fmla="*/ 1892 h 1893"/>
                <a:gd name="T54" fmla="*/ 4511 w 4512"/>
                <a:gd name="T55" fmla="*/ 0 h 189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12"/>
                <a:gd name="T85" fmla="*/ 0 h 1893"/>
                <a:gd name="T86" fmla="*/ 4512 w 4512"/>
                <a:gd name="T87" fmla="*/ 1893 h 189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12" h="1893">
                  <a:moveTo>
                    <a:pt x="4511" y="0"/>
                  </a:moveTo>
                  <a:lnTo>
                    <a:pt x="4147" y="194"/>
                  </a:lnTo>
                  <a:lnTo>
                    <a:pt x="4120" y="335"/>
                  </a:lnTo>
                  <a:lnTo>
                    <a:pt x="3933" y="557"/>
                  </a:lnTo>
                  <a:lnTo>
                    <a:pt x="3713" y="588"/>
                  </a:lnTo>
                  <a:lnTo>
                    <a:pt x="3525" y="599"/>
                  </a:lnTo>
                  <a:lnTo>
                    <a:pt x="3482" y="817"/>
                  </a:lnTo>
                  <a:lnTo>
                    <a:pt x="3350" y="726"/>
                  </a:lnTo>
                  <a:lnTo>
                    <a:pt x="3118" y="726"/>
                  </a:lnTo>
                  <a:lnTo>
                    <a:pt x="2916" y="678"/>
                  </a:lnTo>
                  <a:lnTo>
                    <a:pt x="2799" y="805"/>
                  </a:lnTo>
                  <a:lnTo>
                    <a:pt x="2711" y="1025"/>
                  </a:lnTo>
                  <a:lnTo>
                    <a:pt x="2655" y="931"/>
                  </a:lnTo>
                  <a:lnTo>
                    <a:pt x="2538" y="884"/>
                  </a:lnTo>
                  <a:lnTo>
                    <a:pt x="2233" y="1282"/>
                  </a:lnTo>
                  <a:lnTo>
                    <a:pt x="2057" y="1267"/>
                  </a:lnTo>
                  <a:lnTo>
                    <a:pt x="1811" y="1388"/>
                  </a:lnTo>
                  <a:lnTo>
                    <a:pt x="1582" y="1357"/>
                  </a:lnTo>
                  <a:lnTo>
                    <a:pt x="1375" y="1230"/>
                  </a:lnTo>
                  <a:lnTo>
                    <a:pt x="1204" y="1372"/>
                  </a:lnTo>
                  <a:lnTo>
                    <a:pt x="970" y="1357"/>
                  </a:lnTo>
                  <a:lnTo>
                    <a:pt x="738" y="1704"/>
                  </a:lnTo>
                  <a:lnTo>
                    <a:pt x="507" y="1700"/>
                  </a:lnTo>
                  <a:lnTo>
                    <a:pt x="243" y="1751"/>
                  </a:lnTo>
                  <a:lnTo>
                    <a:pt x="73" y="1851"/>
                  </a:lnTo>
                  <a:lnTo>
                    <a:pt x="0" y="1889"/>
                  </a:lnTo>
                  <a:lnTo>
                    <a:pt x="4511" y="1892"/>
                  </a:lnTo>
                  <a:lnTo>
                    <a:pt x="4511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graphicFrame>
          <p:nvGraphicFramePr>
            <p:cNvPr id="23591" name="Object 3">
              <a:extLst>
                <a:ext uri="{FF2B5EF4-FFF2-40B4-BE49-F238E27FC236}">
                  <a16:creationId xmlns:a16="http://schemas.microsoft.com/office/drawing/2014/main" id="{F8D9B85C-E4BA-40AC-9837-C1F4B10DA30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87" y="3462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6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23591" name="Object 3">
                          <a:extLst>
                            <a:ext uri="{FF2B5EF4-FFF2-40B4-BE49-F238E27FC236}">
                              <a16:creationId xmlns:a16="http://schemas.microsoft.com/office/drawing/2014/main" id="{F8D9B85C-E4BA-40AC-9837-C1F4B10DA30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7" y="3462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2" name="Object 4">
              <a:extLst>
                <a:ext uri="{FF2B5EF4-FFF2-40B4-BE49-F238E27FC236}">
                  <a16:creationId xmlns:a16="http://schemas.microsoft.com/office/drawing/2014/main" id="{AB86F339-AFF8-4730-95B4-7250F98979C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75" y="3463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7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23592" name="Object 4">
                          <a:extLst>
                            <a:ext uri="{FF2B5EF4-FFF2-40B4-BE49-F238E27FC236}">
                              <a16:creationId xmlns:a16="http://schemas.microsoft.com/office/drawing/2014/main" id="{AB86F339-AFF8-4730-95B4-7250F98979C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5" y="3463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3" name="Object 5">
              <a:extLst>
                <a:ext uri="{FF2B5EF4-FFF2-40B4-BE49-F238E27FC236}">
                  <a16:creationId xmlns:a16="http://schemas.microsoft.com/office/drawing/2014/main" id="{19311BE0-D067-40BB-9555-6D700675B17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035" y="3079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8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23593" name="Object 5">
                          <a:extLst>
                            <a:ext uri="{FF2B5EF4-FFF2-40B4-BE49-F238E27FC236}">
                              <a16:creationId xmlns:a16="http://schemas.microsoft.com/office/drawing/2014/main" id="{19311BE0-D067-40BB-9555-6D700675B17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5" y="3079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4" name="Freeform 6">
              <a:extLst>
                <a:ext uri="{FF2B5EF4-FFF2-40B4-BE49-F238E27FC236}">
                  <a16:creationId xmlns:a16="http://schemas.microsoft.com/office/drawing/2014/main" id="{8646076C-EB4C-4B67-88F7-9225EA70E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1200"/>
              <a:ext cx="1920" cy="816"/>
            </a:xfrm>
            <a:custGeom>
              <a:avLst/>
              <a:gdLst>
                <a:gd name="T0" fmla="*/ 0 w 1920"/>
                <a:gd name="T1" fmla="*/ 0 h 816"/>
                <a:gd name="T2" fmla="*/ 155 w 1920"/>
                <a:gd name="T3" fmla="*/ 84 h 816"/>
                <a:gd name="T4" fmla="*/ 166 w 1920"/>
                <a:gd name="T5" fmla="*/ 145 h 816"/>
                <a:gd name="T6" fmla="*/ 246 w 1920"/>
                <a:gd name="T7" fmla="*/ 240 h 816"/>
                <a:gd name="T8" fmla="*/ 340 w 1920"/>
                <a:gd name="T9" fmla="*/ 253 h 816"/>
                <a:gd name="T10" fmla="*/ 420 w 1920"/>
                <a:gd name="T11" fmla="*/ 258 h 816"/>
                <a:gd name="T12" fmla="*/ 438 w 1920"/>
                <a:gd name="T13" fmla="*/ 352 h 816"/>
                <a:gd name="T14" fmla="*/ 494 w 1920"/>
                <a:gd name="T15" fmla="*/ 313 h 816"/>
                <a:gd name="T16" fmla="*/ 593 w 1920"/>
                <a:gd name="T17" fmla="*/ 313 h 816"/>
                <a:gd name="T18" fmla="*/ 679 w 1920"/>
                <a:gd name="T19" fmla="*/ 292 h 816"/>
                <a:gd name="T20" fmla="*/ 729 w 1920"/>
                <a:gd name="T21" fmla="*/ 347 h 816"/>
                <a:gd name="T22" fmla="*/ 766 w 1920"/>
                <a:gd name="T23" fmla="*/ 442 h 816"/>
                <a:gd name="T24" fmla="*/ 790 w 1920"/>
                <a:gd name="T25" fmla="*/ 401 h 816"/>
                <a:gd name="T26" fmla="*/ 840 w 1920"/>
                <a:gd name="T27" fmla="*/ 381 h 816"/>
                <a:gd name="T28" fmla="*/ 969 w 1920"/>
                <a:gd name="T29" fmla="*/ 552 h 816"/>
                <a:gd name="T30" fmla="*/ 1044 w 1920"/>
                <a:gd name="T31" fmla="*/ 546 h 816"/>
                <a:gd name="T32" fmla="*/ 1149 w 1920"/>
                <a:gd name="T33" fmla="*/ 598 h 816"/>
                <a:gd name="T34" fmla="*/ 1246 w 1920"/>
                <a:gd name="T35" fmla="*/ 585 h 816"/>
                <a:gd name="T36" fmla="*/ 1334 w 1920"/>
                <a:gd name="T37" fmla="*/ 530 h 816"/>
                <a:gd name="T38" fmla="*/ 1407 w 1920"/>
                <a:gd name="T39" fmla="*/ 591 h 816"/>
                <a:gd name="T40" fmla="*/ 1507 w 1920"/>
                <a:gd name="T41" fmla="*/ 585 h 816"/>
                <a:gd name="T42" fmla="*/ 1605 w 1920"/>
                <a:gd name="T43" fmla="*/ 734 h 816"/>
                <a:gd name="T44" fmla="*/ 1704 w 1920"/>
                <a:gd name="T45" fmla="*/ 732 h 816"/>
                <a:gd name="T46" fmla="*/ 1816 w 1920"/>
                <a:gd name="T47" fmla="*/ 754 h 816"/>
                <a:gd name="T48" fmla="*/ 1888 w 1920"/>
                <a:gd name="T49" fmla="*/ 797 h 816"/>
                <a:gd name="T50" fmla="*/ 1919 w 1920"/>
                <a:gd name="T51" fmla="*/ 814 h 816"/>
                <a:gd name="T52" fmla="*/ 0 w 1920"/>
                <a:gd name="T53" fmla="*/ 815 h 816"/>
                <a:gd name="T54" fmla="*/ 0 w 1920"/>
                <a:gd name="T55" fmla="*/ 0 h 81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20"/>
                <a:gd name="T85" fmla="*/ 0 h 816"/>
                <a:gd name="T86" fmla="*/ 1920 w 1920"/>
                <a:gd name="T87" fmla="*/ 816 h 81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20" h="816">
                  <a:moveTo>
                    <a:pt x="0" y="0"/>
                  </a:moveTo>
                  <a:lnTo>
                    <a:pt x="155" y="84"/>
                  </a:lnTo>
                  <a:lnTo>
                    <a:pt x="166" y="145"/>
                  </a:lnTo>
                  <a:lnTo>
                    <a:pt x="246" y="240"/>
                  </a:lnTo>
                  <a:lnTo>
                    <a:pt x="340" y="253"/>
                  </a:lnTo>
                  <a:lnTo>
                    <a:pt x="420" y="258"/>
                  </a:lnTo>
                  <a:lnTo>
                    <a:pt x="438" y="352"/>
                  </a:lnTo>
                  <a:lnTo>
                    <a:pt x="494" y="313"/>
                  </a:lnTo>
                  <a:lnTo>
                    <a:pt x="593" y="313"/>
                  </a:lnTo>
                  <a:lnTo>
                    <a:pt x="679" y="292"/>
                  </a:lnTo>
                  <a:lnTo>
                    <a:pt x="729" y="347"/>
                  </a:lnTo>
                  <a:lnTo>
                    <a:pt x="766" y="442"/>
                  </a:lnTo>
                  <a:lnTo>
                    <a:pt x="790" y="401"/>
                  </a:lnTo>
                  <a:lnTo>
                    <a:pt x="840" y="381"/>
                  </a:lnTo>
                  <a:lnTo>
                    <a:pt x="969" y="552"/>
                  </a:lnTo>
                  <a:lnTo>
                    <a:pt x="1044" y="546"/>
                  </a:lnTo>
                  <a:lnTo>
                    <a:pt x="1149" y="598"/>
                  </a:lnTo>
                  <a:lnTo>
                    <a:pt x="1246" y="585"/>
                  </a:lnTo>
                  <a:lnTo>
                    <a:pt x="1334" y="530"/>
                  </a:lnTo>
                  <a:lnTo>
                    <a:pt x="1407" y="591"/>
                  </a:lnTo>
                  <a:lnTo>
                    <a:pt x="1507" y="585"/>
                  </a:lnTo>
                  <a:lnTo>
                    <a:pt x="1605" y="734"/>
                  </a:lnTo>
                  <a:lnTo>
                    <a:pt x="1704" y="732"/>
                  </a:lnTo>
                  <a:lnTo>
                    <a:pt x="1816" y="754"/>
                  </a:lnTo>
                  <a:lnTo>
                    <a:pt x="1888" y="797"/>
                  </a:lnTo>
                  <a:lnTo>
                    <a:pt x="1919" y="814"/>
                  </a:lnTo>
                  <a:lnTo>
                    <a:pt x="0" y="815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graphicFrame>
          <p:nvGraphicFramePr>
            <p:cNvPr id="23595" name="Object 7">
              <a:extLst>
                <a:ext uri="{FF2B5EF4-FFF2-40B4-BE49-F238E27FC236}">
                  <a16:creationId xmlns:a16="http://schemas.microsoft.com/office/drawing/2014/main" id="{F8E4F45F-48E7-4304-9737-049866B73C5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00" y="1206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9" name="ｸﾘｯﾌﾟ" r:id="rId8" imgW="2527911" imgH="3658757" progId="MS_ClipArt_Gallery.2">
                    <p:embed/>
                  </p:oleObj>
                </mc:Choice>
                <mc:Fallback>
                  <p:oleObj name="ｸﾘｯﾌﾟ" r:id="rId8" imgW="2527911" imgH="3658757" progId="MS_ClipArt_Gallery.2">
                    <p:embed/>
                    <p:pic>
                      <p:nvPicPr>
                        <p:cNvPr id="23595" name="Object 7">
                          <a:extLst>
                            <a:ext uri="{FF2B5EF4-FFF2-40B4-BE49-F238E27FC236}">
                              <a16:creationId xmlns:a16="http://schemas.microsoft.com/office/drawing/2014/main" id="{F8E4F45F-48E7-4304-9737-049866B73C5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" y="1206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7" name="Rectangle 9">
            <a:extLst>
              <a:ext uri="{FF2B5EF4-FFF2-40B4-BE49-F238E27FC236}">
                <a16:creationId xmlns:a16="http://schemas.microsoft.com/office/drawing/2014/main" id="{A5723377-BB97-462D-BCB3-B10EFC9F6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01" y="229321"/>
            <a:ext cx="5181120" cy="83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/>
          <a:p>
            <a:pPr defTabSz="914414" eaLnBrk="0" hangingPunct="0">
              <a:spcBef>
                <a:spcPct val="50000"/>
              </a:spcBef>
              <a:defRPr/>
            </a:pPr>
            <a:r>
              <a:rPr kumimoji="1" lang="en-US" altLang="ja-JP" sz="4808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KAIZEN(CQI)</a:t>
            </a:r>
          </a:p>
        </p:txBody>
      </p:sp>
      <p:grpSp>
        <p:nvGrpSpPr>
          <p:cNvPr id="23556" name="Group 42">
            <a:extLst>
              <a:ext uri="{FF2B5EF4-FFF2-40B4-BE49-F238E27FC236}">
                <a16:creationId xmlns:a16="http://schemas.microsoft.com/office/drawing/2014/main" id="{D259A4AB-7168-4D5F-95FB-389DDBD81EC8}"/>
              </a:ext>
            </a:extLst>
          </p:cNvPr>
          <p:cNvGrpSpPr>
            <a:grpSpLocks/>
          </p:cNvGrpSpPr>
          <p:nvPr/>
        </p:nvGrpSpPr>
        <p:grpSpPr bwMode="auto">
          <a:xfrm>
            <a:off x="152641" y="1857961"/>
            <a:ext cx="8838720" cy="4818240"/>
            <a:chOff x="96" y="1170"/>
            <a:chExt cx="5568" cy="3036"/>
          </a:xfrm>
        </p:grpSpPr>
        <p:grpSp>
          <p:nvGrpSpPr>
            <p:cNvPr id="23558" name="Group 20">
              <a:extLst>
                <a:ext uri="{FF2B5EF4-FFF2-40B4-BE49-F238E27FC236}">
                  <a16:creationId xmlns:a16="http://schemas.microsoft.com/office/drawing/2014/main" id="{886B46D3-0111-4D23-9440-61CD015214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" y="2514"/>
              <a:ext cx="1753" cy="1692"/>
              <a:chOff x="227" y="2514"/>
              <a:chExt cx="1753" cy="1692"/>
            </a:xfrm>
          </p:grpSpPr>
          <p:sp>
            <p:nvSpPr>
              <p:cNvPr id="23580" name="Oval 10">
                <a:extLst>
                  <a:ext uri="{FF2B5EF4-FFF2-40B4-BE49-F238E27FC236}">
                    <a16:creationId xmlns:a16="http://schemas.microsoft.com/office/drawing/2014/main" id="{4E3CBF06-8BEE-4F25-8EAF-D9CC3DE724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" y="2514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9" tIns="45714" rIns="91429" bIns="45714" anchor="ctr"/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14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581" name="Group 19">
                <a:extLst>
                  <a:ext uri="{FF2B5EF4-FFF2-40B4-BE49-F238E27FC236}">
                    <a16:creationId xmlns:a16="http://schemas.microsoft.com/office/drawing/2014/main" id="{BC4B32C9-1EFE-44CA-9238-08D4CF6014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" y="2772"/>
                <a:ext cx="1229" cy="1177"/>
                <a:chOff x="489" y="2772"/>
                <a:chExt cx="1229" cy="1177"/>
              </a:xfrm>
            </p:grpSpPr>
            <p:grpSp>
              <p:nvGrpSpPr>
                <p:cNvPr id="23582" name="Group 13">
                  <a:extLst>
                    <a:ext uri="{FF2B5EF4-FFF2-40B4-BE49-F238E27FC236}">
                      <a16:creationId xmlns:a16="http://schemas.microsoft.com/office/drawing/2014/main" id="{5A04FDFD-9E8E-4D31-89CE-33C5014415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9" y="2869"/>
                  <a:ext cx="1229" cy="1080"/>
                  <a:chOff x="489" y="2869"/>
                  <a:chExt cx="1229" cy="1080"/>
                </a:xfrm>
              </p:grpSpPr>
              <p:pic>
                <p:nvPicPr>
                  <p:cNvPr id="23588" name="Picture 11">
                    <a:extLst>
                      <a:ext uri="{FF2B5EF4-FFF2-40B4-BE49-F238E27FC236}">
                        <a16:creationId xmlns:a16="http://schemas.microsoft.com/office/drawing/2014/main" id="{86C7CCE1-8626-4F8C-B50F-B1F17B8B00E6}"/>
                      </a:ext>
                    </a:extLst>
                  </p:cNvPr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89" y="2869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3589" name="AutoShape 12">
                    <a:extLst>
                      <a:ext uri="{FF2B5EF4-FFF2-40B4-BE49-F238E27FC236}">
                        <a16:creationId xmlns:a16="http://schemas.microsoft.com/office/drawing/2014/main" id="{50E59F01-05F0-416B-ACDB-4C2F9815AD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796" y="3027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1429" tIns="45714" rIns="91429" bIns="45714" anchor="ctr"/>
                  <a:lstStyle>
                    <a:lvl1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 sz="1814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583" name="Group 18">
                  <a:extLst>
                    <a:ext uri="{FF2B5EF4-FFF2-40B4-BE49-F238E27FC236}">
                      <a16:creationId xmlns:a16="http://schemas.microsoft.com/office/drawing/2014/main" id="{8C6E77E7-359D-48F2-BC4D-648881F3DA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39" y="2772"/>
                  <a:ext cx="467" cy="125"/>
                  <a:chOff x="1139" y="2772"/>
                  <a:chExt cx="467" cy="125"/>
                </a:xfrm>
              </p:grpSpPr>
              <p:sp>
                <p:nvSpPr>
                  <p:cNvPr id="23584" name="Freeform 14">
                    <a:extLst>
                      <a:ext uri="{FF2B5EF4-FFF2-40B4-BE49-F238E27FC236}">
                        <a16:creationId xmlns:a16="http://schemas.microsoft.com/office/drawing/2014/main" id="{46C9B740-F1FF-4AC0-A04B-E6937896CF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6" y="2853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85" name="Freeform 15">
                    <a:extLst>
                      <a:ext uri="{FF2B5EF4-FFF2-40B4-BE49-F238E27FC236}">
                        <a16:creationId xmlns:a16="http://schemas.microsoft.com/office/drawing/2014/main" id="{B2F41BC6-ED88-4046-94ED-B594E0B37B0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39" y="2875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86" name="Freeform 16">
                    <a:extLst>
                      <a:ext uri="{FF2B5EF4-FFF2-40B4-BE49-F238E27FC236}">
                        <a16:creationId xmlns:a16="http://schemas.microsoft.com/office/drawing/2014/main" id="{B6905DE0-D0DF-4B1A-B3F3-1A54110DAF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47" y="2772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87" name="Freeform 17">
                    <a:extLst>
                      <a:ext uri="{FF2B5EF4-FFF2-40B4-BE49-F238E27FC236}">
                        <a16:creationId xmlns:a16="http://schemas.microsoft.com/office/drawing/2014/main" id="{7B398AC8-8170-44EA-BF04-44A3BB7D5C8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203" y="2778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</p:grpSp>
          </p:grpSp>
        </p:grpSp>
        <p:grpSp>
          <p:nvGrpSpPr>
            <p:cNvPr id="23559" name="Group 29">
              <a:extLst>
                <a:ext uri="{FF2B5EF4-FFF2-40B4-BE49-F238E27FC236}">
                  <a16:creationId xmlns:a16="http://schemas.microsoft.com/office/drawing/2014/main" id="{3899AC48-9F59-43BA-A9F5-C66D26A8F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5" y="1588"/>
              <a:ext cx="1782" cy="1720"/>
              <a:chOff x="1845" y="1588"/>
              <a:chExt cx="1782" cy="1720"/>
            </a:xfrm>
          </p:grpSpPr>
          <p:sp>
            <p:nvSpPr>
              <p:cNvPr id="23572" name="Oval 21">
                <a:extLst>
                  <a:ext uri="{FF2B5EF4-FFF2-40B4-BE49-F238E27FC236}">
                    <a16:creationId xmlns:a16="http://schemas.microsoft.com/office/drawing/2014/main" id="{397233C8-1238-4939-AB6E-D20EBC6AA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5" y="1588"/>
                <a:ext cx="1782" cy="1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9" tIns="45714" rIns="91429" bIns="45714" anchor="ctr"/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14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573" name="Group 28">
                <a:extLst>
                  <a:ext uri="{FF2B5EF4-FFF2-40B4-BE49-F238E27FC236}">
                    <a16:creationId xmlns:a16="http://schemas.microsoft.com/office/drawing/2014/main" id="{DDBAD37F-2081-4973-B3A9-763CE020A9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1788"/>
                <a:ext cx="1056" cy="1320"/>
                <a:chOff x="2208" y="1788"/>
                <a:chExt cx="1056" cy="1320"/>
              </a:xfrm>
            </p:grpSpPr>
            <p:pic>
              <p:nvPicPr>
                <p:cNvPr id="23574" name="Picture 22">
                  <a:extLst>
                    <a:ext uri="{FF2B5EF4-FFF2-40B4-BE49-F238E27FC236}">
                      <a16:creationId xmlns:a16="http://schemas.microsoft.com/office/drawing/2014/main" id="{652E968C-0467-48B4-AD22-9BD91DC5434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08" y="1855"/>
                  <a:ext cx="1056" cy="1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23575" name="Group 27">
                  <a:extLst>
                    <a:ext uri="{FF2B5EF4-FFF2-40B4-BE49-F238E27FC236}">
                      <a16:creationId xmlns:a16="http://schemas.microsoft.com/office/drawing/2014/main" id="{1E2B9B2F-8C7F-4974-81F9-155989CA2A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90" y="1788"/>
                  <a:ext cx="516" cy="136"/>
                  <a:chOff x="2690" y="1788"/>
                  <a:chExt cx="516" cy="136"/>
                </a:xfrm>
              </p:grpSpPr>
              <p:sp>
                <p:nvSpPr>
                  <p:cNvPr id="23576" name="Freeform 23">
                    <a:extLst>
                      <a:ext uri="{FF2B5EF4-FFF2-40B4-BE49-F238E27FC236}">
                        <a16:creationId xmlns:a16="http://schemas.microsoft.com/office/drawing/2014/main" id="{A9E9B7D4-88D1-4AC1-881B-6AAF7CCE14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51" y="1876"/>
                    <a:ext cx="55" cy="25"/>
                  </a:xfrm>
                  <a:custGeom>
                    <a:avLst/>
                    <a:gdLst>
                      <a:gd name="T0" fmla="*/ 0 w 55"/>
                      <a:gd name="T1" fmla="*/ 24 h 25"/>
                      <a:gd name="T2" fmla="*/ 13 w 55"/>
                      <a:gd name="T3" fmla="*/ 10 h 25"/>
                      <a:gd name="T4" fmla="*/ 17 w 55"/>
                      <a:gd name="T5" fmla="*/ 7 h 25"/>
                      <a:gd name="T6" fmla="*/ 19 w 55"/>
                      <a:gd name="T7" fmla="*/ 6 h 25"/>
                      <a:gd name="T8" fmla="*/ 22 w 55"/>
                      <a:gd name="T9" fmla="*/ 4 h 25"/>
                      <a:gd name="T10" fmla="*/ 25 w 55"/>
                      <a:gd name="T11" fmla="*/ 2 h 25"/>
                      <a:gd name="T12" fmla="*/ 28 w 55"/>
                      <a:gd name="T13" fmla="*/ 1 h 25"/>
                      <a:gd name="T14" fmla="*/ 31 w 55"/>
                      <a:gd name="T15" fmla="*/ 0 h 25"/>
                      <a:gd name="T16" fmla="*/ 34 w 55"/>
                      <a:gd name="T17" fmla="*/ 0 h 25"/>
                      <a:gd name="T18" fmla="*/ 38 w 55"/>
                      <a:gd name="T19" fmla="*/ 0 h 25"/>
                      <a:gd name="T20" fmla="*/ 41 w 55"/>
                      <a:gd name="T21" fmla="*/ 0 h 25"/>
                      <a:gd name="T22" fmla="*/ 42 w 55"/>
                      <a:gd name="T23" fmla="*/ 0 h 25"/>
                      <a:gd name="T24" fmla="*/ 46 w 55"/>
                      <a:gd name="T25" fmla="*/ 0 h 25"/>
                      <a:gd name="T26" fmla="*/ 47 w 55"/>
                      <a:gd name="T27" fmla="*/ 1 h 25"/>
                      <a:gd name="T28" fmla="*/ 50 w 55"/>
                      <a:gd name="T29" fmla="*/ 4 h 25"/>
                      <a:gd name="T30" fmla="*/ 52 w 55"/>
                      <a:gd name="T31" fmla="*/ 6 h 25"/>
                      <a:gd name="T32" fmla="*/ 53 w 55"/>
                      <a:gd name="T33" fmla="*/ 8 h 25"/>
                      <a:gd name="T34" fmla="*/ 54 w 55"/>
                      <a:gd name="T35" fmla="*/ 12 h 25"/>
                      <a:gd name="T36" fmla="*/ 53 w 55"/>
                      <a:gd name="T37" fmla="*/ 17 h 25"/>
                      <a:gd name="T38" fmla="*/ 52 w 55"/>
                      <a:gd name="T39" fmla="*/ 19 h 25"/>
                      <a:gd name="T40" fmla="*/ 50 w 55"/>
                      <a:gd name="T41" fmla="*/ 20 h 25"/>
                      <a:gd name="T42" fmla="*/ 46 w 55"/>
                      <a:gd name="T43" fmla="*/ 22 h 25"/>
                      <a:gd name="T44" fmla="*/ 42 w 55"/>
                      <a:gd name="T45" fmla="*/ 23 h 25"/>
                      <a:gd name="T46" fmla="*/ 38 w 55"/>
                      <a:gd name="T47" fmla="*/ 23 h 25"/>
                      <a:gd name="T48" fmla="*/ 34 w 55"/>
                      <a:gd name="T49" fmla="*/ 21 h 25"/>
                      <a:gd name="T50" fmla="*/ 28 w 55"/>
                      <a:gd name="T51" fmla="*/ 19 h 25"/>
                      <a:gd name="T52" fmla="*/ 24 w 55"/>
                      <a:gd name="T53" fmla="*/ 19 h 25"/>
                      <a:gd name="T54" fmla="*/ 18 w 55"/>
                      <a:gd name="T55" fmla="*/ 19 h 25"/>
                      <a:gd name="T56" fmla="*/ 11 w 55"/>
                      <a:gd name="T57" fmla="*/ 20 h 25"/>
                      <a:gd name="T58" fmla="*/ 0 w 55"/>
                      <a:gd name="T59" fmla="*/ 24 h 25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5"/>
                      <a:gd name="T91" fmla="*/ 0 h 25"/>
                      <a:gd name="T92" fmla="*/ 55 w 55"/>
                      <a:gd name="T93" fmla="*/ 25 h 25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5" h="25">
                        <a:moveTo>
                          <a:pt x="0" y="24"/>
                        </a:moveTo>
                        <a:lnTo>
                          <a:pt x="13" y="10"/>
                        </a:lnTo>
                        <a:lnTo>
                          <a:pt x="17" y="7"/>
                        </a:lnTo>
                        <a:lnTo>
                          <a:pt x="19" y="6"/>
                        </a:lnTo>
                        <a:lnTo>
                          <a:pt x="22" y="4"/>
                        </a:lnTo>
                        <a:lnTo>
                          <a:pt x="25" y="2"/>
                        </a:lnTo>
                        <a:lnTo>
                          <a:pt x="28" y="1"/>
                        </a:lnTo>
                        <a:lnTo>
                          <a:pt x="31" y="0"/>
                        </a:lnTo>
                        <a:lnTo>
                          <a:pt x="34" y="0"/>
                        </a:lnTo>
                        <a:lnTo>
                          <a:pt x="38" y="0"/>
                        </a:lnTo>
                        <a:lnTo>
                          <a:pt x="41" y="0"/>
                        </a:lnTo>
                        <a:lnTo>
                          <a:pt x="42" y="0"/>
                        </a:lnTo>
                        <a:lnTo>
                          <a:pt x="46" y="0"/>
                        </a:lnTo>
                        <a:lnTo>
                          <a:pt x="47" y="1"/>
                        </a:lnTo>
                        <a:lnTo>
                          <a:pt x="50" y="4"/>
                        </a:lnTo>
                        <a:lnTo>
                          <a:pt x="52" y="6"/>
                        </a:lnTo>
                        <a:lnTo>
                          <a:pt x="53" y="8"/>
                        </a:lnTo>
                        <a:lnTo>
                          <a:pt x="54" y="12"/>
                        </a:lnTo>
                        <a:lnTo>
                          <a:pt x="53" y="17"/>
                        </a:lnTo>
                        <a:lnTo>
                          <a:pt x="52" y="19"/>
                        </a:lnTo>
                        <a:lnTo>
                          <a:pt x="50" y="20"/>
                        </a:lnTo>
                        <a:lnTo>
                          <a:pt x="46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4" y="21"/>
                        </a:lnTo>
                        <a:lnTo>
                          <a:pt x="28" y="19"/>
                        </a:lnTo>
                        <a:lnTo>
                          <a:pt x="24" y="19"/>
                        </a:lnTo>
                        <a:lnTo>
                          <a:pt x="18" y="19"/>
                        </a:lnTo>
                        <a:lnTo>
                          <a:pt x="11" y="20"/>
                        </a:lnTo>
                        <a:lnTo>
                          <a:pt x="0" y="2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77" name="Freeform 24">
                    <a:extLst>
                      <a:ext uri="{FF2B5EF4-FFF2-40B4-BE49-F238E27FC236}">
                        <a16:creationId xmlns:a16="http://schemas.microsoft.com/office/drawing/2014/main" id="{84F1197A-1BD7-4FF8-A569-6AB1644C648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90" y="1901"/>
                    <a:ext cx="36" cy="23"/>
                  </a:xfrm>
                  <a:custGeom>
                    <a:avLst/>
                    <a:gdLst>
                      <a:gd name="T0" fmla="*/ 35 w 36"/>
                      <a:gd name="T1" fmla="*/ 22 h 23"/>
                      <a:gd name="T2" fmla="*/ 25 w 36"/>
                      <a:gd name="T3" fmla="*/ 9 h 23"/>
                      <a:gd name="T4" fmla="*/ 24 w 36"/>
                      <a:gd name="T5" fmla="*/ 6 h 23"/>
                      <a:gd name="T6" fmla="*/ 22 w 36"/>
                      <a:gd name="T7" fmla="*/ 5 h 23"/>
                      <a:gd name="T8" fmla="*/ 21 w 36"/>
                      <a:gd name="T9" fmla="*/ 4 h 23"/>
                      <a:gd name="T10" fmla="*/ 18 w 36"/>
                      <a:gd name="T11" fmla="*/ 1 h 23"/>
                      <a:gd name="T12" fmla="*/ 15 w 36"/>
                      <a:gd name="T13" fmla="*/ 1 h 23"/>
                      <a:gd name="T14" fmla="*/ 14 w 36"/>
                      <a:gd name="T15" fmla="*/ 1 h 23"/>
                      <a:gd name="T16" fmla="*/ 13 w 36"/>
                      <a:gd name="T17" fmla="*/ 0 h 23"/>
                      <a:gd name="T18" fmla="*/ 10 w 36"/>
                      <a:gd name="T19" fmla="*/ 0 h 23"/>
                      <a:gd name="T20" fmla="*/ 9 w 36"/>
                      <a:gd name="T21" fmla="*/ 0 h 23"/>
                      <a:gd name="T22" fmla="*/ 7 w 36"/>
                      <a:gd name="T23" fmla="*/ 0 h 23"/>
                      <a:gd name="T24" fmla="*/ 5 w 36"/>
                      <a:gd name="T25" fmla="*/ 1 h 23"/>
                      <a:gd name="T26" fmla="*/ 3 w 36"/>
                      <a:gd name="T27" fmla="*/ 1 h 23"/>
                      <a:gd name="T28" fmla="*/ 1 w 36"/>
                      <a:gd name="T29" fmla="*/ 3 h 23"/>
                      <a:gd name="T30" fmla="*/ 1 w 36"/>
                      <a:gd name="T31" fmla="*/ 5 h 23"/>
                      <a:gd name="T32" fmla="*/ 0 w 36"/>
                      <a:gd name="T33" fmla="*/ 6 h 23"/>
                      <a:gd name="T34" fmla="*/ 0 w 36"/>
                      <a:gd name="T35" fmla="*/ 12 h 23"/>
                      <a:gd name="T36" fmla="*/ 0 w 36"/>
                      <a:gd name="T37" fmla="*/ 15 h 23"/>
                      <a:gd name="T38" fmla="*/ 1 w 36"/>
                      <a:gd name="T39" fmla="*/ 16 h 23"/>
                      <a:gd name="T40" fmla="*/ 1 w 36"/>
                      <a:gd name="T41" fmla="*/ 19 h 23"/>
                      <a:gd name="T42" fmla="*/ 5 w 36"/>
                      <a:gd name="T43" fmla="*/ 19 h 23"/>
                      <a:gd name="T44" fmla="*/ 7 w 36"/>
                      <a:gd name="T45" fmla="*/ 19 h 23"/>
                      <a:gd name="T46" fmla="*/ 10 w 36"/>
                      <a:gd name="T47" fmla="*/ 19 h 23"/>
                      <a:gd name="T48" fmla="*/ 13 w 36"/>
                      <a:gd name="T49" fmla="*/ 19 h 23"/>
                      <a:gd name="T50" fmla="*/ 15 w 36"/>
                      <a:gd name="T51" fmla="*/ 18 h 23"/>
                      <a:gd name="T52" fmla="*/ 19 w 36"/>
                      <a:gd name="T53" fmla="*/ 18 h 23"/>
                      <a:gd name="T54" fmla="*/ 23 w 36"/>
                      <a:gd name="T55" fmla="*/ 18 h 23"/>
                      <a:gd name="T56" fmla="*/ 28 w 36"/>
                      <a:gd name="T57" fmla="*/ 19 h 23"/>
                      <a:gd name="T58" fmla="*/ 35 w 36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6"/>
                      <a:gd name="T91" fmla="*/ 0 h 23"/>
                      <a:gd name="T92" fmla="*/ 36 w 36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6" h="23">
                        <a:moveTo>
                          <a:pt x="35" y="22"/>
                        </a:moveTo>
                        <a:lnTo>
                          <a:pt x="25" y="9"/>
                        </a:lnTo>
                        <a:lnTo>
                          <a:pt x="24" y="6"/>
                        </a:lnTo>
                        <a:lnTo>
                          <a:pt x="22" y="5"/>
                        </a:lnTo>
                        <a:lnTo>
                          <a:pt x="21" y="4"/>
                        </a:lnTo>
                        <a:lnTo>
                          <a:pt x="18" y="1"/>
                        </a:lnTo>
                        <a:lnTo>
                          <a:pt x="15" y="1"/>
                        </a:lnTo>
                        <a:lnTo>
                          <a:pt x="14" y="1"/>
                        </a:lnTo>
                        <a:lnTo>
                          <a:pt x="13" y="0"/>
                        </a:lnTo>
                        <a:lnTo>
                          <a:pt x="10" y="0"/>
                        </a:lnTo>
                        <a:lnTo>
                          <a:pt x="9" y="0"/>
                        </a:lnTo>
                        <a:lnTo>
                          <a:pt x="7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2"/>
                        </a:lnTo>
                        <a:lnTo>
                          <a:pt x="0" y="15"/>
                        </a:lnTo>
                        <a:lnTo>
                          <a:pt x="1" y="16"/>
                        </a:lnTo>
                        <a:lnTo>
                          <a:pt x="1" y="19"/>
                        </a:lnTo>
                        <a:lnTo>
                          <a:pt x="5" y="19"/>
                        </a:lnTo>
                        <a:lnTo>
                          <a:pt x="7" y="19"/>
                        </a:lnTo>
                        <a:lnTo>
                          <a:pt x="10" y="19"/>
                        </a:lnTo>
                        <a:lnTo>
                          <a:pt x="13" y="19"/>
                        </a:lnTo>
                        <a:lnTo>
                          <a:pt x="15" y="18"/>
                        </a:lnTo>
                        <a:lnTo>
                          <a:pt x="19" y="18"/>
                        </a:lnTo>
                        <a:lnTo>
                          <a:pt x="23" y="18"/>
                        </a:lnTo>
                        <a:lnTo>
                          <a:pt x="28" y="19"/>
                        </a:lnTo>
                        <a:lnTo>
                          <a:pt x="35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78" name="Freeform 25">
                    <a:extLst>
                      <a:ext uri="{FF2B5EF4-FFF2-40B4-BE49-F238E27FC236}">
                        <a16:creationId xmlns:a16="http://schemas.microsoft.com/office/drawing/2014/main" id="{10BE0FEE-1E2C-4CB4-8DC9-5AE99780E9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31" y="1788"/>
                    <a:ext cx="59" cy="44"/>
                  </a:xfrm>
                  <a:custGeom>
                    <a:avLst/>
                    <a:gdLst>
                      <a:gd name="T0" fmla="*/ 0 w 59"/>
                      <a:gd name="T1" fmla="*/ 43 h 44"/>
                      <a:gd name="T2" fmla="*/ 2 w 59"/>
                      <a:gd name="T3" fmla="*/ 37 h 44"/>
                      <a:gd name="T4" fmla="*/ 4 w 59"/>
                      <a:gd name="T5" fmla="*/ 28 h 44"/>
                      <a:gd name="T6" fmla="*/ 8 w 59"/>
                      <a:gd name="T7" fmla="*/ 22 h 44"/>
                      <a:gd name="T8" fmla="*/ 12 w 59"/>
                      <a:gd name="T9" fmla="*/ 15 h 44"/>
                      <a:gd name="T10" fmla="*/ 16 w 59"/>
                      <a:gd name="T11" fmla="*/ 9 h 44"/>
                      <a:gd name="T12" fmla="*/ 19 w 59"/>
                      <a:gd name="T13" fmla="*/ 6 h 44"/>
                      <a:gd name="T14" fmla="*/ 24 w 59"/>
                      <a:gd name="T15" fmla="*/ 3 h 44"/>
                      <a:gd name="T16" fmla="*/ 29 w 59"/>
                      <a:gd name="T17" fmla="*/ 1 h 44"/>
                      <a:gd name="T18" fmla="*/ 33 w 59"/>
                      <a:gd name="T19" fmla="*/ 0 h 44"/>
                      <a:gd name="T20" fmla="*/ 39 w 59"/>
                      <a:gd name="T21" fmla="*/ 0 h 44"/>
                      <a:gd name="T22" fmla="*/ 45 w 59"/>
                      <a:gd name="T23" fmla="*/ 0 h 44"/>
                      <a:gd name="T24" fmla="*/ 51 w 59"/>
                      <a:gd name="T25" fmla="*/ 0 h 44"/>
                      <a:gd name="T26" fmla="*/ 53 w 59"/>
                      <a:gd name="T27" fmla="*/ 2 h 44"/>
                      <a:gd name="T28" fmla="*/ 56 w 59"/>
                      <a:gd name="T29" fmla="*/ 3 h 44"/>
                      <a:gd name="T30" fmla="*/ 56 w 59"/>
                      <a:gd name="T31" fmla="*/ 5 h 44"/>
                      <a:gd name="T32" fmla="*/ 58 w 59"/>
                      <a:gd name="T33" fmla="*/ 7 h 44"/>
                      <a:gd name="T34" fmla="*/ 58 w 59"/>
                      <a:gd name="T35" fmla="*/ 9 h 44"/>
                      <a:gd name="T36" fmla="*/ 58 w 59"/>
                      <a:gd name="T37" fmla="*/ 13 h 44"/>
                      <a:gd name="T38" fmla="*/ 56 w 59"/>
                      <a:gd name="T39" fmla="*/ 17 h 44"/>
                      <a:gd name="T40" fmla="*/ 55 w 59"/>
                      <a:gd name="T41" fmla="*/ 19 h 44"/>
                      <a:gd name="T42" fmla="*/ 53 w 59"/>
                      <a:gd name="T43" fmla="*/ 20 h 44"/>
                      <a:gd name="T44" fmla="*/ 51 w 59"/>
                      <a:gd name="T45" fmla="*/ 20 h 44"/>
                      <a:gd name="T46" fmla="*/ 48 w 59"/>
                      <a:gd name="T47" fmla="*/ 22 h 44"/>
                      <a:gd name="T48" fmla="*/ 45 w 59"/>
                      <a:gd name="T49" fmla="*/ 22 h 44"/>
                      <a:gd name="T50" fmla="*/ 42 w 59"/>
                      <a:gd name="T51" fmla="*/ 23 h 44"/>
                      <a:gd name="T52" fmla="*/ 38 w 59"/>
                      <a:gd name="T53" fmla="*/ 23 h 44"/>
                      <a:gd name="T54" fmla="*/ 35 w 59"/>
                      <a:gd name="T55" fmla="*/ 22 h 44"/>
                      <a:gd name="T56" fmla="*/ 31 w 59"/>
                      <a:gd name="T57" fmla="*/ 22 h 44"/>
                      <a:gd name="T58" fmla="*/ 26 w 59"/>
                      <a:gd name="T59" fmla="*/ 23 h 44"/>
                      <a:gd name="T60" fmla="*/ 22 w 59"/>
                      <a:gd name="T61" fmla="*/ 24 h 44"/>
                      <a:gd name="T62" fmla="*/ 19 w 59"/>
                      <a:gd name="T63" fmla="*/ 27 h 44"/>
                      <a:gd name="T64" fmla="*/ 15 w 59"/>
                      <a:gd name="T65" fmla="*/ 28 h 44"/>
                      <a:gd name="T66" fmla="*/ 10 w 59"/>
                      <a:gd name="T67" fmla="*/ 33 h 44"/>
                      <a:gd name="T68" fmla="*/ 5 w 59"/>
                      <a:gd name="T69" fmla="*/ 35 h 44"/>
                      <a:gd name="T70" fmla="*/ 4 w 59"/>
                      <a:gd name="T71" fmla="*/ 38 h 44"/>
                      <a:gd name="T72" fmla="*/ 0 w 59"/>
                      <a:gd name="T73" fmla="*/ 43 h 44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9"/>
                      <a:gd name="T112" fmla="*/ 0 h 44"/>
                      <a:gd name="T113" fmla="*/ 59 w 59"/>
                      <a:gd name="T114" fmla="*/ 44 h 44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9" h="44">
                        <a:moveTo>
                          <a:pt x="0" y="43"/>
                        </a:moveTo>
                        <a:lnTo>
                          <a:pt x="2" y="37"/>
                        </a:lnTo>
                        <a:lnTo>
                          <a:pt x="4" y="28"/>
                        </a:lnTo>
                        <a:lnTo>
                          <a:pt x="8" y="22"/>
                        </a:lnTo>
                        <a:lnTo>
                          <a:pt x="12" y="15"/>
                        </a:lnTo>
                        <a:lnTo>
                          <a:pt x="16" y="9"/>
                        </a:lnTo>
                        <a:lnTo>
                          <a:pt x="19" y="6"/>
                        </a:lnTo>
                        <a:lnTo>
                          <a:pt x="24" y="3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9" y="0"/>
                        </a:lnTo>
                        <a:lnTo>
                          <a:pt x="45" y="0"/>
                        </a:ln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6" y="3"/>
                        </a:lnTo>
                        <a:lnTo>
                          <a:pt x="56" y="5"/>
                        </a:lnTo>
                        <a:lnTo>
                          <a:pt x="58" y="7"/>
                        </a:lnTo>
                        <a:lnTo>
                          <a:pt x="58" y="9"/>
                        </a:lnTo>
                        <a:lnTo>
                          <a:pt x="58" y="13"/>
                        </a:lnTo>
                        <a:lnTo>
                          <a:pt x="56" y="17"/>
                        </a:lnTo>
                        <a:lnTo>
                          <a:pt x="55" y="19"/>
                        </a:lnTo>
                        <a:lnTo>
                          <a:pt x="53" y="20"/>
                        </a:lnTo>
                        <a:lnTo>
                          <a:pt x="51" y="20"/>
                        </a:lnTo>
                        <a:lnTo>
                          <a:pt x="48" y="22"/>
                        </a:lnTo>
                        <a:lnTo>
                          <a:pt x="45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5" y="22"/>
                        </a:lnTo>
                        <a:lnTo>
                          <a:pt x="31" y="22"/>
                        </a:lnTo>
                        <a:lnTo>
                          <a:pt x="26" y="23"/>
                        </a:lnTo>
                        <a:lnTo>
                          <a:pt x="22" y="24"/>
                        </a:lnTo>
                        <a:lnTo>
                          <a:pt x="19" y="27"/>
                        </a:lnTo>
                        <a:lnTo>
                          <a:pt x="15" y="28"/>
                        </a:lnTo>
                        <a:lnTo>
                          <a:pt x="10" y="33"/>
                        </a:lnTo>
                        <a:lnTo>
                          <a:pt x="5" y="35"/>
                        </a:lnTo>
                        <a:lnTo>
                          <a:pt x="4" y="38"/>
                        </a:lnTo>
                        <a:lnTo>
                          <a:pt x="0" y="43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79" name="Freeform 26">
                    <a:extLst>
                      <a:ext uri="{FF2B5EF4-FFF2-40B4-BE49-F238E27FC236}">
                        <a16:creationId xmlns:a16="http://schemas.microsoft.com/office/drawing/2014/main" id="{4B1666E5-7CA7-45B9-A155-3A978E9EA5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62" y="1794"/>
                    <a:ext cx="62" cy="45"/>
                  </a:xfrm>
                  <a:custGeom>
                    <a:avLst/>
                    <a:gdLst>
                      <a:gd name="T0" fmla="*/ 61 w 62"/>
                      <a:gd name="T1" fmla="*/ 44 h 45"/>
                      <a:gd name="T2" fmla="*/ 57 w 62"/>
                      <a:gd name="T3" fmla="*/ 38 h 45"/>
                      <a:gd name="T4" fmla="*/ 55 w 62"/>
                      <a:gd name="T5" fmla="*/ 29 h 45"/>
                      <a:gd name="T6" fmla="*/ 53 w 62"/>
                      <a:gd name="T7" fmla="*/ 22 h 45"/>
                      <a:gd name="T8" fmla="*/ 48 w 62"/>
                      <a:gd name="T9" fmla="*/ 16 h 45"/>
                      <a:gd name="T10" fmla="*/ 42 w 62"/>
                      <a:gd name="T11" fmla="*/ 11 h 45"/>
                      <a:gd name="T12" fmla="*/ 39 w 62"/>
                      <a:gd name="T13" fmla="*/ 7 h 45"/>
                      <a:gd name="T14" fmla="*/ 35 w 62"/>
                      <a:gd name="T15" fmla="*/ 4 h 45"/>
                      <a:gd name="T16" fmla="*/ 30 w 62"/>
                      <a:gd name="T17" fmla="*/ 2 h 45"/>
                      <a:gd name="T18" fmla="*/ 24 w 62"/>
                      <a:gd name="T19" fmla="*/ 0 h 45"/>
                      <a:gd name="T20" fmla="*/ 18 w 62"/>
                      <a:gd name="T21" fmla="*/ 0 h 45"/>
                      <a:gd name="T22" fmla="*/ 12 w 62"/>
                      <a:gd name="T23" fmla="*/ 0 h 45"/>
                      <a:gd name="T24" fmla="*/ 6 w 62"/>
                      <a:gd name="T25" fmla="*/ 1 h 45"/>
                      <a:gd name="T26" fmla="*/ 4 w 62"/>
                      <a:gd name="T27" fmla="*/ 2 h 45"/>
                      <a:gd name="T28" fmla="*/ 0 w 62"/>
                      <a:gd name="T29" fmla="*/ 4 h 45"/>
                      <a:gd name="T30" fmla="*/ 0 w 62"/>
                      <a:gd name="T31" fmla="*/ 5 h 45"/>
                      <a:gd name="T32" fmla="*/ 0 w 62"/>
                      <a:gd name="T33" fmla="*/ 7 h 45"/>
                      <a:gd name="T34" fmla="*/ 0 w 62"/>
                      <a:gd name="T35" fmla="*/ 11 h 45"/>
                      <a:gd name="T36" fmla="*/ 0 w 62"/>
                      <a:gd name="T37" fmla="*/ 14 h 45"/>
                      <a:gd name="T38" fmla="*/ 0 w 62"/>
                      <a:gd name="T39" fmla="*/ 17 h 45"/>
                      <a:gd name="T40" fmla="*/ 3 w 62"/>
                      <a:gd name="T41" fmla="*/ 18 h 45"/>
                      <a:gd name="T42" fmla="*/ 4 w 62"/>
                      <a:gd name="T43" fmla="*/ 21 h 45"/>
                      <a:gd name="T44" fmla="*/ 6 w 62"/>
                      <a:gd name="T45" fmla="*/ 22 h 45"/>
                      <a:gd name="T46" fmla="*/ 10 w 62"/>
                      <a:gd name="T47" fmla="*/ 22 h 45"/>
                      <a:gd name="T48" fmla="*/ 12 w 62"/>
                      <a:gd name="T49" fmla="*/ 22 h 45"/>
                      <a:gd name="T50" fmla="*/ 16 w 62"/>
                      <a:gd name="T51" fmla="*/ 24 h 45"/>
                      <a:gd name="T52" fmla="*/ 18 w 62"/>
                      <a:gd name="T53" fmla="*/ 24 h 45"/>
                      <a:gd name="T54" fmla="*/ 23 w 62"/>
                      <a:gd name="T55" fmla="*/ 24 h 45"/>
                      <a:gd name="T56" fmla="*/ 26 w 62"/>
                      <a:gd name="T57" fmla="*/ 22 h 45"/>
                      <a:gd name="T58" fmla="*/ 32 w 62"/>
                      <a:gd name="T59" fmla="*/ 24 h 45"/>
                      <a:gd name="T60" fmla="*/ 36 w 62"/>
                      <a:gd name="T61" fmla="*/ 25 h 45"/>
                      <a:gd name="T62" fmla="*/ 41 w 62"/>
                      <a:gd name="T63" fmla="*/ 27 h 45"/>
                      <a:gd name="T64" fmla="*/ 44 w 62"/>
                      <a:gd name="T65" fmla="*/ 29 h 45"/>
                      <a:gd name="T66" fmla="*/ 49 w 62"/>
                      <a:gd name="T67" fmla="*/ 33 h 45"/>
                      <a:gd name="T68" fmla="*/ 53 w 62"/>
                      <a:gd name="T69" fmla="*/ 36 h 45"/>
                      <a:gd name="T70" fmla="*/ 55 w 62"/>
                      <a:gd name="T71" fmla="*/ 39 h 45"/>
                      <a:gd name="T72" fmla="*/ 61 w 62"/>
                      <a:gd name="T73" fmla="*/ 44 h 45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62"/>
                      <a:gd name="T112" fmla="*/ 0 h 45"/>
                      <a:gd name="T113" fmla="*/ 62 w 62"/>
                      <a:gd name="T114" fmla="*/ 45 h 45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62" h="45">
                        <a:moveTo>
                          <a:pt x="61" y="44"/>
                        </a:moveTo>
                        <a:lnTo>
                          <a:pt x="57" y="38"/>
                        </a:lnTo>
                        <a:lnTo>
                          <a:pt x="55" y="29"/>
                        </a:lnTo>
                        <a:lnTo>
                          <a:pt x="53" y="22"/>
                        </a:lnTo>
                        <a:lnTo>
                          <a:pt x="48" y="16"/>
                        </a:lnTo>
                        <a:lnTo>
                          <a:pt x="42" y="11"/>
                        </a:lnTo>
                        <a:lnTo>
                          <a:pt x="39" y="7"/>
                        </a:lnTo>
                        <a:lnTo>
                          <a:pt x="35" y="4"/>
                        </a:lnTo>
                        <a:lnTo>
                          <a:pt x="30" y="2"/>
                        </a:lnTo>
                        <a:lnTo>
                          <a:pt x="24" y="0"/>
                        </a:lnTo>
                        <a:lnTo>
                          <a:pt x="18" y="0"/>
                        </a:lnTo>
                        <a:lnTo>
                          <a:pt x="12" y="0"/>
                        </a:lnTo>
                        <a:lnTo>
                          <a:pt x="6" y="1"/>
                        </a:lnTo>
                        <a:lnTo>
                          <a:pt x="4" y="2"/>
                        </a:lnTo>
                        <a:lnTo>
                          <a:pt x="0" y="4"/>
                        </a:lnTo>
                        <a:lnTo>
                          <a:pt x="0" y="5"/>
                        </a:lnTo>
                        <a:lnTo>
                          <a:pt x="0" y="7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0" y="17"/>
                        </a:lnTo>
                        <a:lnTo>
                          <a:pt x="3" y="18"/>
                        </a:lnTo>
                        <a:lnTo>
                          <a:pt x="4" y="21"/>
                        </a:lnTo>
                        <a:lnTo>
                          <a:pt x="6" y="22"/>
                        </a:lnTo>
                        <a:lnTo>
                          <a:pt x="10" y="22"/>
                        </a:lnTo>
                        <a:lnTo>
                          <a:pt x="12" y="22"/>
                        </a:lnTo>
                        <a:lnTo>
                          <a:pt x="16" y="24"/>
                        </a:lnTo>
                        <a:lnTo>
                          <a:pt x="18" y="24"/>
                        </a:lnTo>
                        <a:lnTo>
                          <a:pt x="23" y="24"/>
                        </a:lnTo>
                        <a:lnTo>
                          <a:pt x="26" y="22"/>
                        </a:lnTo>
                        <a:lnTo>
                          <a:pt x="32" y="24"/>
                        </a:lnTo>
                        <a:lnTo>
                          <a:pt x="36" y="25"/>
                        </a:lnTo>
                        <a:lnTo>
                          <a:pt x="41" y="27"/>
                        </a:lnTo>
                        <a:lnTo>
                          <a:pt x="44" y="29"/>
                        </a:lnTo>
                        <a:lnTo>
                          <a:pt x="49" y="33"/>
                        </a:lnTo>
                        <a:lnTo>
                          <a:pt x="53" y="36"/>
                        </a:lnTo>
                        <a:lnTo>
                          <a:pt x="55" y="39"/>
                        </a:lnTo>
                        <a:lnTo>
                          <a:pt x="61" y="4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</p:grpSp>
          </p:grpSp>
        </p:grpSp>
        <p:grpSp>
          <p:nvGrpSpPr>
            <p:cNvPr id="23560" name="Group 40">
              <a:extLst>
                <a:ext uri="{FF2B5EF4-FFF2-40B4-BE49-F238E27FC236}">
                  <a16:creationId xmlns:a16="http://schemas.microsoft.com/office/drawing/2014/main" id="{502C1DAA-982F-4E4F-929E-C8F98D059D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3" y="1170"/>
              <a:ext cx="1753" cy="1692"/>
              <a:chOff x="3683" y="1170"/>
              <a:chExt cx="1753" cy="1692"/>
            </a:xfrm>
          </p:grpSpPr>
          <p:sp>
            <p:nvSpPr>
              <p:cNvPr id="23562" name="Oval 30">
                <a:extLst>
                  <a:ext uri="{FF2B5EF4-FFF2-40B4-BE49-F238E27FC236}">
                    <a16:creationId xmlns:a16="http://schemas.microsoft.com/office/drawing/2014/main" id="{1565BAB2-304F-46D6-B387-20A0D8A6E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1170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9" tIns="45714" rIns="91429" bIns="45714" anchor="ctr"/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14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563" name="Group 39">
                <a:extLst>
                  <a:ext uri="{FF2B5EF4-FFF2-40B4-BE49-F238E27FC236}">
                    <a16:creationId xmlns:a16="http://schemas.microsoft.com/office/drawing/2014/main" id="{143E79DC-BB44-433F-AA46-EC583A8054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45" y="1428"/>
                <a:ext cx="1229" cy="1177"/>
                <a:chOff x="3945" y="1428"/>
                <a:chExt cx="1229" cy="1177"/>
              </a:xfrm>
            </p:grpSpPr>
            <p:grpSp>
              <p:nvGrpSpPr>
                <p:cNvPr id="23564" name="Group 33">
                  <a:extLst>
                    <a:ext uri="{FF2B5EF4-FFF2-40B4-BE49-F238E27FC236}">
                      <a16:creationId xmlns:a16="http://schemas.microsoft.com/office/drawing/2014/main" id="{66512632-686B-498A-AE63-2C5AE9A3CE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45" y="1525"/>
                  <a:ext cx="1229" cy="1080"/>
                  <a:chOff x="3945" y="1525"/>
                  <a:chExt cx="1229" cy="1080"/>
                </a:xfrm>
              </p:grpSpPr>
              <p:pic>
                <p:nvPicPr>
                  <p:cNvPr id="23570" name="Picture 31">
                    <a:extLst>
                      <a:ext uri="{FF2B5EF4-FFF2-40B4-BE49-F238E27FC236}">
                        <a16:creationId xmlns:a16="http://schemas.microsoft.com/office/drawing/2014/main" id="{028854E4-1FDA-4395-938F-0C65EA7FC542}"/>
                      </a:ext>
                    </a:extLst>
                  </p:cNvPr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945" y="1525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3571" name="AutoShape 32">
                    <a:extLst>
                      <a:ext uri="{FF2B5EF4-FFF2-40B4-BE49-F238E27FC236}">
                        <a16:creationId xmlns:a16="http://schemas.microsoft.com/office/drawing/2014/main" id="{207EB77B-EBA9-447E-8266-99061764B5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252" y="1683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1429" tIns="45714" rIns="91429" bIns="45714" anchor="ctr"/>
                  <a:lstStyle>
                    <a:lvl1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 sz="1814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565" name="Group 38">
                  <a:extLst>
                    <a:ext uri="{FF2B5EF4-FFF2-40B4-BE49-F238E27FC236}">
                      <a16:creationId xmlns:a16="http://schemas.microsoft.com/office/drawing/2014/main" id="{A1910A79-0A20-4A3A-A527-5F157A8EDC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95" y="1428"/>
                  <a:ext cx="467" cy="125"/>
                  <a:chOff x="4595" y="1428"/>
                  <a:chExt cx="467" cy="125"/>
                </a:xfrm>
              </p:grpSpPr>
              <p:sp>
                <p:nvSpPr>
                  <p:cNvPr id="23566" name="Freeform 34">
                    <a:extLst>
                      <a:ext uri="{FF2B5EF4-FFF2-40B4-BE49-F238E27FC236}">
                        <a16:creationId xmlns:a16="http://schemas.microsoft.com/office/drawing/2014/main" id="{5E185FCF-BA67-407F-B978-B656A9C4D2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12" y="1509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67" name="Freeform 35">
                    <a:extLst>
                      <a:ext uri="{FF2B5EF4-FFF2-40B4-BE49-F238E27FC236}">
                        <a16:creationId xmlns:a16="http://schemas.microsoft.com/office/drawing/2014/main" id="{878C23D6-5C41-4FE5-A33C-04A5C1571F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95" y="1531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68" name="Freeform 36">
                    <a:extLst>
                      <a:ext uri="{FF2B5EF4-FFF2-40B4-BE49-F238E27FC236}">
                        <a16:creationId xmlns:a16="http://schemas.microsoft.com/office/drawing/2014/main" id="{874BB8AF-7870-4A4C-A42F-FF554CED2C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03" y="1428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69" name="Freeform 37">
                    <a:extLst>
                      <a:ext uri="{FF2B5EF4-FFF2-40B4-BE49-F238E27FC236}">
                        <a16:creationId xmlns:a16="http://schemas.microsoft.com/office/drawing/2014/main" id="{78364900-3A0E-4D1E-BF40-94438DCD755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59" y="1434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</p:grpSp>
          </p:grpSp>
        </p:grpSp>
        <p:sp>
          <p:nvSpPr>
            <p:cNvPr id="23561" name="Line 41">
              <a:extLst>
                <a:ext uri="{FF2B5EF4-FFF2-40B4-BE49-F238E27FC236}">
                  <a16:creationId xmlns:a16="http://schemas.microsoft.com/office/drawing/2014/main" id="{244B1FA4-AEAC-4EFD-A20B-293C868B92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1943"/>
              <a:ext cx="5568" cy="2160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</p:grpSp>
      <p:sp>
        <p:nvSpPr>
          <p:cNvPr id="23557" name="Rectangle 43">
            <a:extLst>
              <a:ext uri="{FF2B5EF4-FFF2-40B4-BE49-F238E27FC236}">
                <a16:creationId xmlns:a16="http://schemas.microsoft.com/office/drawing/2014/main" id="{2DBF7F4D-B7B5-40CD-88C9-B4215284D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1" y="991081"/>
            <a:ext cx="7162560" cy="161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903" b="1">
                <a:solidFill>
                  <a:srgbClr val="B000B0"/>
                </a:solidFill>
                <a:ea typeface="MS Gothic" panose="020B0609070205080204" pitchFamily="49" charset="-128"/>
              </a:rPr>
              <a:t>A frontline-based problem solving approach </a:t>
            </a:r>
          </a:p>
          <a:p>
            <a:pPr>
              <a:spcBef>
                <a:spcPct val="50000"/>
              </a:spcBef>
            </a:pPr>
            <a:r>
              <a:rPr kumimoji="1" lang="en-US" altLang="ja-JP" sz="2721" b="1">
                <a:solidFill>
                  <a:srgbClr val="820082"/>
                </a:solidFill>
                <a:ea typeface="HG明朝B"/>
                <a:cs typeface="HG明朝B"/>
              </a:rPr>
              <a:t>Incremental but continuous progress</a:t>
            </a:r>
          </a:p>
        </p:txBody>
      </p:sp>
    </p:spTree>
    <p:extLst>
      <p:ext uri="{BB962C8B-B14F-4D97-AF65-F5344CB8AC3E}">
        <p14:creationId xmlns:p14="http://schemas.microsoft.com/office/powerpoint/2010/main" val="388975764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3B4E7E8-0C26-4313-93B5-50EB8C7D7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1" y="417961"/>
            <a:ext cx="2895840" cy="455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endParaRPr kumimoji="1" lang="en-US" altLang="en-US" sz="2358">
              <a:solidFill>
                <a:srgbClr val="000000"/>
              </a:solidFill>
            </a:endParaRPr>
          </a:p>
        </p:txBody>
      </p:sp>
      <p:grpSp>
        <p:nvGrpSpPr>
          <p:cNvPr id="24579" name="Group 12">
            <a:extLst>
              <a:ext uri="{FF2B5EF4-FFF2-40B4-BE49-F238E27FC236}">
                <a16:creationId xmlns:a16="http://schemas.microsoft.com/office/drawing/2014/main" id="{16B70414-1123-498D-97C2-7C8A7F6CFFC8}"/>
              </a:ext>
            </a:extLst>
          </p:cNvPr>
          <p:cNvGrpSpPr>
            <a:grpSpLocks/>
          </p:cNvGrpSpPr>
          <p:nvPr/>
        </p:nvGrpSpPr>
        <p:grpSpPr bwMode="auto">
          <a:xfrm>
            <a:off x="1441" y="1990440"/>
            <a:ext cx="9142560" cy="4867200"/>
            <a:chOff x="1" y="1254"/>
            <a:chExt cx="5759" cy="3066"/>
          </a:xfrm>
        </p:grpSpPr>
        <p:grpSp>
          <p:nvGrpSpPr>
            <p:cNvPr id="24607" name="Group 5">
              <a:extLst>
                <a:ext uri="{FF2B5EF4-FFF2-40B4-BE49-F238E27FC236}">
                  <a16:creationId xmlns:a16="http://schemas.microsoft.com/office/drawing/2014/main" id="{B7084EBC-E9A1-4EA0-8CB0-5601C91C46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688"/>
              <a:ext cx="1920" cy="816"/>
              <a:chOff x="3840" y="2688"/>
              <a:chExt cx="1920" cy="816"/>
            </a:xfrm>
          </p:grpSpPr>
          <p:sp>
            <p:nvSpPr>
              <p:cNvPr id="24614" name="Freeform 3">
                <a:extLst>
                  <a:ext uri="{FF2B5EF4-FFF2-40B4-BE49-F238E27FC236}">
                    <a16:creationId xmlns:a16="http://schemas.microsoft.com/office/drawing/2014/main" id="{0A16C013-782C-4192-86C5-B34C5F29DC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0" y="2688"/>
                <a:ext cx="1920" cy="816"/>
              </a:xfrm>
              <a:custGeom>
                <a:avLst/>
                <a:gdLst>
                  <a:gd name="T0" fmla="*/ 1919 w 1920"/>
                  <a:gd name="T1" fmla="*/ 0 h 816"/>
                  <a:gd name="T2" fmla="*/ 1764 w 1920"/>
                  <a:gd name="T3" fmla="*/ 83 h 816"/>
                  <a:gd name="T4" fmla="*/ 1753 w 1920"/>
                  <a:gd name="T5" fmla="*/ 144 h 816"/>
                  <a:gd name="T6" fmla="*/ 1673 w 1920"/>
                  <a:gd name="T7" fmla="*/ 240 h 816"/>
                  <a:gd name="T8" fmla="*/ 1579 w 1920"/>
                  <a:gd name="T9" fmla="*/ 253 h 816"/>
                  <a:gd name="T10" fmla="*/ 1499 w 1920"/>
                  <a:gd name="T11" fmla="*/ 258 h 816"/>
                  <a:gd name="T12" fmla="*/ 1481 w 1920"/>
                  <a:gd name="T13" fmla="*/ 352 h 816"/>
                  <a:gd name="T14" fmla="*/ 1425 w 1920"/>
                  <a:gd name="T15" fmla="*/ 312 h 816"/>
                  <a:gd name="T16" fmla="*/ 1326 w 1920"/>
                  <a:gd name="T17" fmla="*/ 312 h 816"/>
                  <a:gd name="T18" fmla="*/ 1240 w 1920"/>
                  <a:gd name="T19" fmla="*/ 292 h 816"/>
                  <a:gd name="T20" fmla="*/ 1190 w 1920"/>
                  <a:gd name="T21" fmla="*/ 346 h 816"/>
                  <a:gd name="T22" fmla="*/ 1153 w 1920"/>
                  <a:gd name="T23" fmla="*/ 441 h 816"/>
                  <a:gd name="T24" fmla="*/ 1129 w 1920"/>
                  <a:gd name="T25" fmla="*/ 401 h 816"/>
                  <a:gd name="T26" fmla="*/ 1079 w 1920"/>
                  <a:gd name="T27" fmla="*/ 380 h 816"/>
                  <a:gd name="T28" fmla="*/ 950 w 1920"/>
                  <a:gd name="T29" fmla="*/ 552 h 816"/>
                  <a:gd name="T30" fmla="*/ 875 w 1920"/>
                  <a:gd name="T31" fmla="*/ 546 h 816"/>
                  <a:gd name="T32" fmla="*/ 770 w 1920"/>
                  <a:gd name="T33" fmla="*/ 598 h 816"/>
                  <a:gd name="T34" fmla="*/ 673 w 1920"/>
                  <a:gd name="T35" fmla="*/ 584 h 816"/>
                  <a:gd name="T36" fmla="*/ 585 w 1920"/>
                  <a:gd name="T37" fmla="*/ 530 h 816"/>
                  <a:gd name="T38" fmla="*/ 512 w 1920"/>
                  <a:gd name="T39" fmla="*/ 591 h 816"/>
                  <a:gd name="T40" fmla="*/ 412 w 1920"/>
                  <a:gd name="T41" fmla="*/ 584 h 816"/>
                  <a:gd name="T42" fmla="*/ 314 w 1920"/>
                  <a:gd name="T43" fmla="*/ 734 h 816"/>
                  <a:gd name="T44" fmla="*/ 215 w 1920"/>
                  <a:gd name="T45" fmla="*/ 732 h 816"/>
                  <a:gd name="T46" fmla="*/ 103 w 1920"/>
                  <a:gd name="T47" fmla="*/ 754 h 816"/>
                  <a:gd name="T48" fmla="*/ 31 w 1920"/>
                  <a:gd name="T49" fmla="*/ 797 h 816"/>
                  <a:gd name="T50" fmla="*/ 0 w 1920"/>
                  <a:gd name="T51" fmla="*/ 813 h 816"/>
                  <a:gd name="T52" fmla="*/ 1919 w 1920"/>
                  <a:gd name="T53" fmla="*/ 815 h 816"/>
                  <a:gd name="T54" fmla="*/ 1919 w 1920"/>
                  <a:gd name="T55" fmla="*/ 0 h 81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920"/>
                  <a:gd name="T85" fmla="*/ 0 h 816"/>
                  <a:gd name="T86" fmla="*/ 1920 w 1920"/>
                  <a:gd name="T87" fmla="*/ 816 h 81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920" h="816">
                    <a:moveTo>
                      <a:pt x="1919" y="0"/>
                    </a:moveTo>
                    <a:lnTo>
                      <a:pt x="1764" y="83"/>
                    </a:lnTo>
                    <a:lnTo>
                      <a:pt x="1753" y="144"/>
                    </a:lnTo>
                    <a:lnTo>
                      <a:pt x="1673" y="240"/>
                    </a:lnTo>
                    <a:lnTo>
                      <a:pt x="1579" y="253"/>
                    </a:lnTo>
                    <a:lnTo>
                      <a:pt x="1499" y="258"/>
                    </a:lnTo>
                    <a:lnTo>
                      <a:pt x="1481" y="352"/>
                    </a:lnTo>
                    <a:lnTo>
                      <a:pt x="1425" y="312"/>
                    </a:lnTo>
                    <a:lnTo>
                      <a:pt x="1326" y="312"/>
                    </a:lnTo>
                    <a:lnTo>
                      <a:pt x="1240" y="292"/>
                    </a:lnTo>
                    <a:lnTo>
                      <a:pt x="1190" y="346"/>
                    </a:lnTo>
                    <a:lnTo>
                      <a:pt x="1153" y="441"/>
                    </a:lnTo>
                    <a:lnTo>
                      <a:pt x="1129" y="401"/>
                    </a:lnTo>
                    <a:lnTo>
                      <a:pt x="1079" y="380"/>
                    </a:lnTo>
                    <a:lnTo>
                      <a:pt x="950" y="552"/>
                    </a:lnTo>
                    <a:lnTo>
                      <a:pt x="875" y="546"/>
                    </a:lnTo>
                    <a:lnTo>
                      <a:pt x="770" y="598"/>
                    </a:lnTo>
                    <a:lnTo>
                      <a:pt x="673" y="584"/>
                    </a:lnTo>
                    <a:lnTo>
                      <a:pt x="585" y="530"/>
                    </a:lnTo>
                    <a:lnTo>
                      <a:pt x="512" y="591"/>
                    </a:lnTo>
                    <a:lnTo>
                      <a:pt x="412" y="584"/>
                    </a:lnTo>
                    <a:lnTo>
                      <a:pt x="314" y="734"/>
                    </a:lnTo>
                    <a:lnTo>
                      <a:pt x="215" y="732"/>
                    </a:lnTo>
                    <a:lnTo>
                      <a:pt x="103" y="754"/>
                    </a:lnTo>
                    <a:lnTo>
                      <a:pt x="31" y="797"/>
                    </a:lnTo>
                    <a:lnTo>
                      <a:pt x="0" y="813"/>
                    </a:lnTo>
                    <a:lnTo>
                      <a:pt x="1919" y="815"/>
                    </a:lnTo>
                    <a:lnTo>
                      <a:pt x="1919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1429" tIns="45714" rIns="91429" bIns="45714"/>
              <a:lstStyle/>
              <a:p>
                <a:endParaRPr lang="en-US" sz="1633"/>
              </a:p>
            </p:txBody>
          </p:sp>
          <p:graphicFrame>
            <p:nvGraphicFramePr>
              <p:cNvPr id="24615" name="Object 4">
                <a:extLst>
                  <a:ext uri="{FF2B5EF4-FFF2-40B4-BE49-F238E27FC236}">
                    <a16:creationId xmlns:a16="http://schemas.microsoft.com/office/drawing/2014/main" id="{48528052-A283-4D37-A46B-02641C0ED375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540" y="269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69" name="ｸﾘｯﾌﾟ" r:id="rId4" imgW="2527911" imgH="3658757" progId="MS_ClipArt_Gallery.2">
                      <p:embed/>
                    </p:oleObj>
                  </mc:Choice>
                  <mc:Fallback>
                    <p:oleObj name="ｸﾘｯﾌﾟ" r:id="rId4" imgW="2527911" imgH="3658757" progId="MS_ClipArt_Gallery.2">
                      <p:embed/>
                      <p:pic>
                        <p:nvPicPr>
                          <p:cNvPr id="24615" name="Object 4">
                            <a:extLst>
                              <a:ext uri="{FF2B5EF4-FFF2-40B4-BE49-F238E27FC236}">
                                <a16:creationId xmlns:a16="http://schemas.microsoft.com/office/drawing/2014/main" id="{48528052-A283-4D37-A46B-02641C0ED375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40" y="269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608" name="Group 8">
              <a:extLst>
                <a:ext uri="{FF2B5EF4-FFF2-40B4-BE49-F238E27FC236}">
                  <a16:creationId xmlns:a16="http://schemas.microsoft.com/office/drawing/2014/main" id="{644A4197-6A11-4341-9602-BC959749C5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7" y="1254"/>
              <a:ext cx="1393" cy="763"/>
              <a:chOff x="4367" y="1254"/>
              <a:chExt cx="1393" cy="763"/>
            </a:xfrm>
          </p:grpSpPr>
          <p:sp>
            <p:nvSpPr>
              <p:cNvPr id="24612" name="Freeform 6">
                <a:extLst>
                  <a:ext uri="{FF2B5EF4-FFF2-40B4-BE49-F238E27FC236}">
                    <a16:creationId xmlns:a16="http://schemas.microsoft.com/office/drawing/2014/main" id="{6444E49D-093D-49A4-9B42-D36E6DD10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1344"/>
                <a:ext cx="1393" cy="673"/>
              </a:xfrm>
              <a:custGeom>
                <a:avLst/>
                <a:gdLst>
                  <a:gd name="T0" fmla="*/ 1392 w 1393"/>
                  <a:gd name="T1" fmla="*/ 0 h 673"/>
                  <a:gd name="T2" fmla="*/ 1279 w 1393"/>
                  <a:gd name="T3" fmla="*/ 69 h 673"/>
                  <a:gd name="T4" fmla="*/ 1271 w 1393"/>
                  <a:gd name="T5" fmla="*/ 119 h 673"/>
                  <a:gd name="T6" fmla="*/ 1213 w 1393"/>
                  <a:gd name="T7" fmla="*/ 198 h 673"/>
                  <a:gd name="T8" fmla="*/ 1145 w 1393"/>
                  <a:gd name="T9" fmla="*/ 209 h 673"/>
                  <a:gd name="T10" fmla="*/ 1088 w 1393"/>
                  <a:gd name="T11" fmla="*/ 213 h 673"/>
                  <a:gd name="T12" fmla="*/ 1074 w 1393"/>
                  <a:gd name="T13" fmla="*/ 290 h 673"/>
                  <a:gd name="T14" fmla="*/ 1033 w 1393"/>
                  <a:gd name="T15" fmla="*/ 257 h 673"/>
                  <a:gd name="T16" fmla="*/ 962 w 1393"/>
                  <a:gd name="T17" fmla="*/ 257 h 673"/>
                  <a:gd name="T18" fmla="*/ 899 w 1393"/>
                  <a:gd name="T19" fmla="*/ 241 h 673"/>
                  <a:gd name="T20" fmla="*/ 863 w 1393"/>
                  <a:gd name="T21" fmla="*/ 285 h 673"/>
                  <a:gd name="T22" fmla="*/ 836 w 1393"/>
                  <a:gd name="T23" fmla="*/ 364 h 673"/>
                  <a:gd name="T24" fmla="*/ 819 w 1393"/>
                  <a:gd name="T25" fmla="*/ 330 h 673"/>
                  <a:gd name="T26" fmla="*/ 783 w 1393"/>
                  <a:gd name="T27" fmla="*/ 314 h 673"/>
                  <a:gd name="T28" fmla="*/ 689 w 1393"/>
                  <a:gd name="T29" fmla="*/ 455 h 673"/>
                  <a:gd name="T30" fmla="*/ 635 w 1393"/>
                  <a:gd name="T31" fmla="*/ 450 h 673"/>
                  <a:gd name="T32" fmla="*/ 559 w 1393"/>
                  <a:gd name="T33" fmla="*/ 493 h 673"/>
                  <a:gd name="T34" fmla="*/ 488 w 1393"/>
                  <a:gd name="T35" fmla="*/ 482 h 673"/>
                  <a:gd name="T36" fmla="*/ 424 w 1393"/>
                  <a:gd name="T37" fmla="*/ 437 h 673"/>
                  <a:gd name="T38" fmla="*/ 371 w 1393"/>
                  <a:gd name="T39" fmla="*/ 487 h 673"/>
                  <a:gd name="T40" fmla="*/ 299 w 1393"/>
                  <a:gd name="T41" fmla="*/ 482 h 673"/>
                  <a:gd name="T42" fmla="*/ 227 w 1393"/>
                  <a:gd name="T43" fmla="*/ 605 h 673"/>
                  <a:gd name="T44" fmla="*/ 156 w 1393"/>
                  <a:gd name="T45" fmla="*/ 603 h 673"/>
                  <a:gd name="T46" fmla="*/ 75 w 1393"/>
                  <a:gd name="T47" fmla="*/ 622 h 673"/>
                  <a:gd name="T48" fmla="*/ 22 w 1393"/>
                  <a:gd name="T49" fmla="*/ 657 h 673"/>
                  <a:gd name="T50" fmla="*/ 0 w 1393"/>
                  <a:gd name="T51" fmla="*/ 671 h 673"/>
                  <a:gd name="T52" fmla="*/ 1392 w 1393"/>
                  <a:gd name="T53" fmla="*/ 672 h 673"/>
                  <a:gd name="T54" fmla="*/ 1392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1392" y="0"/>
                    </a:moveTo>
                    <a:lnTo>
                      <a:pt x="1279" y="69"/>
                    </a:lnTo>
                    <a:lnTo>
                      <a:pt x="1271" y="119"/>
                    </a:lnTo>
                    <a:lnTo>
                      <a:pt x="1213" y="198"/>
                    </a:lnTo>
                    <a:lnTo>
                      <a:pt x="1145" y="209"/>
                    </a:lnTo>
                    <a:lnTo>
                      <a:pt x="1088" y="213"/>
                    </a:lnTo>
                    <a:lnTo>
                      <a:pt x="1074" y="290"/>
                    </a:lnTo>
                    <a:lnTo>
                      <a:pt x="1033" y="257"/>
                    </a:lnTo>
                    <a:lnTo>
                      <a:pt x="962" y="257"/>
                    </a:lnTo>
                    <a:lnTo>
                      <a:pt x="899" y="241"/>
                    </a:lnTo>
                    <a:lnTo>
                      <a:pt x="863" y="285"/>
                    </a:lnTo>
                    <a:lnTo>
                      <a:pt x="836" y="364"/>
                    </a:lnTo>
                    <a:lnTo>
                      <a:pt x="819" y="330"/>
                    </a:lnTo>
                    <a:lnTo>
                      <a:pt x="783" y="314"/>
                    </a:lnTo>
                    <a:lnTo>
                      <a:pt x="689" y="455"/>
                    </a:lnTo>
                    <a:lnTo>
                      <a:pt x="635" y="450"/>
                    </a:lnTo>
                    <a:lnTo>
                      <a:pt x="559" y="493"/>
                    </a:lnTo>
                    <a:lnTo>
                      <a:pt x="488" y="482"/>
                    </a:lnTo>
                    <a:lnTo>
                      <a:pt x="424" y="437"/>
                    </a:lnTo>
                    <a:lnTo>
                      <a:pt x="371" y="487"/>
                    </a:lnTo>
                    <a:lnTo>
                      <a:pt x="299" y="482"/>
                    </a:lnTo>
                    <a:lnTo>
                      <a:pt x="227" y="605"/>
                    </a:lnTo>
                    <a:lnTo>
                      <a:pt x="156" y="603"/>
                    </a:lnTo>
                    <a:lnTo>
                      <a:pt x="75" y="622"/>
                    </a:lnTo>
                    <a:lnTo>
                      <a:pt x="22" y="657"/>
                    </a:lnTo>
                    <a:lnTo>
                      <a:pt x="0" y="671"/>
                    </a:lnTo>
                    <a:lnTo>
                      <a:pt x="1392" y="672"/>
                    </a:lnTo>
                    <a:lnTo>
                      <a:pt x="1392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1429" tIns="45714" rIns="91429" bIns="45714"/>
              <a:lstStyle/>
              <a:p>
                <a:endParaRPr lang="en-US" sz="1633"/>
              </a:p>
            </p:txBody>
          </p:sp>
          <p:graphicFrame>
            <p:nvGraphicFramePr>
              <p:cNvPr id="24613" name="Object 7">
                <a:extLst>
                  <a:ext uri="{FF2B5EF4-FFF2-40B4-BE49-F238E27FC236}">
                    <a16:creationId xmlns:a16="http://schemas.microsoft.com/office/drawing/2014/main" id="{4A943EDB-8A4F-4B4C-9F06-39D545050CC9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925" y="125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70" name="ｸﾘｯﾌﾟ" r:id="rId6" imgW="2527911" imgH="3658757" progId="MS_ClipArt_Gallery.2">
                      <p:embed/>
                    </p:oleObj>
                  </mc:Choice>
                  <mc:Fallback>
                    <p:oleObj name="ｸﾘｯﾌﾟ" r:id="rId6" imgW="2527911" imgH="3658757" progId="MS_ClipArt_Gallery.2">
                      <p:embed/>
                      <p:pic>
                        <p:nvPicPr>
                          <p:cNvPr id="24613" name="Object 7">
                            <a:extLst>
                              <a:ext uri="{FF2B5EF4-FFF2-40B4-BE49-F238E27FC236}">
                                <a16:creationId xmlns:a16="http://schemas.microsoft.com/office/drawing/2014/main" id="{4A943EDB-8A4F-4B4C-9F06-39D545050CC9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5" y="125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609" name="Group 11">
              <a:extLst>
                <a:ext uri="{FF2B5EF4-FFF2-40B4-BE49-F238E27FC236}">
                  <a16:creationId xmlns:a16="http://schemas.microsoft.com/office/drawing/2014/main" id="{56A559BE-F4C1-42D3-83EB-FFC86BF5D6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339"/>
              <a:ext cx="1393" cy="981"/>
              <a:chOff x="1" y="3339"/>
              <a:chExt cx="1393" cy="981"/>
            </a:xfrm>
          </p:grpSpPr>
          <p:sp>
            <p:nvSpPr>
              <p:cNvPr id="24610" name="Freeform 9">
                <a:extLst>
                  <a:ext uri="{FF2B5EF4-FFF2-40B4-BE49-F238E27FC236}">
                    <a16:creationId xmlns:a16="http://schemas.microsoft.com/office/drawing/2014/main" id="{215FCBE3-0102-4D59-B2A5-50E644B990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" y="3647"/>
                <a:ext cx="1393" cy="673"/>
              </a:xfrm>
              <a:custGeom>
                <a:avLst/>
                <a:gdLst>
                  <a:gd name="T0" fmla="*/ 0 w 1393"/>
                  <a:gd name="T1" fmla="*/ 0 h 673"/>
                  <a:gd name="T2" fmla="*/ 112 w 1393"/>
                  <a:gd name="T3" fmla="*/ 69 h 673"/>
                  <a:gd name="T4" fmla="*/ 120 w 1393"/>
                  <a:gd name="T5" fmla="*/ 120 h 673"/>
                  <a:gd name="T6" fmla="*/ 178 w 1393"/>
                  <a:gd name="T7" fmla="*/ 198 h 673"/>
                  <a:gd name="T8" fmla="*/ 246 w 1393"/>
                  <a:gd name="T9" fmla="*/ 209 h 673"/>
                  <a:gd name="T10" fmla="*/ 304 w 1393"/>
                  <a:gd name="T11" fmla="*/ 213 h 673"/>
                  <a:gd name="T12" fmla="*/ 318 w 1393"/>
                  <a:gd name="T13" fmla="*/ 291 h 673"/>
                  <a:gd name="T14" fmla="*/ 358 w 1393"/>
                  <a:gd name="T15" fmla="*/ 258 h 673"/>
                  <a:gd name="T16" fmla="*/ 430 w 1393"/>
                  <a:gd name="T17" fmla="*/ 258 h 673"/>
                  <a:gd name="T18" fmla="*/ 492 w 1393"/>
                  <a:gd name="T19" fmla="*/ 241 h 673"/>
                  <a:gd name="T20" fmla="*/ 528 w 1393"/>
                  <a:gd name="T21" fmla="*/ 286 h 673"/>
                  <a:gd name="T22" fmla="*/ 555 w 1393"/>
                  <a:gd name="T23" fmla="*/ 365 h 673"/>
                  <a:gd name="T24" fmla="*/ 573 w 1393"/>
                  <a:gd name="T25" fmla="*/ 331 h 673"/>
                  <a:gd name="T26" fmla="*/ 609 w 1393"/>
                  <a:gd name="T27" fmla="*/ 314 h 673"/>
                  <a:gd name="T28" fmla="*/ 703 w 1393"/>
                  <a:gd name="T29" fmla="*/ 456 h 673"/>
                  <a:gd name="T30" fmla="*/ 757 w 1393"/>
                  <a:gd name="T31" fmla="*/ 450 h 673"/>
                  <a:gd name="T32" fmla="*/ 833 w 1393"/>
                  <a:gd name="T33" fmla="*/ 493 h 673"/>
                  <a:gd name="T34" fmla="*/ 904 w 1393"/>
                  <a:gd name="T35" fmla="*/ 482 h 673"/>
                  <a:gd name="T36" fmla="*/ 968 w 1393"/>
                  <a:gd name="T37" fmla="*/ 437 h 673"/>
                  <a:gd name="T38" fmla="*/ 1020 w 1393"/>
                  <a:gd name="T39" fmla="*/ 488 h 673"/>
                  <a:gd name="T40" fmla="*/ 1093 w 1393"/>
                  <a:gd name="T41" fmla="*/ 482 h 673"/>
                  <a:gd name="T42" fmla="*/ 1164 w 1393"/>
                  <a:gd name="T43" fmla="*/ 606 h 673"/>
                  <a:gd name="T44" fmla="*/ 1235 w 1393"/>
                  <a:gd name="T45" fmla="*/ 604 h 673"/>
                  <a:gd name="T46" fmla="*/ 1317 w 1393"/>
                  <a:gd name="T47" fmla="*/ 622 h 673"/>
                  <a:gd name="T48" fmla="*/ 1369 w 1393"/>
                  <a:gd name="T49" fmla="*/ 658 h 673"/>
                  <a:gd name="T50" fmla="*/ 1392 w 1393"/>
                  <a:gd name="T51" fmla="*/ 671 h 673"/>
                  <a:gd name="T52" fmla="*/ 0 w 1393"/>
                  <a:gd name="T53" fmla="*/ 672 h 673"/>
                  <a:gd name="T54" fmla="*/ 0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0" y="0"/>
                    </a:moveTo>
                    <a:lnTo>
                      <a:pt x="112" y="69"/>
                    </a:lnTo>
                    <a:lnTo>
                      <a:pt x="120" y="120"/>
                    </a:lnTo>
                    <a:lnTo>
                      <a:pt x="178" y="198"/>
                    </a:lnTo>
                    <a:lnTo>
                      <a:pt x="246" y="209"/>
                    </a:lnTo>
                    <a:lnTo>
                      <a:pt x="304" y="213"/>
                    </a:lnTo>
                    <a:lnTo>
                      <a:pt x="318" y="291"/>
                    </a:lnTo>
                    <a:lnTo>
                      <a:pt x="358" y="258"/>
                    </a:lnTo>
                    <a:lnTo>
                      <a:pt x="430" y="258"/>
                    </a:lnTo>
                    <a:lnTo>
                      <a:pt x="492" y="241"/>
                    </a:lnTo>
                    <a:lnTo>
                      <a:pt x="528" y="286"/>
                    </a:lnTo>
                    <a:lnTo>
                      <a:pt x="555" y="365"/>
                    </a:lnTo>
                    <a:lnTo>
                      <a:pt x="573" y="331"/>
                    </a:lnTo>
                    <a:lnTo>
                      <a:pt x="609" y="314"/>
                    </a:lnTo>
                    <a:lnTo>
                      <a:pt x="703" y="456"/>
                    </a:lnTo>
                    <a:lnTo>
                      <a:pt x="757" y="450"/>
                    </a:lnTo>
                    <a:lnTo>
                      <a:pt x="833" y="493"/>
                    </a:lnTo>
                    <a:lnTo>
                      <a:pt x="904" y="482"/>
                    </a:lnTo>
                    <a:lnTo>
                      <a:pt x="968" y="437"/>
                    </a:lnTo>
                    <a:lnTo>
                      <a:pt x="1020" y="488"/>
                    </a:lnTo>
                    <a:lnTo>
                      <a:pt x="1093" y="482"/>
                    </a:lnTo>
                    <a:lnTo>
                      <a:pt x="1164" y="606"/>
                    </a:lnTo>
                    <a:lnTo>
                      <a:pt x="1235" y="604"/>
                    </a:lnTo>
                    <a:lnTo>
                      <a:pt x="1317" y="622"/>
                    </a:lnTo>
                    <a:lnTo>
                      <a:pt x="1369" y="658"/>
                    </a:lnTo>
                    <a:lnTo>
                      <a:pt x="1392" y="671"/>
                    </a:lnTo>
                    <a:lnTo>
                      <a:pt x="0" y="67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1429" tIns="45714" rIns="91429" bIns="45714"/>
              <a:lstStyle/>
              <a:p>
                <a:endParaRPr lang="en-US" sz="1633"/>
              </a:p>
            </p:txBody>
          </p:sp>
          <p:graphicFrame>
            <p:nvGraphicFramePr>
              <p:cNvPr id="24611" name="Object 10">
                <a:extLst>
                  <a:ext uri="{FF2B5EF4-FFF2-40B4-BE49-F238E27FC236}">
                    <a16:creationId xmlns:a16="http://schemas.microsoft.com/office/drawing/2014/main" id="{429D8178-1E67-47FB-908C-ADEBFF4DBF2F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68" y="3339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71" name="ｸﾘｯﾌﾟ" r:id="rId7" imgW="2527911" imgH="3658757" progId="MS_ClipArt_Gallery.2">
                      <p:embed/>
                    </p:oleObj>
                  </mc:Choice>
                  <mc:Fallback>
                    <p:oleObj name="ｸﾘｯﾌﾟ" r:id="rId7" imgW="2527911" imgH="3658757" progId="MS_ClipArt_Gallery.2">
                      <p:embed/>
                      <p:pic>
                        <p:nvPicPr>
                          <p:cNvPr id="24611" name="Object 10">
                            <a:extLst>
                              <a:ext uri="{FF2B5EF4-FFF2-40B4-BE49-F238E27FC236}">
                                <a16:creationId xmlns:a16="http://schemas.microsoft.com/office/drawing/2014/main" id="{429D8178-1E67-47FB-908C-ADEBFF4DBF2F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" y="3339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4349" name="Rectangle 13">
            <a:extLst>
              <a:ext uri="{FF2B5EF4-FFF2-40B4-BE49-F238E27FC236}">
                <a16:creationId xmlns:a16="http://schemas.microsoft.com/office/drawing/2014/main" id="{E5B280B4-DBB6-4729-B517-0967AF56B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1" y="265320"/>
            <a:ext cx="4932000" cy="83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/>
          <a:p>
            <a:pPr defTabSz="914414" eaLnBrk="0" hangingPunct="0">
              <a:spcBef>
                <a:spcPct val="50000"/>
              </a:spcBef>
              <a:defRPr/>
            </a:pPr>
            <a:r>
              <a:rPr kumimoji="1" lang="en-US" altLang="ja-JP" sz="4808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grpSp>
        <p:nvGrpSpPr>
          <p:cNvPr id="24581" name="Group 37">
            <a:extLst>
              <a:ext uri="{FF2B5EF4-FFF2-40B4-BE49-F238E27FC236}">
                <a16:creationId xmlns:a16="http://schemas.microsoft.com/office/drawing/2014/main" id="{09F0099C-D599-483E-9E11-71E0020969FB}"/>
              </a:ext>
            </a:extLst>
          </p:cNvPr>
          <p:cNvGrpSpPr>
            <a:grpSpLocks/>
          </p:cNvGrpSpPr>
          <p:nvPr/>
        </p:nvGrpSpPr>
        <p:grpSpPr bwMode="auto">
          <a:xfrm>
            <a:off x="28801" y="1309321"/>
            <a:ext cx="9059040" cy="4710240"/>
            <a:chOff x="18" y="825"/>
            <a:chExt cx="5707" cy="2967"/>
          </a:xfrm>
        </p:grpSpPr>
        <p:grpSp>
          <p:nvGrpSpPr>
            <p:cNvPr id="24584" name="Group 23">
              <a:extLst>
                <a:ext uri="{FF2B5EF4-FFF2-40B4-BE49-F238E27FC236}">
                  <a16:creationId xmlns:a16="http://schemas.microsoft.com/office/drawing/2014/main" id="{6F9624EC-2042-48B9-B45D-5DD72675CD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" y="825"/>
              <a:ext cx="4368" cy="2141"/>
              <a:chOff x="18" y="825"/>
              <a:chExt cx="4368" cy="2141"/>
            </a:xfrm>
          </p:grpSpPr>
          <p:grpSp>
            <p:nvGrpSpPr>
              <p:cNvPr id="24598" name="Group 16">
                <a:extLst>
                  <a:ext uri="{FF2B5EF4-FFF2-40B4-BE49-F238E27FC236}">
                    <a16:creationId xmlns:a16="http://schemas.microsoft.com/office/drawing/2014/main" id="{B8E4B9D5-76F6-49F0-B6A9-8BE5FA1681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06" y="825"/>
                <a:ext cx="1680" cy="1613"/>
                <a:chOff x="2706" y="825"/>
                <a:chExt cx="1680" cy="1613"/>
              </a:xfrm>
            </p:grpSpPr>
            <p:sp>
              <p:nvSpPr>
                <p:cNvPr id="24605" name="Oval 14">
                  <a:extLst>
                    <a:ext uri="{FF2B5EF4-FFF2-40B4-BE49-F238E27FC236}">
                      <a16:creationId xmlns:a16="http://schemas.microsoft.com/office/drawing/2014/main" id="{F4AF6568-A6C1-4E8A-B1D0-8184635832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06" y="825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4606" name="Picture 15">
                  <a:extLst>
                    <a:ext uri="{FF2B5EF4-FFF2-40B4-BE49-F238E27FC236}">
                      <a16:creationId xmlns:a16="http://schemas.microsoft.com/office/drawing/2014/main" id="{D9E72E28-DD56-4130-A0FB-ACB3AF5480FF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62" y="1096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599" name="Group 19">
                <a:extLst>
                  <a:ext uri="{FF2B5EF4-FFF2-40B4-BE49-F238E27FC236}">
                    <a16:creationId xmlns:a16="http://schemas.microsoft.com/office/drawing/2014/main" id="{634DC60C-48DD-448D-AE01-F169F1E8A5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" y="1353"/>
                <a:ext cx="1680" cy="1613"/>
                <a:chOff x="18" y="1353"/>
                <a:chExt cx="1680" cy="1613"/>
              </a:xfrm>
            </p:grpSpPr>
            <p:sp>
              <p:nvSpPr>
                <p:cNvPr id="24603" name="Oval 17">
                  <a:extLst>
                    <a:ext uri="{FF2B5EF4-FFF2-40B4-BE49-F238E27FC236}">
                      <a16:creationId xmlns:a16="http://schemas.microsoft.com/office/drawing/2014/main" id="{766E21B5-1F76-457E-BD1C-CC98085147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" y="1353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4604" name="Picture 18">
                  <a:extLst>
                    <a:ext uri="{FF2B5EF4-FFF2-40B4-BE49-F238E27FC236}">
                      <a16:creationId xmlns:a16="http://schemas.microsoft.com/office/drawing/2014/main" id="{81A9CB65-829B-4E79-9B46-FB759F80CC02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1624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600" name="Group 22">
                <a:extLst>
                  <a:ext uri="{FF2B5EF4-FFF2-40B4-BE49-F238E27FC236}">
                    <a16:creationId xmlns:a16="http://schemas.microsoft.com/office/drawing/2014/main" id="{7F86EF57-30BA-449C-B07D-A1ABE1126E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4" y="1296"/>
                <a:ext cx="1008" cy="1344"/>
                <a:chOff x="1704" y="1296"/>
                <a:chExt cx="1008" cy="1344"/>
              </a:xfrm>
            </p:grpSpPr>
            <p:sp>
              <p:nvSpPr>
                <p:cNvPr id="24601" name="Rectangle 20">
                  <a:extLst>
                    <a:ext uri="{FF2B5EF4-FFF2-40B4-BE49-F238E27FC236}">
                      <a16:creationId xmlns:a16="http://schemas.microsoft.com/office/drawing/2014/main" id="{921F3A9E-D4C6-408A-B9C7-A4B9DCE2CD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4" y="1296"/>
                  <a:ext cx="1008" cy="13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4602" name="Picture 21">
                  <a:extLst>
                    <a:ext uri="{FF2B5EF4-FFF2-40B4-BE49-F238E27FC236}">
                      <a16:creationId xmlns:a16="http://schemas.microsoft.com/office/drawing/2014/main" id="{DC8B2C24-EAF9-4C4A-B161-EFDEA621AC7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74" y="1348"/>
                  <a:ext cx="868" cy="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4585" name="Group 36">
              <a:extLst>
                <a:ext uri="{FF2B5EF4-FFF2-40B4-BE49-F238E27FC236}">
                  <a16:creationId xmlns:a16="http://schemas.microsoft.com/office/drawing/2014/main" id="{4496C39E-123A-4B94-A2B4-9E5E36E967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4" y="2160"/>
              <a:ext cx="4731" cy="1632"/>
              <a:chOff x="994" y="2160"/>
              <a:chExt cx="4731" cy="1632"/>
            </a:xfrm>
          </p:grpSpPr>
          <p:sp>
            <p:nvSpPr>
              <p:cNvPr id="24586" name="Rectangle 24">
                <a:extLst>
                  <a:ext uri="{FF2B5EF4-FFF2-40B4-BE49-F238E27FC236}">
                    <a16:creationId xmlns:a16="http://schemas.microsoft.com/office/drawing/2014/main" id="{594E6046-FD7B-44F1-BBCF-21734FC49A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7" y="2711"/>
                <a:ext cx="1103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64" tIns="46033" rIns="92064" bIns="46033">
                <a:spAutoFit/>
              </a:bodyPr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ja-JP" sz="1361" b="1">
                    <a:solidFill>
                      <a:schemeClr val="tx1"/>
                    </a:solidFill>
                    <a:latin typeface="Times New Roman" panose="02020603050405020304" pitchFamily="18" charset="0"/>
                    <a:ea typeface="HG明朝B"/>
                    <a:cs typeface="HG明朝B"/>
                  </a:rPr>
                  <a:t>THE IDEAL</a:t>
                </a:r>
              </a:p>
            </p:txBody>
          </p:sp>
          <p:sp>
            <p:nvSpPr>
              <p:cNvPr id="24587" name="Rectangle 25">
                <a:extLst>
                  <a:ext uri="{FF2B5EF4-FFF2-40B4-BE49-F238E27FC236}">
                    <a16:creationId xmlns:a16="http://schemas.microsoft.com/office/drawing/2014/main" id="{EF8FCE6B-4734-49D1-A427-9FCBBC2408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660000">
                <a:off x="1819" y="3055"/>
                <a:ext cx="90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64" tIns="46033" rIns="92064" bIns="46033">
                <a:spAutoFit/>
              </a:bodyPr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en-US" altLang="ja-JP" sz="1361" b="1">
                    <a:solidFill>
                      <a:schemeClr val="tx1"/>
                    </a:solidFill>
                    <a:latin typeface="Times New Roman" panose="02020603050405020304" pitchFamily="18" charset="0"/>
                    <a:ea typeface="HG明朝B"/>
                    <a:cs typeface="HG明朝B"/>
                  </a:rPr>
                  <a:t>ACTUALITY</a:t>
                </a:r>
              </a:p>
            </p:txBody>
          </p:sp>
          <p:grpSp>
            <p:nvGrpSpPr>
              <p:cNvPr id="24588" name="Group 35">
                <a:extLst>
                  <a:ext uri="{FF2B5EF4-FFF2-40B4-BE49-F238E27FC236}">
                    <a16:creationId xmlns:a16="http://schemas.microsoft.com/office/drawing/2014/main" id="{62DEB5E7-4D51-4BA5-B5B6-73BD3B5BDE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94" y="2160"/>
                <a:ext cx="4731" cy="1632"/>
                <a:chOff x="994" y="2160"/>
                <a:chExt cx="4731" cy="1632"/>
              </a:xfrm>
            </p:grpSpPr>
            <p:grpSp>
              <p:nvGrpSpPr>
                <p:cNvPr id="24589" name="Group 32">
                  <a:extLst>
                    <a:ext uri="{FF2B5EF4-FFF2-40B4-BE49-F238E27FC236}">
                      <a16:creationId xmlns:a16="http://schemas.microsoft.com/office/drawing/2014/main" id="{8FBF486B-A58E-4FA6-8BC9-79C2BB00343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94" y="2183"/>
                  <a:ext cx="4608" cy="1609"/>
                  <a:chOff x="994" y="2183"/>
                  <a:chExt cx="4608" cy="1609"/>
                </a:xfrm>
              </p:grpSpPr>
              <p:grpSp>
                <p:nvGrpSpPr>
                  <p:cNvPr id="24592" name="Group 28">
                    <a:extLst>
                      <a:ext uri="{FF2B5EF4-FFF2-40B4-BE49-F238E27FC236}">
                        <a16:creationId xmlns:a16="http://schemas.microsoft.com/office/drawing/2014/main" id="{7E9705D2-4E0F-4D98-9122-CD8D0E919EE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91" y="2183"/>
                    <a:ext cx="1911" cy="1090"/>
                    <a:chOff x="3691" y="2183"/>
                    <a:chExt cx="1911" cy="1090"/>
                  </a:xfrm>
                </p:grpSpPr>
                <p:sp>
                  <p:nvSpPr>
                    <p:cNvPr id="24596" name="Line 26">
                      <a:extLst>
                        <a:ext uri="{FF2B5EF4-FFF2-40B4-BE49-F238E27FC236}">
                          <a16:creationId xmlns:a16="http://schemas.microsoft.com/office/drawing/2014/main" id="{1B948C8C-08E4-4D67-BC09-E895F58834C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91" y="2183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4597" name="Line 27">
                      <a:extLst>
                        <a:ext uri="{FF2B5EF4-FFF2-40B4-BE49-F238E27FC236}">
                          <a16:creationId xmlns:a16="http://schemas.microsoft.com/office/drawing/2014/main" id="{A89D79A7-60F7-45A3-8D62-FD8C60F88E2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91" y="2200"/>
                      <a:ext cx="1911" cy="36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</p:grpSp>
              <p:grpSp>
                <p:nvGrpSpPr>
                  <p:cNvPr id="24593" name="Group 31">
                    <a:extLst>
                      <a:ext uri="{FF2B5EF4-FFF2-40B4-BE49-F238E27FC236}">
                        <a16:creationId xmlns:a16="http://schemas.microsoft.com/office/drawing/2014/main" id="{F3713B55-EEE0-40D0-B95E-1321157D17E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94" y="2702"/>
                    <a:ext cx="2696" cy="1090"/>
                    <a:chOff x="994" y="2702"/>
                    <a:chExt cx="2696" cy="1090"/>
                  </a:xfrm>
                </p:grpSpPr>
                <p:sp>
                  <p:nvSpPr>
                    <p:cNvPr id="24594" name="Line 29">
                      <a:extLst>
                        <a:ext uri="{FF2B5EF4-FFF2-40B4-BE49-F238E27FC236}">
                          <a16:creationId xmlns:a16="http://schemas.microsoft.com/office/drawing/2014/main" id="{BCB30E9C-CA79-495D-9EF5-6AA14983E98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994" y="2702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4595" name="Line 30">
                      <a:extLst>
                        <a:ext uri="{FF2B5EF4-FFF2-40B4-BE49-F238E27FC236}">
                          <a16:creationId xmlns:a16="http://schemas.microsoft.com/office/drawing/2014/main" id="{0FBFBC55-6D0A-4636-A427-066EA63699F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4" y="2719"/>
                      <a:ext cx="2696" cy="55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</p:grpSp>
            </p:grpSp>
            <p:sp>
              <p:nvSpPr>
                <p:cNvPr id="24590" name="Line 33">
                  <a:extLst>
                    <a:ext uri="{FF2B5EF4-FFF2-40B4-BE49-F238E27FC236}">
                      <a16:creationId xmlns:a16="http://schemas.microsoft.com/office/drawing/2014/main" id="{9627A7D8-E081-4C1A-9BAD-1025BB8122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94" y="2688"/>
                  <a:ext cx="268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33"/>
                </a:p>
              </p:txBody>
            </p:sp>
            <p:sp>
              <p:nvSpPr>
                <p:cNvPr id="24591" name="Line 34">
                  <a:extLst>
                    <a:ext uri="{FF2B5EF4-FFF2-40B4-BE49-F238E27FC236}">
                      <a16:creationId xmlns:a16="http://schemas.microsoft.com/office/drawing/2014/main" id="{23A99D1D-0214-4554-B19D-2FD27B659B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09" y="2160"/>
                  <a:ext cx="201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33"/>
                </a:p>
              </p:txBody>
            </p:sp>
          </p:grpSp>
        </p:grpSp>
      </p:grpSp>
      <p:sp>
        <p:nvSpPr>
          <p:cNvPr id="24582" name="Rectangle 38">
            <a:extLst>
              <a:ext uri="{FF2B5EF4-FFF2-40B4-BE49-F238E27FC236}">
                <a16:creationId xmlns:a16="http://schemas.microsoft.com/office/drawing/2014/main" id="{E49B8F8F-F139-467B-AE54-9118302DC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121" y="341641"/>
            <a:ext cx="2671200" cy="118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ja-JP" sz="2358">
                <a:solidFill>
                  <a:srgbClr val="FFA7E8"/>
                </a:solidFill>
                <a:ea typeface="HG明朝B"/>
                <a:cs typeface="HG明朝B"/>
              </a:rPr>
              <a:t>Dramatic but intermittent progress</a:t>
            </a:r>
          </a:p>
        </p:txBody>
      </p:sp>
      <p:sp>
        <p:nvSpPr>
          <p:cNvPr id="24583" name="Rectangle 39">
            <a:extLst>
              <a:ext uri="{FF2B5EF4-FFF2-40B4-BE49-F238E27FC236}">
                <a16:creationId xmlns:a16="http://schemas.microsoft.com/office/drawing/2014/main" id="{BC6F1B86-ED7B-404A-B8A1-7FCD4DD7E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641" y="5594761"/>
            <a:ext cx="7273440" cy="1181533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ja-JP" sz="2358">
                <a:solidFill>
                  <a:srgbClr val="FFFFFF"/>
                </a:solidFill>
                <a:ea typeface="HG明朝B"/>
                <a:cs typeface="HG明朝B"/>
              </a:rPr>
              <a:t>Higher standard achieved through innovation is subject to deterioration unless continuing efforts are made first to maintain it and then to improve it</a:t>
            </a:r>
          </a:p>
        </p:txBody>
      </p:sp>
    </p:spTree>
    <p:extLst>
      <p:ext uri="{BB962C8B-B14F-4D97-AF65-F5344CB8AC3E}">
        <p14:creationId xmlns:p14="http://schemas.microsoft.com/office/powerpoint/2010/main" val="68895674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49C9133-3D28-4D27-A97E-A543DBBEA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1" y="417961"/>
            <a:ext cx="2895840" cy="455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endParaRPr kumimoji="1" lang="en-US" altLang="en-US" sz="2358">
              <a:solidFill>
                <a:srgbClr val="000000"/>
              </a:solidFill>
            </a:endParaRPr>
          </a:p>
        </p:txBody>
      </p:sp>
      <p:grpSp>
        <p:nvGrpSpPr>
          <p:cNvPr id="25603" name="Group 3">
            <a:extLst>
              <a:ext uri="{FF2B5EF4-FFF2-40B4-BE49-F238E27FC236}">
                <a16:creationId xmlns:a16="http://schemas.microsoft.com/office/drawing/2014/main" id="{6D5E9297-374E-40A4-9486-D5D94BBA1CD3}"/>
              </a:ext>
            </a:extLst>
          </p:cNvPr>
          <p:cNvGrpSpPr>
            <a:grpSpLocks/>
          </p:cNvGrpSpPr>
          <p:nvPr/>
        </p:nvGrpSpPr>
        <p:grpSpPr bwMode="auto">
          <a:xfrm>
            <a:off x="1" y="5148361"/>
            <a:ext cx="9142560" cy="1709280"/>
            <a:chOff x="0" y="3243"/>
            <a:chExt cx="5759" cy="1077"/>
          </a:xfrm>
        </p:grpSpPr>
        <p:sp>
          <p:nvSpPr>
            <p:cNvPr id="25637" name="Freeform 4">
              <a:extLst>
                <a:ext uri="{FF2B5EF4-FFF2-40B4-BE49-F238E27FC236}">
                  <a16:creationId xmlns:a16="http://schemas.microsoft.com/office/drawing/2014/main" id="{5CF99CC2-2FEF-4B27-B0FD-BBA29B926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3936"/>
              <a:ext cx="1104" cy="384"/>
            </a:xfrm>
            <a:custGeom>
              <a:avLst/>
              <a:gdLst>
                <a:gd name="T0" fmla="*/ 0 w 1104"/>
                <a:gd name="T1" fmla="*/ 0 h 384"/>
                <a:gd name="T2" fmla="*/ 88 w 1104"/>
                <a:gd name="T3" fmla="*/ 39 h 384"/>
                <a:gd name="T4" fmla="*/ 95 w 1104"/>
                <a:gd name="T5" fmla="*/ 68 h 384"/>
                <a:gd name="T6" fmla="*/ 141 w 1104"/>
                <a:gd name="T7" fmla="*/ 112 h 384"/>
                <a:gd name="T8" fmla="*/ 194 w 1104"/>
                <a:gd name="T9" fmla="*/ 119 h 384"/>
                <a:gd name="T10" fmla="*/ 240 w 1104"/>
                <a:gd name="T11" fmla="*/ 121 h 384"/>
                <a:gd name="T12" fmla="*/ 251 w 1104"/>
                <a:gd name="T13" fmla="*/ 165 h 384"/>
                <a:gd name="T14" fmla="*/ 283 w 1104"/>
                <a:gd name="T15" fmla="*/ 147 h 384"/>
                <a:gd name="T16" fmla="*/ 340 w 1104"/>
                <a:gd name="T17" fmla="*/ 147 h 384"/>
                <a:gd name="T18" fmla="*/ 389 w 1104"/>
                <a:gd name="T19" fmla="*/ 137 h 384"/>
                <a:gd name="T20" fmla="*/ 418 w 1104"/>
                <a:gd name="T21" fmla="*/ 163 h 384"/>
                <a:gd name="T22" fmla="*/ 439 w 1104"/>
                <a:gd name="T23" fmla="*/ 208 h 384"/>
                <a:gd name="T24" fmla="*/ 454 w 1104"/>
                <a:gd name="T25" fmla="*/ 188 h 384"/>
                <a:gd name="T26" fmla="*/ 482 w 1104"/>
                <a:gd name="T27" fmla="*/ 178 h 384"/>
                <a:gd name="T28" fmla="*/ 557 w 1104"/>
                <a:gd name="T29" fmla="*/ 259 h 384"/>
                <a:gd name="T30" fmla="*/ 599 w 1104"/>
                <a:gd name="T31" fmla="*/ 256 h 384"/>
                <a:gd name="T32" fmla="*/ 660 w 1104"/>
                <a:gd name="T33" fmla="*/ 280 h 384"/>
                <a:gd name="T34" fmla="*/ 716 w 1104"/>
                <a:gd name="T35" fmla="*/ 274 h 384"/>
                <a:gd name="T36" fmla="*/ 767 w 1104"/>
                <a:gd name="T37" fmla="*/ 249 h 384"/>
                <a:gd name="T38" fmla="*/ 808 w 1104"/>
                <a:gd name="T39" fmla="*/ 278 h 384"/>
                <a:gd name="T40" fmla="*/ 866 w 1104"/>
                <a:gd name="T41" fmla="*/ 274 h 384"/>
                <a:gd name="T42" fmla="*/ 922 w 1104"/>
                <a:gd name="T43" fmla="*/ 345 h 384"/>
                <a:gd name="T44" fmla="*/ 978 w 1104"/>
                <a:gd name="T45" fmla="*/ 344 h 384"/>
                <a:gd name="T46" fmla="*/ 1043 w 1104"/>
                <a:gd name="T47" fmla="*/ 354 h 384"/>
                <a:gd name="T48" fmla="*/ 1084 w 1104"/>
                <a:gd name="T49" fmla="*/ 375 h 384"/>
                <a:gd name="T50" fmla="*/ 1103 w 1104"/>
                <a:gd name="T51" fmla="*/ 382 h 384"/>
                <a:gd name="T52" fmla="*/ 0 w 1104"/>
                <a:gd name="T53" fmla="*/ 383 h 384"/>
                <a:gd name="T54" fmla="*/ 0 w 1104"/>
                <a:gd name="T55" fmla="*/ 0 h 3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104"/>
                <a:gd name="T85" fmla="*/ 0 h 384"/>
                <a:gd name="T86" fmla="*/ 1104 w 1104"/>
                <a:gd name="T87" fmla="*/ 384 h 38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104" h="384">
                  <a:moveTo>
                    <a:pt x="0" y="0"/>
                  </a:moveTo>
                  <a:lnTo>
                    <a:pt x="88" y="39"/>
                  </a:lnTo>
                  <a:lnTo>
                    <a:pt x="95" y="68"/>
                  </a:lnTo>
                  <a:lnTo>
                    <a:pt x="141" y="112"/>
                  </a:lnTo>
                  <a:lnTo>
                    <a:pt x="194" y="119"/>
                  </a:lnTo>
                  <a:lnTo>
                    <a:pt x="240" y="121"/>
                  </a:lnTo>
                  <a:lnTo>
                    <a:pt x="251" y="165"/>
                  </a:lnTo>
                  <a:lnTo>
                    <a:pt x="283" y="147"/>
                  </a:lnTo>
                  <a:lnTo>
                    <a:pt x="340" y="147"/>
                  </a:lnTo>
                  <a:lnTo>
                    <a:pt x="389" y="137"/>
                  </a:lnTo>
                  <a:lnTo>
                    <a:pt x="418" y="163"/>
                  </a:lnTo>
                  <a:lnTo>
                    <a:pt x="439" y="208"/>
                  </a:lnTo>
                  <a:lnTo>
                    <a:pt x="454" y="188"/>
                  </a:lnTo>
                  <a:lnTo>
                    <a:pt x="482" y="178"/>
                  </a:lnTo>
                  <a:lnTo>
                    <a:pt x="557" y="259"/>
                  </a:lnTo>
                  <a:lnTo>
                    <a:pt x="599" y="256"/>
                  </a:lnTo>
                  <a:lnTo>
                    <a:pt x="660" y="280"/>
                  </a:lnTo>
                  <a:lnTo>
                    <a:pt x="716" y="274"/>
                  </a:lnTo>
                  <a:lnTo>
                    <a:pt x="767" y="249"/>
                  </a:lnTo>
                  <a:lnTo>
                    <a:pt x="808" y="278"/>
                  </a:lnTo>
                  <a:lnTo>
                    <a:pt x="866" y="274"/>
                  </a:lnTo>
                  <a:lnTo>
                    <a:pt x="922" y="345"/>
                  </a:lnTo>
                  <a:lnTo>
                    <a:pt x="978" y="344"/>
                  </a:lnTo>
                  <a:lnTo>
                    <a:pt x="1043" y="354"/>
                  </a:lnTo>
                  <a:lnTo>
                    <a:pt x="1084" y="375"/>
                  </a:lnTo>
                  <a:lnTo>
                    <a:pt x="1103" y="382"/>
                  </a:lnTo>
                  <a:lnTo>
                    <a:pt x="0" y="383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sp>
          <p:nvSpPr>
            <p:cNvPr id="25638" name="Freeform 5">
              <a:extLst>
                <a:ext uri="{FF2B5EF4-FFF2-40B4-BE49-F238E27FC236}">
                  <a16:creationId xmlns:a16="http://schemas.microsoft.com/office/drawing/2014/main" id="{CEEC06B2-5603-452D-B9B4-92FEFC32E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" y="3243"/>
              <a:ext cx="4753" cy="1077"/>
            </a:xfrm>
            <a:custGeom>
              <a:avLst/>
              <a:gdLst>
                <a:gd name="T0" fmla="*/ 4752 w 4753"/>
                <a:gd name="T1" fmla="*/ 0 h 1077"/>
                <a:gd name="T2" fmla="*/ 4369 w 4753"/>
                <a:gd name="T3" fmla="*/ 110 h 1077"/>
                <a:gd name="T4" fmla="*/ 4341 w 4753"/>
                <a:gd name="T5" fmla="*/ 191 h 1077"/>
                <a:gd name="T6" fmla="*/ 4143 w 4753"/>
                <a:gd name="T7" fmla="*/ 317 h 1077"/>
                <a:gd name="T8" fmla="*/ 3912 w 4753"/>
                <a:gd name="T9" fmla="*/ 334 h 1077"/>
                <a:gd name="T10" fmla="*/ 3714 w 4753"/>
                <a:gd name="T11" fmla="*/ 341 h 1077"/>
                <a:gd name="T12" fmla="*/ 3668 w 4753"/>
                <a:gd name="T13" fmla="*/ 464 h 1077"/>
                <a:gd name="T14" fmla="*/ 3529 w 4753"/>
                <a:gd name="T15" fmla="*/ 413 h 1077"/>
                <a:gd name="T16" fmla="*/ 3285 w 4753"/>
                <a:gd name="T17" fmla="*/ 413 h 1077"/>
                <a:gd name="T18" fmla="*/ 3072 w 4753"/>
                <a:gd name="T19" fmla="*/ 385 h 1077"/>
                <a:gd name="T20" fmla="*/ 2948 w 4753"/>
                <a:gd name="T21" fmla="*/ 457 h 1077"/>
                <a:gd name="T22" fmla="*/ 2856 w 4753"/>
                <a:gd name="T23" fmla="*/ 583 h 1077"/>
                <a:gd name="T24" fmla="*/ 2797 w 4753"/>
                <a:gd name="T25" fmla="*/ 529 h 1077"/>
                <a:gd name="T26" fmla="*/ 2673 w 4753"/>
                <a:gd name="T27" fmla="*/ 502 h 1077"/>
                <a:gd name="T28" fmla="*/ 2352 w 4753"/>
                <a:gd name="T29" fmla="*/ 729 h 1077"/>
                <a:gd name="T30" fmla="*/ 2167 w 4753"/>
                <a:gd name="T31" fmla="*/ 720 h 1077"/>
                <a:gd name="T32" fmla="*/ 1908 w 4753"/>
                <a:gd name="T33" fmla="*/ 789 h 1077"/>
                <a:gd name="T34" fmla="*/ 1667 w 4753"/>
                <a:gd name="T35" fmla="*/ 771 h 1077"/>
                <a:gd name="T36" fmla="*/ 1448 w 4753"/>
                <a:gd name="T37" fmla="*/ 700 h 1077"/>
                <a:gd name="T38" fmla="*/ 1268 w 4753"/>
                <a:gd name="T39" fmla="*/ 780 h 1077"/>
                <a:gd name="T40" fmla="*/ 1022 w 4753"/>
                <a:gd name="T41" fmla="*/ 771 h 1077"/>
                <a:gd name="T42" fmla="*/ 778 w 4753"/>
                <a:gd name="T43" fmla="*/ 969 h 1077"/>
                <a:gd name="T44" fmla="*/ 534 w 4753"/>
                <a:gd name="T45" fmla="*/ 966 h 1077"/>
                <a:gd name="T46" fmla="*/ 256 w 4753"/>
                <a:gd name="T47" fmla="*/ 996 h 1077"/>
                <a:gd name="T48" fmla="*/ 77 w 4753"/>
                <a:gd name="T49" fmla="*/ 1052 h 1077"/>
                <a:gd name="T50" fmla="*/ 0 w 4753"/>
                <a:gd name="T51" fmla="*/ 1074 h 1077"/>
                <a:gd name="T52" fmla="*/ 4752 w 4753"/>
                <a:gd name="T53" fmla="*/ 1076 h 1077"/>
                <a:gd name="T54" fmla="*/ 4752 w 4753"/>
                <a:gd name="T55" fmla="*/ 0 h 107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53"/>
                <a:gd name="T85" fmla="*/ 0 h 1077"/>
                <a:gd name="T86" fmla="*/ 4753 w 4753"/>
                <a:gd name="T87" fmla="*/ 1077 h 107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53" h="1077">
                  <a:moveTo>
                    <a:pt x="4752" y="0"/>
                  </a:moveTo>
                  <a:lnTo>
                    <a:pt x="4369" y="110"/>
                  </a:lnTo>
                  <a:lnTo>
                    <a:pt x="4341" y="191"/>
                  </a:lnTo>
                  <a:lnTo>
                    <a:pt x="4143" y="317"/>
                  </a:lnTo>
                  <a:lnTo>
                    <a:pt x="3912" y="334"/>
                  </a:lnTo>
                  <a:lnTo>
                    <a:pt x="3714" y="341"/>
                  </a:lnTo>
                  <a:lnTo>
                    <a:pt x="3668" y="464"/>
                  </a:lnTo>
                  <a:lnTo>
                    <a:pt x="3529" y="413"/>
                  </a:lnTo>
                  <a:lnTo>
                    <a:pt x="3285" y="413"/>
                  </a:lnTo>
                  <a:lnTo>
                    <a:pt x="3072" y="385"/>
                  </a:lnTo>
                  <a:lnTo>
                    <a:pt x="2948" y="457"/>
                  </a:lnTo>
                  <a:lnTo>
                    <a:pt x="2856" y="583"/>
                  </a:lnTo>
                  <a:lnTo>
                    <a:pt x="2797" y="529"/>
                  </a:lnTo>
                  <a:lnTo>
                    <a:pt x="2673" y="502"/>
                  </a:lnTo>
                  <a:lnTo>
                    <a:pt x="2352" y="729"/>
                  </a:lnTo>
                  <a:lnTo>
                    <a:pt x="2167" y="720"/>
                  </a:lnTo>
                  <a:lnTo>
                    <a:pt x="1908" y="789"/>
                  </a:lnTo>
                  <a:lnTo>
                    <a:pt x="1667" y="771"/>
                  </a:lnTo>
                  <a:lnTo>
                    <a:pt x="1448" y="700"/>
                  </a:lnTo>
                  <a:lnTo>
                    <a:pt x="1268" y="780"/>
                  </a:lnTo>
                  <a:lnTo>
                    <a:pt x="1022" y="771"/>
                  </a:lnTo>
                  <a:lnTo>
                    <a:pt x="778" y="969"/>
                  </a:lnTo>
                  <a:lnTo>
                    <a:pt x="534" y="966"/>
                  </a:lnTo>
                  <a:lnTo>
                    <a:pt x="256" y="996"/>
                  </a:lnTo>
                  <a:lnTo>
                    <a:pt x="77" y="1052"/>
                  </a:lnTo>
                  <a:lnTo>
                    <a:pt x="0" y="1074"/>
                  </a:lnTo>
                  <a:lnTo>
                    <a:pt x="4752" y="1076"/>
                  </a:lnTo>
                  <a:lnTo>
                    <a:pt x="4752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graphicFrame>
          <p:nvGraphicFramePr>
            <p:cNvPr id="25639" name="Object 6">
              <a:extLst>
                <a:ext uri="{FF2B5EF4-FFF2-40B4-BE49-F238E27FC236}">
                  <a16:creationId xmlns:a16="http://schemas.microsoft.com/office/drawing/2014/main" id="{91F6EDCF-9252-474A-A683-E010B8D1FEE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779" y="3414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3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25639" name="Object 6">
                          <a:extLst>
                            <a:ext uri="{FF2B5EF4-FFF2-40B4-BE49-F238E27FC236}">
                              <a16:creationId xmlns:a16="http://schemas.microsoft.com/office/drawing/2014/main" id="{91F6EDCF-9252-474A-A683-E010B8D1FEE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9" y="3414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0" name="Object 7">
              <a:extLst>
                <a:ext uri="{FF2B5EF4-FFF2-40B4-BE49-F238E27FC236}">
                  <a16:creationId xmlns:a16="http://schemas.microsoft.com/office/drawing/2014/main" id="{63CC3C8D-5D96-47E9-83EF-9D049F2D641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19" y="3531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4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25640" name="Object 7">
                          <a:extLst>
                            <a:ext uri="{FF2B5EF4-FFF2-40B4-BE49-F238E27FC236}">
                              <a16:creationId xmlns:a16="http://schemas.microsoft.com/office/drawing/2014/main" id="{63CC3C8D-5D96-47E9-83EF-9D049F2D641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" y="3531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1" name="Object 8">
              <a:extLst>
                <a:ext uri="{FF2B5EF4-FFF2-40B4-BE49-F238E27FC236}">
                  <a16:creationId xmlns:a16="http://schemas.microsoft.com/office/drawing/2014/main" id="{222D71CC-50BF-424B-ACCC-46812F4429B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00" y="3558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5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25641" name="Object 8">
                          <a:extLst>
                            <a:ext uri="{FF2B5EF4-FFF2-40B4-BE49-F238E27FC236}">
                              <a16:creationId xmlns:a16="http://schemas.microsoft.com/office/drawing/2014/main" id="{222D71CC-50BF-424B-ACCC-46812F4429B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0" y="3558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604" name="Group 9">
            <a:extLst>
              <a:ext uri="{FF2B5EF4-FFF2-40B4-BE49-F238E27FC236}">
                <a16:creationId xmlns:a16="http://schemas.microsoft.com/office/drawing/2014/main" id="{9DDF2585-7A56-4276-A9F1-B9C34AE37A0D}"/>
              </a:ext>
            </a:extLst>
          </p:cNvPr>
          <p:cNvGrpSpPr>
            <a:grpSpLocks/>
          </p:cNvGrpSpPr>
          <p:nvPr/>
        </p:nvGrpSpPr>
        <p:grpSpPr bwMode="auto">
          <a:xfrm>
            <a:off x="28801" y="776521"/>
            <a:ext cx="9038880" cy="5811840"/>
            <a:chOff x="18" y="489"/>
            <a:chExt cx="5694" cy="3661"/>
          </a:xfrm>
        </p:grpSpPr>
        <p:grpSp>
          <p:nvGrpSpPr>
            <p:cNvPr id="25607" name="Group 10">
              <a:extLst>
                <a:ext uri="{FF2B5EF4-FFF2-40B4-BE49-F238E27FC236}">
                  <a16:creationId xmlns:a16="http://schemas.microsoft.com/office/drawing/2014/main" id="{ADE2E927-785A-4250-910F-99051EB2F8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" y="489"/>
              <a:ext cx="4896" cy="3005"/>
              <a:chOff x="18" y="489"/>
              <a:chExt cx="4896" cy="3005"/>
            </a:xfrm>
          </p:grpSpPr>
          <p:grpSp>
            <p:nvGrpSpPr>
              <p:cNvPr id="25622" name="Group 11">
                <a:extLst>
                  <a:ext uri="{FF2B5EF4-FFF2-40B4-BE49-F238E27FC236}">
                    <a16:creationId xmlns:a16="http://schemas.microsoft.com/office/drawing/2014/main" id="{293E6E7D-3BD2-48F9-B927-162EA9A8F9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41" y="1482"/>
                <a:ext cx="1702" cy="1643"/>
                <a:chOff x="1741" y="1482"/>
                <a:chExt cx="1702" cy="1643"/>
              </a:xfrm>
            </p:grpSpPr>
            <p:sp>
              <p:nvSpPr>
                <p:cNvPr id="25629" name="Oval 12">
                  <a:extLst>
                    <a:ext uri="{FF2B5EF4-FFF2-40B4-BE49-F238E27FC236}">
                      <a16:creationId xmlns:a16="http://schemas.microsoft.com/office/drawing/2014/main" id="{FA3BB798-48FD-4CB2-B7E8-AC0B306B39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1" y="1482"/>
                  <a:ext cx="1702" cy="1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5630" name="Group 13">
                  <a:extLst>
                    <a:ext uri="{FF2B5EF4-FFF2-40B4-BE49-F238E27FC236}">
                      <a16:creationId xmlns:a16="http://schemas.microsoft.com/office/drawing/2014/main" id="{4B957200-3598-4DAA-8F04-5C6D7BA46A4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88" y="1673"/>
                  <a:ext cx="1008" cy="1261"/>
                  <a:chOff x="2088" y="1673"/>
                  <a:chExt cx="1008" cy="1261"/>
                </a:xfrm>
              </p:grpSpPr>
              <p:pic>
                <p:nvPicPr>
                  <p:cNvPr id="25631" name="Picture 14">
                    <a:extLst>
                      <a:ext uri="{FF2B5EF4-FFF2-40B4-BE49-F238E27FC236}">
                        <a16:creationId xmlns:a16="http://schemas.microsoft.com/office/drawing/2014/main" id="{B3B42804-FD76-45F8-A6A0-C957F0791200}"/>
                      </a:ext>
                    </a:extLst>
                  </p:cNvPr>
                  <p:cNvPicPr>
                    <a:picLocks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88" y="1737"/>
                    <a:ext cx="1008" cy="11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grpSp>
                <p:nvGrpSpPr>
                  <p:cNvPr id="25632" name="Group 15">
                    <a:extLst>
                      <a:ext uri="{FF2B5EF4-FFF2-40B4-BE49-F238E27FC236}">
                        <a16:creationId xmlns:a16="http://schemas.microsoft.com/office/drawing/2014/main" id="{03376C3E-C276-49B7-B627-0E534A950A3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549" y="1673"/>
                    <a:ext cx="492" cy="131"/>
                    <a:chOff x="2549" y="1673"/>
                    <a:chExt cx="492" cy="131"/>
                  </a:xfrm>
                </p:grpSpPr>
                <p:sp>
                  <p:nvSpPr>
                    <p:cNvPr id="25633" name="Freeform 16">
                      <a:extLst>
                        <a:ext uri="{FF2B5EF4-FFF2-40B4-BE49-F238E27FC236}">
                          <a16:creationId xmlns:a16="http://schemas.microsoft.com/office/drawing/2014/main" id="{5107A71E-A0A9-44DC-AFD5-700049F866B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88" y="1756"/>
                      <a:ext cx="53" cy="24"/>
                    </a:xfrm>
                    <a:custGeom>
                      <a:avLst/>
                      <a:gdLst>
                        <a:gd name="T0" fmla="*/ 0 w 53"/>
                        <a:gd name="T1" fmla="*/ 23 h 24"/>
                        <a:gd name="T2" fmla="*/ 13 w 53"/>
                        <a:gd name="T3" fmla="*/ 10 h 24"/>
                        <a:gd name="T4" fmla="*/ 16 w 53"/>
                        <a:gd name="T5" fmla="*/ 7 h 24"/>
                        <a:gd name="T6" fmla="*/ 18 w 53"/>
                        <a:gd name="T7" fmla="*/ 6 h 24"/>
                        <a:gd name="T8" fmla="*/ 21 w 53"/>
                        <a:gd name="T9" fmla="*/ 4 h 24"/>
                        <a:gd name="T10" fmla="*/ 24 w 53"/>
                        <a:gd name="T11" fmla="*/ 2 h 24"/>
                        <a:gd name="T12" fmla="*/ 27 w 53"/>
                        <a:gd name="T13" fmla="*/ 1 h 24"/>
                        <a:gd name="T14" fmla="*/ 30 w 53"/>
                        <a:gd name="T15" fmla="*/ 0 h 24"/>
                        <a:gd name="T16" fmla="*/ 33 w 53"/>
                        <a:gd name="T17" fmla="*/ 0 h 24"/>
                        <a:gd name="T18" fmla="*/ 37 w 53"/>
                        <a:gd name="T19" fmla="*/ 0 h 24"/>
                        <a:gd name="T20" fmla="*/ 39 w 53"/>
                        <a:gd name="T21" fmla="*/ 0 h 24"/>
                        <a:gd name="T22" fmla="*/ 41 w 53"/>
                        <a:gd name="T23" fmla="*/ 0 h 24"/>
                        <a:gd name="T24" fmla="*/ 44 w 53"/>
                        <a:gd name="T25" fmla="*/ 0 h 24"/>
                        <a:gd name="T26" fmla="*/ 45 w 53"/>
                        <a:gd name="T27" fmla="*/ 1 h 24"/>
                        <a:gd name="T28" fmla="*/ 48 w 53"/>
                        <a:gd name="T29" fmla="*/ 3 h 24"/>
                        <a:gd name="T30" fmla="*/ 50 w 53"/>
                        <a:gd name="T31" fmla="*/ 6 h 24"/>
                        <a:gd name="T32" fmla="*/ 51 w 53"/>
                        <a:gd name="T33" fmla="*/ 7 h 24"/>
                        <a:gd name="T34" fmla="*/ 52 w 53"/>
                        <a:gd name="T35" fmla="*/ 11 h 24"/>
                        <a:gd name="T36" fmla="*/ 51 w 53"/>
                        <a:gd name="T37" fmla="*/ 16 h 24"/>
                        <a:gd name="T38" fmla="*/ 50 w 53"/>
                        <a:gd name="T39" fmla="*/ 18 h 24"/>
                        <a:gd name="T40" fmla="*/ 48 w 53"/>
                        <a:gd name="T41" fmla="*/ 19 h 24"/>
                        <a:gd name="T42" fmla="*/ 44 w 53"/>
                        <a:gd name="T43" fmla="*/ 21 h 24"/>
                        <a:gd name="T44" fmla="*/ 41 w 53"/>
                        <a:gd name="T45" fmla="*/ 22 h 24"/>
                        <a:gd name="T46" fmla="*/ 37 w 53"/>
                        <a:gd name="T47" fmla="*/ 22 h 24"/>
                        <a:gd name="T48" fmla="*/ 33 w 53"/>
                        <a:gd name="T49" fmla="*/ 20 h 24"/>
                        <a:gd name="T50" fmla="*/ 27 w 53"/>
                        <a:gd name="T51" fmla="*/ 19 h 24"/>
                        <a:gd name="T52" fmla="*/ 23 w 53"/>
                        <a:gd name="T53" fmla="*/ 19 h 24"/>
                        <a:gd name="T54" fmla="*/ 17 w 53"/>
                        <a:gd name="T55" fmla="*/ 19 h 24"/>
                        <a:gd name="T56" fmla="*/ 10 w 53"/>
                        <a:gd name="T57" fmla="*/ 19 h 24"/>
                        <a:gd name="T58" fmla="*/ 0 w 53"/>
                        <a:gd name="T59" fmla="*/ 23 h 24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53"/>
                        <a:gd name="T91" fmla="*/ 0 h 24"/>
                        <a:gd name="T92" fmla="*/ 53 w 53"/>
                        <a:gd name="T93" fmla="*/ 24 h 24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53" h="24">
                          <a:moveTo>
                            <a:pt x="0" y="23"/>
                          </a:moveTo>
                          <a:lnTo>
                            <a:pt x="13" y="10"/>
                          </a:lnTo>
                          <a:lnTo>
                            <a:pt x="16" y="7"/>
                          </a:lnTo>
                          <a:lnTo>
                            <a:pt x="18" y="6"/>
                          </a:lnTo>
                          <a:lnTo>
                            <a:pt x="21" y="4"/>
                          </a:lnTo>
                          <a:lnTo>
                            <a:pt x="24" y="2"/>
                          </a:lnTo>
                          <a:lnTo>
                            <a:pt x="27" y="1"/>
                          </a:lnTo>
                          <a:lnTo>
                            <a:pt x="30" y="0"/>
                          </a:lnTo>
                          <a:lnTo>
                            <a:pt x="33" y="0"/>
                          </a:lnTo>
                          <a:lnTo>
                            <a:pt x="37" y="0"/>
                          </a:lnTo>
                          <a:lnTo>
                            <a:pt x="39" y="0"/>
                          </a:lnTo>
                          <a:lnTo>
                            <a:pt x="41" y="0"/>
                          </a:lnTo>
                          <a:lnTo>
                            <a:pt x="44" y="0"/>
                          </a:lnTo>
                          <a:lnTo>
                            <a:pt x="45" y="1"/>
                          </a:lnTo>
                          <a:lnTo>
                            <a:pt x="48" y="3"/>
                          </a:lnTo>
                          <a:lnTo>
                            <a:pt x="50" y="6"/>
                          </a:lnTo>
                          <a:lnTo>
                            <a:pt x="51" y="7"/>
                          </a:lnTo>
                          <a:lnTo>
                            <a:pt x="52" y="11"/>
                          </a:lnTo>
                          <a:lnTo>
                            <a:pt x="51" y="16"/>
                          </a:lnTo>
                          <a:lnTo>
                            <a:pt x="50" y="18"/>
                          </a:lnTo>
                          <a:lnTo>
                            <a:pt x="48" y="19"/>
                          </a:lnTo>
                          <a:lnTo>
                            <a:pt x="44" y="21"/>
                          </a:lnTo>
                          <a:lnTo>
                            <a:pt x="41" y="22"/>
                          </a:lnTo>
                          <a:lnTo>
                            <a:pt x="37" y="22"/>
                          </a:lnTo>
                          <a:lnTo>
                            <a:pt x="33" y="20"/>
                          </a:lnTo>
                          <a:lnTo>
                            <a:pt x="27" y="19"/>
                          </a:lnTo>
                          <a:lnTo>
                            <a:pt x="23" y="19"/>
                          </a:lnTo>
                          <a:lnTo>
                            <a:pt x="17" y="19"/>
                          </a:lnTo>
                          <a:lnTo>
                            <a:pt x="10" y="19"/>
                          </a:lnTo>
                          <a:lnTo>
                            <a:pt x="0" y="23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5634" name="Freeform 17">
                      <a:extLst>
                        <a:ext uri="{FF2B5EF4-FFF2-40B4-BE49-F238E27FC236}">
                          <a16:creationId xmlns:a16="http://schemas.microsoft.com/office/drawing/2014/main" id="{90AA7722-3BDF-40AB-8882-D4F46C5FF07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549" y="1781"/>
                      <a:ext cx="35" cy="23"/>
                    </a:xfrm>
                    <a:custGeom>
                      <a:avLst/>
                      <a:gdLst>
                        <a:gd name="T0" fmla="*/ 34 w 35"/>
                        <a:gd name="T1" fmla="*/ 22 h 23"/>
                        <a:gd name="T2" fmla="*/ 25 w 35"/>
                        <a:gd name="T3" fmla="*/ 9 h 23"/>
                        <a:gd name="T4" fmla="*/ 23 w 35"/>
                        <a:gd name="T5" fmla="*/ 6 h 23"/>
                        <a:gd name="T6" fmla="*/ 21 w 35"/>
                        <a:gd name="T7" fmla="*/ 5 h 23"/>
                        <a:gd name="T8" fmla="*/ 21 w 35"/>
                        <a:gd name="T9" fmla="*/ 4 h 23"/>
                        <a:gd name="T10" fmla="*/ 17 w 35"/>
                        <a:gd name="T11" fmla="*/ 1 h 23"/>
                        <a:gd name="T12" fmla="*/ 15 w 35"/>
                        <a:gd name="T13" fmla="*/ 1 h 23"/>
                        <a:gd name="T14" fmla="*/ 13 w 35"/>
                        <a:gd name="T15" fmla="*/ 1 h 23"/>
                        <a:gd name="T16" fmla="*/ 12 w 35"/>
                        <a:gd name="T17" fmla="*/ 0 h 23"/>
                        <a:gd name="T18" fmla="*/ 10 w 35"/>
                        <a:gd name="T19" fmla="*/ 0 h 23"/>
                        <a:gd name="T20" fmla="*/ 8 w 35"/>
                        <a:gd name="T21" fmla="*/ 0 h 23"/>
                        <a:gd name="T22" fmla="*/ 7 w 35"/>
                        <a:gd name="T23" fmla="*/ 0 h 23"/>
                        <a:gd name="T24" fmla="*/ 5 w 35"/>
                        <a:gd name="T25" fmla="*/ 1 h 23"/>
                        <a:gd name="T26" fmla="*/ 3 w 35"/>
                        <a:gd name="T27" fmla="*/ 1 h 23"/>
                        <a:gd name="T28" fmla="*/ 1 w 35"/>
                        <a:gd name="T29" fmla="*/ 3 h 23"/>
                        <a:gd name="T30" fmla="*/ 1 w 35"/>
                        <a:gd name="T31" fmla="*/ 5 h 23"/>
                        <a:gd name="T32" fmla="*/ 0 w 35"/>
                        <a:gd name="T33" fmla="*/ 6 h 23"/>
                        <a:gd name="T34" fmla="*/ 0 w 35"/>
                        <a:gd name="T35" fmla="*/ 12 h 23"/>
                        <a:gd name="T36" fmla="*/ 0 w 35"/>
                        <a:gd name="T37" fmla="*/ 15 h 23"/>
                        <a:gd name="T38" fmla="*/ 1 w 35"/>
                        <a:gd name="T39" fmla="*/ 16 h 23"/>
                        <a:gd name="T40" fmla="*/ 1 w 35"/>
                        <a:gd name="T41" fmla="*/ 19 h 23"/>
                        <a:gd name="T42" fmla="*/ 4 w 35"/>
                        <a:gd name="T43" fmla="*/ 19 h 23"/>
                        <a:gd name="T44" fmla="*/ 7 w 35"/>
                        <a:gd name="T45" fmla="*/ 19 h 23"/>
                        <a:gd name="T46" fmla="*/ 10 w 35"/>
                        <a:gd name="T47" fmla="*/ 19 h 23"/>
                        <a:gd name="T48" fmla="*/ 12 w 35"/>
                        <a:gd name="T49" fmla="*/ 19 h 23"/>
                        <a:gd name="T50" fmla="*/ 15 w 35"/>
                        <a:gd name="T51" fmla="*/ 18 h 23"/>
                        <a:gd name="T52" fmla="*/ 18 w 35"/>
                        <a:gd name="T53" fmla="*/ 18 h 23"/>
                        <a:gd name="T54" fmla="*/ 22 w 35"/>
                        <a:gd name="T55" fmla="*/ 18 h 23"/>
                        <a:gd name="T56" fmla="*/ 27 w 35"/>
                        <a:gd name="T57" fmla="*/ 19 h 23"/>
                        <a:gd name="T58" fmla="*/ 34 w 35"/>
                        <a:gd name="T59" fmla="*/ 22 h 23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35"/>
                        <a:gd name="T91" fmla="*/ 0 h 23"/>
                        <a:gd name="T92" fmla="*/ 35 w 35"/>
                        <a:gd name="T93" fmla="*/ 23 h 23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35" h="23">
                          <a:moveTo>
                            <a:pt x="34" y="22"/>
                          </a:moveTo>
                          <a:lnTo>
                            <a:pt x="25" y="9"/>
                          </a:lnTo>
                          <a:lnTo>
                            <a:pt x="23" y="6"/>
                          </a:lnTo>
                          <a:lnTo>
                            <a:pt x="21" y="5"/>
                          </a:lnTo>
                          <a:lnTo>
                            <a:pt x="21" y="4"/>
                          </a:lnTo>
                          <a:lnTo>
                            <a:pt x="17" y="1"/>
                          </a:lnTo>
                          <a:lnTo>
                            <a:pt x="15" y="1"/>
                          </a:lnTo>
                          <a:lnTo>
                            <a:pt x="13" y="1"/>
                          </a:lnTo>
                          <a:lnTo>
                            <a:pt x="12" y="0"/>
                          </a:lnTo>
                          <a:lnTo>
                            <a:pt x="10" y="0"/>
                          </a:lnTo>
                          <a:lnTo>
                            <a:pt x="8" y="0"/>
                          </a:lnTo>
                          <a:lnTo>
                            <a:pt x="7" y="0"/>
                          </a:lnTo>
                          <a:lnTo>
                            <a:pt x="5" y="1"/>
                          </a:lnTo>
                          <a:lnTo>
                            <a:pt x="3" y="1"/>
                          </a:lnTo>
                          <a:lnTo>
                            <a:pt x="1" y="3"/>
                          </a:lnTo>
                          <a:lnTo>
                            <a:pt x="1" y="5"/>
                          </a:lnTo>
                          <a:lnTo>
                            <a:pt x="0" y="6"/>
                          </a:lnTo>
                          <a:lnTo>
                            <a:pt x="0" y="12"/>
                          </a:lnTo>
                          <a:lnTo>
                            <a:pt x="0" y="15"/>
                          </a:lnTo>
                          <a:lnTo>
                            <a:pt x="1" y="16"/>
                          </a:lnTo>
                          <a:lnTo>
                            <a:pt x="1" y="19"/>
                          </a:lnTo>
                          <a:lnTo>
                            <a:pt x="4" y="19"/>
                          </a:lnTo>
                          <a:lnTo>
                            <a:pt x="7" y="19"/>
                          </a:lnTo>
                          <a:lnTo>
                            <a:pt x="10" y="19"/>
                          </a:lnTo>
                          <a:lnTo>
                            <a:pt x="12" y="19"/>
                          </a:lnTo>
                          <a:lnTo>
                            <a:pt x="15" y="18"/>
                          </a:lnTo>
                          <a:lnTo>
                            <a:pt x="18" y="18"/>
                          </a:lnTo>
                          <a:lnTo>
                            <a:pt x="22" y="18"/>
                          </a:lnTo>
                          <a:lnTo>
                            <a:pt x="27" y="19"/>
                          </a:lnTo>
                          <a:lnTo>
                            <a:pt x="34" y="2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5635" name="Freeform 18">
                      <a:extLst>
                        <a:ext uri="{FF2B5EF4-FFF2-40B4-BE49-F238E27FC236}">
                          <a16:creationId xmlns:a16="http://schemas.microsoft.com/office/drawing/2014/main" id="{8B5F3B30-867B-4B0F-882F-E0E3D90E934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873" y="1673"/>
                      <a:ext cx="56" cy="42"/>
                    </a:xfrm>
                    <a:custGeom>
                      <a:avLst/>
                      <a:gdLst>
                        <a:gd name="T0" fmla="*/ 0 w 56"/>
                        <a:gd name="T1" fmla="*/ 41 h 42"/>
                        <a:gd name="T2" fmla="*/ 2 w 56"/>
                        <a:gd name="T3" fmla="*/ 35 h 42"/>
                        <a:gd name="T4" fmla="*/ 3 w 56"/>
                        <a:gd name="T5" fmla="*/ 26 h 42"/>
                        <a:gd name="T6" fmla="*/ 7 w 56"/>
                        <a:gd name="T7" fmla="*/ 21 h 42"/>
                        <a:gd name="T8" fmla="*/ 11 w 56"/>
                        <a:gd name="T9" fmla="*/ 14 h 42"/>
                        <a:gd name="T10" fmla="*/ 15 w 56"/>
                        <a:gd name="T11" fmla="*/ 9 h 42"/>
                        <a:gd name="T12" fmla="*/ 18 w 56"/>
                        <a:gd name="T13" fmla="*/ 6 h 42"/>
                        <a:gd name="T14" fmla="*/ 22 w 56"/>
                        <a:gd name="T15" fmla="*/ 3 h 42"/>
                        <a:gd name="T16" fmla="*/ 27 w 56"/>
                        <a:gd name="T17" fmla="*/ 1 h 42"/>
                        <a:gd name="T18" fmla="*/ 32 w 56"/>
                        <a:gd name="T19" fmla="*/ 0 h 42"/>
                        <a:gd name="T20" fmla="*/ 37 w 56"/>
                        <a:gd name="T21" fmla="*/ 0 h 42"/>
                        <a:gd name="T22" fmla="*/ 43 w 56"/>
                        <a:gd name="T23" fmla="*/ 0 h 42"/>
                        <a:gd name="T24" fmla="*/ 48 w 56"/>
                        <a:gd name="T25" fmla="*/ 0 h 42"/>
                        <a:gd name="T26" fmla="*/ 50 w 56"/>
                        <a:gd name="T27" fmla="*/ 2 h 42"/>
                        <a:gd name="T28" fmla="*/ 53 w 56"/>
                        <a:gd name="T29" fmla="*/ 3 h 42"/>
                        <a:gd name="T30" fmla="*/ 53 w 56"/>
                        <a:gd name="T31" fmla="*/ 5 h 42"/>
                        <a:gd name="T32" fmla="*/ 55 w 56"/>
                        <a:gd name="T33" fmla="*/ 7 h 42"/>
                        <a:gd name="T34" fmla="*/ 55 w 56"/>
                        <a:gd name="T35" fmla="*/ 9 h 42"/>
                        <a:gd name="T36" fmla="*/ 55 w 56"/>
                        <a:gd name="T37" fmla="*/ 12 h 42"/>
                        <a:gd name="T38" fmla="*/ 53 w 56"/>
                        <a:gd name="T39" fmla="*/ 16 h 42"/>
                        <a:gd name="T40" fmla="*/ 52 w 56"/>
                        <a:gd name="T41" fmla="*/ 18 h 42"/>
                        <a:gd name="T42" fmla="*/ 50 w 56"/>
                        <a:gd name="T43" fmla="*/ 19 h 42"/>
                        <a:gd name="T44" fmla="*/ 48 w 56"/>
                        <a:gd name="T45" fmla="*/ 19 h 42"/>
                        <a:gd name="T46" fmla="*/ 46 w 56"/>
                        <a:gd name="T47" fmla="*/ 21 h 42"/>
                        <a:gd name="T48" fmla="*/ 43 w 56"/>
                        <a:gd name="T49" fmla="*/ 21 h 42"/>
                        <a:gd name="T50" fmla="*/ 40 w 56"/>
                        <a:gd name="T51" fmla="*/ 22 h 42"/>
                        <a:gd name="T52" fmla="*/ 36 w 56"/>
                        <a:gd name="T53" fmla="*/ 22 h 42"/>
                        <a:gd name="T54" fmla="*/ 33 w 56"/>
                        <a:gd name="T55" fmla="*/ 21 h 42"/>
                        <a:gd name="T56" fmla="*/ 29 w 56"/>
                        <a:gd name="T57" fmla="*/ 21 h 42"/>
                        <a:gd name="T58" fmla="*/ 25 w 56"/>
                        <a:gd name="T59" fmla="*/ 22 h 42"/>
                        <a:gd name="T60" fmla="*/ 21 w 56"/>
                        <a:gd name="T61" fmla="*/ 23 h 42"/>
                        <a:gd name="T62" fmla="*/ 18 w 56"/>
                        <a:gd name="T63" fmla="*/ 26 h 42"/>
                        <a:gd name="T64" fmla="*/ 14 w 56"/>
                        <a:gd name="T65" fmla="*/ 27 h 42"/>
                        <a:gd name="T66" fmla="*/ 10 w 56"/>
                        <a:gd name="T67" fmla="*/ 31 h 42"/>
                        <a:gd name="T68" fmla="*/ 5 w 56"/>
                        <a:gd name="T69" fmla="*/ 33 h 42"/>
                        <a:gd name="T70" fmla="*/ 3 w 56"/>
                        <a:gd name="T71" fmla="*/ 37 h 42"/>
                        <a:gd name="T72" fmla="*/ 0 w 56"/>
                        <a:gd name="T73" fmla="*/ 41 h 42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6"/>
                        <a:gd name="T112" fmla="*/ 0 h 42"/>
                        <a:gd name="T113" fmla="*/ 56 w 56"/>
                        <a:gd name="T114" fmla="*/ 42 h 42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6" h="42">
                          <a:moveTo>
                            <a:pt x="0" y="41"/>
                          </a:moveTo>
                          <a:lnTo>
                            <a:pt x="2" y="35"/>
                          </a:lnTo>
                          <a:lnTo>
                            <a:pt x="3" y="26"/>
                          </a:lnTo>
                          <a:lnTo>
                            <a:pt x="7" y="21"/>
                          </a:lnTo>
                          <a:lnTo>
                            <a:pt x="11" y="14"/>
                          </a:lnTo>
                          <a:lnTo>
                            <a:pt x="15" y="9"/>
                          </a:lnTo>
                          <a:lnTo>
                            <a:pt x="18" y="6"/>
                          </a:lnTo>
                          <a:lnTo>
                            <a:pt x="22" y="3"/>
                          </a:lnTo>
                          <a:lnTo>
                            <a:pt x="27" y="1"/>
                          </a:lnTo>
                          <a:lnTo>
                            <a:pt x="32" y="0"/>
                          </a:lnTo>
                          <a:lnTo>
                            <a:pt x="37" y="0"/>
                          </a:lnTo>
                          <a:lnTo>
                            <a:pt x="43" y="0"/>
                          </a:lnTo>
                          <a:lnTo>
                            <a:pt x="48" y="0"/>
                          </a:lnTo>
                          <a:lnTo>
                            <a:pt x="50" y="2"/>
                          </a:lnTo>
                          <a:lnTo>
                            <a:pt x="53" y="3"/>
                          </a:lnTo>
                          <a:lnTo>
                            <a:pt x="53" y="5"/>
                          </a:lnTo>
                          <a:lnTo>
                            <a:pt x="55" y="7"/>
                          </a:lnTo>
                          <a:lnTo>
                            <a:pt x="55" y="9"/>
                          </a:lnTo>
                          <a:lnTo>
                            <a:pt x="55" y="12"/>
                          </a:lnTo>
                          <a:lnTo>
                            <a:pt x="53" y="16"/>
                          </a:lnTo>
                          <a:lnTo>
                            <a:pt x="52" y="18"/>
                          </a:lnTo>
                          <a:lnTo>
                            <a:pt x="50" y="19"/>
                          </a:lnTo>
                          <a:lnTo>
                            <a:pt x="48" y="19"/>
                          </a:lnTo>
                          <a:lnTo>
                            <a:pt x="46" y="21"/>
                          </a:lnTo>
                          <a:lnTo>
                            <a:pt x="43" y="21"/>
                          </a:lnTo>
                          <a:lnTo>
                            <a:pt x="40" y="22"/>
                          </a:lnTo>
                          <a:lnTo>
                            <a:pt x="36" y="22"/>
                          </a:lnTo>
                          <a:lnTo>
                            <a:pt x="33" y="21"/>
                          </a:lnTo>
                          <a:lnTo>
                            <a:pt x="29" y="21"/>
                          </a:lnTo>
                          <a:lnTo>
                            <a:pt x="25" y="22"/>
                          </a:lnTo>
                          <a:lnTo>
                            <a:pt x="21" y="23"/>
                          </a:lnTo>
                          <a:lnTo>
                            <a:pt x="18" y="26"/>
                          </a:lnTo>
                          <a:lnTo>
                            <a:pt x="14" y="27"/>
                          </a:lnTo>
                          <a:lnTo>
                            <a:pt x="10" y="31"/>
                          </a:lnTo>
                          <a:lnTo>
                            <a:pt x="5" y="33"/>
                          </a:lnTo>
                          <a:lnTo>
                            <a:pt x="3" y="37"/>
                          </a:lnTo>
                          <a:lnTo>
                            <a:pt x="0" y="41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5636" name="Freeform 19">
                      <a:extLst>
                        <a:ext uri="{FF2B5EF4-FFF2-40B4-BE49-F238E27FC236}">
                          <a16:creationId xmlns:a16="http://schemas.microsoft.com/office/drawing/2014/main" id="{1AFF1450-04A3-4D69-9E54-ECE36A75DB5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617" y="1678"/>
                      <a:ext cx="59" cy="43"/>
                    </a:xfrm>
                    <a:custGeom>
                      <a:avLst/>
                      <a:gdLst>
                        <a:gd name="T0" fmla="*/ 58 w 59"/>
                        <a:gd name="T1" fmla="*/ 42 h 43"/>
                        <a:gd name="T2" fmla="*/ 54 w 59"/>
                        <a:gd name="T3" fmla="*/ 36 h 43"/>
                        <a:gd name="T4" fmla="*/ 53 w 59"/>
                        <a:gd name="T5" fmla="*/ 28 h 43"/>
                        <a:gd name="T6" fmla="*/ 50 w 59"/>
                        <a:gd name="T7" fmla="*/ 21 h 43"/>
                        <a:gd name="T8" fmla="*/ 45 w 59"/>
                        <a:gd name="T9" fmla="*/ 16 h 43"/>
                        <a:gd name="T10" fmla="*/ 40 w 59"/>
                        <a:gd name="T11" fmla="*/ 10 h 43"/>
                        <a:gd name="T12" fmla="*/ 37 w 59"/>
                        <a:gd name="T13" fmla="*/ 7 h 43"/>
                        <a:gd name="T14" fmla="*/ 33 w 59"/>
                        <a:gd name="T15" fmla="*/ 4 h 43"/>
                        <a:gd name="T16" fmla="*/ 28 w 59"/>
                        <a:gd name="T17" fmla="*/ 2 h 43"/>
                        <a:gd name="T18" fmla="*/ 23 w 59"/>
                        <a:gd name="T19" fmla="*/ 0 h 43"/>
                        <a:gd name="T20" fmla="*/ 17 w 59"/>
                        <a:gd name="T21" fmla="*/ 0 h 43"/>
                        <a:gd name="T22" fmla="*/ 11 w 59"/>
                        <a:gd name="T23" fmla="*/ 0 h 43"/>
                        <a:gd name="T24" fmla="*/ 6 w 59"/>
                        <a:gd name="T25" fmla="*/ 1 h 43"/>
                        <a:gd name="T26" fmla="*/ 4 w 59"/>
                        <a:gd name="T27" fmla="*/ 2 h 43"/>
                        <a:gd name="T28" fmla="*/ 0 w 59"/>
                        <a:gd name="T29" fmla="*/ 4 h 43"/>
                        <a:gd name="T30" fmla="*/ 0 w 59"/>
                        <a:gd name="T31" fmla="*/ 5 h 43"/>
                        <a:gd name="T32" fmla="*/ 0 w 59"/>
                        <a:gd name="T33" fmla="*/ 7 h 43"/>
                        <a:gd name="T34" fmla="*/ 0 w 59"/>
                        <a:gd name="T35" fmla="*/ 10 h 43"/>
                        <a:gd name="T36" fmla="*/ 0 w 59"/>
                        <a:gd name="T37" fmla="*/ 13 h 43"/>
                        <a:gd name="T38" fmla="*/ 0 w 59"/>
                        <a:gd name="T39" fmla="*/ 16 h 43"/>
                        <a:gd name="T40" fmla="*/ 3 w 59"/>
                        <a:gd name="T41" fmla="*/ 17 h 43"/>
                        <a:gd name="T42" fmla="*/ 4 w 59"/>
                        <a:gd name="T43" fmla="*/ 20 h 43"/>
                        <a:gd name="T44" fmla="*/ 6 w 59"/>
                        <a:gd name="T45" fmla="*/ 21 h 43"/>
                        <a:gd name="T46" fmla="*/ 9 w 59"/>
                        <a:gd name="T47" fmla="*/ 21 h 43"/>
                        <a:gd name="T48" fmla="*/ 12 w 59"/>
                        <a:gd name="T49" fmla="*/ 21 h 43"/>
                        <a:gd name="T50" fmla="*/ 15 w 59"/>
                        <a:gd name="T51" fmla="*/ 23 h 43"/>
                        <a:gd name="T52" fmla="*/ 17 w 59"/>
                        <a:gd name="T53" fmla="*/ 23 h 43"/>
                        <a:gd name="T54" fmla="*/ 22 w 59"/>
                        <a:gd name="T55" fmla="*/ 23 h 43"/>
                        <a:gd name="T56" fmla="*/ 25 w 59"/>
                        <a:gd name="T57" fmla="*/ 21 h 43"/>
                        <a:gd name="T58" fmla="*/ 31 w 59"/>
                        <a:gd name="T59" fmla="*/ 23 h 43"/>
                        <a:gd name="T60" fmla="*/ 35 w 59"/>
                        <a:gd name="T61" fmla="*/ 24 h 43"/>
                        <a:gd name="T62" fmla="*/ 39 w 59"/>
                        <a:gd name="T63" fmla="*/ 26 h 43"/>
                        <a:gd name="T64" fmla="*/ 42 w 59"/>
                        <a:gd name="T65" fmla="*/ 28 h 43"/>
                        <a:gd name="T66" fmla="*/ 47 w 59"/>
                        <a:gd name="T67" fmla="*/ 31 h 43"/>
                        <a:gd name="T68" fmla="*/ 50 w 59"/>
                        <a:gd name="T69" fmla="*/ 34 h 43"/>
                        <a:gd name="T70" fmla="*/ 53 w 59"/>
                        <a:gd name="T71" fmla="*/ 37 h 43"/>
                        <a:gd name="T72" fmla="*/ 58 w 59"/>
                        <a:gd name="T73" fmla="*/ 42 h 4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9"/>
                        <a:gd name="T112" fmla="*/ 0 h 43"/>
                        <a:gd name="T113" fmla="*/ 59 w 59"/>
                        <a:gd name="T114" fmla="*/ 43 h 43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9" h="43">
                          <a:moveTo>
                            <a:pt x="58" y="42"/>
                          </a:moveTo>
                          <a:lnTo>
                            <a:pt x="54" y="36"/>
                          </a:lnTo>
                          <a:lnTo>
                            <a:pt x="53" y="28"/>
                          </a:lnTo>
                          <a:lnTo>
                            <a:pt x="50" y="21"/>
                          </a:lnTo>
                          <a:lnTo>
                            <a:pt x="45" y="16"/>
                          </a:lnTo>
                          <a:lnTo>
                            <a:pt x="40" y="10"/>
                          </a:lnTo>
                          <a:lnTo>
                            <a:pt x="37" y="7"/>
                          </a:lnTo>
                          <a:lnTo>
                            <a:pt x="33" y="4"/>
                          </a:lnTo>
                          <a:lnTo>
                            <a:pt x="28" y="2"/>
                          </a:lnTo>
                          <a:lnTo>
                            <a:pt x="23" y="0"/>
                          </a:lnTo>
                          <a:lnTo>
                            <a:pt x="17" y="0"/>
                          </a:lnTo>
                          <a:lnTo>
                            <a:pt x="11" y="0"/>
                          </a:lnTo>
                          <a:lnTo>
                            <a:pt x="6" y="1"/>
                          </a:lnTo>
                          <a:lnTo>
                            <a:pt x="4" y="2"/>
                          </a:lnTo>
                          <a:lnTo>
                            <a:pt x="0" y="4"/>
                          </a:lnTo>
                          <a:lnTo>
                            <a:pt x="0" y="5"/>
                          </a:lnTo>
                          <a:lnTo>
                            <a:pt x="0" y="7"/>
                          </a:lnTo>
                          <a:lnTo>
                            <a:pt x="0" y="10"/>
                          </a:lnTo>
                          <a:lnTo>
                            <a:pt x="0" y="13"/>
                          </a:lnTo>
                          <a:lnTo>
                            <a:pt x="0" y="16"/>
                          </a:lnTo>
                          <a:lnTo>
                            <a:pt x="3" y="17"/>
                          </a:lnTo>
                          <a:lnTo>
                            <a:pt x="4" y="20"/>
                          </a:lnTo>
                          <a:lnTo>
                            <a:pt x="6" y="21"/>
                          </a:lnTo>
                          <a:lnTo>
                            <a:pt x="9" y="21"/>
                          </a:lnTo>
                          <a:lnTo>
                            <a:pt x="12" y="21"/>
                          </a:lnTo>
                          <a:lnTo>
                            <a:pt x="15" y="23"/>
                          </a:lnTo>
                          <a:lnTo>
                            <a:pt x="17" y="23"/>
                          </a:lnTo>
                          <a:lnTo>
                            <a:pt x="22" y="23"/>
                          </a:lnTo>
                          <a:lnTo>
                            <a:pt x="25" y="21"/>
                          </a:lnTo>
                          <a:lnTo>
                            <a:pt x="31" y="23"/>
                          </a:lnTo>
                          <a:lnTo>
                            <a:pt x="35" y="24"/>
                          </a:lnTo>
                          <a:lnTo>
                            <a:pt x="39" y="26"/>
                          </a:lnTo>
                          <a:lnTo>
                            <a:pt x="42" y="28"/>
                          </a:lnTo>
                          <a:lnTo>
                            <a:pt x="47" y="31"/>
                          </a:lnTo>
                          <a:lnTo>
                            <a:pt x="50" y="34"/>
                          </a:lnTo>
                          <a:lnTo>
                            <a:pt x="53" y="37"/>
                          </a:lnTo>
                          <a:lnTo>
                            <a:pt x="58" y="4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</p:grpSp>
            </p:grpSp>
          </p:grpSp>
          <p:grpSp>
            <p:nvGrpSpPr>
              <p:cNvPr id="25623" name="Group 20">
                <a:extLst>
                  <a:ext uri="{FF2B5EF4-FFF2-40B4-BE49-F238E27FC236}">
                    <a16:creationId xmlns:a16="http://schemas.microsoft.com/office/drawing/2014/main" id="{5B38B01C-F229-447D-BABB-471106D905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34" y="489"/>
                <a:ext cx="1680" cy="1613"/>
                <a:chOff x="3234" y="489"/>
                <a:chExt cx="1680" cy="1613"/>
              </a:xfrm>
            </p:grpSpPr>
            <p:sp>
              <p:nvSpPr>
                <p:cNvPr id="25627" name="Oval 21">
                  <a:extLst>
                    <a:ext uri="{FF2B5EF4-FFF2-40B4-BE49-F238E27FC236}">
                      <a16:creationId xmlns:a16="http://schemas.microsoft.com/office/drawing/2014/main" id="{34D23594-1B3F-455F-A921-A16073D0C5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34" y="489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5628" name="Picture 22">
                  <a:extLst>
                    <a:ext uri="{FF2B5EF4-FFF2-40B4-BE49-F238E27FC236}">
                      <a16:creationId xmlns:a16="http://schemas.microsoft.com/office/drawing/2014/main" id="{2EEB879E-3B9D-45FC-A2B4-07F7BD90636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90" y="760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5624" name="Group 23">
                <a:extLst>
                  <a:ext uri="{FF2B5EF4-FFF2-40B4-BE49-F238E27FC236}">
                    <a16:creationId xmlns:a16="http://schemas.microsoft.com/office/drawing/2014/main" id="{1C8F3B33-AD45-478C-BDC8-CC8170E7EE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" y="1881"/>
                <a:ext cx="1680" cy="1613"/>
                <a:chOff x="18" y="1881"/>
                <a:chExt cx="1680" cy="1613"/>
              </a:xfrm>
            </p:grpSpPr>
            <p:sp>
              <p:nvSpPr>
                <p:cNvPr id="25625" name="Oval 24">
                  <a:extLst>
                    <a:ext uri="{FF2B5EF4-FFF2-40B4-BE49-F238E27FC236}">
                      <a16:creationId xmlns:a16="http://schemas.microsoft.com/office/drawing/2014/main" id="{DBBC0679-1806-4D67-8304-FFD9AF0782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" y="1881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5626" name="Picture 25">
                  <a:extLst>
                    <a:ext uri="{FF2B5EF4-FFF2-40B4-BE49-F238E27FC236}">
                      <a16:creationId xmlns:a16="http://schemas.microsoft.com/office/drawing/2014/main" id="{695C1CC9-C6A9-48DC-A6FE-CE787AC4E786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2152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25608" name="Rectangle 26">
              <a:extLst>
                <a:ext uri="{FF2B5EF4-FFF2-40B4-BE49-F238E27FC236}">
                  <a16:creationId xmlns:a16="http://schemas.microsoft.com/office/drawing/2014/main" id="{DDDE5E05-2D49-4999-95B0-321AA17D863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20000">
              <a:off x="2868" y="2448"/>
              <a:ext cx="142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ja-JP" sz="1633" b="1">
                  <a:solidFill>
                    <a:schemeClr val="tx1"/>
                  </a:solidFill>
                  <a:latin typeface="Times New Roman" panose="02020603050405020304" pitchFamily="18" charset="0"/>
                  <a:ea typeface="HG明朝B"/>
                  <a:cs typeface="HG明朝B"/>
                </a:rPr>
                <a:t>NEW STANDARD</a:t>
              </a:r>
            </a:p>
          </p:txBody>
        </p:sp>
        <p:sp>
          <p:nvSpPr>
            <p:cNvPr id="25609" name="Rectangle 27">
              <a:extLst>
                <a:ext uri="{FF2B5EF4-FFF2-40B4-BE49-F238E27FC236}">
                  <a16:creationId xmlns:a16="http://schemas.microsoft.com/office/drawing/2014/main" id="{FF2128F6-14CF-4A42-8E74-AA4AE48C3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" y="3238"/>
              <a:ext cx="124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ja-JP" sz="1633" b="1">
                  <a:solidFill>
                    <a:schemeClr val="tx1"/>
                  </a:solidFill>
                  <a:latin typeface="Times New Roman" panose="02020603050405020304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5610" name="Line 28">
              <a:extLst>
                <a:ext uri="{FF2B5EF4-FFF2-40B4-BE49-F238E27FC236}">
                  <a16:creationId xmlns:a16="http://schemas.microsoft.com/office/drawing/2014/main" id="{71C6522B-0461-466B-BD69-5000A0F963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9" y="3216"/>
              <a:ext cx="3768" cy="0"/>
            </a:xfrm>
            <a:prstGeom prst="line">
              <a:avLst/>
            </a:prstGeom>
            <a:noFill/>
            <a:ln w="25400">
              <a:solidFill>
                <a:srgbClr val="CCFFFF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1" name="Rectangle 29">
              <a:extLst>
                <a:ext uri="{FF2B5EF4-FFF2-40B4-BE49-F238E27FC236}">
                  <a16:creationId xmlns:a16="http://schemas.microsoft.com/office/drawing/2014/main" id="{F56508A6-10B6-4BA3-AD80-63B5D4319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3670"/>
              <a:ext cx="134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ja-JP" sz="1996" b="1" i="1">
                  <a:solidFill>
                    <a:schemeClr val="tx1"/>
                  </a:solidFill>
                  <a:latin typeface="Arial Black" panose="020B0A04020102020204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5612" name="Rectangle 30">
              <a:extLst>
                <a:ext uri="{FF2B5EF4-FFF2-40B4-BE49-F238E27FC236}">
                  <a16:creationId xmlns:a16="http://schemas.microsoft.com/office/drawing/2014/main" id="{E5D96428-2E93-464A-8FCB-59FE9EFF0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2160"/>
              <a:ext cx="13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ja-JP" sz="1996" b="1" i="1">
                  <a:solidFill>
                    <a:schemeClr val="tx1"/>
                  </a:solidFill>
                  <a:latin typeface="Arial Black" panose="020B0A04020102020204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5613" name="Rectangle 31">
              <a:extLst>
                <a:ext uri="{FF2B5EF4-FFF2-40B4-BE49-F238E27FC236}">
                  <a16:creationId xmlns:a16="http://schemas.microsoft.com/office/drawing/2014/main" id="{37F49550-DEC0-469E-86C8-7005A56D9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854"/>
              <a:ext cx="86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ja-JP" sz="1996" b="1" i="1">
                  <a:solidFill>
                    <a:schemeClr val="tx1"/>
                  </a:solidFill>
                  <a:latin typeface="Arial Black" panose="020B0A04020102020204" pitchFamily="34" charset="0"/>
                  <a:ea typeface="HG明朝B"/>
                  <a:cs typeface="HG明朝B"/>
                </a:rPr>
                <a:t>KAIZEN</a:t>
              </a:r>
            </a:p>
          </p:txBody>
        </p:sp>
        <p:sp>
          <p:nvSpPr>
            <p:cNvPr id="25614" name="Line 32">
              <a:extLst>
                <a:ext uri="{FF2B5EF4-FFF2-40B4-BE49-F238E27FC236}">
                  <a16:creationId xmlns:a16="http://schemas.microsoft.com/office/drawing/2014/main" id="{C12BEC5D-7C3B-4776-89A9-9D44338D7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528"/>
            </a:xfrm>
            <a:prstGeom prst="line">
              <a:avLst/>
            </a:prstGeom>
            <a:noFill/>
            <a:ln w="25400">
              <a:solidFill>
                <a:srgbClr val="CCFFCC"/>
              </a:solidFill>
              <a:prstDash val="sysDot"/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5" name="Line 33">
              <a:extLst>
                <a:ext uri="{FF2B5EF4-FFF2-40B4-BE49-F238E27FC236}">
                  <a16:creationId xmlns:a16="http://schemas.microsoft.com/office/drawing/2014/main" id="{FA348AAC-0804-4FDC-8F86-8CA9942B19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1776"/>
              <a:ext cx="0" cy="912"/>
            </a:xfrm>
            <a:prstGeom prst="line">
              <a:avLst/>
            </a:prstGeom>
            <a:noFill/>
            <a:ln w="127000">
              <a:solidFill>
                <a:srgbClr val="99CC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6" name="Rectangle 34">
              <a:extLst>
                <a:ext uri="{FF2B5EF4-FFF2-40B4-BE49-F238E27FC236}">
                  <a16:creationId xmlns:a16="http://schemas.microsoft.com/office/drawing/2014/main" id="{A3C5BD49-C774-4E9A-9B29-EA112A87E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" y="1838"/>
              <a:ext cx="1201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ja-JP" sz="1633" b="1">
                  <a:solidFill>
                    <a:schemeClr val="tx1"/>
                  </a:solidFill>
                  <a:latin typeface="Times New Roman" panose="02020603050405020304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5617" name="Line 35">
              <a:extLst>
                <a:ext uri="{FF2B5EF4-FFF2-40B4-BE49-F238E27FC236}">
                  <a16:creationId xmlns:a16="http://schemas.microsoft.com/office/drawing/2014/main" id="{AB404DB0-5130-4577-ADBC-3F90CB3989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1598"/>
              <a:ext cx="1251" cy="192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8" name="Line 36">
              <a:extLst>
                <a:ext uri="{FF2B5EF4-FFF2-40B4-BE49-F238E27FC236}">
                  <a16:creationId xmlns:a16="http://schemas.microsoft.com/office/drawing/2014/main" id="{7261AA67-E903-4098-A647-E15486FFCD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838"/>
              <a:ext cx="142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grpSp>
          <p:nvGrpSpPr>
            <p:cNvPr id="25619" name="Group 37">
              <a:extLst>
                <a:ext uri="{FF2B5EF4-FFF2-40B4-BE49-F238E27FC236}">
                  <a16:creationId xmlns:a16="http://schemas.microsoft.com/office/drawing/2014/main" id="{A03B6B5E-28B1-45D8-BC18-767B3FB090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3" y="2678"/>
              <a:ext cx="3259" cy="1472"/>
              <a:chOff x="1063" y="2678"/>
              <a:chExt cx="3259" cy="1472"/>
            </a:xfrm>
          </p:grpSpPr>
          <p:sp>
            <p:nvSpPr>
              <p:cNvPr id="25620" name="Line 38">
                <a:extLst>
                  <a:ext uri="{FF2B5EF4-FFF2-40B4-BE49-F238E27FC236}">
                    <a16:creationId xmlns:a16="http://schemas.microsoft.com/office/drawing/2014/main" id="{6315B84C-0041-450F-8A19-C0FEAF6895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3" y="3142"/>
                <a:ext cx="0" cy="1008"/>
              </a:xfrm>
              <a:prstGeom prst="line">
                <a:avLst/>
              </a:prstGeom>
              <a:noFill/>
              <a:ln w="127000">
                <a:solidFill>
                  <a:srgbClr val="99CC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633"/>
              </a:p>
            </p:txBody>
          </p:sp>
          <p:sp>
            <p:nvSpPr>
              <p:cNvPr id="25621" name="Line 39">
                <a:extLst>
                  <a:ext uri="{FF2B5EF4-FFF2-40B4-BE49-F238E27FC236}">
                    <a16:creationId xmlns:a16="http://schemas.microsoft.com/office/drawing/2014/main" id="{EC0E3959-EB6C-4891-9F79-1102BCF2E5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3" y="2678"/>
                <a:ext cx="3259" cy="512"/>
              </a:xfrm>
              <a:prstGeom prst="line">
                <a:avLst/>
              </a:prstGeom>
              <a:noFill/>
              <a:ln w="1270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633"/>
              </a:p>
            </p:txBody>
          </p:sp>
        </p:grpSp>
      </p:grpSp>
      <p:sp>
        <p:nvSpPr>
          <p:cNvPr id="624680" name="Rectangle 40">
            <a:extLst>
              <a:ext uri="{FF2B5EF4-FFF2-40B4-BE49-F238E27FC236}">
                <a16:creationId xmlns:a16="http://schemas.microsoft.com/office/drawing/2014/main" id="{828AE3E1-9E6F-47B3-B8A5-145775315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961" y="229321"/>
            <a:ext cx="8762400" cy="83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/>
          <a:p>
            <a:pPr defTabSz="914414" eaLnBrk="0" hangingPunct="0">
              <a:defRPr/>
            </a:pPr>
            <a:r>
              <a:rPr kumimoji="1" lang="en-US" altLang="ja-JP" sz="4808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 </a:t>
            </a:r>
            <a:r>
              <a:rPr kumimoji="1" lang="en-US" altLang="ja-JP" sz="2812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PLUS </a:t>
            </a:r>
            <a:r>
              <a:rPr kumimoji="1" lang="en-US" altLang="ja-JP" sz="4808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sp>
        <p:nvSpPr>
          <p:cNvPr id="25606" name="Rectangle 41">
            <a:extLst>
              <a:ext uri="{FF2B5EF4-FFF2-40B4-BE49-F238E27FC236}">
                <a16:creationId xmlns:a16="http://schemas.microsoft.com/office/drawing/2014/main" id="{22B733B0-7127-43E5-812D-49B490BFF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80" y="1103401"/>
            <a:ext cx="4343040" cy="118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ja-JP" sz="2358">
                <a:solidFill>
                  <a:schemeClr val="tx1"/>
                </a:solidFill>
                <a:ea typeface="HG明朝B"/>
                <a:cs typeface="HG明朝B"/>
              </a:rPr>
              <a:t>Desirable progress by combination of two opposing approaches</a:t>
            </a:r>
          </a:p>
        </p:txBody>
      </p:sp>
    </p:spTree>
    <p:extLst>
      <p:ext uri="{BB962C8B-B14F-4D97-AF65-F5344CB8AC3E}">
        <p14:creationId xmlns:p14="http://schemas.microsoft.com/office/powerpoint/2010/main" val="218951132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018" y="0"/>
            <a:ext cx="9193017" cy="6850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918037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7" y="3794095"/>
            <a:ext cx="3248553" cy="2193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1390936" y="857252"/>
            <a:ext cx="6324600" cy="507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700" b="1" dirty="0">
                <a:solidFill>
                  <a:schemeClr val="tx1"/>
                </a:solidFill>
              </a:rPr>
              <a:t>CHOWGACHA UHC-Through the Ages</a:t>
            </a:r>
            <a:endParaRPr lang="en-US" sz="21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6801" y="1586446"/>
            <a:ext cx="3072205" cy="2071154"/>
          </a:xfrm>
          <a:prstGeom prst="rect">
            <a:avLst/>
          </a:prstGeom>
          <a:blipFill dpi="0" rotWithShape="1">
            <a:blip r:embed="rId5" cstate="print"/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233" y="3758665"/>
            <a:ext cx="3072205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066800" y="1600200"/>
            <a:ext cx="1219200" cy="36933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tx1"/>
                </a:solidFill>
              </a:rPr>
              <a:t>Old UHC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066801" y="3733800"/>
            <a:ext cx="1820182" cy="36933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tx1"/>
                </a:solidFill>
              </a:rPr>
              <a:t>50-bedded UHC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6781801" y="3810000"/>
            <a:ext cx="1676400" cy="36933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tx1"/>
                </a:solidFill>
              </a:rPr>
              <a:t>31-bedded UHC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 descr="E:\$L_AG\Final\IMG-20201113-WA000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6" y="1586447"/>
            <a:ext cx="3286014" cy="204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097197" y="1581009"/>
            <a:ext cx="1190562" cy="36933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tx1"/>
                </a:solidFill>
              </a:rPr>
              <a:t>Old UHC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05475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23338902_357949735289465_2022138112910056218_n.jpg"/>
          <p:cNvPicPr>
            <a:picLocks noChangeAspect="1"/>
          </p:cNvPicPr>
          <p:nvPr/>
        </p:nvPicPr>
        <p:blipFill>
          <a:blip r:embed="rId2"/>
          <a:srcRect l="14445" r="7778" b="33704"/>
          <a:stretch>
            <a:fillRect/>
          </a:stretch>
        </p:blipFill>
        <p:spPr>
          <a:xfrm>
            <a:off x="0" y="3711212"/>
            <a:ext cx="2743200" cy="2289538"/>
          </a:xfrm>
          <a:prstGeom prst="rect">
            <a:avLst/>
          </a:prstGeom>
        </p:spPr>
      </p:pic>
      <p:pic>
        <p:nvPicPr>
          <p:cNvPr id="8" name="Picture 7" descr="123987180_358016088633264_7440447193674186206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0200"/>
            <a:ext cx="9144000" cy="2146102"/>
          </a:xfrm>
          <a:prstGeom prst="rect">
            <a:avLst/>
          </a:prstGeom>
        </p:spPr>
      </p:pic>
      <p:pic>
        <p:nvPicPr>
          <p:cNvPr id="9" name="Picture 8" descr="124981287_284963982782478_7865259408336761610_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1" y="3714750"/>
            <a:ext cx="2967777" cy="2286000"/>
          </a:xfrm>
          <a:prstGeom prst="rect">
            <a:avLst/>
          </a:prstGeom>
        </p:spPr>
      </p:pic>
      <p:pic>
        <p:nvPicPr>
          <p:cNvPr id="10" name="Picture 9" descr="124577046_390549818733675_5808906727791639712_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733800"/>
            <a:ext cx="3429000" cy="2266950"/>
          </a:xfrm>
          <a:prstGeom prst="rect">
            <a:avLst/>
          </a:prstGeom>
        </p:spPr>
      </p:pic>
      <p:sp>
        <p:nvSpPr>
          <p:cNvPr id="11" name="Text Placeholder 9"/>
          <p:cNvSpPr txBox="1">
            <a:spLocks/>
          </p:cNvSpPr>
          <p:nvPr/>
        </p:nvSpPr>
        <p:spPr>
          <a:xfrm>
            <a:off x="1676400" y="857250"/>
            <a:ext cx="6172200" cy="5905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b="1" dirty="0">
                <a:latin typeface="Berlin Sans FB" pitchFamily="34" charset="0"/>
              </a:rPr>
              <a:t>Beautification of the Premises</a:t>
            </a:r>
          </a:p>
        </p:txBody>
      </p:sp>
    </p:spTree>
    <p:extLst>
      <p:ext uri="{BB962C8B-B14F-4D97-AF65-F5344CB8AC3E}">
        <p14:creationId xmlns:p14="http://schemas.microsoft.com/office/powerpoint/2010/main" val="243606168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205172"/>
            <a:ext cx="6172200" cy="12573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000" b="1" dirty="0"/>
              <a:t>A Hospital with a Vision </a:t>
            </a:r>
            <a:r>
              <a:rPr lang="en-US" sz="2700" b="1" dirty="0"/>
              <a:t>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3801629" y="1600200"/>
            <a:ext cx="5056632" cy="161844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2400" b="1" dirty="0"/>
              <a:t>Maximum utilization of Govt.</a:t>
            </a:r>
          </a:p>
          <a:p>
            <a:pPr algn="ctr" eaLnBrk="0" hangingPunct="0"/>
            <a:r>
              <a:rPr lang="en-US" sz="2400" b="1" dirty="0"/>
              <a:t>resources with </a:t>
            </a:r>
          </a:p>
          <a:p>
            <a:pPr algn="ctr" eaLnBrk="0" hangingPunct="0"/>
            <a:r>
              <a:rPr lang="en-US" sz="2400" b="1" dirty="0"/>
              <a:t>honesty and sincerity.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3962400" y="4899706"/>
            <a:ext cx="5056632" cy="179916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400" b="1" dirty="0"/>
              <a:t>Providing Effective  services </a:t>
            </a:r>
          </a:p>
          <a:p>
            <a:pPr algn="ctr" eaLnBrk="0" hangingPunct="0"/>
            <a:r>
              <a:rPr lang="en-US" sz="2400" b="1" dirty="0"/>
              <a:t>through improved </a:t>
            </a:r>
          </a:p>
          <a:p>
            <a:pPr algn="ctr" eaLnBrk="0" hangingPunct="0"/>
            <a:r>
              <a:rPr lang="en-US" sz="2400" b="1" dirty="0"/>
              <a:t>management system</a:t>
            </a:r>
            <a:r>
              <a:rPr lang="en-US" sz="1400" b="1" dirty="0"/>
              <a:t>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09600" y="2075249"/>
            <a:ext cx="3006105" cy="804944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09601" y="5431942"/>
            <a:ext cx="3192028" cy="804944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3801628" y="3249953"/>
            <a:ext cx="5056631" cy="161844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400" b="1" dirty="0"/>
              <a:t>Integrated approach of </a:t>
            </a:r>
          </a:p>
          <a:p>
            <a:pPr algn="ctr" eaLnBrk="0" hangingPunct="0"/>
            <a:r>
              <a:rPr lang="en-US" sz="2400" b="1" dirty="0"/>
              <a:t>Administration, Community</a:t>
            </a:r>
          </a:p>
          <a:p>
            <a:pPr algn="ctr" eaLnBrk="0" hangingPunct="0"/>
            <a:r>
              <a:rPr lang="en-US" sz="2400" b="1" dirty="0"/>
              <a:t>Leaders </a:t>
            </a:r>
            <a:r>
              <a:rPr lang="en-US" sz="1400" b="1" dirty="0"/>
              <a:t>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609601" y="3819039"/>
            <a:ext cx="3192028" cy="804944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7293991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513431" y="1823703"/>
            <a:ext cx="4127500" cy="63435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Cycle stand near the entrance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quarter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491885"/>
            <a:ext cx="4127500" cy="2800350"/>
          </a:xfrm>
        </p:spPr>
      </p:pic>
      <p:sp>
        <p:nvSpPr>
          <p:cNvPr id="9" name="Rectangle 8"/>
          <p:cNvSpPr/>
          <p:nvPr/>
        </p:nvSpPr>
        <p:spPr>
          <a:xfrm>
            <a:off x="396822" y="5263287"/>
            <a:ext cx="4724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“Pushti Tray” – Nutritional Education in IMCI Corner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390986"/>
            <a:ext cx="7200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Innovations of Chowgacha Health Complex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1" y="3549825"/>
            <a:ext cx="3962399" cy="245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14187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3429000" y="234169"/>
            <a:ext cx="2592572" cy="586446"/>
          </a:xfrm>
        </p:spPr>
        <p:txBody>
          <a:bodyPr>
            <a:normAutofit/>
          </a:bodyPr>
          <a:lstStyle/>
          <a:p>
            <a:pPr algn="ctr"/>
            <a:r>
              <a:rPr lang="en-US" sz="2100" dirty="0"/>
              <a:t>Activities of UHC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5" t="3481" r="11055" b="27102"/>
          <a:stretch/>
        </p:blipFill>
        <p:spPr>
          <a:xfrm>
            <a:off x="200461" y="932733"/>
            <a:ext cx="4102396" cy="5691098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t="4074" b="23333"/>
          <a:stretch/>
        </p:blipFill>
        <p:spPr>
          <a:xfrm>
            <a:off x="4876800" y="943983"/>
            <a:ext cx="3949996" cy="561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549592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ubtitle 2"/>
          <p:cNvSpPr>
            <a:spLocks noGrp="1"/>
          </p:cNvSpPr>
          <p:nvPr/>
        </p:nvSpPr>
        <p:spPr bwMode="auto">
          <a:xfrm>
            <a:off x="5110716" y="533401"/>
            <a:ext cx="3733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>
              <a:spcBef>
                <a:spcPct val="20000"/>
              </a:spcBef>
            </a:pPr>
            <a:r>
              <a:rPr lang="en-US" sz="2800" dirty="0">
                <a:latin typeface="Calibri" pitchFamily="34" charset="0"/>
              </a:rPr>
              <a:t>Blood donation program stared in 16 December, 1996 in </a:t>
            </a:r>
            <a:r>
              <a:rPr lang="en-US" sz="2800" dirty="0" err="1">
                <a:latin typeface="Calibri" pitchFamily="34" charset="0"/>
              </a:rPr>
              <a:t>Chowgacha</a:t>
            </a:r>
            <a:r>
              <a:rPr lang="en-US" sz="2800" dirty="0">
                <a:latin typeface="Calibri" pitchFamily="34" charset="0"/>
              </a:rPr>
              <a:t> UHC</a:t>
            </a:r>
            <a:endParaRPr lang="en-GB" sz="2800" dirty="0">
              <a:latin typeface="Calibri" pitchFamily="34" charset="0"/>
            </a:endParaRPr>
          </a:p>
        </p:txBody>
      </p:sp>
      <p:pic>
        <p:nvPicPr>
          <p:cNvPr id="37891" name="Picture 4" descr="H:\D. S. Islam\ee.jpg"/>
          <p:cNvPicPr>
            <a:picLocks noGrp="1"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49862"/>
            <a:ext cx="4781331" cy="315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 descr="H:\D. S. Islam\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710320"/>
            <a:ext cx="4882118" cy="314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Subtitle 2"/>
          <p:cNvSpPr txBox="1">
            <a:spLocks/>
          </p:cNvSpPr>
          <p:nvPr/>
        </p:nvSpPr>
        <p:spPr bwMode="auto">
          <a:xfrm>
            <a:off x="0" y="3939714"/>
            <a:ext cx="4267200" cy="2465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A seminar on ‘Importance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 of birth &amp; death registration and 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prevention of early marriage’ 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at </a:t>
            </a:r>
            <a:r>
              <a:rPr lang="en-US" sz="2400" dirty="0" err="1">
                <a:latin typeface="Calibri" pitchFamily="34" charset="0"/>
              </a:rPr>
              <a:t>Chowgacha</a:t>
            </a:r>
            <a:r>
              <a:rPr lang="en-US" sz="2400" dirty="0">
                <a:latin typeface="Calibri" pitchFamily="34" charset="0"/>
              </a:rPr>
              <a:t> 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Degree College in June, 1997. 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DC Jessore was the chief guest. </a:t>
            </a:r>
            <a:endParaRPr lang="en-GB" sz="24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04630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$L_AG\Final\DSC0558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0" y="990600"/>
            <a:ext cx="3938838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9"/>
          <p:cNvSpPr>
            <a:spLocks noGrp="1"/>
          </p:cNvSpPr>
          <p:nvPr>
            <p:ph type="body" idx="1"/>
          </p:nvPr>
        </p:nvSpPr>
        <p:spPr>
          <a:xfrm>
            <a:off x="4897486" y="838201"/>
            <a:ext cx="4398914" cy="1142999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/>
              <a:t>Labour</a:t>
            </a:r>
            <a:r>
              <a:rPr lang="en-US" sz="2800" dirty="0"/>
              <a:t> Ward  with 41=(11+30) beds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4114800" y="1314420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</a:p>
        </p:txBody>
      </p:sp>
      <p:pic>
        <p:nvPicPr>
          <p:cNvPr id="1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072" y="3062177"/>
            <a:ext cx="3842671" cy="3795823"/>
          </a:xfrm>
        </p:spPr>
      </p:pic>
      <p:sp>
        <p:nvSpPr>
          <p:cNvPr id="16" name="Text Placeholder 9"/>
          <p:cNvSpPr>
            <a:spLocks noGrp="1"/>
          </p:cNvSpPr>
          <p:nvPr>
            <p:ph type="body" idx="1"/>
          </p:nvPr>
        </p:nvSpPr>
        <p:spPr>
          <a:xfrm>
            <a:off x="1066800" y="5543580"/>
            <a:ext cx="3972508" cy="1009620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Rest room for</a:t>
            </a:r>
          </a:p>
          <a:p>
            <a:pPr algn="ctr"/>
            <a:r>
              <a:rPr lang="en-US" sz="3200" dirty="0"/>
              <a:t> pregnant mothers</a:t>
            </a:r>
          </a:p>
        </p:txBody>
      </p:sp>
    </p:spTree>
    <p:extLst>
      <p:ext uri="{BB962C8B-B14F-4D97-AF65-F5344CB8AC3E}">
        <p14:creationId xmlns:p14="http://schemas.microsoft.com/office/powerpoint/2010/main" val="1983761050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6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31748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773531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/>
              <a:t>Upazila Health  Complex</a:t>
            </a:r>
            <a:br>
              <a:rPr lang="en-US" sz="3200" b="1"/>
            </a:br>
            <a:r>
              <a:rPr lang="en-US" sz="2000" b="1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/>
          </a:p>
          <a:p>
            <a:pPr algn="ctr">
              <a:buFontTx/>
              <a:buNone/>
            </a:pPr>
            <a:endParaRPr lang="en-US" sz="2800"/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4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13317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2323327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7" y="676563"/>
            <a:ext cx="3916795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804" y="672014"/>
            <a:ext cx="4156364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8" y="3798454"/>
            <a:ext cx="3916795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032" y="3798454"/>
            <a:ext cx="4162136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47633" y="226325"/>
            <a:ext cx="6705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Community Participation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36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2600" b="1" dirty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2600" b="1" dirty="0"/>
              <a:t>TOTAL</a:t>
            </a:r>
            <a:r>
              <a:rPr lang="en-US" sz="2600" dirty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dirty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dirty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dirty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	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419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416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-38100" y="0"/>
            <a:ext cx="9220200" cy="791029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Acheivement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UHC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4472" y="791028"/>
            <a:ext cx="9178471" cy="6066971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lnSpcReduction="10000"/>
          </a:bodyPr>
          <a:lstStyle/>
          <a:p>
            <a:pPr marL="0" indent="0" algn="just">
              <a:spcBef>
                <a:spcPts val="0"/>
              </a:spcBef>
              <a:buNone/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/>
              <a:t>Chowgacha UHC </a:t>
            </a:r>
            <a:r>
              <a:rPr lang="en-US" sz="2400" b="1" dirty="0">
                <a:solidFill>
                  <a:srgbClr val="FF0000"/>
                </a:solidFill>
              </a:rPr>
              <a:t>awarded for EPI in 1989,” Best </a:t>
            </a:r>
            <a:r>
              <a:rPr lang="en-US" sz="2400" b="1" dirty="0" err="1">
                <a:solidFill>
                  <a:srgbClr val="FF0000"/>
                </a:solidFill>
              </a:rPr>
              <a:t>PerformanceAward</a:t>
            </a:r>
            <a:r>
              <a:rPr lang="en-US" sz="2400" b="1" dirty="0">
                <a:solidFill>
                  <a:srgbClr val="FF0000"/>
                </a:solidFill>
              </a:rPr>
              <a:t>” in EOC form 2005 to  2014 &amp; Health Ministers Award stood 1</a:t>
            </a:r>
            <a:r>
              <a:rPr lang="en-US" sz="2400" b="1" baseline="30000" dirty="0">
                <a:solidFill>
                  <a:srgbClr val="FF0000"/>
                </a:solidFill>
              </a:rPr>
              <a:t>st</a:t>
            </a:r>
            <a:r>
              <a:rPr lang="en-US" sz="2400" b="1" dirty="0">
                <a:solidFill>
                  <a:srgbClr val="FF0000"/>
                </a:solidFill>
              </a:rPr>
              <a:t> in  2018 &amp; 2020.</a:t>
            </a:r>
          </a:p>
          <a:p>
            <a:pPr algn="just">
              <a:spcBef>
                <a:spcPts val="0"/>
              </a:spcBef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/>
              <a:t>Implement all the components primary health care &amp; in </a:t>
            </a:r>
            <a:r>
              <a:rPr lang="en-US" sz="2400" b="1" dirty="0">
                <a:solidFill>
                  <a:srgbClr val="FF0000"/>
                </a:solidFill>
              </a:rPr>
              <a:t>2008</a:t>
            </a:r>
            <a:r>
              <a:rPr lang="en-US" sz="2400" b="1" dirty="0"/>
              <a:t>, Chowgacha Health Complex declared as the “</a:t>
            </a:r>
            <a:r>
              <a:rPr lang="en-US" sz="2400" b="1" u="sng" dirty="0">
                <a:solidFill>
                  <a:srgbClr val="FF0000"/>
                </a:solidFill>
                <a:latin typeface="Century Schoolbook" pitchFamily="18" charset="0"/>
              </a:rPr>
              <a:t>Model Upazilla Health Complex by the M0HFW</a:t>
            </a:r>
            <a:endParaRPr lang="en-US" sz="2400" u="sng" dirty="0">
              <a:solidFill>
                <a:srgbClr val="FF0000"/>
              </a:solidFill>
              <a:latin typeface="Century Schoolbook" pitchFamily="18" charset="0"/>
            </a:endParaRPr>
          </a:p>
          <a:p>
            <a:pPr marL="300038" lvl="1" indent="0" algn="just">
              <a:spcBef>
                <a:spcPts val="0"/>
              </a:spcBef>
              <a:buNone/>
              <a:defRPr/>
            </a:pPr>
            <a:endParaRPr lang="en-US" sz="2400" b="1" dirty="0">
              <a:solidFill>
                <a:srgbClr val="FF0000"/>
              </a:solidFill>
            </a:endParaRP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 became the </a:t>
            </a:r>
            <a:r>
              <a:rPr lang="en-US" sz="2400" b="1" dirty="0">
                <a:solidFill>
                  <a:srgbClr val="FF0000"/>
                </a:solidFill>
              </a:rPr>
              <a:t>best EOC center having 41(11+30)  with 98.4%(4413) hospital delivery rate in 2011.</a:t>
            </a: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The UHC starts upgrade to 100  bedded hospital</a:t>
            </a: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Chowgacha UHC model is being replicated throughout the country by DGHS, MOH &amp; FW since 2016 by the order of Prime </a:t>
            </a:r>
            <a:r>
              <a:rPr lang="en-US" sz="2400" b="1" dirty="0" err="1"/>
              <a:t>Minister”office</a:t>
            </a:r>
            <a:r>
              <a:rPr lang="en-US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766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32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" y="665328"/>
            <a:ext cx="3848100" cy="2514600"/>
          </a:xfrm>
        </p:spPr>
      </p:pic>
      <p:sp>
        <p:nvSpPr>
          <p:cNvPr id="77827" name="Rectangle 4"/>
          <p:cNvSpPr>
            <a:spLocks noChangeArrowheads="1"/>
          </p:cNvSpPr>
          <p:nvPr/>
        </p:nvSpPr>
        <p:spPr bwMode="auto">
          <a:xfrm>
            <a:off x="4332288" y="990600"/>
            <a:ext cx="3973512" cy="1015663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eaLnBrk="0" hangingPunct="0"/>
            <a:r>
              <a:rPr lang="en-US" sz="2000" dirty="0"/>
              <a:t>Creation of awareness towards Health Education for the patients and their attendances.</a:t>
            </a:r>
          </a:p>
        </p:txBody>
      </p:sp>
      <p:pic>
        <p:nvPicPr>
          <p:cNvPr id="77828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696" y="3418764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Rectangle 6"/>
          <p:cNvSpPr>
            <a:spLocks noChangeArrowheads="1"/>
          </p:cNvSpPr>
          <p:nvPr/>
        </p:nvSpPr>
        <p:spPr bwMode="auto">
          <a:xfrm>
            <a:off x="152400" y="4343400"/>
            <a:ext cx="3810000" cy="132397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Motivation of the community,  the teachers, reporters, social workers, cultural activists and donors of the hospital 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- 1</a:t>
            </a:r>
          </a:p>
        </p:txBody>
      </p:sp>
    </p:spTree>
    <p:extLst>
      <p:ext uri="{BB962C8B-B14F-4D97-AF65-F5344CB8AC3E}">
        <p14:creationId xmlns:p14="http://schemas.microsoft.com/office/powerpoint/2010/main" val="3963978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Hospital and Introduction of TQM 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3886200"/>
            <a:ext cx="4281094" cy="3002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0412" y="15240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/>
              <a:t>A team of </a:t>
            </a:r>
            <a:r>
              <a:rPr lang="en-US" sz="2000" dirty="0" err="1"/>
              <a:t>Jhenaidah</a:t>
            </a:r>
            <a:r>
              <a:rPr lang="en-US" sz="2000" dirty="0"/>
              <a:t>  District hospital visited to </a:t>
            </a:r>
            <a:r>
              <a:rPr lang="en-US" sz="2000" dirty="0" err="1"/>
              <a:t>Shatkhira</a:t>
            </a:r>
            <a:r>
              <a:rPr lang="en-US" sz="2000" dirty="0"/>
              <a:t> District hospital in 2014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146" y="48768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/>
              <a:t>A meeting was held in </a:t>
            </a:r>
            <a:r>
              <a:rPr lang="en-US" sz="2000" dirty="0" err="1"/>
              <a:t>Shatkhira</a:t>
            </a:r>
            <a:r>
              <a:rPr lang="en-US" sz="2000" dirty="0"/>
              <a:t>  District conference room</a:t>
            </a:r>
          </a:p>
        </p:txBody>
      </p:sp>
    </p:spTree>
    <p:extLst>
      <p:ext uri="{BB962C8B-B14F-4D97-AF65-F5344CB8AC3E}">
        <p14:creationId xmlns:p14="http://schemas.microsoft.com/office/powerpoint/2010/main" val="261314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90407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Pediatric Ward and EOC Ward in 2014.</a:t>
            </a:r>
          </a:p>
        </p:txBody>
      </p:sp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8A6FAB46-D4DC-4955-B04D-5BF29585B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45100" y="782955"/>
            <a:ext cx="3589753" cy="274510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6E62CA87-33B8-441D-989B-1B1FAE89E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304800" y="782955"/>
            <a:ext cx="3789183" cy="2727508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>
            <a:extLst>
              <a:ext uri="{FF2B5EF4-FFF2-40B4-BE49-F238E27FC236}">
                <a16:creationId xmlns:a16="http://schemas.microsoft.com/office/drawing/2014/main" id="{55BFDDC4-F51C-41D7-B9F5-21DCA8EEE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33769"/>
            <a:ext cx="1058743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>
            <a:extLst>
              <a:ext uri="{FF2B5EF4-FFF2-40B4-BE49-F238E27FC236}">
                <a16:creationId xmlns:a16="http://schemas.microsoft.com/office/drawing/2014/main" id="{8C329F57-9516-40AD-8FA9-66514E421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025" y="678180"/>
            <a:ext cx="1058741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833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73138"/>
            <a:ext cx="3886200" cy="26670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5040BD0C-06ED-4A4A-B5C0-ED079DF7CA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803650"/>
            <a:ext cx="4419600" cy="2914650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E8C7CBAC-33FC-4311-8B49-55546B23A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0" y="3838741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37049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52112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4010480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373" y="4185782"/>
            <a:ext cx="4067270" cy="252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Administrator &amp; Mayor in Sadar Hospital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9870"/>
            <a:ext cx="4363439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 </a:t>
            </a:r>
            <a:r>
              <a:rPr lang="en-US" sz="1500" b="1" dirty="0" err="1">
                <a:solidFill>
                  <a:srgbClr val="FF0000"/>
                </a:solidFill>
              </a:rPr>
              <a:t>Perticipation</a:t>
            </a:r>
            <a:r>
              <a:rPr lang="en-US" sz="1500" b="1" dirty="0">
                <a:solidFill>
                  <a:srgbClr val="FF0000"/>
                </a:solidFill>
              </a:rPr>
              <a:t> of Previous MP in beautification</a:t>
            </a:r>
            <a:endParaRPr lang="en-GB" sz="1500" dirty="0"/>
          </a:p>
        </p:txBody>
      </p:sp>
      <p:sp>
        <p:nvSpPr>
          <p:cNvPr id="12" name="Rectangle 11"/>
          <p:cNvSpPr/>
          <p:nvPr/>
        </p:nvSpPr>
        <p:spPr>
          <a:xfrm>
            <a:off x="-20039" y="3985289"/>
            <a:ext cx="3048527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A big cleaning day on 17 March</a:t>
            </a:r>
            <a:endParaRPr lang="en-GB" sz="1500" dirty="0"/>
          </a:p>
        </p:txBody>
      </p:sp>
      <p:sp>
        <p:nvSpPr>
          <p:cNvPr id="13" name="Rectangle 12"/>
          <p:cNvSpPr/>
          <p:nvPr/>
        </p:nvSpPr>
        <p:spPr>
          <a:xfrm>
            <a:off x="5691266" y="3850856"/>
            <a:ext cx="2329484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Crowd control by scout</a:t>
            </a:r>
            <a:endParaRPr lang="en-GB" sz="1500" dirty="0"/>
          </a:p>
        </p:txBody>
      </p:sp>
      <p:pic>
        <p:nvPicPr>
          <p:cNvPr id="16" name="Content Placeholder 3">
            <a:extLst>
              <a:ext uri="{FF2B5EF4-FFF2-40B4-BE49-F238E27FC236}">
                <a16:creationId xmlns:a16="http://schemas.microsoft.com/office/drawing/2014/main" id="{A3BB88F7-AC78-4669-9407-FFB2212920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59479" y="954520"/>
            <a:ext cx="3847874" cy="259614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A6D52DD-003A-4D35-984E-B94CFFD4555C}"/>
              </a:ext>
            </a:extLst>
          </p:cNvPr>
          <p:cNvSpPr/>
          <p:nvPr/>
        </p:nvSpPr>
        <p:spPr>
          <a:xfrm>
            <a:off x="4957563" y="582377"/>
            <a:ext cx="3651705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DC, </a:t>
            </a:r>
            <a:r>
              <a:rPr lang="en-US" sz="1500" b="1" dirty="0" err="1">
                <a:solidFill>
                  <a:srgbClr val="FF0000"/>
                </a:solidFill>
              </a:rPr>
              <a:t>Jhenaidah</a:t>
            </a:r>
            <a:r>
              <a:rPr lang="en-US" sz="1500" b="1" dirty="0">
                <a:solidFill>
                  <a:srgbClr val="FF0000"/>
                </a:solidFill>
              </a:rPr>
              <a:t> Visited </a:t>
            </a:r>
            <a:r>
              <a:rPr lang="en-US" sz="1500" b="1" dirty="0" err="1">
                <a:solidFill>
                  <a:srgbClr val="FF0000"/>
                </a:solidFill>
              </a:rPr>
              <a:t>Sadar</a:t>
            </a:r>
            <a:r>
              <a:rPr lang="en-US" sz="1500" b="1" dirty="0">
                <a:solidFill>
                  <a:srgbClr val="FF0000"/>
                </a:solidFill>
              </a:rPr>
              <a:t> Hospital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64020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21404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Waste Management &amp; Campus Protection -2012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8" descr="DSC02406">
            <a:extLst>
              <a:ext uri="{FF2B5EF4-FFF2-40B4-BE49-F238E27FC236}">
                <a16:creationId xmlns:a16="http://schemas.microsoft.com/office/drawing/2014/main" id="{8F5E5399-F6B2-4D6F-9A39-73801E1E0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3867786"/>
            <a:ext cx="3962400" cy="300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9">
            <a:extLst>
              <a:ext uri="{FF2B5EF4-FFF2-40B4-BE49-F238E27FC236}">
                <a16:creationId xmlns:a16="http://schemas.microsoft.com/office/drawing/2014/main" id="{B38B44C1-EAF7-4A0F-9FF3-7058A3AFD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197" y="3906440"/>
            <a:ext cx="4082477" cy="2970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1">
            <a:extLst>
              <a:ext uri="{FF2B5EF4-FFF2-40B4-BE49-F238E27FC236}">
                <a16:creationId xmlns:a16="http://schemas.microsoft.com/office/drawing/2014/main" id="{25CFE8B7-28AF-42E6-B126-8138ABEFD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41" y="3896361"/>
            <a:ext cx="1003646" cy="3801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C1DE858F-CB10-4F27-A7AE-C07186A80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4198" y="3882075"/>
            <a:ext cx="793176" cy="38016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ight Arrow 9">
            <a:extLst>
              <a:ext uri="{FF2B5EF4-FFF2-40B4-BE49-F238E27FC236}">
                <a16:creationId xmlns:a16="http://schemas.microsoft.com/office/drawing/2014/main" id="{B97AA76F-4E97-4F6E-A0D7-6101C2960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8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0618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5">
            <a:extLst>
              <a:ext uri="{FF2B5EF4-FFF2-40B4-BE49-F238E27FC236}">
                <a16:creationId xmlns:a16="http://schemas.microsoft.com/office/drawing/2014/main" id="{879CCA2B-0EFA-40EE-A405-083B9857D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3688079"/>
            <a:ext cx="4451959" cy="2844284"/>
          </a:xfrm>
          <a:prstGeom prst="rect">
            <a:avLst/>
          </a:prstGeom>
          <a:noFill/>
        </p:spPr>
      </p:pic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97468"/>
            <a:ext cx="4416426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738411"/>
            <a:ext cx="4532312" cy="28442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21" y="3657599"/>
            <a:ext cx="4416425" cy="2845482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-1" y="685800"/>
            <a:ext cx="418576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Intercom system by community sup.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5689208" y="738411"/>
            <a:ext cx="345479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Generator by community sup.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4842113" y="3915261"/>
            <a:ext cx="404469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Pcikup</a:t>
            </a:r>
            <a:r>
              <a:rPr lang="en-US" b="1" dirty="0">
                <a:solidFill>
                  <a:srgbClr val="FF0000"/>
                </a:solidFill>
              </a:rPr>
              <a:t> van by </a:t>
            </a:r>
            <a:r>
              <a:rPr lang="en-US" b="1" dirty="0" err="1">
                <a:solidFill>
                  <a:srgbClr val="FF0000"/>
                </a:solidFill>
              </a:rPr>
              <a:t>Jahedee</a:t>
            </a:r>
            <a:r>
              <a:rPr lang="en-US" b="1" dirty="0">
                <a:solidFill>
                  <a:srgbClr val="FF0000"/>
                </a:solidFill>
              </a:rPr>
              <a:t> Foundation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-1" y="4068574"/>
            <a:ext cx="346761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Extension </a:t>
            </a:r>
            <a:r>
              <a:rPr lang="en-US" b="1" dirty="0">
                <a:solidFill>
                  <a:srgbClr val="FF0000"/>
                </a:solidFill>
              </a:rPr>
              <a:t>of hospital mosque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305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670561"/>
            <a:ext cx="4047260" cy="2698173"/>
          </a:xfrm>
          <a:prstGeom prst="rect">
            <a:avLst/>
          </a:prstGeom>
          <a:noFill/>
        </p:spPr>
      </p:pic>
      <p:pic>
        <p:nvPicPr>
          <p:cNvPr id="2051" name="Picture 3" descr="C:\Users\USER\Desktop\Medicine 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70561"/>
            <a:ext cx="4402282" cy="2698173"/>
          </a:xfrm>
          <a:prstGeom prst="rect">
            <a:avLst/>
          </a:prstGeom>
          <a:noFill/>
        </p:spPr>
      </p:pic>
      <p:pic>
        <p:nvPicPr>
          <p:cNvPr id="2052" name="Picture 4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642361"/>
            <a:ext cx="4402282" cy="3124200"/>
          </a:xfrm>
          <a:prstGeom prst="rect">
            <a:avLst/>
          </a:prstGeom>
          <a:noFill/>
        </p:spPr>
      </p:pic>
      <p:pic>
        <p:nvPicPr>
          <p:cNvPr id="2053" name="Picture 5" descr="C:\Users\USER\Desktop\Medicine 3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53000" y="3642361"/>
            <a:ext cx="4047259" cy="31242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9DA632E-D6A3-42BC-B01B-A055C1EBB13F}"/>
              </a:ext>
            </a:extLst>
          </p:cNvPr>
          <p:cNvSpPr txBox="1">
            <a:spLocks/>
          </p:cNvSpPr>
          <p:nvPr/>
        </p:nvSpPr>
        <p:spPr>
          <a:xfrm>
            <a:off x="152399" y="43210"/>
            <a:ext cx="8847859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Innovation in Medicine Ward</a:t>
            </a:r>
          </a:p>
        </p:txBody>
      </p:sp>
    </p:spTree>
    <p:extLst>
      <p:ext uri="{BB962C8B-B14F-4D97-AF65-F5344CB8AC3E}">
        <p14:creationId xmlns:p14="http://schemas.microsoft.com/office/powerpoint/2010/main" val="133199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990600"/>
            <a:ext cx="9144000" cy="808038"/>
          </a:xfrm>
          <a:blipFill>
            <a:blip r:embed="rId2"/>
            <a:tile tx="0" ty="0" sx="100000" sy="100000" flip="none" algn="tl"/>
          </a:blip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defRPr/>
            </a:pPr>
            <a:br>
              <a:rPr lang="en-US" sz="2400" b="1" dirty="0">
                <a:solidFill>
                  <a:schemeClr val="bg1"/>
                </a:solidFill>
              </a:rPr>
            </a:b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500" b="1" dirty="0">
                <a:solidFill>
                  <a:srgbClr val="00B050"/>
                </a:solidFill>
              </a:rPr>
              <a:t>Comparative data of revenue income </a:t>
            </a:r>
            <a:r>
              <a:rPr lang="en-US" sz="2800" b="1" dirty="0">
                <a:solidFill>
                  <a:srgbClr val="00B050"/>
                </a:solidFill>
              </a:rPr>
              <a:t>(</a:t>
            </a:r>
            <a:r>
              <a:rPr lang="en-US" sz="2200" b="1" dirty="0">
                <a:solidFill>
                  <a:srgbClr val="00B050"/>
                </a:solidFill>
              </a:rPr>
              <a:t>in Taka</a:t>
            </a:r>
            <a:r>
              <a:rPr lang="en-US" sz="2800" b="1" dirty="0">
                <a:solidFill>
                  <a:srgbClr val="00B050"/>
                </a:solidFill>
              </a:rPr>
              <a:t>) from </a:t>
            </a:r>
            <a:r>
              <a:rPr lang="en-US" sz="2600" b="1" dirty="0">
                <a:solidFill>
                  <a:srgbClr val="00B050"/>
                </a:solidFill>
              </a:rPr>
              <a:t>2015 to 2019</a:t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</p:nvPr>
        </p:nvGraphicFramePr>
        <p:xfrm>
          <a:off x="0" y="1752600"/>
          <a:ext cx="9144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</a:p>
        </p:txBody>
      </p:sp>
    </p:spTree>
    <p:extLst>
      <p:ext uri="{BB962C8B-B14F-4D97-AF65-F5344CB8AC3E}">
        <p14:creationId xmlns:p14="http://schemas.microsoft.com/office/powerpoint/2010/main" val="132011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94698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Staff : 53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Cleaner:	20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err="1">
                <a:solidFill>
                  <a:srgbClr val="1F497D">
                    <a:lumMod val="75000"/>
                  </a:srgbClr>
                </a:solidFill>
              </a:rPr>
              <a:t>Aya</a:t>
            </a: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 /Word boy:	21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Security guard:	6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Volunteer:	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Trolley man:	3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Generator.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Intercom.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Biochemical analyzer.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Reformation of medicine, surgery, pediatric word.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Boundary wall repair.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Pic up car.</a:t>
            </a:r>
          </a:p>
        </p:txBody>
      </p:sp>
      <p:sp>
        <p:nvSpPr>
          <p:cNvPr id="5" name="Rectangle 31"/>
          <p:cNvSpPr txBox="1">
            <a:spLocks noChangeArrowheads="1"/>
          </p:cNvSpPr>
          <p:nvPr/>
        </p:nvSpPr>
        <p:spPr bwMode="auto">
          <a:xfrm>
            <a:off x="4572000" y="781050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600" b="1" u="sng" dirty="0">
                <a:solidFill>
                  <a:srgbClr val="1F497D">
                    <a:lumMod val="75000"/>
                  </a:srgbClr>
                </a:solidFill>
              </a:rPr>
              <a:t>Donors: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MP.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Mayor.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Other donors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Retd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Secretary .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51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</a:t>
            </a: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1. Active Community Participation in health service is an example in Bangladesh.</a:t>
            </a:r>
          </a:p>
          <a:p>
            <a:pPr marL="0" algn="just">
              <a:defRPr/>
            </a:pPr>
            <a:r>
              <a:rPr lang="en-US" sz="2000" dirty="0"/>
              <a:t> </a:t>
            </a:r>
          </a:p>
          <a:p>
            <a:pPr marL="0" algn="just">
              <a:defRPr/>
            </a:pPr>
            <a:r>
              <a:rPr lang="en-US" sz="2000" b="1" dirty="0"/>
              <a:t>2. Improved   performance  of all IPD &amp; OPD services.</a:t>
            </a:r>
          </a:p>
          <a:p>
            <a:pPr marL="0">
              <a:defRPr/>
            </a:pPr>
            <a:endParaRPr lang="en-US" sz="2000" b="1" dirty="0"/>
          </a:p>
          <a:p>
            <a:pPr marL="0">
              <a:defRPr/>
            </a:pPr>
            <a:r>
              <a:rPr lang="en-US" sz="2000" b="1" dirty="0"/>
              <a:t>3. Improved cleanliness and beautification of campus.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4.. The hospital is awarded 7 times from 2013 to 2020. </a:t>
            </a:r>
            <a:endParaRPr lang="en-US" sz="2000" dirty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5. Improved Security &amp; financial management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8.The hospital is upgraded to 250 bedded General Hospital with post creation in 2021.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7. Replication of C- J Model by DGHS in 20 District hospital &amp; 40 UHC.</a:t>
            </a:r>
          </a:p>
          <a:p>
            <a:pPr marL="0" algn="just">
              <a:defRPr/>
            </a:pPr>
            <a:r>
              <a:rPr lang="en-US" sz="2000" b="1" dirty="0"/>
              <a:t> </a:t>
            </a:r>
          </a:p>
          <a:p>
            <a:pPr marL="0" algn="just">
              <a:defRPr/>
            </a:pP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66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5766" y="-15766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Supported Hospitals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15766" y="746234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800" dirty="0">
                <a:solidFill>
                  <a:srgbClr val="1F497D">
                    <a:lumMod val="75000"/>
                  </a:srgbClr>
                </a:solidFill>
              </a:rPr>
              <a:t>Upazilla Health Complex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01.Chowgacha UHC.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02.Koatchandpur UHC.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03.Keshobpur UHC.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04.Kapashia,UHC.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05.Ramgoti,UHC.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06.Hatibhanda,UHC.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07.Modhupur,UHC.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08.Nandail UHC,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09.Malendaho.UHC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10.Mohammadpur,UHC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11.Fulchori , UHC                                                              </a:t>
            </a:r>
          </a:p>
        </p:txBody>
      </p:sp>
      <p:sp>
        <p:nvSpPr>
          <p:cNvPr id="5" name="Rectangle 31"/>
          <p:cNvSpPr txBox="1">
            <a:spLocks noChangeArrowheads="1"/>
          </p:cNvSpPr>
          <p:nvPr/>
        </p:nvSpPr>
        <p:spPr bwMode="auto">
          <a:xfrm>
            <a:off x="4572000" y="781050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800" dirty="0">
                <a:solidFill>
                  <a:srgbClr val="1F497D">
                    <a:lumMod val="75000"/>
                  </a:srgbClr>
                </a:solidFill>
              </a:rPr>
              <a:t>District Hospitals</a:t>
            </a:r>
            <a:r>
              <a:rPr lang="en-US" sz="3200" dirty="0">
                <a:solidFill>
                  <a:srgbClr val="1F497D">
                    <a:lumMod val="75000"/>
                  </a:srgbClr>
                </a:solidFill>
              </a:rPr>
              <a:t>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01.Jhenaidah, DH.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02.JhenaidahShishu Hospital.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03.Jashore ,DH.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04.Chuadanga, DH.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05.Coxbazar,  DH.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06.Nowgon ,DH.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07.Jhalokathi, DH</a:t>
            </a:r>
          </a:p>
        </p:txBody>
      </p:sp>
    </p:spTree>
    <p:extLst>
      <p:ext uri="{BB962C8B-B14F-4D97-AF65-F5344CB8AC3E}">
        <p14:creationId xmlns:p14="http://schemas.microsoft.com/office/powerpoint/2010/main" val="419207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7FD4-3840-4ED5-B018-64CF93AE7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-152399"/>
            <a:ext cx="7772400" cy="2106612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096A1-20AF-4D53-9DAD-79F3AEA38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" y="1524000"/>
            <a:ext cx="9067800" cy="5334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277CD99-8A87-4218-8C22-92C673BFDBAE}"/>
              </a:ext>
            </a:extLst>
          </p:cNvPr>
          <p:cNvGraphicFramePr>
            <a:graphicFrameLocks noGrp="1"/>
          </p:cNvGraphicFramePr>
          <p:nvPr/>
        </p:nvGraphicFramePr>
        <p:xfrm>
          <a:off x="76200" y="1542312"/>
          <a:ext cx="9067801" cy="533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7400">
                  <a:extLst>
                    <a:ext uri="{9D8B030D-6E8A-4147-A177-3AD203B41FA5}">
                      <a16:colId xmlns:a16="http://schemas.microsoft.com/office/drawing/2014/main" val="324917256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06574305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6791793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3078791361"/>
                    </a:ext>
                  </a:extLst>
                </a:gridCol>
              </a:tblGrid>
              <a:tr h="680848">
                <a:tc>
                  <a:txBody>
                    <a:bodyPr/>
                    <a:lstStyle/>
                    <a:p>
                      <a:r>
                        <a:rPr lang="en-IN" dirty="0"/>
                        <a:t>  </a:t>
                      </a:r>
                      <a:r>
                        <a:rPr lang="en-IN" sz="3200" dirty="0"/>
                        <a:t>Criteria  of C-J  Model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Best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Weak</a:t>
                      </a:r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547838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dirty="0"/>
                        <a:t> </a:t>
                      </a:r>
                      <a:r>
                        <a:rPr lang="en-IN" sz="2800" dirty="0"/>
                        <a:t>1.Cycle stand close to the main gate.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564194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800" dirty="0"/>
                        <a:t>2.Health Education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85467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sz="2800" dirty="0"/>
                        <a:t>3.Cleanliness &amp;  beautification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917439"/>
                  </a:ext>
                </a:extLst>
              </a:tr>
              <a:tr h="925561">
                <a:tc>
                  <a:txBody>
                    <a:bodyPr/>
                    <a:lstStyle/>
                    <a:p>
                      <a:r>
                        <a:rPr lang="en-IN" sz="2400" b="0" dirty="0"/>
                        <a:t>4.Separation of patients in out door &amp; indoor</a:t>
                      </a:r>
                      <a:endParaRPr lang="en-GB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54509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400" dirty="0"/>
                        <a:t>5.</a:t>
                      </a:r>
                      <a:r>
                        <a:rPr lang="en-IN" sz="2400" baseline="0" dirty="0"/>
                        <a:t>B</a:t>
                      </a:r>
                      <a:r>
                        <a:rPr lang="en-IN" sz="2400" dirty="0"/>
                        <a:t>lood  </a:t>
                      </a:r>
                      <a:r>
                        <a:rPr lang="en-IN" sz="2400" dirty="0" err="1"/>
                        <a:t>doner</a:t>
                      </a:r>
                      <a:r>
                        <a:rPr lang="en-IN" sz="2400" dirty="0"/>
                        <a:t> list with  24/7 B.T facility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128657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6.Birth- death recording 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90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516675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B6A7-25DF-4DF2-A52E-F4D228D61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1470025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17C04-BE57-4892-A83B-DEC08F71F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905000"/>
            <a:ext cx="8305800" cy="42672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B48B1AD-9122-4F00-8177-DE2A5E862407}"/>
              </a:ext>
            </a:extLst>
          </p:cNvPr>
          <p:cNvGraphicFramePr>
            <a:graphicFrameLocks noGrp="1"/>
          </p:cNvGraphicFramePr>
          <p:nvPr/>
        </p:nvGraphicFramePr>
        <p:xfrm>
          <a:off x="76200" y="1921113"/>
          <a:ext cx="8915399" cy="4708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4290">
                  <a:extLst>
                    <a:ext uri="{9D8B030D-6E8A-4147-A177-3AD203B41FA5}">
                      <a16:colId xmlns:a16="http://schemas.microsoft.com/office/drawing/2014/main" val="2240581806"/>
                    </a:ext>
                  </a:extLst>
                </a:gridCol>
                <a:gridCol w="1007828">
                  <a:extLst>
                    <a:ext uri="{9D8B030D-6E8A-4147-A177-3AD203B41FA5}">
                      <a16:colId xmlns:a16="http://schemas.microsoft.com/office/drawing/2014/main" val="1611971279"/>
                    </a:ext>
                  </a:extLst>
                </a:gridCol>
                <a:gridCol w="1240403">
                  <a:extLst>
                    <a:ext uri="{9D8B030D-6E8A-4147-A177-3AD203B41FA5}">
                      <a16:colId xmlns:a16="http://schemas.microsoft.com/office/drawing/2014/main" val="2709467331"/>
                    </a:ext>
                  </a:extLst>
                </a:gridCol>
                <a:gridCol w="1162878">
                  <a:extLst>
                    <a:ext uri="{9D8B030D-6E8A-4147-A177-3AD203B41FA5}">
                      <a16:colId xmlns:a16="http://schemas.microsoft.com/office/drawing/2014/main" val="2699123865"/>
                    </a:ext>
                  </a:extLst>
                </a:gridCol>
              </a:tblGrid>
              <a:tr h="623553">
                <a:tc>
                  <a:txBody>
                    <a:bodyPr/>
                    <a:lstStyle/>
                    <a:p>
                      <a:r>
                        <a:rPr lang="en-IN" sz="3200" dirty="0"/>
                        <a:t>Criteria  of C-J  Model.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Week</a:t>
                      </a:r>
                      <a:endParaRPr lang="en-GB" sz="32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3681846444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7. Reception</a:t>
                      </a:r>
                      <a:r>
                        <a:rPr lang="en-IN" sz="2400" baseline="0" dirty="0"/>
                        <a:t> Desk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83327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8 . Developed Emergency</a:t>
                      </a:r>
                      <a:r>
                        <a:rPr lang="en-IN" sz="2400" baseline="0" dirty="0"/>
                        <a:t>  Dept.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58263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9. 5S</a:t>
                      </a:r>
                      <a:r>
                        <a:rPr lang="en-IN" sz="2400" baseline="0" dirty="0"/>
                        <a:t> –KAIZEN implementation.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040395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10. Community</a:t>
                      </a:r>
                      <a:r>
                        <a:rPr lang="en-IN" sz="2400" baseline="0" dirty="0"/>
                        <a:t> Participation.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375197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11. Hospital</a:t>
                      </a:r>
                      <a:r>
                        <a:rPr lang="en-IN" sz="2400" baseline="0" dirty="0"/>
                        <a:t> activities Display</a:t>
                      </a:r>
                      <a:endParaRPr lang="en-IN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2468"/>
                  </a:ext>
                </a:extLst>
              </a:tr>
              <a:tr h="623553">
                <a:tc>
                  <a:txBody>
                    <a:bodyPr/>
                    <a:lstStyle/>
                    <a:p>
                      <a:r>
                        <a:rPr lang="en-GB" sz="2400" dirty="0"/>
                        <a:t>12. Corner based service.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567929"/>
                  </a:ext>
                </a:extLst>
              </a:tr>
              <a:tr h="627357">
                <a:tc>
                  <a:txBody>
                    <a:bodyPr/>
                    <a:lstStyle/>
                    <a:p>
                      <a:r>
                        <a:rPr lang="en-IN" sz="2400" dirty="0"/>
                        <a:t>13. Cash counter for receiving Govt money.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535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825210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4C5C-EB62-4DB3-B99C-71C341555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304799"/>
            <a:ext cx="8077201" cy="1288869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CDC4A-F424-4A38-B3B0-9D27479A2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2057400"/>
            <a:ext cx="8077200" cy="44958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92E863-F8F5-4CF1-B778-581E34C3716B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524000"/>
          <a:ext cx="8382000" cy="5114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235456119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64712403"/>
                    </a:ext>
                  </a:extLst>
                </a:gridCol>
                <a:gridCol w="979023">
                  <a:extLst>
                    <a:ext uri="{9D8B030D-6E8A-4147-A177-3AD203B41FA5}">
                      <a16:colId xmlns:a16="http://schemas.microsoft.com/office/drawing/2014/main" val="2495356835"/>
                    </a:ext>
                  </a:extLst>
                </a:gridCol>
                <a:gridCol w="925977">
                  <a:extLst>
                    <a:ext uri="{9D8B030D-6E8A-4147-A177-3AD203B41FA5}">
                      <a16:colId xmlns:a16="http://schemas.microsoft.com/office/drawing/2014/main" val="367797206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IN" sz="2400" dirty="0"/>
                        <a:t>Criteria  of C-J   Model.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Good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Week</a:t>
                      </a:r>
                      <a:endParaRPr lang="en-GB" sz="24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410735983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14.Devolped</a:t>
                      </a:r>
                      <a:r>
                        <a:rPr lang="en-IN" sz="2400" baseline="0" dirty="0"/>
                        <a:t> maternal health/labour word.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485239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15.Devolped</a:t>
                      </a:r>
                      <a:r>
                        <a:rPr lang="en-IN" sz="2400" baseline="0" dirty="0"/>
                        <a:t> paediatric health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54530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16.Position in HSS score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04961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17. Power point Presentation &amp;Video on UHC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69227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18.Knowledge </a:t>
                      </a:r>
                      <a:r>
                        <a:rPr lang="en-GB" sz="2400"/>
                        <a:t>about 8</a:t>
                      </a:r>
                      <a:r>
                        <a:rPr lang="en-GB" sz="2400" baseline="30000"/>
                        <a:t>th</a:t>
                      </a:r>
                      <a:r>
                        <a:rPr lang="en-GB" sz="2400"/>
                        <a:t> </a:t>
                      </a:r>
                      <a:r>
                        <a:rPr lang="en-GB" sz="2400" dirty="0"/>
                        <a:t>Five Year plan &amp;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     SDG.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09765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r>
                        <a:rPr lang="en-US" sz="2400" dirty="0"/>
                        <a:t>19.Zero-Tollarance on corruption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227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1881113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-30480"/>
            <a:ext cx="9144001" cy="688848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622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52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>
            <a:extLst>
              <a:ext uri="{FF2B5EF4-FFF2-40B4-BE49-F238E27FC236}">
                <a16:creationId xmlns:a16="http://schemas.microsoft.com/office/drawing/2014/main" id="{9E7FB7D3-FEC6-4E8C-BD67-137E97A3B9C4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601" y="320041"/>
            <a:ext cx="8380800" cy="60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4096677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CEFE052-2A6C-424C-95CC-B414F6030FF5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143000"/>
          <a:ext cx="8077200" cy="5572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2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L="91449" marR="91449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49" marR="91449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</a:p>
                    <a:p>
                      <a:r>
                        <a:rPr lang="en-US" sz="1800" dirty="0"/>
                        <a:t>2022.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Achievement in 2019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5yr.plan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  <a:p>
                      <a:r>
                        <a:rPr lang="en-US" sz="1800" dirty="0"/>
                        <a:t>2030.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MMR/100000LB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NMR/1000LB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0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IMR/1000LB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Under 5MR/1000LB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</a:t>
                      </a:r>
                    </a:p>
                    <a:p>
                      <a:r>
                        <a:rPr lang="en-US" sz="1800" dirty="0"/>
                        <a:t>37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</a:t>
                      </a:r>
                    </a:p>
                    <a:p>
                      <a:r>
                        <a:rPr lang="en-US" sz="1800" dirty="0"/>
                        <a:t>28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  <a:p>
                      <a:r>
                        <a:rPr lang="en-US" sz="1800" dirty="0"/>
                        <a:t>27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  <a:p>
                      <a:r>
                        <a:rPr lang="en-US" sz="1800" dirty="0"/>
                        <a:t>25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Deivery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by trained person(%)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59%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Instituional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delivery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ANC 4</a:t>
                      </a:r>
                      <a:r>
                        <a:rPr kumimoji="0" lang="en-US" sz="16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th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Visit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Malnutrtion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rate(&lt;5yr) 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32.6%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Stanting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 (&lt;5yr)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9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Immunization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coerage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86%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98%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T.B Case detection 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6712" name="Rectangle 2">
            <a:extLst>
              <a:ext uri="{FF2B5EF4-FFF2-40B4-BE49-F238E27FC236}">
                <a16:creationId xmlns:a16="http://schemas.microsoft.com/office/drawing/2014/main" id="{977B11ED-7298-4444-BE23-8AAEB9210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2471"/>
            <a:ext cx="8229600" cy="8255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 baseline="30000" dirty="0"/>
              <a:t>8th</a:t>
            </a:r>
            <a:r>
              <a:rPr lang="en-US" altLang="en-US" sz="3200" b="1" dirty="0"/>
              <a:t> Five Year Plan.(2022-2028)</a:t>
            </a:r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21595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D264F9D-90C2-421C-8D48-D36C189A8593}"/>
              </a:ext>
            </a:extLst>
          </p:cNvPr>
          <p:cNvGraphicFramePr>
            <a:graphicFrameLocks noGrp="1"/>
          </p:cNvGraphicFramePr>
          <p:nvPr/>
        </p:nvGraphicFramePr>
        <p:xfrm>
          <a:off x="433266" y="972120"/>
          <a:ext cx="8394699" cy="57097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6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54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</a:p>
                    <a:p>
                      <a:r>
                        <a:rPr lang="en-US" sz="1800" dirty="0"/>
                        <a:t>2022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 in 2019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 plan by 2025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1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CPR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63.4%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1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TFR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2.04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Adolescence birth rate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15-19yr./1000 fertile couple.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74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Exclusive Breast. Feeding rate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Death due to NCD/1000 pop(30-69 </a:t>
                      </a:r>
                      <a:r>
                        <a:rPr kumimoji="0" 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yr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)( % of total death)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67% 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Heart disease(Among NCD death)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15.16%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1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Stroke    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18.74%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Cancer           ( Do)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Diabetes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10.68%</a:t>
                      </a:r>
                    </a:p>
                    <a:p>
                      <a:r>
                        <a:rPr lang="en-US" sz="1800" dirty="0"/>
                        <a:t>04.05%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Chr. Resp. Disease(Do)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06.38%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876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RTA(%of total death)(Do)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OPE(Out of pocket expenditure)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03.50%</a:t>
                      </a:r>
                    </a:p>
                    <a:p>
                      <a:r>
                        <a:rPr lang="en-US" sz="1800" dirty="0"/>
                        <a:t>68%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30%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7736" name="Rectangle 2">
            <a:extLst>
              <a:ext uri="{FF2B5EF4-FFF2-40B4-BE49-F238E27FC236}">
                <a16:creationId xmlns:a16="http://schemas.microsoft.com/office/drawing/2014/main" id="{BE047FE9-6758-4B63-8563-CFB292B4F0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0850" y="228600"/>
            <a:ext cx="8394700" cy="85725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 baseline="30000" dirty="0"/>
              <a:t>8th</a:t>
            </a:r>
            <a:r>
              <a:rPr lang="en-US" altLang="en-US" sz="3200" b="1" dirty="0"/>
              <a:t> Five Year Plan:2020-2025</a:t>
            </a:r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283451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-38100" y="0"/>
            <a:ext cx="9220200" cy="791029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  of C-J Model.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4472" y="791028"/>
            <a:ext cx="9178471" cy="6066971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 algn="just">
              <a:spcBef>
                <a:spcPts val="0"/>
              </a:spcBef>
              <a:buNone/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 err="1">
                <a:solidFill>
                  <a:srgbClr val="FF0000"/>
                </a:solidFill>
              </a:rPr>
              <a:t>Koatchand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pur</a:t>
            </a:r>
            <a:r>
              <a:rPr lang="en-US" sz="2400" b="1" dirty="0">
                <a:solidFill>
                  <a:srgbClr val="FF0000"/>
                </a:solidFill>
              </a:rPr>
              <a:t> UHC</a:t>
            </a:r>
          </a:p>
          <a:p>
            <a:pPr algn="just">
              <a:spcBef>
                <a:spcPts val="0"/>
              </a:spcBef>
              <a:defRPr/>
            </a:pPr>
            <a:endParaRPr lang="en-US" sz="2400" b="1" dirty="0">
              <a:solidFill>
                <a:srgbClr val="FF0000"/>
              </a:solidFill>
            </a:endParaRPr>
          </a:p>
          <a:p>
            <a:pPr algn="just">
              <a:spcBef>
                <a:spcPts val="0"/>
              </a:spcBef>
              <a:defRPr/>
            </a:pPr>
            <a:r>
              <a:rPr lang="en-US" sz="2400" b="1" dirty="0"/>
              <a:t>Jashore 250 bedded General  Hospital</a:t>
            </a:r>
          </a:p>
          <a:p>
            <a:pPr marL="0" indent="0" algn="just">
              <a:spcBef>
                <a:spcPts val="0"/>
              </a:spcBef>
              <a:buNone/>
              <a:defRPr/>
            </a:pPr>
            <a:endParaRPr lang="en-US" sz="2400" b="1" dirty="0">
              <a:solidFill>
                <a:srgbClr val="FF0000"/>
              </a:solidFill>
            </a:endParaRPr>
          </a:p>
          <a:p>
            <a:pPr algn="just">
              <a:spcBef>
                <a:spcPts val="0"/>
              </a:spcBef>
              <a:defRPr/>
            </a:pPr>
            <a:r>
              <a:rPr lang="en-US" sz="2400" b="1" u="sng" dirty="0" err="1">
                <a:solidFill>
                  <a:srgbClr val="FF0000"/>
                </a:solidFill>
                <a:latin typeface="Century Schoolbook" pitchFamily="18" charset="0"/>
              </a:rPr>
              <a:t>Shishu</a:t>
            </a:r>
            <a:r>
              <a:rPr lang="en-US" sz="2400" b="1" u="sng" dirty="0">
                <a:solidFill>
                  <a:srgbClr val="FF0000"/>
                </a:solidFill>
                <a:latin typeface="Century Schoolbook" pitchFamily="18" charset="0"/>
              </a:rPr>
              <a:t> Hospital ,</a:t>
            </a:r>
            <a:r>
              <a:rPr lang="en-US" sz="2400" b="1" u="sng" dirty="0" err="1">
                <a:solidFill>
                  <a:srgbClr val="FF0000"/>
                </a:solidFill>
                <a:latin typeface="Century Schoolbook" pitchFamily="18" charset="0"/>
              </a:rPr>
              <a:t>Jhenaidah</a:t>
            </a:r>
            <a:r>
              <a:rPr lang="en-US" sz="2400" b="1" u="sng" dirty="0">
                <a:solidFill>
                  <a:srgbClr val="FF0000"/>
                </a:solidFill>
                <a:latin typeface="Century Schoolbook" pitchFamily="18" charset="0"/>
              </a:rPr>
              <a:t>.</a:t>
            </a:r>
          </a:p>
          <a:p>
            <a:pPr algn="just">
              <a:spcBef>
                <a:spcPts val="0"/>
              </a:spcBef>
              <a:defRPr/>
            </a:pPr>
            <a:endParaRPr lang="en-US" sz="2400" b="1" u="sng" dirty="0">
              <a:solidFill>
                <a:srgbClr val="FF0000"/>
              </a:solidFill>
              <a:latin typeface="Century Schoolbook" pitchFamily="18" charset="0"/>
            </a:endParaRP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The </a:t>
            </a:r>
            <a:r>
              <a:rPr lang="en-US" sz="2400" b="1" dirty="0" err="1"/>
              <a:t>Melandah</a:t>
            </a:r>
            <a:r>
              <a:rPr lang="en-US" sz="2400" b="1" dirty="0"/>
              <a:t> </a:t>
            </a:r>
            <a:r>
              <a:rPr lang="en-US" sz="2400" b="1" dirty="0" err="1"/>
              <a:t>UHC,Jamalpur</a:t>
            </a:r>
            <a:r>
              <a:rPr lang="en-US" sz="2400" b="1" dirty="0"/>
              <a:t>.</a:t>
            </a:r>
          </a:p>
          <a:p>
            <a:pPr marL="0" indent="0" algn="just">
              <a:spcBef>
                <a:spcPts val="0"/>
              </a:spcBef>
              <a:buNone/>
              <a:defRPr/>
            </a:pPr>
            <a:endParaRPr lang="en-US" sz="2400" u="sng" dirty="0">
              <a:solidFill>
                <a:srgbClr val="FF0000"/>
              </a:solidFill>
              <a:latin typeface="Century Schoolbook" pitchFamily="18" charset="0"/>
            </a:endParaRP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</a:rPr>
              <a:t>Kapashia UHC.</a:t>
            </a: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Ramgoti UHC, Lakshmipur.</a:t>
            </a:r>
          </a:p>
          <a:p>
            <a:pPr marL="0" lvl="1" indent="0" algn="just">
              <a:spcBef>
                <a:spcPts val="0"/>
              </a:spcBef>
              <a:buNone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</a:rPr>
              <a:t> Lakshmipur District  Hospital.</a:t>
            </a:r>
          </a:p>
        </p:txBody>
      </p:sp>
    </p:spTree>
    <p:extLst>
      <p:ext uri="{BB962C8B-B14F-4D97-AF65-F5344CB8AC3E}">
        <p14:creationId xmlns:p14="http://schemas.microsoft.com/office/powerpoint/2010/main" val="3930174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8461</TotalTime>
  <Words>1451</Words>
  <Application>Microsoft Office PowerPoint</Application>
  <PresentationFormat>On-screen Show (4:3)</PresentationFormat>
  <Paragraphs>429</Paragraphs>
  <Slides>43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9" baseType="lpstr">
      <vt:lpstr>Albertus Extra Bold</vt:lpstr>
      <vt:lpstr>Andalus</vt:lpstr>
      <vt:lpstr>Arial</vt:lpstr>
      <vt:lpstr>Arial Black</vt:lpstr>
      <vt:lpstr>Berlin Sans FB</vt:lpstr>
      <vt:lpstr>Book Antiqua</vt:lpstr>
      <vt:lpstr>Calibri</vt:lpstr>
      <vt:lpstr>Century Schoolbook</vt:lpstr>
      <vt:lpstr>Courier New</vt:lpstr>
      <vt:lpstr>NikoshBAN</vt:lpstr>
      <vt:lpstr>SutonnyMJ</vt:lpstr>
      <vt:lpstr>Times New Roman</vt:lpstr>
      <vt:lpstr>Wingdings 2</vt:lpstr>
      <vt:lpstr>Office Theme</vt:lpstr>
      <vt:lpstr>Chart</vt:lpstr>
      <vt:lpstr>ｸﾘｯﾌﾟ</vt:lpstr>
      <vt:lpstr>PowerPoint Presentation</vt:lpstr>
      <vt:lpstr>PowerPoint Presentation</vt:lpstr>
      <vt:lpstr>PowerPoint Presentation</vt:lpstr>
      <vt:lpstr>Our usual solution:  We need more RESOURCES!!!!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Hospital with a Vision …</vt:lpstr>
      <vt:lpstr>PowerPoint Presentation</vt:lpstr>
      <vt:lpstr>PowerPoint Presentation</vt:lpstr>
      <vt:lpstr>PowerPoint Presentation</vt:lpstr>
      <vt:lpstr>PowerPoint Presentation</vt:lpstr>
      <vt:lpstr>Upazila Health  Complex CHOWGACHA , JESSORE.</vt:lpstr>
      <vt:lpstr>Upazila Health  Complex CHOWGACHA , JESSORE.</vt:lpstr>
      <vt:lpstr>PowerPoint Presentation</vt:lpstr>
      <vt:lpstr>Upazilla Health  Complex CHOWGACHA , JESSORE.</vt:lpstr>
      <vt:lpstr>PowerPoint Presentation</vt:lpstr>
      <vt:lpstr>Acheivement of Chowgacha UHC</vt:lpstr>
      <vt:lpstr>100 kh¨v wewkó m`i nvmcvZvj, wSbvB`n</vt:lpstr>
      <vt:lpstr>Innovative activities of Jhenaidah Sadar Hospital - 1</vt:lpstr>
      <vt:lpstr>PowerPoint Presentation</vt:lpstr>
      <vt:lpstr>Changes in Pediatric Ward and EOC Ward in 2014.</vt:lpstr>
      <vt:lpstr>Use of color code, alignment of picture &amp; continuous big cleaning day</vt:lpstr>
      <vt:lpstr>Involvement of MP, District Administrator &amp; Mayor in Sadar Hospital</vt:lpstr>
      <vt:lpstr>PowerPoint Presentation</vt:lpstr>
      <vt:lpstr>PowerPoint Presentation</vt:lpstr>
      <vt:lpstr>Innovative activities of Jhenaidah Sadar Hospital - 6</vt:lpstr>
      <vt:lpstr>PowerPoint Presentation</vt:lpstr>
      <vt:lpstr>  Comparative data of revenue income (in Taka) from 2015 to 2019 </vt:lpstr>
      <vt:lpstr>PowerPoint Presentation</vt:lpstr>
      <vt:lpstr>PowerPoint Presentation</vt:lpstr>
      <vt:lpstr>PowerPoint Presentation</vt:lpstr>
      <vt:lpstr>Criteria Of C-J Model.</vt:lpstr>
      <vt:lpstr>Criteria of C-J Model.</vt:lpstr>
      <vt:lpstr>Criteria of C-J Model.</vt:lpstr>
      <vt:lpstr>Thank You</vt:lpstr>
      <vt:lpstr>PowerPoint Presentation</vt:lpstr>
      <vt:lpstr>8th Five Year Plan.(2022-2028)</vt:lpstr>
      <vt:lpstr>8th Five Year Plan:2020-2025</vt:lpstr>
      <vt:lpstr>Replication  of C-J Model.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MD EMDADUL HAQUE</cp:lastModifiedBy>
  <cp:revision>1163</cp:revision>
  <cp:lastPrinted>2017-03-18T23:47:54Z</cp:lastPrinted>
  <dcterms:created xsi:type="dcterms:W3CDTF">2013-05-05T09:56:19Z</dcterms:created>
  <dcterms:modified xsi:type="dcterms:W3CDTF">2023-05-31T05:29:32Z</dcterms:modified>
</cp:coreProperties>
</file>