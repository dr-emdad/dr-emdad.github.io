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45"/>
  </p:notesMasterIdLst>
  <p:sldIdLst>
    <p:sldId id="533" r:id="rId2"/>
    <p:sldId id="536" r:id="rId3"/>
    <p:sldId id="512" r:id="rId4"/>
    <p:sldId id="378" r:id="rId5"/>
    <p:sldId id="384" r:id="rId6"/>
    <p:sldId id="526" r:id="rId7"/>
    <p:sldId id="518" r:id="rId8"/>
    <p:sldId id="535" r:id="rId9"/>
    <p:sldId id="520" r:id="rId10"/>
    <p:sldId id="515" r:id="rId11"/>
    <p:sldId id="516" r:id="rId12"/>
    <p:sldId id="452" r:id="rId13"/>
    <p:sldId id="447" r:id="rId14"/>
    <p:sldId id="513" r:id="rId15"/>
    <p:sldId id="390" r:id="rId16"/>
    <p:sldId id="339" r:id="rId17"/>
    <p:sldId id="469" r:id="rId18"/>
    <p:sldId id="537" r:id="rId19"/>
    <p:sldId id="391" r:id="rId20"/>
    <p:sldId id="510" r:id="rId21"/>
    <p:sldId id="376" r:id="rId22"/>
    <p:sldId id="539" r:id="rId23"/>
    <p:sldId id="488" r:id="rId24"/>
    <p:sldId id="523" r:id="rId25"/>
    <p:sldId id="490" r:id="rId26"/>
    <p:sldId id="323" r:id="rId27"/>
    <p:sldId id="372" r:id="rId28"/>
    <p:sldId id="492" r:id="rId29"/>
    <p:sldId id="514" r:id="rId30"/>
    <p:sldId id="534" r:id="rId31"/>
    <p:sldId id="392" r:id="rId32"/>
    <p:sldId id="487" r:id="rId33"/>
    <p:sldId id="542" r:id="rId34"/>
    <p:sldId id="543" r:id="rId35"/>
    <p:sldId id="541" r:id="rId36"/>
    <p:sldId id="262" r:id="rId37"/>
    <p:sldId id="268" r:id="rId38"/>
    <p:sldId id="509" r:id="rId39"/>
    <p:sldId id="348" r:id="rId40"/>
    <p:sldId id="531" r:id="rId41"/>
    <p:sldId id="532" r:id="rId42"/>
    <p:sldId id="511" r:id="rId43"/>
    <p:sldId id="404" r:id="rId4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85" autoAdjust="0"/>
    <p:restoredTop sz="94206" autoAdjust="0"/>
  </p:normalViewPr>
  <p:slideViewPr>
    <p:cSldViewPr>
      <p:cViewPr varScale="1">
        <p:scale>
          <a:sx n="68" d="100"/>
          <a:sy n="68" d="100"/>
        </p:scale>
        <p:origin x="161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61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3C-4F00-852B-783C8AC2C58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3C-4F00-852B-783C8AC2C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21885824"/>
        <c:axId val="121887360"/>
        <c:axId val="118889088"/>
      </c:bar3DChart>
      <c:catAx>
        <c:axId val="121885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121887360"/>
        <c:crosses val="autoZero"/>
        <c:auto val="1"/>
        <c:lblAlgn val="ctr"/>
        <c:lblOffset val="100"/>
        <c:noMultiLvlLbl val="0"/>
      </c:catAx>
      <c:valAx>
        <c:axId val="12188736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21885824"/>
        <c:crosses val="autoZero"/>
        <c:crossBetween val="between"/>
      </c:valAx>
      <c:serAx>
        <c:axId val="118889088"/>
        <c:scaling>
          <c:orientation val="minMax"/>
        </c:scaling>
        <c:delete val="1"/>
        <c:axPos val="b"/>
        <c:majorTickMark val="out"/>
        <c:minorTickMark val="none"/>
        <c:tickLblPos val="nextTo"/>
        <c:crossAx val="121887360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21154-DD83-45F1-A0A6-59611F8D3B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FB9751C-3B62-4B33-81E9-C11B694D9446}">
      <dgm:prSet/>
      <dgm:spPr/>
      <dgm:t>
        <a:bodyPr/>
        <a:lstStyle/>
        <a:p>
          <a:pPr rtl="0"/>
          <a:r>
            <a:rPr lang="en-GB" dirty="0"/>
            <a:t>Central oxygen system 	- 1</a:t>
          </a:r>
        </a:p>
      </dgm:t>
    </dgm:pt>
    <dgm:pt modelId="{9B18A42C-0BA2-41CC-BAE1-B8A7E351EFFF}" type="parTrans" cxnId="{62419439-C95E-4013-B6C7-5500B1C5694B}">
      <dgm:prSet/>
      <dgm:spPr/>
      <dgm:t>
        <a:bodyPr/>
        <a:lstStyle/>
        <a:p>
          <a:endParaRPr lang="en-GB"/>
        </a:p>
      </dgm:t>
    </dgm:pt>
    <dgm:pt modelId="{443683C2-1AE6-4A81-954A-430C3F3E2BBF}" type="sibTrans" cxnId="{62419439-C95E-4013-B6C7-5500B1C5694B}">
      <dgm:prSet/>
      <dgm:spPr/>
      <dgm:t>
        <a:bodyPr/>
        <a:lstStyle/>
        <a:p>
          <a:endParaRPr lang="en-GB"/>
        </a:p>
      </dgm:t>
    </dgm:pt>
    <dgm:pt modelId="{64DC4C56-D733-4353-AC4A-B55F22024702}">
      <dgm:prSet/>
      <dgm:spPr/>
      <dgm:t>
        <a:bodyPr/>
        <a:lstStyle/>
        <a:p>
          <a:pPr rtl="0"/>
          <a:r>
            <a:rPr lang="en-GB" dirty="0"/>
            <a:t>High flow nasal cannula	- 5</a:t>
          </a:r>
        </a:p>
      </dgm:t>
    </dgm:pt>
    <dgm:pt modelId="{94CF4D94-4818-47AB-A823-23F05697EF76}" type="parTrans" cxnId="{1C21FFBF-CD23-4AD6-BC05-5B0C85A96AB1}">
      <dgm:prSet/>
      <dgm:spPr/>
      <dgm:t>
        <a:bodyPr/>
        <a:lstStyle/>
        <a:p>
          <a:endParaRPr lang="en-GB"/>
        </a:p>
      </dgm:t>
    </dgm:pt>
    <dgm:pt modelId="{22EE8EEA-169C-4E6C-B0C9-DB93B9C4DD7E}" type="sibTrans" cxnId="{1C21FFBF-CD23-4AD6-BC05-5B0C85A96AB1}">
      <dgm:prSet/>
      <dgm:spPr/>
      <dgm:t>
        <a:bodyPr/>
        <a:lstStyle/>
        <a:p>
          <a:endParaRPr lang="en-GB"/>
        </a:p>
      </dgm:t>
    </dgm:pt>
    <dgm:pt modelId="{E72DC5B8-FF43-4864-9B3D-4D5C1B7EED89}">
      <dgm:prSet/>
      <dgm:spPr/>
      <dgm:t>
        <a:bodyPr/>
        <a:lstStyle/>
        <a:p>
          <a:pPr rtl="0"/>
          <a:r>
            <a:rPr lang="en-GB" dirty="0"/>
            <a:t>Oxygen concentrator	- 3</a:t>
          </a:r>
        </a:p>
      </dgm:t>
    </dgm:pt>
    <dgm:pt modelId="{60AC6C80-5308-42B7-8CAB-57F51CF8DC3B}" type="parTrans" cxnId="{5259394A-7032-4B5C-BF39-A634876A54AF}">
      <dgm:prSet/>
      <dgm:spPr/>
      <dgm:t>
        <a:bodyPr/>
        <a:lstStyle/>
        <a:p>
          <a:endParaRPr lang="en-GB"/>
        </a:p>
      </dgm:t>
    </dgm:pt>
    <dgm:pt modelId="{42A4E20B-61DC-4E71-B5AF-2DC120041BD5}" type="sibTrans" cxnId="{5259394A-7032-4B5C-BF39-A634876A54AF}">
      <dgm:prSet/>
      <dgm:spPr/>
      <dgm:t>
        <a:bodyPr/>
        <a:lstStyle/>
        <a:p>
          <a:endParaRPr lang="en-GB"/>
        </a:p>
      </dgm:t>
    </dgm:pt>
    <dgm:pt modelId="{7DD33E70-A5C1-4937-BEC7-5E7B423E1466}">
      <dgm:prSet/>
      <dgm:spPr/>
      <dgm:t>
        <a:bodyPr/>
        <a:lstStyle/>
        <a:p>
          <a:pPr rtl="0"/>
          <a:r>
            <a:rPr lang="en-GB"/>
            <a:t>Large oxygen cylinder	- 48 </a:t>
          </a:r>
        </a:p>
      </dgm:t>
    </dgm:pt>
    <dgm:pt modelId="{F23E8BF4-6635-4CE1-B4D1-75836B6E3820}" type="parTrans" cxnId="{D6F0057D-13F8-4622-B4BF-12290B61476E}">
      <dgm:prSet/>
      <dgm:spPr/>
      <dgm:t>
        <a:bodyPr/>
        <a:lstStyle/>
        <a:p>
          <a:endParaRPr lang="en-GB"/>
        </a:p>
      </dgm:t>
    </dgm:pt>
    <dgm:pt modelId="{BCA29651-9E81-4C0B-AF05-D9A7DCFBD21B}" type="sibTrans" cxnId="{D6F0057D-13F8-4622-B4BF-12290B61476E}">
      <dgm:prSet/>
      <dgm:spPr/>
      <dgm:t>
        <a:bodyPr/>
        <a:lstStyle/>
        <a:p>
          <a:endParaRPr lang="en-GB"/>
        </a:p>
      </dgm:t>
    </dgm:pt>
    <dgm:pt modelId="{A7355A04-39B4-4540-B677-910EA43D0274}">
      <dgm:prSet/>
      <dgm:spPr/>
      <dgm:t>
        <a:bodyPr/>
        <a:lstStyle/>
        <a:p>
          <a:pPr rtl="0"/>
          <a:r>
            <a:rPr lang="en-GB"/>
            <a:t>C-PAP machine		- 1</a:t>
          </a:r>
        </a:p>
      </dgm:t>
    </dgm:pt>
    <dgm:pt modelId="{28BD80BD-2CD1-4232-AA94-CC254F351732}" type="parTrans" cxnId="{6CEEB0CF-E32C-4283-9DF0-F7A284838672}">
      <dgm:prSet/>
      <dgm:spPr/>
      <dgm:t>
        <a:bodyPr/>
        <a:lstStyle/>
        <a:p>
          <a:endParaRPr lang="en-GB"/>
        </a:p>
      </dgm:t>
    </dgm:pt>
    <dgm:pt modelId="{4060D010-324E-41D9-8B8F-14000C1D486F}" type="sibTrans" cxnId="{6CEEB0CF-E32C-4283-9DF0-F7A284838672}">
      <dgm:prSet/>
      <dgm:spPr/>
      <dgm:t>
        <a:bodyPr/>
        <a:lstStyle/>
        <a:p>
          <a:endParaRPr lang="en-GB"/>
        </a:p>
      </dgm:t>
    </dgm:pt>
    <dgm:pt modelId="{65BCF39B-F011-41D6-A1FA-228244CE055A}">
      <dgm:prSet/>
      <dgm:spPr/>
      <dgm:t>
        <a:bodyPr/>
        <a:lstStyle/>
        <a:p>
          <a:pPr rtl="0"/>
          <a:r>
            <a:rPr lang="en-GB" dirty="0"/>
            <a:t>Pick-up </a:t>
          </a:r>
          <a:r>
            <a:rPr lang="en-GB" dirty="0" err="1"/>
            <a:t>caverd</a:t>
          </a:r>
          <a:r>
            <a:rPr lang="en-GB" dirty="0"/>
            <a:t> van	- 1</a:t>
          </a:r>
        </a:p>
      </dgm:t>
    </dgm:pt>
    <dgm:pt modelId="{EBBDA495-D9FA-4A07-AB7C-7A8E4E6778F2}" type="parTrans" cxnId="{932C2C0E-B530-4391-958A-0FAA2E10CDA1}">
      <dgm:prSet/>
      <dgm:spPr/>
      <dgm:t>
        <a:bodyPr/>
        <a:lstStyle/>
        <a:p>
          <a:endParaRPr lang="en-GB"/>
        </a:p>
      </dgm:t>
    </dgm:pt>
    <dgm:pt modelId="{7A4617D4-940A-482D-B3B9-37EF771E04AD}" type="sibTrans" cxnId="{932C2C0E-B530-4391-958A-0FAA2E10CDA1}">
      <dgm:prSet/>
      <dgm:spPr/>
      <dgm:t>
        <a:bodyPr/>
        <a:lstStyle/>
        <a:p>
          <a:endParaRPr lang="en-GB"/>
        </a:p>
      </dgm:t>
    </dgm:pt>
    <dgm:pt modelId="{8FEB2AA0-3F4F-423C-AD91-5B9785EE46C4}" type="pres">
      <dgm:prSet presAssocID="{D2121154-DD83-45F1-A0A6-59611F8D3BD3}" presName="linear" presStyleCnt="0">
        <dgm:presLayoutVars>
          <dgm:animLvl val="lvl"/>
          <dgm:resizeHandles val="exact"/>
        </dgm:presLayoutVars>
      </dgm:prSet>
      <dgm:spPr/>
    </dgm:pt>
    <dgm:pt modelId="{CE2622F9-F07C-4B23-BC93-E0F03E146D01}" type="pres">
      <dgm:prSet presAssocID="{4FB9751C-3B62-4B33-81E9-C11B694D944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422F2F0-9A12-494F-BE7C-65E95988AA28}" type="pres">
      <dgm:prSet presAssocID="{443683C2-1AE6-4A81-954A-430C3F3E2BBF}" presName="spacer" presStyleCnt="0"/>
      <dgm:spPr/>
    </dgm:pt>
    <dgm:pt modelId="{336BD10C-9BB5-469F-8BD4-A3494E0C75E9}" type="pres">
      <dgm:prSet presAssocID="{64DC4C56-D733-4353-AC4A-B55F2202470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24B8033-A930-4A9F-B82E-3557B060E25F}" type="pres">
      <dgm:prSet presAssocID="{22EE8EEA-169C-4E6C-B0C9-DB93B9C4DD7E}" presName="spacer" presStyleCnt="0"/>
      <dgm:spPr/>
    </dgm:pt>
    <dgm:pt modelId="{A893A7A7-CC28-4404-AD1A-6638F1AA5451}" type="pres">
      <dgm:prSet presAssocID="{E72DC5B8-FF43-4864-9B3D-4D5C1B7EED8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14B8B32-0DAE-4CF1-8EC1-BCC1541F7B61}" type="pres">
      <dgm:prSet presAssocID="{42A4E20B-61DC-4E71-B5AF-2DC120041BD5}" presName="spacer" presStyleCnt="0"/>
      <dgm:spPr/>
    </dgm:pt>
    <dgm:pt modelId="{CD71DDF5-A775-4A4F-B429-2F449530DD1D}" type="pres">
      <dgm:prSet presAssocID="{7DD33E70-A5C1-4937-BEC7-5E7B423E146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2A511F5-86EF-44B9-976B-BE435FBA14C1}" type="pres">
      <dgm:prSet presAssocID="{BCA29651-9E81-4C0B-AF05-D9A7DCFBD21B}" presName="spacer" presStyleCnt="0"/>
      <dgm:spPr/>
    </dgm:pt>
    <dgm:pt modelId="{DD6FDA14-5D81-4D91-815D-EF411B6DA3BB}" type="pres">
      <dgm:prSet presAssocID="{A7355A04-39B4-4540-B677-910EA43D027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38473C0-9027-4523-83A9-D05A403B38F5}" type="pres">
      <dgm:prSet presAssocID="{4060D010-324E-41D9-8B8F-14000C1D486F}" presName="spacer" presStyleCnt="0"/>
      <dgm:spPr/>
    </dgm:pt>
    <dgm:pt modelId="{6325200D-4401-4F68-8132-B7BA410A12E6}" type="pres">
      <dgm:prSet presAssocID="{65BCF39B-F011-41D6-A1FA-228244CE055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6B70F0D-D991-4F23-B3ED-CA085642F39A}" type="presOf" srcId="{E72DC5B8-FF43-4864-9B3D-4D5C1B7EED89}" destId="{A893A7A7-CC28-4404-AD1A-6638F1AA5451}" srcOrd="0" destOrd="0" presId="urn:microsoft.com/office/officeart/2005/8/layout/vList2"/>
    <dgm:cxn modelId="{932C2C0E-B530-4391-958A-0FAA2E10CDA1}" srcId="{D2121154-DD83-45F1-A0A6-59611F8D3BD3}" destId="{65BCF39B-F011-41D6-A1FA-228244CE055A}" srcOrd="5" destOrd="0" parTransId="{EBBDA495-D9FA-4A07-AB7C-7A8E4E6778F2}" sibTransId="{7A4617D4-940A-482D-B3B9-37EF771E04AD}"/>
    <dgm:cxn modelId="{62419439-C95E-4013-B6C7-5500B1C5694B}" srcId="{D2121154-DD83-45F1-A0A6-59611F8D3BD3}" destId="{4FB9751C-3B62-4B33-81E9-C11B694D9446}" srcOrd="0" destOrd="0" parTransId="{9B18A42C-0BA2-41CC-BAE1-B8A7E351EFFF}" sibTransId="{443683C2-1AE6-4A81-954A-430C3F3E2BBF}"/>
    <dgm:cxn modelId="{5259394A-7032-4B5C-BF39-A634876A54AF}" srcId="{D2121154-DD83-45F1-A0A6-59611F8D3BD3}" destId="{E72DC5B8-FF43-4864-9B3D-4D5C1B7EED89}" srcOrd="2" destOrd="0" parTransId="{60AC6C80-5308-42B7-8CAB-57F51CF8DC3B}" sibTransId="{42A4E20B-61DC-4E71-B5AF-2DC120041BD5}"/>
    <dgm:cxn modelId="{373FCE52-73B9-49B0-A601-FC538D901F71}" type="presOf" srcId="{4FB9751C-3B62-4B33-81E9-C11B694D9446}" destId="{CE2622F9-F07C-4B23-BC93-E0F03E146D01}" srcOrd="0" destOrd="0" presId="urn:microsoft.com/office/officeart/2005/8/layout/vList2"/>
    <dgm:cxn modelId="{0990D07C-AA34-45DC-B6B6-F0315F264DE0}" type="presOf" srcId="{65BCF39B-F011-41D6-A1FA-228244CE055A}" destId="{6325200D-4401-4F68-8132-B7BA410A12E6}" srcOrd="0" destOrd="0" presId="urn:microsoft.com/office/officeart/2005/8/layout/vList2"/>
    <dgm:cxn modelId="{D6F0057D-13F8-4622-B4BF-12290B61476E}" srcId="{D2121154-DD83-45F1-A0A6-59611F8D3BD3}" destId="{7DD33E70-A5C1-4937-BEC7-5E7B423E1466}" srcOrd="3" destOrd="0" parTransId="{F23E8BF4-6635-4CE1-B4D1-75836B6E3820}" sibTransId="{BCA29651-9E81-4C0B-AF05-D9A7DCFBD21B}"/>
    <dgm:cxn modelId="{12176390-5032-4B2D-948D-98A3D3DDF0E7}" type="presOf" srcId="{7DD33E70-A5C1-4937-BEC7-5E7B423E1466}" destId="{CD71DDF5-A775-4A4F-B429-2F449530DD1D}" srcOrd="0" destOrd="0" presId="urn:microsoft.com/office/officeart/2005/8/layout/vList2"/>
    <dgm:cxn modelId="{1C21FFBF-CD23-4AD6-BC05-5B0C85A96AB1}" srcId="{D2121154-DD83-45F1-A0A6-59611F8D3BD3}" destId="{64DC4C56-D733-4353-AC4A-B55F22024702}" srcOrd="1" destOrd="0" parTransId="{94CF4D94-4818-47AB-A823-23F05697EF76}" sibTransId="{22EE8EEA-169C-4E6C-B0C9-DB93B9C4DD7E}"/>
    <dgm:cxn modelId="{A27635C4-06F5-46C3-8571-556DC641687D}" type="presOf" srcId="{D2121154-DD83-45F1-A0A6-59611F8D3BD3}" destId="{8FEB2AA0-3F4F-423C-AD91-5B9785EE46C4}" srcOrd="0" destOrd="0" presId="urn:microsoft.com/office/officeart/2005/8/layout/vList2"/>
    <dgm:cxn modelId="{6CEEB0CF-E32C-4283-9DF0-F7A284838672}" srcId="{D2121154-DD83-45F1-A0A6-59611F8D3BD3}" destId="{A7355A04-39B4-4540-B677-910EA43D0274}" srcOrd="4" destOrd="0" parTransId="{28BD80BD-2CD1-4232-AA94-CC254F351732}" sibTransId="{4060D010-324E-41D9-8B8F-14000C1D486F}"/>
    <dgm:cxn modelId="{07AB95DA-426D-49AF-B8F0-BB93A51EC17C}" type="presOf" srcId="{A7355A04-39B4-4540-B677-910EA43D0274}" destId="{DD6FDA14-5D81-4D91-815D-EF411B6DA3BB}" srcOrd="0" destOrd="0" presId="urn:microsoft.com/office/officeart/2005/8/layout/vList2"/>
    <dgm:cxn modelId="{70957FDF-E2F0-4CD6-B609-744C73881C9A}" type="presOf" srcId="{64DC4C56-D733-4353-AC4A-B55F22024702}" destId="{336BD10C-9BB5-469F-8BD4-A3494E0C75E9}" srcOrd="0" destOrd="0" presId="urn:microsoft.com/office/officeart/2005/8/layout/vList2"/>
    <dgm:cxn modelId="{F99E9DE0-D70D-45AC-8ADF-E35B5106A0C9}" type="presParOf" srcId="{8FEB2AA0-3F4F-423C-AD91-5B9785EE46C4}" destId="{CE2622F9-F07C-4B23-BC93-E0F03E146D01}" srcOrd="0" destOrd="0" presId="urn:microsoft.com/office/officeart/2005/8/layout/vList2"/>
    <dgm:cxn modelId="{3595AB8A-97E4-4E46-8673-7AC717F8D9C6}" type="presParOf" srcId="{8FEB2AA0-3F4F-423C-AD91-5B9785EE46C4}" destId="{5422F2F0-9A12-494F-BE7C-65E95988AA28}" srcOrd="1" destOrd="0" presId="urn:microsoft.com/office/officeart/2005/8/layout/vList2"/>
    <dgm:cxn modelId="{343D90CF-8A07-4BB9-A763-8FE7504F6591}" type="presParOf" srcId="{8FEB2AA0-3F4F-423C-AD91-5B9785EE46C4}" destId="{336BD10C-9BB5-469F-8BD4-A3494E0C75E9}" srcOrd="2" destOrd="0" presId="urn:microsoft.com/office/officeart/2005/8/layout/vList2"/>
    <dgm:cxn modelId="{9B6927FF-1922-4AAA-80CA-883B4E07FE2A}" type="presParOf" srcId="{8FEB2AA0-3F4F-423C-AD91-5B9785EE46C4}" destId="{424B8033-A930-4A9F-B82E-3557B060E25F}" srcOrd="3" destOrd="0" presId="urn:microsoft.com/office/officeart/2005/8/layout/vList2"/>
    <dgm:cxn modelId="{D46AFF8A-B758-4642-B835-B05F0CC0D3D6}" type="presParOf" srcId="{8FEB2AA0-3F4F-423C-AD91-5B9785EE46C4}" destId="{A893A7A7-CC28-4404-AD1A-6638F1AA5451}" srcOrd="4" destOrd="0" presId="urn:microsoft.com/office/officeart/2005/8/layout/vList2"/>
    <dgm:cxn modelId="{23A2C807-2BB5-4B0F-B85A-F1E8C6C3E4DE}" type="presParOf" srcId="{8FEB2AA0-3F4F-423C-AD91-5B9785EE46C4}" destId="{E14B8B32-0DAE-4CF1-8EC1-BCC1541F7B61}" srcOrd="5" destOrd="0" presId="urn:microsoft.com/office/officeart/2005/8/layout/vList2"/>
    <dgm:cxn modelId="{3F3F7C00-935B-4A6B-A8C6-1793C881F6B2}" type="presParOf" srcId="{8FEB2AA0-3F4F-423C-AD91-5B9785EE46C4}" destId="{CD71DDF5-A775-4A4F-B429-2F449530DD1D}" srcOrd="6" destOrd="0" presId="urn:microsoft.com/office/officeart/2005/8/layout/vList2"/>
    <dgm:cxn modelId="{DAB80BA0-9BF6-4273-9026-48DB621BFE55}" type="presParOf" srcId="{8FEB2AA0-3F4F-423C-AD91-5B9785EE46C4}" destId="{D2A511F5-86EF-44B9-976B-BE435FBA14C1}" srcOrd="7" destOrd="0" presId="urn:microsoft.com/office/officeart/2005/8/layout/vList2"/>
    <dgm:cxn modelId="{EBF75664-93DB-42CF-91E2-FE7C25F65C86}" type="presParOf" srcId="{8FEB2AA0-3F4F-423C-AD91-5B9785EE46C4}" destId="{DD6FDA14-5D81-4D91-815D-EF411B6DA3BB}" srcOrd="8" destOrd="0" presId="urn:microsoft.com/office/officeart/2005/8/layout/vList2"/>
    <dgm:cxn modelId="{8FFCFBC3-2EAE-4501-8559-9F6F3FF7AEF1}" type="presParOf" srcId="{8FEB2AA0-3F4F-423C-AD91-5B9785EE46C4}" destId="{738473C0-9027-4523-83A9-D05A403B38F5}" srcOrd="9" destOrd="0" presId="urn:microsoft.com/office/officeart/2005/8/layout/vList2"/>
    <dgm:cxn modelId="{C11046FF-2215-4CCC-A511-C995391826B5}" type="presParOf" srcId="{8FEB2AA0-3F4F-423C-AD91-5B9785EE46C4}" destId="{6325200D-4401-4F68-8132-B7BA410A12E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ED80E6-6809-4689-8355-F701AC1280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6ADC0028-4587-4C12-AA1F-B3FE2A794B1F}">
      <dgm:prSet/>
      <dgm:spPr/>
      <dgm:t>
        <a:bodyPr/>
        <a:lstStyle/>
        <a:p>
          <a:pPr rtl="0"/>
          <a:r>
            <a:rPr lang="en-GB"/>
            <a:t>Prime minister’s relief fund.</a:t>
          </a:r>
        </a:p>
      </dgm:t>
    </dgm:pt>
    <dgm:pt modelId="{E19D67D5-7399-49ED-A7B2-9C91EE799442}" type="parTrans" cxnId="{4B3FD876-976C-4D1F-9A0A-DC02CC469A5D}">
      <dgm:prSet/>
      <dgm:spPr/>
      <dgm:t>
        <a:bodyPr/>
        <a:lstStyle/>
        <a:p>
          <a:endParaRPr lang="en-GB"/>
        </a:p>
      </dgm:t>
    </dgm:pt>
    <dgm:pt modelId="{82C1AC1D-23BE-437F-9111-5EAFCF5A8265}" type="sibTrans" cxnId="{4B3FD876-976C-4D1F-9A0A-DC02CC469A5D}">
      <dgm:prSet/>
      <dgm:spPr/>
      <dgm:t>
        <a:bodyPr/>
        <a:lstStyle/>
        <a:p>
          <a:endParaRPr lang="en-GB"/>
        </a:p>
      </dgm:t>
    </dgm:pt>
    <dgm:pt modelId="{C7F08E02-3120-4CA8-A96A-519ADF4B41D8}">
      <dgm:prSet/>
      <dgm:spPr/>
      <dgm:t>
        <a:bodyPr/>
        <a:lstStyle/>
        <a:p>
          <a:pPr rtl="0"/>
          <a:r>
            <a:rPr lang="en-GB"/>
            <a:t>MP, Jhenaidah-2.</a:t>
          </a:r>
        </a:p>
      </dgm:t>
    </dgm:pt>
    <dgm:pt modelId="{BB701834-38DE-4D50-9138-BE36B0AF13DF}" type="parTrans" cxnId="{C683CF76-4F5A-4BD5-B3CF-99F9F4583627}">
      <dgm:prSet/>
      <dgm:spPr/>
      <dgm:t>
        <a:bodyPr/>
        <a:lstStyle/>
        <a:p>
          <a:endParaRPr lang="en-GB"/>
        </a:p>
      </dgm:t>
    </dgm:pt>
    <dgm:pt modelId="{0E880F49-9502-4518-9AFB-CD8A2E5B7765}" type="sibTrans" cxnId="{C683CF76-4F5A-4BD5-B3CF-99F9F4583627}">
      <dgm:prSet/>
      <dgm:spPr/>
      <dgm:t>
        <a:bodyPr/>
        <a:lstStyle/>
        <a:p>
          <a:endParaRPr lang="en-GB"/>
        </a:p>
      </dgm:t>
    </dgm:pt>
    <dgm:pt modelId="{5AD6B90F-9083-408E-A794-2991B86BCF5D}">
      <dgm:prSet/>
      <dgm:spPr/>
      <dgm:t>
        <a:bodyPr/>
        <a:lstStyle/>
        <a:p>
          <a:pPr rtl="0"/>
          <a:r>
            <a:rPr lang="en-GB" dirty="0"/>
            <a:t>Mayor, </a:t>
          </a:r>
          <a:r>
            <a:rPr lang="en-GB" dirty="0" err="1"/>
            <a:t>Jhenaidah</a:t>
          </a:r>
          <a:r>
            <a:rPr lang="en-GB" dirty="0"/>
            <a:t> </a:t>
          </a:r>
          <a:r>
            <a:rPr lang="en-GB" dirty="0" err="1"/>
            <a:t>pourosova</a:t>
          </a:r>
          <a:r>
            <a:rPr lang="en-GB" dirty="0"/>
            <a:t>.</a:t>
          </a:r>
        </a:p>
      </dgm:t>
    </dgm:pt>
    <dgm:pt modelId="{577E4D54-DCA5-4A0B-9949-71EA6EB100C7}" type="parTrans" cxnId="{9869E879-9D20-4E3A-88E6-F824C3755487}">
      <dgm:prSet/>
      <dgm:spPr/>
      <dgm:t>
        <a:bodyPr/>
        <a:lstStyle/>
        <a:p>
          <a:endParaRPr lang="en-GB"/>
        </a:p>
      </dgm:t>
    </dgm:pt>
    <dgm:pt modelId="{7A0C1DEE-6724-4C3E-AE5C-E612B1393D4E}" type="sibTrans" cxnId="{9869E879-9D20-4E3A-88E6-F824C3755487}">
      <dgm:prSet/>
      <dgm:spPr/>
      <dgm:t>
        <a:bodyPr/>
        <a:lstStyle/>
        <a:p>
          <a:endParaRPr lang="en-GB"/>
        </a:p>
      </dgm:t>
    </dgm:pt>
    <dgm:pt modelId="{3FEE24C6-CE85-45B8-850E-D4EE6860F9D3}">
      <dgm:prSet/>
      <dgm:spPr/>
      <dgm:t>
        <a:bodyPr/>
        <a:lstStyle/>
        <a:p>
          <a:pPr rtl="0"/>
          <a:r>
            <a:rPr lang="en-GB"/>
            <a:t>Jaheedi Foundation.</a:t>
          </a:r>
        </a:p>
      </dgm:t>
    </dgm:pt>
    <dgm:pt modelId="{7C0C76C5-C115-4C2D-95CE-FA5D79831362}" type="parTrans" cxnId="{2E4F4598-2F9B-4133-A67F-97FF67AC1EBE}">
      <dgm:prSet/>
      <dgm:spPr/>
      <dgm:t>
        <a:bodyPr/>
        <a:lstStyle/>
        <a:p>
          <a:endParaRPr lang="en-GB"/>
        </a:p>
      </dgm:t>
    </dgm:pt>
    <dgm:pt modelId="{29A33AD3-BD5D-4782-B1F2-0C3D712012DE}" type="sibTrans" cxnId="{2E4F4598-2F9B-4133-A67F-97FF67AC1EBE}">
      <dgm:prSet/>
      <dgm:spPr/>
      <dgm:t>
        <a:bodyPr/>
        <a:lstStyle/>
        <a:p>
          <a:endParaRPr lang="en-GB"/>
        </a:p>
      </dgm:t>
    </dgm:pt>
    <dgm:pt modelId="{26F90953-42C6-43BF-A499-FBB77A723DD6}">
      <dgm:prSet/>
      <dgm:spPr/>
      <dgm:t>
        <a:bodyPr/>
        <a:lstStyle/>
        <a:p>
          <a:pPr rtl="0"/>
          <a:r>
            <a:rPr lang="en-GB"/>
            <a:t>Navana group.</a:t>
          </a:r>
        </a:p>
      </dgm:t>
    </dgm:pt>
    <dgm:pt modelId="{CC2B5356-6A02-4CC1-9B7F-99E5A93503D3}" type="parTrans" cxnId="{3B23A490-8A96-483B-ACD5-66CD6701BE45}">
      <dgm:prSet/>
      <dgm:spPr/>
      <dgm:t>
        <a:bodyPr/>
        <a:lstStyle/>
        <a:p>
          <a:endParaRPr lang="en-GB"/>
        </a:p>
      </dgm:t>
    </dgm:pt>
    <dgm:pt modelId="{50511D2C-A017-43E8-879B-2BED343D6967}" type="sibTrans" cxnId="{3B23A490-8A96-483B-ACD5-66CD6701BE45}">
      <dgm:prSet/>
      <dgm:spPr/>
      <dgm:t>
        <a:bodyPr/>
        <a:lstStyle/>
        <a:p>
          <a:endParaRPr lang="en-GB"/>
        </a:p>
      </dgm:t>
    </dgm:pt>
    <dgm:pt modelId="{8DEF001F-9526-425D-A304-364FD2A32D09}" type="pres">
      <dgm:prSet presAssocID="{E5ED80E6-6809-4689-8355-F701AC128059}" presName="linear" presStyleCnt="0">
        <dgm:presLayoutVars>
          <dgm:animLvl val="lvl"/>
          <dgm:resizeHandles val="exact"/>
        </dgm:presLayoutVars>
      </dgm:prSet>
      <dgm:spPr/>
    </dgm:pt>
    <dgm:pt modelId="{F322EB3B-4393-4F62-9896-6CAC1D8C7C9F}" type="pres">
      <dgm:prSet presAssocID="{6ADC0028-4587-4C12-AA1F-B3FE2A794B1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0E5320E-11AB-43A7-9D24-5AB88107839E}" type="pres">
      <dgm:prSet presAssocID="{82C1AC1D-23BE-437F-9111-5EAFCF5A8265}" presName="spacer" presStyleCnt="0"/>
      <dgm:spPr/>
    </dgm:pt>
    <dgm:pt modelId="{4957D60D-9A48-45C1-BAC6-F3D37092E3B1}" type="pres">
      <dgm:prSet presAssocID="{C7F08E02-3120-4CA8-A96A-519ADF4B41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280F85-D5B7-45C3-A4D2-BA70B77BB121}" type="pres">
      <dgm:prSet presAssocID="{0E880F49-9502-4518-9AFB-CD8A2E5B7765}" presName="spacer" presStyleCnt="0"/>
      <dgm:spPr/>
    </dgm:pt>
    <dgm:pt modelId="{648756C2-CBEA-4503-B679-343ADD8DA048}" type="pres">
      <dgm:prSet presAssocID="{5AD6B90F-9083-408E-A794-2991B86BCF5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B1360F5-7A90-451C-918B-9DE1897A5330}" type="pres">
      <dgm:prSet presAssocID="{7A0C1DEE-6724-4C3E-AE5C-E612B1393D4E}" presName="spacer" presStyleCnt="0"/>
      <dgm:spPr/>
    </dgm:pt>
    <dgm:pt modelId="{67D1A4F1-4413-4A6E-B170-3E78BE79127C}" type="pres">
      <dgm:prSet presAssocID="{3FEE24C6-CE85-45B8-850E-D4EE6860F9D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780C74-FC6D-47EF-8E2B-33A4236B1781}" type="pres">
      <dgm:prSet presAssocID="{29A33AD3-BD5D-4782-B1F2-0C3D712012DE}" presName="spacer" presStyleCnt="0"/>
      <dgm:spPr/>
    </dgm:pt>
    <dgm:pt modelId="{CA20AB46-4D56-4B7A-B508-C9C3AA679FFD}" type="pres">
      <dgm:prSet presAssocID="{26F90953-42C6-43BF-A499-FBB77A723DD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3608C05-F76C-4BC4-808F-58E3AAC2A141}" type="presOf" srcId="{5AD6B90F-9083-408E-A794-2991B86BCF5D}" destId="{648756C2-CBEA-4503-B679-343ADD8DA048}" srcOrd="0" destOrd="0" presId="urn:microsoft.com/office/officeart/2005/8/layout/vList2"/>
    <dgm:cxn modelId="{65A7431F-9DA0-46BB-9168-2F44F4CC767C}" type="presOf" srcId="{26F90953-42C6-43BF-A499-FBB77A723DD6}" destId="{CA20AB46-4D56-4B7A-B508-C9C3AA679FFD}" srcOrd="0" destOrd="0" presId="urn:microsoft.com/office/officeart/2005/8/layout/vList2"/>
    <dgm:cxn modelId="{8DBFDD37-C88B-46AA-9C34-4215E6B03565}" type="presOf" srcId="{3FEE24C6-CE85-45B8-850E-D4EE6860F9D3}" destId="{67D1A4F1-4413-4A6E-B170-3E78BE79127C}" srcOrd="0" destOrd="0" presId="urn:microsoft.com/office/officeart/2005/8/layout/vList2"/>
    <dgm:cxn modelId="{EBA1F962-DE1F-4CA0-A704-5B8D17731EBB}" type="presOf" srcId="{6ADC0028-4587-4C12-AA1F-B3FE2A794B1F}" destId="{F322EB3B-4393-4F62-9896-6CAC1D8C7C9F}" srcOrd="0" destOrd="0" presId="urn:microsoft.com/office/officeart/2005/8/layout/vList2"/>
    <dgm:cxn modelId="{15AB3E72-8E1A-42C7-A158-AA43911A699E}" type="presOf" srcId="{E5ED80E6-6809-4689-8355-F701AC128059}" destId="{8DEF001F-9526-425D-A304-364FD2A32D09}" srcOrd="0" destOrd="0" presId="urn:microsoft.com/office/officeart/2005/8/layout/vList2"/>
    <dgm:cxn modelId="{C683CF76-4F5A-4BD5-B3CF-99F9F4583627}" srcId="{E5ED80E6-6809-4689-8355-F701AC128059}" destId="{C7F08E02-3120-4CA8-A96A-519ADF4B41D8}" srcOrd="1" destOrd="0" parTransId="{BB701834-38DE-4D50-9138-BE36B0AF13DF}" sibTransId="{0E880F49-9502-4518-9AFB-CD8A2E5B7765}"/>
    <dgm:cxn modelId="{4B3FD876-976C-4D1F-9A0A-DC02CC469A5D}" srcId="{E5ED80E6-6809-4689-8355-F701AC128059}" destId="{6ADC0028-4587-4C12-AA1F-B3FE2A794B1F}" srcOrd="0" destOrd="0" parTransId="{E19D67D5-7399-49ED-A7B2-9C91EE799442}" sibTransId="{82C1AC1D-23BE-437F-9111-5EAFCF5A8265}"/>
    <dgm:cxn modelId="{9869E879-9D20-4E3A-88E6-F824C3755487}" srcId="{E5ED80E6-6809-4689-8355-F701AC128059}" destId="{5AD6B90F-9083-408E-A794-2991B86BCF5D}" srcOrd="2" destOrd="0" parTransId="{577E4D54-DCA5-4A0B-9949-71EA6EB100C7}" sibTransId="{7A0C1DEE-6724-4C3E-AE5C-E612B1393D4E}"/>
    <dgm:cxn modelId="{3B23A490-8A96-483B-ACD5-66CD6701BE45}" srcId="{E5ED80E6-6809-4689-8355-F701AC128059}" destId="{26F90953-42C6-43BF-A499-FBB77A723DD6}" srcOrd="4" destOrd="0" parTransId="{CC2B5356-6A02-4CC1-9B7F-99E5A93503D3}" sibTransId="{50511D2C-A017-43E8-879B-2BED343D6967}"/>
    <dgm:cxn modelId="{2E4F4598-2F9B-4133-A67F-97FF67AC1EBE}" srcId="{E5ED80E6-6809-4689-8355-F701AC128059}" destId="{3FEE24C6-CE85-45B8-850E-D4EE6860F9D3}" srcOrd="3" destOrd="0" parTransId="{7C0C76C5-C115-4C2D-95CE-FA5D79831362}" sibTransId="{29A33AD3-BD5D-4782-B1F2-0C3D712012DE}"/>
    <dgm:cxn modelId="{845972D5-FF1F-464E-9CD9-9A302F6CEB2D}" type="presOf" srcId="{C7F08E02-3120-4CA8-A96A-519ADF4B41D8}" destId="{4957D60D-9A48-45C1-BAC6-F3D37092E3B1}" srcOrd="0" destOrd="0" presId="urn:microsoft.com/office/officeart/2005/8/layout/vList2"/>
    <dgm:cxn modelId="{CF0C3DDD-B73F-4E55-AE3B-54E16F4843CC}" type="presParOf" srcId="{8DEF001F-9526-425D-A304-364FD2A32D09}" destId="{F322EB3B-4393-4F62-9896-6CAC1D8C7C9F}" srcOrd="0" destOrd="0" presId="urn:microsoft.com/office/officeart/2005/8/layout/vList2"/>
    <dgm:cxn modelId="{23C31C32-BF97-4DED-901F-860C129C4E38}" type="presParOf" srcId="{8DEF001F-9526-425D-A304-364FD2A32D09}" destId="{60E5320E-11AB-43A7-9D24-5AB88107839E}" srcOrd="1" destOrd="0" presId="urn:microsoft.com/office/officeart/2005/8/layout/vList2"/>
    <dgm:cxn modelId="{791F724C-155C-4F3E-8D23-923B3F40FA4C}" type="presParOf" srcId="{8DEF001F-9526-425D-A304-364FD2A32D09}" destId="{4957D60D-9A48-45C1-BAC6-F3D37092E3B1}" srcOrd="2" destOrd="0" presId="urn:microsoft.com/office/officeart/2005/8/layout/vList2"/>
    <dgm:cxn modelId="{1CE2B9C1-5EE7-4513-A2CA-F920C8759861}" type="presParOf" srcId="{8DEF001F-9526-425D-A304-364FD2A32D09}" destId="{16280F85-D5B7-45C3-A4D2-BA70B77BB121}" srcOrd="3" destOrd="0" presId="urn:microsoft.com/office/officeart/2005/8/layout/vList2"/>
    <dgm:cxn modelId="{DC8916F9-5C36-43D2-AA49-0EE4DFF0A206}" type="presParOf" srcId="{8DEF001F-9526-425D-A304-364FD2A32D09}" destId="{648756C2-CBEA-4503-B679-343ADD8DA048}" srcOrd="4" destOrd="0" presId="urn:microsoft.com/office/officeart/2005/8/layout/vList2"/>
    <dgm:cxn modelId="{BDBAD711-9103-449F-8553-8C9B56046EED}" type="presParOf" srcId="{8DEF001F-9526-425D-A304-364FD2A32D09}" destId="{9B1360F5-7A90-451C-918B-9DE1897A5330}" srcOrd="5" destOrd="0" presId="urn:microsoft.com/office/officeart/2005/8/layout/vList2"/>
    <dgm:cxn modelId="{3ABA51A7-8EB2-40D3-8E03-5DBA386ACE52}" type="presParOf" srcId="{8DEF001F-9526-425D-A304-364FD2A32D09}" destId="{67D1A4F1-4413-4A6E-B170-3E78BE79127C}" srcOrd="6" destOrd="0" presId="urn:microsoft.com/office/officeart/2005/8/layout/vList2"/>
    <dgm:cxn modelId="{A19C42B1-0EFB-4C8E-8EFA-02F8E9572AB2}" type="presParOf" srcId="{8DEF001F-9526-425D-A304-364FD2A32D09}" destId="{C3780C74-FC6D-47EF-8E2B-33A4236B1781}" srcOrd="7" destOrd="0" presId="urn:microsoft.com/office/officeart/2005/8/layout/vList2"/>
    <dgm:cxn modelId="{98A7B389-529E-400D-BD18-D3F90A22E2A0}" type="presParOf" srcId="{8DEF001F-9526-425D-A304-364FD2A32D09}" destId="{CA20AB46-4D56-4B7A-B508-C9C3AA679FF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6F7FE-2300-4A17-A15B-6A7F7491AD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2E5693D-0EFD-458E-98CF-DCA495A21184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rtl="0"/>
          <a:r>
            <a:rPr lang="en-GB" dirty="0"/>
            <a:t>Value – Nearly 52 Lac taka </a:t>
          </a:r>
        </a:p>
      </dgm:t>
    </dgm:pt>
    <dgm:pt modelId="{204FC4FA-25E8-412D-8193-19DEFA885865}" type="parTrans" cxnId="{86008C12-7CFE-4652-B54F-3578BBD24D01}">
      <dgm:prSet/>
      <dgm:spPr/>
      <dgm:t>
        <a:bodyPr/>
        <a:lstStyle/>
        <a:p>
          <a:endParaRPr lang="en-GB"/>
        </a:p>
      </dgm:t>
    </dgm:pt>
    <dgm:pt modelId="{C9FCD6DB-3844-458E-97C2-E98846834BC0}" type="sibTrans" cxnId="{86008C12-7CFE-4652-B54F-3578BBD24D01}">
      <dgm:prSet/>
      <dgm:spPr/>
      <dgm:t>
        <a:bodyPr/>
        <a:lstStyle/>
        <a:p>
          <a:endParaRPr lang="en-GB"/>
        </a:p>
      </dgm:t>
    </dgm:pt>
    <dgm:pt modelId="{5EF4972E-4643-43E2-B3AB-113B9B2E4FEA}" type="pres">
      <dgm:prSet presAssocID="{3316F7FE-2300-4A17-A15B-6A7F7491AD5C}" presName="linear" presStyleCnt="0">
        <dgm:presLayoutVars>
          <dgm:animLvl val="lvl"/>
          <dgm:resizeHandles val="exact"/>
        </dgm:presLayoutVars>
      </dgm:prSet>
      <dgm:spPr/>
    </dgm:pt>
    <dgm:pt modelId="{EDA508CE-5441-40F4-BF43-22D7E4368061}" type="pres">
      <dgm:prSet presAssocID="{F2E5693D-0EFD-458E-98CF-DCA495A21184}" presName="parentText" presStyleLbl="node1" presStyleIdx="0" presStyleCnt="1" custLinFactNeighborY="8174">
        <dgm:presLayoutVars>
          <dgm:chMax val="0"/>
          <dgm:bulletEnabled val="1"/>
        </dgm:presLayoutVars>
      </dgm:prSet>
      <dgm:spPr/>
    </dgm:pt>
  </dgm:ptLst>
  <dgm:cxnLst>
    <dgm:cxn modelId="{86008C12-7CFE-4652-B54F-3578BBD24D01}" srcId="{3316F7FE-2300-4A17-A15B-6A7F7491AD5C}" destId="{F2E5693D-0EFD-458E-98CF-DCA495A21184}" srcOrd="0" destOrd="0" parTransId="{204FC4FA-25E8-412D-8193-19DEFA885865}" sibTransId="{C9FCD6DB-3844-458E-97C2-E98846834BC0}"/>
    <dgm:cxn modelId="{B5A0FD4C-DE4D-4A6B-B0E5-52F7990ED734}" type="presOf" srcId="{3316F7FE-2300-4A17-A15B-6A7F7491AD5C}" destId="{5EF4972E-4643-43E2-B3AB-113B9B2E4FEA}" srcOrd="0" destOrd="0" presId="urn:microsoft.com/office/officeart/2005/8/layout/vList2"/>
    <dgm:cxn modelId="{A1EC6AA3-8D11-4E09-A469-A60F78FCD857}" type="presOf" srcId="{F2E5693D-0EFD-458E-98CF-DCA495A21184}" destId="{EDA508CE-5441-40F4-BF43-22D7E4368061}" srcOrd="0" destOrd="0" presId="urn:microsoft.com/office/officeart/2005/8/layout/vList2"/>
    <dgm:cxn modelId="{224BBAE5-C656-472F-BABC-76B7509ECAB4}" type="presParOf" srcId="{5EF4972E-4643-43E2-B3AB-113B9B2E4FEA}" destId="{EDA508CE-5441-40F4-BF43-22D7E436806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622F9-F07C-4B23-BC93-E0F03E146D01}">
      <dsp:nvSpPr>
        <dsp:cNvPr id="0" name=""/>
        <dsp:cNvSpPr/>
      </dsp:nvSpPr>
      <dsp:spPr>
        <a:xfrm>
          <a:off x="0" y="1804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Central oxygen system 	- 1</a:t>
          </a:r>
        </a:p>
      </dsp:txBody>
      <dsp:txXfrm>
        <a:off x="19904" y="37951"/>
        <a:ext cx="4379792" cy="367937"/>
      </dsp:txXfrm>
    </dsp:sp>
    <dsp:sp modelId="{336BD10C-9BB5-469F-8BD4-A3494E0C75E9}">
      <dsp:nvSpPr>
        <dsp:cNvPr id="0" name=""/>
        <dsp:cNvSpPr/>
      </dsp:nvSpPr>
      <dsp:spPr>
        <a:xfrm>
          <a:off x="0" y="474752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High flow nasal cannula	- 5</a:t>
          </a:r>
        </a:p>
      </dsp:txBody>
      <dsp:txXfrm>
        <a:off x="19904" y="494656"/>
        <a:ext cx="4379792" cy="367937"/>
      </dsp:txXfrm>
    </dsp:sp>
    <dsp:sp modelId="{A893A7A7-CC28-4404-AD1A-6638F1AA5451}">
      <dsp:nvSpPr>
        <dsp:cNvPr id="0" name=""/>
        <dsp:cNvSpPr/>
      </dsp:nvSpPr>
      <dsp:spPr>
        <a:xfrm>
          <a:off x="0" y="93145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Oxygen concentrator	- 3</a:t>
          </a:r>
        </a:p>
      </dsp:txBody>
      <dsp:txXfrm>
        <a:off x="19904" y="951361"/>
        <a:ext cx="4379792" cy="367937"/>
      </dsp:txXfrm>
    </dsp:sp>
    <dsp:sp modelId="{CD71DDF5-A775-4A4F-B429-2F449530DD1D}">
      <dsp:nvSpPr>
        <dsp:cNvPr id="0" name=""/>
        <dsp:cNvSpPr/>
      </dsp:nvSpPr>
      <dsp:spPr>
        <a:xfrm>
          <a:off x="0" y="138816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Large oxygen cylinder	- 48 </a:t>
          </a:r>
        </a:p>
      </dsp:txBody>
      <dsp:txXfrm>
        <a:off x="19904" y="1408067"/>
        <a:ext cx="4379792" cy="367937"/>
      </dsp:txXfrm>
    </dsp:sp>
    <dsp:sp modelId="{DD6FDA14-5D81-4D91-815D-EF411B6DA3BB}">
      <dsp:nvSpPr>
        <dsp:cNvPr id="0" name=""/>
        <dsp:cNvSpPr/>
      </dsp:nvSpPr>
      <dsp:spPr>
        <a:xfrm>
          <a:off x="0" y="1844868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C-PAP machine		- 1</a:t>
          </a:r>
        </a:p>
      </dsp:txBody>
      <dsp:txXfrm>
        <a:off x="19904" y="1864772"/>
        <a:ext cx="4379792" cy="367937"/>
      </dsp:txXfrm>
    </dsp:sp>
    <dsp:sp modelId="{6325200D-4401-4F68-8132-B7BA410A12E6}">
      <dsp:nvSpPr>
        <dsp:cNvPr id="0" name=""/>
        <dsp:cNvSpPr/>
      </dsp:nvSpPr>
      <dsp:spPr>
        <a:xfrm>
          <a:off x="0" y="230157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Pick-up </a:t>
          </a:r>
          <a:r>
            <a:rPr lang="en-GB" sz="1700" kern="1200" dirty="0" err="1"/>
            <a:t>caverd</a:t>
          </a:r>
          <a:r>
            <a:rPr lang="en-GB" sz="1700" kern="1200" dirty="0"/>
            <a:t> van	- 1</a:t>
          </a:r>
        </a:p>
      </dsp:txBody>
      <dsp:txXfrm>
        <a:off x="19904" y="2321477"/>
        <a:ext cx="4379792" cy="367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2EB3B-4393-4F62-9896-6CAC1D8C7C9F}">
      <dsp:nvSpPr>
        <dsp:cNvPr id="0" name=""/>
        <dsp:cNvSpPr/>
      </dsp:nvSpPr>
      <dsp:spPr>
        <a:xfrm>
          <a:off x="0" y="77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Prime minister’s relief fund.</a:t>
          </a:r>
        </a:p>
      </dsp:txBody>
      <dsp:txXfrm>
        <a:off x="17563" y="25325"/>
        <a:ext cx="4232073" cy="324648"/>
      </dsp:txXfrm>
    </dsp:sp>
    <dsp:sp modelId="{4957D60D-9A48-45C1-BAC6-F3D37092E3B1}">
      <dsp:nvSpPr>
        <dsp:cNvPr id="0" name=""/>
        <dsp:cNvSpPr/>
      </dsp:nvSpPr>
      <dsp:spPr>
        <a:xfrm>
          <a:off x="0" y="41073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MP, Jhenaidah-2.</a:t>
          </a:r>
        </a:p>
      </dsp:txBody>
      <dsp:txXfrm>
        <a:off x="17563" y="428300"/>
        <a:ext cx="4232073" cy="324648"/>
      </dsp:txXfrm>
    </dsp:sp>
    <dsp:sp modelId="{648756C2-CBEA-4503-B679-343ADD8DA048}">
      <dsp:nvSpPr>
        <dsp:cNvPr id="0" name=""/>
        <dsp:cNvSpPr/>
      </dsp:nvSpPr>
      <dsp:spPr>
        <a:xfrm>
          <a:off x="0" y="81371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Mayor, </a:t>
          </a:r>
          <a:r>
            <a:rPr lang="en-GB" sz="1500" kern="1200" dirty="0" err="1"/>
            <a:t>Jhenaidah</a:t>
          </a:r>
          <a:r>
            <a:rPr lang="en-GB" sz="1500" kern="1200" dirty="0"/>
            <a:t> </a:t>
          </a:r>
          <a:r>
            <a:rPr lang="en-GB" sz="1500" kern="1200" dirty="0" err="1"/>
            <a:t>pourosova</a:t>
          </a:r>
          <a:r>
            <a:rPr lang="en-GB" sz="1500" kern="1200" dirty="0"/>
            <a:t>.</a:t>
          </a:r>
        </a:p>
      </dsp:txBody>
      <dsp:txXfrm>
        <a:off x="17563" y="831275"/>
        <a:ext cx="4232073" cy="324648"/>
      </dsp:txXfrm>
    </dsp:sp>
    <dsp:sp modelId="{67D1A4F1-4413-4A6E-B170-3E78BE79127C}">
      <dsp:nvSpPr>
        <dsp:cNvPr id="0" name=""/>
        <dsp:cNvSpPr/>
      </dsp:nvSpPr>
      <dsp:spPr>
        <a:xfrm>
          <a:off x="0" y="121668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Jaheedi Foundation.</a:t>
          </a:r>
        </a:p>
      </dsp:txBody>
      <dsp:txXfrm>
        <a:off x="17563" y="1234250"/>
        <a:ext cx="4232073" cy="324648"/>
      </dsp:txXfrm>
    </dsp:sp>
    <dsp:sp modelId="{CA20AB46-4D56-4B7A-B508-C9C3AA679FFD}">
      <dsp:nvSpPr>
        <dsp:cNvPr id="0" name=""/>
        <dsp:cNvSpPr/>
      </dsp:nvSpPr>
      <dsp:spPr>
        <a:xfrm>
          <a:off x="0" y="16196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Navana group.</a:t>
          </a:r>
        </a:p>
      </dsp:txBody>
      <dsp:txXfrm>
        <a:off x="17563" y="1637225"/>
        <a:ext cx="4232073" cy="324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A508CE-5441-40F4-BF43-22D7E4368061}">
      <dsp:nvSpPr>
        <dsp:cNvPr id="0" name=""/>
        <dsp:cNvSpPr/>
      </dsp:nvSpPr>
      <dsp:spPr>
        <a:xfrm>
          <a:off x="0" y="254619"/>
          <a:ext cx="3962400" cy="647595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Value – Nearly 52 Lac taka </a:t>
          </a:r>
        </a:p>
      </dsp:txBody>
      <dsp:txXfrm>
        <a:off x="31613" y="286232"/>
        <a:ext cx="3899174" cy="584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12/20/2022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219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825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51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6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17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68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056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5FA10A38-5972-4DE5-930E-B7F49B08B9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C062B81C-1FB7-4F66-B346-F4CF71C03D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99D2CD4F-3787-4A19-A3A2-5242F2315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7A0F12A-E350-446A-AF76-79C4F5732627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38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C37F067-449D-4686-A358-95C1FE3894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BC43C7-29B3-414C-8996-97B66DCD6CC5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2A8C737F-C937-4FB2-8536-2494E8DEC6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848AFE14-7CFA-47D6-875B-4EE0B6F1D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37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427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 txBox="1">
            <a:spLocks noGrp="1" noChangeArrowheads="1"/>
          </p:cNvSpPr>
          <p:nvPr/>
        </p:nvSpPr>
        <p:spPr bwMode="auto">
          <a:xfrm>
            <a:off x="4008438" y="8575675"/>
            <a:ext cx="30670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7D2F6527-8EB9-4497-A9D4-CE9218D33B17}" type="slidenum">
              <a:rPr lang="en-US" sz="1200"/>
              <a:pPr algn="r" eaLnBrk="1" hangingPunct="1"/>
              <a:t>43</a:t>
            </a:fld>
            <a:endParaRPr lang="en-US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12/20/2022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12/20/2022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12/20/2022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12/20/2022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12/20/2022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12/20/2022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12/20/2022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12/20/2022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12/20/2022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12/20/2022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12/20/2022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2022/12/20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jpe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-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Haque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Consultant(HEU) .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23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326031"/>
              </p:ext>
            </p:extLst>
          </p:nvPr>
        </p:nvGraphicFramePr>
        <p:xfrm>
          <a:off x="144439" y="1295400"/>
          <a:ext cx="8823562" cy="462379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343400" y="6026060"/>
            <a:ext cx="461133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2018, 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0394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SEARC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970102"/>
              </p:ext>
            </p:extLst>
          </p:nvPr>
        </p:nvGraphicFramePr>
        <p:xfrm>
          <a:off x="304800" y="1410154"/>
          <a:ext cx="8717280" cy="4685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794095"/>
            <a:ext cx="3248553" cy="2193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85725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1586446"/>
            <a:ext cx="3072205" cy="2071154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33" y="3758665"/>
            <a:ext cx="307220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1600200"/>
            <a:ext cx="1219200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Old UHC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733800"/>
            <a:ext cx="1820182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50-bedded UHC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1" y="3810000"/>
            <a:ext cx="1676400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31-bedded UHC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1586447"/>
            <a:ext cx="3286014" cy="204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1581009"/>
            <a:ext cx="1190562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Old UHC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05475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711212"/>
            <a:ext cx="2743200" cy="2289538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2146102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714750"/>
            <a:ext cx="2967777" cy="2286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733800"/>
            <a:ext cx="3429000" cy="226695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857250"/>
            <a:ext cx="6172200" cy="5905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243606168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05172"/>
            <a:ext cx="6172200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3801629" y="1600200"/>
            <a:ext cx="5056632" cy="161844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2400" b="1" dirty="0"/>
              <a:t>Maximum utilization of Govt.</a:t>
            </a:r>
          </a:p>
          <a:p>
            <a:pPr algn="ctr" eaLnBrk="0" hangingPunct="0"/>
            <a:r>
              <a:rPr lang="en-US" sz="2400" b="1" dirty="0"/>
              <a:t>resources with </a:t>
            </a:r>
          </a:p>
          <a:p>
            <a:pPr algn="ctr" eaLnBrk="0" hangingPunct="0"/>
            <a:r>
              <a:rPr lang="en-US" sz="2400" b="1" dirty="0"/>
              <a:t>honesty and sincerity.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3962400" y="4899706"/>
            <a:ext cx="5056632" cy="179916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400" b="1" dirty="0"/>
              <a:t>Providing Effective  services </a:t>
            </a:r>
          </a:p>
          <a:p>
            <a:pPr algn="ctr" eaLnBrk="0" hangingPunct="0"/>
            <a:r>
              <a:rPr lang="en-US" sz="2400" b="1" dirty="0"/>
              <a:t>through improved </a:t>
            </a:r>
          </a:p>
          <a:p>
            <a:pPr algn="ctr" eaLnBrk="0" hangingPunct="0"/>
            <a:r>
              <a:rPr lang="en-US" sz="2400" b="1" dirty="0"/>
              <a:t>management system</a:t>
            </a:r>
            <a:r>
              <a:rPr lang="en-US" sz="14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09600" y="2075249"/>
            <a:ext cx="3006105" cy="804944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09601" y="5431942"/>
            <a:ext cx="3192028" cy="804944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801628" y="3249953"/>
            <a:ext cx="5056631" cy="161844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400" b="1" dirty="0"/>
              <a:t>Integrated approach of </a:t>
            </a:r>
          </a:p>
          <a:p>
            <a:pPr algn="ctr" eaLnBrk="0" hangingPunct="0"/>
            <a:r>
              <a:rPr lang="en-US" sz="2400" b="1" dirty="0"/>
              <a:t>Administration, Community</a:t>
            </a:r>
          </a:p>
          <a:p>
            <a:pPr algn="ctr" eaLnBrk="0" hangingPunct="0"/>
            <a:r>
              <a:rPr lang="en-US" sz="2400" b="1" dirty="0"/>
              <a:t>Leaders </a:t>
            </a:r>
            <a:r>
              <a:rPr lang="en-US" sz="14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609601" y="3819039"/>
            <a:ext cx="3192028" cy="804944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-152399"/>
            <a:ext cx="7772400" cy="2106612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1524000"/>
            <a:ext cx="9067800" cy="5334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176885"/>
              </p:ext>
            </p:extLst>
          </p:nvPr>
        </p:nvGraphicFramePr>
        <p:xfrm>
          <a:off x="76200" y="1542312"/>
          <a:ext cx="9067801" cy="53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680848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sz="3200" dirty="0"/>
                        <a:t>Criteria  of C-J  Model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Best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Weak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800" dirty="0"/>
                        <a:t>1.Cycle stand close to the main gate.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800" dirty="0"/>
                        <a:t>2.Health Education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sz="2800" dirty="0"/>
                        <a:t>3.Cleanliness &amp;  beautification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925561">
                <a:tc>
                  <a:txBody>
                    <a:bodyPr/>
                    <a:lstStyle/>
                    <a:p>
                      <a:r>
                        <a:rPr lang="en-IN" sz="2400" b="0" dirty="0"/>
                        <a:t>4.Separation of patients in out door &amp; indoor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400" dirty="0"/>
                        <a:t>5.</a:t>
                      </a:r>
                      <a:r>
                        <a:rPr lang="en-IN" sz="2400" baseline="0" dirty="0"/>
                        <a:t>B</a:t>
                      </a:r>
                      <a:r>
                        <a:rPr lang="en-IN" sz="2400" dirty="0"/>
                        <a:t>lood  </a:t>
                      </a:r>
                      <a:r>
                        <a:rPr lang="en-IN" sz="2400" dirty="0" err="1"/>
                        <a:t>doner</a:t>
                      </a:r>
                      <a:r>
                        <a:rPr lang="en-IN" sz="2400" dirty="0"/>
                        <a:t> list with  24/7 B.T facility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6.Birth- death recording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32907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477443"/>
              </p:ext>
            </p:extLst>
          </p:nvPr>
        </p:nvGraphicFramePr>
        <p:xfrm>
          <a:off x="76200" y="1921113"/>
          <a:ext cx="8915399" cy="470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29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007828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1240403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</a:tblGrid>
              <a:tr h="623553">
                <a:tc>
                  <a:txBody>
                    <a:bodyPr/>
                    <a:lstStyle/>
                    <a:p>
                      <a:r>
                        <a:rPr lang="en-IN" sz="3200" dirty="0"/>
                        <a:t>Criteria  of C-J  Model.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Week</a:t>
                      </a:r>
                      <a:endParaRPr lang="en-GB" sz="32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7. Reception</a:t>
                      </a:r>
                      <a:r>
                        <a:rPr lang="en-IN" sz="2400" baseline="0" dirty="0"/>
                        <a:t> Desk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8 . Developed Emergency</a:t>
                      </a:r>
                      <a:r>
                        <a:rPr lang="en-IN" sz="2400" baseline="0" dirty="0"/>
                        <a:t>  Dept.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9. 5S</a:t>
                      </a:r>
                      <a:r>
                        <a:rPr lang="en-IN" sz="2400" baseline="0" dirty="0"/>
                        <a:t> –KAIZEN implementation.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10. Community</a:t>
                      </a:r>
                      <a:r>
                        <a:rPr lang="en-IN" sz="2400" baseline="0" dirty="0"/>
                        <a:t> Participation.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11. Hospital</a:t>
                      </a:r>
                      <a:r>
                        <a:rPr lang="en-IN" sz="2400" baseline="0" dirty="0"/>
                        <a:t> activities Display</a:t>
                      </a:r>
                      <a:endParaRPr lang="en-IN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623553">
                <a:tc>
                  <a:txBody>
                    <a:bodyPr/>
                    <a:lstStyle/>
                    <a:p>
                      <a:r>
                        <a:rPr lang="en-GB" sz="2400" dirty="0"/>
                        <a:t>12. Corner based service.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627357">
                <a:tc>
                  <a:txBody>
                    <a:bodyPr/>
                    <a:lstStyle/>
                    <a:p>
                      <a:r>
                        <a:rPr lang="en-IN" sz="2400" dirty="0"/>
                        <a:t>13. Cash counter for receiving Govt money.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1851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507512"/>
              </p:ext>
            </p:extLst>
          </p:nvPr>
        </p:nvGraphicFramePr>
        <p:xfrm>
          <a:off x="152400" y="1524000"/>
          <a:ext cx="8382000" cy="511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79023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92597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2400" dirty="0"/>
                        <a:t>Criteria  of C-J   Model.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Good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Week</a:t>
                      </a:r>
                      <a:endParaRPr lang="en-GB" sz="24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14.Devolped</a:t>
                      </a:r>
                      <a:r>
                        <a:rPr lang="en-IN" sz="2400" baseline="0" dirty="0"/>
                        <a:t> maternal health/labour word.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15.Devolped</a:t>
                      </a:r>
                      <a:r>
                        <a:rPr lang="en-IN" sz="2400" baseline="0" dirty="0"/>
                        <a:t> paediatric health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17. Power point Presentation &amp;Video on UHC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18.Knowledge </a:t>
                      </a:r>
                      <a:r>
                        <a:rPr lang="en-GB" sz="2400"/>
                        <a:t>about 8</a:t>
                      </a:r>
                      <a:r>
                        <a:rPr lang="en-GB" sz="2400" baseline="30000"/>
                        <a:t>th</a:t>
                      </a:r>
                      <a:r>
                        <a:rPr lang="en-GB" sz="2400"/>
                        <a:t> </a:t>
                      </a:r>
                      <a:r>
                        <a:rPr lang="en-GB" sz="2400" dirty="0"/>
                        <a:t>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sz="2400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6729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13431" y="1823703"/>
            <a:ext cx="4127500" cy="63435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Cycle stand near the entrance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91885"/>
            <a:ext cx="4127500" cy="2800350"/>
          </a:xfrm>
        </p:spPr>
      </p:pic>
      <p:sp>
        <p:nvSpPr>
          <p:cNvPr id="9" name="Rectangle 8"/>
          <p:cNvSpPr/>
          <p:nvPr/>
        </p:nvSpPr>
        <p:spPr>
          <a:xfrm>
            <a:off x="396822" y="5263287"/>
            <a:ext cx="4724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“Pushti Tray” – Nutritional Education in IMCI Corner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390986"/>
            <a:ext cx="720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Chowgacha Health Complex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49825"/>
            <a:ext cx="3962399" cy="24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4187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429000" y="234169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Activities of UHC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200461" y="932733"/>
            <a:ext cx="4102396" cy="569109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4876800" y="943983"/>
            <a:ext cx="3949996" cy="561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4959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533401"/>
            <a:ext cx="3733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spcBef>
                <a:spcPct val="20000"/>
              </a:spcBef>
            </a:pPr>
            <a:r>
              <a:rPr lang="en-US" sz="2800" dirty="0">
                <a:latin typeface="Calibri" pitchFamily="34" charset="0"/>
              </a:rPr>
              <a:t>Blood donation program stared in 16 December, 1996 in </a:t>
            </a:r>
            <a:r>
              <a:rPr lang="en-US" sz="2800" dirty="0" err="1">
                <a:latin typeface="Calibri" pitchFamily="34" charset="0"/>
              </a:rPr>
              <a:t>Chowgacha</a:t>
            </a:r>
            <a:r>
              <a:rPr lang="en-US" sz="2800" dirty="0">
                <a:latin typeface="Calibri" pitchFamily="34" charset="0"/>
              </a:rPr>
              <a:t> UHC</a:t>
            </a:r>
            <a:endParaRPr lang="en-GB" sz="2800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3939714"/>
            <a:ext cx="4267200" cy="2465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A seminar on ‘Importance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 of birth &amp; death registration and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prevention of early marriage’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at </a:t>
            </a:r>
            <a:r>
              <a:rPr lang="en-US" sz="2400" dirty="0" err="1">
                <a:latin typeface="Calibri" pitchFamily="34" charset="0"/>
              </a:rPr>
              <a:t>Chowgacha</a:t>
            </a:r>
            <a:r>
              <a:rPr lang="en-US" sz="2400" dirty="0">
                <a:latin typeface="Calibri" pitchFamily="34" charset="0"/>
              </a:rPr>
              <a:t>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Degree College in June, 1997.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DC Jessore was the chief guest. </a:t>
            </a:r>
            <a:endParaRPr lang="en-GB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897486" y="838201"/>
            <a:ext cx="4398914" cy="1142999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/>
              <a:t>Labour</a:t>
            </a:r>
            <a:r>
              <a:rPr lang="en-US" sz="2800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1066800" y="5543580"/>
            <a:ext cx="3972508" cy="100962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Rest room for</a:t>
            </a:r>
          </a:p>
          <a:p>
            <a:pPr algn="ctr"/>
            <a:r>
              <a:rPr lang="en-US" sz="3200" dirty="0"/>
              <a:t>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73531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13317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86508" y="199231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87320916"/>
              </p:ext>
            </p:extLst>
          </p:nvPr>
        </p:nvGraphicFramePr>
        <p:xfrm>
          <a:off x="457201" y="2514600"/>
          <a:ext cx="8229599" cy="38862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6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8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9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9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355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9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0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0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5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25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1498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2852</a:t>
                      </a: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485105"/>
            <a:ext cx="82296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600" b="1" dirty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600" b="1" dirty="0"/>
              <a:t>TOTAL</a:t>
            </a:r>
            <a:r>
              <a:rPr lang="en-US" sz="2600" dirty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419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-38100" y="0"/>
            <a:ext cx="9220200" cy="79102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Acheivement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UHC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472" y="791028"/>
            <a:ext cx="9178471" cy="6066971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</a:t>
            </a:r>
            <a:r>
              <a:rPr lang="en-US" sz="2400" b="1" dirty="0">
                <a:solidFill>
                  <a:srgbClr val="FF0000"/>
                </a:solidFill>
              </a:rPr>
              <a:t>awarded for EPI in 1988,” Best </a:t>
            </a:r>
            <a:r>
              <a:rPr lang="en-US" sz="2400" b="1" dirty="0" err="1">
                <a:solidFill>
                  <a:srgbClr val="FF0000"/>
                </a:solidFill>
              </a:rPr>
              <a:t>PerformanceAward</a:t>
            </a:r>
            <a:r>
              <a:rPr lang="en-US" sz="2400" b="1" dirty="0">
                <a:solidFill>
                  <a:srgbClr val="FF0000"/>
                </a:solidFill>
              </a:rPr>
              <a:t>” in EOC form 2005 to  2014 &amp; Health Ministers Award stood 1</a:t>
            </a:r>
            <a:r>
              <a:rPr lang="en-US" sz="2400" b="1" baseline="30000" dirty="0">
                <a:solidFill>
                  <a:srgbClr val="FF0000"/>
                </a:solidFill>
              </a:rPr>
              <a:t>st</a:t>
            </a:r>
            <a:r>
              <a:rPr lang="en-US" sz="2400" b="1" dirty="0">
                <a:solidFill>
                  <a:srgbClr val="FF0000"/>
                </a:solidFill>
              </a:rPr>
              <a:t> in 2017, 2018 &amp; 2020.</a:t>
            </a:r>
          </a:p>
          <a:p>
            <a:pPr algn="just">
              <a:spcBef>
                <a:spcPts val="0"/>
              </a:spcBef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In </a:t>
            </a:r>
            <a:r>
              <a:rPr lang="en-US" sz="2400" b="1" dirty="0">
                <a:solidFill>
                  <a:srgbClr val="FF0000"/>
                </a:solidFill>
              </a:rPr>
              <a:t>2008</a:t>
            </a:r>
            <a:r>
              <a:rPr lang="en-US" sz="2400" b="1" dirty="0"/>
              <a:t>, </a:t>
            </a:r>
            <a:r>
              <a:rPr lang="en-US" sz="2400" b="1" dirty="0" err="1"/>
              <a:t>Chowgacha</a:t>
            </a:r>
            <a:r>
              <a:rPr lang="en-US" sz="2400" b="1" dirty="0"/>
              <a:t> Health Complex declared as the “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24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 Health Complex by the M0HFW</a:t>
            </a:r>
            <a:endParaRPr lang="en-US" sz="24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>
              <a:spcBef>
                <a:spcPts val="0"/>
              </a:spcBef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 became the </a:t>
            </a:r>
            <a:r>
              <a:rPr lang="en-US" sz="2400" b="1" dirty="0">
                <a:solidFill>
                  <a:srgbClr val="FF0000"/>
                </a:solidFill>
              </a:rPr>
              <a:t>best EOC center having 41(11+30)  with 98.4%(4413) hospital delivery rate in 2011.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The UHC starts upgrade to 100  bedded hospital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model is being replicated throughout the country by DGHS, MOH &amp; FW since 2016 by the order of Prime Minister</a:t>
            </a:r>
          </a:p>
        </p:txBody>
      </p:sp>
    </p:spTree>
    <p:extLst>
      <p:ext uri="{BB962C8B-B14F-4D97-AF65-F5344CB8AC3E}">
        <p14:creationId xmlns:p14="http://schemas.microsoft.com/office/powerpoint/2010/main" val="140766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973512" cy="101566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</a:p>
        </p:txBody>
      </p:sp>
    </p:spTree>
    <p:extLst>
      <p:ext uri="{BB962C8B-B14F-4D97-AF65-F5344CB8AC3E}">
        <p14:creationId xmlns:p14="http://schemas.microsoft.com/office/powerpoint/2010/main" val="396397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Hospital and Introduction of TQM 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261314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9E7FB7D3-FEC6-4E8C-BD67-137E97A3B9C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601" y="320041"/>
            <a:ext cx="8380800" cy="60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7783735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Word and Waste management System </a:t>
            </a: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544506" y="4880741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657600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5702" y="782955"/>
            <a:ext cx="3759152" cy="287464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69224" y="782954"/>
            <a:ext cx="3993593" cy="287464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6">
            <a:extLst>
              <a:ext uri="{FF2B5EF4-FFF2-40B4-BE49-F238E27FC236}">
                <a16:creationId xmlns:a16="http://schemas.microsoft.com/office/drawing/2014/main" id="{4FA71C37-1F33-4C79-88BE-A4572ECAD32A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6"/>
          <a:srcRect/>
          <a:stretch>
            <a:fillRect/>
          </a:stretch>
        </p:blipFill>
        <p:spPr>
          <a:xfrm>
            <a:off x="468296" y="3997315"/>
            <a:ext cx="3993593" cy="2847272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05C29715-A037-49CF-BDE0-659A284A08E5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3" y="3954752"/>
            <a:ext cx="4205287" cy="2937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ight Arrow 11">
            <a:extLst>
              <a:ext uri="{FF2B5EF4-FFF2-40B4-BE49-F238E27FC236}">
                <a16:creationId xmlns:a16="http://schemas.microsoft.com/office/drawing/2014/main" id="{90E9A9B8-66C9-4CF5-99AD-5BE082661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1889" y="2183489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29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37049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52112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4010480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73" y="4185782"/>
            <a:ext cx="4067270" cy="252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Administrator &amp; Mayor in Sadar Hospital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870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>
                <a:solidFill>
                  <a:srgbClr val="FF0000"/>
                </a:solidFill>
              </a:rPr>
              <a:t>Perticipation</a:t>
            </a:r>
            <a:r>
              <a:rPr lang="en-US" sz="1500" b="1" dirty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5691266" y="3850856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A3BB88F7-AC78-4669-9407-FFB2212920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9479" y="954520"/>
            <a:ext cx="3847874" cy="25961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A6D52DD-003A-4D35-984E-B94CFFD4555C}"/>
              </a:ext>
            </a:extLst>
          </p:cNvPr>
          <p:cNvSpPr/>
          <p:nvPr/>
        </p:nvSpPr>
        <p:spPr>
          <a:xfrm>
            <a:off x="4957563" y="582377"/>
            <a:ext cx="3651705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DC, </a:t>
            </a:r>
            <a:r>
              <a:rPr lang="en-US" sz="1500" b="1" dirty="0" err="1">
                <a:solidFill>
                  <a:srgbClr val="FF0000"/>
                </a:solidFill>
              </a:rPr>
              <a:t>Jhenaidah</a:t>
            </a:r>
            <a:r>
              <a:rPr lang="en-US" sz="1500" b="1" dirty="0">
                <a:solidFill>
                  <a:srgbClr val="FF0000"/>
                </a:solidFill>
              </a:rPr>
              <a:t> Visited </a:t>
            </a:r>
            <a:r>
              <a:rPr lang="en-US" sz="1500" b="1" dirty="0" err="1">
                <a:solidFill>
                  <a:srgbClr val="FF0000"/>
                </a:solidFill>
              </a:rPr>
              <a:t>Sadar</a:t>
            </a:r>
            <a:r>
              <a:rPr lang="en-US" sz="1500" b="1" dirty="0">
                <a:solidFill>
                  <a:srgbClr val="FF0000"/>
                </a:solidFill>
              </a:rPr>
              <a:t> Hospital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64020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21404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 -2012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061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670561"/>
            <a:ext cx="4047260" cy="2698173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70561"/>
            <a:ext cx="4402282" cy="2698173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642361"/>
            <a:ext cx="4402282" cy="31242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3642361"/>
            <a:ext cx="4047259" cy="31242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DA632E-D6A3-42BC-B01B-A055C1EBB13F}"/>
              </a:ext>
            </a:extLst>
          </p:cNvPr>
          <p:cNvSpPr txBox="1">
            <a:spLocks/>
          </p:cNvSpPr>
          <p:nvPr/>
        </p:nvSpPr>
        <p:spPr>
          <a:xfrm>
            <a:off x="152399" y="43210"/>
            <a:ext cx="8847859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Innovation in Medicine Ward</a:t>
            </a:r>
          </a:p>
        </p:txBody>
      </p:sp>
    </p:spTree>
    <p:extLst>
      <p:ext uri="{BB962C8B-B14F-4D97-AF65-F5344CB8AC3E}">
        <p14:creationId xmlns:p14="http://schemas.microsoft.com/office/powerpoint/2010/main" val="133199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>
                <a:solidFill>
                  <a:srgbClr val="00B050"/>
                </a:solidFill>
              </a:rPr>
              <a:t>Comparative data of revenue income </a:t>
            </a:r>
            <a:r>
              <a:rPr lang="en-US" sz="2800" b="1" dirty="0">
                <a:solidFill>
                  <a:srgbClr val="00B050"/>
                </a:solidFill>
              </a:rPr>
              <a:t>(</a:t>
            </a:r>
            <a:r>
              <a:rPr lang="en-US" sz="2200" b="1" dirty="0">
                <a:solidFill>
                  <a:srgbClr val="00B050"/>
                </a:solidFill>
              </a:rPr>
              <a:t>in Taka</a:t>
            </a:r>
            <a:r>
              <a:rPr lang="en-US" sz="2800" b="1" dirty="0">
                <a:solidFill>
                  <a:srgbClr val="00B050"/>
                </a:solidFill>
              </a:rPr>
              <a:t>) from </a:t>
            </a:r>
            <a:r>
              <a:rPr lang="en-US" sz="2600" b="1" dirty="0">
                <a:solidFill>
                  <a:srgbClr val="00B050"/>
                </a:solidFill>
              </a:rPr>
              <a:t>2015 to 2019</a:t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32011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EFE052-2A6C-424C-95CC-B414F6030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783246"/>
              </p:ext>
            </p:extLst>
          </p:nvPr>
        </p:nvGraphicFramePr>
        <p:xfrm>
          <a:off x="533400" y="1133475"/>
          <a:ext cx="8077200" cy="5572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Achievement in 2019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5yr.plan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MMR/100000LB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NMR/1000LB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0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IMR/1000LB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Under 5MR/1000LB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  <a:p>
                      <a:r>
                        <a:rPr lang="en-US" sz="1800" dirty="0"/>
                        <a:t>37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  <a:p>
                      <a:r>
                        <a:rPr lang="en-US" sz="1800" dirty="0"/>
                        <a:t>27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  <a:p>
                      <a:r>
                        <a:rPr lang="en-US" sz="1800" dirty="0"/>
                        <a:t>25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Deivery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by trained person(%)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Instituional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delivery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70%S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ANC 4</a:t>
                      </a:r>
                      <a:r>
                        <a:rPr kumimoji="0" lang="en-US" sz="16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Visit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Malnutrtion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rate(&lt;5yr)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32.6%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Stanting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 (&lt;5yr)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Immunization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coerage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T.B Case detection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712" name="Rectangle 2">
            <a:extLst>
              <a:ext uri="{FF2B5EF4-FFF2-40B4-BE49-F238E27FC236}">
                <a16:creationId xmlns:a16="http://schemas.microsoft.com/office/drawing/2014/main" id="{977B11ED-7298-4444-BE23-8AAEB9210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255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baseline="30000" dirty="0"/>
              <a:t>8th</a:t>
            </a:r>
            <a:r>
              <a:rPr lang="en-US" altLang="en-US" sz="3200" b="1" dirty="0"/>
              <a:t> Five Year Plan.(2022-2028)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948077"/>
              </p:ext>
            </p:extLst>
          </p:nvPr>
        </p:nvGraphicFramePr>
        <p:xfrm>
          <a:off x="433266" y="972120"/>
          <a:ext cx="8394699" cy="5709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54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by 2025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CPR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63.4%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TFR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Adolescence birth rate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15-19yr./1000 fertile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cuple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Exclusive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B.Feeding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 due to NCD/1000 pop(30-69 </a:t>
                      </a: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)( % of total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21.6%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16.8%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Heart disease(Among NCD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15.16%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Stroke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18.74%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Cancer           ( Do)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Diabetes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10.68%</a:t>
                      </a:r>
                    </a:p>
                    <a:p>
                      <a:r>
                        <a:rPr lang="en-US" sz="1800" dirty="0"/>
                        <a:t>04.05%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Chr. Resp. Disease(Do)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06.38%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7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RTA(%of total death)(Do)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OPE(Out of pocket expenditure)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03.50%</a:t>
                      </a:r>
                    </a:p>
                    <a:p>
                      <a:r>
                        <a:rPr lang="en-US" sz="1800" dirty="0"/>
                        <a:t>68%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r>
                        <a:rPr lang="en-US" sz="1800" dirty="0"/>
                        <a:t>30%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0850" y="228600"/>
            <a:ext cx="8394700" cy="85725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baseline="30000" dirty="0"/>
              <a:t>8th</a:t>
            </a:r>
            <a:r>
              <a:rPr lang="en-US" altLang="en-US" sz="3200" b="1" dirty="0"/>
              <a:t> Five Year Plan:2022-2028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0214932-1674-4049-AB39-177C332ED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213385"/>
              </p:ext>
            </p:extLst>
          </p:nvPr>
        </p:nvGraphicFramePr>
        <p:xfrm>
          <a:off x="169444" y="994611"/>
          <a:ext cx="8877298" cy="58818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1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493033"/>
                    </a:ext>
                  </a:extLst>
                </a:gridCol>
                <a:gridCol w="720814">
                  <a:extLst>
                    <a:ext uri="{9D8B030D-6E8A-4147-A177-3AD203B41FA5}">
                      <a16:colId xmlns:a16="http://schemas.microsoft.com/office/drawing/2014/main" val="2621139303"/>
                    </a:ext>
                  </a:extLst>
                </a:gridCol>
                <a:gridCol w="629728">
                  <a:extLst>
                    <a:ext uri="{9D8B030D-6E8A-4147-A177-3AD203B41FA5}">
                      <a16:colId xmlns:a16="http://schemas.microsoft.com/office/drawing/2014/main" val="2171237787"/>
                    </a:ext>
                  </a:extLst>
                </a:gridCol>
              </a:tblGrid>
              <a:tr h="621563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</a:t>
                      </a:r>
                    </a:p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institute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Jan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Feb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Apr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May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/>
                        <a:t>Jun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/>
                        <a:t>July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/>
                        <a:t>Aug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/>
                        <a:t>Sept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/>
                        <a:t>Oct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Modhupur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02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Ghatail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116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Kalihati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Sakhipur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Nagorpur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marR="0" lvl="0" indent="-18288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06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marR="0" lvl="0" indent="-1828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Dhanbari UHC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336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Mirzapur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108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Delduar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156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09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Basail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257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Gopalpur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152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6530">
                <a:tc>
                  <a:txBody>
                    <a:bodyPr/>
                    <a:lstStyle/>
                    <a:p>
                      <a:pPr marL="0" indent="-18288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/>
                        <a:t>Bhuapur</a:t>
                      </a:r>
                      <a:r>
                        <a:rPr lang="en-US" sz="2000" dirty="0"/>
                        <a:t> UHC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indent="-18288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136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8819" name="Rectangle 2">
            <a:extLst>
              <a:ext uri="{FF2B5EF4-FFF2-40B4-BE49-F238E27FC236}">
                <a16:creationId xmlns:a16="http://schemas.microsoft.com/office/drawing/2014/main" id="{3749C072-2657-4F5E-AEF6-F3EF334EA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350" y="76200"/>
            <a:ext cx="8877300" cy="914400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dirty="0"/>
              <a:t>Status in HSS score of the UHCs of Tangail District</a:t>
            </a:r>
            <a:br>
              <a:rPr lang="en-US" altLang="en-US" sz="2800" b="1" dirty="0"/>
            </a:br>
            <a:r>
              <a:rPr lang="en-US" altLang="en-US" sz="2800" b="1" dirty="0"/>
              <a:t> Jan-22 to Oct-22 .</a:t>
            </a:r>
          </a:p>
        </p:txBody>
      </p:sp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992962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069374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56229C8-5D49-42D7-8AC0-9E28D93B0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6516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Upazila Health  Complex</a:t>
            </a:r>
            <a:br>
              <a:rPr lang="en-US" altLang="en-US" sz="3200" b="1"/>
            </a:br>
            <a:r>
              <a:rPr lang="en-US" altLang="en-US" sz="2000" b="1"/>
              <a:t>CHOWGACHA , JESSORE.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7E6642F-7054-43F6-8075-AB34A48D8C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E28113D7-0757-4E8C-B081-F3FABF450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00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EE17513F-14C1-40B7-BAB8-0A27EECC4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765300"/>
            <a:ext cx="8016875" cy="528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Protocol board donated b y Deputy Commissioner Jessore.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7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Blood Group reagents and blood bags donated by Chairman Chowgacha up at  first in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1996  &amp;  recently  blood bags donated by 11 UP chairman 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3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ANC&amp; growth monitoring card donated by Ad-Din hospital , JICA , Upazilla  Parishad and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ACI Pharmaceutical.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4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One IPS &amp; 2 cleaners donated by Chairman Municipalities.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5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Salary of Aya, ward boy, Cleaners Security guard and other supporting stuffs (36 in no.)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are donated by the community.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Mobile phone, Dustbin and salary of 7 manpower donated by Mr. Hasnuzzaman Rahin,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 Industrialist and recently he give the support of about one lack TK. for making a reception centre, tiles around  the pillars of outdoor and beautification of road.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Drugs for Arsenicosis donated by Upazila Parishad.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5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Salary of 01 cleaner donated by  Mr. Abdur Kader pintu, Industrialist.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Supply of Matir Bank by Some NGOs.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1</a:t>
            </a:r>
            <a:r>
              <a:rPr lang="en-US" altLang="en-US" sz="1200" baseline="30000">
                <a:latin typeface="Arial Black" panose="020B0A04020102020204" pitchFamily="34" charset="0"/>
              </a:rPr>
              <a:t>st</a:t>
            </a:r>
            <a:r>
              <a:rPr lang="en-US" altLang="en-US" sz="1200">
                <a:latin typeface="Arial Black" panose="020B0A04020102020204" pitchFamily="34" charset="0"/>
              </a:rPr>
              <a:t> Annual Report 1997 printed and all time Computer’s support by  Grameen Unnayan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 Sangstha ( GUS) NGO, Chowgacha.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5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2 Tyars of Ambulance donated by 11 UP chairman.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Blood donated by about 732 enlisted blood donors in emergency need (Transfusion of </a:t>
            </a:r>
            <a:r>
              <a:rPr lang="en-US" altLang="en-US" sz="1200"/>
              <a:t>165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bag F/blood are given in 2009)</a:t>
            </a:r>
            <a:endParaRPr lang="en-US" altLang="en-US" sz="5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Fuel of Generator donated by Upazilla  Parishad and UNICEF through WF.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Various types of donations  by the doctor's of the hospital.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Out door and indoor tickets donated by Pharmaceuticals.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7654" name="Text Box 6">
            <a:extLst>
              <a:ext uri="{FF2B5EF4-FFF2-40B4-BE49-F238E27FC236}">
                <a16:creationId xmlns:a16="http://schemas.microsoft.com/office/drawing/2014/main" id="{44558144-930D-4A26-9489-4C34F1A92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480659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309562" y="1180939"/>
            <a:ext cx="8524875" cy="224676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en-US" sz="28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Motivation is the process that initiates, guides and maintain goal oriented behaviors. </a:t>
            </a:r>
          </a:p>
          <a:p>
            <a:pPr eaLnBrk="1" hangingPunct="1"/>
            <a:endParaRPr lang="en-US" sz="28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  <a:p>
            <a:pPr eaLnBrk="1" hangingPunct="1"/>
            <a:r>
              <a:rPr lang="en-US" sz="2800" dirty="0"/>
              <a:t>It is the driving force behind human action</a:t>
            </a:r>
          </a:p>
          <a:p>
            <a:pPr eaLnBrk="1" hangingPunct="1"/>
            <a:r>
              <a:rPr lang="en-US" sz="2800" dirty="0">
                <a:solidFill>
                  <a:srgbClr val="000000"/>
                </a:solidFill>
                <a:cs typeface="Andalus"/>
              </a:rPr>
              <a:t> </a:t>
            </a:r>
            <a:endParaRPr lang="en-US" sz="28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35486" y="-85128"/>
            <a:ext cx="7734300" cy="72790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What is Motivation?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6C7AA-A137-490E-BFE7-205F54A85B63}"/>
              </a:ext>
            </a:extLst>
          </p:cNvPr>
          <p:cNvSpPr txBox="1"/>
          <p:nvPr/>
        </p:nvSpPr>
        <p:spPr>
          <a:xfrm>
            <a:off x="397386" y="3427708"/>
            <a:ext cx="7696200" cy="7078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Types of motivation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30DDA-141E-40BC-A2FF-9B6763BEB7B2}"/>
              </a:ext>
            </a:extLst>
          </p:cNvPr>
          <p:cNvSpPr txBox="1"/>
          <p:nvPr/>
        </p:nvSpPr>
        <p:spPr>
          <a:xfrm>
            <a:off x="321186" y="4495800"/>
            <a:ext cx="784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/>
              <a:t>Extrinsic Motivation </a:t>
            </a:r>
            <a:r>
              <a:rPr lang="en-US" sz="2400" dirty="0"/>
              <a:t>(arise from the outside of the individual, such as money, social recognition, praise.)</a:t>
            </a:r>
          </a:p>
          <a:p>
            <a:pPr marL="342900" indent="-342900">
              <a:buAutoNum type="arabicPeriod"/>
            </a:pPr>
            <a:r>
              <a:rPr lang="en-US" sz="2400" b="1" dirty="0"/>
              <a:t>Intrinsic Motivation </a:t>
            </a:r>
            <a:r>
              <a:rPr lang="en-US" sz="2400" dirty="0"/>
              <a:t>(those arise from within the individual)</a:t>
            </a:r>
          </a:p>
        </p:txBody>
      </p:sp>
    </p:spTree>
    <p:extLst>
      <p:ext uri="{BB962C8B-B14F-4D97-AF65-F5344CB8AC3E}">
        <p14:creationId xmlns:p14="http://schemas.microsoft.com/office/powerpoint/2010/main" val="246887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A9186C-521D-46F6-80F7-74DBB4956F63}"/>
              </a:ext>
            </a:extLst>
          </p:cNvPr>
          <p:cNvSpPr txBox="1"/>
          <p:nvPr/>
        </p:nvSpPr>
        <p:spPr>
          <a:xfrm>
            <a:off x="723900" y="762000"/>
            <a:ext cx="7696200" cy="7078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Uses of motivation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DEBCE-C758-42CA-B26F-52E302E25E14}"/>
              </a:ext>
            </a:extLst>
          </p:cNvPr>
          <p:cNvSpPr txBox="1"/>
          <p:nvPr/>
        </p:nvSpPr>
        <p:spPr>
          <a:xfrm>
            <a:off x="762000" y="1781279"/>
            <a:ext cx="78486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/>
              <a:t>Improve efficiency </a:t>
            </a:r>
          </a:p>
          <a:p>
            <a:pPr marL="342900" indent="-342900">
              <a:buAutoNum type="arabicPeriod"/>
            </a:pPr>
            <a:r>
              <a:rPr lang="en-US" sz="2800" dirty="0"/>
              <a:t>To take action</a:t>
            </a:r>
          </a:p>
          <a:p>
            <a:pPr marL="342900" indent="-342900">
              <a:buAutoNum type="arabicPeriod"/>
            </a:pPr>
            <a:r>
              <a:rPr lang="en-US" sz="2800" dirty="0"/>
              <a:t>Increase in health oriented behaviors </a:t>
            </a:r>
          </a:p>
          <a:p>
            <a:pPr marL="342900" indent="-342900">
              <a:buAutoNum type="arabicPeriod"/>
            </a:pPr>
            <a:r>
              <a:rPr lang="en-US" sz="2800" dirty="0"/>
              <a:t>Avoid unhealthy or maladaptive behaviors</a:t>
            </a:r>
          </a:p>
          <a:p>
            <a:pPr marL="342900" indent="-342900">
              <a:buAutoNum type="arabicPeriod"/>
            </a:pPr>
            <a:r>
              <a:rPr lang="en-US" sz="2800" dirty="0"/>
              <a:t>Improve overall happiness</a:t>
            </a:r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46B141-41A0-4975-9CBB-C4E3119694FA}"/>
              </a:ext>
            </a:extLst>
          </p:cNvPr>
          <p:cNvSpPr txBox="1"/>
          <p:nvPr/>
        </p:nvSpPr>
        <p:spPr>
          <a:xfrm>
            <a:off x="762000" y="4337786"/>
            <a:ext cx="7696200" cy="7694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Impact of motivation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F7717-D28C-49CD-B1B3-954272BC5C18}"/>
              </a:ext>
            </a:extLst>
          </p:cNvPr>
          <p:cNvSpPr txBox="1"/>
          <p:nvPr/>
        </p:nvSpPr>
        <p:spPr>
          <a:xfrm>
            <a:off x="647700" y="5311170"/>
            <a:ext cx="784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/>
              <a:t>Activation </a:t>
            </a:r>
          </a:p>
          <a:p>
            <a:pPr marL="342900" indent="-342900">
              <a:buAutoNum type="arabicPeriod"/>
            </a:pPr>
            <a:r>
              <a:rPr lang="en-US" sz="3200" dirty="0"/>
              <a:t>Persistence</a:t>
            </a:r>
          </a:p>
          <a:p>
            <a:pPr marL="342900" indent="-342900">
              <a:buAutoNum type="arabicPeriod"/>
            </a:pPr>
            <a:r>
              <a:rPr lang="en-US" sz="3200" dirty="0"/>
              <a:t>intensity</a:t>
            </a:r>
          </a:p>
        </p:txBody>
      </p:sp>
    </p:spTree>
    <p:extLst>
      <p:ext uri="{BB962C8B-B14F-4D97-AF65-F5344CB8AC3E}">
        <p14:creationId xmlns:p14="http://schemas.microsoft.com/office/powerpoint/2010/main" val="172465165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Community support in COVID -19 Management-2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1000" y="1158834"/>
          <a:ext cx="4419600" cy="2727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/>
          <p:cNvGraphicFramePr/>
          <p:nvPr/>
        </p:nvGraphicFramePr>
        <p:xfrm>
          <a:off x="4876800" y="4708091"/>
          <a:ext cx="4267199" cy="198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4876800" y="1920834"/>
          <a:ext cx="3962400" cy="1050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4846615" y="3909139"/>
            <a:ext cx="4317856" cy="815261"/>
            <a:chOff x="0" y="8342"/>
            <a:chExt cx="3962399" cy="1034280"/>
          </a:xfrm>
        </p:grpSpPr>
        <p:sp>
          <p:nvSpPr>
            <p:cNvPr id="14" name="Rounded Rectangle 13"/>
            <p:cNvSpPr/>
            <p:nvPr/>
          </p:nvSpPr>
          <p:spPr>
            <a:xfrm>
              <a:off x="0" y="8342"/>
              <a:ext cx="3962399" cy="1034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4"/>
            <p:cNvSpPr/>
            <p:nvPr/>
          </p:nvSpPr>
          <p:spPr>
            <a:xfrm>
              <a:off x="50489" y="58831"/>
              <a:ext cx="3861421" cy="93330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l" defTabSz="1155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600" b="1" kern="1200" dirty="0"/>
                <a:t>Source of Donation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358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6000" dirty="0">
              <a:solidFill>
                <a:srgbClr val="FF0066"/>
              </a:solidFill>
              <a:latin typeface="Albertus Extra Bold" pitchFamily="34" charset="0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6000" dirty="0">
                <a:solidFill>
                  <a:srgbClr val="FF0066"/>
                </a:solidFill>
                <a:latin typeface="Albertus Extra Bold" pitchFamily="34" charset="0"/>
              </a:rPr>
              <a:t>   </a:t>
            </a:r>
          </a:p>
          <a:p>
            <a:pPr algn="ctr" eaLnBrk="1" hangingPunct="1">
              <a:buFontTx/>
              <a:buNone/>
              <a:defRPr/>
            </a:pPr>
            <a:r>
              <a:rPr lang="en-US" sz="6000" dirty="0">
                <a:solidFill>
                  <a:schemeClr val="bg1"/>
                </a:solidFill>
                <a:latin typeface="Albertus Extra Bold" pitchFamily="34" charset="0"/>
              </a:rPr>
              <a:t>Thank yo</a:t>
            </a:r>
            <a:r>
              <a:rPr lang="en-US" sz="6000" dirty="0">
                <a:solidFill>
                  <a:schemeClr val="bg1">
                    <a:lumMod val="85000"/>
                  </a:schemeClr>
                </a:solidFill>
                <a:latin typeface="Albertus Extra Bold" pitchFamily="34" charset="0"/>
              </a:rPr>
              <a:t>u</a:t>
            </a:r>
          </a:p>
        </p:txBody>
      </p:sp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7640</TotalTime>
  <Words>1772</Words>
  <Application>Microsoft Office PowerPoint</Application>
  <PresentationFormat>On-screen Show (4:3)</PresentationFormat>
  <Paragraphs>612</Paragraphs>
  <Slides>43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9" baseType="lpstr">
      <vt:lpstr>Albertus Extra Bold</vt:lpstr>
      <vt:lpstr>Andalus</vt:lpstr>
      <vt:lpstr>Arial</vt:lpstr>
      <vt:lpstr>Arial Black</vt:lpstr>
      <vt:lpstr>Berlin Sans FB</vt:lpstr>
      <vt:lpstr>Book Antiqua</vt:lpstr>
      <vt:lpstr>Calibri</vt:lpstr>
      <vt:lpstr>Century Schoolbook</vt:lpstr>
      <vt:lpstr>Courier New</vt:lpstr>
      <vt:lpstr>NikoshBAN</vt:lpstr>
      <vt:lpstr>SutonnyMJ</vt:lpstr>
      <vt:lpstr>Times New Roman</vt:lpstr>
      <vt:lpstr>Wingdings</vt:lpstr>
      <vt:lpstr>Wingdings 2</vt:lpstr>
      <vt:lpstr>Office 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Hospital with a Vision …</vt:lpstr>
      <vt:lpstr>Criteria Of C-J Model.</vt:lpstr>
      <vt:lpstr>Criteria of C-J Model.</vt:lpstr>
      <vt:lpstr>Criteria of C-J Model.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Upazila Health  Complex CHOWGACHA , JESSORE.</vt:lpstr>
      <vt:lpstr>PowerPoint Presentation</vt:lpstr>
      <vt:lpstr>Upazilla Health  Complex CHOWGACHA , JESSORE.</vt:lpstr>
      <vt:lpstr>PowerPoint Presentation</vt:lpstr>
      <vt:lpstr>Acheivement of Chowgacha UHC</vt:lpstr>
      <vt:lpstr>100 kh¨v wewkó m`i nvmcvZvj, wSbvB`n</vt:lpstr>
      <vt:lpstr>Innovative activities of Jhenaidah Sadar Hospital - 1</vt:lpstr>
      <vt:lpstr>PowerPoint Presentation</vt:lpstr>
      <vt:lpstr>PowerPoint Presentation</vt:lpstr>
      <vt:lpstr>Changes in Pediatric Word and Waste management System </vt:lpstr>
      <vt:lpstr>Use of color code, alignment of picture &amp; continuous big cleaning day</vt:lpstr>
      <vt:lpstr>Involvement of MP, District Administrator &amp; Mayor in Sadar Hospital</vt:lpstr>
      <vt:lpstr>PowerPoint Presentation</vt:lpstr>
      <vt:lpstr>PowerPoint Presentation</vt:lpstr>
      <vt:lpstr>PowerPoint Presentation</vt:lpstr>
      <vt:lpstr>  Comparative data of revenue income (in Taka) from 2015 to 2019 </vt:lpstr>
      <vt:lpstr>PowerPoint Presentation</vt:lpstr>
      <vt:lpstr>8th Five Year Plan.(2022-2028)</vt:lpstr>
      <vt:lpstr>8th Five Year Plan:2022-2028</vt:lpstr>
      <vt:lpstr>Status in HSS score of the UHCs of Tangail District  Jan-22 to Oct-22 .</vt:lpstr>
      <vt:lpstr>Our usual solution:  We need more RESOURCES!!!!</vt:lpstr>
      <vt:lpstr>PowerPoint Presentation</vt:lpstr>
      <vt:lpstr>Thank You</vt:lpstr>
      <vt:lpstr>Upazila Health  Complex CHOWGACHA , JESSORE.</vt:lpstr>
      <vt:lpstr>PowerPoint Presentation</vt:lpstr>
      <vt:lpstr>PowerPoint Presentation</vt:lpstr>
      <vt:lpstr>Community support in COVID -19 Management-2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MD EMDADUL HAQUE</cp:lastModifiedBy>
  <cp:revision>1076</cp:revision>
  <cp:lastPrinted>2017-03-18T23:47:54Z</cp:lastPrinted>
  <dcterms:created xsi:type="dcterms:W3CDTF">2013-05-05T09:56:19Z</dcterms:created>
  <dcterms:modified xsi:type="dcterms:W3CDTF">2022-12-20T10:45:15Z</dcterms:modified>
</cp:coreProperties>
</file>