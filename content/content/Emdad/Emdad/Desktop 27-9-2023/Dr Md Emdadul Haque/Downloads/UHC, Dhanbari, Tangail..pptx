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28"/>
  </p:notesMasterIdLst>
  <p:sldIdLst>
    <p:sldId id="308" r:id="rId2"/>
    <p:sldId id="257" r:id="rId3"/>
    <p:sldId id="341" r:id="rId4"/>
    <p:sldId id="384" r:id="rId5"/>
    <p:sldId id="532" r:id="rId6"/>
    <p:sldId id="346" r:id="rId7"/>
    <p:sldId id="533" r:id="rId8"/>
    <p:sldId id="329" r:id="rId9"/>
    <p:sldId id="332" r:id="rId10"/>
    <p:sldId id="538" r:id="rId11"/>
    <p:sldId id="333" r:id="rId12"/>
    <p:sldId id="335" r:id="rId13"/>
    <p:sldId id="337" r:id="rId14"/>
    <p:sldId id="537" r:id="rId15"/>
    <p:sldId id="339" r:id="rId16"/>
    <p:sldId id="323" r:id="rId17"/>
    <p:sldId id="278" r:id="rId18"/>
    <p:sldId id="293" r:id="rId19"/>
    <p:sldId id="285" r:id="rId20"/>
    <p:sldId id="282" r:id="rId21"/>
    <p:sldId id="344" r:id="rId22"/>
    <p:sldId id="536" r:id="rId23"/>
    <p:sldId id="347" r:id="rId24"/>
    <p:sldId id="370" r:id="rId25"/>
    <p:sldId id="313" r:id="rId26"/>
    <p:sldId id="318" r:id="rId2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D06545-F180-412F-96D5-C57C07C7BF76}">
          <p14:sldIdLst>
            <p14:sldId id="308"/>
          </p14:sldIdLst>
        </p14:section>
        <p14:section name="Untitled Section" id="{FCD8A473-9610-4295-9042-4BE20674E9BE}">
          <p14:sldIdLst>
            <p14:sldId id="257"/>
            <p14:sldId id="341"/>
            <p14:sldId id="384"/>
            <p14:sldId id="532"/>
            <p14:sldId id="346"/>
            <p14:sldId id="533"/>
            <p14:sldId id="329"/>
            <p14:sldId id="332"/>
            <p14:sldId id="538"/>
            <p14:sldId id="333"/>
            <p14:sldId id="335"/>
            <p14:sldId id="337"/>
            <p14:sldId id="537"/>
            <p14:sldId id="339"/>
            <p14:sldId id="323"/>
            <p14:sldId id="278"/>
            <p14:sldId id="293"/>
            <p14:sldId id="285"/>
            <p14:sldId id="282"/>
            <p14:sldId id="344"/>
            <p14:sldId id="536"/>
            <p14:sldId id="347"/>
            <p14:sldId id="370"/>
            <p14:sldId id="313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0719"/>
    <a:srgbClr val="40240C"/>
    <a:srgbClr val="0E3E10"/>
    <a:srgbClr val="460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Occupancy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 formatCode="0%">
                  <c:v>0.2</c:v>
                </c:pt>
                <c:pt idx="1">
                  <c:v>0.40600000000000003</c:v>
                </c:pt>
                <c:pt idx="2" formatCode="0%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3-4CBA-9870-79281923E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52758</c:v>
                </c:pt>
                <c:pt idx="1">
                  <c:v>84242</c:v>
                </c:pt>
                <c:pt idx="2">
                  <c:v>58136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7-4C40-9AD8-04EB675253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5927</c:v>
                </c:pt>
                <c:pt idx="1">
                  <c:v>10518</c:v>
                </c:pt>
                <c:pt idx="2">
                  <c:v>7385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D-46C1-A7BB-BEA0BE74D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Indoor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1325</c:v>
                </c:pt>
                <c:pt idx="1">
                  <c:v>2978</c:v>
                </c:pt>
                <c:pt idx="2">
                  <c:v>2746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7-4C40-9AD8-04EB67525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VIA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1997</c:v>
                </c:pt>
                <c:pt idx="2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DSelivery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214</c:v>
                </c:pt>
                <c:pt idx="2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`Normal Delivery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173</c:v>
                </c:pt>
                <c:pt idx="2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5D-4D1E-8432-1599E3D6D2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41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C-4F33-B343-AAFE1251C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DSelivery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214</c:v>
                </c:pt>
                <c:pt idx="2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`Normal Delivery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173</c:v>
                </c:pt>
                <c:pt idx="2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5D-4D1E-8432-1599E3D6D2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41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C-4F33-B343-AAFE1251C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X-Ray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1955</c:v>
                </c:pt>
                <c:pt idx="2">
                  <c:v>2781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USG-Patient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343</c:v>
                </c:pt>
                <c:pt idx="1">
                  <c:v>1581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99-4BCA-AEAC-C865A7E06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Patient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</c:v>
                </c:pt>
                <c:pt idx="1">
                  <c:v>400</c:v>
                </c:pt>
                <c:pt idx="2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B-47B5-9C00-F90CBF102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79455"/>
        <c:axId val="1940288191"/>
      </c:barChart>
      <c:catAx>
        <c:axId val="1940279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88191"/>
        <c:crosses val="autoZero"/>
        <c:auto val="1"/>
        <c:lblAlgn val="ctr"/>
        <c:lblOffset val="100"/>
        <c:noMultiLvlLbl val="0"/>
      </c:catAx>
      <c:valAx>
        <c:axId val="19402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7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Fee (Taka)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2019-20</c:v>
                </c:pt>
                <c:pt idx="1">
                  <c:v>2020-21</c:v>
                </c:pt>
                <c:pt idx="2">
                  <c:v>2021-22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209020</c:v>
                </c:pt>
                <c:pt idx="1">
                  <c:v>533200</c:v>
                </c:pt>
                <c:pt idx="2" formatCode="#,##0">
                  <c:v>632630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A-499A-B2CF-16E719B20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98591"/>
        <c:axId val="1940304415"/>
      </c:barChart>
      <c:catAx>
        <c:axId val="194029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304415"/>
        <c:crosses val="autoZero"/>
        <c:auto val="1"/>
        <c:lblAlgn val="ctr"/>
        <c:lblOffset val="100"/>
        <c:noMultiLvlLbl val="0"/>
      </c:catAx>
      <c:valAx>
        <c:axId val="194030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9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Fee (Taka)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July, 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566124</c:v>
                </c:pt>
                <c:pt idx="1">
                  <c:v>1518448</c:v>
                </c:pt>
                <c:pt idx="2">
                  <c:v>2137798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A-499A-B2CF-16E719B20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0298591"/>
        <c:axId val="1940304415"/>
      </c:barChart>
      <c:catAx>
        <c:axId val="194029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304415"/>
        <c:crosses val="autoZero"/>
        <c:auto val="1"/>
        <c:lblAlgn val="ctr"/>
        <c:lblOffset val="100"/>
        <c:noMultiLvlLbl val="0"/>
      </c:catAx>
      <c:valAx>
        <c:axId val="194030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029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5EDB-FCE6-4060-BFA1-B4A07B58426F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FF2D0-4C3A-45B1-A6BB-BBA7BF06C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3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EA92A3-7171-458B-AB4B-B713F49A2A6B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8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5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8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1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4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3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6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AFFD6-0158-429B-B17F-8DB16029ADC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FC13F-88FC-41BA-AFE2-521478719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15000" t="12000" r="22000" b="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828" y="148457"/>
            <a:ext cx="9510349" cy="744862"/>
          </a:xfrm>
          <a:solidFill>
            <a:schemeClr val="lt1">
              <a:alpha val="36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Upazila Health Complex, </a:t>
            </a:r>
            <a:r>
              <a:rPr lang="en-US" dirty="0" err="1">
                <a:solidFill>
                  <a:schemeClr val="tx1"/>
                </a:solidFill>
              </a:rPr>
              <a:t>Dhanbari</a:t>
            </a:r>
            <a:r>
              <a:rPr lang="en-US" dirty="0">
                <a:solidFill>
                  <a:schemeClr val="tx1"/>
                </a:solidFill>
              </a:rPr>
              <a:t>, Tangail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1" y="148457"/>
            <a:ext cx="1041776" cy="1041776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707086" y="5954172"/>
            <a:ext cx="4484914" cy="903828"/>
          </a:xfrm>
          <a:prstGeom prst="rect">
            <a:avLst/>
          </a:prstGeom>
          <a:solidFill>
            <a:schemeClr val="lt1">
              <a:alpha val="55000"/>
            </a:schemeClr>
          </a:solidFill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</a:rPr>
              <a:t>Dr. Shahnaz Sultana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</a:rPr>
              <a:t>UH&amp;FPO, </a:t>
            </a:r>
            <a:r>
              <a:rPr lang="en-US" sz="2400" dirty="0" err="1">
                <a:solidFill>
                  <a:schemeClr val="tx1"/>
                </a:solidFill>
              </a:rPr>
              <a:t>Dhanbari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86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2DC9-97A9-4A3F-9109-28535CBD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89187"/>
            <a:ext cx="10884045" cy="725213"/>
          </a:xfrm>
        </p:spPr>
        <p:txBody>
          <a:bodyPr/>
          <a:lstStyle/>
          <a:p>
            <a:pPr algn="ctr"/>
            <a:r>
              <a:rPr lang="en-US" b="1" dirty="0"/>
              <a:t>Background History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8248-F875-409D-848E-41C20E280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13" y="1816100"/>
            <a:ext cx="6099321" cy="293238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Established as 50 Bedded UHC in 2015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Outdoor Service Started in 2015.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Indoor Service Started in 2020.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C-Section started in 2021.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SSK Starts in April 2022.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1FC42-DA50-36D2-E53F-01E991644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816100"/>
            <a:ext cx="3079269" cy="264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7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C83-B8D2-C25F-634F-C2996141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Profile of </a:t>
            </a:r>
            <a:r>
              <a:rPr lang="en-US" dirty="0" err="1"/>
              <a:t>Dhanbari</a:t>
            </a:r>
            <a:r>
              <a:rPr lang="en-US" dirty="0"/>
              <a:t> </a:t>
            </a:r>
            <a:r>
              <a:rPr lang="en-US" dirty="0" err="1"/>
              <a:t>Upazila</a:t>
            </a:r>
            <a:r>
              <a:rPr lang="en-US" dirty="0"/>
              <a:t>- 2022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1C85-E2A1-8126-B31F-71134368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1031"/>
            <a:ext cx="4634895" cy="4875684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Total Union: </a:t>
            </a:r>
          </a:p>
          <a:p>
            <a:r>
              <a:rPr lang="en-US" sz="2600" b="1" dirty="0" err="1"/>
              <a:t>Pourosova</a:t>
            </a:r>
            <a:r>
              <a:rPr lang="en-US" sz="2600" b="1" dirty="0"/>
              <a:t> </a:t>
            </a:r>
          </a:p>
          <a:p>
            <a:r>
              <a:rPr lang="en-US" sz="2600" b="1" dirty="0"/>
              <a:t>Total Population: 2,09,000</a:t>
            </a:r>
          </a:p>
          <a:p>
            <a:r>
              <a:rPr lang="en-US" sz="2600" b="1" dirty="0"/>
              <a:t>Total Fertile Couple</a:t>
            </a:r>
          </a:p>
          <a:p>
            <a:r>
              <a:rPr lang="en-US" sz="2600" b="1" dirty="0"/>
              <a:t>Total Pregnant Mother</a:t>
            </a:r>
          </a:p>
          <a:p>
            <a:r>
              <a:rPr lang="en-US" sz="2600" b="1" dirty="0"/>
              <a:t>Total Under 5 Children</a:t>
            </a:r>
          </a:p>
          <a:p>
            <a:r>
              <a:rPr lang="en-US" b="1" dirty="0"/>
              <a:t>Health Man Power</a:t>
            </a:r>
          </a:p>
          <a:p>
            <a:pPr>
              <a:buFont typeface="+mj-lt"/>
              <a:buAutoNum type="alphaLcParenR"/>
            </a:pPr>
            <a:r>
              <a:rPr lang="en-US" dirty="0"/>
              <a:t>Doctor : 21</a:t>
            </a:r>
          </a:p>
          <a:p>
            <a:pPr>
              <a:buFont typeface="+mj-lt"/>
              <a:buAutoNum type="alphaLcParenR"/>
            </a:pPr>
            <a:r>
              <a:rPr lang="en-US" dirty="0"/>
              <a:t>Nurse: 32</a:t>
            </a:r>
          </a:p>
          <a:p>
            <a:pPr>
              <a:buFont typeface="+mj-lt"/>
              <a:buAutoNum type="alphaLcParenR"/>
            </a:pPr>
            <a:r>
              <a:rPr lang="en-US" dirty="0"/>
              <a:t>Midwives:5</a:t>
            </a:r>
          </a:p>
          <a:p>
            <a:pPr>
              <a:buFont typeface="+mj-lt"/>
              <a:buAutoNum type="alphaLcParenR"/>
            </a:pPr>
            <a:r>
              <a:rPr lang="en-US" dirty="0"/>
              <a:t>Medical  Technologist</a:t>
            </a:r>
          </a:p>
          <a:p>
            <a:pPr>
              <a:buFont typeface="+mj-lt"/>
              <a:buAutoNum type="alphaLcParenR"/>
            </a:pPr>
            <a:r>
              <a:rPr lang="en-US" dirty="0"/>
              <a:t>HA: 13</a:t>
            </a:r>
          </a:p>
          <a:p>
            <a:pPr>
              <a:buFont typeface="+mj-lt"/>
              <a:buAutoNum type="alphaLcParenR"/>
            </a:pPr>
            <a:r>
              <a:rPr lang="en-US" dirty="0"/>
              <a:t>Security Guard &amp; Cleaner: 9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1F555-6AAA-4274-8259-E331E528C41D}"/>
              </a:ext>
            </a:extLst>
          </p:cNvPr>
          <p:cNvSpPr txBox="1">
            <a:spLocks/>
          </p:cNvSpPr>
          <p:nvPr/>
        </p:nvSpPr>
        <p:spPr>
          <a:xfrm>
            <a:off x="6335151" y="1547081"/>
            <a:ext cx="3386666" cy="251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400" b="1" dirty="0">
                <a:solidFill>
                  <a:schemeClr val="tx1"/>
                </a:solidFill>
              </a:rPr>
              <a:t>Health Institutions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Health Complex: 01</a:t>
            </a:r>
          </a:p>
          <a:p>
            <a:pPr>
              <a:buClrTx/>
              <a:buFont typeface="+mj-lt"/>
              <a:buAutoNum type="alphaUcPeriod"/>
            </a:pPr>
            <a:r>
              <a:rPr lang="en-US" sz="1900" dirty="0"/>
              <a:t>H &amp; FWC: 05 (Sub-Centre: 2, RD: 2, FWC: 1)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Community Clinic: 20</a:t>
            </a:r>
          </a:p>
          <a:p>
            <a:pPr marL="457200" indent="-457200">
              <a:buClr>
                <a:schemeClr val="tx1"/>
              </a:buClr>
              <a:buFont typeface="+mj-lt"/>
              <a:buAutoNum type="alphaUcPeriod"/>
            </a:pPr>
            <a:r>
              <a:rPr lang="en-US" sz="1900" dirty="0"/>
              <a:t>Non- Govt Clinic: 13</a:t>
            </a:r>
          </a:p>
        </p:txBody>
      </p:sp>
    </p:spTree>
    <p:extLst>
      <p:ext uri="{BB962C8B-B14F-4D97-AF65-F5344CB8AC3E}">
        <p14:creationId xmlns:p14="http://schemas.microsoft.com/office/powerpoint/2010/main" val="21903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09600" y="457200"/>
            <a:ext cx="10972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Mother Taken-ANC	1</a:t>
            </a:r>
            <a:r>
              <a:rPr lang="en-US" sz="2133" b="1" baseline="30000" dirty="0"/>
              <a:t>st</a:t>
            </a:r>
            <a:r>
              <a:rPr lang="en-US" sz="2133" b="1" dirty="0"/>
              <a:t> 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Hospital Delivery Rate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Total C. Section rate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No. of Hospital bed		:    50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Bed Occupancy Rate 		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EPI(</a:t>
            </a:r>
            <a:r>
              <a:rPr lang="en-US" sz="2133" b="1" dirty="0" err="1"/>
              <a:t>MeaselsCoverage</a:t>
            </a:r>
            <a:r>
              <a:rPr lang="en-US" sz="2133" b="1" dirty="0"/>
              <a:t>)         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Covid-19 ( </a:t>
            </a:r>
            <a:r>
              <a:rPr lang="en-US" sz="2133" b="1" dirty="0" err="1"/>
              <a:t>Imunization</a:t>
            </a:r>
            <a:r>
              <a:rPr lang="en-US" sz="2133" b="1" dirty="0"/>
              <a:t> Coverage ):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CPR    		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/>
              <a:t>TFR                                       :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CBR	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CDR       		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Population Growth Rate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Maternal Mortality Ratio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Neonatal Mortality Rate	: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Infant Mortality Rate   	: 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Under-5 Mortality Rate   	:   </a:t>
            </a:r>
            <a:endParaRPr lang="en-US" sz="2133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81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009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653390" y="1900623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5653390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156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743201" y="5098362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456191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843176" y="3696840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44D4-7CCC-D91C-B429-A487272B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Bed Occupancy Rate from 2020 to July, 2022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3A98B174-60C7-A17F-E699-E000E6BEAF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86968843"/>
              </p:ext>
            </p:extLst>
          </p:nvPr>
        </p:nvGraphicFramePr>
        <p:xfrm>
          <a:off x="3256189" y="1371601"/>
          <a:ext cx="5679621" cy="5121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977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7DB-AEA7-B48F-9B62-FC8EB7B1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330"/>
            <a:ext cx="10515600" cy="8502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Outdoor And Emergency Patients</a:t>
            </a:r>
            <a:br>
              <a:rPr lang="en-US" dirty="0"/>
            </a:br>
            <a:r>
              <a:rPr lang="en-US" sz="3100" dirty="0"/>
              <a:t>From 2020 to July, 2022</a:t>
            </a:r>
            <a:br>
              <a:rPr lang="en-US" sz="3100" dirty="0"/>
            </a:br>
            <a:endParaRPr lang="en-US" sz="3100" dirty="0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22EBC71F-BBBB-3F07-24FC-CA0A825255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9357280"/>
              </p:ext>
            </p:extLst>
          </p:nvPr>
        </p:nvGraphicFramePr>
        <p:xfrm>
          <a:off x="2917998" y="1501551"/>
          <a:ext cx="6356004" cy="4579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43395E5-B2EA-6C4A-FD7B-0F354FB81AE9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C67C9A-E51A-4387-B554-DAF1D6F5428C}"/>
              </a:ext>
            </a:extLst>
          </p:cNvPr>
          <p:cNvSpPr txBox="1">
            <a:spLocks/>
          </p:cNvSpPr>
          <p:nvPr/>
        </p:nvSpPr>
        <p:spPr>
          <a:xfrm>
            <a:off x="839788" y="234498"/>
            <a:ext cx="10515600" cy="1129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7DB-AEA7-B48F-9B62-FC8EB7B1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2180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Indoor Patient</a:t>
            </a:r>
            <a:br>
              <a:rPr lang="en-US" dirty="0"/>
            </a:br>
            <a:r>
              <a:rPr lang="en-US" sz="3100" dirty="0"/>
              <a:t>From 2020 to July, 2022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22EBC71F-BBBB-3F07-24FC-CA0A825255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7345530"/>
              </p:ext>
            </p:extLst>
          </p:nvPr>
        </p:nvGraphicFramePr>
        <p:xfrm>
          <a:off x="3035300" y="1451655"/>
          <a:ext cx="5943600" cy="4434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9AC67C9A-E51A-4387-B554-DAF1D6F5428C}"/>
              </a:ext>
            </a:extLst>
          </p:cNvPr>
          <p:cNvSpPr txBox="1">
            <a:spLocks/>
          </p:cNvSpPr>
          <p:nvPr/>
        </p:nvSpPr>
        <p:spPr>
          <a:xfrm>
            <a:off x="839788" y="234498"/>
            <a:ext cx="10515600" cy="1129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0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 VIA Screening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>
                <a:solidFill>
                  <a:prstClr val="black"/>
                </a:solidFill>
              </a:rPr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759273"/>
              </p:ext>
            </p:extLst>
          </p:nvPr>
        </p:nvGraphicFramePr>
        <p:xfrm>
          <a:off x="2148113" y="1422400"/>
          <a:ext cx="7736115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5495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ANC 1</a:t>
            </a:r>
            <a:r>
              <a:rPr lang="en-US" baseline="30000" dirty="0"/>
              <a:t>st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Visit.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351314" y="1690688"/>
          <a:ext cx="7433923" cy="4405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670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Delivery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7507895"/>
              </p:ext>
            </p:extLst>
          </p:nvPr>
        </p:nvGraphicFramePr>
        <p:xfrm>
          <a:off x="2351314" y="1690688"/>
          <a:ext cx="7433923" cy="4405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632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2024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Total Number of X-Ray and USG Service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5616523"/>
              </p:ext>
            </p:extLst>
          </p:nvPr>
        </p:nvGraphicFramePr>
        <p:xfrm>
          <a:off x="1855149" y="1378263"/>
          <a:ext cx="8723755" cy="5114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212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07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Number of TB Patient Treatment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3F2EDA-9416-2F8A-027C-513B3FB4CE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1017076"/>
              </p:ext>
            </p:extLst>
          </p:nvPr>
        </p:nvGraphicFramePr>
        <p:xfrm>
          <a:off x="2419350" y="1389856"/>
          <a:ext cx="7210425" cy="5277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3165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679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Lab Investigation (User Fee)</a:t>
            </a:r>
            <a:br>
              <a:rPr lang="en-US" dirty="0"/>
            </a:br>
            <a:r>
              <a:rPr lang="en-US" sz="3100" dirty="0">
                <a:solidFill>
                  <a:prstClr val="black"/>
                </a:solidFill>
              </a:rPr>
              <a:t>From 2020 to July, 2022</a:t>
            </a:r>
            <a:br>
              <a:rPr lang="en-US" dirty="0">
                <a:solidFill>
                  <a:prstClr val="black"/>
                </a:solidFill>
              </a:rPr>
            </a:b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3FC4F01-F8C3-1180-E1B0-0126E60318F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394856" y="1206954"/>
          <a:ext cx="7358743" cy="5164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799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658-71F9-4D72-0473-E4008C20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Total User Fee</a:t>
            </a:r>
            <a:br>
              <a:rPr lang="en-US" dirty="0"/>
            </a:br>
            <a:r>
              <a:rPr lang="en-US" sz="2800" dirty="0">
                <a:solidFill>
                  <a:prstClr val="black"/>
                </a:solidFill>
              </a:rPr>
              <a:t>From 2020 to July, 2022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3FC4F01-F8C3-1180-E1B0-0126E60318F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82686" y="1690687"/>
          <a:ext cx="6226628" cy="4802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2230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19" y="189187"/>
            <a:ext cx="8596668" cy="660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Administrative Unit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2" y="1187888"/>
            <a:ext cx="4954828" cy="45730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1958"/>
            <a:ext cx="5540780" cy="45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45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42A7-6B08-488D-9368-01B324FB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238" y="5484226"/>
            <a:ext cx="5149614" cy="6831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ADOHEART 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DB5B7-FF11-44A2-B03A-95AFBF452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2975956"/>
            <a:ext cx="5178829" cy="3882044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1ECB82E-8F91-4621-A1B5-79F7078D8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32" y="158387"/>
            <a:ext cx="5320718" cy="32706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522CB8-B010-4C61-8449-E52C578074A8}"/>
              </a:ext>
            </a:extLst>
          </p:cNvPr>
          <p:cNvSpPr txBox="1">
            <a:spLocks/>
          </p:cNvSpPr>
          <p:nvPr/>
        </p:nvSpPr>
        <p:spPr>
          <a:xfrm>
            <a:off x="5505451" y="690602"/>
            <a:ext cx="5886448" cy="149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COMMUNITY VISION CENTER </a:t>
            </a:r>
          </a:p>
        </p:txBody>
      </p:sp>
    </p:spTree>
    <p:extLst>
      <p:ext uri="{BB962C8B-B14F-4D97-AF65-F5344CB8AC3E}">
        <p14:creationId xmlns:p14="http://schemas.microsoft.com/office/powerpoint/2010/main" val="2246745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1269-A81D-49C4-A234-1B3DAF4F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82844"/>
            <a:ext cx="5556471" cy="12303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CABIN FOR FREEDOM FIGHTER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0C8A00-E4D9-44A0-AFDF-41D52C5A4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29" y="201276"/>
            <a:ext cx="5276850" cy="3124201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1B81F55-45C6-4E60-8864-B8D01E4F26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25477"/>
            <a:ext cx="5556471" cy="34941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F8F222-279F-4C8F-BD53-4A7D7A0BCB73}"/>
              </a:ext>
            </a:extLst>
          </p:cNvPr>
          <p:cNvSpPr txBox="1">
            <a:spLocks/>
          </p:cNvSpPr>
          <p:nvPr/>
        </p:nvSpPr>
        <p:spPr>
          <a:xfrm>
            <a:off x="-1748635" y="5512547"/>
            <a:ext cx="8596668" cy="662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VIP CABIN </a:t>
            </a:r>
          </a:p>
        </p:txBody>
      </p:sp>
    </p:spTree>
    <p:extLst>
      <p:ext uri="{BB962C8B-B14F-4D97-AF65-F5344CB8AC3E}">
        <p14:creationId xmlns:p14="http://schemas.microsoft.com/office/powerpoint/2010/main" val="280059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3E0A-0E18-4795-A715-2F45974B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883" y="942906"/>
            <a:ext cx="4642741" cy="93352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CONFERENCEROOM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D229B1-8295-4466-9578-912DAEA3E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59240" y="323850"/>
            <a:ext cx="4974808" cy="3105150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425C25-12AF-4CD5-AF0E-089C6EE73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4" y="3429000"/>
            <a:ext cx="4810670" cy="32460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088E17-390A-473A-A575-B67FBBDD91DD}"/>
              </a:ext>
            </a:extLst>
          </p:cNvPr>
          <p:cNvSpPr txBox="1">
            <a:spLocks/>
          </p:cNvSpPr>
          <p:nvPr/>
        </p:nvSpPr>
        <p:spPr>
          <a:xfrm>
            <a:off x="923376" y="5200392"/>
            <a:ext cx="7372350" cy="71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OT COMPLEX</a:t>
            </a:r>
          </a:p>
        </p:txBody>
      </p:sp>
    </p:spTree>
    <p:extLst>
      <p:ext uri="{BB962C8B-B14F-4D97-AF65-F5344CB8AC3E}">
        <p14:creationId xmlns:p14="http://schemas.microsoft.com/office/powerpoint/2010/main" val="2291720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6ACF-CFCD-499D-BE76-C7197EE0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998" y="1159843"/>
            <a:ext cx="4178104" cy="127664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BREAST FEEDING ROOM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4F602-2F96-4CF2-B61A-AEBD67ADB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1" y="287647"/>
            <a:ext cx="5254983" cy="302103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51378C7-7807-4645-A5A4-26659B605F46}"/>
              </a:ext>
            </a:extLst>
          </p:cNvPr>
          <p:cNvSpPr txBox="1">
            <a:spLocks/>
          </p:cNvSpPr>
          <p:nvPr/>
        </p:nvSpPr>
        <p:spPr>
          <a:xfrm>
            <a:off x="986835" y="4635809"/>
            <a:ext cx="4042363" cy="886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COVID-19 &amp; EPI VACCINATION CENTER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E2E12-845F-416E-85B1-AC25D01B722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418221" cy="30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5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6E8E-D3EF-0B1C-2B9B-5AF24972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11" y="35395"/>
            <a:ext cx="8596668" cy="791894"/>
          </a:xfrm>
        </p:spPr>
        <p:txBody>
          <a:bodyPr/>
          <a:lstStyle/>
          <a:p>
            <a:pPr algn="ctr"/>
            <a:r>
              <a:rPr lang="en-US" dirty="0"/>
              <a:t>Measures for Covid-19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BD42D-D100-9728-C1A3-5278922695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714" y="3855921"/>
            <a:ext cx="4399196" cy="2634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1A8D4-4BA5-FA26-C4D6-24D14000E5D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8" y="3855921"/>
            <a:ext cx="4572001" cy="263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43AC6-48A8-BF7D-0546-4CA35F656F8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26" y="958784"/>
            <a:ext cx="4440784" cy="25730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EA8702-EC80-12C9-D797-7CC9D44586D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8" y="958784"/>
            <a:ext cx="4527188" cy="26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3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82A2-A0CF-4CCC-83C2-12581D93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6209" y="3194821"/>
            <a:ext cx="3287152" cy="75674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HERBAL GARDEN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400" y="1547447"/>
            <a:ext cx="6220590" cy="4051494"/>
          </a:xfrm>
        </p:spPr>
      </p:pic>
    </p:spTree>
    <p:extLst>
      <p:ext uri="{BB962C8B-B14F-4D97-AF65-F5344CB8AC3E}">
        <p14:creationId xmlns:p14="http://schemas.microsoft.com/office/powerpoint/2010/main" val="3852222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5BD7-670C-4679-8196-D8B0B864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56562"/>
            <a:ext cx="8596668" cy="109469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Beautification of the Campus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26" y="1375140"/>
            <a:ext cx="3303203" cy="2351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58" y="1348122"/>
            <a:ext cx="3498475" cy="2351246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C7777F5-7C0D-4031-B95A-93875FE83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004" y="3974156"/>
            <a:ext cx="3385425" cy="23512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58" y="3974156"/>
            <a:ext cx="3495300" cy="237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82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of the Health Assistant Posts are vacant</a:t>
            </a:r>
          </a:p>
          <a:p>
            <a:r>
              <a:rPr lang="en-US" dirty="0"/>
              <a:t>Pediatric Consultant and other consultant posts vacant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pair of consultant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gynaecologist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anesthetist residing at the hospital premises</a:t>
            </a:r>
            <a:endParaRPr lang="en-US" dirty="0"/>
          </a:p>
          <a:p>
            <a:r>
              <a:rPr lang="en-US" dirty="0"/>
              <a:t>Inadequate space for hospital store</a:t>
            </a:r>
          </a:p>
          <a:p>
            <a:r>
              <a:rPr lang="en-US" dirty="0"/>
              <a:t>Shortage of ward boy, ayah, other 4</a:t>
            </a:r>
            <a:r>
              <a:rPr lang="en-US" baseline="30000" dirty="0"/>
              <a:t>th</a:t>
            </a:r>
            <a:r>
              <a:rPr lang="en-US" dirty="0"/>
              <a:t> class employees and field workers</a:t>
            </a:r>
          </a:p>
          <a:p>
            <a:r>
              <a:rPr lang="en-US" dirty="0"/>
              <a:t>No separate ward for diarrhea patients. </a:t>
            </a:r>
          </a:p>
        </p:txBody>
      </p:sp>
    </p:spTree>
    <p:extLst>
      <p:ext uri="{BB962C8B-B14F-4D97-AF65-F5344CB8AC3E}">
        <p14:creationId xmlns:p14="http://schemas.microsoft.com/office/powerpoint/2010/main" val="370242267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u="sng" dirty="0">
                <a:solidFill>
                  <a:srgbClr val="00B050"/>
                </a:solidFill>
              </a:rPr>
              <a:t>Way Forward…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701801"/>
            <a:ext cx="9956800" cy="4424364"/>
          </a:xfrm>
        </p:spPr>
        <p:txBody>
          <a:bodyPr>
            <a:normAutofit/>
          </a:bodyPr>
          <a:lstStyle/>
          <a:p>
            <a:r>
              <a:rPr lang="en-US" dirty="0"/>
              <a:t>Digital Ticketing System and Cash counter</a:t>
            </a:r>
          </a:p>
          <a:p>
            <a:r>
              <a:rPr lang="en-US" dirty="0"/>
              <a:t>Online patient database</a:t>
            </a:r>
          </a:p>
          <a:p>
            <a:r>
              <a:rPr lang="en-US" dirty="0"/>
              <a:t>Separate dinning space for walk-in patients and attendants</a:t>
            </a:r>
          </a:p>
          <a:p>
            <a:r>
              <a:rPr lang="en-US" dirty="0"/>
              <a:t>Library for the doctors</a:t>
            </a:r>
          </a:p>
          <a:p>
            <a:r>
              <a:rPr lang="en-US" dirty="0"/>
              <a:t>Regular Academic Sessions for the Doctors and nurses</a:t>
            </a:r>
          </a:p>
          <a:p>
            <a:r>
              <a:rPr lang="en-US" dirty="0"/>
              <a:t>Day care center for mothers working in this hospital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50604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309914">
            <a:off x="8064236" y="2777315"/>
            <a:ext cx="4257275" cy="85133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Thanks You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1" y="293720"/>
            <a:ext cx="7459462" cy="6478693"/>
          </a:xfrm>
        </p:spPr>
      </p:pic>
    </p:spTree>
    <p:extLst>
      <p:ext uri="{BB962C8B-B14F-4D97-AF65-F5344CB8AC3E}">
        <p14:creationId xmlns:p14="http://schemas.microsoft.com/office/powerpoint/2010/main" val="29973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1532</TotalTime>
  <Words>372</Words>
  <Application>Microsoft Office PowerPoint</Application>
  <PresentationFormat>Widescreen</PresentationFormat>
  <Paragraphs>102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Nirmala UI</vt:lpstr>
      <vt:lpstr>Times New Roman</vt:lpstr>
      <vt:lpstr>Wingdings 3</vt:lpstr>
      <vt:lpstr>Office Theme</vt:lpstr>
      <vt:lpstr>Upazila Health Complex, Dhanbari, Tangail.</vt:lpstr>
      <vt:lpstr>Background History </vt:lpstr>
      <vt:lpstr>Health Profile of Dhanbari Upazila- 2022</vt:lpstr>
      <vt:lpstr>PowerPoint Presentation</vt:lpstr>
      <vt:lpstr>A Hospital with a Vision …</vt:lpstr>
      <vt:lpstr> Bed Occupancy Rate from 2020 to July, 2022</vt:lpstr>
      <vt:lpstr>Outdoor And Emergency Patients From 2020 to July, 2022 </vt:lpstr>
      <vt:lpstr>Indoor Patient From 2020 to July, 2022 </vt:lpstr>
      <vt:lpstr> VIA Screening From 2020 to July, 2022 </vt:lpstr>
      <vt:lpstr>ANC 1st &amp; 4th Visit. From 2020 to July, 2022 </vt:lpstr>
      <vt:lpstr>Delivery From 2020 to July, 2022 </vt:lpstr>
      <vt:lpstr>Total Number of X-Ray and USG Service From 2020 to July, 2022 </vt:lpstr>
      <vt:lpstr>Number of TB Patient Treatment From 2020 to July, 2022  </vt:lpstr>
      <vt:lpstr>Lab Investigation (User Fee) From 2020 to July, 2022 </vt:lpstr>
      <vt:lpstr>Total User Fee From 2020 to July, 2022</vt:lpstr>
      <vt:lpstr>Administrative Unit</vt:lpstr>
      <vt:lpstr>ADOHEART ROOM</vt:lpstr>
      <vt:lpstr>CABIN FOR FREEDOM FIGHTER  </vt:lpstr>
      <vt:lpstr>CONFERENCEROOM</vt:lpstr>
      <vt:lpstr>BREAST FEEDING ROOM </vt:lpstr>
      <vt:lpstr>Measures for Covid-19 Patients</vt:lpstr>
      <vt:lpstr>HERBAL GARDEN </vt:lpstr>
      <vt:lpstr>Beautification of the Campus</vt:lpstr>
      <vt:lpstr>Challenges</vt:lpstr>
      <vt:lpstr>Way Forward…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বিন্দু থেকে বৃত্ত</dc:title>
  <dc:creator>User</dc:creator>
  <cp:lastModifiedBy>Dell</cp:lastModifiedBy>
  <cp:revision>152</cp:revision>
  <cp:lastPrinted>2021-12-31T12:15:28Z</cp:lastPrinted>
  <dcterms:created xsi:type="dcterms:W3CDTF">2021-10-12T23:38:46Z</dcterms:created>
  <dcterms:modified xsi:type="dcterms:W3CDTF">2022-09-22T04:25:37Z</dcterms:modified>
</cp:coreProperties>
</file>