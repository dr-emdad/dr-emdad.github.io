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</p:sldMasterIdLst>
  <p:notesMasterIdLst>
    <p:notesMasterId r:id="rId27"/>
  </p:notesMasterIdLst>
  <p:sldIdLst>
    <p:sldId id="332" r:id="rId5"/>
    <p:sldId id="403" r:id="rId6"/>
    <p:sldId id="309" r:id="rId7"/>
    <p:sldId id="376" r:id="rId8"/>
    <p:sldId id="401" r:id="rId9"/>
    <p:sldId id="402" r:id="rId10"/>
    <p:sldId id="326" r:id="rId11"/>
    <p:sldId id="327" r:id="rId12"/>
    <p:sldId id="346" r:id="rId13"/>
    <p:sldId id="337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348" r:id="rId24"/>
    <p:sldId id="334" r:id="rId25"/>
    <p:sldId id="344" r:id="rId2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87290" autoAdjust="0"/>
  </p:normalViewPr>
  <p:slideViewPr>
    <p:cSldViewPr>
      <p:cViewPr varScale="1">
        <p:scale>
          <a:sx n="100" d="100"/>
          <a:sy n="100" d="100"/>
        </p:scale>
        <p:origin x="22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0.55000000000000004</c:v>
                </c:pt>
                <c:pt idx="1">
                  <c:v>0.57999999999999996</c:v>
                </c:pt>
                <c:pt idx="2">
                  <c:v>0.69</c:v>
                </c:pt>
                <c:pt idx="3">
                  <c:v>0.78</c:v>
                </c:pt>
                <c:pt idx="4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081536"/>
        <c:axId val="132083072"/>
      </c:barChart>
      <c:catAx>
        <c:axId val="13208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2083072"/>
        <c:crosses val="autoZero"/>
        <c:auto val="1"/>
        <c:lblAlgn val="ctr"/>
        <c:lblOffset val="100"/>
        <c:noMultiLvlLbl val="0"/>
      </c:catAx>
      <c:valAx>
        <c:axId val="1320830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2081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2160</c:v>
                </c:pt>
                <c:pt idx="1">
                  <c:v>2220</c:v>
                </c:pt>
                <c:pt idx="2">
                  <c:v>2328</c:v>
                </c:pt>
                <c:pt idx="3">
                  <c:v>2220</c:v>
                </c:pt>
                <c:pt idx="4">
                  <c:v>3211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1760</c:v>
                </c:pt>
                <c:pt idx="1">
                  <c:v>1881</c:v>
                </c:pt>
                <c:pt idx="2">
                  <c:v>1969</c:v>
                </c:pt>
                <c:pt idx="3">
                  <c:v>1757</c:v>
                </c:pt>
                <c:pt idx="4">
                  <c:v>2535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Outdoor</c:v>
                </c:pt>
              </c:strCache>
            </c:strRef>
          </c:tx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16477</c:v>
                </c:pt>
                <c:pt idx="1">
                  <c:v>17401</c:v>
                </c:pt>
                <c:pt idx="2">
                  <c:v>26245</c:v>
                </c:pt>
                <c:pt idx="3">
                  <c:v>19654</c:v>
                </c:pt>
                <c:pt idx="4">
                  <c:v>26184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EB-4DBA-B58B-9D8D548B8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252224"/>
        <c:axId val="159080832"/>
      </c:barChart>
      <c:catAx>
        <c:axId val="15725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080832"/>
        <c:crosses val="autoZero"/>
        <c:auto val="1"/>
        <c:lblAlgn val="ctr"/>
        <c:lblOffset val="100"/>
        <c:noMultiLvlLbl val="0"/>
      </c:catAx>
      <c:valAx>
        <c:axId val="15908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25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1556516299948489"/>
          <c:h val="0.2312933070866141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359070</c:v>
                </c:pt>
                <c:pt idx="1">
                  <c:v>399526</c:v>
                </c:pt>
                <c:pt idx="2">
                  <c:v>547776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3938944"/>
        <c:axId val="233941632"/>
        <c:axId val="0"/>
      </c:bar3DChart>
      <c:catAx>
        <c:axId val="23393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941632"/>
        <c:crosses val="autoZero"/>
        <c:auto val="1"/>
        <c:lblAlgn val="ctr"/>
        <c:lblOffset val="100"/>
        <c:noMultiLvlLbl val="0"/>
      </c:catAx>
      <c:valAx>
        <c:axId val="2339416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39389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39</c:v>
                </c:pt>
                <c:pt idx="2">
                  <c:v>68</c:v>
                </c:pt>
                <c:pt idx="3">
                  <c:v>25</c:v>
                </c:pt>
                <c:pt idx="4">
                  <c:v>55</c:v>
                </c:pt>
                <c:pt idx="5">
                  <c:v>65</c:v>
                </c:pt>
                <c:pt idx="6">
                  <c:v>42</c:v>
                </c:pt>
                <c:pt idx="7">
                  <c:v>31</c:v>
                </c:pt>
                <c:pt idx="8">
                  <c:v>39</c:v>
                </c:pt>
                <c:pt idx="9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B-40F4-AC31-BEB0A50FC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8403904"/>
        <c:axId val="648405152"/>
      </c:barChart>
      <c:catAx>
        <c:axId val="64840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5152"/>
        <c:crosses val="autoZero"/>
        <c:auto val="1"/>
        <c:lblAlgn val="ctr"/>
        <c:lblOffset val="100"/>
        <c:noMultiLvlLbl val="0"/>
      </c:catAx>
      <c:valAx>
        <c:axId val="64840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10/2/2022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648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93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71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00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7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871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67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30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22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10/2/2022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2022/10/2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9" y="2534098"/>
            <a:ext cx="8432800" cy="371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1387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600" b="1" dirty="0" err="1" smtClean="0">
                <a:solidFill>
                  <a:schemeClr val="bg1"/>
                </a:solidFill>
              </a:rPr>
              <a:t>Bamna</a:t>
            </a:r>
            <a:r>
              <a:rPr lang="en-US" sz="3600" b="1" dirty="0" smtClean="0">
                <a:solidFill>
                  <a:schemeClr val="bg1"/>
                </a:solidFill>
              </a:rPr>
              <a:t>, </a:t>
            </a:r>
            <a:r>
              <a:rPr lang="en-US" sz="3600" b="1" dirty="0" err="1" smtClean="0">
                <a:solidFill>
                  <a:schemeClr val="bg1"/>
                </a:solidFill>
              </a:rPr>
              <a:t>Barguna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population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94036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Fertile Couples 	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	: 15055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Pregnant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2176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Delivery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1718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Live birth	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1715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</a:t>
            </a:r>
            <a:r>
              <a:rPr lang="en-US" altLang="en-US" sz="1800" b="1" dirty="0" smtClean="0"/>
              <a:t>	: 268</a:t>
            </a:r>
            <a:endParaRPr lang="en-US" altLang="en-US" sz="1800" b="1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</a:t>
            </a:r>
            <a:r>
              <a:rPr lang="en-US" altLang="en-US" sz="1800" b="1" dirty="0" smtClean="0"/>
              <a:t>	: 02                               </a:t>
            </a:r>
            <a:endParaRPr lang="en-US" altLang="en-US" sz="1800" b="1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</a:t>
            </a:r>
            <a:r>
              <a:rPr lang="en-US" altLang="en-US" sz="1800" b="1" dirty="0" smtClean="0"/>
              <a:t>12 </a:t>
            </a:r>
            <a:r>
              <a:rPr lang="en-US" altLang="en-US" sz="1800" b="1" dirty="0"/>
              <a:t>( </a:t>
            </a:r>
            <a:r>
              <a:rPr lang="en-US" altLang="en-US" sz="1800" b="1" dirty="0" smtClean="0"/>
              <a:t>6 </a:t>
            </a:r>
            <a:r>
              <a:rPr lang="en-US" altLang="en-US" sz="1800" b="1" dirty="0"/>
              <a:t>+ </a:t>
            </a:r>
            <a:r>
              <a:rPr lang="en-US" altLang="en-US" sz="1800" b="1" dirty="0" smtClean="0"/>
              <a:t>6)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</a:t>
            </a:r>
            <a:r>
              <a:rPr lang="en-US" altLang="en-US" sz="1800" b="1" dirty="0" smtClean="0"/>
              <a:t>24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</a:t>
            </a:r>
            <a:r>
              <a:rPr lang="en-US" altLang="en-US" sz="1800" b="1" dirty="0" smtClean="0"/>
              <a:t>19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</a:t>
            </a:r>
            <a:r>
              <a:rPr lang="en-US" altLang="en-US" sz="1800" b="1" dirty="0" smtClean="0"/>
              <a:t>CSBA                   </a:t>
            </a:r>
            <a:r>
              <a:rPr lang="en-US" altLang="en-US" sz="1800" b="1" dirty="0"/>
              <a:t>		: </a:t>
            </a:r>
            <a:r>
              <a:rPr lang="en-US" altLang="en-US" sz="1800" b="1" dirty="0" smtClean="0"/>
              <a:t>15 ( 6HA+ 7 FWA+2 CHCP </a:t>
            </a:r>
            <a:r>
              <a:rPr lang="en-US" altLang="en-US" sz="1800" b="1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</a:t>
            </a:r>
            <a:r>
              <a:rPr lang="en-US" altLang="en-US" sz="1800" b="1" dirty="0" smtClean="0"/>
              <a:t>06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</a:t>
            </a:r>
            <a:r>
              <a:rPr lang="en-US" altLang="en-US" sz="1800" b="1" dirty="0" smtClean="0"/>
              <a:t>03 ( </a:t>
            </a:r>
            <a:r>
              <a:rPr lang="en-US" altLang="en-US" sz="1800" b="1" dirty="0"/>
              <a:t>FWC– </a:t>
            </a:r>
            <a:r>
              <a:rPr lang="en-US" altLang="en-US" sz="1800" b="1" dirty="0" smtClean="0"/>
              <a:t>3 </a:t>
            </a:r>
            <a:r>
              <a:rPr lang="en-US" altLang="en-US" sz="1800" b="1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CC0000"/>
                </a:solidFill>
              </a:rPr>
              <a:t>c. Community clinic	: </a:t>
            </a:r>
            <a:r>
              <a:rPr lang="en-US" altLang="en-US" sz="1800" b="1" dirty="0" smtClean="0">
                <a:solidFill>
                  <a:srgbClr val="CC0000"/>
                </a:solidFill>
              </a:rPr>
              <a:t>09</a:t>
            </a:r>
            <a:endParaRPr lang="en-US" altLang="en-US" sz="1800" b="1" dirty="0">
              <a:solidFill>
                <a:srgbClr val="CC0000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</a:t>
            </a:r>
            <a:r>
              <a:rPr lang="en-US" altLang="en-US" sz="1800" b="1" dirty="0" smtClean="0"/>
              <a:t>05</a:t>
            </a:r>
            <a:endParaRPr lang="en-US" altLang="en-US" sz="1800" b="1" dirty="0"/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Health Profile of </a:t>
            </a:r>
            <a:r>
              <a:rPr lang="en-US" altLang="en-US" sz="2800" b="1" dirty="0" err="1" smtClean="0"/>
              <a:t>Bamna</a:t>
            </a:r>
            <a:r>
              <a:rPr lang="en-US" altLang="en-US" sz="2800" b="1" dirty="0" smtClean="0"/>
              <a:t> </a:t>
            </a:r>
            <a:r>
              <a:rPr lang="en-US" altLang="en-US" sz="2800" b="1" dirty="0" err="1"/>
              <a:t>Upazila</a:t>
            </a:r>
            <a:r>
              <a:rPr lang="en-US" altLang="en-US" sz="2800" b="1" dirty="0"/>
              <a:t>- </a:t>
            </a:r>
            <a:r>
              <a:rPr lang="en-US" altLang="en-US" sz="2800" b="1" dirty="0" smtClean="0"/>
              <a:t>2021</a:t>
            </a:r>
            <a:endParaRPr lang="en-US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95% </a:t>
            </a:r>
            <a:r>
              <a:rPr lang="en-US" altLang="en-US" sz="2400" b="1" dirty="0">
                <a:solidFill>
                  <a:srgbClr val="CC0000"/>
                </a:solidFill>
              </a:rPr>
              <a:t>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	: 45% </a:t>
            </a:r>
            <a:endParaRPr lang="en-US" altLang="en-US" sz="2400" b="1" dirty="0">
              <a:solidFill>
                <a:srgbClr val="CC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12. </a:t>
            </a:r>
            <a:r>
              <a:rPr lang="en-US" altLang="en-US" sz="2400" b="1" dirty="0">
                <a:solidFill>
                  <a:srgbClr val="CC0000"/>
                </a:solidFill>
              </a:rPr>
              <a:t>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13. </a:t>
            </a:r>
            <a:r>
              <a:rPr lang="en-US" altLang="en-US" sz="2400" b="1" dirty="0">
                <a:solidFill>
                  <a:srgbClr val="CC0000"/>
                </a:solidFill>
              </a:rPr>
              <a:t>Bed Occupancy Rate 		: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83%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14. CPR 				: 67.15%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15. TFR				: 2.3%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16. EPI Coverage			: 98.5%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17. TB Case detection rate		: 333/100000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18. Infant Mortality Rate		: 13.2/1000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19. Neonatal Mortality Rate		: 10.3/1000 live birth	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20. Under 5 Mortality Rate		: 18.6/</a:t>
            </a:r>
            <a:r>
              <a:rPr lang="en-US" altLang="en-US" sz="2400" b="1" dirty="0">
                <a:solidFill>
                  <a:srgbClr val="CC0000"/>
                </a:solidFill>
              </a:rPr>
              <a:t>1000 live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 smtClean="0">
                <a:solidFill>
                  <a:srgbClr val="CC0000"/>
                </a:solidFill>
              </a:rPr>
              <a:t>21. </a:t>
            </a:r>
            <a:r>
              <a:rPr lang="en-US" altLang="en-US" sz="2400" b="1" dirty="0">
                <a:solidFill>
                  <a:srgbClr val="CC0000"/>
                </a:solidFill>
              </a:rPr>
              <a:t>Maternal Mortality Ratio		: </a:t>
            </a:r>
            <a:r>
              <a:rPr lang="en-US" altLang="en-US" sz="2400" b="1" dirty="0" smtClean="0">
                <a:solidFill>
                  <a:srgbClr val="CC0000"/>
                </a:solidFill>
              </a:rPr>
              <a:t>31/100000 </a:t>
            </a:r>
            <a:r>
              <a:rPr lang="en-US" altLang="en-US" sz="2400" b="1" dirty="0">
                <a:solidFill>
                  <a:srgbClr val="CC0000"/>
                </a:solidFill>
              </a:rPr>
              <a:t>live birth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/>
              <a:t>Background History of </a:t>
            </a:r>
            <a:r>
              <a:rPr lang="en-US" sz="2800" b="1" dirty="0" smtClean="0"/>
              <a:t>MCH &amp; Others </a:t>
            </a:r>
            <a:r>
              <a:rPr lang="en-US" sz="2800" b="1" dirty="0"/>
              <a:t>services of </a:t>
            </a:r>
            <a:r>
              <a:rPr lang="en-US" sz="2800" b="1" dirty="0" err="1" smtClean="0"/>
              <a:t>Bamna</a:t>
            </a:r>
            <a:r>
              <a:rPr lang="en-US" sz="2800" b="1" dirty="0" smtClean="0"/>
              <a:t> </a:t>
            </a:r>
            <a:r>
              <a:rPr lang="en-US" sz="2800" b="1" dirty="0"/>
              <a:t>Health Complex, </a:t>
            </a:r>
            <a:r>
              <a:rPr lang="en-US" sz="2800" b="1" dirty="0" err="1" smtClean="0"/>
              <a:t>Barguna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 VIA Test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birth and death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Special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*Adolescents Friendly Health Corner,         * ORT Corner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*NCD corner,       * IMCI Corner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2014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Comprehensive EOC program.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2020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Blood Transfusion unit established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amna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is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bedded hospital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Honorable Prime  Minister Sheikh Hasina.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Killer Disease (diabetes, hypertension, cancer, RTA &amp; poisoning)  prevention program starts in  1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January-2011.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to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2021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741325501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2017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2022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BAMNA 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54316826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</a:t>
            </a:r>
            <a:r>
              <a:rPr lang="en-US" sz="2800" b="1" dirty="0" smtClean="0">
                <a:solidFill>
                  <a:schemeClr val="bg1"/>
                </a:solidFill>
              </a:rPr>
              <a:t>2019 </a:t>
            </a:r>
            <a:r>
              <a:rPr lang="en-US" sz="2800" b="1" dirty="0">
                <a:solidFill>
                  <a:schemeClr val="bg1"/>
                </a:solidFill>
              </a:rPr>
              <a:t>to </a:t>
            </a:r>
            <a:r>
              <a:rPr lang="en-US" sz="2800" b="1" dirty="0" smtClean="0">
                <a:solidFill>
                  <a:schemeClr val="bg1"/>
                </a:solidFill>
              </a:rPr>
              <a:t>2021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94723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BAMNA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BAMNA 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BARGUNA.</a:t>
            </a: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417638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2013- 2022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(Hospital Delivery 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6105421"/>
              </p:ext>
            </p:extLst>
          </p:nvPr>
        </p:nvGraphicFramePr>
        <p:xfrm>
          <a:off x="457200" y="2209800"/>
          <a:ext cx="8229600" cy="3916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wall and shades of UHC building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2" y="1600200"/>
            <a:ext cx="3396595" cy="4525963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396595" cy="4525963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174797" y="3733800"/>
            <a:ext cx="794405" cy="228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8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UHC Campus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2" y="1600200"/>
            <a:ext cx="3396595" cy="4525961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396595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174797" y="3657600"/>
            <a:ext cx="794405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Ambulance Garage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4497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641398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Pharmacy of UHC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3810000" cy="45259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04" y="1600200"/>
            <a:ext cx="3396594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Billboard of UHC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04" y="1676400"/>
            <a:ext cx="3396594" cy="40386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9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Roof of UHC Building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76400"/>
            <a:ext cx="3565198" cy="40386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Notice Board of UHC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1201"/>
            <a:ext cx="3657600" cy="373379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981201"/>
            <a:ext cx="3565198" cy="37338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Before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After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dirty="0" smtClean="0"/>
              <a:t>arden </a:t>
            </a:r>
            <a:r>
              <a:rPr lang="en-US" dirty="0"/>
              <a:t>in front of the 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984181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Conference Room of </a:t>
            </a:r>
            <a:r>
              <a:rPr lang="en-US" dirty="0" err="1" smtClean="0"/>
              <a:t>Bamna</a:t>
            </a:r>
            <a:r>
              <a:rPr lang="en-US" dirty="0" smtClean="0"/>
              <a:t> </a:t>
            </a:r>
            <a:r>
              <a:rPr lang="en-US" dirty="0"/>
              <a:t>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7772400" cy="4525963"/>
          </a:xfrm>
        </p:spPr>
      </p:pic>
    </p:spTree>
    <p:extLst>
      <p:ext uri="{BB962C8B-B14F-4D97-AF65-F5344CB8AC3E}">
        <p14:creationId xmlns:p14="http://schemas.microsoft.com/office/powerpoint/2010/main" val="4206313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dirty="0" err="1"/>
              <a:t>Upazila</a:t>
            </a:r>
            <a:r>
              <a:rPr lang="en-US" altLang="en-US" sz="3200" b="1" dirty="0"/>
              <a:t> Health  Complex</a:t>
            </a:r>
            <a:br>
              <a:rPr lang="en-US" altLang="en-US" sz="3200" b="1" dirty="0"/>
            </a:br>
            <a:r>
              <a:rPr lang="en-US" altLang="en-US" sz="2000" b="1" dirty="0" smtClean="0"/>
              <a:t>BAMNA, BARGUNA.</a:t>
            </a:r>
            <a:endParaRPr lang="en-US" altLang="en-US" sz="20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 dirty="0"/>
          </a:p>
          <a:p>
            <a:pPr algn="ctr" eaLnBrk="1" hangingPunct="1">
              <a:buFontTx/>
              <a:buNone/>
            </a:pPr>
            <a:endParaRPr lang="en-US" altLang="en-US" sz="2800" dirty="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Two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IPS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donated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MP.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Dental Doctors Room was Decorated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X-Ray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room was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established by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8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units by blood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in emergency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need.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Bamna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0292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     * In 2012, </a:t>
            </a: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/>
              <a:t>Health Complex declared as the </a:t>
            </a:r>
            <a:r>
              <a:rPr lang="en-US" sz="2400" dirty="0" smtClean="0"/>
              <a:t>50 </a:t>
            </a:r>
            <a:r>
              <a:rPr lang="en-US" sz="2400" dirty="0" err="1" smtClean="0"/>
              <a:t>Beded</a:t>
            </a:r>
            <a:r>
              <a:rPr lang="en-US" sz="2400" dirty="0" smtClean="0"/>
              <a:t> in </a:t>
            </a: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</a:t>
            </a:r>
            <a:r>
              <a:rPr lang="en-US" sz="2400" dirty="0"/>
              <a:t>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cs typeface="Calibri" pitchFamily="34" charset="0"/>
              </a:rPr>
              <a:t> Mobilized 7</a:t>
            </a:r>
            <a:r>
              <a:rPr lang="en-US" sz="2400" dirty="0" smtClean="0">
                <a:cs typeface="Calibri" pitchFamily="34" charset="0"/>
              </a:rPr>
              <a:t> </a:t>
            </a:r>
            <a:r>
              <a:rPr lang="en-US" sz="2400" dirty="0">
                <a:cs typeface="Calibri" pitchFamily="34" charset="0"/>
              </a:rPr>
              <a:t>additional </a:t>
            </a:r>
            <a:r>
              <a:rPr lang="en-US" sz="2400" dirty="0"/>
              <a:t>workers from community (</a:t>
            </a:r>
            <a:r>
              <a:rPr lang="en-US" sz="2400" dirty="0" smtClean="0"/>
              <a:t>2 </a:t>
            </a:r>
            <a:r>
              <a:rPr lang="en-US" sz="2400" dirty="0"/>
              <a:t>volunteer, </a:t>
            </a:r>
            <a:r>
              <a:rPr lang="en-US" sz="2400" dirty="0" smtClean="0"/>
              <a:t>3 </a:t>
            </a:r>
            <a:r>
              <a:rPr lang="en-US" sz="2400" dirty="0"/>
              <a:t>cleaners and others </a:t>
            </a:r>
            <a:r>
              <a:rPr lang="en-US" sz="2400" dirty="0" smtClean="0"/>
              <a:t>1).</a:t>
            </a:r>
            <a:endParaRPr lang="en-US" sz="2400" dirty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 EOC Beds </a:t>
            </a:r>
            <a:r>
              <a:rPr lang="en-US" sz="2400" dirty="0" smtClean="0"/>
              <a:t>05</a:t>
            </a:r>
            <a:endParaRPr lang="en-US" sz="2400" dirty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/>
              <a:t>UHC achieved MDG target in 2009.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/>
              <a:t>Health complex is awarded for best performance </a:t>
            </a:r>
            <a:r>
              <a:rPr lang="en-US" sz="2400" dirty="0" smtClean="0"/>
              <a:t>in HSS.</a:t>
            </a:r>
            <a:endParaRPr lang="en-US" sz="2400" dirty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COVID Achievement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0% Mortality in </a:t>
            </a:r>
            <a:r>
              <a:rPr lang="en-US" sz="2400" dirty="0" err="1" smtClean="0"/>
              <a:t>Bamna</a:t>
            </a:r>
            <a:r>
              <a:rPr lang="en-US" sz="2400" dirty="0" smtClean="0"/>
              <a:t> Hospital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Regular OPD Rx,  Hospitalization With Proper Max in </a:t>
            </a:r>
            <a:r>
              <a:rPr lang="en-US" sz="2400" dirty="0" err="1" smtClean="0"/>
              <a:t>Covid</a:t>
            </a:r>
            <a:r>
              <a:rPr lang="en-US" sz="2400" dirty="0" smtClean="0"/>
              <a:t> Unit&amp; Proper Referral.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Successful </a:t>
            </a:r>
            <a:r>
              <a:rPr lang="en-US" sz="2400" dirty="0" err="1" smtClean="0"/>
              <a:t>Covid</a:t>
            </a:r>
            <a:r>
              <a:rPr lang="en-US" sz="2400" dirty="0" smtClean="0"/>
              <a:t> Vaccination (72%) in </a:t>
            </a:r>
            <a:r>
              <a:rPr lang="en-US" sz="2400" dirty="0" err="1" smtClean="0"/>
              <a:t>Bamna</a:t>
            </a:r>
            <a:r>
              <a:rPr lang="en-US" sz="2400" dirty="0" smtClean="0"/>
              <a:t> </a:t>
            </a:r>
            <a:r>
              <a:rPr lang="en-US" sz="2400" dirty="0" err="1" smtClean="0"/>
              <a:t>Upazila</a:t>
            </a:r>
            <a:r>
              <a:rPr lang="en-US" sz="2400" dirty="0" smtClean="0"/>
              <a:t>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Pathological Tests , ECG, X-Ray &amp; USG is Available.</a:t>
            </a:r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3238" y="5486400"/>
            <a:ext cx="8183562" cy="1066800"/>
          </a:xfrm>
        </p:spPr>
        <p:txBody>
          <a:bodyPr>
            <a:normAutofit fontScale="90000"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/>
            </a: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</a:t>
            </a: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You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467600" cy="3962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3398</TotalTime>
  <Words>359</Words>
  <Application>Microsoft Office PowerPoint</Application>
  <PresentationFormat>On-screen Show (4:3)</PresentationFormat>
  <Paragraphs>136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ＭＳ ゴシック</vt:lpstr>
      <vt:lpstr>ＭＳ Ｐゴシック</vt:lpstr>
      <vt:lpstr>Albertus Extra Bold</vt:lpstr>
      <vt:lpstr>Arial</vt:lpstr>
      <vt:lpstr>Calibri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Default Design</vt:lpstr>
      <vt:lpstr>1_Default Design</vt:lpstr>
      <vt:lpstr>PowerPoint Presentation</vt:lpstr>
      <vt:lpstr>Health Profile of Bamna Upazila- 2021</vt:lpstr>
      <vt:lpstr>PowerPoint Presentation</vt:lpstr>
      <vt:lpstr>A Sub-district level Hospital with a Vision</vt:lpstr>
      <vt:lpstr>Background History of MCH &amp; Others services of Bamna Health Complex, Barguna</vt:lpstr>
      <vt:lpstr>Contd.</vt:lpstr>
      <vt:lpstr>PowerPoint Presentation</vt:lpstr>
      <vt:lpstr>Emergency &amp; Out Door, Indoor  Service 2017 to 2022</vt:lpstr>
      <vt:lpstr>  Comparative data of revenue income (in Taka) from 2019 to 2021 </vt:lpstr>
      <vt:lpstr>Upazila Health  Complex BAMNA , BARGUNA.</vt:lpstr>
      <vt:lpstr> wall and shades of UHC building</vt:lpstr>
      <vt:lpstr> UHC Campus</vt:lpstr>
      <vt:lpstr> Ambulance Garage</vt:lpstr>
      <vt:lpstr> Pharmacy of UHC </vt:lpstr>
      <vt:lpstr>Billboard of UHC </vt:lpstr>
      <vt:lpstr>Roof of UHC Building </vt:lpstr>
      <vt:lpstr>Notice Board of UHC </vt:lpstr>
      <vt:lpstr>Garden in front of the UHC</vt:lpstr>
      <vt:lpstr>Conference Room of Bamna UHC</vt:lpstr>
      <vt:lpstr>Upazila Health  Complex BAMNA, BARGUNA.</vt:lpstr>
      <vt:lpstr>Achievement of Bamna Health Complex</vt:lpstr>
      <vt:lpstr>    Thank You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USER</cp:lastModifiedBy>
  <cp:revision>505</cp:revision>
  <cp:lastPrinted>2022-10-02T04:54:46Z</cp:lastPrinted>
  <dcterms:created xsi:type="dcterms:W3CDTF">2013-05-05T09:56:19Z</dcterms:created>
  <dcterms:modified xsi:type="dcterms:W3CDTF">2022-10-02T05:35:18Z</dcterms:modified>
</cp:coreProperties>
</file>