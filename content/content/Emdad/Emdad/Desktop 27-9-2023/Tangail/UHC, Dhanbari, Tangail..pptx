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6" r:id="rId1"/>
  </p:sldMasterIdLst>
  <p:notesMasterIdLst>
    <p:notesMasterId r:id="rId25"/>
  </p:notesMasterIdLst>
  <p:sldIdLst>
    <p:sldId id="308" r:id="rId2"/>
    <p:sldId id="257" r:id="rId3"/>
    <p:sldId id="341" r:id="rId4"/>
    <p:sldId id="384" r:id="rId5"/>
    <p:sldId id="532" r:id="rId6"/>
    <p:sldId id="346" r:id="rId7"/>
    <p:sldId id="533" r:id="rId8"/>
    <p:sldId id="332" r:id="rId9"/>
    <p:sldId id="538" r:id="rId10"/>
    <p:sldId id="333" r:id="rId11"/>
    <p:sldId id="337" r:id="rId12"/>
    <p:sldId id="339" r:id="rId13"/>
    <p:sldId id="323" r:id="rId14"/>
    <p:sldId id="278" r:id="rId15"/>
    <p:sldId id="293" r:id="rId16"/>
    <p:sldId id="285" r:id="rId17"/>
    <p:sldId id="282" r:id="rId18"/>
    <p:sldId id="344" r:id="rId19"/>
    <p:sldId id="536" r:id="rId20"/>
    <p:sldId id="347" r:id="rId21"/>
    <p:sldId id="539" r:id="rId22"/>
    <p:sldId id="313" r:id="rId23"/>
    <p:sldId id="318" r:id="rId2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0719"/>
    <a:srgbClr val="40240C"/>
    <a:srgbClr val="0E3E10"/>
    <a:srgbClr val="4606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0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Occupancy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 formatCode="0%">
                  <c:v>0.2</c:v>
                </c:pt>
                <c:pt idx="1">
                  <c:v>0.40600000000000003</c:v>
                </c:pt>
                <c:pt idx="2" formatCode="0%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33-4CBA-9870-79281923E1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79455"/>
        <c:axId val="1940288191"/>
      </c:barChart>
      <c:catAx>
        <c:axId val="194027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88191"/>
        <c:crosses val="autoZero"/>
        <c:auto val="1"/>
        <c:lblAlgn val="ctr"/>
        <c:lblOffset val="100"/>
        <c:noMultiLvlLbl val="0"/>
      </c:catAx>
      <c:valAx>
        <c:axId val="19402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7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Outdoor &amp; Emergency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Up to July,2022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58685</c:v>
                </c:pt>
                <c:pt idx="1">
                  <c:v>94760</c:v>
                </c:pt>
                <c:pt idx="2">
                  <c:v>65521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07-4C40-9AD8-04EB675253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Up to July,2022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1325</c:v>
                </c:pt>
                <c:pt idx="1">
                  <c:v>2978</c:v>
                </c:pt>
                <c:pt idx="2">
                  <c:v>2746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4D-46C1-A7BB-BEA0BE74D4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40279455"/>
        <c:axId val="1940288191"/>
      </c:barChart>
      <c:catAx>
        <c:axId val="194027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88191"/>
        <c:crosses val="autoZero"/>
        <c:auto val="1"/>
        <c:lblAlgn val="ctr"/>
        <c:lblOffset val="100"/>
        <c:noMultiLvlLbl val="0"/>
      </c:catAx>
      <c:valAx>
        <c:axId val="19402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7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VIA Patient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1997</c:v>
                </c:pt>
                <c:pt idx="2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7B-47B5-9C00-F90CBF1027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79455"/>
        <c:axId val="1940288191"/>
      </c:barChart>
      <c:catAx>
        <c:axId val="194027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88191"/>
        <c:crosses val="autoZero"/>
        <c:auto val="1"/>
        <c:lblAlgn val="ctr"/>
        <c:lblOffset val="100"/>
        <c:noMultiLvlLbl val="0"/>
      </c:catAx>
      <c:valAx>
        <c:axId val="19402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7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DSelivery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Up to July,2022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214</c:v>
                </c:pt>
                <c:pt idx="2">
                  <c:v>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7B-47B5-9C00-F90CBF1027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`Normal Delivery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Up to July,2022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173</c:v>
                </c:pt>
                <c:pt idx="2">
                  <c:v>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5D-4D1E-8432-1599E3D6D2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Up to July,2022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41</c:v>
                </c:pt>
                <c:pt idx="2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FC-4F33-B343-AAFE1251C9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40279455"/>
        <c:axId val="1940288191"/>
      </c:barChart>
      <c:catAx>
        <c:axId val="194027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88191"/>
        <c:crosses val="autoZero"/>
        <c:auto val="1"/>
        <c:lblAlgn val="ctr"/>
        <c:lblOffset val="100"/>
        <c:noMultiLvlLbl val="0"/>
      </c:catAx>
      <c:valAx>
        <c:axId val="19402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7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Patient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</c:v>
                </c:pt>
                <c:pt idx="1">
                  <c:v>400</c:v>
                </c:pt>
                <c:pt idx="2">
                  <c:v>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7B-47B5-9C00-F90CBF1027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79455"/>
        <c:axId val="1940288191"/>
      </c:barChart>
      <c:catAx>
        <c:axId val="194027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88191"/>
        <c:crosses val="autoZero"/>
        <c:auto val="1"/>
        <c:lblAlgn val="ctr"/>
        <c:lblOffset val="100"/>
        <c:noMultiLvlLbl val="0"/>
      </c:catAx>
      <c:valAx>
        <c:axId val="19402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7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Revenue</a:t>
            </a:r>
            <a:r>
              <a:rPr lang="en-US" baseline="0" dirty="0"/>
              <a:t> Income</a:t>
            </a:r>
            <a:r>
              <a:rPr lang="en-US" dirty="0"/>
              <a:t> (Taka)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 Fee (Taka)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 2023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566124</c:v>
                </c:pt>
                <c:pt idx="1">
                  <c:v>1518448</c:v>
                </c:pt>
                <c:pt idx="2">
                  <c:v>2137798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0A-499A-B2CF-16E719B20D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98591"/>
        <c:axId val="1940304415"/>
      </c:barChart>
      <c:catAx>
        <c:axId val="1940298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304415"/>
        <c:crosses val="autoZero"/>
        <c:auto val="1"/>
        <c:lblAlgn val="ctr"/>
        <c:lblOffset val="100"/>
        <c:noMultiLvlLbl val="0"/>
      </c:catAx>
      <c:valAx>
        <c:axId val="1940304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98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5EDB-FCE6-4060-BFA1-B4A07B58426F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FF2D0-4C3A-45B1-A6BB-BBA7BF06C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36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6EA92A3-7171-458B-AB4B-B713F49A2A6B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91525-C3C1-45D3-91B9-161C36C1D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68972-0C25-4672-8A78-E7B22953D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BDE1F-6F10-4CE8-9D01-353750706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A2205-DBA7-4B82-834B-41F1D0DBA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EF74C-8E52-4D52-A5AF-CFA9C5D4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7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73852-249E-4332-8722-E23A12E9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7682B-C33A-4394-A11B-2FE5CA9AF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B576A-CC84-4E2D-BD2E-8321F8FF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EE480-061D-41A2-87C0-AE7238892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5B8EE-C77D-40AD-BE6E-65EFED86E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32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F0F8-DA31-4CAE-AA76-E2833C7DA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ED342-38E5-4709-B95A-9CED70905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D82F2-13CF-4BB6-86B8-1F26A092A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82C4E-1ED4-4C5E-8169-60E60B28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F68F4-BE03-4202-8FDA-81A18267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97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5961F-6023-4C30-8972-94D426F7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80DC4-7BD5-494C-9B3B-FCF690937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EF5EA-F96D-4B6C-AB74-4B2D5DDCB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324F3-4A2E-4121-8363-615426C4D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E6269-AC2E-4FA8-8A9A-CE8DE2C75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37DBE-C4B2-4A8C-9D64-E24B3887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56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AE767-3AED-4E72-9EAB-A1773FCD4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CE76E-7CA4-48F5-B5CC-A1A27BCA6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DC936-EDF1-44E2-AE39-1C9E31F4F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E0FC4-03B3-40F3-A9F3-4D229EA39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92256C-094A-41D1-A508-AB06D17BC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9A38B4-9AB1-40F8-B70D-BDD85D9C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23A1A-621B-4003-8A8E-3475CD15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1079C-6A42-4429-A891-B2DF6703A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9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6474-63AF-4135-A166-7D1CC750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575C1-AD2D-4370-8FDB-97EAE99F5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98EB34-B848-4E4E-8F79-D9AD1772B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037DD-6A21-4B95-8A4F-6524364FB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87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2CFF0-FC3C-485D-9C64-E8BC90EB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86B948-4CA8-4447-941A-EDDEC7D0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FD5C6-A18E-47A0-950F-8F9B4F3E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833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D8A2-72EB-41ED-8E36-A65A0135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7E640-5298-4E3C-AD30-DD7ABE36D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D988B-A726-4D7B-BBB3-C7299B320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831EB-5FB2-4259-9892-23801CFA5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6DE4C-34EA-4018-8990-B9822929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BB654-7BC2-49DC-A3B5-19A79C09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9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4FD7-BB64-4D7C-969A-6BF1FB07A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883FB5-A3F8-42FD-BEA9-A72743528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C358B-1678-43D6-9573-208DF94D5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11906-0404-4BBD-AC40-110FC273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0B3D6-C3B7-4A61-8779-8D32E5E50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82E23-3638-4223-A9B2-8B9E885E3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615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6E83-0C2C-4841-9D60-5F0CA9FC1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07F2F-A9B1-4181-A4B4-3E0E18FC3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1A5D2-D33C-425F-BF93-AEA40ED4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1469D-62A8-450A-806C-A1E8C763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27474-399C-48E4-BC2B-67212FDA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32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75CFA8-9E91-4B33-B528-261CF21EF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A7F7BD-4675-4039-BBA7-1B08D4161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C1E81-9FFF-4003-B718-0BC7A005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B9A71-B91B-4611-8D64-1C616671F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53DAF-5848-4847-BB6A-7E611F890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3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604D16-C86C-4D5A-BA4A-A22FAC10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B8D34-38D8-499B-949E-6AFA09AE9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2C24B-B26F-4A99-8FE1-6FEA60903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AFFD6-0158-429B-B17F-8DB16029ADC2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F214C-61B1-4864-BA76-904033C91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5C5A4-BEC2-42F0-AE1C-843AAE813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30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15000" t="12000" r="22000" b="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7828" y="148457"/>
            <a:ext cx="9510349" cy="744862"/>
          </a:xfrm>
          <a:solidFill>
            <a:schemeClr val="lt1">
              <a:alpha val="36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Upazila Health Complex, Dhanbari, Tangail</a:t>
            </a:r>
            <a:r>
              <a:rPr lang="en-US" dirty="0">
                <a:solidFill>
                  <a:srgbClr val="00B0F0"/>
                </a:solidFill>
              </a:rPr>
              <a:t>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1" y="148457"/>
            <a:ext cx="1041776" cy="1041776"/>
          </a:xfr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7707086" y="5954172"/>
            <a:ext cx="4484914" cy="903828"/>
          </a:xfrm>
          <a:prstGeom prst="rect">
            <a:avLst/>
          </a:prstGeom>
          <a:solidFill>
            <a:schemeClr val="lt1">
              <a:alpha val="55000"/>
            </a:schemeClr>
          </a:solidFill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chemeClr val="tx1"/>
                </a:solidFill>
              </a:rPr>
              <a:t>Dr. Shahnaz Sultana</a:t>
            </a:r>
          </a:p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chemeClr val="tx1"/>
                </a:solidFill>
              </a:rPr>
              <a:t>UH&amp;FPO, Dhanbari</a:t>
            </a:r>
          </a:p>
        </p:txBody>
      </p:sp>
    </p:spTree>
    <p:extLst>
      <p:ext uri="{BB962C8B-B14F-4D97-AF65-F5344CB8AC3E}">
        <p14:creationId xmlns:p14="http://schemas.microsoft.com/office/powerpoint/2010/main" val="336886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2DC9-97A9-4A3F-9109-28535CBDE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189187"/>
            <a:ext cx="10884045" cy="725213"/>
          </a:xfrm>
        </p:spPr>
        <p:txBody>
          <a:bodyPr/>
          <a:lstStyle/>
          <a:p>
            <a:pPr algn="ctr"/>
            <a:r>
              <a:rPr lang="en-US" b="1" dirty="0"/>
              <a:t>Background History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78248-F875-409D-848E-41C20E280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5837" y="1815431"/>
            <a:ext cx="5541363" cy="352659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Established in 2007 as 31 bedded hospital Upgraded to 50 Bedded UHC in 2015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Outdoor Service Started in 2007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Indoor Service Started in 2020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C-Section started in 2020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C1FC42-DA50-36D2-E53F-01E991644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816100"/>
            <a:ext cx="5418667" cy="416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79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00C83-B8D2-C25F-634F-C2996141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Profile of Dhanbari Upazilla- 2022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21C85-E2A1-8126-B31F-71134368E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05" y="1448605"/>
            <a:ext cx="4634895" cy="4825584"/>
          </a:xfrm>
        </p:spPr>
        <p:txBody>
          <a:bodyPr>
            <a:noAutofit/>
          </a:bodyPr>
          <a:lstStyle/>
          <a:p>
            <a:r>
              <a:rPr lang="en-US" sz="2000" b="1" dirty="0"/>
              <a:t>Total Union: </a:t>
            </a:r>
          </a:p>
          <a:p>
            <a:r>
              <a:rPr lang="en-US" sz="2000" b="1" dirty="0"/>
              <a:t>Pouroshova </a:t>
            </a:r>
          </a:p>
          <a:p>
            <a:r>
              <a:rPr lang="en-US" sz="2000" b="1" dirty="0"/>
              <a:t>Total Population: 2,09,000</a:t>
            </a:r>
          </a:p>
          <a:p>
            <a:r>
              <a:rPr lang="en-US" sz="2000" b="1" dirty="0"/>
              <a:t>Total Fertile Couple</a:t>
            </a:r>
          </a:p>
          <a:p>
            <a:r>
              <a:rPr lang="en-US" sz="2000" b="1" dirty="0"/>
              <a:t>Total Pregnant Mother</a:t>
            </a:r>
          </a:p>
          <a:p>
            <a:r>
              <a:rPr lang="en-US" sz="2000" b="1" dirty="0"/>
              <a:t>Total Under 5 Children</a:t>
            </a:r>
          </a:p>
          <a:p>
            <a:r>
              <a:rPr lang="en-US" sz="2000" b="1" dirty="0"/>
              <a:t>Health Man Power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Doctor : 21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Nurse: 32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Midwives:5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Medical  Technologist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HA: 13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Security Guard &amp; Cleaner: 9</a:t>
            </a:r>
          </a:p>
          <a:p>
            <a:endParaRPr lang="en-US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F1F555-6AAA-4274-8259-E331E528C41D}"/>
              </a:ext>
            </a:extLst>
          </p:cNvPr>
          <p:cNvSpPr txBox="1">
            <a:spLocks/>
          </p:cNvSpPr>
          <p:nvPr/>
        </p:nvSpPr>
        <p:spPr>
          <a:xfrm>
            <a:off x="6335151" y="1547081"/>
            <a:ext cx="3386666" cy="2518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2400" b="1" dirty="0">
                <a:solidFill>
                  <a:schemeClr val="tx1"/>
                </a:solidFill>
              </a:rPr>
              <a:t>Health Institutions</a:t>
            </a:r>
          </a:p>
          <a:p>
            <a:pPr>
              <a:buClr>
                <a:schemeClr val="tx1"/>
              </a:buClr>
              <a:buFont typeface="+mj-lt"/>
              <a:buAutoNum type="alphaUcPeriod"/>
            </a:pPr>
            <a:r>
              <a:rPr lang="en-US" sz="1900" dirty="0"/>
              <a:t>Health Complex: 01</a:t>
            </a:r>
          </a:p>
          <a:p>
            <a:pPr>
              <a:buClrTx/>
              <a:buFont typeface="+mj-lt"/>
              <a:buAutoNum type="alphaUcPeriod"/>
            </a:pPr>
            <a:r>
              <a:rPr lang="en-US" sz="1900" dirty="0"/>
              <a:t>H &amp; FWC: 05 (Sub-Centre: 2, RD: 2, FWC: 1)</a:t>
            </a:r>
          </a:p>
          <a:p>
            <a:pPr>
              <a:buClr>
                <a:schemeClr val="tx1"/>
              </a:buClr>
              <a:buFont typeface="+mj-lt"/>
              <a:buAutoNum type="alphaUcPeriod"/>
            </a:pPr>
            <a:r>
              <a:rPr lang="en-US" sz="1900" dirty="0"/>
              <a:t>Community Clinic: 20</a:t>
            </a:r>
          </a:p>
          <a:p>
            <a:pPr marL="457200" indent="-457200">
              <a:buClr>
                <a:schemeClr val="tx1"/>
              </a:buClr>
              <a:buFont typeface="+mj-lt"/>
              <a:buAutoNum type="alphaUcPeriod"/>
            </a:pPr>
            <a:r>
              <a:rPr lang="en-US" sz="1900" dirty="0"/>
              <a:t>Non- Govt Clinic: 13</a:t>
            </a:r>
          </a:p>
        </p:txBody>
      </p:sp>
    </p:spTree>
    <p:extLst>
      <p:ext uri="{BB962C8B-B14F-4D97-AF65-F5344CB8AC3E}">
        <p14:creationId xmlns:p14="http://schemas.microsoft.com/office/powerpoint/2010/main" val="219030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ChangeArrowheads="1"/>
          </p:cNvSpPr>
          <p:nvPr/>
        </p:nvSpPr>
        <p:spPr bwMode="auto">
          <a:xfrm>
            <a:off x="609600" y="457200"/>
            <a:ext cx="109728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0"/>
            </a:pPr>
            <a:r>
              <a:rPr lang="en-US" sz="2133" b="1" dirty="0">
                <a:solidFill>
                  <a:srgbClr val="FF0000"/>
                </a:solidFill>
              </a:rPr>
              <a:t> Mother Taken-ANC	1</a:t>
            </a:r>
            <a:r>
              <a:rPr lang="en-US" sz="2133" b="1" baseline="30000" dirty="0">
                <a:solidFill>
                  <a:srgbClr val="FF0000"/>
                </a:solidFill>
              </a:rPr>
              <a:t>st</a:t>
            </a:r>
            <a:r>
              <a:rPr lang="en-US" sz="2133" b="1" dirty="0">
                <a:solidFill>
                  <a:srgbClr val="FF0000"/>
                </a:solidFill>
              </a:rPr>
              <a:t> 	: 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0"/>
            </a:pPr>
            <a:r>
              <a:rPr lang="en-US" sz="2133" b="1" dirty="0">
                <a:solidFill>
                  <a:srgbClr val="FF0000"/>
                </a:solidFill>
              </a:rPr>
              <a:t> Hospital Delivery Rate	: 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0"/>
            </a:pPr>
            <a:r>
              <a:rPr lang="en-US" sz="2133" b="1" dirty="0">
                <a:solidFill>
                  <a:srgbClr val="FF0000"/>
                </a:solidFill>
              </a:rPr>
              <a:t>Total C. Section rate		: 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No. of Hospital bed		:    50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Bed Occupancy Rate 		: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EPI(</a:t>
            </a:r>
            <a:r>
              <a:rPr lang="en-US" sz="2133" b="1" dirty="0" err="1">
                <a:solidFill>
                  <a:srgbClr val="FF0000"/>
                </a:solidFill>
              </a:rPr>
              <a:t>MeaselsCoverage</a:t>
            </a:r>
            <a:r>
              <a:rPr lang="en-US" sz="2133" b="1" dirty="0">
                <a:solidFill>
                  <a:srgbClr val="FF0000"/>
                </a:solidFill>
              </a:rPr>
              <a:t>)                     :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Covid-19 ( </a:t>
            </a:r>
            <a:r>
              <a:rPr lang="en-US" sz="2133" b="1" dirty="0" err="1">
                <a:solidFill>
                  <a:srgbClr val="FF0000"/>
                </a:solidFill>
              </a:rPr>
              <a:t>Imunization</a:t>
            </a:r>
            <a:r>
              <a:rPr lang="en-US" sz="2133" b="1" dirty="0">
                <a:solidFill>
                  <a:srgbClr val="FF0000"/>
                </a:solidFill>
              </a:rPr>
              <a:t> Coverage ):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CPR    			: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TFR                                       :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CBR			: 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CDR       		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Population Growth Rate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Maternal Mortality Ratio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Neonatal Mortality Rate	:   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Infant Mortality Rate   	:    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Under-5 Mortality Rate   </a:t>
            </a:r>
            <a:r>
              <a:rPr lang="en-US" sz="2133" b="1" dirty="0"/>
              <a:t>	:   </a:t>
            </a:r>
            <a:endParaRPr lang="en-US" sz="2133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4819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009900" y="567929"/>
            <a:ext cx="6172200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5653390" y="1900623"/>
            <a:ext cx="3682847" cy="131802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b="1" dirty="0"/>
              <a:t>Maximum utilization of Govt.</a:t>
            </a:r>
          </a:p>
          <a:p>
            <a:pPr algn="ctr" eaLnBrk="0" hangingPunct="0"/>
            <a:r>
              <a:rPr lang="en-US" b="1" dirty="0"/>
              <a:t>resources with </a:t>
            </a:r>
          </a:p>
          <a:p>
            <a:pPr algn="ctr" eaLnBrk="0" hangingPunct="0"/>
            <a:r>
              <a:rPr lang="en-US" b="1" dirty="0"/>
              <a:t>honesty and sincerity.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5653390" y="4761693"/>
            <a:ext cx="4024011" cy="152837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Providing Effective  services </a:t>
            </a:r>
          </a:p>
          <a:p>
            <a:pPr algn="ctr" eaLnBrk="0" hangingPunct="0"/>
            <a:r>
              <a:rPr lang="en-US" sz="2000" b="1" dirty="0"/>
              <a:t>through improved </a:t>
            </a:r>
          </a:p>
          <a:p>
            <a:pPr algn="ctr" eaLnBrk="0" hangingPunct="0"/>
            <a:r>
              <a:rPr lang="en-US" sz="2000" b="1" dirty="0"/>
              <a:t>management system</a:t>
            </a:r>
            <a:r>
              <a:rPr lang="en-US" sz="12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3156348" y="2362200"/>
            <a:ext cx="2299842" cy="66675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743201" y="5098362"/>
            <a:ext cx="2493169" cy="804945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5456191" y="3328987"/>
            <a:ext cx="4082899" cy="143270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Integrated approach of </a:t>
            </a:r>
          </a:p>
          <a:p>
            <a:pPr algn="ctr" eaLnBrk="0" hangingPunct="0"/>
            <a:r>
              <a:rPr lang="en-US" sz="2000" b="1" dirty="0"/>
              <a:t>Administration, Community</a:t>
            </a:r>
          </a:p>
          <a:p>
            <a:pPr algn="ctr" eaLnBrk="0" hangingPunct="0"/>
            <a:r>
              <a:rPr lang="en-US" sz="2000" b="1" dirty="0"/>
              <a:t>Leaders </a:t>
            </a:r>
            <a:r>
              <a:rPr lang="en-US" sz="12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2843176" y="3696840"/>
            <a:ext cx="2482453" cy="666751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044D4-7CCC-D91C-B429-A487272B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Bed Occupancy Rate from 2020 to July, 2022</a:t>
            </a:r>
          </a:p>
        </p:txBody>
      </p:sp>
      <p:graphicFrame>
        <p:nvGraphicFramePr>
          <p:cNvPr id="12" name="Content Placeholder 5">
            <a:extLst>
              <a:ext uri="{FF2B5EF4-FFF2-40B4-BE49-F238E27FC236}">
                <a16:creationId xmlns:a16="http://schemas.microsoft.com/office/drawing/2014/main" id="{3A98B174-60C7-A17F-E699-E000E6BEAFA7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722740971"/>
              </p:ext>
            </p:extLst>
          </p:nvPr>
        </p:nvGraphicFramePr>
        <p:xfrm>
          <a:off x="3256189" y="1371601"/>
          <a:ext cx="6686097" cy="51212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89773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47DB-AEA7-B48F-9B62-FC8EB7B1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1330"/>
            <a:ext cx="10515600" cy="85022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Outdoor, Emergency and Indoor Patients</a:t>
            </a:r>
            <a:br>
              <a:rPr lang="en-US" dirty="0"/>
            </a:br>
            <a:r>
              <a:rPr lang="en-US" sz="3100" dirty="0"/>
              <a:t>From 2020 to July, 2022</a:t>
            </a:r>
            <a:br>
              <a:rPr lang="en-US" sz="3100" dirty="0"/>
            </a:br>
            <a:endParaRPr lang="en-US" sz="3100" dirty="0"/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22EBC71F-BBBB-3F07-24FC-CA0A825255B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69787301"/>
              </p:ext>
            </p:extLst>
          </p:nvPr>
        </p:nvGraphicFramePr>
        <p:xfrm>
          <a:off x="2475914" y="1501551"/>
          <a:ext cx="8074854" cy="47468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43395E5-B2EA-6C4A-FD7B-0F354FB81AE9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AC67C9A-E51A-4387-B554-DAF1D6F5428C}"/>
              </a:ext>
            </a:extLst>
          </p:cNvPr>
          <p:cNvSpPr txBox="1">
            <a:spLocks/>
          </p:cNvSpPr>
          <p:nvPr/>
        </p:nvSpPr>
        <p:spPr>
          <a:xfrm>
            <a:off x="839788" y="234498"/>
            <a:ext cx="10515600" cy="1129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5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658-71F9-4D72-0473-E4008C20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 VIA Screening</a:t>
            </a:r>
            <a:br>
              <a:rPr lang="en-US" dirty="0"/>
            </a:br>
            <a:r>
              <a:rPr lang="en-US" sz="3100" dirty="0">
                <a:solidFill>
                  <a:prstClr val="black"/>
                </a:solidFill>
              </a:rPr>
              <a:t>From 2020 to July, 2022</a:t>
            </a:r>
            <a:br>
              <a:rPr lang="en-US" dirty="0">
                <a:solidFill>
                  <a:prstClr val="black"/>
                </a:solidFill>
              </a:rPr>
            </a:br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13F2EDA-9416-2F8A-027C-513B3FB4CEAA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215596213"/>
              </p:ext>
            </p:extLst>
          </p:nvPr>
        </p:nvGraphicFramePr>
        <p:xfrm>
          <a:off x="2148113" y="1422400"/>
          <a:ext cx="7736115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54956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658-71F9-4D72-0473-E4008C20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ANC 1</a:t>
            </a:r>
            <a:r>
              <a:rPr lang="en-US" baseline="30000" dirty="0"/>
              <a:t>st</a:t>
            </a:r>
            <a:r>
              <a:rPr lang="en-US" dirty="0"/>
              <a:t> &amp; 4</a:t>
            </a:r>
            <a:r>
              <a:rPr lang="en-US" baseline="30000" dirty="0"/>
              <a:t>th</a:t>
            </a:r>
            <a:r>
              <a:rPr lang="en-US" dirty="0"/>
              <a:t> Visit.</a:t>
            </a:r>
            <a:br>
              <a:rPr lang="en-US" dirty="0"/>
            </a:br>
            <a:r>
              <a:rPr lang="en-US" sz="3100" dirty="0">
                <a:solidFill>
                  <a:prstClr val="black"/>
                </a:solidFill>
              </a:rPr>
              <a:t>From 2020 to July, 2022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700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658-71F9-4D72-0473-E4008C20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Delivery</a:t>
            </a:r>
            <a:br>
              <a:rPr lang="en-US" dirty="0"/>
            </a:br>
            <a:r>
              <a:rPr lang="en-US" sz="3100" dirty="0">
                <a:solidFill>
                  <a:prstClr val="black"/>
                </a:solidFill>
              </a:rPr>
              <a:t>From 2020 to July, 2022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13F2EDA-9416-2F8A-027C-513B3FB4CEAA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127190794"/>
              </p:ext>
            </p:extLst>
          </p:nvPr>
        </p:nvGraphicFramePr>
        <p:xfrm>
          <a:off x="2351314" y="1690688"/>
          <a:ext cx="7433923" cy="4405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6323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658-71F9-4D72-0473-E4008C20A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07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Number of TB Patient Treatment</a:t>
            </a:r>
            <a:br>
              <a:rPr lang="en-US" dirty="0"/>
            </a:br>
            <a:r>
              <a:rPr lang="en-US" sz="3100" dirty="0">
                <a:solidFill>
                  <a:prstClr val="black"/>
                </a:solidFill>
              </a:rPr>
              <a:t>From 2020 to July, 2022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13F2EDA-9416-2F8A-027C-513B3FB4CEAA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804908887"/>
              </p:ext>
            </p:extLst>
          </p:nvPr>
        </p:nvGraphicFramePr>
        <p:xfrm>
          <a:off x="2419350" y="1389856"/>
          <a:ext cx="7210425" cy="5277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23165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658-71F9-4D72-0473-E4008C20A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Total Revenue Income</a:t>
            </a:r>
            <a:br>
              <a:rPr lang="en-US" dirty="0"/>
            </a:br>
            <a:r>
              <a:rPr lang="en-US" sz="2800" dirty="0">
                <a:solidFill>
                  <a:prstClr val="black"/>
                </a:solidFill>
              </a:rPr>
              <a:t>From 2020 to July, 2022</a:t>
            </a:r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03FC4F01-F8C3-1180-E1B0-0126E60318F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512114979"/>
              </p:ext>
            </p:extLst>
          </p:nvPr>
        </p:nvGraphicFramePr>
        <p:xfrm>
          <a:off x="2550886" y="1690687"/>
          <a:ext cx="7090228" cy="4802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02230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19" y="189187"/>
            <a:ext cx="8596668" cy="660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Administrative Unit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72" y="1187888"/>
            <a:ext cx="4954828" cy="457303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11958"/>
            <a:ext cx="5540780" cy="452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45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42A7-6B08-488D-9368-01B324FB5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238" y="5484226"/>
            <a:ext cx="5149614" cy="683172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ADOHEART ROOM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3DB5B7-FF11-44A2-B03A-95AFBF452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551" y="3390606"/>
            <a:ext cx="5320718" cy="3300626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1ECB82E-8F91-4621-A1B5-79F7078D8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32" y="158387"/>
            <a:ext cx="5320718" cy="32706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B522CB8-B010-4C61-8449-E52C578074A8}"/>
              </a:ext>
            </a:extLst>
          </p:cNvPr>
          <p:cNvSpPr txBox="1">
            <a:spLocks/>
          </p:cNvSpPr>
          <p:nvPr/>
        </p:nvSpPr>
        <p:spPr>
          <a:xfrm>
            <a:off x="5505451" y="690602"/>
            <a:ext cx="5886448" cy="1497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COMMUNITY VISION CENTER </a:t>
            </a:r>
          </a:p>
        </p:txBody>
      </p:sp>
    </p:spTree>
    <p:extLst>
      <p:ext uri="{BB962C8B-B14F-4D97-AF65-F5344CB8AC3E}">
        <p14:creationId xmlns:p14="http://schemas.microsoft.com/office/powerpoint/2010/main" val="2246745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F1269-A81D-49C4-A234-1B3DAF4F3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82844"/>
            <a:ext cx="5556471" cy="12303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CABIN FOR FREEDOM FIGHTER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0C8A00-E4D9-44A0-AFDF-41D52C5A4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29" y="201276"/>
            <a:ext cx="5276850" cy="3124201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1B81F55-45C6-4E60-8864-B8D01E4F26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25477"/>
            <a:ext cx="5556471" cy="349415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CF8F222-279F-4C8F-BD53-4A7D7A0BCB73}"/>
              </a:ext>
            </a:extLst>
          </p:cNvPr>
          <p:cNvSpPr txBox="1">
            <a:spLocks/>
          </p:cNvSpPr>
          <p:nvPr/>
        </p:nvSpPr>
        <p:spPr>
          <a:xfrm>
            <a:off x="-1748635" y="5512547"/>
            <a:ext cx="8596668" cy="662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VIP CABIN </a:t>
            </a:r>
          </a:p>
        </p:txBody>
      </p:sp>
    </p:spTree>
    <p:extLst>
      <p:ext uri="{BB962C8B-B14F-4D97-AF65-F5344CB8AC3E}">
        <p14:creationId xmlns:p14="http://schemas.microsoft.com/office/powerpoint/2010/main" val="2800591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3E0A-0E18-4795-A715-2F45974B1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5883" y="942906"/>
            <a:ext cx="4642741" cy="93352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CONFERENCEROOM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D229B1-8295-4466-9578-912DAEA3ED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59240" y="323850"/>
            <a:ext cx="4974808" cy="3105150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A425C25-12AF-4CD5-AF0E-089C6EE73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954" y="3429000"/>
            <a:ext cx="4810670" cy="324604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F088E17-390A-473A-A575-B67FBBDD91DD}"/>
              </a:ext>
            </a:extLst>
          </p:cNvPr>
          <p:cNvSpPr txBox="1">
            <a:spLocks/>
          </p:cNvSpPr>
          <p:nvPr/>
        </p:nvSpPr>
        <p:spPr>
          <a:xfrm>
            <a:off x="923376" y="5200392"/>
            <a:ext cx="7372350" cy="714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OT COMPLEX</a:t>
            </a:r>
          </a:p>
        </p:txBody>
      </p:sp>
    </p:spTree>
    <p:extLst>
      <p:ext uri="{BB962C8B-B14F-4D97-AF65-F5344CB8AC3E}">
        <p14:creationId xmlns:p14="http://schemas.microsoft.com/office/powerpoint/2010/main" val="2291720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46ACF-CFCD-499D-BE76-C7197EE0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998" y="1159843"/>
            <a:ext cx="4178104" cy="1276643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BREAST FEEDING ROOM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94F602-2F96-4CF2-B61A-AEBD67ADB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21" y="287647"/>
            <a:ext cx="5254983" cy="3021037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51378C7-7807-4645-A5A4-26659B605F46}"/>
              </a:ext>
            </a:extLst>
          </p:cNvPr>
          <p:cNvSpPr txBox="1">
            <a:spLocks/>
          </p:cNvSpPr>
          <p:nvPr/>
        </p:nvSpPr>
        <p:spPr>
          <a:xfrm>
            <a:off x="986835" y="4635809"/>
            <a:ext cx="4042363" cy="886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COVID-19 &amp; EPI VACCINATION CENTER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E2E12-845F-416E-85B1-AC25D01B722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5418221" cy="308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15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26E8E-D3EF-0B1C-2B9B-5AF24972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411" y="35395"/>
            <a:ext cx="8596668" cy="791894"/>
          </a:xfrm>
        </p:spPr>
        <p:txBody>
          <a:bodyPr/>
          <a:lstStyle/>
          <a:p>
            <a:pPr algn="ctr"/>
            <a:r>
              <a:rPr lang="en-US" dirty="0"/>
              <a:t>Measures for Covid-19 Patients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3BD42D-D100-9728-C1A3-52789226957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714" y="3855921"/>
            <a:ext cx="4399196" cy="2634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11A8D4-4BA5-FA26-C4D6-24D14000E5D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88" y="3855921"/>
            <a:ext cx="4572001" cy="26341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943AC6-48A8-BF7D-0546-4CA35F656F8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126" y="958784"/>
            <a:ext cx="4440784" cy="25730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EA8702-EC80-12C9-D797-7CC9D44586D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88" y="958784"/>
            <a:ext cx="4527188" cy="263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13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B82A2-A0CF-4CCC-83C2-12581D93B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6209" y="3194821"/>
            <a:ext cx="3287152" cy="756745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HERBAL GARDEN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400" y="1547447"/>
            <a:ext cx="6220590" cy="4051494"/>
          </a:xfrm>
        </p:spPr>
      </p:pic>
    </p:spTree>
    <p:extLst>
      <p:ext uri="{BB962C8B-B14F-4D97-AF65-F5344CB8AC3E}">
        <p14:creationId xmlns:p14="http://schemas.microsoft.com/office/powerpoint/2010/main" val="3852222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25BD7-670C-4679-8196-D8B0B864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156562"/>
            <a:ext cx="8596668" cy="109469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Beautification of the Campus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26" y="1375140"/>
            <a:ext cx="3303203" cy="23512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058" y="1348122"/>
            <a:ext cx="3498475" cy="2351246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C7777F5-7C0D-4031-B95A-93875FE839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004" y="3974156"/>
            <a:ext cx="3385425" cy="23512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058" y="3974156"/>
            <a:ext cx="3495300" cy="237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082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of the Health Assistant Posts are vacant</a:t>
            </a:r>
          </a:p>
          <a:p>
            <a:r>
              <a:rPr lang="en-US" dirty="0"/>
              <a:t>Pediatric Consultant and other consultant posts vacant 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pair of consultant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gynaecologist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anesthetist residing at the hospital premises</a:t>
            </a:r>
            <a:endParaRPr lang="en-US" dirty="0"/>
          </a:p>
          <a:p>
            <a:r>
              <a:rPr lang="en-US" dirty="0"/>
              <a:t>Inadequate space for hospital store</a:t>
            </a:r>
          </a:p>
          <a:p>
            <a:r>
              <a:rPr lang="en-US" dirty="0"/>
              <a:t>Shortage of ward boy, ayah, other 4</a:t>
            </a:r>
            <a:r>
              <a:rPr lang="en-US" baseline="30000" dirty="0"/>
              <a:t>th</a:t>
            </a:r>
            <a:r>
              <a:rPr lang="en-US" dirty="0"/>
              <a:t> class employees and field workers</a:t>
            </a:r>
          </a:p>
          <a:p>
            <a:r>
              <a:rPr lang="en-US" dirty="0"/>
              <a:t>No separate ward for diarrhea patients. </a:t>
            </a:r>
          </a:p>
        </p:txBody>
      </p:sp>
    </p:spTree>
    <p:extLst>
      <p:ext uri="{BB962C8B-B14F-4D97-AF65-F5344CB8AC3E}">
        <p14:creationId xmlns:p14="http://schemas.microsoft.com/office/powerpoint/2010/main" val="3900831177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0" y="1701801"/>
            <a:ext cx="9956800" cy="4424364"/>
          </a:xfrm>
        </p:spPr>
        <p:txBody>
          <a:bodyPr>
            <a:normAutofit/>
          </a:bodyPr>
          <a:lstStyle/>
          <a:p>
            <a:r>
              <a:rPr lang="en-US" dirty="0"/>
              <a:t>Digital Ticketing System and Cash counter</a:t>
            </a:r>
          </a:p>
          <a:p>
            <a:r>
              <a:rPr lang="en-US" dirty="0"/>
              <a:t>Online patient database</a:t>
            </a:r>
          </a:p>
          <a:p>
            <a:r>
              <a:rPr lang="en-US" dirty="0"/>
              <a:t>Separate dinning space for walk-in patients and attendants</a:t>
            </a:r>
          </a:p>
          <a:p>
            <a:r>
              <a:rPr lang="en-US" dirty="0"/>
              <a:t>Library for the doctors</a:t>
            </a:r>
          </a:p>
          <a:p>
            <a:r>
              <a:rPr lang="en-US" dirty="0"/>
              <a:t>Regular Academic Sessions for the Doctors and nurses</a:t>
            </a:r>
          </a:p>
          <a:p>
            <a:r>
              <a:rPr lang="en-US" dirty="0"/>
              <a:t>Day care center for mothers working in this hospital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b="1" u="sng" dirty="0">
                <a:solidFill>
                  <a:srgbClr val="00B050"/>
                </a:solidFill>
              </a:rPr>
              <a:t>Way Forward…</a:t>
            </a:r>
          </a:p>
        </p:txBody>
      </p:sp>
    </p:spTree>
    <p:extLst>
      <p:ext uri="{BB962C8B-B14F-4D97-AF65-F5344CB8AC3E}">
        <p14:creationId xmlns:p14="http://schemas.microsoft.com/office/powerpoint/2010/main" val="2597506043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309914">
            <a:off x="8064236" y="2777315"/>
            <a:ext cx="4257275" cy="85133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Thanks You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91" y="293720"/>
            <a:ext cx="7459462" cy="6478693"/>
          </a:xfrm>
        </p:spPr>
      </p:pic>
    </p:spTree>
    <p:extLst>
      <p:ext uri="{BB962C8B-B14F-4D97-AF65-F5344CB8AC3E}">
        <p14:creationId xmlns:p14="http://schemas.microsoft.com/office/powerpoint/2010/main" val="2997324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1552</TotalTime>
  <Words>346</Words>
  <Application>Microsoft Office PowerPoint</Application>
  <PresentationFormat>Widescreen</PresentationFormat>
  <Paragraphs>95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Nirmala UI</vt:lpstr>
      <vt:lpstr>Times New Roman</vt:lpstr>
      <vt:lpstr>Wingdings 3</vt:lpstr>
      <vt:lpstr>Office Theme</vt:lpstr>
      <vt:lpstr>Upazila Health Complex, Dhanbari, Tangail.</vt:lpstr>
      <vt:lpstr>Background History </vt:lpstr>
      <vt:lpstr>Health Profile of Dhanbari Upazilla- 2022</vt:lpstr>
      <vt:lpstr>PowerPoint Presentation</vt:lpstr>
      <vt:lpstr>A Hospital with a Vision …</vt:lpstr>
      <vt:lpstr> Bed Occupancy Rate from 2020 to July, 2022</vt:lpstr>
      <vt:lpstr>Outdoor, Emergency and Indoor Patients From 2020 to July, 2022 </vt:lpstr>
      <vt:lpstr> VIA Screening From 2020 to July, 2022 </vt:lpstr>
      <vt:lpstr>ANC 1st &amp; 4th Visit. From 2020 to July, 2022 </vt:lpstr>
      <vt:lpstr>Delivery From 2020 to July, 2022 </vt:lpstr>
      <vt:lpstr>Number of TB Patient Treatment From 2020 to July, 2022  </vt:lpstr>
      <vt:lpstr>Total Revenue Income From 2020 to July, 2022</vt:lpstr>
      <vt:lpstr>Administrative Unit</vt:lpstr>
      <vt:lpstr>ADOHEART ROOM</vt:lpstr>
      <vt:lpstr>CABIN FOR FREEDOM FIGHTER  </vt:lpstr>
      <vt:lpstr>CONFERENCEROOM</vt:lpstr>
      <vt:lpstr>BREAST FEEDING ROOM </vt:lpstr>
      <vt:lpstr>Measures for Covid-19 Patients</vt:lpstr>
      <vt:lpstr>HERBAL GARDEN </vt:lpstr>
      <vt:lpstr>Beautification of the Campus</vt:lpstr>
      <vt:lpstr>Challenges</vt:lpstr>
      <vt:lpstr>Way Forward…</vt:lpstr>
      <vt:lpstr>Thanks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বিন্দু থেকে বৃত্ত</dc:title>
  <dc:creator>User</dc:creator>
  <cp:lastModifiedBy>MD EMDADUL HAQUE</cp:lastModifiedBy>
  <cp:revision>164</cp:revision>
  <cp:lastPrinted>2021-12-31T12:15:28Z</cp:lastPrinted>
  <dcterms:created xsi:type="dcterms:W3CDTF">2021-10-12T23:38:46Z</dcterms:created>
  <dcterms:modified xsi:type="dcterms:W3CDTF">2023-06-12T18:00:34Z</dcterms:modified>
</cp:coreProperties>
</file>