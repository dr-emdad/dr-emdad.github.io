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25"/>
  </p:notesMasterIdLst>
  <p:sldIdLst>
    <p:sldId id="424" r:id="rId2"/>
    <p:sldId id="364" r:id="rId3"/>
    <p:sldId id="426" r:id="rId4"/>
    <p:sldId id="415" r:id="rId5"/>
    <p:sldId id="512" r:id="rId6"/>
    <p:sldId id="498" r:id="rId7"/>
    <p:sldId id="324" r:id="rId8"/>
    <p:sldId id="326" r:id="rId9"/>
    <p:sldId id="327" r:id="rId10"/>
    <p:sldId id="351" r:id="rId11"/>
    <p:sldId id="482" r:id="rId12"/>
    <p:sldId id="487" r:id="rId13"/>
    <p:sldId id="495" r:id="rId14"/>
    <p:sldId id="488" r:id="rId15"/>
    <p:sldId id="421" r:id="rId16"/>
    <p:sldId id="422" r:id="rId17"/>
    <p:sldId id="291" r:id="rId18"/>
    <p:sldId id="412" r:id="rId19"/>
    <p:sldId id="293" r:id="rId20"/>
    <p:sldId id="330" r:id="rId21"/>
    <p:sldId id="510" r:id="rId22"/>
    <p:sldId id="511" r:id="rId23"/>
    <p:sldId id="413" r:id="rId2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0FF99"/>
    <a:srgbClr val="CCFF99"/>
    <a:srgbClr val="0C7E17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9" autoAdjust="0"/>
    <p:restoredTop sz="91815" autoAdjust="0"/>
  </p:normalViewPr>
  <p:slideViewPr>
    <p:cSldViewPr>
      <p:cViewPr varScale="1">
        <p:scale>
          <a:sx n="62" d="100"/>
          <a:sy n="62" d="100"/>
        </p:scale>
        <p:origin x="177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image" Target="../media/image4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 Resource Per 1000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74-4A03-9DED-7A8BD65DA5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WHO Standard</c:v>
                </c:pt>
                <c:pt idx="1">
                  <c:v>Maldives</c:v>
                </c:pt>
                <c:pt idx="2">
                  <c:v>Nepal</c:v>
                </c:pt>
                <c:pt idx="3">
                  <c:v>Sri-Lanka</c:v>
                </c:pt>
                <c:pt idx="4">
                  <c:v>Bhutan</c:v>
                </c:pt>
                <c:pt idx="5">
                  <c:v>India</c:v>
                </c:pt>
                <c:pt idx="6">
                  <c:v>Pakistan</c:v>
                </c:pt>
                <c:pt idx="7">
                  <c:v>Bangladesh</c:v>
                </c:pt>
                <c:pt idx="8">
                  <c:v>Afghanistan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4.45</c:v>
                </c:pt>
                <c:pt idx="1">
                  <c:v>6.71</c:v>
                </c:pt>
                <c:pt idx="2">
                  <c:v>4.1900000000000004</c:v>
                </c:pt>
                <c:pt idx="3">
                  <c:v>3.73</c:v>
                </c:pt>
                <c:pt idx="4">
                  <c:v>2.58</c:v>
                </c:pt>
                <c:pt idx="5">
                  <c:v>2.4900000000000002</c:v>
                </c:pt>
                <c:pt idx="6">
                  <c:v>1.6</c:v>
                </c:pt>
                <c:pt idx="7">
                  <c:v>1.1599999999999999</c:v>
                </c:pt>
                <c:pt idx="8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4-4A03-9DED-7A8BD65D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5"/>
        <c:overlap val="-27"/>
        <c:axId val="278835503"/>
        <c:axId val="1942959343"/>
      </c:barChart>
      <c:catAx>
        <c:axId val="278835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2959343"/>
        <c:crosses val="autoZero"/>
        <c:auto val="1"/>
        <c:lblAlgn val="ctr"/>
        <c:lblOffset val="100"/>
        <c:noMultiLvlLbl val="0"/>
      </c:catAx>
      <c:valAx>
        <c:axId val="1942959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8835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D7-487C-BCFE-47C390F887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8633728"/>
        <c:axId val="218635264"/>
      </c:barChart>
      <c:catAx>
        <c:axId val="2186337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8635264"/>
        <c:crosses val="autoZero"/>
        <c:auto val="1"/>
        <c:lblAlgn val="ctr"/>
        <c:lblOffset val="100"/>
        <c:noMultiLvlLbl val="0"/>
      </c:catAx>
      <c:valAx>
        <c:axId val="21863526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1863372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E-4ECF-8139-BCBC614261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CE-4ECF-8139-BCBC614261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9805568"/>
        <c:axId val="219807104"/>
      </c:barChart>
      <c:catAx>
        <c:axId val="2198055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9807104"/>
        <c:crosses val="autoZero"/>
        <c:auto val="1"/>
        <c:lblAlgn val="ctr"/>
        <c:lblOffset val="100"/>
        <c:noMultiLvlLbl val="0"/>
      </c:catAx>
      <c:valAx>
        <c:axId val="2198071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980556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523-41C0-9B57-F782E9DE47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23-41C0-9B57-F782E9DE47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523-41C0-9B57-F782E9DE478F}"/>
                </c:ext>
              </c:extLst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523-41C0-9B57-F782E9DE478F}"/>
                </c:ext>
              </c:extLst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523-41C0-9B57-F782E9DE47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523-41C0-9B57-F782E9DE47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523-41C0-9B57-F782E9DE478F}"/>
                </c:ext>
              </c:extLst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523-41C0-9B57-F782E9DE478F}"/>
                </c:ext>
              </c:extLst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523-41C0-9B57-F782E9DE47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523-41C0-9B57-F782E9DE478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523-41C0-9B57-F782E9DE478F}"/>
                </c:ext>
              </c:extLst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523-41C0-9B57-F782E9DE478F}"/>
                </c:ext>
              </c:extLst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523-41C0-9B57-F782E9DE47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523-41C0-9B57-F782E9DE47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854848"/>
        <c:axId val="209856384"/>
      </c:barChart>
      <c:catAx>
        <c:axId val="2098548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9856384"/>
        <c:crosses val="autoZero"/>
        <c:auto val="1"/>
        <c:lblAlgn val="ctr"/>
        <c:lblOffset val="100"/>
        <c:noMultiLvlLbl val="0"/>
      </c:catAx>
      <c:valAx>
        <c:axId val="20985638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985484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0.10934240566213922"/>
          <c:y val="5.0614472425047033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5917-4EF9-A61B-12B0A883AFCA}"/>
              </c:ext>
            </c:extLst>
          </c:dPt>
          <c:dLbls>
            <c:dLbl>
              <c:idx val="0"/>
              <c:layout>
                <c:manualLayout>
                  <c:x val="4.4941168575518865E-3"/>
                  <c:y val="-5.5772496453609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917-4EF9-A61B-12B0A883AFCA}"/>
                </c:ext>
              </c:extLst>
            </c:dLbl>
            <c:dLbl>
              <c:idx val="1"/>
              <c:layout>
                <c:manualLayout>
                  <c:x val="1.9565363278453841E-3"/>
                  <c:y val="-4.43983470734565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917-4EF9-A61B-12B0A883AFCA}"/>
                </c:ext>
              </c:extLst>
            </c:dLbl>
            <c:dLbl>
              <c:idx val="2"/>
              <c:layout>
                <c:manualLayout>
                  <c:x val="-1.3819792412312101E-3"/>
                  <c:y val="-4.2678193293723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917-4EF9-A61B-12B0A883AFCA}"/>
                </c:ext>
              </c:extLst>
            </c:dLbl>
            <c:dLbl>
              <c:idx val="3"/>
              <c:layout>
                <c:manualLayout>
                  <c:x val="-4.5897458840372524E-3"/>
                  <c:y val="-5.22004070639994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917-4EF9-A61B-12B0A883AFCA}"/>
                </c:ext>
              </c:extLst>
            </c:dLbl>
            <c:dLbl>
              <c:idx val="4"/>
              <c:layout>
                <c:manualLayout>
                  <c:x val="2.7922557265569292E-3"/>
                  <c:y val="-3.44067761764768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917-4EF9-A61B-12B0A883AF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  <c:pt idx="7">
                  <c:v>1385</c:v>
                </c:pt>
                <c:pt idx="8">
                  <c:v>1496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917-4EF9-A61B-12B0A883AF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61315072"/>
        <c:axId val="161320960"/>
        <c:axId val="0"/>
      </c:bar3DChart>
      <c:catAx>
        <c:axId val="161315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1320960"/>
        <c:crosses val="autoZero"/>
        <c:auto val="1"/>
        <c:lblAlgn val="ctr"/>
        <c:lblOffset val="100"/>
        <c:noMultiLvlLbl val="0"/>
      </c:catAx>
      <c:valAx>
        <c:axId val="1613209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13150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12/28/2022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CCD7A0B-260A-444D-804C-C1BD38A39F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EA9984D-4DDC-45FC-B715-D1631F625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D1E62F2-D424-49A6-A97A-5E47F1EF36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D8241D93-765E-4925-84ED-7540E91584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35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0434EFA0-EE6D-4CE6-9F9E-53C7C56F1D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5C4FE33F-8D7C-4B4E-AEB9-CE2B74AEA7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663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CA4533FE-FE24-4D2C-8102-5CE95F4F77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5EB30EB0-ADA8-494A-8461-F3DC328D3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CA4533FE-FE24-4D2C-8102-5CE95F4F77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5EB30EB0-ADA8-494A-8461-F3DC328D3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282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23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12/28/2022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12/28/2022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12/28/2022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12/28/2022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12/28/2022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12/28/2022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12/28/2022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12/28/2022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12/28/2022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12/28/2022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12/28/2022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2022/12/28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45204"/>
            <a:ext cx="8915400" cy="1326396"/>
          </a:xfrm>
          <a:solidFill>
            <a:srgbClr val="006600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err="1">
                <a:solidFill>
                  <a:schemeClr val="bg1"/>
                </a:solidFill>
              </a:rPr>
              <a:t>Jhenaidah</a:t>
            </a:r>
            <a:r>
              <a:rPr lang="en-US" sz="3600" dirty="0">
                <a:solidFill>
                  <a:schemeClr val="bg1"/>
                </a:solidFill>
              </a:rPr>
              <a:t> Sadar Hospital Model Developed by Local Initiative.</a:t>
            </a:r>
          </a:p>
        </p:txBody>
      </p:sp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606663"/>
            <a:ext cx="5545819" cy="3644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5646384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Jhenaidah District Map">
            <a:extLst>
              <a:ext uri="{FF2B5EF4-FFF2-40B4-BE49-F238E27FC236}">
                <a16:creationId xmlns:a16="http://schemas.microsoft.com/office/drawing/2014/main" id="{3C74B130-7FAA-4AD0-BA3C-CAD2F0938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295275"/>
            <a:ext cx="7467600" cy="592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District level Women-Friendly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sincerity.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56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EB079F8D-AC2F-410E-9692-325962396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58775"/>
            <a:ext cx="8229600" cy="381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/>
              <a:t>Background History of Jhenaidah Sadar Hospital</a:t>
            </a: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8976D331-F00A-4045-89F9-208F101E0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863600"/>
            <a:ext cx="80772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endParaRPr lang="en-US" altLang="en-US" sz="1600" b="1">
              <a:solidFill>
                <a:srgbClr val="3333CC"/>
              </a:solidFill>
            </a:endParaRPr>
          </a:p>
        </p:txBody>
      </p:sp>
      <p:sp>
        <p:nvSpPr>
          <p:cNvPr id="4100" name="Rectangle 6">
            <a:extLst>
              <a:ext uri="{FF2B5EF4-FFF2-40B4-BE49-F238E27FC236}">
                <a16:creationId xmlns:a16="http://schemas.microsoft.com/office/drawing/2014/main" id="{939CEDFC-5507-4BC6-B5CB-C914944AA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90600"/>
            <a:ext cx="8229600" cy="5638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lstStyle/>
          <a:p>
            <a:pPr eaLnBrk="0" hangingPunct="0">
              <a:lnSpc>
                <a:spcPct val="200000"/>
              </a:lnSpc>
              <a:spcAft>
                <a:spcPts val="1200"/>
              </a:spcAft>
              <a:defRPr/>
            </a:pPr>
            <a:r>
              <a:rPr lang="en-US" sz="1600" b="1" dirty="0" err="1">
                <a:latin typeface="Arial" charset="0"/>
                <a:cs typeface="Arial" charset="0"/>
              </a:rPr>
              <a:t>Jhenaidah</a:t>
            </a:r>
            <a:r>
              <a:rPr lang="en-US" sz="1600" b="1" dirty="0">
                <a:latin typeface="Arial" charset="0"/>
                <a:cs typeface="Arial" charset="0"/>
              </a:rPr>
              <a:t> Sadar Hospital was established in 1968 as Sub-Division Hospital and            became functioning from December 1970. </a:t>
            </a:r>
            <a:br>
              <a:rPr lang="en-US" sz="1600" b="1" dirty="0">
                <a:latin typeface="Arial" charset="0"/>
                <a:cs typeface="Arial" charset="0"/>
              </a:rPr>
            </a:br>
            <a:r>
              <a:rPr lang="en-US" sz="1600" b="1" dirty="0">
                <a:latin typeface="Arial" charset="0"/>
                <a:cs typeface="Arial" charset="0"/>
              </a:rPr>
              <a:t> - From February 1984 recognized as District Sadar Hospital.</a:t>
            </a:r>
            <a:br>
              <a:rPr lang="en-US" sz="1600" b="1" dirty="0">
                <a:latin typeface="Arial" charset="0"/>
                <a:cs typeface="Arial" charset="0"/>
              </a:rPr>
            </a:br>
            <a:r>
              <a:rPr lang="en-US" sz="1600" b="1" dirty="0">
                <a:latin typeface="Arial" charset="0"/>
                <a:cs typeface="Arial" charset="0"/>
              </a:rPr>
              <a:t>-  In 1994 upgrade to 100 Bedded Hospital without manpower &amp; infrastructure.</a:t>
            </a:r>
            <a:br>
              <a:rPr lang="en-US" sz="1600" b="1" dirty="0">
                <a:latin typeface="Arial" charset="0"/>
                <a:cs typeface="Arial" charset="0"/>
              </a:rPr>
            </a:br>
            <a:r>
              <a:rPr lang="en-US" sz="1600" b="1" dirty="0">
                <a:latin typeface="Arial" charset="0"/>
                <a:cs typeface="Arial" charset="0"/>
              </a:rPr>
              <a:t>-  In May 2005 infrastructure of 100 </a:t>
            </a:r>
            <a:r>
              <a:rPr lang="en-US" sz="1600" b="1" dirty="0" err="1">
                <a:latin typeface="Arial" charset="0"/>
                <a:cs typeface="Arial" charset="0"/>
              </a:rPr>
              <a:t>beded</a:t>
            </a:r>
            <a:r>
              <a:rPr lang="en-US" sz="1600" b="1" dirty="0">
                <a:latin typeface="Arial" charset="0"/>
                <a:cs typeface="Arial" charset="0"/>
              </a:rPr>
              <a:t> hospital completed. </a:t>
            </a:r>
            <a:br>
              <a:rPr lang="en-US" sz="1600" b="1" dirty="0">
                <a:latin typeface="Arial" charset="0"/>
                <a:cs typeface="Arial" charset="0"/>
              </a:rPr>
            </a:br>
            <a:r>
              <a:rPr lang="en-US" sz="1600" b="1" dirty="0">
                <a:latin typeface="Arial" charset="0"/>
                <a:cs typeface="Arial" charset="0"/>
              </a:rPr>
              <a:t>-  In 2008, Laparoscopic surgery was initiated in Hospital.</a:t>
            </a:r>
            <a:br>
              <a:rPr lang="en-US" sz="1600" b="1" dirty="0">
                <a:latin typeface="Arial" charset="0"/>
                <a:cs typeface="Arial" charset="0"/>
              </a:rPr>
            </a:br>
            <a:r>
              <a:rPr lang="en-US" sz="1600" b="1" dirty="0">
                <a:latin typeface="Arial" charset="0"/>
                <a:cs typeface="Arial" charset="0"/>
              </a:rPr>
              <a:t>-  In 2010 , this Hospital was awarded for EOC Activities, in Khulna Division.  </a:t>
            </a:r>
          </a:p>
          <a:p>
            <a:pPr eaLnBrk="0" hangingPunct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sz="1600" b="1" dirty="0">
                <a:latin typeface="Arial" charset="0"/>
                <a:cs typeface="Arial" charset="0"/>
              </a:rPr>
              <a:t>-  TQM activities started in January 2011 and effectively in May 2012.</a:t>
            </a:r>
          </a:p>
          <a:p>
            <a:pPr marL="285750" indent="-285750" eaLnBrk="0" hangingPunct="0">
              <a:lnSpc>
                <a:spcPct val="150000"/>
              </a:lnSpc>
              <a:spcAft>
                <a:spcPts val="1200"/>
              </a:spcAft>
              <a:buFontTx/>
              <a:buChar char="-"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In 10’th October foundation stone for 250 bedded hospital is established by   Honorable Prime Minister of Peoples Republic of Bangladesh.</a:t>
            </a:r>
          </a:p>
          <a:p>
            <a:pPr eaLnBrk="0" hangingPunct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sz="1600" b="1" dirty="0">
                <a:latin typeface="Arial" charset="0"/>
                <a:cs typeface="Arial" charset="0"/>
              </a:rPr>
              <a:t>-   In 9 Feb, 2014, 5S KIZEN – TQM program started by DGHS &amp; SMPP JICA. </a:t>
            </a:r>
          </a:p>
          <a:p>
            <a:pPr eaLnBrk="0" hangingPunct="0">
              <a:lnSpc>
                <a:spcPct val="150000"/>
              </a:lnSpc>
              <a:spcAft>
                <a:spcPts val="1200"/>
              </a:spcAft>
              <a:defRPr/>
            </a:pPr>
            <a:endParaRPr lang="en-US" sz="1600" b="1" dirty="0">
              <a:latin typeface="Arial" charset="0"/>
              <a:cs typeface="Arial" charset="0"/>
            </a:endParaRPr>
          </a:p>
          <a:p>
            <a:pPr marL="285750" indent="-285750" eaLnBrk="0" hangingPunct="0">
              <a:lnSpc>
                <a:spcPct val="150000"/>
              </a:lnSpc>
              <a:spcAft>
                <a:spcPts val="1200"/>
              </a:spcAft>
              <a:buFontTx/>
              <a:buChar char="-"/>
              <a:defRPr/>
            </a:pPr>
            <a:endParaRPr lang="en-US" sz="1600" b="1" dirty="0">
              <a:latin typeface="Arial" charset="0"/>
              <a:cs typeface="Arial" charset="0"/>
            </a:endParaRPr>
          </a:p>
          <a:p>
            <a:pPr marL="285750" indent="-285750" eaLnBrk="0" hangingPunct="0">
              <a:lnSpc>
                <a:spcPct val="150000"/>
              </a:lnSpc>
              <a:spcAft>
                <a:spcPts val="1200"/>
              </a:spcAft>
              <a:buFontTx/>
              <a:buChar char="-"/>
              <a:defRPr/>
            </a:pPr>
            <a:endParaRPr lang="en-US" sz="1600" b="1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982936" y="6341722"/>
            <a:ext cx="3627664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World Health Bulletin 2022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1930" y="8684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HR of different SEARC countries(Doctors , Nurses &amp; Midwives)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270AB4A-A350-4AE2-A5E3-4D20C1FC13F7}"/>
              </a:ext>
            </a:extLst>
          </p:cNvPr>
          <p:cNvGraphicFramePr/>
          <p:nvPr/>
        </p:nvGraphicFramePr>
        <p:xfrm>
          <a:off x="304800" y="1410154"/>
          <a:ext cx="8717280" cy="4685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5567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A8EBBC2-460F-4B17-B487-803E01CCE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72" y="152400"/>
            <a:ext cx="8229600" cy="504825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0" hangingPunct="0">
              <a:defRPr/>
            </a:pPr>
            <a:r>
              <a:rPr lang="en-US" sz="2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Health Profile of Jhenaidah District- 2015</a:t>
            </a: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2D2F1181-66FF-41DB-975E-1C38D7D57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85800"/>
            <a:ext cx="8839200" cy="60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0" hangingPunct="0">
              <a:buFont typeface="Arial" pitchFamily="34" charset="0"/>
              <a:buAutoNum type="arabicPeriod"/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Population</a:t>
            </a:r>
            <a:r>
              <a:rPr lang="en-US" b="1" dirty="0"/>
              <a:t> </a:t>
            </a:r>
            <a:r>
              <a:rPr lang="en-US" b="1" dirty="0">
                <a:solidFill>
                  <a:srgbClr val="3333CC"/>
                </a:solidFill>
              </a:rPr>
              <a:t>			: 1857149</a:t>
            </a:r>
          </a:p>
          <a:p>
            <a:pPr eaLnBrk="0" hangingPunct="0">
              <a:buFont typeface="Arial" pitchFamily="34" charset="0"/>
              <a:buAutoNum type="arabicPeriod"/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Pregnant</a:t>
            </a:r>
            <a:r>
              <a:rPr lang="en-US" b="1" dirty="0"/>
              <a:t>  mothers</a:t>
            </a:r>
            <a:r>
              <a:rPr lang="en-US" b="1" dirty="0">
                <a:solidFill>
                  <a:srgbClr val="3333CC"/>
                </a:solidFill>
              </a:rPr>
              <a:t>		: 38074</a:t>
            </a:r>
          </a:p>
          <a:p>
            <a:pPr eaLnBrk="0" hangingPunct="0">
              <a:buFont typeface="Arial" pitchFamily="34" charset="0"/>
              <a:buAutoNum type="arabicPeriod"/>
              <a:defRPr/>
            </a:pPr>
            <a:r>
              <a:rPr lang="en-US" b="1" dirty="0"/>
              <a:t>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Live birth</a:t>
            </a:r>
            <a:r>
              <a:rPr lang="en-US" b="1" dirty="0">
                <a:solidFill>
                  <a:srgbClr val="3333CC"/>
                </a:solidFill>
              </a:rPr>
              <a:t>		: 36465</a:t>
            </a:r>
          </a:p>
          <a:p>
            <a:pPr eaLnBrk="0" hangingPunct="0">
              <a:buFont typeface="Arial" pitchFamily="34" charset="0"/>
              <a:buAutoNum type="arabicPeriod"/>
              <a:defRPr/>
            </a:pPr>
            <a:r>
              <a:rPr lang="en-US" b="1" dirty="0"/>
              <a:t>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U5 children</a:t>
            </a:r>
            <a:r>
              <a:rPr lang="en-US" b="1" dirty="0">
                <a:solidFill>
                  <a:srgbClr val="3333CC"/>
                </a:solidFill>
              </a:rPr>
              <a:t>			: 222120</a:t>
            </a:r>
          </a:p>
          <a:p>
            <a:pPr eaLnBrk="0" hangingPunct="0">
              <a:buFont typeface="Arial" pitchFamily="34" charset="0"/>
              <a:buAutoNum type="arabicPeriod"/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No. of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Upazilla</a:t>
            </a:r>
            <a:r>
              <a:rPr lang="en-US" b="1" dirty="0"/>
              <a:t>	</a:t>
            </a:r>
            <a:r>
              <a:rPr lang="en-US" b="1" dirty="0">
                <a:solidFill>
                  <a:srgbClr val="3333CC"/>
                </a:solidFill>
              </a:rPr>
              <a:t>	: 06</a:t>
            </a:r>
          </a:p>
          <a:p>
            <a:pPr eaLnBrk="0" hangingPunct="0">
              <a:buFont typeface="Arial" pitchFamily="34" charset="0"/>
              <a:buAutoNum type="arabicPeriod"/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Paurasava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3333CC"/>
                </a:solidFill>
              </a:rPr>
              <a:t>			: 06</a:t>
            </a:r>
          </a:p>
          <a:p>
            <a:pPr eaLnBrk="0" hangingPunct="0">
              <a:buFont typeface="Arial" pitchFamily="34" charset="0"/>
              <a:buAutoNum type="arabicPeriod"/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Union 			</a:t>
            </a:r>
            <a:r>
              <a:rPr lang="en-US" b="1" dirty="0">
                <a:solidFill>
                  <a:srgbClr val="3333CC"/>
                </a:solidFill>
              </a:rPr>
              <a:t>: 67</a:t>
            </a:r>
          </a:p>
          <a:p>
            <a:pPr eaLnBrk="0" hangingPunct="0">
              <a:buFont typeface="Arial" pitchFamily="34" charset="0"/>
              <a:buAutoNum type="arabicPeriod"/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Govt. Health Institutions </a:t>
            </a:r>
            <a:r>
              <a:rPr lang="en-US" b="1" dirty="0">
                <a:solidFill>
                  <a:srgbClr val="3333CC"/>
                </a:solidFill>
              </a:rPr>
              <a:t>	             : </a:t>
            </a:r>
            <a:r>
              <a:rPr lang="en-US" b="1" i="1" dirty="0">
                <a:solidFill>
                  <a:srgbClr val="00B050"/>
                </a:solidFill>
              </a:rPr>
              <a:t>253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a) Sadar Hospital		             : 01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b) Upazilla Health Complex            : 05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c) H&amp;FWC/ RD (57+13)	              : 70 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d) Community Clinic 	              : 171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e) NTC+IHT +MATS(1+1+1) 	: 03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f) Sishu Hospital (25 bed)    	: 01  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g)MCWC                                            :01</a:t>
            </a:r>
          </a:p>
          <a:p>
            <a:pPr eaLnBrk="0" hangingPunct="0"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9. Non-Govt. Health Institutio</a:t>
            </a:r>
            <a:r>
              <a:rPr lang="en-US" b="1" dirty="0"/>
              <a:t>n</a:t>
            </a:r>
            <a:r>
              <a:rPr lang="en-US" b="1" dirty="0">
                <a:solidFill>
                  <a:srgbClr val="3333CC"/>
                </a:solidFill>
              </a:rPr>
              <a:t>		: </a:t>
            </a:r>
            <a:r>
              <a:rPr lang="en-US" b="1" i="1" dirty="0">
                <a:solidFill>
                  <a:srgbClr val="00B050"/>
                </a:solidFill>
              </a:rPr>
              <a:t>116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</a:t>
            </a:r>
            <a:r>
              <a:rPr lang="en-US" b="1" dirty="0" err="1">
                <a:solidFill>
                  <a:srgbClr val="3333CC"/>
                </a:solidFill>
              </a:rPr>
              <a:t>i</a:t>
            </a:r>
            <a:r>
              <a:rPr lang="en-US" b="1" dirty="0">
                <a:solidFill>
                  <a:srgbClr val="3333CC"/>
                </a:solidFill>
              </a:rPr>
              <a:t>) Diabetic Hospital 		: 01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ii) Eye Hospital 			: 01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iii) Private Clinic (Regd.)		:114 </a:t>
            </a:r>
          </a:p>
          <a:p>
            <a:pPr eaLnBrk="0" hangingPunct="0">
              <a:buFont typeface="Arial" pitchFamily="34" charset="0"/>
              <a:buAutoNum type="arabicPeriod"/>
              <a:defRPr/>
            </a:pPr>
            <a:endParaRPr lang="en-US" sz="2000" b="1" dirty="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EF310-4858-4750-843A-35209EC4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</a:p>
        </p:txBody>
      </p:sp>
      <p:graphicFrame>
        <p:nvGraphicFramePr>
          <p:cNvPr id="58447" name="Group 79">
            <a:extLst>
              <a:ext uri="{FF2B5EF4-FFF2-40B4-BE49-F238E27FC236}">
                <a16:creationId xmlns:a16="http://schemas.microsoft.com/office/drawing/2014/main" id="{1A0316DC-A292-4506-88CB-B4BCE4D6BE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5946" y="1344613"/>
          <a:ext cx="8184504" cy="5210988"/>
        </p:xfrm>
        <a:graphic>
          <a:graphicData uri="http://schemas.openxmlformats.org/drawingml/2006/table">
            <a:tbl>
              <a:tblPr/>
              <a:tblGrid>
                <a:gridCol w="1377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2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8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80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Ward boy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3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Rectangle 57">
            <a:extLst>
              <a:ext uri="{FF2B5EF4-FFF2-40B4-BE49-F238E27FC236}">
                <a16:creationId xmlns:a16="http://schemas.microsoft.com/office/drawing/2014/main" id="{B17895D3-5DC8-4C49-BF25-F3C00AFE0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735013"/>
            <a:ext cx="82296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1455541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2017</a:t>
            </a: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>
                <a:ea typeface="Calibri"/>
                <a:cs typeface="Vrinda"/>
              </a:rPr>
              <a:t>3 best performing </a:t>
            </a:r>
            <a:r>
              <a:rPr lang="en-US" sz="2800" b="1" dirty="0" err="1">
                <a:ea typeface="Calibri"/>
                <a:cs typeface="Vrinda"/>
              </a:rPr>
              <a:t>EmOC</a:t>
            </a:r>
            <a:r>
              <a:rPr lang="en-US" sz="2800" b="1" dirty="0">
                <a:ea typeface="Calibri"/>
                <a:cs typeface="Vrinda"/>
              </a:rPr>
              <a:t> Hospital in Khulna division - 2017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FFFF"/>
                </a:solidFill>
              </a:rPr>
              <a:t>Operation Service (Major) 2011 to 2019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0" y="1676400"/>
          <a:ext cx="8686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</a:t>
            </a:r>
            <a:r>
              <a:rPr lang="en-US" b="1" dirty="0" err="1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Hosital</a:t>
            </a: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Jhenaidah</a:t>
            </a:r>
          </a:p>
        </p:txBody>
      </p:sp>
    </p:spTree>
    <p:extLst>
      <p:ext uri="{BB962C8B-B14F-4D97-AF65-F5344CB8AC3E}">
        <p14:creationId xmlns:p14="http://schemas.microsoft.com/office/powerpoint/2010/main" val="3342961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Cleaner:	20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boy:	21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guard:	6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Volunteer:	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Pic up car.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518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9875" y="993319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062722" y="1012155"/>
            <a:ext cx="4537074" cy="138499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0" hangingPunct="0"/>
            <a:r>
              <a:rPr lang="en-US" sz="2800" dirty="0"/>
              <a:t> Health Education for the patients and their attendance by health Manager</a:t>
            </a:r>
            <a:r>
              <a:rPr lang="en-US" sz="2000" dirty="0"/>
              <a:t>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14300" y="4318876"/>
            <a:ext cx="4152900" cy="1077218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0" hangingPunct="0"/>
            <a:r>
              <a:rPr lang="en-US" sz="3200" dirty="0"/>
              <a:t>Motivation of the community leaders </a:t>
            </a:r>
            <a:r>
              <a:rPr lang="en-US" sz="2000" dirty="0"/>
              <a:t>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0"/>
            <a:ext cx="8229599" cy="914400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Hospital</a:t>
            </a:r>
          </a:p>
        </p:txBody>
      </p:sp>
    </p:spTree>
    <p:extLst>
      <p:ext uri="{BB962C8B-B14F-4D97-AF65-F5344CB8AC3E}">
        <p14:creationId xmlns:p14="http://schemas.microsoft.com/office/powerpoint/2010/main" val="2515419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Hospital and Introduction of TQM 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3886200"/>
            <a:ext cx="4281094" cy="300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/>
              <a:t>A team of </a:t>
            </a:r>
            <a:r>
              <a:rPr lang="en-US" sz="2000" dirty="0" err="1"/>
              <a:t>Jhenaidah</a:t>
            </a:r>
            <a:r>
              <a:rPr lang="en-US" sz="2000" dirty="0"/>
              <a:t>  District hospital visited to </a:t>
            </a:r>
            <a:r>
              <a:rPr lang="en-US" sz="2000" dirty="0" err="1"/>
              <a:t>Shatkhira</a:t>
            </a:r>
            <a:r>
              <a:rPr lang="en-US" sz="2000" dirty="0"/>
              <a:t> District hospital in 2014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68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/>
              <a:t>A meeting was held in </a:t>
            </a:r>
            <a:r>
              <a:rPr lang="en-US" sz="2000" dirty="0" err="1"/>
              <a:t>Shatkhira</a:t>
            </a:r>
            <a:r>
              <a:rPr lang="en-US" sz="2000" dirty="0"/>
              <a:t>  District conference room</a:t>
            </a:r>
          </a:p>
        </p:txBody>
      </p:sp>
    </p:spTree>
    <p:extLst>
      <p:ext uri="{BB962C8B-B14F-4D97-AF65-F5344CB8AC3E}">
        <p14:creationId xmlns:p14="http://schemas.microsoft.com/office/powerpoint/2010/main" val="261314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60164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41395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Changes in </a:t>
            </a:r>
            <a:r>
              <a:rPr lang="en-US" sz="2000" b="1" dirty="0" err="1">
                <a:solidFill>
                  <a:schemeClr val="bg1"/>
                </a:solidFill>
              </a:rPr>
              <a:t>JhenaidahSadar</a:t>
            </a:r>
            <a:r>
              <a:rPr lang="en-US" sz="2000" b="1" dirty="0">
                <a:solidFill>
                  <a:schemeClr val="bg1"/>
                </a:solidFill>
              </a:rPr>
              <a:t> Hospital(</a:t>
            </a:r>
            <a:r>
              <a:rPr lang="en-US" sz="2000" b="1" dirty="0" err="1">
                <a:solidFill>
                  <a:schemeClr val="bg1"/>
                </a:solidFill>
              </a:rPr>
              <a:t>Padeatric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ward,Waste</a:t>
            </a:r>
            <a:r>
              <a:rPr lang="en-US" sz="2000" b="1" dirty="0">
                <a:solidFill>
                  <a:schemeClr val="bg1"/>
                </a:solidFill>
              </a:rPr>
              <a:t> Management)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8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3998913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28186" y="4092576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800600" y="4035426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KAIZEN  in </a:t>
            </a:r>
            <a:r>
              <a:rPr lang="en-US" sz="2000" b="1" dirty="0" err="1">
                <a:solidFill>
                  <a:schemeClr val="bg1"/>
                </a:solidFill>
              </a:rPr>
              <a:t>Jhenaidah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Sadar</a:t>
            </a:r>
            <a:r>
              <a:rPr lang="en-US" sz="2000" b="1" dirty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52075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</a:t>
            </a:r>
            <a:r>
              <a:rPr lang="en-US" altLang="ja-JP" sz="4000" b="1" dirty="0" err="1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ja-JP" sz="4000" b="1" dirty="0" err="1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/>
              <a:t>1</a:t>
            </a:r>
            <a:r>
              <a:rPr lang="en-US" sz="2000" b="1" dirty="0"/>
              <a:t>. Active Community Participation  is an example in Bangladesh.</a:t>
            </a:r>
          </a:p>
          <a:p>
            <a:pPr marL="0" algn="just">
              <a:defRPr/>
            </a:pPr>
            <a:r>
              <a:rPr lang="en-US" sz="2000" dirty="0"/>
              <a:t> </a:t>
            </a:r>
          </a:p>
          <a:p>
            <a:pPr marL="0" algn="just">
              <a:defRPr/>
            </a:pPr>
            <a:r>
              <a:rPr lang="en-US" sz="2000" b="1" dirty="0"/>
              <a:t>2. Improved   performance  of all services.</a:t>
            </a:r>
          </a:p>
          <a:p>
            <a:pPr marL="0">
              <a:defRPr/>
            </a:pPr>
            <a:endParaRPr lang="en-US" sz="2000" b="1" dirty="0"/>
          </a:p>
          <a:p>
            <a:pPr marL="0">
              <a:defRPr/>
            </a:pPr>
            <a:r>
              <a:rPr lang="en-US" sz="2000" b="1" dirty="0"/>
              <a:t>3. Improved Cleanliness and Beautification of Campus.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4. Functioning of X-Ray service and Biochemistry investigation. .</a:t>
            </a:r>
            <a:endParaRPr lang="en-US" sz="1000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5. Improved Security.</a:t>
            </a:r>
            <a:endParaRPr lang="en-US" sz="1000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6. Improved Financial Management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7. Piloting of “Model  District Hospital” is running in Jhenaidah Sadar Hospital.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8. The hospital is awarded 5 times from 2013 to 2017.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1DF3427-92FE-4C7F-9AA2-0F92A135FFC3}"/>
              </a:ext>
            </a:extLst>
          </p:cNvPr>
          <p:cNvSpPr txBox="1">
            <a:spLocks/>
          </p:cNvSpPr>
          <p:nvPr/>
        </p:nvSpPr>
        <p:spPr bwMode="auto">
          <a:xfrm>
            <a:off x="152400" y="228600"/>
            <a:ext cx="8839199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Challenges of the Hospital</a:t>
            </a:r>
          </a:p>
        </p:txBody>
      </p:sp>
      <p:sp>
        <p:nvSpPr>
          <p:cNvPr id="92165" name="Rectangle 2">
            <a:extLst>
              <a:ext uri="{FF2B5EF4-FFF2-40B4-BE49-F238E27FC236}">
                <a16:creationId xmlns:a16="http://schemas.microsoft.com/office/drawing/2014/main" id="{8F31233D-9364-422E-9C44-2BB411138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19200"/>
            <a:ext cx="8839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5143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buFontTx/>
              <a:buAutoNum type="arabicPeriod"/>
            </a:pPr>
            <a:r>
              <a:rPr lang="en-US" altLang="en-US" sz="2000" dirty="0"/>
              <a:t>Many  post of doctors ,3</a:t>
            </a:r>
            <a:r>
              <a:rPr lang="en-US" altLang="en-US" sz="2000" baseline="30000" dirty="0"/>
              <a:t>rd  </a:t>
            </a:r>
            <a:r>
              <a:rPr lang="en-US" altLang="en-US" sz="2000" dirty="0"/>
              <a:t> and 4</a:t>
            </a:r>
            <a:r>
              <a:rPr lang="en-US" altLang="en-US" sz="2000" baseline="30000" dirty="0"/>
              <a:t>th</a:t>
            </a:r>
            <a:r>
              <a:rPr lang="en-US" altLang="en-US" sz="2000" dirty="0"/>
              <a:t> class employees are vacant. 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US" altLang="en-US" sz="2000" dirty="0"/>
          </a:p>
          <a:p>
            <a:pPr algn="just">
              <a:buFontTx/>
              <a:buAutoNum type="arabicPeriod"/>
            </a:pPr>
            <a:r>
              <a:rPr lang="en-US" altLang="en-US" sz="2000" dirty="0"/>
              <a:t>A accommodation of the patients   is a major problem</a:t>
            </a:r>
          </a:p>
          <a:p>
            <a:pPr algn="just">
              <a:buFontTx/>
              <a:buAutoNum type="arabicPeriod"/>
            </a:pPr>
            <a:endParaRPr lang="en-US" altLang="en-US" sz="2000" dirty="0"/>
          </a:p>
          <a:p>
            <a:pPr algn="just">
              <a:buFontTx/>
              <a:buAutoNum type="arabicPeriod"/>
            </a:pPr>
            <a:r>
              <a:rPr lang="en-US" altLang="en-US" sz="2000" dirty="0"/>
              <a:t>Waste management system is weak</a:t>
            </a:r>
          </a:p>
          <a:p>
            <a:pPr algn="just">
              <a:buFontTx/>
              <a:buAutoNum type="arabicPeriod"/>
            </a:pPr>
            <a:endParaRPr lang="en-US" altLang="en-US" sz="2000" dirty="0"/>
          </a:p>
          <a:p>
            <a:pPr marL="0" indent="0" algn="just"/>
            <a:r>
              <a:rPr lang="en-US" altLang="en-US" sz="2400" dirty="0"/>
              <a:t>4.  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1DF3427-92FE-4C7F-9AA2-0F92A135FFC3}"/>
              </a:ext>
            </a:extLst>
          </p:cNvPr>
          <p:cNvSpPr txBox="1">
            <a:spLocks/>
          </p:cNvSpPr>
          <p:nvPr/>
        </p:nvSpPr>
        <p:spPr bwMode="auto">
          <a:xfrm>
            <a:off x="152400" y="228600"/>
            <a:ext cx="8839199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Way Forward</a:t>
            </a:r>
          </a:p>
        </p:txBody>
      </p:sp>
      <p:sp>
        <p:nvSpPr>
          <p:cNvPr id="92165" name="Rectangle 2">
            <a:extLst>
              <a:ext uri="{FF2B5EF4-FFF2-40B4-BE49-F238E27FC236}">
                <a16:creationId xmlns:a16="http://schemas.microsoft.com/office/drawing/2014/main" id="{8F31233D-9364-422E-9C44-2BB411138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19200"/>
            <a:ext cx="8839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5143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buFontTx/>
              <a:buAutoNum type="arabicPeriod"/>
            </a:pPr>
            <a:r>
              <a:rPr lang="en-US" altLang="en-US" sz="2000" dirty="0"/>
              <a:t>All vacant post of doctors and nurses to be filled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US" altLang="en-US" sz="2000" dirty="0"/>
          </a:p>
          <a:p>
            <a:pPr algn="just">
              <a:buFontTx/>
              <a:buAutoNum type="arabicPeriod"/>
            </a:pPr>
            <a:r>
              <a:rPr lang="en-US" altLang="en-US" sz="2000" dirty="0"/>
              <a:t>Ambulances to be replaced.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US" altLang="en-US" sz="2000" dirty="0"/>
          </a:p>
          <a:p>
            <a:pPr algn="just">
              <a:buFontTx/>
              <a:buAutoNum type="arabicPeriod"/>
            </a:pPr>
            <a:r>
              <a:rPr lang="en-US" altLang="en-US" sz="2000" dirty="0"/>
              <a:t>Improved X-Ray, Ultrasonogram and Pathological instruments.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US" altLang="en-US" sz="2000" dirty="0"/>
          </a:p>
          <a:p>
            <a:pPr algn="just">
              <a:buFontTx/>
              <a:buAutoNum type="arabicPeriod"/>
            </a:pPr>
            <a:r>
              <a:rPr lang="en-US" altLang="en-US" sz="2000" dirty="0"/>
              <a:t>Renovation and reconstruction of the hospital building. 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US" altLang="en-US" sz="2000" dirty="0"/>
          </a:p>
          <a:p>
            <a:pPr algn="just">
              <a:buFontTx/>
              <a:buAutoNum type="arabicPeriod"/>
            </a:pPr>
            <a:r>
              <a:rPr lang="en-US" altLang="en-US" sz="2000" dirty="0"/>
              <a:t>The construction of 250 bedded hospital should be completed.</a:t>
            </a:r>
          </a:p>
          <a:p>
            <a:pPr algn="just">
              <a:buFontTx/>
              <a:buAutoNum type="arabicPeriod"/>
            </a:pPr>
            <a:endParaRPr lang="en-US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84078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sz="4400" dirty="0"/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858300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4863</TotalTime>
  <Words>511</Words>
  <Application>Microsoft Office PowerPoint</Application>
  <PresentationFormat>On-screen Show (4:3)</PresentationFormat>
  <Paragraphs>190</Paragraphs>
  <Slides>23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Albertus Extra Bold</vt:lpstr>
      <vt:lpstr>Andalus</vt:lpstr>
      <vt:lpstr>Arial</vt:lpstr>
      <vt:lpstr>Calibri</vt:lpstr>
      <vt:lpstr>Courier New</vt:lpstr>
      <vt:lpstr>Times New Roman</vt:lpstr>
      <vt:lpstr>Office Theme</vt:lpstr>
      <vt:lpstr>Jhenaidah Sadar Hospital Model Developed by Local Initiative.</vt:lpstr>
      <vt:lpstr>PowerPoint Presentation</vt:lpstr>
      <vt:lpstr>A District level Women-Friendly Hospital with a Vision …</vt:lpstr>
      <vt:lpstr>PowerPoint Presentation</vt:lpstr>
      <vt:lpstr>PowerPoint Presentation</vt:lpstr>
      <vt:lpstr>PowerPoint Presentation</vt:lpstr>
      <vt:lpstr>Sadar Hospital, Jhenaidah</vt:lpstr>
      <vt:lpstr>PowerPoint Presentation</vt:lpstr>
      <vt:lpstr>Emergency &amp; Out Door, Indoor  Service 1998 to 2017</vt:lpstr>
      <vt:lpstr>3 best performing EmOC Hospital in Khulna division - 2017</vt:lpstr>
      <vt:lpstr>Operation Service (Major) 2011 to 2019</vt:lpstr>
      <vt:lpstr>PowerPoint Presentation</vt:lpstr>
      <vt:lpstr>Innovative activities of Hospital</vt:lpstr>
      <vt:lpstr>PowerPoint Presentation</vt:lpstr>
      <vt:lpstr>Changes in EOC Ward</vt:lpstr>
      <vt:lpstr>Changes in Gardens of The Hospital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MD EMDADUL HAQUE</cp:lastModifiedBy>
  <cp:revision>644</cp:revision>
  <cp:lastPrinted>2017-03-18T23:47:54Z</cp:lastPrinted>
  <dcterms:created xsi:type="dcterms:W3CDTF">2013-05-05T09:56:19Z</dcterms:created>
  <dcterms:modified xsi:type="dcterms:W3CDTF">2022-12-28T01:50:51Z</dcterms:modified>
</cp:coreProperties>
</file>