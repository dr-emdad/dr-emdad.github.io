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</p:sldMasterIdLst>
  <p:notesMasterIdLst>
    <p:notesMasterId r:id="rId38"/>
  </p:notesMasterIdLst>
  <p:sldIdLst>
    <p:sldId id="331" r:id="rId3"/>
    <p:sldId id="345" r:id="rId4"/>
    <p:sldId id="332" r:id="rId5"/>
    <p:sldId id="334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256" r:id="rId14"/>
    <p:sldId id="324" r:id="rId15"/>
    <p:sldId id="325" r:id="rId16"/>
    <p:sldId id="326" r:id="rId17"/>
    <p:sldId id="327" r:id="rId18"/>
    <p:sldId id="328" r:id="rId19"/>
    <p:sldId id="352" r:id="rId20"/>
    <p:sldId id="351" r:id="rId21"/>
    <p:sldId id="346" r:id="rId22"/>
    <p:sldId id="287" r:id="rId23"/>
    <p:sldId id="288" r:id="rId24"/>
    <p:sldId id="290" r:id="rId25"/>
    <p:sldId id="291" r:id="rId26"/>
    <p:sldId id="292" r:id="rId27"/>
    <p:sldId id="297" r:id="rId28"/>
    <p:sldId id="308" r:id="rId29"/>
    <p:sldId id="323" r:id="rId30"/>
    <p:sldId id="312" r:id="rId31"/>
    <p:sldId id="313" r:id="rId32"/>
    <p:sldId id="316" r:id="rId33"/>
    <p:sldId id="293" r:id="rId34"/>
    <p:sldId id="294" r:id="rId35"/>
    <p:sldId id="330" r:id="rId36"/>
    <p:sldId id="344" r:id="rId37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37" autoAdjust="0"/>
    <p:restoredTop sz="91818" autoAdjust="0"/>
  </p:normalViewPr>
  <p:slideViewPr>
    <p:cSldViewPr>
      <p:cViewPr>
        <p:scale>
          <a:sx n="70" d="100"/>
          <a:sy n="70" d="100"/>
        </p:scale>
        <p:origin x="-660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</c:numCache>
            </c:numRef>
          </c:cat>
          <c:val>
            <c:numRef>
              <c:f>Sheet1!$B$2:$B$6</c:f>
              <c:numCache>
                <c:formatCode>0%</c:formatCode>
                <c:ptCount val="5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362688"/>
        <c:axId val="13364608"/>
      </c:barChart>
      <c:catAx>
        <c:axId val="13362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364608"/>
        <c:crosses val="autoZero"/>
        <c:auto val="1"/>
        <c:lblAlgn val="ctr"/>
        <c:lblOffset val="100"/>
        <c:noMultiLvlLbl val="0"/>
      </c:catAx>
      <c:valAx>
        <c:axId val="1336460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36268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3223424"/>
        <c:axId val="203224960"/>
      </c:barChart>
      <c:catAx>
        <c:axId val="2032234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03224960"/>
        <c:crosses val="autoZero"/>
        <c:auto val="1"/>
        <c:lblAlgn val="ctr"/>
        <c:lblOffset val="100"/>
        <c:noMultiLvlLbl val="0"/>
      </c:catAx>
      <c:valAx>
        <c:axId val="2032249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0322342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invertIfNegative val="0"/>
          <c:dPt>
            <c:idx val="1"/>
            <c:invertIfNegative val="0"/>
            <c:bubble3D val="0"/>
            <c:spPr>
              <a:scene3d>
                <a:camera prst="orthographicFront"/>
                <a:lightRig rig="threePt" dir="t">
                  <a:rot lat="0" lon="0" rev="1200000"/>
                </a:lightRig>
              </a:scene3d>
              <a:sp3d>
                <a:bevelT w="0" h="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03011200"/>
        <c:axId val="203012736"/>
        <c:axId val="0"/>
      </c:bar3DChart>
      <c:catAx>
        <c:axId val="2030112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3012736"/>
        <c:crosses val="autoZero"/>
        <c:auto val="1"/>
        <c:lblAlgn val="ctr"/>
        <c:lblOffset val="100"/>
        <c:noMultiLvlLbl val="0"/>
      </c:catAx>
      <c:valAx>
        <c:axId val="20301273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301120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3009024"/>
        <c:axId val="203051776"/>
      </c:barChart>
      <c:catAx>
        <c:axId val="2030090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3051776"/>
        <c:crosses val="autoZero"/>
        <c:auto val="1"/>
        <c:lblAlgn val="ctr"/>
        <c:lblOffset val="100"/>
        <c:noMultiLvlLbl val="0"/>
      </c:catAx>
      <c:valAx>
        <c:axId val="2030517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300902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314925161381854"/>
          <c:y val="0.34423591178275209"/>
          <c:w val="0.20784173937717243"/>
          <c:h val="0.46305371917534455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13328</c:v>
                </c:pt>
                <c:pt idx="1">
                  <c:v>12178</c:v>
                </c:pt>
                <c:pt idx="2">
                  <c:v>5192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2"/>
              <c:layout>
                <c:manualLayout>
                  <c:x val="3.0864197530864196E-3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1016</c:v>
                </c:pt>
                <c:pt idx="1">
                  <c:v>1259</c:v>
                </c:pt>
                <c:pt idx="2">
                  <c:v>1086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3.0864197530863632E-3"/>
                  <c:y val="-3.92844572525228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1900</c:v>
                </c:pt>
                <c:pt idx="1">
                  <c:v>1528</c:v>
                </c:pt>
                <c:pt idx="2">
                  <c:v>1369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2936</c:v>
                </c:pt>
                <c:pt idx="1">
                  <c:v>2816</c:v>
                </c:pt>
                <c:pt idx="2">
                  <c:v>2486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3133696"/>
        <c:axId val="203135232"/>
      </c:barChart>
      <c:catAx>
        <c:axId val="20313369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3135232"/>
        <c:crosses val="autoZero"/>
        <c:auto val="1"/>
        <c:lblAlgn val="ctr"/>
        <c:lblOffset val="100"/>
        <c:noMultiLvlLbl val="0"/>
      </c:catAx>
      <c:valAx>
        <c:axId val="2031352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313369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6819571865443427E-2"/>
                  <c:y val="-2.8735632183908049E-2"/>
                </c:manualLayout>
              </c:layout>
              <c:tx>
                <c:rich>
                  <a:bodyPr/>
                  <a:lstStyle/>
                  <a:p>
                    <a:r>
                      <a:rPr lang="en-US" b="1" dirty="0" smtClean="0">
                        <a:solidFill>
                          <a:srgbClr val="0070C0"/>
                        </a:solidFill>
                      </a:rPr>
                      <a:t>4010,380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9051987767584102E-2"/>
                  <c:y val="-2.8735632183908049E-2"/>
                </c:manualLayout>
              </c:layout>
              <c:tx>
                <c:rich>
                  <a:bodyPr/>
                  <a:lstStyle/>
                  <a:p>
                    <a:r>
                      <a:rPr lang="en-US" b="1" dirty="0" smtClean="0">
                        <a:solidFill>
                          <a:srgbClr val="0070C0"/>
                        </a:solidFill>
                      </a:rPr>
                      <a:t>5934,815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b="1" dirty="0" smtClean="0">
                        <a:solidFill>
                          <a:srgbClr val="0070C0"/>
                        </a:solidFill>
                      </a:rPr>
                      <a:t>7372,970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rgbClr val="0070C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2013-14</c:v>
                </c:pt>
                <c:pt idx="1">
                  <c:v>2014-15</c:v>
                </c:pt>
                <c:pt idx="2">
                  <c:v>2015-16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4010380</c:v>
                </c:pt>
                <c:pt idx="1">
                  <c:v>5934815</c:v>
                </c:pt>
                <c:pt idx="2">
                  <c:v>7372970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03967488"/>
        <c:axId val="239936256"/>
        <c:axId val="0"/>
      </c:bar3DChart>
      <c:catAx>
        <c:axId val="2039674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9936256"/>
        <c:crosses val="autoZero"/>
        <c:auto val="1"/>
        <c:lblAlgn val="ctr"/>
        <c:lblOffset val="100"/>
        <c:noMultiLvlLbl val="0"/>
      </c:catAx>
      <c:valAx>
        <c:axId val="239936256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03967488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1/21/2017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7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CDC74EA-1436-4302-A7A0-7857452C14B5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5325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14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34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35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1/21/2017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2017/1/21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3.png"/><Relationship Id="rId5" Type="http://schemas.openxmlformats.org/officeDocument/2006/relationships/image" Target="../media/image62.jpeg"/><Relationship Id="rId4" Type="http://schemas.openxmlformats.org/officeDocument/2006/relationships/image" Target="../media/image61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9.jpeg"/><Relationship Id="rId4" Type="http://schemas.openxmlformats.org/officeDocument/2006/relationships/image" Target="../media/image6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3.jpeg"/><Relationship Id="rId4" Type="http://schemas.openxmlformats.org/officeDocument/2006/relationships/image" Target="../media/image72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0" y="28575"/>
            <a:ext cx="9144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600" b="1" dirty="0">
                <a:solidFill>
                  <a:srgbClr val="002060"/>
                </a:solidFill>
              </a:rPr>
              <a:t>Chowgacha UHC model &amp; Jhenaidah Sadar Hospital Development 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Consultant (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Obst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&amp;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Gynae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)</a:t>
            </a:r>
          </a:p>
          <a:p>
            <a:pPr algn="ctr">
              <a:defRPr/>
            </a:pP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Hospital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Jhenaidah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17738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814407"/>
              </p:ext>
            </p:extLst>
          </p:nvPr>
        </p:nvGraphicFramePr>
        <p:xfrm>
          <a:off x="152400" y="1371600"/>
          <a:ext cx="8894763" cy="488719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512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75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9403 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3935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3703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456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kern="1200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40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04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31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22860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2209800"/>
            <a:ext cx="6172200" cy="3886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sz="4000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smtClean="0"/>
          </a:p>
        </p:txBody>
      </p:sp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solidFill>
            <a:srgbClr val="0070C0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 err="1">
                <a:solidFill>
                  <a:schemeClr val="bg1"/>
                </a:solidFill>
              </a:rPr>
              <a:t>Chowgacha</a:t>
            </a:r>
            <a:r>
              <a:rPr lang="en-US" sz="3200" b="1" dirty="0">
                <a:solidFill>
                  <a:schemeClr val="bg1"/>
                </a:solidFill>
              </a:rPr>
              <a:t>, </a:t>
            </a:r>
            <a:r>
              <a:rPr lang="en-US" sz="3200" b="1" dirty="0" err="1">
                <a:solidFill>
                  <a:schemeClr val="bg1"/>
                </a:solidFill>
              </a:rPr>
              <a:t>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</a:t>
            </a:r>
            <a:r>
              <a:rPr lang="en-US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From 1996 to 2012, took initiatives to develop </a:t>
            </a:r>
            <a:r>
              <a:rPr lang="en-US" sz="2400" b="1" dirty="0" err="1" smtClean="0"/>
              <a:t>Upazilla</a:t>
            </a:r>
            <a:r>
              <a:rPr lang="en-US" sz="2400" b="1" dirty="0" smtClean="0"/>
              <a:t>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In 2010, </a:t>
            </a:r>
            <a:r>
              <a:rPr lang="en-US" sz="2400" dirty="0" err="1" smtClean="0"/>
              <a:t>Chowgacha</a:t>
            </a:r>
            <a:r>
              <a:rPr lang="en-US" sz="2400" dirty="0" smtClean="0"/>
              <a:t> Health Complex declared as the model </a:t>
            </a:r>
            <a:r>
              <a:rPr lang="en-US" sz="2400" dirty="0" err="1" smtClean="0"/>
              <a:t>upazilla</a:t>
            </a:r>
            <a:r>
              <a:rPr lang="en-US" sz="2400" dirty="0" smtClean="0"/>
              <a:t>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 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err="1" smtClean="0"/>
              <a:t>Chowgacha</a:t>
            </a:r>
            <a:r>
              <a:rPr lang="en-US" sz="2400" dirty="0" smtClean="0"/>
              <a:t>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smtClean="0"/>
          </a:p>
          <a:p>
            <a:pPr algn="ctr" eaLnBrk="1" hangingPunct="1">
              <a:buFontTx/>
              <a:buNone/>
            </a:pPr>
            <a:endParaRPr lang="en-US" sz="280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0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</a:t>
            </a:r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Health  Complex</a:t>
            </a:r>
            <a:b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46156948"/>
              </p:ext>
            </p:extLst>
          </p:nvPr>
        </p:nvGraphicFramePr>
        <p:xfrm>
          <a:off x="457200" y="3063874"/>
          <a:ext cx="8153400" cy="30321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Chowgacha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Ad-din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Hospital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Jessore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Jessore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</a:t>
            </a:r>
            <a:r>
              <a:rPr lang="en-US" sz="2000" dirty="0" err="1" smtClean="0"/>
              <a:t>Tk</a:t>
            </a:r>
            <a:r>
              <a:rPr lang="en-US" sz="2000" dirty="0" smtClean="0"/>
              <a:t>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rgbClr val="0070C0"/>
          </a:solidFill>
        </p:spPr>
        <p:txBody>
          <a:bodyPr/>
          <a:lstStyle/>
          <a:p>
            <a:pPr eaLnBrk="1" hangingPunct="1"/>
            <a:r>
              <a:rPr lang="en-US" b="1" i="1" smtClean="0">
                <a:solidFill>
                  <a:schemeClr val="bg1"/>
                </a:solidFill>
                <a:latin typeface="Albertus Extra Bold" pitchFamily="34" charset="0"/>
              </a:rPr>
              <a:t>MDG 4 and 5 Achieved at Chowgacha in 2009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419100" y="2133600"/>
            <a:ext cx="8305800" cy="37338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b="1" dirty="0" smtClean="0">
                <a:solidFill>
                  <a:srgbClr val="C00000"/>
                </a:solidFill>
              </a:rPr>
              <a:t>Per 1000 live Birth      </a:t>
            </a:r>
            <a:r>
              <a:rPr lang="en-US" sz="2000" b="1" dirty="0" err="1" smtClean="0">
                <a:solidFill>
                  <a:srgbClr val="C00000"/>
                </a:solidFill>
              </a:rPr>
              <a:t>Chowgacha</a:t>
            </a:r>
            <a:r>
              <a:rPr lang="en-US" sz="2000" b="1" dirty="0" smtClean="0">
                <a:solidFill>
                  <a:srgbClr val="C00000"/>
                </a:solidFill>
              </a:rPr>
              <a:t>          MDG Target        National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000" b="1" dirty="0" smtClean="0">
              <a:solidFill>
                <a:schemeClr val="hlink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dirty="0" smtClean="0">
                <a:solidFill>
                  <a:srgbClr val="669900"/>
                </a:solidFill>
              </a:rPr>
              <a:t>.42</a:t>
            </a:r>
            <a:r>
              <a:rPr lang="en-US" sz="1800" b="1" dirty="0" smtClean="0">
                <a:solidFill>
                  <a:srgbClr val="3366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1.47 </a:t>
            </a:r>
            <a:r>
              <a:rPr lang="en-US" sz="1800" b="1" dirty="0" smtClean="0">
                <a:solidFill>
                  <a:srgbClr val="CC00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0000FF"/>
                </a:solidFill>
              </a:rPr>
              <a:t>3.2  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dirty="0" smtClean="0">
                <a:solidFill>
                  <a:srgbClr val="669900"/>
                </a:solidFill>
              </a:rPr>
              <a:t>  </a:t>
            </a:r>
            <a:r>
              <a:rPr lang="en-US" sz="2400" b="1" dirty="0" smtClean="0">
                <a:solidFill>
                  <a:srgbClr val="669900"/>
                </a:solidFill>
              </a:rPr>
              <a:t>20.6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31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52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dirty="0" smtClean="0">
                <a:solidFill>
                  <a:srgbClr val="0000FF"/>
                </a:solidFill>
              </a:rPr>
              <a:t> </a:t>
            </a:r>
            <a:r>
              <a:rPr lang="en-US" sz="2400" b="1" dirty="0" smtClean="0">
                <a:solidFill>
                  <a:srgbClr val="669900"/>
                </a:solidFill>
              </a:rPr>
              <a:t>22.7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50  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65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FF006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</p:nvPr>
        </p:nvGraphicFramePr>
        <p:xfrm>
          <a:off x="450850" y="1344613"/>
          <a:ext cx="8229600" cy="4892718"/>
        </p:xfrm>
        <a:graphic>
          <a:graphicData uri="http://schemas.openxmlformats.org/drawingml/2006/table">
            <a:tbl>
              <a:tblPr/>
              <a:tblGrid>
                <a:gridCol w="1454150"/>
                <a:gridCol w="2660650"/>
                <a:gridCol w="2057400"/>
                <a:gridCol w="2057400"/>
              </a:tblGrid>
              <a:tr h="5046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Ward boy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            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             31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450850" y="735013"/>
            <a:ext cx="82296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get TK.  2000 to TK. 3000 per month per person supported 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8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Jhenaidah town supports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17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power.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Mayor of Jhenaidah Paurasava plays an important role in cleanliness, repaired the boundary wall, made 4 dustbins and supports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4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word.</a:t>
            </a:r>
            <a:endParaRPr lang="en-US" sz="28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Retired secretary donated a generator for 24 hours OT service    with a cost of nearly 33 thousand taka.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Chairman of Zahedee foundation supports 10 manpower and an intercom with a cost of nearly two lac taka. </a:t>
            </a:r>
          </a:p>
          <a:p>
            <a:pPr marL="0" algn="just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11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0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000" dirty="0" smtClean="0">
                <a:solidFill>
                  <a:srgbClr val="1F497D">
                    <a:lumMod val="75000"/>
                  </a:srgbClr>
                </a:solidFill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2016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910722472"/>
              </p:ext>
            </p:extLst>
          </p:nvPr>
        </p:nvGraphicFramePr>
        <p:xfrm>
          <a:off x="805076" y="2057400"/>
          <a:ext cx="75438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2015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937047501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2016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832109"/>
              </p:ext>
            </p:extLst>
          </p:nvPr>
        </p:nvGraphicFramePr>
        <p:xfrm>
          <a:off x="508000" y="1655763"/>
          <a:ext cx="8124825" cy="4414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787483"/>
              </p:ext>
            </p:extLst>
          </p:nvPr>
        </p:nvGraphicFramePr>
        <p:xfrm>
          <a:off x="381000" y="1528465"/>
          <a:ext cx="84582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200" y="1066800"/>
            <a:ext cx="8305800" cy="461665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2016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- 2016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98017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162"/>
            <a:ext cx="8310349" cy="1265237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in Jhenaidah </a:t>
            </a:r>
            <a:r>
              <a:rPr lang="en-US" sz="2800" b="1" dirty="0" smtClean="0">
                <a:solidFill>
                  <a:schemeClr val="bg1"/>
                </a:solidFill>
              </a:rPr>
              <a:t>Sadar Hospital </a:t>
            </a:r>
            <a:r>
              <a:rPr lang="en-US" sz="2800" b="1" dirty="0" smtClean="0">
                <a:solidFill>
                  <a:schemeClr val="bg1"/>
                </a:solidFill>
              </a:rPr>
              <a:t>in last three F-years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96322"/>
              </p:ext>
            </p:extLst>
          </p:nvPr>
        </p:nvGraphicFramePr>
        <p:xfrm>
          <a:off x="762000" y="2209800"/>
          <a:ext cx="769620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2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Surgery Ward</a:t>
            </a:r>
          </a:p>
        </p:txBody>
      </p:sp>
      <p:pic>
        <p:nvPicPr>
          <p:cNvPr id="4608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838200"/>
            <a:ext cx="4038600" cy="2667000"/>
          </a:xfrm>
          <a:noFill/>
        </p:spPr>
      </p:pic>
      <p:pic>
        <p:nvPicPr>
          <p:cNvPr id="46084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62000"/>
            <a:ext cx="4038600" cy="2667000"/>
          </a:xfrm>
          <a:noFill/>
        </p:spPr>
      </p:pic>
      <p:pic>
        <p:nvPicPr>
          <p:cNvPr id="46085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714750"/>
            <a:ext cx="4038600" cy="2914650"/>
          </a:xfrm>
          <a:noFill/>
        </p:spPr>
      </p:pic>
      <p:pic>
        <p:nvPicPr>
          <p:cNvPr id="4608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733800"/>
            <a:ext cx="3962400" cy="2895600"/>
          </a:xfrm>
          <a:noFill/>
        </p:spPr>
      </p:pic>
      <p:sp>
        <p:nvSpPr>
          <p:cNvPr id="46087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4608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9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0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6052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1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2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>
                <a:solidFill>
                  <a:srgbClr val="FFFFFF"/>
                </a:solidFill>
              </a:rPr>
              <a:t>West 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bg1"/>
                </a:solidFill>
              </a:rPr>
              <a:t>Changes in Office and Hospital </a:t>
            </a:r>
            <a:r>
              <a:rPr lang="en-US" sz="2800" dirty="0">
                <a:solidFill>
                  <a:schemeClr val="bg1"/>
                </a:solidFill>
              </a:rPr>
              <a:t>I</a:t>
            </a:r>
            <a:r>
              <a:rPr lang="en-US" sz="2800" dirty="0" smtClean="0">
                <a:solidFill>
                  <a:schemeClr val="bg1"/>
                </a:solidFill>
              </a:rPr>
              <a:t>nternal </a:t>
            </a:r>
            <a:r>
              <a:rPr lang="en-US" sz="2800" dirty="0">
                <a:solidFill>
                  <a:schemeClr val="bg1"/>
                </a:solidFill>
              </a:rPr>
              <a:t>E</a:t>
            </a:r>
            <a:r>
              <a:rPr lang="en-US" sz="2800" dirty="0" smtClean="0">
                <a:solidFill>
                  <a:schemeClr val="bg1"/>
                </a:solidFill>
              </a:rPr>
              <a:t>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32350" y="3781425"/>
            <a:ext cx="3994150" cy="2921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156" name="Picture 1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8" y="838200"/>
            <a:ext cx="4021137" cy="2743200"/>
          </a:xfrm>
        </p:spPr>
      </p:pic>
      <p:pic>
        <p:nvPicPr>
          <p:cNvPr id="4915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6638" y="889000"/>
            <a:ext cx="4297362" cy="2616200"/>
          </a:xfrm>
        </p:spPr>
      </p:pic>
      <p:pic>
        <p:nvPicPr>
          <p:cNvPr id="25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5"/>
          <a:stretch>
            <a:fillRect/>
          </a:stretch>
        </p:blipFill>
        <p:spPr>
          <a:xfrm>
            <a:off x="0" y="3778250"/>
            <a:ext cx="4038600" cy="29781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6200" y="9715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638" y="1003300"/>
            <a:ext cx="6715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897438" y="3933825"/>
            <a:ext cx="671512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After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200" y="3895725"/>
            <a:ext cx="903288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Before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513" y="3886200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05400" y="3889375"/>
            <a:ext cx="38496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4664075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QIC meeting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53975" y="3886200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Monthly meeting schedule</a:t>
            </a:r>
            <a:endParaRPr 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waist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3" name="Rectangle 4"/>
          <p:cNvSpPr>
            <a:spLocks noChangeArrowheads="1"/>
          </p:cNvSpPr>
          <p:nvPr/>
        </p:nvSpPr>
        <p:spPr bwMode="auto">
          <a:xfrm>
            <a:off x="4800600" y="3979863"/>
            <a:ext cx="3673475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Girls guide for lining of patients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52234" name="Picture 10" descr="C:\Users\QUADER\Desktop\Big clining day 248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886200"/>
            <a:ext cx="41148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5" name="Rectangle 4"/>
          <p:cNvSpPr>
            <a:spLocks noChangeArrowheads="1"/>
          </p:cNvSpPr>
          <p:nvPr/>
        </p:nvSpPr>
        <p:spPr bwMode="auto">
          <a:xfrm>
            <a:off x="4589463" y="3979863"/>
            <a:ext cx="201930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Big cleaning day</a:t>
            </a:r>
            <a:endParaRPr 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69875" y="628650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2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4275" name="Content Placeholder 6" descr="G:\G\Dr Emdad\fromyumi\IMG_7464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49800" y="3722688"/>
            <a:ext cx="4267200" cy="3059112"/>
          </a:xfrm>
        </p:spPr>
      </p:pic>
      <p:pic>
        <p:nvPicPr>
          <p:cNvPr id="7" name="Picture 16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/>
          <a:stretch>
            <a:fillRect/>
          </a:stretch>
        </p:blipFill>
        <p:spPr>
          <a:xfrm>
            <a:off x="4584700" y="815975"/>
            <a:ext cx="4394200" cy="27432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427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3733800"/>
            <a:ext cx="4191000" cy="30480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47663" y="3754438"/>
            <a:ext cx="1176337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Manobota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76800" y="3798888"/>
            <a:ext cx="19050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Big Cleaning Day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4749800" y="812800"/>
            <a:ext cx="20320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Neonatal Care Unit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28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812800"/>
            <a:ext cx="4071937" cy="26924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47663" y="815975"/>
            <a:ext cx="292893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Starting of 5S KAIZEN-TQM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5299" name="Picture 2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8788" y="906463"/>
            <a:ext cx="3802062" cy="2743200"/>
          </a:xfrm>
        </p:spPr>
      </p:pic>
      <p:pic>
        <p:nvPicPr>
          <p:cNvPr id="55300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863" y="914400"/>
            <a:ext cx="3971925" cy="272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3733800"/>
            <a:ext cx="8001000" cy="300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4284663" y="947738"/>
            <a:ext cx="3656012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C7E17"/>
                </a:solidFill>
                <a:latin typeface="+mj-lt"/>
              </a:rPr>
              <a:t>Community donated intercom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611188" y="3962400"/>
            <a:ext cx="36560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B050"/>
                </a:solidFill>
              </a:rPr>
              <a:t>Community Supported Manpower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798888"/>
            <a:ext cx="4403725" cy="3032125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684213"/>
            <a:ext cx="4464050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810000"/>
            <a:ext cx="43434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</a:t>
            </a:r>
            <a:r>
              <a:rPr lang="en-US" b="1" dirty="0" err="1" smtClean="0"/>
              <a:t>Bangldesh</a:t>
            </a:r>
            <a:r>
              <a:rPr lang="en-US" b="1" dirty="0" smtClean="0"/>
              <a:t>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by local initiatives (Social welfare and health partner ship).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awarded 4 times from 2013 to 2016. Stood first award by 5S-KAIZEN-TQM among the 100 bedded district hospitals by defeating </a:t>
            </a:r>
            <a:r>
              <a:rPr lang="en-US" b="1" dirty="0" err="1"/>
              <a:t>Norsingdi</a:t>
            </a:r>
            <a:r>
              <a:rPr lang="en-US" b="1" dirty="0"/>
              <a:t> Sadar Hospital.</a:t>
            </a:r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0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5400" dirty="0" smtClean="0">
              <a:solidFill>
                <a:srgbClr val="FF0066"/>
              </a:solidFill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6000" b="1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2341</TotalTime>
  <Words>916</Words>
  <Application>Microsoft Office PowerPoint</Application>
  <PresentationFormat>On-screen Show (4:3)</PresentationFormat>
  <Paragraphs>312</Paragraphs>
  <Slides>35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5_シック</vt:lpstr>
      <vt:lpstr>Office Theme</vt:lpstr>
      <vt:lpstr>Chart</vt:lpstr>
      <vt:lpstr>PowerPoint Presentation</vt:lpstr>
      <vt:lpstr>PowerPoint Presentation</vt:lpstr>
      <vt:lpstr>PowerPoint Presentation</vt:lpstr>
      <vt:lpstr>Achievement of Chowgacha Health Complex</vt:lpstr>
      <vt:lpstr>Upazila Health  Complex CHOWGACHA , JESSORE.</vt:lpstr>
      <vt:lpstr>Upazila Health  Complex CHOWGACHA , JESSORE.</vt:lpstr>
      <vt:lpstr>Upazila Health  Complex CHOWGACHA , JESSORE.</vt:lpstr>
      <vt:lpstr>Upazilla Health  Complex CHOWGACHA , JESSORE.</vt:lpstr>
      <vt:lpstr>PowerPoint Presentation</vt:lpstr>
      <vt:lpstr>MDG 4 and 5 Achieved at Chowgacha in 2009</vt:lpstr>
      <vt:lpstr>PowerPoint Presentation</vt:lpstr>
      <vt:lpstr>100 kh¨v wewkó m`i nvmcvZvj, wSbvB`n</vt:lpstr>
      <vt:lpstr>Sadar Hospital, Jhenaidah</vt:lpstr>
      <vt:lpstr>PowerPoint Presentation</vt:lpstr>
      <vt:lpstr>PowerPoint Presentation</vt:lpstr>
      <vt:lpstr>Emergency &amp; Out Door, Indoor  Service 1998 to 2015</vt:lpstr>
      <vt:lpstr>Operation Service (Major) 2011 to 2016</vt:lpstr>
      <vt:lpstr>PowerPoint Presentation</vt:lpstr>
      <vt:lpstr>3 best performing EmOC Hospital in Khulna division - 2016</vt:lpstr>
      <vt:lpstr>  Comparative data of revenue income (in Taka) in Jhenaidah Sadar Hospital in last three F-years </vt:lpstr>
      <vt:lpstr>Changes in EOC Ward</vt:lpstr>
      <vt:lpstr>Changes in Surgery Ward</vt:lpstr>
      <vt:lpstr>Changes in Gardens of The Hospital</vt:lpstr>
      <vt:lpstr>PowerPoint Presentation</vt:lpstr>
      <vt:lpstr>Changes in Office and Hospital Internal Environment</vt:lpstr>
      <vt:lpstr>Internal Monitoring System</vt:lpstr>
      <vt:lpstr>Use of direction sign, labeling of rooms, clean latrine and waist segregation</vt:lpstr>
      <vt:lpstr>Use of color code, alignment of picture &amp; continuous big cleaning day</vt:lpstr>
      <vt:lpstr>Innovative activities of Jhenaidah Sadar Hospital Page: 1</vt:lpstr>
      <vt:lpstr>Innovative activities of Jhenaidah Sadar Hospital Page: 2 </vt:lpstr>
      <vt:lpstr>Innovative activities of Jhenaidah Sadar Hospital Page: 3</vt:lpstr>
      <vt:lpstr>PowerPoint Presentation</vt:lpstr>
      <vt:lpstr>Hospital Environment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Kie Kanda</dc:creator>
  <cp:lastModifiedBy>Emdad</cp:lastModifiedBy>
  <cp:revision>239</cp:revision>
  <cp:lastPrinted>2017-01-18T17:16:02Z</cp:lastPrinted>
  <dcterms:created xsi:type="dcterms:W3CDTF">2013-05-05T09:56:19Z</dcterms:created>
  <dcterms:modified xsi:type="dcterms:W3CDTF">2017-01-21T01:51:29Z</dcterms:modified>
</cp:coreProperties>
</file>