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29"/>
  </p:notesMasterIdLst>
  <p:sldIdLst>
    <p:sldId id="426" r:id="rId2"/>
    <p:sldId id="427" r:id="rId3"/>
    <p:sldId id="345" r:id="rId4"/>
    <p:sldId id="332" r:id="rId5"/>
    <p:sldId id="341" r:id="rId6"/>
    <p:sldId id="411" r:id="rId7"/>
    <p:sldId id="420" r:id="rId8"/>
    <p:sldId id="343" r:id="rId9"/>
    <p:sldId id="256" r:id="rId10"/>
    <p:sldId id="403" r:id="rId11"/>
    <p:sldId id="326" r:id="rId12"/>
    <p:sldId id="327" r:id="rId13"/>
    <p:sldId id="351" r:id="rId14"/>
    <p:sldId id="402" r:id="rId15"/>
    <p:sldId id="421" r:id="rId16"/>
    <p:sldId id="291" r:id="rId17"/>
    <p:sldId id="323" r:id="rId18"/>
    <p:sldId id="412" r:id="rId19"/>
    <p:sldId id="293" r:id="rId20"/>
    <p:sldId id="330" r:id="rId21"/>
    <p:sldId id="417" r:id="rId22"/>
    <p:sldId id="419" r:id="rId23"/>
    <p:sldId id="413" r:id="rId24"/>
    <p:sldId id="422" r:id="rId25"/>
    <p:sldId id="423" r:id="rId26"/>
    <p:sldId id="424" r:id="rId27"/>
    <p:sldId id="425" r:id="rId2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1815" autoAdjust="0"/>
  </p:normalViewPr>
  <p:slideViewPr>
    <p:cSldViewPr>
      <p:cViewPr varScale="1">
        <p:scale>
          <a:sx n="63" d="100"/>
          <a:sy n="63" d="100"/>
        </p:scale>
        <p:origin x="174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E-40C0-BA80-9587B1AA9E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589120"/>
        <c:axId val="221700864"/>
      </c:barChart>
      <c:catAx>
        <c:axId val="22558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1700864"/>
        <c:crosses val="autoZero"/>
        <c:auto val="1"/>
        <c:lblAlgn val="ctr"/>
        <c:lblOffset val="100"/>
        <c:noMultiLvlLbl val="0"/>
      </c:catAx>
      <c:valAx>
        <c:axId val="2217008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55891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BD-41E8-BF54-C8418895F4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BD-41E8-BF54-C8418895F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3202688"/>
        <c:axId val="223212672"/>
      </c:barChart>
      <c:catAx>
        <c:axId val="2232026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3212672"/>
        <c:crosses val="autoZero"/>
        <c:auto val="1"/>
        <c:lblAlgn val="ctr"/>
        <c:lblOffset val="100"/>
        <c:noMultiLvlLbl val="0"/>
      </c:catAx>
      <c:valAx>
        <c:axId val="2232126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32026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949-4167-BDCC-F43E5A6E67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49-4167-BDCC-F43E5A6E67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949-4167-BDCC-F43E5A6E67A1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49-4167-BDCC-F43E5A6E67A1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949-4167-BDCC-F43E5A6E67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949-4167-BDCC-F43E5A6E67A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949-4167-BDCC-F43E5A6E67A1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949-4167-BDCC-F43E5A6E67A1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949-4167-BDCC-F43E5A6E67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949-4167-BDCC-F43E5A6E67A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B949-4167-BDCC-F43E5A6E67A1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949-4167-BDCC-F43E5A6E67A1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B949-4167-BDCC-F43E5A6E67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B949-4167-BDCC-F43E5A6E6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5630848"/>
        <c:axId val="225632640"/>
      </c:barChart>
      <c:catAx>
        <c:axId val="225630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2640"/>
        <c:crosses val="autoZero"/>
        <c:auto val="1"/>
        <c:lblAlgn val="ctr"/>
        <c:lblOffset val="100"/>
        <c:noMultiLvlLbl val="0"/>
      </c:catAx>
      <c:valAx>
        <c:axId val="225632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25630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C </a:t>
            </a:r>
            <a:r>
              <a:rPr lang="en-US" baseline="0" dirty="0"/>
              <a:t>– S</a:t>
            </a:r>
            <a:r>
              <a:rPr lang="en-US" dirty="0"/>
              <a:t>ection in </a:t>
            </a:r>
            <a:r>
              <a:rPr lang="en-US" dirty="0" err="1"/>
              <a:t>Chowgacha</a:t>
            </a:r>
            <a:r>
              <a:rPr lang="en-US" baseline="0" dirty="0"/>
              <a:t> UHC</a:t>
            </a:r>
            <a:endParaRPr lang="en-US" dirty="0"/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Seasaren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1007</c:v>
                </c:pt>
                <c:pt idx="1">
                  <c:v>785</c:v>
                </c:pt>
                <c:pt idx="2">
                  <c:v>900</c:v>
                </c:pt>
                <c:pt idx="3">
                  <c:v>979</c:v>
                </c:pt>
                <c:pt idx="4">
                  <c:v>1035</c:v>
                </c:pt>
                <c:pt idx="5">
                  <c:v>727</c:v>
                </c:pt>
                <c:pt idx="6">
                  <c:v>759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B5-477C-B7E3-73AFC0949F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1853568"/>
        <c:axId val="225555200"/>
      </c:barChart>
      <c:catAx>
        <c:axId val="181853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5555200"/>
        <c:crosses val="autoZero"/>
        <c:auto val="1"/>
        <c:lblAlgn val="ctr"/>
        <c:lblOffset val="100"/>
        <c:noMultiLvlLbl val="0"/>
      </c:catAx>
      <c:valAx>
        <c:axId val="2255552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18535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Total delivery in </a:t>
            </a:r>
            <a:r>
              <a:rPr lang="en-US" dirty="0" err="1"/>
              <a:t>Chowgacha</a:t>
            </a:r>
            <a:r>
              <a:rPr lang="en-US" dirty="0"/>
              <a:t> UHC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4412</c:v>
                </c:pt>
                <c:pt idx="1">
                  <c:v>3508</c:v>
                </c:pt>
                <c:pt idx="2">
                  <c:v>3246</c:v>
                </c:pt>
                <c:pt idx="3">
                  <c:v>3422</c:v>
                </c:pt>
                <c:pt idx="4">
                  <c:v>3486</c:v>
                </c:pt>
                <c:pt idx="5">
                  <c:v>3003</c:v>
                </c:pt>
                <c:pt idx="6">
                  <c:v>2898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11-4402-89FC-74ACE3A1D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447104"/>
        <c:axId val="158448640"/>
      </c:barChart>
      <c:catAx>
        <c:axId val="158447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8448640"/>
        <c:crosses val="autoZero"/>
        <c:auto val="1"/>
        <c:lblAlgn val="ctr"/>
        <c:lblOffset val="100"/>
        <c:noMultiLvlLbl val="0"/>
      </c:catAx>
      <c:valAx>
        <c:axId val="1584486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84471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GB" dirty="0"/>
              <a:t>Total no</a:t>
            </a:r>
            <a:r>
              <a:rPr lang="en-GB" baseline="0" dirty="0"/>
              <a:t> of </a:t>
            </a:r>
            <a:r>
              <a:rPr lang="en-GB" dirty="0"/>
              <a:t>ANC in </a:t>
            </a:r>
            <a:r>
              <a:rPr lang="en-GB" dirty="0" err="1"/>
              <a:t>Chowgacha</a:t>
            </a:r>
            <a:r>
              <a:rPr lang="en-GB" dirty="0"/>
              <a:t> UHC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22708</c:v>
                </c:pt>
                <c:pt idx="1">
                  <c:v>19299</c:v>
                </c:pt>
                <c:pt idx="2">
                  <c:v>19249</c:v>
                </c:pt>
                <c:pt idx="3">
                  <c:v>19144</c:v>
                </c:pt>
                <c:pt idx="4">
                  <c:v>19569</c:v>
                </c:pt>
                <c:pt idx="5">
                  <c:v>19467</c:v>
                </c:pt>
                <c:pt idx="6">
                  <c:v>18680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28-43E4-885F-C2F20CCBA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8559616"/>
        <c:axId val="181683328"/>
      </c:barChart>
      <c:catAx>
        <c:axId val="158559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1683328"/>
        <c:crosses val="autoZero"/>
        <c:auto val="1"/>
        <c:lblAlgn val="ctr"/>
        <c:lblOffset val="100"/>
        <c:noMultiLvlLbl val="0"/>
      </c:catAx>
      <c:valAx>
        <c:axId val="1816833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85596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Normal Delivery in </a:t>
            </a:r>
            <a:r>
              <a:rPr lang="en-US" dirty="0" err="1"/>
              <a:t>Chowgacha</a:t>
            </a:r>
            <a:r>
              <a:rPr lang="en-US" dirty="0"/>
              <a:t> UHC</a:t>
            </a:r>
          </a:p>
        </c:rich>
      </c:tx>
      <c:layout>
        <c:manualLayout>
          <c:xMode val="edge"/>
          <c:yMode val="edge"/>
          <c:x val="0.3583791338582677"/>
          <c:y val="0.05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Delivery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3345</c:v>
                </c:pt>
                <c:pt idx="1">
                  <c:v>2671</c:v>
                </c:pt>
                <c:pt idx="2">
                  <c:v>2333</c:v>
                </c:pt>
                <c:pt idx="3">
                  <c:v>2375</c:v>
                </c:pt>
                <c:pt idx="4">
                  <c:v>2369</c:v>
                </c:pt>
                <c:pt idx="5">
                  <c:v>2202</c:v>
                </c:pt>
                <c:pt idx="6">
                  <c:v>2123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8F-4B3B-A11B-338659DBD4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1720576"/>
        <c:axId val="181722112"/>
      </c:barChart>
      <c:catAx>
        <c:axId val="18172057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81722112"/>
        <c:crosses val="autoZero"/>
        <c:auto val="1"/>
        <c:lblAlgn val="ctr"/>
        <c:lblOffset val="100"/>
        <c:noMultiLvlLbl val="0"/>
      </c:catAx>
      <c:valAx>
        <c:axId val="1817221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8172057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5/16/2022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3620" y="698253"/>
            <a:ext cx="4463162" cy="3484718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983" y="4415177"/>
            <a:ext cx="5606435" cy="418297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23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5/16/2022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2022/5/16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9.jpeg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1569660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&amp; Jhenaidah Sadar Hospital model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Nation Consultant C -J model replication committee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46313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533672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76200" y="3810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304800" y="302525"/>
            <a:ext cx="8686800" cy="584775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Challages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of 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healthrelated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sdg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in </a:t>
            </a:r>
            <a:r>
              <a:rPr lang="en-US" sz="3200" b="1" dirty="0" err="1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bangladesh</a:t>
            </a: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190500" y="1201394"/>
            <a:ext cx="88011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1.Implimentation of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universial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health coverage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2 Limited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govt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resources in health sector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3 Health insurance system.                                      .                              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4.Quality of health care                            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5.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Stanting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and low birth weight                                .  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6. Street accident                                    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7 Low institutional delivery and high </a:t>
            </a:r>
            <a:r>
              <a:rPr lang="en-US" sz="2800" dirty="0" err="1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c-section</a:t>
            </a: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rate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8.Hospital waste management system                    .</a:t>
            </a:r>
          </a:p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9 Maintenance of office time of the service provider.</a:t>
            </a:r>
          </a:p>
        </p:txBody>
      </p:sp>
    </p:spTree>
    <p:extLst>
      <p:ext uri="{BB962C8B-B14F-4D97-AF65-F5344CB8AC3E}">
        <p14:creationId xmlns:p14="http://schemas.microsoft.com/office/powerpoint/2010/main" val="327192413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883078"/>
              </p:ext>
            </p:extLst>
          </p:nvPr>
        </p:nvGraphicFramePr>
        <p:xfrm>
          <a:off x="144439" y="1295400"/>
          <a:ext cx="8823562" cy="463971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88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</a:t>
                      </a:r>
                    </a:p>
                  </a:txBody>
                  <a:tcPr marL="68580" marR="68580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11.08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14.79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36.67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38.43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65.06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>
                          <a:effectLst/>
                        </a:rPr>
                        <a:t>60.41</a:t>
                      </a:r>
                      <a:endParaRPr lang="en-GB" sz="32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66.49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3780790" algn="l"/>
                        </a:tabLst>
                      </a:pPr>
                      <a:r>
                        <a:rPr lang="en-US" sz="2400" dirty="0">
                          <a:effectLst/>
                        </a:rPr>
                        <a:t>67</a:t>
                      </a:r>
                      <a:endParaRPr lang="en-GB" sz="32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2017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37531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28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  <p:extLst>
      <p:ext uri="{BB962C8B-B14F-4D97-AF65-F5344CB8AC3E}">
        <p14:creationId xmlns:p14="http://schemas.microsoft.com/office/powerpoint/2010/main" val="308122614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13317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438400"/>
          <a:ext cx="6858000" cy="3906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3" name="Chart" r:id="rId4" imgW="4667402" imgH="2657551" progId="Excel.Chart.8">
                  <p:embed/>
                </p:oleObj>
              </mc:Choice>
              <mc:Fallback>
                <p:oleObj name="Chart" r:id="rId4" imgW="4667402" imgH="2657551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6858000" cy="3906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099478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dirty="0"/>
              <a:t>Challenges of the hospital in 2012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60198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  <a:defRPr/>
            </a:pPr>
            <a:endParaRPr lang="en-US" sz="1800" b="1" dirty="0"/>
          </a:p>
          <a:p>
            <a:pPr marL="0" indent="0">
              <a:buNone/>
              <a:defRPr/>
            </a:pPr>
            <a:r>
              <a:rPr lang="en-US" sz="2800" b="1" dirty="0"/>
              <a:t>    </a:t>
            </a:r>
            <a:r>
              <a:rPr lang="en-US" sz="2800" b="1" i="1" dirty="0" err="1"/>
              <a:t>I</a:t>
            </a:r>
            <a:r>
              <a:rPr lang="en-US" sz="2800" b="1" dirty="0" err="1"/>
              <a:t>nsecured</a:t>
            </a:r>
            <a:r>
              <a:rPr lang="en-US" sz="2800" b="1" dirty="0"/>
              <a:t>  hospital environment.</a:t>
            </a:r>
          </a:p>
          <a:p>
            <a:pPr marL="0" indent="0">
              <a:buNone/>
              <a:defRPr/>
            </a:pPr>
            <a:r>
              <a:rPr lang="en-US" sz="2800" dirty="0"/>
              <a:t>	</a:t>
            </a:r>
          </a:p>
          <a:p>
            <a:pPr>
              <a:defRPr/>
            </a:pPr>
            <a:r>
              <a:rPr lang="en-US" sz="2800" b="1" dirty="0"/>
              <a:t>Performance of all activities</a:t>
            </a:r>
            <a:r>
              <a:rPr lang="en-US" sz="2400" b="1" dirty="0"/>
              <a:t> </a:t>
            </a:r>
            <a:r>
              <a:rPr lang="en-US" sz="2800" b="1" dirty="0"/>
              <a:t>was very low.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/>
              <a:t>Very limited support staff. 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/>
              <a:t>Receiving money from the patients by non-</a:t>
            </a:r>
            <a:r>
              <a:rPr lang="en-US" sz="2800" b="1" dirty="0" err="1"/>
              <a:t>gov.</a:t>
            </a:r>
            <a:r>
              <a:rPr lang="en-US" sz="2800" b="1" dirty="0"/>
              <a:t> staff.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/>
              <a:t>Waste management system was poor.</a:t>
            </a:r>
          </a:p>
          <a:p>
            <a:pPr>
              <a:defRPr/>
            </a:pPr>
            <a:endParaRPr lang="en-US" sz="2800" b="1" dirty="0"/>
          </a:p>
          <a:p>
            <a:pPr>
              <a:defRPr/>
            </a:pPr>
            <a:r>
              <a:rPr lang="en-US" sz="2800" b="1" dirty="0"/>
              <a:t>Monitoring  meeting was not performed regularly</a:t>
            </a:r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20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>
              <a:defRPr/>
            </a:pP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	</a:t>
            </a:r>
            <a:endParaRPr lang="en-US" sz="1800" b="1" dirty="0"/>
          </a:p>
          <a:p>
            <a:pPr marL="0" indent="0">
              <a:buFont typeface="Arial" charset="0"/>
              <a:buNone/>
              <a:defRPr/>
            </a:pPr>
            <a:r>
              <a:rPr lang="en-US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2017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56632884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56 manpower (Cleaner 21, Ayah &amp; ward boy 22, Guard 7, Volunteer 3, Trolley man 3 ) is supported by the community.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supports 14,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12 , Mayor of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Paurasava</a:t>
            </a:r>
            <a:r>
              <a:rPr lang="en-US" sz="260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4, </a:t>
            </a:r>
            <a:r>
              <a:rPr lang="en-US" sz="2400" dirty="0"/>
              <a:t>,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 17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manpower.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security , cleanliness, renovation of pediatric word and arrange a mayoral conference. </a:t>
            </a:r>
          </a:p>
          <a:p>
            <a:pPr marL="457200" indent="-457200" algn="just">
              <a:buFontTx/>
              <a:buAutoNum type="arabicPeriod"/>
              <a:defRPr/>
            </a:pP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Retired secretary donated a generator, </a:t>
            </a: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donated an inter-com, mayor donated a biochemistry analyzer.</a:t>
            </a: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60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KAIZEN  in </a:t>
            </a:r>
            <a:r>
              <a:rPr lang="en-US" sz="2000" b="1" dirty="0" err="1">
                <a:solidFill>
                  <a:schemeClr val="bg1"/>
                </a:solidFill>
              </a:rPr>
              <a:t>Jhenaidah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Sadar</a:t>
            </a:r>
            <a:r>
              <a:rPr lang="en-US" sz="2000" b="1" dirty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611" y="3807725"/>
            <a:ext cx="4354514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11" y="912125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99" y="912125"/>
            <a:ext cx="4127426" cy="2590800"/>
          </a:xfrm>
        </p:spPr>
      </p:pic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KAIZEN  in </a:t>
            </a:r>
            <a:r>
              <a:rPr lang="en-US" sz="2000" b="1" dirty="0" err="1">
                <a:solidFill>
                  <a:schemeClr val="bg1"/>
                </a:solidFill>
              </a:rPr>
              <a:t>Jhenaidah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Sadar</a:t>
            </a:r>
            <a:r>
              <a:rPr lang="en-US" sz="2000" b="1" dirty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KAIZEN  in </a:t>
            </a:r>
            <a:r>
              <a:rPr lang="en-US" sz="2000" b="1" dirty="0" err="1">
                <a:solidFill>
                  <a:schemeClr val="bg1"/>
                </a:solidFill>
              </a:rPr>
              <a:t>Jhenaidah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Sadar</a:t>
            </a:r>
            <a:r>
              <a:rPr lang="en-US" sz="2000" b="1" dirty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/>
              <a:t>1</a:t>
            </a:r>
            <a:r>
              <a:rPr lang="en-US" sz="2000" b="1" dirty="0"/>
              <a:t>. Active Community Participation 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 Functioning of X-Ray service and Biochemistry investigation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 Security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6. Improved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“Model  ” is replicating in 11 district  and  5  </a:t>
            </a:r>
            <a:r>
              <a:rPr lang="en-US" sz="2000" b="1" dirty="0" err="1"/>
              <a:t>upazilla</a:t>
            </a:r>
            <a:r>
              <a:rPr lang="en-US" sz="2000" b="1" dirty="0"/>
              <a:t>  hospital 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8. The hospital is awarded 7 times from 2013 to 2018.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-6824" y="-152400"/>
            <a:ext cx="9144000" cy="13716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Need to implement health related SDG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by 2030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228600" y="1752599"/>
            <a:ext cx="8458200" cy="46300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800" b="1" dirty="0"/>
          </a:p>
          <a:p>
            <a:pPr marL="0" algn="just">
              <a:defRPr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 In every community clinic 1 M.A</a:t>
            </a:r>
          </a:p>
          <a:p>
            <a:pPr marL="0" algn="just">
              <a:defRPr/>
            </a:pP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10 bedded hospital </a:t>
            </a:r>
            <a:r>
              <a:rPr lang="en-US" sz="2800" b="1">
                <a:solidFill>
                  <a:schemeClr val="tx2">
                    <a:lumMod val="75000"/>
                  </a:schemeClr>
                </a:solidFill>
              </a:rPr>
              <a:t>with 3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doctors</a:t>
            </a:r>
            <a:r>
              <a:rPr lang="en-US" sz="2800" b="1">
                <a:solidFill>
                  <a:schemeClr val="tx2">
                    <a:lumMod val="75000"/>
                  </a:schemeClr>
                </a:solidFill>
              </a:rPr>
              <a:t>, 12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nurses          and paramedics in every union.</a:t>
            </a:r>
          </a:p>
          <a:p>
            <a:pPr marL="0" algn="just">
              <a:defRPr/>
            </a:pP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100 bedded hospital  In every </a:t>
            </a:r>
            <a:r>
              <a:rPr lang="en-US" sz="2800" b="1" dirty="0" err="1">
                <a:solidFill>
                  <a:schemeClr val="tx2">
                    <a:lumMod val="75000"/>
                  </a:schemeClr>
                </a:solidFill>
              </a:rPr>
              <a:t>upazilla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  <a:p>
            <a:pPr marL="0" algn="just">
              <a:defRPr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500 bedded hospital in every district. </a:t>
            </a:r>
          </a:p>
        </p:txBody>
      </p:sp>
    </p:spTree>
    <p:extLst>
      <p:ext uri="{BB962C8B-B14F-4D97-AF65-F5344CB8AC3E}">
        <p14:creationId xmlns:p14="http://schemas.microsoft.com/office/powerpoint/2010/main" val="112686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7994214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3550002642"/>
              </p:ext>
            </p:extLst>
          </p:nvPr>
        </p:nvGraphicFramePr>
        <p:xfrm>
          <a:off x="685800" y="914400"/>
          <a:ext cx="75438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6860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718852784"/>
              </p:ext>
            </p:extLst>
          </p:nvPr>
        </p:nvGraphicFramePr>
        <p:xfrm>
          <a:off x="1295400" y="1219200"/>
          <a:ext cx="7848600" cy="447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03314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733886985"/>
              </p:ext>
            </p:extLst>
          </p:nvPr>
        </p:nvGraphicFramePr>
        <p:xfrm>
          <a:off x="685800" y="1397000"/>
          <a:ext cx="77724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31530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2554110865"/>
              </p:ext>
            </p:extLst>
          </p:nvPr>
        </p:nvGraphicFramePr>
        <p:xfrm>
          <a:off x="762000" y="1397000"/>
          <a:ext cx="7620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7766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5397</TotalTime>
  <Words>598</Words>
  <Application>Microsoft Office PowerPoint</Application>
  <PresentationFormat>On-screen Show (4:3)</PresentationFormat>
  <Paragraphs>194</Paragraphs>
  <Slides>27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Albertus Extra Bold</vt:lpstr>
      <vt:lpstr>Andalus</vt:lpstr>
      <vt:lpstr>Arial</vt:lpstr>
      <vt:lpstr>Book Antiqua</vt:lpstr>
      <vt:lpstr>Calibri</vt:lpstr>
      <vt:lpstr>SutonnyMJ</vt:lpstr>
      <vt:lpstr>Times New Roman</vt:lpstr>
      <vt:lpstr>Office Theme</vt:lpstr>
      <vt:lpstr>Chart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Upazila Health  Complex CHOWGACHA , JESSORE.</vt:lpstr>
      <vt:lpstr>Upazila Health  Complex CHOWGACHA , JESSORE.</vt:lpstr>
      <vt:lpstr>PowerPoint Presentation</vt:lpstr>
      <vt:lpstr>100 kh¨v wewkó m`i nvmcvZvj, wSbvB`n</vt:lpstr>
      <vt:lpstr>Challenges of the hospital in 2012</vt:lpstr>
      <vt:lpstr>PowerPoint Presentation</vt:lpstr>
      <vt:lpstr>Emergency &amp; Out Door, Indoor  Service 1998 to 2017</vt:lpstr>
      <vt:lpstr>3 best performing EmOC Hospital in Khulna division - 2017</vt:lpstr>
      <vt:lpstr>PowerPoint Presentation</vt:lpstr>
      <vt:lpstr>Changes in EOC Ward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Hospital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651</cp:revision>
  <cp:lastPrinted>2017-03-18T23:47:54Z</cp:lastPrinted>
  <dcterms:created xsi:type="dcterms:W3CDTF">2013-05-05T09:56:19Z</dcterms:created>
  <dcterms:modified xsi:type="dcterms:W3CDTF">2022-05-16T06:09:34Z</dcterms:modified>
</cp:coreProperties>
</file>