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302" r:id="rId4"/>
    <p:sldId id="308" r:id="rId5"/>
    <p:sldId id="306" r:id="rId6"/>
    <p:sldId id="307" r:id="rId7"/>
    <p:sldId id="305" r:id="rId8"/>
    <p:sldId id="304" r:id="rId9"/>
    <p:sldId id="303" r:id="rId10"/>
    <p:sldId id="294" r:id="rId11"/>
    <p:sldId id="293" r:id="rId12"/>
    <p:sldId id="309" r:id="rId13"/>
    <p:sldId id="310" r:id="rId14"/>
    <p:sldId id="311" r:id="rId15"/>
    <p:sldId id="292" r:id="rId16"/>
    <p:sldId id="312" r:id="rId17"/>
  </p:sldIdLst>
  <p:sldSz cx="12192000" cy="6858000"/>
  <p:notesSz cx="6858000" cy="9144000"/>
  <p:defaultTextStyle>
    <a:defPPr>
      <a:defRPr lang="b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>
        <p:scale>
          <a:sx n="70" d="100"/>
          <a:sy n="70" d="100"/>
        </p:scale>
        <p:origin x="-660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613BA-5CBB-4EA3-8CBC-1E59003B36CD}" type="datetimeFigureOut">
              <a:rPr lang="bn-BD" smtClean="0"/>
              <a:pPr/>
              <a:t>6/2/1442</a:t>
            </a:fld>
            <a:endParaRPr lang="b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D25B2-9AED-45CA-9ACB-A989C90E76F8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63874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763624-96EC-4CA3-9F73-7F77CD6C0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70AD54B-5956-46FA-B928-F7E61C5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51B1E2-8C7E-467C-95DE-7FC4061DE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9D3525C-D33B-4D11-A00C-D5B911B2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F1A8AC-7E27-46D3-9C03-F17679D4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76473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5EFDDB-D392-4CAB-8418-A08F908E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C1A35F-89C4-4B6F-839E-38639847D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0F1349F-C9CB-4CDA-BC26-202EF8E5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F9C3B1-362A-4705-9228-A4186D64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772BFD-92F2-4D6D-B52C-488DB920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1456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B0F7A3-0C4B-499B-8266-C06ACBEE0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A04C701-47B3-4072-A01A-41D8758CC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BABF66-A382-4073-8A72-640057A8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26759CD-B629-4F14-B98D-025ED5EE4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D6AA933-A641-4A00-9D89-D692016A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507152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CC9F74-FFE8-4615-8F05-C2435D53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BC21B8-C8EB-47BC-8B7E-FCF4592D6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3C1013A-1491-4847-B86D-640017508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2B45EF4-FDA4-4970-872D-0985DA6B9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1AE9907-94DF-4213-9B71-D95BBC83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F91BE51-13AD-492F-AECD-D16A2E56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56667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84647F-42EE-4D96-B5A7-6BED5654C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FF7DE8F-741D-47FD-92A5-776E7DC2F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FE007A9-32CA-4E9C-82A2-228F89C0F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3D7CD6C-785F-4F3C-B790-832796EDA9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F143D39-01A1-4879-AEDB-7D41DF824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6C89407-8925-4A6C-AD8F-49078B15E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B98623E-1A1C-47B5-BECD-CEC47D57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0379383-47C7-44F3-948B-03543C4B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97985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33C80B-59EF-4BF7-BB79-9AB81696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5DACF89-17F7-460B-9B2A-52505602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5C6BA99-AA4D-4ECF-B803-2BBCED65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27CC04D-32DA-434C-930C-59DC0699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02483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2585155-EED5-4A24-BFA9-6E2170AD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34E2BB3-8923-428B-8F3D-FCF24DC3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A738405-A4EA-4E7D-BF75-BE0DD513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55982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BE7CCF-EBC3-4573-8F37-FF0846FD4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FB054B-87D4-417C-9155-8206CEEAF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69BFE00-8F02-475C-B113-22AA93422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F5EC49F-EF39-4FF0-BC79-EB1521748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5B17776-6149-48C4-B55B-BDF3AFFA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99C5250-EDB4-4332-BA35-DE757DFA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04702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47C07A-9618-416B-8F04-877D79CAC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AE7CCC8-8D86-49A0-83CC-9C21082D3A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C858126-3A59-4894-961E-1DA8DEED0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FEC6B36-A409-487F-8418-6C6BBD49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E0B7D46-76AE-4575-A7E0-323A659B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2B57BD-9444-4BEB-AB1B-99E519B2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46242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459755-7741-4A38-BADD-C1492B4BE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A2EBD1B-D9FC-4425-A596-04D32802D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981D8A-53CB-4477-81B7-896B24C0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AD91CB7-F7B2-4362-86A0-6B42B03D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DE326-CCAF-4CB9-8619-3AC3F075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41880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83142B2-9C9B-4318-B670-84F7201FB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BA70A24-AB36-4ABD-A442-6C8EE9C7B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7BC136-35A6-4D44-9E8F-7642E759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A0458A-A299-4E13-9D87-C77CD98FD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12DAFD-46DA-4C3B-A45F-36FE556A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06313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E05C8A7-C0E1-4014-AE93-F6A02D6E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741CE5-A4F1-4683-86C9-B41C8674F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06D3B4-318E-4B23-9CE0-5FDC057E14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C77943-534B-48C5-BD01-849566678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7B81332-5BBE-4A25-8C6D-0DA72D3D0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F7EB4-6AD6-4BC1-BB7F-6406DF9BDD86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942194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CDA1A2E9-63FE-408D-A803-8E306ECAB4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2058" y="450221"/>
            <a:ext cx="11272742" cy="3918123"/>
          </a:xfrm>
          <a:prstGeom prst="rect">
            <a:avLst/>
          </a:prstGeom>
          <a:solidFill>
            <a:srgbClr val="404040">
              <a:alpha val="95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669" y="682388"/>
            <a:ext cx="10011831" cy="305258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 err="1" smtClean="0">
                <a:solidFill>
                  <a:srgbClr val="FFFFFF"/>
                </a:solidFill>
              </a:rPr>
              <a:t>চৌগাছা-ঝিনাইদহ</a:t>
            </a:r>
            <a:r>
              <a:rPr lang="en-US" dirty="0" smtClean="0">
                <a:solidFill>
                  <a:srgbClr val="FFFFFF"/>
                </a:solidFill>
              </a:rPr>
              <a:t> (</a:t>
            </a:r>
            <a:r>
              <a:rPr lang="en-US" dirty="0" err="1" smtClean="0">
                <a:solidFill>
                  <a:srgbClr val="FFFFFF"/>
                </a:solidFill>
              </a:rPr>
              <a:t>সি-জে</a:t>
            </a:r>
            <a:r>
              <a:rPr lang="en-US" dirty="0" smtClean="0">
                <a:solidFill>
                  <a:srgbClr val="FFFFFF"/>
                </a:solidFill>
              </a:rPr>
              <a:t>) </a:t>
            </a:r>
            <a:r>
              <a:rPr lang="en-US" dirty="0" err="1" smtClean="0">
                <a:solidFill>
                  <a:srgbClr val="FFFFFF"/>
                </a:solidFill>
              </a:rPr>
              <a:t>মডেল</a:t>
            </a:r>
            <a:r>
              <a:rPr lang="en-US" dirty="0" smtClean="0">
                <a:solidFill>
                  <a:srgbClr val="FFFFFF"/>
                </a:solidFill>
              </a:rPr>
              <a:t>:</a:t>
            </a:r>
            <a:r>
              <a:rPr lang="en-US" dirty="0">
                <a:solidFill>
                  <a:srgbClr val="FFFFFF"/>
                </a:solidFill>
              </a:rPr>
              <a:t/>
            </a:r>
            <a:br>
              <a:rPr lang="en-US" dirty="0">
                <a:solidFill>
                  <a:srgbClr val="FFFFFF"/>
                </a:solidFill>
              </a:rPr>
            </a:br>
            <a:r>
              <a:rPr lang="bn-IN" dirty="0" smtClean="0">
                <a:solidFill>
                  <a:srgbClr val="FFFFFF"/>
                </a:solidFill>
                <a:latin typeface="SolaimanLipi" pitchFamily="65" charset="0"/>
                <a:cs typeface="SolaimanLipi" pitchFamily="65" charset="0"/>
              </a:rPr>
              <a:t>নেতৃত্ব এবং দলগত ব্যবস্থাপনা</a:t>
            </a:r>
            <a:br>
              <a:rPr lang="bn-IN" dirty="0" smtClean="0">
                <a:solidFill>
                  <a:srgbClr val="FFFFFF"/>
                </a:solidFill>
                <a:latin typeface="SolaimanLipi" pitchFamily="65" charset="0"/>
                <a:cs typeface="SolaimanLipi" pitchFamily="65" charset="0"/>
              </a:rPr>
            </a:br>
            <a:r>
              <a:rPr lang="bn-IN" dirty="0" smtClean="0">
                <a:solidFill>
                  <a:srgbClr val="FFFFFF"/>
                </a:solidFill>
                <a:latin typeface="SolaimanLipi" pitchFamily="65" charset="0"/>
                <a:cs typeface="SolaimanLipi" pitchFamily="65" charset="0"/>
              </a:rPr>
              <a:t>মুজিবনগর ও কোটচাঁদপুর উপজেলা স্বাস্থ্য কমপ্লেক্স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FBE9F90C-C163-435B-9A68-D15C92D1CF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57200" y="4521269"/>
            <a:ext cx="6699246" cy="1877811"/>
          </a:xfrm>
          <a:prstGeom prst="rect">
            <a:avLst/>
          </a:prstGeom>
          <a:solidFill>
            <a:srgbClr val="A5A5A5">
              <a:alpha val="8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616" y="4521270"/>
            <a:ext cx="6699246" cy="18778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solidFill>
                  <a:srgbClr val="1B1B1B"/>
                </a:solidFill>
              </a:rPr>
              <a:t> </a:t>
            </a:r>
            <a:r>
              <a:rPr lang="en-US" sz="3600" b="1" dirty="0" err="1" smtClean="0">
                <a:solidFill>
                  <a:srgbClr val="1B1B1B"/>
                </a:solidFill>
              </a:rPr>
              <a:t>ডা</a:t>
            </a:r>
            <a:r>
              <a:rPr lang="bn-IN" sz="3600" b="1" dirty="0" smtClean="0">
                <a:solidFill>
                  <a:srgbClr val="1B1B1B"/>
                </a:solidFill>
              </a:rPr>
              <a:t>. </a:t>
            </a:r>
            <a:r>
              <a:rPr lang="bn-BD" sz="3600" b="1" dirty="0" smtClean="0">
                <a:solidFill>
                  <a:srgbClr val="1B1B1B"/>
                </a:solidFill>
              </a:rPr>
              <a:t>ম</a:t>
            </a:r>
            <a:r>
              <a:rPr lang="en-US" sz="3600" b="1" dirty="0" smtClean="0">
                <a:solidFill>
                  <a:srgbClr val="1B1B1B"/>
                </a:solidFill>
              </a:rPr>
              <a:t>ো</a:t>
            </a:r>
            <a:r>
              <a:rPr lang="bn-IN" sz="3600" b="1" dirty="0" smtClean="0">
                <a:solidFill>
                  <a:srgbClr val="1B1B1B"/>
                </a:solidFill>
              </a:rPr>
              <a:t>ঃ</a:t>
            </a:r>
            <a:r>
              <a:rPr lang="en-US" sz="3600" b="1" dirty="0" smtClean="0">
                <a:solidFill>
                  <a:srgbClr val="1B1B1B"/>
                </a:solidFill>
              </a:rPr>
              <a:t> </a:t>
            </a:r>
            <a:r>
              <a:rPr lang="bn-IN" sz="3600" b="1" dirty="0" smtClean="0">
                <a:solidFill>
                  <a:srgbClr val="1B1B1B"/>
                </a:solidFill>
              </a:rPr>
              <a:t>শাহাব উদ্দিন</a:t>
            </a:r>
            <a:endParaRPr lang="en-US" sz="3600" b="1" dirty="0">
              <a:solidFill>
                <a:srgbClr val="1B1B1B"/>
              </a:solidFill>
            </a:endParaRPr>
          </a:p>
          <a:p>
            <a:r>
              <a:rPr lang="bn-IN" sz="3200" b="1" dirty="0" smtClean="0">
                <a:solidFill>
                  <a:srgbClr val="1B1B1B"/>
                </a:solidFill>
              </a:rPr>
              <a:t> </a:t>
            </a:r>
            <a:r>
              <a:rPr lang="bn-IN" sz="2600" b="1" dirty="0" smtClean="0">
                <a:solidFill>
                  <a:srgbClr val="1B1B1B"/>
                </a:solidFill>
              </a:rPr>
              <a:t>অনারারি কনসালট্যান্ট,স্বাস্থ্য অধিদপ্তর</a:t>
            </a:r>
            <a:endParaRPr lang="en-US" sz="2600" b="1" dirty="0">
              <a:solidFill>
                <a:srgbClr val="1B1B1B"/>
              </a:solidFill>
            </a:endParaRPr>
          </a:p>
          <a:p>
            <a:r>
              <a:rPr lang="bn-IN" dirty="0" smtClean="0">
                <a:solidFill>
                  <a:srgbClr val="1B1B1B"/>
                </a:solidFill>
              </a:rPr>
              <a:t>উপজেলা স্বাস্থ্য ও পঃ পঃ কর্মকর্তা (অবঃ)</a:t>
            </a:r>
            <a:endParaRPr lang="en-US" b="1" dirty="0">
              <a:solidFill>
                <a:srgbClr val="1B1B1B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7478179" y="4831310"/>
            <a:ext cx="1819434" cy="1717898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1A882A9F-F4E9-4E23-8F0B-20B5DF42EA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619345" y="4521270"/>
            <a:ext cx="2115455" cy="1890204"/>
          </a:xfrm>
          <a:prstGeom prst="rect">
            <a:avLst/>
          </a:prstGeom>
          <a:solidFill>
            <a:srgbClr val="43815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979" y="4681182"/>
            <a:ext cx="1705969" cy="155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14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11" y="900751"/>
            <a:ext cx="11204812" cy="478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776785" y="122830"/>
            <a:ext cx="10515600" cy="707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</a:t>
            </a:r>
            <a:b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                       </a:t>
            </a:r>
            <a:r>
              <a:rPr lang="bn-IN" sz="12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উপজেলা স্বাস্থ্য কমপ্লেক্স, মুজিবনগর</a:t>
            </a:r>
            <a:endParaRPr lang="en-US" sz="120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31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15" y="1155962"/>
            <a:ext cx="105156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29" y="1064525"/>
            <a:ext cx="11607421" cy="38623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৫০ শয্যাবিশিষ্ট হাসপাতাল।</a:t>
            </a:r>
          </a:p>
          <a:p>
            <a:pPr marL="0" indent="0">
              <a:buNone/>
            </a:pP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হাসপাতালের লোকবলঃ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ইউএইচ এফ পিও সহ তিনজন মেডিকেল অফিসার।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৬ জন নার্স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পরিচ্ছন্নকর্মী ৪ জন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আয়া ২ জন</a:t>
            </a:r>
          </a:p>
          <a:p>
            <a:endParaRPr lang="en-US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776785" y="432630"/>
            <a:ext cx="10515600" cy="795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</a:t>
            </a:r>
            <a:b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 txBox="1">
            <a:spLocks/>
          </p:cNvSpPr>
          <p:nvPr/>
        </p:nvSpPr>
        <p:spPr>
          <a:xfrm>
            <a:off x="452650" y="455376"/>
            <a:ext cx="11607421" cy="772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n-IN" sz="24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ভূমিকা</a:t>
            </a:r>
            <a:endParaRPr lang="en-US" sz="24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50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15" y="1155962"/>
            <a:ext cx="105156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1" y="382137"/>
            <a:ext cx="11607421" cy="5302156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সমস্যাঃ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অপরিচ্ছিন্ন পরিবেশ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নিরাপত্তার অভাব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জনবলের অভাব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প্রশাসনিক দূর্বলতা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আর্থিক অব্যবস্থাপনা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বর্জ্য ও পয়ঃনিষ্কাশন অব্যবস্থাপনা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অপর্যাপ্ত বিদ্যুৎ ও পানি সরবরাহ ব্যবস্থা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দূর্বল সেবা ব্যবস্থা</a:t>
            </a:r>
          </a:p>
          <a:p>
            <a:pPr marL="0" indent="0">
              <a:buNone/>
            </a:pPr>
            <a:endParaRPr lang="en-US" sz="24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3993482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15" y="1155962"/>
            <a:ext cx="105156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1" y="532263"/>
            <a:ext cx="11607421" cy="5276232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উদ্যোগঃ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সমন্বয় সাধন- উপজেলা প্রশাসন,আইনশৃঙ্খলা বাহিনী ও জনপ্রতিনিধিদের সাথে মত বিনিময়।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উর্ধতন কর্তৃপক্ষের দৃষ্টি আকর্ষণ।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অসাধু ব্যক্তিবর্গের বিরুদ্ধে আইনগত ব্যবস্থা।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পরিষ্কার পরিচ্ছন্নতার ব্যপারে উদ্যোগ গ্রহণ।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সেবা ব্যবস্থার উন্নয়ন- বিভিন্ন কর্নার চালু করা, টেলিমেডিসিন এবং আল্ট্রাসাউন্ড মেশিন চালু করা।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সৌন্দর্যবর্ধন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গ্যারেজ চালু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পানি ও বিদ্যুৎ সরবরাহের উন্নয়ন</a:t>
            </a:r>
          </a:p>
          <a:p>
            <a:endParaRPr lang="bn-IN" sz="3200" b="1" dirty="0" smtClean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endParaRPr lang="en-US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3817849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15" y="1155962"/>
            <a:ext cx="105156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pic>
        <p:nvPicPr>
          <p:cNvPr id="9" name="Picture 2" descr="C:\Users\user\Desktop\IMG_20160316_094857.jpg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0127" y="958187"/>
            <a:ext cx="4067032" cy="3914064"/>
          </a:xfrm>
          <a:prstGeom prst="rect">
            <a:avLst/>
          </a:prstGeom>
          <a:noFill/>
        </p:spPr>
      </p:pic>
      <p:pic>
        <p:nvPicPr>
          <p:cNvPr id="10" name="Picture 4" descr="I:\Mujibnagar\New folder\IMG_20160316_11022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42745" y="953069"/>
            <a:ext cx="4162567" cy="393283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665" y="1003799"/>
            <a:ext cx="3121818" cy="388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838200" y="176296"/>
            <a:ext cx="10515600" cy="62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n-IN" dirty="0" smtClean="0">
                <a:solidFill>
                  <a:srgbClr val="002060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       হাসপাতালের পূর্বের অপরিচ্ছন্ন পরিবেশ</a:t>
            </a:r>
            <a:endParaRPr lang="en-US" dirty="0">
              <a:solidFill>
                <a:srgbClr val="002060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638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677" y="350745"/>
            <a:ext cx="10515600" cy="7954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     হাসপাতালের উন্নত পরিবেশের চিত্র</a:t>
            </a: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pic>
        <p:nvPicPr>
          <p:cNvPr id="10" name="Picture 2" descr="I:\Mujibnagar\New folder\20160624_183504.jpg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 b="32497"/>
          <a:stretch>
            <a:fillRect/>
          </a:stretch>
        </p:blipFill>
        <p:spPr bwMode="auto">
          <a:xfrm>
            <a:off x="469711" y="1188081"/>
            <a:ext cx="3665561" cy="3970774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1197404" y="5250555"/>
            <a:ext cx="27671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/>
              <a:t>কনফারেন্স</a:t>
            </a:r>
            <a:r>
              <a:rPr lang="en-US" sz="2800" b="1" dirty="0"/>
              <a:t> </a:t>
            </a:r>
            <a:r>
              <a:rPr lang="en-US" sz="2800" b="1" dirty="0" err="1"/>
              <a:t>রুম</a:t>
            </a:r>
            <a:endParaRPr lang="en-US" sz="2800" b="1" dirty="0"/>
          </a:p>
        </p:txBody>
      </p:sp>
      <p:pic>
        <p:nvPicPr>
          <p:cNvPr id="12" name="Picture 2" descr="I:\Mujibnagar\New folder\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00098" y="1165180"/>
            <a:ext cx="3988559" cy="41035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2" descr="C:\Users\User\Downloads\13308207_619893294825025_4862883499342364212_o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394511" y="1165180"/>
            <a:ext cx="3581400" cy="41035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10"/>
          <p:cNvSpPr/>
          <p:nvPr/>
        </p:nvSpPr>
        <p:spPr>
          <a:xfrm>
            <a:off x="4871546" y="5404443"/>
            <a:ext cx="6428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dirty="0" smtClean="0"/>
              <a:t>                      </a:t>
            </a:r>
            <a:r>
              <a:rPr lang="en-US" sz="2800" b="1" dirty="0" err="1" smtClean="0"/>
              <a:t>আল্ট্রাসনো</a:t>
            </a:r>
            <a:r>
              <a:rPr lang="en-US" sz="2800" b="1" dirty="0" smtClean="0"/>
              <a:t> </a:t>
            </a:r>
            <a:r>
              <a:rPr lang="en-US" sz="2800" b="1" dirty="0"/>
              <a:t>ও </a:t>
            </a:r>
            <a:r>
              <a:rPr lang="en-US" sz="2800" b="1" dirty="0" err="1"/>
              <a:t>টেলিমেডিসিন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251629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15" y="1155962"/>
            <a:ext cx="105156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545495" y="146028"/>
            <a:ext cx="10515600" cy="795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     হাসপাতালের উন্নত পরিবেশের চিত্র</a:t>
            </a:r>
            <a:endParaRPr lang="en-US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11" name="Picture 2" descr="I:\Mujibnagar\New folder\20160405_111634.jpg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843" y="941451"/>
            <a:ext cx="3630304" cy="4094574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654677" y="5236907"/>
            <a:ext cx="32758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/>
              <a:t>পরিষ্কার</a:t>
            </a:r>
            <a:r>
              <a:rPr lang="en-US" sz="2800" b="1" dirty="0"/>
              <a:t> </a:t>
            </a:r>
            <a:r>
              <a:rPr lang="en-US" sz="2800" b="1" dirty="0" err="1"/>
              <a:t>করা</a:t>
            </a:r>
            <a:r>
              <a:rPr lang="en-US" sz="2800" b="1" dirty="0"/>
              <a:t> </a:t>
            </a:r>
            <a:r>
              <a:rPr lang="en-US" sz="2800" b="1" dirty="0" err="1"/>
              <a:t>হচ্ছে</a:t>
            </a:r>
            <a:endParaRPr lang="en-US" sz="2800" b="1" dirty="0"/>
          </a:p>
        </p:txBody>
      </p:sp>
      <p:pic>
        <p:nvPicPr>
          <p:cNvPr id="13" name="Picture 3" descr="C:\Users\User\Desktop\ডাঃ শাহাবউদ্দিন\FB_IMG_1547368523671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094329" y="906240"/>
            <a:ext cx="4053384" cy="4157079"/>
          </a:xfrm>
          <a:prstGeom prst="rect">
            <a:avLst/>
          </a:prstGeom>
          <a:noFill/>
        </p:spPr>
      </p:pic>
      <p:sp>
        <p:nvSpPr>
          <p:cNvPr id="14" name="Rectangle 13"/>
          <p:cNvSpPr/>
          <p:nvPr/>
        </p:nvSpPr>
        <p:spPr>
          <a:xfrm>
            <a:off x="4763068" y="5250414"/>
            <a:ext cx="33368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7030A0"/>
                </a:solidFill>
              </a:rPr>
              <a:t>বৃক্ষরোপন</a:t>
            </a:r>
            <a:endParaRPr lang="en-US" sz="3200" b="1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2429" y="867075"/>
            <a:ext cx="3732661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1225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15" y="1155962"/>
            <a:ext cx="105156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pic>
        <p:nvPicPr>
          <p:cNvPr id="10" name="Content Placeholder 6" descr="IMG_20160829_144042.jpg"/>
          <p:cNvPicPr>
            <a:picLocks noGrp="1" noChangeAspect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1113047" y="1037231"/>
            <a:ext cx="10126638" cy="4148918"/>
          </a:xfr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776785" y="122830"/>
            <a:ext cx="10515600" cy="707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</a:t>
            </a:r>
            <a:b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                  </a:t>
            </a:r>
            <a:r>
              <a:rPr lang="bn-IN" sz="12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উপজেলা স্বাস্থ্য কমপ্লেক্স, কোটচাঁদপুর </a:t>
            </a:r>
            <a:endParaRPr lang="en-US" sz="120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847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96"/>
            <a:ext cx="10515600" cy="7954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n-IN" sz="4800" dirty="0" smtClean="0">
                <a:solidFill>
                  <a:srgbClr val="002060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ভূমিকা</a:t>
            </a:r>
            <a:endParaRPr lang="en-US" sz="4800" dirty="0">
              <a:solidFill>
                <a:srgbClr val="002060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1" y="971718"/>
            <a:ext cx="11607421" cy="47125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bn-IN" sz="4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৫০ শয্যাবিশিষ্ট হাসপাতাল</a:t>
            </a:r>
          </a:p>
          <a:p>
            <a:pPr marL="0" indent="0">
              <a:buNone/>
            </a:pPr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হাসপাতালের লোকবলঃ</a:t>
            </a:r>
          </a:p>
          <a:p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ইউএইচ এফ পিও সহ </a:t>
            </a:r>
            <a:r>
              <a:rPr lang="bn-IN" sz="4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৫ জন </a:t>
            </a:r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মেডিকেল অফিসার।</a:t>
            </a:r>
          </a:p>
          <a:p>
            <a:r>
              <a:rPr lang="bn-IN" sz="4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১২ </a:t>
            </a:r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জন নার্স</a:t>
            </a:r>
          </a:p>
          <a:p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পরিচ্ছন্নকর্মী </a:t>
            </a:r>
            <a:r>
              <a:rPr lang="bn-IN" sz="4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২ </a:t>
            </a:r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জন</a:t>
            </a:r>
          </a:p>
          <a:p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আয়া ২ জন</a:t>
            </a:r>
          </a:p>
          <a:p>
            <a:pPr marL="0" indent="0">
              <a:buNone/>
            </a:pPr>
            <a:endParaRPr lang="bn-IN" sz="2000" b="1" dirty="0" smtClean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endParaRPr lang="en-US" sz="20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157E6F12-B8AF-4F30-8145-9B807419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1506085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1" y="313900"/>
            <a:ext cx="11607421" cy="5370394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bn-IN" sz="3600" b="1" dirty="0" smtClean="0">
                <a:solidFill>
                  <a:schemeClr val="tx2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            </a:t>
            </a:r>
            <a:r>
              <a:rPr lang="bn-IN" sz="4800" b="1" dirty="0" smtClean="0">
                <a:solidFill>
                  <a:schemeClr val="tx2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সমস্যাসমূহ</a:t>
            </a:r>
            <a:endParaRPr lang="bn-IN" sz="4800" b="1" dirty="0">
              <a:solidFill>
                <a:schemeClr val="tx2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অপরিচ্ছিন্ন পরিবেশ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নিরাপত্তার অভাব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জনবলের অভাব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প্রশাসনিক </a:t>
            </a:r>
            <a:r>
              <a:rPr lang="bn-IN" sz="36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দূর্বলতা</a:t>
            </a:r>
          </a:p>
          <a:p>
            <a:r>
              <a:rPr lang="bn-IN" sz="36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পথ্য </a:t>
            </a:r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অব্যবস্থাপনা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বর্জ্য ও পয়ঃনিষ্কাশন অব্যবস্থাপনা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অপর্যাপ্ত বিদ্যুৎ ও পানি সরবরাহ ব্যবস্থা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দূর্বল সেবা ব্যবস্থা</a:t>
            </a:r>
          </a:p>
          <a:p>
            <a:endParaRPr lang="en-US" sz="20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157E6F12-B8AF-4F30-8145-9B807419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1412544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552" y="109182"/>
            <a:ext cx="10515600" cy="58275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bn-IN" sz="3200" b="1" dirty="0" smtClean="0">
                <a:solidFill>
                  <a:schemeClr val="tx2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         </a:t>
            </a:r>
            <a:r>
              <a:rPr lang="bn-IN" sz="4400" b="1" dirty="0" smtClean="0">
                <a:solidFill>
                  <a:schemeClr val="tx2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উদ্যোগ</a:t>
            </a:r>
            <a:endParaRPr lang="bn-IN" sz="4400" b="1" dirty="0">
              <a:solidFill>
                <a:schemeClr val="tx2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সমন্বয় সাধন- উপজেলা প্রশাসন,আইনশৃঙ্খলা বাহিনী ও জনপ্রতিনিধিদের সাথে মত বিনিময়।</a:t>
            </a: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উর্ধতন কর্তৃপক্ষের দৃষ্টি আকর্ষণ।</a:t>
            </a: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অসাধু ব্যক্তিবর্গের বিরুদ্ধে আইনগত ব্যবস্থা</a:t>
            </a: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ক্যাম্পাসে বাগান লীজ দেওয়া বন্ধ।</a:t>
            </a:r>
            <a:endParaRPr lang="bn-IN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পরিষ্কার পরিচ্ছন্নতার ব্যপারে উদ্যোগ গ্রহণ।</a:t>
            </a: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সেবা ব্যবস্থার উন্নয়ন- বিভিন্ন কর্নার চালু করা, </a:t>
            </a: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সিসি ক্যামেরা,ইন্টারকম পদ্ধতি, ডিজিটাল স্বাস্থ্য শিক্ষা ব্যবস্থা  এবং আল্ট্রাসাউন্ড মেশিন চালু </a:t>
            </a:r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করা।</a:t>
            </a: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সৌন্দর্যবর্ধন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গ্যারেজ ও স্টোর  উন্নতিকরণ।</a:t>
            </a:r>
            <a:endParaRPr lang="bn-IN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পানি ও বিদ্যুৎ সরবরাহের </a:t>
            </a: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উন্নয়ন, জেনারেটর এর ব্যবস্থা।</a:t>
            </a:r>
            <a:endParaRPr lang="bn-IN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 smtClean="0"/>
              <a:t>সিজে জনসম্পৃক্ত স্বাস্থ্য ব্যবস্থাপনা মডেল সম্প্রসারণ</a:t>
            </a:r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152303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81286"/>
          </a:xfrm>
        </p:spPr>
        <p:txBody>
          <a:bodyPr>
            <a:normAutofit/>
          </a:bodyPr>
          <a:lstStyle/>
          <a:p>
            <a:r>
              <a:rPr lang="bn-IN" dirty="0" smtClean="0">
                <a:solidFill>
                  <a:srgbClr val="002060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      হাসপাতালের পূর্বের ও বর্তমান পরিবেশ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 smtClean="0"/>
              <a:t>সিজে জনসম্পৃক্ত স্বাস্থ্য ব্যবস্থাপনা মডেল সম্প্রসারণ</a:t>
            </a:r>
            <a:endParaRPr lang="bn-BD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542" y="699805"/>
            <a:ext cx="5159323" cy="29850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Rectangle 6"/>
          <p:cNvSpPr/>
          <p:nvPr/>
        </p:nvSpPr>
        <p:spPr>
          <a:xfrm>
            <a:off x="4200846" y="2002388"/>
            <a:ext cx="35101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bn-IN" sz="36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BD" sz="36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ষ্টোর</a:t>
            </a:r>
            <a:endParaRPr lang="en-US" sz="3600" b="1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pic>
        <p:nvPicPr>
          <p:cNvPr id="9" name="Picture 2" descr="D:\Picture 1\Jubaeir vai\20170225_10380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78221" y="699447"/>
            <a:ext cx="4988257" cy="29127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pic>
        <p:nvPicPr>
          <p:cNvPr id="10" name="Content Placeholder 4" descr="20160905_081236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2400" y="3821372"/>
            <a:ext cx="5129284" cy="2879679"/>
          </a:xfrm>
          <a:prstGeom prst="rect">
            <a:avLst/>
          </a:prstGeom>
        </p:spPr>
      </p:pic>
      <p:pic>
        <p:nvPicPr>
          <p:cNvPr id="12" name="Content Placeholder 6" descr="20170205_120618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87884" y="3880543"/>
            <a:ext cx="4980952" cy="282050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246230" y="4201066"/>
            <a:ext cx="14193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bn-IN" sz="36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ক্যা</a:t>
            </a:r>
          </a:p>
          <a:p>
            <a:pPr lvl="0" algn="ctr">
              <a:spcBef>
                <a:spcPct val="0"/>
              </a:spcBef>
              <a:defRPr/>
            </a:pPr>
            <a:r>
              <a:rPr lang="bn-IN" sz="36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ম্পা</a:t>
            </a:r>
          </a:p>
          <a:p>
            <a:pPr lvl="0" algn="ctr">
              <a:spcBef>
                <a:spcPct val="0"/>
              </a:spcBef>
              <a:defRPr/>
            </a:pPr>
            <a:r>
              <a:rPr lang="bn-IN" sz="36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</a:t>
            </a:r>
            <a:endParaRPr lang="en-US" sz="3600" b="1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69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 smtClean="0"/>
              <a:t>সিজে জনসম্পৃক্ত স্বাস্থ্য ব্যবস্থাপনা মডেল সম্প্রসারণ</a:t>
            </a:r>
            <a:endParaRPr lang="bn-BD"/>
          </a:p>
        </p:txBody>
      </p:sp>
      <p:pic>
        <p:nvPicPr>
          <p:cNvPr id="6" name="Content Placeholder 6" descr="20160905_08134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1069" y="226007"/>
            <a:ext cx="4904430" cy="2858388"/>
          </a:xfrm>
        </p:spPr>
      </p:pic>
      <p:sp>
        <p:nvSpPr>
          <p:cNvPr id="7" name="Rectangle 6"/>
          <p:cNvSpPr/>
          <p:nvPr/>
        </p:nvSpPr>
        <p:spPr>
          <a:xfrm>
            <a:off x="5095499" y="1002268"/>
            <a:ext cx="16055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BD" sz="2800" dirty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পিছনভাগ</a:t>
            </a:r>
            <a:endParaRPr lang="en-US" sz="2800" dirty="0"/>
          </a:p>
        </p:txBody>
      </p:sp>
      <p:pic>
        <p:nvPicPr>
          <p:cNvPr id="8" name="Content Placeholder 7" descr="IMG_20170219_09561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50925" y="164910"/>
            <a:ext cx="5254388" cy="2946780"/>
          </a:xfrm>
          <a:prstGeom prst="rect">
            <a:avLst/>
          </a:prstGeom>
        </p:spPr>
      </p:pic>
      <p:pic>
        <p:nvPicPr>
          <p:cNvPr id="9" name="Content Placeholder 9" descr="IMG_20151207_105537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1069" y="3295936"/>
            <a:ext cx="4904430" cy="33982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/>
          <p:cNvSpPr/>
          <p:nvPr/>
        </p:nvSpPr>
        <p:spPr>
          <a:xfrm>
            <a:off x="5243630" y="4186029"/>
            <a:ext cx="10343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অভ্যন্তর</a:t>
            </a:r>
            <a:endParaRPr lang="en-US" sz="2400" dirty="0">
              <a:latin typeface="SolaimanLipi" pitchFamily="65" charset="0"/>
              <a:cs typeface="SolaimanLipi" pitchFamily="65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 cstate="print"/>
          <a:srcRect l="9434" b="9732"/>
          <a:stretch>
            <a:fillRect/>
          </a:stretch>
        </p:blipFill>
        <p:spPr bwMode="auto">
          <a:xfrm>
            <a:off x="6550925" y="3226914"/>
            <a:ext cx="5254388" cy="34673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38618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808496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68FC890-4A79-4D14-A4C5-0C7AB238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157E6F12-B8AF-4F30-8145-9B807419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pic>
        <p:nvPicPr>
          <p:cNvPr id="8" name="Picture 3" descr="I:\Mujibnagar\New folder\20160404_175125.jpg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09825" y="986026"/>
            <a:ext cx="5607130" cy="47132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07852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 smtClean="0"/>
              <a:t>সিজে জনসম্পৃক্ত স্বাস্থ্য ব্যবস্থাপনা মডেল সম্প্রসারণ</a:t>
            </a:r>
            <a:endParaRPr lang="bn-BD"/>
          </a:p>
        </p:txBody>
      </p:sp>
      <p:pic>
        <p:nvPicPr>
          <p:cNvPr id="1026" name="Picture 2" descr="Image result for thanks picture ro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343" y="327546"/>
            <a:ext cx="10208526" cy="5540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25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383</Words>
  <Application>Microsoft Office PowerPoint</Application>
  <PresentationFormat>Custom</PresentationFormat>
  <Paragraphs>93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চৌগাছা-ঝিনাইদহ (সি-জে) মডেল: নেতৃত্ব এবং দলগত ব্যবস্থাপনা মুজিবনগর ও কোটচাঁদপুর উপজেলা স্বাস্থ্য কমপ্লেক্স</vt:lpstr>
      <vt:lpstr>PowerPoint Presentation</vt:lpstr>
      <vt:lpstr> </vt:lpstr>
      <vt:lpstr> </vt:lpstr>
      <vt:lpstr> </vt:lpstr>
      <vt:lpstr> </vt:lpstr>
      <vt:lpstr>       হাসপাতালের উন্নত পরিবেশের চিত্র</vt:lpstr>
      <vt:lpstr> </vt:lpstr>
      <vt:lpstr> </vt:lpstr>
      <vt:lpstr>                      ভূমিকা</vt:lpstr>
      <vt:lpstr>PowerPoint Presentation</vt:lpstr>
      <vt:lpstr>PowerPoint Presentation</vt:lpstr>
      <vt:lpstr>       হাসপাতালের পূর্বের ও বর্তমান পরিবেশ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চৌগাছা-ঝিনাইদহ (সি-জে) জনসম্পৃক্ত স্বাস্থ্য ব্যবস্থাপনা মডেল সম্প্রসারণ খসড়া জাতীয় কর্মকৌশল ২০১৯-২০২২</dc:title>
  <dc:creator>Prof. Be-nazir Ahmed</dc:creator>
  <cp:lastModifiedBy>Emdad</cp:lastModifiedBy>
  <cp:revision>35</cp:revision>
  <dcterms:created xsi:type="dcterms:W3CDTF">2019-01-12T10:53:49Z</dcterms:created>
  <dcterms:modified xsi:type="dcterms:W3CDTF">2020-09-23T01:59:51Z</dcterms:modified>
</cp:coreProperties>
</file>