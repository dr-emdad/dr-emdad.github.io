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46"/>
  </p:notesMasterIdLst>
  <p:sldIdLst>
    <p:sldId id="331" r:id="rId3"/>
    <p:sldId id="345" r:id="rId4"/>
    <p:sldId id="332" r:id="rId5"/>
    <p:sldId id="334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256" r:id="rId14"/>
    <p:sldId id="360" r:id="rId15"/>
    <p:sldId id="361" r:id="rId16"/>
    <p:sldId id="359" r:id="rId17"/>
    <p:sldId id="326" r:id="rId18"/>
    <p:sldId id="327" r:id="rId19"/>
    <p:sldId id="328" r:id="rId20"/>
    <p:sldId id="352" r:id="rId21"/>
    <p:sldId id="351" r:id="rId22"/>
    <p:sldId id="346" r:id="rId23"/>
    <p:sldId id="362" r:id="rId24"/>
    <p:sldId id="287" r:id="rId25"/>
    <p:sldId id="288" r:id="rId26"/>
    <p:sldId id="290" r:id="rId27"/>
    <p:sldId id="291" r:id="rId28"/>
    <p:sldId id="292" r:id="rId29"/>
    <p:sldId id="297" r:id="rId30"/>
    <p:sldId id="308" r:id="rId31"/>
    <p:sldId id="323" r:id="rId32"/>
    <p:sldId id="312" r:id="rId33"/>
    <p:sldId id="313" r:id="rId34"/>
    <p:sldId id="316" r:id="rId35"/>
    <p:sldId id="363" r:id="rId36"/>
    <p:sldId id="364" r:id="rId37"/>
    <p:sldId id="293" r:id="rId38"/>
    <p:sldId id="294" r:id="rId39"/>
    <p:sldId id="330" r:id="rId40"/>
    <p:sldId id="353" r:id="rId41"/>
    <p:sldId id="354" r:id="rId42"/>
    <p:sldId id="356" r:id="rId43"/>
    <p:sldId id="355" r:id="rId44"/>
    <p:sldId id="344" r:id="rId4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1" autoAdjust="0"/>
    <p:restoredTop sz="91818" autoAdjust="0"/>
  </p:normalViewPr>
  <p:slideViewPr>
    <p:cSldViewPr>
      <p:cViewPr varScale="1">
        <p:scale>
          <a:sx n="79" d="100"/>
          <a:sy n="79" d="100"/>
        </p:scale>
        <p:origin x="-40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879168"/>
        <c:axId val="225880704"/>
      </c:barChart>
      <c:catAx>
        <c:axId val="225879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5880704"/>
        <c:crosses val="autoZero"/>
        <c:auto val="1"/>
        <c:lblAlgn val="ctr"/>
        <c:lblOffset val="100"/>
        <c:noMultiLvlLbl val="0"/>
      </c:catAx>
      <c:valAx>
        <c:axId val="2258807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58791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3460480"/>
        <c:axId val="213462016"/>
      </c:barChart>
      <c:catAx>
        <c:axId val="2134604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3462016"/>
        <c:crosses val="autoZero"/>
        <c:auto val="1"/>
        <c:lblAlgn val="ctr"/>
        <c:lblOffset val="100"/>
        <c:noMultiLvlLbl val="0"/>
      </c:catAx>
      <c:valAx>
        <c:axId val="2134620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34604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cene3d>
                <a:camera prst="orthographicFront"/>
                <a:lightRig rig="threePt" dir="t">
                  <a:rot lat="0" lon="0" rev="1200000"/>
                </a:lightRig>
              </a:scene3d>
              <a:sp3d>
                <a:bevelT w="0" h="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14010112"/>
        <c:axId val="214073728"/>
        <c:axId val="0"/>
      </c:bar3DChart>
      <c:catAx>
        <c:axId val="21401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4073728"/>
        <c:crosses val="autoZero"/>
        <c:auto val="1"/>
        <c:lblAlgn val="ctr"/>
        <c:lblOffset val="100"/>
        <c:noMultiLvlLbl val="0"/>
      </c:catAx>
      <c:valAx>
        <c:axId val="2140737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4010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0605440"/>
        <c:axId val="220672768"/>
      </c:barChart>
      <c:catAx>
        <c:axId val="220605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0672768"/>
        <c:crosses val="autoZero"/>
        <c:auto val="1"/>
        <c:lblAlgn val="ctr"/>
        <c:lblOffset val="100"/>
        <c:noMultiLvlLbl val="0"/>
      </c:catAx>
      <c:valAx>
        <c:axId val="2206727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060544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13328</c:v>
                </c:pt>
                <c:pt idx="1">
                  <c:v>12178</c:v>
                </c:pt>
                <c:pt idx="2">
                  <c:v>5192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2"/>
              <c:layout>
                <c:manualLayout>
                  <c:x val="3.0864197530864196E-3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1016</c:v>
                </c:pt>
                <c:pt idx="1">
                  <c:v>1259</c:v>
                </c:pt>
                <c:pt idx="2">
                  <c:v>1086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3.0864197530863632E-3"/>
                  <c:y val="-3.9284457252522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1900</c:v>
                </c:pt>
                <c:pt idx="1">
                  <c:v>1528</c:v>
                </c:pt>
                <c:pt idx="2">
                  <c:v>1369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2936</c:v>
                </c:pt>
                <c:pt idx="1">
                  <c:v>2816</c:v>
                </c:pt>
                <c:pt idx="2">
                  <c:v>2486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8423168"/>
        <c:axId val="228424704"/>
      </c:barChart>
      <c:catAx>
        <c:axId val="22842316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8424704"/>
        <c:crosses val="autoZero"/>
        <c:auto val="1"/>
        <c:lblAlgn val="ctr"/>
        <c:lblOffset val="100"/>
        <c:noMultiLvlLbl val="0"/>
      </c:catAx>
      <c:valAx>
        <c:axId val="228424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84231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7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4010,380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102E-2"/>
                  <c:y val="-2.8735632183908049E-2"/>
                </c:manualLayout>
              </c:layout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5934,815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b="1" dirty="0" smtClean="0">
                        <a:solidFill>
                          <a:srgbClr val="0070C0"/>
                        </a:solidFill>
                      </a:rPr>
                      <a:t>7372,970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rgbClr val="0070C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4205952"/>
        <c:axId val="234207488"/>
        <c:axId val="0"/>
      </c:bar3DChart>
      <c:catAx>
        <c:axId val="234205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4207488"/>
        <c:crosses val="autoZero"/>
        <c:auto val="1"/>
        <c:lblAlgn val="ctr"/>
        <c:lblOffset val="100"/>
        <c:noMultiLvlLbl val="0"/>
      </c:catAx>
      <c:valAx>
        <c:axId val="23420748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4205952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5/22/2017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38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5/22/2017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2017/5/22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7.jpeg"/><Relationship Id="rId4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4000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</p:txBody>
      </p:sp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solidFill>
            <a:srgbClr val="0070C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55124286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2016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10722472"/>
              </p:ext>
            </p:extLst>
          </p:nvPr>
        </p:nvGraphicFramePr>
        <p:xfrm>
          <a:off x="805076" y="2057400"/>
          <a:ext cx="75438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37047501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2016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832109"/>
              </p:ext>
            </p:extLst>
          </p:nvPr>
        </p:nvGraphicFramePr>
        <p:xfrm>
          <a:off x="508000" y="1655763"/>
          <a:ext cx="8124825" cy="4414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87483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2016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- 2016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8017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162"/>
            <a:ext cx="8310349" cy="1265237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in Jhenaidah Sadar Hospital in last three F-years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96322"/>
              </p:ext>
            </p:extLst>
          </p:nvPr>
        </p:nvGraphicFramePr>
        <p:xfrm>
          <a:off x="762000" y="2209800"/>
          <a:ext cx="76962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dirty="0">
                <a:solidFill>
                  <a:schemeClr val="bg1"/>
                </a:solidFill>
              </a:rPr>
              <a:t>I</a:t>
            </a:r>
            <a:r>
              <a:rPr lang="en-US" sz="2800" dirty="0" smtClean="0">
                <a:solidFill>
                  <a:schemeClr val="bg1"/>
                </a:solidFill>
              </a:rPr>
              <a:t>nternal </a:t>
            </a:r>
            <a:r>
              <a:rPr lang="en-US" sz="2800" dirty="0">
                <a:solidFill>
                  <a:schemeClr val="bg1"/>
                </a:solidFill>
              </a:rPr>
              <a:t>E</a:t>
            </a:r>
            <a:r>
              <a:rPr lang="en-US" sz="2800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3886200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89375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4664075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QIC meeting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38862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Monthly meeting schedule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5299" name="Picture 2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788" y="906463"/>
            <a:ext cx="3802062" cy="2743200"/>
          </a:xfrm>
        </p:spPr>
      </p:pic>
      <p:pic>
        <p:nvPicPr>
          <p:cNvPr id="55300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863" y="914400"/>
            <a:ext cx="3971925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733800"/>
            <a:ext cx="8001000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4284663" y="947738"/>
            <a:ext cx="3656012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C7E17"/>
                </a:solidFill>
                <a:latin typeface="+mj-lt"/>
              </a:rPr>
              <a:t>Community donated intercom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11188" y="3962400"/>
            <a:ext cx="36560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Community Supported Manpower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28600" y="304800"/>
            <a:ext cx="8613775" cy="65881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3600" dirty="0" smtClean="0"/>
              <a:t>Innovative activities from February to May’17 - 1 </a:t>
            </a:r>
            <a:endParaRPr lang="en-GB" sz="3600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1" y="3886200"/>
            <a:ext cx="4040188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29" y="1219200"/>
            <a:ext cx="4127426" cy="25146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5" y="1219200"/>
            <a:ext cx="4038599" cy="2514268"/>
          </a:xfrm>
          <a:prstGeom prst="rect">
            <a:avLst/>
          </a:prstGeo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28" y="3886200"/>
            <a:ext cx="4154047" cy="259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71" y="3810000"/>
            <a:ext cx="3961830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9" y="990600"/>
            <a:ext cx="4041411" cy="2590800"/>
          </a:xfrm>
          <a:prstGeom prst="rect">
            <a:avLst/>
          </a:prstGeo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10000"/>
            <a:ext cx="4041606" cy="251459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9458" y="228600"/>
            <a:ext cx="8472831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dirty="0"/>
              <a:t>Innovative activities from February to May’17 </a:t>
            </a:r>
            <a:r>
              <a:rPr lang="en-US" sz="3200" dirty="0" smtClean="0"/>
              <a:t> - </a:t>
            </a:r>
            <a:r>
              <a:rPr lang="en-US" sz="3200" dirty="0"/>
              <a:t>2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798888"/>
            <a:ext cx="4403725" cy="3032125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684213"/>
            <a:ext cx="4464050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10000"/>
            <a:ext cx="43434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by local initiatives (Social welfare and health partner ship).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awarded 4 times from 2013 to 2016. Stood first award by 5S-KAIZEN-TQM among the 100 bedded district hospitals by defeating </a:t>
            </a:r>
            <a:r>
              <a:rPr lang="en-US" b="1" dirty="0" err="1"/>
              <a:t>Norsingdi</a:t>
            </a:r>
            <a:r>
              <a:rPr lang="en-US" b="1" dirty="0"/>
              <a:t> 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 within Two Month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9006"/>
            <a:ext cx="9144000" cy="55626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Health education in three places with community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Established NCD corner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Arrangement of effective pediatric </a:t>
            </a:r>
            <a:r>
              <a:rPr lang="en-US" dirty="0"/>
              <a:t>o</a:t>
            </a:r>
            <a:r>
              <a:rPr lang="en-US" dirty="0" smtClean="0"/>
              <a:t>utdoor.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Digital disease profiling  system in every word.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24 hours EOC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Effective post-natal care.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construction work of 250 bedded </a:t>
            </a:r>
            <a:r>
              <a:rPr lang="en-US" dirty="0" smtClean="0"/>
              <a:t>has started.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624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Improved infection control system.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Emergency use of ECG, pulse-</a:t>
            </a:r>
            <a:r>
              <a:rPr lang="en-US" dirty="0" err="1"/>
              <a:t>oximeter</a:t>
            </a:r>
            <a:r>
              <a:rPr lang="en-US" dirty="0"/>
              <a:t>, glucometer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Everyday ultrasonography service.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Arrangement of effective training of MA by creating adaptable environment.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representative control system.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gate-pass system to control visitor.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Removal of unnecessary bill boards and improved beautification.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 within Two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Post of consultants of eye, cardiology, surgery, anesthesia should be fulfilled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repairing and maintenance of hospital building authority should be shifted from HED to PWD.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Oxygen plant should be repaired immediately and a manpower should be engaged.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Separation of words where the number of consultants is more than 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Condemnation of unwanted items should be done immediately.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campus should be cleaned.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Medical technologist lab should be appointed immediately in blood bank.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Problems of The Hospital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4864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Display of health, Nutrition and population targets for the 7</a:t>
            </a:r>
            <a:r>
              <a:rPr lang="en-US" baseline="30000" dirty="0" smtClean="0"/>
              <a:t>th</a:t>
            </a:r>
            <a:r>
              <a:rPr lang="en-US" dirty="0" smtClean="0"/>
              <a:t> FYP.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Arrangement of a new ambulance.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Cleanliness of whole campus.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Improve </a:t>
            </a:r>
            <a:r>
              <a:rPr lang="en-US" dirty="0"/>
              <a:t>Patient Monitoring System by recording Pulse BP and temperature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Reform the duty rooster of internee(MA).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Future Plan </a:t>
            </a:r>
            <a:r>
              <a:rPr lang="en-US" smtClean="0"/>
              <a:t>for April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6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54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60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2485</TotalTime>
  <Words>1407</Words>
  <Application>Microsoft Office PowerPoint</Application>
  <PresentationFormat>On-screen Show (4:3)</PresentationFormat>
  <Paragraphs>399</Paragraphs>
  <Slides>43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5_シック</vt:lpstr>
      <vt:lpstr>Office Theme</vt:lpstr>
      <vt:lpstr>Chart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MDG 4 and 5 Achieved at Chowgacha in 2009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2015</vt:lpstr>
      <vt:lpstr>Operation Service (Major) 2011 to 2016</vt:lpstr>
      <vt:lpstr>PowerPoint Presentation</vt:lpstr>
      <vt:lpstr>3 best performing EmOC Hospital in Khulna division - 2016</vt:lpstr>
      <vt:lpstr>  Comparative data of revenue income (in Taka) in Jhenaidah Sadar Hospital in last three F-years </vt:lpstr>
      <vt:lpstr>PowerPoint Presentation</vt:lpstr>
      <vt:lpstr>Changes in EOC Ward</vt:lpstr>
      <vt:lpstr>Changes in Surgery Ward</vt:lpstr>
      <vt:lpstr>Changes in Gardens of The Hospital</vt:lpstr>
      <vt:lpstr>PowerPoint Presentation</vt:lpstr>
      <vt:lpstr>Changes in Office and Hospital Internal Environment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Innovative activities of Jhenaidah Sadar Hospital Page: 1</vt:lpstr>
      <vt:lpstr>Innovative activities of Jhenaidah Sadar Hospital Page: 2 </vt:lpstr>
      <vt:lpstr>Innovative activities of Jhenaidah Sadar Hospital Page: 3</vt:lpstr>
      <vt:lpstr>Innovative activities from February to May’17 - 1 </vt:lpstr>
      <vt:lpstr>PowerPoint Presentation</vt:lpstr>
      <vt:lpstr>PowerPoint Presentation</vt:lpstr>
      <vt:lpstr>Hospital Environment</vt:lpstr>
      <vt:lpstr>PowerPoint Presentation</vt:lpstr>
      <vt:lpstr>Activities Done within Two Month</vt:lpstr>
      <vt:lpstr>Activities Done within Two Month</vt:lpstr>
      <vt:lpstr>Problems of The Hospital</vt:lpstr>
      <vt:lpstr>Future Plan for April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Windows User</cp:lastModifiedBy>
  <cp:revision>269</cp:revision>
  <cp:lastPrinted>2017-03-18T23:47:54Z</cp:lastPrinted>
  <dcterms:created xsi:type="dcterms:W3CDTF">2013-05-05T09:56:19Z</dcterms:created>
  <dcterms:modified xsi:type="dcterms:W3CDTF">2017-05-22T02:59:59Z</dcterms:modified>
</cp:coreProperties>
</file>