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38"/>
  </p:notesMasterIdLst>
  <p:sldIdLst>
    <p:sldId id="331" r:id="rId3"/>
    <p:sldId id="345" r:id="rId4"/>
    <p:sldId id="332" r:id="rId5"/>
    <p:sldId id="334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256" r:id="rId14"/>
    <p:sldId id="324" r:id="rId15"/>
    <p:sldId id="325" r:id="rId16"/>
    <p:sldId id="326" r:id="rId17"/>
    <p:sldId id="327" r:id="rId18"/>
    <p:sldId id="328" r:id="rId19"/>
    <p:sldId id="352" r:id="rId20"/>
    <p:sldId id="351" r:id="rId21"/>
    <p:sldId id="346" r:id="rId22"/>
    <p:sldId id="287" r:id="rId23"/>
    <p:sldId id="288" r:id="rId24"/>
    <p:sldId id="290" r:id="rId25"/>
    <p:sldId id="291" r:id="rId26"/>
    <p:sldId id="292" r:id="rId27"/>
    <p:sldId id="297" r:id="rId28"/>
    <p:sldId id="308" r:id="rId29"/>
    <p:sldId id="323" r:id="rId30"/>
    <p:sldId id="312" r:id="rId31"/>
    <p:sldId id="313" r:id="rId32"/>
    <p:sldId id="316" r:id="rId33"/>
    <p:sldId id="293" r:id="rId34"/>
    <p:sldId id="294" r:id="rId35"/>
    <p:sldId id="330" r:id="rId36"/>
    <p:sldId id="344" r:id="rId3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7" autoAdjust="0"/>
    <p:restoredTop sz="91818" autoAdjust="0"/>
  </p:normalViewPr>
  <p:slideViewPr>
    <p:cSldViewPr>
      <p:cViewPr>
        <p:scale>
          <a:sx n="70" d="100"/>
          <a:sy n="70" d="100"/>
        </p:scale>
        <p:origin x="2100" y="7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344128"/>
        <c:axId val="119382784"/>
      </c:barChart>
      <c:catAx>
        <c:axId val="119344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9382784"/>
        <c:crosses val="autoZero"/>
        <c:auto val="1"/>
        <c:lblAlgn val="ctr"/>
        <c:lblOffset val="100"/>
        <c:noMultiLvlLbl val="0"/>
      </c:catAx>
      <c:valAx>
        <c:axId val="11938278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93441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664000"/>
        <c:axId val="120521856"/>
      </c:barChart>
      <c:catAx>
        <c:axId val="119664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0521856"/>
        <c:crosses val="autoZero"/>
        <c:auto val="1"/>
        <c:lblAlgn val="ctr"/>
        <c:lblOffset val="100"/>
        <c:noMultiLvlLbl val="0"/>
      </c:catAx>
      <c:valAx>
        <c:axId val="1205218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96640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cene3d>
                <a:camera prst="orthographicFront"/>
                <a:lightRig rig="threePt" dir="t">
                  <a:rot lat="0" lon="0" rev="1200000"/>
                </a:lightRig>
              </a:scene3d>
              <a:sp3d>
                <a:bevelT w="0" h="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20577024"/>
        <c:axId val="120578816"/>
        <c:axId val="0"/>
      </c:bar3DChart>
      <c:catAx>
        <c:axId val="1205770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0578816"/>
        <c:crosses val="autoZero"/>
        <c:auto val="1"/>
        <c:lblAlgn val="ctr"/>
        <c:lblOffset val="100"/>
        <c:noMultiLvlLbl val="0"/>
      </c:catAx>
      <c:valAx>
        <c:axId val="1205788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05770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4224640"/>
        <c:axId val="124226176"/>
      </c:barChart>
      <c:catAx>
        <c:axId val="124224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4226176"/>
        <c:crosses val="autoZero"/>
        <c:auto val="1"/>
        <c:lblAlgn val="ctr"/>
        <c:lblOffset val="100"/>
        <c:noMultiLvlLbl val="0"/>
      </c:catAx>
      <c:valAx>
        <c:axId val="124226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422464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13328</c:v>
                </c:pt>
                <c:pt idx="1">
                  <c:v>12178</c:v>
                </c:pt>
                <c:pt idx="2">
                  <c:v>5192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2"/>
              <c:layout>
                <c:manualLayout>
                  <c:x val="3.0864197530864196E-3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1016</c:v>
                </c:pt>
                <c:pt idx="1">
                  <c:v>1259</c:v>
                </c:pt>
                <c:pt idx="2">
                  <c:v>1086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3.0864197530863632E-3"/>
                  <c:y val="-3.9284457252522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1900</c:v>
                </c:pt>
                <c:pt idx="1">
                  <c:v>1528</c:v>
                </c:pt>
                <c:pt idx="2">
                  <c:v>1369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2936</c:v>
                </c:pt>
                <c:pt idx="1">
                  <c:v>2816</c:v>
                </c:pt>
                <c:pt idx="2">
                  <c:v>2486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4573568"/>
        <c:axId val="125589760"/>
      </c:barChart>
      <c:catAx>
        <c:axId val="12457356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5589760"/>
        <c:crosses val="autoZero"/>
        <c:auto val="1"/>
        <c:lblAlgn val="ctr"/>
        <c:lblOffset val="100"/>
        <c:noMultiLvlLbl val="0"/>
      </c:catAx>
      <c:valAx>
        <c:axId val="1255897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45735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7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4010,380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102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5934,815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rgbClr val="0070C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24262656"/>
        <c:axId val="125571072"/>
        <c:axId val="0"/>
      </c:bar3DChart>
      <c:catAx>
        <c:axId val="124262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5571072"/>
        <c:crosses val="autoZero"/>
        <c:auto val="1"/>
        <c:lblAlgn val="ctr"/>
        <c:lblOffset val="100"/>
        <c:noMultiLvlLbl val="0"/>
      </c:catAx>
      <c:valAx>
        <c:axId val="12557107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24262656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1/21/2017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34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35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9.jpe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Obst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&amp;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Gynae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)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Hospital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Jhenaidah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400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</p:txBody>
      </p:sp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 err="1">
                <a:solidFill>
                  <a:schemeClr val="bg1"/>
                </a:solidFill>
              </a:rPr>
              <a:t>Chowgacha</a:t>
            </a:r>
            <a:r>
              <a:rPr lang="en-US" sz="3200" b="1" dirty="0">
                <a:solidFill>
                  <a:schemeClr val="bg1"/>
                </a:solidFill>
              </a:rPr>
              <a:t>, </a:t>
            </a:r>
            <a:r>
              <a:rPr lang="en-US" sz="3200" b="1" dirty="0" err="1">
                <a:solidFill>
                  <a:schemeClr val="bg1"/>
                </a:solidFill>
              </a:rPr>
              <a:t>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err="1" smtClean="0"/>
              <a:t>Upazilla</a:t>
            </a:r>
            <a:r>
              <a:rPr lang="en-US" sz="2400" b="1" dirty="0" smtClean="0"/>
              <a:t>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</a:t>
            </a:r>
            <a:r>
              <a:rPr lang="en-US" sz="2400" dirty="0" err="1" smtClean="0"/>
              <a:t>Chowgacha</a:t>
            </a:r>
            <a:r>
              <a:rPr lang="en-US" sz="2400" dirty="0" smtClean="0"/>
              <a:t> Health Complex declared as the model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 smtClean="0"/>
              <a:t>Chowgacha</a:t>
            </a:r>
            <a:r>
              <a:rPr lang="en-US" sz="2400" dirty="0" smtClean="0"/>
              <a:t>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46156948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Chowgacha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Ad-din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Jessore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Jessore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</a:t>
            </a:r>
            <a:r>
              <a:rPr lang="en-US" sz="2000" dirty="0" err="1" smtClean="0"/>
              <a:t>Tk</a:t>
            </a:r>
            <a:r>
              <a:rPr lang="en-US" sz="2000" dirty="0" smtClean="0"/>
              <a:t>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.42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20.6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22.7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0" cy="4892718"/>
        </p:xfrm>
        <a:graphic>
          <a:graphicData uri="http://schemas.openxmlformats.org/drawingml/2006/table">
            <a:tbl>
              <a:tblPr/>
              <a:tblGrid>
                <a:gridCol w="1454150"/>
                <a:gridCol w="2660650"/>
                <a:gridCol w="2057400"/>
                <a:gridCol w="2057400"/>
              </a:tblGrid>
              <a:tr h="504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Ward boy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 31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get TK.  2000 to TK. 3000 per month per person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17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cleanliness, repaired the boundary wall, made 4 dustbins and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4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2016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10722472"/>
              </p:ext>
            </p:extLst>
          </p:nvPr>
        </p:nvGraphicFramePr>
        <p:xfrm>
          <a:off x="805076" y="2057400"/>
          <a:ext cx="75438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37047501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2016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832109"/>
              </p:ext>
            </p:extLst>
          </p:nvPr>
        </p:nvGraphicFramePr>
        <p:xfrm>
          <a:off x="508000" y="1655763"/>
          <a:ext cx="8124825" cy="4414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787483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2016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- 2016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8017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162"/>
            <a:ext cx="8310349" cy="1265237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in Jhenaidah Sadar Hospital in last three F-years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96322"/>
              </p:ext>
            </p:extLst>
          </p:nvPr>
        </p:nvGraphicFramePr>
        <p:xfrm>
          <a:off x="762000" y="2209800"/>
          <a:ext cx="76962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</p:spPr>
      </p:pic>
      <p:pic>
        <p:nvPicPr>
          <p:cNvPr id="46084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</p:spPr>
      </p:pic>
      <p:pic>
        <p:nvPicPr>
          <p:cNvPr id="4608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</p:spPr>
      </p:pic>
      <p:pic>
        <p:nvPicPr>
          <p:cNvPr id="4608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733800"/>
            <a:ext cx="3962400" cy="2895600"/>
          </a:xfrm>
          <a:noFill/>
        </p:spPr>
      </p:pic>
      <p:sp>
        <p:nvSpPr>
          <p:cNvPr id="46087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60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dirty="0">
                <a:solidFill>
                  <a:schemeClr val="bg1"/>
                </a:solidFill>
              </a:rPr>
              <a:t>I</a:t>
            </a:r>
            <a:r>
              <a:rPr lang="en-US" sz="2800" dirty="0" smtClean="0">
                <a:solidFill>
                  <a:schemeClr val="bg1"/>
                </a:solidFill>
              </a:rPr>
              <a:t>nternal </a:t>
            </a:r>
            <a:r>
              <a:rPr lang="en-US" sz="2800" dirty="0">
                <a:solidFill>
                  <a:schemeClr val="bg1"/>
                </a:solidFill>
              </a:rPr>
              <a:t>E</a:t>
            </a:r>
            <a:r>
              <a:rPr lang="en-US" sz="2800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3889375"/>
            <a:ext cx="38496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3" name="Rectangle 4"/>
          <p:cNvSpPr>
            <a:spLocks noChangeArrowheads="1"/>
          </p:cNvSpPr>
          <p:nvPr/>
        </p:nvSpPr>
        <p:spPr bwMode="auto">
          <a:xfrm>
            <a:off x="4800600" y="3979863"/>
            <a:ext cx="3673475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Girls guide for lining of patients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52234" name="Picture 10" descr="C:\Users\QUADER\Desktop\Big clining day 248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6200"/>
            <a:ext cx="4114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5" name="Rectangle 4"/>
          <p:cNvSpPr>
            <a:spLocks noChangeArrowheads="1"/>
          </p:cNvSpPr>
          <p:nvPr/>
        </p:nvSpPr>
        <p:spPr bwMode="auto">
          <a:xfrm>
            <a:off x="4589463" y="3979863"/>
            <a:ext cx="201930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Big cleaning day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69875" y="628650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9800" y="3722688"/>
            <a:ext cx="4267200" cy="3059112"/>
          </a:xfrm>
        </p:spPr>
      </p:pic>
      <p:pic>
        <p:nvPicPr>
          <p:cNvPr id="7" name="Picture 1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4584700" y="815975"/>
            <a:ext cx="4394200" cy="27432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733800"/>
            <a:ext cx="4191000" cy="304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7663" y="3754438"/>
            <a:ext cx="1176337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Manobota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76800" y="3798888"/>
            <a:ext cx="19050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Big Cleaning Day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49800" y="812800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28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812800"/>
            <a:ext cx="4071937" cy="2692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7663" y="815975"/>
            <a:ext cx="292893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Starting of 5S KAIZEN-TQM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5299" name="Picture 2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788" y="906463"/>
            <a:ext cx="3802062" cy="2743200"/>
          </a:xfrm>
        </p:spPr>
      </p:pic>
      <p:pic>
        <p:nvPicPr>
          <p:cNvPr id="55300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863" y="914400"/>
            <a:ext cx="3971925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3733800"/>
            <a:ext cx="80010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284663" y="947738"/>
            <a:ext cx="3656012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C7E17"/>
                </a:solidFill>
                <a:latin typeface="+mj-lt"/>
              </a:rPr>
              <a:t>Community donated intercom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11188" y="3962400"/>
            <a:ext cx="36560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B050"/>
                </a:solidFill>
              </a:rPr>
              <a:t>Community Supported Manpower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98888"/>
            <a:ext cx="4403725" cy="3032125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84213"/>
            <a:ext cx="44640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10000"/>
            <a:ext cx="43434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by local initiatives (Social welfare and health partner ship).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awarded 4 times from 2013 to 2016. Stood first award by 5S-KAIZEN-TQM among the 100 bedded district hospitals by defeating </a:t>
            </a:r>
            <a:r>
              <a:rPr lang="en-US" b="1" dirty="0" err="1"/>
              <a:t>Norsingdi</a:t>
            </a:r>
            <a:r>
              <a:rPr lang="en-US" b="1" dirty="0"/>
              <a:t> 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54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60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2341</TotalTime>
  <Words>908</Words>
  <Application>Microsoft Office PowerPoint</Application>
  <PresentationFormat>On-screen Show (4:3)</PresentationFormat>
  <Paragraphs>304</Paragraphs>
  <Slides>35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5_シック</vt:lpstr>
      <vt:lpstr>Office Theme</vt:lpstr>
      <vt:lpstr>Chart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MDG 4 and 5 Achieved at Chowgacha in 2009</vt:lpstr>
      <vt:lpstr>PowerPoint Presentation</vt:lpstr>
      <vt:lpstr>100 kh¨v wewkó m`i nvmcvZvj, wSbvB`n</vt:lpstr>
      <vt:lpstr>Sadar Hospital, Jhenaidah</vt:lpstr>
      <vt:lpstr>PowerPoint Presentation</vt:lpstr>
      <vt:lpstr>PowerPoint Presentation</vt:lpstr>
      <vt:lpstr>Emergency &amp; Out Door, Indoor  Service 1998 to 2015</vt:lpstr>
      <vt:lpstr>Operation Service (Major) 2011 to 2016</vt:lpstr>
      <vt:lpstr>PowerPoint Presentation</vt:lpstr>
      <vt:lpstr>3 best performing EmOC Hospital in Khulna division - 2016</vt:lpstr>
      <vt:lpstr>  Comparative data of revenue income (in Taka) in Jhenaidah Sadar Hospital in last three F-years </vt:lpstr>
      <vt:lpstr>Changes in EOC Ward</vt:lpstr>
      <vt:lpstr>Changes in Surgery Ward</vt:lpstr>
      <vt:lpstr>Changes in Gardens of The Hospital</vt:lpstr>
      <vt:lpstr>PowerPoint Presentation</vt:lpstr>
      <vt:lpstr>Changes in Office and Hospital Internal Environment</vt:lpstr>
      <vt:lpstr>Internal Monitoring System</vt:lpstr>
      <vt:lpstr>Use of direction sign, labeling of rooms, clean latrine and waist segregation</vt:lpstr>
      <vt:lpstr>Use of color code, alignment of picture &amp; continuous big cleaning day</vt:lpstr>
      <vt:lpstr>Innovative activities of Jhenaidah Sadar Hospital Page: 1</vt:lpstr>
      <vt:lpstr>Innovative activities of Jhenaidah Sadar Hospital Page: 2 </vt:lpstr>
      <vt:lpstr>Innovative activities of Jhenaidah Sadar Hospital Page: 3</vt:lpstr>
      <vt:lpstr>PowerPoint Presentation</vt:lpstr>
      <vt:lpstr>Hospital Environment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240</cp:revision>
  <cp:lastPrinted>2017-01-18T17:16:02Z</cp:lastPrinted>
  <dcterms:created xsi:type="dcterms:W3CDTF">2013-05-05T09:56:19Z</dcterms:created>
  <dcterms:modified xsi:type="dcterms:W3CDTF">2017-01-21T02:16:18Z</dcterms:modified>
</cp:coreProperties>
</file>