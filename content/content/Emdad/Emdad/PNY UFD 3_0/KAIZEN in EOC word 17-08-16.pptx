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69" r:id="rId2"/>
    <p:sldId id="267" r:id="rId3"/>
    <p:sldId id="268" r:id="rId4"/>
    <p:sldId id="270" r:id="rId5"/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540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3493FF-266B-4BA3-8A49-53960213C12C}" type="datetimeFigureOut">
              <a:rPr lang="en-US" smtClean="0"/>
              <a:t>8/17/2016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E38FFA-171B-4052-A3E5-B923293935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98056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7"/>
          <p:cNvSpPr txBox="1">
            <a:spLocks noGrp="1" noChangeArrowheads="1"/>
          </p:cNvSpPr>
          <p:nvPr/>
        </p:nvSpPr>
        <p:spPr bwMode="auto">
          <a:xfrm>
            <a:off x="3884613" y="8685706"/>
            <a:ext cx="2971800" cy="4568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r" eaLnBrk="1" hangingPunct="1"/>
            <a:fld id="{B1BAB57A-7498-4FB1-9D54-816BC556527E}" type="slidenum">
              <a:rPr lang="en-US" sz="1200"/>
              <a:pPr algn="r" eaLnBrk="1" hangingPunct="1"/>
              <a:t>14</a:t>
            </a:fld>
            <a:endParaRPr lang="en-US" sz="1200"/>
          </a:p>
        </p:txBody>
      </p:sp>
      <p:sp>
        <p:nvSpPr>
          <p:cNvPr id="1085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85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mtClean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AEC3F2-38AB-4BF5-92A6-45FF0E856240}" type="datetimeFigureOut">
              <a:rPr lang="en-US" smtClean="0"/>
              <a:t>8/17/2016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114759-26E0-46F6-913C-3F1097EEED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95978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AEC3F2-38AB-4BF5-92A6-45FF0E856240}" type="datetimeFigureOut">
              <a:rPr lang="en-US" smtClean="0"/>
              <a:t>8/17/2016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114759-26E0-46F6-913C-3F1097EEED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97791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AEC3F2-38AB-4BF5-92A6-45FF0E856240}" type="datetimeFigureOut">
              <a:rPr lang="en-US" smtClean="0"/>
              <a:t>8/17/2016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114759-26E0-46F6-913C-3F1097EEED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98315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AEC3F2-38AB-4BF5-92A6-45FF0E856240}" type="datetimeFigureOut">
              <a:rPr lang="en-US" smtClean="0"/>
              <a:t>8/17/2016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114759-26E0-46F6-913C-3F1097EEED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62056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AEC3F2-38AB-4BF5-92A6-45FF0E856240}" type="datetimeFigureOut">
              <a:rPr lang="en-US" smtClean="0"/>
              <a:t>8/17/2016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114759-26E0-46F6-913C-3F1097EEED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38250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AEC3F2-38AB-4BF5-92A6-45FF0E856240}" type="datetimeFigureOut">
              <a:rPr lang="en-US" smtClean="0"/>
              <a:t>8/17/2016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114759-26E0-46F6-913C-3F1097EEED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7005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AEC3F2-38AB-4BF5-92A6-45FF0E856240}" type="datetimeFigureOut">
              <a:rPr lang="en-US" smtClean="0"/>
              <a:t>8/17/2016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114759-26E0-46F6-913C-3F1097EEED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65158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AEC3F2-38AB-4BF5-92A6-45FF0E856240}" type="datetimeFigureOut">
              <a:rPr lang="en-US" smtClean="0"/>
              <a:t>8/17/2016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114759-26E0-46F6-913C-3F1097EEED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08411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AEC3F2-38AB-4BF5-92A6-45FF0E856240}" type="datetimeFigureOut">
              <a:rPr lang="en-US" smtClean="0"/>
              <a:t>8/17/2016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114759-26E0-46F6-913C-3F1097EEED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5712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AEC3F2-38AB-4BF5-92A6-45FF0E856240}" type="datetimeFigureOut">
              <a:rPr lang="en-US" smtClean="0"/>
              <a:t>8/17/2016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114759-26E0-46F6-913C-3F1097EEED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64371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AEC3F2-38AB-4BF5-92A6-45FF0E856240}" type="datetimeFigureOut">
              <a:rPr lang="en-US" smtClean="0"/>
              <a:t>8/17/2016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114759-26E0-46F6-913C-3F1097EEED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78120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AEC3F2-38AB-4BF5-92A6-45FF0E856240}" type="datetimeFigureOut">
              <a:rPr lang="en-US" smtClean="0"/>
              <a:t>8/17/2016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114759-26E0-46F6-913C-3F1097EEED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31009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4.emf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ln/>
          <a:ex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/>
          <a:lstStyle/>
          <a:p>
            <a:pPr algn="ctr" eaLnBrk="0" hangingPunct="0"/>
            <a:endParaRPr lang="en-US" sz="2400" b="1" dirty="0" smtClean="0">
              <a:solidFill>
                <a:srgbClr val="CC00FF"/>
              </a:solidFill>
            </a:endParaRPr>
          </a:p>
          <a:p>
            <a:pPr algn="ctr" eaLnBrk="0" hangingPunct="0"/>
            <a:endParaRPr lang="en-US" sz="2800" b="1" dirty="0" smtClean="0">
              <a:solidFill>
                <a:srgbClr val="006600"/>
              </a:solidFill>
            </a:endParaRPr>
          </a:p>
          <a:p>
            <a:pPr algn="ctr" eaLnBrk="0" hangingPunct="0"/>
            <a:r>
              <a:rPr lang="en-US" sz="2800" b="1" dirty="0" smtClean="0">
                <a:solidFill>
                  <a:srgbClr val="006600"/>
                </a:solidFill>
              </a:rPr>
              <a:t>A problem solving process (KAIZEN)  in EOC Word of </a:t>
            </a:r>
            <a:endParaRPr lang="en-US" sz="2800" b="1" dirty="0" smtClean="0">
              <a:solidFill>
                <a:srgbClr val="006600"/>
              </a:solidFill>
            </a:endParaRPr>
          </a:p>
          <a:p>
            <a:pPr algn="ctr" eaLnBrk="0" hangingPunct="0"/>
            <a:r>
              <a:rPr lang="en-US" sz="2800" b="1" dirty="0" smtClean="0">
                <a:solidFill>
                  <a:srgbClr val="006600"/>
                </a:solidFill>
              </a:rPr>
              <a:t>SADAR HOSPITAL, JHENAIDAH</a:t>
            </a:r>
            <a:r>
              <a:rPr lang="en-US" sz="3600" b="1" dirty="0" smtClean="0">
                <a:solidFill>
                  <a:srgbClr val="006600"/>
                </a:solidFill>
              </a:rPr>
              <a:t/>
            </a:r>
            <a:br>
              <a:rPr lang="en-US" sz="3600" b="1" dirty="0" smtClean="0">
                <a:solidFill>
                  <a:srgbClr val="006600"/>
                </a:solidFill>
              </a:rPr>
            </a:br>
            <a:endParaRPr lang="en-US" sz="3600" b="1" dirty="0" smtClean="0">
              <a:solidFill>
                <a:srgbClr val="006600"/>
              </a:solidFill>
            </a:endParaRPr>
          </a:p>
        </p:txBody>
      </p:sp>
      <p:sp>
        <p:nvSpPr>
          <p:cNvPr id="2051" name="Rectangle 4"/>
          <p:cNvSpPr>
            <a:spLocks noChangeArrowheads="1"/>
          </p:cNvSpPr>
          <p:nvPr/>
        </p:nvSpPr>
        <p:spPr bwMode="auto">
          <a:xfrm>
            <a:off x="5832131" y="5517232"/>
            <a:ext cx="3456139" cy="15081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/>
            </a:r>
            <a:b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endParaRPr lang="en-US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eaLnBrk="0" hangingPunct="0"/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Dr. Md. </a:t>
            </a:r>
            <a:r>
              <a:rPr lang="en-US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Emdadul</a:t>
            </a:r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Haque</a:t>
            </a:r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</a:t>
            </a:r>
          </a:p>
          <a:p>
            <a:pPr eaLnBrk="0" hangingPunct="0"/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Senior Consultant (</a:t>
            </a:r>
            <a:r>
              <a:rPr lang="en-US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Obst</a:t>
            </a:r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&amp; </a:t>
            </a:r>
            <a:r>
              <a:rPr lang="en-US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Gynae</a:t>
            </a:r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r>
              <a:rPr lang="en-US" b="1" dirty="0" smtClean="0">
                <a:solidFill>
                  <a:srgbClr val="CC00FF"/>
                </a:solidFill>
              </a:rPr>
              <a:t/>
            </a:r>
            <a:br>
              <a:rPr lang="en-US" b="1" dirty="0" smtClean="0">
                <a:solidFill>
                  <a:srgbClr val="CC00FF"/>
                </a:solidFill>
              </a:rPr>
            </a:br>
            <a:endParaRPr lang="en-US" sz="2000" b="1" dirty="0" smtClean="0">
              <a:solidFill>
                <a:srgbClr val="CC00FF"/>
              </a:solidFill>
            </a:endParaRPr>
          </a:p>
        </p:txBody>
      </p:sp>
      <p:pic>
        <p:nvPicPr>
          <p:cNvPr id="2052" name="Picture 5" descr="DSC0230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5700" y="1700808"/>
            <a:ext cx="7010400" cy="42891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3" name="Picture 10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46500" y="12700"/>
            <a:ext cx="9144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342157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0740" y="95463"/>
            <a:ext cx="8229600" cy="1143000"/>
          </a:xfrm>
        </p:spPr>
        <p:txBody>
          <a:bodyPr/>
          <a:lstStyle/>
          <a:p>
            <a:r>
              <a:rPr lang="en-US" dirty="0" smtClean="0"/>
              <a:t>EOC Word</a:t>
            </a:r>
            <a:endParaRPr lang="en-US" dirty="0"/>
          </a:p>
        </p:txBody>
      </p:sp>
      <p:pic>
        <p:nvPicPr>
          <p:cNvPr id="3" name="Picture 2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83568" y="1268760"/>
            <a:ext cx="7956772" cy="51845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1331950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TextBox 4"/>
          <p:cNvSpPr txBox="1">
            <a:spLocks noChangeArrowheads="1"/>
          </p:cNvSpPr>
          <p:nvPr/>
        </p:nvSpPr>
        <p:spPr bwMode="auto">
          <a:xfrm>
            <a:off x="76200" y="152400"/>
            <a:ext cx="8839200" cy="830263"/>
          </a:xfrm>
          <a:prstGeom prst="rect">
            <a:avLst/>
          </a:prstGeom>
          <a:ln/>
          <a:ex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400" b="1" dirty="0">
                <a:solidFill>
                  <a:srgbClr val="FFFFFF"/>
                </a:solidFill>
              </a:rPr>
              <a:t>Comparative Data of EOC Service of 3 Best Performing District Hospital of Khulna Division in 2015</a:t>
            </a:r>
            <a:endParaRPr lang="en-US" sz="2400" dirty="0">
              <a:solidFill>
                <a:srgbClr val="FFFFFF"/>
              </a:solidFill>
            </a:endParaRPr>
          </a:p>
        </p:txBody>
      </p:sp>
      <p:graphicFrame>
        <p:nvGraphicFramePr>
          <p:cNvPr id="103428" name="Object 4"/>
          <p:cNvGraphicFramePr>
            <a:graphicFrameLocks noChangeAspect="1"/>
          </p:cNvGraphicFramePr>
          <p:nvPr/>
        </p:nvGraphicFramePr>
        <p:xfrm>
          <a:off x="0" y="1397000"/>
          <a:ext cx="8915400" cy="4867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1" name="Chart" r:id="rId3" imgW="7153324" imgH="4352892" progId="MSGraph.Chart.8">
                  <p:embed followColorScheme="full"/>
                </p:oleObj>
              </mc:Choice>
              <mc:Fallback>
                <p:oleObj name="Chart" r:id="rId3" imgW="7153324" imgH="4352892" progId="MSGraph.Chart.8">
                  <p:embed followColorScheme="full"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1397000"/>
                        <a:ext cx="8915400" cy="4867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991748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WIT 1 (EOC Word)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Team members: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1. Senior Consultant (</a:t>
            </a:r>
            <a:r>
              <a:rPr lang="en-US" dirty="0" err="1" smtClean="0"/>
              <a:t>Obst</a:t>
            </a:r>
            <a:r>
              <a:rPr lang="en-US" dirty="0"/>
              <a:t> </a:t>
            </a:r>
            <a:r>
              <a:rPr lang="en-US" dirty="0" smtClean="0"/>
              <a:t>&amp; </a:t>
            </a:r>
            <a:r>
              <a:rPr lang="en-US" dirty="0" err="1" smtClean="0"/>
              <a:t>Gynae</a:t>
            </a:r>
            <a:r>
              <a:rPr lang="en-US" dirty="0" smtClean="0"/>
              <a:t>)</a:t>
            </a:r>
            <a:r>
              <a:rPr lang="en-US" dirty="0" smtClean="0"/>
              <a:t>–</a:t>
            </a:r>
            <a:r>
              <a:rPr lang="en-US" dirty="0" err="1" smtClean="0"/>
              <a:t>Fascilitator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 2. Word in charge (SSN) – Team leader</a:t>
            </a:r>
          </a:p>
          <a:p>
            <a:pPr marL="0" indent="0">
              <a:buNone/>
            </a:pPr>
            <a:r>
              <a:rPr lang="en-US" dirty="0" smtClean="0"/>
              <a:t> 3. One SSN – Member secretary 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4. One Ayah – Member 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5. One Cleaner – Member 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56737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4064893"/>
              </p:ext>
            </p:extLst>
          </p:nvPr>
        </p:nvGraphicFramePr>
        <p:xfrm>
          <a:off x="467544" y="1196752"/>
          <a:ext cx="7848873" cy="520146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528589"/>
                <a:gridCol w="917177"/>
                <a:gridCol w="1058155"/>
                <a:gridCol w="1277819"/>
                <a:gridCol w="1277819"/>
                <a:gridCol w="789314"/>
              </a:tblGrid>
              <a:tr h="64773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Possible KAIZEN Theme</a:t>
                      </a:r>
                      <a:endParaRPr lang="en-US" sz="1100" dirty="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Impact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Urgency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Possibility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Resources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Total Score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68580" marR="68580" marT="0" marB="0"/>
                </a:tc>
              </a:tr>
              <a:tr h="64773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Implementation of partograph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3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3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1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1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8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68580" marR="68580" marT="0" marB="0"/>
                </a:tc>
              </a:tr>
              <a:tr h="64773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Improve infection prevention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3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3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3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2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11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68580" marR="68580" marT="0" marB="0"/>
                </a:tc>
              </a:tr>
              <a:tr h="64773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Improve ANC service with added component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3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3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3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3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12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68580" marR="68580" marT="0" marB="0"/>
                </a:tc>
              </a:tr>
              <a:tr h="98140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Improve post-operative care among the operated patient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3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3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2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2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10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68580" marR="68580" marT="0" marB="0"/>
                </a:tc>
              </a:tr>
              <a:tr h="64773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Improve display system of EOC service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3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3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2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1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9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68580" marR="68580" marT="0" marB="0"/>
                </a:tc>
              </a:tr>
              <a:tr h="98140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Maintain temperature chart for the patient of EOC ward.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3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3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1</a:t>
                      </a:r>
                      <a:endParaRPr lang="en-US" sz="1100" dirty="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0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7</a:t>
                      </a:r>
                      <a:endParaRPr lang="en-US" sz="1100" dirty="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467544" y="-13355"/>
            <a:ext cx="9432032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Vrinda" pitchFamily="66" charset="0"/>
              </a:rPr>
              <a:t>WIT: 1				(EOC Ward)</a:t>
            </a:r>
            <a:endParaRPr kumimoji="0" lang="en-US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1" i="0" u="sng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Vrinda" pitchFamily="66" charset="0"/>
              </a:rPr>
              <a:t>Step 1:</a:t>
            </a: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Vrinda" pitchFamily="66" charset="0"/>
              </a:rPr>
              <a:t> Selection of Kaizen theme and feasibility check with Matrix Diagram</a:t>
            </a:r>
            <a:endParaRPr kumimoji="0" lang="en-US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2933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9512" y="188640"/>
            <a:ext cx="8640960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u="sng" dirty="0"/>
              <a:t>Step 2: </a:t>
            </a:r>
            <a:r>
              <a:rPr lang="en-US" sz="2000" b="1" dirty="0"/>
              <a:t>Situation analysis</a:t>
            </a:r>
            <a:endParaRPr lang="en-US" sz="2000" dirty="0"/>
          </a:p>
          <a:p>
            <a:r>
              <a:rPr lang="en-US" sz="2000" b="1" u="sng" dirty="0"/>
              <a:t>Kaizen theme:</a:t>
            </a:r>
            <a:r>
              <a:rPr lang="en-US" sz="2000" dirty="0"/>
              <a:t> ANC service improved with comprehensive services components.</a:t>
            </a:r>
          </a:p>
          <a:p>
            <a:r>
              <a:rPr lang="en-US" sz="2000" b="1" u="sng" dirty="0"/>
              <a:t>Data collection method:</a:t>
            </a:r>
            <a:r>
              <a:rPr lang="en-US" sz="2000" dirty="0"/>
              <a:t> Data was collected by WIT members through exit interview of 30 women who would receive ANC service in consecutive 10 days from 5 to 15</a:t>
            </a:r>
            <a:r>
              <a:rPr lang="en-US" sz="2000" baseline="30000" dirty="0"/>
              <a:t>th</a:t>
            </a:r>
            <a:r>
              <a:rPr lang="en-US" sz="2000" dirty="0"/>
              <a:t> August.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018185"/>
              </p:ext>
            </p:extLst>
          </p:nvPr>
        </p:nvGraphicFramePr>
        <p:xfrm>
          <a:off x="179512" y="1988840"/>
          <a:ext cx="8496943" cy="417646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734698"/>
                <a:gridCol w="3496027"/>
                <a:gridCol w="1315890"/>
                <a:gridCol w="1412608"/>
                <a:gridCol w="1537720"/>
              </a:tblGrid>
              <a:tr h="84037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Sl No</a:t>
                      </a:r>
                      <a:endParaRPr lang="en-US" sz="14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Contributing factors</a:t>
                      </a:r>
                      <a:endParaRPr lang="en-US" sz="14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Frequency</a:t>
                      </a:r>
                      <a:endParaRPr lang="en-US" sz="14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Cumulative frequency</a:t>
                      </a:r>
                      <a:endParaRPr lang="en-US" sz="14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Cumulative %</a:t>
                      </a:r>
                      <a:endParaRPr lang="en-US" sz="14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68580" marR="68580" marT="0" marB="0"/>
                </a:tc>
              </a:tr>
              <a:tr h="84037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1</a:t>
                      </a:r>
                      <a:endParaRPr lang="en-US" sz="14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Proper fill up not done on ANC card</a:t>
                      </a:r>
                      <a:endParaRPr lang="en-US" sz="1400" dirty="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24</a:t>
                      </a:r>
                      <a:endParaRPr lang="en-US" sz="14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24</a:t>
                      </a:r>
                      <a:endParaRPr lang="en-US" sz="14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30</a:t>
                      </a:r>
                      <a:endParaRPr lang="en-US" sz="14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68580" marR="68580" marT="0" marB="0"/>
                </a:tc>
              </a:tr>
              <a:tr h="84037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2</a:t>
                      </a:r>
                      <a:endParaRPr lang="en-US" sz="14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Per abdominal examination is not done properly</a:t>
                      </a:r>
                      <a:endParaRPr lang="en-US" sz="14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21</a:t>
                      </a:r>
                      <a:endParaRPr lang="en-US" sz="14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45</a:t>
                      </a:r>
                      <a:endParaRPr lang="en-US" sz="14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56</a:t>
                      </a:r>
                      <a:endParaRPr lang="en-US" sz="14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68580" marR="68580" marT="0" marB="0"/>
                </a:tc>
              </a:tr>
              <a:tr h="40747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3</a:t>
                      </a:r>
                      <a:endParaRPr lang="en-US" sz="14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Estimation of HB% not done</a:t>
                      </a:r>
                      <a:endParaRPr lang="en-US" sz="14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20</a:t>
                      </a:r>
                      <a:endParaRPr lang="en-US" sz="14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65</a:t>
                      </a:r>
                      <a:endParaRPr lang="en-US" sz="14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81</a:t>
                      </a:r>
                      <a:endParaRPr lang="en-US" sz="14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68580" marR="68580" marT="0" marB="0"/>
                </a:tc>
              </a:tr>
              <a:tr h="40747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4</a:t>
                      </a:r>
                      <a:endParaRPr lang="en-US" sz="14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Counseling not done</a:t>
                      </a:r>
                      <a:endParaRPr lang="en-US" sz="14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9</a:t>
                      </a:r>
                      <a:endParaRPr lang="en-US" sz="14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74</a:t>
                      </a:r>
                      <a:endParaRPr lang="en-US" sz="14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93</a:t>
                      </a:r>
                      <a:endParaRPr lang="en-US" sz="14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68580" marR="68580" marT="0" marB="0"/>
                </a:tc>
              </a:tr>
              <a:tr h="84037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5</a:t>
                      </a:r>
                      <a:endParaRPr lang="en-US" sz="14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Medical officer/Consultant is not treated every case</a:t>
                      </a:r>
                      <a:endParaRPr lang="en-US" sz="14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6</a:t>
                      </a:r>
                      <a:endParaRPr lang="en-US" sz="14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80</a:t>
                      </a:r>
                      <a:endParaRPr lang="en-US" sz="14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100</a:t>
                      </a:r>
                      <a:endParaRPr lang="en-US" sz="1400" dirty="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602341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8422" y="188640"/>
            <a:ext cx="879205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u="sng" dirty="0"/>
              <a:t>Step 3:</a:t>
            </a:r>
            <a:r>
              <a:rPr lang="en-US" sz="2400" b="1" dirty="0"/>
              <a:t> Root cause analysis (Fishbone diagram):</a:t>
            </a:r>
            <a:endParaRPr lang="en-US" sz="2400" dirty="0"/>
          </a:p>
          <a:p>
            <a:pPr lvl="0"/>
            <a:r>
              <a:rPr lang="en-US" sz="2400" b="1" dirty="0" smtClean="0"/>
              <a:t>a. Proper </a:t>
            </a:r>
            <a:r>
              <a:rPr lang="en-US" sz="2400" b="1" dirty="0"/>
              <a:t>fill up of ANC card not done</a:t>
            </a:r>
            <a:endParaRPr lang="en-US" sz="2400" dirty="0"/>
          </a:p>
        </p:txBody>
      </p:sp>
      <p:grpSp>
        <p:nvGrpSpPr>
          <p:cNvPr id="5" name="Canvas 158"/>
          <p:cNvGrpSpPr/>
          <p:nvPr/>
        </p:nvGrpSpPr>
        <p:grpSpPr>
          <a:xfrm>
            <a:off x="151648" y="1019637"/>
            <a:ext cx="8740832" cy="5217675"/>
            <a:chOff x="0" y="0"/>
            <a:chExt cx="7998460" cy="4573905"/>
          </a:xfrm>
        </p:grpSpPr>
        <p:sp>
          <p:nvSpPr>
            <p:cNvPr id="6" name="Rectangle 5"/>
            <p:cNvSpPr/>
            <p:nvPr/>
          </p:nvSpPr>
          <p:spPr>
            <a:xfrm>
              <a:off x="0" y="0"/>
              <a:ext cx="7998460" cy="4573905"/>
            </a:xfrm>
            <a:prstGeom prst="rect">
              <a:avLst/>
            </a:prstGeom>
            <a:noFill/>
          </p:spPr>
        </p:sp>
        <p:sp>
          <p:nvSpPr>
            <p:cNvPr id="7" name="Text Box 161"/>
            <p:cNvSpPr txBox="1">
              <a:spLocks noChangeArrowheads="1"/>
            </p:cNvSpPr>
            <p:nvPr/>
          </p:nvSpPr>
          <p:spPr bwMode="auto">
            <a:xfrm>
              <a:off x="2789576" y="781660"/>
              <a:ext cx="1780483" cy="2491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>
                <a:lnSpc>
                  <a:spcPct val="115000"/>
                </a:lnSpc>
                <a:spcAft>
                  <a:spcPts val="1000"/>
                </a:spcAft>
              </a:pPr>
              <a:r>
                <a:rPr lang="en-US" sz="1000" dirty="0">
                  <a:effectLst/>
                  <a:latin typeface="Arial"/>
                  <a:ea typeface="Calibri"/>
                  <a:cs typeface="Vrinda"/>
                </a:rPr>
                <a:t>No initiative for </a:t>
              </a:r>
              <a:r>
                <a:rPr lang="en-US" sz="1000" dirty="0" smtClean="0">
                  <a:effectLst/>
                  <a:latin typeface="Arial"/>
                  <a:ea typeface="Calibri"/>
                  <a:cs typeface="Vrinda"/>
                </a:rPr>
                <a:t>medical </a:t>
              </a:r>
              <a:r>
                <a:rPr lang="en-US" sz="1000" dirty="0">
                  <a:effectLst/>
                  <a:latin typeface="Arial"/>
                  <a:ea typeface="Calibri"/>
                  <a:cs typeface="Vrinda"/>
                </a:rPr>
                <a:t>officer</a:t>
              </a:r>
              <a:endParaRPr lang="en-US" sz="1200" dirty="0">
                <a:effectLst/>
                <a:latin typeface="Calibri"/>
                <a:ea typeface="Calibri"/>
                <a:cs typeface="Vrinda"/>
              </a:endParaRPr>
            </a:p>
          </p:txBody>
        </p:sp>
        <p:sp>
          <p:nvSpPr>
            <p:cNvPr id="8" name="Text Box 162"/>
            <p:cNvSpPr txBox="1">
              <a:spLocks noChangeArrowheads="1"/>
            </p:cNvSpPr>
            <p:nvPr/>
          </p:nvSpPr>
          <p:spPr bwMode="auto">
            <a:xfrm>
              <a:off x="542831" y="630334"/>
              <a:ext cx="1988473" cy="28786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>
                <a:lnSpc>
                  <a:spcPct val="115000"/>
                </a:lnSpc>
                <a:spcAft>
                  <a:spcPts val="1000"/>
                </a:spcAft>
              </a:pPr>
              <a:r>
                <a:rPr lang="en-US" sz="1000" dirty="0">
                  <a:effectLst/>
                  <a:latin typeface="Arial"/>
                  <a:ea typeface="Calibri"/>
                  <a:cs typeface="Vrinda"/>
                </a:rPr>
                <a:t>No initiative for good quality</a:t>
              </a:r>
              <a:endParaRPr lang="en-US" sz="1200" dirty="0">
                <a:effectLst/>
                <a:latin typeface="Calibri"/>
                <a:ea typeface="Calibri"/>
                <a:cs typeface="Vrinda"/>
              </a:endParaRPr>
            </a:p>
            <a:p>
              <a:pPr>
                <a:lnSpc>
                  <a:spcPct val="115000"/>
                </a:lnSpc>
                <a:spcAft>
                  <a:spcPts val="1000"/>
                </a:spcAft>
              </a:pPr>
              <a:r>
                <a:rPr lang="en-US" sz="900" dirty="0">
                  <a:effectLst/>
                  <a:latin typeface="Arial"/>
                  <a:ea typeface="Calibri"/>
                  <a:cs typeface="Vrinda"/>
                </a:rPr>
                <a:t> </a:t>
              </a:r>
              <a:endParaRPr lang="en-US" sz="1200" dirty="0">
                <a:effectLst/>
                <a:latin typeface="Calibri"/>
                <a:ea typeface="Calibri"/>
                <a:cs typeface="Vrinda"/>
              </a:endParaRPr>
            </a:p>
          </p:txBody>
        </p:sp>
        <p:sp>
          <p:nvSpPr>
            <p:cNvPr id="9" name="Text Box 165"/>
            <p:cNvSpPr txBox="1">
              <a:spLocks noChangeArrowheads="1"/>
            </p:cNvSpPr>
            <p:nvPr/>
          </p:nvSpPr>
          <p:spPr bwMode="auto">
            <a:xfrm>
              <a:off x="347411" y="3316650"/>
              <a:ext cx="1869621" cy="35157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>
                <a:lnSpc>
                  <a:spcPct val="115000"/>
                </a:lnSpc>
                <a:spcAft>
                  <a:spcPts val="1000"/>
                </a:spcAft>
              </a:pPr>
              <a:r>
                <a:rPr lang="en-US" sz="1050" dirty="0">
                  <a:effectLst/>
                  <a:latin typeface="Arial"/>
                  <a:ea typeface="Calibri"/>
                  <a:cs typeface="Vrinda"/>
                </a:rPr>
                <a:t>Demand not given for screening</a:t>
              </a:r>
              <a:endParaRPr lang="en-US" sz="1400" dirty="0">
                <a:effectLst/>
                <a:latin typeface="Calibri"/>
                <a:ea typeface="Calibri"/>
                <a:cs typeface="Vrinda"/>
              </a:endParaRPr>
            </a:p>
          </p:txBody>
        </p:sp>
        <p:sp>
          <p:nvSpPr>
            <p:cNvPr id="10" name="Text Box 167"/>
            <p:cNvSpPr txBox="1">
              <a:spLocks noChangeArrowheads="1"/>
            </p:cNvSpPr>
            <p:nvPr/>
          </p:nvSpPr>
          <p:spPr bwMode="auto">
            <a:xfrm>
              <a:off x="2531303" y="3320063"/>
              <a:ext cx="1725629" cy="348163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>
                <a:lnSpc>
                  <a:spcPct val="115000"/>
                </a:lnSpc>
                <a:spcAft>
                  <a:spcPts val="1000"/>
                </a:spcAft>
              </a:pPr>
              <a:r>
                <a:rPr lang="en-US" sz="1600" dirty="0">
                  <a:effectLst/>
                  <a:latin typeface="Arial"/>
                  <a:ea typeface="Calibri"/>
                  <a:cs typeface="Vrinda"/>
                </a:rPr>
                <a:t>Lack of orientation</a:t>
              </a:r>
              <a:endParaRPr lang="en-US" sz="1600" dirty="0">
                <a:effectLst/>
                <a:latin typeface="Calibri"/>
                <a:ea typeface="Calibri"/>
                <a:cs typeface="Vrinda"/>
              </a:endParaRPr>
            </a:p>
          </p:txBody>
        </p:sp>
        <p:cxnSp>
          <p:nvCxnSpPr>
            <p:cNvPr id="11" name="Line 169"/>
            <p:cNvCxnSpPr/>
            <p:nvPr/>
          </p:nvCxnSpPr>
          <p:spPr bwMode="auto">
            <a:xfrm>
              <a:off x="1313078" y="2055982"/>
              <a:ext cx="3904949" cy="4551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2" name="Line 170"/>
            <p:cNvCxnSpPr/>
            <p:nvPr/>
          </p:nvCxnSpPr>
          <p:spPr bwMode="auto">
            <a:xfrm>
              <a:off x="5760857" y="2059395"/>
              <a:ext cx="114280" cy="113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3" name="Line 173"/>
            <p:cNvCxnSpPr/>
            <p:nvPr/>
          </p:nvCxnSpPr>
          <p:spPr bwMode="auto">
            <a:xfrm>
              <a:off x="1827338" y="2059395"/>
              <a:ext cx="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4" name="Line 174"/>
            <p:cNvCxnSpPr/>
            <p:nvPr/>
          </p:nvCxnSpPr>
          <p:spPr bwMode="auto">
            <a:xfrm flipV="1">
              <a:off x="1713058" y="2059395"/>
              <a:ext cx="914240" cy="125725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5" name="Line 175"/>
            <p:cNvCxnSpPr/>
            <p:nvPr/>
          </p:nvCxnSpPr>
          <p:spPr bwMode="auto">
            <a:xfrm>
              <a:off x="1713058" y="919332"/>
              <a:ext cx="914240" cy="114347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6" name="Line 176"/>
            <p:cNvCxnSpPr/>
            <p:nvPr/>
          </p:nvCxnSpPr>
          <p:spPr bwMode="auto">
            <a:xfrm flipV="1">
              <a:off x="3724387" y="2055982"/>
              <a:ext cx="799960" cy="125725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7" name="Line 177"/>
            <p:cNvCxnSpPr/>
            <p:nvPr/>
          </p:nvCxnSpPr>
          <p:spPr bwMode="auto">
            <a:xfrm>
              <a:off x="3773527" y="1031973"/>
              <a:ext cx="750820" cy="103311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8" name="Line 180"/>
            <p:cNvCxnSpPr/>
            <p:nvPr/>
          </p:nvCxnSpPr>
          <p:spPr bwMode="auto">
            <a:xfrm>
              <a:off x="2442164" y="2063946"/>
              <a:ext cx="228560" cy="113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9" name="Line 182"/>
            <p:cNvCxnSpPr/>
            <p:nvPr/>
          </p:nvCxnSpPr>
          <p:spPr bwMode="auto">
            <a:xfrm>
              <a:off x="4341499" y="2055982"/>
              <a:ext cx="228560" cy="113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" name="Line 183"/>
            <p:cNvCxnSpPr/>
            <p:nvPr/>
          </p:nvCxnSpPr>
          <p:spPr bwMode="auto">
            <a:xfrm>
              <a:off x="3198698" y="2059395"/>
              <a:ext cx="1143" cy="113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1" name="Text Box 184"/>
            <p:cNvSpPr txBox="1">
              <a:spLocks noChangeArrowheads="1"/>
            </p:cNvSpPr>
            <p:nvPr/>
          </p:nvSpPr>
          <p:spPr bwMode="auto">
            <a:xfrm>
              <a:off x="513117" y="1997955"/>
              <a:ext cx="799960" cy="1149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>
                <a:lnSpc>
                  <a:spcPct val="115000"/>
                </a:lnSpc>
                <a:spcAft>
                  <a:spcPts val="1000"/>
                </a:spcAft>
              </a:pPr>
              <a:r>
                <a:rPr lang="en-US" sz="1100">
                  <a:effectLst/>
                  <a:latin typeface="Calibri"/>
                  <a:ea typeface="Calibri"/>
                  <a:cs typeface="Vrinda"/>
                </a:rPr>
                <a:t> </a:t>
              </a:r>
            </a:p>
          </p:txBody>
        </p:sp>
        <p:sp>
          <p:nvSpPr>
            <p:cNvPr id="22" name="Text Box 188"/>
            <p:cNvSpPr txBox="1">
              <a:spLocks noChangeArrowheads="1"/>
            </p:cNvSpPr>
            <p:nvPr/>
          </p:nvSpPr>
          <p:spPr bwMode="auto">
            <a:xfrm>
              <a:off x="998808" y="1030835"/>
              <a:ext cx="1671917" cy="22869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>
                <a:lnSpc>
                  <a:spcPct val="115000"/>
                </a:lnSpc>
                <a:spcAft>
                  <a:spcPts val="1000"/>
                </a:spcAft>
              </a:pPr>
              <a:r>
                <a:rPr lang="en-US" sz="900" dirty="0">
                  <a:effectLst/>
                  <a:latin typeface="Arial"/>
                  <a:ea typeface="Calibri"/>
                  <a:cs typeface="Vrinda"/>
                </a:rPr>
                <a:t>Supplied low quality machines</a:t>
              </a:r>
              <a:endParaRPr lang="en-US" sz="1200" dirty="0">
                <a:effectLst/>
                <a:latin typeface="Calibri"/>
                <a:ea typeface="Calibri"/>
                <a:cs typeface="Vrinda"/>
              </a:endParaRPr>
            </a:p>
            <a:p>
              <a:pPr>
                <a:lnSpc>
                  <a:spcPct val="115000"/>
                </a:lnSpc>
                <a:spcAft>
                  <a:spcPts val="1000"/>
                </a:spcAft>
              </a:pPr>
              <a:r>
                <a:rPr lang="en-US" sz="900" dirty="0">
                  <a:effectLst/>
                  <a:latin typeface="Arial"/>
                  <a:ea typeface="Calibri"/>
                  <a:cs typeface="Vrinda"/>
                </a:rPr>
                <a:t> </a:t>
              </a:r>
              <a:endParaRPr lang="en-US" sz="1200" dirty="0">
                <a:effectLst/>
                <a:latin typeface="Calibri"/>
                <a:ea typeface="Calibri"/>
                <a:cs typeface="Vrinda"/>
              </a:endParaRPr>
            </a:p>
          </p:txBody>
        </p:sp>
        <p:sp>
          <p:nvSpPr>
            <p:cNvPr id="23" name="Text Box 189"/>
            <p:cNvSpPr txBox="1">
              <a:spLocks noChangeArrowheads="1"/>
            </p:cNvSpPr>
            <p:nvPr/>
          </p:nvSpPr>
          <p:spPr bwMode="auto">
            <a:xfrm>
              <a:off x="1446785" y="1373309"/>
              <a:ext cx="1588493" cy="22869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>
                <a:lnSpc>
                  <a:spcPct val="115000"/>
                </a:lnSpc>
                <a:spcAft>
                  <a:spcPts val="1000"/>
                </a:spcAft>
              </a:pPr>
              <a:r>
                <a:rPr lang="en-US" sz="900" dirty="0">
                  <a:effectLst/>
                  <a:latin typeface="Arial"/>
                  <a:ea typeface="Calibri"/>
                  <a:cs typeface="Vrinda"/>
                </a:rPr>
                <a:t>Low quality Wt. machine</a:t>
              </a:r>
              <a:endParaRPr lang="en-US" sz="1200" dirty="0">
                <a:effectLst/>
                <a:latin typeface="Calibri"/>
                <a:ea typeface="Calibri"/>
                <a:cs typeface="Vrinda"/>
              </a:endParaRPr>
            </a:p>
            <a:p>
              <a:pPr>
                <a:lnSpc>
                  <a:spcPct val="115000"/>
                </a:lnSpc>
                <a:spcAft>
                  <a:spcPts val="1000"/>
                </a:spcAft>
              </a:pPr>
              <a:r>
                <a:rPr lang="en-US" sz="700" dirty="0">
                  <a:effectLst/>
                  <a:latin typeface="Calibri"/>
                  <a:ea typeface="Calibri"/>
                  <a:cs typeface="Vrinda"/>
                </a:rPr>
                <a:t> </a:t>
              </a:r>
              <a:endParaRPr lang="en-US" sz="1200" dirty="0">
                <a:effectLst/>
                <a:latin typeface="Calibri"/>
                <a:ea typeface="Calibri"/>
                <a:cs typeface="Vrinda"/>
              </a:endParaRPr>
            </a:p>
          </p:txBody>
        </p:sp>
        <p:sp>
          <p:nvSpPr>
            <p:cNvPr id="24" name="Text Box 190"/>
            <p:cNvSpPr txBox="1">
              <a:spLocks noChangeArrowheads="1"/>
            </p:cNvSpPr>
            <p:nvPr/>
          </p:nvSpPr>
          <p:spPr bwMode="auto">
            <a:xfrm>
              <a:off x="1313078" y="1715783"/>
              <a:ext cx="1946191" cy="28217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>
                <a:lnSpc>
                  <a:spcPct val="115000"/>
                </a:lnSpc>
                <a:spcAft>
                  <a:spcPts val="1000"/>
                </a:spcAft>
              </a:pPr>
              <a:r>
                <a:rPr lang="en-US" sz="900" dirty="0">
                  <a:effectLst/>
                  <a:latin typeface="Arial"/>
                  <a:ea typeface="Calibri"/>
                  <a:cs typeface="Vrinda"/>
                </a:rPr>
                <a:t>Wt. machine is not working properly</a:t>
              </a:r>
              <a:endParaRPr lang="en-US" sz="1400" dirty="0">
                <a:effectLst/>
                <a:latin typeface="Calibri"/>
                <a:ea typeface="Calibri"/>
                <a:cs typeface="Vrinda"/>
              </a:endParaRPr>
            </a:p>
          </p:txBody>
        </p:sp>
        <p:sp>
          <p:nvSpPr>
            <p:cNvPr id="25" name="Text Box 191"/>
            <p:cNvSpPr txBox="1">
              <a:spLocks noChangeArrowheads="1"/>
            </p:cNvSpPr>
            <p:nvPr/>
          </p:nvSpPr>
          <p:spPr bwMode="auto">
            <a:xfrm>
              <a:off x="3148415" y="1096827"/>
              <a:ext cx="1650204" cy="22869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>
                <a:lnSpc>
                  <a:spcPct val="115000"/>
                </a:lnSpc>
                <a:spcAft>
                  <a:spcPts val="1000"/>
                </a:spcAft>
              </a:pPr>
              <a:r>
                <a:rPr lang="en-US" sz="1050" dirty="0">
                  <a:effectLst/>
                  <a:latin typeface="Arial"/>
                  <a:ea typeface="Calibri"/>
                  <a:cs typeface="Vrinda"/>
                </a:rPr>
                <a:t>Lack of work distribution </a:t>
              </a:r>
              <a:endParaRPr lang="en-US" sz="1600" dirty="0">
                <a:effectLst/>
                <a:latin typeface="Calibri"/>
                <a:ea typeface="Calibri"/>
                <a:cs typeface="Vrinda"/>
              </a:endParaRPr>
            </a:p>
          </p:txBody>
        </p:sp>
        <p:sp>
          <p:nvSpPr>
            <p:cNvPr id="26" name="Text Box 192"/>
            <p:cNvSpPr txBox="1">
              <a:spLocks noChangeArrowheads="1"/>
            </p:cNvSpPr>
            <p:nvPr/>
          </p:nvSpPr>
          <p:spPr bwMode="auto">
            <a:xfrm>
              <a:off x="3541538" y="1715783"/>
              <a:ext cx="1305078" cy="22869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>
                <a:lnSpc>
                  <a:spcPct val="115000"/>
                </a:lnSpc>
                <a:spcAft>
                  <a:spcPts val="1000"/>
                </a:spcAft>
              </a:pPr>
              <a:r>
                <a:rPr lang="en-US" sz="900" dirty="0">
                  <a:effectLst/>
                  <a:latin typeface="Arial"/>
                  <a:ea typeface="Calibri"/>
                  <a:cs typeface="Vrinda"/>
                </a:rPr>
                <a:t>Overload of the patient</a:t>
              </a:r>
              <a:endParaRPr lang="en-US" sz="1200" dirty="0">
                <a:effectLst/>
                <a:latin typeface="Calibri"/>
                <a:ea typeface="Calibri"/>
                <a:cs typeface="Vrinda"/>
              </a:endParaRPr>
            </a:p>
          </p:txBody>
        </p:sp>
        <p:sp>
          <p:nvSpPr>
            <p:cNvPr id="27" name="Text Box 193"/>
            <p:cNvSpPr txBox="1">
              <a:spLocks noChangeArrowheads="1"/>
            </p:cNvSpPr>
            <p:nvPr/>
          </p:nvSpPr>
          <p:spPr bwMode="auto">
            <a:xfrm>
              <a:off x="3407831" y="1373309"/>
              <a:ext cx="1047948" cy="22869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>
                <a:lnSpc>
                  <a:spcPct val="115000"/>
                </a:lnSpc>
                <a:spcAft>
                  <a:spcPts val="1000"/>
                </a:spcAft>
              </a:pPr>
              <a:r>
                <a:rPr lang="en-US" sz="1100" dirty="0">
                  <a:effectLst/>
                  <a:latin typeface="Calibri"/>
                  <a:ea typeface="Calibri"/>
                  <a:cs typeface="Vrinda"/>
                </a:rPr>
                <a:t>Limited Time</a:t>
              </a:r>
              <a:endParaRPr lang="en-US" sz="1400" dirty="0">
                <a:effectLst/>
                <a:latin typeface="Calibri"/>
                <a:ea typeface="Calibri"/>
                <a:cs typeface="Vrinda"/>
              </a:endParaRPr>
            </a:p>
          </p:txBody>
        </p:sp>
        <p:sp>
          <p:nvSpPr>
            <p:cNvPr id="28" name="Text Box 197"/>
            <p:cNvSpPr txBox="1">
              <a:spLocks noChangeArrowheads="1"/>
            </p:cNvSpPr>
            <p:nvPr/>
          </p:nvSpPr>
          <p:spPr bwMode="auto">
            <a:xfrm>
              <a:off x="542830" y="2973038"/>
              <a:ext cx="1751913" cy="28217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>
                <a:lnSpc>
                  <a:spcPct val="115000"/>
                </a:lnSpc>
                <a:spcAft>
                  <a:spcPts val="1000"/>
                </a:spcAft>
              </a:pPr>
              <a:r>
                <a:rPr lang="en-US" sz="1100" dirty="0">
                  <a:effectLst/>
                  <a:latin typeface="Arial"/>
                  <a:ea typeface="Calibri"/>
                  <a:cs typeface="Vrinda"/>
                </a:rPr>
                <a:t>Screen not supplied</a:t>
              </a:r>
              <a:endParaRPr lang="en-US" sz="1400" dirty="0">
                <a:effectLst/>
                <a:latin typeface="Calibri"/>
                <a:ea typeface="Calibri"/>
                <a:cs typeface="Vrinda"/>
              </a:endParaRPr>
            </a:p>
          </p:txBody>
        </p:sp>
        <p:sp>
          <p:nvSpPr>
            <p:cNvPr id="29" name="Text Box 198"/>
            <p:cNvSpPr txBox="1">
              <a:spLocks noChangeArrowheads="1"/>
            </p:cNvSpPr>
            <p:nvPr/>
          </p:nvSpPr>
          <p:spPr bwMode="auto">
            <a:xfrm>
              <a:off x="1095946" y="2630564"/>
              <a:ext cx="1435357" cy="229833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>
                <a:lnSpc>
                  <a:spcPct val="115000"/>
                </a:lnSpc>
                <a:spcAft>
                  <a:spcPts val="1000"/>
                </a:spcAft>
              </a:pPr>
              <a:r>
                <a:rPr lang="en-US" sz="1100" dirty="0">
                  <a:effectLst/>
                  <a:latin typeface="Arial"/>
                  <a:ea typeface="Calibri"/>
                  <a:cs typeface="Vrinda"/>
                </a:rPr>
                <a:t>Lack of screening</a:t>
              </a:r>
              <a:endParaRPr lang="en-US" sz="1600" dirty="0">
                <a:effectLst/>
                <a:latin typeface="Calibri"/>
                <a:ea typeface="Calibri"/>
                <a:cs typeface="Vrinda"/>
              </a:endParaRPr>
            </a:p>
          </p:txBody>
        </p:sp>
        <p:sp>
          <p:nvSpPr>
            <p:cNvPr id="30" name="Text Box 199"/>
            <p:cNvSpPr txBox="1">
              <a:spLocks noChangeArrowheads="1"/>
            </p:cNvSpPr>
            <p:nvPr/>
          </p:nvSpPr>
          <p:spPr bwMode="auto">
            <a:xfrm>
              <a:off x="1548495" y="2288090"/>
              <a:ext cx="1710772" cy="22869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>
                <a:lnSpc>
                  <a:spcPct val="115000"/>
                </a:lnSpc>
                <a:spcAft>
                  <a:spcPts val="1000"/>
                </a:spcAft>
              </a:pPr>
              <a:r>
                <a:rPr lang="en-US" sz="900" dirty="0">
                  <a:effectLst/>
                  <a:latin typeface="Arial"/>
                  <a:ea typeface="Calibri"/>
                  <a:cs typeface="Vrinda"/>
                </a:rPr>
                <a:t>Privacy not maintained properly</a:t>
              </a:r>
              <a:endParaRPr lang="en-US" sz="1200" dirty="0">
                <a:effectLst/>
                <a:latin typeface="Calibri"/>
                <a:ea typeface="Calibri"/>
                <a:cs typeface="Vrinda"/>
              </a:endParaRPr>
            </a:p>
          </p:txBody>
        </p:sp>
        <p:sp>
          <p:nvSpPr>
            <p:cNvPr id="31" name="Text Box 200"/>
            <p:cNvSpPr txBox="1">
              <a:spLocks noChangeArrowheads="1"/>
            </p:cNvSpPr>
            <p:nvPr/>
          </p:nvSpPr>
          <p:spPr bwMode="auto">
            <a:xfrm>
              <a:off x="3407831" y="2630564"/>
              <a:ext cx="1438786" cy="28217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>
                <a:lnSpc>
                  <a:spcPct val="115000"/>
                </a:lnSpc>
                <a:spcAft>
                  <a:spcPts val="1000"/>
                </a:spcAft>
              </a:pPr>
              <a:r>
                <a:rPr lang="en-US" sz="1100" dirty="0">
                  <a:effectLst/>
                  <a:latin typeface="Arial"/>
                  <a:ea typeface="Calibri"/>
                  <a:cs typeface="Vrinda"/>
                </a:rPr>
                <a:t>SOP not prepared</a:t>
              </a:r>
              <a:endParaRPr lang="en-US" sz="1100" dirty="0">
                <a:effectLst/>
                <a:latin typeface="Calibri"/>
                <a:ea typeface="Calibri"/>
                <a:cs typeface="Vrinda"/>
              </a:endParaRPr>
            </a:p>
          </p:txBody>
        </p:sp>
        <p:sp>
          <p:nvSpPr>
            <p:cNvPr id="32" name="Text Box 201"/>
            <p:cNvSpPr txBox="1">
              <a:spLocks noChangeArrowheads="1"/>
            </p:cNvSpPr>
            <p:nvPr/>
          </p:nvSpPr>
          <p:spPr bwMode="auto">
            <a:xfrm>
              <a:off x="3084418" y="2973038"/>
              <a:ext cx="1485641" cy="28217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>
                <a:lnSpc>
                  <a:spcPct val="115000"/>
                </a:lnSpc>
                <a:spcAft>
                  <a:spcPts val="1000"/>
                </a:spcAft>
              </a:pPr>
              <a:r>
                <a:rPr lang="en-US" sz="1400" dirty="0">
                  <a:effectLst/>
                  <a:latin typeface="Arial"/>
                  <a:ea typeface="Calibri"/>
                  <a:cs typeface="Vrinda"/>
                </a:rPr>
                <a:t>Sop not available</a:t>
              </a:r>
              <a:endParaRPr lang="en-US" sz="1400" dirty="0">
                <a:effectLst/>
                <a:latin typeface="Calibri"/>
                <a:ea typeface="Calibri"/>
                <a:cs typeface="Vrinda"/>
              </a:endParaRPr>
            </a:p>
          </p:txBody>
        </p:sp>
        <p:sp>
          <p:nvSpPr>
            <p:cNvPr id="33" name="Text Box 202"/>
            <p:cNvSpPr txBox="1">
              <a:spLocks noChangeArrowheads="1"/>
            </p:cNvSpPr>
            <p:nvPr/>
          </p:nvSpPr>
          <p:spPr bwMode="auto">
            <a:xfrm>
              <a:off x="3770099" y="2288090"/>
              <a:ext cx="1297078" cy="22869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>
                <a:lnSpc>
                  <a:spcPct val="115000"/>
                </a:lnSpc>
                <a:spcAft>
                  <a:spcPts val="1000"/>
                </a:spcAft>
              </a:pPr>
              <a:r>
                <a:rPr lang="en-US" sz="1050" dirty="0">
                  <a:effectLst/>
                  <a:latin typeface="Arial"/>
                  <a:ea typeface="Calibri"/>
                  <a:cs typeface="Vrinda"/>
                </a:rPr>
                <a:t>Insufficient training</a:t>
              </a:r>
              <a:endParaRPr lang="en-US" sz="1400" dirty="0">
                <a:effectLst/>
                <a:latin typeface="Calibri"/>
                <a:ea typeface="Calibri"/>
                <a:cs typeface="Vrinda"/>
              </a:endParaRPr>
            </a:p>
          </p:txBody>
        </p:sp>
        <p:cxnSp>
          <p:nvCxnSpPr>
            <p:cNvPr id="34" name="Line 209"/>
            <p:cNvCxnSpPr/>
            <p:nvPr/>
          </p:nvCxnSpPr>
          <p:spPr bwMode="auto">
            <a:xfrm>
              <a:off x="5370019" y="1030835"/>
              <a:ext cx="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5" name="Text Box 168"/>
            <p:cNvSpPr txBox="1">
              <a:spLocks noChangeArrowheads="1"/>
            </p:cNvSpPr>
            <p:nvPr/>
          </p:nvSpPr>
          <p:spPr bwMode="auto">
            <a:xfrm>
              <a:off x="5218027" y="1373309"/>
              <a:ext cx="1362218" cy="114347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1000"/>
                </a:spcAft>
              </a:pPr>
              <a:r>
                <a:rPr lang="en-US" sz="1700" b="1">
                  <a:effectLst/>
                  <a:latin typeface="Calibri"/>
                  <a:ea typeface="Calibri"/>
                  <a:cs typeface="Vrinda"/>
                </a:rPr>
                <a:t>Proper fill up of ANC card not done</a:t>
              </a:r>
              <a:endParaRPr lang="en-US" sz="1100">
                <a:effectLst/>
                <a:latin typeface="Calibri"/>
                <a:ea typeface="Calibri"/>
                <a:cs typeface="Vrinda"/>
              </a:endParaRPr>
            </a:p>
          </p:txBody>
        </p:sp>
        <p:sp>
          <p:nvSpPr>
            <p:cNvPr id="36" name="Text Box 210"/>
            <p:cNvSpPr txBox="1">
              <a:spLocks noChangeArrowheads="1"/>
            </p:cNvSpPr>
            <p:nvPr/>
          </p:nvSpPr>
          <p:spPr bwMode="auto">
            <a:xfrm>
              <a:off x="5067177" y="232109"/>
              <a:ext cx="914240" cy="28786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1000"/>
                </a:spcAft>
              </a:pPr>
              <a:r>
                <a:rPr lang="en-US" sz="1100">
                  <a:effectLst/>
                  <a:latin typeface="Calibri"/>
                  <a:ea typeface="Calibri"/>
                  <a:cs typeface="Vrinda"/>
                </a:rPr>
                <a:t>Man</a:t>
              </a:r>
            </a:p>
          </p:txBody>
        </p:sp>
        <p:sp>
          <p:nvSpPr>
            <p:cNvPr id="37" name="Text Box 211"/>
            <p:cNvSpPr txBox="1">
              <a:spLocks noChangeArrowheads="1"/>
            </p:cNvSpPr>
            <p:nvPr/>
          </p:nvSpPr>
          <p:spPr bwMode="auto">
            <a:xfrm>
              <a:off x="0" y="192286"/>
              <a:ext cx="1282221" cy="26851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>
                <a:lnSpc>
                  <a:spcPct val="115000"/>
                </a:lnSpc>
                <a:spcAft>
                  <a:spcPts val="1000"/>
                </a:spcAft>
              </a:pPr>
              <a:r>
                <a:rPr lang="en-US" sz="1100" dirty="0">
                  <a:effectLst/>
                  <a:latin typeface="Calibri"/>
                  <a:ea typeface="Calibri"/>
                  <a:cs typeface="Vrinda"/>
                </a:rPr>
                <a:t>Material</a:t>
              </a:r>
            </a:p>
          </p:txBody>
        </p:sp>
        <p:sp>
          <p:nvSpPr>
            <p:cNvPr id="38" name="Text Box 212"/>
            <p:cNvSpPr txBox="1">
              <a:spLocks noChangeArrowheads="1"/>
            </p:cNvSpPr>
            <p:nvPr/>
          </p:nvSpPr>
          <p:spPr bwMode="auto">
            <a:xfrm>
              <a:off x="0" y="4172266"/>
              <a:ext cx="998808" cy="26396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>
                <a:lnSpc>
                  <a:spcPct val="115000"/>
                </a:lnSpc>
                <a:spcAft>
                  <a:spcPts val="1000"/>
                </a:spcAft>
              </a:pPr>
              <a:r>
                <a:rPr lang="en-US" sz="1100">
                  <a:effectLst/>
                  <a:latin typeface="Calibri"/>
                  <a:ea typeface="Calibri"/>
                  <a:cs typeface="Vrinda"/>
                </a:rPr>
                <a:t>Environment</a:t>
              </a:r>
            </a:p>
          </p:txBody>
        </p:sp>
        <p:sp>
          <p:nvSpPr>
            <p:cNvPr id="39" name="Text Box 213"/>
            <p:cNvSpPr txBox="1">
              <a:spLocks noChangeArrowheads="1"/>
            </p:cNvSpPr>
            <p:nvPr/>
          </p:nvSpPr>
          <p:spPr bwMode="auto">
            <a:xfrm>
              <a:off x="4912899" y="4208675"/>
              <a:ext cx="914240" cy="28444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1000"/>
                </a:spcAft>
              </a:pPr>
              <a:r>
                <a:rPr lang="en-US" sz="1100" dirty="0">
                  <a:effectLst/>
                  <a:latin typeface="Calibri"/>
                  <a:ea typeface="Calibri"/>
                  <a:cs typeface="Vrinda"/>
                </a:rPr>
                <a:t>Method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210446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9512" y="116632"/>
            <a:ext cx="849694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dirty="0" smtClean="0"/>
              <a:t>b. Per </a:t>
            </a:r>
            <a:r>
              <a:rPr lang="en-US" dirty="0"/>
              <a:t>abdominal examination is not done properly</a:t>
            </a:r>
          </a:p>
        </p:txBody>
      </p:sp>
      <p:grpSp>
        <p:nvGrpSpPr>
          <p:cNvPr id="5" name="Canvas 216"/>
          <p:cNvGrpSpPr/>
          <p:nvPr/>
        </p:nvGrpSpPr>
        <p:grpSpPr>
          <a:xfrm>
            <a:off x="554312" y="1062615"/>
            <a:ext cx="7998460" cy="4573905"/>
            <a:chOff x="0" y="0"/>
            <a:chExt cx="7998460" cy="4573905"/>
          </a:xfrm>
        </p:grpSpPr>
        <p:sp>
          <p:nvSpPr>
            <p:cNvPr id="6" name="Rectangle 5"/>
            <p:cNvSpPr/>
            <p:nvPr/>
          </p:nvSpPr>
          <p:spPr>
            <a:xfrm>
              <a:off x="0" y="0"/>
              <a:ext cx="7998460" cy="4573905"/>
            </a:xfrm>
            <a:prstGeom prst="rect">
              <a:avLst/>
            </a:prstGeom>
            <a:noFill/>
          </p:spPr>
        </p:sp>
        <p:sp>
          <p:nvSpPr>
            <p:cNvPr id="7" name="Text Box 218"/>
            <p:cNvSpPr txBox="1">
              <a:spLocks noChangeArrowheads="1"/>
            </p:cNvSpPr>
            <p:nvPr/>
          </p:nvSpPr>
          <p:spPr bwMode="auto">
            <a:xfrm>
              <a:off x="2789576" y="661054"/>
              <a:ext cx="1666203" cy="25714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1000"/>
                </a:spcAft>
              </a:pPr>
              <a:r>
                <a:rPr lang="en-US" sz="1100">
                  <a:effectLst/>
                  <a:latin typeface="Calibri"/>
                  <a:ea typeface="Calibri"/>
                  <a:cs typeface="Vrinda"/>
                </a:rPr>
                <a:t>Limited number of MO</a:t>
              </a:r>
            </a:p>
          </p:txBody>
        </p:sp>
        <p:sp>
          <p:nvSpPr>
            <p:cNvPr id="8" name="Text Box 219"/>
            <p:cNvSpPr txBox="1">
              <a:spLocks noChangeArrowheads="1"/>
            </p:cNvSpPr>
            <p:nvPr/>
          </p:nvSpPr>
          <p:spPr bwMode="auto">
            <a:xfrm>
              <a:off x="349697" y="661054"/>
              <a:ext cx="1521067" cy="25714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1000"/>
                </a:spcAft>
              </a:pPr>
              <a:r>
                <a:rPr lang="en-US" sz="1200" dirty="0">
                  <a:effectLst/>
                  <a:latin typeface="Calibri"/>
                  <a:ea typeface="Calibri"/>
                  <a:cs typeface="Vrinda"/>
                </a:rPr>
                <a:t>No initiative for fund</a:t>
              </a:r>
              <a:endParaRPr lang="en-US" sz="1100" dirty="0">
                <a:effectLst/>
                <a:latin typeface="Calibri"/>
                <a:ea typeface="Calibri"/>
                <a:cs typeface="Vrinda"/>
              </a:endParaRPr>
            </a:p>
          </p:txBody>
        </p:sp>
        <p:sp>
          <p:nvSpPr>
            <p:cNvPr id="9" name="Text Box 220"/>
            <p:cNvSpPr txBox="1">
              <a:spLocks noChangeArrowheads="1"/>
            </p:cNvSpPr>
            <p:nvPr/>
          </p:nvSpPr>
          <p:spPr bwMode="auto">
            <a:xfrm>
              <a:off x="254844" y="3316650"/>
              <a:ext cx="2059326" cy="270793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1000"/>
                </a:spcAft>
              </a:pPr>
              <a:r>
                <a:rPr lang="en-US" sz="1100">
                  <a:effectLst/>
                  <a:latin typeface="Calibri"/>
                  <a:ea typeface="Calibri"/>
                  <a:cs typeface="Vrinda"/>
                </a:rPr>
                <a:t>Demand not given for screening</a:t>
              </a:r>
            </a:p>
            <a:p>
              <a:pPr algn="ctr">
                <a:lnSpc>
                  <a:spcPct val="115000"/>
                </a:lnSpc>
                <a:spcAft>
                  <a:spcPts val="1000"/>
                </a:spcAft>
              </a:pPr>
              <a:r>
                <a:rPr lang="en-US" sz="1100">
                  <a:effectLst/>
                  <a:latin typeface="Calibri"/>
                  <a:ea typeface="Calibri"/>
                  <a:cs typeface="Vrinda"/>
                </a:rPr>
                <a:t> </a:t>
              </a:r>
            </a:p>
          </p:txBody>
        </p:sp>
        <p:sp>
          <p:nvSpPr>
            <p:cNvPr id="10" name="Text Box 221"/>
            <p:cNvSpPr txBox="1">
              <a:spLocks noChangeArrowheads="1"/>
            </p:cNvSpPr>
            <p:nvPr/>
          </p:nvSpPr>
          <p:spPr bwMode="auto">
            <a:xfrm>
              <a:off x="2531303" y="3320063"/>
              <a:ext cx="2372454" cy="26738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1000"/>
                </a:spcAft>
              </a:pPr>
              <a:r>
                <a:rPr lang="en-US" sz="1100">
                  <a:effectLst/>
                  <a:latin typeface="Calibri"/>
                  <a:ea typeface="Calibri"/>
                  <a:cs typeface="Vrinda"/>
                </a:rPr>
                <a:t>Lack of initiative of on-the-job training</a:t>
              </a:r>
            </a:p>
          </p:txBody>
        </p:sp>
        <p:cxnSp>
          <p:nvCxnSpPr>
            <p:cNvPr id="11" name="Line 222"/>
            <p:cNvCxnSpPr/>
            <p:nvPr/>
          </p:nvCxnSpPr>
          <p:spPr bwMode="auto">
            <a:xfrm>
              <a:off x="1255938" y="2063946"/>
              <a:ext cx="4314072" cy="1138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2" name="Line 223"/>
            <p:cNvCxnSpPr/>
            <p:nvPr/>
          </p:nvCxnSpPr>
          <p:spPr bwMode="auto">
            <a:xfrm>
              <a:off x="5760857" y="2059395"/>
              <a:ext cx="114280" cy="113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3" name="Line 224"/>
            <p:cNvCxnSpPr/>
            <p:nvPr/>
          </p:nvCxnSpPr>
          <p:spPr bwMode="auto">
            <a:xfrm>
              <a:off x="1827338" y="2059395"/>
              <a:ext cx="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4" name="Line 225"/>
            <p:cNvCxnSpPr/>
            <p:nvPr/>
          </p:nvCxnSpPr>
          <p:spPr bwMode="auto">
            <a:xfrm flipV="1">
              <a:off x="1713058" y="2059395"/>
              <a:ext cx="914240" cy="125725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5" name="Line 226"/>
            <p:cNvCxnSpPr/>
            <p:nvPr/>
          </p:nvCxnSpPr>
          <p:spPr bwMode="auto">
            <a:xfrm>
              <a:off x="1713058" y="919332"/>
              <a:ext cx="914240" cy="114347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6" name="Line 227"/>
            <p:cNvCxnSpPr/>
            <p:nvPr/>
          </p:nvCxnSpPr>
          <p:spPr bwMode="auto">
            <a:xfrm flipV="1">
              <a:off x="3655818" y="2062808"/>
              <a:ext cx="799960" cy="125725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7" name="Line 228"/>
            <p:cNvCxnSpPr/>
            <p:nvPr/>
          </p:nvCxnSpPr>
          <p:spPr bwMode="auto">
            <a:xfrm>
              <a:off x="3656961" y="920470"/>
              <a:ext cx="798817" cy="114347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8" name="Line 229"/>
            <p:cNvCxnSpPr/>
            <p:nvPr/>
          </p:nvCxnSpPr>
          <p:spPr bwMode="auto">
            <a:xfrm>
              <a:off x="2433022" y="2066222"/>
              <a:ext cx="228560" cy="113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9" name="Line 230"/>
            <p:cNvCxnSpPr/>
            <p:nvPr/>
          </p:nvCxnSpPr>
          <p:spPr bwMode="auto">
            <a:xfrm>
              <a:off x="4275216" y="2067360"/>
              <a:ext cx="228560" cy="113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" name="Line 231"/>
            <p:cNvCxnSpPr/>
            <p:nvPr/>
          </p:nvCxnSpPr>
          <p:spPr bwMode="auto">
            <a:xfrm>
              <a:off x="3198698" y="2059395"/>
              <a:ext cx="1143" cy="113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1" name="Text Box 232"/>
            <p:cNvSpPr txBox="1">
              <a:spLocks noChangeArrowheads="1"/>
            </p:cNvSpPr>
            <p:nvPr/>
          </p:nvSpPr>
          <p:spPr bwMode="auto">
            <a:xfrm>
              <a:off x="646825" y="1449541"/>
              <a:ext cx="799960" cy="1149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>
                <a:lnSpc>
                  <a:spcPct val="115000"/>
                </a:lnSpc>
                <a:spcAft>
                  <a:spcPts val="1000"/>
                </a:spcAft>
              </a:pPr>
              <a:r>
                <a:rPr lang="en-US" sz="1100">
                  <a:effectLst/>
                  <a:latin typeface="Calibri"/>
                  <a:ea typeface="Calibri"/>
                  <a:cs typeface="Vrinda"/>
                </a:rPr>
                <a:t> </a:t>
              </a:r>
            </a:p>
          </p:txBody>
        </p:sp>
        <p:sp>
          <p:nvSpPr>
            <p:cNvPr id="22" name="Text Box 233"/>
            <p:cNvSpPr txBox="1">
              <a:spLocks noChangeArrowheads="1"/>
            </p:cNvSpPr>
            <p:nvPr/>
          </p:nvSpPr>
          <p:spPr bwMode="auto">
            <a:xfrm>
              <a:off x="803389" y="1030835"/>
              <a:ext cx="1727914" cy="22869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1000"/>
                </a:spcAft>
              </a:pPr>
              <a:r>
                <a:rPr lang="en-US" sz="1100" dirty="0">
                  <a:effectLst/>
                  <a:latin typeface="Calibri"/>
                  <a:ea typeface="Calibri"/>
                  <a:cs typeface="Vrinda"/>
                </a:rPr>
                <a:t>Fund was not available</a:t>
              </a:r>
            </a:p>
          </p:txBody>
        </p:sp>
        <p:sp>
          <p:nvSpPr>
            <p:cNvPr id="23" name="Text Box 234"/>
            <p:cNvSpPr txBox="1">
              <a:spLocks noChangeArrowheads="1"/>
            </p:cNvSpPr>
            <p:nvPr/>
          </p:nvSpPr>
          <p:spPr bwMode="auto">
            <a:xfrm>
              <a:off x="1027378" y="1373309"/>
              <a:ext cx="1838766" cy="27420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1000"/>
                </a:spcAft>
              </a:pPr>
              <a:r>
                <a:rPr lang="en-US" sz="1100">
                  <a:effectLst/>
                  <a:latin typeface="Calibri"/>
                  <a:ea typeface="Calibri"/>
                  <a:cs typeface="Vrinda"/>
                </a:rPr>
                <a:t>Not supplied from the store</a:t>
              </a:r>
            </a:p>
          </p:txBody>
        </p:sp>
        <p:sp>
          <p:nvSpPr>
            <p:cNvPr id="24" name="Text Box 235"/>
            <p:cNvSpPr txBox="1">
              <a:spLocks noChangeArrowheads="1"/>
            </p:cNvSpPr>
            <p:nvPr/>
          </p:nvSpPr>
          <p:spPr bwMode="auto">
            <a:xfrm>
              <a:off x="1255938" y="1715783"/>
              <a:ext cx="1828481" cy="281033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1000"/>
                </a:spcAft>
              </a:pPr>
              <a:r>
                <a:rPr lang="en-US" sz="1100">
                  <a:effectLst/>
                  <a:latin typeface="Calibri"/>
                  <a:ea typeface="Calibri"/>
                  <a:cs typeface="Vrinda"/>
                </a:rPr>
                <a:t>Limited sitting arrangement</a:t>
              </a:r>
            </a:p>
          </p:txBody>
        </p:sp>
        <p:sp>
          <p:nvSpPr>
            <p:cNvPr id="25" name="Text Box 236"/>
            <p:cNvSpPr txBox="1">
              <a:spLocks noChangeArrowheads="1"/>
            </p:cNvSpPr>
            <p:nvPr/>
          </p:nvSpPr>
          <p:spPr bwMode="auto">
            <a:xfrm>
              <a:off x="3198698" y="1030835"/>
              <a:ext cx="1906191" cy="22869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1000"/>
                </a:spcAft>
              </a:pPr>
              <a:r>
                <a:rPr lang="en-US" sz="1100">
                  <a:effectLst/>
                  <a:latin typeface="Calibri"/>
                  <a:ea typeface="Calibri"/>
                  <a:cs typeface="Vrinda"/>
                </a:rPr>
                <a:t>Lack of work distribution</a:t>
              </a:r>
            </a:p>
          </p:txBody>
        </p:sp>
        <p:sp>
          <p:nvSpPr>
            <p:cNvPr id="26" name="Text Box 237"/>
            <p:cNvSpPr txBox="1">
              <a:spLocks noChangeArrowheads="1"/>
            </p:cNvSpPr>
            <p:nvPr/>
          </p:nvSpPr>
          <p:spPr bwMode="auto">
            <a:xfrm>
              <a:off x="3655818" y="1715783"/>
              <a:ext cx="1763341" cy="281033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1000"/>
                </a:spcAft>
              </a:pPr>
              <a:r>
                <a:rPr lang="en-US" sz="1100">
                  <a:effectLst/>
                  <a:latin typeface="Calibri"/>
                  <a:ea typeface="Calibri"/>
                  <a:cs typeface="Vrinda"/>
                </a:rPr>
                <a:t>Overload of the patient</a:t>
              </a:r>
            </a:p>
          </p:txBody>
        </p:sp>
        <p:sp>
          <p:nvSpPr>
            <p:cNvPr id="27" name="Text Box 238"/>
            <p:cNvSpPr txBox="1">
              <a:spLocks noChangeArrowheads="1"/>
            </p:cNvSpPr>
            <p:nvPr/>
          </p:nvSpPr>
          <p:spPr bwMode="auto">
            <a:xfrm>
              <a:off x="3463828" y="1373309"/>
              <a:ext cx="1706201" cy="22869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1000"/>
                </a:spcAft>
              </a:pPr>
              <a:r>
                <a:rPr lang="en-US" sz="1100">
                  <a:effectLst/>
                  <a:latin typeface="Calibri"/>
                  <a:ea typeface="Calibri"/>
                  <a:cs typeface="Vrinda"/>
                </a:rPr>
                <a:t>Limitation of time</a:t>
              </a:r>
            </a:p>
          </p:txBody>
        </p:sp>
        <p:sp>
          <p:nvSpPr>
            <p:cNvPr id="28" name="Text Box 239"/>
            <p:cNvSpPr txBox="1">
              <a:spLocks noChangeArrowheads="1"/>
            </p:cNvSpPr>
            <p:nvPr/>
          </p:nvSpPr>
          <p:spPr bwMode="auto">
            <a:xfrm>
              <a:off x="646825" y="2973038"/>
              <a:ext cx="1786197" cy="27193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1000"/>
                </a:spcAft>
              </a:pPr>
              <a:r>
                <a:rPr lang="en-US" sz="1100">
                  <a:effectLst/>
                  <a:latin typeface="Calibri"/>
                  <a:ea typeface="Calibri"/>
                  <a:cs typeface="Vrinda"/>
                </a:rPr>
                <a:t>Screen not supplied</a:t>
              </a:r>
            </a:p>
            <a:p>
              <a:pPr>
                <a:lnSpc>
                  <a:spcPct val="115000"/>
                </a:lnSpc>
                <a:spcAft>
                  <a:spcPts val="1000"/>
                </a:spcAft>
              </a:pPr>
              <a:r>
                <a:rPr lang="en-US" sz="1100">
                  <a:effectLst/>
                  <a:latin typeface="Calibri"/>
                  <a:ea typeface="Calibri"/>
                  <a:cs typeface="Vrinda"/>
                </a:rPr>
                <a:t> </a:t>
              </a:r>
            </a:p>
          </p:txBody>
        </p:sp>
        <p:sp>
          <p:nvSpPr>
            <p:cNvPr id="29" name="Text Box 240"/>
            <p:cNvSpPr txBox="1">
              <a:spLocks noChangeArrowheads="1"/>
            </p:cNvSpPr>
            <p:nvPr/>
          </p:nvSpPr>
          <p:spPr bwMode="auto">
            <a:xfrm>
              <a:off x="803389" y="2630564"/>
              <a:ext cx="1823909" cy="273069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1000"/>
                </a:spcAft>
              </a:pPr>
              <a:r>
                <a:rPr lang="en-US" sz="1100">
                  <a:effectLst/>
                  <a:latin typeface="Calibri"/>
                  <a:ea typeface="Calibri"/>
                  <a:cs typeface="Vrinda"/>
                </a:rPr>
                <a:t>Lack of screening</a:t>
              </a:r>
            </a:p>
            <a:p>
              <a:pPr>
                <a:lnSpc>
                  <a:spcPct val="115000"/>
                </a:lnSpc>
                <a:spcAft>
                  <a:spcPts val="1000"/>
                </a:spcAft>
              </a:pPr>
              <a:r>
                <a:rPr lang="en-US" sz="1100">
                  <a:effectLst/>
                  <a:latin typeface="Calibri"/>
                  <a:ea typeface="Calibri"/>
                  <a:cs typeface="Vrinda"/>
                </a:rPr>
                <a:t> </a:t>
              </a:r>
            </a:p>
          </p:txBody>
        </p:sp>
        <p:sp>
          <p:nvSpPr>
            <p:cNvPr id="30" name="Text Box 241"/>
            <p:cNvSpPr txBox="1">
              <a:spLocks noChangeArrowheads="1"/>
            </p:cNvSpPr>
            <p:nvPr/>
          </p:nvSpPr>
          <p:spPr bwMode="auto">
            <a:xfrm>
              <a:off x="1027378" y="2235752"/>
              <a:ext cx="2057041" cy="293549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1000"/>
                </a:spcAft>
              </a:pPr>
              <a:r>
                <a:rPr lang="en-US" sz="1100">
                  <a:effectLst/>
                  <a:latin typeface="Calibri"/>
                  <a:ea typeface="Calibri"/>
                  <a:cs typeface="Vrinda"/>
                </a:rPr>
                <a:t>Privacy not maintained properly</a:t>
              </a:r>
            </a:p>
            <a:p>
              <a:pPr algn="ctr">
                <a:lnSpc>
                  <a:spcPct val="115000"/>
                </a:lnSpc>
                <a:spcAft>
                  <a:spcPts val="1000"/>
                </a:spcAft>
              </a:pPr>
              <a:r>
                <a:rPr lang="en-US" sz="1100">
                  <a:effectLst/>
                  <a:latin typeface="Calibri"/>
                  <a:ea typeface="Calibri"/>
                  <a:cs typeface="Vrinda"/>
                </a:rPr>
                <a:t> </a:t>
              </a:r>
            </a:p>
          </p:txBody>
        </p:sp>
        <p:sp>
          <p:nvSpPr>
            <p:cNvPr id="31" name="Text Box 242"/>
            <p:cNvSpPr txBox="1">
              <a:spLocks noChangeArrowheads="1"/>
            </p:cNvSpPr>
            <p:nvPr/>
          </p:nvSpPr>
          <p:spPr bwMode="auto">
            <a:xfrm>
              <a:off x="3407831" y="2630564"/>
              <a:ext cx="1617063" cy="273069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1000"/>
                </a:spcAft>
              </a:pPr>
              <a:r>
                <a:rPr lang="en-US" sz="1100">
                  <a:effectLst/>
                  <a:latin typeface="Calibri"/>
                  <a:ea typeface="Calibri"/>
                  <a:cs typeface="Vrinda"/>
                </a:rPr>
                <a:t>Inadequate training</a:t>
              </a:r>
            </a:p>
          </p:txBody>
        </p:sp>
        <p:sp>
          <p:nvSpPr>
            <p:cNvPr id="32" name="Text Box 243"/>
            <p:cNvSpPr txBox="1">
              <a:spLocks noChangeArrowheads="1"/>
            </p:cNvSpPr>
            <p:nvPr/>
          </p:nvSpPr>
          <p:spPr bwMode="auto">
            <a:xfrm>
              <a:off x="3084418" y="2973038"/>
              <a:ext cx="1885621" cy="27193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1000"/>
                </a:spcAft>
              </a:pPr>
              <a:r>
                <a:rPr lang="en-US" sz="1100">
                  <a:effectLst/>
                  <a:latin typeface="Calibri"/>
                  <a:ea typeface="Calibri"/>
                  <a:cs typeface="Vrinda"/>
                </a:rPr>
                <a:t>Lack of on-the-job training</a:t>
              </a:r>
            </a:p>
          </p:txBody>
        </p:sp>
        <p:sp>
          <p:nvSpPr>
            <p:cNvPr id="33" name="Text Box 244"/>
            <p:cNvSpPr txBox="1">
              <a:spLocks noChangeArrowheads="1"/>
            </p:cNvSpPr>
            <p:nvPr/>
          </p:nvSpPr>
          <p:spPr bwMode="auto">
            <a:xfrm>
              <a:off x="3592964" y="2288090"/>
              <a:ext cx="1700487" cy="30492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1000"/>
                </a:spcAft>
              </a:pPr>
              <a:r>
                <a:rPr lang="en-US" sz="1100">
                  <a:effectLst/>
                  <a:latin typeface="Calibri"/>
                  <a:ea typeface="Calibri"/>
                  <a:cs typeface="Vrinda"/>
                </a:rPr>
                <a:t>Lack of proper knowledge</a:t>
              </a:r>
            </a:p>
          </p:txBody>
        </p:sp>
        <p:cxnSp>
          <p:nvCxnSpPr>
            <p:cNvPr id="34" name="Line 245"/>
            <p:cNvCxnSpPr/>
            <p:nvPr/>
          </p:nvCxnSpPr>
          <p:spPr bwMode="auto">
            <a:xfrm>
              <a:off x="5370019" y="1030835"/>
              <a:ext cx="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5" name="Text Box 246"/>
            <p:cNvSpPr txBox="1">
              <a:spLocks noChangeArrowheads="1"/>
            </p:cNvSpPr>
            <p:nvPr/>
          </p:nvSpPr>
          <p:spPr bwMode="auto">
            <a:xfrm>
              <a:off x="5468300" y="1449541"/>
              <a:ext cx="1107374" cy="1181023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1000"/>
                </a:spcAft>
              </a:pPr>
              <a:r>
                <a:rPr lang="en-US" sz="1200">
                  <a:effectLst/>
                  <a:latin typeface="Arial"/>
                  <a:ea typeface="Calibri"/>
                  <a:cs typeface="Vrinda"/>
                </a:rPr>
                <a:t>Per abdominal examination is not done </a:t>
              </a:r>
              <a:r>
                <a:rPr lang="en-US" sz="1300">
                  <a:effectLst/>
                  <a:latin typeface="Arial"/>
                  <a:ea typeface="Calibri"/>
                  <a:cs typeface="Vrinda"/>
                </a:rPr>
                <a:t>properly</a:t>
              </a:r>
              <a:endParaRPr lang="en-US" sz="1100">
                <a:effectLst/>
                <a:latin typeface="Calibri"/>
                <a:ea typeface="Calibri"/>
                <a:cs typeface="Vrinda"/>
              </a:endParaRPr>
            </a:p>
            <a:p>
              <a:pPr algn="ctr">
                <a:lnSpc>
                  <a:spcPct val="115000"/>
                </a:lnSpc>
                <a:spcAft>
                  <a:spcPts val="1000"/>
                </a:spcAft>
              </a:pPr>
              <a:r>
                <a:rPr lang="en-US" sz="1300">
                  <a:effectLst/>
                  <a:latin typeface="Arial"/>
                  <a:ea typeface="Calibri"/>
                  <a:cs typeface="Vrinda"/>
                </a:rPr>
                <a:t> </a:t>
              </a:r>
              <a:endParaRPr lang="en-US" sz="1100">
                <a:effectLst/>
                <a:latin typeface="Calibri"/>
                <a:ea typeface="Calibri"/>
                <a:cs typeface="Vrinda"/>
              </a:endParaRPr>
            </a:p>
          </p:txBody>
        </p:sp>
        <p:sp>
          <p:nvSpPr>
            <p:cNvPr id="36" name="Text Box 247"/>
            <p:cNvSpPr txBox="1">
              <a:spLocks noChangeArrowheads="1"/>
            </p:cNvSpPr>
            <p:nvPr/>
          </p:nvSpPr>
          <p:spPr bwMode="auto">
            <a:xfrm>
              <a:off x="4846616" y="291274"/>
              <a:ext cx="1391931" cy="298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1000"/>
                </a:spcAft>
              </a:pPr>
              <a:r>
                <a:rPr lang="en-US" sz="1100">
                  <a:effectLst/>
                  <a:latin typeface="Calibri"/>
                  <a:ea typeface="Calibri"/>
                  <a:cs typeface="Vrinda"/>
                </a:rPr>
                <a:t>Man</a:t>
              </a:r>
            </a:p>
          </p:txBody>
        </p:sp>
        <p:sp>
          <p:nvSpPr>
            <p:cNvPr id="37" name="Text Box 248"/>
            <p:cNvSpPr txBox="1">
              <a:spLocks noChangeArrowheads="1"/>
            </p:cNvSpPr>
            <p:nvPr/>
          </p:nvSpPr>
          <p:spPr bwMode="auto">
            <a:xfrm>
              <a:off x="113137" y="291274"/>
              <a:ext cx="1409073" cy="298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1000"/>
                </a:spcAft>
              </a:pPr>
              <a:r>
                <a:rPr lang="en-US" sz="1200" dirty="0">
                  <a:effectLst/>
                  <a:latin typeface="Calibri"/>
                  <a:ea typeface="Calibri"/>
                  <a:cs typeface="Vrinda"/>
                </a:rPr>
                <a:t>Material</a:t>
              </a:r>
            </a:p>
          </p:txBody>
        </p:sp>
        <p:sp>
          <p:nvSpPr>
            <p:cNvPr id="38" name="Text Box 249"/>
            <p:cNvSpPr txBox="1">
              <a:spLocks noChangeArrowheads="1"/>
            </p:cNvSpPr>
            <p:nvPr/>
          </p:nvSpPr>
          <p:spPr bwMode="auto">
            <a:xfrm>
              <a:off x="254844" y="4208675"/>
              <a:ext cx="1571351" cy="28444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1000"/>
                </a:spcAft>
              </a:pPr>
              <a:r>
                <a:rPr lang="en-US" sz="1000">
                  <a:effectLst/>
                  <a:latin typeface="Calibri"/>
                  <a:ea typeface="Calibri"/>
                  <a:cs typeface="Vrinda"/>
                </a:rPr>
                <a:t>Environment</a:t>
              </a:r>
              <a:endParaRPr lang="en-US" sz="1100">
                <a:effectLst/>
                <a:latin typeface="Calibri"/>
                <a:ea typeface="Calibri"/>
                <a:cs typeface="Vrinda"/>
              </a:endParaRPr>
            </a:p>
          </p:txBody>
        </p:sp>
        <p:sp>
          <p:nvSpPr>
            <p:cNvPr id="39" name="Text Box 250"/>
            <p:cNvSpPr txBox="1">
              <a:spLocks noChangeArrowheads="1"/>
            </p:cNvSpPr>
            <p:nvPr/>
          </p:nvSpPr>
          <p:spPr bwMode="auto">
            <a:xfrm>
              <a:off x="4791762" y="4208675"/>
              <a:ext cx="1540495" cy="28444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1000"/>
                </a:spcAft>
              </a:pPr>
              <a:r>
                <a:rPr lang="en-US" sz="1100">
                  <a:effectLst/>
                  <a:latin typeface="Calibri"/>
                  <a:ea typeface="Calibri"/>
                  <a:cs typeface="Vrinda"/>
                </a:rPr>
                <a:t>Method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302100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51520" y="260648"/>
            <a:ext cx="511256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c. Estimation of HB</a:t>
            </a:r>
            <a:r>
              <a:rPr lang="en-US" dirty="0"/>
              <a:t>% not done</a:t>
            </a:r>
          </a:p>
        </p:txBody>
      </p:sp>
      <p:grpSp>
        <p:nvGrpSpPr>
          <p:cNvPr id="5" name="Canvas 286"/>
          <p:cNvGrpSpPr/>
          <p:nvPr/>
        </p:nvGrpSpPr>
        <p:grpSpPr>
          <a:xfrm>
            <a:off x="105364" y="773360"/>
            <a:ext cx="8859124" cy="5319936"/>
            <a:chOff x="0" y="0"/>
            <a:chExt cx="7998460" cy="4573905"/>
          </a:xfrm>
        </p:grpSpPr>
        <p:sp>
          <p:nvSpPr>
            <p:cNvPr id="6" name="Rectangle 5"/>
            <p:cNvSpPr/>
            <p:nvPr/>
          </p:nvSpPr>
          <p:spPr>
            <a:xfrm>
              <a:off x="0" y="0"/>
              <a:ext cx="7998460" cy="4573905"/>
            </a:xfrm>
            <a:prstGeom prst="rect">
              <a:avLst/>
            </a:prstGeom>
            <a:noFill/>
          </p:spPr>
        </p:sp>
        <p:sp>
          <p:nvSpPr>
            <p:cNvPr id="7" name="Text Box 288"/>
            <p:cNvSpPr txBox="1">
              <a:spLocks noChangeArrowheads="1"/>
            </p:cNvSpPr>
            <p:nvPr/>
          </p:nvSpPr>
          <p:spPr bwMode="auto">
            <a:xfrm>
              <a:off x="2689009" y="639436"/>
              <a:ext cx="2050184" cy="281033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1000"/>
                </a:spcAft>
              </a:pPr>
              <a:r>
                <a:rPr lang="en-US" sz="1100">
                  <a:effectLst/>
                  <a:latin typeface="Calibri"/>
                  <a:ea typeface="Calibri"/>
                  <a:cs typeface="Vrinda"/>
                </a:rPr>
                <a:t>Lack of initiative for manpower</a:t>
              </a:r>
            </a:p>
          </p:txBody>
        </p:sp>
        <p:sp>
          <p:nvSpPr>
            <p:cNvPr id="8" name="Text Box 289"/>
            <p:cNvSpPr txBox="1">
              <a:spLocks noChangeArrowheads="1"/>
            </p:cNvSpPr>
            <p:nvPr/>
          </p:nvSpPr>
          <p:spPr bwMode="auto">
            <a:xfrm>
              <a:off x="161135" y="638299"/>
              <a:ext cx="2095896" cy="28217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1000"/>
                </a:spcAft>
              </a:pPr>
              <a:r>
                <a:rPr lang="en-US" sz="1100" dirty="0">
                  <a:effectLst/>
                  <a:latin typeface="Calibri"/>
                  <a:ea typeface="Calibri"/>
                  <a:cs typeface="Vrinda"/>
                </a:rPr>
                <a:t>Not taken initiative for good quality</a:t>
              </a:r>
              <a:endParaRPr lang="en-US" sz="1400" dirty="0">
                <a:effectLst/>
                <a:latin typeface="Calibri"/>
                <a:ea typeface="Calibri"/>
                <a:cs typeface="Vrinda"/>
              </a:endParaRPr>
            </a:p>
          </p:txBody>
        </p:sp>
        <p:sp>
          <p:nvSpPr>
            <p:cNvPr id="9" name="Text Box 290"/>
            <p:cNvSpPr txBox="1">
              <a:spLocks noChangeArrowheads="1"/>
            </p:cNvSpPr>
            <p:nvPr/>
          </p:nvSpPr>
          <p:spPr bwMode="auto">
            <a:xfrm>
              <a:off x="0" y="3320063"/>
              <a:ext cx="2217033" cy="29468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1000"/>
                </a:spcAft>
              </a:pPr>
              <a:r>
                <a:rPr lang="en-US" sz="1200" dirty="0">
                  <a:effectLst/>
                  <a:latin typeface="Calibri"/>
                  <a:ea typeface="Calibri"/>
                  <a:cs typeface="Vrinda"/>
                </a:rPr>
                <a:t>Initiative not taken for supervision</a:t>
              </a:r>
            </a:p>
          </p:txBody>
        </p:sp>
        <p:sp>
          <p:nvSpPr>
            <p:cNvPr id="10" name="Text Box 291"/>
            <p:cNvSpPr txBox="1">
              <a:spLocks noChangeArrowheads="1"/>
            </p:cNvSpPr>
            <p:nvPr/>
          </p:nvSpPr>
          <p:spPr bwMode="auto">
            <a:xfrm>
              <a:off x="2531303" y="3316650"/>
              <a:ext cx="2038756" cy="29468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1000"/>
                </a:spcAft>
              </a:pPr>
              <a:r>
                <a:rPr lang="en-US" sz="1100">
                  <a:effectLst/>
                  <a:latin typeface="Calibri"/>
                  <a:ea typeface="Calibri"/>
                  <a:cs typeface="Vrinda"/>
                </a:rPr>
                <a:t>Initiative not taken </a:t>
              </a:r>
            </a:p>
            <a:p>
              <a:pPr algn="ctr">
                <a:lnSpc>
                  <a:spcPct val="115000"/>
                </a:lnSpc>
                <a:spcAft>
                  <a:spcPts val="1000"/>
                </a:spcAft>
              </a:pPr>
              <a:r>
                <a:rPr lang="en-US" sz="1100">
                  <a:effectLst/>
                  <a:latin typeface="Calibri"/>
                  <a:ea typeface="Calibri"/>
                  <a:cs typeface="Vrinda"/>
                </a:rPr>
                <a:t> </a:t>
              </a:r>
            </a:p>
          </p:txBody>
        </p:sp>
        <p:cxnSp>
          <p:nvCxnSpPr>
            <p:cNvPr id="11" name="Line 292"/>
            <p:cNvCxnSpPr/>
            <p:nvPr/>
          </p:nvCxnSpPr>
          <p:spPr bwMode="auto">
            <a:xfrm>
              <a:off x="646825" y="2065084"/>
              <a:ext cx="4888900" cy="5689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2" name="Line 293"/>
            <p:cNvCxnSpPr/>
            <p:nvPr/>
          </p:nvCxnSpPr>
          <p:spPr bwMode="auto">
            <a:xfrm>
              <a:off x="5760857" y="2059395"/>
              <a:ext cx="114280" cy="113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3" name="Line 294"/>
            <p:cNvCxnSpPr/>
            <p:nvPr/>
          </p:nvCxnSpPr>
          <p:spPr bwMode="auto">
            <a:xfrm>
              <a:off x="1827338" y="2059395"/>
              <a:ext cx="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4" name="Line 295"/>
            <p:cNvCxnSpPr/>
            <p:nvPr/>
          </p:nvCxnSpPr>
          <p:spPr bwMode="auto">
            <a:xfrm flipV="1">
              <a:off x="1713058" y="2059395"/>
              <a:ext cx="914240" cy="125725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5" name="Line 296"/>
            <p:cNvCxnSpPr/>
            <p:nvPr/>
          </p:nvCxnSpPr>
          <p:spPr bwMode="auto">
            <a:xfrm>
              <a:off x="1713058" y="919332"/>
              <a:ext cx="914240" cy="114347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6" name="Line 297"/>
            <p:cNvCxnSpPr/>
            <p:nvPr/>
          </p:nvCxnSpPr>
          <p:spPr bwMode="auto">
            <a:xfrm flipV="1">
              <a:off x="3655818" y="2062808"/>
              <a:ext cx="799960" cy="125725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7" name="Line 298"/>
            <p:cNvCxnSpPr/>
            <p:nvPr/>
          </p:nvCxnSpPr>
          <p:spPr bwMode="auto">
            <a:xfrm>
              <a:off x="3656961" y="920470"/>
              <a:ext cx="798817" cy="114347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8" name="Line 299"/>
            <p:cNvCxnSpPr/>
            <p:nvPr/>
          </p:nvCxnSpPr>
          <p:spPr bwMode="auto">
            <a:xfrm>
              <a:off x="2437593" y="2074186"/>
              <a:ext cx="228560" cy="113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9" name="Line 300"/>
            <p:cNvCxnSpPr/>
            <p:nvPr/>
          </p:nvCxnSpPr>
          <p:spPr bwMode="auto">
            <a:xfrm>
              <a:off x="4263788" y="2065084"/>
              <a:ext cx="228560" cy="113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" name="Line 301"/>
            <p:cNvCxnSpPr/>
            <p:nvPr/>
          </p:nvCxnSpPr>
          <p:spPr bwMode="auto">
            <a:xfrm>
              <a:off x="3198698" y="2059395"/>
              <a:ext cx="1143" cy="113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1" name="Text Box 302"/>
            <p:cNvSpPr txBox="1">
              <a:spLocks noChangeArrowheads="1"/>
            </p:cNvSpPr>
            <p:nvPr/>
          </p:nvSpPr>
          <p:spPr bwMode="auto">
            <a:xfrm>
              <a:off x="646825" y="1449541"/>
              <a:ext cx="799960" cy="1149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>
                <a:lnSpc>
                  <a:spcPct val="115000"/>
                </a:lnSpc>
                <a:spcAft>
                  <a:spcPts val="1000"/>
                </a:spcAft>
              </a:pPr>
              <a:r>
                <a:rPr lang="en-US" sz="1100">
                  <a:effectLst/>
                  <a:latin typeface="Calibri"/>
                  <a:ea typeface="Calibri"/>
                  <a:cs typeface="Vrinda"/>
                </a:rPr>
                <a:t> </a:t>
              </a:r>
            </a:p>
          </p:txBody>
        </p:sp>
        <p:sp>
          <p:nvSpPr>
            <p:cNvPr id="22" name="Text Box 303"/>
            <p:cNvSpPr txBox="1">
              <a:spLocks noChangeArrowheads="1"/>
            </p:cNvSpPr>
            <p:nvPr/>
          </p:nvSpPr>
          <p:spPr bwMode="auto">
            <a:xfrm>
              <a:off x="301699" y="1030835"/>
              <a:ext cx="1868479" cy="27420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1000"/>
                </a:spcAft>
              </a:pPr>
              <a:r>
                <a:rPr lang="en-US" sz="1100">
                  <a:effectLst/>
                  <a:latin typeface="Calibri"/>
                  <a:ea typeface="Calibri"/>
                  <a:cs typeface="Vrinda"/>
                </a:rPr>
                <a:t>Not supplied good quality</a:t>
              </a:r>
            </a:p>
          </p:txBody>
        </p:sp>
        <p:sp>
          <p:nvSpPr>
            <p:cNvPr id="23" name="Text Box 304"/>
            <p:cNvSpPr txBox="1">
              <a:spLocks noChangeArrowheads="1"/>
            </p:cNvSpPr>
            <p:nvPr/>
          </p:nvSpPr>
          <p:spPr bwMode="auto">
            <a:xfrm>
              <a:off x="466263" y="1373309"/>
              <a:ext cx="2324456" cy="22869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1000"/>
                </a:spcAft>
              </a:pPr>
              <a:r>
                <a:rPr lang="en-US" sz="1100">
                  <a:effectLst/>
                  <a:latin typeface="Calibri"/>
                  <a:ea typeface="Calibri"/>
                  <a:cs typeface="Vrinda"/>
                </a:rPr>
                <a:t>Low quality Hemoglobinometer</a:t>
              </a:r>
            </a:p>
          </p:txBody>
        </p:sp>
        <p:sp>
          <p:nvSpPr>
            <p:cNvPr id="24" name="Text Box 305"/>
            <p:cNvSpPr txBox="1">
              <a:spLocks noChangeArrowheads="1"/>
            </p:cNvSpPr>
            <p:nvPr/>
          </p:nvSpPr>
          <p:spPr bwMode="auto">
            <a:xfrm>
              <a:off x="646825" y="1715783"/>
              <a:ext cx="2551873" cy="281033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1000"/>
                </a:spcAft>
              </a:pPr>
              <a:r>
                <a:rPr lang="en-US" sz="1100" dirty="0" err="1">
                  <a:effectLst/>
                  <a:latin typeface="Calibri"/>
                  <a:ea typeface="Calibri"/>
                  <a:cs typeface="Vrinda"/>
                </a:rPr>
                <a:t>Hemoglobinometer</a:t>
              </a:r>
              <a:r>
                <a:rPr lang="en-US" sz="1100" dirty="0">
                  <a:effectLst/>
                  <a:latin typeface="Calibri"/>
                  <a:ea typeface="Calibri"/>
                  <a:cs typeface="Vrinda"/>
                </a:rPr>
                <a:t>  is not working properly</a:t>
              </a:r>
              <a:endParaRPr lang="en-US" sz="1400" dirty="0">
                <a:effectLst/>
                <a:latin typeface="Calibri"/>
                <a:ea typeface="Calibri"/>
                <a:cs typeface="Vrinda"/>
              </a:endParaRPr>
            </a:p>
          </p:txBody>
        </p:sp>
        <p:sp>
          <p:nvSpPr>
            <p:cNvPr id="25" name="Text Box 306"/>
            <p:cNvSpPr txBox="1">
              <a:spLocks noChangeArrowheads="1"/>
            </p:cNvSpPr>
            <p:nvPr/>
          </p:nvSpPr>
          <p:spPr bwMode="auto">
            <a:xfrm>
              <a:off x="3116417" y="1030835"/>
              <a:ext cx="1969045" cy="27420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1000"/>
                </a:spcAft>
              </a:pPr>
              <a:r>
                <a:rPr lang="en-US" sz="1100">
                  <a:effectLst/>
                  <a:latin typeface="Calibri"/>
                  <a:ea typeface="Calibri"/>
                  <a:cs typeface="Vrinda"/>
                </a:rPr>
                <a:t>Shortage of manpower</a:t>
              </a:r>
            </a:p>
          </p:txBody>
        </p:sp>
        <p:sp>
          <p:nvSpPr>
            <p:cNvPr id="26" name="Text Box 307"/>
            <p:cNvSpPr txBox="1">
              <a:spLocks noChangeArrowheads="1"/>
            </p:cNvSpPr>
            <p:nvPr/>
          </p:nvSpPr>
          <p:spPr bwMode="auto">
            <a:xfrm>
              <a:off x="3567823" y="1715783"/>
              <a:ext cx="1854765" cy="281033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1000"/>
                </a:spcAft>
              </a:pPr>
              <a:r>
                <a:rPr lang="en-US" sz="1100">
                  <a:effectLst/>
                  <a:latin typeface="Calibri"/>
                  <a:ea typeface="Calibri"/>
                  <a:cs typeface="Vrinda"/>
                </a:rPr>
                <a:t>Overload of the patient</a:t>
              </a:r>
            </a:p>
          </p:txBody>
        </p:sp>
        <p:sp>
          <p:nvSpPr>
            <p:cNvPr id="27" name="Text Box 308"/>
            <p:cNvSpPr txBox="1">
              <a:spLocks noChangeArrowheads="1"/>
            </p:cNvSpPr>
            <p:nvPr/>
          </p:nvSpPr>
          <p:spPr bwMode="auto">
            <a:xfrm>
              <a:off x="3245553" y="1373309"/>
              <a:ext cx="2030756" cy="22869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>
                <a:lnSpc>
                  <a:spcPct val="115000"/>
                </a:lnSpc>
                <a:spcAft>
                  <a:spcPts val="1000"/>
                </a:spcAft>
              </a:pPr>
              <a:r>
                <a:rPr lang="en-US" sz="1100">
                  <a:effectLst/>
                  <a:latin typeface="Calibri"/>
                  <a:ea typeface="Calibri"/>
                  <a:cs typeface="Vrinda"/>
                </a:rPr>
                <a:t>Work distribution is not done</a:t>
              </a:r>
            </a:p>
          </p:txBody>
        </p:sp>
        <p:sp>
          <p:nvSpPr>
            <p:cNvPr id="28" name="Text Box 309"/>
            <p:cNvSpPr txBox="1">
              <a:spLocks noChangeArrowheads="1"/>
            </p:cNvSpPr>
            <p:nvPr/>
          </p:nvSpPr>
          <p:spPr bwMode="auto">
            <a:xfrm>
              <a:off x="348554" y="2919562"/>
              <a:ext cx="1979330" cy="27193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1000"/>
                </a:spcAft>
              </a:pPr>
              <a:r>
                <a:rPr lang="en-US" sz="1100">
                  <a:effectLst/>
                  <a:latin typeface="Calibri"/>
                  <a:ea typeface="Calibri"/>
                  <a:cs typeface="Vrinda"/>
                </a:rPr>
                <a:t>Supervision not done properly</a:t>
              </a:r>
            </a:p>
          </p:txBody>
        </p:sp>
        <p:sp>
          <p:nvSpPr>
            <p:cNvPr id="29" name="Text Box 310"/>
            <p:cNvSpPr txBox="1">
              <a:spLocks noChangeArrowheads="1"/>
            </p:cNvSpPr>
            <p:nvPr/>
          </p:nvSpPr>
          <p:spPr bwMode="auto">
            <a:xfrm>
              <a:off x="466263" y="2593017"/>
              <a:ext cx="1971331" cy="22869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1000"/>
                </a:spcAft>
              </a:pPr>
              <a:r>
                <a:rPr lang="en-US" sz="1100">
                  <a:effectLst/>
                  <a:latin typeface="Calibri"/>
                  <a:ea typeface="Calibri"/>
                  <a:cs typeface="Vrinda"/>
                </a:rPr>
                <a:t>Program not started in time</a:t>
              </a:r>
            </a:p>
          </p:txBody>
        </p:sp>
        <p:sp>
          <p:nvSpPr>
            <p:cNvPr id="30" name="Text Box 311"/>
            <p:cNvSpPr txBox="1">
              <a:spLocks noChangeArrowheads="1"/>
            </p:cNvSpPr>
            <p:nvPr/>
          </p:nvSpPr>
          <p:spPr bwMode="auto">
            <a:xfrm>
              <a:off x="741677" y="2286952"/>
              <a:ext cx="1789625" cy="25714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1000"/>
                </a:spcAft>
              </a:pPr>
              <a:r>
                <a:rPr lang="en-US" sz="1100">
                  <a:effectLst/>
                  <a:latin typeface="Calibri"/>
                  <a:ea typeface="Calibri"/>
                  <a:cs typeface="Vrinda"/>
                </a:rPr>
                <a:t>Delay for investigation</a:t>
              </a:r>
            </a:p>
          </p:txBody>
        </p:sp>
        <p:sp>
          <p:nvSpPr>
            <p:cNvPr id="31" name="Text Box 312"/>
            <p:cNvSpPr txBox="1">
              <a:spLocks noChangeArrowheads="1"/>
            </p:cNvSpPr>
            <p:nvPr/>
          </p:nvSpPr>
          <p:spPr bwMode="auto">
            <a:xfrm>
              <a:off x="2627298" y="2630564"/>
              <a:ext cx="2342741" cy="28899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1000"/>
                </a:spcAft>
              </a:pPr>
              <a:r>
                <a:rPr lang="en-US" sz="1000">
                  <a:effectLst/>
                  <a:latin typeface="Arial"/>
                  <a:ea typeface="Calibri"/>
                  <a:cs typeface="Vrinda"/>
                </a:rPr>
                <a:t>Lack of knowledge</a:t>
              </a:r>
              <a:endParaRPr lang="en-US" sz="1100">
                <a:effectLst/>
                <a:latin typeface="Calibri"/>
                <a:ea typeface="Calibri"/>
                <a:cs typeface="Vrinda"/>
              </a:endParaRPr>
            </a:p>
          </p:txBody>
        </p:sp>
        <p:sp>
          <p:nvSpPr>
            <p:cNvPr id="32" name="Text Box 313"/>
            <p:cNvSpPr txBox="1">
              <a:spLocks noChangeArrowheads="1"/>
            </p:cNvSpPr>
            <p:nvPr/>
          </p:nvSpPr>
          <p:spPr bwMode="auto">
            <a:xfrm>
              <a:off x="2531303" y="2973038"/>
              <a:ext cx="2362168" cy="27193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1000"/>
                </a:spcAft>
              </a:pPr>
              <a:r>
                <a:rPr lang="en-US" sz="1100">
                  <a:effectLst/>
                  <a:latin typeface="Calibri"/>
                  <a:ea typeface="Calibri"/>
                  <a:cs typeface="Vrinda"/>
                </a:rPr>
                <a:t>Health education not done properly</a:t>
              </a:r>
            </a:p>
            <a:p>
              <a:pPr>
                <a:lnSpc>
                  <a:spcPct val="115000"/>
                </a:lnSpc>
                <a:spcAft>
                  <a:spcPts val="1000"/>
                </a:spcAft>
              </a:pPr>
              <a:r>
                <a:rPr lang="en-US" sz="1100">
                  <a:effectLst/>
                  <a:latin typeface="Calibri"/>
                  <a:ea typeface="Calibri"/>
                  <a:cs typeface="Vrinda"/>
                </a:rPr>
                <a:t> </a:t>
              </a:r>
            </a:p>
          </p:txBody>
        </p:sp>
        <p:sp>
          <p:nvSpPr>
            <p:cNvPr id="33" name="Text Box 314"/>
            <p:cNvSpPr txBox="1">
              <a:spLocks noChangeArrowheads="1"/>
            </p:cNvSpPr>
            <p:nvPr/>
          </p:nvSpPr>
          <p:spPr bwMode="auto">
            <a:xfrm>
              <a:off x="2734721" y="2286953"/>
              <a:ext cx="2719865" cy="30606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1000"/>
                </a:spcAft>
              </a:pPr>
              <a:r>
                <a:rPr lang="en-US" sz="1000" dirty="0">
                  <a:effectLst/>
                  <a:latin typeface="Arial"/>
                  <a:ea typeface="Calibri"/>
                  <a:cs typeface="Vrinda"/>
                </a:rPr>
                <a:t>Lack of importance about hemoglobin estimation</a:t>
              </a:r>
              <a:endParaRPr lang="en-US" sz="1200" dirty="0">
                <a:effectLst/>
                <a:latin typeface="Calibri"/>
                <a:ea typeface="Calibri"/>
                <a:cs typeface="Vrinda"/>
              </a:endParaRPr>
            </a:p>
          </p:txBody>
        </p:sp>
        <p:cxnSp>
          <p:nvCxnSpPr>
            <p:cNvPr id="34" name="Line 315"/>
            <p:cNvCxnSpPr/>
            <p:nvPr/>
          </p:nvCxnSpPr>
          <p:spPr bwMode="auto">
            <a:xfrm>
              <a:off x="5370019" y="1030835"/>
              <a:ext cx="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5" name="Text Box 316"/>
            <p:cNvSpPr txBox="1">
              <a:spLocks noChangeArrowheads="1"/>
            </p:cNvSpPr>
            <p:nvPr/>
          </p:nvSpPr>
          <p:spPr bwMode="auto">
            <a:xfrm>
              <a:off x="5510584" y="1449541"/>
              <a:ext cx="1034234" cy="114347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1000"/>
                </a:spcAft>
              </a:pPr>
              <a:r>
                <a:rPr lang="en-US" sz="1500">
                  <a:effectLst/>
                  <a:latin typeface="Calibri"/>
                  <a:ea typeface="Calibri"/>
                  <a:cs typeface="Vrinda"/>
                </a:rPr>
                <a:t>Estimation of HB% not done </a:t>
              </a:r>
              <a:r>
                <a:rPr lang="en-US" sz="1600">
                  <a:effectLst/>
                  <a:latin typeface="Calibri"/>
                  <a:ea typeface="Calibri"/>
                  <a:cs typeface="Vrinda"/>
                </a:rPr>
                <a:t>properly</a:t>
              </a:r>
              <a:endParaRPr lang="en-US" sz="1100">
                <a:effectLst/>
                <a:latin typeface="Calibri"/>
                <a:ea typeface="Calibri"/>
                <a:cs typeface="Vrinda"/>
              </a:endParaRPr>
            </a:p>
            <a:p>
              <a:pPr algn="ctr">
                <a:lnSpc>
                  <a:spcPct val="115000"/>
                </a:lnSpc>
                <a:spcAft>
                  <a:spcPts val="1000"/>
                </a:spcAft>
              </a:pPr>
              <a:r>
                <a:rPr lang="en-US" sz="1600">
                  <a:effectLst/>
                  <a:latin typeface="Calibri"/>
                  <a:ea typeface="Calibri"/>
                  <a:cs typeface="Vrinda"/>
                </a:rPr>
                <a:t> </a:t>
              </a:r>
              <a:endParaRPr lang="en-US" sz="1100">
                <a:effectLst/>
                <a:latin typeface="Calibri"/>
                <a:ea typeface="Calibri"/>
                <a:cs typeface="Vrinda"/>
              </a:endParaRPr>
            </a:p>
          </p:txBody>
        </p:sp>
        <p:sp>
          <p:nvSpPr>
            <p:cNvPr id="36" name="Text Box 317"/>
            <p:cNvSpPr txBox="1">
              <a:spLocks noChangeArrowheads="1"/>
            </p:cNvSpPr>
            <p:nvPr/>
          </p:nvSpPr>
          <p:spPr bwMode="auto">
            <a:xfrm>
              <a:off x="4893471" y="128570"/>
              <a:ext cx="1391931" cy="30492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1000"/>
                </a:spcAft>
              </a:pPr>
              <a:r>
                <a:rPr lang="en-US" sz="1100">
                  <a:effectLst/>
                  <a:latin typeface="Calibri"/>
                  <a:ea typeface="Calibri"/>
                  <a:cs typeface="Vrinda"/>
                </a:rPr>
                <a:t>Man</a:t>
              </a:r>
            </a:p>
          </p:txBody>
        </p:sp>
        <p:sp>
          <p:nvSpPr>
            <p:cNvPr id="37" name="Text Box 318"/>
            <p:cNvSpPr txBox="1">
              <a:spLocks noChangeArrowheads="1"/>
            </p:cNvSpPr>
            <p:nvPr/>
          </p:nvSpPr>
          <p:spPr bwMode="auto">
            <a:xfrm>
              <a:off x="161135" y="128570"/>
              <a:ext cx="1409073" cy="26851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1000"/>
                </a:spcAft>
              </a:pPr>
              <a:r>
                <a:rPr lang="en-US" sz="1100">
                  <a:effectLst/>
                  <a:latin typeface="Calibri"/>
                  <a:ea typeface="Calibri"/>
                  <a:cs typeface="Vrinda"/>
                </a:rPr>
                <a:t>Material</a:t>
              </a:r>
            </a:p>
          </p:txBody>
        </p:sp>
        <p:sp>
          <p:nvSpPr>
            <p:cNvPr id="38" name="Text Box 319"/>
            <p:cNvSpPr txBox="1">
              <a:spLocks noChangeArrowheads="1"/>
            </p:cNvSpPr>
            <p:nvPr/>
          </p:nvSpPr>
          <p:spPr bwMode="auto">
            <a:xfrm>
              <a:off x="113137" y="4208675"/>
              <a:ext cx="1409073" cy="28444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1000"/>
                </a:spcAft>
              </a:pPr>
              <a:r>
                <a:rPr lang="en-US" sz="1100">
                  <a:effectLst/>
                  <a:latin typeface="Calibri"/>
                  <a:ea typeface="Calibri"/>
                  <a:cs typeface="Vrinda"/>
                </a:rPr>
                <a:t>Environment</a:t>
              </a:r>
            </a:p>
          </p:txBody>
        </p:sp>
        <p:sp>
          <p:nvSpPr>
            <p:cNvPr id="39" name="Text Box 320"/>
            <p:cNvSpPr txBox="1">
              <a:spLocks noChangeArrowheads="1"/>
            </p:cNvSpPr>
            <p:nvPr/>
          </p:nvSpPr>
          <p:spPr bwMode="auto">
            <a:xfrm>
              <a:off x="4970039" y="4208675"/>
              <a:ext cx="1315363" cy="28444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1000"/>
                </a:spcAft>
              </a:pPr>
              <a:r>
                <a:rPr lang="en-US" sz="1100">
                  <a:effectLst/>
                  <a:latin typeface="Calibri"/>
                  <a:ea typeface="Calibri"/>
                  <a:cs typeface="Vrinda"/>
                </a:rPr>
                <a:t>Method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712377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26359"/>
            <a:ext cx="889248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u="sng" dirty="0"/>
              <a:t>Step 4:</a:t>
            </a:r>
            <a:r>
              <a:rPr lang="en-US" b="1" dirty="0"/>
              <a:t> Identification of actions/countermeasures</a:t>
            </a:r>
            <a:endParaRPr 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0006028"/>
              </p:ext>
            </p:extLst>
          </p:nvPr>
        </p:nvGraphicFramePr>
        <p:xfrm>
          <a:off x="0" y="395691"/>
          <a:ext cx="8784976" cy="630779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16026"/>
                <a:gridCol w="2160240"/>
                <a:gridCol w="2051718"/>
                <a:gridCol w="2426751"/>
                <a:gridCol w="274733"/>
                <a:gridCol w="275380"/>
                <a:gridCol w="300008"/>
                <a:gridCol w="436922"/>
                <a:gridCol w="368465"/>
                <a:gridCol w="274733"/>
              </a:tblGrid>
              <a:tr h="71684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 err="1" smtClean="0">
                          <a:effectLst/>
                        </a:rPr>
                        <a:t>Sl</a:t>
                      </a:r>
                      <a:r>
                        <a:rPr lang="en-US" sz="1100" dirty="0" smtClean="0">
                          <a:effectLst/>
                        </a:rPr>
                        <a:t> No</a:t>
                      </a:r>
                      <a:endParaRPr lang="en-US" sz="1050" dirty="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31710" marR="3171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Root cause</a:t>
                      </a:r>
                      <a:endParaRPr lang="en-US" sz="1050">
                        <a:effectLst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 </a:t>
                      </a:r>
                      <a:endParaRPr lang="en-US" sz="1050">
                        <a:effectLst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 </a:t>
                      </a:r>
                      <a:endParaRPr lang="en-US" sz="105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31710" marR="3171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Primary action</a:t>
                      </a:r>
                      <a:endParaRPr lang="en-US" sz="1050" dirty="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31710" marR="3171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Secondary action</a:t>
                      </a:r>
                      <a:endParaRPr lang="en-US" sz="1050" dirty="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31710" marR="31710" marT="0" marB="0"/>
                </a:tc>
                <a:tc>
                  <a:txBody>
                    <a:bodyPr/>
                    <a:lstStyle/>
                    <a:p>
                      <a:pPr marL="71755" marR="7175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 err="1" smtClean="0">
                          <a:effectLst/>
                        </a:rPr>
                        <a:t>Importanc</a:t>
                      </a:r>
                      <a:endParaRPr lang="en-US" sz="1050" dirty="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31710" marR="31710" marT="0" marB="0" vert="vert270"/>
                </a:tc>
                <a:tc>
                  <a:txBody>
                    <a:bodyPr/>
                    <a:lstStyle/>
                    <a:p>
                      <a:pPr marL="71755" marR="7175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dirty="0" smtClean="0">
                          <a:effectLst/>
                          <a:latin typeface="Calibri"/>
                          <a:ea typeface="Calibri"/>
                          <a:cs typeface="Vrinda"/>
                        </a:rPr>
                        <a:t>Urgency</a:t>
                      </a:r>
                      <a:endParaRPr lang="en-US" sz="1050" dirty="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31710" marR="31710" marT="0" marB="0" vert="vert270"/>
                </a:tc>
                <a:tc>
                  <a:txBody>
                    <a:bodyPr/>
                    <a:lstStyle/>
                    <a:p>
                      <a:pPr marL="71755" marR="7175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Difficulty</a:t>
                      </a:r>
                      <a:endParaRPr lang="en-US" sz="105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31710" marR="31710" marT="0" marB="0" vert="vert270"/>
                </a:tc>
                <a:tc>
                  <a:txBody>
                    <a:bodyPr/>
                    <a:lstStyle/>
                    <a:p>
                      <a:pPr marL="71755" marR="7175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Time </a:t>
                      </a:r>
                      <a:r>
                        <a:rPr lang="en-US" sz="1000" dirty="0" err="1" smtClean="0">
                          <a:effectLst/>
                        </a:rPr>
                        <a:t>consumptio</a:t>
                      </a:r>
                      <a:endParaRPr lang="en-US" sz="1050" dirty="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31710" marR="31710" marT="0" marB="0" vert="vert270"/>
                </a:tc>
                <a:tc>
                  <a:txBody>
                    <a:bodyPr/>
                    <a:lstStyle/>
                    <a:p>
                      <a:pPr marL="71755" marR="7175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dirty="0" smtClean="0">
                          <a:effectLst/>
                          <a:latin typeface="Calibri"/>
                          <a:ea typeface="Calibri"/>
                          <a:cs typeface="Vrinda"/>
                        </a:rPr>
                        <a:t>Resource</a:t>
                      </a:r>
                      <a:r>
                        <a:rPr lang="en-US" sz="1050" baseline="0" dirty="0" smtClean="0">
                          <a:effectLst/>
                          <a:latin typeface="Calibri"/>
                          <a:ea typeface="Calibri"/>
                          <a:cs typeface="Vrinda"/>
                        </a:rPr>
                        <a:t> </a:t>
                      </a:r>
                      <a:r>
                        <a:rPr lang="en-US" sz="1050" baseline="0" dirty="0" err="1" smtClean="0">
                          <a:effectLst/>
                          <a:latin typeface="Calibri"/>
                          <a:ea typeface="Calibri"/>
                          <a:cs typeface="Vrinda"/>
                        </a:rPr>
                        <a:t>avaiability</a:t>
                      </a:r>
                      <a:endParaRPr lang="en-US" sz="1050" dirty="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31710" marR="31710" marT="0" marB="0" vert="vert270"/>
                </a:tc>
                <a:tc>
                  <a:txBody>
                    <a:bodyPr/>
                    <a:lstStyle/>
                    <a:p>
                      <a:pPr marL="71755" marR="7175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dirty="0">
                          <a:effectLst/>
                        </a:rPr>
                        <a:t>Total score</a:t>
                      </a:r>
                      <a:endParaRPr lang="en-US" sz="1050" dirty="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31710" marR="31710" marT="0" marB="0" vert="vert270"/>
                </a:tc>
              </a:tr>
              <a:tr h="156835">
                <a:tc rowSpan="3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1</a:t>
                      </a:r>
                      <a:endParaRPr lang="en-US" sz="105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31710" marR="31710" marT="0" marB="0"/>
                </a:tc>
                <a:tc rowSpan="3"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dirty="0">
                          <a:effectLst/>
                        </a:rPr>
                        <a:t>No initiative for medical officer</a:t>
                      </a:r>
                    </a:p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dirty="0">
                          <a:effectLst/>
                        </a:rPr>
                        <a:t> </a:t>
                      </a:r>
                      <a:endParaRPr lang="en-US" sz="1050" dirty="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31710" marR="31710" marT="0" marB="0"/>
                </a:tc>
                <a:tc rowSpan="3"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Arrangement of a female medical officer</a:t>
                      </a:r>
                      <a:endParaRPr lang="en-US" sz="105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31710" marR="3171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Identify one medical officer</a:t>
                      </a:r>
                      <a:endParaRPr lang="en-US" sz="105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31710" marR="3171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2</a:t>
                      </a:r>
                      <a:endParaRPr lang="en-US" sz="105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31710" marR="3171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3</a:t>
                      </a:r>
                      <a:endParaRPr lang="en-US" sz="105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31710" marR="3171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2</a:t>
                      </a:r>
                      <a:endParaRPr lang="en-US" sz="105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31710" marR="3171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2</a:t>
                      </a:r>
                      <a:endParaRPr lang="en-US" sz="105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31710" marR="3171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1</a:t>
                      </a:r>
                      <a:endParaRPr lang="en-US" sz="105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31710" marR="3171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10</a:t>
                      </a:r>
                      <a:endParaRPr lang="en-US" sz="105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31710" marR="31710" marT="0" marB="0"/>
                </a:tc>
              </a:tr>
              <a:tr h="15683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Posting of a medical officer</a:t>
                      </a:r>
                      <a:endParaRPr lang="en-US" sz="105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31710" marR="3171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2</a:t>
                      </a:r>
                      <a:endParaRPr lang="en-US" sz="105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31710" marR="3171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2</a:t>
                      </a:r>
                      <a:endParaRPr lang="en-US" sz="105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31710" marR="3171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1</a:t>
                      </a:r>
                      <a:endParaRPr lang="en-US" sz="105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31710" marR="3171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2</a:t>
                      </a:r>
                      <a:endParaRPr lang="en-US" sz="105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31710" marR="3171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2</a:t>
                      </a:r>
                      <a:endParaRPr lang="en-US" sz="105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31710" marR="3171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9</a:t>
                      </a:r>
                      <a:endParaRPr lang="en-US" sz="105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31710" marR="31710" marT="0" marB="0"/>
                </a:tc>
              </a:tr>
              <a:tr h="15683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Identify place for sitting arrangement</a:t>
                      </a:r>
                      <a:endParaRPr lang="en-US" sz="105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31710" marR="3171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2</a:t>
                      </a:r>
                      <a:endParaRPr lang="en-US" sz="105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31710" marR="3171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2</a:t>
                      </a:r>
                      <a:endParaRPr lang="en-US" sz="105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31710" marR="3171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2</a:t>
                      </a:r>
                      <a:endParaRPr lang="en-US" sz="105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31710" marR="3171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1</a:t>
                      </a:r>
                      <a:endParaRPr lang="en-US" sz="105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31710" marR="3171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1</a:t>
                      </a:r>
                      <a:endParaRPr lang="en-US" sz="105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31710" marR="3171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8</a:t>
                      </a:r>
                      <a:endParaRPr lang="en-US" sz="105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31710" marR="31710" marT="0" marB="0"/>
                </a:tc>
              </a:tr>
              <a:tr h="156835">
                <a:tc rowSpan="3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2</a:t>
                      </a:r>
                      <a:endParaRPr lang="en-US" sz="105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31710" marR="31710" marT="0" marB="0"/>
                </a:tc>
                <a:tc rowSpan="3"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dirty="0">
                          <a:effectLst/>
                        </a:rPr>
                        <a:t>No initiative for good quality weight machine</a:t>
                      </a:r>
                    </a:p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dirty="0">
                          <a:effectLst/>
                        </a:rPr>
                        <a:t> </a:t>
                      </a:r>
                    </a:p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dirty="0">
                          <a:effectLst/>
                        </a:rPr>
                        <a:t> </a:t>
                      </a:r>
                      <a:endParaRPr lang="en-US" sz="1050" dirty="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31710" marR="31710" marT="0" marB="0"/>
                </a:tc>
                <a:tc rowSpan="3"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dirty="0">
                          <a:effectLst/>
                        </a:rPr>
                        <a:t>Arrangement of a good quality weight machine</a:t>
                      </a:r>
                      <a:endParaRPr lang="en-US" sz="1050" dirty="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31710" marR="3171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Identify good quality weight machine</a:t>
                      </a:r>
                      <a:endParaRPr lang="en-US" sz="105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31710" marR="3171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3</a:t>
                      </a:r>
                      <a:endParaRPr lang="en-US" sz="105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31710" marR="3171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3</a:t>
                      </a:r>
                      <a:endParaRPr lang="en-US" sz="105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31710" marR="3171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2</a:t>
                      </a:r>
                      <a:endParaRPr lang="en-US" sz="105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31710" marR="3171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2</a:t>
                      </a:r>
                      <a:endParaRPr lang="en-US" sz="105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31710" marR="3171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2</a:t>
                      </a:r>
                      <a:endParaRPr lang="en-US" sz="105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31710" marR="3171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u="sng">
                          <a:effectLst/>
                        </a:rPr>
                        <a:t>12</a:t>
                      </a:r>
                      <a:endParaRPr lang="en-US" sz="105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31710" marR="31710" marT="0" marB="0"/>
                </a:tc>
              </a:tr>
              <a:tr h="15683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Collection of  weight machine</a:t>
                      </a:r>
                      <a:endParaRPr lang="en-US" sz="105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31710" marR="3171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3</a:t>
                      </a:r>
                      <a:endParaRPr lang="en-US" sz="105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31710" marR="3171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3</a:t>
                      </a:r>
                      <a:endParaRPr lang="en-US" sz="105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31710" marR="3171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2</a:t>
                      </a:r>
                      <a:endParaRPr lang="en-US" sz="105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31710" marR="3171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2</a:t>
                      </a:r>
                      <a:endParaRPr lang="en-US" sz="105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31710" marR="3171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2</a:t>
                      </a:r>
                      <a:endParaRPr lang="en-US" sz="105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31710" marR="3171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u="sng">
                          <a:effectLst/>
                        </a:rPr>
                        <a:t>12</a:t>
                      </a:r>
                      <a:endParaRPr lang="en-US" sz="105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31710" marR="31710" marT="0" marB="0"/>
                </a:tc>
              </a:tr>
              <a:tr h="33537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Orientation about the use of weight machine</a:t>
                      </a:r>
                      <a:endParaRPr lang="en-US" sz="1050" dirty="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31710" marR="3171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3</a:t>
                      </a:r>
                      <a:endParaRPr lang="en-US" sz="105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31710" marR="3171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3</a:t>
                      </a:r>
                      <a:endParaRPr lang="en-US" sz="105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31710" marR="3171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3</a:t>
                      </a:r>
                      <a:endParaRPr lang="en-US" sz="105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31710" marR="3171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2</a:t>
                      </a:r>
                      <a:endParaRPr lang="en-US" sz="105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31710" marR="3171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3</a:t>
                      </a:r>
                      <a:endParaRPr lang="en-US" sz="105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31710" marR="3171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u="sng">
                          <a:effectLst/>
                        </a:rPr>
                        <a:t>14</a:t>
                      </a:r>
                      <a:endParaRPr lang="en-US" sz="105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31710" marR="31710" marT="0" marB="0"/>
                </a:tc>
              </a:tr>
              <a:tr h="156835">
                <a:tc rowSpan="3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3</a:t>
                      </a:r>
                      <a:endParaRPr lang="en-US" sz="105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31710" marR="31710" marT="0" marB="0"/>
                </a:tc>
                <a:tc rowSpan="3"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dirty="0">
                          <a:effectLst/>
                        </a:rPr>
                        <a:t>Lack of orientation for fill up of ANC card and abdominal examination</a:t>
                      </a:r>
                      <a:endParaRPr lang="en-US" sz="1050" dirty="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31710" marR="31710" marT="0" marB="0"/>
                </a:tc>
                <a:tc rowSpan="3"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Organize a refresher training for fill up of ANC card and abdominal examination</a:t>
                      </a:r>
                      <a:endParaRPr lang="en-US" sz="1050" dirty="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31710" marR="3171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Identify resource person</a:t>
                      </a:r>
                      <a:endParaRPr lang="en-US" sz="105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31710" marR="3171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3</a:t>
                      </a:r>
                      <a:endParaRPr lang="en-US" sz="105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31710" marR="3171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3</a:t>
                      </a:r>
                      <a:endParaRPr lang="en-US" sz="105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31710" marR="3171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2</a:t>
                      </a:r>
                      <a:endParaRPr lang="en-US" sz="105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31710" marR="3171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3</a:t>
                      </a:r>
                      <a:endParaRPr lang="en-US" sz="105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31710" marR="3171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3</a:t>
                      </a:r>
                      <a:endParaRPr lang="en-US" sz="105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31710" marR="3171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u="sng">
                          <a:effectLst/>
                        </a:rPr>
                        <a:t>14</a:t>
                      </a:r>
                      <a:endParaRPr lang="en-US" sz="105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31710" marR="31710" marT="0" marB="0"/>
                </a:tc>
              </a:tr>
              <a:tr h="15683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Arrange logistic and module</a:t>
                      </a:r>
                      <a:endParaRPr lang="en-US" sz="105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31710" marR="3171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3</a:t>
                      </a:r>
                      <a:endParaRPr lang="en-US" sz="105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31710" marR="3171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3</a:t>
                      </a:r>
                      <a:endParaRPr lang="en-US" sz="105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31710" marR="3171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3</a:t>
                      </a:r>
                      <a:endParaRPr lang="en-US" sz="105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31710" marR="3171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2</a:t>
                      </a:r>
                      <a:endParaRPr lang="en-US" sz="105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31710" marR="3171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2</a:t>
                      </a:r>
                      <a:endParaRPr lang="en-US" sz="105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31710" marR="3171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u="sng">
                          <a:effectLst/>
                        </a:rPr>
                        <a:t>13</a:t>
                      </a:r>
                      <a:endParaRPr lang="en-US" sz="105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31710" marR="31710" marT="0" marB="0"/>
                </a:tc>
              </a:tr>
              <a:tr h="15683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pre and post training arrangement</a:t>
                      </a:r>
                      <a:endParaRPr lang="en-US" sz="105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31710" marR="3171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3</a:t>
                      </a:r>
                      <a:endParaRPr lang="en-US" sz="105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31710" marR="3171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3</a:t>
                      </a:r>
                      <a:endParaRPr lang="en-US" sz="105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31710" marR="3171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3</a:t>
                      </a:r>
                      <a:endParaRPr lang="en-US" sz="105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31710" marR="3171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3</a:t>
                      </a:r>
                      <a:endParaRPr lang="en-US" sz="105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31710" marR="3171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3</a:t>
                      </a:r>
                      <a:endParaRPr lang="en-US" sz="105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31710" marR="3171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u="sng">
                          <a:effectLst/>
                        </a:rPr>
                        <a:t>15</a:t>
                      </a:r>
                      <a:endParaRPr lang="en-US" sz="105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31710" marR="31710" marT="0" marB="0"/>
                </a:tc>
              </a:tr>
              <a:tr h="156835">
                <a:tc rowSpan="3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dirty="0">
                          <a:effectLst/>
                        </a:rPr>
                        <a:t>4</a:t>
                      </a:r>
                      <a:endParaRPr lang="en-US" sz="1050" dirty="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31710" marR="31710" marT="0" marB="0"/>
                </a:tc>
                <a:tc rowSpan="3"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Demand not given for screening</a:t>
                      </a:r>
                    </a:p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 </a:t>
                      </a:r>
                      <a:endParaRPr lang="en-US" sz="105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31710" marR="31710" marT="0" marB="0"/>
                </a:tc>
                <a:tc rowSpan="3"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Indenting of screen for privacy</a:t>
                      </a:r>
                      <a:endParaRPr lang="en-US" sz="1050" dirty="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31710" marR="3171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Manage screen</a:t>
                      </a:r>
                      <a:endParaRPr lang="en-US" sz="105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31710" marR="3171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3</a:t>
                      </a:r>
                      <a:endParaRPr lang="en-US" sz="105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31710" marR="3171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3</a:t>
                      </a:r>
                      <a:endParaRPr lang="en-US" sz="105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31710" marR="3171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2</a:t>
                      </a:r>
                      <a:endParaRPr lang="en-US" sz="105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31710" marR="3171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2</a:t>
                      </a:r>
                      <a:endParaRPr lang="en-US" sz="105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31710" marR="3171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2</a:t>
                      </a:r>
                      <a:endParaRPr lang="en-US" sz="105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31710" marR="3171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u="sng">
                          <a:effectLst/>
                        </a:rPr>
                        <a:t>12</a:t>
                      </a:r>
                      <a:endParaRPr lang="en-US" sz="105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31710" marR="31710" marT="0" marB="0"/>
                </a:tc>
              </a:tr>
              <a:tr h="15683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Select place for hanging screen</a:t>
                      </a:r>
                      <a:endParaRPr lang="en-US" sz="105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31710" marR="3171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3</a:t>
                      </a:r>
                      <a:endParaRPr lang="en-US" sz="105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31710" marR="3171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3</a:t>
                      </a:r>
                      <a:endParaRPr lang="en-US" sz="105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31710" marR="3171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3</a:t>
                      </a:r>
                      <a:endParaRPr lang="en-US" sz="105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31710" marR="3171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2</a:t>
                      </a:r>
                      <a:endParaRPr lang="en-US" sz="105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31710" marR="3171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3</a:t>
                      </a:r>
                      <a:endParaRPr lang="en-US" sz="105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31710" marR="3171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u="sng">
                          <a:effectLst/>
                        </a:rPr>
                        <a:t>14</a:t>
                      </a:r>
                      <a:endParaRPr lang="en-US" sz="105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31710" marR="31710" marT="0" marB="0"/>
                </a:tc>
              </a:tr>
              <a:tr h="15683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Arrange logistics for hanging</a:t>
                      </a:r>
                      <a:endParaRPr lang="en-US" sz="105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31710" marR="3171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3</a:t>
                      </a:r>
                      <a:endParaRPr lang="en-US" sz="105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31710" marR="3171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3</a:t>
                      </a:r>
                      <a:endParaRPr lang="en-US" sz="105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31710" marR="3171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3</a:t>
                      </a:r>
                      <a:endParaRPr lang="en-US" sz="105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31710" marR="3171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2</a:t>
                      </a:r>
                      <a:endParaRPr lang="en-US" sz="105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31710" marR="3171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2</a:t>
                      </a:r>
                      <a:endParaRPr lang="en-US" sz="105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31710" marR="3171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u="sng">
                          <a:effectLst/>
                        </a:rPr>
                        <a:t>13</a:t>
                      </a:r>
                      <a:endParaRPr lang="en-US" sz="105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31710" marR="31710" marT="0" marB="0"/>
                </a:tc>
              </a:tr>
              <a:tr h="259262">
                <a:tc rowSpan="3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5</a:t>
                      </a:r>
                      <a:endParaRPr lang="en-US" sz="105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31710" marR="31710" marT="0" marB="0"/>
                </a:tc>
                <a:tc rowSpan="3"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No initiative of fund for sitting arrangement</a:t>
                      </a:r>
                    </a:p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 </a:t>
                      </a:r>
                      <a:endParaRPr lang="en-US" sz="105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31710" marR="31710" marT="0" marB="0"/>
                </a:tc>
                <a:tc rowSpan="3"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dirty="0">
                          <a:effectLst/>
                        </a:rPr>
                        <a:t>Manage fund for sitting arrangement</a:t>
                      </a:r>
                      <a:endParaRPr lang="en-US" sz="1050" dirty="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31710" marR="3171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Identify the required number of chairs</a:t>
                      </a:r>
                      <a:endParaRPr lang="en-US" sz="105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31710" marR="3171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3</a:t>
                      </a:r>
                      <a:endParaRPr lang="en-US" sz="105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31710" marR="3171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2</a:t>
                      </a:r>
                      <a:endParaRPr lang="en-US" sz="105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31710" marR="3171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2</a:t>
                      </a:r>
                      <a:endParaRPr lang="en-US" sz="105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31710" marR="3171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2</a:t>
                      </a:r>
                      <a:endParaRPr lang="en-US" sz="105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31710" marR="3171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2</a:t>
                      </a:r>
                      <a:endParaRPr lang="en-US" sz="105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31710" marR="3171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11</a:t>
                      </a:r>
                      <a:endParaRPr lang="en-US" sz="105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31710" marR="31710" marT="0" marB="0"/>
                </a:tc>
              </a:tr>
              <a:tr h="25926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Identify the probable cost of the chairs</a:t>
                      </a:r>
                      <a:endParaRPr lang="en-US" sz="1050" dirty="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31710" marR="3171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3</a:t>
                      </a:r>
                      <a:endParaRPr lang="en-US" sz="105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31710" marR="3171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3</a:t>
                      </a:r>
                      <a:endParaRPr lang="en-US" sz="105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31710" marR="3171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2</a:t>
                      </a:r>
                      <a:endParaRPr lang="en-US" sz="105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31710" marR="3171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2</a:t>
                      </a:r>
                      <a:endParaRPr lang="en-US" sz="105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31710" marR="3171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1</a:t>
                      </a:r>
                      <a:endParaRPr lang="en-US" sz="105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31710" marR="3171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dirty="0">
                          <a:effectLst/>
                        </a:rPr>
                        <a:t>11</a:t>
                      </a:r>
                      <a:endParaRPr lang="en-US" sz="1050" dirty="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31710" marR="31710" marT="0" marB="0"/>
                </a:tc>
              </a:tr>
              <a:tr h="15683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Identify the donors for the support </a:t>
                      </a:r>
                      <a:endParaRPr lang="en-US" sz="1050" dirty="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31710" marR="3171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3</a:t>
                      </a:r>
                      <a:endParaRPr lang="en-US" sz="105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31710" marR="3171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3</a:t>
                      </a:r>
                      <a:endParaRPr lang="en-US" sz="105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31710" marR="3171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1</a:t>
                      </a:r>
                      <a:endParaRPr lang="en-US" sz="105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31710" marR="3171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1</a:t>
                      </a:r>
                      <a:endParaRPr lang="en-US" sz="105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31710" marR="3171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1</a:t>
                      </a:r>
                      <a:endParaRPr lang="en-US" sz="105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31710" marR="3171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9</a:t>
                      </a:r>
                      <a:endParaRPr lang="en-US" sz="105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31710" marR="31710" marT="0" marB="0"/>
                </a:tc>
              </a:tr>
              <a:tr h="156835">
                <a:tc rowSpan="3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6</a:t>
                      </a:r>
                      <a:endParaRPr lang="en-US" sz="105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31710" marR="31710" marT="0" marB="0"/>
                </a:tc>
                <a:tc rowSpan="3"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Lack of initiative for manpower for hemoglobin estimation</a:t>
                      </a:r>
                      <a:endParaRPr lang="en-US" sz="105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31710" marR="31710" marT="0" marB="0"/>
                </a:tc>
                <a:tc rowSpan="3"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Arrange one MT lab manpower</a:t>
                      </a:r>
                      <a:endParaRPr lang="en-US" sz="105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31710" marR="3171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Identify one MT lab</a:t>
                      </a:r>
                      <a:endParaRPr lang="en-US" sz="105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31710" marR="3171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3</a:t>
                      </a:r>
                      <a:endParaRPr lang="en-US" sz="105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31710" marR="3171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3</a:t>
                      </a:r>
                      <a:endParaRPr lang="en-US" sz="105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31710" marR="3171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1</a:t>
                      </a:r>
                      <a:endParaRPr lang="en-US" sz="105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31710" marR="3171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1</a:t>
                      </a:r>
                      <a:endParaRPr lang="en-US" sz="105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31710" marR="3171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1</a:t>
                      </a:r>
                      <a:endParaRPr lang="en-US" sz="105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31710" marR="3171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9</a:t>
                      </a:r>
                      <a:endParaRPr lang="en-US" sz="105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31710" marR="31710" marT="0" marB="0"/>
                </a:tc>
              </a:tr>
              <a:tr h="15683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Posting of an MT lab </a:t>
                      </a:r>
                      <a:endParaRPr lang="en-US" sz="105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31710" marR="3171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3</a:t>
                      </a:r>
                      <a:endParaRPr lang="en-US" sz="105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31710" marR="3171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3</a:t>
                      </a:r>
                      <a:endParaRPr lang="en-US" sz="105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31710" marR="3171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1</a:t>
                      </a:r>
                      <a:endParaRPr lang="en-US" sz="105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31710" marR="3171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1</a:t>
                      </a:r>
                      <a:endParaRPr lang="en-US" sz="105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31710" marR="3171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1</a:t>
                      </a:r>
                      <a:endParaRPr lang="en-US" sz="105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31710" marR="3171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9</a:t>
                      </a:r>
                      <a:endParaRPr lang="en-US" sz="105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31710" marR="31710" marT="0" marB="0"/>
                </a:tc>
              </a:tr>
              <a:tr h="19313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Identify place for sitting arrangement</a:t>
                      </a:r>
                      <a:endParaRPr lang="en-US" sz="1050" dirty="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31710" marR="3171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3</a:t>
                      </a:r>
                      <a:endParaRPr lang="en-US" sz="105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31710" marR="3171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3</a:t>
                      </a:r>
                      <a:endParaRPr lang="en-US" sz="105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31710" marR="3171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1</a:t>
                      </a:r>
                      <a:endParaRPr lang="en-US" sz="105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31710" marR="3171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1</a:t>
                      </a:r>
                      <a:endParaRPr lang="en-US" sz="105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31710" marR="3171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1</a:t>
                      </a:r>
                      <a:endParaRPr lang="en-US" sz="105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31710" marR="3171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9</a:t>
                      </a:r>
                      <a:endParaRPr lang="en-US" sz="105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31710" marR="31710" marT="0" marB="0"/>
                </a:tc>
              </a:tr>
              <a:tr h="259262">
                <a:tc rowSpan="3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7</a:t>
                      </a:r>
                      <a:endParaRPr lang="en-US" sz="105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31710" marR="31710" marT="0" marB="0"/>
                </a:tc>
                <a:tc rowSpan="3"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Not taken initiative for good quality</a:t>
                      </a:r>
                    </a:p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Hemoglobinometer</a:t>
                      </a:r>
                      <a:endParaRPr lang="en-US" sz="105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31710" marR="31710" marT="0" marB="0"/>
                </a:tc>
                <a:tc rowSpan="3"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Indenting of good quality </a:t>
                      </a:r>
                      <a:r>
                        <a:rPr lang="en-US" sz="1000">
                          <a:effectLst/>
                        </a:rPr>
                        <a:t>Hemoglobinometer</a:t>
                      </a:r>
                      <a:endParaRPr lang="en-US" sz="105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31710" marR="3171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Identify specification of </a:t>
                      </a:r>
                      <a:r>
                        <a:rPr lang="en-US" sz="1000" dirty="0" err="1">
                          <a:effectLst/>
                        </a:rPr>
                        <a:t>Hemoglobinometer</a:t>
                      </a:r>
                      <a:endParaRPr lang="en-US" sz="1050" dirty="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31710" marR="3171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3</a:t>
                      </a:r>
                      <a:endParaRPr lang="en-US" sz="105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31710" marR="3171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3</a:t>
                      </a:r>
                      <a:endParaRPr lang="en-US" sz="105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31710" marR="3171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2</a:t>
                      </a:r>
                      <a:endParaRPr lang="en-US" sz="105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31710" marR="3171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1</a:t>
                      </a:r>
                      <a:endParaRPr lang="en-US" sz="105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31710" marR="3171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1</a:t>
                      </a:r>
                      <a:endParaRPr lang="en-US" sz="105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31710" marR="3171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u="sng">
                          <a:effectLst/>
                        </a:rPr>
                        <a:t>10</a:t>
                      </a:r>
                      <a:endParaRPr lang="en-US" sz="105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31710" marR="31710" marT="0" marB="0"/>
                </a:tc>
              </a:tr>
              <a:tr h="15683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Identify the handler person </a:t>
                      </a:r>
                      <a:endParaRPr lang="en-US" sz="1050" dirty="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31710" marR="3171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3</a:t>
                      </a:r>
                      <a:endParaRPr lang="en-US" sz="105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31710" marR="3171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2</a:t>
                      </a:r>
                      <a:endParaRPr lang="en-US" sz="105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31710" marR="3171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1</a:t>
                      </a:r>
                      <a:endParaRPr lang="en-US" sz="105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31710" marR="3171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2</a:t>
                      </a:r>
                      <a:endParaRPr lang="en-US" sz="105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31710" marR="3171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2</a:t>
                      </a:r>
                      <a:endParaRPr lang="en-US" sz="105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31710" marR="3171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u="sng">
                          <a:effectLst/>
                        </a:rPr>
                        <a:t>10</a:t>
                      </a:r>
                      <a:endParaRPr lang="en-US" sz="105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31710" marR="31710" marT="0" marB="0"/>
                </a:tc>
              </a:tr>
              <a:tr h="25926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Orientation about the use of the equipment</a:t>
                      </a:r>
                      <a:endParaRPr lang="en-US" sz="1050" dirty="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31710" marR="3171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3</a:t>
                      </a:r>
                      <a:endParaRPr lang="en-US" sz="105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31710" marR="3171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2</a:t>
                      </a:r>
                      <a:endParaRPr lang="en-US" sz="105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31710" marR="3171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2</a:t>
                      </a:r>
                      <a:endParaRPr lang="en-US" sz="105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31710" marR="3171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2</a:t>
                      </a:r>
                      <a:endParaRPr lang="en-US" sz="105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31710" marR="3171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1</a:t>
                      </a:r>
                      <a:endParaRPr lang="en-US" sz="105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31710" marR="3171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u="sng">
                          <a:effectLst/>
                        </a:rPr>
                        <a:t>10</a:t>
                      </a:r>
                      <a:endParaRPr lang="en-US" sz="105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31710" marR="31710" marT="0" marB="0"/>
                </a:tc>
              </a:tr>
              <a:tr h="259262">
                <a:tc rowSpan="3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8</a:t>
                      </a:r>
                      <a:endParaRPr lang="en-US" sz="105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31710" marR="31710" marT="0" marB="0"/>
                </a:tc>
                <a:tc rowSpan="3"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Initiative not taken for supervision of hemoglobin estimation</a:t>
                      </a:r>
                    </a:p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 </a:t>
                      </a:r>
                      <a:endParaRPr lang="en-US" sz="105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31710" marR="31710" marT="0" marB="0"/>
                </a:tc>
                <a:tc rowSpan="3"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Organize regular supervision system </a:t>
                      </a:r>
                      <a:endParaRPr lang="en-US" sz="105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31710" marR="3171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Identify the person supervises regularly</a:t>
                      </a:r>
                      <a:endParaRPr lang="en-US" sz="1050" dirty="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31710" marR="3171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3</a:t>
                      </a:r>
                      <a:endParaRPr lang="en-US" sz="105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31710" marR="3171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3</a:t>
                      </a:r>
                      <a:endParaRPr lang="en-US" sz="105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31710" marR="3171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3</a:t>
                      </a:r>
                      <a:endParaRPr lang="en-US" sz="105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31710" marR="3171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2</a:t>
                      </a:r>
                      <a:endParaRPr lang="en-US" sz="105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31710" marR="3171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2</a:t>
                      </a:r>
                      <a:endParaRPr lang="en-US" sz="105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31710" marR="3171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u="sng">
                          <a:effectLst/>
                        </a:rPr>
                        <a:t>13</a:t>
                      </a:r>
                      <a:endParaRPr lang="en-US" sz="105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31710" marR="31710" marT="0" marB="0"/>
                </a:tc>
              </a:tr>
              <a:tr h="25926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Make a checklist for quality investigation</a:t>
                      </a:r>
                      <a:endParaRPr lang="en-US" sz="105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31710" marR="3171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dirty="0">
                          <a:effectLst/>
                        </a:rPr>
                        <a:t>3</a:t>
                      </a:r>
                      <a:endParaRPr lang="en-US" sz="1050" dirty="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31710" marR="3171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dirty="0">
                          <a:effectLst/>
                        </a:rPr>
                        <a:t>3</a:t>
                      </a:r>
                      <a:endParaRPr lang="en-US" sz="1050" dirty="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31710" marR="3171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3</a:t>
                      </a:r>
                      <a:endParaRPr lang="en-US" sz="105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31710" marR="3171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2</a:t>
                      </a:r>
                      <a:endParaRPr lang="en-US" sz="105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31710" marR="3171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2</a:t>
                      </a:r>
                      <a:endParaRPr lang="en-US" sz="105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31710" marR="3171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u="sng">
                          <a:effectLst/>
                        </a:rPr>
                        <a:t>13</a:t>
                      </a:r>
                      <a:endParaRPr lang="en-US" sz="105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31710" marR="31710" marT="0" marB="0"/>
                </a:tc>
              </a:tr>
              <a:tr h="15683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Ensure regular on-the-job training</a:t>
                      </a:r>
                      <a:endParaRPr lang="en-US" sz="105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31710" marR="3171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3</a:t>
                      </a:r>
                      <a:endParaRPr lang="en-US" sz="105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31710" marR="3171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dirty="0">
                          <a:effectLst/>
                        </a:rPr>
                        <a:t>3</a:t>
                      </a:r>
                      <a:endParaRPr lang="en-US" sz="1050" dirty="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31710" marR="3171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dirty="0">
                          <a:effectLst/>
                        </a:rPr>
                        <a:t>3</a:t>
                      </a:r>
                      <a:endParaRPr lang="en-US" sz="1050" dirty="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31710" marR="3171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2</a:t>
                      </a:r>
                      <a:endParaRPr lang="en-US" sz="105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31710" marR="3171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2</a:t>
                      </a:r>
                      <a:endParaRPr lang="en-US" sz="105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31710" marR="3171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u="sng">
                          <a:effectLst/>
                        </a:rPr>
                        <a:t>13</a:t>
                      </a:r>
                      <a:endParaRPr lang="en-US" sz="105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31710" marR="31710" marT="0" marB="0"/>
                </a:tc>
              </a:tr>
              <a:tr h="259262">
                <a:tc rowSpan="3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9</a:t>
                      </a:r>
                      <a:endParaRPr lang="en-US" sz="105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31710" marR="31710" marT="0" marB="0"/>
                </a:tc>
                <a:tc rowSpan="3"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Initiative not taken for health education</a:t>
                      </a:r>
                    </a:p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 </a:t>
                      </a:r>
                      <a:endParaRPr lang="en-US" sz="105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31710" marR="31710" marT="0" marB="0"/>
                </a:tc>
                <a:tc rowSpan="3"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Arrange effective health education session</a:t>
                      </a:r>
                      <a:endParaRPr lang="en-US" sz="105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31710" marR="3171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Identify the topics for health education</a:t>
                      </a:r>
                      <a:endParaRPr lang="en-US" sz="1050" dirty="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31710" marR="3171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3</a:t>
                      </a:r>
                      <a:endParaRPr lang="en-US" sz="105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31710" marR="3171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3</a:t>
                      </a:r>
                      <a:endParaRPr lang="en-US" sz="105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31710" marR="3171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dirty="0">
                          <a:effectLst/>
                        </a:rPr>
                        <a:t>3</a:t>
                      </a:r>
                      <a:endParaRPr lang="en-US" sz="1050" dirty="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31710" marR="3171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dirty="0">
                          <a:effectLst/>
                        </a:rPr>
                        <a:t>2</a:t>
                      </a:r>
                      <a:endParaRPr lang="en-US" sz="1050" dirty="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31710" marR="3171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2</a:t>
                      </a:r>
                      <a:endParaRPr lang="en-US" sz="105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31710" marR="3171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u="sng">
                          <a:effectLst/>
                        </a:rPr>
                        <a:t>13</a:t>
                      </a:r>
                      <a:endParaRPr lang="en-US" sz="105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31710" marR="31710" marT="0" marB="0"/>
                </a:tc>
              </a:tr>
              <a:tr h="15683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Identify the health educator</a:t>
                      </a:r>
                      <a:endParaRPr lang="en-US" sz="105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31710" marR="3171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3</a:t>
                      </a:r>
                      <a:endParaRPr lang="en-US" sz="105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31710" marR="3171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3</a:t>
                      </a:r>
                      <a:endParaRPr lang="en-US" sz="105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31710" marR="3171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2</a:t>
                      </a:r>
                      <a:endParaRPr lang="en-US" sz="105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31710" marR="3171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dirty="0">
                          <a:effectLst/>
                        </a:rPr>
                        <a:t>2</a:t>
                      </a:r>
                      <a:endParaRPr lang="en-US" sz="1050" dirty="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31710" marR="3171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dirty="0">
                          <a:effectLst/>
                        </a:rPr>
                        <a:t>2</a:t>
                      </a:r>
                      <a:endParaRPr lang="en-US" sz="1050" dirty="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31710" marR="3171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u="sng" dirty="0">
                          <a:effectLst/>
                        </a:rPr>
                        <a:t>12</a:t>
                      </a:r>
                      <a:endParaRPr lang="en-US" sz="1050" dirty="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31710" marR="31710" marT="0" marB="0"/>
                </a:tc>
              </a:tr>
              <a:tr h="25926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Regular monitoring of health education</a:t>
                      </a:r>
                      <a:endParaRPr lang="en-US" sz="1050" dirty="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31710" marR="3171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3</a:t>
                      </a:r>
                      <a:endParaRPr lang="en-US" sz="105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31710" marR="3171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3</a:t>
                      </a:r>
                      <a:endParaRPr lang="en-US" sz="105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31710" marR="3171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dirty="0" smtClean="0">
                          <a:effectLst/>
                        </a:rPr>
                        <a:t>2</a:t>
                      </a:r>
                      <a:endParaRPr lang="en-US" sz="1050" dirty="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31710" marR="3171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dirty="0">
                          <a:effectLst/>
                        </a:rPr>
                        <a:t>2</a:t>
                      </a:r>
                      <a:endParaRPr lang="en-US" sz="1050" dirty="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31710" marR="3171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2</a:t>
                      </a:r>
                      <a:endParaRPr lang="en-US" sz="105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31710" marR="3171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u="sng" dirty="0">
                          <a:effectLst/>
                        </a:rPr>
                        <a:t>12</a:t>
                      </a:r>
                      <a:endParaRPr lang="en-US" sz="1050" dirty="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31710" marR="31710" marT="0" marB="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001372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07504" y="44026"/>
            <a:ext cx="892899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u="sng" dirty="0"/>
              <a:t>Step 5:</a:t>
            </a:r>
            <a:r>
              <a:rPr lang="en-US" b="1" dirty="0"/>
              <a:t> Implementation of actions/countermeasures: action plan and progress monitoring for EOC ward (WIT-1)</a:t>
            </a:r>
            <a:endParaRPr 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5567722"/>
              </p:ext>
            </p:extLst>
          </p:nvPr>
        </p:nvGraphicFramePr>
        <p:xfrm>
          <a:off x="107504" y="642064"/>
          <a:ext cx="8901461" cy="621593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96772"/>
                <a:gridCol w="2128760"/>
                <a:gridCol w="958287"/>
                <a:gridCol w="1133383"/>
                <a:gridCol w="855645"/>
                <a:gridCol w="1345569"/>
                <a:gridCol w="983301"/>
                <a:gridCol w="1099744"/>
              </a:tblGrid>
              <a:tr h="62436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 err="1">
                          <a:effectLst/>
                        </a:rPr>
                        <a:t>Sl</a:t>
                      </a:r>
                      <a:endParaRPr lang="en-US" sz="1050" dirty="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49888" marR="4988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Actions</a:t>
                      </a:r>
                      <a:endParaRPr lang="en-US" sz="105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49888" marR="4988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Where</a:t>
                      </a:r>
                      <a:endParaRPr lang="en-US" sz="105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49888" marR="4988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Who</a:t>
                      </a:r>
                      <a:endParaRPr lang="en-US" sz="105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49888" marR="4988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When</a:t>
                      </a:r>
                      <a:endParaRPr lang="en-US" sz="105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49888" marR="4988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Date of monitoring</a:t>
                      </a:r>
                      <a:endParaRPr lang="en-US" sz="105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49888" marR="4988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Who will monitor</a:t>
                      </a:r>
                      <a:endParaRPr lang="en-US" sz="105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49888" marR="4988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Progress</a:t>
                      </a:r>
                      <a:endParaRPr lang="en-US" sz="105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49888" marR="49888" marT="0" marB="0"/>
                </a:tc>
              </a:tr>
              <a:tr h="32018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1</a:t>
                      </a:r>
                      <a:endParaRPr lang="en-US" sz="1100" dirty="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49888" marR="4988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dirty="0">
                          <a:effectLst/>
                        </a:rPr>
                        <a:t>Identify good quality weight machine</a:t>
                      </a:r>
                      <a:endParaRPr lang="en-US" sz="1100" dirty="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49888" marR="4988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dirty="0">
                          <a:effectLst/>
                        </a:rPr>
                        <a:t>EOC ward</a:t>
                      </a:r>
                      <a:endParaRPr lang="en-US" sz="1100" dirty="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49888" marR="4988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Consultant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49888" marR="4988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20 to 30 Aug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49888" marR="4988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28 Aug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49888" marR="4988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RMO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49888" marR="4988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49888" marR="49888" marT="0" marB="0"/>
                </a:tc>
              </a:tr>
              <a:tr h="32018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2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49888" marR="4988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dirty="0">
                          <a:effectLst/>
                        </a:rPr>
                        <a:t>Collection of  weight machine</a:t>
                      </a:r>
                      <a:endParaRPr lang="en-US" sz="1100" dirty="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49888" marR="4988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EOC ward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49888" marR="4988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Hospital Super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49888" marR="4988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30 Aug to 15 Sept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49888" marR="4988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10 Sept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49888" marR="4988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Super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49888" marR="4988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49888" marR="49888" marT="0" marB="0"/>
                </a:tc>
              </a:tr>
              <a:tr h="32018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3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49888" marR="4988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dirty="0">
                          <a:effectLst/>
                        </a:rPr>
                        <a:t>Orientation about the use of weight machine</a:t>
                      </a:r>
                      <a:endParaRPr lang="en-US" sz="1100" dirty="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49888" marR="4988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EOC ward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49888" marR="4988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Consultant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49888" marR="4988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15 to 20 Sept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49888" marR="4988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18 Sept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49888" marR="4988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Focal Person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49888" marR="4988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49888" marR="49888" marT="0" marB="0"/>
                </a:tc>
              </a:tr>
              <a:tr h="29909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4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49888" marR="4988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dirty="0">
                          <a:effectLst/>
                        </a:rPr>
                        <a:t>Identify resource person</a:t>
                      </a:r>
                      <a:endParaRPr lang="en-US" sz="1100" dirty="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49888" marR="4988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EOC ward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49888" marR="4988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Consultant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49888" marR="4988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20 to 30 Aug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49888" marR="4988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25 Aug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49888" marR="4988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Focal Person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49888" marR="4988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49888" marR="49888" marT="0" marB="0"/>
                </a:tc>
              </a:tr>
              <a:tr h="32018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5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49888" marR="4988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dirty="0">
                          <a:effectLst/>
                        </a:rPr>
                        <a:t>Arrange logistic and module</a:t>
                      </a:r>
                      <a:endParaRPr lang="en-US" sz="1100" dirty="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49888" marR="4988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dirty="0">
                          <a:effectLst/>
                        </a:rPr>
                        <a:t>EOC ward</a:t>
                      </a:r>
                      <a:endParaRPr lang="en-US" sz="1100" dirty="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49888" marR="4988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RMO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49888" marR="4988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20 Aug to 10 Sept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49888" marR="4988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5 Sept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49888" marR="4988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Focal Person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49888" marR="4988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49888" marR="49888" marT="0" marB="0"/>
                </a:tc>
              </a:tr>
              <a:tr h="32018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6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49888" marR="4988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pre and post training arrangement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49888" marR="4988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dirty="0">
                          <a:effectLst/>
                        </a:rPr>
                        <a:t>EOC ward</a:t>
                      </a:r>
                      <a:endParaRPr lang="en-US" sz="1100" dirty="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49888" marR="4988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Consultant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49888" marR="4988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25 Aug to 5 Sept 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49888" marR="4988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30 Aug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49888" marR="4988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RMO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49888" marR="4988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49888" marR="49888" marT="0" marB="0"/>
                </a:tc>
              </a:tr>
              <a:tr h="29909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7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49888" marR="4988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Manage screen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49888" marR="4988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dirty="0">
                          <a:effectLst/>
                        </a:rPr>
                        <a:t>EOC ward</a:t>
                      </a:r>
                      <a:endParaRPr lang="en-US" sz="1100" dirty="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49888" marR="4988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Store keeper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49888" marR="4988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25 Aug to 15 Sept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49888" marR="4988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30 Aug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49888" marR="4988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RMO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49888" marR="4988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49888" marR="49888" marT="0" marB="0"/>
                </a:tc>
              </a:tr>
              <a:tr h="45315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8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49888" marR="4988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Select place for hanging screen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49888" marR="4988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EOC ward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49888" marR="4988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dirty="0">
                          <a:effectLst/>
                        </a:rPr>
                        <a:t>Team Leader</a:t>
                      </a:r>
                      <a:endParaRPr lang="en-US" sz="1100" dirty="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49888" marR="4988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15 Sept to 20 Sept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49888" marR="4988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17 Sept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49888" marR="4988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Focal Person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49888" marR="4988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49888" marR="49888" marT="0" marB="0"/>
                </a:tc>
              </a:tr>
              <a:tr h="45315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9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49888" marR="4988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Arrange logistics for hanging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49888" marR="4988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EOC ward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49888" marR="4988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dirty="0">
                          <a:effectLst/>
                        </a:rPr>
                        <a:t>Team Leader</a:t>
                      </a:r>
                      <a:endParaRPr lang="en-US" sz="1100" dirty="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49888" marR="4988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dirty="0">
                          <a:effectLst/>
                        </a:rPr>
                        <a:t>15 Sept to 20 Sept</a:t>
                      </a:r>
                      <a:endParaRPr lang="en-US" sz="1100" dirty="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49888" marR="4988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17 Sept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49888" marR="4988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Focal Person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49888" marR="4988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49888" marR="49888" marT="0" marB="0"/>
                </a:tc>
              </a:tr>
              <a:tr h="38449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10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49888" marR="4988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Identify the person supervises regularly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49888" marR="4988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EOC ward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49888" marR="4988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dirty="0">
                          <a:effectLst/>
                        </a:rPr>
                        <a:t>RMO</a:t>
                      </a:r>
                      <a:endParaRPr lang="en-US" sz="1100" dirty="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49888" marR="4988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dirty="0">
                          <a:effectLst/>
                        </a:rPr>
                        <a:t>25 to 30 Aug</a:t>
                      </a:r>
                      <a:endParaRPr lang="en-US" sz="1100" dirty="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49888" marR="4988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28 Aug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49888" marR="4988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Super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49888" marR="4988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49888" marR="49888" marT="0" marB="0"/>
                </a:tc>
              </a:tr>
              <a:tr h="38449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11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49888" marR="4988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Make a checklist for quality investigation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49888" marR="4988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EOC ward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49888" marR="4988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RMO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49888" marR="4988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dirty="0">
                          <a:effectLst/>
                        </a:rPr>
                        <a:t>25 Aug to 10 Sept</a:t>
                      </a:r>
                      <a:endParaRPr lang="en-US" sz="1100" dirty="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49888" marR="4988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5 Sept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49888" marR="4988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Super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49888" marR="4988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49888" marR="49888" marT="0" marB="0"/>
                </a:tc>
              </a:tr>
              <a:tr h="38449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12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49888" marR="4988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Ensure regular on-the-job training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49888" marR="4988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EOC ward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49888" marR="4988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Hospital Super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49888" marR="4988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dirty="0">
                          <a:effectLst/>
                        </a:rPr>
                        <a:t>30 Aug to 15 Sept</a:t>
                      </a:r>
                      <a:endParaRPr lang="en-US" sz="1100" dirty="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49888" marR="4988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dirty="0">
                          <a:effectLst/>
                        </a:rPr>
                        <a:t>10 Sept</a:t>
                      </a:r>
                      <a:endParaRPr lang="en-US" sz="1100" dirty="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49888" marR="4988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Super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49888" marR="4988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49888" marR="49888" marT="0" marB="0"/>
                </a:tc>
              </a:tr>
              <a:tr h="38449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13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49888" marR="4988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Identify the topics for health education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49888" marR="4988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EOC ward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49888" marR="4988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Consultant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49888" marR="4988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25 Aug to 30 Aug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49888" marR="4988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dirty="0">
                          <a:effectLst/>
                        </a:rPr>
                        <a:t>28 Aug</a:t>
                      </a:r>
                      <a:endParaRPr lang="en-US" sz="1100" dirty="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49888" marR="4988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Focal Person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49888" marR="4988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49888" marR="49888" marT="0" marB="0"/>
                </a:tc>
              </a:tr>
              <a:tr h="38449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14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49888" marR="4988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Identify the health educator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49888" marR="4988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EOC ward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49888" marR="4988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RMO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49888" marR="4988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25 Aug to 30 Aug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49888" marR="4988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dirty="0">
                          <a:effectLst/>
                        </a:rPr>
                        <a:t>27 Aug</a:t>
                      </a:r>
                      <a:endParaRPr lang="en-US" sz="1100" dirty="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49888" marR="4988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Super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49888" marR="4988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49888" marR="49888" marT="0" marB="0"/>
                </a:tc>
              </a:tr>
              <a:tr h="11092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15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49888" marR="4988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Regular monitoring of health education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49888" marR="4988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EOC ward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49888" marR="4988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Hospital Super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49888" marR="4988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1 to 30 Sept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49888" marR="4988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dirty="0">
                          <a:effectLst/>
                        </a:rPr>
                        <a:t>15 Sept</a:t>
                      </a:r>
                      <a:endParaRPr lang="en-US" sz="1100" dirty="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49888" marR="4988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dirty="0">
                          <a:effectLst/>
                        </a:rPr>
                        <a:t>Super</a:t>
                      </a:r>
                      <a:endParaRPr lang="en-US" sz="1100" dirty="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49888" marR="4988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dirty="0">
                          <a:effectLst/>
                        </a:rPr>
                        <a:t> </a:t>
                      </a:r>
                      <a:endParaRPr lang="en-US" sz="1100" dirty="0">
                        <a:effectLst/>
                        <a:latin typeface="Calibri"/>
                        <a:ea typeface="Calibri"/>
                        <a:cs typeface="Vrinda"/>
                      </a:endParaRPr>
                    </a:p>
                  </a:txBody>
                  <a:tcPr marL="49888" marR="49888" marT="0" marB="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275476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2239" y="12504"/>
            <a:ext cx="555787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u="sng" dirty="0" smtClean="0"/>
              <a:t>Check Effectiveness of action </a:t>
            </a:r>
            <a:endParaRPr lang="en-US" sz="3200" dirty="0"/>
          </a:p>
        </p:txBody>
      </p:sp>
      <p:sp>
        <p:nvSpPr>
          <p:cNvPr id="5" name="Rectangle 4"/>
          <p:cNvSpPr/>
          <p:nvPr/>
        </p:nvSpPr>
        <p:spPr>
          <a:xfrm>
            <a:off x="179512" y="677887"/>
            <a:ext cx="7776864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AutoNum type="arabicPeriod"/>
            </a:pPr>
            <a:r>
              <a:rPr lang="en-US" sz="2800" dirty="0" smtClean="0"/>
              <a:t>Necessary Data is collected for effectiveness. Check if it is the same methodology and period applied in step 2. </a:t>
            </a:r>
          </a:p>
          <a:p>
            <a:pPr marL="457200" indent="-457200">
              <a:buAutoNum type="arabicPeriod"/>
            </a:pPr>
            <a:r>
              <a:rPr lang="en-US" sz="2800" dirty="0" smtClean="0"/>
              <a:t>Compare the table for effectiveness, check if it is developed or not.</a:t>
            </a:r>
          </a:p>
          <a:p>
            <a:pPr marL="457200" indent="-457200">
              <a:buAutoNum type="arabicPeriod"/>
            </a:pPr>
            <a:r>
              <a:rPr lang="en-US" sz="2800" dirty="0" smtClean="0"/>
              <a:t>Pareto Chart before and after KAIZEN are developed based on the comparison table or not.</a:t>
            </a:r>
          </a:p>
        </p:txBody>
      </p:sp>
    </p:spTree>
    <p:extLst>
      <p:ext uri="{BB962C8B-B14F-4D97-AF65-F5344CB8AC3E}">
        <p14:creationId xmlns:p14="http://schemas.microsoft.com/office/powerpoint/2010/main" val="1606681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32656"/>
            <a:ext cx="8229600" cy="5793507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Standardization of effective counter measures: 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Before KAIZEN                                  After KAIZEN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7710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 descr="Sunset"/>
          <p:cNvSpPr>
            <a:spLocks noGrp="1" noChangeArrowheads="1"/>
          </p:cNvSpPr>
          <p:nvPr>
            <p:ph type="body" idx="4294967295"/>
          </p:nvPr>
        </p:nvSpPr>
        <p:spPr>
          <a:xfrm>
            <a:off x="0" y="0"/>
            <a:ext cx="9144000" cy="6858000"/>
          </a:xfrm>
          <a:blipFill dpi="0" rotWithShape="1">
            <a:blip r:embed="rId3"/>
            <a:srcRect/>
            <a:stretch>
              <a:fillRect/>
            </a:stretch>
          </a:blipFill>
          <a:ln>
            <a:solidFill>
              <a:schemeClr val="tx1"/>
            </a:solidFill>
            <a:miter lim="800000"/>
            <a:headEnd/>
            <a:tailEnd/>
          </a:ln>
          <a:extLst/>
        </p:spPr>
        <p:txBody>
          <a:bodyPr/>
          <a:lstStyle/>
          <a:p>
            <a:pPr algn="ctr" eaLnBrk="1" hangingPunct="1">
              <a:buFontTx/>
              <a:buNone/>
              <a:defRPr/>
            </a:pPr>
            <a:endParaRPr lang="en-US" sz="5400" dirty="0" smtClean="0">
              <a:solidFill>
                <a:srgbClr val="FF0066"/>
              </a:solidFill>
              <a:latin typeface="Albertus Extra Bold"/>
            </a:endParaRPr>
          </a:p>
          <a:p>
            <a:pPr algn="ctr" eaLnBrk="1" hangingPunct="1">
              <a:buFontTx/>
              <a:buNone/>
              <a:defRPr/>
            </a:pPr>
            <a:endParaRPr lang="en-US" sz="6000" b="1" dirty="0" smtClean="0">
              <a:solidFill>
                <a:schemeClr val="bg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lbertus Extra Bold"/>
            </a:endParaRPr>
          </a:p>
          <a:p>
            <a:pPr algn="ctr" eaLnBrk="1" hangingPunct="1">
              <a:buFontTx/>
              <a:buNone/>
              <a:defRPr/>
            </a:pPr>
            <a:endParaRPr lang="en-US" sz="4400" b="1" cap="all" dirty="0" smtClean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  <a:latin typeface="Albertus Extra Bold"/>
            </a:endParaRPr>
          </a:p>
          <a:p>
            <a:pPr algn="ctr" eaLnBrk="1" hangingPunct="1">
              <a:buFontTx/>
              <a:buNone/>
              <a:defRPr/>
            </a:pPr>
            <a:r>
              <a:rPr lang="en-US" sz="4400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  <a:latin typeface="Albertus Extra Bold"/>
              </a:rPr>
              <a:t>Thank </a:t>
            </a:r>
            <a:r>
              <a:rPr lang="en-US" sz="4400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  <a:latin typeface="Albertus Extra Bold"/>
              </a:rPr>
              <a:t>You</a:t>
            </a:r>
            <a:endParaRPr lang="en-US" sz="4400" b="1" cap="all" dirty="0" smtClean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  <a:latin typeface="Albertus Extra Bold"/>
            </a:endParaRPr>
          </a:p>
        </p:txBody>
      </p:sp>
    </p:spTree>
    <p:extLst>
      <p:ext uri="{BB962C8B-B14F-4D97-AF65-F5344CB8AC3E}">
        <p14:creationId xmlns:p14="http://schemas.microsoft.com/office/powerpoint/2010/main" val="14468563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1334</Words>
  <Application>Microsoft Office PowerPoint</Application>
  <PresentationFormat>On-screen Show (4:3)</PresentationFormat>
  <Paragraphs>552</Paragraphs>
  <Slides>14</Slides>
  <Notes>2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6" baseType="lpstr">
      <vt:lpstr>Office Theme</vt:lpstr>
      <vt:lpstr>Chart</vt:lpstr>
      <vt:lpstr>PowerPoint Presentation</vt:lpstr>
      <vt:lpstr>EOC Word</vt:lpstr>
      <vt:lpstr>PowerPoint Presentation</vt:lpstr>
      <vt:lpstr>WIT 1 (EOC Word)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Emdad</dc:creator>
  <cp:lastModifiedBy>Emdad</cp:lastModifiedBy>
  <cp:revision>13</cp:revision>
  <dcterms:created xsi:type="dcterms:W3CDTF">2016-08-17T15:30:07Z</dcterms:created>
  <dcterms:modified xsi:type="dcterms:W3CDTF">2016-08-17T16:16:40Z</dcterms:modified>
</cp:coreProperties>
</file>