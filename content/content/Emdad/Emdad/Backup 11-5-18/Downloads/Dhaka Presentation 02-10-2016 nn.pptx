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4781" r:id="rId2"/>
    <p:sldMasterId id="2147487080" r:id="rId3"/>
    <p:sldMasterId id="2147487909" r:id="rId4"/>
  </p:sldMasterIdLst>
  <p:notesMasterIdLst>
    <p:notesMasterId r:id="rId49"/>
  </p:notesMasterIdLst>
  <p:sldIdLst>
    <p:sldId id="524" r:id="rId5"/>
    <p:sldId id="512" r:id="rId6"/>
    <p:sldId id="601" r:id="rId7"/>
    <p:sldId id="605" r:id="rId8"/>
    <p:sldId id="606" r:id="rId9"/>
    <p:sldId id="522" r:id="rId10"/>
    <p:sldId id="530" r:id="rId11"/>
    <p:sldId id="535" r:id="rId12"/>
    <p:sldId id="603" r:id="rId13"/>
    <p:sldId id="596" r:id="rId14"/>
    <p:sldId id="539" r:id="rId15"/>
    <p:sldId id="540" r:id="rId16"/>
    <p:sldId id="541" r:id="rId17"/>
    <p:sldId id="542" r:id="rId18"/>
    <p:sldId id="594" r:id="rId19"/>
    <p:sldId id="544" r:id="rId20"/>
    <p:sldId id="545" r:id="rId21"/>
    <p:sldId id="546" r:id="rId22"/>
    <p:sldId id="547" r:id="rId23"/>
    <p:sldId id="548" r:id="rId24"/>
    <p:sldId id="549" r:id="rId25"/>
    <p:sldId id="550" r:id="rId26"/>
    <p:sldId id="551" r:id="rId27"/>
    <p:sldId id="552" r:id="rId28"/>
    <p:sldId id="553" r:id="rId29"/>
    <p:sldId id="554" r:id="rId30"/>
    <p:sldId id="555" r:id="rId31"/>
    <p:sldId id="556" r:id="rId32"/>
    <p:sldId id="557" r:id="rId33"/>
    <p:sldId id="598" r:id="rId34"/>
    <p:sldId id="558" r:id="rId35"/>
    <p:sldId id="559" r:id="rId36"/>
    <p:sldId id="560" r:id="rId37"/>
    <p:sldId id="561" r:id="rId38"/>
    <p:sldId id="563" r:id="rId39"/>
    <p:sldId id="609" r:id="rId40"/>
    <p:sldId id="585" r:id="rId41"/>
    <p:sldId id="607" r:id="rId42"/>
    <p:sldId id="608" r:id="rId43"/>
    <p:sldId id="593" r:id="rId44"/>
    <p:sldId id="564" r:id="rId45"/>
    <p:sldId id="600" r:id="rId46"/>
    <p:sldId id="604" r:id="rId47"/>
    <p:sldId id="586" r:id="rId48"/>
  </p:sldIdLst>
  <p:sldSz cx="9144000" cy="6858000" type="screen4x3"/>
  <p:notesSz cx="6858000" cy="99456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66"/>
    <a:srgbClr val="CC3300"/>
    <a:srgbClr val="006600"/>
    <a:srgbClr val="FF9966"/>
    <a:srgbClr val="99FF33"/>
    <a:srgbClr val="1365BF"/>
    <a:srgbClr val="FF33CC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22" autoAdjust="0"/>
    <p:restoredTop sz="95382" autoAdjust="0"/>
  </p:normalViewPr>
  <p:slideViewPr>
    <p:cSldViewPr>
      <p:cViewPr>
        <p:scale>
          <a:sx n="80" d="100"/>
          <a:sy n="80" d="100"/>
        </p:scale>
        <p:origin x="-1170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15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view3D>
      <c:rotX val="15"/>
      <c:hPercent val="95"/>
      <c:rotY val="2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5873015873015872"/>
          <c:y val="5.9952038369304558E-2"/>
          <c:w val="0.68259903843795222"/>
          <c:h val="0.80095923261390889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Emergency &amp; Outdoors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Lbls>
            <c:dLbl>
              <c:idx val="3"/>
              <c:layout/>
              <c:tx>
                <c:rich>
                  <a:bodyPr/>
                  <a:lstStyle/>
                  <a:p>
                    <a:r>
                      <a:rPr lang="en-GB"/>
                      <a:t>233868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Sheet1!$B$1:$F$1</c:f>
              <c:numCache>
                <c:formatCode>General</c:formatCode>
                <c:ptCount val="5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Sheet1!$B$2:$F$2</c:f>
              <c:numCache>
                <c:formatCode>General</c:formatCode>
                <c:ptCount val="5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Indoor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Lbls>
            <c:dLbl>
              <c:idx val="0"/>
              <c:layout>
                <c:manualLayout>
                  <c:x val="8.8624420168119371E-3"/>
                  <c:y val="-1.5778162386247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246845034050468E-2"/>
                  <c:y val="1.88719859582950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334553376557468E-2"/>
                  <c:y val="4.77449064053518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7968032020908437E-2"/>
                  <c:y val="5.388689054044834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8.3048159905279063E-3"/>
                  <c:y val="-2.3733300737187785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Sheet1!$B$1:$F$1</c:f>
              <c:numCache>
                <c:formatCode>General</c:formatCode>
                <c:ptCount val="5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Sheet1!$B$3:$F$3</c:f>
              <c:numCache>
                <c:formatCode>General</c:formatCode>
                <c:ptCount val="5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7"/>
        <c:gapDepth val="38"/>
        <c:shape val="cylinder"/>
        <c:axId val="263822336"/>
        <c:axId val="263824128"/>
        <c:axId val="0"/>
      </c:bar3DChart>
      <c:catAx>
        <c:axId val="263822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txPr>
          <a:bodyPr rot="0" vert="horz"/>
          <a:lstStyle/>
          <a:p>
            <a:pPr>
              <a:defRPr/>
            </a:pPr>
            <a:endParaRPr lang="en-US"/>
          </a:p>
        </c:txPr>
        <c:crossAx val="263824128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2638241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26382233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7331619020595399"/>
          <c:y val="0.34772182254196643"/>
          <c:w val="0.220334586555059"/>
          <c:h val="0.30455635491606714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solidFill>
              <a:srgbClr val="9999FF"/>
            </a:solidFill>
            <a:ln w="13033">
              <a:solidFill>
                <a:srgbClr val="000000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pPr>
                <a:noFill/>
                <a:ln w="26067">
                  <a:noFill/>
                </a:ln>
              </c:spPr>
              <c:txPr>
                <a:bodyPr/>
                <a:lstStyle/>
                <a:p>
                  <a:pPr algn="ctr" rtl="0">
                    <a:defRPr sz="1847" b="0" i="0" u="none" strike="noStrike" baseline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 w="26067">
                <a:noFill/>
              </a:ln>
            </c:spPr>
            <c:txPr>
              <a:bodyPr/>
              <a:lstStyle/>
              <a:p>
                <a:pPr>
                  <a:defRPr sz="1847" b="0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263916928"/>
        <c:axId val="264049792"/>
        <c:axId val="0"/>
      </c:bar3DChart>
      <c:catAx>
        <c:axId val="263916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64049792"/>
        <c:crosses val="autoZero"/>
        <c:auto val="1"/>
        <c:lblAlgn val="ctr"/>
        <c:lblOffset val="100"/>
        <c:noMultiLvlLbl val="0"/>
      </c:catAx>
      <c:valAx>
        <c:axId val="2640497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63916928"/>
        <c:crosses val="autoZero"/>
        <c:crossBetween val="between"/>
      </c:valAx>
      <c:spPr>
        <a:noFill/>
        <a:ln w="26067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47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6819571865443424E-2"/>
                  <c:y val="-2.8735632183908046E-2"/>
                </c:manualLayout>
              </c:layout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dirty="0" smtClean="0"/>
                      <a:t>4010,380</a:t>
                    </a:r>
                    <a:endParaRPr lang="en-US" dirty="0"/>
                  </a:p>
                </c:rich>
              </c:tx>
              <c:spPr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9051987767584098E-2"/>
                  <c:y val="-2.8735632183908046E-2"/>
                </c:manualLayout>
              </c:layout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dirty="0" smtClean="0"/>
                      <a:t>5934,815</a:t>
                    </a:r>
                    <a:endParaRPr lang="en-US" dirty="0"/>
                  </a:p>
                </c:rich>
              </c:tx>
              <c:spPr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7372,970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2013-14</c:v>
                </c:pt>
                <c:pt idx="1">
                  <c:v>2014-15</c:v>
                </c:pt>
                <c:pt idx="2">
                  <c:v>2015-16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4010380</c:v>
                </c:pt>
                <c:pt idx="1">
                  <c:v>5934815</c:v>
                </c:pt>
                <c:pt idx="2">
                  <c:v>7372970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64076288"/>
        <c:axId val="264168192"/>
        <c:axId val="0"/>
      </c:bar3DChart>
      <c:catAx>
        <c:axId val="2640762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64168192"/>
        <c:crosses val="autoZero"/>
        <c:auto val="1"/>
        <c:lblAlgn val="ctr"/>
        <c:lblOffset val="100"/>
        <c:noMultiLvlLbl val="0"/>
      </c:catAx>
      <c:valAx>
        <c:axId val="26416819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crossAx val="264076288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1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744538"/>
            <a:ext cx="4972050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724400"/>
            <a:ext cx="548640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7213"/>
            <a:ext cx="29718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9447213"/>
            <a:ext cx="29718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F09EFDA-9FA6-4EE9-8768-1BD8A60D3C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4658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250D467-FA9D-41D6-91B9-6FD47C763CA0}" type="slidenum">
              <a:rPr lang="en-US" smtClean="0">
                <a:solidFill>
                  <a:srgbClr val="000000"/>
                </a:solidFill>
              </a:rPr>
              <a:pPr eaLnBrk="1" hangingPunct="1"/>
              <a:t>2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6978" y="748985"/>
            <a:ext cx="4544046" cy="3726236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7975" y="4724881"/>
            <a:ext cx="5482052" cy="447352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156978" y="748985"/>
            <a:ext cx="4544046" cy="3726236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7975" y="4724881"/>
            <a:ext cx="5482052" cy="447352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8344" indent="-28397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5913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0279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44644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99009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53375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07740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62106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CF225650-5ACD-468B-9C61-AE12F7A0FEB3}" type="slidenum">
              <a:rPr lang="en-US">
                <a:solidFill>
                  <a:prstClr val="black"/>
                </a:solidFill>
              </a:rPr>
              <a:pPr eaLnBrk="1" hangingPunct="1"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58FFC9C-427B-4C25-BBD3-69281BB0EE1D}" type="slidenum">
              <a:rPr lang="en-US" smtClean="0">
                <a:solidFill>
                  <a:srgbClr val="000000"/>
                </a:solidFill>
              </a:rPr>
              <a:pPr eaLnBrk="1" hangingPunct="1"/>
              <a:t>10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8344" indent="-28397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5913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0279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44644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99009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53375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07740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62106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CFBDEF54-A397-48F0-8899-B1FB3C2B7B01}" type="slidenum">
              <a:rPr lang="en-US">
                <a:solidFill>
                  <a:prstClr val="black"/>
                </a:solidFill>
              </a:rPr>
              <a:pPr eaLnBrk="1" hangingPunct="1"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8344" indent="-28397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5913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0279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44644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99009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53375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07740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62106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2014CAF-51FA-4E16-A402-646A2D46EEF5}" type="slidenum">
              <a:rPr lang="en-US">
                <a:solidFill>
                  <a:prstClr val="black"/>
                </a:solidFill>
              </a:rPr>
              <a:pPr eaLnBrk="1" hangingPunct="1"/>
              <a:t>42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0EAE7D3-9C06-4DB4-ACCC-B74DA316F7C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76166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4F9B31F-D5A8-4A46-8135-19E8C2F84E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04018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0055934-D297-40AE-8C31-BFCB2B4E6D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7487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8B06743-DA15-4070-A89F-CC5978BE4E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03121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881075B-84F4-44BB-B6B0-F41F6F9CCE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1778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9A4AB0D-D421-4477-BF7B-5A15C8FE9E4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62498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F323683-94BC-464C-B011-79E24853D84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58937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81D0C94-EECA-4073-ABF8-E8F1DD0C8B5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9243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B5FCB9C9-A122-4F06-9CE9-CDB89ECB3A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83578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055BA85-89C2-41EF-800E-E5FCE90811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84992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81261DB-600E-4EEF-8312-AA280A0955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8755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04053BB-C880-4006-8C81-C550604326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21232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4CF0295-3EB3-480E-BAF9-EA9E3BCB7B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94205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582D2ED-70B4-4171-83C5-AB59F2B03B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54923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6854558-25E2-41C2-8EDF-A9189FA05F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46397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A4074C-0223-4709-935D-3599929F31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520785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C3395C7-D1AA-45B8-AFE1-AD79D85B30F8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73AB769-7E0F-4914-9CE5-2D22ECBEE70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8007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AD43989-2DFB-499D-B1C0-AF61E32409C5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5A0A2B5-424D-4BD5-9868-3D3CBD1C9E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988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99DDB8A-5237-4A6F-9F74-6DA0773A5655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CBEC649-5435-4CA3-BA58-43954FC558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9669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64B5CFA-359F-44E1-8571-EE75668E0FDF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3185312-751E-40FA-B1D3-7B09CF40F76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4885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2695EEB-AECE-4431-8B2A-A7A17F609C9D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7396D20-EF84-4940-BB4A-5A2C01D4522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64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8EEFC8F-94C4-4DA7-854A-DE5F2F063DB2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9FE99B06-9419-43D2-A12E-3B3D2E4EF8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3455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DD15E1A-24E9-4635-8845-04F9411E1D31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0766677-3553-4F8A-B082-7491D1E122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7314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2F34E7E3-9689-4BAB-B7D5-F9736D21E422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0D6307D-3DD1-4B25-813A-053605BB180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8160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7550C93-8FB4-4DB3-BAAE-7FF01B5B9F46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3198E44-59AF-429A-ADED-4272809AE09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1156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B53FA4B-9EB0-49EC-8105-05EC047BC943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159346D-1425-4640-8638-9C6F0AB1AC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1673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3C20C7F3-AE22-4D4B-B293-E86CFFF31D22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15C664F-77BE-47B8-98EA-60A6073814F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4971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F5BA9105-F799-4AD6-BE1D-EB6435D6D4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93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5B395-BB23-4C8E-A0D9-F8B4C9B3C5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631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1FF430C5-6C97-4F3C-94EB-87EB3ECB43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60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D27DEC-F49A-41DC-8DCC-A0EF0F2626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820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FCCDD-8E41-4CB2-9E02-12C0557A94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90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792B5-6862-4E68-B435-F94D139E69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402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DB91A2-9915-43FB-83F1-4A0174653A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131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C0776-B9E3-4701-A0DF-B4BA2C4837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854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AEE31-88B4-4CC1-858A-0209A32C09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5370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FCFB7-F822-41CC-8B7E-64830996D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90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E23BF2-1773-4833-B2B6-836090B580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90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490FFF-BE2E-4760-A71F-9011BA4181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724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64E7C8-D20D-405B-8CAA-46E1B44BFE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2205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D68696-6C17-4904-BD83-A91F838EB4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37012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F3863-DDD7-4F61-9FA2-D781F7EDFA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5865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6A5B00-8C53-40AD-8818-69C60EC638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0490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0BF82-1D55-484D-963E-6C66613293D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0203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AC5FF-E3C7-43C2-AC63-ABDC4FA8BD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49513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1DB222-65E7-4D43-9645-BF74834B6F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30380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7C30EE-23C4-4C84-9197-4A2A70652C2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4200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66ADF-3187-4AB1-A5E6-63BB572466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7435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3212E7-0C07-4D4B-A7FC-BD6DDDFDC8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2881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4E04D-B6A2-40BD-BD26-9DCC85A0FE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53837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02CD7-A198-4300-9FCD-F7B365F808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56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FAA30FA-874C-4377-84D9-B4FBB78A313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857" r:id="rId1"/>
    <p:sldLayoutId id="2147487858" r:id="rId2"/>
    <p:sldLayoutId id="2147487859" r:id="rId3"/>
    <p:sldLayoutId id="2147487860" r:id="rId4"/>
    <p:sldLayoutId id="2147487861" r:id="rId5"/>
    <p:sldLayoutId id="2147487862" r:id="rId6"/>
    <p:sldLayoutId id="2147487863" r:id="rId7"/>
    <p:sldLayoutId id="2147487864" r:id="rId8"/>
    <p:sldLayoutId id="2147487865" r:id="rId9"/>
    <p:sldLayoutId id="2147487866" r:id="rId10"/>
    <p:sldLayoutId id="2147487867" r:id="rId11"/>
    <p:sldLayoutId id="2147487868" r:id="rId12"/>
    <p:sldLayoutId id="2147487869" r:id="rId13"/>
    <p:sldLayoutId id="2147487870" r:id="rId14"/>
    <p:sldLayoutId id="2147487871" r:id="rId15"/>
    <p:sldLayoutId id="2147487922" r:id="rId16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fld id="{8EAD3A17-D9DC-4257-ACA6-6D80DB3FCC17}" type="datetimeFigureOut">
              <a:rPr lang="en-US"/>
              <a:pPr>
                <a:defRPr/>
              </a:pPr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fld id="{0B29E44A-4CD1-4975-99CB-B13BD11ECC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883" r:id="rId1"/>
    <p:sldLayoutId id="2147487884" r:id="rId2"/>
    <p:sldLayoutId id="2147487885" r:id="rId3"/>
    <p:sldLayoutId id="2147487886" r:id="rId4"/>
    <p:sldLayoutId id="2147487887" r:id="rId5"/>
    <p:sldLayoutId id="2147487888" r:id="rId6"/>
    <p:sldLayoutId id="2147487889" r:id="rId7"/>
    <p:sldLayoutId id="2147487890" r:id="rId8"/>
    <p:sldLayoutId id="2147487891" r:id="rId9"/>
    <p:sldLayoutId id="2147487892" r:id="rId10"/>
    <p:sldLayoutId id="214748789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614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14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2726899A-B839-4B69-8705-C78473B00D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615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7894" r:id="rId1"/>
    <p:sldLayoutId id="2147487831" r:id="rId2"/>
    <p:sldLayoutId id="2147487895" r:id="rId3"/>
    <p:sldLayoutId id="2147487832" r:id="rId4"/>
    <p:sldLayoutId id="2147487833" r:id="rId5"/>
    <p:sldLayoutId id="2147487834" r:id="rId6"/>
    <p:sldLayoutId id="2147487835" r:id="rId7"/>
    <p:sldLayoutId id="2147487836" r:id="rId8"/>
    <p:sldLayoutId id="2147487896" r:id="rId9"/>
    <p:sldLayoutId id="2147487837" r:id="rId10"/>
    <p:sldLayoutId id="2147487838" r:id="rId11"/>
    <p:sldLayoutId id="214748792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dirty="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FB8E0A8-F6AA-4352-A7E7-8AB9E9D772C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340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910" r:id="rId1"/>
    <p:sldLayoutId id="2147487911" r:id="rId2"/>
    <p:sldLayoutId id="2147487912" r:id="rId3"/>
    <p:sldLayoutId id="2147487913" r:id="rId4"/>
    <p:sldLayoutId id="2147487914" r:id="rId5"/>
    <p:sldLayoutId id="2147487915" r:id="rId6"/>
    <p:sldLayoutId id="2147487916" r:id="rId7"/>
    <p:sldLayoutId id="2147487917" r:id="rId8"/>
    <p:sldLayoutId id="2147487918" r:id="rId9"/>
    <p:sldLayoutId id="2147487919" r:id="rId10"/>
    <p:sldLayoutId id="2147487920" r:id="rId11"/>
    <p:sldLayoutId id="2147487921" r:id="rId1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9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9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9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2.jpeg"/><Relationship Id="rId5" Type="http://schemas.openxmlformats.org/officeDocument/2006/relationships/image" Target="../media/image71.jpeg"/><Relationship Id="rId4" Type="http://schemas.openxmlformats.org/officeDocument/2006/relationships/image" Target="../media/image7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6.jpeg"/><Relationship Id="rId4" Type="http://schemas.openxmlformats.org/officeDocument/2006/relationships/image" Target="../media/image75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0.jpeg"/><Relationship Id="rId4" Type="http://schemas.openxmlformats.org/officeDocument/2006/relationships/image" Target="../media/image7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3.jpeg"/><Relationship Id="rId4" Type="http://schemas.openxmlformats.org/officeDocument/2006/relationships/image" Target="../media/image87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1.jpeg"/><Relationship Id="rId4" Type="http://schemas.openxmlformats.org/officeDocument/2006/relationships/image" Target="../media/image90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>
              <a:solidFill>
                <a:srgbClr val="CC00FF"/>
              </a:solidFill>
            </a:endParaRPr>
          </a:p>
        </p:txBody>
      </p:sp>
      <p:sp>
        <p:nvSpPr>
          <p:cNvPr id="49155" name="TextBox 2"/>
          <p:cNvSpPr txBox="1">
            <a:spLocks noChangeArrowheads="1"/>
          </p:cNvSpPr>
          <p:nvPr/>
        </p:nvSpPr>
        <p:spPr bwMode="auto">
          <a:xfrm>
            <a:off x="0" y="28575"/>
            <a:ext cx="9144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3600" b="1" dirty="0">
                <a:solidFill>
                  <a:srgbClr val="002060"/>
                </a:solidFill>
              </a:rPr>
              <a:t>Community Support System in Chowgacha UHC &amp; Jhenaidah Sadar Hospital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Dr.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Md.Emdadul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Senior Consultant (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Obst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&amp; 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Gynae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  <a:p>
            <a:pPr algn="ctr">
              <a:defRPr/>
            </a:pP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Sadar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Hospital 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Jhenaidah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915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395538"/>
            <a:ext cx="3657600" cy="283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 descr="M:\DCIM\101MSDCF\DSC03898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2200275"/>
            <a:ext cx="403860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2209800"/>
            <a:ext cx="6172200" cy="3886200"/>
          </a:xfrm>
        </p:spPr>
        <p:txBody>
          <a:bodyPr/>
          <a:lstStyle/>
          <a:p>
            <a:pPr marR="0" eaLnBrk="1" hangingPunct="1"/>
            <a:endParaRPr lang="en-US" sz="4000" smtClean="0"/>
          </a:p>
          <a:p>
            <a:pPr marR="0" eaLnBrk="1" hangingPunct="1"/>
            <a:endParaRPr lang="en-US" smtClean="0"/>
          </a:p>
        </p:txBody>
      </p:sp>
      <p:pic>
        <p:nvPicPr>
          <p:cNvPr id="5017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30200" y="838200"/>
            <a:ext cx="8432800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50 BEDED UPAZILA  HEALTH  COMPLEX </a:t>
            </a:r>
            <a:r>
              <a:rPr lang="en-US" sz="32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sz="32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Chowgacha, Jessore</a:t>
            </a:r>
            <a:r>
              <a:rPr lang="en-US" sz="24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Community engagement is the basic element to run a health institution efficiently and effectively.</a:t>
            </a:r>
          </a:p>
          <a:p>
            <a:pPr algn="just"/>
            <a:r>
              <a:rPr lang="en-US" dirty="0" smtClean="0"/>
              <a:t>Initiation of community engagement started in the year of 1996 in </a:t>
            </a:r>
            <a:r>
              <a:rPr lang="en-US" dirty="0" err="1" smtClean="0"/>
              <a:t>Chowgacha</a:t>
            </a:r>
            <a:r>
              <a:rPr lang="en-US" dirty="0" smtClean="0"/>
              <a:t>  and 2012 in </a:t>
            </a:r>
            <a:r>
              <a:rPr lang="en-US" dirty="0" err="1" smtClean="0"/>
              <a:t>Jhenaidah</a:t>
            </a:r>
            <a:r>
              <a:rPr lang="en-US" dirty="0" smtClean="0"/>
              <a:t> </a:t>
            </a:r>
          </a:p>
          <a:p>
            <a:pPr algn="just"/>
            <a:r>
              <a:rPr lang="en-US" dirty="0" smtClean="0"/>
              <a:t>Sensitization of the service providers and community leaders on the basis of identified problem.</a:t>
            </a:r>
          </a:p>
          <a:p>
            <a:pPr algn="just"/>
            <a:r>
              <a:rPr lang="en-US" dirty="0" smtClean="0"/>
              <a:t>Inviting community how they can engage in the hospital management process.</a:t>
            </a:r>
          </a:p>
          <a:p>
            <a:pPr algn="just"/>
            <a:r>
              <a:rPr lang="en-US" dirty="0" smtClean="0"/>
              <a:t>Discussion initiated with the community for identification of areas.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957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</a:t>
            </a: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51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7297158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</a:t>
            </a: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  <a:p>
            <a:pPr algn="ctr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75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17269517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0" name="Group 6"/>
          <p:cNvGrpSpPr>
            <a:grpSpLocks/>
          </p:cNvGrpSpPr>
          <p:nvPr/>
        </p:nvGrpSpPr>
        <p:grpSpPr bwMode="auto">
          <a:xfrm>
            <a:off x="4660900" y="0"/>
            <a:ext cx="4508500" cy="3276600"/>
            <a:chOff x="1248" y="288"/>
            <a:chExt cx="3157" cy="2448"/>
          </a:xfrm>
        </p:grpSpPr>
        <p:pic>
          <p:nvPicPr>
            <p:cNvPr id="634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4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0"/>
            <a:ext cx="4170363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57600"/>
            <a:ext cx="4140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3" name="Picture 7" descr="SHAMIM PHOTO (3)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74"/>
          <a:stretch>
            <a:fillRect/>
          </a:stretch>
        </p:blipFill>
        <p:spPr bwMode="auto">
          <a:xfrm>
            <a:off x="4660900" y="3657600"/>
            <a:ext cx="44958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7"/>
          <p:cNvSpPr txBox="1">
            <a:spLocks/>
          </p:cNvSpPr>
          <p:nvPr/>
        </p:nvSpPr>
        <p:spPr bwMode="auto">
          <a:xfrm>
            <a:off x="1143000" y="71438"/>
            <a:ext cx="7924800" cy="1133475"/>
          </a:xfrm>
          <a:prstGeom prst="rect">
            <a:avLst/>
          </a:prstGeom>
          <a:solidFill>
            <a:srgbClr val="99FF33"/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en-US" sz="3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Community Participation in Jhenaidah Sadar Hospital</a:t>
            </a:r>
          </a:p>
        </p:txBody>
      </p:sp>
      <p:pic>
        <p:nvPicPr>
          <p:cNvPr id="56324" name="Picture 6" descr="D:\Design &amp; Format\Design\Logos\Image Files\Logo_Go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-4763"/>
            <a:ext cx="1090612" cy="1209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9" name="Rectangle 2"/>
          <p:cNvSpPr>
            <a:spLocks noChangeArrowheads="1"/>
          </p:cNvSpPr>
          <p:nvPr/>
        </p:nvSpPr>
        <p:spPr bwMode="auto">
          <a:xfrm>
            <a:off x="0" y="1204913"/>
            <a:ext cx="914400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>
              <a:defRPr/>
            </a:pP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SADAR HOSPITAL, JHENAIDAH</a:t>
            </a:r>
            <a:r>
              <a:rPr lang="en-US" sz="40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</a:br>
            <a:endParaRPr lang="en-US" sz="4000" b="1" dirty="0">
              <a:solidFill>
                <a:srgbClr val="CC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3" descr="M:\DCIM\101MSDCF\DSC0389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93" y="1828800"/>
            <a:ext cx="7900293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9166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Challenges before starting community participation !!</a:t>
            </a:r>
            <a:endParaRPr lang="en-US" altLang="ja-JP" sz="2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55675"/>
            <a:ext cx="9144000" cy="5902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0080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547688" indent="-457200" eaLnBrk="0" hangingPunct="0">
              <a:buFont typeface="+mj-lt"/>
              <a:buAutoNum type="arabicPeriod"/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547688" indent="-457200" algn="just" eaLnBrk="0" hangingPunct="0"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Limited human resources specially 4th class cleaner only </a:t>
            </a:r>
            <a:r>
              <a:rPr lang="en-US" sz="2800" dirty="0" smtClean="0">
                <a:latin typeface="+mn-lt"/>
                <a:cs typeface="+mn-cs"/>
              </a:rPr>
              <a:t>(7).</a:t>
            </a:r>
          </a:p>
          <a:p>
            <a:pPr algn="just" eaLnBrk="0" hangingPunct="0">
              <a:defRPr/>
            </a:pPr>
            <a:r>
              <a:rPr lang="en-US" sz="2800" dirty="0">
                <a:latin typeface="+mn-lt"/>
                <a:cs typeface="+mn-cs"/>
              </a:rPr>
              <a:t> </a:t>
            </a:r>
            <a:r>
              <a:rPr lang="en-US" sz="2800" dirty="0" smtClean="0">
                <a:latin typeface="+mn-lt"/>
                <a:cs typeface="+mn-cs"/>
              </a:rPr>
              <a:t>     </a:t>
            </a:r>
            <a:r>
              <a:rPr lang="en-US" sz="2800" dirty="0">
                <a:latin typeface="+mn-lt"/>
                <a:cs typeface="+mn-cs"/>
              </a:rPr>
              <a:t>No guard , gardener , ayah , ward boy , trolley man and </a:t>
            </a:r>
            <a:r>
              <a:rPr lang="en-US" sz="2800" dirty="0" smtClean="0">
                <a:latin typeface="+mn-lt"/>
                <a:cs typeface="+mn-cs"/>
              </a:rPr>
              <a:t>   	electrician </a:t>
            </a:r>
            <a:r>
              <a:rPr lang="en-US" sz="2800" dirty="0">
                <a:latin typeface="+mn-lt"/>
                <a:cs typeface="+mn-cs"/>
              </a:rPr>
              <a:t>. </a:t>
            </a:r>
          </a:p>
          <a:p>
            <a:pPr marL="547688" indent="-457200" algn="just" eaLnBrk="0" hangingPunct="0"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Inadequate all the services especially EOC and pediatric service.</a:t>
            </a:r>
          </a:p>
          <a:p>
            <a:pPr marL="547688" indent="-457200" algn="just" eaLnBrk="0" hangingPunct="0"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Inadequate  overall  cleanliness.</a:t>
            </a:r>
          </a:p>
          <a:p>
            <a:pPr marL="547688" indent="-457200" algn="just" eaLnBrk="0" hangingPunct="0"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Less coordination with local administration and community leaders . </a:t>
            </a:r>
          </a:p>
          <a:p>
            <a:pPr marL="547688" indent="-457200" algn="just" eaLnBrk="0" hangingPunct="0"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Inadequate documentation and reporting System.</a:t>
            </a:r>
          </a:p>
          <a:p>
            <a:pPr marL="547688" indent="-457200" algn="just" eaLnBrk="0" hangingPunct="0"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 Insecure situation for the staff and hospital.</a:t>
            </a:r>
          </a:p>
          <a:p>
            <a:pPr marL="547688" indent="-457200" algn="just" eaLnBrk="0" hangingPunct="0">
              <a:buFont typeface="+mj-lt"/>
              <a:buAutoNum type="arabicPeriod"/>
              <a:defRPr/>
            </a:pPr>
            <a:r>
              <a:rPr lang="en-US" sz="2800" dirty="0">
                <a:latin typeface="+mn-lt"/>
                <a:cs typeface="+mn-cs"/>
              </a:rPr>
              <a:t> Hospital environment was not conducive </a:t>
            </a:r>
            <a:r>
              <a:rPr lang="en-US" sz="2400" dirty="0">
                <a:latin typeface="+mn-lt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4337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of Community participant in </a:t>
            </a:r>
            <a:r>
              <a:rPr lang="en-US" dirty="0" err="1" smtClean="0"/>
              <a:t>Jhenaidah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r>
              <a:rPr lang="en-US" sz="2000" dirty="0" smtClean="0"/>
              <a:t>Holding meeting with the service providers  </a:t>
            </a:r>
            <a:r>
              <a:rPr lang="en-US" sz="2000" dirty="0" smtClean="0"/>
              <a:t>and hospital authority</a:t>
            </a:r>
          </a:p>
          <a:p>
            <a:r>
              <a:rPr lang="en-US" sz="2000" dirty="0" smtClean="0"/>
              <a:t>Introduction of 5S KAIZEN in EOC ward</a:t>
            </a:r>
          </a:p>
          <a:p>
            <a:r>
              <a:rPr lang="en-US" sz="2000" dirty="0" smtClean="0"/>
              <a:t>Baseline assessment </a:t>
            </a:r>
            <a:endParaRPr lang="en-US" sz="2000" dirty="0" smtClean="0"/>
          </a:p>
          <a:p>
            <a:r>
              <a:rPr lang="en-US" sz="2000" dirty="0" smtClean="0"/>
              <a:t>Dialogue with the local MP ,Mayor, local elites, Reporters and local administration </a:t>
            </a:r>
            <a:endParaRPr lang="en-US" sz="2000" dirty="0" smtClean="0"/>
          </a:p>
          <a:p>
            <a:r>
              <a:rPr lang="en-US" sz="2000" dirty="0" smtClean="0"/>
              <a:t>Forming </a:t>
            </a:r>
            <a:r>
              <a:rPr lang="en-US" sz="2000" dirty="0" smtClean="0"/>
              <a:t>“ Community Support group committee “ in </a:t>
            </a:r>
            <a:r>
              <a:rPr lang="en-US" sz="2000" dirty="0" err="1" smtClean="0"/>
              <a:t>Jhenaidah</a:t>
            </a:r>
            <a:r>
              <a:rPr lang="en-US" sz="2000" dirty="0" smtClean="0"/>
              <a:t> for improvement of district hospital.</a:t>
            </a:r>
          </a:p>
          <a:p>
            <a:r>
              <a:rPr lang="en-US" sz="2000" dirty="0" smtClean="0"/>
              <a:t>Opening a bank account for the </a:t>
            </a:r>
            <a:r>
              <a:rPr lang="en-US" sz="2000" dirty="0"/>
              <a:t>“ Community Support group “ </a:t>
            </a:r>
            <a:endParaRPr lang="en-US" sz="2000" dirty="0" smtClean="0"/>
          </a:p>
          <a:p>
            <a:r>
              <a:rPr lang="en-US" sz="2000" dirty="0" smtClean="0"/>
              <a:t>Identification and sharing the type of support with the local community elite </a:t>
            </a:r>
          </a:p>
          <a:p>
            <a:r>
              <a:rPr lang="en-US" sz="2000" dirty="0" smtClean="0"/>
              <a:t>Engagement of necessary support staff ( cleaners, </a:t>
            </a:r>
            <a:r>
              <a:rPr lang="en-US" sz="2000" dirty="0" err="1" smtClean="0"/>
              <a:t>Aya</a:t>
            </a:r>
            <a:r>
              <a:rPr lang="en-US" sz="2000" dirty="0" smtClean="0"/>
              <a:t>, ward boy, trolley man &amp; security guards </a:t>
            </a:r>
            <a:r>
              <a:rPr lang="en-US" sz="2000" dirty="0" err="1" smtClean="0"/>
              <a:t>etc</a:t>
            </a:r>
            <a:r>
              <a:rPr lang="en-US" sz="2000" dirty="0" smtClean="0"/>
              <a:t>).</a:t>
            </a:r>
          </a:p>
          <a:p>
            <a:r>
              <a:rPr lang="en-US" sz="2000" dirty="0" smtClean="0"/>
              <a:t>Holding </a:t>
            </a:r>
            <a:r>
              <a:rPr lang="en-US" sz="2000" dirty="0" smtClean="0"/>
              <a:t>monthly meeting with the local community support group.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6638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 smtClean="0">
                <a:solidFill>
                  <a:prstClr val="white"/>
                </a:solidFill>
                <a:latin typeface="Arial" charset="0"/>
                <a:cs typeface="Arial" charset="0"/>
              </a:rPr>
              <a:t>Present  support status !</a:t>
            </a:r>
            <a:endParaRPr lang="en-US" sz="3200" b="1" dirty="0">
              <a:solidFill>
                <a:prstClr val="white"/>
              </a:solidFill>
              <a:latin typeface="Arial" charset="0"/>
              <a:cs typeface="Arial" charset="0"/>
            </a:endParaRP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54  </a:t>
            </a: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manpower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(Cleaner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19,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20,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7,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5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3) </a:t>
            </a:r>
          </a:p>
          <a:p>
            <a:pPr marL="0" algn="just">
              <a:defRPr/>
            </a:pPr>
            <a:endParaRPr lang="en-US" sz="24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 MP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Jhenaidah-2 himself providing support of 14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endParaRPr lang="en-US" sz="24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Doctors of the hospital and </a:t>
            </a:r>
            <a:r>
              <a:rPr lang="en-US" sz="24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17 man power.</a:t>
            </a:r>
          </a:p>
          <a:p>
            <a:pPr marL="0" algn="just">
              <a:defRPr/>
            </a:pPr>
            <a:endParaRPr lang="en-US" sz="24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cleanliness, repaired the boundary wall,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4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word.</a:t>
            </a:r>
          </a:p>
          <a:p>
            <a:pPr marL="0" algn="just">
              <a:defRPr/>
            </a:pPr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Retired secretary donated a generator for 24 hours OT service    with a cost of nearly 33 thousand taka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Chairman of Zahedee foundation supports 10 manpower and an intercom with a cost of nearly two lac taka. </a:t>
            </a:r>
          </a:p>
          <a:p>
            <a:pPr marL="0" algn="just" eaLnBrk="0" hangingPunct="0">
              <a:defRPr/>
            </a:pPr>
            <a:endParaRPr lang="en-US" sz="20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 eaLnBrk="0" hangingPunct="0"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 eaLnBrk="0" hangingPunct="0">
              <a:defRPr/>
            </a:pPr>
            <a:endParaRPr lang="en-US" sz="11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 eaLnBrk="0" hangingPunct="0">
              <a:defRPr/>
            </a:pPr>
            <a:endParaRPr lang="en-US" sz="20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 eaLnBrk="0" hangingPunct="0">
              <a:defRPr/>
            </a:pPr>
            <a:r>
              <a:rPr lang="en-US" sz="2000" dirty="0" smtClean="0">
                <a:solidFill>
                  <a:srgbClr val="1F497D">
                    <a:lumMod val="75000"/>
                  </a:srgbClr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29945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53" name="Group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462939"/>
              </p:ext>
            </p:extLst>
          </p:nvPr>
        </p:nvGraphicFramePr>
        <p:xfrm>
          <a:off x="476250" y="1905000"/>
          <a:ext cx="8205788" cy="2959100"/>
        </p:xfrm>
        <a:graphic>
          <a:graphicData uri="http://schemas.openxmlformats.org/drawingml/2006/table">
            <a:tbl>
              <a:tblPr/>
              <a:tblGrid>
                <a:gridCol w="1333500"/>
                <a:gridCol w="3676650"/>
                <a:gridCol w="3195638"/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Sl. No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Year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Bed Occupancy Rate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1998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126%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2011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146%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2013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165%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2015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193%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400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2015</a:t>
            </a:r>
          </a:p>
        </p:txBody>
      </p:sp>
      <p:pic>
        <p:nvPicPr>
          <p:cNvPr id="64543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19050"/>
            <a:ext cx="8339138" cy="131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sz="4300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</p:spTree>
    <p:extLst>
      <p:ext uri="{BB962C8B-B14F-4D97-AF65-F5344CB8AC3E}">
        <p14:creationId xmlns:p14="http://schemas.microsoft.com/office/powerpoint/2010/main" val="3782998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2015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graphicFrame>
        <p:nvGraphicFramePr>
          <p:cNvPr id="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198814"/>
              </p:ext>
            </p:extLst>
          </p:nvPr>
        </p:nvGraphicFramePr>
        <p:xfrm>
          <a:off x="228600" y="1828800"/>
          <a:ext cx="8458200" cy="4727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4808066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Box 4"/>
          <p:cNvSpPr txBox="1">
            <a:spLocks noChangeArrowheads="1"/>
          </p:cNvSpPr>
          <p:nvPr/>
        </p:nvSpPr>
        <p:spPr bwMode="auto">
          <a:xfrm>
            <a:off x="76200" y="152400"/>
            <a:ext cx="8839200" cy="830263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>
                <a:solidFill>
                  <a:srgbClr val="FFFFFF"/>
                </a:solidFill>
              </a:rPr>
              <a:t>Comparative Data of EOC Service of 3 Best Performing District Hospital of Khulna Division in 2015</a:t>
            </a:r>
            <a:endParaRPr lang="en-US" sz="2400">
              <a:solidFill>
                <a:srgbClr val="FFFFFF"/>
              </a:solidFill>
            </a:endParaRPr>
          </a:p>
        </p:txBody>
      </p:sp>
      <p:graphicFrame>
        <p:nvGraphicFramePr>
          <p:cNvPr id="103428" name="Object 4"/>
          <p:cNvGraphicFramePr>
            <a:graphicFrameLocks noChangeAspect="1"/>
          </p:cNvGraphicFramePr>
          <p:nvPr/>
        </p:nvGraphicFramePr>
        <p:xfrm>
          <a:off x="0" y="1397000"/>
          <a:ext cx="8915400" cy="486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17" name="Chart" r:id="rId3" imgW="7153324" imgH="4352892" progId="MSGraph.Chart.8">
                  <p:embed followColorScheme="full"/>
                </p:oleObj>
              </mc:Choice>
              <mc:Fallback>
                <p:oleObj name="Chart" r:id="rId3" imgW="7153324" imgH="4352892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397000"/>
                        <a:ext cx="8915400" cy="486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97316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3974992"/>
              </p:ext>
            </p:extLst>
          </p:nvPr>
        </p:nvGraphicFramePr>
        <p:xfrm>
          <a:off x="139700" y="1828800"/>
          <a:ext cx="8940800" cy="4864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smtClean="0">
                <a:solidFill>
                  <a:srgbClr val="FFFFFF"/>
                </a:solidFill>
              </a:rPr>
              <a:t>Operation Service (Major) 2011 to 2015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065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944563"/>
            <a:ext cx="8305800" cy="914400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Comparative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of revenue income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Jhenaidah Sadar Hospital from 2013-14 to 2015-16 F-year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1155248"/>
              </p:ext>
            </p:extLst>
          </p:nvPr>
        </p:nvGraphicFramePr>
        <p:xfrm>
          <a:off x="457200" y="2057400"/>
          <a:ext cx="8305800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156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0" y="990600"/>
            <a:ext cx="4038600" cy="1524000"/>
          </a:xfrm>
        </p:spPr>
        <p:txBody>
          <a:bodyPr/>
          <a:lstStyle/>
          <a:p>
            <a:pPr marL="0" lvl="1" indent="0" algn="just">
              <a:buFontTx/>
              <a:buNone/>
              <a:defRPr/>
            </a:pPr>
            <a:r>
              <a:rPr lang="en-US" sz="2000" b="1" dirty="0" smtClean="0"/>
              <a:t>In 9 February, 2014,  5S-CQI -TQM program started by DGHS &amp; SMPP JICA. Staff orientation on 5S-CQI-TQM process.</a:t>
            </a:r>
          </a:p>
          <a:p>
            <a:pPr marL="457200" lvl="1" indent="-457200" algn="just">
              <a:buFontTx/>
              <a:buAutoNum type="alphaLcParenR"/>
              <a:defRPr/>
            </a:pPr>
            <a:endParaRPr lang="en-US" sz="2000" b="1" dirty="0" smtClean="0"/>
          </a:p>
        </p:txBody>
      </p:sp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09600"/>
            <a:ext cx="4356100" cy="28956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649663"/>
            <a:ext cx="4559300" cy="305593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Content Placeholder 2"/>
          <p:cNvSpPr txBox="1">
            <a:spLocks/>
          </p:cNvSpPr>
          <p:nvPr/>
        </p:nvSpPr>
        <p:spPr bwMode="auto">
          <a:xfrm>
            <a:off x="63500" y="4267200"/>
            <a:ext cx="40386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lvl="1" algn="just">
              <a:spcBef>
                <a:spcPct val="20000"/>
              </a:spcBef>
            </a:pPr>
            <a:r>
              <a:rPr lang="en-US" sz="2000" b="1">
                <a:solidFill>
                  <a:srgbClr val="000000"/>
                </a:solidFill>
              </a:rPr>
              <a:t>5</a:t>
            </a:r>
            <a:r>
              <a:rPr lang="en-US" sz="2000" b="1" baseline="30000">
                <a:solidFill>
                  <a:srgbClr val="000000"/>
                </a:solidFill>
              </a:rPr>
              <a:t>th</a:t>
            </a:r>
            <a:r>
              <a:rPr lang="en-US" sz="2000" b="1">
                <a:solidFill>
                  <a:srgbClr val="000000"/>
                </a:solidFill>
              </a:rPr>
              <a:t> August, 2014 an Idea sharing visit of 15 team members headed by civil surgeon at  Shatkhira District Hospital with the help of JICA.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sz="3200">
              <a:solidFill>
                <a:srgbClr val="000000"/>
              </a:solidFill>
            </a:endParaRPr>
          </a:p>
        </p:txBody>
      </p:sp>
      <p:sp>
        <p:nvSpPr>
          <p:cNvPr id="69638" name="Rectangle 5"/>
          <p:cNvSpPr>
            <a:spLocks noChangeArrowheads="1"/>
          </p:cNvSpPr>
          <p:nvPr/>
        </p:nvSpPr>
        <p:spPr bwMode="auto">
          <a:xfrm>
            <a:off x="0" y="0"/>
            <a:ext cx="9169400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sz="2000" b="1">
                <a:solidFill>
                  <a:srgbClr val="FFFFFF"/>
                </a:solidFill>
              </a:rPr>
              <a:t>Introduction of TQM activities and Visit to Shatkhira District Hospital</a:t>
            </a:r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9688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50813"/>
            <a:ext cx="4148138" cy="3203575"/>
          </a:xfrm>
        </p:spPr>
      </p:pic>
      <p:sp>
        <p:nvSpPr>
          <p:cNvPr id="70659" name="Rectangle 4"/>
          <p:cNvSpPr>
            <a:spLocks noChangeArrowheads="1"/>
          </p:cNvSpPr>
          <p:nvPr/>
        </p:nvSpPr>
        <p:spPr bwMode="auto">
          <a:xfrm>
            <a:off x="4724400" y="1295400"/>
            <a:ext cx="35829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Display of citizens’ charter of Sadar Hospital.</a:t>
            </a:r>
          </a:p>
        </p:txBody>
      </p:sp>
      <p:pic>
        <p:nvPicPr>
          <p:cNvPr id="70660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29000"/>
            <a:ext cx="4424363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1" name="Rectangle 6"/>
          <p:cNvSpPr>
            <a:spLocks noChangeArrowheads="1"/>
          </p:cNvSpPr>
          <p:nvPr/>
        </p:nvSpPr>
        <p:spPr bwMode="auto">
          <a:xfrm>
            <a:off x="457200" y="4602163"/>
            <a:ext cx="3810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Community supported guard is removing cycle, van and easy bike from the campus.</a:t>
            </a:r>
          </a:p>
        </p:txBody>
      </p:sp>
    </p:spTree>
    <p:extLst>
      <p:ext uri="{BB962C8B-B14F-4D97-AF65-F5344CB8AC3E}">
        <p14:creationId xmlns:p14="http://schemas.microsoft.com/office/powerpoint/2010/main" val="15896152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36550"/>
            <a:ext cx="4037013" cy="292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3" name="Rectangle 6"/>
          <p:cNvSpPr>
            <a:spLocks noChangeArrowheads="1"/>
          </p:cNvSpPr>
          <p:nvPr/>
        </p:nvSpPr>
        <p:spPr bwMode="auto">
          <a:xfrm>
            <a:off x="4841875" y="1136650"/>
            <a:ext cx="3692525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sz="1900" b="1">
                <a:solidFill>
                  <a:srgbClr val="000000"/>
                </a:solidFill>
              </a:rPr>
              <a:t>Cycle Stand</a:t>
            </a:r>
          </a:p>
          <a:p>
            <a:pPr eaLnBrk="0" hangingPunct="0"/>
            <a:r>
              <a:rPr lang="en-US" sz="1900">
                <a:solidFill>
                  <a:srgbClr val="000000"/>
                </a:solidFill>
              </a:rPr>
              <a:t>To secure the cycle and motor cycle of the patients and their attendants.</a:t>
            </a:r>
          </a:p>
        </p:txBody>
      </p:sp>
      <p:pic>
        <p:nvPicPr>
          <p:cNvPr id="71684" name="Picture 2" descr="G:\101MSDCF\DSC0282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75" y="3640138"/>
            <a:ext cx="3921125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5" name="Rectangle 4"/>
          <p:cNvSpPr>
            <a:spLocks noChangeArrowheads="1"/>
          </p:cNvSpPr>
          <p:nvPr/>
        </p:nvSpPr>
        <p:spPr bwMode="auto">
          <a:xfrm>
            <a:off x="381000" y="4732338"/>
            <a:ext cx="4038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Safe drinking water supply for the patients and their attendants.</a:t>
            </a:r>
          </a:p>
        </p:txBody>
      </p:sp>
    </p:spTree>
    <p:extLst>
      <p:ext uri="{BB962C8B-B14F-4D97-AF65-F5344CB8AC3E}">
        <p14:creationId xmlns:p14="http://schemas.microsoft.com/office/powerpoint/2010/main" val="13500506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52400"/>
            <a:ext cx="4343400" cy="3048000"/>
          </a:xfrm>
        </p:spPr>
      </p:pic>
      <p:pic>
        <p:nvPicPr>
          <p:cNvPr id="72707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344863"/>
            <a:ext cx="44958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8" name="Rectangle 6"/>
          <p:cNvSpPr>
            <a:spLocks noChangeArrowheads="1"/>
          </p:cNvSpPr>
          <p:nvPr/>
        </p:nvSpPr>
        <p:spPr bwMode="auto">
          <a:xfrm>
            <a:off x="4495800" y="762000"/>
            <a:ext cx="44958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Hospital reception and information center for the patient and their attendance are developed by the community support system.</a:t>
            </a:r>
          </a:p>
        </p:txBody>
      </p:sp>
      <p:sp>
        <p:nvSpPr>
          <p:cNvPr id="72709" name="Rectangle 7"/>
          <p:cNvSpPr>
            <a:spLocks noChangeArrowheads="1"/>
          </p:cNvSpPr>
          <p:nvPr/>
        </p:nvSpPr>
        <p:spPr bwMode="auto">
          <a:xfrm>
            <a:off x="228600" y="4667250"/>
            <a:ext cx="4267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Display of the duty roaster of outdoor doctors.</a:t>
            </a:r>
          </a:p>
        </p:txBody>
      </p:sp>
    </p:spTree>
    <p:extLst>
      <p:ext uri="{BB962C8B-B14F-4D97-AF65-F5344CB8AC3E}">
        <p14:creationId xmlns:p14="http://schemas.microsoft.com/office/powerpoint/2010/main" val="29951315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457200"/>
            <a:ext cx="4156075" cy="2770188"/>
          </a:xfrm>
        </p:spPr>
      </p:pic>
      <p:pic>
        <p:nvPicPr>
          <p:cNvPr id="7373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075" y="3657600"/>
            <a:ext cx="4157663" cy="277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2" name="Rectangle 5"/>
          <p:cNvSpPr>
            <a:spLocks noChangeArrowheads="1"/>
          </p:cNvSpPr>
          <p:nvPr/>
        </p:nvSpPr>
        <p:spPr bwMode="auto">
          <a:xfrm>
            <a:off x="685800" y="4719638"/>
            <a:ext cx="3048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Community supported cleaner  is cleaning the hospital.</a:t>
            </a:r>
          </a:p>
        </p:txBody>
      </p:sp>
      <p:sp>
        <p:nvSpPr>
          <p:cNvPr id="73733" name="Rectangle 6"/>
          <p:cNvSpPr>
            <a:spLocks noChangeArrowheads="1"/>
          </p:cNvSpPr>
          <p:nvPr/>
        </p:nvSpPr>
        <p:spPr bwMode="auto">
          <a:xfrm>
            <a:off x="4641850" y="1524000"/>
            <a:ext cx="3048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Community supported trolley man is carrying a patient.</a:t>
            </a:r>
          </a:p>
        </p:txBody>
      </p:sp>
    </p:spTree>
    <p:extLst>
      <p:ext uri="{BB962C8B-B14F-4D97-AF65-F5344CB8AC3E}">
        <p14:creationId xmlns:p14="http://schemas.microsoft.com/office/powerpoint/2010/main" val="13673128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3352800"/>
            <a:ext cx="3962400" cy="2641600"/>
          </a:xfrm>
        </p:spPr>
      </p:pic>
      <p:pic>
        <p:nvPicPr>
          <p:cNvPr id="74755" name="Picture 2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457200"/>
            <a:ext cx="3733800" cy="2408238"/>
          </a:xfrm>
        </p:spPr>
      </p:pic>
      <p:sp>
        <p:nvSpPr>
          <p:cNvPr id="74756" name="Rectangle 8"/>
          <p:cNvSpPr>
            <a:spLocks noChangeArrowheads="1"/>
          </p:cNvSpPr>
          <p:nvPr/>
        </p:nvSpPr>
        <p:spPr bwMode="auto">
          <a:xfrm>
            <a:off x="304800" y="4191000"/>
            <a:ext cx="41227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>
                <a:solidFill>
                  <a:srgbClr val="000000"/>
                </a:solidFill>
              </a:rPr>
              <a:t>A non-operating government generator is activated and a new generator is supplied by the community to ensure electric facility.</a:t>
            </a:r>
          </a:p>
        </p:txBody>
      </p:sp>
      <p:sp>
        <p:nvSpPr>
          <p:cNvPr id="74757" name="Rectangle 9"/>
          <p:cNvSpPr>
            <a:spLocks noChangeArrowheads="1"/>
          </p:cNvSpPr>
          <p:nvPr/>
        </p:nvSpPr>
        <p:spPr bwMode="auto">
          <a:xfrm>
            <a:off x="4422775" y="773113"/>
            <a:ext cx="441642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>
                <a:solidFill>
                  <a:srgbClr val="000000"/>
                </a:solidFill>
              </a:rPr>
              <a:t>To facilitate easier communication among the hospital staff  an intercom is donated by an honorable local industrialist and thus the efficiency of the service has been improved</a:t>
            </a:r>
          </a:p>
        </p:txBody>
      </p:sp>
      <p:sp>
        <p:nvSpPr>
          <p:cNvPr id="4" name="Oval 3"/>
          <p:cNvSpPr/>
          <p:nvPr/>
        </p:nvSpPr>
        <p:spPr>
          <a:xfrm>
            <a:off x="6934200" y="4648200"/>
            <a:ext cx="1524000" cy="1219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869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04800"/>
            <a:ext cx="3848100" cy="2514600"/>
          </a:xfrm>
        </p:spPr>
      </p:pic>
      <p:sp>
        <p:nvSpPr>
          <p:cNvPr id="75779" name="Rectangle 4"/>
          <p:cNvSpPr>
            <a:spLocks noChangeArrowheads="1"/>
          </p:cNvSpPr>
          <p:nvPr/>
        </p:nvSpPr>
        <p:spPr bwMode="auto">
          <a:xfrm>
            <a:off x="4332288" y="990600"/>
            <a:ext cx="3429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Creation of awareness by Health Education for the patients and their attendances.</a:t>
            </a:r>
          </a:p>
        </p:txBody>
      </p:sp>
      <p:pic>
        <p:nvPicPr>
          <p:cNvPr id="75780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200400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1" name="Rectangle 6"/>
          <p:cNvSpPr>
            <a:spLocks noChangeArrowheads="1"/>
          </p:cNvSpPr>
          <p:nvPr/>
        </p:nvSpPr>
        <p:spPr bwMode="auto">
          <a:xfrm>
            <a:off x="152400" y="4343400"/>
            <a:ext cx="3810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Motivation of the community,  the teachers, reporters, social workers, cultural activists and donors of the hospital .</a:t>
            </a:r>
          </a:p>
        </p:txBody>
      </p:sp>
    </p:spTree>
    <p:extLst>
      <p:ext uri="{BB962C8B-B14F-4D97-AF65-F5344CB8AC3E}">
        <p14:creationId xmlns:p14="http://schemas.microsoft.com/office/powerpoint/2010/main" val="41417231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260350"/>
            <a:ext cx="4191000" cy="2794000"/>
          </a:xfrm>
        </p:spPr>
      </p:pic>
      <p:sp>
        <p:nvSpPr>
          <p:cNvPr id="76803" name="Rectangle 4"/>
          <p:cNvSpPr>
            <a:spLocks noChangeArrowheads="1"/>
          </p:cNvSpPr>
          <p:nvPr/>
        </p:nvSpPr>
        <p:spPr bwMode="auto">
          <a:xfrm>
            <a:off x="5181600" y="1195388"/>
            <a:ext cx="3048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Antenatal and postnatal care of pregnant mother in antenatal corner of EOC word.</a:t>
            </a:r>
          </a:p>
        </p:txBody>
      </p:sp>
      <p:pic>
        <p:nvPicPr>
          <p:cNvPr id="76804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565525"/>
            <a:ext cx="4267200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5" name="Rectangle 7"/>
          <p:cNvSpPr>
            <a:spLocks noChangeArrowheads="1"/>
          </p:cNvSpPr>
          <p:nvPr/>
        </p:nvSpPr>
        <p:spPr bwMode="auto">
          <a:xfrm>
            <a:off x="762000" y="4592638"/>
            <a:ext cx="3048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Breast feeding and family planning corner of EOC word. </a:t>
            </a:r>
          </a:p>
        </p:txBody>
      </p:sp>
    </p:spTree>
    <p:extLst>
      <p:ext uri="{BB962C8B-B14F-4D97-AF65-F5344CB8AC3E}">
        <p14:creationId xmlns:p14="http://schemas.microsoft.com/office/powerpoint/2010/main" val="780970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7" name="Picture 3" descr="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300"/>
            <a:ext cx="4267200" cy="3467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8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77829" name="Rectangle 8"/>
          <p:cNvSpPr>
            <a:spLocks noChangeArrowheads="1"/>
          </p:cNvSpPr>
          <p:nvPr/>
        </p:nvSpPr>
        <p:spPr bwMode="auto">
          <a:xfrm>
            <a:off x="5257800" y="1066800"/>
            <a:ext cx="3051175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Improved EOC (Emergency Obstetric Care) word service. </a:t>
            </a:r>
          </a:p>
        </p:txBody>
      </p:sp>
      <p:sp>
        <p:nvSpPr>
          <p:cNvPr id="77830" name="Rectangle 11"/>
          <p:cNvSpPr>
            <a:spLocks noChangeArrowheads="1"/>
          </p:cNvSpPr>
          <p:nvPr/>
        </p:nvSpPr>
        <p:spPr bwMode="auto">
          <a:xfrm>
            <a:off x="760413" y="5018088"/>
            <a:ext cx="3051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Improved pediatric word.</a:t>
            </a:r>
          </a:p>
        </p:txBody>
      </p:sp>
      <p:pic>
        <p:nvPicPr>
          <p:cNvPr id="8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55510" y="3733800"/>
            <a:ext cx="4522236" cy="29894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4319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19600" y="3505200"/>
            <a:ext cx="4495800" cy="3051175"/>
          </a:xfrm>
        </p:spPr>
      </p:pic>
      <p:pic>
        <p:nvPicPr>
          <p:cNvPr id="788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451008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2" name="Rectangle 5"/>
          <p:cNvSpPr>
            <a:spLocks noChangeArrowheads="1"/>
          </p:cNvSpPr>
          <p:nvPr/>
        </p:nvSpPr>
        <p:spPr bwMode="auto">
          <a:xfrm>
            <a:off x="4648200" y="1143000"/>
            <a:ext cx="4191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Girls’ Guide are working in the outdoor for lining of the patients to take proper service.  </a:t>
            </a:r>
          </a:p>
        </p:txBody>
      </p:sp>
      <p:sp>
        <p:nvSpPr>
          <p:cNvPr id="78853" name="Rectangle 6"/>
          <p:cNvSpPr>
            <a:spLocks noChangeArrowheads="1"/>
          </p:cNvSpPr>
          <p:nvPr/>
        </p:nvSpPr>
        <p:spPr bwMode="auto">
          <a:xfrm>
            <a:off x="0" y="4648200"/>
            <a:ext cx="41148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College going poor students are working in the hospital as nursing assistant (Volunteer).</a:t>
            </a:r>
          </a:p>
        </p:txBody>
      </p:sp>
    </p:spTree>
    <p:extLst>
      <p:ext uri="{BB962C8B-B14F-4D97-AF65-F5344CB8AC3E}">
        <p14:creationId xmlns:p14="http://schemas.microsoft.com/office/powerpoint/2010/main" val="42214805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304800"/>
            <a:ext cx="4038600" cy="3028950"/>
          </a:xfrm>
        </p:spPr>
      </p:pic>
      <p:pic>
        <p:nvPicPr>
          <p:cNvPr id="7987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367088"/>
            <a:ext cx="4160838" cy="311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Rectangle 5"/>
          <p:cNvSpPr>
            <a:spLocks noChangeArrowheads="1"/>
          </p:cNvSpPr>
          <p:nvPr/>
        </p:nvSpPr>
        <p:spPr bwMode="auto">
          <a:xfrm>
            <a:off x="4381500" y="914400"/>
            <a:ext cx="427513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Deputy Commissioner (DC), Jhenaidah visited the Sadar Hospital to observe the Hospital activities. </a:t>
            </a:r>
          </a:p>
        </p:txBody>
      </p:sp>
      <p:sp>
        <p:nvSpPr>
          <p:cNvPr id="79877" name="Rectangle 6"/>
          <p:cNvSpPr>
            <a:spLocks noChangeArrowheads="1"/>
          </p:cNvSpPr>
          <p:nvPr/>
        </p:nvSpPr>
        <p:spPr bwMode="auto">
          <a:xfrm>
            <a:off x="228600" y="4500563"/>
            <a:ext cx="40386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Superintendent of Police (SP), Jhenaidah visited the Sadar Hospital to observe the Hospital activities and to ensure security of the hospital. </a:t>
            </a:r>
          </a:p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89305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2088"/>
            <a:ext cx="41910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899" name="Picture 4" descr="DSC0251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95800" y="3429000"/>
            <a:ext cx="4549775" cy="3200400"/>
          </a:xfrm>
        </p:spPr>
      </p:pic>
      <p:sp>
        <p:nvSpPr>
          <p:cNvPr id="80900" name="Rectangle 3"/>
          <p:cNvSpPr>
            <a:spLocks noChangeArrowheads="1"/>
          </p:cNvSpPr>
          <p:nvPr/>
        </p:nvSpPr>
        <p:spPr bwMode="auto">
          <a:xfrm>
            <a:off x="4559300" y="990600"/>
            <a:ext cx="42672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MANOBOTA- a volunteer blood donor organization has formed by the doctors and SACMOs to donate blood for the thalasemic and other patient of the hospital. </a:t>
            </a:r>
          </a:p>
        </p:txBody>
      </p:sp>
      <p:sp>
        <p:nvSpPr>
          <p:cNvPr id="80901" name="Rectangle 4"/>
          <p:cNvSpPr>
            <a:spLocks noChangeArrowheads="1"/>
          </p:cNvSpPr>
          <p:nvPr/>
        </p:nvSpPr>
        <p:spPr bwMode="auto">
          <a:xfrm>
            <a:off x="381000" y="4495800"/>
            <a:ext cx="3962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A blood donation camp arranged by District Judge of Jhenaidah with the help of MANOBOTA.</a:t>
            </a:r>
          </a:p>
        </p:txBody>
      </p:sp>
    </p:spTree>
    <p:extLst>
      <p:ext uri="{BB962C8B-B14F-4D97-AF65-F5344CB8AC3E}">
        <p14:creationId xmlns:p14="http://schemas.microsoft.com/office/powerpoint/2010/main" val="3192813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429000"/>
            <a:ext cx="41275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304800" y="4806950"/>
            <a:ext cx="4267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 dirty="0">
                <a:solidFill>
                  <a:srgbClr val="000000"/>
                </a:solidFill>
              </a:rPr>
              <a:t>Beautification plant is planted by </a:t>
            </a:r>
            <a:r>
              <a:rPr lang="en-US" sz="2000" dirty="0" err="1">
                <a:solidFill>
                  <a:srgbClr val="000000"/>
                </a:solidFill>
              </a:rPr>
              <a:t>Zilla</a:t>
            </a:r>
            <a:r>
              <a:rPr lang="en-US" sz="2000" dirty="0">
                <a:solidFill>
                  <a:srgbClr val="000000"/>
                </a:solidFill>
              </a:rPr>
              <a:t> Praised Administrator and Upazilla Praised Chairman.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4953000" y="1219200"/>
            <a:ext cx="39751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Hospital campus beautification started by previous MP of Jhenaidah-2.</a:t>
            </a:r>
          </a:p>
        </p:txBody>
      </p:sp>
      <p:pic>
        <p:nvPicPr>
          <p:cNvPr id="8192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58738"/>
            <a:ext cx="4492625" cy="3370262"/>
          </a:xfrm>
        </p:spPr>
      </p:pic>
    </p:spTree>
    <p:extLst>
      <p:ext uri="{BB962C8B-B14F-4D97-AF65-F5344CB8AC3E}">
        <p14:creationId xmlns:p14="http://schemas.microsoft.com/office/powerpoint/2010/main" val="29909164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Content Placeholder 6" descr="G:\G\Dr Emdad\fromyumi\IMG_7464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429000"/>
            <a:ext cx="4267200" cy="3225800"/>
          </a:xfrm>
        </p:spPr>
      </p:pic>
      <p:pic>
        <p:nvPicPr>
          <p:cNvPr id="82947" name="Picture 10" descr="DSC02507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52400"/>
            <a:ext cx="4114800" cy="2971800"/>
          </a:xfrm>
        </p:spPr>
      </p:pic>
      <p:sp>
        <p:nvSpPr>
          <p:cNvPr id="82948" name="Rectangle 3"/>
          <p:cNvSpPr>
            <a:spLocks noChangeArrowheads="1"/>
          </p:cNvSpPr>
          <p:nvPr/>
        </p:nvSpPr>
        <p:spPr bwMode="auto">
          <a:xfrm>
            <a:off x="0" y="4495800"/>
            <a:ext cx="44100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17</a:t>
            </a:r>
            <a:r>
              <a:rPr lang="en-US" sz="2000" baseline="30000">
                <a:solidFill>
                  <a:srgbClr val="000000"/>
                </a:solidFill>
              </a:rPr>
              <a:t>th</a:t>
            </a:r>
            <a:r>
              <a:rPr lang="en-US" sz="2000">
                <a:solidFill>
                  <a:srgbClr val="000000"/>
                </a:solidFill>
              </a:rPr>
              <a:t>,March “a big cleaning day” is being celebrated to clean the hospital by DC, Mayor, Civil Surgeon &amp; staffs of the hospital , under the leadership of Superintendent.</a:t>
            </a:r>
          </a:p>
        </p:txBody>
      </p:sp>
      <p:sp>
        <p:nvSpPr>
          <p:cNvPr id="82949" name="Rectangle 4"/>
          <p:cNvSpPr>
            <a:spLocks noChangeArrowheads="1"/>
          </p:cNvSpPr>
          <p:nvPr/>
        </p:nvSpPr>
        <p:spPr bwMode="auto">
          <a:xfrm>
            <a:off x="4724400" y="1209675"/>
            <a:ext cx="3962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Hospital garbage is removed regularly by the Paurasava.</a:t>
            </a:r>
          </a:p>
        </p:txBody>
      </p:sp>
    </p:spTree>
    <p:extLst>
      <p:ext uri="{BB962C8B-B14F-4D97-AF65-F5344CB8AC3E}">
        <p14:creationId xmlns:p14="http://schemas.microsoft.com/office/powerpoint/2010/main" val="34771043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2875"/>
            <a:ext cx="4114800" cy="3086100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3276600"/>
            <a:ext cx="4470399" cy="3352799"/>
          </a:xfrm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648200" y="1295400"/>
            <a:ext cx="40005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dirty="0" smtClean="0">
                <a:solidFill>
                  <a:srgbClr val="000000"/>
                </a:solidFill>
              </a:rPr>
              <a:t>X-Ray Service system continued by the support of community in absence of supplying X-Ray film.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52400" y="4419600"/>
            <a:ext cx="40005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dirty="0" smtClean="0">
                <a:solidFill>
                  <a:srgbClr val="000000"/>
                </a:solidFill>
              </a:rPr>
              <a:t>0.24 acre land of Jhenaidah Sadar Hospital has been saved from occupied with the support of Civil Surgeon, local administration, M.P. and Mayor.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2570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276600"/>
            <a:ext cx="43053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1" name="Rectangle 5"/>
          <p:cNvSpPr>
            <a:spLocks noChangeArrowheads="1"/>
          </p:cNvSpPr>
          <p:nvPr/>
        </p:nvSpPr>
        <p:spPr bwMode="auto">
          <a:xfrm>
            <a:off x="4648200" y="1295400"/>
            <a:ext cx="40005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dirty="0">
                <a:solidFill>
                  <a:srgbClr val="000000"/>
                </a:solidFill>
              </a:rPr>
              <a:t>Meeting of the stakeholders with the stakeholders and donors of Jhenaidah Sadar Hospital with additional secretary (health) Md. </a:t>
            </a:r>
            <a:r>
              <a:rPr lang="en-US" dirty="0" err="1">
                <a:solidFill>
                  <a:srgbClr val="000000"/>
                </a:solidFill>
              </a:rPr>
              <a:t>Asadul</a:t>
            </a:r>
            <a:r>
              <a:rPr lang="en-US" dirty="0">
                <a:solidFill>
                  <a:srgbClr val="000000"/>
                </a:solidFill>
              </a:rPr>
              <a:t> Islam.</a:t>
            </a:r>
          </a:p>
        </p:txBody>
      </p:sp>
      <p:sp>
        <p:nvSpPr>
          <p:cNvPr id="83972" name="Rectangle 6"/>
          <p:cNvSpPr>
            <a:spLocks noChangeArrowheads="1"/>
          </p:cNvSpPr>
          <p:nvPr/>
        </p:nvSpPr>
        <p:spPr bwMode="auto">
          <a:xfrm>
            <a:off x="533400" y="4619625"/>
            <a:ext cx="3581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>
                <a:solidFill>
                  <a:srgbClr val="000000"/>
                </a:solidFill>
              </a:rPr>
              <a:t>Meeting of QIT (Quality Improvement Team) is held in the conference of Jhenaidah Sadar Hospital.</a:t>
            </a:r>
          </a:p>
        </p:txBody>
      </p:sp>
      <p:pic>
        <p:nvPicPr>
          <p:cNvPr id="83973" name="Picture 6" descr="G:\G\Secretary vis\A. Secretary metting 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3" y="152400"/>
            <a:ext cx="4249737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13665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/>
          <a:lstStyle/>
          <a:p>
            <a:r>
              <a:rPr lang="en-US" sz="2800" b="1" smtClean="0">
                <a:solidFill>
                  <a:schemeClr val="bg1"/>
                </a:solidFill>
              </a:rPr>
              <a:t>Changes in EOC Ward</a:t>
            </a:r>
          </a:p>
        </p:txBody>
      </p:sp>
      <p:sp>
        <p:nvSpPr>
          <p:cNvPr id="84995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4996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4997" name="Rectangle 1"/>
          <p:cNvSpPr>
            <a:spLocks noChangeArrowheads="1"/>
          </p:cNvSpPr>
          <p:nvPr/>
        </p:nvSpPr>
        <p:spPr bwMode="auto">
          <a:xfrm>
            <a:off x="609600" y="3898900"/>
            <a:ext cx="915988" cy="3698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FFFF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84998" name="Rectangle 9"/>
          <p:cNvSpPr>
            <a:spLocks noChangeArrowheads="1"/>
          </p:cNvSpPr>
          <p:nvPr/>
        </p:nvSpPr>
        <p:spPr bwMode="auto">
          <a:xfrm>
            <a:off x="5105400" y="3910013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FFFF"/>
                </a:solidFill>
              </a:rPr>
              <a:t>After</a:t>
            </a:r>
            <a:endParaRPr lang="en-US">
              <a:solidFill>
                <a:srgbClr val="000000"/>
              </a:solidFill>
            </a:endParaRPr>
          </a:p>
        </p:txBody>
      </p:sp>
      <p:pic>
        <p:nvPicPr>
          <p:cNvPr id="84999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85000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38713" y="3657600"/>
            <a:ext cx="3976687" cy="304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5001" name="Rectangle 8"/>
          <p:cNvSpPr>
            <a:spLocks noChangeArrowheads="1"/>
          </p:cNvSpPr>
          <p:nvPr/>
        </p:nvSpPr>
        <p:spPr bwMode="auto">
          <a:xfrm>
            <a:off x="4938713" y="3673475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85002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85003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5004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5005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85006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5802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838200"/>
            <a:ext cx="4038600" cy="2667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19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62000"/>
            <a:ext cx="4038600" cy="2667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0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714750"/>
            <a:ext cx="4038600" cy="291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1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3733800"/>
            <a:ext cx="4038600" cy="2895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6022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/>
          <a:lstStyle/>
          <a:p>
            <a:r>
              <a:rPr lang="en-US" sz="2800" b="1" smtClean="0">
                <a:solidFill>
                  <a:schemeClr val="bg1"/>
                </a:solidFill>
              </a:rPr>
              <a:t>Changes in Surgery Ward</a:t>
            </a:r>
          </a:p>
        </p:txBody>
      </p:sp>
      <p:sp>
        <p:nvSpPr>
          <p:cNvPr id="860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860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5" y="4953000"/>
            <a:ext cx="47625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605213"/>
            <a:ext cx="1146175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3605213"/>
            <a:ext cx="1146175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40401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88227" y="635000"/>
            <a:ext cx="4203373" cy="2898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790574"/>
            <a:ext cx="4146550" cy="27159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704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Changes in </a:t>
            </a:r>
            <a:r>
              <a:rPr lang="en-US" sz="2800" b="1" dirty="0" err="1" smtClean="0">
                <a:solidFill>
                  <a:srgbClr val="FFFFFF"/>
                </a:solidFill>
              </a:rPr>
              <a:t>Padietric</a:t>
            </a:r>
            <a:r>
              <a:rPr lang="en-US" sz="2800" b="1" dirty="0" smtClean="0">
                <a:solidFill>
                  <a:srgbClr val="FFFFFF"/>
                </a:solidFill>
              </a:rPr>
              <a:t> </a:t>
            </a:r>
            <a:r>
              <a:rPr lang="en-US" sz="2800" b="1" dirty="0">
                <a:solidFill>
                  <a:srgbClr val="FFFFFF"/>
                </a:solidFill>
              </a:rPr>
              <a:t>&amp; </a:t>
            </a:r>
            <a:r>
              <a:rPr lang="en-US" sz="2800" b="1" dirty="0" smtClean="0">
                <a:solidFill>
                  <a:srgbClr val="FFFFFF"/>
                </a:solidFill>
              </a:rPr>
              <a:t>Medicine </a:t>
            </a:r>
            <a:r>
              <a:rPr lang="en-US" sz="2800" b="1" dirty="0">
                <a:solidFill>
                  <a:srgbClr val="FFFFFF"/>
                </a:solidFill>
              </a:rPr>
              <a:t>Ward</a:t>
            </a:r>
          </a:p>
        </p:txBody>
      </p:sp>
      <p:sp>
        <p:nvSpPr>
          <p:cNvPr id="87045" name="Right Arrow 8"/>
          <p:cNvSpPr>
            <a:spLocks noChangeArrowheads="1"/>
          </p:cNvSpPr>
          <p:nvPr/>
        </p:nvSpPr>
        <p:spPr bwMode="auto">
          <a:xfrm>
            <a:off x="44132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7046" name="Right Arrow 9"/>
          <p:cNvSpPr>
            <a:spLocks noChangeArrowheads="1"/>
          </p:cNvSpPr>
          <p:nvPr/>
        </p:nvSpPr>
        <p:spPr bwMode="auto">
          <a:xfrm>
            <a:off x="4413250" y="49530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15369" name="Rectangle 10"/>
          <p:cNvSpPr>
            <a:spLocks noChangeArrowheads="1"/>
          </p:cNvSpPr>
          <p:nvPr/>
        </p:nvSpPr>
        <p:spPr bwMode="auto">
          <a:xfrm>
            <a:off x="192088" y="790575"/>
            <a:ext cx="835025" cy="33813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372" name="Rectangle 13"/>
          <p:cNvSpPr>
            <a:spLocks noChangeArrowheads="1"/>
          </p:cNvSpPr>
          <p:nvPr/>
        </p:nvSpPr>
        <p:spPr bwMode="auto">
          <a:xfrm>
            <a:off x="5202237" y="790575"/>
            <a:ext cx="663575" cy="338138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After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87049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657600"/>
            <a:ext cx="414655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050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200" y="3657600"/>
            <a:ext cx="40894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70" name="Rectangle 11"/>
          <p:cNvSpPr>
            <a:spLocks noChangeArrowheads="1"/>
          </p:cNvSpPr>
          <p:nvPr/>
        </p:nvSpPr>
        <p:spPr bwMode="auto">
          <a:xfrm>
            <a:off x="161925" y="3668713"/>
            <a:ext cx="833438" cy="339725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Before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5371" name="Rectangle 12"/>
          <p:cNvSpPr>
            <a:spLocks noChangeArrowheads="1"/>
          </p:cNvSpPr>
          <p:nvPr/>
        </p:nvSpPr>
        <p:spPr bwMode="auto">
          <a:xfrm>
            <a:off x="5013325" y="3668713"/>
            <a:ext cx="663575" cy="339725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After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5153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010" y="551656"/>
            <a:ext cx="4627563" cy="362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57" y="705703"/>
            <a:ext cx="3977500" cy="30081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West Management &amp; Campus Protection</a:t>
            </a:r>
          </a:p>
        </p:txBody>
      </p:sp>
      <p:sp>
        <p:nvSpPr>
          <p:cNvPr id="89093" name="Right Arrow 8"/>
          <p:cNvSpPr>
            <a:spLocks noChangeArrowheads="1"/>
          </p:cNvSpPr>
          <p:nvPr/>
        </p:nvSpPr>
        <p:spPr bwMode="auto">
          <a:xfrm>
            <a:off x="43053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89094" name="Right Arrow 9"/>
          <p:cNvSpPr>
            <a:spLocks noChangeArrowheads="1"/>
          </p:cNvSpPr>
          <p:nvPr/>
        </p:nvSpPr>
        <p:spPr bwMode="auto">
          <a:xfrm>
            <a:off x="4441825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solidFill>
            <a:srgbClr val="00B050"/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025" y="3856038"/>
            <a:ext cx="4092575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308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2873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838200"/>
            <a:ext cx="4022501" cy="2743200"/>
          </a:xfrm>
        </p:spPr>
      </p:pic>
      <p:pic>
        <p:nvPicPr>
          <p:cNvPr id="1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889483"/>
            <a:ext cx="3995668" cy="2691917"/>
          </a:xfrm>
          <a:prstGeom prst="rect">
            <a:avLst/>
          </a:prstGeom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04800" y="99060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177" y="1004035"/>
            <a:ext cx="672364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2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/>
          <a:lstStyle/>
          <a:p>
            <a:r>
              <a:rPr lang="en-US" sz="2800" dirty="0" smtClean="0">
                <a:solidFill>
                  <a:schemeClr val="bg1"/>
                </a:solidFill>
              </a:rPr>
              <a:t>Changes in office and hospital internal environment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177" y="3778155"/>
            <a:ext cx="3993023" cy="29274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5040416" y="3934025"/>
            <a:ext cx="672364" cy="369332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After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5" name="Content Placeholder 6"/>
          <p:cNvPicPr>
            <a:picLocks noGrp="1" noChangeAspect="1"/>
          </p:cNvPicPr>
          <p:nvPr>
            <p:ph sz="quarter" idx="2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3778155"/>
            <a:ext cx="4038600" cy="29775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386555" y="3934025"/>
            <a:ext cx="903287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Before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3152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513" y="3886200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05400" y="3889375"/>
            <a:ext cx="38496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4664075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QIC meeting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53975" y="3886200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Monthly meeting schedule</a:t>
            </a:r>
            <a:endParaRPr lang="en-US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3621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000" b="1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waist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7521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6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24400" y="3814584"/>
            <a:ext cx="4267200" cy="2983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932" y="504031"/>
            <a:ext cx="4762467" cy="3458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" y="3732805"/>
            <a:ext cx="4180266" cy="30563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Content Placeholder 6"/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387" y="762000"/>
            <a:ext cx="4368291" cy="27618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31029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609600"/>
          </a:xfrm>
          <a:solidFill>
            <a:srgbClr val="006600"/>
          </a:solidFill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Hospital Environment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0115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886200"/>
            <a:ext cx="4038600" cy="2819400"/>
          </a:xfrm>
        </p:spPr>
      </p:pic>
      <p:pic>
        <p:nvPicPr>
          <p:cNvPr id="90116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839788"/>
            <a:ext cx="4191000" cy="2927350"/>
          </a:xfrm>
        </p:spPr>
      </p:pic>
      <p:pic>
        <p:nvPicPr>
          <p:cNvPr id="90117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71538"/>
            <a:ext cx="40386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118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886200"/>
            <a:ext cx="4211638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432320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prstClr val="white"/>
                </a:solidFill>
                <a:latin typeface="Times New Roman" pitchFamily="18" charset="0"/>
                <a:cs typeface="Times New Roman" pitchFamily="18" charset="0"/>
              </a:rPr>
              <a:t>Jhenaidah Sadar Hospital, Jhenaidah</a:t>
            </a:r>
          </a:p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prstClr val="white"/>
                </a:solidFill>
                <a:latin typeface="Times New Roman" pitchFamily="18" charset="0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>
              <a:defRPr/>
            </a:pPr>
            <a:endParaRPr lang="en-US" sz="2400" b="1" dirty="0" smtClean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400" b="1" dirty="0" smtClean="0">
                <a:solidFill>
                  <a:prstClr val="black"/>
                </a:solidFill>
              </a:rPr>
              <a:t>1</a:t>
            </a:r>
            <a:r>
              <a:rPr lang="en-US" sz="2000" b="1" dirty="0">
                <a:solidFill>
                  <a:prstClr val="black"/>
                </a:solidFill>
              </a:rPr>
              <a:t>. Active Community </a:t>
            </a:r>
            <a:r>
              <a:rPr lang="en-US" sz="2000" b="1" dirty="0" smtClean="0">
                <a:solidFill>
                  <a:prstClr val="black"/>
                </a:solidFill>
              </a:rPr>
              <a:t>Participation established for the hospital service improvement . </a:t>
            </a: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000" dirty="0">
                <a:solidFill>
                  <a:prstClr val="black"/>
                </a:solidFill>
              </a:rPr>
              <a:t> </a:t>
            </a:r>
          </a:p>
          <a:p>
            <a:pPr algn="just">
              <a:defRPr/>
            </a:pPr>
            <a:r>
              <a:rPr lang="en-US" sz="2000" b="1" dirty="0">
                <a:solidFill>
                  <a:prstClr val="black"/>
                </a:solidFill>
              </a:rPr>
              <a:t>2. Improved   performance  of all services specially </a:t>
            </a:r>
            <a:r>
              <a:rPr lang="en-US" sz="2000" b="1" dirty="0" smtClean="0">
                <a:solidFill>
                  <a:prstClr val="black"/>
                </a:solidFill>
              </a:rPr>
              <a:t>pediatric</a:t>
            </a:r>
            <a:r>
              <a:rPr lang="en-US" sz="2000" b="1" dirty="0">
                <a:solidFill>
                  <a:prstClr val="black"/>
                </a:solidFill>
              </a:rPr>
              <a:t>, </a:t>
            </a:r>
            <a:r>
              <a:rPr lang="en-US" sz="2000" b="1" dirty="0" smtClean="0">
                <a:solidFill>
                  <a:prstClr val="black"/>
                </a:solidFill>
              </a:rPr>
              <a:t>obstetric and operation.</a:t>
            </a:r>
            <a:endParaRPr lang="en-US" sz="2000" b="1" dirty="0">
              <a:solidFill>
                <a:prstClr val="black"/>
              </a:solidFill>
            </a:endParaRPr>
          </a:p>
          <a:p>
            <a:pPr>
              <a:defRPr/>
            </a:pPr>
            <a:endParaRPr lang="en-US" sz="2000" b="1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prstClr val="black"/>
                </a:solidFill>
              </a:rPr>
              <a:t>3. Improved cleanliness and beautification of </a:t>
            </a:r>
            <a:r>
              <a:rPr lang="en-US" sz="2000" b="1" dirty="0" smtClean="0">
                <a:solidFill>
                  <a:prstClr val="black"/>
                </a:solidFill>
              </a:rPr>
              <a:t>the hospital.</a:t>
            </a: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000" b="1" dirty="0">
                <a:solidFill>
                  <a:prstClr val="black"/>
                </a:solidFill>
              </a:rPr>
              <a:t>4. Functioning of X-Ray service by local </a:t>
            </a:r>
            <a:r>
              <a:rPr lang="en-US" sz="2000" b="1" dirty="0" smtClean="0">
                <a:solidFill>
                  <a:prstClr val="black"/>
                </a:solidFill>
              </a:rPr>
              <a:t>initiatives.</a:t>
            </a:r>
          </a:p>
          <a:p>
            <a:pPr algn="just">
              <a:defRPr/>
            </a:pP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000" b="1" dirty="0">
                <a:solidFill>
                  <a:prstClr val="black"/>
                </a:solidFill>
              </a:rPr>
              <a:t>5. Improved </a:t>
            </a:r>
            <a:r>
              <a:rPr lang="en-US" sz="2000" b="1" dirty="0" smtClean="0">
                <a:solidFill>
                  <a:prstClr val="black"/>
                </a:solidFill>
              </a:rPr>
              <a:t> security</a:t>
            </a:r>
            <a:r>
              <a:rPr lang="en-US" sz="2000" b="1" dirty="0">
                <a:solidFill>
                  <a:prstClr val="black"/>
                </a:solidFill>
              </a:rPr>
              <a:t>.</a:t>
            </a:r>
            <a:endParaRPr lang="en-US" sz="1000" dirty="0">
              <a:solidFill>
                <a:prstClr val="black"/>
              </a:solidFill>
            </a:endParaRPr>
          </a:p>
          <a:p>
            <a:pPr algn="just">
              <a:defRPr/>
            </a:pP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000" b="1" dirty="0">
                <a:solidFill>
                  <a:prstClr val="black"/>
                </a:solidFill>
              </a:rPr>
              <a:t>6. Improved </a:t>
            </a:r>
            <a:r>
              <a:rPr lang="en-US" sz="2000" b="1" dirty="0" smtClean="0">
                <a:solidFill>
                  <a:prstClr val="black"/>
                </a:solidFill>
              </a:rPr>
              <a:t>financial management</a:t>
            </a: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endParaRPr lang="en-US" sz="20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000" b="1" dirty="0" smtClean="0">
                <a:solidFill>
                  <a:prstClr val="black"/>
                </a:solidFill>
              </a:rPr>
              <a:t>7. </a:t>
            </a:r>
            <a:r>
              <a:rPr lang="en-US" sz="2000" b="1" dirty="0">
                <a:solidFill>
                  <a:prstClr val="black"/>
                </a:solidFill>
              </a:rPr>
              <a:t>The hospital is awarded 4 times from 2013 to 2016. </a:t>
            </a:r>
            <a:endParaRPr lang="en-US" sz="2000" dirty="0">
              <a:solidFill>
                <a:srgbClr val="17375E"/>
              </a:solidFill>
            </a:endParaRPr>
          </a:p>
          <a:p>
            <a:pPr algn="just"/>
            <a:endParaRPr lang="en-US" sz="2000" dirty="0">
              <a:solidFill>
                <a:srgbClr val="17375E"/>
              </a:solidFill>
            </a:endParaRPr>
          </a:p>
          <a:p>
            <a:pPr algn="just"/>
            <a:endParaRPr lang="en-US" sz="1050" b="1" dirty="0">
              <a:solidFill>
                <a:srgbClr val="17375E"/>
              </a:solidFill>
            </a:endParaRPr>
          </a:p>
          <a:p>
            <a:pPr algn="just"/>
            <a:endParaRPr lang="en-US" dirty="0">
              <a:solidFill>
                <a:srgbClr val="17375E"/>
              </a:solidFill>
            </a:endParaRPr>
          </a:p>
          <a:p>
            <a:pPr algn="just"/>
            <a:r>
              <a:rPr lang="en-US" dirty="0">
                <a:solidFill>
                  <a:srgbClr val="17375E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79202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Aft>
                <a:spcPts val="0"/>
              </a:spcAft>
            </a:pPr>
            <a:r>
              <a:rPr lang="en-US" b="1" dirty="0">
                <a:solidFill>
                  <a:prstClr val="white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Way forward</a:t>
            </a:r>
            <a:endParaRPr lang="en-US" b="1" dirty="0">
              <a:solidFill>
                <a:prstClr val="white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Involvement of   community for hospital service improvement</a:t>
            </a:r>
          </a:p>
          <a:p>
            <a:r>
              <a:rPr lang="en-US" dirty="0" smtClean="0"/>
              <a:t>Leadership of health manager</a:t>
            </a:r>
          </a:p>
          <a:p>
            <a:r>
              <a:rPr lang="en-US" dirty="0" smtClean="0"/>
              <a:t>Motivation of the service providers</a:t>
            </a:r>
          </a:p>
          <a:p>
            <a:r>
              <a:rPr lang="en-US" dirty="0" smtClean="0"/>
              <a:t>Ownership of the community support group.</a:t>
            </a:r>
          </a:p>
          <a:p>
            <a:r>
              <a:rPr lang="en-US" dirty="0" smtClean="0"/>
              <a:t>Support from the local administration.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136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609600"/>
            <a:ext cx="7793038" cy="5257800"/>
          </a:xfrm>
        </p:spPr>
        <p:txBody>
          <a:bodyPr/>
          <a:lstStyle/>
          <a:p>
            <a:endParaRPr lang="en-US"/>
          </a:p>
        </p:txBody>
      </p:sp>
      <p:pic>
        <p:nvPicPr>
          <p:cNvPr id="13319" name="Picture 7" descr="CampsBaySuns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01380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4698</TotalTime>
  <Words>1244</Words>
  <Application>Microsoft Office PowerPoint</Application>
  <PresentationFormat>On-screen Show (4:3)</PresentationFormat>
  <Paragraphs>198</Paragraphs>
  <Slides>44</Slides>
  <Notes>9</Notes>
  <HiddenSlides>0</HiddenSlides>
  <MMClips>0</MMClips>
  <ScaleCrop>false</ScaleCrop>
  <HeadingPairs>
    <vt:vector size="6" baseType="variant">
      <vt:variant>
        <vt:lpstr>Theme</vt:lpstr>
      </vt:variant>
      <vt:variant>
        <vt:i4>4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1_Default Design</vt:lpstr>
      <vt:lpstr>Office Theme</vt:lpstr>
      <vt:lpstr>Flow</vt:lpstr>
      <vt:lpstr>3_Default Design</vt:lpstr>
      <vt:lpstr>Chart</vt:lpstr>
      <vt:lpstr>Microsoft Excel Chart</vt:lpstr>
      <vt:lpstr>PowerPoint Presentation</vt:lpstr>
      <vt:lpstr>PowerPoint Presentation</vt:lpstr>
      <vt:lpstr>Introduction</vt:lpstr>
      <vt:lpstr>Upazila Health  Complex CHOWGACHA , JESSORE.</vt:lpstr>
      <vt:lpstr>Upazila Health  Complex CHOWGACHA , JESSORE.</vt:lpstr>
      <vt:lpstr>PowerPoint Presentation</vt:lpstr>
      <vt:lpstr>PowerPoint Presentation</vt:lpstr>
      <vt:lpstr>PowerPoint Presentation</vt:lpstr>
      <vt:lpstr>Event of Community participant in Jhenaidah</vt:lpstr>
      <vt:lpstr>PowerPoint Presentation</vt:lpstr>
      <vt:lpstr>PowerPoint Presentation</vt:lpstr>
      <vt:lpstr>Emergency &amp; Out Door, Indoor  Service 1998 to 2015</vt:lpstr>
      <vt:lpstr>PowerPoint Presentation</vt:lpstr>
      <vt:lpstr>Operation Service (Major) 2011 to 2015</vt:lpstr>
      <vt:lpstr>  Comparative data of revenue income in Jhenaidah Sadar Hospital from 2013-14 to 2015-16 F-year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Changes in EOC Ward</vt:lpstr>
      <vt:lpstr>Changes in Surgery Ward</vt:lpstr>
      <vt:lpstr>PowerPoint Presentation</vt:lpstr>
      <vt:lpstr>PowerPoint Presentation</vt:lpstr>
      <vt:lpstr>Changes in Gardens of The Hospital</vt:lpstr>
      <vt:lpstr>Changes in office and hospital internal environment</vt:lpstr>
      <vt:lpstr>Internal Monitoring System</vt:lpstr>
      <vt:lpstr>Use of direction sign, labeling of rooms, clean latrine and waist segregation</vt:lpstr>
      <vt:lpstr>PowerPoint Presentation</vt:lpstr>
      <vt:lpstr>Hospital Environment</vt:lpstr>
      <vt:lpstr>PowerPoint Presentation</vt:lpstr>
      <vt:lpstr>Way forward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Belal;Labnan</dc:creator>
  <cp:lastModifiedBy>Emdad</cp:lastModifiedBy>
  <cp:revision>1085</cp:revision>
  <cp:lastPrinted>2015-07-23T02:45:36Z</cp:lastPrinted>
  <dcterms:created xsi:type="dcterms:W3CDTF">1601-01-01T00:00:00Z</dcterms:created>
  <dcterms:modified xsi:type="dcterms:W3CDTF">2016-10-04T02:51:11Z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