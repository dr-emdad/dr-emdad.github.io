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</p:sldMasterIdLst>
  <p:notesMasterIdLst>
    <p:notesMasterId r:id="rId52"/>
  </p:notesMasterIdLst>
  <p:sldIdLst>
    <p:sldId id="256" r:id="rId4"/>
    <p:sldId id="409" r:id="rId5"/>
    <p:sldId id="408" r:id="rId6"/>
    <p:sldId id="376" r:id="rId7"/>
    <p:sldId id="410" r:id="rId8"/>
    <p:sldId id="345" r:id="rId9"/>
    <p:sldId id="360" r:id="rId10"/>
    <p:sldId id="361" r:id="rId11"/>
    <p:sldId id="359" r:id="rId12"/>
    <p:sldId id="326" r:id="rId13"/>
    <p:sldId id="327" r:id="rId14"/>
    <p:sldId id="328" r:id="rId15"/>
    <p:sldId id="352" r:id="rId16"/>
    <p:sldId id="351" r:id="rId17"/>
    <p:sldId id="407" r:id="rId18"/>
    <p:sldId id="346" r:id="rId19"/>
    <p:sldId id="362" r:id="rId20"/>
    <p:sldId id="369" r:id="rId21"/>
    <p:sldId id="287" r:id="rId22"/>
    <p:sldId id="288" r:id="rId23"/>
    <p:sldId id="290" r:id="rId24"/>
    <p:sldId id="291" r:id="rId25"/>
    <p:sldId id="292" r:id="rId26"/>
    <p:sldId id="308" r:id="rId27"/>
    <p:sldId id="323" r:id="rId28"/>
    <p:sldId id="312" r:id="rId29"/>
    <p:sldId id="366" r:id="rId30"/>
    <p:sldId id="363" r:id="rId31"/>
    <p:sldId id="364" r:id="rId32"/>
    <p:sldId id="370" r:id="rId33"/>
    <p:sldId id="372" r:id="rId34"/>
    <p:sldId id="371" r:id="rId35"/>
    <p:sldId id="297" r:id="rId36"/>
    <p:sldId id="293" r:id="rId37"/>
    <p:sldId id="294" r:id="rId38"/>
    <p:sldId id="330" r:id="rId39"/>
    <p:sldId id="389" r:id="rId40"/>
    <p:sldId id="390" r:id="rId41"/>
    <p:sldId id="391" r:id="rId42"/>
    <p:sldId id="392" r:id="rId43"/>
    <p:sldId id="393" r:id="rId44"/>
    <p:sldId id="394" r:id="rId45"/>
    <p:sldId id="395" r:id="rId46"/>
    <p:sldId id="396" r:id="rId47"/>
    <p:sldId id="399" r:id="rId48"/>
    <p:sldId id="400" r:id="rId49"/>
    <p:sldId id="398" r:id="rId50"/>
    <p:sldId id="344" r:id="rId5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02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5469568"/>
        <c:axId val="55471104"/>
      </c:barChart>
      <c:catAx>
        <c:axId val="554695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55471104"/>
        <c:crosses val="autoZero"/>
        <c:auto val="1"/>
        <c:lblAlgn val="ctr"/>
        <c:lblOffset val="100"/>
        <c:noMultiLvlLbl val="0"/>
      </c:catAx>
      <c:valAx>
        <c:axId val="5547110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554695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1380352"/>
        <c:axId val="131381888"/>
      </c:barChart>
      <c:catAx>
        <c:axId val="1313803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1381888"/>
        <c:crosses val="autoZero"/>
        <c:auto val="1"/>
        <c:lblAlgn val="ctr"/>
        <c:lblOffset val="100"/>
        <c:noMultiLvlLbl val="0"/>
      </c:catAx>
      <c:valAx>
        <c:axId val="1313818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138035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31407872"/>
        <c:axId val="131409408"/>
        <c:axId val="0"/>
      </c:bar3DChart>
      <c:catAx>
        <c:axId val="131407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1409408"/>
        <c:crosses val="autoZero"/>
        <c:auto val="1"/>
        <c:lblAlgn val="ctr"/>
        <c:lblOffset val="100"/>
        <c:noMultiLvlLbl val="0"/>
      </c:catAx>
      <c:valAx>
        <c:axId val="1314094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14078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1139456"/>
        <c:axId val="131140992"/>
      </c:barChart>
      <c:catAx>
        <c:axId val="131139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1140992"/>
        <c:crosses val="autoZero"/>
        <c:auto val="1"/>
        <c:lblAlgn val="ctr"/>
        <c:lblOffset val="100"/>
        <c:noMultiLvlLbl val="0"/>
      </c:catAx>
      <c:valAx>
        <c:axId val="1311409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113945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7815168"/>
        <c:axId val="137816704"/>
      </c:barChart>
      <c:catAx>
        <c:axId val="13781516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7816704"/>
        <c:crosses val="autoZero"/>
        <c:auto val="1"/>
        <c:lblAlgn val="ctr"/>
        <c:lblOffset val="100"/>
        <c:noMultiLvlLbl val="0"/>
      </c:catAx>
      <c:valAx>
        <c:axId val="1378167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78151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37534848"/>
        <c:axId val="137561216"/>
        <c:axId val="0"/>
      </c:bar3DChart>
      <c:catAx>
        <c:axId val="1375348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7561216"/>
        <c:crosses val="autoZero"/>
        <c:auto val="1"/>
        <c:lblAlgn val="ctr"/>
        <c:lblOffset val="100"/>
        <c:noMultiLvlLbl val="0"/>
      </c:catAx>
      <c:valAx>
        <c:axId val="13756121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3753484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5/10/2018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6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15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36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48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5/10/2018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7494C-9C38-4A24-AF6A-EDBCB2AEFA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4336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054E80-B57D-4120-AEB1-EFEB2D44F8A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88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C2D70-00D7-443E-9416-F9CC80F5C70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103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200451-DF75-4395-A598-8564AEE745F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8308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47878-99EE-408A-97D5-1974D05630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6215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220F2-1D89-4C79-B78D-CA0F3725960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370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C2C73-EB97-485B-B9C5-B2E060C8A8F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2188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D75E1-66E3-4512-B1B6-FE762C04ACA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8626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145911-C292-4AEB-AD7A-AFAD0A96482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7417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52E0D1-901F-4569-969C-4856C1381EE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6891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3708C-645C-4736-8265-8E0679D6DC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233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2BB8A-D8BD-41BC-A586-5C82C088DE4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0201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3C9A7-21CE-4711-9502-C20B1748D46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060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2018/5/10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B8D40BD-EFFF-4B70-8E9C-0725D6334E01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09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1.jpe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3.jpeg"/><Relationship Id="rId4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7.jpeg"/><Relationship Id="rId4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MgIps428Ic" TargetMode="External"/><Relationship Id="rId2" Type="http://schemas.openxmlformats.org/officeDocument/2006/relationships/hyperlink" Target="https://www.unicef.org/bangladesh/media_4795.htm" TargetMode="Externa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343400" y="5266379"/>
            <a:ext cx="4267200" cy="1015663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Dr. Md. </a:t>
            </a:r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Emdadul</a:t>
            </a:r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Haque</a:t>
            </a:r>
            <a:endParaRPr lang="en-US" sz="2000" dirty="0" smtClean="0">
              <a:solidFill>
                <a:schemeClr val="bg1"/>
              </a:solidFill>
              <a:latin typeface="Andalus"/>
              <a:ea typeface="Andalus"/>
              <a:cs typeface="Andalus"/>
            </a:endParaRPr>
          </a:p>
          <a:p>
            <a:pPr algn="r" eaLnBrk="1" hangingPunct="1"/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Senior Consultant (</a:t>
            </a:r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Gynae</a:t>
            </a:r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 &amp; </a:t>
            </a:r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Obst</a:t>
            </a:r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)</a:t>
            </a:r>
          </a:p>
          <a:p>
            <a:pPr algn="r" eaLnBrk="1" hangingPunct="1"/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Jhenaidah</a:t>
            </a:r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Sadar</a:t>
            </a:r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 Hospital</a:t>
            </a:r>
            <a:endParaRPr lang="en-US" sz="2000" dirty="0">
              <a:solidFill>
                <a:schemeClr val="bg1"/>
              </a:solidFill>
              <a:latin typeface="Andalus"/>
              <a:ea typeface="Andalus"/>
              <a:cs typeface="Andalu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henaidah District Ma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3" y="0"/>
            <a:ext cx="86439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920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810500" cy="55880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MCH Profile of </a:t>
            </a:r>
            <a:r>
              <a:rPr lang="en-US" sz="28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800" b="1" dirty="0" smtClean="0">
                <a:solidFill>
                  <a:schemeClr val="bg1"/>
                </a:solidFill>
              </a:rPr>
              <a:t> District- 2017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410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population		                     : 1857149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Pregnant			: 38074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Live birth			: 36465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Under five children		: 222120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					 As per National data         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Death 			: 11142 	(D.R      </a:t>
            </a:r>
            <a:r>
              <a:rPr lang="en-US" sz="1500" b="1" dirty="0">
                <a:solidFill>
                  <a:srgbClr val="3333CC"/>
                </a:solidFill>
              </a:rPr>
              <a:t> </a:t>
            </a:r>
            <a:r>
              <a:rPr lang="en-US" sz="1500" b="1" dirty="0" smtClean="0">
                <a:solidFill>
                  <a:srgbClr val="3333CC"/>
                </a:solidFill>
              </a:rPr>
              <a:t>     6.1/1000 pop)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Maternal Death 		: 72	(MMR         194/100000 LB)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Parental Death 		: 1522 	(PNDR        40/1000 Del)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Neonatal Death 		: 922 	(NNDR        25/1000 LB)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Infant Death 			: 1218 	(IMR            33/1000 LB)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Under five Death 		: 1698 	(U5MR        46/1000 LB)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maternal morbidity                                : 2160       per year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morbidity increasing                  	: 4375       per year      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low birth wait                              	: 8386        (23% of total birth)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sz="1500" b="1" dirty="0" smtClean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50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 smtClean="0"/>
              <a:t>district level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457200" y="358775"/>
            <a:ext cx="82296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400" b="1" smtClean="0">
                <a:solidFill>
                  <a:srgbClr val="000000"/>
                </a:solidFill>
                <a:latin typeface="Arial" charset="0"/>
                <a:cs typeface="Arial" charset="0"/>
              </a:rPr>
              <a:t>Background History of Jhenaidah Sadar Hospital</a:t>
            </a: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457200" y="863600"/>
            <a:ext cx="80772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spcBef>
                <a:spcPct val="20000"/>
              </a:spcBef>
            </a:pPr>
            <a:endParaRPr lang="en-US" sz="1600" b="1" smtClean="0">
              <a:solidFill>
                <a:srgbClr val="3333CC"/>
              </a:solidFill>
              <a:latin typeface="Arial" charset="0"/>
              <a:cs typeface="Arial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457200" y="990600"/>
            <a:ext cx="8229600" cy="5638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/>
        </p:spPr>
        <p:txBody>
          <a:bodyPr/>
          <a:lstStyle/>
          <a:p>
            <a:pPr>
              <a:lnSpc>
                <a:spcPct val="200000"/>
              </a:lnSpc>
              <a:spcAft>
                <a:spcPts val="1200"/>
              </a:spcAft>
              <a:defRPr/>
            </a:pPr>
            <a:r>
              <a:rPr lang="en-US" sz="1600" b="1" dirty="0" err="1">
                <a:solidFill>
                  <a:srgbClr val="000000"/>
                </a:solidFill>
                <a:latin typeface="Arial" charset="0"/>
                <a:cs typeface="Arial" charset="0"/>
              </a:rPr>
              <a:t>Jhenaidah</a:t>
            </a: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 Sadar Hospital was established in 1968 as Sub-Division Hospital and            became functioning from December 1970. </a:t>
            </a:r>
            <a:b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 - From February 1984 recognized as District Sadar Hospital.</a:t>
            </a:r>
            <a:b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In 1994 upgrade to 100 Bedded Hospital without manpower &amp; infrastructure.</a:t>
            </a:r>
            <a:b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In May 2005 infrastructure of 100 </a:t>
            </a:r>
            <a:r>
              <a:rPr lang="en-US" sz="1600" b="1" dirty="0" err="1">
                <a:solidFill>
                  <a:srgbClr val="000000"/>
                </a:solidFill>
                <a:latin typeface="Arial" charset="0"/>
                <a:cs typeface="Arial" charset="0"/>
              </a:rPr>
              <a:t>beded</a:t>
            </a: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 hospital completed. </a:t>
            </a:r>
            <a:b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In 2008, Laparoscopic surgery was initiated in Hospital.</a:t>
            </a:r>
            <a:b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In 2010 , this Hospital was awarded for EOC Activities, in Khulna Division.  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TQM activities started in January 2011 and effectively in May 2012.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In 10’th October foundation stone for 250 bedded hospital is established by   Honorable Prime Minister of Peoples Republic of Bangladesh.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 In 9 Feb, 2014, 5S KIZEN – TQM program started by DGHS &amp; SMPP JICA. 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/>
            </a:pPr>
            <a:endParaRPr lang="en-US" sz="1600" b="1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endParaRPr lang="en-US" sz="1600" b="1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endParaRPr lang="en-US" sz="1600" b="1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29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07218"/>
              </p:ext>
            </p:extLst>
          </p:nvPr>
        </p:nvGraphicFramePr>
        <p:xfrm>
          <a:off x="148988" y="1105771"/>
          <a:ext cx="8894763" cy="506642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0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Afghanistan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3.6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52655616"/>
              </p:ext>
            </p:extLst>
          </p:nvPr>
        </p:nvGraphicFramePr>
        <p:xfrm>
          <a:off x="443552" y="2133600"/>
          <a:ext cx="8153399" cy="347503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23981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640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3075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3715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  <a:endParaRPr kumimoji="0" lang="en-US" sz="16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250</a:t>
                      </a:r>
                      <a:r>
                        <a:rPr lang="en-GB" sz="1600" baseline="0" dirty="0" smtClean="0"/>
                        <a:t> Bedded Hospital, </a:t>
                      </a:r>
                      <a:r>
                        <a:rPr lang="en-GB" sz="1600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76534" y="644288"/>
            <a:ext cx="8153400" cy="99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r>
              <a:rPr lang="en-US" sz="2400" dirty="0" smtClean="0">
                <a:solidFill>
                  <a:schemeClr val="bg1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300972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b="1" dirty="0">
                <a:solidFill>
                  <a:schemeClr val="bg1"/>
                </a:solidFill>
              </a:rPr>
              <a:t>I</a:t>
            </a:r>
            <a:r>
              <a:rPr lang="en-US" sz="2800" b="1" dirty="0" smtClean="0">
                <a:solidFill>
                  <a:schemeClr val="bg1"/>
                </a:solidFill>
              </a:rPr>
              <a:t>nternal </a:t>
            </a:r>
            <a:r>
              <a:rPr lang="en-US" sz="2800" b="1" dirty="0">
                <a:solidFill>
                  <a:schemeClr val="bg1"/>
                </a:solidFill>
              </a:rPr>
              <a:t>E</a:t>
            </a:r>
            <a:r>
              <a:rPr lang="en-US" sz="2800" b="1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marL="457200" indent="-457200">
              <a:buFont typeface="Arial" charset="0"/>
              <a:buAutoNum type="arabicPeriod"/>
              <a:defRPr/>
            </a:pPr>
            <a:r>
              <a:rPr lang="en-US" sz="1800" dirty="0" smtClean="0"/>
              <a:t>Unprotected Campus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a. Addicted person moved here and there at day and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b. Campus unclean goats and cows moved everywhere in day.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c. Front of the hospital was full of posters.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d. Broken cycle stand and there was a shade of </a:t>
            </a:r>
            <a:r>
              <a:rPr lang="en-US" sz="1800" dirty="0" err="1" smtClean="0"/>
              <a:t>polithin</a:t>
            </a:r>
            <a:r>
              <a:rPr lang="en-US" sz="1800" dirty="0" smtClean="0"/>
              <a:t> in front of the cycle 	stand.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e. </a:t>
            </a:r>
            <a:r>
              <a:rPr lang="en-US" sz="1800" dirty="0" err="1" smtClean="0"/>
              <a:t>Vesoz</a:t>
            </a:r>
            <a:r>
              <a:rPr lang="en-US" sz="1800" dirty="0" smtClean="0"/>
              <a:t> Garden was unclean and full of hospital waste.</a:t>
            </a:r>
          </a:p>
          <a:p>
            <a:pPr marL="457200" indent="-457200">
              <a:buFont typeface="Arial" charset="0"/>
              <a:buAutoNum type="arabicPeriod" startAt="2"/>
              <a:defRPr/>
            </a:pPr>
            <a:r>
              <a:rPr lang="en-US" sz="1800" dirty="0" smtClean="0"/>
              <a:t>Emergency: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Full of broken lockers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b. Unhygienic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c. Used as a cycle store at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d. No boiling system. Infection control system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e. Addicted person worked in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f. No trolley man.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g. No slopping for trolley in front of the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h. Privacy was neglected during stomach wash of the patient.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i. Corruption was not prevented.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957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457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400" dirty="0" smtClean="0"/>
              <a:t>Situation of the hospital in May 2012 -2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3.      Outdoor: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a. No patient separation. Male female and child treated in outdoor by every 	outdoor doctor.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No IMCI Corner.                        c. No  FP Unit.</a:t>
            </a:r>
          </a:p>
          <a:p>
            <a:pPr>
              <a:buFont typeface="Arial" charset="0"/>
              <a:buAutoNum type="arabicPeriod" startAt="4"/>
              <a:defRPr/>
            </a:pPr>
            <a:r>
              <a:rPr lang="en-US" sz="1800" dirty="0" smtClean="0"/>
              <a:t>Blood Bank: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	a. No worker for 24 Hours blood bank support.</a:t>
            </a:r>
            <a:endParaRPr lang="en-US" sz="1800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5.    Indoor: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Unwanted items within the ward. Like broken patient bed.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Unhygienic environment.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 Patient in paying cabin and paying ward without govt. charge.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d. No table and chair in paying cabin.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e. Non Govt. worker would take charge from the patient and some of the 	govt. workers also involved in corruption.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6.     Dead body room: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Unclean.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Unused large telephone box for 10 years.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Workers would take heavy charge from the relatives of the dead person.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86438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60960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r>
              <a:rPr lang="en-US" sz="1600" dirty="0" smtClean="0"/>
              <a:t>EOC ward: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a. Only 4 govt. bed and 4 extra. Total 8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b. The ward was unhygienic and foul smelling.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c.  Privacy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d. ANC Corner system ineffective.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e. One washroom with broken door.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f.  No </a:t>
            </a:r>
            <a:r>
              <a:rPr lang="en-US" sz="1600" dirty="0" err="1" smtClean="0"/>
              <a:t>rexin</a:t>
            </a:r>
            <a:r>
              <a:rPr lang="en-US" sz="1600" dirty="0" smtClean="0"/>
              <a:t> sheet and unclean mattress of the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g. Mal use of oxytocic drug.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h. Weak infection control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i. Consultant reside outside the campus.	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j. No health education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k. No pre </a:t>
            </a:r>
            <a:r>
              <a:rPr lang="en-US" sz="1600" dirty="0" err="1" smtClean="0"/>
              <a:t>labour</a:t>
            </a:r>
            <a:r>
              <a:rPr lang="en-US" sz="1600" dirty="0" smtClean="0"/>
              <a:t> room.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l. No night round of the consultant.</a:t>
            </a:r>
          </a:p>
          <a:p>
            <a:pPr>
              <a:buFont typeface="Arial" charset="0"/>
              <a:buAutoNum type="arabicPeriod" startAt="7"/>
              <a:defRPr/>
            </a:pPr>
            <a:r>
              <a:rPr lang="en-US" sz="1600" dirty="0" smtClean="0"/>
              <a:t>OT</a:t>
            </a:r>
            <a:r>
              <a:rPr lang="en-US" sz="1600" dirty="0"/>
              <a:t>:</a:t>
            </a:r>
            <a:endParaRPr lang="en-US" sz="16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 </a:t>
            </a:r>
            <a:r>
              <a:rPr lang="en-US" sz="1600" dirty="0" smtClean="0"/>
              <a:t> 	a. Some of the none govt. workers would take charge from the patient.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 No round of superintendent of the hospital even one in a month.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No RMO, in charge RMO worked for six years.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Information display system was neglected.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One super were charged by local MP and one super fled away.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Frequently, Hospital stuffs faced physical and mental torture.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842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How we overcome the challenges</a:t>
            </a:r>
            <a:endParaRPr lang="en-US" sz="3200" dirty="0"/>
          </a:p>
        </p:txBody>
      </p:sp>
      <p:sp>
        <p:nvSpPr>
          <p:cNvPr id="64515" name="Rectangle 8"/>
          <p:cNvSpPr>
            <a:spLocks noChangeArrowheads="1"/>
          </p:cNvSpPr>
          <p:nvPr/>
        </p:nvSpPr>
        <p:spPr bwMode="auto">
          <a:xfrm>
            <a:off x="609600" y="914400"/>
            <a:ext cx="8077200" cy="677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1.                Situation analysis and prepare a baseline survey report in June 2012 and compared the    	progress with the baseline report of 1998.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Problem identification. </a:t>
            </a:r>
            <a:r>
              <a:rPr lang="en-US" sz="1400" dirty="0" smtClean="0">
                <a:solidFill>
                  <a:srgbClr val="000000"/>
                </a:solidFill>
              </a:rPr>
              <a:t>*Problems of the hospital 1 &amp; 2 (Later)</a:t>
            </a:r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	b.   Basic activities.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Govt. resources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Scope</a:t>
            </a:r>
          </a:p>
          <a:p>
            <a:r>
              <a:rPr lang="en-US" sz="1400" dirty="0">
                <a:solidFill>
                  <a:srgbClr val="000000"/>
                </a:solidFill>
              </a:rPr>
              <a:t>2.	Motivation of doctors, nurses and staff.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3.	Community motivation and social mobilization.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Local administration </a:t>
            </a:r>
            <a:r>
              <a:rPr lang="en-US" sz="1400" dirty="0" smtClean="0">
                <a:solidFill>
                  <a:srgbClr val="000000"/>
                </a:solidFill>
              </a:rPr>
              <a:t>DC, </a:t>
            </a:r>
            <a:r>
              <a:rPr lang="en-US" sz="1400" dirty="0">
                <a:solidFill>
                  <a:srgbClr val="000000"/>
                </a:solidFill>
              </a:rPr>
              <a:t>ADC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District health improvement committee which is headed by 		      	      local MP.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Local Govt. Mayor, district chairmen.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Reporters and media personalities.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Social workers, Human Rights Organizations, few NGO, 		      	      teachers, industrialists , </a:t>
            </a:r>
            <a:r>
              <a:rPr lang="en-US" sz="1400" dirty="0" smtClean="0">
                <a:solidFill>
                  <a:srgbClr val="000000"/>
                </a:solidFill>
              </a:rPr>
              <a:t>TIB .&amp; religious leaders</a:t>
            </a:r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4.	Improved cleanliness and beautification of the outer environment.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Involvement of Mayor. Ensure security of the campus and regular  	       	      removal of hospital wastes, cleanliness of the drainage system.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Removal of all posters.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Made a boundary wall.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Starting for the beautification of the campus.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Celebrate A Big Cleaning Day in 17th March, the birthday of the father of the nation.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72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How we overcome the challenges -2</a:t>
            </a:r>
            <a:endParaRPr lang="en-US" sz="2800" dirty="0"/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81000" y="990600"/>
            <a:ext cx="8382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5.	Reform of EOC program:</a:t>
            </a:r>
          </a:p>
          <a:p>
            <a:pPr marL="342900" indent="-342900" algn="just" eaLnBrk="1" hangingPunct="1">
              <a:defRPr/>
            </a:pPr>
            <a:endParaRPr lang="en-US" sz="1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en-US" sz="1600" dirty="0"/>
              <a:t>	-Introduce </a:t>
            </a:r>
            <a:r>
              <a:rPr lang="en-US" sz="1600" dirty="0" err="1"/>
              <a:t>Labour</a:t>
            </a:r>
            <a:r>
              <a:rPr lang="en-US" sz="1600" dirty="0"/>
              <a:t> Admission Register, </a:t>
            </a:r>
            <a:r>
              <a:rPr lang="en-US" sz="1600" dirty="0" err="1"/>
              <a:t>Labour</a:t>
            </a:r>
            <a:r>
              <a:rPr lang="en-US" sz="1600" dirty="0"/>
              <a:t> Ward Admission Form, Separate 	Discharge Form. </a:t>
            </a:r>
          </a:p>
          <a:p>
            <a:pPr lvl="1" algn="just" eaLnBrk="1" hangingPunct="1">
              <a:defRPr/>
            </a:pPr>
            <a:r>
              <a:rPr lang="en-US" sz="1600" dirty="0"/>
              <a:t>	-Starting of ANC &amp; PNC corner and Arrange a Room for Medical Officer.</a:t>
            </a:r>
          </a:p>
          <a:p>
            <a:pPr lvl="1" algn="just" eaLnBrk="1" hangingPunct="1">
              <a:defRPr/>
            </a:pPr>
            <a:r>
              <a:rPr lang="en-US" sz="1600" dirty="0"/>
              <a:t>	-NO. of EOC Bed increase from 10 to 21 though on EOC bed only 5.</a:t>
            </a:r>
          </a:p>
          <a:p>
            <a:pPr lvl="1" algn="just" eaLnBrk="1" hangingPunct="1">
              <a:defRPr/>
            </a:pPr>
            <a:r>
              <a:rPr lang="en-US" sz="1600" dirty="0"/>
              <a:t>	-Improve EOC Operation Theater. </a:t>
            </a:r>
          </a:p>
          <a:p>
            <a:pPr lvl="1" algn="just" eaLnBrk="1" hangingPunct="1">
              <a:defRPr/>
            </a:pPr>
            <a:r>
              <a:rPr lang="en-US" sz="1600" dirty="0"/>
              <a:t>	-Moral based environment with 12 (twelve) workers supported by community 	donors. </a:t>
            </a:r>
          </a:p>
          <a:p>
            <a:pPr lvl="1" algn="just" eaLnBrk="1" hangingPunct="1">
              <a:defRPr/>
            </a:pPr>
            <a:r>
              <a:rPr lang="en-US" sz="1600" dirty="0"/>
              <a:t>	-EOC Operation activities extended from 8 A.M. to 2 P.M to 8 P.M.</a:t>
            </a:r>
          </a:p>
          <a:p>
            <a:pPr lvl="1" algn="just" eaLnBrk="1" hangingPunct="1">
              <a:defRPr/>
            </a:pPr>
            <a:r>
              <a:rPr lang="en-US" sz="1600" dirty="0"/>
              <a:t>	-Ensuring Rational use of drugs in EOC ward. </a:t>
            </a:r>
          </a:p>
          <a:p>
            <a:pPr lvl="1" algn="just" eaLnBrk="1" hangingPunct="1">
              <a:defRPr/>
            </a:pPr>
            <a:r>
              <a:rPr lang="en-US" sz="1600" dirty="0"/>
              <a:t>	-Provision of Mobile Phone in EOC ward no. 01857935012.</a:t>
            </a:r>
          </a:p>
          <a:p>
            <a:pPr lvl="1" algn="just" eaLnBrk="1" hangingPunct="1">
              <a:defRPr/>
            </a:pPr>
            <a:r>
              <a:rPr lang="en-US" sz="1600" dirty="0"/>
              <a:t>	-Shoe-free environment for infection control.</a:t>
            </a:r>
          </a:p>
          <a:p>
            <a:pPr lvl="1" algn="just" eaLnBrk="1" hangingPunct="1">
              <a:defRPr/>
            </a:pPr>
            <a:r>
              <a:rPr lang="en-US" sz="1600" dirty="0"/>
              <a:t>	-The center is used as a effective training center for SBA, Nursing student, Mid-	</a:t>
            </a:r>
            <a:r>
              <a:rPr lang="en-US" sz="1600" dirty="0" err="1"/>
              <a:t>wifiry</a:t>
            </a:r>
            <a:r>
              <a:rPr lang="en-US" sz="1600" dirty="0"/>
              <a:t>.</a:t>
            </a:r>
          </a:p>
          <a:p>
            <a:pPr lvl="1" algn="just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39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600" dirty="0" smtClean="0"/>
              <a:t>6. Changes in Emergency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all unnecessary items.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Improved infection control system.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Transfer the addicted person from emergency,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EMOS room is reformed.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e. Arrange 3 trolley men.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f.  Tiles fitting of the walls of emergency department.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g. Ensure privacy.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h. Make a slope for easy carry of the patient.</a:t>
            </a:r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7. Changes in outdoor: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Separation of the outdoor patient. Male, Female, IMCI 	  	    	    corner. </a:t>
            </a:r>
            <a:r>
              <a:rPr lang="en-US" sz="1600" dirty="0"/>
              <a:t>	</a:t>
            </a:r>
            <a:endParaRPr lang="en-US" sz="1600" dirty="0" smtClean="0"/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	b. Opening of family planning section.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Opening of one step crisis service.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Opening of one cash counter and another delivery of report 	    	    system. </a:t>
            </a:r>
          </a:p>
          <a:p>
            <a:pPr>
              <a:buFontTx/>
              <a:buAutoNum type="arabicPeriod" startAt="8"/>
              <a:defRPr/>
            </a:pPr>
            <a:r>
              <a:rPr lang="en-US" sz="1600" dirty="0" smtClean="0"/>
              <a:t>Change in dead body room: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telephone box.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Ensure clean environment.  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Prevention of corruption.     </a:t>
            </a:r>
            <a:endParaRPr lang="en-US" sz="16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715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600" smtClean="0"/>
              <a:t>9. Changes in blood bank:</a:t>
            </a:r>
          </a:p>
          <a:p>
            <a:pPr marL="0" indent="0">
              <a:buFontTx/>
              <a:buNone/>
            </a:pPr>
            <a:r>
              <a:rPr lang="en-US" sz="1600" smtClean="0"/>
              <a:t>	a. 24 hours blood bank service by the support of blood bank rule.</a:t>
            </a:r>
          </a:p>
          <a:p>
            <a:pPr marL="0" indent="0">
              <a:buFontTx/>
              <a:buNone/>
            </a:pPr>
            <a:r>
              <a:rPr lang="en-US" sz="1600" smtClean="0"/>
              <a:t>10. Changes in G OT</a:t>
            </a:r>
          </a:p>
          <a:p>
            <a:pPr marL="0" indent="0">
              <a:buFontTx/>
              <a:buNone/>
            </a:pPr>
            <a:r>
              <a:rPr lang="en-US" sz="1600" smtClean="0"/>
              <a:t>	a. Arrange Generator.</a:t>
            </a:r>
          </a:p>
          <a:p>
            <a:pPr marL="0" indent="0">
              <a:buFontTx/>
              <a:buNone/>
            </a:pPr>
            <a:r>
              <a:rPr lang="en-US" sz="1600" smtClean="0"/>
              <a:t>	b. Prevent corruption.</a:t>
            </a:r>
          </a:p>
          <a:p>
            <a:pPr marL="0" indent="0">
              <a:buFontTx/>
              <a:buNone/>
            </a:pPr>
            <a:r>
              <a:rPr lang="en-US" sz="1600" smtClean="0"/>
              <a:t>	c. Beautiful OT environment.</a:t>
            </a:r>
          </a:p>
          <a:p>
            <a:pPr marL="0" indent="0">
              <a:buFontTx/>
              <a:buNone/>
            </a:pPr>
            <a:r>
              <a:rPr lang="en-US" sz="1600" smtClean="0"/>
              <a:t>11. Changes in indoor:</a:t>
            </a:r>
          </a:p>
          <a:p>
            <a:pPr marL="0" indent="0">
              <a:buFontTx/>
              <a:buNone/>
            </a:pPr>
            <a:r>
              <a:rPr lang="en-US" sz="1600" smtClean="0"/>
              <a:t>	a. Improve cleanliness.</a:t>
            </a:r>
          </a:p>
          <a:p>
            <a:pPr marL="0" indent="0">
              <a:buFontTx/>
              <a:buNone/>
            </a:pPr>
            <a:r>
              <a:rPr lang="en-US" sz="1600" smtClean="0"/>
              <a:t>	b. Arrange tiles at the wall of the female medicine indoor.</a:t>
            </a:r>
          </a:p>
          <a:p>
            <a:pPr marL="0" indent="0">
              <a:buFontTx/>
              <a:buNone/>
            </a:pPr>
            <a:r>
              <a:rPr lang="en-US" sz="1600" smtClean="0"/>
              <a:t>	c. Removal of unwanted items.</a:t>
            </a:r>
          </a:p>
          <a:p>
            <a:pPr marL="0" indent="0">
              <a:buFontTx/>
              <a:buNone/>
            </a:pPr>
            <a:r>
              <a:rPr lang="en-US" sz="1600" smtClean="0"/>
              <a:t>	d. Coloring of the patient beds, locker.</a:t>
            </a:r>
          </a:p>
          <a:p>
            <a:pPr marL="0" indent="0">
              <a:buFontTx/>
              <a:buNone/>
            </a:pPr>
            <a:r>
              <a:rPr lang="en-US" sz="1600" smtClean="0"/>
              <a:t>	e. Arrange 3 ayah and 3 cleaner in every ward.</a:t>
            </a:r>
          </a:p>
          <a:p>
            <a:pPr marL="0" indent="0">
              <a:buFontTx/>
              <a:buNone/>
            </a:pPr>
            <a:r>
              <a:rPr lang="en-US" sz="1600" smtClean="0"/>
              <a:t>	f. Table an chair supplies in every cabin for the patient.</a:t>
            </a:r>
          </a:p>
          <a:p>
            <a:pPr marL="0" indent="0">
              <a:buFontTx/>
              <a:buNone/>
            </a:pPr>
            <a:r>
              <a:rPr lang="en-US" sz="1600" smtClean="0"/>
              <a:t>	  </a:t>
            </a:r>
          </a:p>
          <a:p>
            <a:pPr marL="0" indent="0">
              <a:buFontTx/>
              <a:buNone/>
            </a:pPr>
            <a:r>
              <a:rPr lang="en-US" sz="1600" smtClean="0"/>
              <a:t>.    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507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274638"/>
            <a:ext cx="8229600" cy="411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How we overcome the challenges -5</a:t>
            </a:r>
            <a:endParaRPr lang="en-US" sz="2800" dirty="0"/>
          </a:p>
        </p:txBody>
      </p:sp>
      <p:sp>
        <p:nvSpPr>
          <p:cNvPr id="6861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12.	Community support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Manpower, b. logistics, c. security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13.	Improved MIS and Display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14.	Improved supervisory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District health development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Ensure monthly meeting.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Formation of QIT and WIT team.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Idea sharing with Satkhira District Hospital visit.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Coordination with officials of DGHS, Ministry of Health and Family 	Welfare, BPATC Savar, Divisional Health Office, ICDDRB and JAICA.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15.	Achievements: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Active community participation.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High performance of EOC program.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Improved cleanliness and beautification.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Ensure security.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Improved revenue income.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f.  Achieve overall community satisfaction.</a:t>
            </a:r>
          </a:p>
          <a:p>
            <a:pPr marL="0" indent="0">
              <a:buFont typeface="Arial" charset="0"/>
              <a:buNone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712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114300"/>
            <a:ext cx="6011863" cy="8890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smtClean="0">
                <a:solidFill>
                  <a:schemeClr val="bg1"/>
                </a:solidFill>
              </a:rPr>
              <a:t>Problems</a:t>
            </a:r>
            <a:r>
              <a:rPr lang="en-US" sz="4000" b="1" smtClean="0">
                <a:solidFill>
                  <a:schemeClr val="bg1"/>
                </a:solidFill>
              </a:rPr>
              <a:t> </a:t>
            </a:r>
            <a:r>
              <a:rPr lang="en-US" sz="3200" b="1" smtClean="0">
                <a:solidFill>
                  <a:schemeClr val="bg1"/>
                </a:solidFill>
              </a:rPr>
              <a:t>of Sadar Hospital-1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68400"/>
            <a:ext cx="8229600" cy="52371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400" smtClean="0"/>
              <a:t>100 Beded Hospital running with 50 beded manpower since 1994.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are 9 unit in hospital (wards 06, OT, Out door, Emergency) needs cleaners about 36 but there are only 7 cleaners.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post of Aya, Ward boy, Security guard in the Hospital.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post of indoor medical officer so hamper indoor service &amp; night rounds.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One (01) anesthesiologist working for surgery, gynae, Orthopedics, ENT, Eye, 24 hours EOC &amp; emergency service.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effective waste management system.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Condemnation board is not working regularly due to administrative problems.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Many of the instruments and equipments are not functioning due to lack of bio-technologist &amp; funds for repair. 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target for indoor-outdoor patient &amp; huge number of indoor &amp; out door patient creates a heavy loads for services providers 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MIS system is weak and there is no hospital action plan.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No client satisfaction survey system.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 number of nurses is very few.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Hospital health management committee &amp; monthly co-ordination committee meeting is not perform regularly.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Female privacy is not properly maintained.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Insufficient in toilets &amp; safe drinking water supply.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Influential person influence on tenders of drugs, free cabin &amp; paying ward.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Auditing &amp; accounting system is not corruption free.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Consultants &amp; MOs are also the teacher of NTC, MATS etc. which affect hospital services.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Three doctors are illegally suspended. </a:t>
            </a:r>
          </a:p>
          <a:p>
            <a:pPr algn="just">
              <a:lnSpc>
                <a:spcPct val="80000"/>
              </a:lnSpc>
              <a:buFontTx/>
              <a:buNone/>
            </a:pPr>
            <a:endParaRPr lang="en-US" sz="1400" smtClean="0"/>
          </a:p>
        </p:txBody>
      </p:sp>
    </p:spTree>
    <p:extLst>
      <p:ext uri="{BB962C8B-B14F-4D97-AF65-F5344CB8AC3E}">
        <p14:creationId xmlns:p14="http://schemas.microsoft.com/office/powerpoint/2010/main" val="178485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685800"/>
            <a:ext cx="5943600" cy="5842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Problems of </a:t>
            </a:r>
            <a:r>
              <a:rPr lang="en-US" sz="3200" b="1" dirty="0" err="1" smtClean="0">
                <a:solidFill>
                  <a:schemeClr val="bg1"/>
                </a:solidFill>
              </a:rPr>
              <a:t>Sadar</a:t>
            </a:r>
            <a:r>
              <a:rPr lang="en-US" sz="3200" b="1" dirty="0" smtClean="0">
                <a:solidFill>
                  <a:schemeClr val="bg1"/>
                </a:solidFill>
              </a:rPr>
              <a:t> Hospital-2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4478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1600" smtClean="0"/>
          </a:p>
          <a:p>
            <a:pPr>
              <a:lnSpc>
                <a:spcPct val="90000"/>
              </a:lnSpc>
              <a:buFontTx/>
              <a:buNone/>
            </a:pPr>
            <a:endParaRPr lang="en-US" sz="1600" smtClean="0"/>
          </a:p>
          <a:p>
            <a:pPr>
              <a:lnSpc>
                <a:spcPct val="90000"/>
              </a:lnSpc>
            </a:pPr>
            <a:r>
              <a:rPr lang="en-US" sz="1600" smtClean="0"/>
              <a:t>There is no visitor control system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EPI, ORT corner, DOTS corner, VIA centre  are running  with least or no defined health personnel.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Health education systems is very poor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pediatrician in this Hospital.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are 5 beds in EOC word, which is insufficient  for 40000  pregnant mother per year in Jhenidah District 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intercom system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IMCI corner for under 5 children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Non health Issues  get less importance.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Scarcity of blood in emergency need.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adolescence health corner.</a:t>
            </a:r>
          </a:p>
        </p:txBody>
      </p:sp>
    </p:spTree>
    <p:extLst>
      <p:ext uri="{BB962C8B-B14F-4D97-AF65-F5344CB8AC3E}">
        <p14:creationId xmlns:p14="http://schemas.microsoft.com/office/powerpoint/2010/main" val="28856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/>
              <a:t>Awards &amp; Appreciations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 smtClean="0"/>
              <a:t>           </a:t>
            </a:r>
            <a:r>
              <a:rPr lang="en-US" sz="1600" b="1" u="sng" dirty="0" smtClean="0"/>
              <a:t>Awards:</a:t>
            </a:r>
            <a:endParaRPr lang="en-US" sz="1600" dirty="0" smtClean="0"/>
          </a:p>
          <a:p>
            <a:pPr lvl="0"/>
            <a:r>
              <a:rPr lang="en-US" sz="1400" b="1" dirty="0" smtClean="0"/>
              <a:t>Community Service Award</a:t>
            </a:r>
            <a:r>
              <a:rPr lang="en-US" sz="1400" dirty="0" smtClean="0"/>
              <a:t> by OGSB in 2006. </a:t>
            </a:r>
          </a:p>
          <a:p>
            <a:pPr lvl="0"/>
            <a:r>
              <a:rPr lang="en-US" sz="1400" b="1" dirty="0" err="1" smtClean="0"/>
              <a:t>Besr</a:t>
            </a:r>
            <a:r>
              <a:rPr lang="en-US" sz="1400" b="1" dirty="0" smtClean="0"/>
              <a:t> performance Award</a:t>
            </a:r>
            <a:r>
              <a:rPr lang="en-US" sz="1400" dirty="0" smtClean="0"/>
              <a:t> by MOH &amp; FW and DGHS in 2008.</a:t>
            </a:r>
          </a:p>
          <a:p>
            <a:pPr lvl="0"/>
            <a:r>
              <a:rPr lang="en-US" sz="1400" b="1" dirty="0" smtClean="0"/>
              <a:t>Professor </a:t>
            </a:r>
            <a:r>
              <a:rPr lang="en-US" sz="1400" b="1" dirty="0" err="1" smtClean="0"/>
              <a:t>Muklechur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Rahman</a:t>
            </a:r>
            <a:r>
              <a:rPr lang="en-US" sz="1400" b="1" dirty="0" smtClean="0"/>
              <a:t> Award</a:t>
            </a:r>
            <a:r>
              <a:rPr lang="en-US" sz="1400" dirty="0" smtClean="0"/>
              <a:t> by OGSB in 2010. </a:t>
            </a:r>
          </a:p>
          <a:p>
            <a:pPr lvl="0"/>
            <a:r>
              <a:rPr lang="en-US" sz="1400" b="1" dirty="0" smtClean="0"/>
              <a:t>Kaizen Role Model Award </a:t>
            </a:r>
            <a:r>
              <a:rPr lang="en-US" sz="1400" dirty="0" smtClean="0"/>
              <a:t>by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 in November 2013. </a:t>
            </a:r>
          </a:p>
          <a:p>
            <a:pPr lvl="0"/>
            <a:r>
              <a:rPr lang="en-US" sz="1400" b="1" dirty="0" smtClean="0"/>
              <a:t>Lifetime Award</a:t>
            </a:r>
            <a:r>
              <a:rPr lang="en-US" sz="1400" dirty="0" smtClean="0"/>
              <a:t> by OGSB in 2016.</a:t>
            </a:r>
          </a:p>
          <a:p>
            <a:pPr marL="0" indent="0">
              <a:buNone/>
            </a:pPr>
            <a:r>
              <a:rPr lang="en-US" sz="1400" dirty="0" smtClean="0"/>
              <a:t>           </a:t>
            </a:r>
            <a:r>
              <a:rPr lang="en-US" sz="1600" b="1" u="sng" dirty="0" smtClean="0"/>
              <a:t>Appreciations:</a:t>
            </a:r>
            <a:endParaRPr lang="en-US" sz="1600" dirty="0" smtClean="0"/>
          </a:p>
          <a:p>
            <a:pPr lvl="0"/>
            <a:r>
              <a:rPr lang="en-US" sz="1400" dirty="0" smtClean="0"/>
              <a:t>The Daily </a:t>
            </a:r>
            <a:r>
              <a:rPr lang="en-US" sz="1400" dirty="0" err="1" smtClean="0"/>
              <a:t>Prothom</a:t>
            </a:r>
            <a:r>
              <a:rPr lang="en-US" sz="1400" dirty="0" smtClean="0"/>
              <a:t> </a:t>
            </a:r>
            <a:r>
              <a:rPr lang="en-US" sz="1400" dirty="0" err="1" smtClean="0"/>
              <a:t>Alo</a:t>
            </a:r>
            <a:r>
              <a:rPr lang="en-US" sz="1400" dirty="0" smtClean="0"/>
              <a:t> – Special report in first page on 14 October 2005. </a:t>
            </a:r>
          </a:p>
          <a:p>
            <a:pPr lvl="0"/>
            <a:r>
              <a:rPr lang="en-US" sz="1400" dirty="0" err="1" smtClean="0"/>
              <a:t>Unisef</a:t>
            </a:r>
            <a:r>
              <a:rPr lang="en-US" sz="1400" dirty="0" smtClean="0"/>
              <a:t> Bangladesh report on saving mother’s life: dedication of a doctor. (Url: </a:t>
            </a:r>
            <a:r>
              <a:rPr lang="en-US" sz="1400" u="sng" dirty="0" smtClean="0">
                <a:hlinkClick r:id="rId2"/>
              </a:rPr>
              <a:t>https://www.unicef.org/bangladesh/media_4795.htm</a:t>
            </a:r>
            <a:r>
              <a:rPr lang="en-US" sz="1400" dirty="0" smtClean="0"/>
              <a:t>)</a:t>
            </a:r>
          </a:p>
          <a:p>
            <a:pPr lvl="0"/>
            <a:r>
              <a:rPr lang="en-US" sz="1400" dirty="0" smtClean="0"/>
              <a:t>Video on local </a:t>
            </a:r>
            <a:r>
              <a:rPr lang="en-US" sz="1400" dirty="0" err="1" smtClean="0"/>
              <a:t>innitiatives</a:t>
            </a:r>
            <a:r>
              <a:rPr lang="en-US" sz="1400" dirty="0" smtClean="0"/>
              <a:t> to improve service quality in a district hospital – </a:t>
            </a:r>
            <a:r>
              <a:rPr lang="en-US" sz="1400" dirty="0" err="1" smtClean="0"/>
              <a:t>Jhenaidah</a:t>
            </a:r>
            <a:r>
              <a:rPr lang="en-US" sz="1400" dirty="0" smtClean="0"/>
              <a:t> </a:t>
            </a:r>
            <a:r>
              <a:rPr lang="en-US" sz="1400" dirty="0" err="1" smtClean="0"/>
              <a:t>Sadar</a:t>
            </a:r>
            <a:r>
              <a:rPr lang="en-US" sz="1400" dirty="0" smtClean="0"/>
              <a:t> Hospital by Save The Children Bangladesh. </a:t>
            </a:r>
          </a:p>
          <a:p>
            <a:r>
              <a:rPr lang="en-US" sz="1400" dirty="0" smtClean="0"/>
              <a:t>(</a:t>
            </a:r>
            <a:r>
              <a:rPr lang="en-US" sz="1400" dirty="0" err="1" smtClean="0"/>
              <a:t>Videolink</a:t>
            </a:r>
            <a:r>
              <a:rPr lang="en-US" sz="1400" dirty="0" smtClean="0"/>
              <a:t>: </a:t>
            </a:r>
            <a:r>
              <a:rPr lang="en-US" sz="1400" u="sng" dirty="0" smtClean="0">
                <a:hlinkClick r:id="rId3"/>
              </a:rPr>
              <a:t>https://www.youtube.com/watch?v=wMgIps428Ic</a:t>
            </a:r>
            <a:r>
              <a:rPr lang="en-US" sz="1400" dirty="0" smtClean="0"/>
              <a:t> )</a:t>
            </a:r>
          </a:p>
          <a:p>
            <a:pPr lvl="0"/>
            <a:r>
              <a:rPr lang="en-US" sz="1400" dirty="0" smtClean="0"/>
              <a:t>Guest Lecturer of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600" b="1" dirty="0" smtClean="0"/>
              <a:t>         </a:t>
            </a:r>
            <a:r>
              <a:rPr lang="en-US" sz="1600" b="1" u="sng" dirty="0" smtClean="0"/>
              <a:t>Experience </a:t>
            </a:r>
            <a:r>
              <a:rPr lang="en-US" sz="1600" b="1" u="sng" dirty="0" smtClean="0"/>
              <a:t>from</a:t>
            </a:r>
            <a:r>
              <a:rPr lang="en-US" sz="1600" b="1" u="sng" dirty="0" smtClean="0"/>
              <a:t> </a:t>
            </a:r>
            <a:r>
              <a:rPr lang="en-US" sz="1600" b="1" u="sng" dirty="0" smtClean="0"/>
              <a:t>foreign </a:t>
            </a:r>
            <a:r>
              <a:rPr lang="en-US" sz="1600" b="1" u="sng" dirty="0" smtClean="0"/>
              <a:t>countries on quality assurance and hospital management.</a:t>
            </a:r>
            <a:endParaRPr lang="en-US" sz="1600" u="sng" dirty="0" smtClean="0"/>
          </a:p>
          <a:p>
            <a:pPr lvl="0"/>
            <a:r>
              <a:rPr lang="en-US" sz="1400" dirty="0" smtClean="0"/>
              <a:t>Indonesia</a:t>
            </a:r>
          </a:p>
          <a:p>
            <a:pPr lvl="0"/>
            <a:r>
              <a:rPr lang="en-US" sz="1400" dirty="0" err="1" smtClean="0"/>
              <a:t>Sreelanka</a:t>
            </a:r>
            <a:endParaRPr lang="en-US" sz="1400" dirty="0" smtClean="0"/>
          </a:p>
          <a:p>
            <a:pPr lvl="0"/>
            <a:r>
              <a:rPr lang="en-US" sz="1400" dirty="0" smtClean="0"/>
              <a:t>Tanzania</a:t>
            </a:r>
          </a:p>
          <a:p>
            <a:pPr lvl="0"/>
            <a:r>
              <a:rPr lang="en-US" sz="1400" dirty="0" smtClean="0"/>
              <a:t>Malaysia</a:t>
            </a:r>
          </a:p>
          <a:p>
            <a:pPr lvl="0"/>
            <a:r>
              <a:rPr lang="en-US" sz="1400" dirty="0" smtClean="0"/>
              <a:t>Thailand</a:t>
            </a:r>
          </a:p>
          <a:p>
            <a:pPr lvl="0"/>
            <a:r>
              <a:rPr lang="en-US" sz="1400" dirty="0" smtClean="0"/>
              <a:t>Malaya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3228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3114</TotalTime>
  <Words>1635</Words>
  <Application>Microsoft Office PowerPoint</Application>
  <PresentationFormat>On-screen Show (4:3)</PresentationFormat>
  <Paragraphs>566</Paragraphs>
  <Slides>48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5_シック</vt:lpstr>
      <vt:lpstr>Office Theme</vt:lpstr>
      <vt:lpstr>Default Design</vt:lpstr>
      <vt:lpstr>100 kh¨v wewkó m`i nvmcvZvj, wSbvB`n</vt:lpstr>
      <vt:lpstr>PowerPoint Presentation</vt:lpstr>
      <vt:lpstr>MCH Profile of Jhenaidah District- 2017</vt:lpstr>
      <vt:lpstr>A district level Hospital with a Vision …</vt:lpstr>
      <vt:lpstr>PowerPoint Presentation</vt:lpstr>
      <vt:lpstr>PowerPoint Presentation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PowerPoint Presentation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Situation of the hospital in May 2012 -1</vt:lpstr>
      <vt:lpstr>Situation of the hospital in May 2012 -2</vt:lpstr>
      <vt:lpstr>Situation of the hospital in May 2012 -3</vt:lpstr>
      <vt:lpstr>How we overcome the challenges</vt:lpstr>
      <vt:lpstr>How we overcome the challenges -2</vt:lpstr>
      <vt:lpstr>How we overcome the challenges -3</vt:lpstr>
      <vt:lpstr>How we overcome the challenges -4</vt:lpstr>
      <vt:lpstr>PowerPoint Presentation</vt:lpstr>
      <vt:lpstr>Problems of Sadar Hospital-1</vt:lpstr>
      <vt:lpstr>Problems of Sadar Hospital-2 </vt:lpstr>
      <vt:lpstr>Awards &amp; Appreciations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457</cp:revision>
  <cp:lastPrinted>2017-03-18T23:47:54Z</cp:lastPrinted>
  <dcterms:created xsi:type="dcterms:W3CDTF">2013-05-05T09:56:19Z</dcterms:created>
  <dcterms:modified xsi:type="dcterms:W3CDTF">2018-05-09T23:42:51Z</dcterms:modified>
</cp:coreProperties>
</file>