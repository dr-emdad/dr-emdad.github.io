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  <p:sldMasterId id="2147484052" r:id="rId5"/>
    <p:sldMasterId id="2147484068" r:id="rId6"/>
    <p:sldMasterId id="2147484084" r:id="rId7"/>
  </p:sldMasterIdLst>
  <p:notesMasterIdLst>
    <p:notesMasterId r:id="rId72"/>
  </p:notesMasterIdLst>
  <p:sldIdLst>
    <p:sldId id="331" r:id="rId8"/>
    <p:sldId id="345" r:id="rId9"/>
    <p:sldId id="367" r:id="rId10"/>
    <p:sldId id="332" r:id="rId11"/>
    <p:sldId id="376" r:id="rId12"/>
    <p:sldId id="401" r:id="rId13"/>
    <p:sldId id="402" r:id="rId14"/>
    <p:sldId id="368" r:id="rId15"/>
    <p:sldId id="374" r:id="rId16"/>
    <p:sldId id="341" r:id="rId17"/>
    <p:sldId id="334" r:id="rId18"/>
    <p:sldId id="337" r:id="rId19"/>
    <p:sldId id="338" r:id="rId20"/>
    <p:sldId id="403" r:id="rId21"/>
    <p:sldId id="339" r:id="rId22"/>
    <p:sldId id="404" r:id="rId23"/>
    <p:sldId id="340" r:id="rId24"/>
    <p:sldId id="405" r:id="rId25"/>
    <p:sldId id="386" r:id="rId26"/>
    <p:sldId id="385" r:id="rId27"/>
    <p:sldId id="388" r:id="rId28"/>
    <p:sldId id="343" r:id="rId29"/>
    <p:sldId id="256" r:id="rId30"/>
    <p:sldId id="360" r:id="rId31"/>
    <p:sldId id="361" r:id="rId32"/>
    <p:sldId id="359" r:id="rId33"/>
    <p:sldId id="326" r:id="rId34"/>
    <p:sldId id="327" r:id="rId35"/>
    <p:sldId id="328" r:id="rId36"/>
    <p:sldId id="352" r:id="rId37"/>
    <p:sldId id="351" r:id="rId38"/>
    <p:sldId id="346" r:id="rId39"/>
    <p:sldId id="362" r:id="rId40"/>
    <p:sldId id="369" r:id="rId41"/>
    <p:sldId id="287" r:id="rId42"/>
    <p:sldId id="288" r:id="rId43"/>
    <p:sldId id="290" r:id="rId44"/>
    <p:sldId id="291" r:id="rId45"/>
    <p:sldId id="292" r:id="rId46"/>
    <p:sldId id="308" r:id="rId47"/>
    <p:sldId id="323" r:id="rId48"/>
    <p:sldId id="312" r:id="rId49"/>
    <p:sldId id="366" r:id="rId50"/>
    <p:sldId id="363" r:id="rId51"/>
    <p:sldId id="364" r:id="rId52"/>
    <p:sldId id="370" r:id="rId53"/>
    <p:sldId id="372" r:id="rId54"/>
    <p:sldId id="371" r:id="rId55"/>
    <p:sldId id="297" r:id="rId56"/>
    <p:sldId id="293" r:id="rId57"/>
    <p:sldId id="294" r:id="rId58"/>
    <p:sldId id="330" r:id="rId59"/>
    <p:sldId id="389" r:id="rId60"/>
    <p:sldId id="390" r:id="rId61"/>
    <p:sldId id="391" r:id="rId62"/>
    <p:sldId id="392" r:id="rId63"/>
    <p:sldId id="393" r:id="rId64"/>
    <p:sldId id="394" r:id="rId65"/>
    <p:sldId id="395" r:id="rId66"/>
    <p:sldId id="396" r:id="rId67"/>
    <p:sldId id="399" r:id="rId68"/>
    <p:sldId id="400" r:id="rId69"/>
    <p:sldId id="398" r:id="rId70"/>
    <p:sldId id="344" r:id="rId7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02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401216"/>
        <c:axId val="217402752"/>
      </c:barChart>
      <c:catAx>
        <c:axId val="217401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7402752"/>
        <c:crosses val="autoZero"/>
        <c:auto val="1"/>
        <c:lblAlgn val="ctr"/>
        <c:lblOffset val="100"/>
        <c:noMultiLvlLbl val="0"/>
      </c:catAx>
      <c:valAx>
        <c:axId val="2174027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74012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360640"/>
        <c:axId val="217374720"/>
      </c:barChart>
      <c:catAx>
        <c:axId val="21736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7374720"/>
        <c:crosses val="autoZero"/>
        <c:auto val="1"/>
        <c:lblAlgn val="ctr"/>
        <c:lblOffset val="100"/>
        <c:noMultiLvlLbl val="0"/>
      </c:catAx>
      <c:valAx>
        <c:axId val="2173747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736064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17089920"/>
        <c:axId val="217091456"/>
        <c:axId val="0"/>
      </c:bar3DChart>
      <c:catAx>
        <c:axId val="217089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091456"/>
        <c:crosses val="autoZero"/>
        <c:auto val="1"/>
        <c:lblAlgn val="ctr"/>
        <c:lblOffset val="100"/>
        <c:noMultiLvlLbl val="0"/>
      </c:catAx>
      <c:valAx>
        <c:axId val="217091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0899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223168"/>
        <c:axId val="217224704"/>
      </c:barChart>
      <c:catAx>
        <c:axId val="2172231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224704"/>
        <c:crosses val="autoZero"/>
        <c:auto val="1"/>
        <c:lblAlgn val="ctr"/>
        <c:lblOffset val="100"/>
        <c:noMultiLvlLbl val="0"/>
      </c:catAx>
      <c:valAx>
        <c:axId val="217224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2231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299200"/>
        <c:axId val="217313280"/>
      </c:barChart>
      <c:catAx>
        <c:axId val="21729920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313280"/>
        <c:crosses val="autoZero"/>
        <c:auto val="1"/>
        <c:lblAlgn val="ctr"/>
        <c:lblOffset val="100"/>
        <c:noMultiLvlLbl val="0"/>
      </c:catAx>
      <c:valAx>
        <c:axId val="2173132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2992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17769472"/>
        <c:axId val="217771008"/>
        <c:axId val="0"/>
      </c:bar3DChart>
      <c:catAx>
        <c:axId val="217769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7771008"/>
        <c:crosses val="autoZero"/>
        <c:auto val="1"/>
        <c:lblAlgn val="ctr"/>
        <c:lblOffset val="100"/>
        <c:noMultiLvlLbl val="0"/>
      </c:catAx>
      <c:valAx>
        <c:axId val="21777100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17769472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4/25/2018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DB715A5-4E61-477B-B704-EE88266FC04A}" type="slidenum">
              <a:rPr lang="en-US">
                <a:solidFill>
                  <a:prstClr val="black"/>
                </a:solidFill>
              </a:rPr>
              <a:pPr eaLnBrk="1" hangingPunct="1"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394826D-A9C4-4BA0-A87A-E9ABADA5E2DC}" type="slidenum">
              <a:rPr lang="en-US">
                <a:solidFill>
                  <a:srgbClr val="000000"/>
                </a:solidFill>
              </a:rPr>
              <a:pPr eaLnBrk="1" hangingPunct="1"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49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2E3C9E-3939-4A8F-BBFD-C7262509DA66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365DA7-1AB3-4591-9A15-206B1C243C5B}" type="slidenum">
              <a:rPr lang="en-US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9AF92-867A-466E-BC2E-768F9ED70BBF}" type="slidenum">
              <a:rPr lang="en-US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52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64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4/25/2018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7844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9064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2828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567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7154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9981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969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8830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022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1639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9959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047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2787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968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507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149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828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9366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1645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1989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127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6261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3724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7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843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863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600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204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8716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4929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002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836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144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2205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820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898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1258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5983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8765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52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205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9420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2327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6888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2018/4/25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2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8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  <p:sldLayoutId id="2147484096" r:id="rId12"/>
    <p:sldLayoutId id="2147484097" r:id="rId13"/>
    <p:sldLayoutId id="2147484098" r:id="rId14"/>
    <p:sldLayoutId id="2147484099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6.pn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2.jpeg"/><Relationship Id="rId4" Type="http://schemas.openxmlformats.org/officeDocument/2006/relationships/image" Target="../media/image8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jpeg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8.jpeg"/><Relationship Id="rId4" Type="http://schemas.openxmlformats.org/officeDocument/2006/relationships/image" Target="../media/image9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2.jpeg"/><Relationship Id="rId4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6.jpeg"/><Relationship Id="rId4" Type="http://schemas.openxmlformats.org/officeDocument/2006/relationships/image" Target="../media/image105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gIps428Ic" TargetMode="External"/><Relationship Id="rId2" Type="http://schemas.openxmlformats.org/officeDocument/2006/relationships/hyperlink" Target="https://www.unicef.org/bangladesh/media_4795.htm" TargetMode="Externa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91947" y="990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347" y="23987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469257"/>
              </p:ext>
            </p:extLst>
          </p:nvPr>
        </p:nvGraphicFramePr>
        <p:xfrm>
          <a:off x="148988" y="1105771"/>
          <a:ext cx="8894763" cy="464296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of MCH services 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Health Complex, </a:t>
            </a:r>
            <a:r>
              <a:rPr lang="en-US" sz="2800" b="1" dirty="0" err="1" smtClean="0"/>
              <a:t>Jessore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9530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1800" b="1" u="sng" smtClean="0"/>
              <a:t>from January 1995 to 1997 </a:t>
            </a:r>
            <a:r>
              <a:rPr lang="en-US" sz="1800" b="1" u="sng" smtClean="0">
                <a:solidFill>
                  <a:srgbClr val="0000FF"/>
                </a:solidFill>
              </a:rPr>
              <a:t>JICA</a:t>
            </a:r>
            <a:r>
              <a:rPr lang="en-US" sz="1800" b="1" u="sng" smtClean="0"/>
              <a:t> helped us by Frontline MCH Program to implement the program by giving technical and logistic supports. Since 1998 </a:t>
            </a:r>
            <a:r>
              <a:rPr lang="en-US" sz="1800" b="1" u="sng" smtClean="0">
                <a:solidFill>
                  <a:srgbClr val="0000FF"/>
                </a:solidFill>
              </a:rPr>
              <a:t>DGHS</a:t>
            </a:r>
            <a:r>
              <a:rPr lang="en-US" sz="1800" b="1" u="sng" smtClean="0"/>
              <a:t> &amp; </a:t>
            </a:r>
            <a:r>
              <a:rPr lang="en-US" sz="1800" b="1" u="sng" smtClean="0">
                <a:solidFill>
                  <a:srgbClr val="0000FF"/>
                </a:solidFill>
              </a:rPr>
              <a:t>UNICEF</a:t>
            </a:r>
            <a:r>
              <a:rPr lang="en-US" sz="1800" b="1" u="sng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u="sng" smtClean="0"/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u="sng" smtClean="0"/>
              <a:t>support.</a:t>
            </a:r>
            <a:endParaRPr lang="en-US" sz="1800" b="1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ANC-Corner</a:t>
            </a:r>
            <a:r>
              <a:rPr lang="en-US" sz="1800" b="1" smtClean="0"/>
              <a:t> – leaded by female Medical Officer for pregnant mother for effective ANC services who receive TT immunization in the Health Complex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Basic EOC service</a:t>
            </a:r>
            <a:r>
              <a:rPr lang="en-US" sz="1800" b="1" smtClean="0"/>
              <a:t> by a Gyne &amp; Obs. trained MO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Under 5 corner for under 5 children</a:t>
            </a:r>
            <a:r>
              <a:rPr lang="en-US" sz="1800" b="1" smtClean="0"/>
              <a:t> for their nutritional assessment and treatment by RMO.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Monthly birth and death record</a:t>
            </a:r>
            <a:r>
              <a:rPr lang="en-US" sz="1800" b="1" smtClean="0"/>
              <a:t> by specially developed format by health assistant throughout the Upazilla to asses the progress of maternal and child health status by health indicators supervised by UH&amp;FPO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smtClean="0"/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In 2004, 2005, 2006, 2007 , 2008, 2009, 2010,2011 &amp; 2012 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err="1" smtClean="0"/>
              <a:t>Chowgacha</a:t>
            </a:r>
            <a:r>
              <a:rPr lang="en-US" sz="1600" b="1" dirty="0" smtClean="0"/>
              <a:t> health complex Model is replicable through out the country. Declared by Dr. Margaret Chan, D.G. WHO on 8</a:t>
            </a:r>
            <a:r>
              <a:rPr lang="en-US" sz="1600" b="1" baseline="30000" dirty="0" smtClean="0"/>
              <a:t>th</a:t>
            </a:r>
            <a:r>
              <a:rPr lang="en-US" sz="1600" b="1" dirty="0" smtClean="0"/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Major Killer Disease (diabetes, hypertension, cancer, RTA &amp; poisoning)  prevention program starts in  1</a:t>
            </a:r>
            <a:r>
              <a:rPr lang="en-US" sz="1600" b="1" baseline="30000" dirty="0" smtClean="0"/>
              <a:t>st</a:t>
            </a:r>
            <a:r>
              <a:rPr lang="en-US" sz="1600" b="1" dirty="0" smtClean="0"/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TQM activates starts in July 2011 by the support of JICA.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62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Progress Of EOC Activities based on UN Process Indicators</a:t>
            </a:r>
            <a:r>
              <a:rPr lang="en-US" sz="440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41325" y="2246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18708" name="Group 276"/>
          <p:cNvGraphicFramePr>
            <a:graphicFrameLocks noGrp="1"/>
          </p:cNvGraphicFramePr>
          <p:nvPr>
            <p:ph sz="half" idx="2"/>
          </p:nvPr>
        </p:nvGraphicFramePr>
        <p:xfrm>
          <a:off x="715963" y="1905000"/>
          <a:ext cx="8047037" cy="4075114"/>
        </p:xfrm>
        <a:graphic>
          <a:graphicData uri="http://schemas.openxmlformats.org/drawingml/2006/table">
            <a:tbl>
              <a:tblPr/>
              <a:tblGrid>
                <a:gridCol w="469900"/>
                <a:gridCol w="2349500"/>
                <a:gridCol w="914400"/>
                <a:gridCol w="609600"/>
                <a:gridCol w="685800"/>
                <a:gridCol w="762000"/>
                <a:gridCol w="774700"/>
                <a:gridCol w="801687"/>
                <a:gridCol w="679450"/>
              </a:tblGrid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 of UN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Pregnancy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5270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5793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Hospital delivery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3755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4413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Caesarian section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473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death in health Complex.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of birth in health Complex.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&gt;15%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Met-need for EmOC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92.1%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175 %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263%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of all births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22.5%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9900"/>
                          </a:solidFill>
                          <a:effectLst/>
                          <a:latin typeface="Arial" charset="0"/>
                          <a:cs typeface="Arial" charset="0"/>
                        </a:rPr>
                        <a:t>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5-15%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Case Fatality Rate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0.44%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.13%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0.38%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92" name="Text Box 108"/>
          <p:cNvSpPr txBox="1">
            <a:spLocks noChangeArrowheads="1"/>
          </p:cNvSpPr>
          <p:nvPr/>
        </p:nvSpPr>
        <p:spPr bwMode="auto">
          <a:xfrm>
            <a:off x="914400" y="5943600"/>
            <a:ext cx="715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mtClean="0">
                <a:solidFill>
                  <a:srgbClr val="669900"/>
                </a:solidFill>
              </a:rPr>
              <a:t>*</a:t>
            </a:r>
            <a:r>
              <a:rPr lang="en-US" smtClean="0">
                <a:solidFill>
                  <a:srgbClr val="000000"/>
                </a:solidFill>
              </a:rPr>
              <a:t> </a:t>
            </a:r>
            <a:r>
              <a:rPr lang="en-US" sz="1400" smtClean="0">
                <a:solidFill>
                  <a:srgbClr val="000000"/>
                </a:solidFill>
              </a:rPr>
              <a:t> Among the total delivery of Chowgacha Upazilla, the CS rate is 12.8% but CS 9.7% is </a:t>
            </a:r>
          </a:p>
          <a:p>
            <a:r>
              <a:rPr lang="en-US" sz="1400" smtClean="0">
                <a:solidFill>
                  <a:srgbClr val="000000"/>
                </a:solidFill>
              </a:rPr>
              <a:t>increased due to complicated delivery from outside this upazilla.</a:t>
            </a:r>
          </a:p>
        </p:txBody>
      </p:sp>
    </p:spTree>
    <p:extLst>
      <p:ext uri="{BB962C8B-B14F-4D97-AF65-F5344CB8AC3E}">
        <p14:creationId xmlns:p14="http://schemas.microsoft.com/office/powerpoint/2010/main" val="3766291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 smtClean="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44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sz="2800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.68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NNMR:			</a:t>
            </a:r>
            <a:r>
              <a:rPr lang="en-US" sz="2600" b="1" dirty="0" smtClean="0">
                <a:solidFill>
                  <a:srgbClr val="0000FF"/>
                </a:solidFill>
              </a:rPr>
              <a:t>   </a:t>
            </a:r>
            <a:r>
              <a:rPr lang="en-US" sz="2200" b="1" dirty="0" smtClean="0">
                <a:solidFill>
                  <a:srgbClr val="669900"/>
                </a:solidFill>
              </a:rPr>
              <a:t>18.2</a:t>
            </a:r>
            <a:r>
              <a:rPr lang="en-US" sz="2600" b="1" dirty="0" smtClean="0">
                <a:solidFill>
                  <a:srgbClr val="669900"/>
                </a:solidFill>
              </a:rPr>
              <a:t>		</a:t>
            </a:r>
            <a:r>
              <a:rPr lang="en-US" sz="2600" b="1" dirty="0" smtClean="0">
                <a:solidFill>
                  <a:srgbClr val="FF0000"/>
                </a:solidFill>
              </a:rPr>
              <a:t>  -       </a:t>
            </a:r>
            <a:r>
              <a:rPr lang="en-US" sz="2600" b="1" dirty="0" smtClean="0">
                <a:solidFill>
                  <a:srgbClr val="669900"/>
                </a:solidFill>
              </a:rPr>
              <a:t>		   </a:t>
            </a:r>
            <a:r>
              <a:rPr lang="en-US" sz="1700" b="1" dirty="0" smtClean="0">
                <a:solidFill>
                  <a:srgbClr val="0000FF"/>
                </a:solidFill>
              </a:rPr>
              <a:t>12</a:t>
            </a:r>
            <a:r>
              <a:rPr lang="en-US" sz="2600" b="1" dirty="0" smtClean="0">
                <a:solidFill>
                  <a:srgbClr val="669900"/>
                </a:solidFill>
              </a:rPr>
              <a:t>	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23.6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25.7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4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/>
              <a:t>Factors Responsible for Reduction of Maternal and Infant Mortality Rate in </a:t>
            </a:r>
            <a:r>
              <a:rPr lang="en-US" sz="2800" b="1" dirty="0" err="1"/>
              <a:t>Chowgacha</a:t>
            </a:r>
            <a:endParaRPr lang="en-US" sz="2800" b="1" dirty="0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953000"/>
          </a:xfrm>
        </p:spPr>
        <p:txBody>
          <a:bodyPr/>
          <a:lstStyle/>
          <a:p>
            <a:pPr algn="just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dirty="0">
                <a:solidFill>
                  <a:srgbClr val="0000FF"/>
                </a:solidFill>
              </a:rPr>
              <a:t>Special Activities initiated by Medical Officers in February 1996: 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dirty="0">
              <a:solidFill>
                <a:srgbClr val="0000FF"/>
              </a:solidFill>
            </a:endParaRP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Setting up </a:t>
            </a:r>
            <a:r>
              <a:rPr lang="en-US" sz="1800" b="1" dirty="0" smtClean="0">
                <a:solidFill>
                  <a:srgbClr val="0000FF"/>
                </a:solidFill>
              </a:rPr>
              <a:t> of ANC Corner &amp;final treatment should given by a  MO  initiated by a nurse 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24 hours  Com </a:t>
            </a:r>
            <a:r>
              <a:rPr lang="en-US" sz="1800" b="1" dirty="0">
                <a:solidFill>
                  <a:srgbClr val="0000FF"/>
                </a:solidFill>
              </a:rPr>
              <a:t>EOC Service</a:t>
            </a:r>
            <a:r>
              <a:rPr lang="en-US" sz="1800" b="1" dirty="0"/>
              <a:t> by a </a:t>
            </a:r>
            <a:r>
              <a:rPr lang="en-US" sz="1800" b="1" dirty="0" err="1"/>
              <a:t>Gyne</a:t>
            </a:r>
            <a:r>
              <a:rPr lang="en-US" sz="1800" b="1" dirty="0"/>
              <a:t> &amp; Obs. trained Medical </a:t>
            </a:r>
            <a:r>
              <a:rPr lang="en-US" sz="1800" b="1" dirty="0" smtClean="0"/>
              <a:t>officer.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Establishment of Under 5 Corner for under 5 children</a:t>
            </a:r>
            <a:r>
              <a:rPr lang="en-US" sz="1800" b="1" dirty="0"/>
              <a:t> for their nutritional assessment and treatment by </a:t>
            </a:r>
            <a:r>
              <a:rPr lang="en-US" sz="1800" b="1" dirty="0" smtClean="0"/>
              <a:t>MO</a:t>
            </a:r>
            <a:r>
              <a:rPr lang="en-US" sz="1800" b="1" dirty="0"/>
              <a:t>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Record Keeping of Monthly Birth and Death</a:t>
            </a:r>
            <a:r>
              <a:rPr lang="en-US" sz="1800" b="1" dirty="0"/>
              <a:t> by specially developed format by health assistant throughout the </a:t>
            </a:r>
            <a:r>
              <a:rPr lang="en-US" sz="1800" b="1" dirty="0" err="1"/>
              <a:t>Upazilla</a:t>
            </a:r>
            <a:r>
              <a:rPr lang="en-US" sz="1800" b="1" dirty="0"/>
              <a:t> supervised by </a:t>
            </a:r>
            <a:r>
              <a:rPr lang="en-US" sz="1800" b="1" dirty="0" smtClean="0"/>
              <a:t>UH&amp;FPO.</a:t>
            </a: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Health Education by MO  as per roster</a:t>
            </a:r>
            <a:r>
              <a:rPr lang="en-US" sz="1800" b="1" dirty="0" smtClean="0"/>
              <a:t> </a:t>
            </a:r>
            <a:r>
              <a:rPr lang="en-US" sz="1800" b="1" dirty="0"/>
              <a:t>among women coming for antenatal care, pregnant women and general patients and their attendants at all </a:t>
            </a:r>
            <a:r>
              <a:rPr lang="en-US" sz="1800" b="1" dirty="0" smtClean="0"/>
              <a:t>corners.</a:t>
            </a:r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 smtClean="0"/>
          </a:p>
          <a:p>
            <a:pPr algn="just"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Established </a:t>
            </a:r>
            <a:r>
              <a:rPr lang="en-US" sz="1800" b="1" dirty="0">
                <a:solidFill>
                  <a:srgbClr val="0000FF"/>
                </a:solidFill>
              </a:rPr>
              <a:t>Service Corner</a:t>
            </a:r>
            <a:r>
              <a:rPr lang="en-US" sz="1800" b="1" dirty="0"/>
              <a:t> </a:t>
            </a:r>
            <a:r>
              <a:rPr lang="en-US" sz="1800" b="1" dirty="0" smtClean="0"/>
              <a:t> </a:t>
            </a:r>
            <a:r>
              <a:rPr lang="en-US" sz="1800" b="1" dirty="0"/>
              <a:t>ANC </a:t>
            </a:r>
            <a:r>
              <a:rPr lang="en-US" sz="1800" b="1" dirty="0" err="1" smtClean="0"/>
              <a:t>corner,Under</a:t>
            </a:r>
            <a:r>
              <a:rPr lang="en-US" sz="1800" b="1" dirty="0" smtClean="0"/>
              <a:t> _5 corner, </a:t>
            </a:r>
            <a:r>
              <a:rPr lang="en-US" sz="1800" b="1" dirty="0" err="1" smtClean="0"/>
              <a:t>EPI&amp;Breast</a:t>
            </a:r>
            <a:r>
              <a:rPr lang="en-US" sz="1800" b="1" dirty="0" smtClean="0"/>
              <a:t> feeding corner, </a:t>
            </a:r>
            <a:r>
              <a:rPr lang="en-US" sz="1800" b="1" dirty="0"/>
              <a:t>ORT </a:t>
            </a:r>
            <a:r>
              <a:rPr lang="en-US" sz="1800" b="1" dirty="0" smtClean="0"/>
              <a:t>corner, Health education corner </a:t>
            </a:r>
            <a:r>
              <a:rPr lang="en-US" sz="2000" b="1" dirty="0"/>
              <a:t>.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590333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/>
              <a:t>Factors Responsible for Reduction of Maternal and Infant Mortality Rate in Chowgacha-</a:t>
            </a:r>
            <a:r>
              <a:rPr lang="en-US" sz="2800" b="1" i="1"/>
              <a:t> Contd.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7244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Maintaining all criteria for woman friendly hospital</a:t>
            </a:r>
            <a:r>
              <a:rPr lang="en-US" sz="2000" dirty="0"/>
              <a:t> 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0000FF"/>
                </a:solidFill>
              </a:rPr>
              <a:t>Separation of patient to  </a:t>
            </a:r>
            <a:r>
              <a:rPr lang="en-US" sz="2000" b="1" dirty="0">
                <a:solidFill>
                  <a:srgbClr val="0000FF"/>
                </a:solidFill>
              </a:rPr>
              <a:t>M</a:t>
            </a:r>
            <a:r>
              <a:rPr lang="en-US" sz="2000" b="1" dirty="0" smtClean="0">
                <a:solidFill>
                  <a:srgbClr val="0000FF"/>
                </a:solidFill>
              </a:rPr>
              <a:t>ale, Female</a:t>
            </a:r>
            <a:r>
              <a:rPr lang="en-US" sz="2000" b="1" smtClean="0">
                <a:solidFill>
                  <a:srgbClr val="0000FF"/>
                </a:solidFill>
              </a:rPr>
              <a:t>, Under 5 </a:t>
            </a:r>
            <a:r>
              <a:rPr lang="en-US" sz="2000" b="1" dirty="0" smtClean="0">
                <a:solidFill>
                  <a:srgbClr val="0000FF"/>
                </a:solidFill>
              </a:rPr>
              <a:t>&amp; EOC  and develop responsibility of individuals.</a:t>
            </a:r>
            <a:endParaRPr lang="en-US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 smtClean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Separation of words</a:t>
            </a:r>
            <a:r>
              <a:rPr lang="en-US" sz="2000" dirty="0" smtClean="0"/>
              <a:t> into male, female, pediatric and EOC word.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Operating Blood Bank System</a:t>
            </a:r>
            <a:r>
              <a:rPr lang="en-US" sz="2000" dirty="0"/>
              <a:t> by registered about 600 donors addresses within 1 km. radius of the hospital; 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Mobile phone in emergency, indoor, EOC</a:t>
            </a:r>
            <a:r>
              <a:rPr lang="en-US" sz="2000" dirty="0"/>
              <a:t> to provide telephonic health service facility and emergency ambulance service;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Well equipped </a:t>
            </a:r>
            <a:r>
              <a:rPr lang="en-US" sz="2000" b="1" dirty="0" smtClean="0">
                <a:solidFill>
                  <a:srgbClr val="0000FF"/>
                </a:solidFill>
              </a:rPr>
              <a:t>Emergency  department &amp; Primarily managed by MA and MO on call.</a:t>
            </a: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endParaRPr lang="en-US" sz="20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50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News of paper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  </a:t>
            </a:r>
          </a:p>
          <a:p>
            <a:pPr>
              <a:buFontTx/>
              <a:buNone/>
            </a:pPr>
            <a:endParaRPr lang="en-US" sz="600"/>
          </a:p>
        </p:txBody>
      </p:sp>
      <p:pic>
        <p:nvPicPr>
          <p:cNvPr id="193540" name="Picture 4" descr="Untitled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701800"/>
            <a:ext cx="7924800" cy="4622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96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3962400"/>
            <a:ext cx="394493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661" y="3978275"/>
            <a:ext cx="4173940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ight Arrow 9"/>
          <p:cNvSpPr>
            <a:spLocks noChangeArrowheads="1"/>
          </p:cNvSpPr>
          <p:nvPr/>
        </p:nvSpPr>
        <p:spPr bwMode="auto">
          <a:xfrm>
            <a:off x="4267200" y="5029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246063" y="39909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4876800" y="39766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</a:t>
            </a:r>
            <a:r>
              <a:rPr lang="en-US" sz="2800">
                <a:solidFill>
                  <a:schemeClr val="bg1"/>
                </a:solidFill>
              </a:rPr>
              <a:t>pediatric </a:t>
            </a:r>
            <a:r>
              <a:rPr lang="en-US" sz="2800" smtClean="0">
                <a:solidFill>
                  <a:schemeClr val="bg1"/>
                </a:solidFill>
              </a:rPr>
              <a:t>ward </a:t>
            </a:r>
            <a:r>
              <a:rPr lang="en-US" sz="2800" dirty="0">
                <a:solidFill>
                  <a:schemeClr val="bg1"/>
                </a:solidFill>
              </a:rPr>
              <a:t>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polithin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trolley man.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957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86438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Some of the none govt. workers would take charge from the patient.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Information display system was neglected.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>
              <a:buFont typeface="+mj-lt"/>
              <a:buAutoNum type="arabicPeriod" startAt="7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>
              <a:buFont typeface="+mj-lt"/>
              <a:buAutoNum type="arabicPeriod" startAt="7"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4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challenges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Problem identification. </a:t>
            </a:r>
            <a:r>
              <a:rPr lang="en-US" sz="1400" dirty="0" smtClean="0">
                <a:solidFill>
                  <a:srgbClr val="000000"/>
                </a:solidFill>
              </a:rPr>
              <a:t>*Problems of the hospital 1 &amp; 2 (Later)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 dirty="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Local administration </a:t>
            </a:r>
            <a:r>
              <a:rPr lang="en-US" sz="1400" dirty="0" smtClean="0">
                <a:solidFill>
                  <a:srgbClr val="000000"/>
                </a:solidFill>
              </a:rPr>
              <a:t>DC, </a:t>
            </a:r>
            <a:r>
              <a:rPr lang="en-US" sz="1400" dirty="0">
                <a:solidFill>
                  <a:srgbClr val="000000"/>
                </a:solidFill>
              </a:rPr>
              <a:t>ADC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Social workers, Human Rights Organizations, few NGO, 		      	      teachers, industrialists , </a:t>
            </a:r>
            <a:r>
              <a:rPr lang="en-US" sz="1400" dirty="0" smtClean="0">
                <a:solidFill>
                  <a:srgbClr val="000000"/>
                </a:solidFill>
              </a:rPr>
              <a:t>TIB .&amp; religious leaders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7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71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50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712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14300"/>
            <a:ext cx="6011863" cy="889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smtClean="0">
                <a:solidFill>
                  <a:schemeClr val="bg1"/>
                </a:solidFill>
              </a:rPr>
              <a:t>Problems</a:t>
            </a:r>
            <a:r>
              <a:rPr lang="en-US" sz="4000" b="1" smtClean="0">
                <a:solidFill>
                  <a:schemeClr val="bg1"/>
                </a:solidFill>
              </a:rPr>
              <a:t> </a:t>
            </a:r>
            <a:r>
              <a:rPr lang="en-US" sz="3200" b="1" smtClean="0">
                <a:solidFill>
                  <a:schemeClr val="bg1"/>
                </a:solidFill>
              </a:rPr>
              <a:t>of Sadar Hospital-1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8400"/>
            <a:ext cx="8229600" cy="5237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dirty="0" smtClean="0"/>
              <a:t>100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Hospital running with 50 </a:t>
            </a:r>
            <a:r>
              <a:rPr lang="en-US" sz="1400" dirty="0" err="1" smtClean="0"/>
              <a:t>beded</a:t>
            </a:r>
            <a:r>
              <a:rPr lang="en-US" sz="1400" dirty="0" smtClean="0"/>
              <a:t> manpower since 1994.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are 9 unit in hospital (wards 06, OT, Out door, Emergency) needs cleaners about 36 but there are only 6 cleaners.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</a:t>
            </a:r>
            <a:r>
              <a:rPr lang="en-US" sz="1400" dirty="0" err="1" smtClean="0"/>
              <a:t>Aya</a:t>
            </a:r>
            <a:r>
              <a:rPr lang="en-US" sz="1400" dirty="0" smtClean="0"/>
              <a:t>, Ward boy, Security guard in the Hospital.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post of indoor medical officer so hamper indoor service &amp; night rounds.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One (01) anesthesiologist working for surgery, </a:t>
            </a:r>
            <a:r>
              <a:rPr lang="en-US" sz="1400" dirty="0" err="1" smtClean="0"/>
              <a:t>gynae</a:t>
            </a:r>
            <a:r>
              <a:rPr lang="en-US" sz="1400" dirty="0" smtClean="0"/>
              <a:t>, Orthopedics, ENT, Eye, 24 hours EOC &amp; emergency service.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effective waste management system.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Condemnation board is not working regularly due to administrative problems.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Many of the instruments and </a:t>
            </a:r>
            <a:r>
              <a:rPr lang="en-US" sz="1400" dirty="0" err="1" smtClean="0"/>
              <a:t>equipments</a:t>
            </a:r>
            <a:r>
              <a:rPr lang="en-US" sz="1400" dirty="0" smtClean="0"/>
              <a:t> are not functioning due to lack of bio-technologist &amp; funds for repair. 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There is no target for indoor-outdoor patient &amp; huge number of indoor &amp; out door patient creates a heavy loads for services providers 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MIS system is weak and there is no hospital action plan.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No client satisfaction survey system.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The number of nurses is very few.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Hospital health management committee &amp; monthly co-ordination committee meeting is not perform regularly.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Female privacy is not properly maintained.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Insufficient in toilets &amp; safe drinking water supply.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Influential person influence on tenders of drugs, free cabin &amp; paying ward.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Auditing &amp; accounting system is not corruption free.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Consultants &amp; MOs are also the teacher of NTC, MATS etc. which affect hospital services. </a:t>
            </a:r>
          </a:p>
          <a:p>
            <a:pPr algn="just">
              <a:lnSpc>
                <a:spcPct val="80000"/>
              </a:lnSpc>
            </a:pPr>
            <a:r>
              <a:rPr lang="en-US" sz="1400" dirty="0" smtClean="0"/>
              <a:t>Three doctors are illegally suspended. 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7848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85800"/>
            <a:ext cx="5943600" cy="584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Problems of </a:t>
            </a:r>
            <a:r>
              <a:rPr lang="en-US" sz="3200" b="1" dirty="0" err="1" smtClean="0">
                <a:solidFill>
                  <a:schemeClr val="bg1"/>
                </a:solidFill>
              </a:rPr>
              <a:t>Sadar</a:t>
            </a:r>
            <a:r>
              <a:rPr lang="en-US" sz="3200" b="1" dirty="0" smtClean="0">
                <a:solidFill>
                  <a:schemeClr val="bg1"/>
                </a:solidFill>
              </a:rPr>
              <a:t> Hospital-2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600" dirty="0" smtClean="0"/>
          </a:p>
          <a:p>
            <a:pPr>
              <a:lnSpc>
                <a:spcPct val="90000"/>
              </a:lnSpc>
              <a:buFontTx/>
              <a:buNone/>
            </a:pPr>
            <a:endParaRPr lang="en-US" sz="1600" dirty="0" smtClean="0"/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visitor control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EPI, ORT corner, DOTS corner, VIA </a:t>
            </a:r>
            <a:r>
              <a:rPr lang="en-US" sz="1600" dirty="0" err="1" smtClean="0"/>
              <a:t>centre</a:t>
            </a:r>
            <a:r>
              <a:rPr lang="en-US" sz="1600" dirty="0" smtClean="0"/>
              <a:t>  are running  with least or no defined health personnel.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Health education systems is very poor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pediatrician in this Hospital.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are 5 beds in EOC word, which is insufficient  for 40000  pregnant mother per year in </a:t>
            </a:r>
            <a:r>
              <a:rPr lang="en-US" sz="1600" dirty="0" err="1" smtClean="0"/>
              <a:t>Jhenaidah</a:t>
            </a:r>
            <a:r>
              <a:rPr lang="en-US" sz="1600" dirty="0" smtClean="0"/>
              <a:t> District 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intercom system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IMCI corner for under 5 children 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Non health Issues  get less importance.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Scarcity of blood in emergency need. 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There is no adolescence health corner.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Total </a:t>
            </a:r>
            <a:r>
              <a:rPr lang="en-US" sz="1600" dirty="0" err="1" smtClean="0"/>
              <a:t>problame</a:t>
            </a:r>
            <a:r>
              <a:rPr lang="en-US" sz="1600" dirty="0" smtClean="0"/>
              <a:t> is 31.</a:t>
            </a:r>
          </a:p>
        </p:txBody>
      </p:sp>
    </p:spTree>
    <p:extLst>
      <p:ext uri="{BB962C8B-B14F-4D97-AF65-F5344CB8AC3E}">
        <p14:creationId xmlns:p14="http://schemas.microsoft.com/office/powerpoint/2010/main" val="28856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Awards &amp; Appreciations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           </a:t>
            </a:r>
            <a:r>
              <a:rPr lang="en-US" sz="1600" b="1" u="sng" dirty="0" smtClean="0"/>
              <a:t>Awards:</a:t>
            </a:r>
            <a:endParaRPr lang="en-US" sz="1600" dirty="0" smtClean="0"/>
          </a:p>
          <a:p>
            <a:pPr lvl="0"/>
            <a:r>
              <a:rPr lang="en-US" sz="1400" b="1" dirty="0" smtClean="0"/>
              <a:t>Community Service Award</a:t>
            </a:r>
            <a:r>
              <a:rPr lang="en-US" sz="1400" dirty="0" smtClean="0"/>
              <a:t> by OGSB in 2006. </a:t>
            </a:r>
          </a:p>
          <a:p>
            <a:pPr lvl="0"/>
            <a:r>
              <a:rPr lang="en-US" sz="1400" b="1" dirty="0" err="1" smtClean="0"/>
              <a:t>Besr</a:t>
            </a:r>
            <a:r>
              <a:rPr lang="en-US" sz="1400" b="1" dirty="0" smtClean="0"/>
              <a:t> performance Award</a:t>
            </a:r>
            <a:r>
              <a:rPr lang="en-US" sz="1400" dirty="0" smtClean="0"/>
              <a:t> by MOH &amp; FW and DGHS in 2008.</a:t>
            </a:r>
          </a:p>
          <a:p>
            <a:pPr lvl="0"/>
            <a:r>
              <a:rPr lang="en-US" sz="1400" b="1" dirty="0" smtClean="0"/>
              <a:t>Professor </a:t>
            </a:r>
            <a:r>
              <a:rPr lang="en-US" sz="1400" b="1" dirty="0" err="1" smtClean="0"/>
              <a:t>Muklechur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r>
              <a:rPr lang="en-US" sz="1400" b="1" dirty="0" smtClean="0"/>
              <a:t> Award</a:t>
            </a:r>
            <a:r>
              <a:rPr lang="en-US" sz="1400" dirty="0" smtClean="0"/>
              <a:t> by OGSB in 2010. </a:t>
            </a:r>
          </a:p>
          <a:p>
            <a:pPr lvl="0"/>
            <a:r>
              <a:rPr lang="en-US" sz="1400" b="1" dirty="0" smtClean="0"/>
              <a:t>Kaizen Role Model Award </a:t>
            </a:r>
            <a:r>
              <a:rPr lang="en-US" sz="1400" dirty="0" smtClean="0"/>
              <a:t>by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 in November 2013. </a:t>
            </a:r>
          </a:p>
          <a:p>
            <a:pPr lvl="0"/>
            <a:r>
              <a:rPr lang="en-US" sz="1400" b="1" dirty="0" smtClean="0"/>
              <a:t>Lifetime Award</a:t>
            </a:r>
            <a:r>
              <a:rPr lang="en-US" sz="1400" dirty="0" smtClean="0"/>
              <a:t> by OGSB in 2016.</a:t>
            </a:r>
          </a:p>
          <a:p>
            <a:pPr marL="0" indent="0">
              <a:buNone/>
            </a:pPr>
            <a:r>
              <a:rPr lang="en-US" sz="1400" dirty="0" smtClean="0"/>
              <a:t>           </a:t>
            </a:r>
            <a:r>
              <a:rPr lang="en-US" sz="1600" b="1" u="sng" dirty="0" smtClean="0"/>
              <a:t>Appreciations:</a:t>
            </a:r>
            <a:endParaRPr lang="en-US" sz="1600" dirty="0" smtClean="0"/>
          </a:p>
          <a:p>
            <a:pPr lvl="0"/>
            <a:r>
              <a:rPr lang="en-US" sz="1400" dirty="0" smtClean="0"/>
              <a:t>The Daily </a:t>
            </a:r>
            <a:r>
              <a:rPr lang="en-US" sz="1400" dirty="0" err="1" smtClean="0"/>
              <a:t>Prothom</a:t>
            </a:r>
            <a:r>
              <a:rPr lang="en-US" sz="1400" dirty="0" smtClean="0"/>
              <a:t> </a:t>
            </a:r>
            <a:r>
              <a:rPr lang="en-US" sz="1400" dirty="0" err="1" smtClean="0"/>
              <a:t>Alo</a:t>
            </a:r>
            <a:r>
              <a:rPr lang="en-US" sz="1400" dirty="0" smtClean="0"/>
              <a:t> – Special report in first page on 14 October 2005. </a:t>
            </a:r>
          </a:p>
          <a:p>
            <a:pPr lvl="0"/>
            <a:r>
              <a:rPr lang="en-US" sz="1400" dirty="0" err="1" smtClean="0"/>
              <a:t>Unisef</a:t>
            </a:r>
            <a:r>
              <a:rPr lang="en-US" sz="1400" dirty="0" smtClean="0"/>
              <a:t> Bangladesh report on saving mother’s life: dedication of a doctor. (Url: </a:t>
            </a:r>
            <a:r>
              <a:rPr lang="en-US" sz="1400" u="sng" dirty="0" smtClean="0">
                <a:hlinkClick r:id="rId2"/>
              </a:rPr>
              <a:t>https://www.unicef.org/bangladesh/media_4795.htm</a:t>
            </a:r>
            <a:r>
              <a:rPr lang="en-US" sz="1400" dirty="0" smtClean="0"/>
              <a:t>)</a:t>
            </a:r>
          </a:p>
          <a:p>
            <a:pPr lvl="0"/>
            <a:r>
              <a:rPr lang="en-US" sz="1400" dirty="0" smtClean="0"/>
              <a:t>Video on local </a:t>
            </a:r>
            <a:r>
              <a:rPr lang="en-US" sz="1400" dirty="0" err="1" smtClean="0"/>
              <a:t>innitiatives</a:t>
            </a:r>
            <a:r>
              <a:rPr lang="en-US" sz="1400" dirty="0" smtClean="0"/>
              <a:t> to improve service quality in a district hospital – </a:t>
            </a:r>
            <a:r>
              <a:rPr lang="en-US" sz="1400" dirty="0" err="1" smtClean="0"/>
              <a:t>Jhenaidah</a:t>
            </a:r>
            <a:r>
              <a:rPr lang="en-US" sz="1400" dirty="0" smtClean="0"/>
              <a:t> </a:t>
            </a:r>
            <a:r>
              <a:rPr lang="en-US" sz="1400" dirty="0" err="1" smtClean="0"/>
              <a:t>Sadar</a:t>
            </a:r>
            <a:r>
              <a:rPr lang="en-US" sz="1400" dirty="0" smtClean="0"/>
              <a:t> Hospital by Save The Children Bangladesh. 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Videolink</a:t>
            </a:r>
            <a:r>
              <a:rPr lang="en-US" sz="1400" dirty="0" smtClean="0"/>
              <a:t>: </a:t>
            </a:r>
            <a:r>
              <a:rPr lang="en-US" sz="1400" u="sng" dirty="0" smtClean="0">
                <a:hlinkClick r:id="rId3"/>
              </a:rPr>
              <a:t>https://www.youtube.com/watch?v=wMgIps428Ic</a:t>
            </a:r>
            <a:r>
              <a:rPr lang="en-US" sz="1400" dirty="0" smtClean="0"/>
              <a:t> )</a:t>
            </a:r>
          </a:p>
          <a:p>
            <a:pPr lvl="0"/>
            <a:r>
              <a:rPr lang="en-US" sz="1400" dirty="0" smtClean="0"/>
              <a:t>Guest Lecturer of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600" b="1" dirty="0" smtClean="0"/>
              <a:t>         </a:t>
            </a:r>
            <a:r>
              <a:rPr lang="en-US" sz="1600" b="1" u="sng" dirty="0" smtClean="0"/>
              <a:t>Experience in foreign countries</a:t>
            </a:r>
            <a:endParaRPr lang="en-US" sz="1600" u="sng" dirty="0" smtClean="0"/>
          </a:p>
          <a:p>
            <a:pPr lvl="0"/>
            <a:r>
              <a:rPr lang="en-US" sz="1400" dirty="0" smtClean="0"/>
              <a:t>Indonesia</a:t>
            </a:r>
          </a:p>
          <a:p>
            <a:pPr lvl="0"/>
            <a:r>
              <a:rPr lang="en-US" sz="1400" dirty="0" err="1" smtClean="0"/>
              <a:t>Srilanka</a:t>
            </a:r>
            <a:endParaRPr lang="en-US" sz="1400" dirty="0" smtClean="0"/>
          </a:p>
          <a:p>
            <a:pPr lvl="0"/>
            <a:r>
              <a:rPr lang="en-US" sz="1400" dirty="0" smtClean="0"/>
              <a:t>Tanzania</a:t>
            </a:r>
          </a:p>
          <a:p>
            <a:pPr lvl="0"/>
            <a:r>
              <a:rPr lang="en-US" sz="1400" dirty="0" smtClean="0"/>
              <a:t>Malaysia</a:t>
            </a:r>
          </a:p>
          <a:p>
            <a:pPr lvl="0"/>
            <a:r>
              <a:rPr lang="en-US" sz="1400" dirty="0" smtClean="0"/>
              <a:t>Thailand</a:t>
            </a:r>
          </a:p>
          <a:p>
            <a:pPr lvl="0"/>
            <a:r>
              <a:rPr lang="en-US" sz="1400" dirty="0" smtClean="0"/>
              <a:t>Malaya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228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3151</TotalTime>
  <Words>2625</Words>
  <Application>Microsoft Office PowerPoint</Application>
  <PresentationFormat>On-screen Show (4:3)</PresentationFormat>
  <Paragraphs>760</Paragraphs>
  <Slides>64</Slides>
  <Notes>23</Notes>
  <HiddenSlides>0</HiddenSlides>
  <MMClips>0</MMClips>
  <ScaleCrop>false</ScaleCrop>
  <HeadingPairs>
    <vt:vector size="6" baseType="variant"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5_シック</vt:lpstr>
      <vt:lpstr>Office Theme</vt:lpstr>
      <vt:lpstr>Default Design</vt:lpstr>
      <vt:lpstr>1_Default Design</vt:lpstr>
      <vt:lpstr>2_Default Design</vt:lpstr>
      <vt:lpstr>3_Default Design</vt:lpstr>
      <vt:lpstr>4_Default Design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Background History of MCH services of Chowgacha Health Complex, Jessore</vt:lpstr>
      <vt:lpstr>Contd.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2011 and SDG targets in 2030</vt:lpstr>
      <vt:lpstr>Factors Responsible for Reduction of Maternal and Infant Mortality Rate in Chowgacha</vt:lpstr>
      <vt:lpstr>Factors Responsible for Reduction of Maternal and Infant Mortality Rate in Chowgacha- Contd.</vt:lpstr>
      <vt:lpstr>                 News of paper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Situation of the hospital in May 2012 -1</vt:lpstr>
      <vt:lpstr>Situation of the hospital in May 2012 -2</vt:lpstr>
      <vt:lpstr>Situation of the hospital in May 2012 -3</vt:lpstr>
      <vt:lpstr>How we overcome the challenges</vt:lpstr>
      <vt:lpstr>How we overcome the challenges -2</vt:lpstr>
      <vt:lpstr>How we overcome the challenges -3</vt:lpstr>
      <vt:lpstr>How we overcome the challenges -4</vt:lpstr>
      <vt:lpstr>PowerPoint Presentation</vt:lpstr>
      <vt:lpstr>Problems of Sadar Hospital-1</vt:lpstr>
      <vt:lpstr>Problems of Sadar Hospital-2 </vt:lpstr>
      <vt:lpstr>Awards &amp; Appreciations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460</cp:revision>
  <cp:lastPrinted>2017-03-18T23:47:54Z</cp:lastPrinted>
  <dcterms:created xsi:type="dcterms:W3CDTF">2013-05-05T09:56:19Z</dcterms:created>
  <dcterms:modified xsi:type="dcterms:W3CDTF">2018-04-25T01:13:17Z</dcterms:modified>
</cp:coreProperties>
</file>