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4.xml" ContentType="application/vnd.openxmlformats-officedocument.theme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theme/theme5.xml" ContentType="application/vnd.openxmlformats-officedocument.theme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theme/theme6.xml" ContentType="application/vnd.openxmlformats-officedocument.theme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3" r:id="rId1"/>
    <p:sldMasterId id="2147483909" r:id="rId2"/>
    <p:sldMasterId id="2147484020" r:id="rId3"/>
    <p:sldMasterId id="2147484036" r:id="rId4"/>
    <p:sldMasterId id="2147484052" r:id="rId5"/>
    <p:sldMasterId id="2147484068" r:id="rId6"/>
    <p:sldMasterId id="2147484084" r:id="rId7"/>
  </p:sldMasterIdLst>
  <p:notesMasterIdLst>
    <p:notesMasterId r:id="rId72"/>
  </p:notesMasterIdLst>
  <p:sldIdLst>
    <p:sldId id="331" r:id="rId8"/>
    <p:sldId id="345" r:id="rId9"/>
    <p:sldId id="367" r:id="rId10"/>
    <p:sldId id="332" r:id="rId11"/>
    <p:sldId id="376" r:id="rId12"/>
    <p:sldId id="401" r:id="rId13"/>
    <p:sldId id="402" r:id="rId14"/>
    <p:sldId id="368" r:id="rId15"/>
    <p:sldId id="374" r:id="rId16"/>
    <p:sldId id="341" r:id="rId17"/>
    <p:sldId id="334" r:id="rId18"/>
    <p:sldId id="337" r:id="rId19"/>
    <p:sldId id="338" r:id="rId20"/>
    <p:sldId id="403" r:id="rId21"/>
    <p:sldId id="339" r:id="rId22"/>
    <p:sldId id="404" r:id="rId23"/>
    <p:sldId id="340" r:id="rId24"/>
    <p:sldId id="405" r:id="rId25"/>
    <p:sldId id="386" r:id="rId26"/>
    <p:sldId id="385" r:id="rId27"/>
    <p:sldId id="388" r:id="rId28"/>
    <p:sldId id="343" r:id="rId29"/>
    <p:sldId id="256" r:id="rId30"/>
    <p:sldId id="360" r:id="rId31"/>
    <p:sldId id="361" r:id="rId32"/>
    <p:sldId id="359" r:id="rId33"/>
    <p:sldId id="326" r:id="rId34"/>
    <p:sldId id="327" r:id="rId35"/>
    <p:sldId id="328" r:id="rId36"/>
    <p:sldId id="352" r:id="rId37"/>
    <p:sldId id="351" r:id="rId38"/>
    <p:sldId id="346" r:id="rId39"/>
    <p:sldId id="362" r:id="rId40"/>
    <p:sldId id="369" r:id="rId41"/>
    <p:sldId id="287" r:id="rId42"/>
    <p:sldId id="288" r:id="rId43"/>
    <p:sldId id="290" r:id="rId44"/>
    <p:sldId id="291" r:id="rId45"/>
    <p:sldId id="292" r:id="rId46"/>
    <p:sldId id="308" r:id="rId47"/>
    <p:sldId id="323" r:id="rId48"/>
    <p:sldId id="312" r:id="rId49"/>
    <p:sldId id="366" r:id="rId50"/>
    <p:sldId id="363" r:id="rId51"/>
    <p:sldId id="364" r:id="rId52"/>
    <p:sldId id="370" r:id="rId53"/>
    <p:sldId id="372" r:id="rId54"/>
    <p:sldId id="371" r:id="rId55"/>
    <p:sldId id="297" r:id="rId56"/>
    <p:sldId id="293" r:id="rId57"/>
    <p:sldId id="294" r:id="rId58"/>
    <p:sldId id="330" r:id="rId59"/>
    <p:sldId id="389" r:id="rId60"/>
    <p:sldId id="390" r:id="rId61"/>
    <p:sldId id="391" r:id="rId62"/>
    <p:sldId id="392" r:id="rId63"/>
    <p:sldId id="393" r:id="rId64"/>
    <p:sldId id="394" r:id="rId65"/>
    <p:sldId id="395" r:id="rId66"/>
    <p:sldId id="396" r:id="rId67"/>
    <p:sldId id="399" r:id="rId68"/>
    <p:sldId id="400" r:id="rId69"/>
    <p:sldId id="398" r:id="rId70"/>
    <p:sldId id="344" r:id="rId71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Windows User" initials="WU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C7E17"/>
    <a:srgbClr val="3EEE00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29" autoAdjust="0"/>
    <p:restoredTop sz="91815" autoAdjust="0"/>
  </p:normalViewPr>
  <p:slideViewPr>
    <p:cSldViewPr>
      <p:cViewPr>
        <p:scale>
          <a:sx n="70" d="100"/>
          <a:sy n="70" d="100"/>
        </p:scale>
        <p:origin x="-1602" y="-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86" y="3934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openxmlformats.org/officeDocument/2006/relationships/slide" Target="slides/slide32.xml"/><Relationship Id="rId21" Type="http://schemas.openxmlformats.org/officeDocument/2006/relationships/slide" Target="slides/slide14.xml"/><Relationship Id="rId34" Type="http://schemas.openxmlformats.org/officeDocument/2006/relationships/slide" Target="slides/slide27.xml"/><Relationship Id="rId42" Type="http://schemas.openxmlformats.org/officeDocument/2006/relationships/slide" Target="slides/slide35.xml"/><Relationship Id="rId47" Type="http://schemas.openxmlformats.org/officeDocument/2006/relationships/slide" Target="slides/slide40.xml"/><Relationship Id="rId50" Type="http://schemas.openxmlformats.org/officeDocument/2006/relationships/slide" Target="slides/slide43.xml"/><Relationship Id="rId55" Type="http://schemas.openxmlformats.org/officeDocument/2006/relationships/slide" Target="slides/slide48.xml"/><Relationship Id="rId63" Type="http://schemas.openxmlformats.org/officeDocument/2006/relationships/slide" Target="slides/slide56.xml"/><Relationship Id="rId68" Type="http://schemas.openxmlformats.org/officeDocument/2006/relationships/slide" Target="slides/slide61.xml"/><Relationship Id="rId76" Type="http://schemas.openxmlformats.org/officeDocument/2006/relationships/theme" Target="theme/theme1.xml"/><Relationship Id="rId7" Type="http://schemas.openxmlformats.org/officeDocument/2006/relationships/slideMaster" Target="slideMasters/slideMaster7.xml"/><Relationship Id="rId71" Type="http://schemas.openxmlformats.org/officeDocument/2006/relationships/slide" Target="slides/slide6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9" Type="http://schemas.openxmlformats.org/officeDocument/2006/relationships/slide" Target="slides/slide22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40" Type="http://schemas.openxmlformats.org/officeDocument/2006/relationships/slide" Target="slides/slide33.xml"/><Relationship Id="rId45" Type="http://schemas.openxmlformats.org/officeDocument/2006/relationships/slide" Target="slides/slide38.xml"/><Relationship Id="rId53" Type="http://schemas.openxmlformats.org/officeDocument/2006/relationships/slide" Target="slides/slide46.xml"/><Relationship Id="rId58" Type="http://schemas.openxmlformats.org/officeDocument/2006/relationships/slide" Target="slides/slide51.xml"/><Relationship Id="rId66" Type="http://schemas.openxmlformats.org/officeDocument/2006/relationships/slide" Target="slides/slide59.xml"/><Relationship Id="rId74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49" Type="http://schemas.openxmlformats.org/officeDocument/2006/relationships/slide" Target="slides/slide42.xml"/><Relationship Id="rId57" Type="http://schemas.openxmlformats.org/officeDocument/2006/relationships/slide" Target="slides/slide50.xml"/><Relationship Id="rId61" Type="http://schemas.openxmlformats.org/officeDocument/2006/relationships/slide" Target="slides/slide54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slide" Target="slides/slide24.xml"/><Relationship Id="rId44" Type="http://schemas.openxmlformats.org/officeDocument/2006/relationships/slide" Target="slides/slide37.xml"/><Relationship Id="rId52" Type="http://schemas.openxmlformats.org/officeDocument/2006/relationships/slide" Target="slides/slide45.xml"/><Relationship Id="rId60" Type="http://schemas.openxmlformats.org/officeDocument/2006/relationships/slide" Target="slides/slide53.xml"/><Relationship Id="rId65" Type="http://schemas.openxmlformats.org/officeDocument/2006/relationships/slide" Target="slides/slide58.xml"/><Relationship Id="rId73" Type="http://schemas.openxmlformats.org/officeDocument/2006/relationships/commentAuthors" Target="commentAuthor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43" Type="http://schemas.openxmlformats.org/officeDocument/2006/relationships/slide" Target="slides/slide36.xml"/><Relationship Id="rId48" Type="http://schemas.openxmlformats.org/officeDocument/2006/relationships/slide" Target="slides/slide41.xml"/><Relationship Id="rId56" Type="http://schemas.openxmlformats.org/officeDocument/2006/relationships/slide" Target="slides/slide49.xml"/><Relationship Id="rId64" Type="http://schemas.openxmlformats.org/officeDocument/2006/relationships/slide" Target="slides/slide57.xml"/><Relationship Id="rId69" Type="http://schemas.openxmlformats.org/officeDocument/2006/relationships/slide" Target="slides/slide62.xml"/><Relationship Id="rId77" Type="http://schemas.openxmlformats.org/officeDocument/2006/relationships/tableStyles" Target="tableStyles.xml"/><Relationship Id="rId8" Type="http://schemas.openxmlformats.org/officeDocument/2006/relationships/slide" Target="slides/slide1.xml"/><Relationship Id="rId51" Type="http://schemas.openxmlformats.org/officeDocument/2006/relationships/slide" Target="slides/slide44.xml"/><Relationship Id="rId72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slide" Target="slides/slide31.xml"/><Relationship Id="rId46" Type="http://schemas.openxmlformats.org/officeDocument/2006/relationships/slide" Target="slides/slide39.xml"/><Relationship Id="rId59" Type="http://schemas.openxmlformats.org/officeDocument/2006/relationships/slide" Target="slides/slide52.xml"/><Relationship Id="rId67" Type="http://schemas.openxmlformats.org/officeDocument/2006/relationships/slide" Target="slides/slide60.xml"/><Relationship Id="rId20" Type="http://schemas.openxmlformats.org/officeDocument/2006/relationships/slide" Target="slides/slide13.xml"/><Relationship Id="rId41" Type="http://schemas.openxmlformats.org/officeDocument/2006/relationships/slide" Target="slides/slide34.xml"/><Relationship Id="rId54" Type="http://schemas.openxmlformats.org/officeDocument/2006/relationships/slide" Target="slides/slide47.xml"/><Relationship Id="rId62" Type="http://schemas.openxmlformats.org/officeDocument/2006/relationships/slide" Target="slides/slide55.xml"/><Relationship Id="rId70" Type="http://schemas.openxmlformats.org/officeDocument/2006/relationships/slide" Target="slides/slide63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31"/>
    </mc:Choice>
    <mc:Fallback>
      <c:style val="31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Bed Occupacy Rate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Sheet1!$A$2:$A$7</c:f>
              <c:numCache>
                <c:formatCode>General</c:formatCode>
                <c:ptCount val="6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</c:numCache>
            </c:numRef>
          </c:cat>
          <c:val>
            <c:numRef>
              <c:f>Sheet1!$B$2:$B$7</c:f>
              <c:numCache>
                <c:formatCode>0%</c:formatCode>
                <c:ptCount val="6"/>
                <c:pt idx="0">
                  <c:v>1.26</c:v>
                </c:pt>
                <c:pt idx="1">
                  <c:v>1.46</c:v>
                </c:pt>
                <c:pt idx="2">
                  <c:v>1.65</c:v>
                </c:pt>
                <c:pt idx="3">
                  <c:v>1.93</c:v>
                </c:pt>
                <c:pt idx="4">
                  <c:v>2.14</c:v>
                </c:pt>
                <c:pt idx="5">
                  <c:v>2.42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62809344"/>
        <c:axId val="162811264"/>
      </c:barChart>
      <c:catAx>
        <c:axId val="16280934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62811264"/>
        <c:crosses val="autoZero"/>
        <c:auto val="1"/>
        <c:lblAlgn val="ctr"/>
        <c:lblOffset val="100"/>
        <c:noMultiLvlLbl val="0"/>
      </c:catAx>
      <c:valAx>
        <c:axId val="162811264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16280934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2141903990973091"/>
          <c:y val="4.4409667541557306E-2"/>
          <c:w val="0.65834289989452255"/>
          <c:h val="0.8447524059492563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Emergency &amp; Outdoors</c:v>
                </c:pt>
              </c:strCache>
            </c:strRef>
          </c:tx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Sheet1!$A$2:$A$8</c:f>
              <c:numCache>
                <c:formatCode>General</c:formatCode>
                <c:ptCount val="7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</c:numCache>
            </c:numRef>
          </c:cat>
          <c:val>
            <c:numRef>
              <c:f>Sheet1!$B$2:$B$8</c:f>
              <c:numCache>
                <c:formatCode>General</c:formatCode>
                <c:ptCount val="7"/>
                <c:pt idx="0">
                  <c:v>81796</c:v>
                </c:pt>
                <c:pt idx="1">
                  <c:v>170854</c:v>
                </c:pt>
                <c:pt idx="2">
                  <c:v>192791</c:v>
                </c:pt>
                <c:pt idx="3">
                  <c:v>233868</c:v>
                </c:pt>
                <c:pt idx="4">
                  <c:v>277301</c:v>
                </c:pt>
                <c:pt idx="5">
                  <c:v>296235</c:v>
                </c:pt>
                <c:pt idx="6">
                  <c:v>340932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Indoor</c:v>
                </c:pt>
              </c:strCache>
            </c:strRef>
          </c:tx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Sheet1!$A$2:$A$8</c:f>
              <c:numCache>
                <c:formatCode>General</c:formatCode>
                <c:ptCount val="7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</c:numCache>
            </c:numRef>
          </c:cat>
          <c:val>
            <c:numRef>
              <c:f>Sheet1!$C$2:$C$8</c:f>
              <c:numCache>
                <c:formatCode>General</c:formatCode>
                <c:ptCount val="7"/>
                <c:pt idx="0">
                  <c:v>12973</c:v>
                </c:pt>
                <c:pt idx="1">
                  <c:v>22435</c:v>
                </c:pt>
                <c:pt idx="2">
                  <c:v>24643</c:v>
                </c:pt>
                <c:pt idx="3">
                  <c:v>27905</c:v>
                </c:pt>
                <c:pt idx="4">
                  <c:v>29562</c:v>
                </c:pt>
                <c:pt idx="5">
                  <c:v>32300</c:v>
                </c:pt>
                <c:pt idx="6">
                  <c:v>35569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4841728"/>
        <c:axId val="204843264"/>
      </c:barChart>
      <c:catAx>
        <c:axId val="2048417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204843264"/>
        <c:crosses val="autoZero"/>
        <c:auto val="1"/>
        <c:lblAlgn val="ctr"/>
        <c:lblOffset val="100"/>
        <c:noMultiLvlLbl val="0"/>
      </c:catAx>
      <c:valAx>
        <c:axId val="204843264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04841728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8443483700051508"/>
          <c:y val="0.42290223097112861"/>
          <c:w val="0.20621936860696152"/>
          <c:h val="0.27641776027996501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27"/>
    </mc:Choice>
    <mc:Fallback>
      <c:style val="27"/>
    </mc:Fallback>
  </mc:AlternateContent>
  <c:chart>
    <c:autoTitleDeleted val="1"/>
    <c:view3D>
      <c:rotX val="0"/>
      <c:rotY val="0"/>
      <c:depthPercent val="150"/>
      <c:rAngAx val="0"/>
      <c:perspective val="0"/>
    </c:view3D>
    <c:floor>
      <c:thickness val="0"/>
    </c:floor>
    <c:sideWall>
      <c:thickness val="0"/>
    </c:sideWall>
    <c:backWall>
      <c:thickness val="0"/>
    </c:backWall>
    <c:plotArea>
      <c:layout>
        <c:manualLayout>
          <c:layoutTarget val="inner"/>
          <c:xMode val="edge"/>
          <c:yMode val="edge"/>
          <c:x val="0.10934240566213921"/>
          <c:y val="5.0614472425046991E-2"/>
          <c:w val="0.87051107128595528"/>
          <c:h val="0.83049790530628376"/>
        </c:manualLayout>
      </c:layout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Major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Pt>
            <c:idx val="1"/>
            <c:invertIfNegative val="0"/>
            <c:bubble3D val="0"/>
            <c:spPr>
              <a:gradFill rotWithShape="1">
                <a:gsLst>
                  <a:gs pos="0">
                    <a:schemeClr val="accent1">
                      <a:shade val="51000"/>
                      <a:satMod val="130000"/>
                    </a:schemeClr>
                  </a:gs>
                  <a:gs pos="80000">
                    <a:schemeClr val="accent1">
                      <a:shade val="93000"/>
                      <a:satMod val="130000"/>
                    </a:schemeClr>
                  </a:gs>
                  <a:gs pos="100000">
                    <a:schemeClr val="accent1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</c:dPt>
          <c:dLbls>
            <c:dLbl>
              <c:idx val="0"/>
              <c:layout>
                <c:manualLayout>
                  <c:x val="4.494116857551923E-3"/>
                  <c:y val="-5.577249645360904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1.9565363278453828E-3"/>
                  <c:y val="-4.439834707345655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-1.3819792412312097E-3"/>
                  <c:y val="-4.267819329372340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layout>
                <c:manualLayout>
                  <c:x val="-4.5897458840372229E-3"/>
                  <c:y val="-5.220040706399950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layout>
                <c:manualLayout>
                  <c:x val="2.7922557265569075E-3"/>
                  <c:y val="-3.440677617647663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Sheet1!$A$2:$A$8</c:f>
              <c:numCache>
                <c:formatCode>General</c:formatCode>
                <c:ptCount val="7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</c:numCache>
            </c:numRef>
          </c:cat>
          <c:val>
            <c:numRef>
              <c:f>Sheet1!$B$2:$B$8</c:f>
              <c:numCache>
                <c:formatCode>General</c:formatCode>
                <c:ptCount val="7"/>
                <c:pt idx="0">
                  <c:v>780</c:v>
                </c:pt>
                <c:pt idx="1">
                  <c:v>977</c:v>
                </c:pt>
                <c:pt idx="2">
                  <c:v>1294</c:v>
                </c:pt>
                <c:pt idx="3">
                  <c:v>1339</c:v>
                </c:pt>
                <c:pt idx="4">
                  <c:v>1582</c:v>
                </c:pt>
                <c:pt idx="5">
                  <c:v>1383</c:v>
                </c:pt>
                <c:pt idx="6">
                  <c:v>1578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cylinder"/>
        <c:axId val="213406080"/>
        <c:axId val="213407616"/>
        <c:axId val="0"/>
      </c:bar3DChart>
      <c:catAx>
        <c:axId val="21340608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213407616"/>
        <c:crosses val="autoZero"/>
        <c:auto val="1"/>
        <c:lblAlgn val="ctr"/>
        <c:lblOffset val="100"/>
        <c:noMultiLvlLbl val="0"/>
      </c:catAx>
      <c:valAx>
        <c:axId val="21340761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213406080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0-28 days</c:v>
                </c:pt>
              </c:strCache>
            </c:strRef>
          </c:tx>
          <c:invertIfNegative val="0"/>
          <c:dLbls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Sheet1!$A$2:$A$5</c:f>
              <c:numCache>
                <c:formatCode>General</c:formatCode>
                <c:ptCount val="4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709</c:v>
                </c:pt>
                <c:pt idx="1">
                  <c:v>766</c:v>
                </c:pt>
                <c:pt idx="2">
                  <c:v>835</c:v>
                </c:pt>
                <c:pt idx="3">
                  <c:v>876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29 days-1 year</c:v>
                </c:pt>
              </c:strCache>
            </c:strRef>
          </c:tx>
          <c:invertIfNegative val="0"/>
          <c:dLbls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Sheet1!$A$2:$A$5</c:f>
              <c:numCache>
                <c:formatCode>General</c:formatCode>
                <c:ptCount val="4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</c:numCache>
            </c:numRef>
          </c:cat>
          <c:val>
            <c:numRef>
              <c:f>Sheet1!$C$2:$C$5</c:f>
              <c:numCache>
                <c:formatCode>General</c:formatCode>
                <c:ptCount val="4"/>
                <c:pt idx="0">
                  <c:v>1127</c:v>
                </c:pt>
                <c:pt idx="1">
                  <c:v>923</c:v>
                </c:pt>
                <c:pt idx="2">
                  <c:v>1595</c:v>
                </c:pt>
                <c:pt idx="3">
                  <c:v>1493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1 – 5 years</c:v>
                </c:pt>
              </c:strCache>
            </c:strRef>
          </c:tx>
          <c:invertIfNegative val="0"/>
          <c:dLbls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Sheet1!$A$2:$A$5</c:f>
              <c:numCache>
                <c:formatCode>General</c:formatCode>
                <c:ptCount val="4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</c:numCache>
            </c:numRef>
          </c:cat>
          <c:val>
            <c:numRef>
              <c:f>Sheet1!$D$2:$D$5</c:f>
              <c:numCache>
                <c:formatCode>General</c:formatCode>
                <c:ptCount val="4"/>
                <c:pt idx="0">
                  <c:v>848</c:v>
                </c:pt>
                <c:pt idx="1">
                  <c:v>806</c:v>
                </c:pt>
                <c:pt idx="2">
                  <c:v>1123</c:v>
                </c:pt>
                <c:pt idx="3">
                  <c:v>1297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Total Admission</c:v>
                </c:pt>
              </c:strCache>
            </c:strRef>
          </c:tx>
          <c:invertIfNegative val="0"/>
          <c:dLbls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Sheet1!$A$2:$A$5</c:f>
              <c:numCache>
                <c:formatCode>General</c:formatCode>
                <c:ptCount val="4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</c:numCache>
            </c:numRef>
          </c:cat>
          <c:val>
            <c:numRef>
              <c:f>Sheet1!$E$2:$E$5</c:f>
              <c:numCache>
                <c:formatCode>General</c:formatCode>
                <c:ptCount val="4"/>
                <c:pt idx="0">
                  <c:v>2684</c:v>
                </c:pt>
                <c:pt idx="1">
                  <c:v>2495</c:v>
                </c:pt>
                <c:pt idx="2">
                  <c:v>3553</c:v>
                </c:pt>
                <c:pt idx="3">
                  <c:v>3666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5161984"/>
        <c:axId val="205163520"/>
      </c:barChart>
      <c:catAx>
        <c:axId val="20516198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205163520"/>
        <c:crosses val="autoZero"/>
        <c:auto val="1"/>
        <c:lblAlgn val="ctr"/>
        <c:lblOffset val="100"/>
        <c:noMultiLvlLbl val="0"/>
      </c:catAx>
      <c:valAx>
        <c:axId val="20516352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205161984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8314925161381854"/>
          <c:y val="0.34423591178275209"/>
          <c:w val="0.20784173937717243"/>
          <c:h val="0.46305371917534455"/>
        </c:manualLayout>
      </c:layout>
      <c:overlay val="0"/>
      <c:txPr>
        <a:bodyPr/>
        <a:lstStyle/>
        <a:p>
          <a:pPr>
            <a:defRPr b="1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031265189073588"/>
          <c:y val="3.6443293946503759E-2"/>
          <c:w val="0.64635972586759993"/>
          <c:h val="0.7815105868077136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ANC 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0"/>
                  <c:y val="1.683619596536692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15360</c:v>
                </c:pt>
                <c:pt idx="1">
                  <c:v>12178</c:v>
                </c:pt>
                <c:pt idx="2">
                  <c:v>6977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 Section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7.716049382716049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1.3888888888888888E-2"/>
                  <c:y val="8.418097982683463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1.2345679012345678E-2"/>
                  <c:y val="5.61206532178897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1143</c:v>
                </c:pt>
                <c:pt idx="1">
                  <c:v>1778</c:v>
                </c:pt>
                <c:pt idx="2">
                  <c:v>1228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NVD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0"/>
                  <c:y val="-2.525429394805039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2.3148148148148206E-2"/>
                  <c:y val="-6.734478386146770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3.0864197530864196E-3"/>
                  <c:y val="-3.086635926983936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1854</c:v>
                </c:pt>
                <c:pt idx="1">
                  <c:v>1189</c:v>
                </c:pt>
                <c:pt idx="2">
                  <c:v>1455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Total Del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3.0864197530864482E-3"/>
                  <c:y val="-1.964222862626141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1.8518397005929815E-2"/>
                  <c:y val="-3.647842459162834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0"/>
                  <c:y val="-2.806032660894488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2997</c:v>
                </c:pt>
                <c:pt idx="1">
                  <c:v>2967</c:v>
                </c:pt>
                <c:pt idx="2">
                  <c:v>2683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15663744"/>
        <c:axId val="215665280"/>
      </c:barChart>
      <c:catAx>
        <c:axId val="21566374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215665280"/>
        <c:crosses val="autoZero"/>
        <c:auto val="1"/>
        <c:lblAlgn val="ctr"/>
        <c:lblOffset val="100"/>
        <c:noMultiLvlLbl val="0"/>
      </c:catAx>
      <c:valAx>
        <c:axId val="21566528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215663744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4948624477495873"/>
          <c:y val="0.37195288604878124"/>
          <c:w val="0.14578327014678721"/>
          <c:h val="0.31152795548704221"/>
        </c:manualLayout>
      </c:layout>
      <c:overlay val="0"/>
      <c:txPr>
        <a:bodyPr/>
        <a:lstStyle/>
        <a:p>
          <a:pPr>
            <a:defRPr b="1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0"/>
      <c:rotY val="0"/>
      <c:depthPercent val="100"/>
      <c:rAngAx val="1"/>
    </c:view3D>
    <c:floor>
      <c:thickness val="0"/>
    </c:floor>
    <c:sideWall>
      <c:thickness val="0"/>
    </c:sideWall>
    <c:backWall>
      <c:thickness val="0"/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dLbls>
            <c:txPr>
              <a:bodyPr/>
              <a:lstStyle/>
              <a:p>
                <a:pPr>
                  <a:defRPr b="1">
                    <a:solidFill>
                      <a:schemeClr val="accent1">
                        <a:lumMod val="75000"/>
                      </a:schemeClr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Sheet1!$A$2:$A$4</c:f>
              <c:numCache>
                <c:formatCode>General</c:formatCode>
                <c:ptCount val="3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</c:numCache>
            </c:numRef>
          </c:cat>
          <c:val>
            <c:numRef>
              <c:f>Sheet1!$B$2:$B$4</c:f>
              <c:numCache>
                <c:formatCode>#,##0</c:formatCode>
                <c:ptCount val="3"/>
                <c:pt idx="0">
                  <c:v>6044975</c:v>
                </c:pt>
                <c:pt idx="1">
                  <c:v>6330758</c:v>
                </c:pt>
                <c:pt idx="2">
                  <c:v>7059560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35"/>
        <c:gapDepth val="228"/>
        <c:shape val="cylinder"/>
        <c:axId val="215253376"/>
        <c:axId val="215254912"/>
        <c:axId val="0"/>
      </c:bar3DChart>
      <c:catAx>
        <c:axId val="21525337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215254912"/>
        <c:crosses val="autoZero"/>
        <c:auto val="1"/>
        <c:lblAlgn val="ctr"/>
        <c:lblOffset val="100"/>
        <c:noMultiLvlLbl val="0"/>
      </c:catAx>
      <c:valAx>
        <c:axId val="215254912"/>
        <c:scaling>
          <c:orientation val="minMax"/>
        </c:scaling>
        <c:delete val="0"/>
        <c:axPos val="l"/>
        <c:majorGridlines/>
        <c:numFmt formatCode="#,##0" sourceLinked="1"/>
        <c:majorTickMark val="out"/>
        <c:minorTickMark val="none"/>
        <c:tickLblPos val="nextTo"/>
        <c:txPr>
          <a:bodyPr/>
          <a:lstStyle/>
          <a:p>
            <a:pPr>
              <a:defRPr b="1">
                <a:solidFill>
                  <a:schemeClr val="tx2"/>
                </a:solidFill>
              </a:defRPr>
            </a:pPr>
            <a:endParaRPr lang="en-US"/>
          </a:p>
        </c:txPr>
        <c:crossAx val="215253376"/>
        <c:crosses val="autoZero"/>
        <c:crossBetween val="between"/>
      </c:valAx>
      <c:spPr>
        <a:noFill/>
        <a:ln w="25386">
          <a:noFill/>
        </a:ln>
      </c:spPr>
    </c:plotArea>
    <c:plotVisOnly val="1"/>
    <c:dispBlanksAs val="gap"/>
    <c:showDLblsOverMax val="0"/>
  </c:chart>
  <c:txPr>
    <a:bodyPr/>
    <a:lstStyle/>
    <a:p>
      <a:pPr>
        <a:defRPr sz="1797"/>
      </a:pPr>
      <a:endParaRPr lang="en-US"/>
    </a:p>
  </c:txPr>
  <c:externalData r:id="rId1">
    <c:autoUpdate val="0"/>
  </c:externalData>
</c:chartSpac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CB19E7A0-DBE5-4599-AA41-7EF8BE594351}" type="datetimeFigureOut">
              <a:rPr lang="en-US"/>
              <a:pPr>
                <a:defRPr/>
              </a:pPr>
              <a:t>3/3/2018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5B36F5E-8ADC-4553-AFDF-0075743DECD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31381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 smtClean="0"/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66DE5D76-C7F9-4E73-8FF9-746B2A4AD456}" type="slidenum">
              <a:rPr lang="en-US" smtClean="0"/>
              <a:pPr/>
              <a:t>2</a:t>
            </a:fld>
            <a:endParaRPr lang="en-US" dirty="0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E1CFFC81-D30A-48BE-844E-591ABC2E2AC9}" type="slidenum">
              <a:rPr lang="en-US" smtClean="0">
                <a:solidFill>
                  <a:srgbClr val="000000"/>
                </a:solidFill>
              </a:rPr>
              <a:pPr/>
              <a:t>4</a:t>
            </a:fld>
            <a:endParaRPr lang="en-US" dirty="0" smtClean="0">
              <a:solidFill>
                <a:srgbClr val="000000"/>
              </a:solidFill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57066" indent="-291179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64717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30604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96491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DF6B1B4C-4C59-4A03-B638-CFBAD9815A28}" type="slidenum">
              <a:rPr lang="en-US">
                <a:solidFill>
                  <a:prstClr val="black"/>
                </a:solidFill>
              </a:rPr>
              <a:pPr eaLnBrk="1" hangingPunct="1"/>
              <a:t>6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0024" y="697230"/>
            <a:ext cx="4670354" cy="3484537"/>
          </a:xfrm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2664" y="4415790"/>
            <a:ext cx="5605074" cy="418338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57066" indent="-291179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64717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30604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96491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D368612D-96C9-46AB-852D-A011AE381F4F}" type="slidenum">
              <a:rPr lang="en-US">
                <a:solidFill>
                  <a:prstClr val="black"/>
                </a:solidFill>
              </a:rPr>
              <a:pPr eaLnBrk="1" hangingPunct="1"/>
              <a:t>7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2688" y="696913"/>
            <a:ext cx="4645025" cy="3484562"/>
          </a:xfrm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2664" y="4415790"/>
            <a:ext cx="5605074" cy="418338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795245E5-9100-4885-8E70-993AA1DC8825}" type="slidenum">
              <a:rPr lang="en-US" smtClean="0">
                <a:solidFill>
                  <a:srgbClr val="000000"/>
                </a:solidFill>
              </a:rPr>
              <a:pPr/>
              <a:t>10</a:t>
            </a:fld>
            <a:endParaRPr lang="en-US" dirty="0" smtClean="0">
              <a:solidFill>
                <a:srgbClr val="000000"/>
              </a:solidFill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 smtClean="0"/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3A337629-D36D-49E4-ACBA-6A81B0F14D58}" type="slidenum">
              <a:rPr lang="en-US" smtClean="0">
                <a:solidFill>
                  <a:srgbClr val="000000"/>
                </a:solidFill>
              </a:rPr>
              <a:pPr/>
              <a:t>11</a:t>
            </a:fld>
            <a:endParaRPr lang="en-US" dirty="0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700088"/>
            <a:ext cx="4645025" cy="34829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16425"/>
            <a:ext cx="5603875" cy="4181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700088"/>
            <a:ext cx="4645025" cy="34829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16425"/>
            <a:ext cx="5603875" cy="4181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57066" indent="-291179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64717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30604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96491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ADB715A5-4E61-477B-B704-EE88266FC04A}" type="slidenum">
              <a:rPr lang="en-US">
                <a:solidFill>
                  <a:prstClr val="black"/>
                </a:solidFill>
              </a:rPr>
              <a:pPr eaLnBrk="1" hangingPunct="1"/>
              <a:t>14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0024" y="697230"/>
            <a:ext cx="4670354" cy="3484537"/>
          </a:xfrm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2664" y="4415790"/>
            <a:ext cx="5605074" cy="418338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2A4FD03C-E954-4298-9799-2404B990A5D5}" type="slidenum">
              <a:rPr lang="en-US" smtClean="0">
                <a:solidFill>
                  <a:srgbClr val="000000"/>
                </a:solidFill>
              </a:rPr>
              <a:pPr/>
              <a:t>15</a:t>
            </a:fld>
            <a:endParaRPr lang="en-US" dirty="0" smtClean="0">
              <a:solidFill>
                <a:srgbClr val="000000"/>
              </a:solidFill>
            </a:endParaRPr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5025" cy="3484562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16425"/>
            <a:ext cx="5603875" cy="41830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57066" indent="-291179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64717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30604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96491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A57E1DA7-249B-46DE-8F30-D77A6589D084}" type="slidenum">
              <a:rPr lang="en-US">
                <a:solidFill>
                  <a:srgbClr val="000000"/>
                </a:solidFill>
              </a:rPr>
              <a:pPr eaLnBrk="1" hangingPunct="1"/>
              <a:t>16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0024" y="697230"/>
            <a:ext cx="4670354" cy="3484537"/>
          </a:xfrm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2664" y="4415790"/>
            <a:ext cx="5605074" cy="418338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57066" indent="-291179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64717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30604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96491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B394826D-A9C4-4BA0-A87A-E9ABADA5E2DC}" type="slidenum">
              <a:rPr lang="en-US">
                <a:solidFill>
                  <a:srgbClr val="000000"/>
                </a:solidFill>
              </a:rPr>
              <a:pPr eaLnBrk="1" hangingPunct="1"/>
              <a:t>18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1100" y="695325"/>
            <a:ext cx="4648200" cy="3486150"/>
          </a:xfrm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2664" y="4415790"/>
            <a:ext cx="5605074" cy="418499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82E3C9E-3939-4A8F-BBFD-C7262509DA66}" type="slidenum">
              <a:rPr lang="en-US">
                <a:solidFill>
                  <a:prstClr val="black"/>
                </a:solidFill>
              </a:rPr>
              <a:pPr/>
              <a:t>19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221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2688" y="696913"/>
            <a:ext cx="4645025" cy="3484562"/>
          </a:xfrm>
          <a:ln/>
        </p:spPr>
      </p:sp>
      <p:sp>
        <p:nvSpPr>
          <p:cNvPr id="2211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2664" y="4415790"/>
            <a:ext cx="5605074" cy="4183380"/>
          </a:xfr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0365DA7-1AB3-4591-9A15-206B1C243C5B}" type="slidenum">
              <a:rPr lang="en-US">
                <a:solidFill>
                  <a:prstClr val="black"/>
                </a:solidFill>
              </a:rPr>
              <a:pPr/>
              <a:t>20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2232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2688" y="696913"/>
            <a:ext cx="4645025" cy="3484562"/>
          </a:xfrm>
          <a:ln/>
        </p:spPr>
      </p:sp>
      <p:sp>
        <p:nvSpPr>
          <p:cNvPr id="2232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2664" y="4415790"/>
            <a:ext cx="5605074" cy="4183380"/>
          </a:xfr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CC9AF92-867A-466E-BC2E-768F9ED70BBF}" type="slidenum">
              <a:rPr lang="en-US">
                <a:solidFill>
                  <a:prstClr val="black"/>
                </a:solidFill>
              </a:rPr>
              <a:pPr/>
              <a:t>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194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0024" y="697230"/>
            <a:ext cx="4670354" cy="3484537"/>
          </a:xfrm>
          <a:ln/>
        </p:spPr>
      </p:sp>
      <p:sp>
        <p:nvSpPr>
          <p:cNvPr id="194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2664" y="4415790"/>
            <a:ext cx="5605074" cy="418338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06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90005B86-5533-402D-BA49-C1AC2C357B9B}" type="slidenum">
              <a:rPr lang="en-US" smtClean="0">
                <a:solidFill>
                  <a:srgbClr val="000000"/>
                </a:solidFill>
              </a:rPr>
              <a:pPr/>
              <a:t>33</a:t>
            </a:fld>
            <a:endParaRPr lang="en-US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B36F5E-8ADC-4553-AFDF-0075743DECD4}" type="slidenum">
              <a:rPr lang="en-US" smtClean="0"/>
              <a:pPr>
                <a:defRPr/>
              </a:pPr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42040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27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5F89CEDC-CC36-4240-A8E3-18CC66A39448}" type="slidenum">
              <a:rPr lang="en-US" smtClean="0"/>
              <a:pPr/>
              <a:t>52</a:t>
            </a:fld>
            <a:endParaRPr lang="en-US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 txBox="1">
            <a:spLocks noGrp="1" noChangeArrowheads="1"/>
          </p:cNvSpPr>
          <p:nvPr/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eaLnBrk="1" hangingPunct="1"/>
            <a:fld id="{38240DB7-E1FF-45BD-8373-B35F370C8A8C}" type="slidenum">
              <a:rPr lang="en-US" sz="1200">
                <a:solidFill>
                  <a:srgbClr val="000000"/>
                </a:solidFill>
              </a:rPr>
              <a:pPr algn="r" eaLnBrk="1" hangingPunct="1"/>
              <a:t>64</a:t>
            </a:fld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角丸四角形 14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角丸四角形 9"/>
          <p:cNvSpPr/>
          <p:nvPr/>
        </p:nvSpPr>
        <p:spPr>
          <a:xfrm>
            <a:off x="418596" y="434162"/>
            <a:ext cx="8306809" cy="3108960"/>
          </a:xfrm>
          <a:prstGeom prst="roundRect">
            <a:avLst>
              <a:gd name="adj" fmla="val 4578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5" name="タイトル 4"/>
          <p:cNvSpPr>
            <a:spLocks noGrp="1"/>
          </p:cNvSpPr>
          <p:nvPr>
            <p:ph type="ctrTitle"/>
          </p:nvPr>
        </p:nvSpPr>
        <p:spPr>
          <a:xfrm>
            <a:off x="722376" y="1820206"/>
            <a:ext cx="7772400" cy="1828800"/>
          </a:xfrm>
        </p:spPr>
        <p:txBody>
          <a:bodyPr lIns="45720" rIns="45720" bIns="45720"/>
          <a:lstStyle>
            <a:lvl1pPr algn="r">
              <a:defRPr sz="4500" b="1">
                <a:solidFill>
                  <a:schemeClr val="accent1">
                    <a:tint val="88000"/>
                    <a:satMod val="150000"/>
                  </a:schemeClr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</a:defRPr>
            </a:lvl1pPr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20" name="サブタイトル 19"/>
          <p:cNvSpPr>
            <a:spLocks noGrp="1"/>
          </p:cNvSpPr>
          <p:nvPr>
            <p:ph type="subTitle" idx="1"/>
          </p:nvPr>
        </p:nvSpPr>
        <p:spPr>
          <a:xfrm>
            <a:off x="722376" y="3685032"/>
            <a:ext cx="7772400" cy="914400"/>
          </a:xfrm>
        </p:spPr>
        <p:txBody>
          <a:bodyPr tIns="0"/>
          <a:lstStyle>
            <a:lvl1pPr marL="36576" indent="0" algn="r">
              <a:spcBef>
                <a:spcPts val="0"/>
              </a:spcBef>
              <a:buNone/>
              <a:defRPr sz="2000">
                <a:solidFill>
                  <a:schemeClr val="bg2">
                    <a:shade val="2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ja-JP" altLang="en-US" smtClean="0"/>
              <a:t>マスタ サブタイトルの書式設定</a:t>
            </a:r>
            <a:endParaRPr lang="en-US"/>
          </a:p>
        </p:txBody>
      </p:sp>
      <p:sp>
        <p:nvSpPr>
          <p:cNvPr id="7" name="日付プレースホルダ 1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8F423E39-EC46-4B87-9157-92D4019721E3}" type="datetimeFigureOut">
              <a:rPr lang="ja-JP" altLang="en-US"/>
              <a:pPr>
                <a:defRPr/>
              </a:pPr>
              <a:t>2018/3/3</a:t>
            </a:fld>
            <a:endParaRPr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9" name="スライド番号プレースホルダ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668B281E-05FA-4A3F-87CB-6F2DBFB0E332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608696370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502920" y="530352"/>
            <a:ext cx="8183880" cy="4187952"/>
          </a:xfrm>
        </p:spPr>
        <p:txBody>
          <a:bodyPr/>
          <a:lstStyle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4F0A4B03-A037-4479-A95E-9F890E943F1D}" type="datetimeFigureOut">
              <a:rPr lang="ja-JP" altLang="en-US"/>
              <a:pPr>
                <a:defRPr/>
              </a:pPr>
              <a:t>2018/3/3</a:t>
            </a:fld>
            <a:endParaRPr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1305691A-773F-4752-A63A-0306B2347D03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775176660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角丸四角形 13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5" name="角丸四角形 10"/>
          <p:cNvSpPr/>
          <p:nvPr/>
        </p:nvSpPr>
        <p:spPr>
          <a:xfrm>
            <a:off x="418596" y="434162"/>
            <a:ext cx="8306809" cy="4341329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68344" y="4928616"/>
            <a:ext cx="8183880" cy="676656"/>
          </a:xfrm>
        </p:spPr>
        <p:txBody>
          <a:bodyPr lIns="91440" bIns="0"/>
          <a:lstStyle>
            <a:lvl1pPr algn="l">
              <a:buNone/>
              <a:defRPr sz="3600" b="0" cap="none" baseline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68344" y="5624484"/>
            <a:ext cx="8183880" cy="420624"/>
          </a:xfrm>
        </p:spPr>
        <p:txBody>
          <a:bodyPr lIns="118872" tIns="0"/>
          <a:lstStyle>
            <a:lvl1pPr marL="0" marR="36576" indent="0" algn="l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accent1">
                    <a:shade val="50000"/>
                    <a:satMod val="110000"/>
                  </a:schemeClr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6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80A492C7-9BF5-407B-9BEB-4402C24C4E0E}" type="datetimeFigureOut">
              <a:rPr lang="ja-JP" altLang="en-US"/>
              <a:pPr>
                <a:defRPr/>
              </a:pPr>
              <a:t>2018/3/3</a:t>
            </a:fld>
            <a:endParaRPr lang="ja-JP" altLang="en-US"/>
          </a:p>
        </p:txBody>
      </p:sp>
      <p:sp>
        <p:nvSpPr>
          <p:cNvPr id="7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8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F1A22980-DD61-414F-B1BB-0DD8FA6FC176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086232344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514352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755360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4709EC0F-9618-4BA0-97B5-480E39F24805}" type="datetimeFigureOut">
              <a:rPr lang="ja-JP" altLang="en-US"/>
              <a:pPr>
                <a:defRPr/>
              </a:pPr>
              <a:t>2018/3/3</a:t>
            </a:fld>
            <a:endParaRPr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5ED81223-A624-438C-A394-98C2ADE1D72F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119066942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>
            <a:lvl1pPr>
              <a:defRPr b="1"/>
            </a:lvl1pPr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607224" y="579438"/>
            <a:ext cx="3931920" cy="792162"/>
          </a:xfrm>
        </p:spPr>
        <p:txBody>
          <a:bodyPr lIns="146304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3"/>
          </p:nvPr>
        </p:nvSpPr>
        <p:spPr>
          <a:xfrm>
            <a:off x="4652169" y="579438"/>
            <a:ext cx="3931920" cy="792162"/>
          </a:xfrm>
        </p:spPr>
        <p:txBody>
          <a:bodyPr lIns="137160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5" name="コンテンツ プレースホルダ 4"/>
          <p:cNvSpPr>
            <a:spLocks noGrp="1"/>
          </p:cNvSpPr>
          <p:nvPr>
            <p:ph sz="quarter" idx="2"/>
          </p:nvPr>
        </p:nvSpPr>
        <p:spPr>
          <a:xfrm>
            <a:off x="607224" y="1447800"/>
            <a:ext cx="3931920" cy="3489960"/>
          </a:xfrm>
        </p:spPr>
        <p:txBody>
          <a:bodyPr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52169" y="1447800"/>
            <a:ext cx="3931920" cy="3489960"/>
          </a:xfrm>
        </p:spPr>
        <p:txBody>
          <a:bodyPr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62610355-3AB5-4CFB-BF1E-7F71F0A50339}" type="datetimeFigureOut">
              <a:rPr lang="ja-JP" altLang="en-US"/>
              <a:pPr>
                <a:defRPr/>
              </a:pPr>
              <a:t>2018/3/3</a:t>
            </a:fld>
            <a:endParaRPr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FE793E15-B530-4520-8CD7-8B5C5E2BDF89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506851586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6CDBDD60-69F8-4F1D-B6DC-C055790BA01B}" type="datetimeFigureOut">
              <a:rPr lang="ja-JP" altLang="en-US"/>
              <a:pPr>
                <a:defRPr/>
              </a:pPr>
              <a:t>2018/3/3</a:t>
            </a:fld>
            <a:endParaRPr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A517AC1C-C325-4039-B14B-4CB98637DDA0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190179391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角丸四角形 6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3" name="日付プレースホル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BBCACF58-10DC-4662-B41E-DBC9A69CE3C7}" type="datetimeFigureOut">
              <a:rPr lang="ja-JP" altLang="en-US"/>
              <a:pPr>
                <a:defRPr/>
              </a:pPr>
              <a:t>2018/3/3</a:t>
            </a:fld>
            <a:endParaRPr lang="ja-JP" altLang="en-US"/>
          </a:p>
        </p:txBody>
      </p:sp>
      <p:sp>
        <p:nvSpPr>
          <p:cNvPr id="4" name="フッター プレースホル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C24655F0-8969-4363-944D-6F8C7F78DCFA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610277185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538784" y="533400"/>
            <a:ext cx="2971800" cy="914400"/>
          </a:xfrm>
        </p:spPr>
        <p:txBody>
          <a:bodyPr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2"/>
          </p:nvPr>
        </p:nvSpPr>
        <p:spPr>
          <a:xfrm>
            <a:off x="5538847" y="1447802"/>
            <a:ext cx="2971800" cy="4206112"/>
          </a:xfrm>
        </p:spPr>
        <p:txBody>
          <a:bodyPr lIns="91440"/>
          <a:lstStyle>
            <a:lvl1pPr marL="18288" marR="18288" indent="0"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>
              <a:buNone/>
              <a:defRPr sz="1200">
                <a:solidFill>
                  <a:schemeClr val="tx1"/>
                </a:solidFill>
              </a:defRPr>
            </a:lvl2pPr>
            <a:lvl3pPr>
              <a:buNone/>
              <a:defRPr sz="1000">
                <a:solidFill>
                  <a:schemeClr val="tx1"/>
                </a:solidFill>
              </a:defRPr>
            </a:lvl3pPr>
            <a:lvl4pPr>
              <a:buNone/>
              <a:defRPr sz="900">
                <a:solidFill>
                  <a:schemeClr val="tx1"/>
                </a:solidFill>
              </a:defRPr>
            </a:lvl4pPr>
            <a:lvl5pPr>
              <a:buNone/>
              <a:defRPr sz="900">
                <a:solidFill>
                  <a:schemeClr val="tx1"/>
                </a:solidFill>
              </a:defRPr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1"/>
          </p:nvPr>
        </p:nvSpPr>
        <p:spPr>
          <a:xfrm>
            <a:off x="761372" y="930144"/>
            <a:ext cx="4626159" cy="4724402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600"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  <a:lvl6pPr>
              <a:buNone/>
              <a:defRPr/>
            </a:lvl6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BB087666-013F-4FDA-BEFA-0D52CB0B933D}" type="datetimeFigureOut">
              <a:rPr lang="ja-JP" altLang="en-US"/>
              <a:pPr>
                <a:defRPr/>
              </a:pPr>
              <a:t>2018/3/3</a:t>
            </a:fld>
            <a:endParaRPr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42257595-CDAE-4E4E-8D2A-48072503B9A9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497322747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角丸四角形 14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1 つの角を丸めた四角形 10"/>
          <p:cNvSpPr/>
          <p:nvPr/>
        </p:nvSpPr>
        <p:spPr>
          <a:xfrm>
            <a:off x="6400800" y="433388"/>
            <a:ext cx="2324100" cy="4343400"/>
          </a:xfrm>
          <a:prstGeom prst="round1Rect">
            <a:avLst>
              <a:gd name="adj" fmla="val 2748"/>
            </a:avLst>
          </a:prstGeom>
          <a:solidFill>
            <a:srgbClr val="1C1C1C"/>
          </a:soli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5012056"/>
            <a:ext cx="8229600" cy="1051560"/>
          </a:xfrm>
        </p:spPr>
        <p:txBody>
          <a:bodyPr anchor="t"/>
          <a:lstStyle>
            <a:lvl1pPr algn="l">
              <a:buNone/>
              <a:defRPr sz="3600" b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 bwMode="grayWhite">
          <a:xfrm>
            <a:off x="6462712" y="533400"/>
            <a:ext cx="2240280" cy="4211480"/>
          </a:xfrm>
        </p:spPr>
        <p:txBody>
          <a:bodyPr lIns="91440"/>
          <a:lstStyle>
            <a:lvl1pPr marL="45720" indent="0" algn="l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>
                <a:solidFill>
                  <a:srgbClr val="FFFFFF"/>
                </a:solidFill>
              </a:defRPr>
            </a:lvl2pPr>
            <a:lvl3pPr>
              <a:defRPr sz="1000">
                <a:solidFill>
                  <a:srgbClr val="FFFFFF"/>
                </a:solidFill>
              </a:defRPr>
            </a:lvl3pPr>
            <a:lvl4pPr>
              <a:defRPr sz="900">
                <a:solidFill>
                  <a:srgbClr val="FFFFFF"/>
                </a:solidFill>
              </a:defRPr>
            </a:lvl4pPr>
            <a:lvl5pPr>
              <a:defRPr sz="900">
                <a:solidFill>
                  <a:srgbClr val="FFFFFF"/>
                </a:solidFill>
              </a:defRPr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421480" y="435768"/>
            <a:ext cx="5925312" cy="4343400"/>
          </a:xfrm>
          <a:prstGeom prst="snipRoundRect">
            <a:avLst>
              <a:gd name="adj1" fmla="val 1040"/>
              <a:gd name="adj2" fmla="val 0"/>
            </a:avLst>
          </a:prstGeom>
          <a:solidFill>
            <a:schemeClr val="bg2">
              <a:shade val="1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extLst/>
          </a:lstStyle>
          <a:p>
            <a:pPr lvl="0"/>
            <a:r>
              <a:rPr lang="ja-JP" altLang="en-US" noProof="0" smtClean="0"/>
              <a:t>アイコンをクリックして図を追加</a:t>
            </a:r>
            <a:endParaRPr lang="en-US" noProof="0" dirty="0"/>
          </a:p>
        </p:txBody>
      </p:sp>
      <p:sp>
        <p:nvSpPr>
          <p:cNvPr id="7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C3A78DF4-B142-4B1F-AE36-CA2E01530601}" type="datetimeFigureOut">
              <a:rPr lang="ja-JP" altLang="en-US"/>
              <a:pPr>
                <a:defRPr/>
              </a:pPr>
              <a:t>2018/3/3</a:t>
            </a:fld>
            <a:endParaRPr lang="ja-JP" altLang="en-US"/>
          </a:p>
        </p:txBody>
      </p:sp>
      <p:sp>
        <p:nvSpPr>
          <p:cNvPr id="8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9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24CE8912-7021-44CE-93B5-24B4E497462A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443837545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502920" y="530352"/>
            <a:ext cx="8183880" cy="4187952"/>
          </a:xfrm>
        </p:spPr>
        <p:txBody>
          <a:bodyPr vert="eaVert"/>
          <a:lstStyle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A08256B4-4D99-4226-B7B7-70A96A8C0142}" type="datetimeFigureOut">
              <a:rPr lang="ja-JP" altLang="en-US"/>
              <a:pPr>
                <a:defRPr/>
              </a:pPr>
              <a:t>2018/3/3</a:t>
            </a:fld>
            <a:endParaRPr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A4231D10-4EED-4D9C-9B53-3199AADE8933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279982675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533404"/>
            <a:ext cx="1981200" cy="5257799"/>
          </a:xfrm>
        </p:spPr>
        <p:txBody>
          <a:bodyPr vert="eaVert"/>
          <a:lstStyle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533400" y="533402"/>
            <a:ext cx="5943600" cy="5257801"/>
          </a:xfrm>
        </p:spPr>
        <p:txBody>
          <a:bodyPr vert="eaVert"/>
          <a:lstStyle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02EF0357-2710-446F-8233-F225A9131398}" type="datetimeFigureOut">
              <a:rPr lang="ja-JP" altLang="en-US"/>
              <a:pPr>
                <a:defRPr/>
              </a:pPr>
              <a:t>2018/3/3</a:t>
            </a:fld>
            <a:endParaRPr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88CA1B56-A0EE-40A3-8B26-7F95EB598CFD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76098720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C528EF-78D8-49A5-809B-2599B7DD834B}" type="datetimeFigureOut">
              <a:rPr lang="en-US" altLang="en-US"/>
              <a:pPr>
                <a:defRPr/>
              </a:pPr>
              <a:t>3/3/2018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EFA2A5-5979-48A6-9408-4607D4934BE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602256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C57163-4E2A-442A-AF52-8DCCF3E5F898}" type="datetimeFigureOut">
              <a:rPr lang="en-US" altLang="en-US"/>
              <a:pPr>
                <a:defRPr/>
              </a:pPr>
              <a:t>3/3/2018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14CFB5-2CC1-45EB-A3F2-C919B0329890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027016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CADFD7-462D-4DC3-B03B-C216ECE8D47D}" type="datetimeFigureOut">
              <a:rPr lang="en-US" altLang="en-US"/>
              <a:pPr>
                <a:defRPr/>
              </a:pPr>
              <a:t>3/3/2018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1B0A13-5CDD-4B02-825E-D5B70CB11E2D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973574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CFF109-4CB5-4AAD-95FA-C87EB3E04025}" type="datetimeFigureOut">
              <a:rPr lang="en-US" altLang="en-US"/>
              <a:pPr>
                <a:defRPr/>
              </a:pPr>
              <a:t>3/3/2018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13CE82-7117-4891-B558-D1CF2158FB35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335248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BA6665-6F14-4A40-AA68-DF2D49F6DD20}" type="datetimeFigureOut">
              <a:rPr lang="en-US" altLang="en-US"/>
              <a:pPr>
                <a:defRPr/>
              </a:pPr>
              <a:t>3/3/2018</a:t>
            </a:fld>
            <a:endParaRPr lang="en-US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2395EA-16E2-485C-BE10-C0C30288CF78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044225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CFB527-45A3-4F1F-BC31-990A27D35CF4}" type="datetimeFigureOut">
              <a:rPr lang="en-US" altLang="en-US"/>
              <a:pPr>
                <a:defRPr/>
              </a:pPr>
              <a:t>3/3/2018</a:t>
            </a:fld>
            <a:endParaRPr lang="en-US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252998-14DA-4294-9809-0671B108F665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922159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20C454-2AF4-4F56-B134-15CC2881F322}" type="datetimeFigureOut">
              <a:rPr lang="en-US" altLang="en-US"/>
              <a:pPr>
                <a:defRPr/>
              </a:pPr>
              <a:t>3/3/2018</a:t>
            </a:fld>
            <a:endParaRPr lang="en-US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1FBE90-576A-469F-BB2C-57A27D47CF3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521419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80C9C6-69CB-45B7-9979-6C3E38187D0A}" type="datetimeFigureOut">
              <a:rPr lang="en-US" altLang="en-US"/>
              <a:pPr>
                <a:defRPr/>
              </a:pPr>
              <a:t>3/3/2018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BE9712-EA71-450B-AE72-6EC24D46A791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018187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E0AD57-2794-4A43-BC3A-6D6DEE633501}" type="datetimeFigureOut">
              <a:rPr lang="en-US" altLang="en-US"/>
              <a:pPr>
                <a:defRPr/>
              </a:pPr>
              <a:t>3/3/2018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B9D0AA-CDC8-41BE-AFF7-7A9CB8C401D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713506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9D4D3F-EDC6-440C-ABD2-54996654AEC4}" type="datetimeFigureOut">
              <a:rPr lang="en-US" altLang="en-US"/>
              <a:pPr>
                <a:defRPr/>
              </a:pPr>
              <a:t>3/3/2018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C68EAF-25D6-47A5-AF16-8E40A707229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86205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5DA01-3A8D-4832-86F7-58BF2CA1F9C1}" type="datetimeFigureOut">
              <a:rPr lang="en-US" altLang="en-US"/>
              <a:pPr>
                <a:defRPr/>
              </a:pPr>
              <a:t>3/3/2018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6CA87E-87C4-451A-AA13-2FDE2706BB27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73508030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12BA31-4ADC-4EA2-9C08-0E0505B50D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179544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EB2CD5-9D40-4DFB-8E5D-C6BF1A5B2BF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569369"/>
      </p:ext>
    </p:extLst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F6A3F1-EF86-44E9-81F6-A62E1C4C24EE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101676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AF727C-16E6-4F4E-956A-F96F4F070BC6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153176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EED43A-835B-4492-A31D-D41EB4AF5648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716143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BBB3D6-0CB1-4A88-915A-1500123D3BC9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121179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C161EC-C45F-401A-86E6-6370C3780173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341034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114C25-E776-484A-93AF-3BDE9E372EBE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402950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EAF602-15AF-4BE3-8427-0771CD874DFC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343342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A22FEF-D821-40E8-891A-6F3297CBE87B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773549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28A833-17A2-464E-9C8A-A006BA5EEDD6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541047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BE8E34-AD64-48C5-B806-684B2685B0A1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403497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B87796-C39E-4D7F-AC3A-ECAA87DCE9AB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071712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288955-7055-4548-BE6B-EBB131312ADF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449000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431EEF-BB93-4B18-A267-73F4980A7A70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903707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E424A4-FA87-4C6D-AD4F-E693B5E76656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566925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3D1221-FDE0-48AD-A189-3A3A6EEF549B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551107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F6A3F1-EF86-44E9-81F6-A62E1C4C24EE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893299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AF727C-16E6-4F4E-956A-F96F4F070BC6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678948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EED43A-835B-4492-A31D-D41EB4AF5648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003802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BBB3D6-0CB1-4A88-915A-1500123D3BC9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559783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C161EC-C45F-401A-86E6-6370C3780173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994685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114C25-E776-484A-93AF-3BDE9E372EBE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723653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EAF602-15AF-4BE3-8427-0771CD874DFC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361942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A22FEF-D821-40E8-891A-6F3297CBE87B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592487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28A833-17A2-464E-9C8A-A006BA5EEDD6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254874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BE8E34-AD64-48C5-B806-684B2685B0A1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888287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B87796-C39E-4D7F-AC3A-ECAA87DCE9AB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782383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288955-7055-4548-BE6B-EBB131312ADF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819108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431EEF-BB93-4B18-A267-73F4980A7A70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198269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E424A4-FA87-4C6D-AD4F-E693B5E76656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869817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3D1221-FDE0-48AD-A189-3A3A6EEF549B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96528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F6A3F1-EF86-44E9-81F6-A62E1C4C24EE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778442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AF727C-16E6-4F4E-956A-F96F4F070BC6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090644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EED43A-835B-4492-A31D-D41EB4AF5648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628283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BBB3D6-0CB1-4A88-915A-1500123D3BC9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9156748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C161EC-C45F-401A-86E6-6370C3780173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671544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114C25-E776-484A-93AF-3BDE9E372EBE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499817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EAF602-15AF-4BE3-8427-0771CD874DFC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6496909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A22FEF-D821-40E8-891A-6F3297CBE87B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9883051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28A833-17A2-464E-9C8A-A006BA5EEDD6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1502259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BE8E34-AD64-48C5-B806-684B2685B0A1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0163989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B87796-C39E-4D7F-AC3A-ECAA87DCE9AB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3995961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288955-7055-4548-BE6B-EBB131312ADF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1804757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431EEF-BB93-4B18-A267-73F4980A7A70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9278796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E424A4-FA87-4C6D-AD4F-E693B5E76656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8096803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3D1221-FDE0-48AD-A189-3A3A6EEF549B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050722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9434DE-5D5F-40EF-A475-2C8A8435DCC8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741495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4D03F0-2D78-4934-BB2D-7C19DE233CA5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7782884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375045-B0F9-4ADB-9E2A-0729109C7BFA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9093661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D049EB-5682-40BF-ADAA-C6F65144256A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816453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F8F970-B86B-445C-B1A4-0091285E03FF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6219899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49F0CC-A0FD-4B55-BCD0-DDFD5A1F5F47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5012749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C96485-ED2D-4A8D-9056-080049D6ECFA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1626162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D42230-4A56-41A5-98DD-C19772CD9584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7372456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7B15A9-92DA-4585-A364-AC7029B14FE9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87716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46EC93-A0FE-44C2-B475-C69BD9081DC5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9284314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EFA60B-CA96-4DD4-9A93-25F1AF0AE1EB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2886329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717EAA-B478-4C46-BA6C-C13AB81BBC28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0060008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340C43-F592-470E-B2C4-9D0D94AC45DC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9204682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3A6D0B-01F6-47CE-B557-9AF1994F5E75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4387163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97B31A-D1D3-459B-9B51-C4900FC89038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7449298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9434DE-5D5F-40EF-A475-2C8A8435DCC8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0400291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4D03F0-2D78-4934-BB2D-7C19DE233CA5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8683616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375045-B0F9-4ADB-9E2A-0729109C7BFA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5814471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D049EB-5682-40BF-ADAA-C6F65144256A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4622059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F8F970-B86B-445C-B1A4-0091285E03FF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9028209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49F0CC-A0FD-4B55-BCD0-DDFD5A1F5F47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1089809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C96485-ED2D-4A8D-9056-080049D6ECFA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2125830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D42230-4A56-41A5-98DD-C19772CD9584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459834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7B15A9-92DA-4585-A364-AC7029B14FE9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5987650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46EC93-A0FE-44C2-B475-C69BD9081DC5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825255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EFA60B-CA96-4DD4-9A93-25F1AF0AE1EB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5520567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717EAA-B478-4C46-BA6C-C13AB81BBC28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6194203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340C43-F592-470E-B2C4-9D0D94AC45DC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3223274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3A6D0B-01F6-47CE-B557-9AF1994F5E75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2068888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97B31A-D1D3-459B-9B51-C4900FC89038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19052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7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6" Type="http://schemas.openxmlformats.org/officeDocument/2006/relationships/theme" Target="../theme/theme3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5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slideLayout" Target="../slideLayouts/slideLayout38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51.xml"/><Relationship Id="rId2" Type="http://schemas.openxmlformats.org/officeDocument/2006/relationships/slideLayout" Target="../slideLayouts/slideLayout41.xml"/><Relationship Id="rId16" Type="http://schemas.openxmlformats.org/officeDocument/2006/relationships/theme" Target="../theme/theme4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4.xml"/><Relationship Id="rId1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53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2.xml"/><Relationship Id="rId13" Type="http://schemas.openxmlformats.org/officeDocument/2006/relationships/slideLayout" Target="../slideLayouts/slideLayout67.xml"/><Relationship Id="rId3" Type="http://schemas.openxmlformats.org/officeDocument/2006/relationships/slideLayout" Target="../slideLayouts/slideLayout57.xml"/><Relationship Id="rId7" Type="http://schemas.openxmlformats.org/officeDocument/2006/relationships/slideLayout" Target="../slideLayouts/slideLayout61.xml"/><Relationship Id="rId12" Type="http://schemas.openxmlformats.org/officeDocument/2006/relationships/slideLayout" Target="../slideLayouts/slideLayout66.xml"/><Relationship Id="rId2" Type="http://schemas.openxmlformats.org/officeDocument/2006/relationships/slideLayout" Target="../slideLayouts/slideLayout56.xml"/><Relationship Id="rId16" Type="http://schemas.openxmlformats.org/officeDocument/2006/relationships/theme" Target="../theme/theme5.xml"/><Relationship Id="rId1" Type="http://schemas.openxmlformats.org/officeDocument/2006/relationships/slideLayout" Target="../slideLayouts/slideLayout55.xml"/><Relationship Id="rId6" Type="http://schemas.openxmlformats.org/officeDocument/2006/relationships/slideLayout" Target="../slideLayouts/slideLayout60.xml"/><Relationship Id="rId11" Type="http://schemas.openxmlformats.org/officeDocument/2006/relationships/slideLayout" Target="../slideLayouts/slideLayout65.xml"/><Relationship Id="rId5" Type="http://schemas.openxmlformats.org/officeDocument/2006/relationships/slideLayout" Target="../slideLayouts/slideLayout59.xml"/><Relationship Id="rId15" Type="http://schemas.openxmlformats.org/officeDocument/2006/relationships/slideLayout" Target="../slideLayouts/slideLayout69.xml"/><Relationship Id="rId10" Type="http://schemas.openxmlformats.org/officeDocument/2006/relationships/slideLayout" Target="../slideLayouts/slideLayout64.xml"/><Relationship Id="rId4" Type="http://schemas.openxmlformats.org/officeDocument/2006/relationships/slideLayout" Target="../slideLayouts/slideLayout58.xml"/><Relationship Id="rId9" Type="http://schemas.openxmlformats.org/officeDocument/2006/relationships/slideLayout" Target="../slideLayouts/slideLayout63.xml"/><Relationship Id="rId14" Type="http://schemas.openxmlformats.org/officeDocument/2006/relationships/slideLayout" Target="../slideLayouts/slideLayout68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7.xml"/><Relationship Id="rId13" Type="http://schemas.openxmlformats.org/officeDocument/2006/relationships/slideLayout" Target="../slideLayouts/slideLayout82.xml"/><Relationship Id="rId3" Type="http://schemas.openxmlformats.org/officeDocument/2006/relationships/slideLayout" Target="../slideLayouts/slideLayout72.xml"/><Relationship Id="rId7" Type="http://schemas.openxmlformats.org/officeDocument/2006/relationships/slideLayout" Target="../slideLayouts/slideLayout76.xml"/><Relationship Id="rId12" Type="http://schemas.openxmlformats.org/officeDocument/2006/relationships/slideLayout" Target="../slideLayouts/slideLayout81.xml"/><Relationship Id="rId2" Type="http://schemas.openxmlformats.org/officeDocument/2006/relationships/slideLayout" Target="../slideLayouts/slideLayout71.xml"/><Relationship Id="rId16" Type="http://schemas.openxmlformats.org/officeDocument/2006/relationships/theme" Target="../theme/theme6.xml"/><Relationship Id="rId1" Type="http://schemas.openxmlformats.org/officeDocument/2006/relationships/slideLayout" Target="../slideLayouts/slideLayout70.xml"/><Relationship Id="rId6" Type="http://schemas.openxmlformats.org/officeDocument/2006/relationships/slideLayout" Target="../slideLayouts/slideLayout75.xml"/><Relationship Id="rId11" Type="http://schemas.openxmlformats.org/officeDocument/2006/relationships/slideLayout" Target="../slideLayouts/slideLayout80.xml"/><Relationship Id="rId5" Type="http://schemas.openxmlformats.org/officeDocument/2006/relationships/slideLayout" Target="../slideLayouts/slideLayout74.xml"/><Relationship Id="rId15" Type="http://schemas.openxmlformats.org/officeDocument/2006/relationships/slideLayout" Target="../slideLayouts/slideLayout84.xml"/><Relationship Id="rId10" Type="http://schemas.openxmlformats.org/officeDocument/2006/relationships/slideLayout" Target="../slideLayouts/slideLayout79.xml"/><Relationship Id="rId4" Type="http://schemas.openxmlformats.org/officeDocument/2006/relationships/slideLayout" Target="../slideLayouts/slideLayout73.xml"/><Relationship Id="rId9" Type="http://schemas.openxmlformats.org/officeDocument/2006/relationships/slideLayout" Target="../slideLayouts/slideLayout78.xml"/><Relationship Id="rId14" Type="http://schemas.openxmlformats.org/officeDocument/2006/relationships/slideLayout" Target="../slideLayouts/slideLayout83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2.xml"/><Relationship Id="rId13" Type="http://schemas.openxmlformats.org/officeDocument/2006/relationships/slideLayout" Target="../slideLayouts/slideLayout97.xml"/><Relationship Id="rId3" Type="http://schemas.openxmlformats.org/officeDocument/2006/relationships/slideLayout" Target="../slideLayouts/slideLayout87.xml"/><Relationship Id="rId7" Type="http://schemas.openxmlformats.org/officeDocument/2006/relationships/slideLayout" Target="../slideLayouts/slideLayout91.xml"/><Relationship Id="rId12" Type="http://schemas.openxmlformats.org/officeDocument/2006/relationships/slideLayout" Target="../slideLayouts/slideLayout96.xml"/><Relationship Id="rId2" Type="http://schemas.openxmlformats.org/officeDocument/2006/relationships/slideLayout" Target="../slideLayouts/slideLayout86.xml"/><Relationship Id="rId16" Type="http://schemas.openxmlformats.org/officeDocument/2006/relationships/theme" Target="../theme/theme7.xml"/><Relationship Id="rId1" Type="http://schemas.openxmlformats.org/officeDocument/2006/relationships/slideLayout" Target="../slideLayouts/slideLayout85.xml"/><Relationship Id="rId6" Type="http://schemas.openxmlformats.org/officeDocument/2006/relationships/slideLayout" Target="../slideLayouts/slideLayout90.xml"/><Relationship Id="rId11" Type="http://schemas.openxmlformats.org/officeDocument/2006/relationships/slideLayout" Target="../slideLayouts/slideLayout95.xml"/><Relationship Id="rId5" Type="http://schemas.openxmlformats.org/officeDocument/2006/relationships/slideLayout" Target="../slideLayouts/slideLayout89.xml"/><Relationship Id="rId15" Type="http://schemas.openxmlformats.org/officeDocument/2006/relationships/slideLayout" Target="../slideLayouts/slideLayout99.xml"/><Relationship Id="rId10" Type="http://schemas.openxmlformats.org/officeDocument/2006/relationships/slideLayout" Target="../slideLayouts/slideLayout94.xml"/><Relationship Id="rId4" Type="http://schemas.openxmlformats.org/officeDocument/2006/relationships/slideLayout" Target="../slideLayouts/slideLayout88.xml"/><Relationship Id="rId9" Type="http://schemas.openxmlformats.org/officeDocument/2006/relationships/slideLayout" Target="../slideLayouts/slideLayout93.xml"/><Relationship Id="rId14" Type="http://schemas.openxmlformats.org/officeDocument/2006/relationships/slideLayout" Target="../slideLayouts/slideLayout9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角丸四角形 6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9" name="角丸四角形 8"/>
          <p:cNvSpPr/>
          <p:nvPr/>
        </p:nvSpPr>
        <p:spPr>
          <a:xfrm>
            <a:off x="418596" y="434162"/>
            <a:ext cx="8306809" cy="5486400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3" name="タイトル プレースホルダ 12"/>
          <p:cNvSpPr>
            <a:spLocks noGrp="1"/>
          </p:cNvSpPr>
          <p:nvPr>
            <p:ph type="title"/>
          </p:nvPr>
        </p:nvSpPr>
        <p:spPr>
          <a:xfrm>
            <a:off x="503238" y="4986338"/>
            <a:ext cx="8183562" cy="1050925"/>
          </a:xfrm>
          <a:prstGeom prst="rect">
            <a:avLst/>
          </a:prstGeom>
        </p:spPr>
        <p:txBody>
          <a:bodyPr vert="horz" anchor="b">
            <a:normAutofit/>
          </a:bodyPr>
          <a:lstStyle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1031" name="テキスト プレースホルダ 3"/>
          <p:cNvSpPr>
            <a:spLocks noGrp="1"/>
          </p:cNvSpPr>
          <p:nvPr>
            <p:ph type="body" idx="1"/>
          </p:nvPr>
        </p:nvSpPr>
        <p:spPr bwMode="auto">
          <a:xfrm>
            <a:off x="503238" y="530225"/>
            <a:ext cx="8183562" cy="418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82880" tIns="9144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smtClean="0"/>
          </a:p>
        </p:txBody>
      </p:sp>
      <p:sp>
        <p:nvSpPr>
          <p:cNvPr id="25" name="日付プレースホルダ 24"/>
          <p:cNvSpPr>
            <a:spLocks noGrp="1"/>
          </p:cNvSpPr>
          <p:nvPr>
            <p:ph type="dt" sz="half" idx="2"/>
          </p:nvPr>
        </p:nvSpPr>
        <p:spPr>
          <a:xfrm>
            <a:off x="3776663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1" sz="1000">
                <a:solidFill>
                  <a:srgbClr val="E3DED1">
                    <a:shade val="50000"/>
                  </a:srgbClr>
                </a:solidFill>
                <a:latin typeface="Verdana"/>
                <a:cs typeface="+mn-cs"/>
              </a:defRPr>
            </a:lvl1pPr>
            <a:extLst/>
          </a:lstStyle>
          <a:p>
            <a:pPr>
              <a:defRPr/>
            </a:pPr>
            <a:fld id="{B60A3115-D531-4BF5-8912-0DDF8A1BF818}" type="datetimeFigureOut">
              <a:rPr lang="ja-JP" altLang="en-US"/>
              <a:pPr>
                <a:defRPr/>
              </a:pPr>
              <a:t>2018/3/3</a:t>
            </a:fld>
            <a:endParaRPr lang="ja-JP" altLang="en-US"/>
          </a:p>
        </p:txBody>
      </p:sp>
      <p:sp>
        <p:nvSpPr>
          <p:cNvPr id="18" name="フッター プレースホルダ 17"/>
          <p:cNvSpPr>
            <a:spLocks noGrp="1"/>
          </p:cNvSpPr>
          <p:nvPr>
            <p:ph type="ftr" sz="quarter" idx="3"/>
          </p:nvPr>
        </p:nvSpPr>
        <p:spPr>
          <a:xfrm>
            <a:off x="6062663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1" sz="1000">
                <a:solidFill>
                  <a:srgbClr val="E3DED1">
                    <a:shade val="50000"/>
                  </a:srgbClr>
                </a:solidFill>
                <a:latin typeface="Verdana"/>
                <a:cs typeface="+mn-cs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4"/>
          </p:nvPr>
        </p:nvSpPr>
        <p:spPr>
          <a:xfrm>
            <a:off x="8348663" y="6111875"/>
            <a:ext cx="457200" cy="365125"/>
          </a:xfrm>
          <a:prstGeom prst="rect">
            <a:avLst/>
          </a:prstGeom>
        </p:spPr>
        <p:txBody>
          <a:bodyPr vert="horz"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1" sz="1000">
                <a:solidFill>
                  <a:srgbClr val="E3DED1">
                    <a:shade val="50000"/>
                  </a:srgbClr>
                </a:solidFill>
                <a:latin typeface="Verdana"/>
                <a:cs typeface="+mn-cs"/>
              </a:defRPr>
            </a:lvl1pPr>
            <a:extLst/>
          </a:lstStyle>
          <a:p>
            <a:pPr>
              <a:defRPr/>
            </a:pPr>
            <a:fld id="{52C5264A-7754-4726-AC52-E1F06AF192FF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6" r:id="rId1"/>
    <p:sldLayoutId id="2147483997" r:id="rId2"/>
    <p:sldLayoutId id="2147483998" r:id="rId3"/>
    <p:sldLayoutId id="2147483999" r:id="rId4"/>
    <p:sldLayoutId id="2147484000" r:id="rId5"/>
    <p:sldLayoutId id="2147484001" r:id="rId6"/>
    <p:sldLayoutId id="2147484002" r:id="rId7"/>
    <p:sldLayoutId id="2147484003" r:id="rId8"/>
    <p:sldLayoutId id="2147484004" r:id="rId9"/>
    <p:sldLayoutId id="2147484005" r:id="rId10"/>
    <p:sldLayoutId id="2147484006" r:id="rId11"/>
  </p:sldLayoutIdLst>
  <p:transition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600" b="1" kern="1200">
          <a:solidFill>
            <a:srgbClr val="FF8D3E"/>
          </a:solidFill>
          <a:effectLst>
            <a:outerShdw blurRad="53975" dist="22860" dir="5400000" algn="tl" rotWithShape="0">
              <a:srgbClr val="000000">
                <a:alpha val="55000"/>
              </a:srgbClr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9pPr>
      <a:extLst/>
    </p:titleStyle>
    <p:bodyStyle>
      <a:lvl1pPr marL="265113" indent="-265113" algn="l" rtl="0" eaLnBrk="0" fontAlgn="base" hangingPunct="0">
        <a:spcBef>
          <a:spcPts val="250"/>
        </a:spcBef>
        <a:spcAft>
          <a:spcPct val="0"/>
        </a:spcAft>
        <a:buClr>
          <a:schemeClr val="accent1"/>
        </a:buClr>
        <a:buSzPct val="80000"/>
        <a:buFont typeface="Wingdings 2" pitchFamily="18" charset="2"/>
        <a:buChar char="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00025" algn="l" rtl="0" eaLnBrk="0" fontAlgn="base" hangingPunct="0">
        <a:spcBef>
          <a:spcPts val="250"/>
        </a:spcBef>
        <a:spcAft>
          <a:spcPct val="0"/>
        </a:spcAft>
        <a:buClr>
          <a:schemeClr val="accent1"/>
        </a:buClr>
        <a:buSzPct val="100000"/>
        <a:buFont typeface="Verdana" pitchFamily="34" charset="0"/>
        <a:buChar char="◦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785813" indent="-182563" algn="l" rtl="0" eaLnBrk="0" fontAlgn="base" hangingPunct="0">
        <a:spcBef>
          <a:spcPts val="250"/>
        </a:spcBef>
        <a:spcAft>
          <a:spcPct val="0"/>
        </a:spcAft>
        <a:buClr>
          <a:srgbClr val="ED3742"/>
        </a:buClr>
        <a:buSzPct val="100000"/>
        <a:buFont typeface="Wingdings 2" pitchFamily="18" charset="2"/>
        <a:buChar char=""/>
        <a:defRPr kumimoji="1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023938" indent="-182563" algn="l" rtl="0" eaLnBrk="0" fontAlgn="base" hangingPunct="0">
        <a:spcBef>
          <a:spcPts val="225"/>
        </a:spcBef>
        <a:spcAft>
          <a:spcPct val="0"/>
        </a:spcAft>
        <a:buClr>
          <a:srgbClr val="ED3742"/>
        </a:buClr>
        <a:buSzPct val="112000"/>
        <a:buFont typeface="Verdana" pitchFamily="34" charset="0"/>
        <a:buChar char="◦"/>
        <a:defRPr kumimoji="1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279525" indent="-182563" algn="l" rtl="0" eaLnBrk="0" fontAlgn="base" hangingPunct="0">
        <a:spcBef>
          <a:spcPts val="250"/>
        </a:spcBef>
        <a:spcAft>
          <a:spcPct val="0"/>
        </a:spcAft>
        <a:buClr>
          <a:srgbClr val="4A85BF"/>
        </a:buClr>
        <a:buSzPct val="100000"/>
        <a:buFont typeface="Wingdings 2" pitchFamily="18" charset="2"/>
        <a:buChar char="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490472" indent="-182880" algn="l" rtl="0" eaLnBrk="1" latinLnBrk="0" hangingPunct="1">
        <a:spcBef>
          <a:spcPts val="250"/>
        </a:spcBef>
        <a:buClr>
          <a:schemeClr val="accent3">
            <a:tint val="85000"/>
            <a:satMod val="275000"/>
          </a:schemeClr>
        </a:buClr>
        <a:buSzPct val="100000"/>
        <a:buFont typeface="Verdana"/>
        <a:buChar char="◦"/>
        <a:defRPr kumimoji="1" sz="17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700784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spcBef>
          <a:spcPts val="257"/>
        </a:spcBef>
        <a:buClr>
          <a:schemeClr val="accent3">
            <a:tint val="85000"/>
            <a:satMod val="275000"/>
          </a:schemeClr>
        </a:buClr>
        <a:buSzPct val="100000"/>
        <a:buFont typeface="Verdana"/>
        <a:buChar char="◦"/>
        <a:defRPr kumimoji="1" sz="15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148840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FDB412B-A1DC-4656-9B89-0FCB88F4F467}" type="datetimeFigureOut">
              <a:rPr lang="ja-JP" altLang="en-US"/>
              <a:pPr>
                <a:defRPr/>
              </a:pPr>
              <a:t>2018/3/3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B12BA74-9B39-49B3-8E8B-88E185DDBA06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07" r:id="rId1"/>
    <p:sldLayoutId id="2147484008" r:id="rId2"/>
    <p:sldLayoutId id="2147484009" r:id="rId3"/>
    <p:sldLayoutId id="2147484010" r:id="rId4"/>
    <p:sldLayoutId id="2147484011" r:id="rId5"/>
    <p:sldLayoutId id="2147484012" r:id="rId6"/>
    <p:sldLayoutId id="2147484013" r:id="rId7"/>
    <p:sldLayoutId id="2147484014" r:id="rId8"/>
    <p:sldLayoutId id="2147484015" r:id="rId9"/>
    <p:sldLayoutId id="2147484016" r:id="rId10"/>
    <p:sldLayoutId id="2147484017" r:id="rId11"/>
    <p:sldLayoutId id="2147484018" r:id="rId12"/>
    <p:sldLayoutId id="2147484019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2089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 charset="0"/>
                <a:cs typeface="Arial" charset="0"/>
              </a:defRPr>
            </a:lvl1pPr>
          </a:lstStyle>
          <a:p>
            <a:pPr eaLnBrk="1" hangingPunct="1"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2089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charset="0"/>
                <a:cs typeface="Arial" charset="0"/>
              </a:defRPr>
            </a:lvl1pPr>
          </a:lstStyle>
          <a:p>
            <a:pPr eaLnBrk="1" hangingPunct="1"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2089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Arial" charset="0"/>
                <a:cs typeface="Arial" charset="0"/>
              </a:defRPr>
            </a:lvl1pPr>
          </a:lstStyle>
          <a:p>
            <a:pPr eaLnBrk="1" hangingPunct="1">
              <a:defRPr/>
            </a:pPr>
            <a:fld id="{8B838858-5706-44EB-AD72-80F8021061E0}" type="slidenum">
              <a:rPr lang="en-US">
                <a:solidFill>
                  <a:srgbClr val="000000"/>
                </a:solidFill>
              </a:rPr>
              <a:pPr eaLnBrk="1" hangingPunct="1"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5547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1" r:id="rId1"/>
    <p:sldLayoutId id="2147484022" r:id="rId2"/>
    <p:sldLayoutId id="2147484023" r:id="rId3"/>
    <p:sldLayoutId id="2147484024" r:id="rId4"/>
    <p:sldLayoutId id="2147484025" r:id="rId5"/>
    <p:sldLayoutId id="2147484026" r:id="rId6"/>
    <p:sldLayoutId id="2147484027" r:id="rId7"/>
    <p:sldLayoutId id="2147484028" r:id="rId8"/>
    <p:sldLayoutId id="2147484029" r:id="rId9"/>
    <p:sldLayoutId id="2147484030" r:id="rId10"/>
    <p:sldLayoutId id="2147484031" r:id="rId11"/>
    <p:sldLayoutId id="2147484032" r:id="rId12"/>
    <p:sldLayoutId id="2147484033" r:id="rId13"/>
    <p:sldLayoutId id="2147484034" r:id="rId14"/>
    <p:sldLayoutId id="2147484035" r:id="rId15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2089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 charset="0"/>
                <a:cs typeface="Arial" charset="0"/>
              </a:defRPr>
            </a:lvl1pPr>
          </a:lstStyle>
          <a:p>
            <a:pPr eaLnBrk="1" hangingPunct="1"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2089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charset="0"/>
                <a:cs typeface="Arial" charset="0"/>
              </a:defRPr>
            </a:lvl1pPr>
          </a:lstStyle>
          <a:p>
            <a:pPr eaLnBrk="1" hangingPunct="1"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2089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Arial" charset="0"/>
                <a:cs typeface="Arial" charset="0"/>
              </a:defRPr>
            </a:lvl1pPr>
          </a:lstStyle>
          <a:p>
            <a:pPr eaLnBrk="1" hangingPunct="1">
              <a:defRPr/>
            </a:pPr>
            <a:fld id="{8B838858-5706-44EB-AD72-80F8021061E0}" type="slidenum">
              <a:rPr lang="en-US">
                <a:solidFill>
                  <a:srgbClr val="000000"/>
                </a:solidFill>
              </a:rPr>
              <a:pPr eaLnBrk="1" hangingPunct="1"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29200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7" r:id="rId1"/>
    <p:sldLayoutId id="2147484038" r:id="rId2"/>
    <p:sldLayoutId id="2147484039" r:id="rId3"/>
    <p:sldLayoutId id="2147484040" r:id="rId4"/>
    <p:sldLayoutId id="2147484041" r:id="rId5"/>
    <p:sldLayoutId id="2147484042" r:id="rId6"/>
    <p:sldLayoutId id="2147484043" r:id="rId7"/>
    <p:sldLayoutId id="2147484044" r:id="rId8"/>
    <p:sldLayoutId id="2147484045" r:id="rId9"/>
    <p:sldLayoutId id="2147484046" r:id="rId10"/>
    <p:sldLayoutId id="2147484047" r:id="rId11"/>
    <p:sldLayoutId id="2147484048" r:id="rId12"/>
    <p:sldLayoutId id="2147484049" r:id="rId13"/>
    <p:sldLayoutId id="2147484050" r:id="rId14"/>
    <p:sldLayoutId id="2147484051" r:id="rId15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2089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 charset="0"/>
                <a:cs typeface="Arial" charset="0"/>
              </a:defRPr>
            </a:lvl1pPr>
          </a:lstStyle>
          <a:p>
            <a:pPr eaLnBrk="1" hangingPunct="1"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2089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charset="0"/>
                <a:cs typeface="Arial" charset="0"/>
              </a:defRPr>
            </a:lvl1pPr>
          </a:lstStyle>
          <a:p>
            <a:pPr eaLnBrk="1" hangingPunct="1"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2089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Arial" charset="0"/>
                <a:cs typeface="Arial" charset="0"/>
              </a:defRPr>
            </a:lvl1pPr>
          </a:lstStyle>
          <a:p>
            <a:pPr eaLnBrk="1" hangingPunct="1">
              <a:defRPr/>
            </a:pPr>
            <a:fld id="{8B838858-5706-44EB-AD72-80F8021061E0}" type="slidenum">
              <a:rPr lang="en-US">
                <a:solidFill>
                  <a:srgbClr val="000000"/>
                </a:solidFill>
              </a:rPr>
              <a:pPr eaLnBrk="1" hangingPunct="1"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2871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53" r:id="rId1"/>
    <p:sldLayoutId id="2147484054" r:id="rId2"/>
    <p:sldLayoutId id="2147484055" r:id="rId3"/>
    <p:sldLayoutId id="2147484056" r:id="rId4"/>
    <p:sldLayoutId id="2147484057" r:id="rId5"/>
    <p:sldLayoutId id="2147484058" r:id="rId6"/>
    <p:sldLayoutId id="2147484059" r:id="rId7"/>
    <p:sldLayoutId id="2147484060" r:id="rId8"/>
    <p:sldLayoutId id="2147484061" r:id="rId9"/>
    <p:sldLayoutId id="2147484062" r:id="rId10"/>
    <p:sldLayoutId id="2147484063" r:id="rId11"/>
    <p:sldLayoutId id="2147484064" r:id="rId12"/>
    <p:sldLayoutId id="2147484065" r:id="rId13"/>
    <p:sldLayoutId id="2147484066" r:id="rId14"/>
    <p:sldLayoutId id="2147484067" r:id="rId15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2089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 charset="0"/>
                <a:cs typeface="Arial" charset="0"/>
              </a:defRPr>
            </a:lvl1pPr>
          </a:lstStyle>
          <a:p>
            <a:pPr eaLnBrk="1" hangingPunct="1"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2089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charset="0"/>
                <a:cs typeface="Arial" charset="0"/>
              </a:defRPr>
            </a:lvl1pPr>
          </a:lstStyle>
          <a:p>
            <a:pPr eaLnBrk="1" hangingPunct="1"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2089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Arial" charset="0"/>
                <a:cs typeface="Arial" charset="0"/>
              </a:defRPr>
            </a:lvl1pPr>
          </a:lstStyle>
          <a:p>
            <a:pPr eaLnBrk="1" hangingPunct="1">
              <a:defRPr/>
            </a:pPr>
            <a:fld id="{93B4484E-22E0-4EB5-B581-CC5F77E405F6}" type="slidenum">
              <a:rPr lang="en-US">
                <a:solidFill>
                  <a:srgbClr val="000000"/>
                </a:solidFill>
              </a:rPr>
              <a:pPr eaLnBrk="1" hangingPunct="1"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18291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69" r:id="rId1"/>
    <p:sldLayoutId id="2147484070" r:id="rId2"/>
    <p:sldLayoutId id="2147484071" r:id="rId3"/>
    <p:sldLayoutId id="2147484072" r:id="rId4"/>
    <p:sldLayoutId id="2147484073" r:id="rId5"/>
    <p:sldLayoutId id="2147484074" r:id="rId6"/>
    <p:sldLayoutId id="2147484075" r:id="rId7"/>
    <p:sldLayoutId id="2147484076" r:id="rId8"/>
    <p:sldLayoutId id="2147484077" r:id="rId9"/>
    <p:sldLayoutId id="2147484078" r:id="rId10"/>
    <p:sldLayoutId id="2147484079" r:id="rId11"/>
    <p:sldLayoutId id="2147484080" r:id="rId12"/>
    <p:sldLayoutId id="2147484081" r:id="rId13"/>
    <p:sldLayoutId id="2147484082" r:id="rId14"/>
    <p:sldLayoutId id="2147484083" r:id="rId15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2089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 charset="0"/>
                <a:cs typeface="Arial" charset="0"/>
              </a:defRPr>
            </a:lvl1pPr>
          </a:lstStyle>
          <a:p>
            <a:pPr eaLnBrk="1" hangingPunct="1"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2089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charset="0"/>
                <a:cs typeface="Arial" charset="0"/>
              </a:defRPr>
            </a:lvl1pPr>
          </a:lstStyle>
          <a:p>
            <a:pPr eaLnBrk="1" hangingPunct="1"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2089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Arial" charset="0"/>
                <a:cs typeface="Arial" charset="0"/>
              </a:defRPr>
            </a:lvl1pPr>
          </a:lstStyle>
          <a:p>
            <a:pPr eaLnBrk="1" hangingPunct="1">
              <a:defRPr/>
            </a:pPr>
            <a:fld id="{93B4484E-22E0-4EB5-B581-CC5F77E405F6}" type="slidenum">
              <a:rPr lang="en-US">
                <a:solidFill>
                  <a:srgbClr val="000000"/>
                </a:solidFill>
              </a:rPr>
              <a:pPr eaLnBrk="1" hangingPunct="1"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6288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85" r:id="rId1"/>
    <p:sldLayoutId id="2147484086" r:id="rId2"/>
    <p:sldLayoutId id="2147484087" r:id="rId3"/>
    <p:sldLayoutId id="2147484088" r:id="rId4"/>
    <p:sldLayoutId id="2147484089" r:id="rId5"/>
    <p:sldLayoutId id="2147484090" r:id="rId6"/>
    <p:sldLayoutId id="2147484091" r:id="rId7"/>
    <p:sldLayoutId id="2147484092" r:id="rId8"/>
    <p:sldLayoutId id="2147484093" r:id="rId9"/>
    <p:sldLayoutId id="2147484094" r:id="rId10"/>
    <p:sldLayoutId id="2147484095" r:id="rId11"/>
    <p:sldLayoutId id="2147484096" r:id="rId12"/>
    <p:sldLayoutId id="2147484097" r:id="rId13"/>
    <p:sldLayoutId id="2147484098" r:id="rId14"/>
    <p:sldLayoutId id="2147484099" r:id="rId15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3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0.emf"/><Relationship Id="rId4" Type="http://schemas.openxmlformats.org/officeDocument/2006/relationships/oleObject" Target="../embeddings/oleObject1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3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21.emf"/><Relationship Id="rId4" Type="http://schemas.openxmlformats.org/officeDocument/2006/relationships/oleObject" Target="../embeddings/oleObject2.bin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Relationship Id="rId4" Type="http://schemas.openxmlformats.org/officeDocument/2006/relationships/chart" Target="../charts/char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3.jpeg"/><Relationship Id="rId4" Type="http://schemas.openxmlformats.org/officeDocument/2006/relationships/image" Target="../media/image3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37.jpeg"/><Relationship Id="rId4" Type="http://schemas.openxmlformats.org/officeDocument/2006/relationships/image" Target="../media/image36.jpe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jpeg"/><Relationship Id="rId7" Type="http://schemas.openxmlformats.org/officeDocument/2006/relationships/image" Target="../media/image43.png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50.jpeg"/><Relationship Id="rId5" Type="http://schemas.openxmlformats.org/officeDocument/2006/relationships/image" Target="../media/image49.jpeg"/><Relationship Id="rId4" Type="http://schemas.openxmlformats.org/officeDocument/2006/relationships/image" Target="../media/image48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58.jpeg"/><Relationship Id="rId4" Type="http://schemas.openxmlformats.org/officeDocument/2006/relationships/image" Target="../media/image57.jpe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eg"/><Relationship Id="rId2" Type="http://schemas.openxmlformats.org/officeDocument/2006/relationships/image" Target="../media/image59.jpe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66.png"/><Relationship Id="rId5" Type="http://schemas.openxmlformats.org/officeDocument/2006/relationships/image" Target="../media/image65.jpeg"/><Relationship Id="rId4" Type="http://schemas.openxmlformats.org/officeDocument/2006/relationships/image" Target="../media/image64.jpe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jpeg"/><Relationship Id="rId2" Type="http://schemas.openxmlformats.org/officeDocument/2006/relationships/image" Target="../media/image67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70.jpeg"/><Relationship Id="rId4" Type="http://schemas.openxmlformats.org/officeDocument/2006/relationships/image" Target="../media/image69.jpe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jpe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74.jpeg"/><Relationship Id="rId4" Type="http://schemas.openxmlformats.org/officeDocument/2006/relationships/image" Target="../media/image73.jpe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jpeg"/><Relationship Id="rId2" Type="http://schemas.openxmlformats.org/officeDocument/2006/relationships/image" Target="../media/image75.jpe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8.jpeg"/><Relationship Id="rId4" Type="http://schemas.openxmlformats.org/officeDocument/2006/relationships/image" Target="../media/image77.jpe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jpeg"/><Relationship Id="rId2" Type="http://schemas.openxmlformats.org/officeDocument/2006/relationships/image" Target="../media/image79.jpeg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82.jpeg"/><Relationship Id="rId4" Type="http://schemas.openxmlformats.org/officeDocument/2006/relationships/image" Target="../media/image81.jpe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86.jpeg"/><Relationship Id="rId4" Type="http://schemas.openxmlformats.org/officeDocument/2006/relationships/image" Target="../media/image85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jpeg"/><Relationship Id="rId2" Type="http://schemas.openxmlformats.org/officeDocument/2006/relationships/image" Target="../media/image87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90.png"/><Relationship Id="rId4" Type="http://schemas.openxmlformats.org/officeDocument/2006/relationships/image" Target="../media/image89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jpeg"/><Relationship Id="rId2" Type="http://schemas.openxmlformats.org/officeDocument/2006/relationships/image" Target="../media/image91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94.png"/><Relationship Id="rId4" Type="http://schemas.openxmlformats.org/officeDocument/2006/relationships/image" Target="../media/image9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5.jpe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98.jpeg"/><Relationship Id="rId4" Type="http://schemas.openxmlformats.org/officeDocument/2006/relationships/image" Target="../media/image97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jpeg"/><Relationship Id="rId2" Type="http://schemas.openxmlformats.org/officeDocument/2006/relationships/image" Target="../media/image99.jpe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102.jpeg"/><Relationship Id="rId4" Type="http://schemas.openxmlformats.org/officeDocument/2006/relationships/image" Target="../media/image101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jpeg"/><Relationship Id="rId2" Type="http://schemas.openxmlformats.org/officeDocument/2006/relationships/image" Target="../media/image103.jpe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6.jpeg"/><Relationship Id="rId4" Type="http://schemas.openxmlformats.org/officeDocument/2006/relationships/image" Target="../media/image105.jpe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8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8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wMgIps428Ic" TargetMode="External"/><Relationship Id="rId2" Type="http://schemas.openxmlformats.org/officeDocument/2006/relationships/hyperlink" Target="https://www.unicef.org/bangladesh/media_4795.htm" TargetMode="External"/><Relationship Id="rId1" Type="http://schemas.openxmlformats.org/officeDocument/2006/relationships/slideLayout" Target="../slideLayouts/slideLayout13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ChangeArrowheads="1"/>
          </p:cNvSpPr>
          <p:nvPr/>
        </p:nvSpPr>
        <p:spPr bwMode="auto">
          <a:xfrm>
            <a:off x="76200" y="381000"/>
            <a:ext cx="9144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endParaRPr lang="en-US" sz="4000" b="1" dirty="0">
              <a:solidFill>
                <a:srgbClr val="CC00FF"/>
              </a:solidFill>
            </a:endParaRPr>
          </a:p>
        </p:txBody>
      </p:sp>
      <p:sp>
        <p:nvSpPr>
          <p:cNvPr id="27651" name="TextBox 2"/>
          <p:cNvSpPr txBox="1">
            <a:spLocks noChangeArrowheads="1"/>
          </p:cNvSpPr>
          <p:nvPr/>
        </p:nvSpPr>
        <p:spPr bwMode="auto">
          <a:xfrm>
            <a:off x="391947" y="990600"/>
            <a:ext cx="8686800" cy="1077218"/>
          </a:xfrm>
          <a:prstGeom prst="rect">
            <a:avLst/>
          </a:prstGeom>
          <a:ln/>
          <a:ex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 sz="3200" b="1" dirty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Chowgacha UHC model &amp; Jhenaidah Sadar Hospital Development by local initiatives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267200" y="5491163"/>
            <a:ext cx="4572000" cy="1138237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Dr. Md.Emdadul Haque</a:t>
            </a:r>
            <a:r>
              <a:rPr lang="en-US" sz="16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 </a:t>
            </a:r>
          </a:p>
          <a:p>
            <a:pPr algn="ctr">
              <a:defRPr/>
            </a:pP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Senior Consultant (Obst &amp; Gynae)</a:t>
            </a:r>
          </a:p>
          <a:p>
            <a:pPr algn="ctr">
              <a:defRPr/>
            </a:pP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Sadar Hospital Jhenaidah</a:t>
            </a:r>
          </a:p>
        </p:txBody>
      </p:sp>
      <p:pic>
        <p:nvPicPr>
          <p:cNvPr id="27653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2217738"/>
            <a:ext cx="3886200" cy="30114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54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75" y="2217738"/>
            <a:ext cx="4048125" cy="30114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85" name="Group 8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0107218"/>
              </p:ext>
            </p:extLst>
          </p:nvPr>
        </p:nvGraphicFramePr>
        <p:xfrm>
          <a:off x="148988" y="1105771"/>
          <a:ext cx="8894763" cy="5066426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914400"/>
                <a:gridCol w="1981200"/>
                <a:gridCol w="2362200"/>
                <a:gridCol w="1905000"/>
                <a:gridCol w="1731963"/>
              </a:tblGrid>
              <a:tr h="80874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SL  NO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Country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Per capita health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Expenditure per year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in 2014 by  Govt.   ($)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Doctors per 10000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Population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Nurse per 10000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Population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</a:tr>
              <a:tr h="4514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01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USA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9536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25.5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99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02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UK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4356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28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84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03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Japan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3733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22.9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108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04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Malaysia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386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12.8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34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05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Sri Lanka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118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7.3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17.5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India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63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7.3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20.4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07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Nepal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44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4.7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1848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Pakistan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09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Bangladesh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32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3.9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2.2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10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Afghanistan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60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3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3.6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</a:tbl>
          </a:graphicData>
        </a:graphic>
      </p:graphicFrame>
      <p:sp>
        <p:nvSpPr>
          <p:cNvPr id="28675" name="Rectangle 1"/>
          <p:cNvSpPr>
            <a:spLocks noChangeArrowheads="1"/>
          </p:cNvSpPr>
          <p:nvPr/>
        </p:nvSpPr>
        <p:spPr bwMode="auto">
          <a:xfrm>
            <a:off x="6553200" y="6426200"/>
            <a:ext cx="2419350" cy="4000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r" eaLnBrk="1" hangingPunct="1"/>
            <a:r>
              <a:rPr lang="en-US" sz="2000" dirty="0">
                <a:solidFill>
                  <a:srgbClr val="000000"/>
                </a:solidFill>
                <a:latin typeface="Andalus"/>
                <a:ea typeface="Andalus"/>
                <a:cs typeface="Andalus"/>
              </a:rPr>
              <a:t>From internet 2015</a:t>
            </a: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52400" y="37531"/>
            <a:ext cx="8820150" cy="990600"/>
          </a:xfrm>
          <a:prstGeom prst="rect">
            <a:avLst/>
          </a:prstGeom>
          <a:solidFill>
            <a:srgbClr val="0070C0"/>
          </a:solidFill>
          <a:ln w="38100">
            <a:solidFill>
              <a:schemeClr val="accent4">
                <a:lumMod val="40000"/>
                <a:lumOff val="60000"/>
              </a:schemeClr>
            </a:solidFill>
            <a:miter lim="800000"/>
            <a:headEnd/>
            <a:tailEnd/>
          </a:ln>
          <a:extLst/>
        </p:spPr>
        <p:txBody>
          <a:bodyPr/>
          <a:lstStyle/>
          <a:p>
            <a:pPr algn="ctr" eaLnBrk="1" hangingPunct="1">
              <a:defRPr/>
            </a:pPr>
            <a:r>
              <a:rPr lang="en-US" sz="28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Comparative data of health facilities of different country of the world</a:t>
            </a:r>
            <a:r>
              <a:rPr lang="en-US" sz="24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 </a:t>
            </a:r>
            <a:endParaRPr lang="en-US" sz="2400" dirty="0">
              <a:solidFill>
                <a:schemeClr val="bg1"/>
              </a:solidFill>
              <a:latin typeface="Andalus" pitchFamily="18" charset="-78"/>
              <a:cs typeface="Andalus" pitchFamily="18" charset="-78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G:\G\Dr Emdad\Photo -Lohagara\ScreenShot_201605240637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65408" y="4289813"/>
            <a:ext cx="3620964" cy="2365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5" descr="G:\G\Dr Emdad\Photo -Lohagara\ScreenShot_20151207194825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2529" y="1374776"/>
            <a:ext cx="3609975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6" descr="G:\G\Dr Emdad\Photo -Lohagara\ScreenShot_20151207211013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772" y="1374775"/>
            <a:ext cx="3657600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7" descr="G:\G\Dr Emdad\Photo -Lohagara\ScreenShot_20151207202519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2608" y="4263956"/>
            <a:ext cx="3571875" cy="2355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302190" y="381000"/>
            <a:ext cx="8591426" cy="540426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 dirty="0" smtClean="0">
                <a:solidFill>
                  <a:srgbClr val="0070C0"/>
                </a:solidFill>
              </a:rPr>
              <a:t>Community Mobilization Meeting at Lohagara in </a:t>
            </a:r>
            <a:r>
              <a:rPr lang="en-US" sz="2400" b="1" dirty="0" smtClean="0">
                <a:solidFill>
                  <a:srgbClr val="0070C0"/>
                </a:solidFill>
                <a:latin typeface="Book Antiqua" pitchFamily="18" charset="0"/>
              </a:rPr>
              <a:t>1995</a:t>
            </a:r>
            <a:endParaRPr lang="en-US" sz="2400" b="1" dirty="0">
              <a:solidFill>
                <a:srgbClr val="0070C0"/>
              </a:solidFill>
              <a:latin typeface="Book Antiqu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2195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9" name="Picture 12" descr="Picture 23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1963" y="2209800"/>
            <a:ext cx="5735637" cy="3529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33" name="Rectangle 13"/>
          <p:cNvSpPr>
            <a:spLocks noChangeArrowheads="1"/>
          </p:cNvSpPr>
          <p:nvPr/>
        </p:nvSpPr>
        <p:spPr bwMode="auto">
          <a:xfrm>
            <a:off x="382588" y="838200"/>
            <a:ext cx="8432800" cy="1077913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3200" b="1" dirty="0">
                <a:solidFill>
                  <a:schemeClr val="bg1"/>
                </a:solidFill>
              </a:rPr>
              <a:t>50 BEDED UPAZILA  HEALTH  COMPLEX </a:t>
            </a:r>
            <a:br>
              <a:rPr lang="en-US" sz="3200" b="1" dirty="0">
                <a:solidFill>
                  <a:schemeClr val="bg1"/>
                </a:solidFill>
              </a:rPr>
            </a:br>
            <a:r>
              <a:rPr lang="en-US" sz="3200" b="1" dirty="0">
                <a:solidFill>
                  <a:schemeClr val="bg1"/>
                </a:solidFill>
              </a:rPr>
              <a:t>Chowgacha, Jessore</a:t>
            </a:r>
            <a:r>
              <a:rPr 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.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016000"/>
          </a:xfrm>
          <a:solidFill>
            <a:schemeClr val="accent5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 sz="3600" b="1" dirty="0"/>
              <a:t>A Sub-district level Women-Friendly Hospital with a Vision …</a:t>
            </a:r>
          </a:p>
        </p:txBody>
      </p:sp>
      <p:sp>
        <p:nvSpPr>
          <p:cNvPr id="5" name="Oval 3"/>
          <p:cNvSpPr>
            <a:spLocks noChangeArrowheads="1"/>
          </p:cNvSpPr>
          <p:nvPr/>
        </p:nvSpPr>
        <p:spPr bwMode="auto">
          <a:xfrm>
            <a:off x="4281487" y="2019300"/>
            <a:ext cx="3124200" cy="12954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en-US" sz="1600" b="1" dirty="0">
              <a:solidFill>
                <a:srgbClr val="FF0066"/>
              </a:solidFill>
            </a:endParaRPr>
          </a:p>
          <a:p>
            <a:pPr algn="ctr" eaLnBrk="0" hangingPunct="0"/>
            <a:r>
              <a:rPr lang="en-US" sz="1600" b="1" dirty="0"/>
              <a:t>Maximum utilization of Govt.</a:t>
            </a:r>
          </a:p>
          <a:p>
            <a:pPr algn="ctr" eaLnBrk="0" hangingPunct="0"/>
            <a:r>
              <a:rPr lang="en-US" sz="1600" b="1" dirty="0"/>
              <a:t>resources with </a:t>
            </a:r>
          </a:p>
          <a:p>
            <a:pPr algn="ctr" eaLnBrk="0" hangingPunct="0"/>
            <a:r>
              <a:rPr lang="en-US" sz="1600" b="1" dirty="0"/>
              <a:t>honesty and sincerity</a:t>
            </a:r>
          </a:p>
          <a:p>
            <a:pPr algn="ctr" eaLnBrk="0" hangingPunct="0"/>
            <a:endParaRPr lang="en-US" sz="1600" b="1" dirty="0"/>
          </a:p>
        </p:txBody>
      </p:sp>
      <p:sp>
        <p:nvSpPr>
          <p:cNvPr id="6" name="Oval 4"/>
          <p:cNvSpPr>
            <a:spLocks noChangeArrowheads="1"/>
          </p:cNvSpPr>
          <p:nvPr/>
        </p:nvSpPr>
        <p:spPr bwMode="auto">
          <a:xfrm>
            <a:off x="4281487" y="5105400"/>
            <a:ext cx="3200400" cy="12192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1600" b="1" dirty="0"/>
              <a:t>Providing Effective and </a:t>
            </a:r>
          </a:p>
          <a:p>
            <a:pPr algn="ctr" eaLnBrk="0" hangingPunct="0"/>
            <a:r>
              <a:rPr lang="en-US" sz="1600" b="1" dirty="0"/>
              <a:t>prompt services </a:t>
            </a:r>
          </a:p>
          <a:p>
            <a:pPr algn="ctr" eaLnBrk="0" hangingPunct="0"/>
            <a:r>
              <a:rPr lang="en-US" sz="1600" b="1" dirty="0"/>
              <a:t>through improved </a:t>
            </a:r>
          </a:p>
          <a:p>
            <a:pPr algn="ctr" eaLnBrk="0" hangingPunct="0"/>
            <a:r>
              <a:rPr lang="en-US" sz="1600" b="1" dirty="0"/>
              <a:t>management system</a:t>
            </a:r>
          </a:p>
        </p:txBody>
      </p:sp>
      <p:sp>
        <p:nvSpPr>
          <p:cNvPr id="8" name="AutoShape 6"/>
          <p:cNvSpPr>
            <a:spLocks noChangeArrowheads="1"/>
          </p:cNvSpPr>
          <p:nvPr/>
        </p:nvSpPr>
        <p:spPr bwMode="auto">
          <a:xfrm>
            <a:off x="1447800" y="2438400"/>
            <a:ext cx="2514600" cy="457200"/>
          </a:xfrm>
          <a:prstGeom prst="notchedRightArrow">
            <a:avLst>
              <a:gd name="adj1" fmla="val 50000"/>
              <a:gd name="adj2" fmla="val 137500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9" name="AutoShape 7"/>
          <p:cNvSpPr>
            <a:spLocks noChangeArrowheads="1"/>
          </p:cNvSpPr>
          <p:nvPr/>
        </p:nvSpPr>
        <p:spPr bwMode="auto">
          <a:xfrm>
            <a:off x="1343025" y="5486400"/>
            <a:ext cx="2438400" cy="457200"/>
          </a:xfrm>
          <a:prstGeom prst="notchedRightArrow">
            <a:avLst>
              <a:gd name="adj1" fmla="val 50000"/>
              <a:gd name="adj2" fmla="val 133333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1" name="Oval 9"/>
          <p:cNvSpPr>
            <a:spLocks noChangeArrowheads="1"/>
          </p:cNvSpPr>
          <p:nvPr/>
        </p:nvSpPr>
        <p:spPr bwMode="auto">
          <a:xfrm>
            <a:off x="4281487" y="3619500"/>
            <a:ext cx="3200400" cy="12192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1600" b="1" dirty="0"/>
              <a:t>Integrated approach of </a:t>
            </a:r>
          </a:p>
          <a:p>
            <a:pPr algn="ctr" eaLnBrk="0" hangingPunct="0"/>
            <a:r>
              <a:rPr lang="en-US" sz="1600" b="1" dirty="0"/>
              <a:t>Administration, Community</a:t>
            </a:r>
          </a:p>
          <a:p>
            <a:pPr algn="ctr" eaLnBrk="0" hangingPunct="0"/>
            <a:r>
              <a:rPr lang="en-US" sz="1600" b="1" dirty="0"/>
              <a:t>Leaders &amp; Health </a:t>
            </a:r>
          </a:p>
          <a:p>
            <a:pPr algn="ctr" eaLnBrk="0" hangingPunct="0"/>
            <a:r>
              <a:rPr lang="en-US" sz="1600" b="1" dirty="0"/>
              <a:t>Management</a:t>
            </a:r>
          </a:p>
        </p:txBody>
      </p:sp>
      <p:sp>
        <p:nvSpPr>
          <p:cNvPr id="12" name="AutoShape 10"/>
          <p:cNvSpPr>
            <a:spLocks noChangeArrowheads="1"/>
          </p:cNvSpPr>
          <p:nvPr/>
        </p:nvSpPr>
        <p:spPr bwMode="auto">
          <a:xfrm>
            <a:off x="1328737" y="4000500"/>
            <a:ext cx="2438400" cy="457200"/>
          </a:xfrm>
          <a:prstGeom prst="notchedRightArrow">
            <a:avLst>
              <a:gd name="adj1" fmla="val 50000"/>
              <a:gd name="adj2" fmla="val 133333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19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914400"/>
          </a:xfrm>
          <a:solidFill>
            <a:schemeClr val="accent1"/>
          </a:solidFill>
        </p:spPr>
        <p:txBody>
          <a:bodyPr/>
          <a:lstStyle/>
          <a:p>
            <a:pPr eaLnBrk="1" hangingPunct="1"/>
            <a:r>
              <a:rPr lang="en-US" sz="2800" b="1" dirty="0" smtClean="0"/>
              <a:t>Background History of MCH services of </a:t>
            </a:r>
            <a:r>
              <a:rPr lang="en-US" sz="2800" b="1" dirty="0" err="1" smtClean="0"/>
              <a:t>Chowgacha</a:t>
            </a:r>
            <a:r>
              <a:rPr lang="en-US" sz="2800" b="1" dirty="0" smtClean="0"/>
              <a:t> Health Complex, </a:t>
            </a:r>
            <a:r>
              <a:rPr lang="en-US" sz="2800" b="1" dirty="0" err="1" smtClean="0"/>
              <a:t>Jessore</a:t>
            </a:r>
            <a:endParaRPr lang="en-US" sz="2800" b="1" dirty="0" smtClean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382000" cy="4953000"/>
          </a:xfrm>
        </p:spPr>
        <p:txBody>
          <a:bodyPr/>
          <a:lstStyle/>
          <a:p>
            <a:pPr marL="0" indent="0" algn="just" eaLnBrk="1" hangingPunct="1">
              <a:lnSpc>
                <a:spcPct val="80000"/>
              </a:lnSpc>
              <a:buClr>
                <a:schemeClr val="tx1"/>
              </a:buClr>
              <a:buFontTx/>
              <a:buNone/>
            </a:pPr>
            <a:r>
              <a:rPr lang="en-US" sz="1800" b="1" smtClean="0"/>
              <a:t>To reduce Maternal and Child Mortality and Mobility and to ensure the quality services to the mother and child, UHFPO opened 4 special activities headed by medical officers in Feb. 1996. And </a:t>
            </a:r>
            <a:r>
              <a:rPr lang="en-US" sz="1800" b="1" u="sng" smtClean="0"/>
              <a:t>from January 1995 to 1997 </a:t>
            </a:r>
            <a:r>
              <a:rPr lang="en-US" sz="1800" b="1" u="sng" smtClean="0">
                <a:solidFill>
                  <a:srgbClr val="0000FF"/>
                </a:solidFill>
              </a:rPr>
              <a:t>JICA</a:t>
            </a:r>
            <a:r>
              <a:rPr lang="en-US" sz="1800" b="1" u="sng" smtClean="0"/>
              <a:t> helped us by Frontline MCH Program to implement the program by giving technical and logistic supports. Since 1998 </a:t>
            </a:r>
            <a:r>
              <a:rPr lang="en-US" sz="1800" b="1" u="sng" smtClean="0">
                <a:solidFill>
                  <a:srgbClr val="0000FF"/>
                </a:solidFill>
              </a:rPr>
              <a:t>DGHS</a:t>
            </a:r>
            <a:r>
              <a:rPr lang="en-US" sz="1800" b="1" u="sng" smtClean="0"/>
              <a:t> &amp; </a:t>
            </a:r>
            <a:r>
              <a:rPr lang="en-US" sz="1800" b="1" u="sng" smtClean="0">
                <a:solidFill>
                  <a:srgbClr val="0000FF"/>
                </a:solidFill>
              </a:rPr>
              <a:t>UNICEF</a:t>
            </a:r>
            <a:r>
              <a:rPr lang="en-US" sz="1800" b="1" u="sng" smtClean="0"/>
              <a:t> have continued the </a:t>
            </a:r>
          </a:p>
          <a:p>
            <a:pPr marL="0" indent="0" algn="just" eaLnBrk="1" hangingPunct="1">
              <a:lnSpc>
                <a:spcPct val="80000"/>
              </a:lnSpc>
              <a:buClr>
                <a:schemeClr val="tx1"/>
              </a:buClr>
              <a:buFontTx/>
              <a:buNone/>
            </a:pPr>
            <a:endParaRPr lang="en-US" sz="1800" b="1" u="sng" smtClean="0"/>
          </a:p>
          <a:p>
            <a:pPr marL="0" indent="0" algn="just" eaLnBrk="1" hangingPunct="1">
              <a:lnSpc>
                <a:spcPct val="80000"/>
              </a:lnSpc>
              <a:buClr>
                <a:schemeClr val="tx1"/>
              </a:buClr>
              <a:buFontTx/>
              <a:buNone/>
            </a:pPr>
            <a:r>
              <a:rPr lang="en-US" sz="1800" b="1" u="sng" smtClean="0"/>
              <a:t>support.</a:t>
            </a:r>
            <a:endParaRPr lang="en-US" sz="1800" b="1" smtClean="0"/>
          </a:p>
          <a:p>
            <a:pPr marL="0" indent="0" eaLnBrk="1" hangingPunct="1">
              <a:lnSpc>
                <a:spcPct val="80000"/>
              </a:lnSpc>
              <a:buClr>
                <a:schemeClr val="tx1"/>
              </a:buClr>
              <a:buFontTx/>
              <a:buNone/>
            </a:pPr>
            <a:r>
              <a:rPr lang="en-US" sz="1800" b="1" smtClean="0">
                <a:solidFill>
                  <a:srgbClr val="0000FF"/>
                </a:solidFill>
              </a:rPr>
              <a:t>&lt;4 Special activities&gt; </a:t>
            </a:r>
          </a:p>
          <a:p>
            <a:pPr marL="0" indent="0" eaLnBrk="1" hangingPunct="1">
              <a:lnSpc>
                <a:spcPct val="80000"/>
              </a:lnSpc>
              <a:buClr>
                <a:schemeClr val="tx1"/>
              </a:buClr>
              <a:buFontTx/>
              <a:buAutoNum type="arabicParenR"/>
            </a:pPr>
            <a:r>
              <a:rPr lang="en-US" sz="1800" b="1" smtClean="0">
                <a:solidFill>
                  <a:srgbClr val="0000FF"/>
                </a:solidFill>
              </a:rPr>
              <a:t>ANC-Corner</a:t>
            </a:r>
            <a:r>
              <a:rPr lang="en-US" sz="1800" b="1" smtClean="0"/>
              <a:t> – leaded by female Medical Officer for pregnant mother for effective ANC services who receive TT immunization in the Health Complex</a:t>
            </a:r>
          </a:p>
          <a:p>
            <a:pPr marL="0" indent="0" eaLnBrk="1" hangingPunct="1">
              <a:lnSpc>
                <a:spcPct val="80000"/>
              </a:lnSpc>
              <a:buClr>
                <a:schemeClr val="tx1"/>
              </a:buClr>
              <a:buFontTx/>
              <a:buAutoNum type="arabicParenR"/>
            </a:pPr>
            <a:r>
              <a:rPr lang="en-US" sz="1800" b="1" smtClean="0">
                <a:solidFill>
                  <a:srgbClr val="0000FF"/>
                </a:solidFill>
              </a:rPr>
              <a:t>Basic EOC service</a:t>
            </a:r>
            <a:r>
              <a:rPr lang="en-US" sz="1800" b="1" smtClean="0"/>
              <a:t> by a Gyne &amp; Obs. trained MO </a:t>
            </a:r>
          </a:p>
          <a:p>
            <a:pPr marL="0" indent="0" eaLnBrk="1" hangingPunct="1">
              <a:lnSpc>
                <a:spcPct val="80000"/>
              </a:lnSpc>
              <a:buClr>
                <a:schemeClr val="tx1"/>
              </a:buClr>
              <a:buFontTx/>
              <a:buAutoNum type="arabicParenR"/>
            </a:pPr>
            <a:r>
              <a:rPr lang="en-US" sz="1800" b="1" smtClean="0">
                <a:solidFill>
                  <a:srgbClr val="0000FF"/>
                </a:solidFill>
              </a:rPr>
              <a:t>Under 5 corner for under 5 children</a:t>
            </a:r>
            <a:r>
              <a:rPr lang="en-US" sz="1800" b="1" smtClean="0"/>
              <a:t> for their nutritional assessment and treatment by RMO.</a:t>
            </a:r>
          </a:p>
          <a:p>
            <a:pPr marL="0" indent="0" eaLnBrk="1" hangingPunct="1">
              <a:lnSpc>
                <a:spcPct val="80000"/>
              </a:lnSpc>
              <a:buClr>
                <a:schemeClr val="tx1"/>
              </a:buClr>
              <a:buFontTx/>
              <a:buAutoNum type="arabicParenR"/>
            </a:pPr>
            <a:r>
              <a:rPr lang="en-US" sz="1800" b="1" smtClean="0">
                <a:solidFill>
                  <a:srgbClr val="0000FF"/>
                </a:solidFill>
              </a:rPr>
              <a:t>Monthly birth and death record</a:t>
            </a:r>
            <a:r>
              <a:rPr lang="en-US" sz="1800" b="1" smtClean="0"/>
              <a:t> by specially developed format by health assistant throughout the Upazilla to asses the progress of maternal and child health status by health indicators supervised by UH&amp;FPO </a:t>
            </a:r>
          </a:p>
          <a:p>
            <a:pPr marL="0" indent="0" eaLnBrk="1" hangingPunct="1">
              <a:lnSpc>
                <a:spcPct val="80000"/>
              </a:lnSpc>
              <a:buFontTx/>
              <a:buNone/>
            </a:pPr>
            <a:endParaRPr lang="en-US" sz="1800" b="1" smtClean="0"/>
          </a:p>
        </p:txBody>
      </p:sp>
    </p:spTree>
    <p:extLst>
      <p:ext uri="{BB962C8B-B14F-4D97-AF65-F5344CB8AC3E}">
        <p14:creationId xmlns:p14="http://schemas.microsoft.com/office/powerpoint/2010/main" val="40538555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866775"/>
          </a:xfrm>
          <a:solidFill>
            <a:schemeClr val="accent1"/>
          </a:solidFill>
        </p:spPr>
        <p:txBody>
          <a:bodyPr/>
          <a:lstStyle/>
          <a:p>
            <a:pPr eaLnBrk="1" hangingPunct="1"/>
            <a:r>
              <a:rPr lang="en-US" sz="3200" b="1" smtClean="0"/>
              <a:t>Contd.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24000"/>
            <a:ext cx="8229600" cy="48006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r>
              <a:rPr lang="en-US" sz="1600" b="1" dirty="0" smtClean="0"/>
              <a:t>From Dec. 1999 Reproductive Health Department of DGHS and UNICEF gave logistic supports and human resources development (like medical officer trained in anesthesia).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FontTx/>
              <a:buNone/>
            </a:pPr>
            <a:endParaRPr lang="en-US" sz="500" b="1" dirty="0" smtClean="0"/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r>
              <a:rPr lang="en-US" sz="1600" b="1" dirty="0" smtClean="0"/>
              <a:t>Form November 2000 started Comprehensive EOC program.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FontTx/>
              <a:buNone/>
            </a:pPr>
            <a:endParaRPr lang="en-US" sz="500" b="1" dirty="0" smtClean="0"/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r>
              <a:rPr lang="en-US" sz="1600" b="1" dirty="0" smtClean="0"/>
              <a:t>In 2004, 2005, 2006, 2007 , 2008, 2009, 2010,2011 &amp; 2012 the UHC was awarded by the Bangladesh Government and UNICEF for best performance on EOC Service.  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endParaRPr lang="en-US" sz="500" b="1" dirty="0" smtClean="0"/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r>
              <a:rPr lang="en-US" sz="1600" b="1" dirty="0" smtClean="0"/>
              <a:t>From August 2006 Safe Blood Transfusion unit established with the aid of UNICEF.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endParaRPr lang="en-US" sz="500" b="1" dirty="0" smtClean="0"/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r>
              <a:rPr lang="en-US" sz="1600" b="1" dirty="0" smtClean="0"/>
              <a:t>From April 2007 Demand Side Financing (DSF) program started.    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endParaRPr lang="en-US" sz="500" b="1" dirty="0" smtClean="0"/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r>
              <a:rPr lang="en-US" sz="1600" b="1" dirty="0" smtClean="0"/>
              <a:t>Women friendly Hospital declared in 2008.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endParaRPr lang="en-US" sz="500" b="1" dirty="0" smtClean="0"/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r>
              <a:rPr lang="en-US" sz="1600" b="1" dirty="0" smtClean="0"/>
              <a:t>Hospital is declared as model health complex on 20 June 2008 and upgraded to 50 bedded hospital by Secretary of Ministry of Health &amp; family welfare.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endParaRPr lang="en-US" sz="500" b="1" dirty="0" smtClean="0"/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r>
              <a:rPr lang="en-US" sz="1600" b="1" dirty="0" err="1" smtClean="0"/>
              <a:t>Chowgacha</a:t>
            </a:r>
            <a:r>
              <a:rPr lang="en-US" sz="1600" b="1" dirty="0" smtClean="0"/>
              <a:t> health complex Model is replicable through out the country. Declared by Dr. Margaret Chan, D.G. WHO on 8</a:t>
            </a:r>
            <a:r>
              <a:rPr lang="en-US" sz="1600" b="1" baseline="30000" dirty="0" smtClean="0"/>
              <a:t>th</a:t>
            </a:r>
            <a:r>
              <a:rPr lang="en-US" sz="1600" b="1" dirty="0" smtClean="0"/>
              <a:t> March 2010. 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r>
              <a:rPr lang="en-US" sz="1600" b="1" dirty="0" smtClean="0"/>
              <a:t>Major Killer Disease (diabetes, hypertension, cancer, RTA &amp; poisoning)  prevention program starts in  1</a:t>
            </a:r>
            <a:r>
              <a:rPr lang="en-US" sz="1600" b="1" baseline="30000" dirty="0" smtClean="0"/>
              <a:t>st</a:t>
            </a:r>
            <a:r>
              <a:rPr lang="en-US" sz="1600" b="1" dirty="0" smtClean="0"/>
              <a:t> January-2011. 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r>
              <a:rPr lang="en-US" sz="1600" b="1" dirty="0" smtClean="0"/>
              <a:t>TQM activates starts in July 2011 by the support of JACA. </a:t>
            </a:r>
          </a:p>
        </p:txBody>
      </p:sp>
    </p:spTree>
    <p:extLst>
      <p:ext uri="{BB962C8B-B14F-4D97-AF65-F5344CB8AC3E}">
        <p14:creationId xmlns:p14="http://schemas.microsoft.com/office/powerpoint/2010/main" val="37341852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>
            <a:spLocks noGrp="1"/>
          </p:cNvSpPr>
          <p:nvPr/>
        </p:nvSpPr>
        <p:spPr bwMode="auto">
          <a:xfrm>
            <a:off x="0" y="2810889"/>
            <a:ext cx="3733800" cy="69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2860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7432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2004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6576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algn="l"/>
            <a:r>
              <a:rPr lang="en-US" sz="1800" dirty="0" smtClean="0">
                <a:latin typeface="Calibri" pitchFamily="34" charset="0"/>
              </a:rPr>
              <a:t>Blood donation program stared in 16 December, 1996 in Chowgacha UHC</a:t>
            </a:r>
            <a:endParaRPr lang="en-GB" sz="1800" dirty="0" smtClean="0">
              <a:latin typeface="Calibri" pitchFamily="34" charset="0"/>
            </a:endParaRPr>
          </a:p>
        </p:txBody>
      </p:sp>
      <p:pic>
        <p:nvPicPr>
          <p:cNvPr id="5" name="Picture 4" descr="H:\D. S. Islam\ee.jpg"/>
          <p:cNvPicPr>
            <a:picLocks noGrp="1"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0"/>
            <a:ext cx="4191000" cy="27622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 descr="H:\D. S. Islam\e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0"/>
            <a:ext cx="4343400" cy="280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Subtitle 2"/>
          <p:cNvSpPr txBox="1">
            <a:spLocks/>
          </p:cNvSpPr>
          <p:nvPr/>
        </p:nvSpPr>
        <p:spPr bwMode="auto">
          <a:xfrm>
            <a:off x="4800600" y="2826261"/>
            <a:ext cx="4267200" cy="9075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algn="just">
              <a:spcBef>
                <a:spcPct val="20000"/>
              </a:spcBef>
            </a:pPr>
            <a:r>
              <a:rPr lang="en-US" dirty="0">
                <a:latin typeface="Calibri" pitchFamily="34" charset="0"/>
              </a:rPr>
              <a:t>A seminar held on basic information system </a:t>
            </a:r>
            <a:r>
              <a:rPr lang="en-US" dirty="0" smtClean="0">
                <a:latin typeface="Calibri" pitchFamily="34" charset="0"/>
              </a:rPr>
              <a:t>at </a:t>
            </a:r>
            <a:r>
              <a:rPr lang="en-US" dirty="0">
                <a:latin typeface="Calibri" pitchFamily="34" charset="0"/>
              </a:rPr>
              <a:t>Chowgacha </a:t>
            </a:r>
            <a:r>
              <a:rPr lang="en-US" dirty="0" smtClean="0">
                <a:latin typeface="Calibri" pitchFamily="34" charset="0"/>
              </a:rPr>
              <a:t>Degree </a:t>
            </a:r>
            <a:r>
              <a:rPr lang="en-US" dirty="0">
                <a:latin typeface="Calibri" pitchFamily="34" charset="0"/>
              </a:rPr>
              <a:t>College </a:t>
            </a:r>
            <a:r>
              <a:rPr lang="en-US" dirty="0" smtClean="0">
                <a:latin typeface="Calibri" pitchFamily="34" charset="0"/>
              </a:rPr>
              <a:t>in </a:t>
            </a:r>
            <a:r>
              <a:rPr lang="en-US" dirty="0">
                <a:latin typeface="Calibri" pitchFamily="34" charset="0"/>
              </a:rPr>
              <a:t>June, 1997. DC </a:t>
            </a:r>
            <a:r>
              <a:rPr lang="en-US" dirty="0" err="1">
                <a:latin typeface="Calibri" pitchFamily="34" charset="0"/>
              </a:rPr>
              <a:t>Jessore</a:t>
            </a:r>
            <a:r>
              <a:rPr lang="en-US" dirty="0">
                <a:latin typeface="Calibri" pitchFamily="34" charset="0"/>
              </a:rPr>
              <a:t> was the chief </a:t>
            </a:r>
            <a:r>
              <a:rPr lang="en-US" dirty="0" smtClean="0">
                <a:latin typeface="Calibri" pitchFamily="34" charset="0"/>
              </a:rPr>
              <a:t>guest . </a:t>
            </a:r>
            <a:endParaRPr lang="en-GB" dirty="0">
              <a:latin typeface="Calibri" pitchFamily="34" charset="0"/>
            </a:endParaRPr>
          </a:p>
        </p:txBody>
      </p:sp>
      <p:pic>
        <p:nvPicPr>
          <p:cNvPr id="8" name="Picture 4" descr="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0000">
            <a:off x="2062254" y="3684253"/>
            <a:ext cx="4257490" cy="3136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3073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SC0180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9050"/>
            <a:ext cx="4457700" cy="3467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3" descr="DSC0181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700" y="3517900"/>
            <a:ext cx="4470400" cy="335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7" descr="DSC0175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9000" y="3517900"/>
            <a:ext cx="4445000" cy="335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" descr="DSC01779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9000" y="9525"/>
            <a:ext cx="4430712" cy="343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37028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8" y="0"/>
            <a:ext cx="4308475" cy="327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6925" y="0"/>
            <a:ext cx="4572000" cy="327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4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8" y="3505200"/>
            <a:ext cx="4308475" cy="336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5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6925" y="3505200"/>
            <a:ext cx="4578350" cy="336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/>
          <p:cNvSpPr>
            <a:spLocks noGrp="1"/>
          </p:cNvSpPr>
          <p:nvPr>
            <p:ph type="title"/>
          </p:nvPr>
        </p:nvSpPr>
        <p:spPr>
          <a:xfrm>
            <a:off x="0" y="23884"/>
            <a:ext cx="9144000" cy="609600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Achievement of Chowgacha Health Complex</a:t>
            </a:r>
            <a:endParaRPr lang="en-US" sz="3600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85800"/>
            <a:ext cx="9144000" cy="6400800"/>
          </a:xfr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marL="457200" indent="-457200" algn="just" eaLnBrk="1" fontAlgn="auto" hangingPunct="1">
              <a:spcBef>
                <a:spcPts val="0"/>
              </a:spcBef>
              <a:spcAft>
                <a:spcPts val="0"/>
              </a:spcAft>
              <a:buFont typeface="Arial" charset="0"/>
              <a:buAutoNum type="arabicPeriod"/>
              <a:defRPr/>
            </a:pPr>
            <a:r>
              <a:rPr lang="en-US" sz="2400" dirty="0" smtClean="0"/>
              <a:t>From 1996 to 2012, took initiatives to develop </a:t>
            </a:r>
            <a:r>
              <a:rPr lang="en-US" sz="2400" b="1" dirty="0" smtClean="0"/>
              <a:t>Upazilla level standard services </a:t>
            </a:r>
            <a:r>
              <a:rPr lang="en-US" sz="2400" dirty="0" smtClean="0"/>
              <a:t>in Chowgacha health complex.</a:t>
            </a:r>
          </a:p>
          <a:p>
            <a:pPr marL="457200" indent="-457200" algn="just" eaLnBrk="1" fontAlgn="auto" hangingPunct="1">
              <a:spcBef>
                <a:spcPts val="0"/>
              </a:spcBef>
              <a:spcAft>
                <a:spcPts val="0"/>
              </a:spcAft>
              <a:buFont typeface="Arial" charset="0"/>
              <a:buAutoNum type="arabicPeriod"/>
              <a:defRPr/>
            </a:pPr>
            <a:r>
              <a:rPr lang="en-US" sz="2400" dirty="0" smtClean="0"/>
              <a:t>In 2010, Chowgacha Health Complex declared as the model upazilla health complex.</a:t>
            </a:r>
          </a:p>
          <a:p>
            <a:pPr marL="457200" indent="-457200" algn="just" eaLnBrk="1" fontAlgn="auto" hangingPunct="1">
              <a:spcBef>
                <a:spcPts val="0"/>
              </a:spcBef>
              <a:spcAft>
                <a:spcPts val="0"/>
              </a:spcAft>
              <a:buFont typeface="Arial" charset="0"/>
              <a:buNone/>
              <a:defRPr/>
            </a:pPr>
            <a:r>
              <a:rPr lang="en-US" sz="2400" dirty="0">
                <a:latin typeface="Symbol" pitchFamily="18" charset="2"/>
              </a:rPr>
              <a:t>	</a:t>
            </a:r>
            <a:endParaRPr lang="en-US" sz="2400" dirty="0" smtClean="0">
              <a:latin typeface="Symbol" pitchFamily="18" charset="2"/>
            </a:endParaRPr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 smtClean="0">
                <a:cs typeface="Calibri" pitchFamily="34" charset="0"/>
              </a:rPr>
              <a:t> Mobilized 46 additional </a:t>
            </a:r>
            <a:r>
              <a:rPr lang="en-US" sz="2400" dirty="0" smtClean="0"/>
              <a:t>workers from community (26 </a:t>
            </a:r>
            <a:r>
              <a:rPr lang="en-US" sz="2400" dirty="0"/>
              <a:t>volunteer, 12 </a:t>
            </a:r>
            <a:r>
              <a:rPr lang="en-US" sz="2400" dirty="0" smtClean="0"/>
              <a:t>cleaners </a:t>
            </a:r>
            <a:r>
              <a:rPr lang="en-US" sz="2400" dirty="0"/>
              <a:t>and </a:t>
            </a:r>
            <a:r>
              <a:rPr lang="en-US" sz="2400" dirty="0" smtClean="0"/>
              <a:t>others </a:t>
            </a:r>
            <a:r>
              <a:rPr lang="en-US" sz="2400" dirty="0"/>
              <a:t>8</a:t>
            </a:r>
            <a:r>
              <a:rPr lang="en-US" sz="2400" dirty="0" smtClean="0"/>
              <a:t>).</a:t>
            </a:r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 smtClean="0"/>
              <a:t> EOC Beds increased from 11 to 41</a:t>
            </a:r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 smtClean="0"/>
              <a:t>Chowgacha UHC  became the best EOC center  with 98.4% delivery rate</a:t>
            </a:r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 smtClean="0"/>
              <a:t>Chowgacha </a:t>
            </a:r>
            <a:r>
              <a:rPr lang="en-US" sz="2400" dirty="0"/>
              <a:t>UHC achieved </a:t>
            </a:r>
            <a:r>
              <a:rPr lang="en-US" sz="2400" dirty="0" smtClean="0"/>
              <a:t>MDG target in 2009</a:t>
            </a:r>
            <a:r>
              <a:rPr lang="en-US" sz="2400" dirty="0"/>
              <a:t>. </a:t>
            </a:r>
            <a:endParaRPr lang="en-US" sz="2400" dirty="0" smtClean="0"/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 smtClean="0"/>
              <a:t>Chowgacha Health complex is awarded for best performance in EOC form 2005 to 2014. 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accent1"/>
          </a:solidFill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Upazila Health  Complex</a:t>
            </a:r>
            <a:br>
              <a:rPr lang="en-US" sz="40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</a:br>
            <a:r>
              <a:rPr lang="en-US" sz="28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CHOWGACHA , JESSORE.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endParaRPr lang="en-US" sz="2800" dirty="0" smtClean="0"/>
          </a:p>
          <a:p>
            <a:pPr algn="ctr" eaLnBrk="1" hangingPunct="1">
              <a:buFontTx/>
              <a:buNone/>
            </a:pPr>
            <a:endParaRPr lang="en-US" sz="2800" dirty="0" smtClean="0"/>
          </a:p>
        </p:txBody>
      </p:sp>
      <p:graphicFrame>
        <p:nvGraphicFramePr>
          <p:cNvPr id="31748" name="Object 29"/>
          <p:cNvGraphicFramePr>
            <a:graphicFrameLocks noGrp="1" noChangeAspect="1"/>
          </p:cNvGraphicFramePr>
          <p:nvPr>
            <p:ph sz="half" idx="2"/>
          </p:nvPr>
        </p:nvGraphicFramePr>
        <p:xfrm>
          <a:off x="914400" y="2211388"/>
          <a:ext cx="7694613" cy="438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22" name="Chart" r:id="rId4" imgW="4667402" imgH="2657551" progId="Excel.Chart.8">
                  <p:embed/>
                </p:oleObj>
              </mc:Choice>
              <mc:Fallback>
                <p:oleObj name="Chart" r:id="rId4" imgW="4667402" imgH="2657551" progId="Excel.Chart.8">
                  <p:embed/>
                  <p:pic>
                    <p:nvPicPr>
                      <p:cNvPr id="0" name="Object 29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211388"/>
                        <a:ext cx="7694613" cy="438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49" name="Rectangle 5"/>
          <p:cNvSpPr>
            <a:spLocks noChangeArrowheads="1"/>
          </p:cNvSpPr>
          <p:nvPr/>
        </p:nvSpPr>
        <p:spPr bwMode="auto">
          <a:xfrm>
            <a:off x="457200" y="1600200"/>
            <a:ext cx="8153400" cy="609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2400" dirty="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EOC Activities : 1997- 2011 (Hospital Delivery )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960438"/>
          </a:xfrm>
          <a:solidFill>
            <a:schemeClr val="accent1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Upazila Health  Complex</a:t>
            </a:r>
            <a:br>
              <a:rPr lang="en-US" sz="40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</a:br>
            <a:r>
              <a:rPr lang="en-US" sz="28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CHOWGACHA , JESSORE.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endParaRPr lang="en-US" sz="3600" dirty="0" smtClean="0">
              <a:solidFill>
                <a:srgbClr val="FF0066"/>
              </a:solidFill>
            </a:endParaRPr>
          </a:p>
          <a:p>
            <a:pPr algn="ctr" eaLnBrk="1" hangingPunct="1">
              <a:buFontTx/>
              <a:buNone/>
            </a:pPr>
            <a:endParaRPr lang="en-US" sz="3600" dirty="0" smtClean="0">
              <a:solidFill>
                <a:srgbClr val="FF0066"/>
              </a:solidFill>
            </a:endParaRPr>
          </a:p>
        </p:txBody>
      </p:sp>
      <p:graphicFrame>
        <p:nvGraphicFramePr>
          <p:cNvPr id="32772" name="Object 105"/>
          <p:cNvGraphicFramePr>
            <a:graphicFrameLocks noGrp="1" noChangeAspect="1"/>
          </p:cNvGraphicFramePr>
          <p:nvPr>
            <p:ph sz="half" idx="2"/>
          </p:nvPr>
        </p:nvGraphicFramePr>
        <p:xfrm>
          <a:off x="1447800" y="2724150"/>
          <a:ext cx="6858000" cy="3905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46" name="Chart" r:id="rId4" imgW="4667402" imgH="2657551" progId="Excel.Chart.8">
                  <p:embed/>
                </p:oleObj>
              </mc:Choice>
              <mc:Fallback>
                <p:oleObj name="Chart" r:id="rId4" imgW="4667402" imgH="2657551" progId="Excel.Chart.8">
                  <p:embed/>
                  <p:pic>
                    <p:nvPicPr>
                      <p:cNvPr id="0" name="Object 10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2724150"/>
                        <a:ext cx="6858000" cy="3905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4996" name="Rectangle 4"/>
          <p:cNvSpPr>
            <a:spLocks noChangeArrowheads="1"/>
          </p:cNvSpPr>
          <p:nvPr/>
        </p:nvSpPr>
        <p:spPr bwMode="auto">
          <a:xfrm>
            <a:off x="457200" y="1524000"/>
            <a:ext cx="8153400" cy="990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3200" dirty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EOC Activities : 2000 - 2011 (Caesarian Section)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62000"/>
          </a:xfrm>
          <a:solidFill>
            <a:schemeClr val="accent1"/>
          </a:solidFill>
        </p:spPr>
        <p:txBody>
          <a:bodyPr/>
          <a:lstStyle/>
          <a:p>
            <a:pPr eaLnBrk="1" hangingPunct="1"/>
            <a:r>
              <a:rPr lang="en-US" sz="3200" b="1" smtClean="0"/>
              <a:t>Upazila Health  Complex</a:t>
            </a:r>
            <a:br>
              <a:rPr lang="en-US" sz="3200" b="1" smtClean="0"/>
            </a:br>
            <a:r>
              <a:rPr lang="en-US" sz="2000" b="1" smtClean="0"/>
              <a:t>CHOWGACHA , JESSORE.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endParaRPr lang="en-US" sz="2800" smtClean="0"/>
          </a:p>
          <a:p>
            <a:pPr algn="ctr" eaLnBrk="1" hangingPunct="1">
              <a:buFontTx/>
              <a:buNone/>
            </a:pPr>
            <a:endParaRPr lang="en-US" sz="2800" smtClean="0"/>
          </a:p>
        </p:txBody>
      </p:sp>
      <p:sp>
        <p:nvSpPr>
          <p:cNvPr id="181252" name="Rectangle 4"/>
          <p:cNvSpPr>
            <a:spLocks noChangeArrowheads="1"/>
          </p:cNvSpPr>
          <p:nvPr/>
        </p:nvSpPr>
        <p:spPr bwMode="auto">
          <a:xfrm>
            <a:off x="457200" y="1447800"/>
            <a:ext cx="8153400" cy="4699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b"/>
          <a:lstStyle/>
          <a:p>
            <a:pPr algn="ctr" eaLnBrk="1" hangingPunct="1">
              <a:defRPr/>
            </a:pPr>
            <a:r>
              <a:rPr lang="en-US" sz="20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  <a:cs typeface="Arial" charset="0"/>
              </a:rPr>
              <a:t>Progress Of EOC Activities based on UN Process Indicators</a:t>
            </a:r>
            <a:r>
              <a:rPr lang="en-US" sz="4400">
                <a:solidFill>
                  <a:srgbClr val="000000"/>
                </a:solidFill>
                <a:latin typeface="Arial" charset="0"/>
                <a:cs typeface="Arial" charset="0"/>
              </a:rPr>
              <a:t> </a:t>
            </a:r>
          </a:p>
        </p:txBody>
      </p:sp>
      <p:sp>
        <p:nvSpPr>
          <p:cNvPr id="16389" name="Text Box 5"/>
          <p:cNvSpPr txBox="1">
            <a:spLocks noChangeArrowheads="1"/>
          </p:cNvSpPr>
          <p:nvPr/>
        </p:nvSpPr>
        <p:spPr bwMode="auto">
          <a:xfrm>
            <a:off x="441325" y="2246313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endParaRPr lang="en-US" smtClean="0">
              <a:solidFill>
                <a:srgbClr val="000000"/>
              </a:solidFill>
            </a:endParaRPr>
          </a:p>
        </p:txBody>
      </p:sp>
      <p:graphicFrame>
        <p:nvGraphicFramePr>
          <p:cNvPr id="18708" name="Group 276"/>
          <p:cNvGraphicFramePr>
            <a:graphicFrameLocks noGrp="1"/>
          </p:cNvGraphicFramePr>
          <p:nvPr>
            <p:ph sz="half" idx="2"/>
          </p:nvPr>
        </p:nvGraphicFramePr>
        <p:xfrm>
          <a:off x="715963" y="1905000"/>
          <a:ext cx="8047037" cy="4075114"/>
        </p:xfrm>
        <a:graphic>
          <a:graphicData uri="http://schemas.openxmlformats.org/drawingml/2006/table">
            <a:tbl>
              <a:tblPr/>
              <a:tblGrid>
                <a:gridCol w="469900"/>
                <a:gridCol w="2349500"/>
                <a:gridCol w="914400"/>
                <a:gridCol w="609600"/>
                <a:gridCol w="685800"/>
                <a:gridCol w="762000"/>
                <a:gridCol w="774700"/>
                <a:gridCol w="801687"/>
                <a:gridCol w="679450"/>
              </a:tblGrid>
              <a:tr h="6238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SL No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Indicators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2005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2007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2008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2009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2010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2011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Target of UN Process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Total Pregnancy</a:t>
                      </a: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5270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5489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5793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5595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5208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5264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-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02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Total Hospital delivery</a:t>
                      </a: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1293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1899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2682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3489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3755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4413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-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94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03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Total Caesarian section</a:t>
                      </a: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310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473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567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842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962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1007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-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0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04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Maternal death in health Complex.</a:t>
                      </a: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-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1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05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% of birth in health Complex.</a:t>
                      </a: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26.5%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38.1%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52.4%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72%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84.8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98.6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&gt;15%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06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Met-need for EmOC</a:t>
                      </a: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92.1%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107%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175 %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232%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267%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263%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100%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00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07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Caesarian section of all births</a:t>
                      </a: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6.3%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9.7%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11%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17.3%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21.7%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22.5%</a:t>
                      </a: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669900"/>
                          </a:solidFill>
                          <a:effectLst/>
                          <a:latin typeface="Arial" charset="0"/>
                          <a:cs typeface="Arial" charset="0"/>
                        </a:rPr>
                        <a:t>*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5-15%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1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08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Case Fatality Rate</a:t>
                      </a: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0.44%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.13%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0.20%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0.0%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.0%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0.38%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&lt;1%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6492" name="Text Box 108"/>
          <p:cNvSpPr txBox="1">
            <a:spLocks noChangeArrowheads="1"/>
          </p:cNvSpPr>
          <p:nvPr/>
        </p:nvSpPr>
        <p:spPr bwMode="auto">
          <a:xfrm>
            <a:off x="914400" y="5943600"/>
            <a:ext cx="71501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r>
              <a:rPr lang="en-US" smtClean="0">
                <a:solidFill>
                  <a:srgbClr val="669900"/>
                </a:solidFill>
              </a:rPr>
              <a:t>*</a:t>
            </a:r>
            <a:r>
              <a:rPr lang="en-US" smtClean="0">
                <a:solidFill>
                  <a:srgbClr val="000000"/>
                </a:solidFill>
              </a:rPr>
              <a:t> </a:t>
            </a:r>
            <a:r>
              <a:rPr lang="en-US" sz="1400" smtClean="0">
                <a:solidFill>
                  <a:srgbClr val="000000"/>
                </a:solidFill>
              </a:rPr>
              <a:t> Among the total delivery of Chowgacha Upazilla, the CS rate is 12.8% but CS 9.7% is </a:t>
            </a:r>
          </a:p>
          <a:p>
            <a:r>
              <a:rPr lang="en-US" sz="1400" smtClean="0">
                <a:solidFill>
                  <a:srgbClr val="000000"/>
                </a:solidFill>
              </a:rPr>
              <a:t>increased due to complicated delivery from outside this upazilla.</a:t>
            </a:r>
          </a:p>
        </p:txBody>
      </p:sp>
    </p:spTree>
    <p:extLst>
      <p:ext uri="{BB962C8B-B14F-4D97-AF65-F5344CB8AC3E}">
        <p14:creationId xmlns:p14="http://schemas.microsoft.com/office/powerpoint/2010/main" val="376629169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95313"/>
            <a:ext cx="8229600" cy="1238250"/>
          </a:xfrm>
          <a:solidFill>
            <a:schemeClr val="accent1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Upazila Health  Complex</a:t>
            </a:r>
            <a:br>
              <a:rPr lang="en-US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</a:br>
            <a:r>
              <a:rPr lang="en-US" sz="36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CHOWGACHA , JESSORE.</a:t>
            </a:r>
          </a:p>
        </p:txBody>
      </p:sp>
      <p:graphicFrame>
        <p:nvGraphicFramePr>
          <p:cNvPr id="19757" name="Group 301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162752733"/>
              </p:ext>
            </p:extLst>
          </p:nvPr>
        </p:nvGraphicFramePr>
        <p:xfrm>
          <a:off x="457200" y="3063874"/>
          <a:ext cx="8153400" cy="3032125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660400"/>
                <a:gridCol w="2336800"/>
                <a:gridCol w="1117600"/>
                <a:gridCol w="1054100"/>
                <a:gridCol w="1041400"/>
                <a:gridCol w="952500"/>
                <a:gridCol w="990600"/>
              </a:tblGrid>
              <a:tr h="71094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SL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No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Name of institute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NVD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Vacuum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Del.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V. 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Breech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C. 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Section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Total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</a:tr>
              <a:tr h="40879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01.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Chowgacha UHC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3346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34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26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1007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4413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</a:tr>
              <a:tr h="40879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02.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Ad-din Hospital Jessore.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1124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1864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3492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</a:tr>
              <a:tr h="63777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03.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Khulna Medical College Hospital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1581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58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18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1356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3013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</a:tr>
              <a:tr h="865832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04.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250 bed Hospital, Jessore </a:t>
                      </a: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1327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</a:t>
                      </a:r>
                      <a:endParaRPr kumimoji="0" lang="en-US" sz="2000" b="1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25</a:t>
                      </a:r>
                      <a:endParaRPr kumimoji="0" lang="en-US" sz="2000" b="1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1498</a:t>
                      </a:r>
                      <a:endParaRPr kumimoji="0" lang="en-US" sz="2000" b="1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2852</a:t>
                      </a:r>
                      <a:endParaRPr kumimoji="0" lang="en-US" sz="2000" b="1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</a:txBody>
                  <a:tcPr marT="45709" marB="45709" horzOverflow="overflow"/>
                </a:tc>
              </a:tr>
            </a:tbl>
          </a:graphicData>
        </a:graphic>
      </p:graphicFrame>
      <p:sp>
        <p:nvSpPr>
          <p:cNvPr id="129027" name="Rectangle 3"/>
          <p:cNvSpPr>
            <a:spLocks noChangeArrowheads="1"/>
          </p:cNvSpPr>
          <p:nvPr/>
        </p:nvSpPr>
        <p:spPr bwMode="auto">
          <a:xfrm>
            <a:off x="457200" y="1930400"/>
            <a:ext cx="8153400" cy="8890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dirty="0">
                <a:solidFill>
                  <a:srgbClr val="3333CC"/>
                </a:solidFill>
                <a:latin typeface="Arial" charset="0"/>
                <a:cs typeface="Arial" charset="0"/>
              </a:rPr>
              <a:t>Comparative Data of Delivery of best performing EOC center of Khulna Division in 2011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7924800" y="4049713"/>
            <a:ext cx="381000" cy="158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7896225" y="4443413"/>
            <a:ext cx="419100" cy="317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757" name="Group 301"/>
          <p:cNvGraphicFramePr>
            <a:graphicFrameLocks noGrp="1"/>
          </p:cNvGraphicFramePr>
          <p:nvPr>
            <p:ph sz="half" idx="1"/>
          </p:nvPr>
        </p:nvGraphicFramePr>
        <p:xfrm>
          <a:off x="457200" y="2590800"/>
          <a:ext cx="8153399" cy="3475039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787865"/>
                <a:gridCol w="3194870"/>
                <a:gridCol w="922497"/>
                <a:gridCol w="930031"/>
                <a:gridCol w="1136341"/>
                <a:gridCol w="1181795"/>
              </a:tblGrid>
              <a:tr h="71101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SL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No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Name of institute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ANC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NVD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C. 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Section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Total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3" marB="45713" horzOverflow="overflow"/>
                </a:tc>
              </a:tr>
              <a:tr h="4088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01</a:t>
                      </a: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Ad-din Hospital Jessore.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23981</a:t>
                      </a: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640</a:t>
                      </a: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3075</a:t>
                      </a: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3715</a:t>
                      </a:r>
                    </a:p>
                  </a:txBody>
                  <a:tcPr marT="45713" marB="45713" horzOverflow="overflow"/>
                </a:tc>
              </a:tr>
              <a:tr h="40883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02</a:t>
                      </a:r>
                      <a:endParaRPr lang="en-US" sz="1800" dirty="0"/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Jhenaidah</a:t>
                      </a: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</a:t>
                      </a:r>
                      <a:r>
                        <a:rPr kumimoji="0" lang="en-US" sz="1600" b="1" u="none" strike="noStrike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Sadar</a:t>
                      </a: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Hospital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15360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1839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1143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2997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</a:tr>
              <a:tr h="40883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03</a:t>
                      </a:r>
                      <a:endParaRPr lang="en-US" sz="1800" dirty="0"/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250 bed Hospital, Jessore </a:t>
                      </a: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13152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1327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1778</a:t>
                      </a:r>
                      <a:endParaRPr kumimoji="0" lang="en-US" sz="2000" b="1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2967</a:t>
                      </a:r>
                      <a:endParaRPr kumimoji="0" lang="en-US" sz="2000" b="1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</a:txBody>
                  <a:tcPr marT="45713" marB="45713" horzOverflow="overflow"/>
                </a:tc>
              </a:tr>
              <a:tr h="40883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04</a:t>
                      </a:r>
                      <a:endParaRPr lang="en-US" sz="1800" dirty="0"/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Chowgacha UHC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18650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2163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759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2922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3" marB="45713" horzOverflow="overflow"/>
                </a:tc>
              </a:tr>
              <a:tr h="579155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05</a:t>
                      </a:r>
                      <a:endParaRPr lang="en-US" sz="1800" dirty="0"/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Khulna Medical College Hospital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6977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1455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1228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2683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</a:tr>
              <a:tr h="54955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06</a:t>
                      </a:r>
                      <a:endParaRPr lang="en-US" sz="1800" dirty="0"/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r>
                        <a:rPr lang="en-GB" sz="1600" b="1" dirty="0" smtClean="0"/>
                        <a:t>250</a:t>
                      </a:r>
                      <a:r>
                        <a:rPr lang="en-GB" sz="1600" b="1" baseline="0" dirty="0" smtClean="0"/>
                        <a:t> Bedded Hospital, </a:t>
                      </a:r>
                      <a:r>
                        <a:rPr lang="en-GB" sz="1600" b="1" baseline="0" dirty="0" err="1" smtClean="0"/>
                        <a:t>Kushtia</a:t>
                      </a:r>
                      <a:endParaRPr lang="en-GB" sz="1600" b="1" dirty="0"/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 smtClean="0"/>
                        <a:t>4735</a:t>
                      </a:r>
                      <a:endParaRPr lang="en-GB" sz="1800" b="1" dirty="0">
                        <a:latin typeface="+mn-lt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 smtClean="0"/>
                        <a:t>1595</a:t>
                      </a:r>
                      <a:endParaRPr lang="en-GB" sz="1800" b="1" dirty="0">
                        <a:latin typeface="+mn-lt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 smtClean="0"/>
                        <a:t>919</a:t>
                      </a:r>
                      <a:endParaRPr lang="en-GB" sz="1800" b="1" dirty="0">
                        <a:latin typeface="+mn-lt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baseline="0" dirty="0" smtClean="0"/>
                        <a:t>2514</a:t>
                      </a:r>
                      <a:endParaRPr lang="en-GB" sz="1800" b="1" dirty="0">
                        <a:latin typeface="+mn-lt"/>
                      </a:endParaRPr>
                    </a:p>
                  </a:txBody>
                  <a:tcPr marT="45713" marB="45713" horzOverflow="overflow"/>
                </a:tc>
              </a:tr>
            </a:tbl>
          </a:graphicData>
        </a:graphic>
      </p:graphicFrame>
      <p:sp>
        <p:nvSpPr>
          <p:cNvPr id="3282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990600"/>
          </a:xfrm>
          <a:solidFill>
            <a:srgbClr val="BBE0E3"/>
          </a:solidFill>
        </p:spPr>
        <p:txBody>
          <a:bodyPr/>
          <a:lstStyle/>
          <a:p>
            <a:pPr eaLnBrk="1" hangingPunct="1"/>
            <a:r>
              <a:rPr lang="en-US" sz="3200" b="1" smtClean="0">
                <a:solidFill>
                  <a:srgbClr val="000000"/>
                </a:solidFill>
              </a:rPr>
              <a:t>Upazila Health  Complex</a:t>
            </a:r>
            <a:br>
              <a:rPr lang="en-US" sz="3200" b="1" smtClean="0">
                <a:solidFill>
                  <a:srgbClr val="000000"/>
                </a:solidFill>
              </a:rPr>
            </a:br>
            <a:r>
              <a:rPr lang="en-US" sz="2000" b="1" smtClean="0">
                <a:solidFill>
                  <a:srgbClr val="000000"/>
                </a:solidFill>
              </a:rPr>
              <a:t>CHOWGACHA , JESSORE.</a:t>
            </a:r>
          </a:p>
        </p:txBody>
      </p:sp>
      <p:sp>
        <p:nvSpPr>
          <p:cNvPr id="32829" name="Rectangle 4"/>
          <p:cNvSpPr>
            <a:spLocks noChangeArrowheads="1"/>
          </p:cNvSpPr>
          <p:nvPr/>
        </p:nvSpPr>
        <p:spPr bwMode="auto">
          <a:xfrm>
            <a:off x="457200" y="1447800"/>
            <a:ext cx="8153400" cy="990600"/>
          </a:xfrm>
          <a:prstGeom prst="rect">
            <a:avLst/>
          </a:prstGeom>
          <a:solidFill>
            <a:srgbClr val="00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/>
          <a:p>
            <a:pPr algn="ctr" eaLnBrk="1" hangingPunct="1"/>
            <a:r>
              <a:rPr lang="en-US" sz="2400" smtClean="0">
                <a:solidFill>
                  <a:srgbClr val="3333CC"/>
                </a:solidFill>
              </a:rPr>
              <a:t>Comparative Data of Delivery of best performing EOC center of Khulna Division in 2017</a:t>
            </a:r>
          </a:p>
        </p:txBody>
      </p:sp>
    </p:spTree>
    <p:extLst>
      <p:ext uri="{BB962C8B-B14F-4D97-AF65-F5344CB8AC3E}">
        <p14:creationId xmlns:p14="http://schemas.microsoft.com/office/powerpoint/2010/main" val="3441083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57200" y="1905000"/>
            <a:ext cx="8229600" cy="449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325562"/>
          </a:xfrm>
          <a:solidFill>
            <a:srgbClr val="0070C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b="1" dirty="0" smtClean="0">
                <a:solidFill>
                  <a:schemeClr val="bg1"/>
                </a:solidFill>
              </a:rPr>
              <a:t>Upazilla Health  Complex</a:t>
            </a:r>
            <a:br>
              <a:rPr lang="en-US" sz="5400" b="1" dirty="0" smtClean="0">
                <a:solidFill>
                  <a:schemeClr val="bg1"/>
                </a:solidFill>
              </a:rPr>
            </a:br>
            <a:r>
              <a:rPr lang="en-US" b="1" dirty="0" smtClean="0">
                <a:solidFill>
                  <a:schemeClr val="bg1"/>
                </a:solidFill>
              </a:rPr>
              <a:t>CHOWGACHA , JESSORE.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0"/>
            <a:ext cx="8229600" cy="4495800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>
            <a:normAutofit fontScale="92500" lnSpcReduction="10000"/>
          </a:bodyPr>
          <a:lstStyle/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en-US" sz="3000" b="1" dirty="0" smtClean="0"/>
              <a:t>COMMUNITY  SUPPORTED MANPOWER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en-US" b="1" dirty="0" smtClean="0"/>
              <a:t>TOTAL</a:t>
            </a:r>
            <a:r>
              <a:rPr lang="en-US" dirty="0" smtClean="0"/>
              <a:t> 			:46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Volunteers 		:26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Cleaners &amp; guards	:16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Others			:04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/>
              <a:t>The remunerations come from 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/>
              <a:t>	</a:t>
            </a:r>
            <a:r>
              <a:rPr lang="en-US" sz="2000" dirty="0" smtClean="0"/>
              <a:t>Outsourcing	:25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2000" dirty="0" smtClean="0"/>
              <a:t>	Service provider	:21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2000" dirty="0" smtClean="0"/>
              <a:t>The amount of remuneration ranging  from 200/= To 8000/=tk. Per month depending  upon the style of work, which costs a total of nearly 90,ooo/=Tk per month.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3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1447800"/>
          </a:xfrm>
          <a:solidFill>
            <a:srgbClr val="0070C0"/>
          </a:solidFill>
        </p:spPr>
        <p:txBody>
          <a:bodyPr/>
          <a:lstStyle/>
          <a:p>
            <a:pPr eaLnBrk="1" hangingPunct="1"/>
            <a:r>
              <a:rPr lang="en-US" sz="2800" b="1" i="1" smtClean="0">
                <a:solidFill>
                  <a:schemeClr val="bg1"/>
                </a:solidFill>
                <a:latin typeface="Albertus Extra Bold" pitchFamily="34" charset="0"/>
              </a:rPr>
              <a:t>MDG 4 and 5 Achieved at Chowgacha in 2011 and SDG targets in 2030</a:t>
            </a:r>
          </a:p>
        </p:txBody>
      </p:sp>
      <p:sp>
        <p:nvSpPr>
          <p:cNvPr id="28674" name="Rectangle 2"/>
          <p:cNvSpPr>
            <a:spLocks noGrp="1" noChangeArrowheads="1"/>
          </p:cNvSpPr>
          <p:nvPr>
            <p:ph idx="1"/>
          </p:nvPr>
        </p:nvSpPr>
        <p:spPr>
          <a:xfrm>
            <a:off x="419100" y="2133600"/>
            <a:ext cx="8305800" cy="3733800"/>
          </a:xfr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>
            <a:normAutofit fontScale="92500" lnSpcReduction="20000"/>
          </a:bodyPr>
          <a:lstStyle/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2000" b="1" dirty="0" smtClean="0">
                <a:solidFill>
                  <a:srgbClr val="C00000"/>
                </a:solidFill>
              </a:rPr>
              <a:t>Per 1000 live Birth      </a:t>
            </a:r>
            <a:r>
              <a:rPr lang="en-US" sz="2000" b="1" dirty="0" err="1" smtClean="0">
                <a:solidFill>
                  <a:srgbClr val="C00000"/>
                </a:solidFill>
              </a:rPr>
              <a:t>Chowgacha</a:t>
            </a:r>
            <a:r>
              <a:rPr lang="en-US" sz="2000" b="1" dirty="0" smtClean="0">
                <a:solidFill>
                  <a:srgbClr val="C00000"/>
                </a:solidFill>
              </a:rPr>
              <a:t>          MDG Target      SDG Target</a:t>
            </a: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endParaRPr lang="en-US" sz="2000" b="1" dirty="0" smtClean="0">
              <a:solidFill>
                <a:schemeClr val="hlink"/>
              </a:solidFill>
            </a:endParaRP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1800" b="1" dirty="0" smtClean="0">
                <a:solidFill>
                  <a:srgbClr val="0000FF"/>
                </a:solidFill>
              </a:rPr>
              <a:t>MMR:                                        </a:t>
            </a:r>
            <a:r>
              <a:rPr lang="en-US" sz="2400" b="1" dirty="0" smtClean="0">
                <a:solidFill>
                  <a:srgbClr val="669900"/>
                </a:solidFill>
              </a:rPr>
              <a:t>.68</a:t>
            </a:r>
            <a:r>
              <a:rPr lang="en-US" sz="1800" b="1" dirty="0" smtClean="0">
                <a:solidFill>
                  <a:srgbClr val="336600"/>
                </a:solidFill>
              </a:rPr>
              <a:t>                      </a:t>
            </a:r>
            <a:r>
              <a:rPr lang="en-US" sz="1800" b="1" dirty="0" smtClean="0">
                <a:solidFill>
                  <a:srgbClr val="FF0066"/>
                </a:solidFill>
              </a:rPr>
              <a:t>1.47 </a:t>
            </a:r>
            <a:r>
              <a:rPr lang="en-US" sz="1800" b="1" dirty="0" smtClean="0">
                <a:solidFill>
                  <a:srgbClr val="CC0000"/>
                </a:solidFill>
              </a:rPr>
              <a:t>                      </a:t>
            </a:r>
            <a:r>
              <a:rPr lang="en-US" sz="1800" b="1" dirty="0" smtClean="0">
                <a:solidFill>
                  <a:srgbClr val="0000FF"/>
                </a:solidFill>
              </a:rPr>
              <a:t>.70</a:t>
            </a: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1800" b="1" dirty="0" smtClean="0">
                <a:solidFill>
                  <a:srgbClr val="0000FF"/>
                </a:solidFill>
              </a:rPr>
              <a:t>(MDG 5 Achieved)</a:t>
            </a: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endParaRPr lang="en-US" sz="1800" b="1" dirty="0">
              <a:solidFill>
                <a:srgbClr val="0000FF"/>
              </a:solidFill>
            </a:endParaRP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1800" b="1" dirty="0" smtClean="0">
                <a:solidFill>
                  <a:srgbClr val="0000FF"/>
                </a:solidFill>
              </a:rPr>
              <a:t>NNMR:			</a:t>
            </a:r>
            <a:r>
              <a:rPr lang="en-US" sz="2600" b="1" dirty="0" smtClean="0">
                <a:solidFill>
                  <a:srgbClr val="0000FF"/>
                </a:solidFill>
              </a:rPr>
              <a:t>   </a:t>
            </a:r>
            <a:r>
              <a:rPr lang="en-US" sz="2200" b="1" dirty="0" smtClean="0">
                <a:solidFill>
                  <a:srgbClr val="669900"/>
                </a:solidFill>
              </a:rPr>
              <a:t>18.2</a:t>
            </a:r>
            <a:r>
              <a:rPr lang="en-US" sz="2600" b="1" dirty="0" smtClean="0">
                <a:solidFill>
                  <a:srgbClr val="669900"/>
                </a:solidFill>
              </a:rPr>
              <a:t>		</a:t>
            </a:r>
            <a:r>
              <a:rPr lang="en-US" sz="2600" b="1" dirty="0" smtClean="0">
                <a:solidFill>
                  <a:srgbClr val="FF0000"/>
                </a:solidFill>
              </a:rPr>
              <a:t>  -       </a:t>
            </a:r>
            <a:r>
              <a:rPr lang="en-US" sz="2600" b="1" dirty="0" smtClean="0">
                <a:solidFill>
                  <a:srgbClr val="669900"/>
                </a:solidFill>
              </a:rPr>
              <a:t>		   </a:t>
            </a:r>
            <a:r>
              <a:rPr lang="en-US" sz="1700" b="1" dirty="0" smtClean="0">
                <a:solidFill>
                  <a:srgbClr val="0000FF"/>
                </a:solidFill>
              </a:rPr>
              <a:t>12</a:t>
            </a:r>
            <a:r>
              <a:rPr lang="en-US" sz="2600" b="1" dirty="0" smtClean="0">
                <a:solidFill>
                  <a:srgbClr val="669900"/>
                </a:solidFill>
              </a:rPr>
              <a:t>	</a:t>
            </a:r>
            <a:endParaRPr lang="en-US" sz="2600" b="1" dirty="0" smtClean="0">
              <a:solidFill>
                <a:srgbClr val="0000FF"/>
              </a:solidFill>
            </a:endParaRP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endParaRPr lang="en-US" sz="1800" b="1" dirty="0" smtClean="0">
              <a:solidFill>
                <a:srgbClr val="0000FF"/>
              </a:solidFill>
            </a:endParaRP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1800" b="1" dirty="0" smtClean="0">
                <a:solidFill>
                  <a:srgbClr val="0000FF"/>
                </a:solidFill>
              </a:rPr>
              <a:t>IMR:                                        </a:t>
            </a:r>
            <a:r>
              <a:rPr lang="en-US" sz="1800" b="1" dirty="0" smtClean="0">
                <a:solidFill>
                  <a:srgbClr val="669900"/>
                </a:solidFill>
              </a:rPr>
              <a:t>  </a:t>
            </a:r>
            <a:r>
              <a:rPr lang="en-US" sz="2400" b="1" dirty="0" smtClean="0">
                <a:solidFill>
                  <a:srgbClr val="669900"/>
                </a:solidFill>
              </a:rPr>
              <a:t>23.6 </a:t>
            </a:r>
            <a:r>
              <a:rPr lang="en-US" sz="1800" b="1" dirty="0" smtClean="0">
                <a:solidFill>
                  <a:srgbClr val="669900"/>
                </a:solidFill>
              </a:rPr>
              <a:t> </a:t>
            </a:r>
            <a:r>
              <a:rPr lang="en-US" sz="1800" b="1" dirty="0" smtClean="0">
                <a:solidFill>
                  <a:srgbClr val="0000FF"/>
                </a:solidFill>
              </a:rPr>
              <a:t>                   </a:t>
            </a:r>
            <a:r>
              <a:rPr lang="en-US" sz="1800" b="1" dirty="0" smtClean="0">
                <a:solidFill>
                  <a:srgbClr val="FF0066"/>
                </a:solidFill>
              </a:rPr>
              <a:t>31  </a:t>
            </a:r>
            <a:r>
              <a:rPr lang="en-US" sz="1800" b="1" dirty="0" smtClean="0">
                <a:solidFill>
                  <a:srgbClr val="0000FF"/>
                </a:solidFill>
              </a:rPr>
              <a:t>                         - </a:t>
            </a: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1800" b="1" dirty="0" smtClean="0">
                <a:solidFill>
                  <a:srgbClr val="0000FF"/>
                </a:solidFill>
              </a:rPr>
              <a:t>(MDG 4 Achieved)</a:t>
            </a: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endParaRPr lang="en-US" sz="1800" b="1" dirty="0" smtClean="0">
              <a:solidFill>
                <a:srgbClr val="0000FF"/>
              </a:solidFill>
            </a:endParaRP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1800" b="1" dirty="0" smtClean="0">
                <a:solidFill>
                  <a:srgbClr val="0000FF"/>
                </a:solidFill>
              </a:rPr>
              <a:t>&lt;5 MR:                                     </a:t>
            </a:r>
            <a:r>
              <a:rPr lang="en-US" sz="2400" b="1" dirty="0" smtClean="0">
                <a:solidFill>
                  <a:srgbClr val="0000FF"/>
                </a:solidFill>
              </a:rPr>
              <a:t> </a:t>
            </a:r>
            <a:r>
              <a:rPr lang="en-US" sz="2400" b="1" dirty="0" smtClean="0">
                <a:solidFill>
                  <a:srgbClr val="669900"/>
                </a:solidFill>
              </a:rPr>
              <a:t>25.7 </a:t>
            </a:r>
            <a:r>
              <a:rPr lang="en-US" sz="1800" b="1" dirty="0" smtClean="0">
                <a:solidFill>
                  <a:srgbClr val="669900"/>
                </a:solidFill>
              </a:rPr>
              <a:t> </a:t>
            </a:r>
            <a:r>
              <a:rPr lang="en-US" sz="1800" b="1" dirty="0" smtClean="0">
                <a:solidFill>
                  <a:srgbClr val="0000FF"/>
                </a:solidFill>
              </a:rPr>
              <a:t>                   </a:t>
            </a:r>
            <a:r>
              <a:rPr lang="en-US" sz="1800" b="1" dirty="0" smtClean="0">
                <a:solidFill>
                  <a:srgbClr val="FF0066"/>
                </a:solidFill>
              </a:rPr>
              <a:t>50    </a:t>
            </a:r>
            <a:r>
              <a:rPr lang="en-US" sz="1800" b="1" dirty="0" smtClean="0">
                <a:solidFill>
                  <a:srgbClr val="0000FF"/>
                </a:solidFill>
              </a:rPr>
              <a:t>                      25</a:t>
            </a: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1800" b="1" dirty="0" smtClean="0">
                <a:solidFill>
                  <a:srgbClr val="0000FF"/>
                </a:solidFill>
              </a:rPr>
              <a:t>(MDG 4 Achieved)</a:t>
            </a: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endParaRPr lang="en-US" sz="1800" b="1" dirty="0" smtClean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18433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229600" cy="1335088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lang="en-US" sz="2800" b="1" dirty="0"/>
              <a:t>Factors Responsible for Reduction of Maternal and Infant Mortality Rate in </a:t>
            </a:r>
            <a:r>
              <a:rPr lang="en-US" sz="2800" b="1" dirty="0" err="1"/>
              <a:t>Chowgacha</a:t>
            </a:r>
            <a:endParaRPr lang="en-US" sz="2800" b="1" dirty="0"/>
          </a:p>
        </p:txBody>
      </p:sp>
      <p:sp>
        <p:nvSpPr>
          <p:cNvPr id="2201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52600"/>
            <a:ext cx="8382000" cy="4953000"/>
          </a:xfrm>
        </p:spPr>
        <p:txBody>
          <a:bodyPr/>
          <a:lstStyle/>
          <a:p>
            <a:pPr algn="just">
              <a:lnSpc>
                <a:spcPct val="80000"/>
              </a:lnSpc>
              <a:buClr>
                <a:schemeClr val="tx1"/>
              </a:buClr>
              <a:buFontTx/>
              <a:buNone/>
            </a:pPr>
            <a:r>
              <a:rPr lang="en-US" sz="1800" b="1" dirty="0">
                <a:solidFill>
                  <a:srgbClr val="0000FF"/>
                </a:solidFill>
              </a:rPr>
              <a:t>Special Activities initiated by Medical Officers in February 1996: </a:t>
            </a:r>
          </a:p>
          <a:p>
            <a:pPr algn="just">
              <a:lnSpc>
                <a:spcPct val="80000"/>
              </a:lnSpc>
              <a:buClr>
                <a:schemeClr val="tx1"/>
              </a:buClr>
              <a:buFontTx/>
              <a:buNone/>
            </a:pPr>
            <a:endParaRPr lang="en-US" sz="1800" b="1" dirty="0">
              <a:solidFill>
                <a:srgbClr val="0000FF"/>
              </a:solidFill>
            </a:endParaRPr>
          </a:p>
          <a:p>
            <a:pPr algn="just"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v"/>
            </a:pPr>
            <a:r>
              <a:rPr lang="en-US" sz="1800" b="1" dirty="0">
                <a:solidFill>
                  <a:srgbClr val="0000FF"/>
                </a:solidFill>
              </a:rPr>
              <a:t>Setting up </a:t>
            </a:r>
            <a:r>
              <a:rPr lang="en-US" sz="1800" b="1" dirty="0" smtClean="0">
                <a:solidFill>
                  <a:srgbClr val="0000FF"/>
                </a:solidFill>
              </a:rPr>
              <a:t> of ANC Corner &amp;final treatment should given by a  MO  initiated by a nurse .</a:t>
            </a:r>
            <a:endParaRPr lang="en-US" sz="1800" b="1" dirty="0"/>
          </a:p>
          <a:p>
            <a:pPr algn="just"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v"/>
            </a:pPr>
            <a:endParaRPr lang="en-US" sz="1800" b="1" dirty="0"/>
          </a:p>
          <a:p>
            <a:pPr algn="just"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v"/>
            </a:pPr>
            <a:r>
              <a:rPr lang="en-US" sz="1800" b="1" dirty="0" smtClean="0">
                <a:solidFill>
                  <a:srgbClr val="0000FF"/>
                </a:solidFill>
              </a:rPr>
              <a:t>24 hours  Com </a:t>
            </a:r>
            <a:r>
              <a:rPr lang="en-US" sz="1800" b="1" dirty="0">
                <a:solidFill>
                  <a:srgbClr val="0000FF"/>
                </a:solidFill>
              </a:rPr>
              <a:t>EOC Service</a:t>
            </a:r>
            <a:r>
              <a:rPr lang="en-US" sz="1800" b="1" dirty="0"/>
              <a:t> by a </a:t>
            </a:r>
            <a:r>
              <a:rPr lang="en-US" sz="1800" b="1" dirty="0" err="1"/>
              <a:t>Gyne</a:t>
            </a:r>
            <a:r>
              <a:rPr lang="en-US" sz="1800" b="1" dirty="0"/>
              <a:t> &amp; Obs. trained Medical </a:t>
            </a:r>
            <a:r>
              <a:rPr lang="en-US" sz="1800" b="1" dirty="0" smtClean="0"/>
              <a:t>officer.</a:t>
            </a:r>
            <a:endParaRPr lang="en-US" sz="1800" b="1" dirty="0"/>
          </a:p>
          <a:p>
            <a:pPr algn="just"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v"/>
            </a:pPr>
            <a:endParaRPr lang="en-US" sz="1800" b="1" dirty="0"/>
          </a:p>
          <a:p>
            <a:pPr algn="just"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v"/>
            </a:pPr>
            <a:r>
              <a:rPr lang="en-US" sz="1800" b="1" dirty="0">
                <a:solidFill>
                  <a:srgbClr val="0000FF"/>
                </a:solidFill>
              </a:rPr>
              <a:t>Establishment of Under 5 Corner for under 5 children</a:t>
            </a:r>
            <a:r>
              <a:rPr lang="en-US" sz="1800" b="1" dirty="0"/>
              <a:t> for their nutritional assessment and treatment by </a:t>
            </a:r>
            <a:r>
              <a:rPr lang="en-US" sz="1800" b="1" dirty="0" smtClean="0"/>
              <a:t>MO</a:t>
            </a:r>
            <a:r>
              <a:rPr lang="en-US" sz="1800" b="1" dirty="0"/>
              <a:t>.</a:t>
            </a:r>
          </a:p>
          <a:p>
            <a:pPr algn="just"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v"/>
            </a:pPr>
            <a:endParaRPr lang="en-US" sz="1800" b="1" dirty="0"/>
          </a:p>
          <a:p>
            <a:pPr algn="just"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v"/>
            </a:pPr>
            <a:r>
              <a:rPr lang="en-US" sz="1800" b="1" dirty="0">
                <a:solidFill>
                  <a:srgbClr val="0000FF"/>
                </a:solidFill>
              </a:rPr>
              <a:t>Record Keeping of Monthly Birth and Death</a:t>
            </a:r>
            <a:r>
              <a:rPr lang="en-US" sz="1800" b="1" dirty="0"/>
              <a:t> by specially developed format by health assistant throughout the </a:t>
            </a:r>
            <a:r>
              <a:rPr lang="en-US" sz="1800" b="1" dirty="0" err="1"/>
              <a:t>Upazilla</a:t>
            </a:r>
            <a:r>
              <a:rPr lang="en-US" sz="1800" b="1" dirty="0"/>
              <a:t> supervised by </a:t>
            </a:r>
            <a:r>
              <a:rPr lang="en-US" sz="1800" b="1" dirty="0" smtClean="0"/>
              <a:t>UH&amp;FPO.</a:t>
            </a:r>
            <a:endParaRPr lang="en-US" sz="1800" b="1" dirty="0"/>
          </a:p>
          <a:p>
            <a:pPr algn="just"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v"/>
            </a:pPr>
            <a:endParaRPr lang="en-US" sz="1800" b="1" dirty="0"/>
          </a:p>
          <a:p>
            <a:pPr algn="just"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v"/>
            </a:pPr>
            <a:r>
              <a:rPr lang="en-US" sz="1800" b="1" dirty="0" smtClean="0">
                <a:solidFill>
                  <a:srgbClr val="0000FF"/>
                </a:solidFill>
              </a:rPr>
              <a:t>Health Education by MO  as per roster</a:t>
            </a:r>
            <a:r>
              <a:rPr lang="en-US" sz="1800" b="1" dirty="0" smtClean="0"/>
              <a:t> </a:t>
            </a:r>
            <a:r>
              <a:rPr lang="en-US" sz="1800" b="1" dirty="0"/>
              <a:t>among women coming for antenatal care, pregnant women and general patients and their attendants at all </a:t>
            </a:r>
            <a:r>
              <a:rPr lang="en-US" sz="1800" b="1" dirty="0" smtClean="0"/>
              <a:t>corners.</a:t>
            </a:r>
          </a:p>
          <a:p>
            <a:pPr algn="just"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v"/>
            </a:pPr>
            <a:endParaRPr lang="en-US" sz="1800" b="1" dirty="0" smtClean="0"/>
          </a:p>
          <a:p>
            <a:pPr algn="just"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v"/>
            </a:pPr>
            <a:r>
              <a:rPr lang="en-US" sz="1800" b="1" dirty="0" smtClean="0">
                <a:solidFill>
                  <a:srgbClr val="0000FF"/>
                </a:solidFill>
              </a:rPr>
              <a:t>Established </a:t>
            </a:r>
            <a:r>
              <a:rPr lang="en-US" sz="1800" b="1" dirty="0">
                <a:solidFill>
                  <a:srgbClr val="0000FF"/>
                </a:solidFill>
              </a:rPr>
              <a:t>Service Corner</a:t>
            </a:r>
            <a:r>
              <a:rPr lang="en-US" sz="1800" b="1" dirty="0"/>
              <a:t> </a:t>
            </a:r>
            <a:r>
              <a:rPr lang="en-US" sz="1800" b="1" dirty="0" smtClean="0"/>
              <a:t> </a:t>
            </a:r>
            <a:r>
              <a:rPr lang="en-US" sz="1800" b="1" dirty="0"/>
              <a:t>ANC </a:t>
            </a:r>
            <a:r>
              <a:rPr lang="en-US" sz="1800" b="1" dirty="0" err="1" smtClean="0"/>
              <a:t>corner,Under</a:t>
            </a:r>
            <a:r>
              <a:rPr lang="en-US" sz="1800" b="1" dirty="0" smtClean="0"/>
              <a:t> _5 corner, </a:t>
            </a:r>
            <a:r>
              <a:rPr lang="en-US" sz="1800" b="1" dirty="0" err="1" smtClean="0"/>
              <a:t>EPI&amp;Breast</a:t>
            </a:r>
            <a:r>
              <a:rPr lang="en-US" sz="1800" b="1" dirty="0" smtClean="0"/>
              <a:t> feeding corner, </a:t>
            </a:r>
            <a:r>
              <a:rPr lang="en-US" sz="1800" b="1" dirty="0"/>
              <a:t>ORT </a:t>
            </a:r>
            <a:r>
              <a:rPr lang="en-US" sz="1800" b="1" dirty="0" smtClean="0"/>
              <a:t>corner, Health education corner </a:t>
            </a:r>
            <a:r>
              <a:rPr lang="en-US" sz="2000" b="1" dirty="0"/>
              <a:t>.</a:t>
            </a:r>
            <a:endParaRPr 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159033361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1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229600" cy="1335088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lang="en-US" sz="2800" b="1"/>
              <a:t>Factors Responsible for Reduction of Maternal and Infant Mortality Rate in Chowgacha-</a:t>
            </a:r>
            <a:r>
              <a:rPr lang="en-US" sz="2800" b="1" i="1"/>
              <a:t> Contd.</a:t>
            </a:r>
          </a:p>
        </p:txBody>
      </p:sp>
      <p:sp>
        <p:nvSpPr>
          <p:cNvPr id="2222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52600"/>
            <a:ext cx="8382000" cy="4724400"/>
          </a:xfrm>
        </p:spPr>
        <p:txBody>
          <a:bodyPr/>
          <a:lstStyle/>
          <a:p>
            <a:pPr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v"/>
            </a:pPr>
            <a:endParaRPr lang="en-US" sz="2000" b="1" dirty="0">
              <a:solidFill>
                <a:srgbClr val="0000FF"/>
              </a:solidFill>
            </a:endParaRPr>
          </a:p>
          <a:p>
            <a:pPr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v"/>
            </a:pPr>
            <a:r>
              <a:rPr lang="en-US" sz="2000" b="1" dirty="0">
                <a:solidFill>
                  <a:srgbClr val="0000FF"/>
                </a:solidFill>
              </a:rPr>
              <a:t>Maintaining all criteria for woman friendly hospital</a:t>
            </a:r>
            <a:r>
              <a:rPr lang="en-US" sz="2000" dirty="0"/>
              <a:t> .</a:t>
            </a:r>
          </a:p>
          <a:p>
            <a:pPr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v"/>
            </a:pPr>
            <a:endParaRPr lang="en-US" sz="2000" b="1" dirty="0"/>
          </a:p>
          <a:p>
            <a:pPr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v"/>
            </a:pPr>
            <a:r>
              <a:rPr lang="en-US" sz="2000" b="1" dirty="0" smtClean="0">
                <a:solidFill>
                  <a:srgbClr val="0000FF"/>
                </a:solidFill>
              </a:rPr>
              <a:t>Separation of patient to  </a:t>
            </a:r>
            <a:r>
              <a:rPr lang="en-US" sz="2000" b="1" dirty="0">
                <a:solidFill>
                  <a:srgbClr val="0000FF"/>
                </a:solidFill>
              </a:rPr>
              <a:t>M</a:t>
            </a:r>
            <a:r>
              <a:rPr lang="en-US" sz="2000" b="1" dirty="0" smtClean="0">
                <a:solidFill>
                  <a:srgbClr val="0000FF"/>
                </a:solidFill>
              </a:rPr>
              <a:t>ale, Female</a:t>
            </a:r>
            <a:r>
              <a:rPr lang="en-US" sz="2000" b="1" smtClean="0">
                <a:solidFill>
                  <a:srgbClr val="0000FF"/>
                </a:solidFill>
              </a:rPr>
              <a:t>, Under 5 </a:t>
            </a:r>
            <a:r>
              <a:rPr lang="en-US" sz="2000" b="1" dirty="0" smtClean="0">
                <a:solidFill>
                  <a:srgbClr val="0000FF"/>
                </a:solidFill>
              </a:rPr>
              <a:t>&amp; EOC  and develop responsibility of individuals.</a:t>
            </a:r>
            <a:endParaRPr lang="en-US" b="1" dirty="0"/>
          </a:p>
          <a:p>
            <a:pPr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v"/>
            </a:pPr>
            <a:endParaRPr lang="en-US" sz="2000" dirty="0" smtClean="0"/>
          </a:p>
          <a:p>
            <a:pPr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v"/>
            </a:pPr>
            <a:r>
              <a:rPr lang="en-US" sz="20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Separation of words</a:t>
            </a:r>
            <a:r>
              <a:rPr lang="en-US" sz="2000" dirty="0" smtClean="0"/>
              <a:t> into male, female, pediatric and EOC word.</a:t>
            </a:r>
          </a:p>
          <a:p>
            <a:pPr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v"/>
            </a:pPr>
            <a:endParaRPr lang="en-US" sz="2000" dirty="0"/>
          </a:p>
          <a:p>
            <a:pPr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v"/>
            </a:pPr>
            <a:r>
              <a:rPr lang="en-US" sz="2000" b="1" dirty="0">
                <a:solidFill>
                  <a:srgbClr val="0000FF"/>
                </a:solidFill>
              </a:rPr>
              <a:t>Operating Blood Bank System</a:t>
            </a:r>
            <a:r>
              <a:rPr lang="en-US" sz="2000" dirty="0"/>
              <a:t> by registered about 600 donors addresses within 1 km. radius of the hospital; </a:t>
            </a:r>
          </a:p>
          <a:p>
            <a:pPr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v"/>
            </a:pPr>
            <a:endParaRPr lang="en-US" sz="2000" dirty="0"/>
          </a:p>
          <a:p>
            <a:pPr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v"/>
            </a:pPr>
            <a:r>
              <a:rPr lang="en-US" sz="2000" b="1" dirty="0">
                <a:solidFill>
                  <a:srgbClr val="0000FF"/>
                </a:solidFill>
              </a:rPr>
              <a:t>Mobile phone in emergency, indoor, EOC</a:t>
            </a:r>
            <a:r>
              <a:rPr lang="en-US" sz="2000" dirty="0"/>
              <a:t> to provide telephonic health service facility and emergency ambulance service;</a:t>
            </a:r>
          </a:p>
          <a:p>
            <a:pPr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v"/>
            </a:pPr>
            <a:endParaRPr lang="en-US" sz="2000" b="1" dirty="0">
              <a:solidFill>
                <a:srgbClr val="0000FF"/>
              </a:solidFill>
            </a:endParaRPr>
          </a:p>
          <a:p>
            <a:pPr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v"/>
            </a:pPr>
            <a:r>
              <a:rPr lang="en-US" sz="2000" b="1" dirty="0">
                <a:solidFill>
                  <a:srgbClr val="0000FF"/>
                </a:solidFill>
              </a:rPr>
              <a:t>Well equipped </a:t>
            </a:r>
            <a:r>
              <a:rPr lang="en-US" sz="2000" b="1" dirty="0" smtClean="0">
                <a:solidFill>
                  <a:srgbClr val="0000FF"/>
                </a:solidFill>
              </a:rPr>
              <a:t>Emergency  department &amp; Primarily managed by MA and MO on call.</a:t>
            </a:r>
            <a:endParaRPr lang="en-US" sz="2000" dirty="0"/>
          </a:p>
          <a:p>
            <a:pPr>
              <a:lnSpc>
                <a:spcPct val="80000"/>
              </a:lnSpc>
              <a:buFont typeface="Wingdings" pitchFamily="2" charset="2"/>
              <a:buChar char="v"/>
            </a:pPr>
            <a:endParaRPr lang="en-US" sz="2000" dirty="0">
              <a:solidFill>
                <a:srgbClr val="0000FF"/>
              </a:solidFill>
            </a:endParaRPr>
          </a:p>
          <a:p>
            <a:pPr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v"/>
            </a:pPr>
            <a:endParaRPr lang="en-US" sz="20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665021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                 News of paper</a:t>
            </a:r>
          </a:p>
        </p:txBody>
      </p:sp>
      <p:sp>
        <p:nvSpPr>
          <p:cNvPr id="193539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2800"/>
              <a:t>  </a:t>
            </a:r>
          </a:p>
          <a:p>
            <a:pPr>
              <a:buFontTx/>
              <a:buNone/>
            </a:pPr>
            <a:endParaRPr lang="en-US" sz="600"/>
          </a:p>
        </p:txBody>
      </p:sp>
      <p:pic>
        <p:nvPicPr>
          <p:cNvPr id="193540" name="Picture 4" descr="Untitled-2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2000" y="1701800"/>
            <a:ext cx="7924800" cy="4622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34966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890" name="Group 6"/>
          <p:cNvGrpSpPr>
            <a:grpSpLocks/>
          </p:cNvGrpSpPr>
          <p:nvPr/>
        </p:nvGrpSpPr>
        <p:grpSpPr bwMode="auto">
          <a:xfrm>
            <a:off x="4611688" y="647700"/>
            <a:ext cx="4267200" cy="2955925"/>
            <a:chOff x="1248" y="288"/>
            <a:chExt cx="3157" cy="2448"/>
          </a:xfrm>
        </p:grpSpPr>
        <p:pic>
          <p:nvPicPr>
            <p:cNvPr id="37894" name="Picture 4" descr="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8" y="288"/>
              <a:ext cx="1782" cy="2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895" name="Picture 5" descr="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24" y="288"/>
              <a:ext cx="1381" cy="2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3789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8" y="612775"/>
            <a:ext cx="4170362" cy="300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2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8" y="3810000"/>
            <a:ext cx="4140200" cy="302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3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5975" y="3810000"/>
            <a:ext cx="4518025" cy="302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ctrTitle"/>
          </p:nvPr>
        </p:nvSpPr>
        <p:spPr>
          <a:xfrm>
            <a:off x="308194" y="304800"/>
            <a:ext cx="8643938" cy="990600"/>
          </a:xfrm>
          <a:ln>
            <a:miter lim="800000"/>
            <a:headEnd/>
            <a:tailEnd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  <a:ex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100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kh¨v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wewkó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m`i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nvmcvZvj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,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wSbvB`n</a:t>
            </a:r>
            <a:endParaRPr lang="en-US" altLang="en-US" sz="4800" b="1" dirty="0" smtClean="0">
              <a:solidFill>
                <a:schemeClr val="bg1"/>
              </a:solidFill>
              <a:latin typeface="SutonnyMJ" pitchFamily="2" charset="0"/>
              <a:cs typeface="SutonnyMJ" pitchFamily="2" charset="0"/>
            </a:endParaRPr>
          </a:p>
        </p:txBody>
      </p:sp>
      <p:pic>
        <p:nvPicPr>
          <p:cNvPr id="3891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447800"/>
            <a:ext cx="8382000" cy="504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r>
              <a:rPr lang="en-US" sz="4000" dirty="0"/>
              <a:t>Health </a:t>
            </a:r>
            <a:r>
              <a:rPr lang="en-US" sz="4000" dirty="0" smtClean="0"/>
              <a:t>,Nutrition </a:t>
            </a:r>
            <a:r>
              <a:rPr lang="en-US" sz="4000" dirty="0"/>
              <a:t>and population targets for the 7</a:t>
            </a:r>
            <a:r>
              <a:rPr lang="en-US" sz="4000" baseline="30000" dirty="0"/>
              <a:t>th</a:t>
            </a:r>
            <a:r>
              <a:rPr lang="en-US" sz="4000" dirty="0"/>
              <a:t> FYP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2077397"/>
              </p:ext>
            </p:extLst>
          </p:nvPr>
        </p:nvGraphicFramePr>
        <p:xfrm>
          <a:off x="0" y="1295399"/>
          <a:ext cx="91440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400"/>
                <a:gridCol w="4343400"/>
                <a:gridCol w="2514600"/>
                <a:gridCol w="1752600"/>
              </a:tblGrid>
              <a:tr h="1018504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Sr</a:t>
                      </a:r>
                      <a:r>
                        <a:rPr lang="en-US" dirty="0" smtClean="0"/>
                        <a:t> #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Indicator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 smtClean="0"/>
                        <a:t>(Impact/Outcome)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Base year’s information(source with year)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r>
                        <a:rPr lang="en-US" baseline="30000" dirty="0" smtClean="0"/>
                        <a:t>th</a:t>
                      </a:r>
                      <a:r>
                        <a:rPr lang="en-US" baseline="0" dirty="0" smtClean="0"/>
                        <a:t> FYP target </a:t>
                      </a:r>
                    </a:p>
                    <a:p>
                      <a:r>
                        <a:rPr lang="en-US" baseline="0" dirty="0" smtClean="0"/>
                        <a:t>FY 2020</a:t>
                      </a:r>
                    </a:p>
                    <a:p>
                      <a:endParaRPr lang="en-US" baseline="0" dirty="0" smtClean="0"/>
                    </a:p>
                    <a:p>
                      <a:endParaRPr lang="en-US" dirty="0"/>
                    </a:p>
                  </a:txBody>
                  <a:tcPr/>
                </a:tc>
              </a:tr>
              <a:tr h="313386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Life Expectancy at Birth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70.4 (SVRS 2013)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72</a:t>
                      </a:r>
                      <a:endParaRPr lang="en-US" dirty="0"/>
                    </a:p>
                  </a:txBody>
                  <a:tcPr/>
                </a:tc>
              </a:tr>
              <a:tr h="313386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Under-five</a:t>
                      </a:r>
                      <a:r>
                        <a:rPr lang="en-US" baseline="0" dirty="0" smtClean="0"/>
                        <a:t> Mortality Rate (per 1,000 live births)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46 (BDHS 2014)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37</a:t>
                      </a:r>
                      <a:endParaRPr lang="en-US" dirty="0"/>
                    </a:p>
                  </a:txBody>
                  <a:tcPr/>
                </a:tc>
              </a:tr>
              <a:tr h="313386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Infant </a:t>
                      </a:r>
                      <a:r>
                        <a:rPr lang="en-US" baseline="0" dirty="0" smtClean="0"/>
                        <a:t>Mortality Rate (per ,1000 live births)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38 (BDHS 2014)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20</a:t>
                      </a:r>
                      <a:endParaRPr lang="en-US" dirty="0"/>
                    </a:p>
                  </a:txBody>
                  <a:tcPr/>
                </a:tc>
              </a:tr>
              <a:tr h="313386"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Maternal </a:t>
                      </a:r>
                      <a:r>
                        <a:rPr lang="en-US" baseline="0" dirty="0" smtClean="0"/>
                        <a:t>Mortality Ratio(per 100,000 live births)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170 (MMEIG 2013)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105</a:t>
                      </a:r>
                      <a:endParaRPr lang="en-US" dirty="0"/>
                    </a:p>
                  </a:txBody>
                  <a:tcPr/>
                </a:tc>
              </a:tr>
              <a:tr h="621192"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Proportion of Under Weight among</a:t>
                      </a:r>
                      <a:r>
                        <a:rPr lang="en-US" baseline="0" dirty="0" smtClean="0"/>
                        <a:t> Under-five children (%)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32.6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dirty="0" smtClean="0"/>
                        <a:t>(BDHS 2014)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20</a:t>
                      </a:r>
                      <a:endParaRPr lang="en-US" dirty="0"/>
                    </a:p>
                  </a:txBody>
                  <a:tcPr/>
                </a:tc>
              </a:tr>
              <a:tr h="313386"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Proportion of stunting among</a:t>
                      </a:r>
                      <a:r>
                        <a:rPr lang="en-US" baseline="0" dirty="0" smtClean="0"/>
                        <a:t> Under-five children (%)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36.1 (BDHS 2014)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25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490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r>
              <a:rPr lang="en-US" sz="4000" dirty="0"/>
              <a:t>Health </a:t>
            </a:r>
            <a:r>
              <a:rPr lang="en-US" sz="4000" dirty="0" smtClean="0"/>
              <a:t>,Nutrition </a:t>
            </a:r>
            <a:r>
              <a:rPr lang="en-US" sz="4000" dirty="0"/>
              <a:t>and population targets for the 7</a:t>
            </a:r>
            <a:r>
              <a:rPr lang="en-US" sz="4000" baseline="30000" dirty="0"/>
              <a:t>th</a:t>
            </a:r>
            <a:r>
              <a:rPr lang="en-US" sz="4000" dirty="0"/>
              <a:t> </a:t>
            </a:r>
            <a:r>
              <a:rPr lang="en-US" sz="4000" dirty="0" smtClean="0"/>
              <a:t>FYP</a:t>
            </a:r>
            <a:endParaRPr lang="en-US" sz="4000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6855438"/>
              </p:ext>
            </p:extLst>
          </p:nvPr>
        </p:nvGraphicFramePr>
        <p:xfrm>
          <a:off x="0" y="1295399"/>
          <a:ext cx="9144000" cy="51147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400"/>
                <a:gridCol w="4343400"/>
                <a:gridCol w="2514600"/>
                <a:gridCol w="1752600"/>
              </a:tblGrid>
              <a:tr h="1140924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Sr</a:t>
                      </a:r>
                      <a:r>
                        <a:rPr lang="en-US" dirty="0" smtClean="0"/>
                        <a:t> #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Indicator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 smtClean="0"/>
                        <a:t>(Impact/Outcome)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Base year’s information(source with year)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r>
                        <a:rPr lang="en-US" baseline="30000" dirty="0" smtClean="0"/>
                        <a:t>th</a:t>
                      </a:r>
                      <a:r>
                        <a:rPr lang="en-US" baseline="0" dirty="0" smtClean="0"/>
                        <a:t> FYP target </a:t>
                      </a:r>
                    </a:p>
                    <a:p>
                      <a:r>
                        <a:rPr lang="en-US" baseline="0" dirty="0" smtClean="0"/>
                        <a:t>FY 2020</a:t>
                      </a:r>
                    </a:p>
                    <a:p>
                      <a:endParaRPr lang="en-US" baseline="0" dirty="0" smtClean="0"/>
                    </a:p>
                    <a:p>
                      <a:endParaRPr lang="en-US" dirty="0"/>
                    </a:p>
                  </a:txBody>
                  <a:tcPr/>
                </a:tc>
              </a:tr>
              <a:tr h="410349"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Total Fertility Rate (Children</a:t>
                      </a:r>
                      <a:r>
                        <a:rPr lang="en-US" baseline="0" dirty="0" smtClean="0"/>
                        <a:t> per Woman)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2.3 (BDHS 2014)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2.0</a:t>
                      </a:r>
                      <a:endParaRPr lang="en-US" dirty="0"/>
                    </a:p>
                  </a:txBody>
                  <a:tcPr/>
                </a:tc>
              </a:tr>
              <a:tr h="614344">
                <a:tc>
                  <a:txBody>
                    <a:bodyPr/>
                    <a:lstStyle/>
                    <a:p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Contraceptive Prevalence</a:t>
                      </a:r>
                      <a:r>
                        <a:rPr lang="en-US" baseline="0" dirty="0" smtClean="0"/>
                        <a:t> Rate (%)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62.4 (BDHS 2014)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75</a:t>
                      </a:r>
                      <a:endParaRPr lang="en-US" dirty="0"/>
                    </a:p>
                  </a:txBody>
                  <a:tcPr/>
                </a:tc>
              </a:tr>
              <a:tr h="614344">
                <a:tc>
                  <a:txBody>
                    <a:bodyPr/>
                    <a:lstStyle/>
                    <a:p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Proportion of children fully vaccinated by 12 months </a:t>
                      </a:r>
                      <a:r>
                        <a:rPr lang="en-US" baseline="0" dirty="0" smtClean="0"/>
                        <a:t>(%)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78 (BDHS 2014)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95</a:t>
                      </a:r>
                      <a:endParaRPr lang="en-US" dirty="0"/>
                    </a:p>
                  </a:txBody>
                  <a:tcPr/>
                </a:tc>
              </a:tr>
              <a:tr h="614344">
                <a:tc>
                  <a:txBody>
                    <a:bodyPr/>
                    <a:lstStyle/>
                    <a:p>
                      <a:r>
                        <a:rPr lang="en-US" dirty="0" smtClean="0"/>
                        <a:t>11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Proportion</a:t>
                      </a:r>
                      <a:r>
                        <a:rPr lang="en-US" baseline="0" dirty="0" smtClean="0"/>
                        <a:t> of births attended medically trained provider (%)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42.1 (BDHS 2014)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65</a:t>
                      </a:r>
                      <a:endParaRPr lang="en-US" dirty="0"/>
                    </a:p>
                  </a:txBody>
                  <a:tcPr/>
                </a:tc>
              </a:tr>
              <a:tr h="877634">
                <a:tc>
                  <a:txBody>
                    <a:bodyPr/>
                    <a:lstStyle/>
                    <a:p>
                      <a:r>
                        <a:rPr lang="en-US" dirty="0" smtClean="0"/>
                        <a:t>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Proportion of births</a:t>
                      </a:r>
                      <a:r>
                        <a:rPr lang="en-US" baseline="0" dirty="0" smtClean="0"/>
                        <a:t> in health facilities by wealth quintiles (Ratio of lowest and highest quantities)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15:69.5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dirty="0" smtClean="0"/>
                        <a:t>(BDHS 2014)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1:3.5</a:t>
                      </a:r>
                      <a:endParaRPr lang="en-US" dirty="0"/>
                    </a:p>
                  </a:txBody>
                  <a:tcPr/>
                </a:tc>
              </a:tr>
              <a:tr h="681064">
                <a:tc>
                  <a:txBody>
                    <a:bodyPr/>
                    <a:lstStyle/>
                    <a:p>
                      <a:r>
                        <a:rPr lang="en-US" dirty="0" smtClean="0"/>
                        <a:t>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TB case detection rate (%)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53 (GTR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dirty="0" smtClean="0"/>
                        <a:t>2014 )                       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75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800600" y="6477000"/>
            <a:ext cx="4191000" cy="346841"/>
          </a:xfrm>
        </p:spPr>
        <p:txBody>
          <a:bodyPr/>
          <a:lstStyle/>
          <a:p>
            <a:pPr marL="0" indent="0">
              <a:buNone/>
            </a:pPr>
            <a:r>
              <a:rPr lang="en-US" sz="1600" b="1" i="1" dirty="0" smtClean="0"/>
              <a:t>Source: Ministry of Health and Family Welfare</a:t>
            </a:r>
            <a:endParaRPr lang="en-US" sz="1600" b="1" i="1" dirty="0"/>
          </a:p>
        </p:txBody>
      </p:sp>
    </p:spTree>
    <p:extLst>
      <p:ext uri="{BB962C8B-B14F-4D97-AF65-F5344CB8AC3E}">
        <p14:creationId xmlns:p14="http://schemas.microsoft.com/office/powerpoint/2010/main" val="2611330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76200"/>
            <a:ext cx="8534400" cy="715962"/>
          </a:xfrm>
          <a:ex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58447" name="Group 79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21538287"/>
              </p:ext>
            </p:extLst>
          </p:nvPr>
        </p:nvGraphicFramePr>
        <p:xfrm>
          <a:off x="152401" y="1524000"/>
          <a:ext cx="8686800" cy="5151966"/>
        </p:xfrm>
        <a:graphic>
          <a:graphicData uri="http://schemas.openxmlformats.org/drawingml/2006/table">
            <a:tbl>
              <a:tblPr/>
              <a:tblGrid>
                <a:gridCol w="1534936"/>
                <a:gridCol w="2808464"/>
                <a:gridCol w="2171700"/>
                <a:gridCol w="2171700"/>
              </a:tblGrid>
              <a:tr h="62472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Serial No.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Person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Post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Vacant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01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Doctor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40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11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02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Nurse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63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03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03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MLSS, Ward boy,  Ayah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16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04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Cleaner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07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05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Guard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03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06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Gardener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01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07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Electrician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01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08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Trolley man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00 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09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Others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---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---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Arial" charset="0"/>
                      </a:endParaRP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Total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151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31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57"/>
          <p:cNvSpPr>
            <a:spLocks noChangeArrowheads="1"/>
          </p:cNvSpPr>
          <p:nvPr/>
        </p:nvSpPr>
        <p:spPr bwMode="auto">
          <a:xfrm>
            <a:off x="228600" y="723792"/>
            <a:ext cx="8534400" cy="6096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headEnd/>
            <a:tailEnd/>
          </a:ln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Important post of Human Resources</a:t>
            </a:r>
          </a:p>
        </p:txBody>
      </p:sp>
    </p:spTree>
    <p:extLst>
      <p:ext uri="{BB962C8B-B14F-4D97-AF65-F5344CB8AC3E}">
        <p14:creationId xmlns:p14="http://schemas.microsoft.com/office/powerpoint/2010/main" val="853456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77" name="Rectangle 57"/>
          <p:cNvSpPr>
            <a:spLocks noChangeArrowheads="1"/>
          </p:cNvSpPr>
          <p:nvPr/>
        </p:nvSpPr>
        <p:spPr bwMode="auto">
          <a:xfrm>
            <a:off x="462176" y="983206"/>
            <a:ext cx="8229600" cy="609601"/>
          </a:xfrm>
          <a:prstGeom prst="rect">
            <a:avLst/>
          </a:prstGeom>
          <a:ln>
            <a:headEnd/>
            <a:tailEnd/>
          </a:ln>
          <a:ex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>
              <a:defRPr/>
            </a:pPr>
            <a:r>
              <a:rPr lang="en-US" sz="2400" b="1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Bed Occupancy Rate from 1998 to </a:t>
            </a:r>
            <a:r>
              <a:rPr lang="en-US" sz="24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2017</a:t>
            </a:r>
            <a:endParaRPr lang="en-US" sz="2400" b="1" dirty="0">
              <a:solidFill>
                <a:srgbClr val="FFFFFF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42015" name="Title 1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875" y="-28032"/>
            <a:ext cx="8339138" cy="1316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544" name="Text Box 32"/>
          <p:cNvSpPr txBox="1">
            <a:spLocks noChangeArrowheads="1"/>
          </p:cNvSpPr>
          <p:nvPr/>
        </p:nvSpPr>
        <p:spPr bwMode="auto">
          <a:xfrm>
            <a:off x="452438" y="228600"/>
            <a:ext cx="8229600" cy="71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lnSpc>
                <a:spcPct val="90000"/>
              </a:lnSpc>
              <a:defRPr/>
            </a:pPr>
            <a:r>
              <a:rPr lang="en-US" sz="4300" b="1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itchFamily="34" charset="0"/>
              </a:rPr>
              <a:t>Sadar Hospital, Jhenaidah</a:t>
            </a: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1929509912"/>
              </p:ext>
            </p:extLst>
          </p:nvPr>
        </p:nvGraphicFramePr>
        <p:xfrm>
          <a:off x="1251744" y="1981200"/>
          <a:ext cx="5834856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7"/>
          <p:cNvSpPr>
            <a:spLocks noGrp="1" noChangeArrowheads="1"/>
          </p:cNvSpPr>
          <p:nvPr>
            <p:ph type="title"/>
          </p:nvPr>
        </p:nvSpPr>
        <p:spPr>
          <a:xfrm>
            <a:off x="228600" y="1143000"/>
            <a:ext cx="8534400" cy="503238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Emergency &amp; Out Door, Indoor  Service 1998 to 2017</a:t>
            </a:r>
          </a:p>
        </p:txBody>
      </p:sp>
      <p:sp>
        <p:nvSpPr>
          <p:cNvPr id="10" name="Title 1"/>
          <p:cNvSpPr txBox="1">
            <a:spLocks/>
          </p:cNvSpPr>
          <p:nvPr/>
        </p:nvSpPr>
        <p:spPr bwMode="auto">
          <a:xfrm>
            <a:off x="228600" y="228600"/>
            <a:ext cx="85344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1590283279"/>
              </p:ext>
            </p:extLst>
          </p:nvPr>
        </p:nvGraphicFramePr>
        <p:xfrm>
          <a:off x="609600" y="1981200"/>
          <a:ext cx="81534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8"/>
          <p:cNvSpPr>
            <a:spLocks noGrp="1" noChangeArrowheads="1"/>
          </p:cNvSpPr>
          <p:nvPr>
            <p:ph type="title"/>
          </p:nvPr>
        </p:nvSpPr>
        <p:spPr>
          <a:xfrm>
            <a:off x="533400" y="1066800"/>
            <a:ext cx="8229600" cy="609600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 smtClean="0">
                <a:solidFill>
                  <a:srgbClr val="FFFFFF"/>
                </a:solidFill>
              </a:rPr>
              <a:t>Operation Service (Major) 2011 to 2017</a:t>
            </a:r>
          </a:p>
        </p:txBody>
      </p:sp>
      <p:graphicFrame>
        <p:nvGraphicFramePr>
          <p:cNvPr id="2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34442999"/>
              </p:ext>
            </p:extLst>
          </p:nvPr>
        </p:nvGraphicFramePr>
        <p:xfrm>
          <a:off x="1143000" y="2057400"/>
          <a:ext cx="6934199" cy="4191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itle 1"/>
          <p:cNvSpPr txBox="1">
            <a:spLocks/>
          </p:cNvSpPr>
          <p:nvPr/>
        </p:nvSpPr>
        <p:spPr bwMode="auto">
          <a:xfrm>
            <a:off x="457200" y="2286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64558568"/>
              </p:ext>
            </p:extLst>
          </p:nvPr>
        </p:nvGraphicFramePr>
        <p:xfrm>
          <a:off x="381000" y="1528465"/>
          <a:ext cx="8458200" cy="4525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itle 1"/>
          <p:cNvSpPr txBox="1">
            <a:spLocks/>
          </p:cNvSpPr>
          <p:nvPr/>
        </p:nvSpPr>
        <p:spPr bwMode="auto">
          <a:xfrm>
            <a:off x="457200" y="2286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TextBox 4"/>
          <p:cNvSpPr txBox="1">
            <a:spLocks noChangeArrowheads="1"/>
          </p:cNvSpPr>
          <p:nvPr/>
        </p:nvSpPr>
        <p:spPr bwMode="auto">
          <a:xfrm>
            <a:off x="457200" y="1066800"/>
            <a:ext cx="8305800" cy="461665"/>
          </a:xfrm>
          <a:prstGeom prst="rect">
            <a:avLst/>
          </a:prstGeom>
          <a:ln/>
          <a:ex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b="1" dirty="0" smtClean="0">
                <a:solidFill>
                  <a:srgbClr val="FFFFFF"/>
                </a:solidFill>
              </a:rPr>
              <a:t>Admitted Under 5 children in  indoor from 2014 to 2017</a:t>
            </a:r>
            <a:endParaRPr lang="en-US" sz="24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2266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8"/>
          <p:cNvSpPr>
            <a:spLocks noGrp="1" noChangeArrowheads="1"/>
          </p:cNvSpPr>
          <p:nvPr>
            <p:ph type="title"/>
          </p:nvPr>
        </p:nvSpPr>
        <p:spPr>
          <a:xfrm>
            <a:off x="457200" y="944562"/>
            <a:ext cx="8305800" cy="609600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rmAutofit fontScale="90000"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800" b="1" dirty="0" smtClean="0">
                <a:ea typeface="Calibri"/>
                <a:cs typeface="Vrinda"/>
              </a:rPr>
              <a:t>3 best performing </a:t>
            </a:r>
            <a:r>
              <a:rPr lang="en-US" sz="2800" b="1" dirty="0" err="1" smtClean="0">
                <a:ea typeface="Calibri"/>
                <a:cs typeface="Vrinda"/>
              </a:rPr>
              <a:t>EmOC</a:t>
            </a:r>
            <a:r>
              <a:rPr lang="en-US" sz="2800" b="1" dirty="0" smtClean="0">
                <a:ea typeface="Calibri"/>
                <a:cs typeface="Vrinda"/>
              </a:rPr>
              <a:t> Hospital </a:t>
            </a:r>
            <a:r>
              <a:rPr lang="en-US" sz="2800" b="1" dirty="0">
                <a:ea typeface="Calibri"/>
                <a:cs typeface="Vrinda"/>
              </a:rPr>
              <a:t>in Khulna division - </a:t>
            </a:r>
            <a:r>
              <a:rPr lang="en-US" sz="2800" b="1" dirty="0" smtClean="0">
                <a:ea typeface="Calibri"/>
                <a:cs typeface="Vrinda"/>
              </a:rPr>
              <a:t>2017</a:t>
            </a:r>
            <a:endParaRPr lang="en-US" sz="2800" dirty="0">
              <a:ea typeface="Calibri"/>
              <a:cs typeface="Vrinda"/>
            </a:endParaRP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33851720"/>
              </p:ext>
            </p:extLst>
          </p:nvPr>
        </p:nvGraphicFramePr>
        <p:xfrm>
          <a:off x="457200" y="2057400"/>
          <a:ext cx="8229600" cy="4525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itle 1"/>
          <p:cNvSpPr txBox="1">
            <a:spLocks/>
          </p:cNvSpPr>
          <p:nvPr/>
        </p:nvSpPr>
        <p:spPr bwMode="auto">
          <a:xfrm>
            <a:off x="457200" y="762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79453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2651" y="792754"/>
            <a:ext cx="8310349" cy="808038"/>
          </a:xfr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sz="2400" b="1" dirty="0" smtClean="0">
                <a:solidFill>
                  <a:schemeClr val="bg1"/>
                </a:solidFill>
              </a:rPr>
              <a:t/>
            </a:r>
            <a:br>
              <a:rPr lang="en-US" sz="2400" b="1" dirty="0" smtClean="0">
                <a:solidFill>
                  <a:schemeClr val="bg1"/>
                </a:solidFill>
              </a:rPr>
            </a:br>
            <a:r>
              <a:rPr lang="en-US" sz="2400" b="1" dirty="0">
                <a:solidFill>
                  <a:schemeClr val="bg1"/>
                </a:solidFill>
              </a:rPr>
              <a:t/>
            </a:r>
            <a:br>
              <a:rPr lang="en-US" sz="2400" b="1" dirty="0">
                <a:solidFill>
                  <a:schemeClr val="bg1"/>
                </a:solidFill>
              </a:rPr>
            </a:br>
            <a:r>
              <a:rPr lang="en-US" sz="2800" b="1" dirty="0" smtClean="0">
                <a:solidFill>
                  <a:schemeClr val="bg1"/>
                </a:solidFill>
              </a:rPr>
              <a:t>Comparative </a:t>
            </a:r>
            <a:r>
              <a:rPr lang="en-US" sz="2800" b="1" dirty="0">
                <a:solidFill>
                  <a:schemeClr val="bg1"/>
                </a:solidFill>
              </a:rPr>
              <a:t>data of revenue </a:t>
            </a:r>
            <a:r>
              <a:rPr lang="en-US" sz="2800" b="1" dirty="0" smtClean="0">
                <a:solidFill>
                  <a:schemeClr val="bg1"/>
                </a:solidFill>
              </a:rPr>
              <a:t>income (in Taka) from 2015 to 2017</a:t>
            </a:r>
            <a:r>
              <a:rPr lang="en-US" sz="4800" b="1" dirty="0"/>
              <a:t/>
            </a:r>
            <a:br>
              <a:rPr lang="en-US" sz="4800" b="1" dirty="0"/>
            </a:br>
            <a:endParaRPr lang="en-US" sz="5400" b="1" dirty="0"/>
          </a:p>
        </p:txBody>
      </p:sp>
      <p:graphicFrame>
        <p:nvGraphicFramePr>
          <p:cNvPr id="2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91290331"/>
              </p:ext>
            </p:extLst>
          </p:nvPr>
        </p:nvGraphicFramePr>
        <p:xfrm>
          <a:off x="1676400" y="2133600"/>
          <a:ext cx="5562600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itle 1"/>
          <p:cNvSpPr txBox="1">
            <a:spLocks/>
          </p:cNvSpPr>
          <p:nvPr/>
        </p:nvSpPr>
        <p:spPr bwMode="auto">
          <a:xfrm>
            <a:off x="452651" y="762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18479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0"/>
            <a:ext cx="9144000" cy="7620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200" b="1" dirty="0">
                <a:solidFill>
                  <a:prstClr val="white"/>
                </a:solidFill>
                <a:latin typeface="Arial" charset="0"/>
                <a:cs typeface="Arial" charset="0"/>
              </a:rPr>
              <a:t>Community Support System in Sadar Hospital</a:t>
            </a: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0" y="781050"/>
            <a:ext cx="9144000" cy="60769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tx2">
                <a:lumMod val="60000"/>
                <a:lumOff val="40000"/>
              </a:schemeClr>
            </a:solidFill>
            <a:miter lim="800000"/>
            <a:headEnd/>
            <a:tailEnd/>
          </a:ln>
        </p:spPr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457200" indent="-457200" algn="just">
              <a:buFontTx/>
              <a:buAutoNum type="arabicPeriod"/>
              <a:defRPr/>
            </a:pP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53 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manpower (Cleaner 20, Ayah &amp; ward boy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21,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Guard 6, Volunteer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3,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Trolley man 3 )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is supported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by the community.</a:t>
            </a: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MP of Jhenaidah-2 donated 14 manpower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support.</a:t>
            </a:r>
            <a:endParaRPr lang="en-US" sz="2600" dirty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Chairman of </a:t>
            </a:r>
            <a:r>
              <a:rPr lang="en-US" sz="26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Zahedee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foundation supports 12 manpower and an intercom with a cost of nearly two lac taka. </a:t>
            </a: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Mayor of Jhenaidah Paurasava plays an important role in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security , cleanliness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, repaired the boundary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wall and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supports 5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man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power and renovation of pediatric word and donation of a biochemistry analyzer at a cost of 1,15,000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Taka. </a:t>
            </a:r>
            <a:endParaRPr lang="en-US" sz="2600" dirty="0" smtClean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Retired secretary donated a generator for 24 hours OT service    with a cost of nearly 33 thousand taka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.</a:t>
            </a:r>
          </a:p>
          <a:p>
            <a:pPr marL="457200" indent="-457200">
              <a:buFontTx/>
              <a:buAutoNum type="arabicPeriod"/>
              <a:defRPr/>
            </a:pP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Former-chairman of </a:t>
            </a:r>
            <a:r>
              <a:rPr lang="en-US" sz="26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Jhenidah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Pourosova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supports 2 manpower</a:t>
            </a:r>
            <a:endParaRPr lang="en-US" sz="2600" dirty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Doctors of the hospital and </a:t>
            </a:r>
            <a:r>
              <a:rPr lang="en-US" sz="26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Jhenaidah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town supports 17 man power.</a:t>
            </a:r>
            <a:endParaRPr lang="en-US" sz="2600" b="1" dirty="0" smtClean="0">
              <a:solidFill>
                <a:srgbClr val="1F497D">
                  <a:lumMod val="75000"/>
                </a:srgb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algn="just">
              <a:defRPr/>
            </a:pPr>
            <a:endParaRPr lang="en-US" sz="2600" dirty="0" smtClean="0">
              <a:solidFill>
                <a:srgbClr val="1F497D">
                  <a:lumMod val="75000"/>
                </a:srgbClr>
              </a:solidFill>
            </a:endParaRPr>
          </a:p>
          <a:p>
            <a:pPr marL="0" algn="just">
              <a:defRPr/>
            </a:pPr>
            <a:endParaRPr lang="en-US" sz="2600" dirty="0" smtClean="0">
              <a:solidFill>
                <a:srgbClr val="1F497D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6838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530" y="685800"/>
            <a:ext cx="4309243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0" y="0"/>
            <a:ext cx="9140825" cy="471488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Visit to </a:t>
            </a:r>
            <a:r>
              <a:rPr lang="en-US" sz="2000" b="1" dirty="0" err="1">
                <a:solidFill>
                  <a:schemeClr val="bg1"/>
                </a:solidFill>
              </a:rPr>
              <a:t>Shatkhira</a:t>
            </a:r>
            <a:r>
              <a:rPr lang="en-US" sz="2000" b="1" dirty="0">
                <a:solidFill>
                  <a:schemeClr val="bg1"/>
                </a:solidFill>
              </a:rPr>
              <a:t> District </a:t>
            </a:r>
            <a:r>
              <a:rPr lang="en-US" sz="2000" b="1" dirty="0" smtClean="0">
                <a:solidFill>
                  <a:schemeClr val="bg1"/>
                </a:solidFill>
              </a:rPr>
              <a:t>Hospital and Introduction </a:t>
            </a:r>
            <a:r>
              <a:rPr lang="en-US" sz="2000" b="1" dirty="0">
                <a:solidFill>
                  <a:schemeClr val="bg1"/>
                </a:solidFill>
              </a:rPr>
              <a:t>of TQM </a:t>
            </a:r>
            <a:r>
              <a:rPr lang="en-US" sz="2000" b="1" dirty="0" smtClean="0">
                <a:solidFill>
                  <a:schemeClr val="bg1"/>
                </a:solidFill>
              </a:rPr>
              <a:t>activities</a:t>
            </a: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7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4983" y="3814916"/>
            <a:ext cx="4303713" cy="295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827206"/>
            <a:ext cx="4303713" cy="295275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794" name="Picture 2" descr="DSC03196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4984" y="685801"/>
            <a:ext cx="4281094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78861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1"/>
          <p:cNvSpPr>
            <a:spLocks noGrp="1"/>
          </p:cNvSpPr>
          <p:nvPr>
            <p:ph type="title" sz="quarter"/>
          </p:nvPr>
        </p:nvSpPr>
        <p:spPr>
          <a:xfrm>
            <a:off x="228600" y="152400"/>
            <a:ext cx="8686800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 smtClean="0">
                <a:solidFill>
                  <a:schemeClr val="bg1"/>
                </a:solidFill>
              </a:rPr>
              <a:t>Changes in EOC Ward</a:t>
            </a:r>
          </a:p>
        </p:txBody>
      </p:sp>
      <p:pic>
        <p:nvPicPr>
          <p:cNvPr id="45059" name="Picture 19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762000"/>
            <a:ext cx="3886200" cy="2743200"/>
          </a:xfrm>
          <a:noFill/>
        </p:spPr>
      </p:pic>
      <p:pic>
        <p:nvPicPr>
          <p:cNvPr id="45060" name="Picture 20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78388" y="762000"/>
            <a:ext cx="4037012" cy="2630488"/>
          </a:xfrm>
          <a:noFill/>
        </p:spPr>
      </p:pic>
      <p:pic>
        <p:nvPicPr>
          <p:cNvPr id="45061" name="コンテンツ プレースホルダ 4" descr="②.jpg"/>
          <p:cNvPicPr>
            <a:picLocks noGrp="1" noChangeAspect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3657600"/>
            <a:ext cx="3886200" cy="3048000"/>
          </a:xfrm>
        </p:spPr>
      </p:pic>
      <p:pic>
        <p:nvPicPr>
          <p:cNvPr id="45062" name="Picture 16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029200" y="3776663"/>
            <a:ext cx="3733800" cy="2860675"/>
          </a:xfrm>
          <a:noFill/>
        </p:spPr>
      </p:pic>
      <p:sp>
        <p:nvSpPr>
          <p:cNvPr id="45063" name="Right Arrow 2"/>
          <p:cNvSpPr>
            <a:spLocks noChangeArrowheads="1"/>
          </p:cNvSpPr>
          <p:nvPr/>
        </p:nvSpPr>
        <p:spPr bwMode="auto">
          <a:xfrm>
            <a:off x="4298950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5064" name="Right Arrow 11"/>
          <p:cNvSpPr>
            <a:spLocks noChangeArrowheads="1"/>
          </p:cNvSpPr>
          <p:nvPr/>
        </p:nvSpPr>
        <p:spPr bwMode="auto">
          <a:xfrm>
            <a:off x="4298950" y="4821238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5065" name="Rectangle 8"/>
          <p:cNvSpPr>
            <a:spLocks noChangeArrowheads="1"/>
          </p:cNvSpPr>
          <p:nvPr/>
        </p:nvSpPr>
        <p:spPr bwMode="auto">
          <a:xfrm>
            <a:off x="4938713" y="3859213"/>
            <a:ext cx="7239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45066" name="Rectangle 7"/>
          <p:cNvSpPr>
            <a:spLocks noChangeArrowheads="1"/>
          </p:cNvSpPr>
          <p:nvPr/>
        </p:nvSpPr>
        <p:spPr bwMode="auto">
          <a:xfrm>
            <a:off x="304800" y="3657600"/>
            <a:ext cx="9159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45067" name="Rectangle 1"/>
          <p:cNvSpPr>
            <a:spLocks noChangeArrowheads="1"/>
          </p:cNvSpPr>
          <p:nvPr/>
        </p:nvSpPr>
        <p:spPr bwMode="auto">
          <a:xfrm>
            <a:off x="333375" y="801688"/>
            <a:ext cx="9159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45068" name="Rectangle 9"/>
          <p:cNvSpPr>
            <a:spLocks noChangeArrowheads="1"/>
          </p:cNvSpPr>
          <p:nvPr/>
        </p:nvSpPr>
        <p:spPr bwMode="auto">
          <a:xfrm>
            <a:off x="4930775" y="742950"/>
            <a:ext cx="7239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29200" y="3733800"/>
            <a:ext cx="3886200" cy="297180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Content Placeholder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88900" y="3733800"/>
            <a:ext cx="4102100" cy="295275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itle 1"/>
          <p:cNvSpPr txBox="1">
            <a:spLocks/>
          </p:cNvSpPr>
          <p:nvPr/>
        </p:nvSpPr>
        <p:spPr bwMode="auto">
          <a:xfrm>
            <a:off x="228600" y="152400"/>
            <a:ext cx="86868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 fontScale="900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smtClean="0">
                <a:solidFill>
                  <a:schemeClr val="bg1"/>
                </a:solidFill>
              </a:rPr>
              <a:t>Changes in Surgery &amp; Pediatric Word</a:t>
            </a:r>
            <a:endParaRPr lang="en-US" sz="2800" b="1" dirty="0" smtClean="0">
              <a:solidFill>
                <a:schemeClr val="bg1"/>
              </a:solidFill>
            </a:endParaRPr>
          </a:p>
        </p:txBody>
      </p:sp>
      <p:pic>
        <p:nvPicPr>
          <p:cNvPr id="21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17475" y="762000"/>
            <a:ext cx="4038600" cy="266700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876800" y="762000"/>
            <a:ext cx="4038600" cy="266700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Right Arrow 2"/>
          <p:cNvSpPr>
            <a:spLocks noChangeArrowheads="1"/>
          </p:cNvSpPr>
          <p:nvPr/>
        </p:nvSpPr>
        <p:spPr bwMode="auto">
          <a:xfrm>
            <a:off x="4333875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>
              <a:solidFill>
                <a:srgbClr val="000000"/>
              </a:solidFill>
            </a:endParaRPr>
          </a:p>
        </p:txBody>
      </p:sp>
      <p:pic>
        <p:nvPicPr>
          <p:cNvPr id="24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4363" y="4953000"/>
            <a:ext cx="476250" cy="42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" name="Picture 1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8" y="762000"/>
            <a:ext cx="1146175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" name="Picture 13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00" y="3884613"/>
            <a:ext cx="1146175" cy="560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" name="Picture 14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0125" y="3629025"/>
            <a:ext cx="1146175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" name="Picture 15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6625" y="609600"/>
            <a:ext cx="1146175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Title 1"/>
          <p:cNvSpPr>
            <a:spLocks noGrp="1"/>
          </p:cNvSpPr>
          <p:nvPr>
            <p:ph type="title" sz="quarter"/>
          </p:nvPr>
        </p:nvSpPr>
        <p:spPr>
          <a:xfrm>
            <a:off x="152400" y="152400"/>
            <a:ext cx="8763000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 smtClean="0">
                <a:solidFill>
                  <a:schemeClr val="bg1"/>
                </a:solidFill>
              </a:rPr>
              <a:t>Changes in Gardens of The Hospital</a:t>
            </a:r>
          </a:p>
        </p:txBody>
      </p:sp>
      <p:pic>
        <p:nvPicPr>
          <p:cNvPr id="47107" name="Picture 5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953000" y="3811588"/>
            <a:ext cx="3886200" cy="2894012"/>
          </a:xfrm>
        </p:spPr>
      </p:pic>
      <p:pic>
        <p:nvPicPr>
          <p:cNvPr id="47108" name="Picture 4" descr="8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1138" y="703263"/>
            <a:ext cx="4033837" cy="2743200"/>
          </a:xfrm>
        </p:spPr>
      </p:pic>
      <p:pic>
        <p:nvPicPr>
          <p:cNvPr id="47109" name="Picture 2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0175" y="3740150"/>
            <a:ext cx="4114800" cy="2971800"/>
          </a:xfrm>
          <a:noFill/>
        </p:spPr>
      </p:pic>
      <p:pic>
        <p:nvPicPr>
          <p:cNvPr id="47110" name="Picture 1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6175" y="696913"/>
            <a:ext cx="3883025" cy="2743200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9525">
            <a:solidFill>
              <a:srgbClr val="000000"/>
            </a:solidFill>
            <a:miter lim="800000"/>
            <a:headEnd/>
            <a:tailEnd/>
          </a:ln>
        </p:spPr>
      </p:pic>
      <p:sp>
        <p:nvSpPr>
          <p:cNvPr id="47111" name="Right Arrow 9"/>
          <p:cNvSpPr>
            <a:spLocks noChangeArrowheads="1"/>
          </p:cNvSpPr>
          <p:nvPr/>
        </p:nvSpPr>
        <p:spPr bwMode="auto">
          <a:xfrm>
            <a:off x="4473575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7112" name="Right Arrow 10"/>
          <p:cNvSpPr>
            <a:spLocks noChangeArrowheads="1"/>
          </p:cNvSpPr>
          <p:nvPr/>
        </p:nvSpPr>
        <p:spPr bwMode="auto">
          <a:xfrm>
            <a:off x="4291013" y="4887913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7113" name="Rectangle 11"/>
          <p:cNvSpPr>
            <a:spLocks noChangeArrowheads="1"/>
          </p:cNvSpPr>
          <p:nvPr/>
        </p:nvSpPr>
        <p:spPr bwMode="auto">
          <a:xfrm>
            <a:off x="250825" y="696913"/>
            <a:ext cx="9159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47114" name="Rectangle 14"/>
          <p:cNvSpPr>
            <a:spLocks noChangeArrowheads="1"/>
          </p:cNvSpPr>
          <p:nvPr/>
        </p:nvSpPr>
        <p:spPr bwMode="auto">
          <a:xfrm>
            <a:off x="4953000" y="814388"/>
            <a:ext cx="723900" cy="3698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4956175" y="3811588"/>
            <a:ext cx="6731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" name="Rectangle 10"/>
          <p:cNvSpPr>
            <a:spLocks noChangeArrowheads="1"/>
          </p:cNvSpPr>
          <p:nvPr/>
        </p:nvSpPr>
        <p:spPr bwMode="auto">
          <a:xfrm>
            <a:off x="268288" y="3690938"/>
            <a:ext cx="10668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550863"/>
            <a:ext cx="4754563" cy="3621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6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187325" y="706438"/>
            <a:ext cx="3978275" cy="3006725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8132" name="Title 1"/>
          <p:cNvSpPr txBox="1">
            <a:spLocks/>
          </p:cNvSpPr>
          <p:nvPr/>
        </p:nvSpPr>
        <p:spPr bwMode="auto">
          <a:xfrm>
            <a:off x="152400" y="152400"/>
            <a:ext cx="88392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/>
            <a:r>
              <a:rPr lang="en-US" sz="2800" b="1" dirty="0" smtClean="0">
                <a:solidFill>
                  <a:srgbClr val="FFFFFF"/>
                </a:solidFill>
              </a:rPr>
              <a:t>Waste </a:t>
            </a:r>
            <a:r>
              <a:rPr lang="en-US" sz="2800" b="1" dirty="0">
                <a:solidFill>
                  <a:srgbClr val="FFFFFF"/>
                </a:solidFill>
              </a:rPr>
              <a:t>Management &amp; Campus Protection</a:t>
            </a:r>
          </a:p>
        </p:txBody>
      </p:sp>
      <p:sp>
        <p:nvSpPr>
          <p:cNvPr id="48133" name="Right Arrow 8"/>
          <p:cNvSpPr>
            <a:spLocks noChangeArrowheads="1"/>
          </p:cNvSpPr>
          <p:nvPr/>
        </p:nvSpPr>
        <p:spPr bwMode="auto">
          <a:xfrm>
            <a:off x="4267200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8134" name="Right Arrow 9"/>
          <p:cNvSpPr>
            <a:spLocks noChangeArrowheads="1"/>
          </p:cNvSpPr>
          <p:nvPr/>
        </p:nvSpPr>
        <p:spPr bwMode="auto">
          <a:xfrm>
            <a:off x="4267200" y="48768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6393" name="Rectangle 10"/>
          <p:cNvSpPr>
            <a:spLocks noChangeArrowheads="1"/>
          </p:cNvSpPr>
          <p:nvPr/>
        </p:nvSpPr>
        <p:spPr bwMode="auto">
          <a:xfrm>
            <a:off x="169863" y="835025"/>
            <a:ext cx="915987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396" name="Rectangle 13"/>
          <p:cNvSpPr>
            <a:spLocks noChangeArrowheads="1"/>
          </p:cNvSpPr>
          <p:nvPr/>
        </p:nvSpPr>
        <p:spPr bwMode="auto">
          <a:xfrm>
            <a:off x="4899025" y="776288"/>
            <a:ext cx="7239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89097" name="Picture 1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52400" y="3856038"/>
            <a:ext cx="4013200" cy="28495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/>
        </p:spPr>
      </p:pic>
      <p:pic>
        <p:nvPicPr>
          <p:cNvPr id="89098" name="Picture 16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876800" y="3856038"/>
            <a:ext cx="4114800" cy="28495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/>
        </p:spPr>
      </p:pic>
      <p:sp>
        <p:nvSpPr>
          <p:cNvPr id="16394" name="Rectangle 11"/>
          <p:cNvSpPr>
            <a:spLocks noChangeArrowheads="1"/>
          </p:cNvSpPr>
          <p:nvPr/>
        </p:nvSpPr>
        <p:spPr bwMode="auto">
          <a:xfrm>
            <a:off x="169863" y="3886200"/>
            <a:ext cx="915987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395" name="Rectangle 12"/>
          <p:cNvSpPr>
            <a:spLocks noChangeArrowheads="1"/>
          </p:cNvSpPr>
          <p:nvPr/>
        </p:nvSpPr>
        <p:spPr bwMode="auto">
          <a:xfrm>
            <a:off x="4899025" y="3884613"/>
            <a:ext cx="7239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8763000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 smtClean="0">
                <a:solidFill>
                  <a:schemeClr val="bg1"/>
                </a:solidFill>
              </a:rPr>
              <a:t>Changes in Office and Hospital </a:t>
            </a:r>
            <a:r>
              <a:rPr lang="en-US" sz="2800" b="1" dirty="0">
                <a:solidFill>
                  <a:schemeClr val="bg1"/>
                </a:solidFill>
              </a:rPr>
              <a:t>I</a:t>
            </a:r>
            <a:r>
              <a:rPr lang="en-US" sz="2800" b="1" dirty="0" smtClean="0">
                <a:solidFill>
                  <a:schemeClr val="bg1"/>
                </a:solidFill>
              </a:rPr>
              <a:t>nternal </a:t>
            </a:r>
            <a:r>
              <a:rPr lang="en-US" sz="2800" b="1" dirty="0">
                <a:solidFill>
                  <a:schemeClr val="bg1"/>
                </a:solidFill>
              </a:rPr>
              <a:t>E</a:t>
            </a:r>
            <a:r>
              <a:rPr lang="en-US" sz="2800" b="1" dirty="0" smtClean="0">
                <a:solidFill>
                  <a:schemeClr val="bg1"/>
                </a:solidFill>
              </a:rPr>
              <a:t>nvironment</a:t>
            </a:r>
          </a:p>
        </p:txBody>
      </p:sp>
      <p:pic>
        <p:nvPicPr>
          <p:cNvPr id="23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832350" y="3781425"/>
            <a:ext cx="3994150" cy="2921000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9156" name="Picture 12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288" y="838200"/>
            <a:ext cx="4021137" cy="2743200"/>
          </a:xfrm>
        </p:spPr>
      </p:pic>
      <p:pic>
        <p:nvPicPr>
          <p:cNvPr id="49157" name="Picture 11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46638" y="889000"/>
            <a:ext cx="4297362" cy="2616200"/>
          </a:xfrm>
        </p:spPr>
      </p:pic>
      <p:pic>
        <p:nvPicPr>
          <p:cNvPr id="25" name="Content Placeholder 6"/>
          <p:cNvPicPr>
            <a:picLocks noGrp="1" noChangeAspect="1"/>
          </p:cNvPicPr>
          <p:nvPr>
            <p:ph sz="quarter" idx="4294967295"/>
          </p:nvPr>
        </p:nvPicPr>
        <p:blipFill>
          <a:blip r:embed="rId5"/>
          <a:stretch>
            <a:fillRect/>
          </a:stretch>
        </p:blipFill>
        <p:spPr>
          <a:xfrm>
            <a:off x="0" y="3778250"/>
            <a:ext cx="4038600" cy="2978150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76200" y="971550"/>
            <a:ext cx="1066800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4846638" y="1003300"/>
            <a:ext cx="671512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4" name="Rectangle 23"/>
          <p:cNvSpPr>
            <a:spLocks noChangeArrowheads="1"/>
          </p:cNvSpPr>
          <p:nvPr/>
        </p:nvSpPr>
        <p:spPr bwMode="auto">
          <a:xfrm>
            <a:off x="4897438" y="3933825"/>
            <a:ext cx="671512" cy="369888"/>
          </a:xfrm>
          <a:prstGeom prst="rect">
            <a:avLst/>
          </a:prstGeom>
          <a:noFill/>
          <a:ln w="381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kern="0" dirty="0">
                <a:solidFill>
                  <a:srgbClr val="FF0000"/>
                </a:solidFill>
                <a:latin typeface="Calibri"/>
                <a:cs typeface="+mn-cs"/>
              </a:rPr>
              <a:t>After</a:t>
            </a:r>
            <a:endParaRPr lang="en-US" kern="0" dirty="0">
              <a:solidFill>
                <a:srgbClr val="FF0000"/>
              </a:solidFill>
              <a:latin typeface="Calibri"/>
              <a:cs typeface="+mn-cs"/>
            </a:endParaRPr>
          </a:p>
        </p:txBody>
      </p:sp>
      <p:sp>
        <p:nvSpPr>
          <p:cNvPr id="26" name="Rectangle 10"/>
          <p:cNvSpPr>
            <a:spLocks noChangeArrowheads="1"/>
          </p:cNvSpPr>
          <p:nvPr/>
        </p:nvSpPr>
        <p:spPr bwMode="auto">
          <a:xfrm>
            <a:off x="76200" y="3895725"/>
            <a:ext cx="903288" cy="369888"/>
          </a:xfrm>
          <a:prstGeom prst="rect">
            <a:avLst/>
          </a:prstGeom>
          <a:noFill/>
          <a:ln w="381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kern="0" dirty="0">
                <a:solidFill>
                  <a:srgbClr val="FF0000"/>
                </a:solidFill>
                <a:latin typeface="Calibri"/>
                <a:cs typeface="+mn-cs"/>
              </a:rPr>
              <a:t>Before</a:t>
            </a:r>
            <a:endParaRPr lang="en-US" kern="0" dirty="0">
              <a:solidFill>
                <a:srgbClr val="FF0000"/>
              </a:solidFill>
              <a:latin typeface="Calibri"/>
              <a:cs typeface="+mn-cs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2" name="Title 1"/>
          <p:cNvSpPr>
            <a:spLocks noGrp="1"/>
          </p:cNvSpPr>
          <p:nvPr>
            <p:ph type="title" sz="quarter"/>
          </p:nvPr>
        </p:nvSpPr>
        <p:spPr>
          <a:xfrm>
            <a:off x="228600" y="274638"/>
            <a:ext cx="8534400" cy="563562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000" b="1" dirty="0" smtClean="0">
                <a:solidFill>
                  <a:srgbClr val="FFFFFF"/>
                </a:solidFill>
                <a:latin typeface="Arial" charset="0"/>
                <a:cs typeface="Arial" charset="0"/>
              </a:rPr>
              <a:t>Use of direction sign, labeling of rooms, clean latrine and waste segregation</a:t>
            </a:r>
          </a:p>
        </p:txBody>
      </p:sp>
      <p:pic>
        <p:nvPicPr>
          <p:cNvPr id="51203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1085850"/>
            <a:ext cx="4114800" cy="2571750"/>
          </a:xfrm>
        </p:spPr>
      </p:pic>
      <p:pic>
        <p:nvPicPr>
          <p:cNvPr id="51204" name="Content Placeholder 9"/>
          <p:cNvPicPr>
            <a:picLocks noGrp="1" noChangeAspect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24400" y="1066800"/>
            <a:ext cx="3968750" cy="2590800"/>
          </a:xfrm>
        </p:spPr>
      </p:pic>
      <p:pic>
        <p:nvPicPr>
          <p:cNvPr id="51205" name="Picture 6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1000" y="3962400"/>
            <a:ext cx="4038600" cy="2625725"/>
          </a:xfrm>
          <a:noFill/>
        </p:spPr>
      </p:pic>
      <p:pic>
        <p:nvPicPr>
          <p:cNvPr id="51206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1225" y="3962400"/>
            <a:ext cx="3965575" cy="265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07" name="Rectangle 4"/>
          <p:cNvSpPr>
            <a:spLocks noChangeArrowheads="1"/>
          </p:cNvSpPr>
          <p:nvPr/>
        </p:nvSpPr>
        <p:spPr bwMode="auto">
          <a:xfrm>
            <a:off x="304800" y="1143000"/>
            <a:ext cx="2466975" cy="369888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Use of direction sign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51208" name="Rectangle 5"/>
          <p:cNvSpPr>
            <a:spLocks noChangeArrowheads="1"/>
          </p:cNvSpPr>
          <p:nvPr/>
        </p:nvSpPr>
        <p:spPr bwMode="auto">
          <a:xfrm>
            <a:off x="4941888" y="1143000"/>
            <a:ext cx="2185987" cy="369888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b="1">
                <a:solidFill>
                  <a:srgbClr val="FF0000"/>
                </a:solidFill>
              </a:rPr>
              <a:t>Labeling of rooms</a:t>
            </a:r>
          </a:p>
        </p:txBody>
      </p:sp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457200" y="3998913"/>
            <a:ext cx="1981200" cy="36988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waist segregation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1210" name="Rectangle 8"/>
          <p:cNvSpPr>
            <a:spLocks noChangeArrowheads="1"/>
          </p:cNvSpPr>
          <p:nvPr/>
        </p:nvSpPr>
        <p:spPr bwMode="auto">
          <a:xfrm>
            <a:off x="4702175" y="4021138"/>
            <a:ext cx="1570038" cy="3698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b="1">
                <a:solidFill>
                  <a:srgbClr val="FF0000"/>
                </a:solidFill>
              </a:rPr>
              <a:t>Clean latrine</a:t>
            </a:r>
            <a:endParaRPr lang="en-US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/>
          <p:cNvSpPr>
            <a:spLocks noGrp="1"/>
          </p:cNvSpPr>
          <p:nvPr>
            <p:ph type="title" sz="quarter"/>
          </p:nvPr>
        </p:nvSpPr>
        <p:spPr>
          <a:xfrm>
            <a:off x="228600" y="274638"/>
            <a:ext cx="8458200" cy="563562"/>
          </a:xfrm>
          <a:solidFill>
            <a:srgbClr val="006600"/>
          </a:solidFill>
        </p:spPr>
        <p:txBody>
          <a:bodyPr/>
          <a:lstStyle/>
          <a:p>
            <a:pPr eaLnBrk="1" hangingPunct="1"/>
            <a:r>
              <a:rPr lang="en-US" sz="1800" b="1" smtClean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Use of color code, alignment of picture &amp; continuous big cleaning day</a:t>
            </a:r>
          </a:p>
        </p:txBody>
      </p:sp>
      <p:pic>
        <p:nvPicPr>
          <p:cNvPr id="52227" name="Content Placeholder 9"/>
          <p:cNvPicPr>
            <a:picLocks noGrp="1" noChangeAspect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24400" y="1030288"/>
            <a:ext cx="3962400" cy="2603500"/>
          </a:xfrm>
        </p:spPr>
      </p:pic>
      <p:pic>
        <p:nvPicPr>
          <p:cNvPr id="52228" name="Content Placeholder 11"/>
          <p:cNvPicPr>
            <a:picLocks noGrp="1" noChangeAspect="1"/>
          </p:cNvPicPr>
          <p:nvPr>
            <p:ph sz="quarter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1001714"/>
            <a:ext cx="4132263" cy="2608262"/>
          </a:xfrm>
        </p:spPr>
      </p:pic>
      <p:pic>
        <p:nvPicPr>
          <p:cNvPr id="52229" name="Picture 1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3810000"/>
            <a:ext cx="4114800" cy="290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30" name="Rectangle 4"/>
          <p:cNvSpPr>
            <a:spLocks noChangeArrowheads="1"/>
          </p:cNvSpPr>
          <p:nvPr/>
        </p:nvSpPr>
        <p:spPr bwMode="auto">
          <a:xfrm>
            <a:off x="304800" y="3979863"/>
            <a:ext cx="2557463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Alignment of pictures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2231" name="Rectangle 4"/>
          <p:cNvSpPr>
            <a:spLocks noChangeArrowheads="1"/>
          </p:cNvSpPr>
          <p:nvPr/>
        </p:nvSpPr>
        <p:spPr bwMode="auto">
          <a:xfrm>
            <a:off x="304800" y="1001713"/>
            <a:ext cx="1390650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Color code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2232" name="Rectangle 4"/>
          <p:cNvSpPr>
            <a:spLocks noChangeArrowheads="1"/>
          </p:cNvSpPr>
          <p:nvPr/>
        </p:nvSpPr>
        <p:spPr bwMode="auto">
          <a:xfrm>
            <a:off x="4876800" y="1001713"/>
            <a:ext cx="1390650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Color code</a:t>
            </a:r>
            <a:endParaRPr lang="en-US">
              <a:solidFill>
                <a:srgbClr val="FFFF00"/>
              </a:solidFill>
            </a:endParaRPr>
          </a:p>
        </p:txBody>
      </p:sp>
      <p:pic>
        <p:nvPicPr>
          <p:cNvPr id="13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3809999"/>
            <a:ext cx="4038600" cy="29083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50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875" y="609600"/>
            <a:ext cx="3997325" cy="290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51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0" y="3733800"/>
            <a:ext cx="4013200" cy="293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52" name="Content Placeholder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3733800"/>
            <a:ext cx="3997325" cy="293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284162" y="669925"/>
            <a:ext cx="1709738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FF00"/>
                </a:solidFill>
              </a:rPr>
              <a:t>Reception room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239713" y="3762375"/>
            <a:ext cx="2570162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FF00"/>
                </a:solidFill>
              </a:rPr>
              <a:t>Health education session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4459288" y="3762375"/>
            <a:ext cx="2587625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tx1"/>
                </a:solidFill>
              </a:rPr>
              <a:t>Community engagement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69875" y="38100"/>
            <a:ext cx="82296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Jhenaidah </a:t>
            </a:r>
            <a:r>
              <a:rPr lang="en-US" sz="24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Sadar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Hospital - 1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53257" name="Content Placeholder 3"/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486275" y="609600"/>
            <a:ext cx="4006850" cy="2905125"/>
          </a:xfrm>
        </p:spPr>
      </p:pic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4495800" y="644525"/>
            <a:ext cx="2403475" cy="368300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FF00"/>
                </a:solidFill>
              </a:rPr>
              <a:t>Creation  of nursing aid</a:t>
            </a:r>
            <a:endParaRPr lang="en-US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500" y="3927929"/>
            <a:ext cx="4267200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5" descr="DSC0249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10100" y="852487"/>
            <a:ext cx="4419600" cy="2705100"/>
          </a:xfrm>
          <a:prstGeom prst="rect">
            <a:avLst/>
          </a:prstGeom>
          <a:noFill/>
          <a:ln/>
        </p:spPr>
      </p:pic>
      <p:pic>
        <p:nvPicPr>
          <p:cNvPr id="5" name="Picture 4" descr="DSC0254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1407" y="852487"/>
            <a:ext cx="4257675" cy="2705100"/>
          </a:xfrm>
          <a:prstGeom prst="rect">
            <a:avLst/>
          </a:prstGeom>
          <a:noFill/>
          <a:ln/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191407" y="152400"/>
            <a:ext cx="8838293" cy="490537"/>
          </a:xfrm>
          <a:prstGeom prst="rect">
            <a:avLst/>
          </a:prstGeom>
          <a:solidFill>
            <a:srgbClr val="0C7E17"/>
          </a:solidFill>
          <a:ln w="25400" cap="flat" cmpd="sng" algn="ctr">
            <a:solidFill>
              <a:schemeClr val="bg1"/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</a:t>
            </a:r>
            <a:r>
              <a:rPr lang="en-US" sz="24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Jhenaidah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Sadar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Hospital - 2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Content Placeholder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407" y="3886200"/>
            <a:ext cx="4257675" cy="27849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5220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/>
          <p:cNvPicPr>
            <a:picLocks noGrp="1" noChangeAspect="1"/>
          </p:cNvPicPr>
          <p:nvPr>
            <p:ph sz="half" idx="4294967295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010" y="3886200"/>
            <a:ext cx="4133973" cy="2590800"/>
          </a:xfrm>
        </p:spPr>
      </p:pic>
      <p:pic>
        <p:nvPicPr>
          <p:cNvPr id="10" name="Content Placeholder 9"/>
          <p:cNvPicPr>
            <a:picLocks noGrp="1" noChangeAspect="1"/>
          </p:cNvPicPr>
          <p:nvPr>
            <p:ph sz="quarter" idx="4294967295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6186" y="3886200"/>
            <a:ext cx="4127426" cy="2590800"/>
          </a:xfrm>
        </p:spPr>
      </p:pic>
      <p:pic>
        <p:nvPicPr>
          <p:cNvPr id="11" name="Content Placeholder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600" y="1219200"/>
            <a:ext cx="4038599" cy="2514268"/>
          </a:xfrm>
          <a:prstGeom prst="rect">
            <a:avLst/>
          </a:prstGeom>
        </p:spPr>
      </p:pic>
      <p:pic>
        <p:nvPicPr>
          <p:cNvPr id="7" name="Content Placeholder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184" y="1219200"/>
            <a:ext cx="4114800" cy="2563359"/>
          </a:xfrm>
          <a:prstGeom prst="rect">
            <a:avLst/>
          </a:prstGeom>
        </p:spPr>
      </p:pic>
      <p:sp>
        <p:nvSpPr>
          <p:cNvPr id="13" name="Title 1"/>
          <p:cNvSpPr txBox="1">
            <a:spLocks/>
          </p:cNvSpPr>
          <p:nvPr/>
        </p:nvSpPr>
        <p:spPr bwMode="auto">
          <a:xfrm>
            <a:off x="246184" y="464343"/>
            <a:ext cx="8593015" cy="490537"/>
          </a:xfrm>
          <a:prstGeom prst="rect">
            <a:avLst/>
          </a:prstGeom>
          <a:solidFill>
            <a:srgbClr val="0C7E17"/>
          </a:solidFill>
          <a:ln w="25400" cap="flat" cmpd="sng" algn="ctr">
            <a:solidFill>
              <a:schemeClr val="bg1"/>
            </a:solidFill>
            <a:prstDash val="solid"/>
          </a:ln>
          <a:extLst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</a:t>
            </a:r>
            <a:r>
              <a:rPr lang="en-US" sz="24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Jhenaidah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Sadar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Hospital - 3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3109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036" y="1066800"/>
            <a:ext cx="4342829" cy="2514599"/>
          </a:xfrm>
        </p:spPr>
      </p:pic>
      <p:pic>
        <p:nvPicPr>
          <p:cNvPr id="10" name="Content Placeholder 9"/>
          <p:cNvPicPr>
            <a:picLocks noGrp="1" noChangeAspect="1"/>
          </p:cNvPicPr>
          <p:nvPr>
            <p:ph sz="quarter" idx="4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684" y="990600"/>
            <a:ext cx="4041775" cy="2667000"/>
          </a:xfrm>
        </p:spPr>
      </p:pic>
      <p:pic>
        <p:nvPicPr>
          <p:cNvPr id="12" name="Content Placeholder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684" y="3886198"/>
            <a:ext cx="4041606" cy="2819401"/>
          </a:xfrm>
          <a:prstGeom prst="rect">
            <a:avLst/>
          </a:prstGeom>
        </p:spPr>
      </p:pic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304798" y="457200"/>
            <a:ext cx="8537491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Jhenaidah </a:t>
            </a:r>
            <a:r>
              <a:rPr lang="en-US" sz="24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Sadar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Hospital - 4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8" name="Content Placeholder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171" y="3886198"/>
            <a:ext cx="4293029" cy="2819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810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1365250" y="4648200"/>
            <a:ext cx="30511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endParaRPr lang="en-US"/>
          </a:p>
        </p:txBody>
      </p:sp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14400"/>
            <a:ext cx="4176713" cy="287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1688" y="914400"/>
            <a:ext cx="4532312" cy="28765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4114800"/>
            <a:ext cx="4495800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Oval 8"/>
          <p:cNvSpPr/>
          <p:nvPr/>
        </p:nvSpPr>
        <p:spPr>
          <a:xfrm>
            <a:off x="7345363" y="2335213"/>
            <a:ext cx="1524000" cy="14478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10" name="Content Placeholder 3"/>
          <p:cNvPicPr>
            <a:picLocks noGrp="1" noChangeAspect="1"/>
          </p:cNvPicPr>
          <p:nvPr>
            <p:ph sz="quarter" idx="1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114800"/>
            <a:ext cx="4257675" cy="2743200"/>
          </a:xfrm>
        </p:spPr>
      </p:pic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Jhenaidah </a:t>
            </a:r>
            <a:r>
              <a:rPr lang="en-US" sz="24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Sadar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Hospital - 5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1310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6273" y="847725"/>
            <a:ext cx="4652963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6" descr="G:\101MSDCF 1\DSC02621.JPG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838200"/>
            <a:ext cx="4343400" cy="2862263"/>
          </a:xfrm>
        </p:spPr>
      </p:pic>
      <p:pic>
        <p:nvPicPr>
          <p:cNvPr id="7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8" y="3981451"/>
            <a:ext cx="4329112" cy="287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6273" y="3962400"/>
            <a:ext cx="4662489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0" y="42863"/>
            <a:ext cx="91440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Involvement of MP, District </a:t>
            </a:r>
            <a:r>
              <a:rPr lang="en-US" sz="2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dministrator &amp; Mayor in </a:t>
            </a:r>
            <a:r>
              <a:rPr lang="en-US" sz="24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Sadar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Hospital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0986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69490" y="601354"/>
            <a:ext cx="4191000" cy="2827646"/>
          </a:xfrm>
        </p:spPr>
      </p:pic>
      <p:pic>
        <p:nvPicPr>
          <p:cNvPr id="5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281" y="3599597"/>
            <a:ext cx="4343401" cy="28466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169" y="609600"/>
            <a:ext cx="4183626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3581400"/>
            <a:ext cx="4237232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0" y="42863"/>
            <a:ext cx="91440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Involvement of district high officials in hospital activities 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326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Title 4"/>
          <p:cNvSpPr>
            <a:spLocks noGrp="1"/>
          </p:cNvSpPr>
          <p:nvPr>
            <p:ph type="title" sz="quarter"/>
          </p:nvPr>
        </p:nvSpPr>
        <p:spPr>
          <a:xfrm>
            <a:off x="0" y="-4763"/>
            <a:ext cx="9144000" cy="461963"/>
          </a:xfrm>
          <a:solidFill>
            <a:srgbClr val="0C7E17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 smtClean="0">
                <a:solidFill>
                  <a:schemeClr val="bg1"/>
                </a:solidFill>
              </a:rPr>
              <a:t>Internal Monitoring System</a:t>
            </a:r>
          </a:p>
        </p:txBody>
      </p:sp>
      <p:pic>
        <p:nvPicPr>
          <p:cNvPr id="50179" name="Content Placeholder 10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41837" y="3895725"/>
            <a:ext cx="4419600" cy="2914650"/>
          </a:xfrm>
        </p:spPr>
      </p:pic>
      <p:pic>
        <p:nvPicPr>
          <p:cNvPr id="50180" name="Picture 8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48200" y="685800"/>
            <a:ext cx="4343400" cy="2895600"/>
          </a:xfrm>
          <a:noFill/>
        </p:spPr>
      </p:pic>
      <p:pic>
        <p:nvPicPr>
          <p:cNvPr id="50181" name="Picture 7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200" y="674688"/>
            <a:ext cx="4327525" cy="2906712"/>
          </a:xfrm>
          <a:noFill/>
        </p:spPr>
      </p:pic>
      <p:pic>
        <p:nvPicPr>
          <p:cNvPr id="50182" name="Content Placeholder 11"/>
          <p:cNvPicPr>
            <a:picLocks noGrp="1" noChangeAspect="1"/>
          </p:cNvPicPr>
          <p:nvPr>
            <p:ph sz="quarter" idx="4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200" y="3900487"/>
            <a:ext cx="4306888" cy="2884488"/>
          </a:xfrm>
        </p:spPr>
      </p:pic>
      <p:sp>
        <p:nvSpPr>
          <p:cNvPr id="50183" name="Rectangle 4"/>
          <p:cNvSpPr>
            <a:spLocks noChangeArrowheads="1"/>
          </p:cNvSpPr>
          <p:nvPr/>
        </p:nvSpPr>
        <p:spPr bwMode="auto">
          <a:xfrm>
            <a:off x="76200" y="685800"/>
            <a:ext cx="42672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Meting of health improvement committee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0184" name="Rectangle 4"/>
          <p:cNvSpPr>
            <a:spLocks noChangeArrowheads="1"/>
          </p:cNvSpPr>
          <p:nvPr/>
        </p:nvSpPr>
        <p:spPr bwMode="auto">
          <a:xfrm>
            <a:off x="4648200" y="742950"/>
            <a:ext cx="44196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Meting of community support group committee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0185" name="Rectangle 3"/>
          <p:cNvSpPr>
            <a:spLocks noChangeArrowheads="1"/>
          </p:cNvSpPr>
          <p:nvPr/>
        </p:nvSpPr>
        <p:spPr bwMode="auto">
          <a:xfrm>
            <a:off x="122237" y="3886200"/>
            <a:ext cx="41751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QIC meeting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50186" name="Rectangle 4"/>
          <p:cNvSpPr>
            <a:spLocks noChangeArrowheads="1"/>
          </p:cNvSpPr>
          <p:nvPr/>
        </p:nvSpPr>
        <p:spPr bwMode="auto">
          <a:xfrm>
            <a:off x="4637087" y="3930816"/>
            <a:ext cx="44418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Monthly meeting schedule</a:t>
            </a:r>
            <a:endParaRPr lang="en-US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58738" y="762000"/>
            <a:ext cx="4367212" cy="2762250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6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/>
          <a:stretch>
            <a:fillRect/>
          </a:stretch>
        </p:blipFill>
        <p:spPr>
          <a:xfrm>
            <a:off x="5083175" y="3879850"/>
            <a:ext cx="3925888" cy="2909888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6324" name="Title 1"/>
          <p:cNvSpPr txBox="1">
            <a:spLocks/>
          </p:cNvSpPr>
          <p:nvPr/>
        </p:nvSpPr>
        <p:spPr bwMode="auto">
          <a:xfrm>
            <a:off x="152400" y="152400"/>
            <a:ext cx="88392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/>
            <a:r>
              <a:rPr lang="en-US" sz="2800">
                <a:solidFill>
                  <a:schemeClr val="bg1"/>
                </a:solidFill>
              </a:rPr>
              <a:t>Improved pediatric word by local initiative</a:t>
            </a:r>
            <a:endParaRPr lang="en-US" sz="2800" b="1">
              <a:solidFill>
                <a:schemeClr val="bg1"/>
              </a:solidFill>
            </a:endParaRPr>
          </a:p>
        </p:txBody>
      </p:sp>
      <p:pic>
        <p:nvPicPr>
          <p:cNvPr id="5632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609600"/>
            <a:ext cx="4675188" cy="327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16"/>
          <p:cNvPicPr>
            <a:picLocks noChangeAspect="1" noChangeArrowheads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152400" y="3732213"/>
            <a:ext cx="4267200" cy="30575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ctrTitle"/>
          </p:nvPr>
        </p:nvSpPr>
        <p:spPr>
          <a:xfrm>
            <a:off x="228600" y="76200"/>
            <a:ext cx="8631238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 smtClean="0">
                <a:solidFill>
                  <a:schemeClr val="bg1"/>
                </a:solidFill>
              </a:rPr>
              <a:t>Hospital Environment</a:t>
            </a:r>
          </a:p>
        </p:txBody>
      </p:sp>
      <p:pic>
        <p:nvPicPr>
          <p:cNvPr id="57347" name="Picture 3" descr="11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3836987"/>
            <a:ext cx="4502150" cy="2994026"/>
          </a:xfrm>
        </p:spPr>
      </p:pic>
      <p:pic>
        <p:nvPicPr>
          <p:cNvPr id="57348" name="Picture 2" descr="DSC02561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76800" y="700088"/>
            <a:ext cx="4267200" cy="2936875"/>
          </a:xfrm>
        </p:spPr>
      </p:pic>
      <p:pic>
        <p:nvPicPr>
          <p:cNvPr id="57349" name="Picture 2" descr="G:\G\Dr Emdad\Photos- Jhenaidah\22-6-15\New folder\New folder\District hospital. Jhenaidah by GMB Akash (56)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8576" y="684213"/>
            <a:ext cx="4524375" cy="297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7350" name="Picture 7" descr="G:\101MSDCF\DSC02710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3836987"/>
            <a:ext cx="4267200" cy="302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0"/>
            <a:ext cx="9144000" cy="9144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lang="en-US" altLang="ja-JP" sz="3200" b="1" dirty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Jhenaidah Sadar Hospital, Jhenaidah</a:t>
            </a:r>
          </a:p>
          <a:p>
            <a:pPr algn="ctr" fontAlgn="auto">
              <a:spcAft>
                <a:spcPts val="0"/>
              </a:spcAft>
              <a:defRPr/>
            </a:pPr>
            <a:r>
              <a:rPr lang="en-US" altLang="ja-JP" sz="3200" b="1" dirty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Achievement of the Hospital</a:t>
            </a: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0" y="914400"/>
            <a:ext cx="9144000" cy="59436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algn="just">
              <a:defRPr/>
            </a:pPr>
            <a:r>
              <a:rPr lang="en-US" b="1" dirty="0" smtClean="0"/>
              <a:t>1. Active </a:t>
            </a:r>
            <a:r>
              <a:rPr lang="en-US" b="1" dirty="0"/>
              <a:t>C</a:t>
            </a:r>
            <a:r>
              <a:rPr lang="en-US" b="1" dirty="0" smtClean="0"/>
              <a:t>ommunity Participation in health service is an example in </a:t>
            </a:r>
            <a:r>
              <a:rPr lang="en-US" b="1" dirty="0" err="1" smtClean="0"/>
              <a:t>Bangldesh</a:t>
            </a:r>
            <a:r>
              <a:rPr lang="en-US" b="1" dirty="0" smtClean="0"/>
              <a:t>.</a:t>
            </a:r>
          </a:p>
          <a:p>
            <a:pPr marL="0" algn="just">
              <a:defRPr/>
            </a:pPr>
            <a:r>
              <a:rPr lang="en-US" dirty="0" smtClean="0"/>
              <a:t> </a:t>
            </a:r>
          </a:p>
          <a:p>
            <a:pPr marL="0" algn="just">
              <a:defRPr/>
            </a:pPr>
            <a:r>
              <a:rPr lang="en-US" b="1" dirty="0" smtClean="0"/>
              <a:t>2. Improved   </a:t>
            </a:r>
            <a:r>
              <a:rPr lang="en-US" b="1" dirty="0"/>
              <a:t>p</a:t>
            </a:r>
            <a:r>
              <a:rPr lang="en-US" b="1" dirty="0" smtClean="0"/>
              <a:t>erformance  of all services specially Pediatric, </a:t>
            </a:r>
            <a:r>
              <a:rPr lang="en-US" b="1" dirty="0"/>
              <a:t>o</a:t>
            </a:r>
            <a:r>
              <a:rPr lang="en-US" b="1" dirty="0" smtClean="0"/>
              <a:t>bstetric, operation and outdoor service.</a:t>
            </a:r>
            <a:endParaRPr lang="en-US" b="1" dirty="0"/>
          </a:p>
          <a:p>
            <a:pPr marL="0">
              <a:defRPr/>
            </a:pPr>
            <a:endParaRPr lang="en-US" b="1" dirty="0" smtClean="0"/>
          </a:p>
          <a:p>
            <a:pPr marL="0">
              <a:defRPr/>
            </a:pPr>
            <a:r>
              <a:rPr lang="en-US" b="1" dirty="0" smtClean="0"/>
              <a:t>3</a:t>
            </a:r>
            <a:r>
              <a:rPr lang="en-US" b="1" dirty="0"/>
              <a:t>. Improved Cleanliness and </a:t>
            </a:r>
            <a:r>
              <a:rPr lang="en-US" b="1" dirty="0" smtClean="0"/>
              <a:t>Beautification of Campus.</a:t>
            </a:r>
            <a:endParaRPr lang="en-US" b="1" dirty="0"/>
          </a:p>
          <a:p>
            <a:pPr marL="0" algn="just">
              <a:defRPr/>
            </a:pPr>
            <a:endParaRPr lang="en-US" b="1" dirty="0" smtClean="0"/>
          </a:p>
          <a:p>
            <a:pPr marL="0" algn="just">
              <a:defRPr/>
            </a:pPr>
            <a:r>
              <a:rPr lang="en-US" b="1" dirty="0" smtClean="0"/>
              <a:t>4. </a:t>
            </a:r>
            <a:r>
              <a:rPr lang="en-US" b="1" dirty="0"/>
              <a:t>Functioning </a:t>
            </a:r>
            <a:r>
              <a:rPr lang="en-US" b="1" dirty="0" smtClean="0"/>
              <a:t>of X-Ray service and starting of Biochemistry investigation by local initiatives.</a:t>
            </a:r>
            <a:endParaRPr lang="en-US" sz="900" dirty="0"/>
          </a:p>
          <a:p>
            <a:pPr marL="0" algn="just">
              <a:defRPr/>
            </a:pPr>
            <a:endParaRPr lang="en-US" b="1" dirty="0" smtClean="0"/>
          </a:p>
          <a:p>
            <a:pPr marL="0" algn="just">
              <a:defRPr/>
            </a:pPr>
            <a:r>
              <a:rPr lang="en-US" b="1" dirty="0" smtClean="0"/>
              <a:t>5. </a:t>
            </a:r>
            <a:r>
              <a:rPr lang="en-US" b="1" dirty="0"/>
              <a:t>Improved </a:t>
            </a:r>
            <a:r>
              <a:rPr lang="en-US" b="1" dirty="0" smtClean="0"/>
              <a:t>Security.</a:t>
            </a:r>
            <a:endParaRPr lang="en-US" sz="900" dirty="0"/>
          </a:p>
          <a:p>
            <a:pPr marL="0" algn="just">
              <a:defRPr/>
            </a:pPr>
            <a:endParaRPr lang="en-US" b="1" dirty="0" smtClean="0"/>
          </a:p>
          <a:p>
            <a:pPr marL="0" algn="just">
              <a:defRPr/>
            </a:pPr>
            <a:r>
              <a:rPr lang="en-US" b="1" dirty="0" smtClean="0"/>
              <a:t>6. </a:t>
            </a:r>
            <a:r>
              <a:rPr lang="en-US" b="1" dirty="0"/>
              <a:t>Improved Financial Management</a:t>
            </a:r>
          </a:p>
          <a:p>
            <a:pPr marL="0" algn="just">
              <a:defRPr/>
            </a:pPr>
            <a:endParaRPr lang="en-US" b="1" dirty="0" smtClean="0"/>
          </a:p>
          <a:p>
            <a:pPr marL="0" algn="just">
              <a:defRPr/>
            </a:pPr>
            <a:r>
              <a:rPr lang="en-US" b="1" dirty="0"/>
              <a:t>7</a:t>
            </a:r>
            <a:r>
              <a:rPr lang="en-US" b="1" dirty="0" smtClean="0"/>
              <a:t>. Piloting of “Model  District Hospital” is running in Jhenaidah Sadar Hospital.</a:t>
            </a:r>
          </a:p>
          <a:p>
            <a:pPr marL="0" algn="just">
              <a:defRPr/>
            </a:pPr>
            <a:endParaRPr lang="en-US" b="1" dirty="0"/>
          </a:p>
          <a:p>
            <a:pPr marL="0" algn="just">
              <a:defRPr/>
            </a:pPr>
            <a:r>
              <a:rPr lang="en-US" b="1" dirty="0" smtClean="0"/>
              <a:t>8. </a:t>
            </a:r>
            <a:r>
              <a:rPr lang="en-US" b="1" dirty="0"/>
              <a:t>The hospital is </a:t>
            </a:r>
            <a:r>
              <a:rPr lang="en-US" b="1" dirty="0" smtClean="0"/>
              <a:t>awarded 5 </a:t>
            </a:r>
            <a:r>
              <a:rPr lang="en-US" b="1" dirty="0"/>
              <a:t>times from 2013 to </a:t>
            </a:r>
            <a:r>
              <a:rPr lang="en-US" b="1" dirty="0" smtClean="0"/>
              <a:t>2017. </a:t>
            </a:r>
            <a:r>
              <a:rPr lang="en-US" b="1" dirty="0"/>
              <a:t>Stood first award by 5S-KAIZEN-TQM among the 100 bedded district hospitals by defeating </a:t>
            </a:r>
            <a:r>
              <a:rPr lang="en-US" b="1" dirty="0" err="1" smtClean="0"/>
              <a:t>Norsindi</a:t>
            </a:r>
            <a:r>
              <a:rPr lang="en-US" b="1" dirty="0" smtClean="0"/>
              <a:t> </a:t>
            </a:r>
            <a:r>
              <a:rPr lang="en-US" b="1" dirty="0"/>
              <a:t>Sadar Hospital.</a:t>
            </a:r>
          </a:p>
          <a:p>
            <a:pPr marL="0" algn="just">
              <a:defRPr/>
            </a:pPr>
            <a:endParaRPr lang="en-US" b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3340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/>
          <a:p>
            <a:pPr>
              <a:defRPr/>
            </a:pPr>
            <a:r>
              <a:rPr lang="en-US" sz="2800" dirty="0" smtClean="0"/>
              <a:t>Situation of the hospital in May 2012 -1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867400"/>
          </a:xfrm>
        </p:spPr>
        <p:txBody>
          <a:bodyPr/>
          <a:lstStyle/>
          <a:p>
            <a:pPr marL="457200" indent="-457200">
              <a:buFont typeface="Arial" charset="0"/>
              <a:buAutoNum type="arabicPeriod"/>
              <a:defRPr/>
            </a:pPr>
            <a:r>
              <a:rPr lang="en-US" sz="1800" dirty="0" smtClean="0"/>
              <a:t>Unprotected Campus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        	a. Addicted person moved here and there at day and night.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        	b. Campus unclean goats and cows moved everywhere in day.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/>
              <a:t> </a:t>
            </a:r>
            <a:r>
              <a:rPr lang="en-US" sz="1800" dirty="0" smtClean="0"/>
              <a:t>       	c. Front of the hospital was full of posters.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/>
              <a:t> </a:t>
            </a:r>
            <a:r>
              <a:rPr lang="en-US" sz="1800" dirty="0" smtClean="0"/>
              <a:t>       	d. Broken cycle stand and there was a shade of </a:t>
            </a:r>
            <a:r>
              <a:rPr lang="en-US" sz="1800" dirty="0" err="1" smtClean="0"/>
              <a:t>polithin</a:t>
            </a:r>
            <a:r>
              <a:rPr lang="en-US" sz="1800" dirty="0" smtClean="0"/>
              <a:t> in front of the cycle 	stand.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/>
              <a:t>	</a:t>
            </a:r>
            <a:r>
              <a:rPr lang="en-US" sz="1800" dirty="0" smtClean="0"/>
              <a:t>e. </a:t>
            </a:r>
            <a:r>
              <a:rPr lang="en-US" sz="1800" dirty="0" err="1" smtClean="0"/>
              <a:t>Vesoz</a:t>
            </a:r>
            <a:r>
              <a:rPr lang="en-US" sz="1800" dirty="0" smtClean="0"/>
              <a:t> Garden was unclean and full of hospital waste.</a:t>
            </a:r>
          </a:p>
          <a:p>
            <a:pPr marL="457200" indent="-457200">
              <a:buFont typeface="Arial" charset="0"/>
              <a:buAutoNum type="arabicPeriod" startAt="2"/>
              <a:defRPr/>
            </a:pPr>
            <a:r>
              <a:rPr lang="en-US" sz="1800" dirty="0" smtClean="0"/>
              <a:t>Emergency: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	a. Full of broken lockers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/>
              <a:t>	</a:t>
            </a:r>
            <a:r>
              <a:rPr lang="en-US" sz="1800" dirty="0" smtClean="0"/>
              <a:t>b. Unhygienic 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/>
              <a:t>	</a:t>
            </a:r>
            <a:r>
              <a:rPr lang="en-US" sz="1800" dirty="0" smtClean="0"/>
              <a:t>c. Used as a cycle store at night.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/>
              <a:t>	</a:t>
            </a:r>
            <a:r>
              <a:rPr lang="en-US" sz="1800" dirty="0" smtClean="0"/>
              <a:t>d. No boiling system. Infection control system was neglected.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 	e. Addicted person worked in emergency department.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/>
              <a:t>	</a:t>
            </a:r>
            <a:r>
              <a:rPr lang="en-US" sz="1800" dirty="0" smtClean="0"/>
              <a:t>f. No trolley man.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 	g. No slopping for trolley in front of the emergency department.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/>
              <a:t>	</a:t>
            </a:r>
            <a:r>
              <a:rPr lang="en-US" sz="1800" dirty="0" smtClean="0"/>
              <a:t>h. Privacy was neglected during stomach wash of the patient.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/>
              <a:t>	</a:t>
            </a:r>
            <a:r>
              <a:rPr lang="en-US" sz="1800" dirty="0" smtClean="0"/>
              <a:t>i. Corruption was not prevented.</a:t>
            </a:r>
          </a:p>
          <a:p>
            <a:pPr marL="0" indent="0">
              <a:buFont typeface="Arial" charset="0"/>
              <a:buNone/>
              <a:defRPr/>
            </a:pPr>
            <a:endParaRPr lang="en-US" sz="1800" dirty="0" smtClean="0"/>
          </a:p>
          <a:p>
            <a:pPr marL="0" indent="0">
              <a:buFont typeface="Arial" charset="0"/>
              <a:buNone/>
              <a:defRPr/>
            </a:pPr>
            <a:endParaRPr lang="en-US" sz="1800" b="1" dirty="0" smtClean="0"/>
          </a:p>
          <a:p>
            <a:pPr marL="0" indent="0">
              <a:buFont typeface="Arial" charset="0"/>
              <a:buNone/>
              <a:defRPr/>
            </a:pPr>
            <a:r>
              <a:rPr lang="en-US" sz="1800" dirty="0"/>
              <a:t> </a:t>
            </a:r>
            <a:endParaRPr lang="en-US" sz="1800" dirty="0" smtClean="0"/>
          </a:p>
        </p:txBody>
      </p:sp>
    </p:spTree>
    <p:extLst>
      <p:ext uri="{BB962C8B-B14F-4D97-AF65-F5344CB8AC3E}">
        <p14:creationId xmlns:p14="http://schemas.microsoft.com/office/powerpoint/2010/main" val="2595785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itle 1"/>
          <p:cNvSpPr>
            <a:spLocks noGrp="1"/>
          </p:cNvSpPr>
          <p:nvPr>
            <p:ph type="title"/>
          </p:nvPr>
        </p:nvSpPr>
        <p:spPr>
          <a:xfrm>
            <a:off x="304800" y="228600"/>
            <a:ext cx="8229600" cy="45720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/>
          <a:p>
            <a:pPr>
              <a:defRPr/>
            </a:pPr>
            <a:r>
              <a:rPr lang="en-US" sz="2400" dirty="0" smtClean="0"/>
              <a:t>Situation of the hospital in May 2012 -2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943600"/>
          </a:xfrm>
        </p:spPr>
        <p:txBody>
          <a:bodyPr/>
          <a:lstStyle/>
          <a:p>
            <a:pPr>
              <a:buFont typeface="Arial" charset="0"/>
              <a:buAutoNum type="arabicPeriod" startAt="6"/>
              <a:defRPr/>
            </a:pPr>
            <a:endParaRPr lang="en-US" sz="1800" dirty="0" smtClean="0"/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3.      Outdoor: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 	a. No patient separation. Male female and child treated in outdoor by every 	outdoor doctor.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	b. No IMCI Corner.                        c. No  FP Unit.</a:t>
            </a:r>
          </a:p>
          <a:p>
            <a:pPr>
              <a:buFont typeface="Arial" charset="0"/>
              <a:buAutoNum type="arabicPeriod" startAt="4"/>
              <a:defRPr/>
            </a:pPr>
            <a:r>
              <a:rPr lang="en-US" sz="1800" dirty="0" smtClean="0"/>
              <a:t>Blood Bank: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       	a. No worker for 24 Hours blood bank support.</a:t>
            </a:r>
            <a:endParaRPr lang="en-US" sz="1800" dirty="0"/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5.    Indoor: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	a. Unwanted items within the ward. Like broken patient bed.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	b. Unhygienic environment.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	c.  Patient in paying cabin and paying ward without govt. charge.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	d. No table and chair in paying cabin.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	e. Non Govt. worker would take charge from the patient and some of the 	govt. workers also involved in corruption.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6.     Dead body room: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	a. Unclean.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	b. Unused large telephone box for 10 years.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	c. Workers would take heavy charge from the relatives of the dead person.</a:t>
            </a:r>
          </a:p>
          <a:p>
            <a:pPr marL="0" indent="0">
              <a:buFont typeface="Arial" charset="0"/>
              <a:buNone/>
              <a:defRPr/>
            </a:pPr>
            <a:endParaRPr lang="en-US" sz="1800" dirty="0" smtClean="0"/>
          </a:p>
        </p:txBody>
      </p:sp>
    </p:spTree>
    <p:extLst>
      <p:ext uri="{BB962C8B-B14F-4D97-AF65-F5344CB8AC3E}">
        <p14:creationId xmlns:p14="http://schemas.microsoft.com/office/powerpoint/2010/main" val="3864389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38100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pPr>
              <a:defRPr/>
            </a:pPr>
            <a:r>
              <a:rPr lang="en-US" sz="2800" dirty="0" smtClean="0"/>
              <a:t>Situation of the hospital in May 2012 -3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534400" cy="6096000"/>
          </a:xfrm>
        </p:spPr>
        <p:txBody>
          <a:bodyPr/>
          <a:lstStyle/>
          <a:p>
            <a:pPr>
              <a:buFont typeface="Arial" charset="0"/>
              <a:buAutoNum type="arabicPeriod" startAt="6"/>
              <a:defRPr/>
            </a:pPr>
            <a:r>
              <a:rPr lang="en-US" sz="1600" dirty="0" smtClean="0"/>
              <a:t>EOC ward: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600" dirty="0" smtClean="0"/>
              <a:t>	a. Only 4 govt. bed and 4 extra. Total 8 beds.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600" dirty="0" smtClean="0"/>
              <a:t>	b. The ward was unhygienic and foul smelling.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600" dirty="0" smtClean="0"/>
              <a:t>	c.  Privacy was neglected.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600" dirty="0" smtClean="0"/>
              <a:t>	d. ANC Corner system ineffective. 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600" dirty="0" smtClean="0"/>
              <a:t>	e. One washroom with broken door.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600" dirty="0" smtClean="0"/>
              <a:t>	f.  No </a:t>
            </a:r>
            <a:r>
              <a:rPr lang="en-US" sz="1600" dirty="0" err="1" smtClean="0"/>
              <a:t>rexin</a:t>
            </a:r>
            <a:r>
              <a:rPr lang="en-US" sz="1600" dirty="0" smtClean="0"/>
              <a:t> sheet and unclean mattress of the beds.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600" dirty="0" smtClean="0"/>
              <a:t>	g. Mal use of oxytocic drug. 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600" dirty="0" smtClean="0"/>
              <a:t>	h. Weak infection control system.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600" dirty="0" smtClean="0"/>
              <a:t>	i. Consultant reside outside the campus.	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600" dirty="0"/>
              <a:t>	</a:t>
            </a:r>
            <a:r>
              <a:rPr lang="en-US" sz="1600" dirty="0" smtClean="0"/>
              <a:t>j. No health education system.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600" dirty="0" smtClean="0"/>
              <a:t>	k. No pre </a:t>
            </a:r>
            <a:r>
              <a:rPr lang="en-US" sz="1600" dirty="0" err="1" smtClean="0"/>
              <a:t>labour</a:t>
            </a:r>
            <a:r>
              <a:rPr lang="en-US" sz="1600" dirty="0" smtClean="0"/>
              <a:t> room.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600" dirty="0" smtClean="0"/>
              <a:t>	l. No night round of the consultant.</a:t>
            </a:r>
          </a:p>
          <a:p>
            <a:pPr>
              <a:buFont typeface="+mj-lt"/>
              <a:buAutoNum type="arabicPeriod" startAt="7"/>
              <a:defRPr/>
            </a:pPr>
            <a:r>
              <a:rPr lang="en-US" sz="1600" dirty="0" smtClean="0"/>
              <a:t> </a:t>
            </a:r>
            <a:r>
              <a:rPr lang="en-US" sz="1600" dirty="0" smtClean="0"/>
              <a:t>Some of the none govt. workers would take charge from the patient.</a:t>
            </a:r>
          </a:p>
          <a:p>
            <a:pPr>
              <a:buFont typeface="+mj-lt"/>
              <a:buAutoNum type="arabicPeriod" startAt="7"/>
              <a:defRPr/>
            </a:pPr>
            <a:r>
              <a:rPr lang="en-US" sz="1600" dirty="0" smtClean="0"/>
              <a:t>     No round of superintendent of the hospital even one in a month.</a:t>
            </a:r>
          </a:p>
          <a:p>
            <a:pPr>
              <a:buFont typeface="+mj-lt"/>
              <a:buAutoNum type="arabicPeriod" startAt="7"/>
              <a:defRPr/>
            </a:pPr>
            <a:r>
              <a:rPr lang="en-US" sz="1600" dirty="0" smtClean="0"/>
              <a:t>    No RMO, in charge RMO worked for six years.</a:t>
            </a:r>
          </a:p>
          <a:p>
            <a:pPr>
              <a:buFont typeface="+mj-lt"/>
              <a:buAutoNum type="arabicPeriod" startAt="7"/>
              <a:defRPr/>
            </a:pPr>
            <a:r>
              <a:rPr lang="en-US" sz="1600" dirty="0" smtClean="0"/>
              <a:t>    Information display system was neglected.</a:t>
            </a:r>
          </a:p>
          <a:p>
            <a:pPr>
              <a:buFont typeface="+mj-lt"/>
              <a:buAutoNum type="arabicPeriod" startAt="7"/>
              <a:defRPr/>
            </a:pPr>
            <a:r>
              <a:rPr lang="en-US" sz="1600" dirty="0" smtClean="0"/>
              <a:t>    One super were charged by local MP and one super fled away.</a:t>
            </a:r>
          </a:p>
          <a:p>
            <a:pPr>
              <a:buFont typeface="+mj-lt"/>
              <a:buAutoNum type="arabicPeriod" startAt="7"/>
              <a:defRPr/>
            </a:pPr>
            <a:r>
              <a:rPr lang="en-US" sz="1600" dirty="0" smtClean="0"/>
              <a:t>    Frequently, Hospital stuffs faced physical and mental torture.</a:t>
            </a:r>
          </a:p>
          <a:p>
            <a:pPr>
              <a:buFont typeface="+mj-lt"/>
              <a:buAutoNum type="arabicPeriod" startAt="7"/>
              <a:defRPr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768424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1162"/>
          </a:xfrm>
          <a:solidFill>
            <a:schemeClr val="tx2">
              <a:lumMod val="40000"/>
              <a:lumOff val="60000"/>
            </a:schemeClr>
          </a:solidFill>
        </p:spPr>
        <p:txBody>
          <a:bodyPr/>
          <a:lstStyle/>
          <a:p>
            <a:pPr eaLnBrk="1" hangingPunct="1">
              <a:defRPr/>
            </a:pPr>
            <a:r>
              <a:rPr lang="en-US" sz="3200" dirty="0" smtClean="0"/>
              <a:t>How we overcome the challenges</a:t>
            </a:r>
            <a:endParaRPr lang="en-US" sz="3200" dirty="0"/>
          </a:p>
        </p:txBody>
      </p:sp>
      <p:sp>
        <p:nvSpPr>
          <p:cNvPr id="64515" name="Rectangle 8"/>
          <p:cNvSpPr>
            <a:spLocks noChangeArrowheads="1"/>
          </p:cNvSpPr>
          <p:nvPr/>
        </p:nvSpPr>
        <p:spPr bwMode="auto">
          <a:xfrm>
            <a:off x="609600" y="914400"/>
            <a:ext cx="8077200" cy="677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</a:rPr>
              <a:t>1.                Situation analysis and prepare a baseline survey report in June 2012 and compared the    	progress with the baseline report of 1998.</a:t>
            </a:r>
          </a:p>
          <a:p>
            <a:r>
              <a:rPr lang="en-US" sz="1400" dirty="0">
                <a:solidFill>
                  <a:srgbClr val="000000"/>
                </a:solidFill>
              </a:rPr>
              <a:t>	a.   Problem identification. </a:t>
            </a:r>
            <a:r>
              <a:rPr lang="en-US" sz="1400" dirty="0" smtClean="0">
                <a:solidFill>
                  <a:srgbClr val="000000"/>
                </a:solidFill>
              </a:rPr>
              <a:t>*Problems of the hospital 1 &amp; 2 (Later)</a:t>
            </a:r>
            <a:endParaRPr lang="en-US" sz="1400" dirty="0">
              <a:solidFill>
                <a:srgbClr val="000000"/>
              </a:solidFill>
            </a:endParaRPr>
          </a:p>
          <a:p>
            <a:r>
              <a:rPr lang="en-US" sz="1400" dirty="0">
                <a:solidFill>
                  <a:srgbClr val="000000"/>
                </a:solidFill>
              </a:rPr>
              <a:t>	b.   Basic activities.</a:t>
            </a:r>
          </a:p>
          <a:p>
            <a:r>
              <a:rPr lang="en-US" sz="1400" dirty="0">
                <a:solidFill>
                  <a:srgbClr val="000000"/>
                </a:solidFill>
              </a:rPr>
              <a:t>	c.   Govt. resources</a:t>
            </a:r>
          </a:p>
          <a:p>
            <a:r>
              <a:rPr lang="en-US" sz="1400" dirty="0">
                <a:solidFill>
                  <a:srgbClr val="000000"/>
                </a:solidFill>
              </a:rPr>
              <a:t>	d.   Scope</a:t>
            </a:r>
          </a:p>
          <a:p>
            <a:r>
              <a:rPr lang="en-US" sz="1400" dirty="0">
                <a:solidFill>
                  <a:srgbClr val="000000"/>
                </a:solidFill>
              </a:rPr>
              <a:t>2.	Motivation of doctors, nurses and staff.</a:t>
            </a:r>
          </a:p>
          <a:p>
            <a:r>
              <a:rPr lang="en-US" sz="1400" dirty="0">
                <a:solidFill>
                  <a:srgbClr val="000000"/>
                </a:solidFill>
              </a:rPr>
              <a:t> </a:t>
            </a:r>
          </a:p>
          <a:p>
            <a:r>
              <a:rPr lang="en-US" sz="1400" dirty="0">
                <a:solidFill>
                  <a:srgbClr val="000000"/>
                </a:solidFill>
              </a:rPr>
              <a:t>3.	Community motivation and social mobilization.</a:t>
            </a:r>
          </a:p>
          <a:p>
            <a:r>
              <a:rPr lang="en-US" sz="1400" dirty="0">
                <a:solidFill>
                  <a:srgbClr val="000000"/>
                </a:solidFill>
              </a:rPr>
              <a:t>	a.   Local administration </a:t>
            </a:r>
            <a:r>
              <a:rPr lang="en-US" sz="1400" dirty="0" smtClean="0">
                <a:solidFill>
                  <a:srgbClr val="000000"/>
                </a:solidFill>
              </a:rPr>
              <a:t>DC, </a:t>
            </a:r>
            <a:r>
              <a:rPr lang="en-US" sz="1400" dirty="0">
                <a:solidFill>
                  <a:srgbClr val="000000"/>
                </a:solidFill>
              </a:rPr>
              <a:t>ADC </a:t>
            </a:r>
          </a:p>
          <a:p>
            <a:r>
              <a:rPr lang="en-US" sz="1400" dirty="0">
                <a:solidFill>
                  <a:srgbClr val="000000"/>
                </a:solidFill>
              </a:rPr>
              <a:t>	b.   District health improvement committee which is headed by 		      	      local MP.</a:t>
            </a:r>
          </a:p>
          <a:p>
            <a:r>
              <a:rPr lang="en-US" sz="1400" dirty="0">
                <a:solidFill>
                  <a:srgbClr val="000000"/>
                </a:solidFill>
              </a:rPr>
              <a:t>	c.   Local Govt. Mayor, district chairmen.</a:t>
            </a:r>
          </a:p>
          <a:p>
            <a:r>
              <a:rPr lang="en-US" sz="1400" dirty="0">
                <a:solidFill>
                  <a:srgbClr val="000000"/>
                </a:solidFill>
              </a:rPr>
              <a:t>	d.   Reporters and media personalities.</a:t>
            </a:r>
          </a:p>
          <a:p>
            <a:r>
              <a:rPr lang="en-US" sz="1400" dirty="0">
                <a:solidFill>
                  <a:srgbClr val="000000"/>
                </a:solidFill>
              </a:rPr>
              <a:t>	e.   Social workers, Human Rights Organizations, few NGO, 		      	      teachers, industrialists , </a:t>
            </a:r>
            <a:r>
              <a:rPr lang="en-US" sz="1400" dirty="0" smtClean="0">
                <a:solidFill>
                  <a:srgbClr val="000000"/>
                </a:solidFill>
              </a:rPr>
              <a:t>TIB .&amp; religious leaders</a:t>
            </a:r>
            <a:endParaRPr lang="en-US" sz="1400" dirty="0">
              <a:solidFill>
                <a:srgbClr val="000000"/>
              </a:solidFill>
            </a:endParaRPr>
          </a:p>
          <a:p>
            <a:endParaRPr lang="en-US" sz="1400" dirty="0">
              <a:solidFill>
                <a:srgbClr val="000000"/>
              </a:solidFill>
            </a:endParaRPr>
          </a:p>
          <a:p>
            <a:r>
              <a:rPr lang="en-US" sz="1400" dirty="0">
                <a:solidFill>
                  <a:srgbClr val="000000"/>
                </a:solidFill>
              </a:rPr>
              <a:t>4.	Improved cleanliness and beautification of the outer environment.</a:t>
            </a:r>
          </a:p>
          <a:p>
            <a:r>
              <a:rPr lang="en-US" sz="1400" dirty="0">
                <a:solidFill>
                  <a:srgbClr val="000000"/>
                </a:solidFill>
              </a:rPr>
              <a:t>	a.   Involvement of Mayor. Ensure security of the campus and regular  	       	      removal of hospital wastes, cleanliness of the drainage system.</a:t>
            </a:r>
          </a:p>
          <a:p>
            <a:r>
              <a:rPr lang="en-US" sz="1400" dirty="0">
                <a:solidFill>
                  <a:srgbClr val="000000"/>
                </a:solidFill>
              </a:rPr>
              <a:t>	b.   Removal of all posters.</a:t>
            </a:r>
          </a:p>
          <a:p>
            <a:r>
              <a:rPr lang="en-US" sz="1400" dirty="0">
                <a:solidFill>
                  <a:srgbClr val="000000"/>
                </a:solidFill>
              </a:rPr>
              <a:t>	c.   Made a boundary wall.</a:t>
            </a:r>
          </a:p>
          <a:p>
            <a:r>
              <a:rPr lang="en-US" sz="1400" dirty="0">
                <a:solidFill>
                  <a:srgbClr val="000000"/>
                </a:solidFill>
              </a:rPr>
              <a:t>	d.   Starting for the beautification of the campus.</a:t>
            </a:r>
          </a:p>
          <a:p>
            <a:r>
              <a:rPr lang="en-US" sz="1400" dirty="0">
                <a:solidFill>
                  <a:srgbClr val="000000"/>
                </a:solidFill>
              </a:rPr>
              <a:t>	e.   Celebrate A Big Cleaning Day in 17th March, the birthday of the father of the nation.</a:t>
            </a:r>
          </a:p>
          <a:p>
            <a:endParaRPr lang="en-US" sz="1400" dirty="0">
              <a:solidFill>
                <a:srgbClr val="000000"/>
              </a:solidFill>
            </a:endParaRPr>
          </a:p>
          <a:p>
            <a:endParaRPr lang="en-US" sz="1400" dirty="0">
              <a:solidFill>
                <a:srgbClr val="000000"/>
              </a:solidFill>
            </a:endParaRPr>
          </a:p>
          <a:p>
            <a:endParaRPr lang="en-US" sz="1400" dirty="0">
              <a:solidFill>
                <a:srgbClr val="000000"/>
              </a:solidFill>
            </a:endParaRPr>
          </a:p>
          <a:p>
            <a:endParaRPr lang="en-US" sz="1400" dirty="0">
              <a:solidFill>
                <a:srgbClr val="000000"/>
              </a:solidFill>
            </a:endParaRPr>
          </a:p>
          <a:p>
            <a:endParaRPr lang="en-US" sz="1400" dirty="0">
              <a:solidFill>
                <a:srgbClr val="000000"/>
              </a:solidFill>
            </a:endParaRPr>
          </a:p>
          <a:p>
            <a:endParaRPr lang="en-US" sz="14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9726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1162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/>
          <a:p>
            <a:pPr eaLnBrk="1" hangingPunct="1">
              <a:defRPr/>
            </a:pPr>
            <a:r>
              <a:rPr lang="en-US" sz="2800" dirty="0" smtClean="0"/>
              <a:t>How we overcome the challenges -2</a:t>
            </a:r>
            <a:endParaRPr lang="en-US" sz="2800" dirty="0"/>
          </a:p>
        </p:txBody>
      </p:sp>
      <p:sp>
        <p:nvSpPr>
          <p:cNvPr id="62467" name="Rectangle 3"/>
          <p:cNvSpPr>
            <a:spLocks noChangeArrowheads="1"/>
          </p:cNvSpPr>
          <p:nvPr/>
        </p:nvSpPr>
        <p:spPr bwMode="auto">
          <a:xfrm>
            <a:off x="381000" y="990600"/>
            <a:ext cx="8382000" cy="409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en-US" dirty="0">
                <a:solidFill>
                  <a:srgbClr val="000000"/>
                </a:solidFill>
              </a:rPr>
              <a:t>5.	Reform of EOC program:</a:t>
            </a:r>
          </a:p>
          <a:p>
            <a:pPr marL="342900" indent="-342900" algn="just" eaLnBrk="1" hangingPunct="1">
              <a:defRPr/>
            </a:pPr>
            <a:endParaRPr lang="en-US" sz="16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lvl="1" algn="just" eaLnBrk="1" hangingPunct="1">
              <a:defRPr/>
            </a:pPr>
            <a:r>
              <a:rPr lang="en-US" sz="1600" dirty="0"/>
              <a:t>	-Introduce </a:t>
            </a:r>
            <a:r>
              <a:rPr lang="en-US" sz="1600" dirty="0" err="1"/>
              <a:t>Labour</a:t>
            </a:r>
            <a:r>
              <a:rPr lang="en-US" sz="1600" dirty="0"/>
              <a:t> Admission Register, </a:t>
            </a:r>
            <a:r>
              <a:rPr lang="en-US" sz="1600" dirty="0" err="1"/>
              <a:t>Labour</a:t>
            </a:r>
            <a:r>
              <a:rPr lang="en-US" sz="1600" dirty="0"/>
              <a:t> Ward Admission Form, Separate 	Discharge Form. </a:t>
            </a:r>
          </a:p>
          <a:p>
            <a:pPr lvl="1" algn="just" eaLnBrk="1" hangingPunct="1">
              <a:defRPr/>
            </a:pPr>
            <a:r>
              <a:rPr lang="en-US" sz="1600" dirty="0"/>
              <a:t>	-Starting of ANC &amp; PNC corner and Arrange a Room for Medical Officer.</a:t>
            </a:r>
          </a:p>
          <a:p>
            <a:pPr lvl="1" algn="just" eaLnBrk="1" hangingPunct="1">
              <a:defRPr/>
            </a:pPr>
            <a:r>
              <a:rPr lang="en-US" sz="1600" dirty="0"/>
              <a:t>	-NO. of EOC Bed increase from 10 to 21 though on EOC bed only 5.</a:t>
            </a:r>
          </a:p>
          <a:p>
            <a:pPr lvl="1" algn="just" eaLnBrk="1" hangingPunct="1">
              <a:defRPr/>
            </a:pPr>
            <a:r>
              <a:rPr lang="en-US" sz="1600" dirty="0"/>
              <a:t>	-Improve EOC Operation Theater. </a:t>
            </a:r>
          </a:p>
          <a:p>
            <a:pPr lvl="1" algn="just" eaLnBrk="1" hangingPunct="1">
              <a:defRPr/>
            </a:pPr>
            <a:r>
              <a:rPr lang="en-US" sz="1600" dirty="0"/>
              <a:t>	-Moral based environment with 12 (twelve) workers supported by community 	donors. </a:t>
            </a:r>
          </a:p>
          <a:p>
            <a:pPr lvl="1" algn="just" eaLnBrk="1" hangingPunct="1">
              <a:defRPr/>
            </a:pPr>
            <a:r>
              <a:rPr lang="en-US" sz="1600" dirty="0"/>
              <a:t>	-EOC Operation activities extended from 8 A.M. to 2 P.M to 8 P.M.</a:t>
            </a:r>
          </a:p>
          <a:p>
            <a:pPr lvl="1" algn="just" eaLnBrk="1" hangingPunct="1">
              <a:defRPr/>
            </a:pPr>
            <a:r>
              <a:rPr lang="en-US" sz="1600" dirty="0"/>
              <a:t>	-Ensuring Rational use of drugs in EOC ward. </a:t>
            </a:r>
          </a:p>
          <a:p>
            <a:pPr lvl="1" algn="just" eaLnBrk="1" hangingPunct="1">
              <a:defRPr/>
            </a:pPr>
            <a:r>
              <a:rPr lang="en-US" sz="1600" dirty="0"/>
              <a:t>	-Provision of Mobile Phone in EOC ward no. 01857935012.</a:t>
            </a:r>
          </a:p>
          <a:p>
            <a:pPr lvl="1" algn="just" eaLnBrk="1" hangingPunct="1">
              <a:defRPr/>
            </a:pPr>
            <a:r>
              <a:rPr lang="en-US" sz="1600" dirty="0"/>
              <a:t>	-Shoe-free environment for infection control.</a:t>
            </a:r>
          </a:p>
          <a:p>
            <a:pPr lvl="1" algn="just" eaLnBrk="1" hangingPunct="1">
              <a:defRPr/>
            </a:pPr>
            <a:r>
              <a:rPr lang="en-US" sz="1600" dirty="0"/>
              <a:t>	-The center is used as a effective training center for SBA, Nursing student, Mid-	</a:t>
            </a:r>
            <a:r>
              <a:rPr lang="en-US" sz="1600" dirty="0" err="1"/>
              <a:t>wifiry</a:t>
            </a:r>
            <a:r>
              <a:rPr lang="en-US" sz="1600" dirty="0"/>
              <a:t>.</a:t>
            </a:r>
          </a:p>
          <a:p>
            <a:pPr lvl="1" algn="just" eaLnBrk="1" hangingPunct="1"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3399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867400"/>
          </a:xfrm>
        </p:spPr>
        <p:txBody>
          <a:bodyPr/>
          <a:lstStyle/>
          <a:p>
            <a:pPr marL="0" indent="0">
              <a:buFontTx/>
              <a:buNone/>
              <a:defRPr/>
            </a:pPr>
            <a:r>
              <a:rPr lang="en-US" sz="1600" dirty="0" smtClean="0"/>
              <a:t>6. Changes in Emergency</a:t>
            </a:r>
          </a:p>
          <a:p>
            <a:pPr marL="0" indent="0">
              <a:buFontTx/>
              <a:buNone/>
              <a:defRPr/>
            </a:pPr>
            <a:r>
              <a:rPr lang="en-US" sz="1600" dirty="0"/>
              <a:t>	</a:t>
            </a:r>
            <a:r>
              <a:rPr lang="en-US" sz="1600" dirty="0" smtClean="0"/>
              <a:t>a. Removal of all unnecessary items.</a:t>
            </a:r>
          </a:p>
          <a:p>
            <a:pPr marL="0" indent="0">
              <a:buFontTx/>
              <a:buNone/>
              <a:defRPr/>
            </a:pPr>
            <a:r>
              <a:rPr lang="en-US" sz="1600" dirty="0"/>
              <a:t>	</a:t>
            </a:r>
            <a:r>
              <a:rPr lang="en-US" sz="1600" dirty="0" smtClean="0"/>
              <a:t>b. Improved infection control system.</a:t>
            </a:r>
          </a:p>
          <a:p>
            <a:pPr marL="0" indent="0">
              <a:buFontTx/>
              <a:buNone/>
              <a:defRPr/>
            </a:pPr>
            <a:r>
              <a:rPr lang="en-US" sz="1600" dirty="0"/>
              <a:t>	</a:t>
            </a:r>
            <a:r>
              <a:rPr lang="en-US" sz="1600" dirty="0" smtClean="0"/>
              <a:t>c. Transfer the addicted person from emergency,</a:t>
            </a:r>
          </a:p>
          <a:p>
            <a:pPr marL="0" indent="0">
              <a:buFontTx/>
              <a:buNone/>
              <a:defRPr/>
            </a:pPr>
            <a:r>
              <a:rPr lang="en-US" sz="1600" dirty="0"/>
              <a:t>	</a:t>
            </a:r>
            <a:r>
              <a:rPr lang="en-US" sz="1600" dirty="0" smtClean="0"/>
              <a:t>d. EMOS room is reformed. </a:t>
            </a:r>
          </a:p>
          <a:p>
            <a:pPr marL="0" indent="0">
              <a:buFontTx/>
              <a:buNone/>
              <a:defRPr/>
            </a:pPr>
            <a:r>
              <a:rPr lang="en-US" sz="1600" dirty="0"/>
              <a:t>	</a:t>
            </a:r>
            <a:r>
              <a:rPr lang="en-US" sz="1600" dirty="0" smtClean="0"/>
              <a:t>e. Arrange 3 trolley men.</a:t>
            </a:r>
          </a:p>
          <a:p>
            <a:pPr marL="0" indent="0">
              <a:buFontTx/>
              <a:buNone/>
              <a:defRPr/>
            </a:pPr>
            <a:r>
              <a:rPr lang="en-US" sz="1600" dirty="0"/>
              <a:t>	</a:t>
            </a:r>
            <a:r>
              <a:rPr lang="en-US" sz="1600" dirty="0" smtClean="0"/>
              <a:t>f.  Tiles fitting of the walls of emergency department.</a:t>
            </a:r>
          </a:p>
          <a:p>
            <a:pPr marL="0" indent="0">
              <a:buFontTx/>
              <a:buNone/>
              <a:defRPr/>
            </a:pPr>
            <a:r>
              <a:rPr lang="en-US" sz="1600" dirty="0"/>
              <a:t>	</a:t>
            </a:r>
            <a:r>
              <a:rPr lang="en-US" sz="1600" dirty="0" smtClean="0"/>
              <a:t>g. Ensure privacy.</a:t>
            </a:r>
          </a:p>
          <a:p>
            <a:pPr marL="0" indent="0">
              <a:buFontTx/>
              <a:buNone/>
              <a:defRPr/>
            </a:pPr>
            <a:r>
              <a:rPr lang="en-US" sz="1600" dirty="0"/>
              <a:t>	</a:t>
            </a:r>
            <a:r>
              <a:rPr lang="en-US" sz="1600" dirty="0" smtClean="0"/>
              <a:t>h. Make a slope for easy carry of the patient.</a:t>
            </a:r>
          </a:p>
          <a:p>
            <a:pPr marL="0" indent="0">
              <a:buFontTx/>
              <a:buNone/>
              <a:defRPr/>
            </a:pPr>
            <a:r>
              <a:rPr lang="en-US" sz="1600" dirty="0" smtClean="0"/>
              <a:t>7. Changes in outdoor:</a:t>
            </a:r>
          </a:p>
          <a:p>
            <a:pPr marL="0" indent="0">
              <a:buFontTx/>
              <a:buNone/>
              <a:defRPr/>
            </a:pPr>
            <a:r>
              <a:rPr lang="en-US" sz="1600" dirty="0"/>
              <a:t>	</a:t>
            </a:r>
            <a:r>
              <a:rPr lang="en-US" sz="1600" dirty="0" smtClean="0"/>
              <a:t>a. Separation of the outdoor patient. Male, Female, IMCI 	  	    	    corner. </a:t>
            </a:r>
            <a:r>
              <a:rPr lang="en-US" sz="1600" dirty="0"/>
              <a:t>	</a:t>
            </a:r>
            <a:endParaRPr lang="en-US" sz="1600" dirty="0" smtClean="0"/>
          </a:p>
          <a:p>
            <a:pPr marL="0" indent="0">
              <a:buFontTx/>
              <a:buNone/>
              <a:defRPr/>
            </a:pPr>
            <a:r>
              <a:rPr lang="en-US" sz="1600" dirty="0" smtClean="0"/>
              <a:t>	b. Opening of family planning section.</a:t>
            </a:r>
          </a:p>
          <a:p>
            <a:pPr marL="0" indent="0">
              <a:buFontTx/>
              <a:buNone/>
              <a:defRPr/>
            </a:pPr>
            <a:r>
              <a:rPr lang="en-US" sz="1600" dirty="0"/>
              <a:t>	</a:t>
            </a:r>
            <a:r>
              <a:rPr lang="en-US" sz="1600" dirty="0" smtClean="0"/>
              <a:t>c. Opening of one step crisis service.</a:t>
            </a:r>
          </a:p>
          <a:p>
            <a:pPr marL="0" indent="0">
              <a:buFontTx/>
              <a:buNone/>
              <a:defRPr/>
            </a:pPr>
            <a:r>
              <a:rPr lang="en-US" sz="1600" dirty="0"/>
              <a:t>	</a:t>
            </a:r>
            <a:r>
              <a:rPr lang="en-US" sz="1600" dirty="0" smtClean="0"/>
              <a:t>d. Opening of one cash counter and another delivery of report 	    	    system. </a:t>
            </a:r>
          </a:p>
          <a:p>
            <a:pPr>
              <a:buFontTx/>
              <a:buAutoNum type="arabicPeriod" startAt="8"/>
              <a:defRPr/>
            </a:pPr>
            <a:r>
              <a:rPr lang="en-US" sz="1600" dirty="0" smtClean="0"/>
              <a:t>Change in dead body room:</a:t>
            </a:r>
          </a:p>
          <a:p>
            <a:pPr marL="0" indent="0">
              <a:buFontTx/>
              <a:buNone/>
              <a:defRPr/>
            </a:pPr>
            <a:r>
              <a:rPr lang="en-US" sz="1600" dirty="0"/>
              <a:t>	</a:t>
            </a:r>
            <a:r>
              <a:rPr lang="en-US" sz="1600" dirty="0" smtClean="0"/>
              <a:t>a. Removal of telephone box.</a:t>
            </a:r>
          </a:p>
          <a:p>
            <a:pPr marL="0" indent="0">
              <a:buFontTx/>
              <a:buNone/>
              <a:defRPr/>
            </a:pPr>
            <a:r>
              <a:rPr lang="en-US" sz="1600" dirty="0"/>
              <a:t>	</a:t>
            </a:r>
            <a:r>
              <a:rPr lang="en-US" sz="1600" dirty="0" smtClean="0"/>
              <a:t>b. Ensure clean environment.   </a:t>
            </a:r>
          </a:p>
          <a:p>
            <a:pPr marL="0" indent="0">
              <a:buFontTx/>
              <a:buNone/>
              <a:defRPr/>
            </a:pPr>
            <a:r>
              <a:rPr lang="en-US" sz="1600" dirty="0"/>
              <a:t>	</a:t>
            </a:r>
            <a:r>
              <a:rPr lang="en-US" sz="1600" dirty="0" smtClean="0"/>
              <a:t>c. Prevention of corruption.     </a:t>
            </a:r>
            <a:endParaRPr lang="en-US" sz="1600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/>
          <a:p>
            <a:pPr eaLnBrk="1" hangingPunct="1">
              <a:defRPr/>
            </a:pPr>
            <a:r>
              <a:rPr lang="en-US" sz="2000" dirty="0" smtClean="0"/>
              <a:t>How we overcome the challenges -3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877156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Content Placeholder 3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867400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en-US" sz="1600" smtClean="0"/>
              <a:t>9. Changes in blood bank:</a:t>
            </a:r>
          </a:p>
          <a:p>
            <a:pPr marL="0" indent="0">
              <a:buFontTx/>
              <a:buNone/>
            </a:pPr>
            <a:r>
              <a:rPr lang="en-US" sz="1600" smtClean="0"/>
              <a:t>	a. 24 hours blood bank service by the support of blood bank rule.</a:t>
            </a:r>
          </a:p>
          <a:p>
            <a:pPr marL="0" indent="0">
              <a:buFontTx/>
              <a:buNone/>
            </a:pPr>
            <a:r>
              <a:rPr lang="en-US" sz="1600" smtClean="0"/>
              <a:t>10. Changes in G OT</a:t>
            </a:r>
          </a:p>
          <a:p>
            <a:pPr marL="0" indent="0">
              <a:buFontTx/>
              <a:buNone/>
            </a:pPr>
            <a:r>
              <a:rPr lang="en-US" sz="1600" smtClean="0"/>
              <a:t>	a. Arrange Generator.</a:t>
            </a:r>
          </a:p>
          <a:p>
            <a:pPr marL="0" indent="0">
              <a:buFontTx/>
              <a:buNone/>
            </a:pPr>
            <a:r>
              <a:rPr lang="en-US" sz="1600" smtClean="0"/>
              <a:t>	b. Prevent corruption.</a:t>
            </a:r>
          </a:p>
          <a:p>
            <a:pPr marL="0" indent="0">
              <a:buFontTx/>
              <a:buNone/>
            </a:pPr>
            <a:r>
              <a:rPr lang="en-US" sz="1600" smtClean="0"/>
              <a:t>	c. Beautiful OT environment.</a:t>
            </a:r>
          </a:p>
          <a:p>
            <a:pPr marL="0" indent="0">
              <a:buFontTx/>
              <a:buNone/>
            </a:pPr>
            <a:r>
              <a:rPr lang="en-US" sz="1600" smtClean="0"/>
              <a:t>11. Changes in indoor:</a:t>
            </a:r>
          </a:p>
          <a:p>
            <a:pPr marL="0" indent="0">
              <a:buFontTx/>
              <a:buNone/>
            </a:pPr>
            <a:r>
              <a:rPr lang="en-US" sz="1600" smtClean="0"/>
              <a:t>	a. Improve cleanliness.</a:t>
            </a:r>
          </a:p>
          <a:p>
            <a:pPr marL="0" indent="0">
              <a:buFontTx/>
              <a:buNone/>
            </a:pPr>
            <a:r>
              <a:rPr lang="en-US" sz="1600" smtClean="0"/>
              <a:t>	b. Arrange tiles at the wall of the female medicine indoor.</a:t>
            </a:r>
          </a:p>
          <a:p>
            <a:pPr marL="0" indent="0">
              <a:buFontTx/>
              <a:buNone/>
            </a:pPr>
            <a:r>
              <a:rPr lang="en-US" sz="1600" smtClean="0"/>
              <a:t>	c. Removal of unwanted items.</a:t>
            </a:r>
          </a:p>
          <a:p>
            <a:pPr marL="0" indent="0">
              <a:buFontTx/>
              <a:buNone/>
            </a:pPr>
            <a:r>
              <a:rPr lang="en-US" sz="1600" smtClean="0"/>
              <a:t>	d. Coloring of the patient beds, locker.</a:t>
            </a:r>
          </a:p>
          <a:p>
            <a:pPr marL="0" indent="0">
              <a:buFontTx/>
              <a:buNone/>
            </a:pPr>
            <a:r>
              <a:rPr lang="en-US" sz="1600" smtClean="0"/>
              <a:t>	e. Arrange 3 ayah and 3 cleaner in every ward.</a:t>
            </a:r>
          </a:p>
          <a:p>
            <a:pPr marL="0" indent="0">
              <a:buFontTx/>
              <a:buNone/>
            </a:pPr>
            <a:r>
              <a:rPr lang="en-US" sz="1600" smtClean="0"/>
              <a:t>	f. Table an chair supplies in every cabin for the patient.</a:t>
            </a:r>
          </a:p>
          <a:p>
            <a:pPr marL="0" indent="0">
              <a:buFontTx/>
              <a:buNone/>
            </a:pPr>
            <a:r>
              <a:rPr lang="en-US" sz="1600" smtClean="0"/>
              <a:t>	  </a:t>
            </a:r>
          </a:p>
          <a:p>
            <a:pPr marL="0" indent="0">
              <a:buFontTx/>
              <a:buNone/>
            </a:pPr>
            <a:r>
              <a:rPr lang="en-US" sz="1600" smtClean="0"/>
              <a:t>.     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/>
          <a:p>
            <a:pPr eaLnBrk="1" hangingPunct="1">
              <a:defRPr/>
            </a:pPr>
            <a:r>
              <a:rPr lang="en-US" sz="2000" dirty="0" smtClean="0"/>
              <a:t>How we overcome the challenges -4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675074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457200" y="274638"/>
            <a:ext cx="8229600" cy="41116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defRPr/>
            </a:pPr>
            <a:r>
              <a:rPr lang="en-US" sz="2800" dirty="0" smtClean="0"/>
              <a:t>How we overcome the challenges -5</a:t>
            </a:r>
            <a:endParaRPr lang="en-US" sz="2800" dirty="0"/>
          </a:p>
        </p:txBody>
      </p:sp>
      <p:sp>
        <p:nvSpPr>
          <p:cNvPr id="68611" name="Content Placeholder 5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440363"/>
          </a:xfrm>
        </p:spPr>
        <p:txBody>
          <a:bodyPr/>
          <a:lstStyle/>
          <a:p>
            <a:pPr marL="0" indent="0">
              <a:spcBef>
                <a:spcPct val="0"/>
              </a:spcBef>
              <a:buFont typeface="Arial" charset="0"/>
              <a:buNone/>
            </a:pPr>
            <a:endParaRPr lang="en-US" sz="1800" smtClean="0">
              <a:solidFill>
                <a:srgbClr val="000000"/>
              </a:solidFill>
              <a:latin typeface="Arial" charset="0"/>
              <a:cs typeface="Arial" charset="0"/>
            </a:endParaRP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r>
              <a:rPr lang="en-US" sz="1800" smtClean="0">
                <a:solidFill>
                  <a:srgbClr val="000000"/>
                </a:solidFill>
                <a:latin typeface="Arial" charset="0"/>
                <a:cs typeface="Arial" charset="0"/>
              </a:rPr>
              <a:t>12.	Community support system.</a:t>
            </a: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r>
              <a:rPr lang="en-US" sz="1800" smtClean="0">
                <a:solidFill>
                  <a:srgbClr val="000000"/>
                </a:solidFill>
                <a:latin typeface="Arial" charset="0"/>
                <a:cs typeface="Arial" charset="0"/>
              </a:rPr>
              <a:t>	a. Manpower, b. logistics, c. security system.</a:t>
            </a: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endParaRPr lang="en-US" sz="1800" smtClean="0">
              <a:solidFill>
                <a:srgbClr val="000000"/>
              </a:solidFill>
              <a:latin typeface="Arial" charset="0"/>
              <a:cs typeface="Arial" charset="0"/>
            </a:endParaRP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r>
              <a:rPr lang="en-US" sz="1800" smtClean="0">
                <a:solidFill>
                  <a:srgbClr val="000000"/>
                </a:solidFill>
                <a:latin typeface="Arial" charset="0"/>
                <a:cs typeface="Arial" charset="0"/>
              </a:rPr>
              <a:t>13.	Improved MIS and Display system.</a:t>
            </a: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endParaRPr lang="en-US" sz="1800" smtClean="0">
              <a:solidFill>
                <a:srgbClr val="000000"/>
              </a:solidFill>
              <a:latin typeface="Arial" charset="0"/>
              <a:cs typeface="Arial" charset="0"/>
            </a:endParaRP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r>
              <a:rPr lang="en-US" sz="1800" smtClean="0">
                <a:solidFill>
                  <a:srgbClr val="000000"/>
                </a:solidFill>
                <a:latin typeface="Arial" charset="0"/>
                <a:cs typeface="Arial" charset="0"/>
              </a:rPr>
              <a:t>14.	Improved supervisory authority.</a:t>
            </a: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r>
              <a:rPr lang="en-US" sz="1800" smtClean="0">
                <a:solidFill>
                  <a:srgbClr val="000000"/>
                </a:solidFill>
                <a:latin typeface="Arial" charset="0"/>
                <a:cs typeface="Arial" charset="0"/>
              </a:rPr>
              <a:t>	a. District health development authority.</a:t>
            </a: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r>
              <a:rPr lang="en-US" sz="1800" smtClean="0">
                <a:solidFill>
                  <a:srgbClr val="000000"/>
                </a:solidFill>
                <a:latin typeface="Arial" charset="0"/>
                <a:cs typeface="Arial" charset="0"/>
              </a:rPr>
              <a:t>	b. Ensure monthly meeting.</a:t>
            </a: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r>
              <a:rPr lang="en-US" sz="1800" smtClean="0">
                <a:solidFill>
                  <a:srgbClr val="000000"/>
                </a:solidFill>
                <a:latin typeface="Arial" charset="0"/>
                <a:cs typeface="Arial" charset="0"/>
              </a:rPr>
              <a:t>	c. Formation of QIT and WIT team.</a:t>
            </a: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r>
              <a:rPr lang="en-US" sz="1800" smtClean="0">
                <a:solidFill>
                  <a:srgbClr val="000000"/>
                </a:solidFill>
                <a:latin typeface="Arial" charset="0"/>
                <a:cs typeface="Arial" charset="0"/>
              </a:rPr>
              <a:t>	d. Idea sharing with Satkhira District Hospital visit.</a:t>
            </a: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r>
              <a:rPr lang="en-US" sz="1800" smtClean="0">
                <a:solidFill>
                  <a:srgbClr val="000000"/>
                </a:solidFill>
                <a:latin typeface="Arial" charset="0"/>
                <a:cs typeface="Arial" charset="0"/>
              </a:rPr>
              <a:t>	e. Coordination with officials of DGHS, Ministry of Health and Family 	Welfare, BPATC Savar, Divisional Health Office, ICDDRB and JAICA.</a:t>
            </a: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endParaRPr lang="en-US" sz="1800" smtClean="0">
              <a:solidFill>
                <a:srgbClr val="000000"/>
              </a:solidFill>
              <a:latin typeface="Arial" charset="0"/>
              <a:cs typeface="Arial" charset="0"/>
            </a:endParaRP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r>
              <a:rPr lang="en-US" sz="1800" smtClean="0">
                <a:solidFill>
                  <a:srgbClr val="000000"/>
                </a:solidFill>
                <a:latin typeface="Arial" charset="0"/>
                <a:cs typeface="Arial" charset="0"/>
              </a:rPr>
              <a:t>15.	Achievements:</a:t>
            </a: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r>
              <a:rPr lang="en-US" sz="1800" smtClean="0">
                <a:solidFill>
                  <a:srgbClr val="000000"/>
                </a:solidFill>
                <a:latin typeface="Arial" charset="0"/>
                <a:cs typeface="Arial" charset="0"/>
              </a:rPr>
              <a:t>	a. Active community participation.</a:t>
            </a: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r>
              <a:rPr lang="en-US" sz="1800" smtClean="0">
                <a:solidFill>
                  <a:srgbClr val="000000"/>
                </a:solidFill>
                <a:latin typeface="Arial" charset="0"/>
                <a:cs typeface="Arial" charset="0"/>
              </a:rPr>
              <a:t>	b. High performance of EOC program.</a:t>
            </a: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r>
              <a:rPr lang="en-US" sz="1800" smtClean="0">
                <a:solidFill>
                  <a:srgbClr val="000000"/>
                </a:solidFill>
                <a:latin typeface="Arial" charset="0"/>
                <a:cs typeface="Arial" charset="0"/>
              </a:rPr>
              <a:t>	c. Improved cleanliness and beautification.</a:t>
            </a: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r>
              <a:rPr lang="en-US" sz="1800" smtClean="0">
                <a:solidFill>
                  <a:srgbClr val="000000"/>
                </a:solidFill>
                <a:latin typeface="Arial" charset="0"/>
                <a:cs typeface="Arial" charset="0"/>
              </a:rPr>
              <a:t>	d. Ensure security.</a:t>
            </a: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r>
              <a:rPr lang="en-US" sz="1800" smtClean="0">
                <a:solidFill>
                  <a:srgbClr val="000000"/>
                </a:solidFill>
                <a:latin typeface="Arial" charset="0"/>
                <a:cs typeface="Arial" charset="0"/>
              </a:rPr>
              <a:t>	e. Improved revenue income.</a:t>
            </a: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r>
              <a:rPr lang="en-US" sz="1800" smtClean="0">
                <a:solidFill>
                  <a:srgbClr val="000000"/>
                </a:solidFill>
                <a:latin typeface="Arial" charset="0"/>
                <a:cs typeface="Arial" charset="0"/>
              </a:rPr>
              <a:t>	f.  Achieve overall community satisfaction.</a:t>
            </a:r>
          </a:p>
          <a:p>
            <a:pPr marL="0" indent="0">
              <a:buFont typeface="Arial" charset="0"/>
              <a:buNone/>
            </a:pPr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071280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676400" y="114300"/>
            <a:ext cx="6011863" cy="889000"/>
          </a:xfr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lang="en-US" sz="3200" b="1" smtClean="0">
                <a:solidFill>
                  <a:schemeClr val="bg1"/>
                </a:solidFill>
              </a:rPr>
              <a:t>Problems</a:t>
            </a:r>
            <a:r>
              <a:rPr lang="en-US" sz="4000" b="1" smtClean="0">
                <a:solidFill>
                  <a:schemeClr val="bg1"/>
                </a:solidFill>
              </a:rPr>
              <a:t> </a:t>
            </a:r>
            <a:r>
              <a:rPr lang="en-US" sz="3200" b="1" smtClean="0">
                <a:solidFill>
                  <a:schemeClr val="bg1"/>
                </a:solidFill>
              </a:rPr>
              <a:t>of Sadar Hospital-1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168400"/>
            <a:ext cx="8229600" cy="5237163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sz="1400" dirty="0" smtClean="0"/>
              <a:t>100 </a:t>
            </a:r>
            <a:r>
              <a:rPr lang="en-US" sz="1400" dirty="0" err="1" smtClean="0"/>
              <a:t>Beded</a:t>
            </a:r>
            <a:r>
              <a:rPr lang="en-US" sz="1400" dirty="0" smtClean="0"/>
              <a:t> Hospital running with 50 </a:t>
            </a:r>
            <a:r>
              <a:rPr lang="en-US" sz="1400" dirty="0" err="1" smtClean="0"/>
              <a:t>beded</a:t>
            </a:r>
            <a:r>
              <a:rPr lang="en-US" sz="1400" dirty="0" smtClean="0"/>
              <a:t> manpower since 1994.</a:t>
            </a:r>
          </a:p>
          <a:p>
            <a:pPr algn="just">
              <a:lnSpc>
                <a:spcPct val="80000"/>
              </a:lnSpc>
            </a:pPr>
            <a:r>
              <a:rPr lang="en-US" sz="1400" dirty="0" smtClean="0"/>
              <a:t>There are 9 unit in hospital (wards 06, OT, Out door, Emergency) needs cleaners about 36 but there are only 6 cleaners. </a:t>
            </a:r>
          </a:p>
          <a:p>
            <a:pPr algn="just">
              <a:lnSpc>
                <a:spcPct val="80000"/>
              </a:lnSpc>
            </a:pPr>
            <a:r>
              <a:rPr lang="en-US" sz="1400" dirty="0" smtClean="0"/>
              <a:t>There is no post of </a:t>
            </a:r>
            <a:r>
              <a:rPr lang="en-US" sz="1400" dirty="0" err="1" smtClean="0"/>
              <a:t>Aya</a:t>
            </a:r>
            <a:r>
              <a:rPr lang="en-US" sz="1400" dirty="0" smtClean="0"/>
              <a:t>, Ward boy, Security guard in the Hospital. </a:t>
            </a:r>
          </a:p>
          <a:p>
            <a:pPr algn="just">
              <a:lnSpc>
                <a:spcPct val="80000"/>
              </a:lnSpc>
            </a:pPr>
            <a:r>
              <a:rPr lang="en-US" sz="1400" dirty="0" smtClean="0"/>
              <a:t>There is no post of indoor medical officer so hamper indoor service &amp; night rounds.</a:t>
            </a:r>
          </a:p>
          <a:p>
            <a:pPr algn="just">
              <a:lnSpc>
                <a:spcPct val="80000"/>
              </a:lnSpc>
            </a:pPr>
            <a:r>
              <a:rPr lang="en-US" sz="1400" dirty="0" smtClean="0"/>
              <a:t>One (01) anesthesiologist working for surgery, </a:t>
            </a:r>
            <a:r>
              <a:rPr lang="en-US" sz="1400" dirty="0" err="1" smtClean="0"/>
              <a:t>gynae</a:t>
            </a:r>
            <a:r>
              <a:rPr lang="en-US" sz="1400" dirty="0" smtClean="0"/>
              <a:t>, Orthopedics, ENT, Eye, 24 hours EOC &amp; emergency service.</a:t>
            </a:r>
          </a:p>
          <a:p>
            <a:pPr algn="just">
              <a:lnSpc>
                <a:spcPct val="80000"/>
              </a:lnSpc>
            </a:pPr>
            <a:r>
              <a:rPr lang="en-US" sz="1400" dirty="0" smtClean="0"/>
              <a:t>There is no effective waste management system.</a:t>
            </a:r>
          </a:p>
          <a:p>
            <a:pPr algn="just">
              <a:lnSpc>
                <a:spcPct val="80000"/>
              </a:lnSpc>
            </a:pPr>
            <a:r>
              <a:rPr lang="en-US" sz="1400" dirty="0" smtClean="0"/>
              <a:t>Condemnation board is not working regularly due to administrative problems.</a:t>
            </a:r>
          </a:p>
          <a:p>
            <a:pPr algn="just">
              <a:lnSpc>
                <a:spcPct val="80000"/>
              </a:lnSpc>
            </a:pPr>
            <a:r>
              <a:rPr lang="en-US" sz="1400" dirty="0" smtClean="0"/>
              <a:t>Many of the instruments and </a:t>
            </a:r>
            <a:r>
              <a:rPr lang="en-US" sz="1400" dirty="0" err="1" smtClean="0"/>
              <a:t>equipments</a:t>
            </a:r>
            <a:r>
              <a:rPr lang="en-US" sz="1400" dirty="0" smtClean="0"/>
              <a:t> are not functioning due to lack of bio-technologist &amp; funds for repair.  </a:t>
            </a:r>
          </a:p>
          <a:p>
            <a:pPr algn="just">
              <a:lnSpc>
                <a:spcPct val="80000"/>
              </a:lnSpc>
            </a:pPr>
            <a:r>
              <a:rPr lang="en-US" sz="1400" dirty="0" smtClean="0"/>
              <a:t>There is no target for indoor-outdoor patient &amp; huge number of indoor &amp; out door patient creates a heavy loads for services providers . </a:t>
            </a:r>
          </a:p>
          <a:p>
            <a:pPr algn="just">
              <a:lnSpc>
                <a:spcPct val="80000"/>
              </a:lnSpc>
            </a:pPr>
            <a:r>
              <a:rPr lang="en-US" sz="1400" dirty="0" smtClean="0"/>
              <a:t>MIS system is weak and there is no hospital action plan.</a:t>
            </a:r>
          </a:p>
          <a:p>
            <a:pPr algn="just">
              <a:lnSpc>
                <a:spcPct val="80000"/>
              </a:lnSpc>
            </a:pPr>
            <a:r>
              <a:rPr lang="en-US" sz="1400" dirty="0" smtClean="0"/>
              <a:t>No client satisfaction survey system. </a:t>
            </a:r>
          </a:p>
          <a:p>
            <a:pPr algn="just">
              <a:lnSpc>
                <a:spcPct val="80000"/>
              </a:lnSpc>
            </a:pPr>
            <a:r>
              <a:rPr lang="en-US" sz="1400" dirty="0" smtClean="0"/>
              <a:t>The number of nurses is very few.</a:t>
            </a:r>
          </a:p>
          <a:p>
            <a:pPr algn="just">
              <a:lnSpc>
                <a:spcPct val="80000"/>
              </a:lnSpc>
            </a:pPr>
            <a:r>
              <a:rPr lang="en-US" sz="1400" dirty="0" smtClean="0"/>
              <a:t>Hospital health management committee &amp; monthly co-ordination committee meeting is not perform regularly. </a:t>
            </a:r>
          </a:p>
          <a:p>
            <a:pPr algn="just">
              <a:lnSpc>
                <a:spcPct val="80000"/>
              </a:lnSpc>
            </a:pPr>
            <a:r>
              <a:rPr lang="en-US" sz="1400" dirty="0" smtClean="0"/>
              <a:t>Female privacy is not properly maintained.</a:t>
            </a:r>
          </a:p>
          <a:p>
            <a:pPr algn="just">
              <a:lnSpc>
                <a:spcPct val="80000"/>
              </a:lnSpc>
            </a:pPr>
            <a:r>
              <a:rPr lang="en-US" sz="1400" dirty="0" smtClean="0"/>
              <a:t>Insufficient in toilets &amp; safe drinking water supply. </a:t>
            </a:r>
          </a:p>
          <a:p>
            <a:pPr algn="just">
              <a:lnSpc>
                <a:spcPct val="80000"/>
              </a:lnSpc>
            </a:pPr>
            <a:r>
              <a:rPr lang="en-US" sz="1400" dirty="0" smtClean="0"/>
              <a:t>Influential person influence on tenders of drugs, free cabin &amp; paying ward.</a:t>
            </a:r>
          </a:p>
          <a:p>
            <a:pPr algn="just">
              <a:lnSpc>
                <a:spcPct val="80000"/>
              </a:lnSpc>
            </a:pPr>
            <a:r>
              <a:rPr lang="en-US" sz="1400" dirty="0" smtClean="0"/>
              <a:t>Auditing &amp; accounting system is not corruption free.</a:t>
            </a:r>
          </a:p>
          <a:p>
            <a:pPr algn="just">
              <a:lnSpc>
                <a:spcPct val="80000"/>
              </a:lnSpc>
            </a:pPr>
            <a:r>
              <a:rPr lang="en-US" sz="1400" dirty="0" smtClean="0"/>
              <a:t>Consultants &amp; MOs are also the teacher of NTC, MATS etc. which affect hospital services. </a:t>
            </a:r>
          </a:p>
          <a:p>
            <a:pPr algn="just">
              <a:lnSpc>
                <a:spcPct val="80000"/>
              </a:lnSpc>
            </a:pPr>
            <a:r>
              <a:rPr lang="en-US" sz="1400" dirty="0" smtClean="0"/>
              <a:t>Three doctors are illegally suspended. </a:t>
            </a:r>
          </a:p>
          <a:p>
            <a:pPr algn="just">
              <a:lnSpc>
                <a:spcPct val="80000"/>
              </a:lnSpc>
              <a:buFontTx/>
              <a:buNone/>
            </a:pPr>
            <a:endParaRPr lang="en-US" sz="1400" dirty="0" smtClean="0"/>
          </a:p>
        </p:txBody>
      </p:sp>
    </p:spTree>
    <p:extLst>
      <p:ext uri="{BB962C8B-B14F-4D97-AF65-F5344CB8AC3E}">
        <p14:creationId xmlns:p14="http://schemas.microsoft.com/office/powerpoint/2010/main" val="1784859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685800"/>
            <a:ext cx="5943600" cy="584200"/>
          </a:xfr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Problems of </a:t>
            </a:r>
            <a:r>
              <a:rPr lang="en-US" sz="3200" b="1" dirty="0" err="1" smtClean="0">
                <a:solidFill>
                  <a:schemeClr val="bg1"/>
                </a:solidFill>
              </a:rPr>
              <a:t>Sadar</a:t>
            </a:r>
            <a:r>
              <a:rPr lang="en-US" sz="3200" b="1" dirty="0" smtClean="0">
                <a:solidFill>
                  <a:schemeClr val="bg1"/>
                </a:solidFill>
              </a:rPr>
              <a:t> Hospital-2 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09600" y="1447800"/>
            <a:ext cx="8229600" cy="4495800"/>
          </a:xfrm>
        </p:spPr>
        <p:txBody>
          <a:bodyPr/>
          <a:lstStyle/>
          <a:p>
            <a:pPr>
              <a:lnSpc>
                <a:spcPct val="90000"/>
              </a:lnSpc>
            </a:pPr>
            <a:endParaRPr lang="en-US" sz="1600" dirty="0" smtClean="0"/>
          </a:p>
          <a:p>
            <a:pPr>
              <a:lnSpc>
                <a:spcPct val="90000"/>
              </a:lnSpc>
              <a:buFontTx/>
              <a:buNone/>
            </a:pPr>
            <a:endParaRPr lang="en-US" sz="1600" dirty="0" smtClean="0"/>
          </a:p>
          <a:p>
            <a:pPr>
              <a:lnSpc>
                <a:spcPct val="90000"/>
              </a:lnSpc>
            </a:pPr>
            <a:r>
              <a:rPr lang="en-US" sz="1600" dirty="0" smtClean="0"/>
              <a:t>There is no visitor control system .</a:t>
            </a:r>
          </a:p>
          <a:p>
            <a:pPr>
              <a:lnSpc>
                <a:spcPct val="90000"/>
              </a:lnSpc>
            </a:pPr>
            <a:r>
              <a:rPr lang="en-US" sz="1600" dirty="0" smtClean="0"/>
              <a:t>EPI, ORT corner, DOTS corner, VIA </a:t>
            </a:r>
            <a:r>
              <a:rPr lang="en-US" sz="1600" dirty="0" err="1" smtClean="0"/>
              <a:t>centre</a:t>
            </a:r>
            <a:r>
              <a:rPr lang="en-US" sz="1600" dirty="0" smtClean="0"/>
              <a:t>  are running  with least or no defined health personnel.</a:t>
            </a:r>
          </a:p>
          <a:p>
            <a:pPr>
              <a:lnSpc>
                <a:spcPct val="90000"/>
              </a:lnSpc>
            </a:pPr>
            <a:r>
              <a:rPr lang="en-US" sz="1600" dirty="0" smtClean="0"/>
              <a:t>Health education systems is very poor .</a:t>
            </a:r>
          </a:p>
          <a:p>
            <a:pPr>
              <a:lnSpc>
                <a:spcPct val="90000"/>
              </a:lnSpc>
            </a:pPr>
            <a:r>
              <a:rPr lang="en-US" sz="1600" dirty="0" smtClean="0"/>
              <a:t>There is no pediatrician in this Hospital. </a:t>
            </a:r>
          </a:p>
          <a:p>
            <a:pPr>
              <a:lnSpc>
                <a:spcPct val="90000"/>
              </a:lnSpc>
            </a:pPr>
            <a:r>
              <a:rPr lang="en-US" sz="1600" dirty="0" smtClean="0"/>
              <a:t>There are 5 beds in EOC word, which is insufficient  for 40000  pregnant mother per year in </a:t>
            </a:r>
            <a:r>
              <a:rPr lang="en-US" sz="1600" dirty="0" err="1" smtClean="0"/>
              <a:t>Jhenaidah</a:t>
            </a:r>
            <a:r>
              <a:rPr lang="en-US" sz="1600" dirty="0" smtClean="0"/>
              <a:t> </a:t>
            </a:r>
            <a:r>
              <a:rPr lang="en-US" sz="1600" dirty="0" smtClean="0"/>
              <a:t>District . </a:t>
            </a:r>
          </a:p>
          <a:p>
            <a:pPr>
              <a:lnSpc>
                <a:spcPct val="90000"/>
              </a:lnSpc>
            </a:pPr>
            <a:r>
              <a:rPr lang="en-US" sz="1600" dirty="0" smtClean="0"/>
              <a:t>There is no intercom system .</a:t>
            </a:r>
          </a:p>
          <a:p>
            <a:pPr>
              <a:lnSpc>
                <a:spcPct val="90000"/>
              </a:lnSpc>
            </a:pPr>
            <a:r>
              <a:rPr lang="en-US" sz="1600" dirty="0" smtClean="0"/>
              <a:t>There is no IMCI corner for under 5 children .</a:t>
            </a:r>
          </a:p>
          <a:p>
            <a:pPr>
              <a:lnSpc>
                <a:spcPct val="90000"/>
              </a:lnSpc>
            </a:pPr>
            <a:r>
              <a:rPr lang="en-US" sz="1600" dirty="0" smtClean="0"/>
              <a:t>Non health Issues  get less importance. </a:t>
            </a:r>
          </a:p>
          <a:p>
            <a:pPr>
              <a:lnSpc>
                <a:spcPct val="90000"/>
              </a:lnSpc>
            </a:pPr>
            <a:r>
              <a:rPr lang="en-US" sz="1600" dirty="0" smtClean="0"/>
              <a:t>Scarcity of blood in emergency need. </a:t>
            </a:r>
          </a:p>
          <a:p>
            <a:pPr>
              <a:lnSpc>
                <a:spcPct val="90000"/>
              </a:lnSpc>
            </a:pPr>
            <a:r>
              <a:rPr lang="en-US" sz="1600" dirty="0" smtClean="0"/>
              <a:t>There is no adolescence health </a:t>
            </a:r>
            <a:r>
              <a:rPr lang="en-US" sz="1600" dirty="0" smtClean="0"/>
              <a:t>corner.</a:t>
            </a:r>
          </a:p>
          <a:p>
            <a:pPr>
              <a:lnSpc>
                <a:spcPct val="90000"/>
              </a:lnSpc>
            </a:pPr>
            <a:r>
              <a:rPr lang="en-US" sz="1600" dirty="0" smtClean="0"/>
              <a:t>Total </a:t>
            </a:r>
            <a:r>
              <a:rPr lang="en-US" sz="1600" dirty="0" err="1" smtClean="0"/>
              <a:t>problame</a:t>
            </a:r>
            <a:r>
              <a:rPr lang="en-US" sz="1600" dirty="0" smtClean="0"/>
              <a:t> is 31.</a:t>
            </a:r>
            <a:endParaRPr lang="en-US" sz="1600" dirty="0" smtClean="0"/>
          </a:p>
        </p:txBody>
      </p:sp>
    </p:spTree>
    <p:extLst>
      <p:ext uri="{BB962C8B-B14F-4D97-AF65-F5344CB8AC3E}">
        <p14:creationId xmlns:p14="http://schemas.microsoft.com/office/powerpoint/2010/main" val="2885611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lang="en-US" sz="2800" b="1" dirty="0" smtClean="0"/>
              <a:t>Awards &amp; Appreciations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867400"/>
          </a:xfrm>
        </p:spPr>
        <p:txBody>
          <a:bodyPr/>
          <a:lstStyle/>
          <a:p>
            <a:pPr marL="0" indent="0">
              <a:buNone/>
            </a:pPr>
            <a:r>
              <a:rPr lang="en-US" sz="1400" b="1" dirty="0" smtClean="0"/>
              <a:t>           </a:t>
            </a:r>
            <a:r>
              <a:rPr lang="en-US" sz="1600" b="1" u="sng" dirty="0" smtClean="0"/>
              <a:t>Awards:</a:t>
            </a:r>
            <a:endParaRPr lang="en-US" sz="1600" dirty="0" smtClean="0"/>
          </a:p>
          <a:p>
            <a:pPr lvl="0"/>
            <a:r>
              <a:rPr lang="en-US" sz="1400" b="1" dirty="0" smtClean="0"/>
              <a:t>Community Service Award</a:t>
            </a:r>
            <a:r>
              <a:rPr lang="en-US" sz="1400" dirty="0" smtClean="0"/>
              <a:t> by OGSB in 2006. </a:t>
            </a:r>
          </a:p>
          <a:p>
            <a:pPr lvl="0"/>
            <a:r>
              <a:rPr lang="en-US" sz="1400" b="1" dirty="0" err="1" smtClean="0"/>
              <a:t>Besr</a:t>
            </a:r>
            <a:r>
              <a:rPr lang="en-US" sz="1400" b="1" dirty="0" smtClean="0"/>
              <a:t> performance Award</a:t>
            </a:r>
            <a:r>
              <a:rPr lang="en-US" sz="1400" dirty="0" smtClean="0"/>
              <a:t> by MOH &amp; FW and DGHS in 2008.</a:t>
            </a:r>
          </a:p>
          <a:p>
            <a:pPr lvl="0"/>
            <a:r>
              <a:rPr lang="en-US" sz="1400" b="1" dirty="0" smtClean="0"/>
              <a:t>Professor </a:t>
            </a:r>
            <a:r>
              <a:rPr lang="en-US" sz="1400" b="1" dirty="0" err="1" smtClean="0"/>
              <a:t>Muklechur</a:t>
            </a:r>
            <a:r>
              <a:rPr lang="en-US" sz="1400" b="1" dirty="0" smtClean="0"/>
              <a:t> </a:t>
            </a:r>
            <a:r>
              <a:rPr lang="en-US" sz="1400" b="1" dirty="0" err="1" smtClean="0"/>
              <a:t>Rahman</a:t>
            </a:r>
            <a:r>
              <a:rPr lang="en-US" sz="1400" b="1" dirty="0" smtClean="0"/>
              <a:t> Award</a:t>
            </a:r>
            <a:r>
              <a:rPr lang="en-US" sz="1400" dirty="0" smtClean="0"/>
              <a:t> by OGSB in 2010. </a:t>
            </a:r>
          </a:p>
          <a:p>
            <a:pPr lvl="0"/>
            <a:r>
              <a:rPr lang="en-US" sz="1400" b="1" dirty="0" smtClean="0"/>
              <a:t>Kaizen Role Model Award </a:t>
            </a:r>
            <a:r>
              <a:rPr lang="en-US" sz="1400" dirty="0" smtClean="0"/>
              <a:t>by BPATC </a:t>
            </a:r>
            <a:r>
              <a:rPr lang="en-US" sz="1400" dirty="0" err="1" smtClean="0"/>
              <a:t>Savar</a:t>
            </a:r>
            <a:r>
              <a:rPr lang="en-US" sz="1400" dirty="0" smtClean="0"/>
              <a:t> in November 2013. </a:t>
            </a:r>
          </a:p>
          <a:p>
            <a:pPr lvl="0"/>
            <a:r>
              <a:rPr lang="en-US" sz="1400" b="1" dirty="0" smtClean="0"/>
              <a:t>Lifetime Award</a:t>
            </a:r>
            <a:r>
              <a:rPr lang="en-US" sz="1400" dirty="0" smtClean="0"/>
              <a:t> by OGSB in 2016.</a:t>
            </a:r>
          </a:p>
          <a:p>
            <a:pPr marL="0" indent="0">
              <a:buNone/>
            </a:pPr>
            <a:r>
              <a:rPr lang="en-US" sz="1400" dirty="0" smtClean="0"/>
              <a:t>           </a:t>
            </a:r>
            <a:r>
              <a:rPr lang="en-US" sz="1600" b="1" u="sng" dirty="0" smtClean="0"/>
              <a:t>Appreciations:</a:t>
            </a:r>
            <a:endParaRPr lang="en-US" sz="1600" dirty="0" smtClean="0"/>
          </a:p>
          <a:p>
            <a:pPr lvl="0"/>
            <a:r>
              <a:rPr lang="en-US" sz="1400" dirty="0" smtClean="0"/>
              <a:t>The Daily </a:t>
            </a:r>
            <a:r>
              <a:rPr lang="en-US" sz="1400" dirty="0" err="1" smtClean="0"/>
              <a:t>Prothom</a:t>
            </a:r>
            <a:r>
              <a:rPr lang="en-US" sz="1400" dirty="0" smtClean="0"/>
              <a:t> </a:t>
            </a:r>
            <a:r>
              <a:rPr lang="en-US" sz="1400" dirty="0" err="1" smtClean="0"/>
              <a:t>Alo</a:t>
            </a:r>
            <a:r>
              <a:rPr lang="en-US" sz="1400" dirty="0" smtClean="0"/>
              <a:t> – Special report in first page on 14 October 2005. </a:t>
            </a:r>
          </a:p>
          <a:p>
            <a:pPr lvl="0"/>
            <a:r>
              <a:rPr lang="en-US" sz="1400" dirty="0" err="1" smtClean="0"/>
              <a:t>Unisef</a:t>
            </a:r>
            <a:r>
              <a:rPr lang="en-US" sz="1400" dirty="0" smtClean="0"/>
              <a:t> Bangladesh report on saving mother’s life: dedication of a doctor. (Url: </a:t>
            </a:r>
            <a:r>
              <a:rPr lang="en-US" sz="1400" u="sng" dirty="0" smtClean="0">
                <a:hlinkClick r:id="rId2"/>
              </a:rPr>
              <a:t>https://www.unicef.org/bangladesh/media_4795.htm</a:t>
            </a:r>
            <a:r>
              <a:rPr lang="en-US" sz="1400" dirty="0" smtClean="0"/>
              <a:t>)</a:t>
            </a:r>
          </a:p>
          <a:p>
            <a:pPr lvl="0"/>
            <a:r>
              <a:rPr lang="en-US" sz="1400" dirty="0" smtClean="0"/>
              <a:t>Video on local </a:t>
            </a:r>
            <a:r>
              <a:rPr lang="en-US" sz="1400" dirty="0" err="1" smtClean="0"/>
              <a:t>innitiatives</a:t>
            </a:r>
            <a:r>
              <a:rPr lang="en-US" sz="1400" dirty="0" smtClean="0"/>
              <a:t> to improve service quality in a district hospital – </a:t>
            </a:r>
            <a:r>
              <a:rPr lang="en-US" sz="1400" dirty="0" err="1" smtClean="0"/>
              <a:t>Jhenaidah</a:t>
            </a:r>
            <a:r>
              <a:rPr lang="en-US" sz="1400" dirty="0" smtClean="0"/>
              <a:t> </a:t>
            </a:r>
            <a:r>
              <a:rPr lang="en-US" sz="1400" dirty="0" err="1" smtClean="0"/>
              <a:t>Sadar</a:t>
            </a:r>
            <a:r>
              <a:rPr lang="en-US" sz="1400" dirty="0" smtClean="0"/>
              <a:t> Hospital by Save The Children Bangladesh. </a:t>
            </a:r>
          </a:p>
          <a:p>
            <a:r>
              <a:rPr lang="en-US" sz="1400" dirty="0" smtClean="0"/>
              <a:t>(</a:t>
            </a:r>
            <a:r>
              <a:rPr lang="en-US" sz="1400" dirty="0" err="1" smtClean="0"/>
              <a:t>Videolink</a:t>
            </a:r>
            <a:r>
              <a:rPr lang="en-US" sz="1400" dirty="0" smtClean="0"/>
              <a:t>: </a:t>
            </a:r>
            <a:r>
              <a:rPr lang="en-US" sz="1400" u="sng" dirty="0" smtClean="0">
                <a:hlinkClick r:id="rId3"/>
              </a:rPr>
              <a:t>https://www.youtube.com/watch?v=wMgIps428Ic</a:t>
            </a:r>
            <a:r>
              <a:rPr lang="en-US" sz="1400" dirty="0" smtClean="0"/>
              <a:t> )</a:t>
            </a:r>
          </a:p>
          <a:p>
            <a:pPr lvl="0"/>
            <a:r>
              <a:rPr lang="en-US" sz="1400" dirty="0" smtClean="0"/>
              <a:t>Guest Lecturer of BPATC </a:t>
            </a:r>
            <a:r>
              <a:rPr lang="en-US" sz="1400" dirty="0" err="1" smtClean="0"/>
              <a:t>Savar</a:t>
            </a:r>
            <a:r>
              <a:rPr lang="en-US" sz="1400" dirty="0" smtClean="0"/>
              <a:t>.</a:t>
            </a:r>
          </a:p>
          <a:p>
            <a:pPr marL="0" indent="0">
              <a:buNone/>
            </a:pPr>
            <a:r>
              <a:rPr lang="en-US" sz="1600" b="1" dirty="0" smtClean="0"/>
              <a:t>         </a:t>
            </a:r>
            <a:r>
              <a:rPr lang="en-US" sz="1600" b="1" u="sng" dirty="0" smtClean="0"/>
              <a:t>Experience in foreign countries</a:t>
            </a:r>
            <a:endParaRPr lang="en-US" sz="1600" u="sng" dirty="0" smtClean="0"/>
          </a:p>
          <a:p>
            <a:pPr lvl="0"/>
            <a:r>
              <a:rPr lang="en-US" sz="1400" dirty="0" smtClean="0"/>
              <a:t>Indonesia</a:t>
            </a:r>
          </a:p>
          <a:p>
            <a:pPr lvl="0"/>
            <a:r>
              <a:rPr lang="en-US" sz="1400" dirty="0" err="1" smtClean="0"/>
              <a:t>Srilanka</a:t>
            </a:r>
            <a:endParaRPr lang="en-US" sz="1400" dirty="0" smtClean="0"/>
          </a:p>
          <a:p>
            <a:pPr lvl="0"/>
            <a:r>
              <a:rPr lang="en-US" sz="1400" dirty="0" smtClean="0"/>
              <a:t>Tanzania</a:t>
            </a:r>
          </a:p>
          <a:p>
            <a:pPr lvl="0"/>
            <a:r>
              <a:rPr lang="en-US" sz="1400" dirty="0" smtClean="0"/>
              <a:t>Malaysia</a:t>
            </a:r>
          </a:p>
          <a:p>
            <a:pPr lvl="0"/>
            <a:r>
              <a:rPr lang="en-US" sz="1400" dirty="0" smtClean="0"/>
              <a:t>Thailand</a:t>
            </a:r>
          </a:p>
          <a:p>
            <a:pPr lvl="0"/>
            <a:r>
              <a:rPr lang="en-US" sz="1400" dirty="0" smtClean="0"/>
              <a:t>Malaya</a:t>
            </a:r>
          </a:p>
          <a:p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732287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 descr="Sunset"/>
          <p:cNvSpPr>
            <a:spLocks noGrp="1" noChangeArrowheads="1"/>
          </p:cNvSpPr>
          <p:nvPr>
            <p:ph type="body" idx="4294967295"/>
          </p:nvPr>
        </p:nvSpPr>
        <p:spPr>
          <a:xfrm>
            <a:off x="-2275" y="0"/>
            <a:ext cx="9144000" cy="6858000"/>
          </a:xfrm>
          <a:blipFill dpi="0" rotWithShape="1">
            <a:blip r:embed="rId3"/>
            <a:srcRect/>
            <a:stretch>
              <a:fillRect/>
            </a:stretch>
          </a:blipFill>
          <a:ln>
            <a:solidFill>
              <a:schemeClr val="tx1"/>
            </a:solidFill>
            <a:miter lim="800000"/>
            <a:headEnd/>
            <a:tailEnd/>
          </a:ln>
          <a:extLst/>
        </p:spPr>
        <p:txBody>
          <a:bodyPr/>
          <a:lstStyle/>
          <a:p>
            <a:pPr algn="ctr" eaLnBrk="1" hangingPunct="1">
              <a:buFontTx/>
              <a:buNone/>
              <a:defRPr/>
            </a:pPr>
            <a:endParaRPr lang="en-US" sz="4400" b="1" cap="all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Albertus Extra Bold"/>
            </a:endParaRPr>
          </a:p>
          <a:p>
            <a:pPr algn="ctr" eaLnBrk="1" hangingPunct="1">
              <a:buFontTx/>
              <a:buNone/>
              <a:defRPr/>
            </a:pPr>
            <a:endParaRPr lang="en-US" sz="44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Albertus Extra Bold"/>
            </a:endParaRPr>
          </a:p>
          <a:p>
            <a:pPr algn="ctr" eaLnBrk="1" hangingPunct="1">
              <a:buFontTx/>
              <a:buNone/>
              <a:defRPr/>
            </a:pPr>
            <a:endParaRPr lang="en-US" sz="4400" b="1" cap="all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Albertus Extra Bold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/>
        <p:txBody>
          <a:bodyPr>
            <a:norm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4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Albertus Extra Bold"/>
              </a:rPr>
              <a:t>Thank You</a:t>
            </a:r>
          </a:p>
          <a:p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5_シック">
  <a:themeElements>
    <a:clrScheme name="シック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シック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シック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270000"/>
              </a:schemeClr>
            </a:gs>
            <a:gs pos="25000">
              <a:schemeClr val="phClr">
                <a:tint val="60000"/>
                <a:satMod val="300000"/>
              </a:schemeClr>
            </a:gs>
            <a:gs pos="100000">
              <a:schemeClr val="phClr">
                <a:tint val="29000"/>
                <a:satMod val="40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5000"/>
                <a:satMod val="155000"/>
              </a:schemeClr>
            </a:gs>
            <a:gs pos="60000">
              <a:schemeClr val="phClr">
                <a:shade val="95000"/>
                <a:satMod val="150000"/>
              </a:schemeClr>
            </a:gs>
            <a:gs pos="100000">
              <a:schemeClr val="phClr">
                <a:tint val="87000"/>
                <a:satMod val="2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atMod val="150000"/>
            </a:schemeClr>
          </a:solidFill>
          <a:prstDash val="solid"/>
        </a:ln>
        <a:ln w="425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2000000"/>
            </a:lightRig>
          </a:scene3d>
          <a:sp3d prstMaterial="powder">
            <a:bevelT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35000"/>
                <a:satMod val="150000"/>
              </a:schemeClr>
            </a:gs>
            <a:gs pos="45000">
              <a:schemeClr val="phClr">
                <a:shade val="68000"/>
                <a:satMod val="155000"/>
              </a:schemeClr>
            </a:gs>
            <a:gs pos="100000">
              <a:schemeClr val="phClr">
                <a:tint val="70000"/>
                <a:satMod val="175000"/>
              </a:schemeClr>
            </a:gs>
          </a:gsLst>
          <a:lin ang="16200000" scaled="0"/>
        </a:gradFill>
        <a:blipFill>
          <a:blip xmlns:r="http://schemas.openxmlformats.org/officeDocument/2006/relationships" r:embed="rId1">
            <a:duotone>
              <a:schemeClr val="phClr">
                <a:shade val="800"/>
                <a:satMod val="150000"/>
              </a:schemeClr>
              <a:schemeClr val="phClr">
                <a:tint val="80000"/>
                <a:satMod val="150000"/>
              </a:schemeClr>
            </a:duotone>
          </a:blip>
          <a:tile tx="0" ty="0" sx="75000" sy="7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2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3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4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Couture</Template>
  <TotalTime>3108</TotalTime>
  <Words>2645</Words>
  <Application>Microsoft Office PowerPoint</Application>
  <PresentationFormat>On-screen Show (4:3)</PresentationFormat>
  <Paragraphs>780</Paragraphs>
  <Slides>64</Slides>
  <Notes>23</Notes>
  <HiddenSlides>0</HiddenSlides>
  <MMClips>0</MMClips>
  <ScaleCrop>false</ScaleCrop>
  <HeadingPairs>
    <vt:vector size="6" baseType="variant">
      <vt:variant>
        <vt:lpstr>Theme</vt:lpstr>
      </vt:variant>
      <vt:variant>
        <vt:i4>7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72" baseType="lpstr">
      <vt:lpstr>5_シック</vt:lpstr>
      <vt:lpstr>Office Theme</vt:lpstr>
      <vt:lpstr>Default Design</vt:lpstr>
      <vt:lpstr>1_Default Design</vt:lpstr>
      <vt:lpstr>2_Default Design</vt:lpstr>
      <vt:lpstr>3_Default Design</vt:lpstr>
      <vt:lpstr>4_Default Design</vt:lpstr>
      <vt:lpstr>Chart</vt:lpstr>
      <vt:lpstr>PowerPoint Presentation</vt:lpstr>
      <vt:lpstr>PowerPoint Presentation</vt:lpstr>
      <vt:lpstr>PowerPoint Presentation</vt:lpstr>
      <vt:lpstr>PowerPoint Presentation</vt:lpstr>
      <vt:lpstr>A Sub-district level Women-Friendly Hospital with a Vision …</vt:lpstr>
      <vt:lpstr>Background History of MCH services of Chowgacha Health Complex, Jessore</vt:lpstr>
      <vt:lpstr>Contd.</vt:lpstr>
      <vt:lpstr>PowerPoint Presentation</vt:lpstr>
      <vt:lpstr>PowerPoint Presentation</vt:lpstr>
      <vt:lpstr>PowerPoint Presentation</vt:lpstr>
      <vt:lpstr>Achievement of Chowgacha Health Complex</vt:lpstr>
      <vt:lpstr>Upazila Health  Complex CHOWGACHA , JESSORE.</vt:lpstr>
      <vt:lpstr>Upazila Health  Complex CHOWGACHA , JESSORE.</vt:lpstr>
      <vt:lpstr>Upazila Health  Complex CHOWGACHA , JESSORE.</vt:lpstr>
      <vt:lpstr>Upazila Health  Complex CHOWGACHA , JESSORE.</vt:lpstr>
      <vt:lpstr>Upazila Health  Complex CHOWGACHA , JESSORE.</vt:lpstr>
      <vt:lpstr>Upazilla Health  Complex CHOWGACHA , JESSORE.</vt:lpstr>
      <vt:lpstr>MDG 4 and 5 Achieved at Chowgacha in 2011 and SDG targets in 2030</vt:lpstr>
      <vt:lpstr>Factors Responsible for Reduction of Maternal and Infant Mortality Rate in Chowgacha</vt:lpstr>
      <vt:lpstr>Factors Responsible for Reduction of Maternal and Infant Mortality Rate in Chowgacha- Contd.</vt:lpstr>
      <vt:lpstr>                 News of paper</vt:lpstr>
      <vt:lpstr>PowerPoint Presentation</vt:lpstr>
      <vt:lpstr>100 kh¨v wewkó m`i nvmcvZvj, wSbvB`n</vt:lpstr>
      <vt:lpstr>Health ,Nutrition and population targets for the 7th FYP</vt:lpstr>
      <vt:lpstr>Health ,Nutrition and population targets for the 7th FYP</vt:lpstr>
      <vt:lpstr>Sadar Hospital, Jhenaidah</vt:lpstr>
      <vt:lpstr>PowerPoint Presentation</vt:lpstr>
      <vt:lpstr>Emergency &amp; Out Door, Indoor  Service 1998 to 2017</vt:lpstr>
      <vt:lpstr>Operation Service (Major) 2011 to 2017</vt:lpstr>
      <vt:lpstr>PowerPoint Presentation</vt:lpstr>
      <vt:lpstr>3 best performing EmOC Hospital in Khulna division - 2017</vt:lpstr>
      <vt:lpstr>  Comparative data of revenue income (in Taka) from 2015 to 2017 </vt:lpstr>
      <vt:lpstr>PowerPoint Presentation</vt:lpstr>
      <vt:lpstr>PowerPoint Presentation</vt:lpstr>
      <vt:lpstr>Changes in EOC Ward</vt:lpstr>
      <vt:lpstr>PowerPoint Presentation</vt:lpstr>
      <vt:lpstr>Changes in Gardens of The Hospital</vt:lpstr>
      <vt:lpstr>PowerPoint Presentation</vt:lpstr>
      <vt:lpstr>Changes in Office and Hospital Internal Environment</vt:lpstr>
      <vt:lpstr>Use of direction sign, labeling of rooms, clean latrine and waste segregation</vt:lpstr>
      <vt:lpstr>Use of color code, alignment of picture &amp; continuous big cleaning day</vt:lpstr>
      <vt:lpstr>Innovative activities of Jhenaidah Sadar Hospital - 1</vt:lpstr>
      <vt:lpstr>PowerPoint Presentation</vt:lpstr>
      <vt:lpstr>PowerPoint Presentation</vt:lpstr>
      <vt:lpstr>Innovative activities of Jhenaidah Sadar Hospital - 4</vt:lpstr>
      <vt:lpstr>Innovative activities of Jhenaidah Sadar Hospital - 5</vt:lpstr>
      <vt:lpstr>Involvement of MP, District Administrator &amp; Mayor in Sadar Hospital</vt:lpstr>
      <vt:lpstr>Involvement of district high officials in hospital activities </vt:lpstr>
      <vt:lpstr>Internal Monitoring System</vt:lpstr>
      <vt:lpstr>PowerPoint Presentation</vt:lpstr>
      <vt:lpstr>Hospital Environment</vt:lpstr>
      <vt:lpstr>PowerPoint Presentation</vt:lpstr>
      <vt:lpstr>Situation of the hospital in May 2012 -1</vt:lpstr>
      <vt:lpstr>Situation of the hospital in May 2012 -2</vt:lpstr>
      <vt:lpstr>Situation of the hospital in May 2012 -3</vt:lpstr>
      <vt:lpstr>How we overcome the challenges</vt:lpstr>
      <vt:lpstr>How we overcome the challenges -2</vt:lpstr>
      <vt:lpstr>How we overcome the challenges -3</vt:lpstr>
      <vt:lpstr>How we overcome the challenges -4</vt:lpstr>
      <vt:lpstr>PowerPoint Presentation</vt:lpstr>
      <vt:lpstr>Problems of Sadar Hospital-1</vt:lpstr>
      <vt:lpstr>Problems of Sadar Hospital-2 </vt:lpstr>
      <vt:lpstr>Awards &amp; Appreciations</vt:lpstr>
      <vt:lpstr>Thank You </vt:lpstr>
    </vt:vector>
  </TitlesOfParts>
  <Company>UNICEF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Progress and good practice of Quality Improvement through 5S-CQI-TQM approach</dc:title>
  <dc:creator>Emdad</dc:creator>
  <cp:lastModifiedBy>Emdad</cp:lastModifiedBy>
  <cp:revision>455</cp:revision>
  <cp:lastPrinted>2017-03-18T23:47:54Z</cp:lastPrinted>
  <dcterms:created xsi:type="dcterms:W3CDTF">2013-05-05T09:56:19Z</dcterms:created>
  <dcterms:modified xsi:type="dcterms:W3CDTF">2018-03-03T00:32:21Z</dcterms:modified>
</cp:coreProperties>
</file>