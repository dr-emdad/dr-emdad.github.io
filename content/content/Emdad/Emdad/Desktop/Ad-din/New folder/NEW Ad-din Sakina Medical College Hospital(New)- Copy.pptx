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427" r:id="rId3"/>
    <p:sldId id="428" r:id="rId4"/>
    <p:sldId id="301" r:id="rId5"/>
    <p:sldId id="418" r:id="rId6"/>
    <p:sldId id="434" r:id="rId7"/>
    <p:sldId id="424" r:id="rId8"/>
    <p:sldId id="435" r:id="rId9"/>
    <p:sldId id="369" r:id="rId10"/>
    <p:sldId id="319" r:id="rId11"/>
    <p:sldId id="320" r:id="rId12"/>
    <p:sldId id="321" r:id="rId13"/>
    <p:sldId id="322" r:id="rId14"/>
    <p:sldId id="323" r:id="rId15"/>
    <p:sldId id="355" r:id="rId16"/>
    <p:sldId id="381" r:id="rId17"/>
    <p:sldId id="354" r:id="rId18"/>
    <p:sldId id="360" r:id="rId19"/>
    <p:sldId id="430" r:id="rId20"/>
    <p:sldId id="431" r:id="rId21"/>
    <p:sldId id="432" r:id="rId22"/>
    <p:sldId id="433" r:id="rId23"/>
    <p:sldId id="422" r:id="rId24"/>
    <p:sldId id="423" r:id="rId25"/>
    <p:sldId id="367" r:id="rId26"/>
    <p:sldId id="402" r:id="rId27"/>
    <p:sldId id="407" r:id="rId28"/>
    <p:sldId id="429" r:id="rId29"/>
    <p:sldId id="410" r:id="rId30"/>
    <p:sldId id="315" r:id="rId31"/>
    <p:sldId id="388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33CC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2" autoAdjust="0"/>
    <p:restoredTop sz="94689" autoAdjust="0"/>
  </p:normalViewPr>
  <p:slideViewPr>
    <p:cSldViewPr>
      <p:cViewPr>
        <p:scale>
          <a:sx n="60" d="100"/>
          <a:sy n="60" d="100"/>
        </p:scale>
        <p:origin x="-1656" y="-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08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openxmlformats.org/officeDocument/2006/relationships/image" Target="../media/image32.jpeg"/><Relationship Id="rId1" Type="http://schemas.openxmlformats.org/officeDocument/2006/relationships/image" Target="../media/image31.jpeg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40"/>
    </mc:Choice>
    <mc:Fallback>
      <c:style val="40"/>
    </mc:Fallback>
  </mc:AlternateContent>
  <c:chart>
    <c:autoTitleDeleted val="1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1200">
                    <a:latin typeface="Times New Roman" pitchFamily="18" charset="0"/>
                    <a:cs typeface="Times New Roman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Sheet1!$A$2:$A$14</c:f>
              <c:numCache>
                <c:formatCode>General</c:formatCode>
                <c:ptCount val="13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23286</c:v>
                </c:pt>
                <c:pt idx="1">
                  <c:v>25369</c:v>
                </c:pt>
                <c:pt idx="2">
                  <c:v>26899</c:v>
                </c:pt>
                <c:pt idx="3">
                  <c:v>27894</c:v>
                </c:pt>
                <c:pt idx="4">
                  <c:v>28963</c:v>
                </c:pt>
                <c:pt idx="5">
                  <c:v>26854</c:v>
                </c:pt>
                <c:pt idx="6">
                  <c:v>24857</c:v>
                </c:pt>
                <c:pt idx="7">
                  <c:v>25249</c:v>
                </c:pt>
                <c:pt idx="8">
                  <c:v>23673</c:v>
                </c:pt>
                <c:pt idx="9">
                  <c:v>24074</c:v>
                </c:pt>
                <c:pt idx="10">
                  <c:v>25325</c:v>
                </c:pt>
                <c:pt idx="11">
                  <c:v>24117</c:v>
                </c:pt>
                <c:pt idx="12">
                  <c:v>21663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invertIfNegative val="0"/>
          <c:cat>
            <c:numRef>
              <c:f>Sheet1!$A$2:$A$14</c:f>
              <c:numCache>
                <c:formatCode>General</c:formatCode>
                <c:ptCount val="13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</c:numCache>
            </c:num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invertIfNegative val="0"/>
          <c:cat>
            <c:numRef>
              <c:f>Sheet1!$A$2:$A$14</c:f>
              <c:numCache>
                <c:formatCode>General</c:formatCode>
                <c:ptCount val="13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</c:numCache>
            </c:numRef>
          </c:cat>
          <c:val>
            <c:numRef>
              <c:f>Sheet1!$D$2:$D$14</c:f>
              <c:numCache>
                <c:formatCode>General</c:formatCode>
                <c:ptCount val="13"/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cylinder"/>
        <c:axId val="234230912"/>
        <c:axId val="234232448"/>
        <c:axId val="0"/>
      </c:bar3DChart>
      <c:catAx>
        <c:axId val="234230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400">
                <a:latin typeface="Times New Roman" pitchFamily="18" charset="0"/>
                <a:cs typeface="Times New Roman" pitchFamily="18" charset="0"/>
              </a:defRPr>
            </a:pPr>
            <a:endParaRPr lang="en-US"/>
          </a:p>
        </c:txPr>
        <c:crossAx val="234232448"/>
        <c:crosses val="autoZero"/>
        <c:auto val="1"/>
        <c:lblAlgn val="ctr"/>
        <c:lblOffset val="100"/>
        <c:noMultiLvlLbl val="0"/>
      </c:catAx>
      <c:valAx>
        <c:axId val="2342324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342309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title>
      <c:layout/>
      <c:overlay val="0"/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NVD</c:v>
                </c:pt>
              </c:strCache>
            </c:strRef>
          </c:tx>
          <c:dLbls>
            <c:txPr>
              <a:bodyPr/>
              <a:lstStyle/>
              <a:p>
                <a:pPr>
                  <a:defRPr sz="1400">
                    <a:latin typeface="Times New Roman" pitchFamily="18" charset="0"/>
                    <a:cs typeface="Times New Roman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1536</c:v>
                </c:pt>
                <c:pt idx="1">
                  <c:v>1752</c:v>
                </c:pt>
                <c:pt idx="2">
                  <c:v>1698</c:v>
                </c:pt>
                <c:pt idx="3">
                  <c:v>1509</c:v>
                </c:pt>
                <c:pt idx="4">
                  <c:v>1365</c:v>
                </c:pt>
                <c:pt idx="5">
                  <c:v>1258</c:v>
                </c:pt>
                <c:pt idx="6">
                  <c:v>1385</c:v>
                </c:pt>
                <c:pt idx="7">
                  <c:v>634</c:v>
                </c:pt>
                <c:pt idx="8">
                  <c:v>616</c:v>
                </c:pt>
                <c:pt idx="9">
                  <c:v>826</c:v>
                </c:pt>
                <c:pt idx="10">
                  <c:v>654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C/S</c:v>
                </c:pt>
              </c:strCache>
            </c:strRef>
          </c:tx>
          <c:dLbls>
            <c:txPr>
              <a:bodyPr/>
              <a:lstStyle/>
              <a:p>
                <a:pPr>
                  <a:defRPr sz="1100">
                    <a:latin typeface="Times New Roman" pitchFamily="18" charset="0"/>
                    <a:cs typeface="Times New Roman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2806</c:v>
                </c:pt>
                <c:pt idx="1">
                  <c:v>2698</c:v>
                </c:pt>
                <c:pt idx="2">
                  <c:v>2587</c:v>
                </c:pt>
                <c:pt idx="3">
                  <c:v>2385</c:v>
                </c:pt>
                <c:pt idx="4">
                  <c:v>2904</c:v>
                </c:pt>
                <c:pt idx="5">
                  <c:v>3120</c:v>
                </c:pt>
                <c:pt idx="6">
                  <c:v>3510</c:v>
                </c:pt>
                <c:pt idx="7">
                  <c:v>3092</c:v>
                </c:pt>
                <c:pt idx="8">
                  <c:v>3392</c:v>
                </c:pt>
                <c:pt idx="9">
                  <c:v>3279</c:v>
                </c:pt>
                <c:pt idx="10">
                  <c:v>3213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72969088"/>
        <c:axId val="272974976"/>
      </c:lineChart>
      <c:catAx>
        <c:axId val="272969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272974976"/>
        <c:crosses val="autoZero"/>
        <c:auto val="1"/>
        <c:lblAlgn val="ctr"/>
        <c:lblOffset val="100"/>
        <c:noMultiLvlLbl val="0"/>
      </c:catAx>
      <c:valAx>
        <c:axId val="2729749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2969088"/>
        <c:crosses val="autoZero"/>
        <c:crossBetween val="between"/>
      </c:valAx>
    </c:plotArea>
    <c:legend>
      <c:legendPos val="t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0.77092069741282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C-Section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4"/>
                <c:pt idx="0">
                  <c:v>Khulna Medical College Hospital</c:v>
                </c:pt>
                <c:pt idx="1">
                  <c:v>Kushtia Medical College Hospital</c:v>
                </c:pt>
                <c:pt idx="2">
                  <c:v>Jessore Medical College Hospital</c:v>
                </c:pt>
                <c:pt idx="3">
                  <c:v>Ad-din Sakina Women's Medical College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1563</c:v>
                </c:pt>
                <c:pt idx="1">
                  <c:v>1431</c:v>
                </c:pt>
                <c:pt idx="2">
                  <c:v>1072</c:v>
                </c:pt>
                <c:pt idx="3">
                  <c:v>3213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NVD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dLbl>
              <c:idx val="0"/>
              <c:layout>
                <c:manualLayout>
                  <c:x val="-4.6296296296297014E-3"/>
                  <c:y val="-4.975123403626985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4.6296296296297014E-3"/>
                  <c:y val="8.41814384413682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3.0864197530864729E-3"/>
                  <c:y val="1.05872192997183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3.0864197530864729E-3"/>
                  <c:y val="9.950246807253976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-3.0864197530864729E-3"/>
                  <c:y val="2.48756170181351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4"/>
                <c:pt idx="0">
                  <c:v>Khulna Medical College Hospital</c:v>
                </c:pt>
                <c:pt idx="1">
                  <c:v>Kushtia Medical College Hospital</c:v>
                </c:pt>
                <c:pt idx="2">
                  <c:v>Jessore Medical College Hospital</c:v>
                </c:pt>
                <c:pt idx="3">
                  <c:v>Ad-din Sakina Women's Medical College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1763</c:v>
                </c:pt>
                <c:pt idx="1">
                  <c:v>1729</c:v>
                </c:pt>
                <c:pt idx="2">
                  <c:v>1254</c:v>
                </c:pt>
                <c:pt idx="3">
                  <c:v>654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Delivery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Lbls>
            <c:dLbl>
              <c:idx val="0"/>
              <c:layout>
                <c:manualLayout>
                  <c:x val="-3.086419753086466E-3"/>
                  <c:y val="9.3625796775405985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"/>
                  <c:y val="-3.694975628046539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92E-3"/>
                  <c:y val="-3.08663592698393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/>
              <c:tx>
                <c:rich>
                  <a:bodyPr/>
                  <a:lstStyle/>
                  <a:p>
                    <a:r>
                      <a:rPr lang="en-US" sz="2000" dirty="0" smtClean="0"/>
                      <a:t>38677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20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4"/>
                <c:pt idx="0">
                  <c:v>Khulna Medical College Hospital</c:v>
                </c:pt>
                <c:pt idx="1">
                  <c:v>Kushtia Medical College Hospital</c:v>
                </c:pt>
                <c:pt idx="2">
                  <c:v>Jessore Medical College Hospital</c:v>
                </c:pt>
                <c:pt idx="3">
                  <c:v>Ad-din Sakina Women's Medical College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3326</c:v>
                </c:pt>
                <c:pt idx="1">
                  <c:v>3160</c:v>
                </c:pt>
                <c:pt idx="2">
                  <c:v>2326</c:v>
                </c:pt>
                <c:pt idx="3">
                  <c:v>3867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72933632"/>
        <c:axId val="272935168"/>
      </c:barChart>
      <c:catAx>
        <c:axId val="272933632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blipFill>
            <a:blip xmlns:r="http://schemas.openxmlformats.org/officeDocument/2006/relationships" r:embed="rId1"/>
            <a:tile tx="0" ty="0" sx="100000" sy="100000" flip="none" algn="tl"/>
          </a:blipFill>
        </c:spPr>
        <c:txPr>
          <a:bodyPr/>
          <a:lstStyle/>
          <a:p>
            <a:pPr>
              <a:defRPr b="1"/>
            </a:pPr>
            <a:endParaRPr lang="en-US"/>
          </a:p>
        </c:txPr>
        <c:crossAx val="272935168"/>
        <c:crosses val="autoZero"/>
        <c:auto val="1"/>
        <c:lblAlgn val="ctr"/>
        <c:lblOffset val="100"/>
        <c:noMultiLvlLbl val="0"/>
      </c:catAx>
      <c:valAx>
        <c:axId val="272935168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272933632"/>
        <c:crosses val="autoZero"/>
        <c:crossBetween val="between"/>
      </c:valAx>
      <c:spPr>
        <a:blipFill>
          <a:blip xmlns:r="http://schemas.openxmlformats.org/officeDocument/2006/relationships" r:embed="rId2"/>
          <a:tile tx="0" ty="0" sx="100000" sy="100000" flip="none" algn="tl"/>
        </a:blipFill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3">
    <c:autoUpdate val="0"/>
  </c:externalData>
  <c:userShapes r:id="rId4"/>
</c:chartSpace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0.34259</cdr:x>
      <cdr:y>0.77612</cdr:y>
    </cdr:from>
    <cdr:to>
      <cdr:x>0.34815</cdr:x>
      <cdr:y>0.80597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2819400" y="3962400"/>
          <a:ext cx="45719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0.67593</cdr:x>
      <cdr:y>0.9403</cdr:y>
    </cdr:from>
    <cdr:to>
      <cdr:x>0.80556</cdr:x>
      <cdr:y>1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5562600" y="5029200"/>
          <a:ext cx="1066803" cy="31843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600" b="1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22427-8CFB-4497-A1CC-B7E42A2B11D0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A5922-62E8-415A-B0C4-509C57D119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30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38CAE-D691-4F1B-BFE5-E857D71999D6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412F0-B504-4C90-8F49-F3511EBEC8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25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B412F0-B504-4C90-8F49-F3511EBEC8A0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B412F0-B504-4C90-8F49-F3511EBEC8A0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04E2CD-9B18-4AD9-A90B-073F70C101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zoom dir="in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FF549E-DDB3-4F8E-B3F4-BC7B4533DD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4920094"/>
      </p:ext>
    </p:extLst>
  </p:cSld>
  <p:clrMapOvr>
    <a:masterClrMapping/>
  </p:clrMapOvr>
  <p:transition spd="slow">
    <p:zoom dir="in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49" r:id="rId1"/>
    <p:sldLayoutId id="2147484350" r:id="rId2"/>
    <p:sldLayoutId id="2147484351" r:id="rId3"/>
    <p:sldLayoutId id="2147484352" r:id="rId4"/>
    <p:sldLayoutId id="2147484353" r:id="rId5"/>
    <p:sldLayoutId id="2147484354" r:id="rId6"/>
    <p:sldLayoutId id="2147484355" r:id="rId7"/>
    <p:sldLayoutId id="2147484356" r:id="rId8"/>
    <p:sldLayoutId id="2147484357" r:id="rId9"/>
    <p:sldLayoutId id="2147484358" r:id="rId10"/>
    <p:sldLayoutId id="2147484359" r:id="rId11"/>
    <p:sldLayoutId id="2147484360" r:id="rId12"/>
    <p:sldLayoutId id="2147484362" r:id="rId13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8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17.png"/><Relationship Id="rId9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8100"/>
            <a:ext cx="8534400" cy="1371600"/>
          </a:xfrm>
        </p:spPr>
        <p:txBody>
          <a:bodyPr anchor="ctr">
            <a:normAutofit/>
          </a:bodyPr>
          <a:lstStyle/>
          <a:p>
            <a:r>
              <a:rPr sz="3200" dirty="0" err="1" smtClean="0"/>
              <a:t>Ad-din</a:t>
            </a:r>
            <a:r>
              <a:rPr sz="3200" dirty="0" smtClean="0"/>
              <a:t> </a:t>
            </a:r>
            <a:r>
              <a:rPr sz="3200" dirty="0" err="1" smtClean="0"/>
              <a:t>Sakina</a:t>
            </a:r>
            <a:r>
              <a:rPr sz="3200" dirty="0" smtClean="0"/>
              <a:t> </a:t>
            </a:r>
            <a:r>
              <a:rPr lang="en-IN" sz="3200" dirty="0" smtClean="0"/>
              <a:t>Women’s </a:t>
            </a:r>
            <a:r>
              <a:rPr sz="3200" dirty="0" smtClean="0"/>
              <a:t>Medical </a:t>
            </a:r>
            <a:r>
              <a:rPr sz="3200" dirty="0" smtClean="0"/>
              <a:t>College Hospital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752600"/>
            <a:ext cx="8305800" cy="36576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 descr="IMG_930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600200"/>
            <a:ext cx="8534400" cy="4552361"/>
          </a:xfrm>
          <a:prstGeom prst="rect">
            <a:avLst/>
          </a:prstGeom>
        </p:spPr>
      </p:pic>
    </p:spTree>
  </p:cSld>
  <p:clrMapOvr>
    <a:masterClrMapping/>
  </p:clrMapOvr>
  <p:transition spd="med">
    <p:wheel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533400" y="212725"/>
            <a:ext cx="4495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000" dirty="0">
                <a:solidFill>
                  <a:srgbClr val="3333FF"/>
                </a:solidFill>
              </a:rPr>
              <a:t>Founder of Ad-din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09600" y="1069975"/>
            <a:ext cx="5334000" cy="1557349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2800" dirty="0">
                <a:solidFill>
                  <a:srgbClr val="0000FF"/>
                </a:solidFill>
              </a:rPr>
              <a:t>Late Sheikh Akijuddin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Founder Chairman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solidFill>
                  <a:srgbClr val="FF0000"/>
                </a:solidFill>
              </a:rPr>
              <a:t>Established Ad-din out of  corporate social responsibility.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solidFill>
                  <a:srgbClr val="FF0000"/>
                </a:solidFill>
              </a:rPr>
              <a:t>Founder of Akij Group with 20 business units.</a:t>
            </a:r>
          </a:p>
        </p:txBody>
      </p:sp>
      <p:pic>
        <p:nvPicPr>
          <p:cNvPr id="24580" name="Picture 4" descr="1"/>
          <p:cNvPicPr>
            <a:picLocks noChangeAspect="1" noChangeArrowheads="1"/>
          </p:cNvPicPr>
          <p:nvPr/>
        </p:nvPicPr>
        <p:blipFill>
          <a:blip r:embed="rId2"/>
          <a:srcRect t="3416" b="4584"/>
          <a:stretch>
            <a:fillRect/>
          </a:stretch>
        </p:blipFill>
        <p:spPr bwMode="auto">
          <a:xfrm>
            <a:off x="6172200" y="1042988"/>
            <a:ext cx="2867025" cy="169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1" name="Picture 5" descr="untitled1"/>
          <p:cNvPicPr>
            <a:picLocks noChangeAspect="1" noChangeArrowheads="1"/>
          </p:cNvPicPr>
          <p:nvPr/>
        </p:nvPicPr>
        <p:blipFill>
          <a:blip r:embed="rId3"/>
          <a:srcRect l="5402" t="14680" b="37218"/>
          <a:stretch>
            <a:fillRect/>
          </a:stretch>
        </p:blipFill>
        <p:spPr bwMode="auto">
          <a:xfrm>
            <a:off x="6172200" y="3048000"/>
            <a:ext cx="2867025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609600" y="3081338"/>
            <a:ext cx="5334000" cy="14970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solidFill>
                  <a:srgbClr val="0000FF"/>
                </a:solidFill>
              </a:rPr>
              <a:t>Late Prof. Sharif Hossain</a:t>
            </a: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1600" dirty="0">
                <a:solidFill>
                  <a:srgbClr val="FF0000"/>
                </a:solidFill>
              </a:rPr>
              <a:t>Founder of lot of social organizations, educationist, recipient of Ekushe Padak.</a:t>
            </a:r>
          </a:p>
          <a:p>
            <a:pPr>
              <a:spcBef>
                <a:spcPct val="50000"/>
              </a:spcBef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609600" y="5426075"/>
            <a:ext cx="5334000" cy="646331"/>
          </a:xfrm>
          <a:prstGeom prst="rect">
            <a:avLst/>
          </a:prstGeom>
          <a:solidFill>
            <a:srgbClr val="FF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Dr. Sheikh Mohiuddin</a:t>
            </a:r>
          </a:p>
          <a:p>
            <a:r>
              <a:rPr lang="en-US" dirty="0">
                <a:solidFill>
                  <a:srgbClr val="FF0000"/>
                </a:solidFill>
              </a:rPr>
              <a:t>Founder Executive Director</a:t>
            </a:r>
          </a:p>
        </p:txBody>
      </p:sp>
      <p:pic>
        <p:nvPicPr>
          <p:cNvPr id="24584" name="Picture 8" descr="04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57913" y="4876800"/>
            <a:ext cx="2906712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ad-din foundation এর ছবি ফলাফল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96000" y="4786184"/>
            <a:ext cx="3048000" cy="20718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9427958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2819400" y="1066800"/>
            <a:ext cx="3048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 u="sng" dirty="0">
                <a:solidFill>
                  <a:srgbClr val="3333FF"/>
                </a:solidFill>
              </a:rPr>
              <a:t>Core Values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304800" y="2971800"/>
            <a:ext cx="5486400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rgbClr val="FF0000"/>
              </a:buClr>
              <a:buFont typeface="Wingdings" pitchFamily="2" charset="2"/>
              <a:buNone/>
            </a:pPr>
            <a:r>
              <a:rPr lang="en-US" sz="3200">
                <a:solidFill>
                  <a:srgbClr val="0000FF"/>
                </a:solidFill>
              </a:rPr>
              <a:t>To respect and take care of the cultural &amp; religious values of our country as a part of development</a:t>
            </a:r>
          </a:p>
        </p:txBody>
      </p:sp>
      <p:pic>
        <p:nvPicPr>
          <p:cNvPr id="26628" name="Picture 4" descr="5"/>
          <p:cNvPicPr>
            <a:picLocks noChangeAspect="1" noChangeArrowheads="1"/>
          </p:cNvPicPr>
          <p:nvPr/>
        </p:nvPicPr>
        <p:blipFill>
          <a:blip r:embed="rId2"/>
          <a:srcRect l="11928"/>
          <a:stretch>
            <a:fillRect/>
          </a:stretch>
        </p:blipFill>
        <p:spPr bwMode="auto">
          <a:xfrm>
            <a:off x="6026150" y="304800"/>
            <a:ext cx="2813050" cy="2468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9" name="Picture 5" descr="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938" y="304800"/>
            <a:ext cx="2201862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0" name="Picture 6" descr="7"/>
          <p:cNvPicPr>
            <a:picLocks noChangeAspect="1" noChangeArrowheads="1"/>
          </p:cNvPicPr>
          <p:nvPr/>
        </p:nvPicPr>
        <p:blipFill>
          <a:blip r:embed="rId4"/>
          <a:srcRect l="7317" t="8344" r="9756" b="2782"/>
          <a:stretch>
            <a:fillRect/>
          </a:stretch>
        </p:blipFill>
        <p:spPr bwMode="auto">
          <a:xfrm>
            <a:off x="6038850" y="4194175"/>
            <a:ext cx="2819400" cy="243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121337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1016296" y="47530"/>
            <a:ext cx="72390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endParaRPr lang="en-US" altLang="en-US" sz="1000" dirty="0">
              <a:solidFill>
                <a:schemeClr val="accent2"/>
              </a:solidFill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3200" dirty="0">
                <a:solidFill>
                  <a:schemeClr val="accent2"/>
                </a:solidFill>
              </a:rPr>
              <a:t>Ad-din </a:t>
            </a:r>
            <a:r>
              <a:rPr lang="en-US" altLang="en-US" sz="3200" dirty="0" smtClean="0">
                <a:solidFill>
                  <a:schemeClr val="accent2"/>
                </a:solidFill>
              </a:rPr>
              <a:t>Sakina Medical College Hospital</a:t>
            </a:r>
            <a:endParaRPr lang="en-US" altLang="en-US" sz="3200" dirty="0">
              <a:solidFill>
                <a:schemeClr val="accent2"/>
              </a:solidFill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3200" dirty="0" smtClean="0">
                <a:solidFill>
                  <a:schemeClr val="tx1"/>
                </a:solidFill>
              </a:rPr>
              <a:t>Background</a:t>
            </a:r>
            <a:endParaRPr lang="en-US" altLang="en-US" dirty="0">
              <a:solidFill>
                <a:schemeClr val="tx1"/>
              </a:solidFill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endParaRPr lang="en-US" altLang="en-US" sz="3600" dirty="0">
              <a:solidFill>
                <a:schemeClr val="accent2"/>
              </a:solidFill>
            </a:endParaRP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-1726" y="1524001"/>
            <a:ext cx="5030926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endParaRPr lang="en-US" altLang="en-US" sz="2000" dirty="0" smtClean="0">
              <a:solidFill>
                <a:schemeClr val="tx1"/>
              </a:solidFill>
            </a:endParaRPr>
          </a:p>
          <a:p>
            <a:pPr marL="342900" indent="-342900" algn="just" eaLnBrk="1" hangingPunct="1">
              <a:spcBef>
                <a:spcPct val="50000"/>
              </a:spcBef>
              <a:buFont typeface="Wingdings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</a:rPr>
              <a:t>Ad-din</a:t>
            </a:r>
            <a:r>
              <a:rPr lang="en-US" altLang="en-US" sz="2000" dirty="0" smtClean="0">
                <a:solidFill>
                  <a:schemeClr val="tx1"/>
                </a:solidFill>
              </a:rPr>
              <a:t> Hospital started </a:t>
            </a:r>
            <a:r>
              <a:rPr lang="en-US" altLang="en-US" sz="2000" dirty="0">
                <a:solidFill>
                  <a:schemeClr val="tx1"/>
                </a:solidFill>
              </a:rPr>
              <a:t>at 5 April </a:t>
            </a:r>
            <a:r>
              <a:rPr lang="en-US" altLang="en-US" sz="2000" dirty="0" smtClean="0">
                <a:solidFill>
                  <a:schemeClr val="tx1"/>
                </a:solidFill>
              </a:rPr>
              <a:t>1985 in </a:t>
            </a:r>
            <a:r>
              <a:rPr lang="en-US" altLang="en-US" sz="2000" dirty="0" err="1" smtClean="0">
                <a:solidFill>
                  <a:schemeClr val="tx1"/>
                </a:solidFill>
              </a:rPr>
              <a:t>Kholadanga</a:t>
            </a:r>
            <a:r>
              <a:rPr lang="en-US" altLang="en-US" sz="2000" dirty="0" smtClean="0">
                <a:solidFill>
                  <a:schemeClr val="tx1"/>
                </a:solidFill>
              </a:rPr>
              <a:t>, </a:t>
            </a:r>
            <a:r>
              <a:rPr lang="en-US" altLang="en-US" sz="2000" dirty="0" err="1" smtClean="0">
                <a:solidFill>
                  <a:schemeClr val="tx1"/>
                </a:solidFill>
              </a:rPr>
              <a:t>Jashore</a:t>
            </a:r>
            <a:r>
              <a:rPr lang="en-US" altLang="en-US" sz="2000" dirty="0" smtClean="0">
                <a:solidFill>
                  <a:schemeClr val="tx1"/>
                </a:solidFill>
              </a:rPr>
              <a:t> with the aim of providing</a:t>
            </a:r>
            <a:r>
              <a:rPr lang="en-US" altLang="en-US" sz="2000" dirty="0">
                <a:solidFill>
                  <a:schemeClr val="tx1"/>
                </a:solidFill>
              </a:rPr>
              <a:t> standard health service specially to the women, children </a:t>
            </a:r>
            <a:r>
              <a:rPr lang="en-US" altLang="en-US" sz="2000" dirty="0" smtClean="0">
                <a:solidFill>
                  <a:schemeClr val="tx1"/>
                </a:solidFill>
              </a:rPr>
              <a:t>and </a:t>
            </a:r>
            <a:r>
              <a:rPr lang="en-US" altLang="en-US" sz="2000" dirty="0">
                <a:solidFill>
                  <a:schemeClr val="tx1"/>
                </a:solidFill>
              </a:rPr>
              <a:t>others at minimum cost </a:t>
            </a:r>
            <a:r>
              <a:rPr lang="en-US" altLang="en-US" sz="2000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 algn="just" eaLnBrk="1" hangingPunct="1">
              <a:spcBef>
                <a:spcPct val="50000"/>
              </a:spcBef>
              <a:buFont typeface="Wingdings" pitchFamily="2" charset="2"/>
              <a:buChar char="v"/>
            </a:pPr>
            <a:r>
              <a:rPr lang="en-US" altLang="en-US" sz="2000" dirty="0" err="1" smtClean="0">
                <a:solidFill>
                  <a:schemeClr val="tx1"/>
                </a:solidFill>
              </a:rPr>
              <a:t>Ad-din</a:t>
            </a:r>
            <a:r>
              <a:rPr lang="en-US" altLang="en-US" sz="2000" dirty="0" smtClean="0">
                <a:solidFill>
                  <a:schemeClr val="tx1"/>
                </a:solidFill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</a:rPr>
              <a:t>Sakina</a:t>
            </a:r>
            <a:r>
              <a:rPr lang="en-US" altLang="en-US" sz="2000" dirty="0" smtClean="0">
                <a:solidFill>
                  <a:schemeClr val="tx1"/>
                </a:solidFill>
              </a:rPr>
              <a:t> Women’s </a:t>
            </a:r>
            <a:r>
              <a:rPr lang="en-US" altLang="en-US" sz="2000" dirty="0">
                <a:solidFill>
                  <a:schemeClr val="tx1"/>
                </a:solidFill>
              </a:rPr>
              <a:t>Medical </a:t>
            </a:r>
            <a:r>
              <a:rPr lang="en-US" altLang="en-US" sz="2000" dirty="0" smtClean="0">
                <a:solidFill>
                  <a:schemeClr val="tx1"/>
                </a:solidFill>
              </a:rPr>
              <a:t>College started at 2011 in </a:t>
            </a:r>
            <a:r>
              <a:rPr lang="en-US" altLang="en-US" sz="2000" dirty="0" err="1" smtClean="0">
                <a:solidFill>
                  <a:schemeClr val="tx1"/>
                </a:solidFill>
              </a:rPr>
              <a:t>Jashore</a:t>
            </a:r>
            <a:r>
              <a:rPr lang="en-US" altLang="en-US" sz="2000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 algn="just" eaLnBrk="1" hangingPunct="1">
              <a:spcBef>
                <a:spcPct val="50000"/>
              </a:spcBef>
              <a:buFont typeface="Wingdings" pitchFamily="2" charset="2"/>
              <a:buChar char="v"/>
            </a:pPr>
            <a:r>
              <a:rPr lang="en-US" altLang="en-US" sz="2000" dirty="0" err="1" smtClean="0">
                <a:solidFill>
                  <a:schemeClr val="tx1"/>
                </a:solidFill>
              </a:rPr>
              <a:t>Ad-din</a:t>
            </a:r>
            <a:r>
              <a:rPr lang="en-US" altLang="en-US" sz="2000" dirty="0" smtClean="0">
                <a:solidFill>
                  <a:schemeClr val="tx1"/>
                </a:solidFill>
              </a:rPr>
              <a:t> Women’s Medical College Hospital Started  1 November, 1997 in Dhaka.</a:t>
            </a:r>
          </a:p>
          <a:p>
            <a:pPr marL="342900" indent="-342900" algn="just" eaLnBrk="1" hangingPunct="1">
              <a:spcBef>
                <a:spcPct val="50000"/>
              </a:spcBef>
              <a:buFont typeface="Wingdings" pitchFamily="2" charset="2"/>
              <a:buChar char="v"/>
            </a:pPr>
            <a:r>
              <a:rPr lang="en-US" altLang="en-US" sz="2000" dirty="0" err="1" smtClean="0">
                <a:solidFill>
                  <a:schemeClr val="tx1"/>
                </a:solidFill>
              </a:rPr>
              <a:t>Ad-din</a:t>
            </a:r>
            <a:r>
              <a:rPr lang="en-US" altLang="en-US" sz="2000" dirty="0" smtClean="0">
                <a:solidFill>
                  <a:schemeClr val="tx1"/>
                </a:solidFill>
              </a:rPr>
              <a:t> Nursing Institution started in 1997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26" y="12580"/>
            <a:ext cx="890836" cy="897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7" name="Picture 5" descr="Ad-din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664" y="2643"/>
            <a:ext cx="906318" cy="90631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8" name="Picture 6" descr="Ad-din Hospital Front sid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73" t="25000" r="6250" b="11000"/>
          <a:stretch>
            <a:fillRect/>
          </a:stretch>
        </p:blipFill>
        <p:spPr bwMode="auto">
          <a:xfrm>
            <a:off x="5232197" y="1916057"/>
            <a:ext cx="3913992" cy="326554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1747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3"/>
          <p:cNvSpPr txBox="1">
            <a:spLocks noChangeArrowheads="1"/>
          </p:cNvSpPr>
          <p:nvPr/>
        </p:nvSpPr>
        <p:spPr bwMode="auto">
          <a:xfrm>
            <a:off x="2438400" y="3200400"/>
            <a:ext cx="2133600" cy="781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1400" b="1" dirty="0" err="1">
                <a:latin typeface="Corbel" pitchFamily="34" charset="0"/>
              </a:rPr>
              <a:t>Ad-din</a:t>
            </a:r>
            <a:r>
              <a:rPr lang="en-US" altLang="en-US" sz="1400" b="1" dirty="0">
                <a:latin typeface="Corbel" pitchFamily="34" charset="0"/>
              </a:rPr>
              <a:t> </a:t>
            </a:r>
            <a:r>
              <a:rPr lang="en-US" altLang="en-US" sz="1400" b="1" dirty="0" err="1">
                <a:latin typeface="Corbel" pitchFamily="34" charset="0"/>
              </a:rPr>
              <a:t>Sakina</a:t>
            </a:r>
            <a:r>
              <a:rPr lang="en-US" altLang="en-US" sz="1400" b="1" dirty="0">
                <a:latin typeface="Corbel" pitchFamily="34" charset="0"/>
              </a:rPr>
              <a:t> Medical College Hospital, </a:t>
            </a:r>
            <a:r>
              <a:rPr lang="en-US" altLang="en-US" sz="1400" b="1" dirty="0" err="1">
                <a:latin typeface="Corbel" pitchFamily="34" charset="0"/>
              </a:rPr>
              <a:t>Jessore</a:t>
            </a:r>
            <a:endParaRPr lang="en-US" altLang="en-US" sz="1400" b="1" dirty="0">
              <a:latin typeface="Corbel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1400" b="1" dirty="0" err="1">
                <a:latin typeface="Corbel" pitchFamily="34" charset="0"/>
              </a:rPr>
              <a:t>Estd</a:t>
            </a:r>
            <a:r>
              <a:rPr lang="en-US" altLang="en-US" sz="1400" b="1" dirty="0">
                <a:latin typeface="Corbel" pitchFamily="34" charset="0"/>
              </a:rPr>
              <a:t>. 4 April 1985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400" b="1" dirty="0" smtClean="0">
                <a:latin typeface="Corbel" pitchFamily="34" charset="0"/>
              </a:rPr>
              <a:t>300-Bed</a:t>
            </a:r>
            <a:endParaRPr lang="en-US" altLang="en-US" sz="1400" b="1" dirty="0">
              <a:latin typeface="Corbel" pitchFamily="34" charset="0"/>
            </a:endParaRPr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838200" y="76200"/>
            <a:ext cx="7467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4000" b="1"/>
              <a:t>Ad-din Hospitals</a:t>
            </a:r>
          </a:p>
        </p:txBody>
      </p:sp>
      <p:pic>
        <p:nvPicPr>
          <p:cNvPr id="36868" name="Picture 5" descr="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4267200"/>
            <a:ext cx="251460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9" name="Text Box 6"/>
          <p:cNvSpPr txBox="1">
            <a:spLocks noChangeArrowheads="1"/>
          </p:cNvSpPr>
          <p:nvPr/>
        </p:nvSpPr>
        <p:spPr bwMode="auto">
          <a:xfrm>
            <a:off x="76200" y="3200400"/>
            <a:ext cx="2133600" cy="1040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1400" b="1" dirty="0" err="1">
                <a:latin typeface="Corbel" pitchFamily="34" charset="0"/>
              </a:rPr>
              <a:t>Ad-din</a:t>
            </a:r>
            <a:r>
              <a:rPr lang="en-US" altLang="en-US" sz="1400" b="1" dirty="0">
                <a:latin typeface="Corbel" pitchFamily="34" charset="0"/>
              </a:rPr>
              <a:t> Medical College Hospital, Dhaka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400" b="1" dirty="0" err="1">
                <a:latin typeface="Corbel" pitchFamily="34" charset="0"/>
              </a:rPr>
              <a:t>Estd</a:t>
            </a:r>
            <a:r>
              <a:rPr lang="en-US" altLang="en-US" sz="1400" b="1" dirty="0">
                <a:latin typeface="Corbel" pitchFamily="34" charset="0"/>
              </a:rPr>
              <a:t>. 1 Nov 1997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400" b="1" dirty="0" smtClean="0">
                <a:latin typeface="Corbel" pitchFamily="34" charset="0"/>
              </a:rPr>
              <a:t>500-Bed</a:t>
            </a:r>
            <a:endParaRPr lang="en-US" altLang="en-US" sz="1400" b="1" dirty="0">
              <a:latin typeface="Corbel" pitchFamily="34" charset="0"/>
            </a:endParaRPr>
          </a:p>
        </p:txBody>
      </p:sp>
      <p:sp>
        <p:nvSpPr>
          <p:cNvPr id="36870" name="Text Box 7"/>
          <p:cNvSpPr txBox="1">
            <a:spLocks noChangeArrowheads="1"/>
          </p:cNvSpPr>
          <p:nvPr/>
        </p:nvSpPr>
        <p:spPr bwMode="auto">
          <a:xfrm>
            <a:off x="1981200" y="5638800"/>
            <a:ext cx="2743200" cy="73866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400" b="1" dirty="0" err="1">
                <a:latin typeface="Corbel" pitchFamily="34" charset="0"/>
              </a:rPr>
              <a:t>Ad-din</a:t>
            </a:r>
            <a:r>
              <a:rPr lang="en-US" altLang="en-US" sz="1400" b="1" dirty="0">
                <a:latin typeface="Corbel" pitchFamily="34" charset="0"/>
              </a:rPr>
              <a:t> Hospital, </a:t>
            </a:r>
            <a:r>
              <a:rPr lang="en-US" altLang="en-US" sz="1400" b="1" dirty="0" err="1">
                <a:latin typeface="Corbel" pitchFamily="34" charset="0"/>
              </a:rPr>
              <a:t>Kushtia</a:t>
            </a:r>
            <a:r>
              <a:rPr lang="en-US" altLang="en-US" sz="1400" b="1" dirty="0">
                <a:latin typeface="Corbel" pitchFamily="34" charset="0"/>
              </a:rPr>
              <a:t> </a:t>
            </a:r>
          </a:p>
          <a:p>
            <a:pPr eaLnBrk="1" hangingPunct="1"/>
            <a:r>
              <a:rPr lang="en-US" altLang="en-US" sz="1400" b="1" dirty="0" err="1">
                <a:latin typeface="Corbel" pitchFamily="34" charset="0"/>
              </a:rPr>
              <a:t>Estd</a:t>
            </a:r>
            <a:r>
              <a:rPr lang="en-US" altLang="en-US" sz="1400" b="1" dirty="0">
                <a:latin typeface="Corbel" pitchFamily="34" charset="0"/>
              </a:rPr>
              <a:t>. 1 Nov 1999; </a:t>
            </a:r>
            <a:r>
              <a:rPr lang="en-US" altLang="en-US" sz="1400" b="1" dirty="0" smtClean="0">
                <a:latin typeface="Corbel" pitchFamily="34" charset="0"/>
              </a:rPr>
              <a:t>100-Bed</a:t>
            </a:r>
            <a:endParaRPr lang="en-US" altLang="en-US" sz="1400" b="1" dirty="0">
              <a:latin typeface="Corbel" pitchFamily="34" charset="0"/>
            </a:endParaRPr>
          </a:p>
          <a:p>
            <a:pPr eaLnBrk="1" hangingPunct="1"/>
            <a:r>
              <a:rPr lang="en-US" altLang="en-US" sz="1400" b="1" dirty="0">
                <a:latin typeface="Corbel" pitchFamily="34" charset="0"/>
              </a:rPr>
              <a:t> </a:t>
            </a:r>
          </a:p>
        </p:txBody>
      </p:sp>
      <p:sp>
        <p:nvSpPr>
          <p:cNvPr id="36871" name="Line 8"/>
          <p:cNvSpPr>
            <a:spLocks noChangeShapeType="1"/>
          </p:cNvSpPr>
          <p:nvPr/>
        </p:nvSpPr>
        <p:spPr bwMode="auto">
          <a:xfrm>
            <a:off x="0" y="762000"/>
            <a:ext cx="9144000" cy="0"/>
          </a:xfrm>
          <a:prstGeom prst="line">
            <a:avLst/>
          </a:prstGeom>
          <a:noFill/>
          <a:ln w="76200">
            <a:solidFill>
              <a:srgbClr val="009E75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11"/>
          <p:cNvSpPr txBox="1">
            <a:spLocks noChangeArrowheads="1"/>
          </p:cNvSpPr>
          <p:nvPr/>
        </p:nvSpPr>
        <p:spPr bwMode="auto">
          <a:xfrm>
            <a:off x="6858000" y="3200400"/>
            <a:ext cx="2057400" cy="1016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200" b="1" dirty="0" err="1">
                <a:latin typeface="Corbel" pitchFamily="34" charset="0"/>
              </a:rPr>
              <a:t>Bashundhara</a:t>
            </a:r>
            <a:r>
              <a:rPr lang="en-US" altLang="en-US" sz="1200" b="1" dirty="0">
                <a:latin typeface="Corbel" pitchFamily="34" charset="0"/>
              </a:rPr>
              <a:t> </a:t>
            </a:r>
            <a:r>
              <a:rPr lang="en-US" altLang="en-US" sz="1200" b="1" dirty="0" err="1">
                <a:latin typeface="Corbel" pitchFamily="34" charset="0"/>
              </a:rPr>
              <a:t>Ad-din</a:t>
            </a:r>
            <a:r>
              <a:rPr lang="en-US" altLang="en-US" sz="1200" b="1" dirty="0">
                <a:latin typeface="Corbel" pitchFamily="34" charset="0"/>
              </a:rPr>
              <a:t> Medical College Hospital, </a:t>
            </a:r>
            <a:r>
              <a:rPr lang="en-US" altLang="en-US" sz="1200" b="1" dirty="0" err="1">
                <a:latin typeface="Corbel" pitchFamily="34" charset="0"/>
              </a:rPr>
              <a:t>Keraniganj</a:t>
            </a:r>
            <a:r>
              <a:rPr lang="en-US" altLang="en-US" sz="1200" b="1" dirty="0">
                <a:latin typeface="Corbel" pitchFamily="34" charset="0"/>
              </a:rPr>
              <a:t>, Dhaka </a:t>
            </a:r>
          </a:p>
          <a:p>
            <a:pPr eaLnBrk="1" hangingPunct="1"/>
            <a:r>
              <a:rPr lang="en-US" altLang="en-US" sz="1200" b="1" dirty="0" err="1">
                <a:latin typeface="Corbel" pitchFamily="34" charset="0"/>
              </a:rPr>
              <a:t>Estd</a:t>
            </a:r>
            <a:r>
              <a:rPr lang="en-US" altLang="en-US" sz="1200" b="1" dirty="0">
                <a:latin typeface="Corbel" pitchFamily="34" charset="0"/>
              </a:rPr>
              <a:t>. 25 Feb 2012</a:t>
            </a:r>
          </a:p>
          <a:p>
            <a:pPr eaLnBrk="1" hangingPunct="1"/>
            <a:r>
              <a:rPr lang="en-US" altLang="en-US" sz="1200" b="1" dirty="0" smtClean="0">
                <a:latin typeface="Corbel" pitchFamily="34" charset="0"/>
              </a:rPr>
              <a:t>300-Bed.</a:t>
            </a:r>
            <a:endParaRPr lang="en-US" altLang="en-US" sz="1200" b="1" dirty="0">
              <a:latin typeface="Corbel" pitchFamily="34" charset="0"/>
            </a:endParaRPr>
          </a:p>
        </p:txBody>
      </p:sp>
      <p:pic>
        <p:nvPicPr>
          <p:cNvPr id="36873" name="Picture 12" descr="IMG"/>
          <p:cNvPicPr>
            <a:picLocks noChangeAspect="1" noChangeArrowheads="1"/>
          </p:cNvPicPr>
          <p:nvPr/>
        </p:nvPicPr>
        <p:blipFill>
          <a:blip r:embed="rId3"/>
          <a:srcRect l="4898" r="2040"/>
          <a:stretch>
            <a:fillRect/>
          </a:stretch>
        </p:blipFill>
        <p:spPr bwMode="auto">
          <a:xfrm>
            <a:off x="0" y="762000"/>
            <a:ext cx="9144000" cy="2417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4" name="Text Box 13"/>
          <p:cNvSpPr txBox="1">
            <a:spLocks noChangeArrowheads="1"/>
          </p:cNvSpPr>
          <p:nvPr/>
        </p:nvSpPr>
        <p:spPr bwMode="auto">
          <a:xfrm>
            <a:off x="4800600" y="3200400"/>
            <a:ext cx="1981200" cy="997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1400" b="1" dirty="0" err="1">
                <a:latin typeface="Corbel" pitchFamily="34" charset="0"/>
              </a:rPr>
              <a:t>Ad-din</a:t>
            </a:r>
            <a:r>
              <a:rPr lang="en-US" altLang="en-US" sz="1400" b="1" dirty="0">
                <a:latin typeface="Corbel" pitchFamily="34" charset="0"/>
              </a:rPr>
              <a:t> </a:t>
            </a:r>
            <a:r>
              <a:rPr lang="en-US" altLang="en-US" sz="1400" b="1" dirty="0" err="1">
                <a:latin typeface="Corbel" pitchFamily="34" charset="0"/>
              </a:rPr>
              <a:t>Akij</a:t>
            </a:r>
            <a:r>
              <a:rPr lang="en-US" altLang="en-US" sz="1400" b="1" dirty="0">
                <a:latin typeface="Corbel" pitchFamily="34" charset="0"/>
              </a:rPr>
              <a:t> Medical College Hospital, Khulna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400" b="1" dirty="0" err="1">
                <a:latin typeface="Corbel" pitchFamily="34" charset="0"/>
              </a:rPr>
              <a:t>Estd</a:t>
            </a:r>
            <a:r>
              <a:rPr lang="en-US" altLang="en-US" sz="1400" b="1" dirty="0">
                <a:latin typeface="Corbel" pitchFamily="34" charset="0"/>
              </a:rPr>
              <a:t>. 8 Feb 2013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400" b="1" dirty="0">
                <a:latin typeface="Corbel" pitchFamily="34" charset="0"/>
              </a:rPr>
              <a:t>500-Bed</a:t>
            </a:r>
            <a:r>
              <a:rPr lang="en-US" altLang="en-US" sz="1400" b="1" dirty="0" smtClean="0">
                <a:latin typeface="Corbel" pitchFamily="34" charset="0"/>
              </a:rPr>
              <a:t>:.</a:t>
            </a:r>
            <a:endParaRPr lang="en-US" altLang="en-US" sz="1400" b="1" dirty="0">
              <a:latin typeface="Corbel" pitchFamily="34" charset="0"/>
            </a:endParaRPr>
          </a:p>
        </p:txBody>
      </p:sp>
      <p:pic>
        <p:nvPicPr>
          <p:cNvPr id="36875" name="Picture 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86325" y="4332288"/>
            <a:ext cx="2352675" cy="1300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6" name="Rectangle 13"/>
          <p:cNvSpPr>
            <a:spLocks noChangeArrowheads="1"/>
          </p:cNvSpPr>
          <p:nvPr/>
        </p:nvSpPr>
        <p:spPr bwMode="auto">
          <a:xfrm>
            <a:off x="4876800" y="5638800"/>
            <a:ext cx="28194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400" b="1">
                <a:solidFill>
                  <a:srgbClr val="000000"/>
                </a:solidFill>
                <a:latin typeface="Corbel" pitchFamily="34" charset="0"/>
              </a:rPr>
              <a:t>Ad-din Barrister Rofique-Ul Huq  Hospital, Postogola, Dhaka </a:t>
            </a:r>
          </a:p>
          <a:p>
            <a:pPr eaLnBrk="1" hangingPunct="1"/>
            <a:r>
              <a:rPr lang="en-US" altLang="en-US" sz="1400" b="1">
                <a:solidFill>
                  <a:srgbClr val="000000"/>
                </a:solidFill>
                <a:latin typeface="Corbel" pitchFamily="34" charset="0"/>
              </a:rPr>
              <a:t>Estd. May 2017; 300-Bed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880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6771940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 Box 2"/>
          <p:cNvSpPr txBox="1">
            <a:spLocks noChangeArrowheads="1"/>
          </p:cNvSpPr>
          <p:nvPr/>
        </p:nvSpPr>
        <p:spPr bwMode="auto">
          <a:xfrm>
            <a:off x="228600" y="4648200"/>
            <a:ext cx="198120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 b="1">
                <a:latin typeface="Corbel" pitchFamily="34" charset="0"/>
              </a:rPr>
              <a:t>Ad-din Nursing Institute, Jessore</a:t>
            </a:r>
          </a:p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 b="1">
                <a:latin typeface="Corbel" pitchFamily="34" charset="0"/>
              </a:rPr>
              <a:t>Estd. Aug 1997</a:t>
            </a:r>
          </a:p>
        </p:txBody>
      </p:sp>
      <p:sp>
        <p:nvSpPr>
          <p:cNvPr id="4102" name="Text Box 3"/>
          <p:cNvSpPr txBox="1">
            <a:spLocks noChangeArrowheads="1"/>
          </p:cNvSpPr>
          <p:nvPr/>
        </p:nvSpPr>
        <p:spPr bwMode="auto">
          <a:xfrm>
            <a:off x="1295400" y="304800"/>
            <a:ext cx="6858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4000" b="1">
                <a:latin typeface="Corbel" pitchFamily="34" charset="0"/>
              </a:rPr>
              <a:t>Nursing Institutes</a:t>
            </a:r>
          </a:p>
        </p:txBody>
      </p:sp>
      <p:sp>
        <p:nvSpPr>
          <p:cNvPr id="4103" name="Text Box 4"/>
          <p:cNvSpPr txBox="1">
            <a:spLocks noChangeArrowheads="1"/>
          </p:cNvSpPr>
          <p:nvPr/>
        </p:nvSpPr>
        <p:spPr bwMode="auto">
          <a:xfrm>
            <a:off x="3167063" y="4727575"/>
            <a:ext cx="19812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600" b="1">
                <a:latin typeface="Corbel" pitchFamily="34" charset="0"/>
              </a:rPr>
              <a:t>Fatema Nursing Institute, Dhaka Estd. Jul 2006</a:t>
            </a:r>
          </a:p>
        </p:txBody>
      </p:sp>
      <p:sp>
        <p:nvSpPr>
          <p:cNvPr id="4104" name="Text Box 5"/>
          <p:cNvSpPr txBox="1">
            <a:spLocks noChangeArrowheads="1"/>
          </p:cNvSpPr>
          <p:nvPr/>
        </p:nvSpPr>
        <p:spPr bwMode="auto">
          <a:xfrm>
            <a:off x="6248400" y="5057775"/>
            <a:ext cx="1981200" cy="8255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600" b="1">
                <a:latin typeface="Corbel" pitchFamily="34" charset="0"/>
              </a:rPr>
              <a:t>Safina Nursing Institute, Kushtia Estd. Sept 2005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2657475" y="2286000"/>
          <a:ext cx="3157538" cy="236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6" name="Photo Editor Photo" r:id="rId3" imgW="6095238" imgH="4571429" progId="">
                  <p:embed/>
                </p:oleObj>
              </mc:Choice>
              <mc:Fallback>
                <p:oleObj name="Photo Editor Photo" r:id="rId3" imgW="6095238" imgH="457142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475" y="2286000"/>
                        <a:ext cx="3157538" cy="236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76200" y="1295400"/>
          <a:ext cx="2538413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7" name="Image" r:id="rId5" imgW="2684584" imgH="3465525" progId="">
                  <p:embed/>
                </p:oleObj>
              </mc:Choice>
              <mc:Fallback>
                <p:oleObj name="Image" r:id="rId5" imgW="2684584" imgH="34655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295400"/>
                        <a:ext cx="2538413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5895975" y="2667000"/>
          <a:ext cx="3200400" cy="240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8" name="Image" r:id="rId7" imgW="3981689" imgH="2998228" progId="">
                  <p:embed/>
                </p:oleObj>
              </mc:Choice>
              <mc:Fallback>
                <p:oleObj name="Image" r:id="rId7" imgW="3981689" imgH="299822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5975" y="2667000"/>
                        <a:ext cx="3200400" cy="240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5" name="Line 10"/>
          <p:cNvSpPr>
            <a:spLocks noChangeShapeType="1"/>
          </p:cNvSpPr>
          <p:nvPr/>
        </p:nvSpPr>
        <p:spPr bwMode="auto">
          <a:xfrm>
            <a:off x="0" y="1066800"/>
            <a:ext cx="9144000" cy="0"/>
          </a:xfrm>
          <a:prstGeom prst="line">
            <a:avLst/>
          </a:prstGeom>
          <a:noFill/>
          <a:ln w="76200">
            <a:solidFill>
              <a:srgbClr val="009E75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08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6125583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Academic activities</a:t>
            </a:r>
            <a:br>
              <a:rPr lang="en-US" dirty="0"/>
            </a:br>
            <a:r>
              <a:rPr lang="en-US" dirty="0"/>
              <a:t>Under graduate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0" y="2362200"/>
            <a:ext cx="7773339" cy="44958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Intern’s Doctor’s Training : morning session, case presentation, monthly mitting , discursion on referred case, Teaching according to log book.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MBBS Class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MBBS Class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MBBS Class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Nursing Training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study :</a:t>
            </a:r>
          </a:p>
          <a:p>
            <a:pPr marL="914400" lvl="1" indent="-457200"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ound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</a:t>
            </a:r>
          </a:p>
          <a:p>
            <a:pPr marL="914400" lvl="1" indent="-457200">
              <a:buAutoNum type="arabicPeriod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IUD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394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524000"/>
          </a:xfrm>
        </p:spPr>
        <p:txBody>
          <a:bodyPr anchor="t">
            <a:noAutofit/>
          </a:bodyPr>
          <a:lstStyle/>
          <a:p>
            <a:pPr algn="ctr"/>
            <a: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Organogram of </a:t>
            </a:r>
            <a:r>
              <a:rPr lang="en-US" sz="320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Gyne&amp;Obs</a:t>
            </a:r>
            <a: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Department </a:t>
            </a:r>
            <a:r>
              <a:rPr lang="en-US" sz="32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0f </a:t>
            </a:r>
            <a: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Ad-din</a:t>
            </a:r>
            <a: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Sakina Medical College Hospital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4400" y="4419600"/>
            <a:ext cx="7772400" cy="1295400"/>
          </a:xfrm>
          <a:prstGeom prst="rect">
            <a:avLst/>
          </a:prstGeom>
        </p:spPr>
        <p:txBody>
          <a:bodyPr vert="horz" lIns="0" rIns="0" bIns="0" anchor="b"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/>
              <a:t> </a:t>
            </a:r>
            <a:endParaRPr lang="en-US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109431"/>
              </p:ext>
            </p:extLst>
          </p:nvPr>
        </p:nvGraphicFramePr>
        <p:xfrm>
          <a:off x="152400" y="1371600"/>
          <a:ext cx="8991601" cy="5486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219200"/>
                <a:gridCol w="1297461"/>
                <a:gridCol w="1296087"/>
                <a:gridCol w="911652"/>
                <a:gridCol w="1194488"/>
                <a:gridCol w="1701113"/>
              </a:tblGrid>
              <a:tr h="1009177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Professor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Professor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Associate</a:t>
                      </a:r>
                    </a:p>
                    <a:p>
                      <a:pPr algn="ctr"/>
                      <a:r>
                        <a:rPr lang="en-IN" dirty="0" smtClean="0"/>
                        <a:t>Professor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Assistant Professor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RS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Registrar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Assistant Registrar</a:t>
                      </a:r>
                      <a:endParaRPr lang="en-GB" dirty="0"/>
                    </a:p>
                  </a:txBody>
                  <a:tcPr/>
                </a:tc>
              </a:tr>
              <a:tr h="1441682"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Bodrunnesa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Torun </a:t>
                      </a:r>
                      <a:r>
                        <a:rPr lang="en-IN" dirty="0" err="1" smtClean="0"/>
                        <a:t>Khanti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Ghosh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Nasreen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Saleha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Khatun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Shila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Poddar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Sumaya</a:t>
                      </a:r>
                      <a:r>
                        <a:rPr lang="en-IN" baseline="0" dirty="0" smtClean="0"/>
                        <a:t> </a:t>
                      </a:r>
                      <a:r>
                        <a:rPr lang="en-IN" baseline="0" dirty="0" err="1" smtClean="0"/>
                        <a:t>Sharmeen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Tonni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Moni</a:t>
                      </a:r>
                      <a:endParaRPr lang="en-GB" dirty="0"/>
                    </a:p>
                  </a:txBody>
                  <a:tcPr/>
                </a:tc>
              </a:tr>
              <a:tr h="1441682"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Hasanuzzaman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N.B </a:t>
                      </a:r>
                      <a:r>
                        <a:rPr lang="en-IN" dirty="0" err="1" smtClean="0"/>
                        <a:t>Goldar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Md. </a:t>
                      </a:r>
                      <a:r>
                        <a:rPr lang="en-IN" dirty="0" err="1" smtClean="0"/>
                        <a:t>Emdadul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Haque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</a:tr>
              <a:tr h="1009177"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Rabiul</a:t>
                      </a:r>
                      <a:r>
                        <a:rPr lang="en-IN" baseline="0" dirty="0" smtClean="0"/>
                        <a:t> Islam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</a:tr>
              <a:tr h="584681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078434"/>
      </p:ext>
    </p:extLst>
  </p:cSld>
  <p:clrMapOvr>
    <a:masterClrMapping/>
  </p:clrMapOvr>
  <p:transition spd="slow">
    <p:wheel spokes="3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171127_11301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1414462"/>
            <a:ext cx="8153400" cy="45862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81000"/>
            <a:ext cx="8001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Ad-din Sakina Medical College Hospital Outdoor </a:t>
            </a:r>
            <a:endParaRPr lang="en-US" sz="320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295400"/>
          </a:xfrm>
        </p:spPr>
        <p:txBody>
          <a:bodyPr anchor="t">
            <a:normAutofit fontScale="90000"/>
          </a:bodyPr>
          <a:lstStyle/>
          <a:p>
            <a:pPr algn="ctr"/>
            <a:r>
              <a:rPr sz="53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Card Registration</a:t>
            </a:r>
            <a:r>
              <a:rPr sz="4400" smtClean="0">
                <a:solidFill>
                  <a:srgbClr val="7030A0"/>
                </a:solidFill>
              </a:rPr>
              <a:t/>
            </a:r>
            <a:br>
              <a:rPr sz="4400" smtClean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2104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381000" y="1676400"/>
            <a:ext cx="7857067" cy="4419600"/>
          </a:xfrm>
        </p:spPr>
      </p:pic>
    </p:spTree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524000"/>
          </a:xfrm>
        </p:spPr>
        <p:txBody>
          <a:bodyPr>
            <a:normAutofit fontScale="90000"/>
          </a:bodyPr>
          <a:lstStyle/>
          <a:p>
            <a:pPr algn="ctr"/>
            <a:r>
              <a:rPr sz="67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Business Counter </a:t>
            </a:r>
            <a:r>
              <a:rPr sz="4400" smtClean="0">
                <a:solidFill>
                  <a:srgbClr val="7030A0"/>
                </a:solidFill>
              </a:rPr>
              <a:t/>
            </a:r>
            <a:br>
              <a:rPr sz="4400" smtClean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2148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5957" y="1371600"/>
            <a:ext cx="7312085" cy="4724400"/>
          </a:xfrm>
        </p:spPr>
      </p:pic>
    </p:spTree>
  </p:cSld>
  <p:clrMapOvr>
    <a:masterClrMapping/>
  </p:clrMapOvr>
  <p:transition spd="slow">
    <p:pull dir="l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447800"/>
          </a:xfrm>
        </p:spPr>
        <p:txBody>
          <a:bodyPr>
            <a:normAutofit fontScale="90000"/>
          </a:bodyPr>
          <a:lstStyle/>
          <a:p>
            <a:pPr algn="ctr"/>
            <a:r>
              <a:rPr sz="60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Antenatal Care</a:t>
            </a:r>
            <a:r>
              <a:rPr sz="4400" smtClean="0">
                <a:solidFill>
                  <a:srgbClr val="7030A0"/>
                </a:solidFill>
              </a:rPr>
              <a:t/>
            </a:r>
            <a:br>
              <a:rPr sz="4400" smtClean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1232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508000" y="1752600"/>
            <a:ext cx="7721600" cy="4343400"/>
          </a:xfrm>
        </p:spPr>
      </p:pic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219200"/>
          </a:xfrm>
        </p:spPr>
        <p:txBody>
          <a:bodyPr>
            <a:normAutofit fontScale="90000"/>
          </a:bodyPr>
          <a:lstStyle/>
          <a:p>
            <a:pPr algn="ctr"/>
            <a:r>
              <a:rPr sz="60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Family Planning</a:t>
            </a:r>
            <a:r>
              <a:rPr sz="4400" smtClean="0">
                <a:solidFill>
                  <a:srgbClr val="7030A0"/>
                </a:solidFill>
              </a:rPr>
              <a:t/>
            </a:r>
            <a:br>
              <a:rPr sz="4400" smtClean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0609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371600"/>
            <a:ext cx="8221132" cy="4624387"/>
          </a:xfrm>
        </p:spPr>
      </p:pic>
    </p:spTree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371600"/>
          </a:xfrm>
        </p:spPr>
        <p:txBody>
          <a:bodyPr>
            <a:normAutofit fontScale="90000"/>
          </a:bodyPr>
          <a:lstStyle/>
          <a:p>
            <a:pPr algn="ctr"/>
            <a:r>
              <a:rPr sz="60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Immunization</a:t>
            </a:r>
            <a:r>
              <a:rPr sz="4400" smtClean="0">
                <a:solidFill>
                  <a:srgbClr val="7030A0"/>
                </a:solidFill>
              </a:rPr>
              <a:t/>
            </a:r>
            <a:br>
              <a:rPr sz="4400" smtClean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3959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371600"/>
          </a:xfrm>
        </p:spPr>
        <p:txBody>
          <a:bodyPr>
            <a:normAutofit fontScale="90000"/>
          </a:bodyPr>
          <a:lstStyle/>
          <a:p>
            <a:pPr algn="ctr"/>
            <a:r>
              <a:rPr smtClean="0">
                <a:solidFill>
                  <a:srgbClr val="3333FF"/>
                </a:solidFill>
              </a:rPr>
              <a:t>Ad-din Sakina Medical College </a:t>
            </a:r>
            <a:r>
              <a:rPr b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3333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Hospital Indoor Service</a:t>
            </a:r>
            <a:endParaRPr lang="en-US" dirty="0">
              <a:solidFill>
                <a:srgbClr val="3333FF"/>
              </a:solidFill>
            </a:endParaRPr>
          </a:p>
        </p:txBody>
      </p:sp>
      <p:pic>
        <p:nvPicPr>
          <p:cNvPr id="4" name="SmartArt Placeholder 3" descr="IMG_6335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1828800"/>
            <a:ext cx="4343400" cy="2895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 descr="IMG_632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24400" y="3048000"/>
            <a:ext cx="4114800" cy="3810000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Operation Theatre</a:t>
            </a:r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4" name="SmartArt Placeholder 3" descr="20171126_095918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861689" y="2057400"/>
            <a:ext cx="7444111" cy="3974942"/>
          </a:xfr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 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Post Operative Ward</a:t>
            </a:r>
            <a:endParaRPr lang="en-US" dirty="0">
              <a:solidFill>
                <a:srgbClr val="3333FF"/>
              </a:solidFill>
            </a:endParaRPr>
          </a:p>
        </p:txBody>
      </p:sp>
      <p:pic>
        <p:nvPicPr>
          <p:cNvPr id="6" name="SmartArt Placeholder 5" descr="20171126_095349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Gyane Ward</a:t>
            </a:r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8" name="SmartArt Placeholder 7" descr="20171126_103048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18519"/>
            <a:ext cx="7773338" cy="905482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gynae and obst Department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2010-2021(Jan-Nov)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5676315"/>
              </p:ext>
            </p:extLst>
          </p:nvPr>
        </p:nvGraphicFramePr>
        <p:xfrm>
          <a:off x="381000" y="1600200"/>
          <a:ext cx="8381998" cy="3835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2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45446">
                  <a:extLst>
                    <a:ext uri="{9D8B030D-6E8A-4147-A177-3AD203B41FA5}">
                      <a16:colId xmlns:a16="http://schemas.microsoft.com/office/drawing/2014/main" xmlns="" val="4124854820"/>
                    </a:ext>
                  </a:extLst>
                </a:gridCol>
                <a:gridCol w="74544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5113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6335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854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6335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2594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51136">
                  <a:extLst>
                    <a:ext uri="{9D8B030D-6E8A-4147-A177-3AD203B41FA5}">
                      <a16:colId xmlns:a16="http://schemas.microsoft.com/office/drawing/2014/main" xmlns="" val="4049830223"/>
                    </a:ext>
                  </a:extLst>
                </a:gridCol>
                <a:gridCol w="751136">
                  <a:extLst>
                    <a:ext uri="{9D8B030D-6E8A-4147-A177-3AD203B41FA5}">
                      <a16:colId xmlns:a16="http://schemas.microsoft.com/office/drawing/2014/main" xmlns="" val="650347862"/>
                    </a:ext>
                  </a:extLst>
                </a:gridCol>
                <a:gridCol w="688542">
                  <a:extLst>
                    <a:ext uri="{9D8B030D-6E8A-4147-A177-3AD203B41FA5}">
                      <a16:colId xmlns:a16="http://schemas.microsoft.com/office/drawing/2014/main" xmlns="" val="1271222547"/>
                    </a:ext>
                  </a:extLst>
                </a:gridCol>
                <a:gridCol w="813731">
                  <a:extLst>
                    <a:ext uri="{9D8B030D-6E8A-4147-A177-3AD203B41FA5}">
                      <a16:colId xmlns:a16="http://schemas.microsoft.com/office/drawing/2014/main" xmlns="" val="1886636786"/>
                    </a:ext>
                  </a:extLst>
                </a:gridCol>
              </a:tblGrid>
              <a:tr h="3599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  <a:p>
                      <a:pPr algn="ctr"/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IPD Patients 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</a:t>
                      </a:r>
                    </a:p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OPD Patients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Gynae Patients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ANC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PNC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C/S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Delivery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Delivery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DE&amp;C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Gynae OT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xmlns="" val="1449347824"/>
                  </a:ext>
                </a:extLst>
              </a:tr>
              <a:tr h="35999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5408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55710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7802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28161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6765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3516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2715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3292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999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7807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84682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8105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25249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6460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3860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2879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1876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10182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95187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9779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25325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5992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3376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3446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4062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1876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10783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98637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9362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24117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6217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3412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3336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4162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1876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8565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75003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6749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21673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5697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3315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3213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654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3867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xmlns="" val="455660112"/>
                  </a:ext>
                </a:extLst>
              </a:tr>
              <a:tr h="61876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(Jan-Nov)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7636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64332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7180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15641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5534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2621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3051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xmlns="" val="3493164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9585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Annual Trend of ANC Services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5791292"/>
              </p:ext>
            </p:extLst>
          </p:nvPr>
        </p:nvGraphicFramePr>
        <p:xfrm>
          <a:off x="457200" y="1935163"/>
          <a:ext cx="8686800" cy="438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4803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b="1" dirty="0" smtClean="0">
                <a:ln w="17780" cmpd="sng">
                  <a:solidFill>
                    <a:schemeClr val="tx2"/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Comparison between NVD and CS</a:t>
            </a:r>
            <a:endParaRPr lang="en-US" sz="4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5698438"/>
              </p:ext>
            </p:extLst>
          </p:nvPr>
        </p:nvGraphicFramePr>
        <p:xfrm>
          <a:off x="457200" y="1935163"/>
          <a:ext cx="8229600" cy="438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00573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-10510" y="0"/>
            <a:ext cx="9144000" cy="74754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400" b="1" dirty="0" smtClean="0">
                <a:solidFill>
                  <a:schemeClr val="tx1"/>
                </a:solidFill>
                <a:ea typeface="Calibri"/>
                <a:cs typeface="Vrinda"/>
              </a:rPr>
              <a:t>Best Performing </a:t>
            </a:r>
            <a:r>
              <a:rPr lang="en-US" sz="2400" b="1" dirty="0" err="1" smtClean="0">
                <a:solidFill>
                  <a:schemeClr val="tx1"/>
                </a:solidFill>
                <a:ea typeface="Calibri"/>
                <a:cs typeface="Vrinda"/>
              </a:rPr>
              <a:t>EmOC</a:t>
            </a:r>
            <a:r>
              <a:rPr lang="en-US" sz="2400" b="1" dirty="0" smtClean="0">
                <a:solidFill>
                  <a:schemeClr val="tx1"/>
                </a:solidFill>
                <a:ea typeface="Calibri"/>
                <a:cs typeface="Vrinda"/>
              </a:rPr>
              <a:t> MC Hospital in Khulna Division -2020</a:t>
            </a:r>
            <a:endParaRPr lang="en-US" sz="2400" dirty="0">
              <a:solidFill>
                <a:schemeClr val="tx1"/>
              </a:solidFill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9312026"/>
              </p:ext>
            </p:extLst>
          </p:nvPr>
        </p:nvGraphicFramePr>
        <p:xfrm>
          <a:off x="0" y="990600"/>
          <a:ext cx="9144000" cy="586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796159"/>
            <a:ext cx="9144000" cy="381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C-Section</a:t>
            </a:r>
            <a:r>
              <a:rPr lang="en-US" b="1" dirty="0" smtClean="0">
                <a:solidFill>
                  <a:srgbClr val="0070C0"/>
                </a:solidFill>
              </a:rPr>
              <a:t>,</a:t>
            </a:r>
            <a:r>
              <a:rPr lang="en-US" b="1" dirty="0" smtClean="0"/>
              <a:t>  </a:t>
            </a:r>
            <a:r>
              <a:rPr lang="en-US" b="1" dirty="0" smtClean="0">
                <a:solidFill>
                  <a:srgbClr val="0070C0"/>
                </a:solidFill>
              </a:rPr>
              <a:t>NVD</a:t>
            </a:r>
            <a:r>
              <a:rPr lang="en-US" b="1" dirty="0" smtClean="0"/>
              <a:t>,  </a:t>
            </a:r>
            <a:r>
              <a:rPr lang="en-US" b="1" dirty="0" smtClean="0">
                <a:solidFill>
                  <a:srgbClr val="00B050"/>
                </a:solidFill>
              </a:rPr>
              <a:t>Total Delivery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344491"/>
      </p:ext>
    </p:extLst>
  </p:cSld>
  <p:clrMapOvr>
    <a:masterClrMapping/>
  </p:clrMapOvr>
  <p:transition spd="slow" advClick="0">
    <p:circl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2B03B1-1ECB-4039-80D0-73C81EC9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1" y="161317"/>
            <a:ext cx="7773338" cy="600683"/>
          </a:xfrm>
        </p:spPr>
        <p:txBody>
          <a:bodyPr>
            <a:normAutofit/>
          </a:bodyPr>
          <a:lstStyle/>
          <a:p>
            <a:r>
              <a:rPr lang="en-US" sz="2400" dirty="0"/>
              <a:t>Types of obst patients admitted in </a:t>
            </a:r>
            <a:r>
              <a:rPr lang="en-US" sz="2400" dirty="0" err="1"/>
              <a:t>obs</a:t>
            </a:r>
            <a:r>
              <a:rPr lang="en-US" sz="2400" dirty="0"/>
              <a:t> ward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xmlns="" id="{DD233B23-040F-4F57-A19A-8C084C917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08395"/>
              </p:ext>
            </p:extLst>
          </p:nvPr>
        </p:nvGraphicFramePr>
        <p:xfrm>
          <a:off x="228600" y="1114886"/>
          <a:ext cx="8646458" cy="5209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7700">
                  <a:extLst>
                    <a:ext uri="{9D8B030D-6E8A-4147-A177-3AD203B41FA5}">
                      <a16:colId xmlns:a16="http://schemas.microsoft.com/office/drawing/2014/main" xmlns="" val="2120689179"/>
                    </a:ext>
                  </a:extLst>
                </a:gridCol>
                <a:gridCol w="4488758">
                  <a:extLst>
                    <a:ext uri="{9D8B030D-6E8A-4147-A177-3AD203B41FA5}">
                      <a16:colId xmlns:a16="http://schemas.microsoft.com/office/drawing/2014/main" xmlns="" val="2650224956"/>
                    </a:ext>
                  </a:extLst>
                </a:gridCol>
              </a:tblGrid>
              <a:tr h="304517">
                <a:tc>
                  <a:txBody>
                    <a:bodyPr/>
                    <a:lstStyle/>
                    <a:p>
                      <a:pPr algn="ctr"/>
                      <a:r>
                        <a:rPr lang="en-GB" sz="1400" i="1" dirty="0"/>
                        <a:t>Title </a:t>
                      </a:r>
                      <a:endParaRPr lang="en-US" sz="14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598424631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Previous C/S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 smtClean="0"/>
                        <a:t>580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2079959289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Lower abdominal pain 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581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3156433760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Less </a:t>
                      </a:r>
                      <a:r>
                        <a:rPr lang="en-GB" sz="1400" b="1" dirty="0" err="1"/>
                        <a:t>fetal</a:t>
                      </a:r>
                      <a:r>
                        <a:rPr lang="en-GB" sz="1400" b="1" dirty="0"/>
                        <a:t> movement 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454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56958223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PROM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330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268353359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UTI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424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3406352904"/>
                  </a:ext>
                </a:extLst>
              </a:tr>
              <a:tr h="337438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Ante </a:t>
                      </a:r>
                      <a:r>
                        <a:rPr lang="en-GB" sz="1400" b="1" dirty="0" err="1"/>
                        <a:t>partam</a:t>
                      </a:r>
                      <a:r>
                        <a:rPr lang="en-GB" sz="1400" b="1" dirty="0"/>
                        <a:t> haemorrhage 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157</a:t>
                      </a:r>
                      <a:endParaRPr lang="en-US" sz="16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840862655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</a:t>
                      </a:r>
                      <a:r>
                        <a:rPr lang="en-GB" sz="1400" b="1" dirty="0" err="1"/>
                        <a:t>Anemia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943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3427890374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Post Dated Pregnancy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58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2990981605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PIH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349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3630253068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True labour pain 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632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353043260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Hyper  Emesis </a:t>
                      </a:r>
                      <a:r>
                        <a:rPr lang="en-GB" sz="1400" b="1" dirty="0" err="1"/>
                        <a:t>graviderum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208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3917189496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Oligohydramnios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512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2831623455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PUO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87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915393996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IUD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 smtClean="0"/>
                        <a:t>14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603598819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Big baby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58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241751353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Breach 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34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486694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6889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48158C-A028-3846-8DCE-B8BD3394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95631"/>
            <a:ext cx="7886700" cy="788486"/>
          </a:xfrm>
        </p:spPr>
        <p:txBody>
          <a:bodyPr>
            <a:normAutofit/>
          </a:bodyPr>
          <a:lstStyle/>
          <a:p>
            <a:r>
              <a:rPr lang="en-GB" sz="2700" b="1" i="1" dirty="0"/>
              <a:t>Gynae operation list(Jan-Nov-2021)</a:t>
            </a:r>
            <a:endParaRPr lang="en-US" sz="2700" b="1" i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4A3BFD50-EA91-1046-A578-2E582DC950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1030982"/>
              </p:ext>
            </p:extLst>
          </p:nvPr>
        </p:nvGraphicFramePr>
        <p:xfrm>
          <a:off x="628649" y="1884116"/>
          <a:ext cx="8173062" cy="417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6531">
                  <a:extLst>
                    <a:ext uri="{9D8B030D-6E8A-4147-A177-3AD203B41FA5}">
                      <a16:colId xmlns:a16="http://schemas.microsoft.com/office/drawing/2014/main" xmlns="" val="2194349053"/>
                    </a:ext>
                  </a:extLst>
                </a:gridCol>
                <a:gridCol w="4086531">
                  <a:extLst>
                    <a:ext uri="{9D8B030D-6E8A-4147-A177-3AD203B41FA5}">
                      <a16:colId xmlns:a16="http://schemas.microsoft.com/office/drawing/2014/main" xmlns="" val="210114044"/>
                    </a:ext>
                  </a:extLst>
                </a:gridCol>
              </a:tblGrid>
              <a:tr h="417674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2087595842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Total abdominal hysterectomy 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30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903094791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Sub total abdominal hysterectomy 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2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2868143214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Vaginal hysterectomy 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3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326480579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Laparotomy 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13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2857047345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Ovarian cystectomy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6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3368930999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Perineal tear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27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360663385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Biopsy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2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2813067842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Bartholin cyst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2</a:t>
                      </a:r>
                      <a:endParaRPr lang="en-US" sz="18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3250895352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US" sz="1800" b="1" dirty="0"/>
                        <a:t>Total =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85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32797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5333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24 Hours Pharmacy</a:t>
            </a:r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4" name="Content Placeholder 3" descr="20171126_100228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70278" y="1935163"/>
            <a:ext cx="7803444" cy="4389437"/>
          </a:xfrm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3"/>
          <p:cNvSpPr txBox="1">
            <a:spLocks noChangeArrowheads="1"/>
          </p:cNvSpPr>
          <p:nvPr/>
        </p:nvSpPr>
        <p:spPr bwMode="auto">
          <a:xfrm>
            <a:off x="1336675" y="184150"/>
            <a:ext cx="59086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0070C0"/>
                </a:solidFill>
              </a:rPr>
              <a:t>Community Health Services</a:t>
            </a:r>
          </a:p>
        </p:txBody>
      </p:sp>
      <p:sp>
        <p:nvSpPr>
          <p:cNvPr id="25603" name="Text Box 6"/>
          <p:cNvSpPr txBox="1">
            <a:spLocks noChangeArrowheads="1"/>
          </p:cNvSpPr>
          <p:nvPr/>
        </p:nvSpPr>
        <p:spPr bwMode="auto">
          <a:xfrm>
            <a:off x="3733800" y="876300"/>
            <a:ext cx="46482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00050" indent="-400050" algn="ctr" eaLnBrk="1" hangingPunct="1">
              <a:lnSpc>
                <a:spcPct val="120000"/>
              </a:lnSpc>
              <a:spcBef>
                <a:spcPct val="50000"/>
              </a:spcBef>
              <a:buFont typeface="Candid" pitchFamily="18" charset="2"/>
              <a:buNone/>
            </a:pPr>
            <a:r>
              <a:rPr lang="en-US" altLang="en-US" sz="2400"/>
              <a:t>Working Area: 14 Districts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2275" y="1752600"/>
          <a:ext cx="3165475" cy="4398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348"/>
                <a:gridCol w="844127"/>
              </a:tblGrid>
              <a:tr h="701098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+mj-lt"/>
                        </a:rPr>
                        <a:t>Community Midwife</a:t>
                      </a:r>
                      <a:endParaRPr 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4405" marR="84405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+mj-lt"/>
                        </a:rPr>
                        <a:t>98</a:t>
                      </a:r>
                    </a:p>
                  </a:txBody>
                  <a:tcPr marL="84405" marR="84405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36650">
                <a:tc>
                  <a:txBody>
                    <a:bodyPr/>
                    <a:lstStyle/>
                    <a:p>
                      <a:r>
                        <a:rPr lang="en-US" sz="2000" baseline="0" dirty="0">
                          <a:latin typeface="+mj-lt"/>
                        </a:rPr>
                        <a:t>Satellite clinic held 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2156</a:t>
                      </a:r>
                    </a:p>
                  </a:txBody>
                  <a:tcPr marL="84405" marR="84405" marT="45725" marB="45725" anchor="ctr"/>
                </a:tc>
              </a:tr>
              <a:tr h="4310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Average ANC  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20000</a:t>
                      </a:r>
                    </a:p>
                  </a:txBody>
                  <a:tcPr marL="84405" marR="84405" marT="45725" marB="45725" anchor="ctr"/>
                </a:tc>
              </a:tr>
              <a:tr h="50617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Average PNC 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latin typeface="+mj-lt"/>
                        </a:rPr>
                        <a:t>3300</a:t>
                      </a:r>
                    </a:p>
                  </a:txBody>
                  <a:tcPr marL="84405" marR="84405" marT="45725" marB="45725" anchor="ctr"/>
                </a:tc>
              </a:tr>
              <a:tr h="44832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Pathological Test </a:t>
                      </a: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26000</a:t>
                      </a:r>
                    </a:p>
                  </a:txBody>
                  <a:tcPr marL="84405" marR="84405" marT="45725" marB="45725" anchor="ctr"/>
                </a:tc>
              </a:tr>
              <a:tr h="52653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+mj-lt"/>
                        </a:rPr>
                        <a:t>General Patient</a:t>
                      </a:r>
                      <a:r>
                        <a:rPr lang="en-US" sz="2000" baseline="0" dirty="0">
                          <a:latin typeface="+mj-lt"/>
                        </a:rPr>
                        <a:t> 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19500</a:t>
                      </a:r>
                    </a:p>
                  </a:txBody>
                  <a:tcPr marL="84405" marR="84405" marT="45725" marB="45725" anchor="ctr"/>
                </a:tc>
              </a:tr>
              <a:tr h="701098">
                <a:tc>
                  <a:txBody>
                    <a:bodyPr/>
                    <a:lstStyle/>
                    <a:p>
                      <a:pPr algn="l"/>
                      <a:r>
                        <a:rPr lang="en-US" sz="2000" baseline="0" dirty="0">
                          <a:latin typeface="+mj-lt"/>
                        </a:rPr>
                        <a:t>Average Growth Monitoring  (0-3 Yrs) 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12300</a:t>
                      </a:r>
                    </a:p>
                  </a:txBody>
                  <a:tcPr marL="84405" marR="84405" marT="45725" marB="45725" anchor="ctr"/>
                </a:tc>
              </a:tr>
              <a:tr h="648009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+mj-lt"/>
                        </a:rPr>
                        <a:t>Refer</a:t>
                      </a:r>
                      <a:r>
                        <a:rPr lang="en-US" sz="2000" baseline="0" dirty="0">
                          <a:latin typeface="+mj-lt"/>
                        </a:rPr>
                        <a:t> to Hospital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2500</a:t>
                      </a:r>
                    </a:p>
                  </a:txBody>
                  <a:tcPr marL="84405" marR="84405" marT="45725" marB="45725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 bwMode="auto">
          <a:xfrm>
            <a:off x="422275" y="1066800"/>
            <a:ext cx="3165475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dirty="0">
                <a:solidFill>
                  <a:schemeClr val="bg1"/>
                </a:solidFill>
              </a:rPr>
              <a:t>Monthly Performance</a:t>
            </a:r>
          </a:p>
        </p:txBody>
      </p:sp>
      <p:pic>
        <p:nvPicPr>
          <p:cNvPr id="2563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7600" y="1676400"/>
            <a:ext cx="5332413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3692525" y="5791200"/>
            <a:ext cx="3241675" cy="360363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defRPr/>
            </a:pPr>
            <a:r>
              <a:rPr lang="en-US" kern="0" dirty="0">
                <a:solidFill>
                  <a:schemeClr val="accent6">
                    <a:lumMod val="50000"/>
                  </a:schemeClr>
                </a:solidFill>
                <a:cs typeface="SutonnyMJ" pitchFamily="2" charset="0"/>
              </a:rPr>
              <a:t>Picture of</a:t>
            </a:r>
            <a:r>
              <a:rPr lang="en-US" kern="0" dirty="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SutonnyMJ" pitchFamily="2" charset="0"/>
              </a:rPr>
              <a:t> Satellite Clinic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638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524000" y="609600"/>
            <a:ext cx="5715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sz="2400" b="1" dirty="0"/>
              <a:t>Community Base Ambulance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752600"/>
            <a:ext cx="3581400" cy="27384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>
                <a:solidFill>
                  <a:srgbClr val="0000CC"/>
                </a:solidFill>
              </a:rPr>
              <a:t>12 Ambulance are serving in different area in community.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b="1" u="sng" dirty="0">
                <a:solidFill>
                  <a:schemeClr val="accent6">
                    <a:lumMod val="50000"/>
                  </a:schemeClr>
                </a:solidFill>
              </a:rPr>
              <a:t>Specialty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000" dirty="0"/>
              <a:t> Very low cost service (Less than 50% of market Price)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000" dirty="0"/>
              <a:t> Full free at 8.00pm to 6.00am for Pregnant Mother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000" dirty="0"/>
              <a:t> Easy &amp; Quick</a:t>
            </a:r>
          </a:p>
        </p:txBody>
      </p:sp>
      <p:pic>
        <p:nvPicPr>
          <p:cNvPr id="3072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4800" y="1524000"/>
            <a:ext cx="4887913" cy="397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727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sz="49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24</a:t>
            </a:r>
            <a:r>
              <a:rPr sz="49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Hour Ambulance Service</a:t>
            </a:r>
            <a:r>
              <a:rPr sz="4400" smtClean="0">
                <a:solidFill>
                  <a:srgbClr val="FF0000"/>
                </a:solidFill>
              </a:rPr>
              <a:t/>
            </a:r>
            <a:br>
              <a:rPr sz="4400" smtClean="0">
                <a:solidFill>
                  <a:srgbClr val="FF0000"/>
                </a:solidFill>
              </a:rPr>
            </a:br>
            <a:endParaRPr lang="en-US" dirty="0"/>
          </a:p>
        </p:txBody>
      </p:sp>
      <p:pic>
        <p:nvPicPr>
          <p:cNvPr id="5" name="SmartArt Placeholder 4" descr="20171126_160855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  <p:extLst>
      <p:ext uri="{BB962C8B-B14F-4D97-AF65-F5344CB8AC3E}">
        <p14:creationId xmlns:p14="http://schemas.microsoft.com/office/powerpoint/2010/main" val="2820295957"/>
      </p:ext>
    </p:extLst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 noChangeArrowheads="1"/>
          </p:cNvSpPr>
          <p:nvPr/>
        </p:nvSpPr>
        <p:spPr bwMode="auto">
          <a:xfrm>
            <a:off x="2813050" y="533400"/>
            <a:ext cx="3235325" cy="609600"/>
          </a:xfrm>
          <a:prstGeom prst="rect">
            <a:avLst/>
          </a:prstGeom>
          <a:solidFill>
            <a:srgbClr val="FFCC66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altLang="en-US"/>
              <a:t>Fistula Care Project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52425" y="2209800"/>
          <a:ext cx="3235325" cy="1738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5325"/>
              </a:tblGrid>
              <a:tr h="6402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Awareness Development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Training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92" marR="84392" marT="45756" marB="457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60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Patient</a:t>
                      </a:r>
                      <a:r>
                        <a:rPr lang="en-US" sz="18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Screening  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92" marR="84392" marT="45756" marB="457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6009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Treatment</a:t>
                      </a:r>
                      <a:r>
                        <a:rPr lang="en-US" sz="1800" baseline="0" dirty="0">
                          <a:latin typeface="+mj-lt"/>
                        </a:rPr>
                        <a:t> 223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392" marR="84392" marT="45756" marB="45756" anchor="ctr"/>
                </a:tc>
              </a:tr>
              <a:tr h="366009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Rehabilitation</a:t>
                      </a:r>
                      <a:r>
                        <a:rPr lang="en-US" sz="1800" baseline="0" dirty="0">
                          <a:latin typeface="+mj-lt"/>
                        </a:rPr>
                        <a:t> 61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392" marR="84392" marT="45756" marB="45756" anchor="ctr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 bwMode="auto">
          <a:xfrm>
            <a:off x="422275" y="4648200"/>
            <a:ext cx="3094038" cy="685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en-US" sz="2000" dirty="0"/>
              <a:t>All Services are free of cost</a:t>
            </a:r>
          </a:p>
        </p:txBody>
      </p:sp>
      <p:pic>
        <p:nvPicPr>
          <p:cNvPr id="34832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68738" y="2057400"/>
            <a:ext cx="495935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835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28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Doctor's &amp; Manager's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of</a:t>
            </a:r>
            <a:r>
              <a:rPr sz="28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Ad-din Sakina Medical College Hospital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4" name="Chart Placeholder 3" descr="IMG_4043.JPG"/>
          <p:cNvPicPr>
            <a:picLocks noGrp="1" noChangeAspect="1"/>
          </p:cNvPicPr>
          <p:nvPr>
            <p:ph type="chart" idx="1"/>
          </p:nvPr>
        </p:nvPicPr>
        <p:blipFill>
          <a:blip r:embed="rId2" cstate="print"/>
          <a:stretch>
            <a:fillRect/>
          </a:stretch>
        </p:blipFill>
        <p:spPr>
          <a:xfrm>
            <a:off x="990600" y="2209800"/>
            <a:ext cx="6934200" cy="4622800"/>
          </a:xfrm>
        </p:spPr>
      </p:pic>
    </p:spTree>
  </p:cSld>
  <p:clrMapOvr>
    <a:masterClrMapping/>
  </p:clrMapOvr>
  <p:transition spd="slow">
    <p:wheel spokes="3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Thank You All</a:t>
            </a:r>
            <a:endParaRPr lang="en-US" dirty="0"/>
          </a:p>
        </p:txBody>
      </p:sp>
      <p:pic>
        <p:nvPicPr>
          <p:cNvPr id="4" name="Chart Placeholder 3" descr="42035063772_33e27d5616_b.jpg"/>
          <p:cNvPicPr>
            <a:picLocks noGrp="1" noChangeAspect="1"/>
          </p:cNvPicPr>
          <p:nvPr>
            <p:ph type="chart" idx="1"/>
          </p:nvPr>
        </p:nvPicPr>
        <p:blipFill>
          <a:blip r:embed="rId2"/>
          <a:stretch>
            <a:fillRect/>
          </a:stretch>
        </p:blipFill>
        <p:spPr>
          <a:xfrm>
            <a:off x="1487406" y="1981200"/>
            <a:ext cx="6169188" cy="4114800"/>
          </a:xfrm>
        </p:spPr>
      </p:pic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1700</TotalTime>
  <Words>781</Words>
  <Application>Microsoft Office PowerPoint</Application>
  <PresentationFormat>On-screen Show (4:3)</PresentationFormat>
  <Paragraphs>280</Paragraphs>
  <Slides>31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Flow</vt:lpstr>
      <vt:lpstr>Photo Editor Photo</vt:lpstr>
      <vt:lpstr>Image</vt:lpstr>
      <vt:lpstr>Ad-din Sakina Women’s Medical College Hospital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Academic activities Under graduate level</vt:lpstr>
      <vt:lpstr>Organogram of Gyne&amp;Obs Department 0f  Ad-din Sakina Medical College Hospital </vt:lpstr>
      <vt:lpstr>PowerPoint Presentation</vt:lpstr>
      <vt:lpstr>Card Registration </vt:lpstr>
      <vt:lpstr>Business Counter  </vt:lpstr>
      <vt:lpstr>Antenatal Care </vt:lpstr>
      <vt:lpstr>Family Planning </vt:lpstr>
      <vt:lpstr>Immunization </vt:lpstr>
      <vt:lpstr>Ad-din Sakina Medical College Hospital Indoor Service</vt:lpstr>
      <vt:lpstr>Operation Theatre</vt:lpstr>
      <vt:lpstr> Post Operative Ward</vt:lpstr>
      <vt:lpstr>Gyane Ward</vt:lpstr>
      <vt:lpstr>Performance of gynae and obst Department from 2010-2021(Jan-Nov)</vt:lpstr>
      <vt:lpstr>Annual Trend of ANC Services</vt:lpstr>
      <vt:lpstr>Comparison between NVD and CS</vt:lpstr>
      <vt:lpstr>Best Performing EmOC MC Hospital in Khulna Division -2020</vt:lpstr>
      <vt:lpstr>Types of obst patients admitted in obs ward</vt:lpstr>
      <vt:lpstr>Gynae operation list(Jan-Nov-2021)</vt:lpstr>
      <vt:lpstr>24 Hours Pharmacy</vt:lpstr>
      <vt:lpstr>PowerPoint Presentation</vt:lpstr>
      <vt:lpstr>PowerPoint Presentation</vt:lpstr>
      <vt:lpstr>24 Hour Ambulance Service </vt:lpstr>
      <vt:lpstr>PowerPoint Presentation</vt:lpstr>
      <vt:lpstr>Doctor's &amp; Manager's of Ad-din Sakina Medical College Hospital</vt:lpstr>
      <vt:lpstr>Thank You All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Ad-din Sakina Medical College Hospital</dc:title>
  <dc:creator>user</dc:creator>
  <cp:lastModifiedBy>Emdad</cp:lastModifiedBy>
  <cp:revision>282</cp:revision>
  <dcterms:created xsi:type="dcterms:W3CDTF">2017-11-25T07:55:21Z</dcterms:created>
  <dcterms:modified xsi:type="dcterms:W3CDTF">2021-12-10T05:33:26Z</dcterms:modified>
</cp:coreProperties>
</file>