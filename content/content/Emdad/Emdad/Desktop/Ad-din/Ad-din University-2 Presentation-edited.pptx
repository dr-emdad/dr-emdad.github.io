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427" r:id="rId3"/>
    <p:sldId id="428" r:id="rId4"/>
    <p:sldId id="301" r:id="rId5"/>
    <p:sldId id="418" r:id="rId6"/>
    <p:sldId id="434" r:id="rId7"/>
    <p:sldId id="424" r:id="rId8"/>
    <p:sldId id="435" r:id="rId9"/>
    <p:sldId id="437" r:id="rId10"/>
    <p:sldId id="438" r:id="rId11"/>
    <p:sldId id="440" r:id="rId12"/>
    <p:sldId id="441" r:id="rId13"/>
    <p:sldId id="265" r:id="rId14"/>
    <p:sldId id="305" r:id="rId15"/>
    <p:sldId id="304" r:id="rId16"/>
    <p:sldId id="442" r:id="rId17"/>
    <p:sldId id="369" r:id="rId18"/>
    <p:sldId id="319" r:id="rId19"/>
    <p:sldId id="320" r:id="rId20"/>
    <p:sldId id="321" r:id="rId21"/>
    <p:sldId id="322" r:id="rId22"/>
    <p:sldId id="323" r:id="rId23"/>
    <p:sldId id="355" r:id="rId24"/>
    <p:sldId id="381" r:id="rId25"/>
    <p:sldId id="354" r:id="rId26"/>
    <p:sldId id="360" r:id="rId27"/>
    <p:sldId id="447" r:id="rId28"/>
    <p:sldId id="449" r:id="rId29"/>
    <p:sldId id="450" r:id="rId30"/>
    <p:sldId id="448" r:id="rId31"/>
    <p:sldId id="367" r:id="rId32"/>
    <p:sldId id="443" r:id="rId33"/>
    <p:sldId id="444" r:id="rId34"/>
    <p:sldId id="402" r:id="rId35"/>
    <p:sldId id="410" r:id="rId36"/>
    <p:sldId id="315" r:id="rId37"/>
    <p:sldId id="388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5B7FE7-BC81-4846-8973-91448A7F61FB}">
          <p14:sldIdLst>
            <p14:sldId id="256"/>
            <p14:sldId id="427"/>
            <p14:sldId id="428"/>
            <p14:sldId id="301"/>
            <p14:sldId id="418"/>
            <p14:sldId id="434"/>
            <p14:sldId id="424"/>
            <p14:sldId id="435"/>
            <p14:sldId id="437"/>
            <p14:sldId id="438"/>
            <p14:sldId id="440"/>
            <p14:sldId id="441"/>
            <p14:sldId id="265"/>
            <p14:sldId id="305"/>
            <p14:sldId id="304"/>
            <p14:sldId id="442"/>
            <p14:sldId id="369"/>
            <p14:sldId id="319"/>
            <p14:sldId id="320"/>
            <p14:sldId id="321"/>
            <p14:sldId id="322"/>
            <p14:sldId id="323"/>
            <p14:sldId id="355"/>
            <p14:sldId id="381"/>
            <p14:sldId id="354"/>
            <p14:sldId id="360"/>
            <p14:sldId id="447"/>
            <p14:sldId id="449"/>
            <p14:sldId id="450"/>
            <p14:sldId id="448"/>
            <p14:sldId id="367"/>
            <p14:sldId id="443"/>
            <p14:sldId id="444"/>
            <p14:sldId id="402"/>
            <p14:sldId id="410"/>
            <p14:sldId id="315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33C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23286</c:v>
                </c:pt>
                <c:pt idx="1">
                  <c:v>25369</c:v>
                </c:pt>
                <c:pt idx="2">
                  <c:v>26899</c:v>
                </c:pt>
                <c:pt idx="3">
                  <c:v>27894</c:v>
                </c:pt>
                <c:pt idx="4">
                  <c:v>28963</c:v>
                </c:pt>
                <c:pt idx="5">
                  <c:v>26854</c:v>
                </c:pt>
                <c:pt idx="6">
                  <c:v>24857</c:v>
                </c:pt>
                <c:pt idx="7">
                  <c:v>25249</c:v>
                </c:pt>
                <c:pt idx="8">
                  <c:v>23673</c:v>
                </c:pt>
                <c:pt idx="9">
                  <c:v>24074</c:v>
                </c:pt>
                <c:pt idx="10">
                  <c:v>25325</c:v>
                </c:pt>
                <c:pt idx="11">
                  <c:v>24117</c:v>
                </c:pt>
                <c:pt idx="12">
                  <c:v>21663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EB-451D-B6EB-766BECDBDC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extLst>
            <c:ext xmlns:c16="http://schemas.microsoft.com/office/drawing/2014/chart" uri="{C3380CC4-5D6E-409C-BE32-E72D297353CC}">
              <c16:uniqueId val="{00000001-7EEB-451D-B6EB-766BECDBDC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Sheet1!$D$2:$D$14</c:f>
              <c:numCache>
                <c:formatCode>General</c:formatCode>
                <c:ptCount val="13"/>
              </c:numCache>
            </c:numRef>
          </c:val>
          <c:extLst>
            <c:ext xmlns:c16="http://schemas.microsoft.com/office/drawing/2014/chart" uri="{C3380CC4-5D6E-409C-BE32-E72D297353CC}">
              <c16:uniqueId val="{00000002-7EEB-451D-B6EB-766BECDBDC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129000192"/>
        <c:axId val="129002112"/>
        <c:axId val="0"/>
      </c:bar3DChart>
      <c:catAx>
        <c:axId val="129000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129002112"/>
        <c:crosses val="autoZero"/>
        <c:auto val="1"/>
        <c:lblAlgn val="ctr"/>
        <c:lblOffset val="100"/>
        <c:noMultiLvlLbl val="0"/>
      </c:catAx>
      <c:valAx>
        <c:axId val="129002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0001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9"/>
    </mc:Choice>
    <mc:Fallback>
      <c:style val="29"/>
    </mc:Fallback>
  </mc:AlternateContent>
  <c:chart>
    <c:title>
      <c:overlay val="0"/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</c:v>
                </c:pt>
              </c:strCache>
            </c:strRef>
          </c:tx>
          <c:spPr>
            <a:ln>
              <a:solidFill>
                <a:schemeClr val="accent5"/>
              </a:solidFill>
            </a:ln>
          </c:spPr>
          <c:marker>
            <c:spPr>
              <a:solidFill>
                <a:schemeClr val="accent5">
                  <a:lumMod val="50000"/>
                </a:schemeClr>
              </a:solidFill>
            </c:spPr>
          </c:marker>
          <c:dLbls>
            <c:dLbl>
              <c:idx val="0"/>
              <c:layout>
                <c:manualLayout>
                  <c:x val="-1.4145927120022215E-17"/>
                  <c:y val="-4.6292952831991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D76-4DC7-B853-9654EFAF3521}"/>
                </c:ext>
              </c:extLst>
            </c:dLbl>
            <c:dLbl>
              <c:idx val="1"/>
              <c:layout>
                <c:manualLayout>
                  <c:x val="3.0864197530864196E-3"/>
                  <c:y val="6.07595005919893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D76-4DC7-B853-9654EFAF3521}"/>
                </c:ext>
              </c:extLst>
            </c:dLbl>
            <c:dLbl>
              <c:idx val="2"/>
              <c:layout>
                <c:manualLayout>
                  <c:x val="2.829185424004443E-17"/>
                  <c:y val="-4.6292952831991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D76-4DC7-B853-9654EFAF3521}"/>
                </c:ext>
              </c:extLst>
            </c:dLbl>
            <c:dLbl>
              <c:idx val="3"/>
              <c:layout>
                <c:manualLayout>
                  <c:x val="3.0864197530864196E-3"/>
                  <c:y val="6.94394292479877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4D76-4DC7-B853-9654EFAF3521}"/>
                </c:ext>
              </c:extLst>
            </c:dLbl>
            <c:dLbl>
              <c:idx val="4"/>
              <c:layout>
                <c:manualLayout>
                  <c:x val="7.7160493827159926E-3"/>
                  <c:y val="-4.6292952831991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D76-4DC7-B853-9654EFAF3521}"/>
                </c:ext>
              </c:extLst>
            </c:dLbl>
            <c:dLbl>
              <c:idx val="5"/>
              <c:layout>
                <c:manualLayout>
                  <c:x val="3.0864197530864196E-3"/>
                  <c:y val="4.33996432799922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4D76-4DC7-B853-9654EFAF3521}"/>
                </c:ext>
              </c:extLst>
            </c:dLbl>
            <c:dLbl>
              <c:idx val="7"/>
              <c:layout>
                <c:manualLayout>
                  <c:x val="3.0864197530864196E-3"/>
                  <c:y val="4.33996432799923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D76-4DC7-B853-9654EFAF3521}"/>
                </c:ext>
              </c:extLst>
            </c:dLbl>
            <c:dLbl>
              <c:idx val="8"/>
              <c:layout>
                <c:manualLayout>
                  <c:x val="-9.2592592592592587E-3"/>
                  <c:y val="-6.07595005919894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4D76-4DC7-B853-9654EFAF3521}"/>
                </c:ext>
              </c:extLst>
            </c:dLbl>
            <c:dLbl>
              <c:idx val="9"/>
              <c:layout>
                <c:manualLayout>
                  <c:x val="3.0864197530864196E-3"/>
                  <c:y val="6.36528101439887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D76-4DC7-B853-9654EFAF35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1536</c:v>
                </c:pt>
                <c:pt idx="1">
                  <c:v>1752</c:v>
                </c:pt>
                <c:pt idx="2">
                  <c:v>1698</c:v>
                </c:pt>
                <c:pt idx="3">
                  <c:v>1509</c:v>
                </c:pt>
                <c:pt idx="4">
                  <c:v>1365</c:v>
                </c:pt>
                <c:pt idx="5">
                  <c:v>1258</c:v>
                </c:pt>
                <c:pt idx="6">
                  <c:v>1385</c:v>
                </c:pt>
                <c:pt idx="7">
                  <c:v>634</c:v>
                </c:pt>
                <c:pt idx="8">
                  <c:v>616</c:v>
                </c:pt>
                <c:pt idx="9">
                  <c:v>826</c:v>
                </c:pt>
                <c:pt idx="10">
                  <c:v>654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76-4DC7-B853-9654EFAF35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C-Section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pPr>
              <a:solidFill>
                <a:srgbClr val="FF0000"/>
              </a:solidFill>
            </c:spPr>
          </c:marker>
          <c:dLbls>
            <c:dLbl>
              <c:idx val="0"/>
              <c:layout>
                <c:manualLayout>
                  <c:x val="-1.4145927120022215E-17"/>
                  <c:y val="4.91862623839913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76-4DC7-B853-9654EFAF3521}"/>
                </c:ext>
              </c:extLst>
            </c:dLbl>
            <c:dLbl>
              <c:idx val="1"/>
              <c:layout>
                <c:manualLayout>
                  <c:x val="3.0864197530864196E-3"/>
                  <c:y val="-4.339964327999245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D76-4DC7-B853-9654EFAF3521}"/>
                </c:ext>
              </c:extLst>
            </c:dLbl>
            <c:dLbl>
              <c:idx val="2"/>
              <c:layout>
                <c:manualLayout>
                  <c:x val="2.829185424004443E-17"/>
                  <c:y val="7.52260483519868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76-4DC7-B853-9654EFAF3521}"/>
                </c:ext>
              </c:extLst>
            </c:dLbl>
            <c:dLbl>
              <c:idx val="3"/>
              <c:layout>
                <c:manualLayout>
                  <c:x val="-4.6296296296296866E-3"/>
                  <c:y val="-5.78661910399898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814814814814811E-2"/>
                      <c:h val="0.1206510083183788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4D76-4DC7-B853-9654EFAF3521}"/>
                </c:ext>
              </c:extLst>
            </c:dLbl>
            <c:dLbl>
              <c:idx val="4"/>
              <c:layout>
                <c:manualLayout>
                  <c:x val="7.7160493827159926E-3"/>
                  <c:y val="5.78661910399898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76-4DC7-B853-9654EFAF3521}"/>
                </c:ext>
              </c:extLst>
            </c:dLbl>
            <c:dLbl>
              <c:idx val="5"/>
              <c:layout>
                <c:manualLayout>
                  <c:x val="-2.7777777777777776E-2"/>
                  <c:y val="-0.1012658343199823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D76-4DC7-B853-9654EFAF3521}"/>
                </c:ext>
              </c:extLst>
            </c:dLbl>
            <c:dLbl>
              <c:idx val="6"/>
              <c:layout>
                <c:manualLayout>
                  <c:x val="-9.2592592592592587E-3"/>
                  <c:y val="0.1244123107359782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76-4DC7-B853-9654EFAF3521}"/>
                </c:ext>
              </c:extLst>
            </c:dLbl>
            <c:dLbl>
              <c:idx val="7"/>
              <c:layout>
                <c:manualLayout>
                  <c:x val="-4.6296296296296294E-3"/>
                  <c:y val="-6.94394292479878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76-4DC7-B853-9654EFAF3521}"/>
                </c:ext>
              </c:extLst>
            </c:dLbl>
            <c:dLbl>
              <c:idx val="8"/>
              <c:layout>
                <c:manualLayout>
                  <c:x val="0"/>
                  <c:y val="4.62929528319918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D76-4DC7-B853-9654EFAF3521}"/>
                </c:ext>
              </c:extLst>
            </c:dLbl>
            <c:dLbl>
              <c:idx val="9"/>
              <c:layout>
                <c:manualLayout>
                  <c:x val="3.0864197530864196E-3"/>
                  <c:y val="-5.786619103998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D76-4DC7-B853-9654EFAF3521}"/>
                </c:ext>
              </c:extLst>
            </c:dLbl>
            <c:dLbl>
              <c:idx val="10"/>
              <c:layout>
                <c:manualLayout>
                  <c:x val="-1.1316741696017772E-16"/>
                  <c:y val="4.91862623839913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D76-4DC7-B853-9654EFAF35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2806</c:v>
                </c:pt>
                <c:pt idx="1">
                  <c:v>2698</c:v>
                </c:pt>
                <c:pt idx="2">
                  <c:v>2587</c:v>
                </c:pt>
                <c:pt idx="3">
                  <c:v>2385</c:v>
                </c:pt>
                <c:pt idx="4">
                  <c:v>2904</c:v>
                </c:pt>
                <c:pt idx="5">
                  <c:v>3120</c:v>
                </c:pt>
                <c:pt idx="6">
                  <c:v>3510</c:v>
                </c:pt>
                <c:pt idx="7">
                  <c:v>3092</c:v>
                </c:pt>
                <c:pt idx="8">
                  <c:v>3392</c:v>
                </c:pt>
                <c:pt idx="9">
                  <c:v>3279</c:v>
                </c:pt>
                <c:pt idx="10">
                  <c:v>3213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76-4DC7-B853-9654EFAF35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8841856"/>
        <c:axId val="218843392"/>
      </c:lineChart>
      <c:catAx>
        <c:axId val="21884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  <c:crossAx val="218843392"/>
        <c:crosses val="autoZero"/>
        <c:auto val="1"/>
        <c:lblAlgn val="ctr"/>
        <c:lblOffset val="100"/>
        <c:noMultiLvlLbl val="0"/>
      </c:catAx>
      <c:valAx>
        <c:axId val="2188433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8841856"/>
        <c:crosses val="autoZero"/>
        <c:crossBetween val="between"/>
      </c:valAx>
    </c:plotArea>
    <c:legend>
      <c:legendPos val="t"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77092069741282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46-44D8-8C8E-BDF1B12F58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1563</c:v>
                </c:pt>
                <c:pt idx="1">
                  <c:v>1431</c:v>
                </c:pt>
                <c:pt idx="2">
                  <c:v>1072</c:v>
                </c:pt>
                <c:pt idx="3">
                  <c:v>3213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46-44D8-8C8E-BDF1B12F58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dLbl>
              <c:idx val="0"/>
              <c:layout>
                <c:manualLayout>
                  <c:x val="-4.6296296296297014E-3"/>
                  <c:y val="-4.97512340362698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46-44D8-8C8E-BDF1B12F583D}"/>
                </c:ext>
              </c:extLst>
            </c:dLbl>
            <c:dLbl>
              <c:idx val="1"/>
              <c:layout>
                <c:manualLayout>
                  <c:x val="4.6296296296297014E-3"/>
                  <c:y val="8.41814384413682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446-44D8-8C8E-BDF1B12F583D}"/>
                </c:ext>
              </c:extLst>
            </c:dLbl>
            <c:dLbl>
              <c:idx val="2"/>
              <c:layout>
                <c:manualLayout>
                  <c:x val="-3.0864197530864729E-3"/>
                  <c:y val="1.0587219299718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446-44D8-8C8E-BDF1B12F583D}"/>
                </c:ext>
              </c:extLst>
            </c:dLbl>
            <c:dLbl>
              <c:idx val="3"/>
              <c:layout>
                <c:manualLayout>
                  <c:x val="-1.6975065616796881E-3"/>
                  <c:y val="-1.60237924804853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446-44D8-8C8E-BDF1B12F583D}"/>
                </c:ext>
              </c:extLst>
            </c:dLbl>
            <c:dLbl>
              <c:idx val="4"/>
              <c:layout>
                <c:manualLayout>
                  <c:x val="-3.0864197530864729E-3"/>
                  <c:y val="2.48756170181351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446-44D8-8C8E-BDF1B12F58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1763</c:v>
                </c:pt>
                <c:pt idx="1">
                  <c:v>1729</c:v>
                </c:pt>
                <c:pt idx="2">
                  <c:v>1254</c:v>
                </c:pt>
                <c:pt idx="3">
                  <c:v>654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446-44D8-8C8E-BDF1B12F58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Delivery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</c:spPr>
          <c:invertIfNegative val="0"/>
          <c:dLbls>
            <c:dLbl>
              <c:idx val="0"/>
              <c:layout>
                <c:manualLayout>
                  <c:x val="-3.086419753086466E-3"/>
                  <c:y val="9.36257967754059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446-44D8-8C8E-BDF1B12F583D}"/>
                </c:ext>
              </c:extLst>
            </c:dLbl>
            <c:dLbl>
              <c:idx val="1"/>
              <c:layout>
                <c:manualLayout>
                  <c:x val="0"/>
                  <c:y val="-3.694975628046539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446-44D8-8C8E-BDF1B12F583D}"/>
                </c:ext>
              </c:extLst>
            </c:dLbl>
            <c:dLbl>
              <c:idx val="2"/>
              <c:layout>
                <c:manualLayout>
                  <c:x val="3.086419753086492E-3"/>
                  <c:y val="-3.086635926983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446-44D8-8C8E-BDF1B12F583D}"/>
                </c:ext>
              </c:extLst>
            </c:dLbl>
            <c:dLbl>
              <c:idx val="3"/>
              <c:layout>
                <c:manualLayout>
                  <c:x val="1.0185067526415994E-16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sz="2000" dirty="0"/>
                      <a:t>3867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E446-44D8-8C8E-BDF1B12F58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3326</c:v>
                </c:pt>
                <c:pt idx="1">
                  <c:v>3160</c:v>
                </c:pt>
                <c:pt idx="2">
                  <c:v>2326</c:v>
                </c:pt>
                <c:pt idx="3">
                  <c:v>3867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446-44D8-8C8E-BDF1B12F58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9344256"/>
        <c:axId val="198968448"/>
      </c:barChart>
      <c:catAx>
        <c:axId val="2193442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8968448"/>
        <c:crosses val="autoZero"/>
        <c:auto val="1"/>
        <c:lblAlgn val="ctr"/>
        <c:lblOffset val="100"/>
        <c:noMultiLvlLbl val="0"/>
      </c:catAx>
      <c:valAx>
        <c:axId val="198968448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193442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0.34259</cdr:x>
      <cdr:y>0.77612</cdr:y>
    </cdr:from>
    <cdr:to>
      <cdr:x>0.34815</cdr:x>
      <cdr:y>0.80597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19400" y="3962400"/>
          <a:ext cx="45719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0.67593</cdr:x>
      <cdr:y>0.9403</cdr:y>
    </cdr:from>
    <cdr:to>
      <cdr:x>0.80556</cdr:x>
      <cdr:y>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562600" y="5029200"/>
          <a:ext cx="1066803" cy="3184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22427-8CFB-4497-A1CC-B7E42A2B11D0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A5922-62E8-415A-B0C4-509C57D119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30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38CAE-D691-4F1B-BFE5-E857D71999D6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412F0-B504-4C90-8F49-F3511EBEC8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2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4E2CD-9B18-4AD9-A90B-073F70C101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F549E-DDB3-4F8E-B3F4-BC7B4533DD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920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9" r:id="rId1"/>
    <p:sldLayoutId id="2147484350" r:id="rId2"/>
    <p:sldLayoutId id="2147484351" r:id="rId3"/>
    <p:sldLayoutId id="2147484352" r:id="rId4"/>
    <p:sldLayoutId id="2147484353" r:id="rId5"/>
    <p:sldLayoutId id="2147484354" r:id="rId6"/>
    <p:sldLayoutId id="2147484355" r:id="rId7"/>
    <p:sldLayoutId id="2147484356" r:id="rId8"/>
    <p:sldLayoutId id="2147484357" r:id="rId9"/>
    <p:sldLayoutId id="2147484358" r:id="rId10"/>
    <p:sldLayoutId id="2147484359" r:id="rId11"/>
    <p:sldLayoutId id="2147484360" r:id="rId12"/>
    <p:sldLayoutId id="2147484362" r:id="rId13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png"/><Relationship Id="rId9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8100"/>
            <a:ext cx="8534400" cy="1371600"/>
          </a:xfrm>
        </p:spPr>
        <p:txBody>
          <a:bodyPr anchor="ctr">
            <a:normAutofit/>
          </a:bodyPr>
          <a:lstStyle/>
          <a:p>
            <a:r>
              <a:rPr sz="3200" dirty="0" err="1"/>
              <a:t>Ad-din</a:t>
            </a:r>
            <a:r>
              <a:rPr sz="3200" dirty="0"/>
              <a:t> </a:t>
            </a:r>
            <a:r>
              <a:rPr sz="3200" dirty="0" err="1"/>
              <a:t>Sakina</a:t>
            </a:r>
            <a:r>
              <a:rPr sz="3200" dirty="0"/>
              <a:t> </a:t>
            </a:r>
            <a:r>
              <a:rPr lang="en-IN" sz="3200" dirty="0"/>
              <a:t>Women’s </a:t>
            </a:r>
            <a:r>
              <a:rPr sz="3200" dirty="0"/>
              <a:t>Medical College Hospital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752600"/>
            <a:ext cx="8305800" cy="3657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IMG_93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600200"/>
            <a:ext cx="8534400" cy="45523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533400" y="212725"/>
            <a:ext cx="4495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00" dirty="0">
                <a:solidFill>
                  <a:srgbClr val="3333FF"/>
                </a:solidFill>
              </a:rPr>
              <a:t>Founder of Ad-din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1069975"/>
            <a:ext cx="5334000" cy="1557349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>
                <a:solidFill>
                  <a:srgbClr val="0000FF"/>
                </a:solidFill>
              </a:rPr>
              <a:t>Late Sheikh Akijuddin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Founder Chairman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Established Ad-din out of  corporate social responsibility.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Akij Group with 20 business units.</a:t>
            </a:r>
          </a:p>
        </p:txBody>
      </p:sp>
      <p:pic>
        <p:nvPicPr>
          <p:cNvPr id="24580" name="Picture 4" descr="1"/>
          <p:cNvPicPr>
            <a:picLocks noChangeAspect="1" noChangeArrowheads="1"/>
          </p:cNvPicPr>
          <p:nvPr/>
        </p:nvPicPr>
        <p:blipFill>
          <a:blip r:embed="rId2"/>
          <a:srcRect t="3416" b="4584"/>
          <a:stretch>
            <a:fillRect/>
          </a:stretch>
        </p:blipFill>
        <p:spPr bwMode="auto">
          <a:xfrm>
            <a:off x="6285788" y="1002511"/>
            <a:ext cx="2867025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Picture 5" descr="untitled1"/>
          <p:cNvPicPr>
            <a:picLocks noChangeAspect="1" noChangeArrowheads="1"/>
          </p:cNvPicPr>
          <p:nvPr/>
        </p:nvPicPr>
        <p:blipFill>
          <a:blip r:embed="rId3"/>
          <a:srcRect l="5402" t="14680" b="37218"/>
          <a:stretch>
            <a:fillRect/>
          </a:stretch>
        </p:blipFill>
        <p:spPr bwMode="auto">
          <a:xfrm>
            <a:off x="6157913" y="3054350"/>
            <a:ext cx="28670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609600" y="3081338"/>
            <a:ext cx="5334000" cy="14970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0000FF"/>
                </a:solidFill>
              </a:rPr>
              <a:t>Late Prof. Sharif Hossain</a:t>
            </a: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lot of social organizations, educationist, recipient of Ekushe Padak.</a:t>
            </a:r>
          </a:p>
          <a:p>
            <a:pPr>
              <a:spcBef>
                <a:spcPct val="50000"/>
              </a:spcBef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609600" y="5426075"/>
            <a:ext cx="5334000" cy="646331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Dr. Sheikh Mohiuddin</a:t>
            </a:r>
          </a:p>
          <a:p>
            <a:r>
              <a:rPr lang="en-US" dirty="0">
                <a:solidFill>
                  <a:srgbClr val="FF0000"/>
                </a:solidFill>
              </a:rPr>
              <a:t>Founder Executive Director</a:t>
            </a:r>
          </a:p>
        </p:txBody>
      </p:sp>
      <p:pic>
        <p:nvPicPr>
          <p:cNvPr id="24584" name="Picture 8" descr="04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57913" y="4876800"/>
            <a:ext cx="290671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9427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819400" y="1066800"/>
            <a:ext cx="3048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u="sng" dirty="0">
                <a:solidFill>
                  <a:srgbClr val="3333FF"/>
                </a:solidFill>
              </a:rPr>
              <a:t>Core Values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04800" y="2971800"/>
            <a:ext cx="548640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en-US" sz="3200">
                <a:solidFill>
                  <a:srgbClr val="0000FF"/>
                </a:solidFill>
              </a:rPr>
              <a:t>To respect and take care of the cultural &amp; religious values of our country as a part of development</a:t>
            </a:r>
          </a:p>
        </p:txBody>
      </p:sp>
      <p:pic>
        <p:nvPicPr>
          <p:cNvPr id="26628" name="Picture 4" descr="5"/>
          <p:cNvPicPr>
            <a:picLocks noChangeAspect="1" noChangeArrowheads="1"/>
          </p:cNvPicPr>
          <p:nvPr/>
        </p:nvPicPr>
        <p:blipFill>
          <a:blip r:embed="rId2"/>
          <a:srcRect l="11928"/>
          <a:stretch>
            <a:fillRect/>
          </a:stretch>
        </p:blipFill>
        <p:spPr bwMode="auto">
          <a:xfrm>
            <a:off x="6026150" y="304800"/>
            <a:ext cx="2813050" cy="246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5" descr="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938" y="304800"/>
            <a:ext cx="2201862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6" descr="7"/>
          <p:cNvPicPr>
            <a:picLocks noChangeAspect="1" noChangeArrowheads="1"/>
          </p:cNvPicPr>
          <p:nvPr/>
        </p:nvPicPr>
        <p:blipFill>
          <a:blip r:embed="rId4"/>
          <a:srcRect l="7317" t="8344" r="9756" b="2782"/>
          <a:stretch>
            <a:fillRect/>
          </a:stretch>
        </p:blipFill>
        <p:spPr bwMode="auto">
          <a:xfrm>
            <a:off x="6038850" y="4194175"/>
            <a:ext cx="2819400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1213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016296" y="47530"/>
            <a:ext cx="72390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1000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3200" dirty="0">
                <a:solidFill>
                  <a:schemeClr val="accent2"/>
                </a:solidFill>
              </a:rPr>
              <a:t>Ad-din Sakina Medical College Hospital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Background History</a:t>
            </a:r>
            <a:endParaRPr lang="en-US" altLang="en-US" dirty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3600" dirty="0">
              <a:solidFill>
                <a:schemeClr val="accent2"/>
              </a:solidFill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-1726" y="1524001"/>
            <a:ext cx="5030926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342900" indent="-342900"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Started 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as an orphanage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at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Khuladanga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Jashore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 in 17 December 1980.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Ad-din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Hospital Started in </a:t>
            </a:r>
            <a:r>
              <a:rPr lang="en-US" altLang="en-US" sz="2000" dirty="0">
                <a:solidFill>
                  <a:schemeClr val="tx1"/>
                </a:solidFill>
              </a:rPr>
              <a:t>5 April 1985 with the aim of providing standard MCH service with minimum cost .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2000" dirty="0" err="1">
                <a:solidFill>
                  <a:schemeClr val="tx1"/>
                </a:solidFill>
              </a:rPr>
              <a:t>Ad-din</a:t>
            </a:r>
            <a:r>
              <a:rPr lang="en-US" altLang="en-US" sz="2000" dirty="0">
                <a:solidFill>
                  <a:schemeClr val="tx1"/>
                </a:solidFill>
              </a:rPr>
              <a:t> Nursing Institute started in 1997. 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2000" dirty="0" err="1">
                <a:solidFill>
                  <a:schemeClr val="tx1"/>
                </a:solidFill>
              </a:rPr>
              <a:t>Ad-din</a:t>
            </a:r>
            <a:r>
              <a:rPr lang="en-US" altLang="en-US" sz="2000" dirty="0">
                <a:solidFill>
                  <a:schemeClr val="tx1"/>
                </a:solidFill>
              </a:rPr>
              <a:t> Medical Technologist institute started in 2004.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2000" dirty="0" err="1">
                <a:solidFill>
                  <a:schemeClr val="tx1"/>
                </a:solidFill>
              </a:rPr>
              <a:t>Ad-din</a:t>
            </a:r>
            <a:r>
              <a:rPr lang="en-US" altLang="en-US" sz="2000" dirty="0">
                <a:solidFill>
                  <a:schemeClr val="tx1"/>
                </a:solidFill>
              </a:rPr>
              <a:t> Sakina Women’s Medical College started in 2011</a:t>
            </a:r>
          </a:p>
        </p:txBody>
      </p:sp>
      <p:pic>
        <p:nvPicPr>
          <p:cNvPr id="44038" name="Picture 6" descr="Ad-din Hospital Front s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3" t="25000" r="6250" b="11000"/>
          <a:stretch>
            <a:fillRect/>
          </a:stretch>
        </p:blipFill>
        <p:spPr bwMode="auto">
          <a:xfrm>
            <a:off x="5232197" y="1916057"/>
            <a:ext cx="3913992" cy="326554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17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2438400" y="3200400"/>
            <a:ext cx="2133600" cy="781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Ad-din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Sakina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College Hospital, </a:t>
            </a: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Jessore</a:t>
            </a: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 April 1985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300-Bed</a:t>
            </a: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838200" y="76200"/>
            <a:ext cx="7467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/>
              <a:t>Ad-din Hospitals</a:t>
            </a:r>
          </a:p>
        </p:txBody>
      </p:sp>
      <p:pic>
        <p:nvPicPr>
          <p:cNvPr id="36868" name="Picture 5" descr="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4267200"/>
            <a:ext cx="25146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76200" y="3200400"/>
            <a:ext cx="2133600" cy="1040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Ad-din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College Hospital, Dhaka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 Nov 1997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500-Bed</a:t>
            </a: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1981200" y="5638800"/>
            <a:ext cx="2743200" cy="73866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Ad-din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Hospital, </a:t>
            </a: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Kushtia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 Nov 1999; 100-Bed</a:t>
            </a:r>
          </a:p>
          <a:p>
            <a:pPr eaLnBrk="1" hangingPunct="1"/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11"/>
          <p:cNvSpPr txBox="1">
            <a:spLocks noChangeArrowheads="1"/>
          </p:cNvSpPr>
          <p:nvPr/>
        </p:nvSpPr>
        <p:spPr bwMode="auto">
          <a:xfrm>
            <a:off x="6858000" y="3200400"/>
            <a:ext cx="2057400" cy="1016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Bashundhara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Ad-din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College Hospital, </a:t>
            </a:r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Keraniganj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Dhaka </a:t>
            </a:r>
          </a:p>
          <a:p>
            <a:pPr eaLnBrk="1" hangingPunct="1"/>
            <a:r>
              <a:rPr lang="en-US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25 Feb 2012</a:t>
            </a:r>
          </a:p>
          <a:p>
            <a:pPr eaLnBrk="1" hangingPunct="1"/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300-Bed.</a:t>
            </a:r>
          </a:p>
        </p:txBody>
      </p:sp>
      <p:pic>
        <p:nvPicPr>
          <p:cNvPr id="36873" name="Picture 12" descr="IMG"/>
          <p:cNvPicPr>
            <a:picLocks noChangeAspect="1" noChangeArrowheads="1"/>
          </p:cNvPicPr>
          <p:nvPr/>
        </p:nvPicPr>
        <p:blipFill>
          <a:blip r:embed="rId3"/>
          <a:srcRect l="4898" r="2040"/>
          <a:stretch>
            <a:fillRect/>
          </a:stretch>
        </p:blipFill>
        <p:spPr bwMode="auto">
          <a:xfrm>
            <a:off x="0" y="762000"/>
            <a:ext cx="9144000" cy="241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4" name="Text Box 13"/>
          <p:cNvSpPr txBox="1">
            <a:spLocks noChangeArrowheads="1"/>
          </p:cNvSpPr>
          <p:nvPr/>
        </p:nvSpPr>
        <p:spPr bwMode="auto">
          <a:xfrm>
            <a:off x="4800600" y="3200400"/>
            <a:ext cx="1981200" cy="99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Ad-din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Akij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College Hospital, Khulna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8 Feb 2013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500-Bed:.</a:t>
            </a:r>
          </a:p>
        </p:txBody>
      </p:sp>
      <p:pic>
        <p:nvPicPr>
          <p:cNvPr id="36875" name="Picture 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86325" y="4332288"/>
            <a:ext cx="2352675" cy="130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6" name="Rectangle 13"/>
          <p:cNvSpPr>
            <a:spLocks noChangeArrowheads="1"/>
          </p:cNvSpPr>
          <p:nvPr/>
        </p:nvSpPr>
        <p:spPr bwMode="auto">
          <a:xfrm>
            <a:off x="4876800" y="5638800"/>
            <a:ext cx="28194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Ad-din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Barrister </a:t>
            </a:r>
            <a:r>
              <a:rPr lang="en-US" alt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Rofique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-Ul Huq  Hospital, </a:t>
            </a:r>
            <a:r>
              <a:rPr lang="en-US" alt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Postogola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Dhaka </a:t>
            </a:r>
          </a:p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May 2017; 300-Bed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880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67719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2"/>
          <p:cNvSpPr txBox="1">
            <a:spLocks noChangeArrowheads="1"/>
          </p:cNvSpPr>
          <p:nvPr/>
        </p:nvSpPr>
        <p:spPr bwMode="auto">
          <a:xfrm>
            <a:off x="228600" y="4648200"/>
            <a:ext cx="19812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Ad-din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Nursing Institute, Jessore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Aug 1997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1295400" y="304800"/>
            <a:ext cx="6858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>
                <a:latin typeface="Corbel" pitchFamily="34" charset="0"/>
              </a:rPr>
              <a:t>Nursing Institutes</a:t>
            </a:r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3167063" y="4727575"/>
            <a:ext cx="19812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Fatema Nursing Institute, Dhaka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Jul 2006</a:t>
            </a:r>
          </a:p>
        </p:txBody>
      </p:sp>
      <p:sp>
        <p:nvSpPr>
          <p:cNvPr id="4104" name="Text Box 5"/>
          <p:cNvSpPr txBox="1">
            <a:spLocks noChangeArrowheads="1"/>
          </p:cNvSpPr>
          <p:nvPr/>
        </p:nvSpPr>
        <p:spPr bwMode="auto">
          <a:xfrm>
            <a:off x="6248400" y="5057775"/>
            <a:ext cx="1981200" cy="8255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Safina Nursing Institute,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Kushtia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Sept 2005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657475" y="2286000"/>
          <a:ext cx="3157538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9" name="Photo Editor Photo" r:id="rId3" imgW="6095238" imgH="4571429" progId="">
                  <p:embed/>
                </p:oleObj>
              </mc:Choice>
              <mc:Fallback>
                <p:oleObj name="Photo Editor Photo" r:id="rId3" imgW="6095238" imgH="45714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2286000"/>
                        <a:ext cx="3157538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76200" y="1295400"/>
          <a:ext cx="2538413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0" name="Image" r:id="rId5" imgW="2684584" imgH="3465525" progId="">
                  <p:embed/>
                </p:oleObj>
              </mc:Choice>
              <mc:Fallback>
                <p:oleObj name="Image" r:id="rId5" imgW="2684584" imgH="34655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295400"/>
                        <a:ext cx="2538413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5895975" y="2667000"/>
          <a:ext cx="3200400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1" name="Image" r:id="rId7" imgW="3981689" imgH="2998228" progId="">
                  <p:embed/>
                </p:oleObj>
              </mc:Choice>
              <mc:Fallback>
                <p:oleObj name="Image" r:id="rId7" imgW="3981689" imgH="299822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975" y="2667000"/>
                        <a:ext cx="3200400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Line 10"/>
          <p:cNvSpPr>
            <a:spLocks noChangeShapeType="1"/>
          </p:cNvSpPr>
          <p:nvPr/>
        </p:nvSpPr>
        <p:spPr bwMode="auto">
          <a:xfrm>
            <a:off x="0" y="10668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0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612558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Autofit/>
          </a:bodyPr>
          <a:lstStyle/>
          <a:p>
            <a:r>
              <a:rPr lang="en-US" sz="3600" dirty="0"/>
              <a:t>Academic activities Under graduate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1981200"/>
            <a:ext cx="7773339" cy="44958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Intern’s Doctor’s Training : Morning Session, Case Presentation, Monthly Meeting , Discursion on referred case, Teaching according to log book.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Nursing Training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Research study :</a:t>
            </a:r>
          </a:p>
          <a:p>
            <a:pPr marL="914400" lvl="1" indent="-45720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Wound infection</a:t>
            </a:r>
          </a:p>
          <a:p>
            <a:pPr marL="914400" lvl="1" indent="-45720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IUD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39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3000" y="16412"/>
            <a:ext cx="7772400" cy="897988"/>
          </a:xfrm>
        </p:spPr>
        <p:txBody>
          <a:bodyPr anchor="t">
            <a:noAutofit/>
          </a:bodyPr>
          <a:lstStyle/>
          <a:p>
            <a:pPr algn="ctr"/>
            <a:r>
              <a:rPr lang="en-US" sz="28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Organogram of </a:t>
            </a:r>
            <a:r>
              <a:rPr lang="en-US" sz="2800" dirty="0" err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Gyne&amp;Obs</a:t>
            </a:r>
            <a:r>
              <a:rPr lang="en-US" sz="28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Department 0f </a:t>
            </a:r>
            <a:br>
              <a:rPr lang="en-US" sz="28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dirty="0" err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</a:t>
            </a:r>
            <a:r>
              <a:rPr lang="en-US" sz="28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Sakina Medical College Hospital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371600" y="4207412"/>
            <a:ext cx="7772400" cy="1295400"/>
          </a:xfrm>
          <a:prstGeom prst="rect">
            <a:avLst/>
          </a:prstGeom>
        </p:spPr>
        <p:txBody>
          <a:bodyPr vert="horz" lIns="0" rIns="0" bIns="0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984939"/>
              </p:ext>
            </p:extLst>
          </p:nvPr>
        </p:nvGraphicFramePr>
        <p:xfrm>
          <a:off x="190500" y="990601"/>
          <a:ext cx="8763000" cy="5748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8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5549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Professor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Associate</a:t>
                      </a:r>
                    </a:p>
                    <a:p>
                      <a:pPr algn="l"/>
                      <a:r>
                        <a:rPr lang="en-IN" sz="1600" dirty="0"/>
                        <a:t>Professor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Assistant</a:t>
                      </a:r>
                      <a:r>
                        <a:rPr lang="en-IN" sz="1600" baseline="0" dirty="0"/>
                        <a:t> Professor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391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Professor </a:t>
                      </a: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Badrunnesa Begum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Nasreen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Saleha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Khatun</a:t>
                      </a:r>
                      <a:endParaRPr lang="en-GB" sz="1600" dirty="0"/>
                    </a:p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Professor </a:t>
                      </a: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Hasanuzzaman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Dr .</a:t>
                      </a:r>
                      <a:r>
                        <a:rPr lang="en-IN" sz="1600" dirty="0" err="1"/>
                        <a:t>Emdadul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Haque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Professor </a:t>
                      </a: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Rabiul</a:t>
                      </a:r>
                      <a:r>
                        <a:rPr lang="en-IN" sz="1600" baseline="0" dirty="0"/>
                        <a:t> Islam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Professor </a:t>
                      </a: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Torun </a:t>
                      </a:r>
                      <a:r>
                        <a:rPr lang="en-IN" sz="1600" dirty="0" err="1"/>
                        <a:t>Khanti</a:t>
                      </a:r>
                      <a:r>
                        <a:rPr lang="en-IN" sz="1600" dirty="0"/>
                        <a:t> Ghosh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9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Professor </a:t>
                      </a: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Nikunjo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Bihari </a:t>
                      </a:r>
                      <a:r>
                        <a:rPr lang="en-IN" sz="1600" dirty="0" err="1"/>
                        <a:t>Goldar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Professor </a:t>
                      </a:r>
                      <a:r>
                        <a:rPr lang="en-US" sz="1600" dirty="0"/>
                        <a:t>Dr. </a:t>
                      </a:r>
                      <a:r>
                        <a:rPr lang="en-US" sz="1600" dirty="0" err="1"/>
                        <a:t>Gour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Kishor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3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RS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Registrar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endParaRPr lang="en-GB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Assistant Registrar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endParaRPr lang="en-GB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39939"/>
                  </a:ext>
                </a:extLst>
              </a:tr>
              <a:tr h="5423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Dr. </a:t>
                      </a:r>
                      <a:r>
                        <a:rPr lang="en-US" sz="1600" dirty="0" err="1"/>
                        <a:t>Shila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Podder</a:t>
                      </a:r>
                      <a:endParaRPr lang="en-GB" sz="1600" dirty="0"/>
                    </a:p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Kumruzzaman</a:t>
                      </a:r>
                      <a:endParaRPr lang="en-GB" sz="1600" dirty="0"/>
                    </a:p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Dr. </a:t>
                      </a:r>
                      <a:r>
                        <a:rPr lang="en-US" sz="1600" dirty="0" err="1"/>
                        <a:t>Tonni</a:t>
                      </a:r>
                      <a:r>
                        <a:rPr lang="en-US" sz="1600" dirty="0"/>
                        <a:t> Moni </a:t>
                      </a:r>
                      <a:r>
                        <a:rPr lang="en-US" sz="1600" dirty="0" err="1"/>
                        <a:t>Chonda</a:t>
                      </a:r>
                      <a:endParaRPr lang="en-GB" sz="1600" dirty="0"/>
                    </a:p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122994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Medical Officer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880804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GB" dirty="0" err="1"/>
                        <a:t>Dr.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Sumayya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Sharmin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609321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GB" dirty="0" err="1"/>
                        <a:t>Dr.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Tahmina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Shirmin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747622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GB" dirty="0" err="1"/>
                        <a:t>Dr.</a:t>
                      </a:r>
                      <a:r>
                        <a:rPr lang="en-GB" dirty="0"/>
                        <a:t> Sultana Zaman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346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078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ANC Services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6950040"/>
              </p:ext>
            </p:extLst>
          </p:nvPr>
        </p:nvGraphicFramePr>
        <p:xfrm>
          <a:off x="457200" y="1935163"/>
          <a:ext cx="86868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98182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n w="17780" cmpd="sng">
                  <a:solidFill>
                    <a:schemeClr val="tx2"/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Comparison between NVD and C-Section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0491139"/>
              </p:ext>
            </p:extLst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550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B03B1-1ECB-4039-80D0-73C81EC9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497791"/>
            <a:ext cx="7773338" cy="600683"/>
          </a:xfrm>
        </p:spPr>
        <p:txBody>
          <a:bodyPr>
            <a:normAutofit/>
          </a:bodyPr>
          <a:lstStyle/>
          <a:p>
            <a:r>
              <a:rPr lang="en-US" sz="2400" dirty="0"/>
              <a:t>Types of obst patients admitted in </a:t>
            </a:r>
            <a:r>
              <a:rPr lang="en-US" sz="2400" dirty="0" err="1"/>
              <a:t>Obs</a:t>
            </a:r>
            <a:r>
              <a:rPr lang="en-US" sz="2400" dirty="0"/>
              <a:t> ward (Jan-Nov) 2021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DD233B23-040F-4F57-A19A-8C084C917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869609"/>
              </p:ext>
            </p:extLst>
          </p:nvPr>
        </p:nvGraphicFramePr>
        <p:xfrm>
          <a:off x="228600" y="1114886"/>
          <a:ext cx="8646458" cy="5209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700">
                  <a:extLst>
                    <a:ext uri="{9D8B030D-6E8A-4147-A177-3AD203B41FA5}">
                      <a16:colId xmlns:a16="http://schemas.microsoft.com/office/drawing/2014/main" val="2120689179"/>
                    </a:ext>
                  </a:extLst>
                </a:gridCol>
                <a:gridCol w="4488758">
                  <a:extLst>
                    <a:ext uri="{9D8B030D-6E8A-4147-A177-3AD203B41FA5}">
                      <a16:colId xmlns:a16="http://schemas.microsoft.com/office/drawing/2014/main" val="2650224956"/>
                    </a:ext>
                  </a:extLst>
                </a:gridCol>
              </a:tblGrid>
              <a:tr h="304517">
                <a:tc>
                  <a:txBody>
                    <a:bodyPr/>
                    <a:lstStyle/>
                    <a:p>
                      <a:pPr algn="ctr"/>
                      <a:r>
                        <a:rPr lang="en-GB" sz="1400" i="1" dirty="0"/>
                        <a:t>Title </a:t>
                      </a:r>
                      <a:endParaRPr lang="en-US" sz="14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98424631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Previous C/S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580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7995928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Lower abdominal pain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581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56433760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Less </a:t>
                      </a:r>
                      <a:r>
                        <a:rPr lang="en-GB" sz="1400" b="1" dirty="0" err="1"/>
                        <a:t>fetal</a:t>
                      </a:r>
                      <a:r>
                        <a:rPr lang="en-GB" sz="1400" b="1" dirty="0"/>
                        <a:t> movement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454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6958223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PROM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6835335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UTI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424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06352904"/>
                  </a:ext>
                </a:extLst>
              </a:tr>
              <a:tr h="33743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Ante </a:t>
                      </a:r>
                      <a:r>
                        <a:rPr lang="en-GB" sz="1400" b="1" dirty="0" err="1"/>
                        <a:t>partam</a:t>
                      </a:r>
                      <a:r>
                        <a:rPr lang="en-GB" sz="1400" b="1" dirty="0"/>
                        <a:t> haemorrhage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157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086265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</a:t>
                      </a:r>
                      <a:r>
                        <a:rPr lang="en-GB" sz="1400" b="1" dirty="0" err="1"/>
                        <a:t>Anemia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943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27890374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Post Dated Pregnancy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9098160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PIH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349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30253068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True labour pain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632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3043260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Hyper  Emesis </a:t>
                      </a:r>
                      <a:r>
                        <a:rPr lang="en-GB" sz="1400" b="1" dirty="0" err="1"/>
                        <a:t>graviderum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17189496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Oligohydramnios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3162345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PUO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5393996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IUD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0359881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Big baby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1751353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Breach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8669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530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158C-A028-3846-8DCE-B8BD3394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95631"/>
            <a:ext cx="7886700" cy="504569"/>
          </a:xfrm>
        </p:spPr>
        <p:txBody>
          <a:bodyPr>
            <a:normAutofit/>
          </a:bodyPr>
          <a:lstStyle/>
          <a:p>
            <a:r>
              <a:rPr lang="en-GB" sz="2700" b="1" i="1" dirty="0"/>
              <a:t>Gynae operation list(Jan-Nov-2021)</a:t>
            </a:r>
            <a:endParaRPr lang="en-US" sz="2700" b="1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A3BFD50-EA91-1046-A578-2E582DC95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1677298"/>
              </p:ext>
            </p:extLst>
          </p:nvPr>
        </p:nvGraphicFramePr>
        <p:xfrm>
          <a:off x="628649" y="1884116"/>
          <a:ext cx="8173062" cy="4594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531">
                  <a:extLst>
                    <a:ext uri="{9D8B030D-6E8A-4147-A177-3AD203B41FA5}">
                      <a16:colId xmlns:a16="http://schemas.microsoft.com/office/drawing/2014/main" val="2194349053"/>
                    </a:ext>
                  </a:extLst>
                </a:gridCol>
                <a:gridCol w="4086531">
                  <a:extLst>
                    <a:ext uri="{9D8B030D-6E8A-4147-A177-3AD203B41FA5}">
                      <a16:colId xmlns:a16="http://schemas.microsoft.com/office/drawing/2014/main" val="210114044"/>
                    </a:ext>
                  </a:extLst>
                </a:gridCol>
              </a:tblGrid>
              <a:tr h="417674"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87595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abdominal hysterectomy 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03094791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 total abdominal hysterectomy 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68143214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Vaginal hysterectomy 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2648057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Laparotomy 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5704734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Ovarian cystectomy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6893099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Perineal tear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066338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DE&amp;C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Biopsy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13067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Bartholin cyst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5089535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=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797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998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18519"/>
            <a:ext cx="8686800" cy="60068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gynae and obst Department from 2010-2021(Jan-Nov)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5084708"/>
              </p:ext>
            </p:extLst>
          </p:nvPr>
        </p:nvGraphicFramePr>
        <p:xfrm>
          <a:off x="381000" y="1600199"/>
          <a:ext cx="8381998" cy="4639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446">
                  <a:extLst>
                    <a:ext uri="{9D8B030D-6E8A-4147-A177-3AD203B41FA5}">
                      <a16:colId xmlns:a16="http://schemas.microsoft.com/office/drawing/2014/main" val="4124854820"/>
                    </a:ext>
                  </a:extLst>
                </a:gridCol>
                <a:gridCol w="745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8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59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val="4049830223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val="650347862"/>
                    </a:ext>
                  </a:extLst>
                </a:gridCol>
                <a:gridCol w="688542">
                  <a:extLst>
                    <a:ext uri="{9D8B030D-6E8A-4147-A177-3AD203B41FA5}">
                      <a16:colId xmlns:a16="http://schemas.microsoft.com/office/drawing/2014/main" val="1271222547"/>
                    </a:ext>
                  </a:extLst>
                </a:gridCol>
                <a:gridCol w="813731">
                  <a:extLst>
                    <a:ext uri="{9D8B030D-6E8A-4147-A177-3AD203B41FA5}">
                      <a16:colId xmlns:a16="http://schemas.microsoft.com/office/drawing/2014/main" val="1886636786"/>
                    </a:ext>
                  </a:extLst>
                </a:gridCol>
              </a:tblGrid>
              <a:tr h="9037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pPr algn="ctr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IPD Patients 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</a:p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OPD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DE&amp;C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OT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1449347824"/>
                  </a:ext>
                </a:extLst>
              </a:tr>
              <a:tr h="50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4208</a:t>
                      </a:r>
                      <a:endParaRPr lang="en-US" sz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46244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28161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6765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5607</a:t>
                      </a:r>
                      <a:endParaRPr lang="en-US" sz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44070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8105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25249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81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7458</a:t>
                      </a:r>
                      <a:endParaRPr lang="en-US" sz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44472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25325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3376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5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7757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43108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24117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3412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94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6495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37434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21673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5697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455660112"/>
                  </a:ext>
                </a:extLst>
              </a:tr>
              <a:tr h="87365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(Jan-Nov)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5375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31797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7180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15641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5534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3442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2621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3493164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563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158C-A028-3846-8DCE-B8BD3394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95631"/>
            <a:ext cx="7886700" cy="580769"/>
          </a:xfrm>
        </p:spPr>
        <p:txBody>
          <a:bodyPr>
            <a:normAutofit/>
          </a:bodyPr>
          <a:lstStyle/>
          <a:p>
            <a:r>
              <a:rPr lang="en-GB" sz="2700" b="1" i="1" dirty="0"/>
              <a:t>Gynae operation list(Jan-Nov-2021)</a:t>
            </a:r>
            <a:endParaRPr lang="en-US" sz="2700" b="1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A3BFD50-EA91-1046-A578-2E582DC95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8378945"/>
              </p:ext>
            </p:extLst>
          </p:nvPr>
        </p:nvGraphicFramePr>
        <p:xfrm>
          <a:off x="628649" y="1884116"/>
          <a:ext cx="8173062" cy="417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531">
                  <a:extLst>
                    <a:ext uri="{9D8B030D-6E8A-4147-A177-3AD203B41FA5}">
                      <a16:colId xmlns:a16="http://schemas.microsoft.com/office/drawing/2014/main" val="2194349053"/>
                    </a:ext>
                  </a:extLst>
                </a:gridCol>
                <a:gridCol w="4086531">
                  <a:extLst>
                    <a:ext uri="{9D8B030D-6E8A-4147-A177-3AD203B41FA5}">
                      <a16:colId xmlns:a16="http://schemas.microsoft.com/office/drawing/2014/main" val="210114044"/>
                    </a:ext>
                  </a:extLst>
                </a:gridCol>
              </a:tblGrid>
              <a:tr h="417674"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87595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abdominal hysterectomy 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03094791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 total abdominal hysterectomy 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68143214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Vaginal hysterectomy 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2648057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Laparotomy 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5704734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Ovarian cystectomy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6893099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Perineal tear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066338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Biopsy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13067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Bartholin cyst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5089535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=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797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408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8D68A-2EE9-2E42-BB3D-666BDB1FD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94777"/>
            <a:ext cx="7886700" cy="687634"/>
          </a:xfrm>
        </p:spPr>
        <p:txBody>
          <a:bodyPr>
            <a:normAutofit/>
          </a:bodyPr>
          <a:lstStyle/>
          <a:p>
            <a:r>
              <a:rPr lang="en-GB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planning sector report </a:t>
            </a:r>
            <a:endParaRPr lang="en-US" sz="27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9F5DC94-CC32-014C-9EE3-C08D6A5AA4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441445"/>
              </p:ext>
            </p:extLst>
          </p:nvPr>
        </p:nvGraphicFramePr>
        <p:xfrm>
          <a:off x="320896" y="1847442"/>
          <a:ext cx="8352458" cy="258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229">
                  <a:extLst>
                    <a:ext uri="{9D8B030D-6E8A-4147-A177-3AD203B41FA5}">
                      <a16:colId xmlns:a16="http://schemas.microsoft.com/office/drawing/2014/main" val="654048327"/>
                    </a:ext>
                  </a:extLst>
                </a:gridCol>
                <a:gridCol w="4176229">
                  <a:extLst>
                    <a:ext uri="{9D8B030D-6E8A-4147-A177-3AD203B41FA5}">
                      <a16:colId xmlns:a16="http://schemas.microsoft.com/office/drawing/2014/main" val="2985568318"/>
                    </a:ext>
                  </a:extLst>
                </a:gridCol>
              </a:tblGrid>
              <a:tr h="430917">
                <a:tc>
                  <a:txBody>
                    <a:bodyPr/>
                    <a:lstStyle/>
                    <a:p>
                      <a:r>
                        <a:rPr lang="en-GB" sz="21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2100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81373881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OCP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1960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64723816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Condom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5300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785925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DMPA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288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86249353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Cupper - T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0016123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Ligation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19789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612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925878"/>
              </p:ext>
            </p:extLst>
          </p:nvPr>
        </p:nvGraphicFramePr>
        <p:xfrm>
          <a:off x="0" y="1177159"/>
          <a:ext cx="9144000" cy="6138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796159"/>
            <a:ext cx="9144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C-Section</a:t>
            </a:r>
            <a:r>
              <a:rPr lang="en-US" b="1" dirty="0">
                <a:solidFill>
                  <a:srgbClr val="0070C0"/>
                </a:solidFill>
              </a:rPr>
              <a:t>,</a:t>
            </a:r>
            <a:r>
              <a:rPr lang="en-US" b="1" dirty="0"/>
              <a:t>  </a:t>
            </a:r>
            <a:r>
              <a:rPr lang="en-US" b="1" dirty="0">
                <a:solidFill>
                  <a:srgbClr val="0070C0"/>
                </a:solidFill>
              </a:rPr>
              <a:t>NVD</a:t>
            </a:r>
            <a:r>
              <a:rPr lang="en-US" b="1" dirty="0"/>
              <a:t>,  </a:t>
            </a:r>
            <a:r>
              <a:rPr lang="en-US" b="1" dirty="0">
                <a:solidFill>
                  <a:srgbClr val="00B050"/>
                </a:solidFill>
              </a:rPr>
              <a:t>Total Delivery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12B03B1-1ECB-4039-80D0-73C81EC9B63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796159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/>
                </a:solidFill>
                <a:ea typeface="Calibri"/>
                <a:cs typeface="Vrinda"/>
              </a:rPr>
              <a:t>Best Performing </a:t>
            </a:r>
            <a:r>
              <a:rPr lang="en-US" sz="2800" b="1" dirty="0" err="1">
                <a:solidFill>
                  <a:schemeClr val="tx1"/>
                </a:solidFill>
                <a:ea typeface="Calibri"/>
                <a:cs typeface="Vrinda"/>
              </a:rPr>
              <a:t>EmOC</a:t>
            </a:r>
            <a:r>
              <a:rPr lang="en-US" sz="2800" b="1" dirty="0">
                <a:solidFill>
                  <a:schemeClr val="tx1"/>
                </a:solidFill>
                <a:ea typeface="Calibri"/>
                <a:cs typeface="Vrinda"/>
              </a:rPr>
              <a:t> MC Hospital in Khulna Division -2020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593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171127_1130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414462"/>
            <a:ext cx="8153400" cy="45862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8100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 Sakina Medical College Hospital Outdoor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 anchor="t">
            <a:normAutofit fontScale="90000"/>
          </a:bodyPr>
          <a:lstStyle/>
          <a:p>
            <a:pPr algn="ctr"/>
            <a:r>
              <a:rPr sz="5300" b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Card Registration</a:t>
            </a:r>
            <a:br>
              <a:rPr sz="440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04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676400"/>
            <a:ext cx="7857067" cy="4419600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524000"/>
          </a:xfrm>
        </p:spPr>
        <p:txBody>
          <a:bodyPr>
            <a:normAutofit fontScale="90000"/>
          </a:bodyPr>
          <a:lstStyle/>
          <a:p>
            <a:pPr algn="ctr"/>
            <a:r>
              <a:rPr sz="6700" b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Business Counter </a:t>
            </a:r>
            <a:br>
              <a:rPr sz="440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5957" y="1371600"/>
            <a:ext cx="7312085" cy="4724400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447800"/>
          </a:xfrm>
        </p:spPr>
        <p:txBody>
          <a:bodyPr>
            <a:normAutofit fontScale="90000"/>
          </a:bodyPr>
          <a:lstStyle/>
          <a:p>
            <a:pPr algn="ctr"/>
            <a:r>
              <a:rPr sz="6000" b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Antenatal Care</a:t>
            </a:r>
            <a:br>
              <a:rPr sz="440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1232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508000" y="1752600"/>
            <a:ext cx="7721600" cy="434340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219200"/>
          </a:xfrm>
        </p:spPr>
        <p:txBody>
          <a:bodyPr>
            <a:normAutofit fontScale="90000"/>
          </a:bodyPr>
          <a:lstStyle/>
          <a:p>
            <a:pPr algn="ctr"/>
            <a:r>
              <a:rPr sz="6000" b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Family Planning</a:t>
            </a:r>
            <a:br>
              <a:rPr sz="440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060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371600"/>
            <a:ext cx="8221132" cy="4624387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 sz="6000" b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Immunization</a:t>
            </a:r>
            <a:br>
              <a:rPr sz="440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395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>
                <a:solidFill>
                  <a:srgbClr val="3333FF"/>
                </a:solidFill>
              </a:rPr>
              <a:t>Ad-din Sakina Medical College </a:t>
            </a:r>
            <a:r>
              <a:rPr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Hospital Indoor Service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4" name="SmartArt Placeholder 3" descr="IMG_633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828800"/>
            <a:ext cx="4343400" cy="2895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IMG_632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0" y="3048000"/>
            <a:ext cx="4114800" cy="381000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Operation Theatre</a:t>
            </a:r>
          </a:p>
        </p:txBody>
      </p:sp>
      <p:pic>
        <p:nvPicPr>
          <p:cNvPr id="4" name="SmartArt Placeholder 3" descr="20171126_09591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1004394" y="2133600"/>
            <a:ext cx="7135214" cy="3810000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Post Operative Ward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6" name="SmartArt Placeholder 5" descr="20171126_09534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Gyane Ward</a:t>
            </a:r>
          </a:p>
        </p:txBody>
      </p:sp>
      <p:pic>
        <p:nvPicPr>
          <p:cNvPr id="8" name="SmartArt Placeholder 7" descr="20171126_1030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457200"/>
            <a:ext cx="7772400" cy="1143000"/>
          </a:xfrm>
        </p:spPr>
        <p:txBody>
          <a:bodyPr/>
          <a:lstStyle/>
          <a:p>
            <a:pPr algn="ctr"/>
            <a:r>
              <a:rPr lang="en-IN" b="1" dirty="0">
                <a:latin typeface="Algerian" pitchFamily="82" charset="0"/>
              </a:rPr>
              <a:t>Neonatal Care Unit</a:t>
            </a:r>
            <a:endParaRPr lang="en-GB" b="1" dirty="0">
              <a:latin typeface="Algerian" pitchFamily="82" charset="0"/>
            </a:endParaRPr>
          </a:p>
        </p:txBody>
      </p:sp>
      <p:pic>
        <p:nvPicPr>
          <p:cNvPr id="23554" name="Picture 2" descr="C:\Users\Emdad\Desktop\New folder\20211210_12190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669" y="2286000"/>
            <a:ext cx="4578352" cy="343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5" name="Picture 3" descr="C:\Users\Emdad\Desktop\New folder\20211210_12212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4552950" cy="341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998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VIA Corner</a:t>
            </a:r>
            <a:endParaRPr lang="en-GB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/>
      </p:sp>
    </p:spTree>
    <p:extLst>
      <p:ext uri="{BB962C8B-B14F-4D97-AF65-F5344CB8AC3E}">
        <p14:creationId xmlns:p14="http://schemas.microsoft.com/office/powerpoint/2010/main" val="738997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Breast Feeding Corner</a:t>
            </a:r>
            <a:endParaRPr lang="en-GB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/>
      </p:sp>
    </p:spTree>
    <p:extLst>
      <p:ext uri="{BB962C8B-B14F-4D97-AF65-F5344CB8AC3E}">
        <p14:creationId xmlns:p14="http://schemas.microsoft.com/office/powerpoint/2010/main" val="2126645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77724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latin typeface="Algerian" pitchFamily="82" charset="0"/>
              </a:rPr>
              <a:t>Metrnal</a:t>
            </a:r>
            <a:r>
              <a:rPr lang="en-IN" b="1" dirty="0">
                <a:latin typeface="Algerian" pitchFamily="82" charset="0"/>
              </a:rPr>
              <a:t>  ICU</a:t>
            </a:r>
            <a:endParaRPr lang="en-GB" b="1" dirty="0">
              <a:latin typeface="Algerian" pitchFamily="82" charset="0"/>
            </a:endParaRPr>
          </a:p>
        </p:txBody>
      </p:sp>
      <p:pic>
        <p:nvPicPr>
          <p:cNvPr id="24578" name="Picture 2" descr="C:\Users\Emdad\Desktop\New folder\20211210_12232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52550"/>
            <a:ext cx="655320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065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24 Hours Pharmacy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B01EB6-AE9C-4345-BE00-7FD70A414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43894"/>
            <a:ext cx="8229600" cy="4371975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sz="49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24</a:t>
            </a:r>
            <a:r>
              <a:rPr sz="49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Hour Ambulance Service</a:t>
            </a:r>
            <a:br>
              <a:rPr sz="4400" dirty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SmartArt Placeholder 4" descr="20171126_16085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  <p:extLst>
      <p:ext uri="{BB962C8B-B14F-4D97-AF65-F5344CB8AC3E}">
        <p14:creationId xmlns:p14="http://schemas.microsoft.com/office/powerpoint/2010/main" val="4097389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524000" y="609600"/>
            <a:ext cx="5715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2400" b="1" dirty="0"/>
              <a:t>Community Base Ambulance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752600"/>
            <a:ext cx="3581400" cy="2738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00CC"/>
                </a:solidFill>
              </a:rPr>
              <a:t>12 Ambulance are serving in different area in community.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b="1" u="sng" dirty="0">
                <a:solidFill>
                  <a:schemeClr val="accent6">
                    <a:lumMod val="50000"/>
                  </a:schemeClr>
                </a:solidFill>
              </a:rPr>
              <a:t>Specialty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Very low cost service (Less than 50% of market Price)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Full free at 8.00pm to 6.00am for Pregnant Mother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Easy &amp; Quick</a:t>
            </a: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1524000"/>
            <a:ext cx="4887913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2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292004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336675" y="184150"/>
            <a:ext cx="59086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0070C0"/>
                </a:solidFill>
              </a:rPr>
              <a:t>Community Health Services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43634"/>
              </p:ext>
            </p:extLst>
          </p:nvPr>
        </p:nvGraphicFramePr>
        <p:xfrm>
          <a:off x="838201" y="914400"/>
          <a:ext cx="7619999" cy="1005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8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9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Working Area: 14 Districts</a:t>
                      </a: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Community Midwife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63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133600"/>
            <a:ext cx="5942013" cy="458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918702"/>
              </p:ext>
            </p:extLst>
          </p:nvPr>
        </p:nvGraphicFramePr>
        <p:xfrm>
          <a:off x="0" y="4570653"/>
          <a:ext cx="1828800" cy="701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0947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+mj-lt"/>
                        </a:rPr>
                        <a:t>Satellite clinic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2156</a:t>
                      </a:r>
                    </a:p>
                  </a:txBody>
                  <a:tcPr marL="84405" marR="84405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048762"/>
              </p:ext>
            </p:extLst>
          </p:nvPr>
        </p:nvGraphicFramePr>
        <p:xfrm>
          <a:off x="352425" y="2209800"/>
          <a:ext cx="3609974" cy="2218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Awareness Development</a:t>
                      </a:r>
                      <a:r>
                        <a:rPr lang="en-US" sz="2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Training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2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Patient</a:t>
                      </a:r>
                      <a:r>
                        <a:rPr lang="en-US" sz="2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Screening  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282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400" dirty="0">
                          <a:latin typeface="+mj-lt"/>
                        </a:rPr>
                        <a:t>  Treatment</a:t>
                      </a:r>
                      <a:r>
                        <a:rPr lang="en-US" sz="2400" baseline="0" dirty="0">
                          <a:latin typeface="+mj-lt"/>
                        </a:rPr>
                        <a:t> 223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282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400" dirty="0">
                          <a:latin typeface="+mj-lt"/>
                        </a:rPr>
                        <a:t>  Rehabilitation</a:t>
                      </a:r>
                      <a:r>
                        <a:rPr lang="en-US" sz="2400" baseline="0" dirty="0">
                          <a:latin typeface="+mj-lt"/>
                        </a:rPr>
                        <a:t> 61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422274" y="4648200"/>
            <a:ext cx="3540125" cy="137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3200" dirty="0"/>
              <a:t>All Services  are </a:t>
            </a:r>
          </a:p>
          <a:p>
            <a:pPr algn="ctr" eaLnBrk="1" hangingPunct="1">
              <a:defRPr/>
            </a:pPr>
            <a:r>
              <a:rPr lang="en-US" sz="3200" dirty="0"/>
              <a:t>free of cost</a:t>
            </a:r>
          </a:p>
        </p:txBody>
      </p:sp>
      <p:pic>
        <p:nvPicPr>
          <p:cNvPr id="3483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95686" y="2209800"/>
            <a:ext cx="4748314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83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itle 1"/>
          <p:cNvSpPr txBox="1">
            <a:spLocks/>
          </p:cNvSpPr>
          <p:nvPr/>
        </p:nvSpPr>
        <p:spPr>
          <a:xfrm>
            <a:off x="685800" y="381000"/>
            <a:ext cx="7772400" cy="1143000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9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latin typeface="Times New Roman" pitchFamily="18" charset="0"/>
                <a:cs typeface="Times New Roman" pitchFamily="18" charset="0"/>
              </a:rPr>
              <a:t>Fistula Care Project</a:t>
            </a:r>
            <a:endParaRPr lang="en-GB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b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Doctor's &amp; Manager's</a:t>
            </a:r>
            <a: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of</a:t>
            </a:r>
            <a:r>
              <a:rPr sz="2800" b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Ad-din Sakina Medical College Hospital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hart Placeholder 3" descr="IMG_4043.JPG"/>
          <p:cNvPicPr>
            <a:picLocks noGrp="1" noChangeAspect="1"/>
          </p:cNvPicPr>
          <p:nvPr>
            <p:ph type="chart"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2209800"/>
            <a:ext cx="6934200" cy="4622800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 All</a:t>
            </a:r>
            <a:endParaRPr lang="en-US" dirty="0"/>
          </a:p>
        </p:txBody>
      </p:sp>
      <p:pic>
        <p:nvPicPr>
          <p:cNvPr id="4" name="Chart Placeholder 3" descr="42035063772_33e27d5616_b.jpg"/>
          <p:cNvPicPr>
            <a:picLocks noGrp="1" noChangeAspect="1"/>
          </p:cNvPicPr>
          <p:nvPr>
            <p:ph type="chart" idx="1"/>
          </p:nvPr>
        </p:nvPicPr>
        <p:blipFill>
          <a:blip r:embed="rId2"/>
          <a:stretch>
            <a:fillRect/>
          </a:stretch>
        </p:blipFill>
        <p:spPr>
          <a:xfrm>
            <a:off x="1487406" y="1981200"/>
            <a:ext cx="6169187" cy="41148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1874</TotalTime>
  <Words>881</Words>
  <Application>Microsoft Office PowerPoint</Application>
  <PresentationFormat>On-screen Show (4:3)</PresentationFormat>
  <Paragraphs>330</Paragraphs>
  <Slides>37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Algerian</vt:lpstr>
      <vt:lpstr>Arial</vt:lpstr>
      <vt:lpstr>Calibri</vt:lpstr>
      <vt:lpstr>Constantia</vt:lpstr>
      <vt:lpstr>Corbel</vt:lpstr>
      <vt:lpstr>Times New Roman</vt:lpstr>
      <vt:lpstr>Wingdings</vt:lpstr>
      <vt:lpstr>Wingdings 2</vt:lpstr>
      <vt:lpstr>Flow</vt:lpstr>
      <vt:lpstr>Photo Editor Photo</vt:lpstr>
      <vt:lpstr>Image</vt:lpstr>
      <vt:lpstr>Ad-din Sakina Women’s Medical College Hospital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Academic activities Under graduate level</vt:lpstr>
      <vt:lpstr>Organogram of Gyne&amp;Obs Department 0f  Ad-din Sakina Medical College Hospital </vt:lpstr>
      <vt:lpstr>Annual Trend of ANC Services</vt:lpstr>
      <vt:lpstr>Comparison between NVD and C-Section</vt:lpstr>
      <vt:lpstr>Types of obst patients admitted in Obs ward (Jan-Nov) 2021</vt:lpstr>
      <vt:lpstr>Gynae operation list(Jan-Nov-2021)</vt:lpstr>
      <vt:lpstr>Performance of gynae and obst Department from 2010-2021(Jan-Nov)</vt:lpstr>
      <vt:lpstr>Gynae operation list(Jan-Nov-2021)</vt:lpstr>
      <vt:lpstr>Family planning sector report </vt:lpstr>
      <vt:lpstr>PowerPoint Presentation</vt:lpstr>
      <vt:lpstr>PowerPoint Presentation</vt:lpstr>
      <vt:lpstr>Card Registration </vt:lpstr>
      <vt:lpstr>Business Counter  </vt:lpstr>
      <vt:lpstr>Antenatal Care </vt:lpstr>
      <vt:lpstr>Family Planning </vt:lpstr>
      <vt:lpstr>Immunization </vt:lpstr>
      <vt:lpstr>Ad-din Sakina Medical College Hospital Indoor Service</vt:lpstr>
      <vt:lpstr>Operation Theatre</vt:lpstr>
      <vt:lpstr> Post Operative Ward</vt:lpstr>
      <vt:lpstr>Gyane Ward</vt:lpstr>
      <vt:lpstr>Neonatal Care Unit</vt:lpstr>
      <vt:lpstr>VIA Corner</vt:lpstr>
      <vt:lpstr>Breast Feeding Corner</vt:lpstr>
      <vt:lpstr>Metrnal  ICU</vt:lpstr>
      <vt:lpstr>24 Hours Pharmacy</vt:lpstr>
      <vt:lpstr>24 Hour Ambulance Service </vt:lpstr>
      <vt:lpstr>PowerPoint Presentation</vt:lpstr>
      <vt:lpstr>PowerPoint Presentation</vt:lpstr>
      <vt:lpstr>PowerPoint Presentation</vt:lpstr>
      <vt:lpstr>Doctor's &amp; Manager's of Ad-din Sakina Medical College Hospital</vt:lpstr>
      <vt:lpstr>Thank You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Ad-din Sakina Medical College Hospital</dc:title>
  <dc:creator>user</dc:creator>
  <cp:lastModifiedBy>Admin</cp:lastModifiedBy>
  <cp:revision>337</cp:revision>
  <dcterms:created xsi:type="dcterms:W3CDTF">2017-11-25T07:55:21Z</dcterms:created>
  <dcterms:modified xsi:type="dcterms:W3CDTF">2021-12-11T05:10:14Z</dcterms:modified>
</cp:coreProperties>
</file>