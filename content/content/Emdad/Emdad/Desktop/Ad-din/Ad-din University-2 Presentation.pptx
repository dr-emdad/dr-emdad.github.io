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drawings/drawing1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48" r:id="rId1"/>
  </p:sldMasterIdLst>
  <p:notesMasterIdLst>
    <p:notesMasterId r:id="rId41"/>
  </p:notesMasterIdLst>
  <p:handoutMasterIdLst>
    <p:handoutMasterId r:id="rId42"/>
  </p:handoutMasterIdLst>
  <p:sldIdLst>
    <p:sldId id="256" r:id="rId2"/>
    <p:sldId id="427" r:id="rId3"/>
    <p:sldId id="428" r:id="rId4"/>
    <p:sldId id="301" r:id="rId5"/>
    <p:sldId id="418" r:id="rId6"/>
    <p:sldId id="434" r:id="rId7"/>
    <p:sldId id="424" r:id="rId8"/>
    <p:sldId id="435" r:id="rId9"/>
    <p:sldId id="452" r:id="rId10"/>
    <p:sldId id="437" r:id="rId11"/>
    <p:sldId id="438" r:id="rId12"/>
    <p:sldId id="440" r:id="rId13"/>
    <p:sldId id="441" r:id="rId14"/>
    <p:sldId id="442" r:id="rId15"/>
    <p:sldId id="369" r:id="rId16"/>
    <p:sldId id="319" r:id="rId17"/>
    <p:sldId id="320" r:id="rId18"/>
    <p:sldId id="321" r:id="rId19"/>
    <p:sldId id="322" r:id="rId20"/>
    <p:sldId id="323" r:id="rId21"/>
    <p:sldId id="355" r:id="rId22"/>
    <p:sldId id="381" r:id="rId23"/>
    <p:sldId id="354" r:id="rId24"/>
    <p:sldId id="360" r:id="rId25"/>
    <p:sldId id="447" r:id="rId26"/>
    <p:sldId id="449" r:id="rId27"/>
    <p:sldId id="450" r:id="rId28"/>
    <p:sldId id="448" r:id="rId29"/>
    <p:sldId id="457" r:id="rId30"/>
    <p:sldId id="443" r:id="rId31"/>
    <p:sldId id="444" r:id="rId32"/>
    <p:sldId id="402" r:id="rId33"/>
    <p:sldId id="410" r:id="rId34"/>
    <p:sldId id="315" r:id="rId35"/>
    <p:sldId id="388" r:id="rId36"/>
    <p:sldId id="451" r:id="rId37"/>
    <p:sldId id="453" r:id="rId38"/>
    <p:sldId id="456" r:id="rId39"/>
    <p:sldId id="458" r:id="rId4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A5B7FE7-BC81-4846-8973-91448A7F61FB}">
          <p14:sldIdLst>
            <p14:sldId id="256"/>
            <p14:sldId id="427"/>
            <p14:sldId id="428"/>
            <p14:sldId id="301"/>
            <p14:sldId id="418"/>
            <p14:sldId id="434"/>
            <p14:sldId id="424"/>
            <p14:sldId id="435"/>
            <p14:sldId id="452"/>
            <p14:sldId id="437"/>
            <p14:sldId id="438"/>
            <p14:sldId id="440"/>
            <p14:sldId id="441"/>
            <p14:sldId id="442"/>
            <p14:sldId id="369"/>
            <p14:sldId id="319"/>
            <p14:sldId id="320"/>
            <p14:sldId id="321"/>
            <p14:sldId id="322"/>
            <p14:sldId id="323"/>
            <p14:sldId id="355"/>
            <p14:sldId id="381"/>
            <p14:sldId id="354"/>
            <p14:sldId id="360"/>
            <p14:sldId id="447"/>
            <p14:sldId id="449"/>
            <p14:sldId id="450"/>
            <p14:sldId id="448"/>
            <p14:sldId id="457"/>
            <p14:sldId id="443"/>
            <p14:sldId id="444"/>
            <p14:sldId id="402"/>
            <p14:sldId id="410"/>
            <p14:sldId id="315"/>
            <p14:sldId id="388"/>
            <p14:sldId id="451"/>
            <p14:sldId id="453"/>
            <p14:sldId id="456"/>
            <p14:sldId id="458"/>
          </p14:sldIdLst>
        </p14:section>
      </p14:sectionLst>
    </p:ex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FF33CC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62" autoAdjust="0"/>
  </p:normalViewPr>
  <p:slideViewPr>
    <p:cSldViewPr>
      <p:cViewPr>
        <p:scale>
          <a:sx n="60" d="100"/>
          <a:sy n="60" d="100"/>
        </p:scale>
        <p:origin x="-1656" y="-29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40"/>
    </mc:Choice>
    <mc:Fallback>
      <c:style val="40"/>
    </mc:Fallback>
  </mc:AlternateContent>
  <c:chart>
    <c:autoTitleDeleted val="1"/>
    <c:view3D>
      <c:rotX val="15"/>
      <c:rotY val="20"/>
      <c:rAngAx val="1"/>
    </c:view3D>
    <c:floor>
      <c:thickness val="0"/>
    </c:floor>
    <c:sideWall>
      <c:thickness val="0"/>
      <c:spPr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18900000" scaled="1"/>
          <a:tileRect/>
        </a:gradFill>
      </c:spPr>
    </c:sideWall>
    <c:backWall>
      <c:thickness val="0"/>
      <c:spPr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18900000" scaled="1"/>
          <a:tileRect/>
        </a:gradFill>
      </c:spPr>
    </c:backWall>
    <c:plotArea>
      <c:layout>
        <c:manualLayout>
          <c:layoutTarget val="inner"/>
          <c:xMode val="edge"/>
          <c:yMode val="edge"/>
          <c:x val="0"/>
          <c:y val="3.1826405071994426E-2"/>
          <c:w val="0.98391812865497075"/>
          <c:h val="0.89490998503908359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70C0"/>
            </a:solidFill>
          </c:spPr>
          <c:invertIfNegative val="0"/>
          <c:dLbls>
            <c:txPr>
              <a:bodyPr/>
              <a:lstStyle/>
              <a:p>
                <a:pPr>
                  <a:defRPr sz="1200">
                    <a:latin typeface="Times New Roman" pitchFamily="18" charset="0"/>
                    <a:cs typeface="Times New Roman" pitchFamily="18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Sheet1!$A$2:$A$14</c:f>
              <c:numCache>
                <c:formatCode>General</c:formatCode>
                <c:ptCount val="13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  <c:pt idx="5">
                  <c:v>2013</c:v>
                </c:pt>
                <c:pt idx="6">
                  <c:v>2014</c:v>
                </c:pt>
                <c:pt idx="7">
                  <c:v>2015</c:v>
                </c:pt>
                <c:pt idx="8">
                  <c:v>2016</c:v>
                </c:pt>
                <c:pt idx="9">
                  <c:v>2017</c:v>
                </c:pt>
                <c:pt idx="10">
                  <c:v>2018</c:v>
                </c:pt>
                <c:pt idx="11">
                  <c:v>2019</c:v>
                </c:pt>
                <c:pt idx="12">
                  <c:v>2020</c:v>
                </c:pt>
              </c:numCache>
            </c:num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23286</c:v>
                </c:pt>
                <c:pt idx="1">
                  <c:v>25369</c:v>
                </c:pt>
                <c:pt idx="2">
                  <c:v>26899</c:v>
                </c:pt>
                <c:pt idx="3">
                  <c:v>27894</c:v>
                </c:pt>
                <c:pt idx="4">
                  <c:v>28963</c:v>
                </c:pt>
                <c:pt idx="5">
                  <c:v>26854</c:v>
                </c:pt>
                <c:pt idx="6">
                  <c:v>24857</c:v>
                </c:pt>
                <c:pt idx="7">
                  <c:v>25249</c:v>
                </c:pt>
                <c:pt idx="8">
                  <c:v>23673</c:v>
                </c:pt>
                <c:pt idx="9">
                  <c:v>24074</c:v>
                </c:pt>
                <c:pt idx="10">
                  <c:v>25325</c:v>
                </c:pt>
                <c:pt idx="11">
                  <c:v>24117</c:v>
                </c:pt>
                <c:pt idx="12">
                  <c:v>21663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invertIfNegative val="0"/>
          <c:cat>
            <c:numRef>
              <c:f>Sheet1!$A$2:$A$14</c:f>
              <c:numCache>
                <c:formatCode>General</c:formatCode>
                <c:ptCount val="13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  <c:pt idx="5">
                  <c:v>2013</c:v>
                </c:pt>
                <c:pt idx="6">
                  <c:v>2014</c:v>
                </c:pt>
                <c:pt idx="7">
                  <c:v>2015</c:v>
                </c:pt>
                <c:pt idx="8">
                  <c:v>2016</c:v>
                </c:pt>
                <c:pt idx="9">
                  <c:v>2017</c:v>
                </c:pt>
                <c:pt idx="10">
                  <c:v>2018</c:v>
                </c:pt>
                <c:pt idx="11">
                  <c:v>2019</c:v>
                </c:pt>
                <c:pt idx="12">
                  <c:v>2020</c:v>
                </c:pt>
              </c:numCache>
            </c:numRef>
          </c:cat>
          <c:val>
            <c:numRef>
              <c:f>Sheet1!$C$2:$C$14</c:f>
              <c:numCache>
                <c:formatCode>General</c:formatCode>
                <c:ptCount val="13"/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Column2</c:v>
                </c:pt>
              </c:strCache>
            </c:strRef>
          </c:tx>
          <c:invertIfNegative val="0"/>
          <c:cat>
            <c:numRef>
              <c:f>Sheet1!$A$2:$A$14</c:f>
              <c:numCache>
                <c:formatCode>General</c:formatCode>
                <c:ptCount val="13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  <c:pt idx="5">
                  <c:v>2013</c:v>
                </c:pt>
                <c:pt idx="6">
                  <c:v>2014</c:v>
                </c:pt>
                <c:pt idx="7">
                  <c:v>2015</c:v>
                </c:pt>
                <c:pt idx="8">
                  <c:v>2016</c:v>
                </c:pt>
                <c:pt idx="9">
                  <c:v>2017</c:v>
                </c:pt>
                <c:pt idx="10">
                  <c:v>2018</c:v>
                </c:pt>
                <c:pt idx="11">
                  <c:v>2019</c:v>
                </c:pt>
                <c:pt idx="12">
                  <c:v>2020</c:v>
                </c:pt>
              </c:numCache>
            </c:numRef>
          </c:cat>
          <c:val>
            <c:numRef>
              <c:f>Sheet1!$D$2:$D$14</c:f>
              <c:numCache>
                <c:formatCode>General</c:formatCode>
                <c:ptCount val="13"/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0"/>
        <c:gapDepth val="500"/>
        <c:shape val="cylinder"/>
        <c:axId val="152256896"/>
        <c:axId val="152258432"/>
        <c:axId val="0"/>
      </c:bar3DChart>
      <c:catAx>
        <c:axId val="1522568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1400">
                <a:latin typeface="Times New Roman" pitchFamily="18" charset="0"/>
                <a:cs typeface="Times New Roman" pitchFamily="18" charset="0"/>
              </a:defRPr>
            </a:pPr>
            <a:endParaRPr lang="en-US"/>
          </a:p>
        </c:txPr>
        <c:crossAx val="152258432"/>
        <c:crosses val="autoZero"/>
        <c:auto val="1"/>
        <c:lblAlgn val="ctr"/>
        <c:lblOffset val="100"/>
        <c:noMultiLvlLbl val="0"/>
      </c:catAx>
      <c:valAx>
        <c:axId val="15225843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5225689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29"/>
    </mc:Choice>
    <mc:Fallback>
      <c:style val="29"/>
    </mc:Fallback>
  </mc:AlternateContent>
  <c:chart>
    <c:title>
      <c:layout/>
      <c:overlay val="0"/>
    </c:title>
    <c:autoTitleDeleted val="0"/>
    <c:plotArea>
      <c:layout/>
      <c:line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NVD</c:v>
                </c:pt>
              </c:strCache>
            </c:strRef>
          </c:tx>
          <c:spPr>
            <a:ln>
              <a:solidFill>
                <a:schemeClr val="accent5"/>
              </a:solidFill>
            </a:ln>
          </c:spPr>
          <c:marker>
            <c:spPr>
              <a:solidFill>
                <a:schemeClr val="accent5">
                  <a:lumMod val="50000"/>
                </a:schemeClr>
              </a:solidFill>
            </c:spPr>
          </c:marker>
          <c:dLbls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Sheet1!$A$2:$A$12</c:f>
              <c:numCache>
                <c:formatCode>General</c:formatCode>
                <c:ptCount val="1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</c:numCache>
            </c:num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1536</c:v>
                </c:pt>
                <c:pt idx="1">
                  <c:v>1752</c:v>
                </c:pt>
                <c:pt idx="2">
                  <c:v>1698</c:v>
                </c:pt>
                <c:pt idx="3">
                  <c:v>1509</c:v>
                </c:pt>
                <c:pt idx="4">
                  <c:v>1365</c:v>
                </c:pt>
                <c:pt idx="5">
                  <c:v>1258</c:v>
                </c:pt>
                <c:pt idx="6">
                  <c:v>1385</c:v>
                </c:pt>
                <c:pt idx="7">
                  <c:v>634</c:v>
                </c:pt>
                <c:pt idx="8">
                  <c:v>616</c:v>
                </c:pt>
                <c:pt idx="9">
                  <c:v>826</c:v>
                </c:pt>
                <c:pt idx="10">
                  <c:v>654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C-Section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pPr>
              <a:solidFill>
                <a:srgbClr val="FF0000"/>
              </a:solidFill>
            </c:spPr>
          </c:marker>
          <c:dLbls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Sheet1!$A$2:$A$12</c:f>
              <c:numCache>
                <c:formatCode>General</c:formatCode>
                <c:ptCount val="1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</c:numCache>
            </c:num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2806</c:v>
                </c:pt>
                <c:pt idx="1">
                  <c:v>2698</c:v>
                </c:pt>
                <c:pt idx="2">
                  <c:v>2587</c:v>
                </c:pt>
                <c:pt idx="3">
                  <c:v>2385</c:v>
                </c:pt>
                <c:pt idx="4">
                  <c:v>2904</c:v>
                </c:pt>
                <c:pt idx="5">
                  <c:v>3120</c:v>
                </c:pt>
                <c:pt idx="6">
                  <c:v>3510</c:v>
                </c:pt>
                <c:pt idx="7">
                  <c:v>3092</c:v>
                </c:pt>
                <c:pt idx="8">
                  <c:v>3392</c:v>
                </c:pt>
                <c:pt idx="9">
                  <c:v>3279</c:v>
                </c:pt>
                <c:pt idx="10">
                  <c:v>3213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30733184"/>
        <c:axId val="152270720"/>
      </c:lineChart>
      <c:catAx>
        <c:axId val="1307331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crossAx val="152270720"/>
        <c:crosses val="autoZero"/>
        <c:auto val="1"/>
        <c:lblAlgn val="ctr"/>
        <c:lblOffset val="100"/>
        <c:noMultiLvlLbl val="0"/>
      </c:catAx>
      <c:valAx>
        <c:axId val="15227072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30733184"/>
        <c:crosses val="autoZero"/>
        <c:crossBetween val="between"/>
      </c:valAx>
    </c:plotArea>
    <c:legend>
      <c:legendPos val="t"/>
      <c:layout/>
      <c:overlay val="0"/>
    </c:legend>
    <c:plotVisOnly val="1"/>
    <c:dispBlanksAs val="zero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36"/>
    </mc:Choice>
    <mc:Fallback>
      <c:style val="36"/>
    </mc:Fallback>
  </mc:AlternateContent>
  <c:chart>
    <c:autoTitleDeleted val="0"/>
    <c:plotArea>
      <c:layout>
        <c:manualLayout>
          <c:layoutTarget val="inner"/>
          <c:xMode val="edge"/>
          <c:yMode val="edge"/>
          <c:x val="0"/>
          <c:y val="0"/>
          <c:w val="1"/>
          <c:h val="0.770920697412829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C-Section</c:v>
                </c:pt>
              </c:strCache>
            </c:strRef>
          </c:tx>
          <c:spPr>
            <a:solidFill>
              <a:srgbClr val="C00000"/>
            </a:solidFill>
          </c:spPr>
          <c:invertIfNegative val="0"/>
          <c:dLbls>
            <c:dLbl>
              <c:idx val="0"/>
              <c:layout>
                <c:manualLayout>
                  <c:x val="-1.3888888888888889E-3"/>
                  <c:y val="-1.78542306902153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0"/>
                  <c:y val="-1.034532027400924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 rot="-5400000" vert="horz"/>
              <a:lstStyle/>
              <a:p>
                <a:pPr>
                  <a:defRPr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4"/>
                <c:pt idx="0">
                  <c:v>Khulna Medical College Hospital</c:v>
                </c:pt>
                <c:pt idx="1">
                  <c:v>Kushtia Medical College Hospital</c:v>
                </c:pt>
                <c:pt idx="2">
                  <c:v>Jessore Medical College Hospital</c:v>
                </c:pt>
                <c:pt idx="3">
                  <c:v>Ad-din Sakina Women's Medical College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1563</c:v>
                </c:pt>
                <c:pt idx="1">
                  <c:v>1431</c:v>
                </c:pt>
                <c:pt idx="2">
                  <c:v>1072</c:v>
                </c:pt>
                <c:pt idx="3">
                  <c:v>3213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NVD</c:v>
                </c:pt>
              </c:strCache>
            </c:strRef>
          </c:tx>
          <c:spPr>
            <a:solidFill>
              <a:schemeClr val="accent1"/>
            </a:solidFill>
          </c:spPr>
          <c:invertIfNegative val="0"/>
          <c:dLbls>
            <c:dLbl>
              <c:idx val="0"/>
              <c:layout>
                <c:manualLayout>
                  <c:x val="-4.6296296296297014E-3"/>
                  <c:y val="-4.975123403626985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4.6296296296297014E-3"/>
                  <c:y val="8.418143844136825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-3.0864197530864729E-3"/>
                  <c:y val="1.058721929971837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-1.6975065616796881E-3"/>
                  <c:y val="-1.602379248048539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-3.0864197530864729E-3"/>
                  <c:y val="2.48756170181351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 rot="-5400000" vert="horz"/>
              <a:lstStyle/>
              <a:p>
                <a:pPr>
                  <a:defRPr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4"/>
                <c:pt idx="0">
                  <c:v>Khulna Medical College Hospital</c:v>
                </c:pt>
                <c:pt idx="1">
                  <c:v>Kushtia Medical College Hospital</c:v>
                </c:pt>
                <c:pt idx="2">
                  <c:v>Jessore Medical College Hospital</c:v>
                </c:pt>
                <c:pt idx="3">
                  <c:v>Ad-din Sakina Women's Medical College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1763</c:v>
                </c:pt>
                <c:pt idx="1">
                  <c:v>1729</c:v>
                </c:pt>
                <c:pt idx="2">
                  <c:v>1254</c:v>
                </c:pt>
                <c:pt idx="3">
                  <c:v>654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Total Delivery</c:v>
                </c:pt>
              </c:strCache>
            </c:strRef>
          </c:tx>
          <c:spPr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accent1"/>
              </a:solidFill>
            </a:ln>
          </c:spPr>
          <c:invertIfNegative val="0"/>
          <c:dLbls>
            <c:dLbl>
              <c:idx val="0"/>
              <c:layout>
                <c:manualLayout>
                  <c:x val="-3.086419753086466E-3"/>
                  <c:y val="9.3625796775405985E-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0"/>
                  <c:y val="-3.694975628046539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3.086419753086492E-3"/>
                  <c:y val="-3.086635926983937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1.0185067526415994E-16"/>
                  <c:y val="0"/>
                </c:manualLayout>
              </c:layout>
              <c:tx>
                <c:rich>
                  <a:bodyPr/>
                  <a:lstStyle/>
                  <a:p>
                    <a:r>
                      <a:rPr lang="en-US" sz="2000" dirty="0" smtClean="0"/>
                      <a:t>3867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 rot="-5400000" vert="horz"/>
              <a:lstStyle/>
              <a:p>
                <a:pPr>
                  <a:defRPr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4"/>
                <c:pt idx="0">
                  <c:v>Khulna Medical College Hospital</c:v>
                </c:pt>
                <c:pt idx="1">
                  <c:v>Kushtia Medical College Hospital</c:v>
                </c:pt>
                <c:pt idx="2">
                  <c:v>Jessore Medical College Hospital</c:v>
                </c:pt>
                <c:pt idx="3">
                  <c:v>Ad-din Sakina Women's Medical College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3326</c:v>
                </c:pt>
                <c:pt idx="1">
                  <c:v>3160</c:v>
                </c:pt>
                <c:pt idx="2">
                  <c:v>2326</c:v>
                </c:pt>
                <c:pt idx="3">
                  <c:v>3867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2338816"/>
        <c:axId val="152340352"/>
      </c:barChart>
      <c:catAx>
        <c:axId val="152338816"/>
        <c:scaling>
          <c:orientation val="minMax"/>
        </c:scaling>
        <c:delete val="0"/>
        <c:axPos val="b"/>
        <c:majorTickMark val="out"/>
        <c:minorTickMark val="none"/>
        <c:tickLblPos val="nextTo"/>
        <c:crossAx val="152340352"/>
        <c:crosses val="autoZero"/>
        <c:auto val="1"/>
        <c:lblAlgn val="ctr"/>
        <c:lblOffset val="100"/>
        <c:noMultiLvlLbl val="0"/>
      </c:catAx>
      <c:valAx>
        <c:axId val="152340352"/>
        <c:scaling>
          <c:orientation val="minMax"/>
        </c:scaling>
        <c:delete val="1"/>
        <c:axPos val="l"/>
        <c:majorGridlines/>
        <c:numFmt formatCode="General" sourceLinked="1"/>
        <c:majorTickMark val="out"/>
        <c:minorTickMark val="none"/>
        <c:tickLblPos val="nextTo"/>
        <c:crossAx val="152338816"/>
        <c:crosses val="autoZero"/>
        <c:crossBetween val="between"/>
      </c:valAx>
      <c:spPr>
        <a:ln>
          <a:solidFill>
            <a:schemeClr val="accent1"/>
          </a:solidFill>
        </a:ln>
      </c:spPr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  <c:userShapes r:id="rId2"/>
</c:chartSpace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0.34259</cdr:x>
      <cdr:y>0.77612</cdr:y>
    </cdr:from>
    <cdr:to>
      <cdr:x>0.34815</cdr:x>
      <cdr:y>0.80597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2819400" y="3962400"/>
          <a:ext cx="45719" cy="152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endParaRPr lang="en-US" sz="1100" dirty="0"/>
        </a:p>
      </cdr:txBody>
    </cdr:sp>
  </cdr:relSizeAnchor>
  <cdr:relSizeAnchor xmlns:cdr="http://schemas.openxmlformats.org/drawingml/2006/chartDrawing">
    <cdr:from>
      <cdr:x>0.67593</cdr:x>
      <cdr:y>0.9403</cdr:y>
    </cdr:from>
    <cdr:to>
      <cdr:x>0.80556</cdr:x>
      <cdr:y>1</cdr:y>
    </cdr:to>
    <cdr:sp macro="" textlink="">
      <cdr:nvSpPr>
        <cdr:cNvPr id="5" name="TextBox 4"/>
        <cdr:cNvSpPr txBox="1"/>
      </cdr:nvSpPr>
      <cdr:spPr>
        <a:xfrm xmlns:a="http://schemas.openxmlformats.org/drawingml/2006/main">
          <a:off x="5562600" y="5029200"/>
          <a:ext cx="1066803" cy="318439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endParaRPr lang="en-US" sz="1600" b="1" dirty="0"/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22427-8CFB-4497-A1CC-B7E42A2B11D0}" type="datetimeFigureOut">
              <a:rPr lang="en-US" smtClean="0"/>
              <a:pPr/>
              <a:t>12/11/2021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7A5922-62E8-415A-B0C4-509C57D119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301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438CAE-D691-4F1B-BFE5-E857D71999D6}" type="datetimeFigureOut">
              <a:rPr lang="en-US" smtClean="0"/>
              <a:pPr/>
              <a:t>12/11/2021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B412F0-B504-4C90-8F49-F3511EBEC8A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225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B412F0-B504-4C90-8F49-F3511EBEC8A0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B412F0-B504-4C90-8F49-F3511EBEC8A0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B412F0-B504-4C90-8F49-F3511EBEC8A0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/>
              <a:pPr/>
              <a:t>12/11/2021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/>
              <a:pPr/>
              <a:t>12/11/2021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/>
              <a:pPr/>
              <a:t>12/11/2021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/>
              <a:pPr/>
              <a:t>12/11/2021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/>
              <a:pPr/>
              <a:t>12/11/2021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/>
              <a:pPr/>
              <a:t>12/11/2021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/>
              <a:pPr/>
              <a:t>12/11/2021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/>
              <a:pPr/>
              <a:t>12/11/2021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/>
              <a:pPr/>
              <a:t>12/11/2021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/>
              <a:pPr/>
              <a:t>12/11/2021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/>
              <a:pPr/>
              <a:t>12/11/2021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04E2CD-9B18-4AD9-A90B-073F70C101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FF549E-DDB3-4F8E-B3F4-BC7B4533DDC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4920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26BB9A5-0185-4C4A-9117-9337DC6A83FA}" type="datetimeFigureOut">
              <a:rPr lang="en-US" smtClean="0"/>
              <a:pPr/>
              <a:t>12/11/2021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49" r:id="rId1"/>
    <p:sldLayoutId id="2147484350" r:id="rId2"/>
    <p:sldLayoutId id="2147484351" r:id="rId3"/>
    <p:sldLayoutId id="2147484352" r:id="rId4"/>
    <p:sldLayoutId id="2147484353" r:id="rId5"/>
    <p:sldLayoutId id="2147484354" r:id="rId6"/>
    <p:sldLayoutId id="2147484355" r:id="rId7"/>
    <p:sldLayoutId id="2147484356" r:id="rId8"/>
    <p:sldLayoutId id="2147484357" r:id="rId9"/>
    <p:sldLayoutId id="2147484358" r:id="rId10"/>
    <p:sldLayoutId id="2147484359" r:id="rId11"/>
    <p:sldLayoutId id="2147484360" r:id="rId12"/>
    <p:sldLayoutId id="2147484362" r:id="rId13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6.png"/><Relationship Id="rId5" Type="http://schemas.openxmlformats.org/officeDocument/2006/relationships/oleObject" Target="../embeddings/oleObject2.bin"/><Relationship Id="rId4" Type="http://schemas.openxmlformats.org/officeDocument/2006/relationships/image" Target="../media/image15.png"/><Relationship Id="rId9" Type="http://schemas.openxmlformats.org/officeDocument/2006/relationships/image" Target="../media/image14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38100"/>
            <a:ext cx="8534400" cy="1371600"/>
          </a:xfrm>
        </p:spPr>
        <p:txBody>
          <a:bodyPr anchor="ctr">
            <a:normAutofit/>
          </a:bodyPr>
          <a:lstStyle/>
          <a:p>
            <a:r>
              <a:rPr sz="3200" dirty="0" err="1" smtClean="0"/>
              <a:t>Ad-din</a:t>
            </a:r>
            <a:r>
              <a:rPr sz="3200" dirty="0" smtClean="0"/>
              <a:t> </a:t>
            </a:r>
            <a:r>
              <a:rPr sz="3200" dirty="0" err="1" smtClean="0"/>
              <a:t>Sakina</a:t>
            </a:r>
            <a:r>
              <a:rPr sz="3200" dirty="0" smtClean="0"/>
              <a:t> </a:t>
            </a:r>
            <a:r>
              <a:rPr lang="en-IN" sz="3200" dirty="0" smtClean="0"/>
              <a:t>Women’s </a:t>
            </a:r>
            <a:r>
              <a:rPr sz="3200" dirty="0" smtClean="0"/>
              <a:t>Medical College Hospital</a:t>
            </a:r>
            <a:endParaRPr lang="en-US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1752600"/>
            <a:ext cx="8305800" cy="36576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3" descr="IMG_9303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4800" y="1600200"/>
            <a:ext cx="8534400" cy="45523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1981200" y="60325"/>
            <a:ext cx="47244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</a:rPr>
              <a:t>Founder of Ad-din</a:t>
            </a:r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199684" y="1069975"/>
            <a:ext cx="5334000" cy="155734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2800" dirty="0">
                <a:solidFill>
                  <a:schemeClr val="accent1">
                    <a:lumMod val="50000"/>
                  </a:schemeClr>
                </a:solidFill>
              </a:rPr>
              <a:t>Late Sheikh Akijuddin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rgbClr val="FF0000"/>
                </a:solidFill>
              </a:rPr>
              <a:t>Founder Chairman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solidFill>
                  <a:srgbClr val="FF0000"/>
                </a:solidFill>
              </a:rPr>
              <a:t>Established Ad-din out of  corporate social responsibility.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solidFill>
                  <a:srgbClr val="FF0000"/>
                </a:solidFill>
              </a:rPr>
              <a:t>Founder of Akij Group with 20 business units.</a:t>
            </a:r>
          </a:p>
        </p:txBody>
      </p:sp>
      <p:pic>
        <p:nvPicPr>
          <p:cNvPr id="24580" name="Picture 4" descr="1"/>
          <p:cNvPicPr>
            <a:picLocks noChangeAspect="1" noChangeArrowheads="1"/>
          </p:cNvPicPr>
          <p:nvPr/>
        </p:nvPicPr>
        <p:blipFill>
          <a:blip r:embed="rId3"/>
          <a:srcRect t="3416" b="4584"/>
          <a:stretch>
            <a:fillRect/>
          </a:stretch>
        </p:blipFill>
        <p:spPr bwMode="auto">
          <a:xfrm>
            <a:off x="5943600" y="1002511"/>
            <a:ext cx="2867025" cy="169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81" name="Picture 5" descr="untitled1"/>
          <p:cNvPicPr>
            <a:picLocks noChangeAspect="1" noChangeArrowheads="1"/>
          </p:cNvPicPr>
          <p:nvPr/>
        </p:nvPicPr>
        <p:blipFill>
          <a:blip r:embed="rId4"/>
          <a:srcRect l="5402" t="14680" b="37218"/>
          <a:stretch>
            <a:fillRect/>
          </a:stretch>
        </p:blipFill>
        <p:spPr bwMode="auto">
          <a:xfrm>
            <a:off x="5943600" y="3054350"/>
            <a:ext cx="2867025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582" name="Rectangle 6"/>
          <p:cNvSpPr>
            <a:spLocks noChangeArrowheads="1"/>
          </p:cNvSpPr>
          <p:nvPr/>
        </p:nvSpPr>
        <p:spPr bwMode="auto">
          <a:xfrm>
            <a:off x="246982" y="3081338"/>
            <a:ext cx="5334000" cy="149701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dirty="0">
                <a:solidFill>
                  <a:schemeClr val="accent1">
                    <a:lumMod val="50000"/>
                  </a:schemeClr>
                </a:solidFill>
              </a:rPr>
              <a:t>Late Prof. Sharif Hossain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spcBef>
                <a:spcPct val="50000"/>
              </a:spcBef>
            </a:pPr>
            <a:r>
              <a:rPr lang="en-US" sz="1600" dirty="0">
                <a:solidFill>
                  <a:srgbClr val="FF0000"/>
                </a:solidFill>
              </a:rPr>
              <a:t>Founder of lot of social organizations, educationist, recipient of Ekushe Padak.</a:t>
            </a:r>
          </a:p>
          <a:p>
            <a:pPr>
              <a:spcBef>
                <a:spcPct val="50000"/>
              </a:spcBef>
            </a:pP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4583" name="Rectangle 7"/>
          <p:cNvSpPr>
            <a:spLocks noChangeArrowheads="1"/>
          </p:cNvSpPr>
          <p:nvPr/>
        </p:nvSpPr>
        <p:spPr bwMode="auto">
          <a:xfrm>
            <a:off x="231216" y="5426075"/>
            <a:ext cx="5334000" cy="86177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3200" dirty="0">
                <a:solidFill>
                  <a:schemeClr val="accent1">
                    <a:lumMod val="50000"/>
                  </a:schemeClr>
                </a:solidFill>
              </a:rPr>
              <a:t>Dr. Sheikh Mohiuddin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Founder Executive Director</a:t>
            </a:r>
          </a:p>
        </p:txBody>
      </p:sp>
      <p:pic>
        <p:nvPicPr>
          <p:cNvPr id="24584" name="Picture 8" descr="04"/>
          <p:cNvPicPr>
            <a:picLocks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943600" y="4876800"/>
            <a:ext cx="2906712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894279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3D4A8"/>
            </a:gs>
            <a:gs pos="25000">
              <a:srgbClr val="21D6E0"/>
            </a:gs>
            <a:gs pos="75000">
              <a:srgbClr val="0087E6"/>
            </a:gs>
            <a:gs pos="100000">
              <a:srgbClr val="005CBF"/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2"/>
          <p:cNvSpPr txBox="1">
            <a:spLocks noChangeArrowheads="1"/>
          </p:cNvSpPr>
          <p:nvPr/>
        </p:nvSpPr>
        <p:spPr bwMode="auto">
          <a:xfrm>
            <a:off x="2819400" y="822325"/>
            <a:ext cx="30480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4000" b="1" u="sng" dirty="0">
                <a:solidFill>
                  <a:schemeClr val="accent1">
                    <a:lumMod val="50000"/>
                  </a:schemeClr>
                </a:solidFill>
              </a:rPr>
              <a:t>Core Values</a:t>
            </a:r>
          </a:p>
        </p:txBody>
      </p:sp>
      <p:sp>
        <p:nvSpPr>
          <p:cNvPr id="26627" name="Text Box 3"/>
          <p:cNvSpPr txBox="1">
            <a:spLocks noChangeArrowheads="1"/>
          </p:cNvSpPr>
          <p:nvPr/>
        </p:nvSpPr>
        <p:spPr bwMode="auto">
          <a:xfrm>
            <a:off x="304800" y="2971800"/>
            <a:ext cx="4038601" cy="203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90000"/>
              </a:lnSpc>
              <a:spcBef>
                <a:spcPct val="50000"/>
              </a:spcBef>
              <a:buClr>
                <a:schemeClr val="accent2">
                  <a:lumMod val="50000"/>
                </a:schemeClr>
              </a:buClr>
              <a:buFont typeface="Wingdings" pitchFamily="2" charset="2"/>
              <a:buChar char="Ø"/>
            </a:pPr>
            <a:r>
              <a:rPr lang="en-US" sz="2800" dirty="0">
                <a:solidFill>
                  <a:schemeClr val="accent2">
                    <a:lumMod val="50000"/>
                  </a:schemeClr>
                </a:solidFill>
              </a:rPr>
              <a:t>To respect and take care of the cultural &amp; religious values of our country as a part of development</a:t>
            </a:r>
          </a:p>
        </p:txBody>
      </p:sp>
      <p:pic>
        <p:nvPicPr>
          <p:cNvPr id="26628" name="Picture 4" descr="5"/>
          <p:cNvPicPr>
            <a:picLocks noChangeAspect="1" noChangeArrowheads="1"/>
          </p:cNvPicPr>
          <p:nvPr/>
        </p:nvPicPr>
        <p:blipFill>
          <a:blip r:embed="rId2"/>
          <a:srcRect l="11928"/>
          <a:stretch>
            <a:fillRect/>
          </a:stretch>
        </p:blipFill>
        <p:spPr bwMode="auto">
          <a:xfrm>
            <a:off x="6026150" y="304800"/>
            <a:ext cx="2813050" cy="2468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629" name="Picture 5" descr="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8938" y="304800"/>
            <a:ext cx="2201862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630" name="Picture 6" descr="7"/>
          <p:cNvPicPr>
            <a:picLocks noChangeAspect="1" noChangeArrowheads="1"/>
          </p:cNvPicPr>
          <p:nvPr/>
        </p:nvPicPr>
        <p:blipFill>
          <a:blip r:embed="rId4"/>
          <a:srcRect l="7317" t="8344" r="9756" b="2782"/>
          <a:stretch>
            <a:fillRect/>
          </a:stretch>
        </p:blipFill>
        <p:spPr bwMode="auto">
          <a:xfrm>
            <a:off x="6038850" y="4194175"/>
            <a:ext cx="2819400" cy="2435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12133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 Box 2"/>
          <p:cNvSpPr txBox="1">
            <a:spLocks noChangeArrowheads="1"/>
          </p:cNvSpPr>
          <p:nvPr/>
        </p:nvSpPr>
        <p:spPr bwMode="auto">
          <a:xfrm>
            <a:off x="1016296" y="47530"/>
            <a:ext cx="7239000" cy="2046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70000"/>
              </a:lnSpc>
              <a:spcBef>
                <a:spcPct val="50000"/>
              </a:spcBef>
            </a:pPr>
            <a:endParaRPr lang="en-US" altLang="en-US" sz="1000" dirty="0">
              <a:solidFill>
                <a:schemeClr val="accent2"/>
              </a:solidFill>
            </a:endParaRPr>
          </a:p>
          <a:p>
            <a:pPr algn="ctr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en-US" sz="3200" dirty="0">
                <a:solidFill>
                  <a:schemeClr val="tx2">
                    <a:lumMod val="50000"/>
                  </a:schemeClr>
                </a:solidFill>
              </a:rPr>
              <a:t>Ad-din </a:t>
            </a:r>
            <a:r>
              <a:rPr lang="en-US" altLang="en-US" sz="3200" dirty="0" smtClean="0">
                <a:solidFill>
                  <a:schemeClr val="tx2">
                    <a:lumMod val="50000"/>
                  </a:schemeClr>
                </a:solidFill>
              </a:rPr>
              <a:t>Sakina Medical College Hospital</a:t>
            </a:r>
            <a:endParaRPr lang="en-US" altLang="en-US" sz="3200" dirty="0">
              <a:solidFill>
                <a:schemeClr val="tx2">
                  <a:lumMod val="50000"/>
                </a:schemeClr>
              </a:solidFill>
            </a:endParaRPr>
          </a:p>
          <a:p>
            <a:pPr algn="ctr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en-US" sz="3200" dirty="0" smtClean="0">
                <a:solidFill>
                  <a:schemeClr val="tx1"/>
                </a:solidFill>
              </a:rPr>
              <a:t>Background History</a:t>
            </a:r>
            <a:endParaRPr lang="en-US" altLang="en-US" dirty="0">
              <a:solidFill>
                <a:schemeClr val="tx1"/>
              </a:solidFill>
            </a:endParaRPr>
          </a:p>
          <a:p>
            <a:pPr algn="ctr" eaLnBrk="1" hangingPunct="1">
              <a:lnSpc>
                <a:spcPct val="70000"/>
              </a:lnSpc>
              <a:spcBef>
                <a:spcPct val="50000"/>
              </a:spcBef>
            </a:pPr>
            <a:endParaRPr lang="en-US" altLang="en-US" sz="3600" dirty="0">
              <a:solidFill>
                <a:schemeClr val="accent2"/>
              </a:solidFill>
            </a:endParaRPr>
          </a:p>
        </p:txBody>
      </p:sp>
      <p:sp>
        <p:nvSpPr>
          <p:cNvPr id="44035" name="Text Box 3"/>
          <p:cNvSpPr txBox="1">
            <a:spLocks noChangeArrowheads="1"/>
          </p:cNvSpPr>
          <p:nvPr/>
        </p:nvSpPr>
        <p:spPr bwMode="auto">
          <a:xfrm>
            <a:off x="-1726" y="1524001"/>
            <a:ext cx="5030926" cy="424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endParaRPr lang="en-US" altLang="en-US" sz="2000" dirty="0" smtClean="0">
              <a:solidFill>
                <a:schemeClr val="tx1"/>
              </a:solidFill>
            </a:endParaRPr>
          </a:p>
          <a:p>
            <a:pPr marL="342900" indent="-342900" algn="just" eaLnBrk="1" hangingPunct="1">
              <a:spcBef>
                <a:spcPct val="50000"/>
              </a:spcBef>
              <a:buClr>
                <a:schemeClr val="tx2">
                  <a:lumMod val="50000"/>
                </a:schemeClr>
              </a:buClr>
              <a:buFont typeface="Wingdings" pitchFamily="2" charset="2"/>
              <a:buChar char="v"/>
            </a:pPr>
            <a:r>
              <a:rPr lang="en-US" altLang="en-US" sz="2000" dirty="0">
                <a:solidFill>
                  <a:schemeClr val="tx1"/>
                </a:solidFill>
              </a:rPr>
              <a:t>Started </a:t>
            </a:r>
            <a:r>
              <a:rPr lang="en-US" sz="2000" dirty="0">
                <a:solidFill>
                  <a:schemeClr val="tx1"/>
                </a:solidFill>
                <a:cs typeface="Times New Roman" pitchFamily="18" charset="0"/>
              </a:rPr>
              <a:t>as an orphanage</a:t>
            </a:r>
            <a:r>
              <a:rPr lang="en-US" altLang="en-US" sz="2000" dirty="0">
                <a:solidFill>
                  <a:schemeClr val="tx1"/>
                </a:solidFill>
              </a:rPr>
              <a:t> </a:t>
            </a:r>
            <a:r>
              <a:rPr lang="en-US" sz="2000" dirty="0">
                <a:solidFill>
                  <a:schemeClr val="tx1"/>
                </a:solidFill>
                <a:cs typeface="Times New Roman" pitchFamily="18" charset="0"/>
              </a:rPr>
              <a:t>at </a:t>
            </a:r>
            <a:r>
              <a:rPr lang="en-US" sz="2000" dirty="0" err="1">
                <a:solidFill>
                  <a:schemeClr val="tx1"/>
                </a:solidFill>
                <a:cs typeface="Times New Roman" pitchFamily="18" charset="0"/>
              </a:rPr>
              <a:t>Khuladanga</a:t>
            </a:r>
            <a:r>
              <a:rPr lang="en-US" sz="2000" dirty="0">
                <a:solidFill>
                  <a:schemeClr val="tx1"/>
                </a:solidFill>
                <a:cs typeface="Times New Roman" pitchFamily="18" charset="0"/>
              </a:rPr>
              <a:t>, </a:t>
            </a:r>
            <a:r>
              <a:rPr lang="en-US" sz="2000" dirty="0" err="1">
                <a:solidFill>
                  <a:schemeClr val="tx1"/>
                </a:solidFill>
                <a:cs typeface="Times New Roman" pitchFamily="18" charset="0"/>
              </a:rPr>
              <a:t>Jashore</a:t>
            </a:r>
            <a:r>
              <a:rPr lang="en-US" sz="2000" dirty="0">
                <a:solidFill>
                  <a:schemeClr val="tx1"/>
                </a:solidFill>
                <a:cs typeface="Times New Roman" pitchFamily="18" charset="0"/>
              </a:rPr>
              <a:t>  in 17 December 1980.</a:t>
            </a:r>
          </a:p>
          <a:p>
            <a:pPr marL="285750" indent="-285750" algn="just" eaLnBrk="1" hangingPunct="1">
              <a:spcBef>
                <a:spcPct val="50000"/>
              </a:spcBef>
              <a:buFont typeface="Wingdings" panose="05000000000000000000" pitchFamily="2" charset="2"/>
              <a:buChar char="v"/>
            </a:pPr>
            <a:r>
              <a:rPr lang="en-US" sz="2000" dirty="0" err="1">
                <a:solidFill>
                  <a:schemeClr val="tx1"/>
                </a:solidFill>
                <a:cs typeface="Times New Roman" pitchFamily="18" charset="0"/>
              </a:rPr>
              <a:t>Ad-din</a:t>
            </a:r>
            <a:r>
              <a:rPr lang="en-US" sz="2000" dirty="0">
                <a:solidFill>
                  <a:schemeClr val="tx1"/>
                </a:solidFill>
                <a:cs typeface="Times New Roman" pitchFamily="18" charset="0"/>
              </a:rPr>
              <a:t> Hospital Started in </a:t>
            </a:r>
            <a:r>
              <a:rPr lang="en-US" altLang="en-US" sz="2000" dirty="0">
                <a:solidFill>
                  <a:schemeClr val="tx1"/>
                </a:solidFill>
              </a:rPr>
              <a:t>5 April 1985 with the aim of providing standard MCH service with minimum cost .</a:t>
            </a:r>
          </a:p>
          <a:p>
            <a:pPr marL="285750" indent="-285750" algn="just" eaLnBrk="1" hangingPunct="1">
              <a:spcBef>
                <a:spcPct val="50000"/>
              </a:spcBef>
              <a:buFont typeface="Wingdings" panose="05000000000000000000" pitchFamily="2" charset="2"/>
              <a:buChar char="v"/>
            </a:pPr>
            <a:r>
              <a:rPr lang="en-US" altLang="en-US" sz="2000" dirty="0" err="1">
                <a:solidFill>
                  <a:schemeClr val="tx1"/>
                </a:solidFill>
              </a:rPr>
              <a:t>Ad-din</a:t>
            </a:r>
            <a:r>
              <a:rPr lang="en-US" altLang="en-US" sz="2000" dirty="0">
                <a:solidFill>
                  <a:schemeClr val="tx1"/>
                </a:solidFill>
              </a:rPr>
              <a:t> Nursing Institute started in </a:t>
            </a:r>
            <a:r>
              <a:rPr lang="en-US" altLang="en-US" sz="2000" dirty="0" smtClean="0">
                <a:solidFill>
                  <a:schemeClr val="tx1"/>
                </a:solidFill>
              </a:rPr>
              <a:t>1997. </a:t>
            </a:r>
            <a:endParaRPr lang="en-US" altLang="en-US" sz="2000" dirty="0">
              <a:solidFill>
                <a:schemeClr val="tx1"/>
              </a:solidFill>
            </a:endParaRPr>
          </a:p>
          <a:p>
            <a:pPr marL="285750" indent="-285750" algn="just" eaLnBrk="1" hangingPunct="1">
              <a:spcBef>
                <a:spcPct val="50000"/>
              </a:spcBef>
              <a:buFont typeface="Wingdings" panose="05000000000000000000" pitchFamily="2" charset="2"/>
              <a:buChar char="v"/>
            </a:pPr>
            <a:r>
              <a:rPr lang="en-US" altLang="en-US" sz="2000" dirty="0" err="1">
                <a:solidFill>
                  <a:schemeClr val="tx1"/>
                </a:solidFill>
              </a:rPr>
              <a:t>Ad-din</a:t>
            </a:r>
            <a:r>
              <a:rPr lang="en-US" altLang="en-US" sz="2000" dirty="0">
                <a:solidFill>
                  <a:schemeClr val="tx1"/>
                </a:solidFill>
              </a:rPr>
              <a:t> Medical Technologist institute started in 2004.</a:t>
            </a:r>
          </a:p>
          <a:p>
            <a:pPr marL="285750" indent="-285750" algn="just" eaLnBrk="1" hangingPunct="1">
              <a:spcBef>
                <a:spcPct val="50000"/>
              </a:spcBef>
              <a:buFont typeface="Wingdings" panose="05000000000000000000" pitchFamily="2" charset="2"/>
              <a:buChar char="v"/>
            </a:pPr>
            <a:r>
              <a:rPr lang="en-US" altLang="en-US" sz="2000" dirty="0" err="1">
                <a:solidFill>
                  <a:schemeClr val="tx1"/>
                </a:solidFill>
              </a:rPr>
              <a:t>Ad-din</a:t>
            </a:r>
            <a:r>
              <a:rPr lang="en-US" altLang="en-US" sz="2000" dirty="0">
                <a:solidFill>
                  <a:schemeClr val="tx1"/>
                </a:solidFill>
              </a:rPr>
              <a:t> Sakina Women’s Medical College started in 2011</a:t>
            </a:r>
          </a:p>
        </p:txBody>
      </p:sp>
      <p:pic>
        <p:nvPicPr>
          <p:cNvPr id="44038" name="Picture 6" descr="Ad-din Hospital Front sid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73" t="25000" r="6250" b="11000"/>
          <a:stretch>
            <a:fillRect/>
          </a:stretch>
        </p:blipFill>
        <p:spPr bwMode="auto">
          <a:xfrm>
            <a:off x="5232197" y="1916057"/>
            <a:ext cx="3913992" cy="3265543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117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3"/>
          <p:cNvSpPr txBox="1">
            <a:spLocks noChangeArrowheads="1"/>
          </p:cNvSpPr>
          <p:nvPr/>
        </p:nvSpPr>
        <p:spPr bwMode="auto">
          <a:xfrm>
            <a:off x="2438400" y="3200400"/>
            <a:ext cx="2133600" cy="781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1400" b="1" dirty="0" err="1">
                <a:latin typeface="Corbel" pitchFamily="34" charset="0"/>
              </a:rPr>
              <a:t>Ad-din</a:t>
            </a:r>
            <a:r>
              <a:rPr lang="en-US" altLang="en-US" sz="1400" b="1" dirty="0">
                <a:latin typeface="Corbel" pitchFamily="34" charset="0"/>
              </a:rPr>
              <a:t> </a:t>
            </a:r>
            <a:r>
              <a:rPr lang="en-US" altLang="en-US" sz="1400" b="1" dirty="0" err="1">
                <a:latin typeface="Corbel" pitchFamily="34" charset="0"/>
              </a:rPr>
              <a:t>Sakina</a:t>
            </a:r>
            <a:r>
              <a:rPr lang="en-US" altLang="en-US" sz="1400" b="1" dirty="0">
                <a:latin typeface="Corbel" pitchFamily="34" charset="0"/>
              </a:rPr>
              <a:t> Medical College Hospital, </a:t>
            </a:r>
            <a:r>
              <a:rPr lang="en-US" altLang="en-US" sz="1400" b="1" dirty="0" err="1">
                <a:latin typeface="Corbel" pitchFamily="34" charset="0"/>
              </a:rPr>
              <a:t>Jessore</a:t>
            </a:r>
            <a:endParaRPr lang="en-US" altLang="en-US" sz="1400" b="1" dirty="0">
              <a:latin typeface="Corbel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 sz="1400" b="1" dirty="0" err="1">
                <a:latin typeface="Corbel" pitchFamily="34" charset="0"/>
              </a:rPr>
              <a:t>Estd</a:t>
            </a:r>
            <a:r>
              <a:rPr lang="en-US" altLang="en-US" sz="1400" b="1" dirty="0">
                <a:latin typeface="Corbel" pitchFamily="34" charset="0"/>
              </a:rPr>
              <a:t>. 4 April 1985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400" b="1" dirty="0" smtClean="0">
                <a:latin typeface="Corbel" pitchFamily="34" charset="0"/>
              </a:rPr>
              <a:t>300-Bed</a:t>
            </a:r>
            <a:endParaRPr lang="en-US" altLang="en-US" sz="1400" b="1" dirty="0">
              <a:latin typeface="Corbel" pitchFamily="34" charset="0"/>
            </a:endParaRPr>
          </a:p>
        </p:txBody>
      </p:sp>
      <p:sp>
        <p:nvSpPr>
          <p:cNvPr id="36867" name="Text Box 4"/>
          <p:cNvSpPr txBox="1">
            <a:spLocks noChangeArrowheads="1"/>
          </p:cNvSpPr>
          <p:nvPr/>
        </p:nvSpPr>
        <p:spPr bwMode="auto">
          <a:xfrm>
            <a:off x="838200" y="76200"/>
            <a:ext cx="74676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en-US" sz="4000" b="1"/>
              <a:t>Ad-din Hospitals</a:t>
            </a:r>
          </a:p>
        </p:txBody>
      </p:sp>
      <p:pic>
        <p:nvPicPr>
          <p:cNvPr id="36868" name="Picture 5" descr="1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57400" y="4267200"/>
            <a:ext cx="2514600" cy="140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869" name="Text Box 6"/>
          <p:cNvSpPr txBox="1">
            <a:spLocks noChangeArrowheads="1"/>
          </p:cNvSpPr>
          <p:nvPr/>
        </p:nvSpPr>
        <p:spPr bwMode="auto">
          <a:xfrm>
            <a:off x="76200" y="3200400"/>
            <a:ext cx="2133600" cy="104028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en-US" sz="1400" b="1" dirty="0" err="1">
                <a:latin typeface="Corbel" pitchFamily="34" charset="0"/>
              </a:rPr>
              <a:t>Ad-din</a:t>
            </a:r>
            <a:r>
              <a:rPr lang="en-US" altLang="en-US" sz="1400" b="1" dirty="0">
                <a:latin typeface="Corbel" pitchFamily="34" charset="0"/>
              </a:rPr>
              <a:t> Medical College Hospital, Dhaka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1400" b="1" dirty="0" err="1">
                <a:latin typeface="Corbel" pitchFamily="34" charset="0"/>
              </a:rPr>
              <a:t>Estd</a:t>
            </a:r>
            <a:r>
              <a:rPr lang="en-US" altLang="en-US" sz="1400" b="1" dirty="0">
                <a:latin typeface="Corbel" pitchFamily="34" charset="0"/>
              </a:rPr>
              <a:t>. 1 Nov 1997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1400" b="1" dirty="0" smtClean="0">
                <a:latin typeface="Corbel" pitchFamily="34" charset="0"/>
              </a:rPr>
              <a:t>500-Bed</a:t>
            </a:r>
            <a:endParaRPr lang="en-US" altLang="en-US" sz="1400" b="1" dirty="0">
              <a:latin typeface="Corbel" pitchFamily="34" charset="0"/>
            </a:endParaRPr>
          </a:p>
        </p:txBody>
      </p:sp>
      <p:sp>
        <p:nvSpPr>
          <p:cNvPr id="36870" name="Text Box 7"/>
          <p:cNvSpPr txBox="1">
            <a:spLocks noChangeArrowheads="1"/>
          </p:cNvSpPr>
          <p:nvPr/>
        </p:nvSpPr>
        <p:spPr bwMode="auto">
          <a:xfrm>
            <a:off x="1981200" y="5638800"/>
            <a:ext cx="2743200" cy="73866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 sz="1400" b="1" dirty="0" err="1">
                <a:latin typeface="Corbel" pitchFamily="34" charset="0"/>
              </a:rPr>
              <a:t>Ad-din</a:t>
            </a:r>
            <a:r>
              <a:rPr lang="en-US" altLang="en-US" sz="1400" b="1" dirty="0">
                <a:latin typeface="Corbel" pitchFamily="34" charset="0"/>
              </a:rPr>
              <a:t> Hospital, </a:t>
            </a:r>
            <a:r>
              <a:rPr lang="en-US" altLang="en-US" sz="1400" b="1" dirty="0" err="1">
                <a:latin typeface="Corbel" pitchFamily="34" charset="0"/>
              </a:rPr>
              <a:t>Kushtia</a:t>
            </a:r>
            <a:r>
              <a:rPr lang="en-US" altLang="en-US" sz="1400" b="1" dirty="0">
                <a:latin typeface="Corbel" pitchFamily="34" charset="0"/>
              </a:rPr>
              <a:t> </a:t>
            </a:r>
          </a:p>
          <a:p>
            <a:pPr eaLnBrk="1" hangingPunct="1"/>
            <a:r>
              <a:rPr lang="en-US" altLang="en-US" sz="1400" b="1" dirty="0" err="1">
                <a:latin typeface="Corbel" pitchFamily="34" charset="0"/>
              </a:rPr>
              <a:t>Estd</a:t>
            </a:r>
            <a:r>
              <a:rPr lang="en-US" altLang="en-US" sz="1400" b="1" dirty="0">
                <a:latin typeface="Corbel" pitchFamily="34" charset="0"/>
              </a:rPr>
              <a:t>. 1 Nov 1999; </a:t>
            </a:r>
            <a:r>
              <a:rPr lang="en-US" altLang="en-US" sz="1400" b="1" dirty="0" smtClean="0">
                <a:latin typeface="Corbel" pitchFamily="34" charset="0"/>
              </a:rPr>
              <a:t>100-Bed</a:t>
            </a:r>
            <a:endParaRPr lang="en-US" altLang="en-US" sz="1400" b="1" dirty="0">
              <a:latin typeface="Corbel" pitchFamily="34" charset="0"/>
            </a:endParaRPr>
          </a:p>
          <a:p>
            <a:pPr eaLnBrk="1" hangingPunct="1"/>
            <a:r>
              <a:rPr lang="en-US" altLang="en-US" sz="1400" b="1" dirty="0">
                <a:latin typeface="Corbel" pitchFamily="34" charset="0"/>
              </a:rPr>
              <a:t> </a:t>
            </a:r>
          </a:p>
        </p:txBody>
      </p:sp>
      <p:sp>
        <p:nvSpPr>
          <p:cNvPr id="36871" name="Line 8"/>
          <p:cNvSpPr>
            <a:spLocks noChangeShapeType="1"/>
          </p:cNvSpPr>
          <p:nvPr/>
        </p:nvSpPr>
        <p:spPr bwMode="auto">
          <a:xfrm>
            <a:off x="0" y="777766"/>
            <a:ext cx="9144000" cy="0"/>
          </a:xfrm>
          <a:prstGeom prst="line">
            <a:avLst/>
          </a:prstGeom>
          <a:noFill/>
          <a:ln w="76200">
            <a:solidFill>
              <a:srgbClr val="009E75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2" name="Text Box 11"/>
          <p:cNvSpPr txBox="1">
            <a:spLocks noChangeArrowheads="1"/>
          </p:cNvSpPr>
          <p:nvPr/>
        </p:nvSpPr>
        <p:spPr bwMode="auto">
          <a:xfrm>
            <a:off x="6858000" y="3200400"/>
            <a:ext cx="2057400" cy="1016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 sz="1200" b="1" dirty="0" err="1">
                <a:latin typeface="Corbel" pitchFamily="34" charset="0"/>
              </a:rPr>
              <a:t>Bashundhara</a:t>
            </a:r>
            <a:r>
              <a:rPr lang="en-US" altLang="en-US" sz="1200" b="1" dirty="0">
                <a:latin typeface="Corbel" pitchFamily="34" charset="0"/>
              </a:rPr>
              <a:t> </a:t>
            </a:r>
            <a:r>
              <a:rPr lang="en-US" altLang="en-US" sz="1200" b="1" dirty="0" err="1">
                <a:latin typeface="Corbel" pitchFamily="34" charset="0"/>
              </a:rPr>
              <a:t>Ad-din</a:t>
            </a:r>
            <a:r>
              <a:rPr lang="en-US" altLang="en-US" sz="1200" b="1" dirty="0">
                <a:latin typeface="Corbel" pitchFamily="34" charset="0"/>
              </a:rPr>
              <a:t> Medical College Hospital, </a:t>
            </a:r>
            <a:r>
              <a:rPr lang="en-US" altLang="en-US" sz="1200" b="1" dirty="0" err="1">
                <a:latin typeface="Corbel" pitchFamily="34" charset="0"/>
              </a:rPr>
              <a:t>Keraniganj</a:t>
            </a:r>
            <a:r>
              <a:rPr lang="en-US" altLang="en-US" sz="1200" b="1" dirty="0">
                <a:latin typeface="Corbel" pitchFamily="34" charset="0"/>
              </a:rPr>
              <a:t>, Dhaka </a:t>
            </a:r>
          </a:p>
          <a:p>
            <a:pPr eaLnBrk="1" hangingPunct="1"/>
            <a:r>
              <a:rPr lang="en-US" altLang="en-US" sz="1200" b="1" dirty="0" err="1">
                <a:latin typeface="Corbel" pitchFamily="34" charset="0"/>
              </a:rPr>
              <a:t>Estd</a:t>
            </a:r>
            <a:r>
              <a:rPr lang="en-US" altLang="en-US" sz="1200" b="1" dirty="0">
                <a:latin typeface="Corbel" pitchFamily="34" charset="0"/>
              </a:rPr>
              <a:t>. 25 Feb 2012</a:t>
            </a:r>
          </a:p>
          <a:p>
            <a:pPr eaLnBrk="1" hangingPunct="1"/>
            <a:r>
              <a:rPr lang="en-US" altLang="en-US" sz="1200" b="1" dirty="0" smtClean="0">
                <a:latin typeface="Corbel" pitchFamily="34" charset="0"/>
              </a:rPr>
              <a:t>300-Bed.</a:t>
            </a:r>
            <a:endParaRPr lang="en-US" altLang="en-US" sz="1200" b="1" dirty="0">
              <a:latin typeface="Corbel" pitchFamily="34" charset="0"/>
            </a:endParaRPr>
          </a:p>
        </p:txBody>
      </p:sp>
      <p:pic>
        <p:nvPicPr>
          <p:cNvPr id="36873" name="Picture 12" descr="IMG"/>
          <p:cNvPicPr>
            <a:picLocks noChangeAspect="1" noChangeArrowheads="1"/>
          </p:cNvPicPr>
          <p:nvPr/>
        </p:nvPicPr>
        <p:blipFill>
          <a:blip r:embed="rId3"/>
          <a:srcRect l="4898" r="2040"/>
          <a:stretch>
            <a:fillRect/>
          </a:stretch>
        </p:blipFill>
        <p:spPr bwMode="auto">
          <a:xfrm>
            <a:off x="0" y="762000"/>
            <a:ext cx="9144000" cy="2417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874" name="Text Box 13"/>
          <p:cNvSpPr txBox="1">
            <a:spLocks noChangeArrowheads="1"/>
          </p:cNvSpPr>
          <p:nvPr/>
        </p:nvSpPr>
        <p:spPr bwMode="auto">
          <a:xfrm>
            <a:off x="4800600" y="3200400"/>
            <a:ext cx="1981200" cy="997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1400" b="1" dirty="0" err="1">
                <a:latin typeface="Corbel" pitchFamily="34" charset="0"/>
              </a:rPr>
              <a:t>Ad-din</a:t>
            </a:r>
            <a:r>
              <a:rPr lang="en-US" altLang="en-US" sz="1400" b="1" dirty="0">
                <a:latin typeface="Corbel" pitchFamily="34" charset="0"/>
              </a:rPr>
              <a:t> </a:t>
            </a:r>
            <a:r>
              <a:rPr lang="en-US" altLang="en-US" sz="1400" b="1" dirty="0" err="1">
                <a:latin typeface="Corbel" pitchFamily="34" charset="0"/>
              </a:rPr>
              <a:t>Akij</a:t>
            </a:r>
            <a:r>
              <a:rPr lang="en-US" altLang="en-US" sz="1400" b="1" dirty="0">
                <a:latin typeface="Corbel" pitchFamily="34" charset="0"/>
              </a:rPr>
              <a:t> Medical College Hospital, Khulna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1400" b="1" dirty="0" err="1">
                <a:latin typeface="Corbel" pitchFamily="34" charset="0"/>
              </a:rPr>
              <a:t>Estd</a:t>
            </a:r>
            <a:r>
              <a:rPr lang="en-US" altLang="en-US" sz="1400" b="1" dirty="0">
                <a:latin typeface="Corbel" pitchFamily="34" charset="0"/>
              </a:rPr>
              <a:t>. 8 Feb 2013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1400" b="1" dirty="0">
                <a:latin typeface="Corbel" pitchFamily="34" charset="0"/>
              </a:rPr>
              <a:t>500-Bed</a:t>
            </a:r>
            <a:r>
              <a:rPr lang="en-US" altLang="en-US" sz="1400" b="1" dirty="0" smtClean="0">
                <a:latin typeface="Corbel" pitchFamily="34" charset="0"/>
              </a:rPr>
              <a:t>:.</a:t>
            </a:r>
            <a:endParaRPr lang="en-US" altLang="en-US" sz="1400" b="1" dirty="0">
              <a:latin typeface="Corbel" pitchFamily="34" charset="0"/>
            </a:endParaRPr>
          </a:p>
        </p:txBody>
      </p:sp>
      <p:pic>
        <p:nvPicPr>
          <p:cNvPr id="36875" name="Picture 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886325" y="4332288"/>
            <a:ext cx="2352675" cy="1300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876" name="Rectangle 13"/>
          <p:cNvSpPr>
            <a:spLocks noChangeArrowheads="1"/>
          </p:cNvSpPr>
          <p:nvPr/>
        </p:nvSpPr>
        <p:spPr bwMode="auto">
          <a:xfrm>
            <a:off x="4876800" y="5638800"/>
            <a:ext cx="2819400" cy="738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 sz="1400" b="1">
                <a:solidFill>
                  <a:srgbClr val="000000"/>
                </a:solidFill>
                <a:latin typeface="Corbel" pitchFamily="34" charset="0"/>
              </a:rPr>
              <a:t>Ad-din Barrister Rofique-Ul Huq  Hospital, Postogola, Dhaka </a:t>
            </a:r>
          </a:p>
          <a:p>
            <a:pPr eaLnBrk="1" hangingPunct="1"/>
            <a:r>
              <a:rPr lang="en-US" altLang="en-US" sz="1400" b="1">
                <a:solidFill>
                  <a:srgbClr val="000000"/>
                </a:solidFill>
                <a:latin typeface="Corbel" pitchFamily="34" charset="0"/>
              </a:rPr>
              <a:t>Estd. May 2017; 300-Bed</a:t>
            </a:r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304800" y="6019800"/>
            <a:ext cx="8382000" cy="736600"/>
            <a:chOff x="304800" y="6019800"/>
            <a:chExt cx="8382000" cy="736600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6880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677194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Text Box 2"/>
          <p:cNvSpPr txBox="1">
            <a:spLocks noChangeArrowheads="1"/>
          </p:cNvSpPr>
          <p:nvPr/>
        </p:nvSpPr>
        <p:spPr bwMode="auto">
          <a:xfrm>
            <a:off x="228600" y="4648200"/>
            <a:ext cx="1981200" cy="80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en-US" sz="1600" b="1">
                <a:latin typeface="Corbel" pitchFamily="34" charset="0"/>
              </a:rPr>
              <a:t>Ad-din Nursing Institute, Jessore</a:t>
            </a:r>
          </a:p>
          <a:p>
            <a:pPr algn="ctr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en-US" sz="1600" b="1">
                <a:latin typeface="Corbel" pitchFamily="34" charset="0"/>
              </a:rPr>
              <a:t>Estd. Aug 1997</a:t>
            </a:r>
          </a:p>
        </p:txBody>
      </p:sp>
      <p:sp>
        <p:nvSpPr>
          <p:cNvPr id="4102" name="Text Box 3"/>
          <p:cNvSpPr txBox="1">
            <a:spLocks noChangeArrowheads="1"/>
          </p:cNvSpPr>
          <p:nvPr/>
        </p:nvSpPr>
        <p:spPr bwMode="auto">
          <a:xfrm>
            <a:off x="1295400" y="304800"/>
            <a:ext cx="6858000" cy="64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en-US" sz="4400" b="1" dirty="0">
                <a:solidFill>
                  <a:schemeClr val="tx2">
                    <a:lumMod val="50000"/>
                  </a:schemeClr>
                </a:solidFill>
                <a:latin typeface="Corbel" pitchFamily="34" charset="0"/>
              </a:rPr>
              <a:t>Nursing Institutes</a:t>
            </a:r>
          </a:p>
        </p:txBody>
      </p:sp>
      <p:sp>
        <p:nvSpPr>
          <p:cNvPr id="4103" name="Text Box 4"/>
          <p:cNvSpPr txBox="1">
            <a:spLocks noChangeArrowheads="1"/>
          </p:cNvSpPr>
          <p:nvPr/>
        </p:nvSpPr>
        <p:spPr bwMode="auto">
          <a:xfrm>
            <a:off x="3167063" y="4727575"/>
            <a:ext cx="1981200" cy="8255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en-US" sz="1600" b="1">
                <a:latin typeface="Corbel" pitchFamily="34" charset="0"/>
              </a:rPr>
              <a:t>Fatema Nursing Institute, Dhaka Estd. Jul 2006</a:t>
            </a:r>
          </a:p>
        </p:txBody>
      </p:sp>
      <p:sp>
        <p:nvSpPr>
          <p:cNvPr id="4104" name="Text Box 5"/>
          <p:cNvSpPr txBox="1">
            <a:spLocks noChangeArrowheads="1"/>
          </p:cNvSpPr>
          <p:nvPr/>
        </p:nvSpPr>
        <p:spPr bwMode="auto">
          <a:xfrm>
            <a:off x="6248400" y="5057775"/>
            <a:ext cx="1981200" cy="8255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en-US" sz="1600" b="1">
                <a:latin typeface="Corbel" pitchFamily="34" charset="0"/>
              </a:rPr>
              <a:t>Safina Nursing Institute, Kushtia Estd. Sept 2005</a:t>
            </a:r>
          </a:p>
        </p:txBody>
      </p:sp>
      <p:graphicFrame>
        <p:nvGraphicFramePr>
          <p:cNvPr id="4098" name="Object 2"/>
          <p:cNvGraphicFramePr>
            <a:graphicFrameLocks noChangeAspect="1"/>
          </p:cNvGraphicFramePr>
          <p:nvPr/>
        </p:nvGraphicFramePr>
        <p:xfrm>
          <a:off x="2657475" y="2286000"/>
          <a:ext cx="3157538" cy="236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15" name="Photo Editor Photo" r:id="rId3" imgW="6095238" imgH="4571429" progId="">
                  <p:embed/>
                </p:oleObj>
              </mc:Choice>
              <mc:Fallback>
                <p:oleObj name="Photo Editor Photo" r:id="rId3" imgW="6095238" imgH="4571429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7475" y="2286000"/>
                        <a:ext cx="3157538" cy="2368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3"/>
          <p:cNvGraphicFramePr>
            <a:graphicFrameLocks noChangeAspect="1"/>
          </p:cNvGraphicFramePr>
          <p:nvPr/>
        </p:nvGraphicFramePr>
        <p:xfrm>
          <a:off x="76200" y="1295400"/>
          <a:ext cx="2538413" cy="327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16" name="Image" r:id="rId5" imgW="2684584" imgH="3465525" progId="">
                  <p:embed/>
                </p:oleObj>
              </mc:Choice>
              <mc:Fallback>
                <p:oleObj name="Image" r:id="rId5" imgW="2684584" imgH="3465525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1295400"/>
                        <a:ext cx="2538413" cy="327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0" name="Object 4"/>
          <p:cNvGraphicFramePr>
            <a:graphicFrameLocks noChangeAspect="1"/>
          </p:cNvGraphicFramePr>
          <p:nvPr/>
        </p:nvGraphicFramePr>
        <p:xfrm>
          <a:off x="5895975" y="2667000"/>
          <a:ext cx="3200400" cy="240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17" name="Image" r:id="rId7" imgW="3981689" imgH="2998228" progId="">
                  <p:embed/>
                </p:oleObj>
              </mc:Choice>
              <mc:Fallback>
                <p:oleObj name="Image" r:id="rId7" imgW="3981689" imgH="2998228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5975" y="2667000"/>
                        <a:ext cx="3200400" cy="2409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304800" y="6019800"/>
            <a:ext cx="8382000" cy="736600"/>
            <a:chOff x="304800" y="6019800"/>
            <a:chExt cx="8382000" cy="736600"/>
          </a:xfrm>
        </p:grpSpPr>
        <p:cxnSp>
          <p:nvCxnSpPr>
            <p:cNvPr id="11" name="Straight Connector 10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108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1612558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Academic activities</a:t>
            </a:r>
            <a:br>
              <a:rPr lang="en-US" b="1" dirty="0"/>
            </a:br>
            <a:r>
              <a:rPr lang="en-US" b="1" dirty="0"/>
              <a:t>Under graduate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30" y="2362200"/>
            <a:ext cx="7773339" cy="4495800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Intern’s Doctor’s Training :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Morning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ession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Case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resentation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onthly Meeting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Discursion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referred case, Teaching according to log book.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year MBBS Class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year MBBS Class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year MBBS Class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Nursing Training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Ongoing Research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:</a:t>
            </a:r>
          </a:p>
          <a:p>
            <a:pPr marL="914400" lvl="1" indent="-457200"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ound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infection</a:t>
            </a:r>
          </a:p>
          <a:p>
            <a:pPr marL="914400" lvl="1" indent="-457200">
              <a:buAutoNum type="arabicPeriod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PROM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AutoNum type="arabicPeriod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IUD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394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524000"/>
          </a:xfrm>
        </p:spPr>
        <p:txBody>
          <a:bodyPr anchor="t">
            <a:noAutofit/>
          </a:bodyPr>
          <a:lstStyle/>
          <a:p>
            <a:pPr algn="ctr"/>
            <a:r>
              <a:rPr lang="en-US" sz="320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Organogram of </a:t>
            </a:r>
            <a:r>
              <a:rPr lang="en-US" sz="3200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Gyne&amp;Obs</a:t>
            </a:r>
            <a:r>
              <a:rPr lang="en-US" sz="320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Department </a:t>
            </a:r>
            <a:r>
              <a:rPr lang="en-US" sz="3200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0f </a:t>
            </a:r>
            <a:r>
              <a:rPr lang="en-US" sz="320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320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200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Ad-din</a:t>
            </a:r>
            <a:r>
              <a:rPr lang="en-US" sz="320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Sakina</a:t>
            </a:r>
            <a:r>
              <a:rPr lang="en-US" sz="320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Women’s </a:t>
            </a:r>
            <a:r>
              <a:rPr lang="en-US" sz="3200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Medical College Hospital 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914400" y="4419600"/>
            <a:ext cx="7772400" cy="1295400"/>
          </a:xfrm>
          <a:prstGeom prst="rect">
            <a:avLst/>
          </a:prstGeom>
        </p:spPr>
        <p:txBody>
          <a:bodyPr vert="horz" lIns="0" rIns="0" bIns="0" anchor="b">
            <a:normAutofit fontScale="975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/>
              <a:t> </a:t>
            </a:r>
            <a:endParaRPr lang="en-US" b="1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344372"/>
              </p:ext>
            </p:extLst>
          </p:nvPr>
        </p:nvGraphicFramePr>
        <p:xfrm>
          <a:off x="0" y="1371600"/>
          <a:ext cx="9144000" cy="3695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8088"/>
                <a:gridCol w="2882347"/>
                <a:gridCol w="2683565"/>
              </a:tblGrid>
              <a:tr h="749852">
                <a:tc>
                  <a:txBody>
                    <a:bodyPr/>
                    <a:lstStyle/>
                    <a:p>
                      <a:pPr algn="l"/>
                      <a:r>
                        <a:rPr lang="en-IN" dirty="0" smtClean="0"/>
                        <a:t>Professor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 smtClean="0"/>
                        <a:t>Associate</a:t>
                      </a:r>
                    </a:p>
                    <a:p>
                      <a:pPr algn="l"/>
                      <a:r>
                        <a:rPr lang="en-IN" dirty="0" smtClean="0"/>
                        <a:t>Professor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 smtClean="0"/>
                        <a:t>Assistant</a:t>
                      </a:r>
                      <a:r>
                        <a:rPr lang="en-IN" baseline="0" dirty="0" smtClean="0"/>
                        <a:t> Professor</a:t>
                      </a:r>
                      <a:endParaRPr lang="en-GB" dirty="0"/>
                    </a:p>
                  </a:txBody>
                  <a:tcPr/>
                </a:tc>
              </a:tr>
              <a:tr h="749852">
                <a:tc>
                  <a:txBody>
                    <a:bodyPr/>
                    <a:lstStyle/>
                    <a:p>
                      <a:pPr algn="l"/>
                      <a:r>
                        <a:rPr lang="en-IN" dirty="0" err="1" smtClean="0"/>
                        <a:t>Dr.</a:t>
                      </a:r>
                      <a:r>
                        <a:rPr lang="en-IN" dirty="0" smtClean="0"/>
                        <a:t> </a:t>
                      </a:r>
                      <a:r>
                        <a:rPr lang="en-IN" dirty="0" err="1" smtClean="0"/>
                        <a:t>Bodrunnesa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 err="1" smtClean="0"/>
                        <a:t>Dr.</a:t>
                      </a:r>
                      <a:r>
                        <a:rPr lang="en-IN" dirty="0" smtClean="0"/>
                        <a:t> </a:t>
                      </a:r>
                      <a:r>
                        <a:rPr lang="en-IN" dirty="0" err="1" smtClean="0"/>
                        <a:t>Nasreen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err="1" smtClean="0"/>
                        <a:t>Dr.</a:t>
                      </a:r>
                      <a:r>
                        <a:rPr lang="en-IN" dirty="0" smtClean="0"/>
                        <a:t> </a:t>
                      </a:r>
                      <a:r>
                        <a:rPr lang="en-IN" dirty="0" err="1" smtClean="0"/>
                        <a:t>Saleha</a:t>
                      </a:r>
                      <a:r>
                        <a:rPr lang="en-IN" dirty="0" smtClean="0"/>
                        <a:t> </a:t>
                      </a:r>
                      <a:r>
                        <a:rPr lang="en-IN" dirty="0" err="1" smtClean="0"/>
                        <a:t>Khatun</a:t>
                      </a:r>
                      <a:endParaRPr lang="en-GB" dirty="0" smtClean="0"/>
                    </a:p>
                    <a:p>
                      <a:pPr algn="l"/>
                      <a:endParaRPr lang="en-GB" dirty="0"/>
                    </a:p>
                  </a:txBody>
                  <a:tcPr/>
                </a:tc>
              </a:tr>
              <a:tr h="428487">
                <a:tc>
                  <a:txBody>
                    <a:bodyPr/>
                    <a:lstStyle/>
                    <a:p>
                      <a:pPr algn="l"/>
                      <a:r>
                        <a:rPr lang="en-IN" dirty="0" err="1" smtClean="0"/>
                        <a:t>Dr.</a:t>
                      </a:r>
                      <a:r>
                        <a:rPr lang="en-IN" dirty="0" smtClean="0"/>
                        <a:t> </a:t>
                      </a:r>
                      <a:r>
                        <a:rPr lang="en-IN" dirty="0" err="1" smtClean="0"/>
                        <a:t>Hasanuzzaman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 smtClean="0"/>
                        <a:t>Dr .</a:t>
                      </a:r>
                      <a:r>
                        <a:rPr lang="en-IN" dirty="0" err="1" smtClean="0"/>
                        <a:t>Emdadul</a:t>
                      </a:r>
                      <a:r>
                        <a:rPr lang="en-IN" dirty="0" smtClean="0"/>
                        <a:t> </a:t>
                      </a:r>
                      <a:r>
                        <a:rPr lang="en-IN" dirty="0" err="1" smtClean="0"/>
                        <a:t>Haque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dirty="0"/>
                    </a:p>
                  </a:txBody>
                  <a:tcPr/>
                </a:tc>
              </a:tr>
              <a:tr h="428487">
                <a:tc>
                  <a:txBody>
                    <a:bodyPr/>
                    <a:lstStyle/>
                    <a:p>
                      <a:pPr algn="l"/>
                      <a:r>
                        <a:rPr lang="en-IN" dirty="0" err="1" smtClean="0"/>
                        <a:t>Dr.</a:t>
                      </a:r>
                      <a:r>
                        <a:rPr lang="en-IN" dirty="0" smtClean="0"/>
                        <a:t> </a:t>
                      </a:r>
                      <a:r>
                        <a:rPr lang="en-IN" dirty="0" err="1" smtClean="0"/>
                        <a:t>Rabiul</a:t>
                      </a:r>
                      <a:r>
                        <a:rPr lang="en-IN" baseline="0" dirty="0" smtClean="0"/>
                        <a:t> Islam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dirty="0"/>
                    </a:p>
                  </a:txBody>
                  <a:tcPr/>
                </a:tc>
              </a:tr>
              <a:tr h="42848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err="1" smtClean="0"/>
                        <a:t>Dr.</a:t>
                      </a:r>
                      <a:r>
                        <a:rPr lang="en-IN" dirty="0" smtClean="0"/>
                        <a:t> Torun </a:t>
                      </a:r>
                      <a:r>
                        <a:rPr lang="en-IN" dirty="0" err="1" smtClean="0"/>
                        <a:t>Khanti</a:t>
                      </a:r>
                      <a:r>
                        <a:rPr lang="en-IN" dirty="0" smtClean="0"/>
                        <a:t> Ghosh</a:t>
                      </a:r>
                      <a:endParaRPr lang="en-GB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dirty="0"/>
                    </a:p>
                  </a:txBody>
                  <a:tcPr/>
                </a:tc>
              </a:tr>
              <a:tr h="48204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err="1" smtClean="0"/>
                        <a:t>Dr.</a:t>
                      </a:r>
                      <a:r>
                        <a:rPr lang="en-IN" dirty="0" smtClean="0"/>
                        <a:t> </a:t>
                      </a:r>
                      <a:r>
                        <a:rPr lang="en-IN" dirty="0" err="1" smtClean="0"/>
                        <a:t>Nikunjo</a:t>
                      </a:r>
                      <a:r>
                        <a:rPr lang="en-IN" baseline="0" dirty="0" smtClean="0"/>
                        <a:t> </a:t>
                      </a:r>
                      <a:r>
                        <a:rPr lang="en-IN" dirty="0" smtClean="0"/>
                        <a:t>Bihari </a:t>
                      </a:r>
                      <a:r>
                        <a:rPr lang="en-IN" dirty="0" err="1" smtClean="0"/>
                        <a:t>Goldar</a:t>
                      </a:r>
                      <a:endParaRPr lang="en-GB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dirty="0"/>
                    </a:p>
                  </a:txBody>
                  <a:tcPr/>
                </a:tc>
              </a:tr>
              <a:tr h="428487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Dr. </a:t>
                      </a:r>
                      <a:r>
                        <a:rPr lang="en-US" dirty="0" err="1" smtClean="0"/>
                        <a:t>Gour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Kishor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4509735"/>
              </p:ext>
            </p:extLst>
          </p:nvPr>
        </p:nvGraphicFramePr>
        <p:xfrm>
          <a:off x="0" y="5265876"/>
          <a:ext cx="9144000" cy="15921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8087"/>
                <a:gridCol w="2882348"/>
                <a:gridCol w="2683565"/>
              </a:tblGrid>
              <a:tr h="509172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RS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 smtClean="0"/>
                        <a:t>Registrar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Assistant Registrar</a:t>
                      </a:r>
                      <a:endParaRPr lang="en-GB" dirty="0"/>
                    </a:p>
                  </a:txBody>
                  <a:tcPr/>
                </a:tc>
              </a:tr>
              <a:tr h="541476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Dr. </a:t>
                      </a:r>
                      <a:r>
                        <a:rPr lang="en-US" dirty="0" err="1" smtClean="0"/>
                        <a:t>Shila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Poddar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 err="1" smtClean="0"/>
                        <a:t>Dr.</a:t>
                      </a:r>
                      <a:r>
                        <a:rPr lang="en-IN" dirty="0" smtClean="0"/>
                        <a:t> </a:t>
                      </a:r>
                      <a:r>
                        <a:rPr lang="en-IN" dirty="0" err="1" smtClean="0"/>
                        <a:t>Qumruzzaman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Dr. </a:t>
                      </a:r>
                      <a:r>
                        <a:rPr lang="en-US" dirty="0" err="1" smtClean="0"/>
                        <a:t>Tonni</a:t>
                      </a:r>
                      <a:r>
                        <a:rPr lang="en-US" dirty="0" smtClean="0"/>
                        <a:t> Moni </a:t>
                      </a:r>
                      <a:r>
                        <a:rPr lang="en-US" dirty="0" err="1" smtClean="0"/>
                        <a:t>Chonda</a:t>
                      </a:r>
                      <a:endParaRPr lang="en-GB" dirty="0"/>
                    </a:p>
                  </a:txBody>
                  <a:tcPr/>
                </a:tc>
              </a:tr>
              <a:tr h="541476">
                <a:tc>
                  <a:txBody>
                    <a:bodyPr/>
                    <a:lstStyle/>
                    <a:p>
                      <a:pPr algn="l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6078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70020" y="16412"/>
            <a:ext cx="7772400" cy="897988"/>
          </a:xfrm>
        </p:spPr>
        <p:txBody>
          <a:bodyPr anchor="t">
            <a:noAutofit/>
          </a:bodyPr>
          <a:lstStyle/>
          <a:p>
            <a:pPr algn="ctr"/>
            <a:r>
              <a:rPr lang="en-US" sz="2800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Organogram of </a:t>
            </a:r>
            <a:r>
              <a:rPr lang="en-US" sz="2800" dirty="0" err="1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Gyne&amp;Obs</a:t>
            </a:r>
            <a:r>
              <a:rPr lang="en-US" sz="2800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Department 0f </a:t>
            </a:r>
            <a:br>
              <a:rPr lang="en-US" sz="2800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800" dirty="0" err="1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Ad-din</a:t>
            </a:r>
            <a:r>
              <a:rPr lang="en-US" sz="2800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Sakina Medical College Hospital 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371600" y="4207412"/>
            <a:ext cx="7772400" cy="1295400"/>
          </a:xfrm>
          <a:prstGeom prst="rect">
            <a:avLst/>
          </a:prstGeom>
        </p:spPr>
        <p:txBody>
          <a:bodyPr vert="horz" lIns="0" rIns="0" bIns="0" anchor="b">
            <a:normAutofit fontScale="975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dirty="0"/>
              <a:t> 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8378907"/>
              </p:ext>
            </p:extLst>
          </p:nvPr>
        </p:nvGraphicFramePr>
        <p:xfrm>
          <a:off x="190500" y="990601"/>
          <a:ext cx="8763000" cy="57489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805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65846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616476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645549">
                <a:tc>
                  <a:txBody>
                    <a:bodyPr/>
                    <a:lstStyle/>
                    <a:p>
                      <a:pPr algn="l"/>
                      <a:r>
                        <a:rPr lang="en-IN" sz="1600" dirty="0"/>
                        <a:t>Professor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dirty="0"/>
                        <a:t>Associate</a:t>
                      </a:r>
                    </a:p>
                    <a:p>
                      <a:pPr algn="l"/>
                      <a:r>
                        <a:rPr lang="en-IN" sz="1600" dirty="0"/>
                        <a:t>Professor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dirty="0"/>
                        <a:t>Assistant</a:t>
                      </a:r>
                      <a:r>
                        <a:rPr lang="en-IN" sz="1600" baseline="0" dirty="0"/>
                        <a:t> Professor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42391">
                <a:tc>
                  <a:txBody>
                    <a:bodyPr/>
                    <a:lstStyle/>
                    <a:p>
                      <a:pPr algn="l"/>
                      <a:r>
                        <a:rPr lang="en-IN" sz="1600" dirty="0"/>
                        <a:t>Professor </a:t>
                      </a:r>
                      <a:r>
                        <a:rPr lang="en-IN" sz="1600" dirty="0" err="1"/>
                        <a:t>Dr.</a:t>
                      </a:r>
                      <a:r>
                        <a:rPr lang="en-IN" sz="1600" dirty="0"/>
                        <a:t> Badrunnesa Begum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dirty="0" err="1"/>
                        <a:t>Dr.</a:t>
                      </a:r>
                      <a:r>
                        <a:rPr lang="en-IN" sz="1600" dirty="0"/>
                        <a:t> </a:t>
                      </a:r>
                      <a:r>
                        <a:rPr lang="en-IN" sz="1600" dirty="0" err="1"/>
                        <a:t>Nasreen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 err="1"/>
                        <a:t>Dr.</a:t>
                      </a:r>
                      <a:r>
                        <a:rPr lang="en-IN" sz="1600" dirty="0"/>
                        <a:t> </a:t>
                      </a:r>
                      <a:r>
                        <a:rPr lang="en-IN" sz="1600" dirty="0" err="1"/>
                        <a:t>Saleha</a:t>
                      </a:r>
                      <a:r>
                        <a:rPr lang="en-IN" sz="1600" dirty="0"/>
                        <a:t> </a:t>
                      </a:r>
                      <a:r>
                        <a:rPr lang="en-IN" sz="1600" dirty="0" err="1"/>
                        <a:t>Khatun</a:t>
                      </a:r>
                      <a:endParaRPr lang="en-GB" sz="1600" dirty="0"/>
                    </a:p>
                    <a:p>
                      <a:pPr algn="l"/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68885">
                <a:tc>
                  <a:txBody>
                    <a:bodyPr/>
                    <a:lstStyle/>
                    <a:p>
                      <a:pPr algn="l"/>
                      <a:r>
                        <a:rPr lang="en-IN" sz="1600" dirty="0"/>
                        <a:t>Professor </a:t>
                      </a:r>
                      <a:r>
                        <a:rPr lang="en-IN" sz="1600" dirty="0" err="1"/>
                        <a:t>Dr.</a:t>
                      </a:r>
                      <a:r>
                        <a:rPr lang="en-IN" sz="1600" dirty="0"/>
                        <a:t> </a:t>
                      </a:r>
                      <a:r>
                        <a:rPr lang="en-IN" sz="1600" dirty="0" err="1"/>
                        <a:t>Hasanuzzaman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dirty="0"/>
                        <a:t>Dr .</a:t>
                      </a:r>
                      <a:r>
                        <a:rPr lang="en-IN" sz="1600" dirty="0" err="1"/>
                        <a:t>Emdadul</a:t>
                      </a:r>
                      <a:r>
                        <a:rPr lang="en-IN" sz="1600" dirty="0"/>
                        <a:t> </a:t>
                      </a:r>
                      <a:r>
                        <a:rPr lang="en-IN" sz="1600" dirty="0" err="1"/>
                        <a:t>Haque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68885">
                <a:tc>
                  <a:txBody>
                    <a:bodyPr/>
                    <a:lstStyle/>
                    <a:p>
                      <a:pPr algn="l"/>
                      <a:r>
                        <a:rPr lang="en-IN" sz="1600" dirty="0"/>
                        <a:t>Professor </a:t>
                      </a:r>
                      <a:r>
                        <a:rPr lang="en-IN" sz="1600" dirty="0" err="1"/>
                        <a:t>Dr.</a:t>
                      </a:r>
                      <a:r>
                        <a:rPr lang="en-IN" sz="1600" dirty="0"/>
                        <a:t> </a:t>
                      </a:r>
                      <a:r>
                        <a:rPr lang="en-IN" sz="1600" dirty="0" err="1"/>
                        <a:t>Rabiul</a:t>
                      </a:r>
                      <a:r>
                        <a:rPr lang="en-IN" sz="1600" baseline="0" dirty="0"/>
                        <a:t> Islam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6888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Professor </a:t>
                      </a:r>
                      <a:r>
                        <a:rPr lang="en-IN" sz="1600" dirty="0" err="1"/>
                        <a:t>Dr.</a:t>
                      </a:r>
                      <a:r>
                        <a:rPr lang="en-IN" sz="1600" dirty="0"/>
                        <a:t> Torun </a:t>
                      </a:r>
                      <a:r>
                        <a:rPr lang="en-IN" sz="1600" dirty="0" err="1"/>
                        <a:t>Khanti</a:t>
                      </a:r>
                      <a:r>
                        <a:rPr lang="en-IN" sz="1600" dirty="0"/>
                        <a:t> Ghosh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1499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Professor </a:t>
                      </a:r>
                      <a:r>
                        <a:rPr lang="en-IN" sz="1600" dirty="0" err="1"/>
                        <a:t>Dr.</a:t>
                      </a:r>
                      <a:r>
                        <a:rPr lang="en-IN" sz="1600" dirty="0"/>
                        <a:t> </a:t>
                      </a:r>
                      <a:r>
                        <a:rPr lang="en-IN" sz="1600" dirty="0" err="1"/>
                        <a:t>Nikunjo</a:t>
                      </a:r>
                      <a:r>
                        <a:rPr lang="en-IN" sz="1600" baseline="0" dirty="0"/>
                        <a:t> </a:t>
                      </a:r>
                      <a:r>
                        <a:rPr lang="en-IN" sz="1600" dirty="0"/>
                        <a:t>Bihari </a:t>
                      </a:r>
                      <a:r>
                        <a:rPr lang="en-IN" sz="1600" dirty="0" err="1"/>
                        <a:t>Goldar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68885">
                <a:tc>
                  <a:txBody>
                    <a:bodyPr/>
                    <a:lstStyle/>
                    <a:p>
                      <a:pPr algn="l"/>
                      <a:r>
                        <a:rPr lang="en-IN" sz="1600" dirty="0"/>
                        <a:t>Professor </a:t>
                      </a:r>
                      <a:r>
                        <a:rPr lang="en-US" sz="1600" dirty="0"/>
                        <a:t>Dr. </a:t>
                      </a:r>
                      <a:r>
                        <a:rPr lang="en-US" sz="1600" dirty="0" err="1"/>
                        <a:t>Gour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Kishor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5423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RS</a:t>
                      </a:r>
                      <a:endParaRPr lang="en-GB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Registrar</a:t>
                      </a:r>
                      <a:endParaRPr lang="en-GB" sz="1600" dirty="0">
                        <a:solidFill>
                          <a:schemeClr val="bg1"/>
                        </a:solidFill>
                      </a:endParaRPr>
                    </a:p>
                    <a:p>
                      <a:pPr algn="l"/>
                      <a:endParaRPr lang="en-GB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Assistant Registrar</a:t>
                      </a:r>
                      <a:endParaRPr lang="en-GB" sz="1600" dirty="0">
                        <a:solidFill>
                          <a:schemeClr val="bg1"/>
                        </a:solidFill>
                      </a:endParaRPr>
                    </a:p>
                    <a:p>
                      <a:pPr algn="l"/>
                      <a:endParaRPr lang="en-GB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663039939"/>
                  </a:ext>
                </a:extLst>
              </a:tr>
              <a:tr h="5423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Dr. </a:t>
                      </a:r>
                      <a:r>
                        <a:rPr lang="en-US" sz="1600" dirty="0" err="1"/>
                        <a:t>Shila</a:t>
                      </a:r>
                      <a:r>
                        <a:rPr lang="en-US" sz="1600" baseline="0" dirty="0"/>
                        <a:t> </a:t>
                      </a:r>
                      <a:r>
                        <a:rPr lang="en-US" sz="1600" baseline="0" dirty="0" err="1"/>
                        <a:t>Podder</a:t>
                      </a:r>
                      <a:endParaRPr lang="en-GB" sz="1600" dirty="0"/>
                    </a:p>
                    <a:p>
                      <a:pPr algn="l"/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 err="1"/>
                        <a:t>Dr.</a:t>
                      </a:r>
                      <a:r>
                        <a:rPr lang="en-IN" sz="1600" dirty="0"/>
                        <a:t> </a:t>
                      </a:r>
                      <a:r>
                        <a:rPr lang="en-IN" sz="1600" dirty="0" err="1"/>
                        <a:t>Kumruzzaman</a:t>
                      </a:r>
                      <a:endParaRPr lang="en-GB" sz="1600" dirty="0"/>
                    </a:p>
                    <a:p>
                      <a:pPr algn="l"/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Dr. </a:t>
                      </a:r>
                      <a:r>
                        <a:rPr lang="en-US" sz="1600" dirty="0" err="1"/>
                        <a:t>Tonni</a:t>
                      </a:r>
                      <a:r>
                        <a:rPr lang="en-US" sz="1600" dirty="0"/>
                        <a:t> Moni </a:t>
                      </a:r>
                      <a:r>
                        <a:rPr lang="en-US" sz="1600" dirty="0" err="1"/>
                        <a:t>Chonda</a:t>
                      </a:r>
                      <a:endParaRPr lang="en-GB" sz="1600" dirty="0"/>
                    </a:p>
                    <a:p>
                      <a:pPr algn="l"/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289122994"/>
                  </a:ext>
                </a:extLst>
              </a:tr>
              <a:tr h="368885"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Medical Officer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278880804"/>
                  </a:ext>
                </a:extLst>
              </a:tr>
              <a:tr h="368885">
                <a:tc>
                  <a:txBody>
                    <a:bodyPr/>
                    <a:lstStyle/>
                    <a:p>
                      <a:pPr algn="l"/>
                      <a:r>
                        <a:rPr lang="en-GB" dirty="0" err="1"/>
                        <a:t>Dr.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Sumayya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Sharmin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382609321"/>
                  </a:ext>
                </a:extLst>
              </a:tr>
              <a:tr h="368885">
                <a:tc>
                  <a:txBody>
                    <a:bodyPr/>
                    <a:lstStyle/>
                    <a:p>
                      <a:pPr algn="l"/>
                      <a:r>
                        <a:rPr lang="en-GB" dirty="0" err="1"/>
                        <a:t>Dr.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Tahmina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Shirmin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346747622"/>
                  </a:ext>
                </a:extLst>
              </a:tr>
              <a:tr h="368885">
                <a:tc>
                  <a:txBody>
                    <a:bodyPr/>
                    <a:lstStyle/>
                    <a:p>
                      <a:pPr algn="l"/>
                      <a:r>
                        <a:rPr lang="en-GB" dirty="0" err="1"/>
                        <a:t>Dr.</a:t>
                      </a:r>
                      <a:r>
                        <a:rPr lang="en-GB" dirty="0"/>
                        <a:t> Sultana Zaman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923469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6713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5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Annual Trend of ANC Services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0090202"/>
              </p:ext>
            </p:extLst>
          </p:nvPr>
        </p:nvGraphicFramePr>
        <p:xfrm>
          <a:off x="152400" y="1935163"/>
          <a:ext cx="8991600" cy="46180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698182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8229600" cy="1143000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 smtClean="0">
                <a:ln w="17780" cmpd="sng">
                  <a:solidFill>
                    <a:schemeClr val="tx2"/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>Comparison between NVD and C-Section</a:t>
            </a:r>
            <a:endParaRPr lang="en-US" sz="40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6764173"/>
              </p:ext>
            </p:extLst>
          </p:nvPr>
        </p:nvGraphicFramePr>
        <p:xfrm>
          <a:off x="457200" y="1935163"/>
          <a:ext cx="8229600" cy="438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3550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12B03B1-1ECB-4039-80D0-73C81EC9B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4151"/>
            <a:ext cx="9144000" cy="468128"/>
          </a:xfrm>
        </p:spPr>
        <p:txBody>
          <a:bodyPr>
            <a:noAutofit/>
          </a:bodyPr>
          <a:lstStyle/>
          <a:p>
            <a:pPr algn="ctr"/>
            <a:r>
              <a:rPr lang="en-US" sz="2800" dirty="0">
                <a:solidFill>
                  <a:schemeClr val="accent1">
                    <a:lumMod val="50000"/>
                  </a:schemeClr>
                </a:solidFill>
              </a:rPr>
              <a:t>Types of </a:t>
            </a:r>
            <a:r>
              <a:rPr lang="en-US" sz="2800" dirty="0" err="1" smtClean="0">
                <a:solidFill>
                  <a:schemeClr val="accent1">
                    <a:lumMod val="50000"/>
                  </a:schemeClr>
                </a:solidFill>
              </a:rPr>
              <a:t>Obst</a:t>
            </a:r>
            <a:r>
              <a:rPr lang="en-US" sz="2800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</a:rPr>
              <a:t>patients admitted in </a:t>
            </a:r>
            <a:r>
              <a:rPr lang="en-US" sz="2800" dirty="0" err="1">
                <a:solidFill>
                  <a:schemeClr val="accent1">
                    <a:lumMod val="50000"/>
                  </a:schemeClr>
                </a:solidFill>
              </a:rPr>
              <a:t>O</a:t>
            </a:r>
            <a:r>
              <a:rPr lang="en-US" sz="2800" dirty="0" err="1" smtClean="0">
                <a:solidFill>
                  <a:schemeClr val="accent1">
                    <a:lumMod val="50000"/>
                  </a:schemeClr>
                </a:solidFill>
              </a:rPr>
              <a:t>bs</a:t>
            </a:r>
            <a:r>
              <a:rPr lang="en-US" sz="2800" dirty="0" smtClean="0">
                <a:solidFill>
                  <a:schemeClr val="accent1">
                    <a:lumMod val="50000"/>
                  </a:schemeClr>
                </a:solidFill>
              </a:rPr>
              <a:t> ward (Jan-Nov) 2021</a:t>
            </a:r>
            <a:endParaRPr lang="en-US" sz="2800" dirty="0">
              <a:solidFill>
                <a:schemeClr val="accent1">
                  <a:lumMod val="50000"/>
                </a:schemeClr>
              </a:solidFill>
            </a:endParaRPr>
          </a:p>
        </p:txBody>
      </p:sp>
      <p:graphicFrame>
        <p:nvGraphicFramePr>
          <p:cNvPr id="4" name="Table 2">
            <a:extLst>
              <a:ext uri="{FF2B5EF4-FFF2-40B4-BE49-F238E27FC236}">
                <a16:creationId xmlns="" xmlns:a16="http://schemas.microsoft.com/office/drawing/2014/main" id="{DD233B23-040F-4F57-A19A-8C084C9171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1383232"/>
              </p:ext>
            </p:extLst>
          </p:nvPr>
        </p:nvGraphicFramePr>
        <p:xfrm>
          <a:off x="228600" y="1114886"/>
          <a:ext cx="8646458" cy="5554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57700">
                  <a:extLst>
                    <a:ext uri="{9D8B030D-6E8A-4147-A177-3AD203B41FA5}">
                      <a16:colId xmlns="" xmlns:a16="http://schemas.microsoft.com/office/drawing/2014/main" val="2120689179"/>
                    </a:ext>
                  </a:extLst>
                </a:gridCol>
                <a:gridCol w="4488758">
                  <a:extLst>
                    <a:ext uri="{9D8B030D-6E8A-4147-A177-3AD203B41FA5}">
                      <a16:colId xmlns="" xmlns:a16="http://schemas.microsoft.com/office/drawing/2014/main" val="2650224956"/>
                    </a:ext>
                  </a:extLst>
                </a:gridCol>
              </a:tblGrid>
              <a:tr h="304517">
                <a:tc>
                  <a:txBody>
                    <a:bodyPr/>
                    <a:lstStyle/>
                    <a:p>
                      <a:pPr algn="ctr"/>
                      <a:r>
                        <a:rPr lang="en-GB" sz="1600" i="1" dirty="0"/>
                        <a:t>Title </a:t>
                      </a:r>
                      <a:endParaRPr lang="en-US" sz="1600" i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Number </a:t>
                      </a:r>
                      <a:endParaRPr lang="en-US" sz="16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1598424631"/>
                  </a:ext>
                </a:extLst>
              </a:tr>
              <a:tr h="304517">
                <a:tc>
                  <a:txBody>
                    <a:bodyPr/>
                    <a:lstStyle/>
                    <a:p>
                      <a:r>
                        <a:rPr lang="en-GB" sz="1600" b="1" dirty="0"/>
                        <a:t>Pregnancy with Previous C/S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 smtClean="0"/>
                        <a:t>580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2079959289"/>
                  </a:ext>
                </a:extLst>
              </a:tr>
              <a:tr h="304517">
                <a:tc>
                  <a:txBody>
                    <a:bodyPr/>
                    <a:lstStyle/>
                    <a:p>
                      <a:r>
                        <a:rPr lang="en-GB" sz="1600" b="1" dirty="0"/>
                        <a:t>Pregnancy with Lower abdominal pain </a:t>
                      </a:r>
                      <a:endParaRPr lang="en-US" sz="16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/>
                        <a:t>581</a:t>
                      </a:r>
                      <a:endParaRPr lang="en-US" sz="16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3156433760"/>
                  </a:ext>
                </a:extLst>
              </a:tr>
              <a:tr h="304517">
                <a:tc>
                  <a:txBody>
                    <a:bodyPr/>
                    <a:lstStyle/>
                    <a:p>
                      <a:r>
                        <a:rPr lang="en-GB" sz="1600" b="1" dirty="0"/>
                        <a:t>Pregnancy with Less </a:t>
                      </a:r>
                      <a:r>
                        <a:rPr lang="en-GB" sz="1600" b="1" dirty="0" err="1"/>
                        <a:t>fetal</a:t>
                      </a:r>
                      <a:r>
                        <a:rPr lang="en-GB" sz="1600" b="1" dirty="0"/>
                        <a:t> movement </a:t>
                      </a:r>
                      <a:endParaRPr lang="en-US" sz="16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/>
                        <a:t>454</a:t>
                      </a:r>
                      <a:endParaRPr lang="en-US" sz="16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156958223"/>
                  </a:ext>
                </a:extLst>
              </a:tr>
              <a:tr h="304517">
                <a:tc>
                  <a:txBody>
                    <a:bodyPr/>
                    <a:lstStyle/>
                    <a:p>
                      <a:r>
                        <a:rPr lang="en-GB" sz="1600" b="1" dirty="0"/>
                        <a:t>Pregnancy with PROM</a:t>
                      </a:r>
                      <a:endParaRPr lang="en-US" sz="16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/>
                        <a:t>330</a:t>
                      </a:r>
                      <a:endParaRPr lang="en-US" sz="16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1268353359"/>
                  </a:ext>
                </a:extLst>
              </a:tr>
              <a:tr h="304517">
                <a:tc>
                  <a:txBody>
                    <a:bodyPr/>
                    <a:lstStyle/>
                    <a:p>
                      <a:r>
                        <a:rPr lang="en-GB" sz="1600" b="1" dirty="0"/>
                        <a:t>Pregnancy with UTI</a:t>
                      </a:r>
                      <a:endParaRPr lang="en-US" sz="16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/>
                        <a:t>424</a:t>
                      </a:r>
                      <a:endParaRPr lang="en-US" sz="16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3406352904"/>
                  </a:ext>
                </a:extLst>
              </a:tr>
              <a:tr h="337438">
                <a:tc>
                  <a:txBody>
                    <a:bodyPr/>
                    <a:lstStyle/>
                    <a:p>
                      <a:r>
                        <a:rPr lang="en-GB" sz="1600" b="1" dirty="0"/>
                        <a:t>Pregnancy with Ante </a:t>
                      </a:r>
                      <a:r>
                        <a:rPr lang="en-GB" sz="1600" b="1" dirty="0" err="1"/>
                        <a:t>partam</a:t>
                      </a:r>
                      <a:r>
                        <a:rPr lang="en-GB" sz="1600" b="1" dirty="0"/>
                        <a:t> haemorrhage </a:t>
                      </a:r>
                      <a:endParaRPr lang="en-US" sz="16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157</a:t>
                      </a:r>
                      <a:endParaRPr lang="en-US" sz="18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840862655"/>
                  </a:ext>
                </a:extLst>
              </a:tr>
              <a:tr h="304517">
                <a:tc>
                  <a:txBody>
                    <a:bodyPr/>
                    <a:lstStyle/>
                    <a:p>
                      <a:r>
                        <a:rPr lang="en-GB" sz="1600" b="1" dirty="0"/>
                        <a:t>Pregnancy with </a:t>
                      </a:r>
                      <a:r>
                        <a:rPr lang="en-GB" sz="1600" b="1" dirty="0" err="1"/>
                        <a:t>Anemia</a:t>
                      </a:r>
                      <a:endParaRPr lang="en-US" sz="16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/>
                        <a:t>943</a:t>
                      </a:r>
                      <a:endParaRPr lang="en-US" sz="16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3427890374"/>
                  </a:ext>
                </a:extLst>
              </a:tr>
              <a:tr h="304517">
                <a:tc>
                  <a:txBody>
                    <a:bodyPr/>
                    <a:lstStyle/>
                    <a:p>
                      <a:r>
                        <a:rPr lang="en-GB" sz="1600" b="1" dirty="0"/>
                        <a:t>Post Dated Pregnancy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58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2990981605"/>
                  </a:ext>
                </a:extLst>
              </a:tr>
              <a:tr h="304517">
                <a:tc>
                  <a:txBody>
                    <a:bodyPr/>
                    <a:lstStyle/>
                    <a:p>
                      <a:r>
                        <a:rPr lang="en-GB" sz="1600" b="1" dirty="0"/>
                        <a:t>PIH</a:t>
                      </a:r>
                      <a:endParaRPr lang="en-US" sz="16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/>
                        <a:t>349</a:t>
                      </a:r>
                      <a:endParaRPr lang="en-US" sz="16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3630253068"/>
                  </a:ext>
                </a:extLst>
              </a:tr>
              <a:tr h="304517">
                <a:tc>
                  <a:txBody>
                    <a:bodyPr/>
                    <a:lstStyle/>
                    <a:p>
                      <a:r>
                        <a:rPr lang="en-GB" sz="1600" b="1" dirty="0"/>
                        <a:t>True labour pain </a:t>
                      </a:r>
                      <a:endParaRPr lang="en-US" sz="16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/>
                        <a:t>632</a:t>
                      </a:r>
                      <a:endParaRPr lang="en-US" sz="16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353043260"/>
                  </a:ext>
                </a:extLst>
              </a:tr>
              <a:tr h="304517">
                <a:tc>
                  <a:txBody>
                    <a:bodyPr/>
                    <a:lstStyle/>
                    <a:p>
                      <a:r>
                        <a:rPr lang="en-GB" sz="1600" b="1" dirty="0"/>
                        <a:t>Hyper  Emesis </a:t>
                      </a:r>
                      <a:r>
                        <a:rPr lang="en-GB" sz="1600" b="1" dirty="0" err="1"/>
                        <a:t>graviderum</a:t>
                      </a:r>
                      <a:endParaRPr lang="en-US" sz="16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/>
                        <a:t>208</a:t>
                      </a:r>
                      <a:endParaRPr lang="en-US" sz="16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3917189496"/>
                  </a:ext>
                </a:extLst>
              </a:tr>
              <a:tr h="304517">
                <a:tc>
                  <a:txBody>
                    <a:bodyPr/>
                    <a:lstStyle/>
                    <a:p>
                      <a:r>
                        <a:rPr lang="en-GB" sz="1600" b="1" dirty="0"/>
                        <a:t>Pregnancy with Oligohydramnios</a:t>
                      </a:r>
                      <a:endParaRPr lang="en-US" sz="16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/>
                        <a:t>512</a:t>
                      </a:r>
                      <a:endParaRPr lang="en-US" sz="16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2831623455"/>
                  </a:ext>
                </a:extLst>
              </a:tr>
              <a:tr h="304517">
                <a:tc>
                  <a:txBody>
                    <a:bodyPr/>
                    <a:lstStyle/>
                    <a:p>
                      <a:r>
                        <a:rPr lang="en-GB" sz="1600" b="1" dirty="0"/>
                        <a:t>Pregnancy with PUO</a:t>
                      </a:r>
                      <a:endParaRPr lang="en-US" sz="16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/>
                        <a:t>87</a:t>
                      </a:r>
                      <a:endParaRPr lang="en-US" sz="16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915393996"/>
                  </a:ext>
                </a:extLst>
              </a:tr>
              <a:tr h="304517">
                <a:tc>
                  <a:txBody>
                    <a:bodyPr/>
                    <a:lstStyle/>
                    <a:p>
                      <a:r>
                        <a:rPr lang="en-GB" sz="1600" b="1" dirty="0"/>
                        <a:t>IUD</a:t>
                      </a:r>
                      <a:endParaRPr lang="en-US" sz="16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 smtClean="0"/>
                        <a:t>14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603598819"/>
                  </a:ext>
                </a:extLst>
              </a:tr>
              <a:tr h="304517">
                <a:tc>
                  <a:txBody>
                    <a:bodyPr/>
                    <a:lstStyle/>
                    <a:p>
                      <a:r>
                        <a:rPr lang="en-GB" sz="1600" b="1" dirty="0"/>
                        <a:t>Pregnancy with Big baby</a:t>
                      </a:r>
                      <a:endParaRPr lang="en-US" sz="16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/>
                        <a:t>58</a:t>
                      </a:r>
                      <a:endParaRPr lang="en-US" sz="16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241751353"/>
                  </a:ext>
                </a:extLst>
              </a:tr>
              <a:tr h="304517">
                <a:tc>
                  <a:txBody>
                    <a:bodyPr/>
                    <a:lstStyle/>
                    <a:p>
                      <a:r>
                        <a:rPr lang="en-GB" sz="1600" b="1" dirty="0"/>
                        <a:t>Pregnancy with Breach </a:t>
                      </a:r>
                      <a:endParaRPr lang="en-US" sz="16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/>
                        <a:t>34</a:t>
                      </a:r>
                      <a:endParaRPr lang="en-US" sz="16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14866940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8530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248158C-A028-3846-8DCE-B8BD33949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76619"/>
            <a:ext cx="7886700" cy="788486"/>
          </a:xfrm>
        </p:spPr>
        <p:txBody>
          <a:bodyPr>
            <a:normAutofit/>
          </a:bodyPr>
          <a:lstStyle/>
          <a:p>
            <a:r>
              <a:rPr lang="en-GB" sz="2700" b="1" i="1" dirty="0"/>
              <a:t>Gynae operation list(Jan-Nov-2021)</a:t>
            </a:r>
            <a:endParaRPr lang="en-US" sz="2700" b="1" i="1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="" xmlns:a16="http://schemas.microsoft.com/office/drawing/2014/main" id="{4A3BFD50-EA91-1046-A578-2E582DC950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6349584"/>
              </p:ext>
            </p:extLst>
          </p:nvPr>
        </p:nvGraphicFramePr>
        <p:xfrm>
          <a:off x="609600" y="1371600"/>
          <a:ext cx="8173062" cy="5012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6531">
                  <a:extLst>
                    <a:ext uri="{9D8B030D-6E8A-4147-A177-3AD203B41FA5}">
                      <a16:colId xmlns="" xmlns:a16="http://schemas.microsoft.com/office/drawing/2014/main" val="2194349053"/>
                    </a:ext>
                  </a:extLst>
                </a:gridCol>
                <a:gridCol w="4086531">
                  <a:extLst>
                    <a:ext uri="{9D8B030D-6E8A-4147-A177-3AD203B41FA5}">
                      <a16:colId xmlns="" xmlns:a16="http://schemas.microsoft.com/office/drawing/2014/main" val="210114044"/>
                    </a:ext>
                  </a:extLst>
                </a:gridCol>
              </a:tblGrid>
              <a:tr h="417674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2087595842"/>
                  </a:ext>
                </a:extLst>
              </a:tr>
              <a:tr h="417674">
                <a:tc>
                  <a:txBody>
                    <a:bodyPr/>
                    <a:lstStyle/>
                    <a:p>
                      <a:r>
                        <a:rPr lang="en-GB" sz="1800" b="1" dirty="0"/>
                        <a:t>Total abdominal hysterectomy </a:t>
                      </a:r>
                      <a:endParaRPr lang="en-US" sz="18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800" b="1" dirty="0"/>
                        <a:t>30</a:t>
                      </a:r>
                      <a:endParaRPr lang="en-US" sz="18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1903094791"/>
                  </a:ext>
                </a:extLst>
              </a:tr>
              <a:tr h="417674">
                <a:tc>
                  <a:txBody>
                    <a:bodyPr/>
                    <a:lstStyle/>
                    <a:p>
                      <a:r>
                        <a:rPr lang="en-GB" sz="1800" b="1"/>
                        <a:t>Sub total abdominal hysterectomy </a:t>
                      </a:r>
                      <a:endParaRPr lang="en-US" sz="1800" b="1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800" b="1"/>
                        <a:t>2</a:t>
                      </a:r>
                      <a:endParaRPr lang="en-US" sz="1800" b="1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2868143214"/>
                  </a:ext>
                </a:extLst>
              </a:tr>
              <a:tr h="417674">
                <a:tc>
                  <a:txBody>
                    <a:bodyPr/>
                    <a:lstStyle/>
                    <a:p>
                      <a:r>
                        <a:rPr lang="en-GB" sz="1800" b="1" dirty="0"/>
                        <a:t>Vaginal </a:t>
                      </a:r>
                      <a:r>
                        <a:rPr lang="en-GB" sz="1800" b="1" dirty="0" smtClean="0"/>
                        <a:t>Hysterectomy </a:t>
                      </a:r>
                      <a:endParaRPr lang="en-US" sz="18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800" b="1"/>
                        <a:t>3</a:t>
                      </a:r>
                      <a:endParaRPr lang="en-US" sz="1800" b="1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1326480579"/>
                  </a:ext>
                </a:extLst>
              </a:tr>
              <a:tr h="417674">
                <a:tc>
                  <a:txBody>
                    <a:bodyPr/>
                    <a:lstStyle/>
                    <a:p>
                      <a:r>
                        <a:rPr lang="en-GB" sz="1800" b="1" dirty="0"/>
                        <a:t>Laparotomy </a:t>
                      </a:r>
                      <a:endParaRPr lang="en-US" sz="18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800" b="1"/>
                        <a:t>13</a:t>
                      </a:r>
                      <a:endParaRPr lang="en-US" sz="1800" b="1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2857047345"/>
                  </a:ext>
                </a:extLst>
              </a:tr>
              <a:tr h="417674">
                <a:tc>
                  <a:txBody>
                    <a:bodyPr/>
                    <a:lstStyle/>
                    <a:p>
                      <a:r>
                        <a:rPr lang="en-GB" sz="1800" b="1" dirty="0"/>
                        <a:t>Ovarian cystectomy</a:t>
                      </a:r>
                      <a:endParaRPr lang="en-US" sz="18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800" b="1"/>
                        <a:t>6</a:t>
                      </a:r>
                      <a:endParaRPr lang="en-US" sz="1800" b="1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3368930999"/>
                  </a:ext>
                </a:extLst>
              </a:tr>
              <a:tr h="417674">
                <a:tc>
                  <a:txBody>
                    <a:bodyPr/>
                    <a:lstStyle/>
                    <a:p>
                      <a:r>
                        <a:rPr lang="en-GB" sz="1800" b="1" dirty="0"/>
                        <a:t>Perineal tear</a:t>
                      </a:r>
                      <a:endParaRPr lang="en-US" sz="18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800" b="1"/>
                        <a:t>27</a:t>
                      </a:r>
                      <a:endParaRPr lang="en-US" sz="1800" b="1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360663385"/>
                  </a:ext>
                </a:extLst>
              </a:tr>
              <a:tr h="417674">
                <a:tc>
                  <a:txBody>
                    <a:bodyPr/>
                    <a:lstStyle/>
                    <a:p>
                      <a:r>
                        <a:rPr lang="en-US" sz="1800" b="1" dirty="0" err="1" smtClean="0"/>
                        <a:t>Hydratidiform</a:t>
                      </a:r>
                      <a:r>
                        <a:rPr lang="en-US" sz="1800" b="1" dirty="0" smtClean="0"/>
                        <a:t> Mole</a:t>
                      </a:r>
                      <a:endParaRPr lang="en-US" sz="18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b="1" dirty="0" smtClean="0"/>
                        <a:t>4</a:t>
                      </a:r>
                      <a:endParaRPr lang="en-US" sz="1800" b="1" dirty="0"/>
                    </a:p>
                  </a:txBody>
                  <a:tcPr marL="68580" marR="68580" marT="34290" marB="34290"/>
                </a:tc>
              </a:tr>
              <a:tr h="417674">
                <a:tc>
                  <a:txBody>
                    <a:bodyPr/>
                    <a:lstStyle/>
                    <a:p>
                      <a:r>
                        <a:rPr lang="en-US" sz="1800" b="1" dirty="0" smtClean="0"/>
                        <a:t>E&amp;C</a:t>
                      </a:r>
                      <a:endParaRPr lang="en-US" sz="18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b="1" dirty="0" smtClean="0"/>
                        <a:t>329</a:t>
                      </a:r>
                      <a:endParaRPr lang="en-US" sz="1800" b="1" dirty="0"/>
                    </a:p>
                  </a:txBody>
                  <a:tcPr marL="68580" marR="68580" marT="34290" marB="34290"/>
                </a:tc>
              </a:tr>
              <a:tr h="417674">
                <a:tc>
                  <a:txBody>
                    <a:bodyPr/>
                    <a:lstStyle/>
                    <a:p>
                      <a:r>
                        <a:rPr lang="en-GB" sz="1800" b="1" dirty="0"/>
                        <a:t>Biopsy</a:t>
                      </a:r>
                      <a:endParaRPr lang="en-US" sz="18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800" b="1"/>
                        <a:t>2</a:t>
                      </a:r>
                      <a:endParaRPr lang="en-US" sz="1800" b="1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2813067842"/>
                  </a:ext>
                </a:extLst>
              </a:tr>
              <a:tr h="417674">
                <a:tc>
                  <a:txBody>
                    <a:bodyPr/>
                    <a:lstStyle/>
                    <a:p>
                      <a:r>
                        <a:rPr lang="en-GB" sz="1800" b="1"/>
                        <a:t>Bartholin cyst</a:t>
                      </a:r>
                      <a:endParaRPr lang="en-US" sz="1800" b="1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800" b="1" dirty="0"/>
                        <a:t>2</a:t>
                      </a:r>
                      <a:endParaRPr lang="en-US" sz="18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3250895352"/>
                  </a:ext>
                </a:extLst>
              </a:tr>
              <a:tr h="417674">
                <a:tc>
                  <a:txBody>
                    <a:bodyPr/>
                    <a:lstStyle/>
                    <a:p>
                      <a:r>
                        <a:rPr lang="en-US" sz="1800" b="1" dirty="0"/>
                        <a:t>Total =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b="1" dirty="0" smtClean="0"/>
                        <a:t>418</a:t>
                      </a:r>
                      <a:endParaRPr lang="en-US" sz="18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3279775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0998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3543313"/>
              </p:ext>
            </p:extLst>
          </p:nvPr>
        </p:nvGraphicFramePr>
        <p:xfrm>
          <a:off x="0" y="1177159"/>
          <a:ext cx="9144000" cy="61380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0" y="796159"/>
            <a:ext cx="91440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C00000"/>
                </a:solidFill>
              </a:rPr>
              <a:t>C-Section</a:t>
            </a:r>
            <a:r>
              <a:rPr lang="en-US" b="1" dirty="0" smtClean="0">
                <a:solidFill>
                  <a:srgbClr val="0070C0"/>
                </a:solidFill>
              </a:rPr>
              <a:t>,</a:t>
            </a:r>
            <a:r>
              <a:rPr lang="en-US" b="1" dirty="0" smtClean="0"/>
              <a:t>  </a:t>
            </a:r>
            <a:r>
              <a:rPr lang="en-US" b="1" dirty="0" smtClean="0">
                <a:solidFill>
                  <a:srgbClr val="0070C0"/>
                </a:solidFill>
              </a:rPr>
              <a:t>NVD</a:t>
            </a:r>
            <a:r>
              <a:rPr lang="en-US" b="1" dirty="0" smtClean="0"/>
              <a:t>,  </a:t>
            </a: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Total Delivery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="" xmlns:a16="http://schemas.microsoft.com/office/drawing/2014/main" id="{612B03B1-1ECB-4039-80D0-73C81EC9B63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796159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/>
                </a:solidFill>
                <a:ea typeface="Calibri"/>
                <a:cs typeface="Vrinda"/>
              </a:rPr>
              <a:t>Best Performing </a:t>
            </a:r>
            <a:r>
              <a:rPr lang="en-US" sz="2800" b="1" dirty="0" err="1">
                <a:solidFill>
                  <a:schemeClr val="tx1"/>
                </a:solidFill>
                <a:ea typeface="Calibri"/>
                <a:cs typeface="Vrinda"/>
              </a:rPr>
              <a:t>EmOC</a:t>
            </a:r>
            <a:r>
              <a:rPr lang="en-US" sz="2800" b="1" dirty="0">
                <a:solidFill>
                  <a:schemeClr val="tx1"/>
                </a:solidFill>
                <a:ea typeface="Calibri"/>
                <a:cs typeface="Vrinda"/>
              </a:rPr>
              <a:t> MC </a:t>
            </a:r>
            <a:r>
              <a:rPr lang="en-US" sz="2800" b="1" dirty="0" smtClean="0">
                <a:solidFill>
                  <a:schemeClr val="tx1"/>
                </a:solidFill>
                <a:ea typeface="Calibri"/>
                <a:cs typeface="Vrinda"/>
              </a:rPr>
              <a:t>Hospitals </a:t>
            </a:r>
            <a:r>
              <a:rPr lang="en-US" sz="2800" b="1" dirty="0">
                <a:solidFill>
                  <a:schemeClr val="tx1"/>
                </a:solidFill>
                <a:ea typeface="Calibri"/>
                <a:cs typeface="Vrinda"/>
              </a:rPr>
              <a:t>in Khulna Division -2020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615934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171127_11301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57200" y="1414462"/>
            <a:ext cx="8153400" cy="45862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381000"/>
            <a:ext cx="8001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Ad-din </a:t>
            </a:r>
            <a:r>
              <a:rPr lang="en-US" sz="3200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Sakina</a:t>
            </a:r>
            <a:r>
              <a:rPr lang="en-US" sz="320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Women’s Medical College Hospital Outdoor </a:t>
            </a:r>
            <a:endParaRPr lang="en-US" sz="320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1295400"/>
          </a:xfrm>
        </p:spPr>
        <p:txBody>
          <a:bodyPr anchor="t">
            <a:normAutofit fontScale="90000"/>
          </a:bodyPr>
          <a:lstStyle/>
          <a:p>
            <a:pPr algn="ctr"/>
            <a:r>
              <a:rPr sz="53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Card Registration</a:t>
            </a:r>
            <a:r>
              <a:rPr sz="4400" dirty="0" smtClean="0">
                <a:solidFill>
                  <a:srgbClr val="7030A0"/>
                </a:solidFill>
              </a:rPr>
              <a:t/>
            </a:r>
            <a:br>
              <a:rPr sz="4400" dirty="0" smtClean="0">
                <a:solidFill>
                  <a:srgbClr val="7030A0"/>
                </a:solidFill>
              </a:rPr>
            </a:br>
            <a:endParaRPr lang="en-US" dirty="0"/>
          </a:p>
        </p:txBody>
      </p:sp>
      <p:pic>
        <p:nvPicPr>
          <p:cNvPr id="4" name="SmartArt Placeholder 3" descr="20171126_102104.jpg"/>
          <p:cNvPicPr>
            <a:picLocks noGrp="1" noChangeAspect="1"/>
          </p:cNvPicPr>
          <p:nvPr>
            <p:ph type="dgm" idx="1"/>
          </p:nvPr>
        </p:nvPicPr>
        <p:blipFill>
          <a:blip r:embed="rId2" cstate="print"/>
          <a:stretch>
            <a:fillRect/>
          </a:stretch>
        </p:blipFill>
        <p:spPr>
          <a:xfrm>
            <a:off x="381000" y="1676400"/>
            <a:ext cx="7857067" cy="4419600"/>
          </a:xfr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524000"/>
          </a:xfrm>
        </p:spPr>
        <p:txBody>
          <a:bodyPr>
            <a:normAutofit fontScale="90000"/>
          </a:bodyPr>
          <a:lstStyle/>
          <a:p>
            <a:pPr algn="ctr"/>
            <a:r>
              <a:rPr sz="67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Business Counter </a:t>
            </a:r>
            <a:r>
              <a:rPr sz="4400" dirty="0" smtClean="0">
                <a:solidFill>
                  <a:srgbClr val="7030A0"/>
                </a:solidFill>
              </a:rPr>
              <a:t/>
            </a:r>
            <a:br>
              <a:rPr sz="4400" dirty="0" smtClean="0">
                <a:solidFill>
                  <a:srgbClr val="7030A0"/>
                </a:solidFill>
              </a:rPr>
            </a:br>
            <a:endParaRPr lang="en-US" dirty="0"/>
          </a:p>
        </p:txBody>
      </p:sp>
      <p:pic>
        <p:nvPicPr>
          <p:cNvPr id="4" name="SmartArt Placeholder 3" descr="20171126_102148.jpg"/>
          <p:cNvPicPr>
            <a:picLocks noGrp="1" noChangeAspect="1"/>
          </p:cNvPicPr>
          <p:nvPr>
            <p:ph type="dgm" idx="1"/>
          </p:nvPr>
        </p:nvPicPr>
        <p:blipFill>
          <a:blip r:embed="rId2" cstate="print"/>
          <a:stretch>
            <a:fillRect/>
          </a:stretch>
        </p:blipFill>
        <p:spPr>
          <a:xfrm>
            <a:off x="915957" y="1371600"/>
            <a:ext cx="7312085" cy="4724400"/>
          </a:xfr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1447800"/>
          </a:xfrm>
        </p:spPr>
        <p:txBody>
          <a:bodyPr>
            <a:normAutofit fontScale="90000"/>
          </a:bodyPr>
          <a:lstStyle/>
          <a:p>
            <a:pPr algn="ctr"/>
            <a:r>
              <a:rPr sz="60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Antenatal Care</a:t>
            </a:r>
            <a:r>
              <a:rPr sz="4400" dirty="0" smtClean="0">
                <a:solidFill>
                  <a:srgbClr val="7030A0"/>
                </a:solidFill>
              </a:rPr>
              <a:t/>
            </a:r>
            <a:br>
              <a:rPr sz="4400" dirty="0" smtClean="0">
                <a:solidFill>
                  <a:srgbClr val="7030A0"/>
                </a:solidFill>
              </a:rPr>
            </a:br>
            <a:endParaRPr lang="en-US" dirty="0"/>
          </a:p>
        </p:txBody>
      </p:sp>
      <p:pic>
        <p:nvPicPr>
          <p:cNvPr id="4" name="SmartArt Placeholder 3" descr="20171126_101232.jpg"/>
          <p:cNvPicPr>
            <a:picLocks noGrp="1" noChangeAspect="1"/>
          </p:cNvPicPr>
          <p:nvPr>
            <p:ph type="dgm" idx="1"/>
          </p:nvPr>
        </p:nvPicPr>
        <p:blipFill>
          <a:blip r:embed="rId2" cstate="print"/>
          <a:stretch>
            <a:fillRect/>
          </a:stretch>
        </p:blipFill>
        <p:spPr>
          <a:xfrm>
            <a:off x="508000" y="1752600"/>
            <a:ext cx="7721600" cy="4343400"/>
          </a:xfr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1219200"/>
          </a:xfrm>
        </p:spPr>
        <p:txBody>
          <a:bodyPr>
            <a:normAutofit fontScale="90000"/>
          </a:bodyPr>
          <a:lstStyle/>
          <a:p>
            <a:pPr algn="ctr"/>
            <a:r>
              <a:rPr sz="60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Family Planning</a:t>
            </a:r>
            <a:r>
              <a:rPr sz="4400" dirty="0" smtClean="0">
                <a:solidFill>
                  <a:srgbClr val="7030A0"/>
                </a:solidFill>
              </a:rPr>
              <a:t/>
            </a:r>
            <a:br>
              <a:rPr sz="4400" dirty="0" smtClean="0">
                <a:solidFill>
                  <a:srgbClr val="7030A0"/>
                </a:solidFill>
              </a:rPr>
            </a:br>
            <a:endParaRPr lang="en-US" dirty="0"/>
          </a:p>
        </p:txBody>
      </p:sp>
      <p:pic>
        <p:nvPicPr>
          <p:cNvPr id="4" name="SmartArt Placeholder 3" descr="20171126_100609.jpg"/>
          <p:cNvPicPr>
            <a:picLocks noGrp="1" noChangeAspect="1"/>
          </p:cNvPicPr>
          <p:nvPr>
            <p:ph type="dgm" idx="1"/>
          </p:nvPr>
        </p:nvPicPr>
        <p:blipFill>
          <a:blip r:embed="rId2" cstate="print"/>
          <a:stretch>
            <a:fillRect/>
          </a:stretch>
        </p:blipFill>
        <p:spPr>
          <a:xfrm>
            <a:off x="304800" y="1371600"/>
            <a:ext cx="8221132" cy="4624387"/>
          </a:xfr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1371600"/>
          </a:xfrm>
        </p:spPr>
        <p:txBody>
          <a:bodyPr>
            <a:normAutofit fontScale="90000"/>
          </a:bodyPr>
          <a:lstStyle/>
          <a:p>
            <a:pPr algn="ctr"/>
            <a:r>
              <a:rPr sz="60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Immunization</a:t>
            </a:r>
            <a:r>
              <a:rPr sz="4400" dirty="0" smtClean="0">
                <a:solidFill>
                  <a:srgbClr val="7030A0"/>
                </a:solidFill>
              </a:rPr>
              <a:t/>
            </a:r>
            <a:br>
              <a:rPr sz="4400" dirty="0" smtClean="0">
                <a:solidFill>
                  <a:srgbClr val="7030A0"/>
                </a:solidFill>
              </a:rPr>
            </a:br>
            <a:endParaRPr lang="en-US" dirty="0"/>
          </a:p>
        </p:txBody>
      </p:sp>
      <p:pic>
        <p:nvPicPr>
          <p:cNvPr id="4" name="SmartArt Placeholder 3" descr="20171126_103959.jpg"/>
          <p:cNvPicPr>
            <a:picLocks noGrp="1" noChangeAspect="1"/>
          </p:cNvPicPr>
          <p:nvPr>
            <p:ph type="dgm" idx="1"/>
          </p:nvPr>
        </p:nvPicPr>
        <p:blipFill>
          <a:blip r:embed="rId2" cstate="print"/>
          <a:stretch>
            <a:fillRect/>
          </a:stretch>
        </p:blipFill>
        <p:spPr>
          <a:xfrm>
            <a:off x="914400" y="1981200"/>
            <a:ext cx="7315200" cy="4114800"/>
          </a:xfr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1371600"/>
          </a:xfrm>
        </p:spPr>
        <p:txBody>
          <a:bodyPr>
            <a:normAutofit fontScale="90000"/>
          </a:bodyPr>
          <a:lstStyle/>
          <a:p>
            <a:pPr algn="ctr"/>
            <a:r>
              <a:rPr dirty="0" err="1" smtClean="0">
                <a:solidFill>
                  <a:srgbClr val="3333FF"/>
                </a:solidFill>
              </a:rPr>
              <a:t>Ad-din</a:t>
            </a:r>
            <a:r>
              <a:rPr dirty="0" smtClean="0">
                <a:solidFill>
                  <a:srgbClr val="3333FF"/>
                </a:solidFill>
              </a:rPr>
              <a:t> </a:t>
            </a:r>
            <a:r>
              <a:rPr dirty="0" err="1" smtClean="0">
                <a:solidFill>
                  <a:srgbClr val="3333FF"/>
                </a:solidFill>
              </a:rPr>
              <a:t>Sakina</a:t>
            </a:r>
            <a:r>
              <a:rPr dirty="0" smtClean="0">
                <a:solidFill>
                  <a:srgbClr val="3333FF"/>
                </a:solidFill>
              </a:rPr>
              <a:t> Medical College </a:t>
            </a:r>
            <a:r>
              <a:rPr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3333FF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Hospital Indoor Service</a:t>
            </a:r>
            <a:endParaRPr lang="en-US" dirty="0">
              <a:solidFill>
                <a:srgbClr val="3333FF"/>
              </a:solidFill>
            </a:endParaRPr>
          </a:p>
        </p:txBody>
      </p:sp>
      <p:pic>
        <p:nvPicPr>
          <p:cNvPr id="4" name="SmartArt Placeholder 3" descr="IMG_6335.JPG"/>
          <p:cNvPicPr>
            <a:picLocks noGrp="1" noChangeAspect="1"/>
          </p:cNvPicPr>
          <p:nvPr>
            <p:ph type="dgm" idx="1"/>
          </p:nvPr>
        </p:nvPicPr>
        <p:blipFill>
          <a:blip r:embed="rId2" cstate="print"/>
          <a:stretch>
            <a:fillRect/>
          </a:stretch>
        </p:blipFill>
        <p:spPr>
          <a:xfrm>
            <a:off x="152400" y="1828800"/>
            <a:ext cx="4343400" cy="28956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1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Picture 4" descr="IMG_6325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724400" y="3048000"/>
            <a:ext cx="4114800" cy="3810000"/>
          </a:xfrm>
          <a:prstGeom prst="rect">
            <a:avLst/>
          </a:prstGeom>
          <a:ln>
            <a:solidFill>
              <a:srgbClr val="00B050"/>
            </a:solidFill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Operation Theatre</a:t>
            </a:r>
            <a:endParaRPr lang="en-US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3333FF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4" name="SmartArt Placeholder 3" descr="20171126_095918.jpg"/>
          <p:cNvPicPr>
            <a:picLocks noGrp="1" noChangeAspect="1"/>
          </p:cNvPicPr>
          <p:nvPr>
            <p:ph type="dgm" idx="1"/>
          </p:nvPr>
        </p:nvPicPr>
        <p:blipFill>
          <a:blip r:embed="rId2" cstate="print"/>
          <a:stretch>
            <a:fillRect/>
          </a:stretch>
        </p:blipFill>
        <p:spPr>
          <a:xfrm>
            <a:off x="1074456" y="2171011"/>
            <a:ext cx="6995089" cy="3735177"/>
          </a:xfr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 </a:t>
            </a: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Post Operative Ward</a:t>
            </a:r>
            <a:endParaRPr lang="en-US" dirty="0">
              <a:solidFill>
                <a:srgbClr val="3333FF"/>
              </a:solidFill>
            </a:endParaRPr>
          </a:p>
        </p:txBody>
      </p:sp>
      <p:pic>
        <p:nvPicPr>
          <p:cNvPr id="6" name="SmartArt Placeholder 5" descr="20171126_095349.jpg"/>
          <p:cNvPicPr>
            <a:picLocks noGrp="1" noChangeAspect="1"/>
          </p:cNvPicPr>
          <p:nvPr>
            <p:ph type="dgm" idx="1"/>
          </p:nvPr>
        </p:nvPicPr>
        <p:blipFill>
          <a:blip r:embed="rId2" cstate="print"/>
          <a:stretch>
            <a:fillRect/>
          </a:stretch>
        </p:blipFill>
        <p:spPr>
          <a:xfrm>
            <a:off x="914400" y="1981200"/>
            <a:ext cx="7315200" cy="4114800"/>
          </a:xfr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pPr algn="ctr"/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Gyane Ward</a:t>
            </a:r>
            <a:endParaRPr lang="en-US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3333FF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8" name="SmartArt Placeholder 7" descr="20171126_103048.jpg"/>
          <p:cNvPicPr>
            <a:picLocks noGrp="1" noChangeAspect="1"/>
          </p:cNvPicPr>
          <p:nvPr>
            <p:ph type="dgm" idx="1"/>
          </p:nvPr>
        </p:nvPicPr>
        <p:blipFill>
          <a:blip r:embed="rId2" cstate="print"/>
          <a:stretch>
            <a:fillRect/>
          </a:stretch>
        </p:blipFill>
        <p:spPr>
          <a:xfrm>
            <a:off x="914400" y="1981200"/>
            <a:ext cx="7315200" cy="4114800"/>
          </a:xfr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750" y="457200"/>
            <a:ext cx="7772400" cy="1143000"/>
          </a:xfrm>
        </p:spPr>
        <p:txBody>
          <a:bodyPr/>
          <a:lstStyle/>
          <a:p>
            <a:pPr algn="ctr"/>
            <a:r>
              <a:rPr lang="en-IN" b="1" dirty="0" smtClean="0">
                <a:latin typeface="Algerian" pitchFamily="82" charset="0"/>
              </a:rPr>
              <a:t>Neonatal Care Unit</a:t>
            </a:r>
            <a:endParaRPr lang="en-GB" b="1" dirty="0">
              <a:latin typeface="Algerian" pitchFamily="82" charset="0"/>
            </a:endParaRPr>
          </a:p>
        </p:txBody>
      </p:sp>
      <p:pic>
        <p:nvPicPr>
          <p:cNvPr id="23555" name="Picture 3" descr="C:\Users\Emdad\Desktop\New folder\20211210_122120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86000"/>
            <a:ext cx="4552950" cy="3414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2366" y="2286001"/>
            <a:ext cx="4552952" cy="34147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48998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VIA Corner</a:t>
            </a:r>
            <a:endParaRPr lang="en-GB" dirty="0"/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/>
      </p:sp>
    </p:spTree>
    <p:extLst>
      <p:ext uri="{BB962C8B-B14F-4D97-AF65-F5344CB8AC3E}">
        <p14:creationId xmlns:p14="http://schemas.microsoft.com/office/powerpoint/2010/main" val="738997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Breast Feeding Corner</a:t>
            </a:r>
            <a:endParaRPr lang="en-GB" dirty="0"/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/>
      </p:sp>
    </p:spTree>
    <p:extLst>
      <p:ext uri="{BB962C8B-B14F-4D97-AF65-F5344CB8AC3E}">
        <p14:creationId xmlns:p14="http://schemas.microsoft.com/office/powerpoint/2010/main" val="2126645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81000"/>
            <a:ext cx="7772400" cy="762000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 smtClean="0">
                <a:latin typeface="Algerian" pitchFamily="82" charset="0"/>
              </a:rPr>
              <a:t>Maternal  ICU</a:t>
            </a:r>
            <a:endParaRPr lang="en-GB" b="1" dirty="0">
              <a:latin typeface="Algerian" pitchFamily="82" charset="0"/>
            </a:endParaRPr>
          </a:p>
        </p:txBody>
      </p:sp>
      <p:pic>
        <p:nvPicPr>
          <p:cNvPr id="24578" name="Picture 2" descr="C:\Users\Emdad\Desktop\New folder\20211210_122328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352550"/>
            <a:ext cx="6553200" cy="491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8065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pPr algn="ctr"/>
            <a:r>
              <a:rPr lang="en-US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24 Hours Pharmacy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="" xmlns:a16="http://schemas.microsoft.com/office/drawing/2014/main" id="{C6B01EB6-AE9C-4345-BE00-7FD70A4148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943894"/>
            <a:ext cx="8229600" cy="4371975"/>
          </a:xfrm>
        </p:spPr>
      </p:pic>
    </p:spTree>
    <p:extLst>
      <p:ext uri="{BB962C8B-B14F-4D97-AF65-F5344CB8AC3E}">
        <p14:creationId xmlns:p14="http://schemas.microsoft.com/office/powerpoint/2010/main" val="2237853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pPr algn="ctr"/>
            <a:r>
              <a:rPr sz="49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24</a:t>
            </a:r>
            <a:r>
              <a:rPr sz="49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Hour Ambulance Service</a:t>
            </a:r>
            <a:r>
              <a:rPr sz="4400" dirty="0" smtClean="0">
                <a:solidFill>
                  <a:srgbClr val="FF0000"/>
                </a:solidFill>
              </a:rPr>
              <a:t/>
            </a:r>
            <a:br>
              <a:rPr sz="4400" dirty="0" smtClean="0">
                <a:solidFill>
                  <a:srgbClr val="FF0000"/>
                </a:solidFill>
              </a:rPr>
            </a:br>
            <a:endParaRPr lang="en-US" dirty="0"/>
          </a:p>
        </p:txBody>
      </p:sp>
      <p:pic>
        <p:nvPicPr>
          <p:cNvPr id="5" name="SmartArt Placeholder 4" descr="20171126_160855.jpg"/>
          <p:cNvPicPr>
            <a:picLocks noGrp="1" noChangeAspect="1"/>
          </p:cNvPicPr>
          <p:nvPr>
            <p:ph type="dgm" idx="1"/>
          </p:nvPr>
        </p:nvPicPr>
        <p:blipFill>
          <a:blip r:embed="rId2" cstate="print"/>
          <a:stretch>
            <a:fillRect/>
          </a:stretch>
        </p:blipFill>
        <p:spPr>
          <a:xfrm>
            <a:off x="914400" y="1981200"/>
            <a:ext cx="7315200" cy="4114800"/>
          </a:xfrm>
        </p:spPr>
      </p:pic>
    </p:spTree>
    <p:extLst>
      <p:ext uri="{BB962C8B-B14F-4D97-AF65-F5344CB8AC3E}">
        <p14:creationId xmlns:p14="http://schemas.microsoft.com/office/powerpoint/2010/main" val="4097389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0" y="533400"/>
            <a:ext cx="9144000" cy="8382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1" hangingPunct="1">
              <a:defRPr/>
            </a:pPr>
            <a:r>
              <a:rPr lang="en-US" sz="3200" b="1" dirty="0">
                <a:solidFill>
                  <a:schemeClr val="tx2"/>
                </a:solidFill>
              </a:rPr>
              <a:t>Community Base Ambulance Service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1752600"/>
            <a:ext cx="3581400" cy="381642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2000" dirty="0">
                <a:solidFill>
                  <a:srgbClr val="002060"/>
                </a:solidFill>
              </a:rPr>
              <a:t>12 Ambulance are serving in different area in community.</a:t>
            </a:r>
          </a:p>
          <a:p>
            <a:pPr eaLnBrk="1" hangingPunct="1">
              <a:defRPr/>
            </a:pPr>
            <a:endParaRPr lang="en-US" dirty="0"/>
          </a:p>
          <a:p>
            <a:pPr eaLnBrk="1" hangingPunct="1">
              <a:defRPr/>
            </a:pPr>
            <a:r>
              <a:rPr lang="en-US" sz="2400" b="1" u="sng" dirty="0">
                <a:solidFill>
                  <a:schemeClr val="accent5">
                    <a:lumMod val="50000"/>
                  </a:schemeClr>
                </a:solidFill>
              </a:rPr>
              <a:t>Specialty</a:t>
            </a:r>
            <a:endParaRPr lang="en-US" b="1" u="sng" dirty="0">
              <a:solidFill>
                <a:schemeClr val="accent5">
                  <a:lumMod val="50000"/>
                </a:schemeClr>
              </a:solidFill>
            </a:endParaRPr>
          </a:p>
          <a:p>
            <a:pPr eaLnBrk="1" hangingPunct="1">
              <a:buFont typeface="Arial" pitchFamily="34" charset="0"/>
              <a:buChar char="•"/>
              <a:defRPr/>
            </a:pPr>
            <a:endParaRPr lang="en-US" sz="2000" dirty="0" smtClean="0"/>
          </a:p>
          <a:p>
            <a:pPr eaLnBrk="1" hangingPunct="1">
              <a:buFont typeface="Arial" pitchFamily="34" charset="0"/>
              <a:buChar char="•"/>
              <a:defRPr/>
            </a:pPr>
            <a:r>
              <a:rPr lang="en-US" sz="2000" dirty="0" smtClean="0"/>
              <a:t> </a:t>
            </a:r>
            <a:r>
              <a:rPr lang="en-US" sz="2000" dirty="0"/>
              <a:t>Very low cost service (Less than 50% of market Price)</a:t>
            </a:r>
          </a:p>
          <a:p>
            <a:pPr eaLnBrk="1" hangingPunct="1">
              <a:buFont typeface="Arial" pitchFamily="34" charset="0"/>
              <a:buChar char="•"/>
              <a:defRPr/>
            </a:pPr>
            <a:endParaRPr lang="en-US" sz="2000" dirty="0" smtClean="0"/>
          </a:p>
          <a:p>
            <a:pPr eaLnBrk="1" hangingPunct="1">
              <a:buFont typeface="Arial" pitchFamily="34" charset="0"/>
              <a:buChar char="•"/>
              <a:defRPr/>
            </a:pPr>
            <a:r>
              <a:rPr lang="en-US" sz="2000" dirty="0" smtClean="0"/>
              <a:t> </a:t>
            </a:r>
            <a:r>
              <a:rPr lang="en-US" sz="2000" dirty="0"/>
              <a:t>Full free at 8.00pm to 6.00am for Pregnant </a:t>
            </a:r>
            <a:r>
              <a:rPr lang="en-US" sz="2000" dirty="0" smtClean="0"/>
              <a:t>Mother.</a:t>
            </a:r>
            <a:endParaRPr lang="en-US" sz="2000" dirty="0"/>
          </a:p>
          <a:p>
            <a:pPr eaLnBrk="1" hangingPunct="1">
              <a:defRPr/>
            </a:pPr>
            <a:r>
              <a:rPr lang="en-US" sz="2000" dirty="0"/>
              <a:t> </a:t>
            </a:r>
            <a:endParaRPr lang="en-US" sz="2000" dirty="0" smtClean="0"/>
          </a:p>
          <a:p>
            <a:pPr eaLnBrk="1" hangingPunct="1">
              <a:buFont typeface="Arial" pitchFamily="34" charset="0"/>
              <a:buChar char="•"/>
              <a:defRPr/>
            </a:pPr>
            <a:r>
              <a:rPr lang="en-US" sz="2000" dirty="0" smtClean="0"/>
              <a:t>Easy </a:t>
            </a:r>
            <a:r>
              <a:rPr lang="en-US" sz="2000" dirty="0"/>
              <a:t>&amp; </a:t>
            </a:r>
            <a:r>
              <a:rPr lang="en-US" sz="2000" dirty="0" smtClean="0"/>
              <a:t>Quick</a:t>
            </a:r>
          </a:p>
        </p:txBody>
      </p:sp>
      <p:pic>
        <p:nvPicPr>
          <p:cNvPr id="30724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14800" y="1524000"/>
            <a:ext cx="4887913" cy="3971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" name="Group 4"/>
          <p:cNvGrpSpPr>
            <a:grpSpLocks/>
          </p:cNvGrpSpPr>
          <p:nvPr/>
        </p:nvGrpSpPr>
        <p:grpSpPr bwMode="auto">
          <a:xfrm>
            <a:off x="304800" y="6019800"/>
            <a:ext cx="8382000" cy="736600"/>
            <a:chOff x="304800" y="6019800"/>
            <a:chExt cx="8382000" cy="736600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0727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3292004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3"/>
          <p:cNvSpPr txBox="1">
            <a:spLocks noChangeArrowheads="1"/>
          </p:cNvSpPr>
          <p:nvPr/>
        </p:nvSpPr>
        <p:spPr bwMode="auto">
          <a:xfrm>
            <a:off x="1336675" y="184150"/>
            <a:ext cx="590867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en-US" sz="3200" b="1">
                <a:solidFill>
                  <a:srgbClr val="0070C0"/>
                </a:solidFill>
              </a:rPr>
              <a:t>Community Health Services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043634"/>
              </p:ext>
            </p:extLst>
          </p:nvPr>
        </p:nvGraphicFramePr>
        <p:xfrm>
          <a:off x="838201" y="914400"/>
          <a:ext cx="7619999" cy="1005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8623"/>
                <a:gridCol w="2659069"/>
                <a:gridCol w="1172307"/>
              </a:tblGrid>
              <a:tr h="9906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en-US" sz="2000" dirty="0" smtClean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 smtClean="0">
                          <a:solidFill>
                            <a:schemeClr val="tx1"/>
                          </a:solidFill>
                          <a:latin typeface="+mj-lt"/>
                        </a:rPr>
                        <a:t>Working Area: 14 Districts</a:t>
                      </a:r>
                    </a:p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84405" marR="84405" marT="45725" marB="457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+mj-lt"/>
                        </a:rPr>
                        <a:t>Community Midwife</a:t>
                      </a:r>
                      <a:endParaRPr 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84405" marR="84405" marT="45725" marB="457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+mj-lt"/>
                        </a:rPr>
                        <a:t>98</a:t>
                      </a:r>
                    </a:p>
                  </a:txBody>
                  <a:tcPr marL="84405" marR="84405" marT="45725" marB="457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25634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05000" y="2133600"/>
            <a:ext cx="5942013" cy="4585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6918702"/>
              </p:ext>
            </p:extLst>
          </p:nvPr>
        </p:nvGraphicFramePr>
        <p:xfrm>
          <a:off x="0" y="4570653"/>
          <a:ext cx="1828800" cy="701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6434"/>
                <a:gridCol w="732366"/>
              </a:tblGrid>
              <a:tr h="610947">
                <a:tc>
                  <a:txBody>
                    <a:bodyPr/>
                    <a:lstStyle/>
                    <a:p>
                      <a:r>
                        <a:rPr lang="en-US" sz="2000" baseline="0" dirty="0">
                          <a:latin typeface="+mj-lt"/>
                        </a:rPr>
                        <a:t>Satellite clinic </a:t>
                      </a:r>
                      <a:endParaRPr lang="en-US" sz="2000" dirty="0">
                        <a:latin typeface="+mj-lt"/>
                      </a:endParaRPr>
                    </a:p>
                  </a:txBody>
                  <a:tcPr marL="84405" marR="84405" marT="45725" marB="457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+mj-lt"/>
                        </a:rPr>
                        <a:t>2156</a:t>
                      </a:r>
                    </a:p>
                  </a:txBody>
                  <a:tcPr marL="84405" marR="84405" marT="45725" marB="45725"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8048762"/>
              </p:ext>
            </p:extLst>
          </p:nvPr>
        </p:nvGraphicFramePr>
        <p:xfrm>
          <a:off x="352425" y="2209800"/>
          <a:ext cx="3609974" cy="22188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9974"/>
              </a:tblGrid>
              <a:tr h="81395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Awareness </a:t>
                      </a:r>
                      <a:r>
                        <a:rPr lang="en-US" sz="24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Development</a:t>
                      </a:r>
                      <a:r>
                        <a:rPr lang="en-US" sz="2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Training</a:t>
                      </a:r>
                      <a:endParaRPr lang="en-US" sz="2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392" marR="84392" marT="45756" marB="45756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6528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2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Patient</a:t>
                      </a:r>
                      <a:r>
                        <a:rPr lang="en-US" sz="24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Screening  </a:t>
                      </a:r>
                      <a:endParaRPr lang="en-US" sz="24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392" marR="84392" marT="45756" marB="45756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65282">
                <a:tc>
                  <a:txBody>
                    <a:bodyPr/>
                    <a:lstStyle/>
                    <a:p>
                      <a:pPr algn="l">
                        <a:buFont typeface="Arial" pitchFamily="34" charset="0"/>
                        <a:buChar char="•"/>
                      </a:pPr>
                      <a:r>
                        <a:rPr lang="en-US" sz="2400" dirty="0">
                          <a:latin typeface="+mj-lt"/>
                        </a:rPr>
                        <a:t>  Treatment</a:t>
                      </a:r>
                      <a:r>
                        <a:rPr lang="en-US" sz="2400" baseline="0" dirty="0">
                          <a:latin typeface="+mj-lt"/>
                        </a:rPr>
                        <a:t> 223</a:t>
                      </a:r>
                      <a:endParaRPr lang="en-US" sz="2400" dirty="0">
                        <a:latin typeface="+mj-lt"/>
                      </a:endParaRPr>
                    </a:p>
                  </a:txBody>
                  <a:tcPr marL="84392" marR="84392" marT="45756" marB="45756" anchor="ctr"/>
                </a:tc>
              </a:tr>
              <a:tr h="465282">
                <a:tc>
                  <a:txBody>
                    <a:bodyPr/>
                    <a:lstStyle/>
                    <a:p>
                      <a:pPr algn="l">
                        <a:buFont typeface="Arial" pitchFamily="34" charset="0"/>
                        <a:buChar char="•"/>
                      </a:pPr>
                      <a:r>
                        <a:rPr lang="en-US" sz="2400" dirty="0">
                          <a:latin typeface="+mj-lt"/>
                        </a:rPr>
                        <a:t>  Rehabilitation</a:t>
                      </a:r>
                      <a:r>
                        <a:rPr lang="en-US" sz="2400" baseline="0" dirty="0">
                          <a:latin typeface="+mj-lt"/>
                        </a:rPr>
                        <a:t> 61</a:t>
                      </a:r>
                      <a:endParaRPr lang="en-US" sz="2400" dirty="0">
                        <a:latin typeface="+mj-lt"/>
                      </a:endParaRPr>
                    </a:p>
                  </a:txBody>
                  <a:tcPr marL="84392" marR="84392" marT="45756" marB="45756" anchor="ctr"/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 bwMode="auto">
          <a:xfrm>
            <a:off x="422274" y="4648200"/>
            <a:ext cx="3540125" cy="1371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1" hangingPunct="1">
              <a:defRPr/>
            </a:pPr>
            <a:r>
              <a:rPr lang="en-US" sz="3200" dirty="0"/>
              <a:t>All Services </a:t>
            </a:r>
            <a:r>
              <a:rPr lang="en-US" sz="3200" dirty="0" smtClean="0"/>
              <a:t> are </a:t>
            </a:r>
          </a:p>
          <a:p>
            <a:pPr algn="ctr" eaLnBrk="1" hangingPunct="1">
              <a:defRPr/>
            </a:pPr>
            <a:r>
              <a:rPr lang="en-US" sz="3200" dirty="0" smtClean="0"/>
              <a:t>free </a:t>
            </a:r>
            <a:r>
              <a:rPr lang="en-US" sz="3200" dirty="0"/>
              <a:t>of cost</a:t>
            </a:r>
          </a:p>
        </p:txBody>
      </p:sp>
      <p:pic>
        <p:nvPicPr>
          <p:cNvPr id="34832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395686" y="2209800"/>
            <a:ext cx="4748314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304800" y="6019800"/>
            <a:ext cx="8382000" cy="736600"/>
            <a:chOff x="304800" y="6019800"/>
            <a:chExt cx="8382000" cy="736600"/>
          </a:xfrm>
        </p:grpSpPr>
        <p:cxnSp>
          <p:nvCxnSpPr>
            <p:cNvPr id="9" name="Straight Connector 8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4835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0" name="Title 1"/>
          <p:cNvSpPr txBox="1">
            <a:spLocks/>
          </p:cNvSpPr>
          <p:nvPr/>
        </p:nvSpPr>
        <p:spPr>
          <a:xfrm>
            <a:off x="685800" y="381000"/>
            <a:ext cx="7772400" cy="1143000"/>
          </a:xfrm>
          <a:prstGeom prst="rect">
            <a:avLst/>
          </a:prstGeom>
        </p:spPr>
        <p:txBody>
          <a:bodyPr anchor="ctr">
            <a:normAutofit fontScale="975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49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latin typeface="Times New Roman" pitchFamily="18" charset="0"/>
                <a:cs typeface="Times New Roman" pitchFamily="18" charset="0"/>
              </a:rPr>
              <a:t>Fistula Care Project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Doctor's &amp; Manager's</a:t>
            </a:r>
            <a:r>
              <a:rPr lang="en-US"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of</a:t>
            </a:r>
            <a:r>
              <a:rPr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sz="2800" b="1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Ad-din</a:t>
            </a:r>
            <a:r>
              <a:rPr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sz="2800" b="1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Sakina</a:t>
            </a:r>
            <a:r>
              <a:rPr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Medical College Hospital</a:t>
            </a:r>
            <a:endParaRPr lang="en-US" sz="28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3333FF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4" name="Chart Placeholder 3" descr="IMG_4043.JPG"/>
          <p:cNvPicPr>
            <a:picLocks noGrp="1" noChangeAspect="1"/>
          </p:cNvPicPr>
          <p:nvPr>
            <p:ph type="chart" idx="1"/>
          </p:nvPr>
        </p:nvPicPr>
        <p:blipFill>
          <a:blip r:embed="rId2" cstate="print"/>
          <a:stretch>
            <a:fillRect/>
          </a:stretch>
        </p:blipFill>
        <p:spPr>
          <a:xfrm>
            <a:off x="990600" y="2209800"/>
            <a:ext cx="6934200" cy="4622800"/>
          </a:xfr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Thank You All</a:t>
            </a:r>
            <a:endParaRPr lang="en-US" dirty="0"/>
          </a:p>
        </p:txBody>
      </p:sp>
      <p:pic>
        <p:nvPicPr>
          <p:cNvPr id="4" name="Chart Placeholder 3" descr="42035063772_33e27d5616_b.jpg"/>
          <p:cNvPicPr>
            <a:picLocks noGrp="1" noChangeAspect="1"/>
          </p:cNvPicPr>
          <p:nvPr>
            <p:ph type="chart" idx="1"/>
          </p:nvPr>
        </p:nvPicPr>
        <p:blipFill>
          <a:blip r:embed="rId2"/>
          <a:stretch>
            <a:fillRect/>
          </a:stretch>
        </p:blipFill>
        <p:spPr>
          <a:xfrm>
            <a:off x="1487406" y="1981200"/>
            <a:ext cx="6169187" cy="4114800"/>
          </a:xfr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18519"/>
            <a:ext cx="7773338" cy="905482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of gynae and obst Department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2010-2021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Content Placeholder 10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7802245"/>
              </p:ext>
            </p:extLst>
          </p:nvPr>
        </p:nvGraphicFramePr>
        <p:xfrm>
          <a:off x="304802" y="1600200"/>
          <a:ext cx="8610600" cy="44196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278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40528">
                  <a:extLst>
                    <a:ext uri="{9D8B030D-6E8A-4147-A177-3AD203B41FA5}">
                      <a16:colId xmlns="" xmlns:a16="http://schemas.microsoft.com/office/drawing/2014/main" val="4124854820"/>
                    </a:ext>
                  </a:extLst>
                </a:gridCol>
                <a:gridCol w="84694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635208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776366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635208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705787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846944">
                  <a:extLst>
                    <a:ext uri="{9D8B030D-6E8A-4147-A177-3AD203B41FA5}">
                      <a16:colId xmlns="" xmlns:a16="http://schemas.microsoft.com/office/drawing/2014/main" val="4049830223"/>
                    </a:ext>
                  </a:extLst>
                </a:gridCol>
                <a:gridCol w="846944">
                  <a:extLst>
                    <a:ext uri="{9D8B030D-6E8A-4147-A177-3AD203B41FA5}">
                      <a16:colId xmlns="" xmlns:a16="http://schemas.microsoft.com/office/drawing/2014/main" val="650347862"/>
                    </a:ext>
                  </a:extLst>
                </a:gridCol>
                <a:gridCol w="776366">
                  <a:extLst>
                    <a:ext uri="{9D8B030D-6E8A-4147-A177-3AD203B41FA5}">
                      <a16:colId xmlns="" xmlns:a16="http://schemas.microsoft.com/office/drawing/2014/main" val="1271222547"/>
                    </a:ext>
                  </a:extLst>
                </a:gridCol>
                <a:gridCol w="917523">
                  <a:extLst>
                    <a:ext uri="{9D8B030D-6E8A-4147-A177-3AD203B41FA5}">
                      <a16:colId xmlns="" xmlns:a16="http://schemas.microsoft.com/office/drawing/2014/main" val="1886636786"/>
                    </a:ext>
                  </a:extLst>
                </a:gridCol>
              </a:tblGrid>
              <a:tr h="7376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  <a:p>
                      <a:pPr algn="ctr"/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IPD Patients 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Gynae Patients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ANC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PNC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FP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C/S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Delivery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Delivery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DE&amp;C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Gynae OT</a:t>
                      </a:r>
                    </a:p>
                  </a:txBody>
                  <a:tcPr marL="86360" marR="86360"/>
                </a:tc>
                <a:extLst>
                  <a:ext uri="{0D108BD9-81ED-4DB2-BD59-A6C34878D82A}">
                    <a16:rowId xmlns="" xmlns:a16="http://schemas.microsoft.com/office/drawing/2014/main" val="1449347824"/>
                  </a:ext>
                </a:extLst>
              </a:tr>
              <a:tr h="41486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2010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5408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7802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28161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6765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3516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2715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577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3292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</a:p>
                  </a:txBody>
                  <a:tcPr marL="86360" marR="86360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1486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2015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7807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8105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25249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6460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3860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2879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606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3485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198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</a:p>
                  </a:txBody>
                  <a:tcPr marL="86360" marR="86360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713064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2018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10182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9779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25325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5992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3376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3446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616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4062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446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</a:t>
                      </a:r>
                    </a:p>
                  </a:txBody>
                  <a:tcPr marL="86360" marR="86360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713064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2019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10783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9362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24117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6217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3412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3336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826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4162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326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</a:p>
                  </a:txBody>
                  <a:tcPr marL="86360" marR="86360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713064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8565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6749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21673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5697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3315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3213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654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3867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298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</a:t>
                      </a:r>
                    </a:p>
                  </a:txBody>
                  <a:tcPr marL="86360" marR="86360"/>
                </a:tc>
                <a:extLst>
                  <a:ext uri="{0D108BD9-81ED-4DB2-BD59-A6C34878D82A}">
                    <a16:rowId xmlns="" xmlns:a16="http://schemas.microsoft.com/office/drawing/2014/main" val="455660112"/>
                  </a:ext>
                </a:extLst>
              </a:tr>
              <a:tr h="713064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</a:t>
                      </a:r>
                    </a:p>
                    <a:p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(Jan-Nov)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7636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7180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15641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5534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391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2621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430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3051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329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</a:t>
                      </a:r>
                    </a:p>
                  </a:txBody>
                  <a:tcPr marL="86360" marR="86360"/>
                </a:tc>
                <a:extLst>
                  <a:ext uri="{0D108BD9-81ED-4DB2-BD59-A6C34878D82A}">
                    <a16:rowId xmlns="" xmlns:a16="http://schemas.microsoft.com/office/drawing/2014/main" val="34931648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8816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618519"/>
            <a:ext cx="8686800" cy="600681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of gynae and obst Department from 2010-2021(Jan-Nov)</a:t>
            </a:r>
          </a:p>
        </p:txBody>
      </p:sp>
      <p:graphicFrame>
        <p:nvGraphicFramePr>
          <p:cNvPr id="11" name="Content Placeholder 10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2934208"/>
              </p:ext>
            </p:extLst>
          </p:nvPr>
        </p:nvGraphicFramePr>
        <p:xfrm>
          <a:off x="381000" y="1600199"/>
          <a:ext cx="8381998" cy="46392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23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45446">
                  <a:extLst>
                    <a:ext uri="{9D8B030D-6E8A-4147-A177-3AD203B41FA5}">
                      <a16:colId xmlns="" xmlns:a16="http://schemas.microsoft.com/office/drawing/2014/main" val="4124854820"/>
                    </a:ext>
                  </a:extLst>
                </a:gridCol>
                <a:gridCol w="74544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751136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563352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688542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563352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625947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751136">
                  <a:extLst>
                    <a:ext uri="{9D8B030D-6E8A-4147-A177-3AD203B41FA5}">
                      <a16:colId xmlns="" xmlns:a16="http://schemas.microsoft.com/office/drawing/2014/main" val="4049830223"/>
                    </a:ext>
                  </a:extLst>
                </a:gridCol>
                <a:gridCol w="751136">
                  <a:extLst>
                    <a:ext uri="{9D8B030D-6E8A-4147-A177-3AD203B41FA5}">
                      <a16:colId xmlns="" xmlns:a16="http://schemas.microsoft.com/office/drawing/2014/main" val="650347862"/>
                    </a:ext>
                  </a:extLst>
                </a:gridCol>
                <a:gridCol w="688542">
                  <a:extLst>
                    <a:ext uri="{9D8B030D-6E8A-4147-A177-3AD203B41FA5}">
                      <a16:colId xmlns="" xmlns:a16="http://schemas.microsoft.com/office/drawing/2014/main" val="1271222547"/>
                    </a:ext>
                  </a:extLst>
                </a:gridCol>
                <a:gridCol w="813731">
                  <a:extLst>
                    <a:ext uri="{9D8B030D-6E8A-4147-A177-3AD203B41FA5}">
                      <a16:colId xmlns="" xmlns:a16="http://schemas.microsoft.com/office/drawing/2014/main" val="1886636786"/>
                    </a:ext>
                  </a:extLst>
                </a:gridCol>
              </a:tblGrid>
              <a:tr h="9037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  <a:p>
                      <a:pPr algn="ctr"/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IPD Patients 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</a:t>
                      </a:r>
                    </a:p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OPD Patients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Gynae Patients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ANC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PNC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FP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C/S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Delivery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Delivery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DE&amp;C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Gynae OT</a:t>
                      </a:r>
                    </a:p>
                  </a:txBody>
                  <a:tcPr marL="86360" marR="86360"/>
                </a:tc>
                <a:extLst>
                  <a:ext uri="{0D108BD9-81ED-4DB2-BD59-A6C34878D82A}">
                    <a16:rowId xmlns="" xmlns:a16="http://schemas.microsoft.com/office/drawing/2014/main" val="1449347824"/>
                  </a:ext>
                </a:extLst>
              </a:tr>
              <a:tr h="508292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2010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4208</a:t>
                      </a:r>
                      <a:endParaRPr lang="en-US" sz="1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46244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7802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28161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6765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3516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2715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577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3292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</a:p>
                  </a:txBody>
                  <a:tcPr marL="86360" marR="86360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08292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2015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5607</a:t>
                      </a:r>
                      <a:endParaRPr lang="en-US" sz="1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44070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8105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25249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6460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3860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2879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606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3485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198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</a:p>
                  </a:txBody>
                  <a:tcPr marL="86360" marR="86360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66181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2018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7458</a:t>
                      </a:r>
                      <a:endParaRPr lang="en-US" sz="1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44472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9779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25325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5992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3376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3446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616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4062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446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</a:t>
                      </a:r>
                    </a:p>
                  </a:txBody>
                  <a:tcPr marL="86360" marR="86360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645536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2019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7757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43108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9362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24117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6217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3412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3336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826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4162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326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</a:p>
                  </a:txBody>
                  <a:tcPr marL="86360" marR="86360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537946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6495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37434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6749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21673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5697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3315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3213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654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3867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298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</a:t>
                      </a:r>
                    </a:p>
                  </a:txBody>
                  <a:tcPr marL="86360" marR="86360"/>
                </a:tc>
                <a:extLst>
                  <a:ext uri="{0D108BD9-81ED-4DB2-BD59-A6C34878D82A}">
                    <a16:rowId xmlns="" xmlns:a16="http://schemas.microsoft.com/office/drawing/2014/main" val="455660112"/>
                  </a:ext>
                </a:extLst>
              </a:tr>
              <a:tr h="873656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</a:t>
                      </a:r>
                    </a:p>
                    <a:p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(Jan-Nov)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5375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31797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7180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15641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5534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3442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2621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430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3051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329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</a:t>
                      </a:r>
                    </a:p>
                  </a:txBody>
                  <a:tcPr marL="86360" marR="86360"/>
                </a:tc>
                <a:extLst>
                  <a:ext uri="{0D108BD9-81ED-4DB2-BD59-A6C34878D82A}">
                    <a16:rowId xmlns="" xmlns:a16="http://schemas.microsoft.com/office/drawing/2014/main" val="34931648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8443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658D68A-2EE9-2E42-BB3D-666BDB1FD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94777"/>
            <a:ext cx="7886700" cy="687634"/>
          </a:xfrm>
        </p:spPr>
        <p:txBody>
          <a:bodyPr>
            <a:normAutofit/>
          </a:bodyPr>
          <a:lstStyle/>
          <a:p>
            <a:r>
              <a:rPr lang="en-GB" sz="27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Family planning sector report </a:t>
            </a:r>
            <a:endParaRPr lang="en-US" sz="27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="" xmlns:a16="http://schemas.microsoft.com/office/drawing/2014/main" id="{B9F5DC94-CC32-014C-9EE3-C08D6A5AA4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6012875"/>
              </p:ext>
            </p:extLst>
          </p:nvPr>
        </p:nvGraphicFramePr>
        <p:xfrm>
          <a:off x="320896" y="1847442"/>
          <a:ext cx="8352458" cy="25855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229">
                  <a:extLst>
                    <a:ext uri="{9D8B030D-6E8A-4147-A177-3AD203B41FA5}">
                      <a16:colId xmlns="" xmlns:a16="http://schemas.microsoft.com/office/drawing/2014/main" val="654048327"/>
                    </a:ext>
                  </a:extLst>
                </a:gridCol>
                <a:gridCol w="4176229">
                  <a:extLst>
                    <a:ext uri="{9D8B030D-6E8A-4147-A177-3AD203B41FA5}">
                      <a16:colId xmlns="" xmlns:a16="http://schemas.microsoft.com/office/drawing/2014/main" val="2985568318"/>
                    </a:ext>
                  </a:extLst>
                </a:gridCol>
              </a:tblGrid>
              <a:tr h="430917">
                <a:tc>
                  <a:txBody>
                    <a:bodyPr/>
                    <a:lstStyle/>
                    <a:p>
                      <a:r>
                        <a:rPr lang="en-GB" sz="21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US" sz="2100" i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2781373881"/>
                  </a:ext>
                </a:extLst>
              </a:tr>
              <a:tr h="430917">
                <a:tc>
                  <a:txBody>
                    <a:bodyPr/>
                    <a:lstStyle/>
                    <a:p>
                      <a:r>
                        <a:rPr lang="en-GB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OCP</a:t>
                      </a:r>
                      <a:endParaRPr lang="en-US"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1960</a:t>
                      </a:r>
                      <a:endParaRPr lang="en-US"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3664723816"/>
                  </a:ext>
                </a:extLst>
              </a:tr>
              <a:tr h="430917">
                <a:tc>
                  <a:txBody>
                    <a:bodyPr/>
                    <a:lstStyle/>
                    <a:p>
                      <a:r>
                        <a:rPr lang="en-GB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Condom</a:t>
                      </a:r>
                      <a:endParaRPr 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5300</a:t>
                      </a:r>
                      <a:endParaRPr lang="en-US"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1375785925"/>
                  </a:ext>
                </a:extLst>
              </a:tr>
              <a:tr h="430917">
                <a:tc>
                  <a:txBody>
                    <a:bodyPr/>
                    <a:lstStyle/>
                    <a:p>
                      <a:r>
                        <a:rPr lang="en-GB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DMPA</a:t>
                      </a:r>
                      <a:endParaRPr lang="en-US"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288</a:t>
                      </a:r>
                      <a:endParaRPr 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3586249353"/>
                  </a:ext>
                </a:extLst>
              </a:tr>
              <a:tr h="430917">
                <a:tc>
                  <a:txBody>
                    <a:bodyPr/>
                    <a:lstStyle/>
                    <a:p>
                      <a:r>
                        <a:rPr lang="en-GB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Cupper - T</a:t>
                      </a:r>
                      <a:endParaRPr lang="en-US"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1390016123"/>
                  </a:ext>
                </a:extLst>
              </a:tr>
              <a:tr h="430917">
                <a:tc>
                  <a:txBody>
                    <a:bodyPr/>
                    <a:lstStyle/>
                    <a:p>
                      <a:r>
                        <a:rPr lang="en-GB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Ligation</a:t>
                      </a:r>
                      <a:endParaRPr lang="en-US"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</a:t>
                      </a:r>
                      <a:endParaRPr 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22197896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782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pPr algn="ctr"/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24 Hours Pharmacy</a:t>
            </a:r>
            <a:endParaRPr lang="en-US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3333FF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4" name="Content Placeholder 3" descr="20171126_100228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671252" y="1935321"/>
            <a:ext cx="7801495" cy="4389120"/>
          </a:xfrm>
        </p:spPr>
      </p:pic>
    </p:spTree>
    <p:extLst>
      <p:ext uri="{BB962C8B-B14F-4D97-AF65-F5344CB8AC3E}">
        <p14:creationId xmlns:p14="http://schemas.microsoft.com/office/powerpoint/2010/main" val="4260508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1996</TotalTime>
  <Words>967</Words>
  <Application>Microsoft Office PowerPoint</Application>
  <PresentationFormat>On-screen Show (4:3)</PresentationFormat>
  <Paragraphs>399</Paragraphs>
  <Slides>39</Slides>
  <Notes>3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Flow</vt:lpstr>
      <vt:lpstr>Photo Editor Photo</vt:lpstr>
      <vt:lpstr>Image</vt:lpstr>
      <vt:lpstr>Ad-din Sakina Women’s Medical College Hospital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Academic activities Under graduate level</vt:lpstr>
      <vt:lpstr>Organogram of Gyne&amp;Obs Department 0f  Ad-din Sakina Women’s Medical College Hospital </vt:lpstr>
      <vt:lpstr>Organogram of Gyne&amp;Obs Department 0f  Ad-din Sakina Medical College Hospital </vt:lpstr>
      <vt:lpstr>Annual Trend of ANC Services</vt:lpstr>
      <vt:lpstr>Comparison between NVD and C-Section</vt:lpstr>
      <vt:lpstr>Types of Obst patients admitted in Obs ward (Jan-Nov) 2021</vt:lpstr>
      <vt:lpstr>Gynae operation list(Jan-Nov-2021)</vt:lpstr>
      <vt:lpstr>PowerPoint Presentation</vt:lpstr>
      <vt:lpstr>PowerPoint Presentation</vt:lpstr>
      <vt:lpstr>Card Registration </vt:lpstr>
      <vt:lpstr>Business Counter  </vt:lpstr>
      <vt:lpstr>Antenatal Care </vt:lpstr>
      <vt:lpstr>Family Planning </vt:lpstr>
      <vt:lpstr>Immunization </vt:lpstr>
      <vt:lpstr>Ad-din Sakina Medical College Hospital Indoor Service</vt:lpstr>
      <vt:lpstr>Operation Theatre</vt:lpstr>
      <vt:lpstr> Post Operative Ward</vt:lpstr>
      <vt:lpstr>Gyane Ward</vt:lpstr>
      <vt:lpstr>Neonatal Care Unit</vt:lpstr>
      <vt:lpstr>VIA Corner</vt:lpstr>
      <vt:lpstr>Breast Feeding Corner</vt:lpstr>
      <vt:lpstr>Maternal  ICU</vt:lpstr>
      <vt:lpstr>24 Hours Pharmacy</vt:lpstr>
      <vt:lpstr>24 Hour Ambulance Service </vt:lpstr>
      <vt:lpstr>PowerPoint Presentation</vt:lpstr>
      <vt:lpstr>PowerPoint Presentation</vt:lpstr>
      <vt:lpstr>PowerPoint Presentation</vt:lpstr>
      <vt:lpstr>Doctor's &amp; Manager's of Ad-din Sakina Medical College Hospital</vt:lpstr>
      <vt:lpstr>Thank You All</vt:lpstr>
      <vt:lpstr>Performance of gynae and obst Department from 2010-2021</vt:lpstr>
      <vt:lpstr>Performance of gynae and obst Department from 2010-2021(Jan-Nov)</vt:lpstr>
      <vt:lpstr>Family planning sector report </vt:lpstr>
      <vt:lpstr>24 Hours Pharmacy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Ad-din Sakina Medical College Hospital</dc:title>
  <dc:creator>user</dc:creator>
  <cp:lastModifiedBy>Emdad</cp:lastModifiedBy>
  <cp:revision>368</cp:revision>
  <dcterms:created xsi:type="dcterms:W3CDTF">2017-11-25T07:55:21Z</dcterms:created>
  <dcterms:modified xsi:type="dcterms:W3CDTF">2021-12-11T07:06:33Z</dcterms:modified>
</cp:coreProperties>
</file>