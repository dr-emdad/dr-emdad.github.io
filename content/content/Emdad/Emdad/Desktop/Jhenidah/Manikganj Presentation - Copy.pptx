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445" r:id="rId3"/>
    <p:sldId id="469" r:id="rId4"/>
    <p:sldId id="257" r:id="rId5"/>
    <p:sldId id="406" r:id="rId6"/>
    <p:sldId id="341" r:id="rId7"/>
    <p:sldId id="441" r:id="rId8"/>
    <p:sldId id="432" r:id="rId9"/>
    <p:sldId id="431" r:id="rId10"/>
    <p:sldId id="407" r:id="rId11"/>
    <p:sldId id="452" r:id="rId12"/>
    <p:sldId id="468" r:id="rId13"/>
    <p:sldId id="342" r:id="rId14"/>
    <p:sldId id="417" r:id="rId15"/>
    <p:sldId id="403" r:id="rId16"/>
    <p:sldId id="408" r:id="rId17"/>
    <p:sldId id="291" r:id="rId18"/>
    <p:sldId id="412" r:id="rId19"/>
    <p:sldId id="308" r:id="rId20"/>
    <p:sldId id="312" r:id="rId21"/>
    <p:sldId id="293" r:id="rId22"/>
    <p:sldId id="326" r:id="rId23"/>
    <p:sldId id="327" r:id="rId24"/>
    <p:sldId id="457" r:id="rId25"/>
    <p:sldId id="409" r:id="rId26"/>
    <p:sldId id="418" r:id="rId27"/>
    <p:sldId id="276" r:id="rId28"/>
    <p:sldId id="26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2545" autoAdjust="0"/>
  </p:normalViewPr>
  <p:slideViewPr>
    <p:cSldViewPr snapToGrid="0">
      <p:cViewPr>
        <p:scale>
          <a:sx n="66" d="100"/>
          <a:sy n="66" d="100"/>
        </p:scale>
        <p:origin x="-696" y="-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151</c:v>
                </c:pt>
                <c:pt idx="1">
                  <c:v>182</c:v>
                </c:pt>
                <c:pt idx="2">
                  <c:v>228</c:v>
                </c:pt>
                <c:pt idx="3">
                  <c:v>312</c:v>
                </c:pt>
                <c:pt idx="4">
                  <c:v>421</c:v>
                </c:pt>
                <c:pt idx="5">
                  <c:v>422</c:v>
                </c:pt>
                <c:pt idx="6">
                  <c:v>661</c:v>
                </c:pt>
                <c:pt idx="7">
                  <c:v>1030</c:v>
                </c:pt>
                <c:pt idx="8">
                  <c:v>1293</c:v>
                </c:pt>
                <c:pt idx="9">
                  <c:v>1518</c:v>
                </c:pt>
                <c:pt idx="10">
                  <c:v>1899</c:v>
                </c:pt>
                <c:pt idx="11">
                  <c:v>2682</c:v>
                </c:pt>
                <c:pt idx="12">
                  <c:v>3489</c:v>
                </c:pt>
                <c:pt idx="13">
                  <c:v>3755</c:v>
                </c:pt>
                <c:pt idx="14">
                  <c:v>4413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07616"/>
        <c:axId val="155069440"/>
      </c:barChart>
      <c:catAx>
        <c:axId val="15500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5069440"/>
        <c:crosses val="autoZero"/>
        <c:auto val="1"/>
        <c:lblAlgn val="ctr"/>
        <c:lblOffset val="100"/>
        <c:noMultiLvlLbl val="0"/>
      </c:catAx>
      <c:valAx>
        <c:axId val="155069440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1550076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7"/>
              <c:layout>
                <c:manualLayout>
                  <c:x val="0"/>
                  <c:y val="-2.26284728712632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BC-4C5D-800A-1F77456AB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9475456"/>
        <c:axId val="229476992"/>
      </c:barChart>
      <c:catAx>
        <c:axId val="229475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9476992"/>
        <c:crosses val="autoZero"/>
        <c:auto val="1"/>
        <c:lblAlgn val="ctr"/>
        <c:lblOffset val="100"/>
        <c:noMultiLvlLbl val="0"/>
      </c:catAx>
      <c:valAx>
        <c:axId val="22947699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94754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170854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ED-450B-B91B-4D3AD0372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22435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ED-450B-B91B-4D3AD0372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769280"/>
        <c:axId val="174770816"/>
      </c:barChart>
      <c:catAx>
        <c:axId val="174769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74770816"/>
        <c:crosses val="autoZero"/>
        <c:auto val="1"/>
        <c:lblAlgn val="ctr"/>
        <c:lblOffset val="100"/>
        <c:noMultiLvlLbl val="0"/>
      </c:catAx>
      <c:valAx>
        <c:axId val="1747708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747692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smtClean="0"/>
                      <a:t>7,265,145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44369920"/>
        <c:axId val="144371712"/>
        <c:axId val="0"/>
      </c:bar3DChart>
      <c:catAx>
        <c:axId val="144369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4371712"/>
        <c:crosses val="autoZero"/>
        <c:auto val="1"/>
        <c:lblAlgn val="ctr"/>
        <c:lblOffset val="100"/>
        <c:noMultiLvlLbl val="0"/>
      </c:catAx>
      <c:valAx>
        <c:axId val="14437171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4436992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 smtClean="0"/>
            <a:t>সম</a:t>
          </a:r>
          <a:r>
            <a:rPr lang="en-GB" smtClean="0"/>
            <a:t>্প্রসারণ</a:t>
          </a:r>
          <a:endParaRPr lang="en-GB" dirty="0" smtClean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 smtClean="0"/>
            <a:t>জনসম্পৃক্ততা</a:t>
          </a:r>
          <a:r>
            <a:rPr lang="en-GB" dirty="0" smtClean="0"/>
            <a:t> ও </a:t>
          </a:r>
          <a:r>
            <a:rPr lang="en-GB" dirty="0" err="1" smtClean="0"/>
            <a:t>কমিটি</a:t>
          </a:r>
          <a:r>
            <a:rPr lang="en-GB" dirty="0" smtClean="0"/>
            <a:t> </a:t>
          </a:r>
          <a:r>
            <a:rPr lang="en-GB" dirty="0" err="1" smtClean="0"/>
            <a:t>গঠন</a:t>
          </a:r>
          <a:r>
            <a:rPr lang="bn-IN" dirty="0" smtClean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 smtClean="0"/>
            <a:t>স্টাফ</a:t>
          </a:r>
          <a:r>
            <a:rPr lang="en-US" dirty="0" smtClean="0"/>
            <a:t> </a:t>
          </a:r>
          <a:r>
            <a:rPr lang="en-US" dirty="0" err="1" smtClean="0"/>
            <a:t>বৃদ্ধি</a:t>
          </a:r>
          <a:r>
            <a:rPr lang="en-US" dirty="0" smtClean="0"/>
            <a:t>:     ৫৬ </a:t>
          </a:r>
          <a:r>
            <a:rPr lang="en-US" dirty="0" err="1" smtClean="0"/>
            <a:t>জন</a:t>
          </a:r>
          <a:endParaRPr lang="en-US" dirty="0" smtClean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</a:t>
          </a:r>
          <a:r>
            <a:rPr lang="bn-IN" dirty="0" smtClean="0"/>
            <a:t>প্রতিরোধ</a:t>
          </a:r>
          <a:r>
            <a:rPr lang="en-GB" dirty="0" smtClean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 smtClean="0"/>
            <a:t>শ্রেষ্ঠ</a:t>
          </a:r>
          <a:r>
            <a:rPr lang="en-GB" dirty="0" smtClean="0"/>
            <a:t> </a:t>
          </a:r>
          <a:r>
            <a:rPr lang="en-GB" dirty="0" err="1" smtClean="0"/>
            <a:t>মান</a:t>
          </a:r>
          <a:r>
            <a:rPr lang="en-GB" dirty="0" smtClean="0"/>
            <a:t> </a:t>
          </a:r>
          <a:r>
            <a:rPr lang="en-GB" dirty="0" err="1" smtClean="0"/>
            <a:t>সম্পন্ন</a:t>
          </a:r>
          <a:r>
            <a:rPr lang="en-GB" dirty="0" smtClean="0"/>
            <a:t> </a:t>
          </a:r>
          <a:r>
            <a:rPr lang="en-GB" dirty="0" err="1" smtClean="0"/>
            <a:t>সেবা</a:t>
          </a:r>
          <a:r>
            <a:rPr lang="en-GB" dirty="0" smtClean="0"/>
            <a:t> </a:t>
          </a:r>
          <a:r>
            <a:rPr lang="en-GB" dirty="0" err="1" smtClean="0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10/10/1442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8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9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59689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13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09" indent="-285734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2937" indent="-22858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112" indent="-22858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287" indent="-228587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6761E05-EE1F-4A5F-966C-4E23ADB021F5}" type="slidenum">
              <a:rPr lang="en-US" smtClean="0">
                <a:solidFill>
                  <a:srgbClr val="000000"/>
                </a:solidFill>
              </a:rPr>
              <a:pPr eaLnBrk="1" hangingPunct="1"/>
              <a:t>24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25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39781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630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1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908432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40793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129820"/>
            <a:ext cx="1281809" cy="127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402" y="2362200"/>
            <a:ext cx="511632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510117" y="838200"/>
            <a:ext cx="11243733" cy="9541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চৌগাছা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উপজেলা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কমপ্লেক্স</a:t>
            </a:r>
            <a:r>
              <a:rPr lang="en-US" sz="3200" b="1" dirty="0" smtClean="0">
                <a:solidFill>
                  <a:schemeClr val="tx1"/>
                </a:solidFill>
              </a:rPr>
              <a:t>, </a:t>
            </a:r>
            <a:r>
              <a:rPr lang="en-US" sz="3200" b="1" dirty="0" err="1" smtClean="0">
                <a:solidFill>
                  <a:schemeClr val="tx1"/>
                </a:solidFill>
              </a:rPr>
              <a:t>যশোর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202" y="2362200"/>
            <a:ext cx="5389253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589" y="5638801"/>
            <a:ext cx="5820612" cy="58477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 err="1" smtClean="0">
                <a:solidFill>
                  <a:schemeClr val="tx1"/>
                </a:solidFill>
              </a:rPr>
              <a:t>পুর্বের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স্বাস্থ্য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কমপ্লেক্স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649783" y="5638801"/>
            <a:ext cx="5104068" cy="584775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 err="1" smtClean="0">
                <a:solidFill>
                  <a:schemeClr val="tx1"/>
                </a:solidFill>
              </a:rPr>
              <a:t>বর্তমান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স্বাস্থ্য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কমপ্লেক্স</a:t>
            </a:r>
            <a:endParaRPr lang="en-US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69448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117541"/>
              </p:ext>
            </p:extLst>
          </p:nvPr>
        </p:nvGraphicFramePr>
        <p:xfrm>
          <a:off x="192585" y="1759849"/>
          <a:ext cx="11764750" cy="439435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4339"/>
                <a:gridCol w="2369811"/>
                <a:gridCol w="1727200"/>
                <a:gridCol w="1727200"/>
                <a:gridCol w="1828800"/>
                <a:gridCol w="1727200"/>
                <a:gridCol w="160020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8737600" y="6426170"/>
            <a:ext cx="322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latin typeface="Andalus"/>
                <a:ea typeface="Andalus"/>
                <a:cs typeface="Andalus"/>
              </a:rPr>
              <a:t>বিশ্ব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latin typeface="Andalus"/>
                <a:ea typeface="Andalus"/>
                <a:cs typeface="Andalus"/>
              </a:rPr>
              <a:t>ব্যংক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, ২০১৮</a:t>
            </a:r>
            <a:endParaRPr lang="en-US" sz="2000" dirty="0">
              <a:latin typeface="Andalus"/>
              <a:ea typeface="Andalus"/>
              <a:cs typeface="Andalus"/>
            </a:endParaRP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510117" y="504378"/>
            <a:ext cx="11243733" cy="1077218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বিশ্বের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কয়েকটি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দেশের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সরকারি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সম্পদ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ব্যাবহারের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তুলনামূলক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চিত্র</a:t>
            </a:r>
            <a:r>
              <a:rPr lang="en-US" sz="3200" b="1" dirty="0" smtClean="0">
                <a:solidFill>
                  <a:schemeClr val="tx1"/>
                </a:solidFill>
              </a:rPr>
              <a:t>, ২০১৮</a:t>
            </a: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303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="" xmlns:a16="http://schemas.microsoft.com/office/drawing/2014/main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 fontScale="92500" lnSpcReduction="20000"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68619691"/>
              </p:ext>
            </p:extLst>
          </p:nvPr>
        </p:nvGraphicFramePr>
        <p:xfrm>
          <a:off x="1016001" y="1038981"/>
          <a:ext cx="9608456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45335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0870492"/>
              </p:ext>
            </p:extLst>
          </p:nvPr>
        </p:nvGraphicFramePr>
        <p:xfrm>
          <a:off x="551545" y="2492632"/>
          <a:ext cx="10871199" cy="332207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80915" y="4276741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42815" y="4670441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26" y="624109"/>
            <a:ext cx="10131425" cy="12249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চৌগাছা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খুলনা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বিভাগের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প্রসুতি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 ২০১১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14" y="1865086"/>
            <a:ext cx="10972800" cy="4495800"/>
          </a:xfr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err="1" smtClean="0">
                <a:solidFill>
                  <a:schemeClr val="tx1"/>
                </a:solidFill>
              </a:rPr>
              <a:t>জনসম্পৃক্ততায়</a:t>
            </a:r>
            <a:r>
              <a:rPr lang="en-US" sz="3000" b="1" dirty="0" smtClean="0">
                <a:solidFill>
                  <a:schemeClr val="tx1"/>
                </a:solidFill>
              </a:rPr>
              <a:t> </a:t>
            </a:r>
            <a:r>
              <a:rPr lang="en-US" sz="3000" b="1" dirty="0" err="1" smtClean="0">
                <a:solidFill>
                  <a:schemeClr val="tx1"/>
                </a:solidFill>
              </a:rPr>
              <a:t>জনবল</a:t>
            </a:r>
            <a:r>
              <a:rPr lang="en-US" sz="3000" b="1" dirty="0" smtClean="0">
                <a:solidFill>
                  <a:schemeClr val="tx1"/>
                </a:solidFill>
              </a:rPr>
              <a:t> </a:t>
            </a:r>
            <a:r>
              <a:rPr lang="en-US" sz="3000" b="1" dirty="0" err="1" smtClean="0">
                <a:solidFill>
                  <a:schemeClr val="tx1"/>
                </a:solidFill>
              </a:rPr>
              <a:t>সহযোগিতা</a:t>
            </a:r>
            <a:endParaRPr lang="en-US" sz="3000" b="1" dirty="0" smtClean="0">
              <a:solidFill>
                <a:schemeClr val="tx1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সর্বেমোট</a:t>
            </a:r>
            <a:r>
              <a:rPr lang="en-US" sz="3200" dirty="0" smtClean="0">
                <a:solidFill>
                  <a:schemeClr val="tx1"/>
                </a:solidFill>
              </a:rPr>
              <a:t> 			              				:৪৬</a:t>
            </a:r>
          </a:p>
          <a:p>
            <a:pPr marL="640080" lvl="1" indent="-246888">
              <a:spcAft>
                <a:spcPts val="0"/>
              </a:spcAft>
              <a:buFont typeface="Wingdings 2"/>
              <a:buChar char=""/>
              <a:defRPr/>
            </a:pP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ভলেন্টিয়ার</a:t>
            </a:r>
            <a:r>
              <a:rPr lang="en-US" sz="3200" dirty="0" smtClean="0">
                <a:solidFill>
                  <a:schemeClr val="tx1"/>
                </a:solidFill>
              </a:rPr>
              <a:t> 		   			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২৬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>
              <a:spcAft>
                <a:spcPts val="0"/>
              </a:spcAft>
              <a:buFont typeface="Wingdings 2"/>
              <a:buChar char=""/>
              <a:defRPr/>
            </a:pPr>
            <a:r>
              <a:rPr lang="bn-IN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পরিচ্ছন্নতা কর্মী</a:t>
            </a:r>
            <a:r>
              <a:rPr lang="en-GB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8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এবং</a:t>
            </a:r>
            <a:r>
              <a:rPr lang="en-GB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2800" dirty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নিরাপত্তা রক্ষী</a:t>
            </a:r>
            <a:r>
              <a:rPr lang="en-GB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 </a:t>
            </a:r>
            <a:r>
              <a:rPr lang="bn-IN" sz="28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১৬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>
              <a:spcAft>
                <a:spcPts val="0"/>
              </a:spcAft>
              <a:buFont typeface="Wingdings 2"/>
              <a:buChar char=""/>
              <a:defRPr/>
            </a:pP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অনান্য</a:t>
            </a:r>
            <a:r>
              <a:rPr lang="en-US" sz="3200" dirty="0" smtClean="0">
                <a:solidFill>
                  <a:schemeClr val="tx1"/>
                </a:solidFill>
              </a:rPr>
              <a:t>	          				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০৪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err="1" smtClean="0">
                <a:solidFill>
                  <a:schemeClr val="tx1"/>
                </a:solidFill>
              </a:rPr>
              <a:t>অনুদানের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err="1" smtClean="0">
                <a:solidFill>
                  <a:schemeClr val="tx1"/>
                </a:solidFill>
              </a:rPr>
              <a:t>উৎস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</a:p>
          <a:p>
            <a:pPr marL="640080" lvl="1" indent="-246888">
              <a:spcAft>
                <a:spcPts val="0"/>
              </a:spcAft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	</a:t>
            </a: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বাহিরের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উৎস</a:t>
            </a:r>
            <a:r>
              <a:rPr lang="en-US" sz="3200" dirty="0" smtClean="0">
                <a:solidFill>
                  <a:schemeClr val="tx1"/>
                </a:solidFill>
              </a:rPr>
              <a:t>       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২৫</a:t>
            </a:r>
            <a:endParaRPr lang="en-US" sz="3200" dirty="0" smtClean="0">
              <a:solidFill>
                <a:schemeClr val="tx1"/>
              </a:solidFill>
            </a:endParaRPr>
          </a:p>
          <a:p>
            <a:pPr marL="640080" lvl="1" indent="-246888">
              <a:spcAft>
                <a:spcPts val="0"/>
              </a:spcAft>
              <a:buNone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GB" sz="3200" dirty="0" err="1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সেবাদানকারী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		</a:t>
            </a:r>
            <a:r>
              <a:rPr lang="en-US" sz="3200" dirty="0" smtClean="0">
                <a:solidFill>
                  <a:schemeClr val="tx1"/>
                </a:solidFill>
              </a:rPr>
              <a:t>		:</a:t>
            </a:r>
            <a:r>
              <a:rPr lang="en-GB" sz="3200" dirty="0" smtClean="0">
                <a:solidFill>
                  <a:prstClr val="white"/>
                </a:solidFill>
                <a:latin typeface="SolaimanLipi" pitchFamily="65" charset="0"/>
                <a:cs typeface="SolaimanLipi" pitchFamily="65" charset="0"/>
              </a:rPr>
              <a:t>২১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510117" y="693060"/>
            <a:ext cx="11243733" cy="954107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 smtClean="0">
                <a:solidFill>
                  <a:schemeClr val="tx1"/>
                </a:solidFill>
              </a:rPr>
              <a:t>চৌগাছা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উপজেলা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স্বাস্থ্য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 err="1" smtClean="0">
                <a:solidFill>
                  <a:schemeClr val="tx1"/>
                </a:solidFill>
              </a:rPr>
              <a:t>কমপ্লেক্স</a:t>
            </a:r>
            <a:r>
              <a:rPr lang="en-US" sz="3200" b="1" dirty="0" smtClean="0">
                <a:solidFill>
                  <a:schemeClr val="tx1"/>
                </a:solidFill>
              </a:rPr>
              <a:t>, </a:t>
            </a:r>
            <a:r>
              <a:rPr lang="en-US" sz="3200" b="1" dirty="0" err="1" smtClean="0">
                <a:solidFill>
                  <a:schemeClr val="tx1"/>
                </a:solidFill>
              </a:rPr>
              <a:t>যশোর</a:t>
            </a:r>
            <a:r>
              <a:rPr lang="en-US" sz="3200" b="1" dirty="0" smtClean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</a:rPr>
              <a:t/>
            </a:r>
            <a:br>
              <a:rPr lang="en-US" sz="3200" b="1" dirty="0">
                <a:solidFill>
                  <a:schemeClr val="tx1"/>
                </a:solidFill>
              </a:rPr>
            </a:b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66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 fontScale="90000"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 fontScale="92500" lnSpcReduction="10000"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</a:t>
            </a:r>
            <a:r>
              <a:rPr lang="en-GB" sz="4800" b="1" dirty="0">
                <a:latin typeface="SolaimanLipi" pitchFamily="65" charset="0"/>
                <a:cs typeface="SolaimanLipi" pitchFamily="65" charset="0"/>
              </a:rPr>
              <a:t>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;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২০০৯</a:t>
            </a:r>
            <a:endParaRPr lang="en-GB" sz="48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স্বাস্থ্যমন্ত্রী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পুরস্কার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) : ২০১৭,২০১৮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3126" y="1"/>
            <a:ext cx="12126809" cy="1069143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err="1" smtClean="0"/>
              <a:t>চৌগাছার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সার্বিক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উন্নয়নে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জন-অংশগ্রহণ</a:t>
            </a:r>
            <a:endParaRPr lang="en-US" sz="3600" b="1" dirty="0"/>
          </a:p>
        </p:txBody>
      </p:sp>
      <p:pic>
        <p:nvPicPr>
          <p:cNvPr id="8" name="Content Placeholder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4" y="1069144"/>
            <a:ext cx="5004542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83086" y="1145344"/>
            <a:ext cx="5435600" cy="2667001"/>
          </a:xfrm>
          <a:prstGeom prst="rect">
            <a:avLst/>
          </a:prstGeom>
          <a:noFill/>
        </p:spPr>
      </p:pic>
      <p:pic>
        <p:nvPicPr>
          <p:cNvPr id="10" name="Content Placeholder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087" y="3962400"/>
            <a:ext cx="5435600" cy="2895600"/>
          </a:xfrm>
          <a:prstGeom prst="rect">
            <a:avLst/>
          </a:prstGeom>
        </p:spPr>
      </p:pic>
      <p:pic>
        <p:nvPicPr>
          <p:cNvPr id="12" name="Content Placeholder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8" y="4078515"/>
            <a:ext cx="4796970" cy="280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0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68" y="0"/>
            <a:ext cx="114047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49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940142" cy="4796287"/>
          </a:xfrm>
        </p:spPr>
        <p:txBody>
          <a:bodyPr>
            <a:normAutofit fontScale="92500" lnSpcReduction="10000"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২০১২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জানুয়ারি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২০১৩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২০১৫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পরীক্ষামূলক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উদ্যোগ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২০১৬</a:t>
            </a: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উপজেলা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পর্যায়ে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উদ্যোগ : ২০১৭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3" y="1552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ি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ন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াইদহ: চ্যালেন্জ সমূহ ২০১২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 smtClean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র্বল 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অর্থ ব্যবস্থাপনা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চ্ছন্নতা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দুর্বল 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পরি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বী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ক্ষণ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B85FF63-2EE4-42A5-BB64-C9D70E3D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47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জনসম্পৃক্ততা</a:t>
            </a:r>
            <a:endParaRPr lang="bn-BD" sz="48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FB0DE48-3621-4A1E-9E79-9E4E1837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81509"/>
            <a:ext cx="4996923" cy="5152846"/>
          </a:xfrm>
        </p:spPr>
        <p:txBody>
          <a:bodyPr>
            <a:normAutofit fontScale="92500" lnSpcReduction="10000"/>
          </a:bodyPr>
          <a:lstStyle/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স্টাফ: ৫৬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পরিচ্ছন্নতা কর্মী: ২১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আয়া/ওয়ার্ডবয়: ২২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নিরাপত্তা রক্ষী: ৭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স্বেচ্ছাসেবক: ৩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ট্রলিম্যান: ৩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জেনারেটর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ইন্টারকম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বায়োকেমিক্যাল অ্যানালাইজার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6C307B88-65F8-494F-AA33-A28F7B83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0925" y="2697432"/>
            <a:ext cx="4995334" cy="3910401"/>
          </a:xfrm>
        </p:spPr>
        <p:txBody>
          <a:bodyPr>
            <a:normAutofit lnSpcReduction="10000"/>
          </a:bodyPr>
          <a:lstStyle/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সংসদ সদস্য</a:t>
            </a:r>
          </a:p>
          <a:p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জাহে</a:t>
            </a:r>
            <a:r>
              <a:rPr lang="en-GB" sz="4300" dirty="0" err="1" smtClean="0">
                <a:latin typeface="SolaimanLipi" pitchFamily="65" charset="0"/>
                <a:cs typeface="SolaimanLipi" pitchFamily="65" charset="0"/>
              </a:rPr>
              <a:t>দী</a:t>
            </a:r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300" dirty="0">
                <a:latin typeface="SolaimanLipi" pitchFamily="65" charset="0"/>
                <a:cs typeface="SolaimanLipi" pitchFamily="65" charset="0"/>
              </a:rPr>
              <a:t>ফাউন্ডেশন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মেয়র</a:t>
            </a:r>
          </a:p>
          <a:p>
            <a:r>
              <a:rPr lang="en-GB" sz="4300" dirty="0" smtClean="0">
                <a:latin typeface="SolaimanLipi" pitchFamily="65" charset="0"/>
                <a:cs typeface="SolaimanLipi" pitchFamily="65" charset="0"/>
              </a:rPr>
              <a:t>দানশীল ব্যক্তিবর্গ</a:t>
            </a:r>
            <a:endParaRPr lang="bn-IN" sz="4300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ডাক্তার</a:t>
            </a:r>
            <a:endParaRPr lang="bn-BD" sz="4300" dirty="0">
              <a:latin typeface="SolaimanLipi" pitchFamily="65" charset="0"/>
              <a:cs typeface="SolaimanLipi" pitchFamily="65" charset="0"/>
            </a:endParaRPr>
          </a:p>
          <a:p>
            <a:endParaRPr lang="bn-BD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3505201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2363" y="3772090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5920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781034" y="3899646"/>
            <a:ext cx="81657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6748746" y="3922214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7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47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20" y="806428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শিশু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বর্জব্যবস্থাপনার</a:t>
            </a:r>
            <a:r>
              <a:rPr lang="en-US" sz="3200" b="1" dirty="0" smtClean="0"/>
              <a:t>  </a:t>
            </a:r>
            <a:r>
              <a:rPr lang="en-US" sz="3200" b="1" dirty="0" err="1" smtClean="0"/>
              <a:t>পূর্বের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8217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3859214"/>
            <a:ext cx="4326467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057" y="765176"/>
            <a:ext cx="4190859" cy="2926381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792616"/>
            <a:ext cx="4350962" cy="296256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5731933" y="1981200"/>
            <a:ext cx="741438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5797851" y="4821238"/>
            <a:ext cx="67551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6584951" y="3859214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833" y="-1"/>
            <a:ext cx="11679767" cy="7926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প্রসুতি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সার্জারি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আগের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  <p:pic>
        <p:nvPicPr>
          <p:cNvPr id="1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241" y="3744913"/>
            <a:ext cx="4296692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6910549" y="927616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1435241" y="792617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1435241" y="3859214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14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3998914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852187" y="4092576"/>
            <a:ext cx="2131353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324600" y="4035427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1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00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কাইজেন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পদ্ধতির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19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44525"/>
            <a:ext cx="4162538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968" y="3733800"/>
            <a:ext cx="4136571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585786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654629" y="669925"/>
            <a:ext cx="1906932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/>
                </a:solidFill>
              </a:rPr>
              <a:t>A big cleaning day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Health education session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286501" y="682739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338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286500" y="3763963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Creation  of nursing aid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নব-উদ্যোগের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56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82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607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676400" y="152400"/>
            <a:ext cx="88392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4000" dirty="0" smtClean="0"/>
              <a:t>স্থানীয় </a:t>
            </a:r>
            <a:r>
              <a:rPr lang="en-US" sz="4000" dirty="0" err="1" smtClean="0"/>
              <a:t>ব্যবস্থাপনায়</a:t>
            </a:r>
            <a:r>
              <a:rPr lang="en-US" sz="4000" dirty="0" smtClean="0"/>
              <a:t> </a:t>
            </a:r>
            <a:r>
              <a:rPr lang="en-US" sz="4000" dirty="0" err="1" smtClean="0"/>
              <a:t>শিশু</a:t>
            </a:r>
            <a:r>
              <a:rPr lang="en-US" sz="4000" dirty="0" smtClean="0"/>
              <a:t> </a:t>
            </a:r>
            <a:r>
              <a:rPr lang="en-US" sz="4000" dirty="0" err="1" smtClean="0"/>
              <a:t>ওয়ার্ডের</a:t>
            </a:r>
            <a:r>
              <a:rPr lang="en-US" sz="4000" dirty="0" smtClean="0"/>
              <a:t> </a:t>
            </a:r>
            <a:r>
              <a:rPr lang="en-US" sz="4000" dirty="0" err="1" smtClean="0"/>
              <a:t>উন্নয়ন</a:t>
            </a:r>
            <a:endParaRPr lang="en-US" sz="4000" b="1" dirty="0"/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76400" y="3732214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471691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871157" y="126317"/>
            <a:ext cx="8229600" cy="609601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4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ঝিনাইদহ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bn-BD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শয্যা ব্যবহার</a:t>
            </a:r>
            <a:endParaRPr 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97192397"/>
              </p:ext>
            </p:extLst>
          </p:nvPr>
        </p:nvGraphicFramePr>
        <p:xfrm>
          <a:off x="1871157" y="684362"/>
          <a:ext cx="7704164" cy="61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626079" y="222848"/>
            <a:ext cx="8534400" cy="1042359"/>
          </a:xfr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জরুরী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বহি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অন্ত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রোগী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বৃদ্ধি</a:t>
            </a: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382287412"/>
              </p:ext>
            </p:extLst>
          </p:nvPr>
        </p:nvGraphicFramePr>
        <p:xfrm>
          <a:off x="2031521" y="1184693"/>
          <a:ext cx="8534400" cy="558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66810312"/>
              </p:ext>
            </p:extLst>
          </p:nvPr>
        </p:nvGraphicFramePr>
        <p:xfrm>
          <a:off x="522515" y="2416629"/>
          <a:ext cx="11161483" cy="3827977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78537"/>
                <a:gridCol w="4373574"/>
                <a:gridCol w="1262839"/>
                <a:gridCol w="1273153"/>
                <a:gridCol w="1555578"/>
                <a:gridCol w="1617802"/>
              </a:tblGrid>
              <a:tr h="83457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51961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GB" sz="2400" dirty="0" smtClean="0"/>
                        <a:t>1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20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519614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2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8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713" marB="45713" horzOverflow="overflow"/>
                </a:tc>
              </a:tr>
              <a:tr h="519614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3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736093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4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121920" marR="121920" marT="45713" marB="45713" horzOverflow="overflow"/>
                </a:tc>
              </a:tr>
              <a:tr h="698471"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GB" sz="2400" dirty="0" smtClean="0"/>
                        <a:t>5</a:t>
                      </a:r>
                      <a:endParaRPr lang="en-GB" sz="2400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2000" b="1" dirty="0" smtClean="0"/>
                        <a:t>250</a:t>
                      </a:r>
                      <a:r>
                        <a:rPr lang="en-GB" sz="2000" b="1" baseline="0" dirty="0" smtClean="0"/>
                        <a:t> Bedded Hospital, </a:t>
                      </a:r>
                      <a:r>
                        <a:rPr lang="en-GB" sz="2000" b="1" baseline="0" dirty="0" err="1" smtClean="0"/>
                        <a:t>Kushtia</a:t>
                      </a:r>
                      <a:endParaRPr lang="en-GB" sz="2000" b="1" dirty="0"/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4735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1595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919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baseline="0" dirty="0" smtClean="0"/>
                        <a:t>2514</a:t>
                      </a:r>
                      <a:endParaRPr lang="en-GB" sz="2400" b="1" dirty="0">
                        <a:latin typeface="+mn-lt"/>
                      </a:endParaRPr>
                    </a:p>
                  </a:txBody>
                  <a:tcPr marL="121920" marR="121920" marT="45713" marB="45713" horzOverflow="overflow"/>
                </a:tc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="" xmlns:a16="http://schemas.microsoft.com/office/drawing/2014/main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135830"/>
            <a:ext cx="10131425" cy="122495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ঃ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খুলনা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বিভাগের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প্রসুতি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 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7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536" y="792754"/>
            <a:ext cx="11080465" cy="808038"/>
          </a:xfr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হাসপাতালের রাজস্ব আয়ের তুলনামূলক চিত্র (২০১৫ </a:t>
            </a:r>
            <a:r>
              <a:rPr lang="en-US" sz="4400" b="1" smtClean="0">
                <a:solidFill>
                  <a:schemeClr val="tx1"/>
                </a:solidFill>
              </a:rPr>
              <a:t>- ২০১৯</a:t>
            </a:r>
            <a:r>
              <a:rPr lang="en-US" b="1" smtClean="0">
                <a:solidFill>
                  <a:schemeClr val="tx1"/>
                </a:solidFill>
              </a:rPr>
              <a:t>)</a:t>
            </a:r>
            <a:r>
              <a:rPr lang="en-US" sz="5300" b="1" dirty="0">
                <a:solidFill>
                  <a:schemeClr val="tx1"/>
                </a:solidFill>
              </a:rPr>
              <a:t/>
            </a:r>
            <a:br>
              <a:rPr lang="en-US" sz="5300" b="1" dirty="0">
                <a:solidFill>
                  <a:schemeClr val="tx1"/>
                </a:solidFill>
              </a:rPr>
            </a:br>
            <a:endParaRPr lang="en-US" sz="67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472130"/>
              </p:ext>
            </p:extLst>
          </p:nvPr>
        </p:nvGraphicFramePr>
        <p:xfrm>
          <a:off x="2235200" y="2133600"/>
          <a:ext cx="7416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684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xmlns="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36325"/>
              </p:ext>
            </p:extLst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3B1EE1F-6738-485F-A620-2602F7683D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ঝিনাইদহ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: </a:t>
            </a:r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859</TotalTime>
  <Words>614</Words>
  <Application>Microsoft Office PowerPoint</Application>
  <PresentationFormat>Custom</PresentationFormat>
  <Paragraphs>268</Paragraphs>
  <Slides>28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Celestial</vt:lpstr>
      <vt:lpstr>সি-জে জনসম্পৃক্ত স্বাস্থ্য ব্যবস্থাপনা</vt:lpstr>
      <vt:lpstr>PowerPoint Presentation</vt:lpstr>
      <vt:lpstr>PowerPoint Presentation</vt:lpstr>
      <vt:lpstr>ভূমিকা</vt:lpstr>
      <vt:lpstr>চৌগাছা মডেল</vt:lpstr>
      <vt:lpstr>কলেজ পড়ুয়া ছাত্রী ভলেন্টিয়ার</vt:lpstr>
      <vt:lpstr>চৌগাছা হাসপাতাল: প্রসববৃদ্ধি </vt:lpstr>
      <vt:lpstr>চৌগাছা খুলনা বিভাগের শ্রেষ্ঠ প্রসুতি সেবা কেন্দ্র, ২০১১</vt:lpstr>
      <vt:lpstr>PowerPoint Presentation</vt:lpstr>
      <vt:lpstr>চৌগাছা: অর্জন ২০১১</vt:lpstr>
      <vt:lpstr>দৈনিক প্রথম-আলোর প্রতিবেদন ১৪ অক্টোবর, ২০০৫</vt:lpstr>
      <vt:lpstr>PowerPoint Presentation</vt:lpstr>
      <vt:lpstr>PowerPoint Presentation</vt:lpstr>
      <vt:lpstr>ঝিনাইদহ মডেল</vt:lpstr>
      <vt:lpstr>ঝিনাইদহ: চ্যালেন্জ সমূহ ২০১২</vt:lpstr>
      <vt:lpstr>জনসম্পৃক্ততা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জরুরী বহি: অন্ত বিভাগ: রোগী বৃদ্ধি</vt:lpstr>
      <vt:lpstr>ঝিনাইদহঃ খুলনা বিভাগের শ্রেষ্ঠ প্রসুতি সেবা কেন্দ্র, ২০১৭</vt:lpstr>
      <vt:lpstr>  হাসপাতালের রাজস্ব আয়ের তুলনামূলক চিত্র (২০১৫ - ২০১৯) </vt:lpstr>
      <vt:lpstr>ঝিনাইদহ: অর্জন ২০১৮</vt:lpstr>
      <vt:lpstr>সম্প্রসারনের পদক্ষেপ</vt:lpstr>
      <vt:lpstr>ধন্যবাদ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Emdad</cp:lastModifiedBy>
  <cp:revision>195</cp:revision>
  <dcterms:created xsi:type="dcterms:W3CDTF">2018-04-08T00:56:33Z</dcterms:created>
  <dcterms:modified xsi:type="dcterms:W3CDTF">2021-05-21T16:53:15Z</dcterms:modified>
</cp:coreProperties>
</file>