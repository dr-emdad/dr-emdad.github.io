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39"/>
  </p:notesMasterIdLst>
  <p:sldIdLst>
    <p:sldId id="385" r:id="rId2"/>
    <p:sldId id="421" r:id="rId3"/>
    <p:sldId id="379" r:id="rId4"/>
    <p:sldId id="419" r:id="rId5"/>
    <p:sldId id="420" r:id="rId6"/>
    <p:sldId id="377" r:id="rId7"/>
    <p:sldId id="375" r:id="rId8"/>
    <p:sldId id="328" r:id="rId9"/>
    <p:sldId id="383" r:id="rId10"/>
    <p:sldId id="381" r:id="rId11"/>
    <p:sldId id="411" r:id="rId12"/>
    <p:sldId id="392" r:id="rId13"/>
    <p:sldId id="412" r:id="rId14"/>
    <p:sldId id="369" r:id="rId15"/>
    <p:sldId id="414" r:id="rId16"/>
    <p:sldId id="287" r:id="rId17"/>
    <p:sldId id="288" r:id="rId18"/>
    <p:sldId id="291" r:id="rId19"/>
    <p:sldId id="308" r:id="rId20"/>
    <p:sldId id="323" r:id="rId21"/>
    <p:sldId id="416" r:id="rId22"/>
    <p:sldId id="418" r:id="rId23"/>
    <p:sldId id="366" r:id="rId24"/>
    <p:sldId id="363" r:id="rId25"/>
    <p:sldId id="364" r:id="rId26"/>
    <p:sldId id="370" r:id="rId27"/>
    <p:sldId id="372" r:id="rId28"/>
    <p:sldId id="422" r:id="rId29"/>
    <p:sldId id="371" r:id="rId30"/>
    <p:sldId id="297" r:id="rId31"/>
    <p:sldId id="423" r:id="rId32"/>
    <p:sldId id="293" r:id="rId33"/>
    <p:sldId id="401" r:id="rId34"/>
    <p:sldId id="405" r:id="rId35"/>
    <p:sldId id="330" r:id="rId36"/>
    <p:sldId id="415" r:id="rId37"/>
    <p:sldId id="344" r:id="rId3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1846" autoAdjust="0"/>
  </p:normalViewPr>
  <p:slideViewPr>
    <p:cSldViewPr>
      <p:cViewPr>
        <p:scale>
          <a:sx n="70" d="100"/>
          <a:sy n="70" d="100"/>
        </p:scale>
        <p:origin x="-1614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1105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5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6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3.jpeg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8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426240"/>
        <c:axId val="118841728"/>
      </c:barChart>
      <c:catAx>
        <c:axId val="118426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118841728"/>
        <c:crosses val="autoZero"/>
        <c:auto val="1"/>
        <c:lblAlgn val="ctr"/>
        <c:lblOffset val="100"/>
        <c:noMultiLvlLbl val="0"/>
      </c:catAx>
      <c:valAx>
        <c:axId val="1188417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842624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704448"/>
        <c:axId val="121705984"/>
      </c:barChart>
      <c:catAx>
        <c:axId val="121704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1705984"/>
        <c:crosses val="autoZero"/>
        <c:auto val="1"/>
        <c:lblAlgn val="ctr"/>
        <c:lblOffset val="100"/>
        <c:noMultiLvlLbl val="0"/>
      </c:catAx>
      <c:valAx>
        <c:axId val="1217059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170444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22054144"/>
        <c:axId val="122055680"/>
        <c:axId val="0"/>
      </c:bar3DChart>
      <c:catAx>
        <c:axId val="122054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2055680"/>
        <c:crosses val="autoZero"/>
        <c:auto val="1"/>
        <c:lblAlgn val="ctr"/>
        <c:lblOffset val="100"/>
        <c:noMultiLvlLbl val="0"/>
      </c:catAx>
      <c:valAx>
        <c:axId val="1220556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20541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14144"/>
        <c:axId val="119015680"/>
      </c:barChart>
      <c:catAx>
        <c:axId val="119014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9015680"/>
        <c:crosses val="autoZero"/>
        <c:auto val="1"/>
        <c:lblAlgn val="ctr"/>
        <c:lblOffset val="100"/>
        <c:noMultiLvlLbl val="0"/>
      </c:catAx>
      <c:valAx>
        <c:axId val="1190156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9014144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129216"/>
        <c:axId val="119130752"/>
      </c:barChart>
      <c:catAx>
        <c:axId val="119129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9130752"/>
        <c:crosses val="autoZero"/>
        <c:auto val="1"/>
        <c:lblAlgn val="ctr"/>
        <c:lblOffset val="100"/>
        <c:noMultiLvlLbl val="0"/>
      </c:catAx>
      <c:valAx>
        <c:axId val="1191307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912921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1885824"/>
        <c:axId val="121887360"/>
        <c:axId val="118889088"/>
      </c:bar3DChart>
      <c:catAx>
        <c:axId val="121885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1887360"/>
        <c:crosses val="autoZero"/>
        <c:auto val="1"/>
        <c:lblAlgn val="ctr"/>
        <c:lblOffset val="100"/>
        <c:noMultiLvlLbl val="0"/>
      </c:catAx>
      <c:valAx>
        <c:axId val="12188736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1885824"/>
        <c:crosses val="autoZero"/>
        <c:crossBetween val="between"/>
      </c:valAx>
      <c:serAx>
        <c:axId val="118889088"/>
        <c:scaling>
          <c:orientation val="minMax"/>
        </c:scaling>
        <c:delete val="1"/>
        <c:axPos val="b"/>
        <c:majorTickMark val="out"/>
        <c:minorTickMark val="none"/>
        <c:tickLblPos val="nextTo"/>
        <c:crossAx val="12188736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 smtClean="0"/>
            <a:t>Central oxygen system 	- 1</a:t>
          </a:r>
          <a:endParaRPr lang="en-GB" dirty="0"/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 smtClean="0"/>
            <a:t>High flow nasal cannula	- 5</a:t>
          </a:r>
          <a:endParaRPr lang="en-GB" dirty="0"/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 smtClean="0"/>
            <a:t>Oxygen concentrator	- 3</a:t>
          </a:r>
          <a:endParaRPr lang="en-GB" dirty="0"/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 smtClean="0"/>
            <a:t>Large oxygen cylinder	- 48 </a:t>
          </a:r>
          <a:endParaRPr lang="en-GB"/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 smtClean="0"/>
            <a:t>C-PAP machine		- 1</a:t>
          </a:r>
          <a:endParaRPr lang="en-GB"/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 smtClean="0"/>
            <a:t>Pick-up </a:t>
          </a:r>
          <a:r>
            <a:rPr lang="en-GB" dirty="0" err="1" smtClean="0"/>
            <a:t>caverd</a:t>
          </a:r>
          <a:r>
            <a:rPr lang="en-GB" dirty="0" smtClean="0"/>
            <a:t> van	- 1</a:t>
          </a:r>
          <a:endParaRPr lang="en-GB" dirty="0"/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 smtClean="0"/>
            <a:t>Prime minister’s relief fund.</a:t>
          </a:r>
          <a:endParaRPr lang="en-GB"/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 smtClean="0"/>
            <a:t>MP, Jhenaidah-2.</a:t>
          </a:r>
          <a:endParaRPr lang="en-GB"/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 smtClean="0"/>
            <a:t>Mayor, </a:t>
          </a:r>
          <a:r>
            <a:rPr lang="en-GB" dirty="0" err="1" smtClean="0"/>
            <a:t>Jhenaidah</a:t>
          </a:r>
          <a:r>
            <a:rPr lang="en-GB" dirty="0" smtClean="0"/>
            <a:t> </a:t>
          </a:r>
          <a:r>
            <a:rPr lang="en-GB" dirty="0" err="1" smtClean="0"/>
            <a:t>pourosova</a:t>
          </a:r>
          <a:r>
            <a:rPr lang="en-GB" dirty="0" smtClean="0"/>
            <a:t>.</a:t>
          </a:r>
          <a:endParaRPr lang="en-GB" dirty="0"/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 smtClean="0"/>
            <a:t>Jaheedi Foundation.</a:t>
          </a:r>
          <a:endParaRPr lang="en-GB"/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 smtClean="0"/>
            <a:t>Navana group.</a:t>
          </a:r>
          <a:endParaRPr lang="en-GB"/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 smtClean="0"/>
            <a:t>Value – Nearly 52 Lac taka </a:t>
          </a:r>
          <a:endParaRPr lang="en-GB" dirty="0"/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Central oxygen system 	- 1</a:t>
          </a:r>
          <a:endParaRPr lang="en-GB" sz="1700" kern="1200" dirty="0"/>
        </a:p>
      </dsp:txBody>
      <dsp:txXfrm>
        <a:off x="19904" y="37951"/>
        <a:ext cx="4379791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High flow nasal cannula	- 5</a:t>
          </a:r>
          <a:endParaRPr lang="en-GB" sz="1700" kern="1200" dirty="0"/>
        </a:p>
      </dsp:txBody>
      <dsp:txXfrm>
        <a:off x="19904" y="494656"/>
        <a:ext cx="4379791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Oxygen concentrator	- 3</a:t>
          </a:r>
          <a:endParaRPr lang="en-GB" sz="1700" kern="1200" dirty="0"/>
        </a:p>
      </dsp:txBody>
      <dsp:txXfrm>
        <a:off x="19904" y="951361"/>
        <a:ext cx="4379791" cy="367937"/>
      </dsp:txXfrm>
    </dsp:sp>
    <dsp:sp modelId="{CD71DDF5-A775-4A4F-B429-2F449530DD1D}">
      <dsp:nvSpPr>
        <dsp:cNvPr id="0" name=""/>
        <dsp:cNvSpPr/>
      </dsp:nvSpPr>
      <dsp:spPr>
        <a:xfrm>
          <a:off x="0" y="1388162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smtClean="0"/>
            <a:t>Large oxygen cylinder	- 48 </a:t>
          </a:r>
          <a:endParaRPr lang="en-GB" sz="1700" kern="1200"/>
        </a:p>
      </dsp:txBody>
      <dsp:txXfrm>
        <a:off x="19904" y="1408066"/>
        <a:ext cx="4379791" cy="367937"/>
      </dsp:txXfrm>
    </dsp:sp>
    <dsp:sp modelId="{DD6FDA14-5D81-4D91-815D-EF411B6DA3BB}">
      <dsp:nvSpPr>
        <dsp:cNvPr id="0" name=""/>
        <dsp:cNvSpPr/>
      </dsp:nvSpPr>
      <dsp:spPr>
        <a:xfrm>
          <a:off x="0" y="1844867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smtClean="0"/>
            <a:t>C-PAP machine		- 1</a:t>
          </a:r>
          <a:endParaRPr lang="en-GB" sz="1700" kern="1200"/>
        </a:p>
      </dsp:txBody>
      <dsp:txXfrm>
        <a:off x="19904" y="1864771"/>
        <a:ext cx="4379791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Pick-up </a:t>
          </a:r>
          <a:r>
            <a:rPr lang="en-GB" sz="1700" kern="1200" dirty="0" err="1" smtClean="0"/>
            <a:t>caverd</a:t>
          </a:r>
          <a:r>
            <a:rPr lang="en-GB" sz="1700" kern="1200" dirty="0" smtClean="0"/>
            <a:t> van	- 1</a:t>
          </a:r>
          <a:endParaRPr lang="en-GB" sz="1700" kern="1200" dirty="0"/>
        </a:p>
      </dsp:txBody>
      <dsp:txXfrm>
        <a:off x="19904" y="2321477"/>
        <a:ext cx="4379791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Prime minister’s relief fund.</a:t>
          </a:r>
          <a:endParaRPr lang="en-GB" sz="1500" kern="1200"/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MP, Jhenaidah-2.</a:t>
          </a:r>
          <a:endParaRPr lang="en-GB" sz="1500" kern="1200"/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 smtClean="0"/>
            <a:t>Mayor, </a:t>
          </a:r>
          <a:r>
            <a:rPr lang="en-GB" sz="1500" kern="1200" dirty="0" err="1" smtClean="0"/>
            <a:t>Jhenaidah</a:t>
          </a:r>
          <a:r>
            <a:rPr lang="en-GB" sz="1500" kern="1200" dirty="0" smtClean="0"/>
            <a:t> </a:t>
          </a:r>
          <a:r>
            <a:rPr lang="en-GB" sz="1500" kern="1200" dirty="0" err="1" smtClean="0"/>
            <a:t>pourosova</a:t>
          </a:r>
          <a:r>
            <a:rPr lang="en-GB" sz="1500" kern="1200" dirty="0" smtClean="0"/>
            <a:t>.</a:t>
          </a:r>
          <a:endParaRPr lang="en-GB" sz="1500" kern="1200" dirty="0"/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Jaheedi Foundation.</a:t>
          </a:r>
          <a:endParaRPr lang="en-GB" sz="1500" kern="1200"/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Navana group.</a:t>
          </a:r>
          <a:endParaRPr lang="en-GB" sz="1500" kern="1200"/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399" cy="647594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dirty="0" smtClean="0"/>
            <a:t>Value – Nearly 52 Lac taka </a:t>
          </a:r>
          <a:endParaRPr lang="en-GB" sz="2700" kern="1200" dirty="0"/>
        </a:p>
      </dsp:txBody>
      <dsp:txXfrm>
        <a:off x="31613" y="286232"/>
        <a:ext cx="3899173" cy="584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11/21/2020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07D7908-9E4A-4E88-A26C-DD1E66ACA437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35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11/21/2020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586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2020/11/21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  <p:sldLayoutId id="2147484020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jpe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8.jpeg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Haque</a:t>
            </a:r>
            <a:endParaRPr lang="en-US" sz="16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C-J Model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R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eplication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1"/>
            <a:ext cx="6410438" cy="38691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91151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17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76403668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algn="just">
              <a:defRPr/>
            </a:pPr>
            <a:r>
              <a:rPr lang="en-US" sz="3000" b="1" dirty="0" smtClean="0"/>
              <a:t>Insecure  hospital environment.</a:t>
            </a:r>
          </a:p>
          <a:p>
            <a:pPr algn="just">
              <a:defRPr/>
            </a:pPr>
            <a:r>
              <a:rPr lang="en-US" sz="3000" b="1" dirty="0" smtClean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 smtClean="0"/>
              <a:t>Very limited support staff.</a:t>
            </a:r>
          </a:p>
          <a:p>
            <a:pPr algn="just">
              <a:defRPr/>
            </a:pPr>
            <a:r>
              <a:rPr lang="en-US" sz="3000" b="1" dirty="0" smtClean="0"/>
              <a:t>3 doctors including RMO was suspended. </a:t>
            </a:r>
            <a:endParaRPr lang="en-US" sz="3000" b="1" dirty="0"/>
          </a:p>
          <a:p>
            <a:pPr algn="just">
              <a:defRPr/>
            </a:pPr>
            <a:r>
              <a:rPr lang="en-US" sz="3000" b="1" dirty="0" smtClean="0"/>
              <a:t>Non-</a:t>
            </a:r>
            <a:r>
              <a:rPr lang="en-US" sz="3000" b="1" dirty="0" err="1" smtClean="0"/>
              <a:t>gov</a:t>
            </a:r>
            <a:r>
              <a:rPr lang="en-US" sz="3000" b="1" dirty="0" err="1"/>
              <a:t>.</a:t>
            </a:r>
            <a:r>
              <a:rPr lang="en-US" sz="3000" b="1" dirty="0"/>
              <a:t> staff</a:t>
            </a:r>
            <a:r>
              <a:rPr lang="en-US" sz="3000" b="1" dirty="0" smtClean="0"/>
              <a:t>. demanding money from the patients.</a:t>
            </a:r>
          </a:p>
          <a:p>
            <a:pPr algn="just">
              <a:defRPr/>
            </a:pPr>
            <a:r>
              <a:rPr lang="en-US" sz="3000" b="1" dirty="0" smtClean="0"/>
              <a:t>Waste management system was poor.</a:t>
            </a:r>
          </a:p>
          <a:p>
            <a:pPr algn="just">
              <a:defRPr/>
            </a:pPr>
            <a:r>
              <a:rPr lang="en-US" sz="3000" b="1" dirty="0" smtClean="0"/>
              <a:t>Monitoring meeting was not performed regularl</a:t>
            </a:r>
            <a:r>
              <a:rPr lang="en-US" sz="2800" b="1" dirty="0" smtClean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609600" y="1905000"/>
            <a:ext cx="8229600" cy="4648200"/>
          </a:xfrm>
          <a:solidFill>
            <a:schemeClr val="tx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Successful leadership in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Personal and group skills in health </a:t>
            </a:r>
            <a:r>
              <a:rPr lang="en-GB" sz="1800" dirty="0" smtClean="0"/>
              <a:t>care.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Community engaged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Optimum use of government </a:t>
            </a:r>
            <a:r>
              <a:rPr lang="en-GB" sz="1800" dirty="0" smtClean="0"/>
              <a:t>resources.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Effective relation with local administration and with other government </a:t>
            </a:r>
            <a:r>
              <a:rPr lang="en-GB" sz="1800" dirty="0" smtClean="0"/>
              <a:t>organizations.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Improvement of security by community </a:t>
            </a:r>
            <a:r>
              <a:rPr lang="en-GB" sz="1800" dirty="0" smtClean="0"/>
              <a:t>engagement.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maternal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child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 smtClean="0"/>
              <a:t>Ensuring corner-based health care.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Model-1</a:t>
            </a:r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170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1905001"/>
            <a:ext cx="8153400" cy="4267200"/>
          </a:xfrm>
          <a:solidFill>
            <a:schemeClr val="tx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Woman and Baby Friendly Hospital</a:t>
            </a:r>
            <a:r>
              <a:rPr lang="en-GB" sz="1800" dirty="0" smtClean="0"/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Birth </a:t>
            </a:r>
            <a:r>
              <a:rPr lang="en-GB" sz="1800" dirty="0"/>
              <a:t>and death recording, progress assessment and </a:t>
            </a:r>
            <a:r>
              <a:rPr lang="en-GB" sz="1800" dirty="0" smtClean="0"/>
              <a:t>develop accountability </a:t>
            </a:r>
            <a:r>
              <a:rPr lang="en-GB" sz="1800" dirty="0"/>
              <a:t>by collecting information on all health </a:t>
            </a:r>
            <a:r>
              <a:rPr lang="en-GB" sz="1800" dirty="0" smtClean="0"/>
              <a:t>indicators.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Improving </a:t>
            </a:r>
            <a:r>
              <a:rPr lang="en-GB" sz="1800" dirty="0"/>
              <a:t>healthcare by unit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Health awareness by health </a:t>
            </a:r>
            <a:r>
              <a:rPr lang="en-GB" sz="1800" dirty="0" smtClean="0"/>
              <a:t>education.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Cleanliness </a:t>
            </a:r>
            <a:r>
              <a:rPr lang="en-GB" sz="1800" dirty="0"/>
              <a:t>(Waste management) and beautification of the facility and </a:t>
            </a:r>
            <a:r>
              <a:rPr lang="en-GB" sz="1800" dirty="0" smtClean="0"/>
              <a:t>premises.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Provision of safe blood transfusion for emergency needs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Zero tolerance against </a:t>
            </a:r>
            <a:r>
              <a:rPr lang="en-GB" sz="1800" dirty="0" smtClean="0"/>
              <a:t>corruption.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Implementation of the 5S KAIZEN-TQM for the improvement of </a:t>
            </a:r>
            <a:r>
              <a:rPr lang="en-GB" sz="1800" dirty="0" smtClean="0"/>
              <a:t>health quality.</a:t>
            </a:r>
            <a:endParaRPr lang="en-GB" sz="1800" dirty="0"/>
          </a:p>
          <a:p>
            <a:pPr marL="514350" indent="-514350">
              <a:buFont typeface="+mj-lt"/>
              <a:buAutoNum type="arabicPeriod" startAt="10"/>
            </a:pPr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</a:t>
            </a:r>
            <a:r>
              <a:rPr lang="en-GB" dirty="0" smtClean="0"/>
              <a:t>Model-2</a:t>
            </a:r>
            <a:endParaRPr lang="en-GB" dirty="0"/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178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2019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060224493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407633567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681107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2019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2011-2019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87417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18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16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133445"/>
              </p:ext>
            </p:extLst>
          </p:nvPr>
        </p:nvGraphicFramePr>
        <p:xfrm>
          <a:off x="1066800" y="1066800"/>
          <a:ext cx="7315200" cy="520670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13728"/>
                <a:gridCol w="1619872"/>
                <a:gridCol w="914400"/>
                <a:gridCol w="803831"/>
                <a:gridCol w="770592"/>
                <a:gridCol w="770592"/>
                <a:gridCol w="770592"/>
                <a:gridCol w="1151593"/>
              </a:tblGrid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</a:t>
                      </a:r>
                    </a:p>
                  </a:txBody>
                  <a:tcPr marT="45709" marB="45709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2017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2019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554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*4362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788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Jashore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1503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375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Kustia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915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2677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2781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1616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3674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 bed,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Jhenaidah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2375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*2997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1019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2753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Chowgacha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*4413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854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2957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3544" y="-431800"/>
            <a:ext cx="8229600" cy="17526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2700" b="1" dirty="0">
                <a:solidFill>
                  <a:srgbClr val="FF0000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7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2011,2017,2019</a:t>
            </a:r>
            <a:endParaRPr lang="en-US" sz="27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2019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880335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94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Cleaner:	20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boy:	21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guard:	6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Volunteer:	3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Dining space for patients.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 smtClean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56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team of Jhenaidah 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visited to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in 2014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A meeting was held in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175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5S KAIZEN-TQM Program Started in Jhenaidah Sadar Hospital in 2014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013" y="3934820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9019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7620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TQM program started in Jhenaidah Sadar Hospital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7795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meeting of QIC was held in Jhenaidah Sadar Hospital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597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Alignment of pictures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1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61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42937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1407" y="685800"/>
            <a:ext cx="27879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Repaired boundary wall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362700" y="642937"/>
            <a:ext cx="2667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Campus beautification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98231" y="3886200"/>
            <a:ext cx="21288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Cycle stand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6036573" y="3927929"/>
            <a:ext cx="299312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Recovery of hospital land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255560" cy="28956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86200"/>
            <a:ext cx="4127426" cy="28956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685800"/>
            <a:ext cx="4038599" cy="2743200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685800"/>
            <a:ext cx="4281168" cy="27432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6184" y="697468"/>
            <a:ext cx="351891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Digitalization of patient profile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6371857" y="689212"/>
            <a:ext cx="246734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Organized pharmacy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246184" y="3886200"/>
            <a:ext cx="315983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Improved conference room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6695998" y="3916907"/>
            <a:ext cx="216822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Visitor Restriction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050" y="3886200"/>
            <a:ext cx="4503693" cy="2971800"/>
          </a:xfrm>
        </p:spPr>
      </p:pic>
      <p:pic>
        <p:nvPicPr>
          <p:cNvPr id="1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3955"/>
            <a:ext cx="4267200" cy="3101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800600" y="1676400"/>
            <a:ext cx="342900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Reception </a:t>
            </a:r>
            <a:r>
              <a:rPr lang="en-US" b="1" dirty="0" smtClean="0">
                <a:solidFill>
                  <a:srgbClr val="FF0000"/>
                </a:solidFill>
              </a:rPr>
              <a:t>room provided by community support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221794" y="5079242"/>
            <a:ext cx="390356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rgbClr val="FF0000"/>
                </a:solidFill>
              </a:rPr>
              <a:t>ECG facility in </a:t>
            </a:r>
            <a:r>
              <a:rPr lang="en-US" b="1" dirty="0" err="1" smtClean="0">
                <a:solidFill>
                  <a:srgbClr val="FF0000"/>
                </a:solidFill>
              </a:rPr>
              <a:t>enemrgency</a:t>
            </a:r>
            <a:r>
              <a:rPr lang="en-US" b="1" dirty="0" smtClean="0">
                <a:solidFill>
                  <a:srgbClr val="FF0000"/>
                </a:solidFill>
              </a:rPr>
              <a:t> department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729734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2518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9" y="3943451"/>
            <a:ext cx="4532312" cy="291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5278839" y="3929051"/>
            <a:ext cx="38651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Dining facility by community sup.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Extension </a:t>
            </a:r>
            <a:r>
              <a:rPr lang="en-US" b="1" dirty="0" smtClean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Sadar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47725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00" b="1" dirty="0" smtClean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4343401" y="847725"/>
            <a:ext cx="4805362" cy="3308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50" b="1" dirty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50" b="1" dirty="0" smtClean="0">
                <a:solidFill>
                  <a:srgbClr val="FF0000"/>
                </a:solidFill>
              </a:rPr>
              <a:t> of Previous </a:t>
            </a:r>
            <a:r>
              <a:rPr lang="en-US" sz="1550" b="1" dirty="0" err="1" smtClean="0">
                <a:solidFill>
                  <a:srgbClr val="FF0000"/>
                </a:solidFill>
              </a:rPr>
              <a:t>Zilla</a:t>
            </a:r>
            <a:r>
              <a:rPr lang="en-US" sz="1550" b="1" dirty="0" smtClean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parishad</a:t>
            </a:r>
            <a:r>
              <a:rPr lang="en-US" sz="1550" b="1" dirty="0" smtClean="0">
                <a:solidFill>
                  <a:srgbClr val="FF0000"/>
                </a:solidFill>
              </a:rPr>
              <a:t> chairman</a:t>
            </a:r>
            <a:endParaRPr lang="en-GB" sz="155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6819279" y="3985289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G\Picture Chaugachha\DSC0337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2" y="3657601"/>
            <a:ext cx="4267199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G:\G\Picture Chaugachha\DSC0070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95400"/>
            <a:ext cx="4876803" cy="274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38801" y="2237514"/>
            <a:ext cx="2743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Jhenidah</a:t>
            </a:r>
            <a:r>
              <a:rPr lang="en-GB" dirty="0" smtClean="0"/>
              <a:t> team visited </a:t>
            </a:r>
            <a:r>
              <a:rPr lang="en-GB" dirty="0" err="1" smtClean="0"/>
              <a:t>Chowgacha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457200" y="4800601"/>
            <a:ext cx="3429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Jhenidah</a:t>
            </a:r>
            <a:r>
              <a:rPr lang="en-GB" dirty="0" smtClean="0"/>
              <a:t> team visited </a:t>
            </a:r>
            <a:r>
              <a:rPr lang="en-GB" dirty="0" err="1" smtClean="0"/>
              <a:t>Nuhata</a:t>
            </a:r>
            <a:r>
              <a:rPr lang="en-GB" dirty="0" smtClean="0"/>
              <a:t>, </a:t>
            </a:r>
            <a:r>
              <a:rPr lang="en-GB" dirty="0" err="1" smtClean="0"/>
              <a:t>Magura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52400" y="152400"/>
            <a:ext cx="8839200" cy="9906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Learning visit of community leaders to </a:t>
            </a:r>
            <a:r>
              <a:rPr lang="en-US" sz="2400" dirty="0" err="1" smtClean="0">
                <a:solidFill>
                  <a:schemeClr val="bg1"/>
                </a:solidFill>
              </a:rPr>
              <a:t>Chowgacha</a:t>
            </a:r>
            <a:r>
              <a:rPr lang="en-US" sz="2400" dirty="0" smtClean="0">
                <a:solidFill>
                  <a:schemeClr val="bg1"/>
                </a:solidFill>
              </a:rPr>
              <a:t> and </a:t>
            </a:r>
            <a:r>
              <a:rPr lang="en-US" sz="2400" dirty="0" err="1" smtClean="0">
                <a:solidFill>
                  <a:schemeClr val="bg1"/>
                </a:solidFill>
              </a:rPr>
              <a:t>Nuhata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5300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5281" y="609600"/>
            <a:ext cx="3740919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Blood donation camp by district judge 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6904431" y="61869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DC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26158" y="362006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SP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4800600" y="3599597"/>
            <a:ext cx="4219927" cy="323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500" b="1" dirty="0" err="1" smtClean="0">
                <a:solidFill>
                  <a:srgbClr val="FF0000"/>
                </a:solidFill>
              </a:rPr>
              <a:t>Manobota</a:t>
            </a:r>
            <a:r>
              <a:rPr lang="en-US" sz="1500" b="1" dirty="0" smtClean="0">
                <a:solidFill>
                  <a:srgbClr val="FF0000"/>
                </a:solidFill>
              </a:rPr>
              <a:t> blood donor group opened by CS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health improvement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community support group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QIC meeting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Monthly meeting schedule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3581400" cy="23622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10000"/>
            <a:ext cx="3657600" cy="2439988"/>
          </a:xfr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143000"/>
            <a:ext cx="3657601" cy="2438400"/>
          </a:xfrm>
        </p:spPr>
      </p:pic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810000"/>
            <a:ext cx="3581400" cy="2438399"/>
          </a:xfrm>
        </p:spPr>
      </p:pic>
      <p:sp>
        <p:nvSpPr>
          <p:cNvPr id="13" name="Title 4"/>
          <p:cNvSpPr>
            <a:spLocks noGrp="1"/>
          </p:cNvSpPr>
          <p:nvPr>
            <p:ph type="title" sz="quarter"/>
          </p:nvPr>
        </p:nvSpPr>
        <p:spPr>
          <a:xfrm>
            <a:off x="200167" y="304800"/>
            <a:ext cx="8915400" cy="461963"/>
          </a:xfrm>
          <a:solidFill>
            <a:srgbClr val="0C7E17"/>
          </a:solidFill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</a:rPr>
              <a:t>Meeting with the university teachers of IU on community participation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50170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6800"/>
            <a:ext cx="41592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114800"/>
            <a:ext cx="41148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066800"/>
            <a:ext cx="3962401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38600"/>
            <a:ext cx="3886200" cy="2697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Community support in COVID -19 Management-1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Community support in COVID -19 Management-2</a:t>
            </a:r>
            <a:endParaRPr lang="en-GB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245058"/>
              </p:ext>
            </p:extLst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78411560"/>
              </p:ext>
            </p:extLst>
          </p:nvPr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 smtClean="0"/>
                <a:t>Source of Donation</a:t>
              </a:r>
              <a:endParaRPr lang="en-GB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630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</a:t>
            </a:r>
            <a:r>
              <a:rPr lang="en-US" b="1" i="1" dirty="0" smtClean="0"/>
              <a:t>services.</a:t>
            </a:r>
          </a:p>
          <a:p>
            <a:pPr marL="0" algn="just">
              <a:defRPr/>
            </a:pPr>
            <a:endParaRPr lang="en-US" b="1" i="1" dirty="0"/>
          </a:p>
          <a:p>
            <a:pPr marL="0" algn="just">
              <a:defRPr/>
            </a:pPr>
            <a:r>
              <a:rPr lang="en-US" b="1" i="1" dirty="0" smtClean="0"/>
              <a:t>3. </a:t>
            </a:r>
            <a:r>
              <a:rPr lang="en-US" b="1" dirty="0" smtClean="0"/>
              <a:t>Improved </a:t>
            </a:r>
            <a:r>
              <a:rPr lang="en-US" b="1" dirty="0"/>
              <a:t>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8. Nearly </a:t>
            </a:r>
            <a:r>
              <a:rPr lang="en-US" b="1" dirty="0"/>
              <a:t>45 </a:t>
            </a:r>
            <a:r>
              <a:rPr lang="en-US" b="1" dirty="0" err="1" smtClean="0"/>
              <a:t>lacs</a:t>
            </a:r>
            <a:r>
              <a:rPr lang="en-US" b="1" dirty="0" smtClean="0"/>
              <a:t> </a:t>
            </a:r>
            <a:r>
              <a:rPr lang="en-US" b="1" dirty="0"/>
              <a:t>Taka support  for 6 high flow   oxygen  nasal cannula, central </a:t>
            </a:r>
            <a:r>
              <a:rPr lang="en-US" b="1" dirty="0" smtClean="0"/>
              <a:t>oxygen </a:t>
            </a:r>
            <a:r>
              <a:rPr lang="en-US" b="1" dirty="0"/>
              <a:t>supplying system for </a:t>
            </a:r>
            <a:r>
              <a:rPr lang="en-US" b="1" dirty="0" err="1" smtClean="0"/>
              <a:t>covid</a:t>
            </a:r>
            <a:r>
              <a:rPr lang="en-US" b="1" smtClean="0"/>
              <a:t> -19. </a:t>
            </a:r>
            <a:r>
              <a:rPr lang="en-US" b="1" dirty="0"/>
              <a:t>patient </a:t>
            </a:r>
            <a:endParaRPr lang="en-US" b="1" dirty="0" smtClean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/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Lessons learned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88069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Public health and hospital services and resources are inadequate vis-à-vis the need specially for the poor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This gap can be minimized through local participation.</a:t>
            </a:r>
          </a:p>
          <a:p>
            <a:pPr marL="514350" indent="-514350" algn="just" eaLnBrk="0" hangingPunct="0">
              <a:buFontTx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Effective health service and hospital management require local support and participation.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Health personnel, specially the local health manager should take the role of catalyst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Local support can be attracted through improved services, and visible efforts and morality of the health managers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MOHFW can take initiative to roll out the model and the message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Jhenaidah-</a:t>
            </a:r>
            <a:r>
              <a:rPr lang="en-US" sz="2000" dirty="0" err="1"/>
              <a:t>Chowgacha</a:t>
            </a:r>
            <a:r>
              <a:rPr lang="en-US" sz="2000" dirty="0"/>
              <a:t> team will happy to volunteer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Tx/>
              <a:buAutoNum type="arabicPeriod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097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5122</TotalTime>
  <Words>1180</Words>
  <Application>Microsoft Office PowerPoint</Application>
  <PresentationFormat>On-screen Show (4:3)</PresentationFormat>
  <Paragraphs>342</Paragraphs>
  <Slides>37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PowerPoint Presentation</vt:lpstr>
      <vt:lpstr>PowerPoint Presentation</vt:lpstr>
      <vt:lpstr>Challenges of the hospital in 2012</vt:lpstr>
      <vt:lpstr>PowerPoint Presentation</vt:lpstr>
      <vt:lpstr>PowerPoint Presentation</vt:lpstr>
      <vt:lpstr>PowerPoint Presentation</vt:lpstr>
      <vt:lpstr>Emergency + Out Door &amp; Indoor  Service 1998 to 2019</vt:lpstr>
      <vt:lpstr>Operation Service (Major) 2011 to 2019</vt:lpstr>
      <vt:lpstr>PowerPoint Presentation</vt:lpstr>
      <vt:lpstr>Total ANC and Delivery in Jhenaidah District Hospital 2011-2019</vt:lpstr>
      <vt:lpstr>Comparative Data of Delivery of best performing EOC center of Khulna Division in 2011,2017,2019</vt:lpstr>
      <vt:lpstr>  Comparative data of revenue income (in Taka) from 2015 to 2019 </vt:lpstr>
      <vt:lpstr>PowerPoint Presentation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Innovative activities community supported manpower -  2</vt:lpstr>
      <vt:lpstr>PowerPoint Presentation</vt:lpstr>
      <vt:lpstr>PowerPoint Presentation</vt:lpstr>
      <vt:lpstr>Innovative activities of Jhenaidah Sadar Hospital - 5</vt:lpstr>
      <vt:lpstr>Innovative activities of Jhenaidah Sadar Hospital - 6</vt:lpstr>
      <vt:lpstr>Involvement of MP, District Administrator &amp; Mayor in Sadar Hospital</vt:lpstr>
      <vt:lpstr>PowerPoint Presentation</vt:lpstr>
      <vt:lpstr>Involvement of district high officials in hospital activities </vt:lpstr>
      <vt:lpstr>Internal Monitoring System</vt:lpstr>
      <vt:lpstr>Meeting with the university teachers of IU on community participation</vt:lpstr>
      <vt:lpstr>PowerPoint Presentation</vt:lpstr>
      <vt:lpstr>Community support in COVID -19 Management-1</vt:lpstr>
      <vt:lpstr>Community support in COVID -19 Management-2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803</cp:revision>
  <cp:lastPrinted>2017-03-18T23:47:54Z</cp:lastPrinted>
  <dcterms:created xsi:type="dcterms:W3CDTF">2013-05-05T09:56:19Z</dcterms:created>
  <dcterms:modified xsi:type="dcterms:W3CDTF">2020-11-21T02:00:53Z</dcterms:modified>
</cp:coreProperties>
</file>