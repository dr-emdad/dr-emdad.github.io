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8" r:id="rId2"/>
  </p:sldMasterIdLst>
  <p:notesMasterIdLst>
    <p:notesMasterId r:id="rId19"/>
  </p:notesMasterIdLst>
  <p:sldIdLst>
    <p:sldId id="274" r:id="rId3"/>
    <p:sldId id="280" r:id="rId4"/>
    <p:sldId id="279" r:id="rId5"/>
    <p:sldId id="272" r:id="rId6"/>
    <p:sldId id="273" r:id="rId7"/>
    <p:sldId id="281" r:id="rId8"/>
    <p:sldId id="261" r:id="rId9"/>
    <p:sldId id="269" r:id="rId10"/>
    <p:sldId id="270" r:id="rId11"/>
    <p:sldId id="263" r:id="rId12"/>
    <p:sldId id="282" r:id="rId13"/>
    <p:sldId id="283" r:id="rId14"/>
    <p:sldId id="284" r:id="rId15"/>
    <p:sldId id="275" r:id="rId16"/>
    <p:sldId id="277" r:id="rId17"/>
    <p:sldId id="27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>
      <p:cViewPr>
        <p:scale>
          <a:sx n="75" d="100"/>
          <a:sy n="75" d="100"/>
        </p:scale>
        <p:origin x="-124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5B5D1-C6EA-4E7C-8A0D-EC49E5EF3CDC}" type="datetimeFigureOut">
              <a:rPr lang="en-GB" smtClean="0"/>
              <a:t>04/10/2021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1F6E0-7AF4-4D57-BE20-AF1694B37C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687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884027" y="8684926"/>
            <a:ext cx="2972421" cy="45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2021/10/4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0358234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2021/10/4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7131569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2021/10/4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674914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2021/10/4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3347203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2021/10/4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2547723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2021/10/4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84500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2021/10/4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0091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2021/10/4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882532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2021/10/4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4096054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2021/10/4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354957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2021/10/4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2235532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2021/10/4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0923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60A3115-D531-4BF5-8912-0DDF8A1BF818}" type="datetimeFigureOut">
              <a:rPr lang="ja-JP" altLang="en-US" smtClean="0"/>
              <a:pPr>
                <a:defRPr/>
              </a:pPr>
              <a:t>2021/10/4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2C5264A-7754-4726-AC52-E1F06AF192FF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524000"/>
            <a:ext cx="6172200" cy="2199162"/>
          </a:xfr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GB" dirty="0" smtClean="0"/>
              <a:t>Managing Implementation on Shasthyo Surokhsha Karmasuchi (SSK) Pilot Project and Quality Improvement Activities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419600"/>
            <a:ext cx="6553200" cy="1524000"/>
          </a:xfrm>
        </p:spPr>
        <p:txBody>
          <a:bodyPr>
            <a:normAutofit/>
          </a:bodyPr>
          <a:lstStyle/>
          <a:p>
            <a:r>
              <a:rPr lang="en-GB" dirty="0" smtClean="0"/>
              <a:t>Dr. Md. Emdadul </a:t>
            </a:r>
            <a:r>
              <a:rPr lang="en-GB" dirty="0" smtClean="0"/>
              <a:t>Haque,</a:t>
            </a:r>
          </a:p>
          <a:p>
            <a:r>
              <a:rPr lang="en-GB" dirty="0" smtClean="0"/>
              <a:t>Associate Professor (Gynae &amp; Obst.),</a:t>
            </a:r>
          </a:p>
          <a:p>
            <a:r>
              <a:rPr lang="en-GB" dirty="0" smtClean="0"/>
              <a:t>Ad-din Sakina</a:t>
            </a:r>
            <a:r>
              <a:rPr lang="en-GB" dirty="0"/>
              <a:t> </a:t>
            </a:r>
            <a:r>
              <a:rPr lang="en-GB" dirty="0" smtClean="0"/>
              <a:t>Women’s Medical College, Jashore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637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524000"/>
            <a:ext cx="6172200" cy="2199162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dirty="0" smtClean="0"/>
              <a:t>Part </a:t>
            </a:r>
            <a:r>
              <a:rPr lang="en-GB" dirty="0" smtClean="0"/>
              <a:t>1:</a:t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>Self Introduction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511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7696200" cy="2362200"/>
          </a:xfrm>
        </p:spPr>
        <p:txBody>
          <a:bodyPr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327025" algn="l"/>
              </a:tabLst>
            </a:pPr>
            <a:r>
              <a:rPr lang="en-GB" dirty="0">
                <a:cs typeface="Calibri" pitchFamily="34" charset="0"/>
              </a:rPr>
              <a:t>Passsed MBBS  from Sher-E-Bangla  Barishal Medical College in 1984 </a:t>
            </a:r>
            <a:endParaRPr lang="en-GB" dirty="0" smtClean="0">
              <a:cs typeface="Calibri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327025" algn="l"/>
              </a:tabLst>
            </a:pPr>
            <a:r>
              <a:rPr lang="en-GB" dirty="0" smtClean="0">
                <a:cs typeface="Calibri" pitchFamily="34" charset="0"/>
              </a:rPr>
              <a:t>Joined </a:t>
            </a:r>
            <a:r>
              <a:rPr lang="en-GB" dirty="0">
                <a:cs typeface="Calibri" pitchFamily="34" charset="0"/>
              </a:rPr>
              <a:t>in Govt. Service in 1984 in 7</a:t>
            </a:r>
            <a:r>
              <a:rPr lang="en-GB" baseline="30000" dirty="0">
                <a:cs typeface="Calibri" pitchFamily="34" charset="0"/>
              </a:rPr>
              <a:t>th</a:t>
            </a:r>
            <a:r>
              <a:rPr lang="en-GB" dirty="0">
                <a:cs typeface="Calibri" pitchFamily="34" charset="0"/>
              </a:rPr>
              <a:t> BCS (</a:t>
            </a:r>
            <a:r>
              <a:rPr lang="en-GB" dirty="0" smtClean="0">
                <a:cs typeface="Calibri" pitchFamily="34" charset="0"/>
              </a:rPr>
              <a:t>Health)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327025" algn="l"/>
              </a:tabLst>
            </a:pPr>
            <a:r>
              <a:rPr lang="en-GB" dirty="0" smtClean="0">
                <a:cs typeface="Calibri" pitchFamily="34" charset="0"/>
              </a:rPr>
              <a:t>Foundation </a:t>
            </a:r>
            <a:r>
              <a:rPr lang="en-GB" dirty="0">
                <a:cs typeface="Calibri" pitchFamily="34" charset="0"/>
              </a:rPr>
              <a:t>Ttaining from BPATC Savar in </a:t>
            </a:r>
            <a:r>
              <a:rPr lang="en-GB" dirty="0" smtClean="0">
                <a:cs typeface="Calibri" pitchFamily="34" charset="0"/>
              </a:rPr>
              <a:t>1991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327025" algn="l"/>
              </a:tabLst>
            </a:pPr>
            <a:r>
              <a:rPr lang="en-GB" dirty="0" smtClean="0">
                <a:cs typeface="Calibri" pitchFamily="34" charset="0"/>
              </a:rPr>
              <a:t>DMCHFP </a:t>
            </a:r>
            <a:r>
              <a:rPr lang="en-GB" dirty="0">
                <a:cs typeface="Calibri" pitchFamily="34" charset="0"/>
              </a:rPr>
              <a:t>in 1991 from NIPSOM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327025" algn="l"/>
              </a:tabLst>
            </a:pPr>
            <a:r>
              <a:rPr lang="en-GB" dirty="0">
                <a:cs typeface="Calibri" pitchFamily="34" charset="0"/>
              </a:rPr>
              <a:t>DGO (Diploma in Obst. and Gynae) in 2003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327025" algn="l"/>
              </a:tabLst>
            </a:pPr>
            <a:r>
              <a:rPr lang="en-GB" dirty="0">
                <a:cs typeface="Calibri" pitchFamily="34" charset="0"/>
              </a:rPr>
              <a:t>Promoted as Jumior Consultant (Gynoe and Obst.) in 2003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327025" algn="l"/>
              </a:tabLst>
            </a:pPr>
            <a:r>
              <a:rPr lang="en-GB" dirty="0">
                <a:cs typeface="Calibri" pitchFamily="34" charset="0"/>
              </a:rPr>
              <a:t>Promoted as Senior Consultant in 2011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327025" algn="l"/>
              </a:tabLst>
            </a:pPr>
            <a:r>
              <a:rPr lang="en-GB" dirty="0">
                <a:cs typeface="Calibri" pitchFamily="34" charset="0"/>
              </a:rPr>
              <a:t>Retired from govt. service in April 2018</a:t>
            </a:r>
          </a:p>
          <a:p>
            <a:pPr algn="just"/>
            <a:endParaRPr lang="en-GB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467600" cy="685800"/>
          </a:xfr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pPr lvl="0" fontAlgn="base">
              <a:spcAft>
                <a:spcPct val="0"/>
              </a:spcAft>
              <a:tabLst>
                <a:tab pos="327025" algn="l"/>
              </a:tabLst>
            </a:pPr>
            <a:r>
              <a:rPr lang="en-GB" sz="3600" b="1" dirty="0">
                <a:latin typeface="Calibri" pitchFamily="34" charset="0"/>
                <a:cs typeface="Calibri" pitchFamily="34" charset="0"/>
              </a:rPr>
              <a:t>Dr. Md Emdadul Haque</a:t>
            </a:r>
          </a:p>
        </p:txBody>
      </p:sp>
    </p:spTree>
    <p:extLst>
      <p:ext uri="{BB962C8B-B14F-4D97-AF65-F5344CB8AC3E}">
        <p14:creationId xmlns:p14="http://schemas.microsoft.com/office/powerpoint/2010/main" val="8524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7696200" cy="2362200"/>
          </a:xfrm>
        </p:spPr>
        <p:txBody>
          <a:bodyPr>
            <a:noAutofit/>
          </a:bodyPr>
          <a:lstStyle/>
          <a:p>
            <a:pPr lvl="0" algn="just"/>
            <a:r>
              <a:rPr lang="en-GB" dirty="0" smtClean="0"/>
              <a:t>Development of Chougacha Upazilla Health Complex Model</a:t>
            </a:r>
            <a:r>
              <a:rPr lang="en-GB" dirty="0" smtClean="0"/>
              <a:t>, recognized </a:t>
            </a:r>
            <a:r>
              <a:rPr lang="en-GB" dirty="0" smtClean="0"/>
              <a:t>by GoB and WHO by local initiatives.</a:t>
            </a:r>
          </a:p>
          <a:p>
            <a:pPr lvl="0" algn="just"/>
            <a:r>
              <a:rPr lang="en-GB" dirty="0" smtClean="0"/>
              <a:t>Development of Jhenaidah District Hospital Model with the help of HEU of </a:t>
            </a:r>
            <a:r>
              <a:rPr lang="en-GB" dirty="0" err="1" smtClean="0"/>
              <a:t>MoH&amp;FW</a:t>
            </a:r>
            <a:r>
              <a:rPr lang="en-GB" dirty="0" smtClean="0"/>
              <a:t>.</a:t>
            </a:r>
          </a:p>
          <a:p>
            <a:pPr lvl="0" algn="just"/>
            <a:r>
              <a:rPr lang="en-GB" dirty="0" smtClean="0"/>
              <a:t>Chougacha UHC – Jhenaidah District Hospital Model</a:t>
            </a:r>
          </a:p>
          <a:p>
            <a:pPr lvl="0" algn="just"/>
            <a:r>
              <a:rPr lang="en-GB" dirty="0" smtClean="0"/>
              <a:t>Concept of quality development by community participation, which was implemented in both the institutions. Both the institutions are awarded several times for their best performances.</a:t>
            </a:r>
          </a:p>
          <a:p>
            <a:pPr lvl="0" algn="just"/>
            <a:endParaRPr lang="en-GB" dirty="0"/>
          </a:p>
          <a:p>
            <a:pPr algn="just"/>
            <a:endParaRPr lang="en-GB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467600" cy="685800"/>
          </a:xfr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pPr marL="0" indent="0"/>
            <a:r>
              <a:rPr lang="en-GB" sz="3600" dirty="0"/>
              <a:t>Activities and Achievement:</a:t>
            </a:r>
          </a:p>
        </p:txBody>
      </p:sp>
    </p:spTree>
    <p:extLst>
      <p:ext uri="{BB962C8B-B14F-4D97-AF65-F5344CB8AC3E}">
        <p14:creationId xmlns:p14="http://schemas.microsoft.com/office/powerpoint/2010/main" val="330634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524000"/>
            <a:ext cx="8382000" cy="4648200"/>
          </a:xfrm>
        </p:spPr>
        <p:txBody>
          <a:bodyPr>
            <a:noAutofit/>
          </a:bodyPr>
          <a:lstStyle/>
          <a:p>
            <a:pPr lvl="0"/>
            <a:r>
              <a:rPr lang="en-US" sz="2000" b="1" dirty="0" smtClean="0"/>
              <a:t>Community Service Award</a:t>
            </a:r>
            <a:r>
              <a:rPr lang="en-US" sz="2000" dirty="0" smtClean="0"/>
              <a:t> by OGSB in 2006. </a:t>
            </a:r>
            <a:endParaRPr lang="en-GB" sz="2000" dirty="0" smtClean="0"/>
          </a:p>
          <a:p>
            <a:pPr lvl="0" algn="just"/>
            <a:r>
              <a:rPr lang="en-US" sz="2000" b="1" dirty="0" smtClean="0"/>
              <a:t>Best performance Award</a:t>
            </a:r>
            <a:r>
              <a:rPr lang="en-US" sz="2000" dirty="0" smtClean="0"/>
              <a:t> by MOH &amp; FW and DGHS in 2008.</a:t>
            </a:r>
            <a:endParaRPr lang="en-GB" sz="2000" dirty="0" smtClean="0"/>
          </a:p>
          <a:p>
            <a:pPr lvl="0" algn="just"/>
            <a:r>
              <a:rPr lang="en-US" sz="2000" b="1" dirty="0" smtClean="0"/>
              <a:t>Professor </a:t>
            </a:r>
            <a:r>
              <a:rPr lang="en-US" sz="2000" b="1" dirty="0" err="1" smtClean="0"/>
              <a:t>Muklechur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Rahman</a:t>
            </a:r>
            <a:r>
              <a:rPr lang="en-US" sz="2000" b="1" dirty="0" smtClean="0"/>
              <a:t> Award</a:t>
            </a:r>
            <a:r>
              <a:rPr lang="en-US" sz="2000" dirty="0" smtClean="0"/>
              <a:t> by OGSB in 2010. </a:t>
            </a:r>
            <a:endParaRPr lang="en-GB" sz="2000" dirty="0" smtClean="0"/>
          </a:p>
          <a:p>
            <a:pPr lvl="0" algn="just"/>
            <a:r>
              <a:rPr lang="en-US" sz="2000" b="1" dirty="0" smtClean="0"/>
              <a:t>Kaizen Role Model Award</a:t>
            </a:r>
            <a:r>
              <a:rPr lang="en-US" sz="2000" dirty="0" smtClean="0"/>
              <a:t> by BPATC, </a:t>
            </a:r>
            <a:r>
              <a:rPr lang="en-US" sz="2000" dirty="0" err="1" smtClean="0"/>
              <a:t>Savar</a:t>
            </a:r>
            <a:r>
              <a:rPr lang="en-US" sz="2000" dirty="0" smtClean="0"/>
              <a:t> in November, 2013.”</a:t>
            </a:r>
            <a:endParaRPr lang="en-GB" sz="2000" dirty="0" smtClean="0"/>
          </a:p>
          <a:p>
            <a:pPr lvl="0" algn="just"/>
            <a:r>
              <a:rPr lang="en-US" sz="2000" b="1" dirty="0" smtClean="0"/>
              <a:t>Lifetime Award</a:t>
            </a:r>
            <a:r>
              <a:rPr lang="en-US" sz="2000" dirty="0" smtClean="0"/>
              <a:t> by OGSB in 2016.</a:t>
            </a:r>
            <a:r>
              <a:rPr lang="en-US" sz="2000" u="sng" dirty="0" smtClean="0"/>
              <a:t> </a:t>
            </a:r>
            <a:endParaRPr lang="en-GB" sz="2000" dirty="0" smtClean="0"/>
          </a:p>
          <a:p>
            <a:pPr lvl="0" algn="just"/>
            <a:r>
              <a:rPr lang="en-US" sz="2000" dirty="0" smtClean="0"/>
              <a:t>The </a:t>
            </a:r>
            <a:r>
              <a:rPr lang="en-US" sz="2000" dirty="0"/>
              <a:t>Daily </a:t>
            </a:r>
            <a:r>
              <a:rPr lang="en-US" sz="2000" dirty="0" err="1"/>
              <a:t>Prothem</a:t>
            </a:r>
            <a:r>
              <a:rPr lang="en-US" sz="2000" dirty="0"/>
              <a:t> </a:t>
            </a:r>
            <a:r>
              <a:rPr lang="en-US" sz="2000" dirty="0" err="1"/>
              <a:t>Alo</a:t>
            </a:r>
            <a:r>
              <a:rPr lang="en-US" sz="2000" dirty="0"/>
              <a:t> – Special feature  in first page on 14 October 2005. </a:t>
            </a:r>
            <a:endParaRPr lang="en-GB" sz="2000" dirty="0"/>
          </a:p>
          <a:p>
            <a:pPr lvl="0" algn="just"/>
            <a:r>
              <a:rPr lang="en-US" sz="2000" dirty="0" smtClean="0"/>
              <a:t>Special </a:t>
            </a:r>
            <a:r>
              <a:rPr lang="en-US" sz="2000" dirty="0"/>
              <a:t>report in The Daily </a:t>
            </a:r>
            <a:r>
              <a:rPr lang="en-US" sz="2000" dirty="0" err="1"/>
              <a:t>Prothom</a:t>
            </a:r>
            <a:r>
              <a:rPr lang="en-US" sz="2000" dirty="0"/>
              <a:t> </a:t>
            </a:r>
            <a:r>
              <a:rPr lang="en-US" sz="2000" dirty="0" err="1"/>
              <a:t>Alo</a:t>
            </a:r>
            <a:r>
              <a:rPr lang="en-US" sz="2000" dirty="0"/>
              <a:t>  on 8 November, 2021 in 21</a:t>
            </a:r>
            <a:r>
              <a:rPr lang="en-US" sz="2000" baseline="30000" dirty="0"/>
              <a:t>st</a:t>
            </a:r>
            <a:r>
              <a:rPr lang="en-US" sz="2000" dirty="0"/>
              <a:t> Anniversary Edition  page 14: “</a:t>
            </a:r>
            <a:r>
              <a:rPr lang="bn-IN" sz="2000" dirty="0"/>
              <a:t>চৌগাছা মডেলে বদলাচ্ছে সরকারি হাসপাতাল</a:t>
            </a:r>
            <a:r>
              <a:rPr lang="en-US" sz="2000" dirty="0" smtClean="0"/>
              <a:t>”.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001000" cy="685800"/>
          </a:xfr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pPr marL="0" indent="0"/>
            <a:r>
              <a:rPr lang="en-GB" sz="3600" dirty="0"/>
              <a:t>Award and appreciations:</a:t>
            </a:r>
          </a:p>
        </p:txBody>
      </p:sp>
    </p:spTree>
    <p:extLst>
      <p:ext uri="{BB962C8B-B14F-4D97-AF65-F5344CB8AC3E}">
        <p14:creationId xmlns:p14="http://schemas.microsoft.com/office/powerpoint/2010/main" val="368745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524000"/>
            <a:ext cx="6172200" cy="2199162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dirty="0" smtClean="0"/>
              <a:t>Part </a:t>
            </a:r>
            <a:r>
              <a:rPr lang="en-GB" dirty="0" smtClean="0"/>
              <a:t>2:</a:t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>Concept of SSK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973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r>
              <a:rPr lang="en-GB" dirty="0" smtClean="0"/>
              <a:t>What is </a:t>
            </a:r>
            <a:r>
              <a:rPr lang="en-GB" dirty="0" smtClean="0"/>
              <a:t>SSK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24000"/>
            <a:ext cx="82296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2500" dirty="0" smtClean="0"/>
              <a:t>SSK (Shasthyo </a:t>
            </a:r>
            <a:r>
              <a:rPr lang="en-GB" sz="2500" dirty="0" err="1" smtClean="0"/>
              <a:t>Suroksha</a:t>
            </a:r>
            <a:r>
              <a:rPr lang="en-GB" sz="2500" dirty="0" smtClean="0"/>
              <a:t> Karmasuchi) is a social health protection </a:t>
            </a:r>
            <a:r>
              <a:rPr lang="en-GB" sz="2500" i="1" dirty="0" smtClean="0"/>
              <a:t>/</a:t>
            </a:r>
            <a:r>
              <a:rPr lang="en-GB" sz="2500" dirty="0" smtClean="0"/>
              <a:t> health financing scheme which is the step towards Universal Health Coverage and first initiative of implementing health care financing strategy developed by health economic unit of MOHFW.  </a:t>
            </a:r>
          </a:p>
        </p:txBody>
      </p:sp>
    </p:spTree>
    <p:extLst>
      <p:ext uri="{BB962C8B-B14F-4D97-AF65-F5344CB8AC3E}">
        <p14:creationId xmlns:p14="http://schemas.microsoft.com/office/powerpoint/2010/main" val="185215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76400"/>
            <a:ext cx="8229600" cy="4525963"/>
          </a:xfrm>
        </p:spPr>
        <p:txBody>
          <a:bodyPr/>
          <a:lstStyle/>
          <a:p>
            <a:pPr lvl="1" algn="just">
              <a:buFont typeface="Arial" pitchFamily="34" charset="0"/>
              <a:buChar char="•"/>
            </a:pPr>
            <a:r>
              <a:rPr lang="en-GB" dirty="0" smtClean="0"/>
              <a:t>Free physician’s consultation in UHCs.</a:t>
            </a:r>
          </a:p>
          <a:p>
            <a:pPr lvl="1" algn="just">
              <a:buFont typeface="Arial" pitchFamily="34" charset="0"/>
              <a:buChar char="•"/>
            </a:pPr>
            <a:r>
              <a:rPr lang="en-GB" dirty="0" smtClean="0"/>
              <a:t>Free drugs and diagnostic facilities in UHCs.</a:t>
            </a:r>
          </a:p>
          <a:p>
            <a:pPr lvl="1" algn="just">
              <a:buFont typeface="Arial" pitchFamily="34" charset="0"/>
              <a:buChar char="•"/>
            </a:pPr>
            <a:r>
              <a:rPr lang="en-GB" dirty="0" smtClean="0"/>
              <a:t>Structured referral to secondary hospital.</a:t>
            </a:r>
          </a:p>
          <a:p>
            <a:pPr lvl="1" algn="just">
              <a:buFont typeface="Arial" pitchFamily="34" charset="0"/>
              <a:buChar char="•"/>
            </a:pPr>
            <a:r>
              <a:rPr lang="en-GB" dirty="0" smtClean="0"/>
              <a:t>Hospitalized SSK members is being treated according to the defined medical guide lines.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609600"/>
          </a:xfr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pPr marL="0" indent="0"/>
            <a:r>
              <a:rPr lang="en-GB" dirty="0"/>
              <a:t>Services of SSK:</a:t>
            </a:r>
          </a:p>
        </p:txBody>
      </p:sp>
    </p:spTree>
    <p:extLst>
      <p:ext uri="{BB962C8B-B14F-4D97-AF65-F5344CB8AC3E}">
        <p14:creationId xmlns:p14="http://schemas.microsoft.com/office/powerpoint/2010/main" val="206615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685800"/>
          </a:xfr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r>
              <a:rPr lang="en-GB" dirty="0" smtClean="0"/>
              <a:t>How </a:t>
            </a:r>
            <a:r>
              <a:rPr lang="en-GB" dirty="0" smtClean="0"/>
              <a:t>SSK Service is provided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All </a:t>
            </a:r>
            <a:r>
              <a:rPr lang="en-GB" dirty="0" smtClean="0"/>
              <a:t>Below </a:t>
            </a:r>
            <a:r>
              <a:rPr lang="en-GB" dirty="0" err="1" smtClean="0"/>
              <a:t>Proverty</a:t>
            </a:r>
            <a:r>
              <a:rPr lang="en-GB" dirty="0" smtClean="0"/>
              <a:t> Level (BPL) </a:t>
            </a:r>
            <a:r>
              <a:rPr lang="en-GB" dirty="0"/>
              <a:t>households in the upazilla are targeted by the scheme. </a:t>
            </a:r>
          </a:p>
          <a:p>
            <a:pPr algn="just"/>
            <a:r>
              <a:rPr lang="en-GB" dirty="0"/>
              <a:t>They are identified by local health administrative authorities.</a:t>
            </a:r>
          </a:p>
          <a:p>
            <a:pPr algn="just"/>
            <a:r>
              <a:rPr lang="en-GB" dirty="0"/>
              <a:t>A private Scheme Operator, supervised by the SSK Cell of the </a:t>
            </a:r>
            <a:r>
              <a:rPr lang="en-GB" dirty="0" smtClean="0"/>
              <a:t>HEU.</a:t>
            </a:r>
          </a:p>
          <a:p>
            <a:pPr algn="just"/>
            <a:r>
              <a:rPr lang="en-GB" dirty="0" smtClean="0"/>
              <a:t>The </a:t>
            </a:r>
            <a:r>
              <a:rPr lang="en-GB" dirty="0"/>
              <a:t>government pays 1000 taka per year for every household. Benefits per household may attain a maximum of 50,000 taka per year</a:t>
            </a:r>
            <a:r>
              <a:rPr lang="en-GB" dirty="0" smtClean="0"/>
              <a:t>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140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685800"/>
          </a:xfr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r>
              <a:rPr lang="en-GB" dirty="0"/>
              <a:t>How SSK </a:t>
            </a:r>
            <a:r>
              <a:rPr lang="en-GB" dirty="0" smtClean="0"/>
              <a:t>Service is provided - 2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543800" cy="487375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GB" dirty="0"/>
          </a:p>
          <a:p>
            <a:pPr lvl="0" algn="just">
              <a:buClr>
                <a:srgbClr val="FE8637"/>
              </a:buClr>
            </a:pPr>
            <a:r>
              <a:rPr lang="en-GB" dirty="0">
                <a:solidFill>
                  <a:prstClr val="black"/>
                </a:solidFill>
              </a:rPr>
              <a:t>Community support group in community clinic and SSK management committee in Upazilla headed by an Upazilla chairman involve in the selection and quality service. </a:t>
            </a:r>
            <a:endParaRPr lang="en-GB" dirty="0" smtClean="0">
              <a:solidFill>
                <a:prstClr val="black"/>
              </a:solidFill>
            </a:endParaRPr>
          </a:p>
          <a:p>
            <a:pPr marL="0" lvl="0" indent="0" algn="just">
              <a:buClr>
                <a:srgbClr val="FE8637"/>
              </a:buClr>
              <a:buNone/>
            </a:pPr>
            <a:endParaRPr lang="en-GB" dirty="0">
              <a:solidFill>
                <a:prstClr val="black"/>
              </a:solidFill>
            </a:endParaRPr>
          </a:p>
          <a:p>
            <a:pPr lvl="0" algn="just">
              <a:buClr>
                <a:srgbClr val="FE8637"/>
              </a:buClr>
            </a:pPr>
            <a:r>
              <a:rPr lang="en-GB" dirty="0">
                <a:solidFill>
                  <a:prstClr val="black"/>
                </a:solidFill>
              </a:rPr>
              <a:t>MIS system has been jointly developed by HEU and MIS of DGHS. </a:t>
            </a:r>
          </a:p>
          <a:p>
            <a:pPr marL="0" indent="0" algn="just">
              <a:buNone/>
            </a:pP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810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8583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905000"/>
            <a:ext cx="6172200" cy="2199162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dirty="0" smtClean="0"/>
              <a:t>Part 3: 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Criteria </a:t>
            </a:r>
            <a:r>
              <a:rPr lang="en-GB" dirty="0"/>
              <a:t>of Quality Development Strategy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973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0"/>
            <a:ext cx="7467600" cy="579438"/>
          </a:xfr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r>
              <a:rPr lang="en-GB" sz="2800" dirty="0" smtClean="0"/>
              <a:t>Guiding Principles for Quality of SSK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524000"/>
            <a:ext cx="7467600" cy="4873752"/>
          </a:xfrm>
        </p:spPr>
        <p:txBody>
          <a:bodyPr/>
          <a:lstStyle/>
          <a:p>
            <a:r>
              <a:rPr lang="en-GB" dirty="0" smtClean="0"/>
              <a:t>Universality</a:t>
            </a:r>
          </a:p>
          <a:p>
            <a:r>
              <a:rPr lang="en-GB" dirty="0" smtClean="0"/>
              <a:t>Equity</a:t>
            </a:r>
          </a:p>
          <a:p>
            <a:r>
              <a:rPr lang="en-GB" dirty="0" smtClean="0"/>
              <a:t>Non discrimination </a:t>
            </a:r>
          </a:p>
          <a:p>
            <a:r>
              <a:rPr lang="en-GB" dirty="0" smtClean="0"/>
              <a:t>Comprehensive care</a:t>
            </a:r>
          </a:p>
          <a:p>
            <a:r>
              <a:rPr lang="en-GB" dirty="0" smtClean="0"/>
              <a:t>Financial protection</a:t>
            </a:r>
          </a:p>
          <a:p>
            <a:r>
              <a:rPr lang="en-GB" dirty="0" smtClean="0"/>
              <a:t>Protection of the patient’s right</a:t>
            </a:r>
          </a:p>
          <a:p>
            <a:r>
              <a:rPr lang="en-GB" dirty="0" smtClean="0"/>
              <a:t>Patient’s choice</a:t>
            </a:r>
          </a:p>
          <a:p>
            <a:r>
              <a:rPr lang="en-GB" dirty="0" smtClean="0"/>
              <a:t>Continuity of care</a:t>
            </a:r>
          </a:p>
          <a:p>
            <a:r>
              <a:rPr lang="en-GB" dirty="0" smtClean="0"/>
              <a:t>Accountability and </a:t>
            </a:r>
            <a:r>
              <a:rPr lang="en-GB" dirty="0" err="1" smtClean="0"/>
              <a:t>Transparancy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215040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7467600" cy="960438"/>
          </a:xfrm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r>
              <a:rPr lang="en-GB" sz="2800" dirty="0" smtClean="0"/>
              <a:t>Focusing of SSK to achieve Universal Health Coverage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524000"/>
            <a:ext cx="7467600" cy="4873752"/>
          </a:xfrm>
        </p:spPr>
        <p:txBody>
          <a:bodyPr/>
          <a:lstStyle/>
          <a:p>
            <a:r>
              <a:rPr lang="en-GB" dirty="0" smtClean="0"/>
              <a:t>Access to the poor</a:t>
            </a:r>
          </a:p>
          <a:p>
            <a:r>
              <a:rPr lang="en-GB" dirty="0" smtClean="0"/>
              <a:t>Financial risk protection</a:t>
            </a:r>
          </a:p>
          <a:p>
            <a:r>
              <a:rPr lang="en-GB" dirty="0" smtClean="0"/>
              <a:t>Quality of care</a:t>
            </a:r>
          </a:p>
          <a:p>
            <a:r>
              <a:rPr lang="en-GB" dirty="0" smtClean="0"/>
              <a:t>Increase the authority at hospital level for functional improvement</a:t>
            </a:r>
          </a:p>
          <a:p>
            <a:r>
              <a:rPr lang="en-GB" dirty="0" smtClean="0"/>
              <a:t>Reduce Out of Pocket Expenditure</a:t>
            </a:r>
          </a:p>
        </p:txBody>
      </p:sp>
    </p:spTree>
    <p:extLst>
      <p:ext uri="{BB962C8B-B14F-4D97-AF65-F5344CB8AC3E}">
        <p14:creationId xmlns:p14="http://schemas.microsoft.com/office/powerpoint/2010/main" val="724260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GB" sz="3600" dirty="0" smtClean="0"/>
              <a:t>Criteria of Quality Development Strategy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Leadership development. </a:t>
            </a:r>
          </a:p>
          <a:p>
            <a:r>
              <a:rPr lang="en-GB" dirty="0" smtClean="0"/>
              <a:t>Management system development.</a:t>
            </a:r>
          </a:p>
          <a:p>
            <a:r>
              <a:rPr lang="en-GB" dirty="0" smtClean="0"/>
              <a:t>Optimum utilization </a:t>
            </a:r>
            <a:r>
              <a:rPr lang="en-GB" dirty="0" smtClean="0"/>
              <a:t>of govt. resources.</a:t>
            </a:r>
          </a:p>
          <a:p>
            <a:r>
              <a:rPr lang="en-GB" dirty="0"/>
              <a:t>Establishment of effective referral system. </a:t>
            </a:r>
            <a:endParaRPr lang="en-GB" dirty="0" smtClean="0"/>
          </a:p>
          <a:p>
            <a:r>
              <a:rPr lang="en-GB" dirty="0" smtClean="0"/>
              <a:t>Good communication with local administration and other govt. and local govt. authorities.</a:t>
            </a:r>
          </a:p>
          <a:p>
            <a:r>
              <a:rPr lang="en-GB" dirty="0" smtClean="0"/>
              <a:t>Community participation</a:t>
            </a:r>
            <a:r>
              <a:rPr lang="en-GB" dirty="0" smtClean="0"/>
              <a:t>.</a:t>
            </a:r>
          </a:p>
          <a:p>
            <a:r>
              <a:rPr lang="en-GB" dirty="0" smtClean="0"/>
              <a:t> Establishment </a:t>
            </a:r>
            <a:r>
              <a:rPr lang="en-GB" dirty="0" smtClean="0"/>
              <a:t>of </a:t>
            </a:r>
            <a:r>
              <a:rPr lang="en-GB" dirty="0" smtClean="0"/>
              <a:t>5S </a:t>
            </a:r>
            <a:r>
              <a:rPr lang="en-GB" dirty="0" smtClean="0"/>
              <a:t>Kaizen and TQM. 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156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GB" sz="3600" dirty="0" smtClean="0"/>
              <a:t>Criteria of Quality Development Strategy-2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Social mobilization by health education</a:t>
            </a:r>
            <a:r>
              <a:rPr lang="en-GB" dirty="0" smtClean="0"/>
              <a:t>.</a:t>
            </a:r>
            <a:endParaRPr lang="en-GB" dirty="0"/>
          </a:p>
          <a:p>
            <a:r>
              <a:rPr lang="en-GB" dirty="0" smtClean="0"/>
              <a:t>Development </a:t>
            </a:r>
            <a:r>
              <a:rPr lang="en-GB" dirty="0" smtClean="0"/>
              <a:t>for the readiness of the health institutions to provide quality service.</a:t>
            </a:r>
          </a:p>
          <a:p>
            <a:r>
              <a:rPr lang="en-GB" dirty="0" smtClean="0"/>
              <a:t>Appreciations for the best performing teams. </a:t>
            </a:r>
          </a:p>
          <a:p>
            <a:r>
              <a:rPr lang="en-GB" dirty="0" smtClean="0"/>
              <a:t>Client satisfaction survey.</a:t>
            </a:r>
          </a:p>
          <a:p>
            <a:r>
              <a:rPr lang="en-GB" dirty="0" smtClean="0"/>
              <a:t>Improved monitoring and supervision. </a:t>
            </a:r>
          </a:p>
          <a:p>
            <a:r>
              <a:rPr lang="en-GB" dirty="0" smtClean="0"/>
              <a:t>Complete the program within the time frame. </a:t>
            </a:r>
          </a:p>
          <a:p>
            <a:r>
              <a:rPr lang="en-GB" dirty="0"/>
              <a:t>Development of a good MIS </a:t>
            </a:r>
            <a:r>
              <a:rPr lang="en-GB" dirty="0" smtClean="0"/>
              <a:t>system. </a:t>
            </a:r>
          </a:p>
          <a:p>
            <a:pPr marL="0" indent="0"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79681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noFill/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accent1"/>
              </a:solidFill>
              <a:effectLst>
                <a:reflection blurRad="12700" stA="28000" endPos="45000" dist="1000" dir="5400000" sy="-100000" algn="bl" rotWithShape="0"/>
              </a:effectLst>
              <a:latin typeface="Century Schoolbook" pitchFamily="18" charset="0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accent1"/>
              </a:solidFill>
              <a:effectLst>
                <a:reflection blurRad="12700" stA="28000" endPos="45000" dist="1000" dir="5400000" sy="-100000" algn="bl" rotWithShape="0"/>
              </a:effectLst>
              <a:latin typeface="Century Schoolbook" pitchFamily="18" charset="0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accent1"/>
              </a:solidFill>
              <a:effectLst>
                <a:reflection blurRad="12700" stA="28000" endPos="45000" dist="1000" dir="5400000" sy="-100000" algn="bl" rotWithShape="0"/>
              </a:effectLst>
              <a:latin typeface="Century Schoolbook" pitchFamily="18" charset="0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accent1"/>
              </a:solidFill>
              <a:effectLst>
                <a:reflection blurRad="12700" stA="28000" endPos="45000" dist="1000" dir="5400000" sy="-100000" algn="bl" rotWithShape="0"/>
              </a:effectLst>
              <a:latin typeface="Century Schoolbook" pitchFamily="18" charset="0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Schoolbook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419054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647</Words>
  <Application>Microsoft Office PowerPoint</Application>
  <PresentationFormat>On-screen Show (4:3)</PresentationFormat>
  <Paragraphs>86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5_シック</vt:lpstr>
      <vt:lpstr>Oriel</vt:lpstr>
      <vt:lpstr>Managing Implementation on Shasthyo Surokhsha Karmasuchi (SSK) Pilot Project and Quality Improvement Activities</vt:lpstr>
      <vt:lpstr>Part 1:  Self Introduction</vt:lpstr>
      <vt:lpstr>Dr. Md Emdadul Haque</vt:lpstr>
      <vt:lpstr>Activities and Achievement:</vt:lpstr>
      <vt:lpstr>Award and appreciations:</vt:lpstr>
      <vt:lpstr>Part 2:  Concept of SSK</vt:lpstr>
      <vt:lpstr>What is SSK</vt:lpstr>
      <vt:lpstr>Services of SSK:</vt:lpstr>
      <vt:lpstr>How SSK Service is provided</vt:lpstr>
      <vt:lpstr>How SSK Service is provided - 2</vt:lpstr>
      <vt:lpstr>Part 3:   Criteria of Quality Development Strategy</vt:lpstr>
      <vt:lpstr>Guiding Principles for Quality of SSK</vt:lpstr>
      <vt:lpstr>Focusing of SSK to achieve Universal Health Coverage</vt:lpstr>
      <vt:lpstr>Criteria of Quality Development Strategy</vt:lpstr>
      <vt:lpstr>Criteria of Quality Development Strategy-2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Managing Implementation on Shasthyo Surokhsha Karmasuchi (SSK) Pilot Project and Quality Improvement Activities</dc:title>
  <dc:creator>Emdad</dc:creator>
  <cp:lastModifiedBy>Emdad</cp:lastModifiedBy>
  <cp:revision>138</cp:revision>
  <dcterms:created xsi:type="dcterms:W3CDTF">2006-08-16T00:00:00Z</dcterms:created>
  <dcterms:modified xsi:type="dcterms:W3CDTF">2021-10-04T10:35:11Z</dcterms:modified>
</cp:coreProperties>
</file>