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7"/>
  </p:notesMasterIdLst>
  <p:sldIdLst>
    <p:sldId id="256" r:id="rId2"/>
    <p:sldId id="259" r:id="rId3"/>
    <p:sldId id="271" r:id="rId4"/>
    <p:sldId id="258" r:id="rId5"/>
    <p:sldId id="260" r:id="rId6"/>
    <p:sldId id="262" r:id="rId7"/>
    <p:sldId id="263" r:id="rId8"/>
    <p:sldId id="267" r:id="rId9"/>
    <p:sldId id="264" r:id="rId10"/>
    <p:sldId id="266" r:id="rId11"/>
    <p:sldId id="261" r:id="rId12"/>
    <p:sldId id="265" r:id="rId13"/>
    <p:sldId id="268" r:id="rId14"/>
    <p:sldId id="270" r:id="rId15"/>
    <p:sldId id="272"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138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8FE14F-36A2-463F-96F4-EC5D05CC8B01}" type="datetimeFigureOut">
              <a:rPr lang="en-GB" smtClean="0"/>
              <a:t>22/09/2021</a:t>
            </a:fld>
            <a:endParaRPr lang="en-GB"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C84BA18-E5EA-4961-B33B-34B96F8A78A5}" type="slidenum">
              <a:rPr lang="en-GB" smtClean="0"/>
              <a:t>‹#›</a:t>
            </a:fld>
            <a:endParaRPr lang="en-GB" dirty="0"/>
          </a:p>
        </p:txBody>
      </p:sp>
    </p:spTree>
    <p:extLst>
      <p:ext uri="{BB962C8B-B14F-4D97-AF65-F5344CB8AC3E}">
        <p14:creationId xmlns:p14="http://schemas.microsoft.com/office/powerpoint/2010/main" val="1071146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dirty="0" smtClean="0"/>
          </a:p>
        </p:txBody>
      </p:sp>
      <p:sp>
        <p:nvSpPr>
          <p:cNvPr id="624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29057" indent="-280406">
              <a:defRPr>
                <a:solidFill>
                  <a:schemeClr val="tx1"/>
                </a:solidFill>
                <a:latin typeface="Arial" pitchFamily="34" charset="0"/>
                <a:cs typeface="Arial" pitchFamily="34" charset="0"/>
              </a:defRPr>
            </a:lvl2pPr>
            <a:lvl3pPr marL="1121626" indent="-224325">
              <a:defRPr>
                <a:solidFill>
                  <a:schemeClr val="tx1"/>
                </a:solidFill>
                <a:latin typeface="Arial" pitchFamily="34" charset="0"/>
                <a:cs typeface="Arial" pitchFamily="34" charset="0"/>
              </a:defRPr>
            </a:lvl3pPr>
            <a:lvl4pPr marL="1570276" indent="-224325">
              <a:defRPr>
                <a:solidFill>
                  <a:schemeClr val="tx1"/>
                </a:solidFill>
                <a:latin typeface="Arial" pitchFamily="34" charset="0"/>
                <a:cs typeface="Arial" pitchFamily="34" charset="0"/>
              </a:defRPr>
            </a:lvl4pPr>
            <a:lvl5pPr marL="2018927" indent="-224325">
              <a:defRPr>
                <a:solidFill>
                  <a:schemeClr val="tx1"/>
                </a:solidFill>
                <a:latin typeface="Arial" pitchFamily="34" charset="0"/>
                <a:cs typeface="Arial" pitchFamily="34" charset="0"/>
              </a:defRPr>
            </a:lvl5pPr>
            <a:lvl6pPr marL="2467577" indent="-224325" eaLnBrk="0" fontAlgn="base" hangingPunct="0">
              <a:spcBef>
                <a:spcPct val="0"/>
              </a:spcBef>
              <a:spcAft>
                <a:spcPct val="0"/>
              </a:spcAft>
              <a:defRPr>
                <a:solidFill>
                  <a:schemeClr val="tx1"/>
                </a:solidFill>
                <a:latin typeface="Arial" pitchFamily="34" charset="0"/>
                <a:cs typeface="Arial" pitchFamily="34" charset="0"/>
              </a:defRPr>
            </a:lvl6pPr>
            <a:lvl7pPr marL="2916227" indent="-224325" eaLnBrk="0" fontAlgn="base" hangingPunct="0">
              <a:spcBef>
                <a:spcPct val="0"/>
              </a:spcBef>
              <a:spcAft>
                <a:spcPct val="0"/>
              </a:spcAft>
              <a:defRPr>
                <a:solidFill>
                  <a:schemeClr val="tx1"/>
                </a:solidFill>
                <a:latin typeface="Arial" pitchFamily="34" charset="0"/>
                <a:cs typeface="Arial" pitchFamily="34" charset="0"/>
              </a:defRPr>
            </a:lvl7pPr>
            <a:lvl8pPr marL="3364878" indent="-224325" eaLnBrk="0" fontAlgn="base" hangingPunct="0">
              <a:spcBef>
                <a:spcPct val="0"/>
              </a:spcBef>
              <a:spcAft>
                <a:spcPct val="0"/>
              </a:spcAft>
              <a:defRPr>
                <a:solidFill>
                  <a:schemeClr val="tx1"/>
                </a:solidFill>
                <a:latin typeface="Arial" pitchFamily="34" charset="0"/>
                <a:cs typeface="Arial" pitchFamily="34" charset="0"/>
              </a:defRPr>
            </a:lvl8pPr>
            <a:lvl9pPr marL="3813528" indent="-224325" eaLnBrk="0" fontAlgn="base" hangingPunct="0">
              <a:spcBef>
                <a:spcPct val="0"/>
              </a:spcBef>
              <a:spcAft>
                <a:spcPct val="0"/>
              </a:spcAft>
              <a:defRPr>
                <a:solidFill>
                  <a:schemeClr val="tx1"/>
                </a:solidFill>
                <a:latin typeface="Arial" pitchFamily="34" charset="0"/>
                <a:cs typeface="Arial" pitchFamily="34" charset="0"/>
              </a:defRPr>
            </a:lvl9pPr>
          </a:lstStyle>
          <a:p>
            <a:fld id="{66DE5D76-C7F9-4E73-8FF9-746B2A4AD456}" type="slidenum">
              <a:rPr lang="en-US" smtClean="0"/>
              <a:pPr/>
              <a:t>2</a:t>
            </a:fld>
            <a:endParaRPr 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C84BA18-E5EA-4961-B33B-34B96F8A78A5}" type="slidenum">
              <a:rPr lang="en-GB" smtClean="0"/>
              <a:t>11</a:t>
            </a:fld>
            <a:endParaRPr lang="en-GB" dirty="0"/>
          </a:p>
        </p:txBody>
      </p:sp>
    </p:spTree>
    <p:extLst>
      <p:ext uri="{BB962C8B-B14F-4D97-AF65-F5344CB8AC3E}">
        <p14:creationId xmlns:p14="http://schemas.microsoft.com/office/powerpoint/2010/main" val="204177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9/22/2021</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9/22/2021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9/22/2021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9/22/2021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9/22/2021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9/22/2021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9/22/2021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9/22/2021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9/22/2021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9/22/2021</a:t>
            </a:fld>
            <a:endParaRPr lang="en-US"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dirty="0"/>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28800"/>
            <a:ext cx="7772400" cy="1828800"/>
          </a:xfrm>
        </p:spPr>
        <p:txBody>
          <a:bodyPr>
            <a:normAutofit/>
          </a:bodyPr>
          <a:lstStyle/>
          <a:p>
            <a:r>
              <a:rPr lang="bn-IN" b="1" dirty="0" smtClean="0">
                <a:solidFill>
                  <a:srgbClr val="FF0000"/>
                </a:solidFill>
                <a:latin typeface="BenSenHandwriting" panose="02000500020000020004" pitchFamily="2" charset="0"/>
                <a:cs typeface="BenSenHandwriting" panose="02000500020000020004" pitchFamily="2" charset="0"/>
              </a:rPr>
              <a:t>বাংলাদেশের স্বাস্থ্যব্যাবস্থায় কার্যকর রেফারেল পদ্ধতি</a:t>
            </a:r>
            <a:endParaRPr lang="en-GB" b="1" dirty="0">
              <a:solidFill>
                <a:srgbClr val="FF0000"/>
              </a:solidFill>
              <a:latin typeface="BenSenHandwriting" panose="02000500020000020004" pitchFamily="2" charset="0"/>
              <a:cs typeface="BenSenHandwriting" panose="02000500020000020004" pitchFamily="2" charset="0"/>
            </a:endParaRPr>
          </a:p>
        </p:txBody>
      </p:sp>
      <p:sp>
        <p:nvSpPr>
          <p:cNvPr id="4" name="Title 1"/>
          <p:cNvSpPr txBox="1">
            <a:spLocks/>
          </p:cNvSpPr>
          <p:nvPr/>
        </p:nvSpPr>
        <p:spPr>
          <a:xfrm>
            <a:off x="2286000" y="3886200"/>
            <a:ext cx="6477000" cy="1219199"/>
          </a:xfrm>
          <a:prstGeom prst="rect">
            <a:avLst/>
          </a:prstGeom>
        </p:spPr>
        <p:txBody>
          <a:bodyPr vert="horz" lIns="91440" tIns="45720" rIns="91440" bIns="45720" rtlCol="0" anchor="b">
            <a:normAutofit fontScale="97500"/>
          </a:bodyPr>
          <a:lst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a:r>
              <a:rPr lang="bn-IN" sz="3200" dirty="0" smtClean="0">
                <a:solidFill>
                  <a:srgbClr val="FF0000"/>
                </a:solidFill>
                <a:latin typeface="BenSenHandwriting" panose="02000500020000020004" pitchFamily="2" charset="0"/>
                <a:cs typeface="BenSenHandwriting" panose="02000500020000020004" pitchFamily="2" charset="0"/>
              </a:rPr>
              <a:t>ডাঃ মোঃ ইমদাদুল হক</a:t>
            </a:r>
            <a:endParaRPr lang="en-GB" sz="3200" dirty="0">
              <a:solidFill>
                <a:srgbClr val="FF0000"/>
              </a:solidFill>
              <a:latin typeface="BenSenHandwriting" panose="02000500020000020004" pitchFamily="2" charset="0"/>
              <a:cs typeface="BenSenHandwriting" panose="02000500020000020004" pitchFamily="2" charset="0"/>
            </a:endParaRPr>
          </a:p>
        </p:txBody>
      </p:sp>
    </p:spTree>
    <p:extLst>
      <p:ext uri="{BB962C8B-B14F-4D97-AF65-F5344CB8AC3E}">
        <p14:creationId xmlns:p14="http://schemas.microsoft.com/office/powerpoint/2010/main" val="26708799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85" name="Group 89"/>
          <p:cNvGraphicFramePr>
            <a:graphicFrameLocks noGrp="1"/>
          </p:cNvGraphicFramePr>
          <p:nvPr>
            <p:extLst>
              <p:ext uri="{D42A27DB-BD31-4B8C-83A1-F6EECF244321}">
                <p14:modId xmlns:p14="http://schemas.microsoft.com/office/powerpoint/2010/main" val="2371745346"/>
              </p:ext>
            </p:extLst>
          </p:nvPr>
        </p:nvGraphicFramePr>
        <p:xfrm>
          <a:off x="144439" y="1303883"/>
          <a:ext cx="8823562" cy="3970889"/>
        </p:xfrm>
        <a:graphic>
          <a:graphicData uri="http://schemas.openxmlformats.org/drawingml/2006/table">
            <a:tbl>
              <a:tblPr>
                <a:tableStyleId>{BDBED569-4797-4DF1-A0F4-6AAB3CD982D8}</a:tableStyleId>
              </a:tblPr>
              <a:tblGrid>
                <a:gridCol w="769961">
                  <a:extLst>
                    <a:ext uri="{9D8B030D-6E8A-4147-A177-3AD203B41FA5}">
                      <a16:colId xmlns:a16="http://schemas.microsoft.com/office/drawing/2014/main" xmlns="" val="20000"/>
                    </a:ext>
                  </a:extLst>
                </a:gridCol>
                <a:gridCol w="1595651">
                  <a:extLst>
                    <a:ext uri="{9D8B030D-6E8A-4147-A177-3AD203B41FA5}">
                      <a16:colId xmlns:a16="http://schemas.microsoft.com/office/drawing/2014/main" xmlns="" val="20001"/>
                    </a:ext>
                  </a:extLst>
                </a:gridCol>
                <a:gridCol w="1295400">
                  <a:extLst>
                    <a:ext uri="{9D8B030D-6E8A-4147-A177-3AD203B41FA5}">
                      <a16:colId xmlns:a16="http://schemas.microsoft.com/office/drawing/2014/main" xmlns="" val="20002"/>
                    </a:ext>
                  </a:extLst>
                </a:gridCol>
                <a:gridCol w="1295400">
                  <a:extLst>
                    <a:ext uri="{9D8B030D-6E8A-4147-A177-3AD203B41FA5}">
                      <a16:colId xmlns:a16="http://schemas.microsoft.com/office/drawing/2014/main" xmlns="" val="20003"/>
                    </a:ext>
                  </a:extLst>
                </a:gridCol>
                <a:gridCol w="1371600">
                  <a:extLst>
                    <a:ext uri="{9D8B030D-6E8A-4147-A177-3AD203B41FA5}">
                      <a16:colId xmlns:a16="http://schemas.microsoft.com/office/drawing/2014/main" xmlns="" val="20004"/>
                    </a:ext>
                  </a:extLst>
                </a:gridCol>
                <a:gridCol w="1295400">
                  <a:extLst>
                    <a:ext uri="{9D8B030D-6E8A-4147-A177-3AD203B41FA5}">
                      <a16:colId xmlns:a16="http://schemas.microsoft.com/office/drawing/2014/main" xmlns="" val="20005"/>
                    </a:ext>
                  </a:extLst>
                </a:gridCol>
                <a:gridCol w="1200150">
                  <a:extLst>
                    <a:ext uri="{9D8B030D-6E8A-4147-A177-3AD203B41FA5}">
                      <a16:colId xmlns:a16="http://schemas.microsoft.com/office/drawing/2014/main" xmlns="" val="20006"/>
                    </a:ext>
                  </a:extLst>
                </a:gridCol>
              </a:tblGrid>
              <a:tr h="923913">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bn-IN" sz="1400" b="1" u="none" strike="noStrike" cap="none" normalizeH="0" baseline="0" dirty="0" smtClean="0">
                          <a:ln>
                            <a:noFill/>
                          </a:ln>
                          <a:effectLst/>
                          <a:latin typeface="SolaimanLipi" panose="03000609000000000000" pitchFamily="65" charset="0"/>
                          <a:cs typeface="SolaimanLipi" panose="03000609000000000000" pitchFamily="65" charset="0"/>
                        </a:rPr>
                        <a:t>ক্রমিক নং</a:t>
                      </a:r>
                      <a:endParaRPr kumimoji="0" lang="en-US" sz="1400" b="1"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anchor="ctr" horzOverflow="overflow"/>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bn-IN" sz="1400" b="1" u="none" strike="noStrike" cap="none" normalizeH="0" baseline="0" dirty="0" smtClean="0">
                          <a:ln>
                            <a:noFill/>
                          </a:ln>
                          <a:effectLst/>
                          <a:latin typeface="SolaimanLipi" panose="03000609000000000000" pitchFamily="65" charset="0"/>
                          <a:cs typeface="SolaimanLipi" panose="03000609000000000000" pitchFamily="65" charset="0"/>
                        </a:rPr>
                        <a:t>দেশ</a:t>
                      </a:r>
                      <a:endParaRPr kumimoji="0" lang="en-US" sz="1400" b="1"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anchor="ctr" horzOverflow="overflow"/>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bn-IN" sz="1400" b="1"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rPr>
                        <a:t>চিকিৎসাখাতে মাথাপ্রতি বাৎসরিক বায়</a:t>
                      </a:r>
                      <a:endParaRPr kumimoji="0" lang="en-US" sz="1400" b="1"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anchor="ctr" horzOverflow="overflow"/>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bn-IN" sz="1400" b="1" u="none" strike="noStrike" cap="none" normalizeH="0" baseline="0" dirty="0" smtClean="0">
                          <a:ln>
                            <a:noFill/>
                          </a:ln>
                          <a:effectLst/>
                          <a:latin typeface="SolaimanLipi" panose="03000609000000000000" pitchFamily="65" charset="0"/>
                          <a:cs typeface="SolaimanLipi" panose="03000609000000000000" pitchFamily="65" charset="0"/>
                        </a:rPr>
                        <a:t>প্রতি দশ হাজার জনসংখ্যায় চিকিৎসক সংখ্যা</a:t>
                      </a:r>
                      <a:endParaRPr kumimoji="0" lang="en-US" sz="1400" b="1"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anchor="ctr" horzOverflow="overflow"/>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bn-IN" sz="1400" b="1" u="none" strike="noStrike" cap="none" normalizeH="0" baseline="0" dirty="0" smtClean="0">
                          <a:ln>
                            <a:noFill/>
                          </a:ln>
                          <a:effectLst/>
                          <a:latin typeface="SolaimanLipi" panose="03000609000000000000" pitchFamily="65" charset="0"/>
                          <a:cs typeface="SolaimanLipi" panose="03000609000000000000" pitchFamily="65" charset="0"/>
                        </a:rPr>
                        <a:t>প্রতি দশ হাজার জনসংখ্যায় নার্স সংখ্যা</a:t>
                      </a:r>
                      <a:endParaRPr kumimoji="0" lang="en-US" sz="1400" b="1"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anchor="ctr" horzOverflow="overflow"/>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bn-IN" sz="1400" b="1" u="none" strike="noStrike" cap="none" normalizeH="0" baseline="0" dirty="0" smtClean="0">
                          <a:ln>
                            <a:noFill/>
                          </a:ln>
                          <a:effectLst/>
                          <a:latin typeface="SolaimanLipi" panose="03000609000000000000" pitchFamily="65" charset="0"/>
                          <a:cs typeface="SolaimanLipi" panose="03000609000000000000" pitchFamily="65" charset="0"/>
                        </a:rPr>
                        <a:t>প্রতি দশ হাজার জনসংখ্যায় হাশপাতাল শয্যার সংখ্যা</a:t>
                      </a:r>
                      <a:endParaRPr kumimoji="0" lang="en-US" sz="1400" b="1"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anchor="ctr" horzOverflow="overflow"/>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bn-IN" sz="1400" b="1"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rPr>
                        <a:t>রোগীর নিজস্ব ব্যায়ের হার</a:t>
                      </a:r>
                      <a:endParaRPr kumimoji="0" lang="en-US" sz="1400" b="1"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anchor="ctr" horzOverflow="overflow"/>
                </a:tc>
                <a:extLst>
                  <a:ext uri="{0D108BD9-81ED-4DB2-BD59-A6C34878D82A}">
                    <a16:rowId xmlns:a16="http://schemas.microsoft.com/office/drawing/2014/main" xmlns="" val="10000"/>
                  </a:ext>
                </a:extLst>
              </a:tr>
              <a:tr h="4514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u="none" strike="noStrike" cap="none" normalizeH="0" baseline="0" dirty="0" smtClean="0">
                          <a:ln>
                            <a:noFill/>
                          </a:ln>
                          <a:effectLst/>
                          <a:latin typeface="SolaimanLipi" panose="03000609000000000000" pitchFamily="65" charset="0"/>
                          <a:cs typeface="SolaimanLipi" panose="03000609000000000000" pitchFamily="65" charset="0"/>
                        </a:rPr>
                        <a:t>০১</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bn-IN"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যুক্তরাষ্ট্র</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১০২৪৬</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২৯</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১১৯</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rPr>
                        <a:t>২৯</a:t>
                      </a:r>
                    </a:p>
                  </a:txBody>
                  <a:tcPr marL="68580" marR="68580" marT="0" marB="0" horzOverflow="overflow"/>
                </a:tc>
                <a:tc>
                  <a:txBody>
                    <a:bodyPr/>
                    <a:lstStyle/>
                    <a:p>
                      <a:pPr algn="ctr">
                        <a:lnSpc>
                          <a:spcPct val="115000"/>
                        </a:lnSpc>
                        <a:spcAft>
                          <a:spcPts val="1000"/>
                        </a:spcAft>
                        <a:tabLst>
                          <a:tab pos="3780790" algn="l"/>
                        </a:tabLst>
                      </a:pPr>
                      <a:r>
                        <a:rPr lang="en-US" sz="2400" dirty="0" smtClean="0">
                          <a:effectLst/>
                          <a:latin typeface="SolaimanLipi" panose="03000609000000000000" pitchFamily="65" charset="0"/>
                          <a:cs typeface="SolaimanLipi" panose="03000609000000000000" pitchFamily="65" charset="0"/>
                        </a:rPr>
                        <a:t>১১.০৮</a:t>
                      </a:r>
                      <a:endParaRPr lang="en-GB" sz="3200" dirty="0">
                        <a:effectLst/>
                        <a:latin typeface="SolaimanLipi" panose="03000609000000000000" pitchFamily="65" charset="0"/>
                        <a:ea typeface="Calibri"/>
                        <a:cs typeface="SolaimanLipi" panose="03000609000000000000" pitchFamily="65" charset="0"/>
                      </a:endParaRPr>
                    </a:p>
                  </a:txBody>
                  <a:tcPr marL="0" marR="0" marT="0" marB="0"/>
                </a:tc>
                <a:extLst>
                  <a:ext uri="{0D108BD9-81ED-4DB2-BD59-A6C34878D82A}">
                    <a16:rowId xmlns:a16="http://schemas.microsoft.com/office/drawing/2014/main" xmlns="" val="10001"/>
                  </a:ext>
                </a:extLst>
              </a:tr>
              <a:tr h="42346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u="none" strike="noStrike" cap="none" normalizeH="0" baseline="0" dirty="0" smtClean="0">
                          <a:ln>
                            <a:noFill/>
                          </a:ln>
                          <a:effectLst/>
                          <a:latin typeface="SolaimanLipi" panose="03000609000000000000" pitchFamily="65" charset="0"/>
                          <a:cs typeface="SolaimanLipi" panose="03000609000000000000" pitchFamily="65" charset="0"/>
                        </a:rPr>
                        <a:t>০২</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bn-IN"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যুক্তরাজ্য</a:t>
                      </a: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৩৮৬০</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২৮</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u="none" strike="noStrike" cap="none" normalizeH="0" baseline="0" dirty="0" smtClean="0">
                          <a:ln>
                            <a:noFill/>
                          </a:ln>
                          <a:effectLst/>
                          <a:latin typeface="SolaimanLipi" panose="03000609000000000000" pitchFamily="65" charset="0"/>
                          <a:cs typeface="SolaimanLipi" panose="03000609000000000000" pitchFamily="65" charset="0"/>
                        </a:rPr>
                        <a:t>৮২</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rPr>
                        <a:t>২৫</a:t>
                      </a:r>
                    </a:p>
                  </a:txBody>
                  <a:tcPr marL="68580" marR="68580" marT="0" marB="0" horzOverflow="overflow"/>
                </a:tc>
                <a:tc>
                  <a:txBody>
                    <a:bodyPr/>
                    <a:lstStyle/>
                    <a:p>
                      <a:pPr algn="ctr">
                        <a:lnSpc>
                          <a:spcPct val="115000"/>
                        </a:lnSpc>
                        <a:spcAft>
                          <a:spcPts val="1000"/>
                        </a:spcAft>
                        <a:tabLst>
                          <a:tab pos="3780790" algn="l"/>
                        </a:tabLst>
                      </a:pPr>
                      <a:r>
                        <a:rPr lang="en-US" sz="2400" dirty="0" smtClean="0">
                          <a:effectLst/>
                          <a:latin typeface="SolaimanLipi" panose="03000609000000000000" pitchFamily="65" charset="0"/>
                          <a:ea typeface="+mn-ea"/>
                          <a:cs typeface="SolaimanLipi" panose="03000609000000000000" pitchFamily="65" charset="0"/>
                        </a:rPr>
                        <a:t>১৪.৭৯</a:t>
                      </a:r>
                      <a:endParaRPr lang="en-GB" sz="3200" dirty="0">
                        <a:effectLst/>
                        <a:latin typeface="SolaimanLipi" panose="03000609000000000000" pitchFamily="65" charset="0"/>
                        <a:ea typeface="Calibri"/>
                        <a:cs typeface="SolaimanLipi" panose="03000609000000000000" pitchFamily="65" charset="0"/>
                      </a:endParaRPr>
                    </a:p>
                  </a:txBody>
                  <a:tcPr marL="0" marR="0" marT="0" marB="0"/>
                </a:tc>
                <a:extLst>
                  <a:ext uri="{0D108BD9-81ED-4DB2-BD59-A6C34878D82A}">
                    <a16:rowId xmlns:a16="http://schemas.microsoft.com/office/drawing/2014/main" xmlns="" val="10002"/>
                  </a:ext>
                </a:extLst>
              </a:tr>
              <a:tr h="42346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০৩</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bn-IN" sz="2400" u="none" strike="noStrike" cap="none" normalizeH="0" baseline="0" dirty="0" smtClean="0">
                          <a:ln>
                            <a:noFill/>
                          </a:ln>
                          <a:effectLst/>
                          <a:latin typeface="SolaimanLipi" panose="03000609000000000000" pitchFamily="65" charset="0"/>
                          <a:cs typeface="SolaimanLipi" panose="03000609000000000000" pitchFamily="65" charset="0"/>
                        </a:rPr>
                        <a:t>মালয়েশিয়া</a:t>
                      </a: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৩৮৪</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u="none" strike="noStrike" cap="none" normalizeH="0" baseline="0" dirty="0" smtClean="0">
                          <a:ln>
                            <a:noFill/>
                          </a:ln>
                          <a:effectLst/>
                          <a:latin typeface="SolaimanLipi" panose="03000609000000000000" pitchFamily="65" charset="0"/>
                          <a:cs typeface="SolaimanLipi" panose="03000609000000000000" pitchFamily="65" charset="0"/>
                        </a:rPr>
                        <a:t>১৫</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u="none" strike="noStrike" cap="none" normalizeH="0" baseline="0" dirty="0" smtClean="0">
                          <a:ln>
                            <a:noFill/>
                          </a:ln>
                          <a:effectLst/>
                          <a:latin typeface="SolaimanLipi" panose="03000609000000000000" pitchFamily="65" charset="0"/>
                          <a:cs typeface="SolaimanLipi" panose="03000609000000000000" pitchFamily="65" charset="0"/>
                        </a:rPr>
                        <a:t>৩৫</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rPr>
                        <a:t>১৯</a:t>
                      </a:r>
                    </a:p>
                  </a:txBody>
                  <a:tcPr marL="68580" marR="68580" marT="0" marB="0" horzOverflow="overflow"/>
                </a:tc>
                <a:tc>
                  <a:txBody>
                    <a:bodyPr/>
                    <a:lstStyle/>
                    <a:p>
                      <a:pPr algn="ctr">
                        <a:lnSpc>
                          <a:spcPct val="115000"/>
                        </a:lnSpc>
                        <a:spcAft>
                          <a:spcPts val="1000"/>
                        </a:spcAft>
                        <a:tabLst>
                          <a:tab pos="3780790" algn="l"/>
                        </a:tabLst>
                      </a:pPr>
                      <a:r>
                        <a:rPr lang="en-US" sz="2400" dirty="0" smtClean="0">
                          <a:effectLst/>
                          <a:latin typeface="SolaimanLipi" panose="03000609000000000000" pitchFamily="65" charset="0"/>
                          <a:ea typeface="+mn-ea"/>
                          <a:cs typeface="SolaimanLipi" panose="03000609000000000000" pitchFamily="65" charset="0"/>
                        </a:rPr>
                        <a:t>৩৬.৬৭</a:t>
                      </a:r>
                      <a:endParaRPr lang="en-GB" sz="3200" dirty="0">
                        <a:effectLst/>
                        <a:latin typeface="SolaimanLipi" panose="03000609000000000000" pitchFamily="65" charset="0"/>
                        <a:ea typeface="Calibri"/>
                        <a:cs typeface="SolaimanLipi" panose="03000609000000000000" pitchFamily="65" charset="0"/>
                      </a:endParaRPr>
                    </a:p>
                  </a:txBody>
                  <a:tcPr marL="0" marR="0" marT="0" marB="0"/>
                </a:tc>
                <a:extLst>
                  <a:ext uri="{0D108BD9-81ED-4DB2-BD59-A6C34878D82A}">
                    <a16:rowId xmlns:a16="http://schemas.microsoft.com/office/drawing/2014/main" xmlns="" val="10003"/>
                  </a:ext>
                </a:extLst>
              </a:tr>
              <a:tr h="42346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০৪</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bn-IN"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শ্রীলংকা</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u="none" strike="noStrike" cap="none" normalizeH="0" baseline="0" dirty="0" smtClean="0">
                          <a:ln>
                            <a:noFill/>
                          </a:ln>
                          <a:effectLst/>
                          <a:latin typeface="SolaimanLipi" panose="03000609000000000000" pitchFamily="65" charset="0"/>
                          <a:cs typeface="SolaimanLipi" panose="03000609000000000000" pitchFamily="65" charset="0"/>
                        </a:rPr>
                        <a:t>১৫৯</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rPr>
                        <a:t>১০</a:t>
                      </a: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২১</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rPr>
                        <a:t>৪১</a:t>
                      </a:r>
                    </a:p>
                  </a:txBody>
                  <a:tcPr marL="68580" marR="68580" marT="0" marB="0" horzOverflow="overflow"/>
                </a:tc>
                <a:tc>
                  <a:txBody>
                    <a:bodyPr/>
                    <a:lstStyle/>
                    <a:p>
                      <a:pPr algn="ctr">
                        <a:lnSpc>
                          <a:spcPct val="115000"/>
                        </a:lnSpc>
                        <a:spcAft>
                          <a:spcPts val="1000"/>
                        </a:spcAft>
                        <a:tabLst>
                          <a:tab pos="3780790" algn="l"/>
                        </a:tabLst>
                      </a:pPr>
                      <a:r>
                        <a:rPr lang="en-US" sz="2400" dirty="0" smtClean="0">
                          <a:effectLst/>
                          <a:latin typeface="SolaimanLipi" panose="03000609000000000000" pitchFamily="65" charset="0"/>
                          <a:ea typeface="+mn-ea"/>
                          <a:cs typeface="SolaimanLipi" panose="03000609000000000000" pitchFamily="65" charset="0"/>
                        </a:rPr>
                        <a:t>৩৮.৪৩</a:t>
                      </a:r>
                      <a:endParaRPr lang="en-GB" sz="3200" dirty="0">
                        <a:effectLst/>
                        <a:latin typeface="SolaimanLipi" panose="03000609000000000000" pitchFamily="65" charset="0"/>
                        <a:ea typeface="Calibri"/>
                        <a:cs typeface="SolaimanLipi" panose="03000609000000000000" pitchFamily="65" charset="0"/>
                      </a:endParaRPr>
                    </a:p>
                  </a:txBody>
                  <a:tcPr marL="0" marR="0" marT="0" marB="0"/>
                </a:tc>
                <a:extLst>
                  <a:ext uri="{0D108BD9-81ED-4DB2-BD59-A6C34878D82A}">
                    <a16:rowId xmlns:a16="http://schemas.microsoft.com/office/drawing/2014/main" xmlns="" val="10004"/>
                  </a:ext>
                </a:extLst>
              </a:tr>
              <a:tr h="42346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০৫</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bn-IN"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rPr>
                        <a:t>ভারত</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৬৯</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৭</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১৭</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rPr>
                        <a:t>৫.৩</a:t>
                      </a:r>
                    </a:p>
                  </a:txBody>
                  <a:tcPr marL="68580" marR="68580" marT="0" marB="0" horzOverflow="overflow"/>
                </a:tc>
                <a:tc>
                  <a:txBody>
                    <a:bodyPr/>
                    <a:lstStyle/>
                    <a:p>
                      <a:pPr algn="ctr">
                        <a:lnSpc>
                          <a:spcPct val="115000"/>
                        </a:lnSpc>
                        <a:spcAft>
                          <a:spcPts val="1000"/>
                        </a:spcAft>
                        <a:tabLst>
                          <a:tab pos="3780790" algn="l"/>
                        </a:tabLst>
                      </a:pPr>
                      <a:r>
                        <a:rPr lang="en-US" sz="2400" dirty="0" smtClean="0">
                          <a:effectLst/>
                          <a:latin typeface="SolaimanLipi" panose="03000609000000000000" pitchFamily="65" charset="0"/>
                          <a:ea typeface="+mn-ea"/>
                          <a:cs typeface="SolaimanLipi" panose="03000609000000000000" pitchFamily="65" charset="0"/>
                        </a:rPr>
                        <a:t>৬৫.০৬</a:t>
                      </a:r>
                      <a:endParaRPr lang="en-GB" sz="3200" dirty="0">
                        <a:effectLst/>
                        <a:latin typeface="SolaimanLipi" panose="03000609000000000000" pitchFamily="65" charset="0"/>
                        <a:ea typeface="Calibri"/>
                        <a:cs typeface="SolaimanLipi" panose="03000609000000000000" pitchFamily="65" charset="0"/>
                      </a:endParaRPr>
                    </a:p>
                  </a:txBody>
                  <a:tcPr marL="0" marR="0" marT="0" marB="0"/>
                </a:tc>
                <a:extLst>
                  <a:ext uri="{0D108BD9-81ED-4DB2-BD59-A6C34878D82A}">
                    <a16:rowId xmlns:a16="http://schemas.microsoft.com/office/drawing/2014/main" xmlns="" val="10005"/>
                  </a:ext>
                </a:extLst>
              </a:tr>
              <a:tr h="41848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০৬</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bn-IN"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পাকিস্তান</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৪৫</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৯.৮</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৭</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rPr>
                        <a:t>৪</a:t>
                      </a:r>
                    </a:p>
                  </a:txBody>
                  <a:tcPr marL="68580" marR="68580" marT="0" marB="0" horzOverflow="overflow"/>
                </a:tc>
                <a:tc>
                  <a:txBody>
                    <a:bodyPr/>
                    <a:lstStyle/>
                    <a:p>
                      <a:pPr algn="ctr">
                        <a:lnSpc>
                          <a:spcPct val="115000"/>
                        </a:lnSpc>
                        <a:spcAft>
                          <a:spcPts val="1000"/>
                        </a:spcAft>
                        <a:tabLst>
                          <a:tab pos="3780790" algn="l"/>
                        </a:tabLst>
                      </a:pPr>
                      <a:r>
                        <a:rPr lang="en-US" sz="2400" dirty="0" smtClean="0">
                          <a:effectLst/>
                          <a:latin typeface="SolaimanLipi" panose="03000609000000000000" pitchFamily="65" charset="0"/>
                          <a:ea typeface="+mn-ea"/>
                          <a:cs typeface="SolaimanLipi" panose="03000609000000000000" pitchFamily="65" charset="0"/>
                        </a:rPr>
                        <a:t>৬৬.৪৯</a:t>
                      </a:r>
                      <a:endParaRPr lang="en-GB" sz="3200" dirty="0">
                        <a:effectLst/>
                        <a:latin typeface="SolaimanLipi" panose="03000609000000000000" pitchFamily="65" charset="0"/>
                        <a:ea typeface="Calibri"/>
                        <a:cs typeface="SolaimanLipi" panose="03000609000000000000" pitchFamily="65" charset="0"/>
                      </a:endParaRPr>
                    </a:p>
                  </a:txBody>
                  <a:tcPr marL="0" marR="0" marT="0" marB="0"/>
                </a:tc>
                <a:extLst>
                  <a:ext uri="{0D108BD9-81ED-4DB2-BD59-A6C34878D82A}">
                    <a16:rowId xmlns:a16="http://schemas.microsoft.com/office/drawing/2014/main" xmlns="" val="10007"/>
                  </a:ext>
                </a:extLst>
              </a:tr>
              <a:tr h="42346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০৭</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bn-IN"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বাংলাদেশ</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u="none" strike="noStrike" cap="none" normalizeH="0" baseline="0" dirty="0" smtClean="0">
                          <a:ln>
                            <a:noFill/>
                          </a:ln>
                          <a:effectLst/>
                          <a:latin typeface="SolaimanLipi" panose="03000609000000000000" pitchFamily="65" charset="0"/>
                          <a:cs typeface="SolaimanLipi" panose="03000609000000000000" pitchFamily="65" charset="0"/>
                        </a:rPr>
                        <a:t>৩৭</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৫.৩</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mn-ea"/>
                          <a:cs typeface="SolaimanLipi" panose="03000609000000000000" pitchFamily="65" charset="0"/>
                        </a:rPr>
                        <a:t>৪</a:t>
                      </a:r>
                      <a:endPar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endParaRPr>
                    </a:p>
                  </a:txBody>
                  <a:tcPr marL="68580" marR="68580" marT="0" marB="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SolaimanLipi" panose="03000609000000000000" pitchFamily="65" charset="0"/>
                          <a:ea typeface="Calibri" pitchFamily="34" charset="0"/>
                          <a:cs typeface="SolaimanLipi" panose="03000609000000000000" pitchFamily="65" charset="0"/>
                        </a:rPr>
                        <a:t>৮</a:t>
                      </a:r>
                    </a:p>
                  </a:txBody>
                  <a:tcPr marL="68580" marR="68580" marT="0" marB="0" horzOverflow="overflow"/>
                </a:tc>
                <a:tc>
                  <a:txBody>
                    <a:bodyPr/>
                    <a:lstStyle/>
                    <a:p>
                      <a:pPr algn="ctr">
                        <a:lnSpc>
                          <a:spcPct val="115000"/>
                        </a:lnSpc>
                        <a:spcAft>
                          <a:spcPts val="1000"/>
                        </a:spcAft>
                        <a:tabLst>
                          <a:tab pos="3780790" algn="l"/>
                        </a:tabLst>
                      </a:pPr>
                      <a:r>
                        <a:rPr lang="en-US" sz="2400" dirty="0" smtClean="0">
                          <a:effectLst/>
                          <a:latin typeface="SolaimanLipi" panose="03000609000000000000" pitchFamily="65" charset="0"/>
                          <a:ea typeface="+mn-ea"/>
                          <a:cs typeface="SolaimanLipi" panose="03000609000000000000" pitchFamily="65" charset="0"/>
                        </a:rPr>
                        <a:t>৬৭</a:t>
                      </a:r>
                      <a:endParaRPr lang="en-GB" sz="3200" dirty="0">
                        <a:effectLst/>
                        <a:latin typeface="SolaimanLipi" panose="03000609000000000000" pitchFamily="65" charset="0"/>
                        <a:ea typeface="Calibri"/>
                        <a:cs typeface="SolaimanLipi" panose="03000609000000000000" pitchFamily="65" charset="0"/>
                      </a:endParaRPr>
                    </a:p>
                  </a:txBody>
                  <a:tcPr marL="0" marR="0" marT="0" marB="0"/>
                </a:tc>
                <a:extLst>
                  <a:ext uri="{0D108BD9-81ED-4DB2-BD59-A6C34878D82A}">
                    <a16:rowId xmlns:a16="http://schemas.microsoft.com/office/drawing/2014/main" xmlns="" val="10008"/>
                  </a:ext>
                </a:extLst>
              </a:tr>
            </a:tbl>
          </a:graphicData>
        </a:graphic>
      </p:graphicFrame>
      <p:sp>
        <p:nvSpPr>
          <p:cNvPr id="28675" name="Rectangle 1"/>
          <p:cNvSpPr>
            <a:spLocks noChangeArrowheads="1"/>
          </p:cNvSpPr>
          <p:nvPr/>
        </p:nvSpPr>
        <p:spPr bwMode="auto">
          <a:xfrm>
            <a:off x="6535387" y="6026060"/>
            <a:ext cx="2419350"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r" eaLnBrk="1" hangingPunct="1"/>
            <a:r>
              <a:rPr lang="bn-IN" sz="2000" dirty="0" smtClean="0">
                <a:solidFill>
                  <a:srgbClr val="000000"/>
                </a:solidFill>
                <a:latin typeface="Andalus"/>
                <a:ea typeface="Andalus"/>
                <a:cs typeface="Andalus"/>
              </a:rPr>
              <a:t>বিশ্বব্যাংক রিপোর্ট ২০১৭</a:t>
            </a:r>
            <a:endParaRPr lang="en-US" sz="2000" dirty="0">
              <a:solidFill>
                <a:srgbClr val="000000"/>
              </a:solidFill>
              <a:latin typeface="Andalus"/>
              <a:ea typeface="Andalus"/>
              <a:cs typeface="Andalus"/>
            </a:endParaRPr>
          </a:p>
        </p:txBody>
      </p:sp>
      <p:sp>
        <p:nvSpPr>
          <p:cNvPr id="6" name="Rectangle 2"/>
          <p:cNvSpPr>
            <a:spLocks noChangeArrowheads="1"/>
          </p:cNvSpPr>
          <p:nvPr/>
        </p:nvSpPr>
        <p:spPr bwMode="auto">
          <a:xfrm>
            <a:off x="144439" y="175900"/>
            <a:ext cx="8820150" cy="724469"/>
          </a:xfrm>
          <a:prstGeom prst="rect">
            <a:avLst/>
          </a:prstGeom>
          <a:solidFill>
            <a:srgbClr val="0070C0"/>
          </a:solidFill>
          <a:ln w="38100">
            <a:solidFill>
              <a:schemeClr val="accent4">
                <a:lumMod val="40000"/>
                <a:lumOff val="60000"/>
              </a:schemeClr>
            </a:solidFill>
            <a:miter lim="800000"/>
            <a:headEnd/>
            <a:tailEnd/>
          </a:ln>
          <a:extLst/>
        </p:spPr>
        <p:txBody>
          <a:bodyPr/>
          <a:lstStyle/>
          <a:p>
            <a:pPr algn="ctr" eaLnBrk="1" hangingPunct="1">
              <a:defRPr/>
            </a:pPr>
            <a:r>
              <a:rPr lang="bn-IN" sz="2800" b="1" dirty="0" smtClean="0">
                <a:solidFill>
                  <a:schemeClr val="bg1"/>
                </a:solidFill>
                <a:latin typeface="SolaimanLipi" panose="03000609000000000000" pitchFamily="65" charset="0"/>
                <a:cs typeface="SolaimanLipi" panose="03000609000000000000" pitchFamily="65" charset="0"/>
              </a:rPr>
              <a:t>বিভিন্ন দেশের সরকারি স্বাস্থ্যবাবস্থার তুলনামূলক চিত্র</a:t>
            </a:r>
            <a:endParaRPr lang="en-US" sz="2400" dirty="0">
              <a:solidFill>
                <a:schemeClr val="bg1"/>
              </a:solidFill>
              <a:latin typeface="SolaimanLipi" panose="03000609000000000000" pitchFamily="65" charset="0"/>
              <a:cs typeface="SolaimanLipi" panose="03000609000000000000" pitchFamily="65" charset="0"/>
            </a:endParaRPr>
          </a:p>
        </p:txBody>
      </p:sp>
    </p:spTree>
    <p:extLst>
      <p:ext uri="{BB962C8B-B14F-4D97-AF65-F5344CB8AC3E}">
        <p14:creationId xmlns:p14="http://schemas.microsoft.com/office/powerpoint/2010/main" val="37477028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76200" y="1142733"/>
            <a:ext cx="2590801" cy="13754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1943" lvl="1" indent="0" algn="just">
              <a:buNone/>
            </a:pPr>
            <a:r>
              <a:rPr lang="bn-IN" sz="2300" dirty="0">
                <a:latin typeface="SolaimanLipi" panose="03000609000000000000" pitchFamily="65" charset="0"/>
                <a:cs typeface="SolaimanLipi" panose="03000609000000000000" pitchFamily="65" charset="0"/>
              </a:rPr>
              <a:t>কমিউনিটি ক্লিনিক</a:t>
            </a:r>
            <a:endParaRPr lang="en-US" sz="2300" dirty="0">
              <a:latin typeface="SolaimanLipi" panose="03000609000000000000" pitchFamily="65" charset="0"/>
              <a:cs typeface="SolaimanLipi" panose="03000609000000000000" pitchFamily="65" charset="0"/>
            </a:endParaRPr>
          </a:p>
        </p:txBody>
      </p:sp>
      <p:sp>
        <p:nvSpPr>
          <p:cNvPr id="5" name="Oval 4"/>
          <p:cNvSpPr/>
          <p:nvPr/>
        </p:nvSpPr>
        <p:spPr>
          <a:xfrm>
            <a:off x="1981200" y="1219200"/>
            <a:ext cx="3063240" cy="1659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1943" lvl="1" indent="0">
              <a:buNone/>
            </a:pPr>
            <a:r>
              <a:rPr lang="bn-IN" sz="2300" dirty="0">
                <a:latin typeface="SolaimanLipi" panose="03000609000000000000" pitchFamily="65" charset="0"/>
                <a:cs typeface="SolaimanLipi" panose="03000609000000000000" pitchFamily="65" charset="0"/>
                <a:sym typeface="Wingdings" pitchFamily="2" charset="2"/>
              </a:rPr>
              <a:t>ইউনিয়ন স্বাস্থ্য ও পরিবার </a:t>
            </a:r>
            <a:r>
              <a:rPr lang="bn-IN" sz="2300" dirty="0" smtClean="0">
                <a:latin typeface="SolaimanLipi" panose="03000609000000000000" pitchFamily="65" charset="0"/>
                <a:cs typeface="SolaimanLipi" panose="03000609000000000000" pitchFamily="65" charset="0"/>
                <a:sym typeface="Wingdings" pitchFamily="2" charset="2"/>
              </a:rPr>
              <a:t>পরিকল্পনা </a:t>
            </a:r>
            <a:r>
              <a:rPr lang="bn-IN" sz="2300" dirty="0">
                <a:latin typeface="SolaimanLipi" panose="03000609000000000000" pitchFamily="65" charset="0"/>
                <a:cs typeface="SolaimanLipi" panose="03000609000000000000" pitchFamily="65" charset="0"/>
                <a:sym typeface="Wingdings" pitchFamily="2" charset="2"/>
              </a:rPr>
              <a:t>প্রতিষ্ঠান</a:t>
            </a:r>
            <a:endParaRPr lang="en-US" sz="2300" dirty="0">
              <a:latin typeface="SolaimanLipi" panose="03000609000000000000" pitchFamily="65" charset="0"/>
              <a:cs typeface="SolaimanLipi" panose="03000609000000000000" pitchFamily="65" charset="0"/>
            </a:endParaRPr>
          </a:p>
        </p:txBody>
      </p:sp>
      <p:sp>
        <p:nvSpPr>
          <p:cNvPr id="2" name="Title 1"/>
          <p:cNvSpPr>
            <a:spLocks noGrp="1"/>
          </p:cNvSpPr>
          <p:nvPr>
            <p:ph type="title"/>
          </p:nvPr>
        </p:nvSpPr>
        <p:spPr>
          <a:xfrm>
            <a:off x="533400" y="0"/>
            <a:ext cx="8229600" cy="1143000"/>
          </a:xfrm>
        </p:spPr>
        <p:txBody>
          <a:bodyPr>
            <a:normAutofit/>
          </a:bodyPr>
          <a:lstStyle/>
          <a:p>
            <a:r>
              <a:rPr lang="bn-IN" dirty="0" smtClean="0">
                <a:latin typeface="SolaimanLipi" panose="03000609000000000000" pitchFamily="65" charset="0"/>
                <a:cs typeface="SolaimanLipi" panose="03000609000000000000" pitchFamily="65" charset="0"/>
              </a:rPr>
              <a:t>বাংলাদেশের রেফারেল পদ্ধতি</a:t>
            </a:r>
            <a:endParaRPr lang="en-GB" dirty="0">
              <a:latin typeface="SolaimanLipi" panose="03000609000000000000" pitchFamily="65" charset="0"/>
              <a:cs typeface="SolaimanLipi" panose="03000609000000000000" pitchFamily="65" charset="0"/>
            </a:endParaRPr>
          </a:p>
        </p:txBody>
      </p:sp>
      <p:sp>
        <p:nvSpPr>
          <p:cNvPr id="3" name="Content Placeholder 2"/>
          <p:cNvSpPr>
            <a:spLocks noGrp="1"/>
          </p:cNvSpPr>
          <p:nvPr>
            <p:ph idx="1"/>
          </p:nvPr>
        </p:nvSpPr>
        <p:spPr>
          <a:xfrm>
            <a:off x="-152400" y="2895600"/>
            <a:ext cx="9296400" cy="5867400"/>
          </a:xfrm>
        </p:spPr>
        <p:txBody>
          <a:bodyPr>
            <a:normAutofit/>
          </a:bodyPr>
          <a:lstStyle/>
          <a:p>
            <a:pPr marL="457200" lvl="1" indent="0" algn="just">
              <a:buNone/>
            </a:pPr>
            <a:endParaRPr lang="bn-IN" sz="2800" dirty="0" smtClean="0">
              <a:latin typeface="SolaimanLipi" panose="03000609000000000000" pitchFamily="65" charset="0"/>
              <a:cs typeface="SolaimanLipi" panose="03000609000000000000" pitchFamily="65" charset="0"/>
            </a:endParaRPr>
          </a:p>
          <a:p>
            <a:pPr marL="301943" lvl="1" indent="0" algn="just">
              <a:buNone/>
            </a:pPr>
            <a:r>
              <a:rPr lang="bn-IN" sz="2800" dirty="0" smtClean="0">
                <a:latin typeface="SolaimanLipi" panose="03000609000000000000" pitchFamily="65" charset="0"/>
                <a:cs typeface="SolaimanLipi" panose="03000609000000000000" pitchFamily="65" charset="0"/>
                <a:sym typeface="Wingdings" pitchFamily="2" charset="2"/>
              </a:rPr>
              <a:t>অকার্যকর রেফারেল </a:t>
            </a:r>
            <a:r>
              <a:rPr lang="en-GB" sz="2800" dirty="0" err="1" smtClean="0">
                <a:latin typeface="SolaimanLipi" panose="03000609000000000000" pitchFamily="65" charset="0"/>
                <a:cs typeface="SolaimanLipi" panose="03000609000000000000" pitchFamily="65" charset="0"/>
                <a:sym typeface="Wingdings" pitchFamily="2" charset="2"/>
              </a:rPr>
              <a:t>ব্যবস্থা</a:t>
            </a:r>
            <a:r>
              <a:rPr lang="en-GB" sz="2800" dirty="0" smtClean="0">
                <a:latin typeface="SolaimanLipi" panose="03000609000000000000" pitchFamily="65" charset="0"/>
                <a:cs typeface="SolaimanLipi" panose="03000609000000000000" pitchFamily="65" charset="0"/>
                <a:sym typeface="Wingdings" pitchFamily="2" charset="2"/>
              </a:rPr>
              <a:t>:</a:t>
            </a:r>
            <a:r>
              <a:rPr lang="bn-IN" sz="2800" dirty="0" smtClean="0">
                <a:latin typeface="SolaimanLipi" panose="03000609000000000000" pitchFamily="65" charset="0"/>
                <a:cs typeface="SolaimanLipi" panose="03000609000000000000" pitchFamily="65" charset="0"/>
                <a:sym typeface="Wingdings" pitchFamily="2" charset="2"/>
              </a:rPr>
              <a:t> </a:t>
            </a:r>
            <a:endParaRPr lang="en-US" sz="2800" dirty="0" smtClean="0">
              <a:latin typeface="SolaimanLipi" panose="03000609000000000000" pitchFamily="65" charset="0"/>
              <a:cs typeface="SolaimanLipi" panose="03000609000000000000" pitchFamily="65" charset="0"/>
              <a:sym typeface="Wingdings" pitchFamily="2" charset="2"/>
            </a:endParaRPr>
          </a:p>
          <a:p>
            <a:pPr marL="301943" lvl="1" indent="0" algn="just">
              <a:buNone/>
            </a:pPr>
            <a:endParaRPr lang="en-US" sz="2800" dirty="0">
              <a:latin typeface="SolaimanLipi" panose="03000609000000000000" pitchFamily="65" charset="0"/>
              <a:cs typeface="SolaimanLipi" panose="03000609000000000000" pitchFamily="65" charset="0"/>
              <a:sym typeface="Wingdings" pitchFamily="2" charset="2"/>
            </a:endParaRPr>
          </a:p>
          <a:p>
            <a:pPr marL="301943" lvl="1" indent="0" algn="just">
              <a:buNone/>
            </a:pPr>
            <a:endParaRPr lang="en-US" sz="2800" dirty="0">
              <a:latin typeface="SolaimanLipi" panose="03000609000000000000" pitchFamily="65" charset="0"/>
              <a:cs typeface="SolaimanLipi" panose="03000609000000000000" pitchFamily="65" charset="0"/>
              <a:sym typeface="Wingdings" pitchFamily="2" charset="2"/>
            </a:endParaRPr>
          </a:p>
          <a:p>
            <a:pPr marL="301943" lvl="1" indent="0" algn="just">
              <a:buNone/>
            </a:pPr>
            <a:r>
              <a:rPr lang="en-US" sz="2800" dirty="0" smtClean="0">
                <a:latin typeface="SolaimanLipi" panose="03000609000000000000" pitchFamily="65" charset="0"/>
                <a:cs typeface="SolaimanLipi" panose="03000609000000000000" pitchFamily="65" charset="0"/>
                <a:sym typeface="Wingdings" pitchFamily="2" charset="2"/>
              </a:rPr>
              <a:t>-&gt; </a:t>
            </a:r>
            <a:r>
              <a:rPr lang="bn-IN" sz="2800" dirty="0" smtClean="0">
                <a:latin typeface="SolaimanLipi" panose="03000609000000000000" pitchFamily="65" charset="0"/>
                <a:cs typeface="SolaimanLipi" panose="03000609000000000000" pitchFamily="65" charset="0"/>
                <a:sym typeface="Wingdings" pitchFamily="2" charset="2"/>
              </a:rPr>
              <a:t>সরকারি বাবস্থা</a:t>
            </a:r>
            <a:r>
              <a:rPr lang="en-GB" sz="2800" dirty="0" smtClean="0">
                <a:latin typeface="SolaimanLipi" panose="03000609000000000000" pitchFamily="65" charset="0"/>
                <a:cs typeface="SolaimanLipi" panose="03000609000000000000" pitchFamily="65" charset="0"/>
                <a:sym typeface="Wingdings" pitchFamily="2" charset="2"/>
              </a:rPr>
              <a:t>র</a:t>
            </a:r>
            <a:r>
              <a:rPr lang="bn-IN" sz="2800" dirty="0" smtClean="0">
                <a:latin typeface="SolaimanLipi" panose="03000609000000000000" pitchFamily="65" charset="0"/>
                <a:cs typeface="SolaimanLipi" panose="03000609000000000000" pitchFamily="65" charset="0"/>
                <a:sym typeface="Wingdings" pitchFamily="2" charset="2"/>
              </a:rPr>
              <a:t> </a:t>
            </a:r>
            <a:r>
              <a:rPr lang="en-GB" sz="2800" dirty="0" err="1" smtClean="0">
                <a:latin typeface="SolaimanLipi" panose="03000609000000000000" pitchFamily="65" charset="0"/>
                <a:cs typeface="SolaimanLipi" panose="03000609000000000000" pitchFamily="65" charset="0"/>
                <a:sym typeface="Wingdings" pitchFamily="2" charset="2"/>
              </a:rPr>
              <a:t>সক্ষমতা</a:t>
            </a:r>
            <a:r>
              <a:rPr lang="en-GB" sz="2800" dirty="0" smtClean="0">
                <a:latin typeface="SolaimanLipi" panose="03000609000000000000" pitchFamily="65" charset="0"/>
                <a:cs typeface="SolaimanLipi" panose="03000609000000000000" pitchFamily="65" charset="0"/>
                <a:sym typeface="Wingdings" pitchFamily="2" charset="2"/>
              </a:rPr>
              <a:t> </a:t>
            </a:r>
            <a:r>
              <a:rPr lang="en-GB" sz="2800" dirty="0" err="1" smtClean="0">
                <a:latin typeface="SolaimanLipi" panose="03000609000000000000" pitchFamily="65" charset="0"/>
                <a:cs typeface="SolaimanLipi" panose="03000609000000000000" pitchFamily="65" charset="0"/>
                <a:sym typeface="Wingdings" pitchFamily="2" charset="2"/>
              </a:rPr>
              <a:t>নেই</a:t>
            </a:r>
            <a:r>
              <a:rPr lang="en-GB" sz="2800" dirty="0" smtClean="0">
                <a:latin typeface="SolaimanLipi" panose="03000609000000000000" pitchFamily="65" charset="0"/>
                <a:cs typeface="SolaimanLipi" panose="03000609000000000000" pitchFamily="65" charset="0"/>
                <a:sym typeface="Wingdings" pitchFamily="2" charset="2"/>
              </a:rPr>
              <a:t>।</a:t>
            </a:r>
          </a:p>
        </p:txBody>
      </p:sp>
      <p:sp>
        <p:nvSpPr>
          <p:cNvPr id="6" name="Oval 5"/>
          <p:cNvSpPr/>
          <p:nvPr/>
        </p:nvSpPr>
        <p:spPr>
          <a:xfrm>
            <a:off x="4092076" y="1371600"/>
            <a:ext cx="2765924" cy="15610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1943" lvl="1" indent="0">
              <a:buNone/>
            </a:pPr>
            <a:r>
              <a:rPr lang="bn-IN" sz="2400" dirty="0">
                <a:latin typeface="SolaimanLipi" panose="03000609000000000000" pitchFamily="65" charset="0"/>
                <a:cs typeface="SolaimanLipi" panose="03000609000000000000" pitchFamily="65" charset="0"/>
                <a:sym typeface="Wingdings" pitchFamily="2" charset="2"/>
              </a:rPr>
              <a:t>উপজেলা স্বাস্থ্য কমপ্লেক্স</a:t>
            </a:r>
            <a:r>
              <a:rPr lang="en-GB" sz="2400" dirty="0">
                <a:latin typeface="SolaimanLipi" panose="03000609000000000000" pitchFamily="65" charset="0"/>
                <a:cs typeface="SolaimanLipi" panose="03000609000000000000" pitchFamily="65" charset="0"/>
                <a:sym typeface="Wingdings" pitchFamily="2" charset="2"/>
              </a:rPr>
              <a:t>  </a:t>
            </a:r>
          </a:p>
        </p:txBody>
      </p:sp>
      <p:sp>
        <p:nvSpPr>
          <p:cNvPr id="7" name="Oval 6"/>
          <p:cNvSpPr/>
          <p:nvPr/>
        </p:nvSpPr>
        <p:spPr>
          <a:xfrm>
            <a:off x="5067300" y="2590800"/>
            <a:ext cx="3414984" cy="14063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1943" lvl="1" indent="0" algn="ctr">
              <a:buNone/>
            </a:pPr>
            <a:r>
              <a:rPr lang="bn-IN" sz="2400" dirty="0" smtClean="0">
                <a:latin typeface="SolaimanLipi" panose="03000609000000000000" pitchFamily="65" charset="0"/>
                <a:cs typeface="SolaimanLipi" panose="03000609000000000000" pitchFamily="65" charset="0"/>
                <a:sym typeface="Wingdings" pitchFamily="2" charset="2"/>
              </a:rPr>
              <a:t>জেলা</a:t>
            </a:r>
            <a:r>
              <a:rPr lang="en-US" sz="2400" dirty="0" smtClean="0">
                <a:latin typeface="SolaimanLipi" panose="03000609000000000000" pitchFamily="65" charset="0"/>
                <a:cs typeface="SolaimanLipi" panose="03000609000000000000" pitchFamily="65" charset="0"/>
                <a:sym typeface="Wingdings" pitchFamily="2" charset="2"/>
              </a:rPr>
              <a:t> </a:t>
            </a:r>
            <a:r>
              <a:rPr lang="bn-IN" sz="2400" dirty="0" smtClean="0">
                <a:latin typeface="SolaimanLipi" panose="03000609000000000000" pitchFamily="65" charset="0"/>
                <a:cs typeface="SolaimanLipi" panose="03000609000000000000" pitchFamily="65" charset="0"/>
                <a:sym typeface="Wingdings" pitchFamily="2" charset="2"/>
              </a:rPr>
              <a:t>সদর </a:t>
            </a:r>
            <a:r>
              <a:rPr lang="bn-IN" sz="2400" dirty="0">
                <a:latin typeface="SolaimanLipi" panose="03000609000000000000" pitchFamily="65" charset="0"/>
                <a:cs typeface="SolaimanLipi" panose="03000609000000000000" pitchFamily="65" charset="0"/>
                <a:sym typeface="Wingdings" pitchFamily="2" charset="2"/>
              </a:rPr>
              <a:t>হাসপাতাল/২৫০ শয্যাবিশিষ্ট হাসপাতাল</a:t>
            </a:r>
            <a:r>
              <a:rPr lang="en-GB" sz="2400" dirty="0">
                <a:latin typeface="SolaimanLipi" panose="03000609000000000000" pitchFamily="65" charset="0"/>
                <a:cs typeface="SolaimanLipi" panose="03000609000000000000" pitchFamily="65" charset="0"/>
                <a:sym typeface="Wingdings" pitchFamily="2" charset="2"/>
              </a:rPr>
              <a:t> </a:t>
            </a:r>
            <a:r>
              <a:rPr lang="bn-IN" sz="2400" dirty="0">
                <a:latin typeface="SolaimanLipi" panose="03000609000000000000" pitchFamily="65" charset="0"/>
                <a:cs typeface="SolaimanLipi" panose="03000609000000000000" pitchFamily="65" charset="0"/>
                <a:sym typeface="Wingdings" pitchFamily="2" charset="2"/>
              </a:rPr>
              <a:t>	</a:t>
            </a:r>
            <a:endParaRPr lang="en-GB" sz="2400" dirty="0">
              <a:latin typeface="SolaimanLipi" panose="03000609000000000000" pitchFamily="65" charset="0"/>
              <a:cs typeface="SolaimanLipi" panose="03000609000000000000" pitchFamily="65" charset="0"/>
              <a:sym typeface="Wingdings" pitchFamily="2" charset="2"/>
            </a:endParaRPr>
          </a:p>
        </p:txBody>
      </p:sp>
      <p:sp>
        <p:nvSpPr>
          <p:cNvPr id="9" name="Oval 8"/>
          <p:cNvSpPr/>
          <p:nvPr/>
        </p:nvSpPr>
        <p:spPr>
          <a:xfrm>
            <a:off x="6409509" y="3921929"/>
            <a:ext cx="2658291" cy="16406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1943" lvl="1" indent="0" algn="just">
              <a:buNone/>
            </a:pPr>
            <a:r>
              <a:rPr lang="bn-IN" sz="2400" dirty="0">
                <a:latin typeface="SolaimanLipi" panose="03000609000000000000" pitchFamily="65" charset="0"/>
                <a:cs typeface="SolaimanLipi" panose="03000609000000000000" pitchFamily="65" charset="0"/>
                <a:sym typeface="Wingdings" pitchFamily="2" charset="2"/>
              </a:rPr>
              <a:t>মেডিকেল কলেজ হাসপাতাল</a:t>
            </a:r>
            <a:endParaRPr lang="en-US" sz="2400" dirty="0">
              <a:latin typeface="SolaimanLipi" panose="03000609000000000000" pitchFamily="65" charset="0"/>
              <a:cs typeface="SolaimanLipi" panose="03000609000000000000" pitchFamily="65" charset="0"/>
              <a:sym typeface="Wingdings" pitchFamily="2" charset="2"/>
            </a:endParaRPr>
          </a:p>
        </p:txBody>
      </p:sp>
      <p:sp>
        <p:nvSpPr>
          <p:cNvPr id="10" name="Oval 9"/>
          <p:cNvSpPr/>
          <p:nvPr/>
        </p:nvSpPr>
        <p:spPr>
          <a:xfrm>
            <a:off x="5029200" y="5257800"/>
            <a:ext cx="3418933" cy="16453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1943" lvl="1" indent="0" algn="just">
              <a:buNone/>
            </a:pPr>
            <a:r>
              <a:rPr lang="bn-IN" sz="2400" dirty="0">
                <a:latin typeface="SolaimanLipi" panose="03000609000000000000" pitchFamily="65" charset="0"/>
                <a:cs typeface="SolaimanLipi" panose="03000609000000000000" pitchFamily="65" charset="0"/>
                <a:sym typeface="Wingdings" pitchFamily="2" charset="2"/>
              </a:rPr>
              <a:t>মেডিকেল 	</a:t>
            </a:r>
            <a:r>
              <a:rPr lang="en-US" sz="2400" dirty="0">
                <a:latin typeface="SolaimanLipi" panose="03000609000000000000" pitchFamily="65" charset="0"/>
                <a:cs typeface="SolaimanLipi" panose="03000609000000000000" pitchFamily="65" charset="0"/>
                <a:sym typeface="Wingdings" pitchFamily="2" charset="2"/>
              </a:rPr>
              <a:t> </a:t>
            </a:r>
            <a:r>
              <a:rPr lang="bn-IN" sz="2400" dirty="0" smtClean="0">
                <a:latin typeface="SolaimanLipi" panose="03000609000000000000" pitchFamily="65" charset="0"/>
                <a:cs typeface="SolaimanLipi" panose="03000609000000000000" pitchFamily="65" charset="0"/>
                <a:sym typeface="Wingdings" pitchFamily="2" charset="2"/>
              </a:rPr>
              <a:t>বিশ্ববিদ্যালয়/অতি </a:t>
            </a:r>
            <a:r>
              <a:rPr lang="bn-IN" sz="2400" dirty="0">
                <a:latin typeface="SolaimanLipi" panose="03000609000000000000" pitchFamily="65" charset="0"/>
                <a:cs typeface="SolaimanLipi" panose="03000609000000000000" pitchFamily="65" charset="0"/>
                <a:sym typeface="Wingdings" pitchFamily="2" charset="2"/>
              </a:rPr>
              <a:t>বিশেষায়িত হাসপাতাল</a:t>
            </a:r>
            <a:endParaRPr lang="en-GB" sz="2400" dirty="0">
              <a:latin typeface="SolaimanLipi" panose="03000609000000000000" pitchFamily="65" charset="0"/>
              <a:cs typeface="SolaimanLipi" panose="03000609000000000000" pitchFamily="65" charset="0"/>
              <a:sym typeface="Wingdings" pitchFamily="2" charset="2"/>
            </a:endParaRPr>
          </a:p>
        </p:txBody>
      </p:sp>
    </p:spTree>
    <p:extLst>
      <p:ext uri="{BB962C8B-B14F-4D97-AF65-F5344CB8AC3E}">
        <p14:creationId xmlns:p14="http://schemas.microsoft.com/office/powerpoint/2010/main" val="3794267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n-IN" dirty="0" smtClean="0">
                <a:latin typeface="SolaimanLipi" panose="03000609000000000000" pitchFamily="65" charset="0"/>
                <a:cs typeface="SolaimanLipi" panose="03000609000000000000" pitchFamily="65" charset="0"/>
              </a:rPr>
              <a:t>রেফারেল ব্যাবস্থার গুরুত্ব</a:t>
            </a:r>
            <a:endParaRPr lang="en-GB" dirty="0">
              <a:latin typeface="SolaimanLipi" panose="03000609000000000000" pitchFamily="65" charset="0"/>
              <a:cs typeface="SolaimanLipi" panose="03000609000000000000" pitchFamily="65" charset="0"/>
            </a:endParaRPr>
          </a:p>
        </p:txBody>
      </p:sp>
      <p:sp>
        <p:nvSpPr>
          <p:cNvPr id="3" name="Content Placeholder 2"/>
          <p:cNvSpPr>
            <a:spLocks noGrp="1"/>
          </p:cNvSpPr>
          <p:nvPr>
            <p:ph idx="1"/>
          </p:nvPr>
        </p:nvSpPr>
        <p:spPr>
          <a:xfrm>
            <a:off x="304800" y="1905000"/>
            <a:ext cx="8610600" cy="4191000"/>
          </a:xfrm>
        </p:spPr>
        <p:txBody>
          <a:bodyPr>
            <a:noAutofit/>
          </a:bodyPr>
          <a:lstStyle/>
          <a:p>
            <a:pPr algn="just">
              <a:buFont typeface="Wingdings" pitchFamily="2" charset="2"/>
              <a:buChar char="Ø"/>
            </a:pPr>
            <a:r>
              <a:rPr lang="bn-IN" sz="2800" dirty="0" smtClean="0">
                <a:latin typeface="SolaimanLipi" panose="03000609000000000000" pitchFamily="65" charset="0"/>
                <a:cs typeface="SolaimanLipi" panose="03000609000000000000" pitchFamily="65" charset="0"/>
              </a:rPr>
              <a:t>সরকারি বাবস্থায় রোগী সন্তুষ্টির হার অনেক কম</a:t>
            </a:r>
            <a:r>
              <a:rPr lang="en-GB" sz="2800" dirty="0" smtClean="0">
                <a:latin typeface="SolaimanLipi" panose="03000609000000000000" pitchFamily="65" charset="0"/>
                <a:cs typeface="SolaimanLipi" panose="03000609000000000000" pitchFamily="65" charset="0"/>
              </a:rPr>
              <a:t>।</a:t>
            </a:r>
          </a:p>
          <a:p>
            <a:pPr algn="just">
              <a:buFont typeface="Wingdings" pitchFamily="2" charset="2"/>
              <a:buChar char="Ø"/>
            </a:pPr>
            <a:r>
              <a:rPr lang="bn-IN" sz="2800" dirty="0" smtClean="0">
                <a:latin typeface="SolaimanLipi" panose="03000609000000000000" pitchFamily="65" charset="0"/>
                <a:cs typeface="SolaimanLipi" panose="03000609000000000000" pitchFamily="65" charset="0"/>
              </a:rPr>
              <a:t>বিদেশে চিকিৎসার জন্য প্রতি বছর</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প্রায়</a:t>
            </a:r>
            <a:r>
              <a:rPr lang="bn-IN" sz="2800" dirty="0" smtClean="0">
                <a:latin typeface="SolaimanLipi" panose="03000609000000000000" pitchFamily="65" charset="0"/>
                <a:cs typeface="SolaimanLipi" panose="03000609000000000000" pitchFamily="65" charset="0"/>
              </a:rPr>
              <a:t> ৫০ হাজার কোটি টাকা ব্যয় হয়</a:t>
            </a:r>
            <a:r>
              <a:rPr lang="en-GB" sz="2800" dirty="0" smtClean="0">
                <a:latin typeface="SolaimanLipi" panose="03000609000000000000" pitchFamily="65" charset="0"/>
                <a:cs typeface="SolaimanLipi" panose="03000609000000000000" pitchFamily="65" charset="0"/>
              </a:rPr>
              <a:t>।</a:t>
            </a:r>
          </a:p>
          <a:p>
            <a:pPr algn="just">
              <a:buFont typeface="Wingdings" pitchFamily="2" charset="2"/>
              <a:buChar char="Ø"/>
            </a:pPr>
            <a:r>
              <a:rPr lang="bn-IN" sz="2800" dirty="0" smtClean="0">
                <a:latin typeface="SolaimanLipi" panose="03000609000000000000" pitchFamily="65" charset="0"/>
                <a:cs typeface="SolaimanLipi" panose="03000609000000000000" pitchFamily="65" charset="0"/>
              </a:rPr>
              <a:t>মানবিক সেবা ব্যাবসায় পরিবর্তিত হয়েছে</a:t>
            </a:r>
            <a:r>
              <a:rPr lang="en-GB" sz="2800" dirty="0" smtClean="0">
                <a:latin typeface="SolaimanLipi" panose="03000609000000000000" pitchFamily="65" charset="0"/>
                <a:cs typeface="SolaimanLipi" panose="03000609000000000000" pitchFamily="65" charset="0"/>
              </a:rPr>
              <a:t>।</a:t>
            </a:r>
          </a:p>
          <a:p>
            <a:pPr algn="just">
              <a:buFont typeface="Wingdings" pitchFamily="2" charset="2"/>
              <a:buChar char="Ø"/>
            </a:pPr>
            <a:r>
              <a:rPr lang="bn-IN" sz="2800" dirty="0" smtClean="0">
                <a:latin typeface="SolaimanLipi" panose="03000609000000000000" pitchFamily="65" charset="0"/>
                <a:cs typeface="SolaimanLipi" panose="03000609000000000000" pitchFamily="65" charset="0"/>
              </a:rPr>
              <a:t>শুধু ধনীরা (৫%) বিশ্বমানের চিকিৎসা পা</a:t>
            </a:r>
            <a:r>
              <a:rPr lang="en-GB" sz="2800" dirty="0" smtClean="0">
                <a:latin typeface="SolaimanLipi" panose="03000609000000000000" pitchFamily="65" charset="0"/>
                <a:cs typeface="SolaimanLipi" panose="03000609000000000000" pitchFamily="65" charset="0"/>
              </a:rPr>
              <a:t>ন।</a:t>
            </a:r>
          </a:p>
          <a:p>
            <a:pPr algn="just">
              <a:buFont typeface="Wingdings" pitchFamily="2" charset="2"/>
              <a:buChar char="Ø"/>
            </a:pPr>
            <a:r>
              <a:rPr lang="bn-IN" sz="2800" dirty="0" smtClean="0">
                <a:latin typeface="SolaimanLipi" panose="03000609000000000000" pitchFamily="65" charset="0"/>
                <a:cs typeface="SolaimanLipi" panose="03000609000000000000" pitchFamily="65" charset="0"/>
              </a:rPr>
              <a:t>প্রতি বছর প্রায় ১০% মানুষ চিকিৎসা</a:t>
            </a:r>
            <a:r>
              <a:rPr lang="en-GB" sz="2800" dirty="0" smtClean="0">
                <a:latin typeface="SolaimanLipi" panose="03000609000000000000" pitchFamily="65" charset="0"/>
                <a:cs typeface="SolaimanLipi" panose="03000609000000000000" pitchFamily="65" charset="0"/>
              </a:rPr>
              <a:t> </a:t>
            </a:r>
            <a:r>
              <a:rPr lang="bn-IN" sz="2800" dirty="0" smtClean="0">
                <a:latin typeface="SolaimanLipi" panose="03000609000000000000" pitchFamily="65" charset="0"/>
                <a:cs typeface="SolaimanLipi" panose="03000609000000000000" pitchFamily="65" charset="0"/>
              </a:rPr>
              <a:t>ব্যায়ের কারণে দরিদ্র হচ্ছেন</a:t>
            </a:r>
            <a:r>
              <a:rPr lang="en-GB" sz="2800" dirty="0" smtClean="0">
                <a:latin typeface="SolaimanLipi" panose="03000609000000000000" pitchFamily="65" charset="0"/>
                <a:cs typeface="SolaimanLipi" panose="03000609000000000000" pitchFamily="65" charset="0"/>
              </a:rPr>
              <a:t>।</a:t>
            </a:r>
          </a:p>
          <a:p>
            <a:pPr algn="just">
              <a:buFont typeface="Wingdings" pitchFamily="2" charset="2"/>
              <a:buChar char="Ø"/>
            </a:pPr>
            <a:r>
              <a:rPr lang="en-GB" sz="2800" dirty="0" err="1" smtClean="0">
                <a:latin typeface="SolaimanLipi" panose="03000609000000000000" pitchFamily="65" charset="0"/>
                <a:cs typeface="SolaimanLipi" panose="03000609000000000000" pitchFamily="65" charset="0"/>
              </a:rPr>
              <a:t>প্রতি</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বছর</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বাংলাদেশে</a:t>
            </a:r>
            <a:r>
              <a:rPr lang="en-GB" sz="2800" dirty="0" smtClean="0">
                <a:latin typeface="SolaimanLipi" panose="03000609000000000000" pitchFamily="65" charset="0"/>
                <a:cs typeface="SolaimanLipi" panose="03000609000000000000" pitchFamily="65" charset="0"/>
              </a:rPr>
              <a:t> ৩২ </a:t>
            </a:r>
            <a:r>
              <a:rPr lang="en-GB" sz="2800" dirty="0" err="1" smtClean="0">
                <a:latin typeface="SolaimanLipi" panose="03000609000000000000" pitchFamily="65" charset="0"/>
                <a:cs typeface="SolaimanLipi" panose="03000609000000000000" pitchFamily="65" charset="0"/>
              </a:rPr>
              <a:t>লক্ষ</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মানুষ</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জম্ম</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গ্রহন</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করে</a:t>
            </a:r>
            <a:r>
              <a:rPr lang="en-GB" sz="2800" dirty="0" smtClean="0">
                <a:latin typeface="SolaimanLipi" panose="03000609000000000000" pitchFamily="65" charset="0"/>
                <a:cs typeface="SolaimanLipi" panose="03000609000000000000" pitchFamily="65" charset="0"/>
              </a:rPr>
              <a:t> ও </a:t>
            </a:r>
            <a:r>
              <a:rPr lang="en-GB" sz="2800" dirty="0" err="1" smtClean="0">
                <a:latin typeface="SolaimanLipi" panose="03000609000000000000" pitchFamily="65" charset="0"/>
                <a:cs typeface="SolaimanLipi" panose="03000609000000000000" pitchFamily="65" charset="0"/>
              </a:rPr>
              <a:t>প্রায়</a:t>
            </a:r>
            <a:r>
              <a:rPr lang="en-GB" sz="2800" dirty="0" smtClean="0">
                <a:latin typeface="SolaimanLipi" panose="03000609000000000000" pitchFamily="65" charset="0"/>
                <a:cs typeface="SolaimanLipi" panose="03000609000000000000" pitchFamily="65" charset="0"/>
              </a:rPr>
              <a:t> ৭ </a:t>
            </a:r>
            <a:r>
              <a:rPr lang="en-GB" sz="2800" dirty="0" err="1" smtClean="0">
                <a:latin typeface="SolaimanLipi" panose="03000609000000000000" pitchFamily="65" charset="0"/>
                <a:cs typeface="SolaimanLipi" panose="03000609000000000000" pitchFamily="65" charset="0"/>
              </a:rPr>
              <a:t>লক্ষ</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মৃত্যুর</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সময়</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সকলের</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আকাঙ্খা</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হল</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ভাল</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চিকিত্সকের</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উপস্তিথি</a:t>
            </a:r>
            <a:r>
              <a:rPr lang="en-GB" sz="2800" dirty="0" smtClean="0">
                <a:latin typeface="SolaimanLipi" panose="03000609000000000000" pitchFamily="65" charset="0"/>
                <a:cs typeface="SolaimanLipi" panose="03000609000000000000" pitchFamily="65" charset="0"/>
              </a:rPr>
              <a:t>।</a:t>
            </a:r>
            <a:endParaRPr lang="en-GB" sz="2800" dirty="0">
              <a:latin typeface="SolaimanLipi" panose="03000609000000000000" pitchFamily="65" charset="0"/>
              <a:cs typeface="SolaimanLipi" panose="03000609000000000000" pitchFamily="65" charset="0"/>
            </a:endParaRPr>
          </a:p>
        </p:txBody>
      </p:sp>
    </p:spTree>
    <p:extLst>
      <p:ext uri="{BB962C8B-B14F-4D97-AF65-F5344CB8AC3E}">
        <p14:creationId xmlns:p14="http://schemas.microsoft.com/office/powerpoint/2010/main" val="36014327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bn-IN" dirty="0">
                <a:latin typeface="SolaimanLipi" panose="03000609000000000000" pitchFamily="65" charset="0"/>
                <a:cs typeface="SolaimanLipi" panose="03000609000000000000" pitchFamily="65" charset="0"/>
              </a:rPr>
              <a:t>সরকারি স্বাস্থ্য ব্যবস্থার পৃথক পৃথক স্তরের সমস্যা </a:t>
            </a:r>
            <a:r>
              <a:rPr lang="bn-IN" dirty="0" smtClean="0">
                <a:latin typeface="SolaimanLipi" panose="03000609000000000000" pitchFamily="65" charset="0"/>
                <a:cs typeface="SolaimanLipi" panose="03000609000000000000" pitchFamily="65" charset="0"/>
              </a:rPr>
              <a:t>-</a:t>
            </a:r>
            <a:r>
              <a:rPr lang="en-US" dirty="0" smtClean="0">
                <a:latin typeface="SolaimanLipi" panose="03000609000000000000" pitchFamily="65" charset="0"/>
                <a:cs typeface="SolaimanLipi" panose="03000609000000000000" pitchFamily="65" charset="0"/>
              </a:rPr>
              <a:t> ১</a:t>
            </a:r>
            <a:endParaRPr lang="en-GB" dirty="0">
              <a:latin typeface="SolaimanLipi" panose="03000609000000000000" pitchFamily="65" charset="0"/>
              <a:cs typeface="SolaimanLipi" panose="03000609000000000000" pitchFamily="65" charset="0"/>
            </a:endParaRPr>
          </a:p>
        </p:txBody>
      </p:sp>
      <p:sp>
        <p:nvSpPr>
          <p:cNvPr id="3" name="Content Placeholder 2"/>
          <p:cNvSpPr>
            <a:spLocks noGrp="1"/>
          </p:cNvSpPr>
          <p:nvPr>
            <p:ph idx="1"/>
          </p:nvPr>
        </p:nvSpPr>
        <p:spPr>
          <a:xfrm>
            <a:off x="304800" y="2209800"/>
            <a:ext cx="8610600" cy="4495800"/>
          </a:xfrm>
        </p:spPr>
        <p:txBody>
          <a:bodyPr>
            <a:noAutofit/>
          </a:bodyPr>
          <a:lstStyle/>
          <a:p>
            <a:pPr algn="just">
              <a:buFont typeface="Wingdings" pitchFamily="2" charset="2"/>
              <a:buChar char="Ø"/>
            </a:pPr>
            <a:r>
              <a:rPr lang="bn-IN" sz="2800" b="1" dirty="0" smtClean="0">
                <a:latin typeface="SolaimanLipi"/>
                <a:cs typeface="SolaimanLipi" panose="03000609000000000000" pitchFamily="65" charset="0"/>
              </a:rPr>
              <a:t>কমিউনিটি ক্লিনিক</a:t>
            </a:r>
            <a:r>
              <a:rPr lang="en-GB" sz="2800" b="1" dirty="0" smtClean="0">
                <a:latin typeface="SolaimanLipi"/>
                <a:cs typeface="SolaimanLipi" panose="03000609000000000000" pitchFamily="65" charset="0"/>
              </a:rPr>
              <a:t>:</a:t>
            </a:r>
            <a:r>
              <a:rPr lang="en-GB" sz="2800" dirty="0" smtClean="0">
                <a:latin typeface="SolaimanLipi"/>
                <a:cs typeface="SolaimanLipi" panose="03000609000000000000" pitchFamily="65" charset="0"/>
              </a:rPr>
              <a:t> </a:t>
            </a:r>
            <a:r>
              <a:rPr lang="bn-IN" sz="2800" dirty="0" smtClean="0">
                <a:latin typeface="SolaimanLipi"/>
                <a:cs typeface="SolaimanLipi" panose="03000609000000000000" pitchFamily="65" charset="0"/>
              </a:rPr>
              <a:t>একটি কমিউনিটি ক্লিনিকের </a:t>
            </a:r>
            <a:r>
              <a:rPr lang="en-GB" sz="2800" dirty="0" err="1">
                <a:latin typeface="SolaimanLipi"/>
                <a:cs typeface="SolaimanLipi" panose="03000609000000000000" pitchFamily="65" charset="0"/>
              </a:rPr>
              <a:t>অ</a:t>
            </a:r>
            <a:r>
              <a:rPr lang="en-GB" sz="2800" dirty="0" err="1" smtClean="0">
                <a:latin typeface="SolaimanLipi"/>
                <a:cs typeface="SolaimanLipi" panose="03000609000000000000" pitchFamily="65" charset="0"/>
              </a:rPr>
              <a:t>ধীনে</a:t>
            </a:r>
            <a:r>
              <a:rPr lang="bn-IN" sz="2800" dirty="0" smtClean="0">
                <a:latin typeface="SolaimanLipi"/>
                <a:cs typeface="SolaimanLipi" panose="03000609000000000000" pitchFamily="65" charset="0"/>
              </a:rPr>
              <a:t> প্রায় ৮০০০ মানুষের </a:t>
            </a:r>
            <a:r>
              <a:rPr lang="en-GB" sz="2800" dirty="0" err="1" smtClean="0">
                <a:latin typeface="SolaimanLipi"/>
                <a:cs typeface="SolaimanLipi" panose="03000609000000000000" pitchFamily="65" charset="0"/>
              </a:rPr>
              <a:t>বাস</a:t>
            </a:r>
            <a:r>
              <a:rPr lang="bn-IN" sz="2800" dirty="0" smtClean="0">
                <a:latin typeface="SolaimanLipi"/>
                <a:cs typeface="SolaimanLipi" panose="03000609000000000000" pitchFamily="65" charset="0"/>
              </a:rPr>
              <a:t> । এখানে ৩ জন সরকারি স্বাস্থ্য ও পরিবার পরিকল্পনা বিষয়ক ক</a:t>
            </a:r>
            <a:r>
              <a:rPr lang="en-GB" sz="2800" dirty="0" err="1" smtClean="0">
                <a:latin typeface="SolaimanLipi"/>
                <a:cs typeface="SolaimanLipi" panose="03000609000000000000" pitchFamily="65" charset="0"/>
              </a:rPr>
              <a:t>র্মী</a:t>
            </a:r>
            <a:r>
              <a:rPr lang="bn-IN" sz="2800" dirty="0" smtClean="0">
                <a:latin typeface="SolaimanLipi"/>
                <a:cs typeface="SolaimanLipi" panose="03000609000000000000" pitchFamily="65" charset="0"/>
              </a:rPr>
              <a:t> থাকে।</a:t>
            </a:r>
            <a:r>
              <a:rPr lang="en-GB" sz="2800" dirty="0" smtClean="0">
                <a:latin typeface="SolaimanLipi"/>
                <a:cs typeface="SolaimanLipi" panose="03000609000000000000" pitchFamily="65" charset="0"/>
              </a:rPr>
              <a:t> </a:t>
            </a:r>
            <a:r>
              <a:rPr lang="en-GB" sz="2800" dirty="0" err="1" smtClean="0">
                <a:latin typeface="SolaimanLipi"/>
                <a:cs typeface="SolaimanLipi" panose="03000609000000000000" pitchFamily="65" charset="0"/>
              </a:rPr>
              <a:t>সেখানে</a:t>
            </a:r>
            <a:r>
              <a:rPr lang="bn-IN" sz="2800" dirty="0" smtClean="0">
                <a:latin typeface="SolaimanLipi"/>
                <a:cs typeface="SolaimanLipi" panose="03000609000000000000" pitchFamily="65" charset="0"/>
              </a:rPr>
              <a:t> দক্ষ</a:t>
            </a:r>
            <a:r>
              <a:rPr lang="en-GB" sz="2800" dirty="0" smtClean="0">
                <a:latin typeface="SolaimanLipi"/>
                <a:cs typeface="SolaimanLipi" panose="03000609000000000000" pitchFamily="65" charset="0"/>
              </a:rPr>
              <a:t> </a:t>
            </a:r>
            <a:r>
              <a:rPr lang="as-IN" sz="2800" dirty="0" smtClean="0">
                <a:latin typeface="SolaimanLipi" panose="03000609000000000000" pitchFamily="65" charset="0"/>
                <a:cs typeface="SolaimanLipi" panose="03000609000000000000" pitchFamily="65" charset="0"/>
              </a:rPr>
              <a:t>চিকিৎস</a:t>
            </a:r>
            <a:r>
              <a:rPr lang="en-GB" sz="2800" dirty="0" err="1" smtClean="0">
                <a:latin typeface="SolaimanLipi" panose="03000609000000000000" pitchFamily="65" charset="0"/>
                <a:cs typeface="SolaimanLipi" panose="03000609000000000000" pitchFamily="65" charset="0"/>
              </a:rPr>
              <a:t>কের</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অভাবে</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আস্থাশীল</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সেবা</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ব্যাবস্থাপনা</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গড়ে</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উঠছেনা</a:t>
            </a:r>
            <a:r>
              <a:rPr lang="bn-IN" sz="2800" dirty="0" smtClean="0">
                <a:latin typeface="SolaimanLipi"/>
                <a:cs typeface="SolaimanLipi" panose="03000609000000000000" pitchFamily="65" charset="0"/>
              </a:rPr>
              <a:t> </a:t>
            </a:r>
            <a:r>
              <a:rPr lang="en-GB" sz="2800" dirty="0" smtClean="0">
                <a:latin typeface="SolaimanLipi"/>
                <a:cs typeface="SolaimanLipi" panose="03000609000000000000" pitchFamily="65" charset="0"/>
              </a:rPr>
              <a:t>।</a:t>
            </a:r>
            <a:endParaRPr lang="en-GB" sz="2800" dirty="0">
              <a:latin typeface="SolaimanLipi"/>
              <a:cs typeface="SolaimanLipi" panose="03000609000000000000" pitchFamily="65" charset="0"/>
            </a:endParaRPr>
          </a:p>
        </p:txBody>
      </p:sp>
    </p:spTree>
    <p:extLst>
      <p:ext uri="{BB962C8B-B14F-4D97-AF65-F5344CB8AC3E}">
        <p14:creationId xmlns:p14="http://schemas.microsoft.com/office/powerpoint/2010/main" val="35941343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as-IN" dirty="0">
                <a:latin typeface="SolaimanLipi" panose="03000609000000000000" pitchFamily="65" charset="0"/>
                <a:cs typeface="SolaimanLipi" panose="03000609000000000000" pitchFamily="65" charset="0"/>
              </a:rPr>
              <a:t>সরকারি স্বাস্থ্য ব্যবস্থার পৃথক পৃথক স্তরের সমস্যা </a:t>
            </a:r>
            <a:r>
              <a:rPr lang="as-IN" dirty="0" smtClean="0">
                <a:latin typeface="SolaimanLipi" panose="03000609000000000000" pitchFamily="65" charset="0"/>
                <a:cs typeface="SolaimanLipi" panose="03000609000000000000" pitchFamily="65" charset="0"/>
              </a:rPr>
              <a:t>-</a:t>
            </a:r>
            <a:r>
              <a:rPr lang="en-US" dirty="0" smtClean="0">
                <a:latin typeface="SolaimanLipi" panose="03000609000000000000" pitchFamily="65" charset="0"/>
                <a:cs typeface="SolaimanLipi" panose="03000609000000000000" pitchFamily="65" charset="0"/>
              </a:rPr>
              <a:t> </a:t>
            </a:r>
            <a:r>
              <a:rPr lang="as-IN" dirty="0" smtClean="0">
                <a:latin typeface="SolaimanLipi" panose="03000609000000000000" pitchFamily="65" charset="0"/>
                <a:cs typeface="SolaimanLipi" panose="03000609000000000000" pitchFamily="65" charset="0"/>
              </a:rPr>
              <a:t>২</a:t>
            </a:r>
            <a:endParaRPr lang="en-GB" dirty="0">
              <a:latin typeface="SolaimanLipi" panose="03000609000000000000" pitchFamily="65" charset="0"/>
              <a:cs typeface="SolaimanLipi" panose="03000609000000000000" pitchFamily="65" charset="0"/>
            </a:endParaRPr>
          </a:p>
        </p:txBody>
      </p:sp>
      <p:sp>
        <p:nvSpPr>
          <p:cNvPr id="3" name="Content Placeholder 2"/>
          <p:cNvSpPr>
            <a:spLocks noGrp="1"/>
          </p:cNvSpPr>
          <p:nvPr>
            <p:ph idx="1"/>
          </p:nvPr>
        </p:nvSpPr>
        <p:spPr>
          <a:xfrm>
            <a:off x="304800" y="2362200"/>
            <a:ext cx="8534400" cy="4343400"/>
          </a:xfrm>
        </p:spPr>
        <p:txBody>
          <a:bodyPr>
            <a:noAutofit/>
          </a:bodyPr>
          <a:lstStyle/>
          <a:p>
            <a:pPr algn="just">
              <a:buFont typeface="Wingdings" pitchFamily="2" charset="2"/>
              <a:buChar char="Ø"/>
            </a:pPr>
            <a:r>
              <a:rPr lang="as-IN" sz="2700" b="1" dirty="0">
                <a:latin typeface="SolaimanLipi" panose="03000609000000000000" pitchFamily="65" charset="0"/>
                <a:cs typeface="SolaimanLipi" panose="03000609000000000000" pitchFamily="65" charset="0"/>
              </a:rPr>
              <a:t>ইউনিয়ন </a:t>
            </a:r>
            <a:r>
              <a:rPr lang="en-GB" sz="2700" b="1" dirty="0" smtClean="0">
                <a:latin typeface="SolaimanLipi" panose="03000609000000000000" pitchFamily="65" charset="0"/>
                <a:cs typeface="SolaimanLipi" panose="03000609000000000000" pitchFamily="65" charset="0"/>
              </a:rPr>
              <a:t>H&amp;FWC/RD</a:t>
            </a:r>
            <a:r>
              <a:rPr lang="en-GB" sz="2700" b="1" dirty="0">
                <a:latin typeface="SolaimanLipi" panose="03000609000000000000" pitchFamily="65" charset="0"/>
                <a:cs typeface="SolaimanLipi" panose="03000609000000000000" pitchFamily="65" charset="0"/>
              </a:rPr>
              <a:t>:</a:t>
            </a:r>
            <a:r>
              <a:rPr lang="en-GB" sz="2700" dirty="0">
                <a:latin typeface="SolaimanLipi" panose="03000609000000000000" pitchFamily="65" charset="0"/>
                <a:cs typeface="SolaimanLipi" panose="03000609000000000000" pitchFamily="65" charset="0"/>
              </a:rPr>
              <a:t> </a:t>
            </a:r>
            <a:r>
              <a:rPr lang="en-GB" sz="2700" dirty="0" err="1" smtClean="0">
                <a:latin typeface="SolaimanLipi" panose="03000609000000000000" pitchFamily="65" charset="0"/>
                <a:cs typeface="SolaimanLipi" panose="03000609000000000000" pitchFamily="65" charset="0"/>
              </a:rPr>
              <a:t>প্রতিটি</a:t>
            </a:r>
            <a:r>
              <a:rPr lang="en-GB" sz="2700" dirty="0" smtClean="0">
                <a:latin typeface="SolaimanLipi" panose="03000609000000000000" pitchFamily="65" charset="0"/>
                <a:cs typeface="SolaimanLipi" panose="03000609000000000000" pitchFamily="65" charset="0"/>
              </a:rPr>
              <a:t> </a:t>
            </a:r>
            <a:r>
              <a:rPr lang="en-GB" sz="2700" dirty="0" err="1" smtClean="0">
                <a:latin typeface="SolaimanLipi" panose="03000609000000000000" pitchFamily="65" charset="0"/>
                <a:cs typeface="SolaimanLipi" panose="03000609000000000000" pitchFamily="65" charset="0"/>
              </a:rPr>
              <a:t>ইউনিয়নে</a:t>
            </a:r>
            <a:r>
              <a:rPr lang="en-GB" sz="2700" dirty="0" smtClean="0">
                <a:latin typeface="SolaimanLipi" panose="03000609000000000000" pitchFamily="65" charset="0"/>
                <a:cs typeface="SolaimanLipi" panose="03000609000000000000" pitchFamily="65" charset="0"/>
              </a:rPr>
              <a:t> </a:t>
            </a:r>
            <a:r>
              <a:rPr lang="en-GB" sz="2700" dirty="0" err="1" smtClean="0">
                <a:latin typeface="SolaimanLipi" panose="03000609000000000000" pitchFamily="65" charset="0"/>
                <a:cs typeface="SolaimanLipi" panose="03000609000000000000" pitchFamily="65" charset="0"/>
              </a:rPr>
              <a:t>গড়ে</a:t>
            </a:r>
            <a:r>
              <a:rPr lang="en-GB" sz="2700" dirty="0" smtClean="0">
                <a:latin typeface="SolaimanLipi" panose="03000609000000000000" pitchFamily="65" charset="0"/>
                <a:cs typeface="SolaimanLipi" panose="03000609000000000000" pitchFamily="65" charset="0"/>
              </a:rPr>
              <a:t> </a:t>
            </a:r>
            <a:r>
              <a:rPr lang="as-IN" sz="2700" dirty="0" smtClean="0">
                <a:latin typeface="SolaimanLipi" panose="03000609000000000000" pitchFamily="65" charset="0"/>
                <a:cs typeface="SolaimanLipi" panose="03000609000000000000" pitchFamily="65" charset="0"/>
              </a:rPr>
              <a:t>প্রায় </a:t>
            </a:r>
            <a:r>
              <a:rPr lang="en-US" sz="2700" dirty="0" smtClean="0">
                <a:latin typeface="SolaimanLipi" panose="03000609000000000000" pitchFamily="65" charset="0"/>
                <a:cs typeface="SolaimanLipi" panose="03000609000000000000" pitchFamily="65" charset="0"/>
              </a:rPr>
              <a:t>৩০</a:t>
            </a:r>
            <a:r>
              <a:rPr lang="as-IN" sz="2700" dirty="0" smtClean="0">
                <a:latin typeface="SolaimanLipi" panose="03000609000000000000" pitchFamily="65" charset="0"/>
                <a:cs typeface="SolaimanLipi" panose="03000609000000000000" pitchFamily="65" charset="0"/>
              </a:rPr>
              <a:t> </a:t>
            </a:r>
            <a:r>
              <a:rPr lang="as-IN" sz="2700" dirty="0">
                <a:latin typeface="SolaimanLipi" panose="03000609000000000000" pitchFamily="65" charset="0"/>
                <a:cs typeface="SolaimanLipi" panose="03000609000000000000" pitchFamily="65" charset="0"/>
              </a:rPr>
              <a:t>হাজার মানুষ </a:t>
            </a:r>
            <a:r>
              <a:rPr lang="as-IN" sz="2700" dirty="0" smtClean="0">
                <a:latin typeface="SolaimanLipi" panose="03000609000000000000" pitchFamily="65" charset="0"/>
                <a:cs typeface="SolaimanLipi" panose="03000609000000000000" pitchFamily="65" charset="0"/>
              </a:rPr>
              <a:t>বাস </a:t>
            </a:r>
            <a:r>
              <a:rPr lang="as-IN" sz="2700" dirty="0">
                <a:latin typeface="SolaimanLipi" panose="03000609000000000000" pitchFamily="65" charset="0"/>
                <a:cs typeface="SolaimanLipi" panose="03000609000000000000" pitchFamily="65" charset="0"/>
              </a:rPr>
              <a:t>করে। গড়ে </a:t>
            </a:r>
            <a:r>
              <a:rPr lang="en-US" sz="2700" dirty="0" smtClean="0">
                <a:latin typeface="SolaimanLipi" panose="03000609000000000000" pitchFamily="65" charset="0"/>
                <a:cs typeface="SolaimanLipi" panose="03000609000000000000" pitchFamily="65" charset="0"/>
              </a:rPr>
              <a:t>৭০০</a:t>
            </a:r>
            <a:r>
              <a:rPr lang="as-IN" sz="2700" dirty="0" smtClean="0">
                <a:latin typeface="SolaimanLipi" panose="03000609000000000000" pitchFamily="65" charset="0"/>
                <a:cs typeface="SolaimanLipi" panose="03000609000000000000" pitchFamily="65" charset="0"/>
              </a:rPr>
              <a:t> </a:t>
            </a:r>
            <a:r>
              <a:rPr lang="as-IN" sz="2700" dirty="0">
                <a:latin typeface="SolaimanLipi" panose="03000609000000000000" pitchFamily="65" charset="0"/>
                <a:cs typeface="SolaimanLipi" panose="03000609000000000000" pitchFamily="65" charset="0"/>
              </a:rPr>
              <a:t>জন মা গর্ভবতী হন, </a:t>
            </a:r>
            <a:r>
              <a:rPr lang="en-US" sz="2700" dirty="0" smtClean="0">
                <a:latin typeface="SolaimanLipi" panose="03000609000000000000" pitchFamily="65" charset="0"/>
                <a:cs typeface="SolaimanLipi" panose="03000609000000000000" pitchFamily="65" charset="0"/>
              </a:rPr>
              <a:t>৬২৫</a:t>
            </a:r>
            <a:r>
              <a:rPr lang="as-IN" sz="2700" dirty="0" smtClean="0">
                <a:latin typeface="SolaimanLipi" panose="03000609000000000000" pitchFamily="65" charset="0"/>
                <a:cs typeface="SolaimanLipi" panose="03000609000000000000" pitchFamily="65" charset="0"/>
              </a:rPr>
              <a:t> </a:t>
            </a:r>
            <a:r>
              <a:rPr lang="as-IN" sz="2700" dirty="0">
                <a:latin typeface="SolaimanLipi" panose="03000609000000000000" pitchFamily="65" charset="0"/>
                <a:cs typeface="SolaimanLipi" panose="03000609000000000000" pitchFamily="65" charset="0"/>
              </a:rPr>
              <a:t>টি শিশুর জন্ম হয়, বছরে </a:t>
            </a:r>
            <a:r>
              <a:rPr lang="en-US" sz="2700" dirty="0" smtClean="0">
                <a:latin typeface="SolaimanLipi" panose="03000609000000000000" pitchFamily="65" charset="0"/>
                <a:cs typeface="SolaimanLipi" panose="03000609000000000000" pitchFamily="65" charset="0"/>
              </a:rPr>
              <a:t>১২৫</a:t>
            </a:r>
            <a:r>
              <a:rPr lang="as-IN" sz="2700" dirty="0" smtClean="0">
                <a:latin typeface="SolaimanLipi" panose="03000609000000000000" pitchFamily="65" charset="0"/>
                <a:cs typeface="SolaimanLipi" panose="03000609000000000000" pitchFamily="65" charset="0"/>
              </a:rPr>
              <a:t> </a:t>
            </a:r>
            <a:r>
              <a:rPr lang="as-IN" sz="2700" dirty="0">
                <a:latin typeface="SolaimanLipi" panose="03000609000000000000" pitchFamily="65" charset="0"/>
                <a:cs typeface="SolaimanLipi" panose="03000609000000000000" pitchFamily="65" charset="0"/>
              </a:rPr>
              <a:t>জন মারা যায়। </a:t>
            </a:r>
            <a:r>
              <a:rPr lang="en-US" sz="2700" dirty="0" smtClean="0">
                <a:latin typeface="SolaimanLipi" panose="03000609000000000000" pitchFamily="65" charset="0"/>
                <a:cs typeface="SolaimanLipi" panose="03000609000000000000" pitchFamily="65" charset="0"/>
              </a:rPr>
              <a:t>৩৫০০</a:t>
            </a:r>
            <a:r>
              <a:rPr lang="as-IN" sz="2700" dirty="0" smtClean="0">
                <a:latin typeface="SolaimanLipi" panose="03000609000000000000" pitchFamily="65" charset="0"/>
                <a:cs typeface="SolaimanLipi" panose="03000609000000000000" pitchFamily="65" charset="0"/>
              </a:rPr>
              <a:t> </a:t>
            </a:r>
            <a:r>
              <a:rPr lang="bn-BD" sz="2700" dirty="0" smtClean="0">
                <a:latin typeface="SolaimanLipi" panose="03000609000000000000" pitchFamily="65" charset="0"/>
                <a:cs typeface="SolaimanLipi" panose="03000609000000000000" pitchFamily="65" charset="0"/>
              </a:rPr>
              <a:t>দম্পতির</a:t>
            </a:r>
            <a:r>
              <a:rPr lang="en-US" sz="2700" dirty="0" smtClean="0">
                <a:latin typeface="SolaimanLipi" panose="03000609000000000000" pitchFamily="65" charset="0"/>
                <a:cs typeface="SolaimanLipi" panose="03000609000000000000" pitchFamily="65" charset="0"/>
              </a:rPr>
              <a:t> </a:t>
            </a:r>
            <a:r>
              <a:rPr lang="bn-BD" sz="2700" dirty="0" smtClean="0">
                <a:latin typeface="SolaimanLipi" panose="03000609000000000000" pitchFamily="65" charset="0"/>
                <a:cs typeface="SolaimanLipi" panose="03000609000000000000" pitchFamily="65" charset="0"/>
              </a:rPr>
              <a:t>পরিবার</a:t>
            </a:r>
            <a:r>
              <a:rPr lang="en-US" sz="2700" dirty="0" smtClean="0">
                <a:latin typeface="SolaimanLipi" panose="03000609000000000000" pitchFamily="65" charset="0"/>
                <a:cs typeface="SolaimanLipi" panose="03000609000000000000" pitchFamily="65" charset="0"/>
              </a:rPr>
              <a:t> পরিকল্পনা</a:t>
            </a:r>
            <a:r>
              <a:rPr lang="as-IN" sz="2700" dirty="0" smtClean="0">
                <a:latin typeface="SolaimanLipi" panose="03000609000000000000" pitchFamily="65" charset="0"/>
                <a:cs typeface="SolaimanLipi" panose="03000609000000000000" pitchFamily="65" charset="0"/>
              </a:rPr>
              <a:t> পদ্ধতি </a:t>
            </a:r>
            <a:r>
              <a:rPr lang="as-IN" sz="2700" dirty="0">
                <a:latin typeface="SolaimanLipi" panose="03000609000000000000" pitchFamily="65" charset="0"/>
                <a:cs typeface="SolaimanLipi" panose="03000609000000000000" pitchFamily="65" charset="0"/>
              </a:rPr>
              <a:t>প্রয়োজন, </a:t>
            </a:r>
            <a:r>
              <a:rPr lang="en-US" sz="2700" dirty="0" smtClean="0">
                <a:latin typeface="SolaimanLipi" panose="03000609000000000000" pitchFamily="65" charset="0"/>
                <a:cs typeface="SolaimanLipi" panose="03000609000000000000" pitchFamily="65" charset="0"/>
              </a:rPr>
              <a:t>৫ বছরের</a:t>
            </a:r>
            <a:r>
              <a:rPr lang="en-US" sz="2700" dirty="0">
                <a:latin typeface="SolaimanLipi" panose="03000609000000000000" pitchFamily="65" charset="0"/>
                <a:cs typeface="SolaimanLipi" panose="03000609000000000000" pitchFamily="65" charset="0"/>
              </a:rPr>
              <a:t> </a:t>
            </a:r>
            <a:r>
              <a:rPr lang="as-IN" sz="2700" dirty="0" smtClean="0">
                <a:latin typeface="SolaimanLipi" panose="03000609000000000000" pitchFamily="65" charset="0"/>
                <a:cs typeface="SolaimanLipi" panose="03000609000000000000" pitchFamily="65" charset="0"/>
              </a:rPr>
              <a:t>কম </a:t>
            </a:r>
            <a:r>
              <a:rPr lang="as-IN" sz="2700" dirty="0">
                <a:latin typeface="SolaimanLipi" panose="03000609000000000000" pitchFamily="65" charset="0"/>
                <a:cs typeface="SolaimanLipi" panose="03000609000000000000" pitchFamily="65" charset="0"/>
              </a:rPr>
              <a:t>বয়সী </a:t>
            </a:r>
            <a:r>
              <a:rPr lang="as-IN" sz="2700" dirty="0" smtClean="0">
                <a:latin typeface="SolaimanLipi" panose="03000609000000000000" pitchFamily="65" charset="0"/>
                <a:cs typeface="SolaimanLipi" panose="03000609000000000000" pitchFamily="65" charset="0"/>
              </a:rPr>
              <a:t>শিশু</a:t>
            </a:r>
            <a:r>
              <a:rPr lang="en-GB" sz="2700" dirty="0" smtClean="0">
                <a:latin typeface="SolaimanLipi" panose="03000609000000000000" pitchFamily="65" charset="0"/>
                <a:cs typeface="SolaimanLipi" panose="03000609000000000000" pitchFamily="65" charset="0"/>
              </a:rPr>
              <a:t>র </a:t>
            </a:r>
            <a:r>
              <a:rPr lang="en-GB" sz="2700" dirty="0" err="1" smtClean="0">
                <a:latin typeface="SolaimanLipi" panose="03000609000000000000" pitchFamily="65" charset="0"/>
                <a:cs typeface="SolaimanLipi" panose="03000609000000000000" pitchFamily="65" charset="0"/>
              </a:rPr>
              <a:t>সংখ্যা</a:t>
            </a:r>
            <a:r>
              <a:rPr lang="en-GB" sz="2700" dirty="0" smtClean="0">
                <a:latin typeface="SolaimanLipi" panose="03000609000000000000" pitchFamily="65" charset="0"/>
                <a:cs typeface="SolaimanLipi" panose="03000609000000000000" pitchFamily="65" charset="0"/>
              </a:rPr>
              <a:t> ৩ </a:t>
            </a:r>
            <a:r>
              <a:rPr lang="en-GB" sz="2700" dirty="0" err="1" smtClean="0">
                <a:latin typeface="SolaimanLipi" panose="03000609000000000000" pitchFamily="65" charset="0"/>
                <a:cs typeface="SolaimanLipi" panose="03000609000000000000" pitchFamily="65" charset="0"/>
              </a:rPr>
              <a:t>হাজার</a:t>
            </a:r>
            <a:r>
              <a:rPr lang="as-IN" sz="2700" dirty="0" smtClean="0">
                <a:latin typeface="SolaimanLipi" panose="03000609000000000000" pitchFamily="65" charset="0"/>
                <a:cs typeface="SolaimanLipi" panose="03000609000000000000" pitchFamily="65" charset="0"/>
              </a:rPr>
              <a:t>, </a:t>
            </a:r>
            <a:r>
              <a:rPr lang="en-US" sz="2700" dirty="0" smtClean="0">
                <a:latin typeface="SolaimanLipi" panose="03000609000000000000" pitchFamily="65" charset="0"/>
                <a:cs typeface="SolaimanLipi" panose="03000609000000000000" pitchFamily="65" charset="0"/>
              </a:rPr>
              <a:t>৬০ বা তার বেশি বয়সের </a:t>
            </a:r>
            <a:r>
              <a:rPr lang="as-IN" sz="2700" dirty="0">
                <a:latin typeface="SolaimanLipi" panose="03000609000000000000" pitchFamily="65" charset="0"/>
                <a:cs typeface="SolaimanLipi" panose="03000609000000000000" pitchFamily="65" charset="0"/>
              </a:rPr>
              <a:t>জ্যেষ্ঠ </a:t>
            </a:r>
            <a:r>
              <a:rPr lang="as-IN" sz="2700" dirty="0" smtClean="0">
                <a:latin typeface="SolaimanLipi" panose="03000609000000000000" pitchFamily="65" charset="0"/>
                <a:cs typeface="SolaimanLipi" panose="03000609000000000000" pitchFamily="65" charset="0"/>
              </a:rPr>
              <a:t>নাগরিক</a:t>
            </a:r>
            <a:r>
              <a:rPr lang="en-GB" sz="2700" dirty="0" smtClean="0">
                <a:latin typeface="SolaimanLipi" panose="03000609000000000000" pitchFamily="65" charset="0"/>
                <a:cs typeface="SolaimanLipi" panose="03000609000000000000" pitchFamily="65" charset="0"/>
              </a:rPr>
              <a:t> ৪ </a:t>
            </a:r>
            <a:r>
              <a:rPr lang="en-GB" sz="2700" dirty="0" err="1" smtClean="0">
                <a:latin typeface="SolaimanLipi" panose="03000609000000000000" pitchFamily="65" charset="0"/>
                <a:cs typeface="SolaimanLipi" panose="03000609000000000000" pitchFamily="65" charset="0"/>
              </a:rPr>
              <a:t>হাজার</a:t>
            </a:r>
            <a:r>
              <a:rPr lang="en-GB" sz="2700" dirty="0" smtClean="0">
                <a:latin typeface="SolaimanLipi" panose="03000609000000000000" pitchFamily="65" charset="0"/>
                <a:cs typeface="SolaimanLipi" panose="03000609000000000000" pitchFamily="65" charset="0"/>
              </a:rPr>
              <a:t> ৫শত</a:t>
            </a:r>
            <a:r>
              <a:rPr lang="as-IN" sz="2700" dirty="0" smtClean="0">
                <a:latin typeface="SolaimanLipi" panose="03000609000000000000" pitchFamily="65" charset="0"/>
                <a:cs typeface="SolaimanLipi" panose="03000609000000000000" pitchFamily="65" charset="0"/>
              </a:rPr>
              <a:t>, ডায়াবেটিক রোগী</a:t>
            </a:r>
            <a:r>
              <a:rPr lang="en-GB" sz="2700" dirty="0" smtClean="0">
                <a:latin typeface="SolaimanLipi" panose="03000609000000000000" pitchFamily="65" charset="0"/>
                <a:cs typeface="SolaimanLipi" panose="03000609000000000000" pitchFamily="65" charset="0"/>
              </a:rPr>
              <a:t> ১ </a:t>
            </a:r>
            <a:r>
              <a:rPr lang="en-GB" sz="2700" dirty="0" err="1" smtClean="0">
                <a:latin typeface="SolaimanLipi" panose="03000609000000000000" pitchFamily="65" charset="0"/>
                <a:cs typeface="SolaimanLipi" panose="03000609000000000000" pitchFamily="65" charset="0"/>
              </a:rPr>
              <a:t>হাজার</a:t>
            </a:r>
            <a:r>
              <a:rPr lang="as-IN" sz="2700" dirty="0" smtClean="0">
                <a:latin typeface="SolaimanLipi" panose="03000609000000000000" pitchFamily="65" charset="0"/>
                <a:cs typeface="SolaimanLipi" panose="03000609000000000000" pitchFamily="65" charset="0"/>
              </a:rPr>
              <a:t>, উচ্চ </a:t>
            </a:r>
            <a:r>
              <a:rPr lang="as-IN" sz="2700" dirty="0">
                <a:latin typeface="SolaimanLipi" panose="03000609000000000000" pitchFamily="65" charset="0"/>
                <a:cs typeface="SolaimanLipi" panose="03000609000000000000" pitchFamily="65" charset="0"/>
              </a:rPr>
              <a:t>রক্তচাপের </a:t>
            </a:r>
            <a:r>
              <a:rPr lang="as-IN" sz="2700" dirty="0" smtClean="0">
                <a:latin typeface="SolaimanLipi" panose="03000609000000000000" pitchFamily="65" charset="0"/>
                <a:cs typeface="SolaimanLipi" panose="03000609000000000000" pitchFamily="65" charset="0"/>
              </a:rPr>
              <a:t>রোগী</a:t>
            </a:r>
            <a:r>
              <a:rPr lang="en-GB" sz="2700" dirty="0" smtClean="0">
                <a:latin typeface="SolaimanLipi" panose="03000609000000000000" pitchFamily="65" charset="0"/>
                <a:cs typeface="SolaimanLipi" panose="03000609000000000000" pitchFamily="65" charset="0"/>
              </a:rPr>
              <a:t> ১ </a:t>
            </a:r>
            <a:r>
              <a:rPr lang="en-GB" sz="2700" dirty="0" err="1" smtClean="0">
                <a:latin typeface="SolaimanLipi" panose="03000609000000000000" pitchFamily="65" charset="0"/>
                <a:cs typeface="SolaimanLipi" panose="03000609000000000000" pitchFamily="65" charset="0"/>
              </a:rPr>
              <a:t>হাজার</a:t>
            </a:r>
            <a:r>
              <a:rPr lang="en-GB" sz="2700" dirty="0" smtClean="0">
                <a:latin typeface="SolaimanLipi" panose="03000609000000000000" pitchFamily="65" charset="0"/>
                <a:cs typeface="SolaimanLipi" panose="03000609000000000000" pitchFamily="65" charset="0"/>
              </a:rPr>
              <a:t> ৫শত</a:t>
            </a:r>
            <a:r>
              <a:rPr lang="as-IN" sz="2700" dirty="0" smtClean="0">
                <a:latin typeface="SolaimanLipi" panose="03000609000000000000" pitchFamily="65" charset="0"/>
                <a:cs typeface="SolaimanLipi" panose="03000609000000000000" pitchFamily="65" charset="0"/>
              </a:rPr>
              <a:t>, শারীরিক </a:t>
            </a:r>
            <a:r>
              <a:rPr lang="as-IN" sz="2700" dirty="0">
                <a:latin typeface="SolaimanLipi" panose="03000609000000000000" pitchFamily="65" charset="0"/>
                <a:cs typeface="SolaimanLipi" panose="03000609000000000000" pitchFamily="65" charset="0"/>
              </a:rPr>
              <a:t>প্রতিবন্ধী </a:t>
            </a:r>
            <a:r>
              <a:rPr lang="as-IN" sz="2700" dirty="0" smtClean="0">
                <a:latin typeface="SolaimanLipi" panose="03000609000000000000" pitchFamily="65" charset="0"/>
                <a:cs typeface="SolaimanLipi" panose="03000609000000000000" pitchFamily="65" charset="0"/>
              </a:rPr>
              <a:t>রোগী</a:t>
            </a:r>
            <a:r>
              <a:rPr lang="en-US" sz="2700" dirty="0" smtClean="0">
                <a:latin typeface="SolaimanLipi" panose="03000609000000000000" pitchFamily="65" charset="0"/>
                <a:cs typeface="SolaimanLipi" panose="03000609000000000000" pitchFamily="65" charset="0"/>
              </a:rPr>
              <a:t> </a:t>
            </a:r>
            <a:r>
              <a:rPr lang="en-US" sz="2700" dirty="0" err="1" smtClean="0">
                <a:latin typeface="SolaimanLipi" panose="03000609000000000000" pitchFamily="65" charset="0"/>
                <a:cs typeface="SolaimanLipi" panose="03000609000000000000" pitchFamily="65" charset="0"/>
              </a:rPr>
              <a:t>থাকেন</a:t>
            </a:r>
            <a:r>
              <a:rPr lang="en-US" sz="2700" dirty="0" smtClean="0">
                <a:latin typeface="SolaimanLipi" panose="03000609000000000000" pitchFamily="65" charset="0"/>
                <a:cs typeface="SolaimanLipi" panose="03000609000000000000" pitchFamily="65" charset="0"/>
              </a:rPr>
              <a:t> ৭০ </a:t>
            </a:r>
            <a:r>
              <a:rPr lang="en-US" sz="2700" dirty="0" err="1" smtClean="0">
                <a:latin typeface="SolaimanLipi" panose="03000609000000000000" pitchFamily="65" charset="0"/>
                <a:cs typeface="SolaimanLipi" panose="03000609000000000000" pitchFamily="65" charset="0"/>
              </a:rPr>
              <a:t>জন</a:t>
            </a:r>
            <a:r>
              <a:rPr lang="as-IN" sz="2700" dirty="0" smtClean="0">
                <a:latin typeface="SolaimanLipi" panose="03000609000000000000" pitchFamily="65" charset="0"/>
                <a:cs typeface="SolaimanLipi" panose="03000609000000000000" pitchFamily="65" charset="0"/>
              </a:rPr>
              <a:t>।</a:t>
            </a:r>
            <a:r>
              <a:rPr lang="en-GB" sz="2700" dirty="0" smtClean="0">
                <a:latin typeface="SolaimanLipi" panose="03000609000000000000" pitchFamily="65" charset="0"/>
                <a:cs typeface="SolaimanLipi" panose="03000609000000000000" pitchFamily="65" charset="0"/>
              </a:rPr>
              <a:t> </a:t>
            </a:r>
            <a:r>
              <a:rPr lang="en-GB" sz="2700" dirty="0" err="1" smtClean="0">
                <a:latin typeface="SolaimanLipi" panose="03000609000000000000" pitchFamily="65" charset="0"/>
                <a:cs typeface="SolaimanLipi" panose="03000609000000000000" pitchFamily="65" charset="0"/>
              </a:rPr>
              <a:t>সেখানে</a:t>
            </a:r>
            <a:r>
              <a:rPr lang="as-IN" sz="2700" dirty="0" smtClean="0">
                <a:latin typeface="SolaimanLipi" panose="03000609000000000000" pitchFamily="65" charset="0"/>
                <a:cs typeface="SolaimanLipi" panose="03000609000000000000" pitchFamily="65" charset="0"/>
              </a:rPr>
              <a:t> </a:t>
            </a:r>
            <a:r>
              <a:rPr lang="as-IN" sz="2700" dirty="0">
                <a:latin typeface="SolaimanLipi" panose="03000609000000000000" pitchFamily="65" charset="0"/>
                <a:cs typeface="SolaimanLipi" panose="03000609000000000000" pitchFamily="65" charset="0"/>
              </a:rPr>
              <a:t>কার্যত কোন ডাক্তার বা হাসপাতালের বেড নেই।</a:t>
            </a:r>
            <a:r>
              <a:rPr lang="en-GB" sz="2700" dirty="0" smtClean="0">
                <a:latin typeface="SolaimanLipi" panose="03000609000000000000" pitchFamily="65" charset="0"/>
                <a:cs typeface="SolaimanLipi" panose="03000609000000000000" pitchFamily="65" charset="0"/>
              </a:rPr>
              <a:t>  </a:t>
            </a:r>
            <a:endParaRPr lang="en-GB" sz="2700" dirty="0">
              <a:latin typeface="SolaimanLipi" panose="03000609000000000000" pitchFamily="65" charset="0"/>
              <a:cs typeface="SolaimanLipi" panose="03000609000000000000" pitchFamily="65" charset="0"/>
            </a:endParaRPr>
          </a:p>
        </p:txBody>
      </p:sp>
    </p:spTree>
    <p:extLst>
      <p:ext uri="{BB962C8B-B14F-4D97-AF65-F5344CB8AC3E}">
        <p14:creationId xmlns:p14="http://schemas.microsoft.com/office/powerpoint/2010/main" val="32668002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as-IN" dirty="0">
                <a:latin typeface="SolaimanLipi" panose="03000609000000000000" pitchFamily="65" charset="0"/>
                <a:cs typeface="SolaimanLipi" panose="03000609000000000000" pitchFamily="65" charset="0"/>
              </a:rPr>
              <a:t>সরকারি স্বাস্থ্য ব্যবস্থার পৃথক পৃথক স্তরের সমস্যা </a:t>
            </a:r>
            <a:r>
              <a:rPr lang="as-IN" dirty="0" smtClean="0">
                <a:latin typeface="SolaimanLipi" panose="03000609000000000000" pitchFamily="65" charset="0"/>
                <a:cs typeface="SolaimanLipi" panose="03000609000000000000" pitchFamily="65" charset="0"/>
              </a:rPr>
              <a:t>-</a:t>
            </a:r>
            <a:r>
              <a:rPr lang="en-US" dirty="0" smtClean="0">
                <a:latin typeface="SolaimanLipi" panose="03000609000000000000" pitchFamily="65" charset="0"/>
                <a:cs typeface="SolaimanLipi" panose="03000609000000000000" pitchFamily="65" charset="0"/>
              </a:rPr>
              <a:t> ৩</a:t>
            </a:r>
            <a:endParaRPr lang="en-GB" dirty="0">
              <a:latin typeface="SolaimanLipi" panose="03000609000000000000" pitchFamily="65" charset="0"/>
              <a:cs typeface="SolaimanLipi" panose="03000609000000000000" pitchFamily="65" charset="0"/>
            </a:endParaRPr>
          </a:p>
        </p:txBody>
      </p:sp>
      <p:sp>
        <p:nvSpPr>
          <p:cNvPr id="3" name="Content Placeholder 2"/>
          <p:cNvSpPr>
            <a:spLocks noGrp="1"/>
          </p:cNvSpPr>
          <p:nvPr>
            <p:ph idx="1"/>
          </p:nvPr>
        </p:nvSpPr>
        <p:spPr>
          <a:xfrm>
            <a:off x="381001" y="2675467"/>
            <a:ext cx="8534400" cy="3450696"/>
          </a:xfrm>
        </p:spPr>
        <p:txBody>
          <a:bodyPr>
            <a:normAutofit/>
          </a:bodyPr>
          <a:lstStyle/>
          <a:p>
            <a:pPr algn="just">
              <a:buFont typeface="Wingdings" pitchFamily="2" charset="2"/>
              <a:buChar char="Ø"/>
            </a:pPr>
            <a:r>
              <a:rPr lang="en-GB" sz="2800" b="1" dirty="0" smtClean="0">
                <a:latin typeface="SolaimanLipi" panose="03000609000000000000" pitchFamily="65" charset="0"/>
                <a:cs typeface="SolaimanLipi" panose="03000609000000000000" pitchFamily="65" charset="0"/>
              </a:rPr>
              <a:t>উপজেলা স্বাস্থ্য </a:t>
            </a:r>
            <a:r>
              <a:rPr lang="en-GB" sz="2800" b="1" dirty="0" err="1" smtClean="0">
                <a:latin typeface="SolaimanLipi" panose="03000609000000000000" pitchFamily="65" charset="0"/>
                <a:cs typeface="SolaimanLipi" panose="03000609000000000000" pitchFamily="65" charset="0"/>
              </a:rPr>
              <a:t>কমপ্লেক্স</a:t>
            </a:r>
            <a:r>
              <a:rPr lang="en-GB" sz="2800" b="1" dirty="0" smtClean="0">
                <a:latin typeface="SolaimanLipi" panose="03000609000000000000" pitchFamily="65" charset="0"/>
                <a:cs typeface="SolaimanLipi" panose="03000609000000000000" pitchFamily="65" charset="0"/>
              </a:rPr>
              <a:t> :</a:t>
            </a:r>
            <a:r>
              <a:rPr lang="en-GB" sz="2800" dirty="0" smtClean="0">
                <a:latin typeface="SolaimanLipi" panose="03000609000000000000" pitchFamily="65" charset="0"/>
                <a:cs typeface="SolaimanLipi" panose="03000609000000000000" pitchFamily="65" charset="0"/>
              </a:rPr>
              <a:t> </a:t>
            </a:r>
            <a:r>
              <a:rPr lang="as-IN" sz="2800" dirty="0" smtClean="0">
                <a:latin typeface="SolaimanLipi" panose="03000609000000000000" pitchFamily="65" charset="0"/>
                <a:cs typeface="SolaimanLipi" panose="03000609000000000000" pitchFamily="65" charset="0"/>
              </a:rPr>
              <a:t>প্রতিটি উপজেলায়</a:t>
            </a:r>
            <a:r>
              <a:rPr lang="en-GB" sz="2800" dirty="0" smtClean="0">
                <a:latin typeface="SolaimanLipi" panose="03000609000000000000" pitchFamily="65" charset="0"/>
                <a:cs typeface="SolaimanLipi" panose="03000609000000000000" pitchFamily="65" charset="0"/>
              </a:rPr>
              <a:t> </a:t>
            </a:r>
            <a:r>
              <a:rPr lang="as-IN" sz="2800" dirty="0" smtClean="0">
                <a:latin typeface="SolaimanLipi" panose="03000609000000000000" pitchFamily="65" charset="0"/>
                <a:cs typeface="SolaimanLipi" panose="03000609000000000000" pitchFamily="65" charset="0"/>
              </a:rPr>
              <a:t> </a:t>
            </a:r>
            <a:r>
              <a:rPr lang="as-IN" sz="2800" dirty="0">
                <a:latin typeface="SolaimanLipi" panose="03000609000000000000" pitchFamily="65" charset="0"/>
                <a:cs typeface="SolaimanLipi" panose="03000609000000000000" pitchFamily="65" charset="0"/>
              </a:rPr>
              <a:t>গড়ে </a:t>
            </a:r>
            <a:r>
              <a:rPr lang="en-US" sz="2800" dirty="0" smtClean="0">
                <a:latin typeface="SolaimanLipi" panose="03000609000000000000" pitchFamily="65" charset="0"/>
                <a:cs typeface="SolaimanLipi" panose="03000609000000000000" pitchFamily="65" charset="0"/>
              </a:rPr>
              <a:t>৩</a:t>
            </a:r>
            <a:r>
              <a:rPr lang="as-IN" sz="2800" dirty="0" smtClean="0">
                <a:latin typeface="SolaimanLipi" panose="03000609000000000000" pitchFamily="65" charset="0"/>
                <a:cs typeface="SolaimanLipi" panose="03000609000000000000" pitchFamily="65" charset="0"/>
              </a:rPr>
              <a:t> </a:t>
            </a:r>
            <a:r>
              <a:rPr lang="as-IN" sz="2800" dirty="0">
                <a:latin typeface="SolaimanLipi" panose="03000609000000000000" pitchFamily="65" charset="0"/>
                <a:cs typeface="SolaimanLipi" panose="03000609000000000000" pitchFamily="65" charset="0"/>
              </a:rPr>
              <a:t>লাখ </a:t>
            </a:r>
            <a:r>
              <a:rPr lang="en-GB" sz="2800" dirty="0" err="1" smtClean="0">
                <a:latin typeface="SolaimanLipi" panose="03000609000000000000" pitchFamily="65" charset="0"/>
                <a:cs typeface="SolaimanLipi" panose="03000609000000000000" pitchFamily="65" charset="0"/>
              </a:rPr>
              <a:t>মানুষ</a:t>
            </a:r>
            <a:r>
              <a:rPr lang="as-IN" sz="2800" dirty="0" smtClean="0">
                <a:latin typeface="SolaimanLipi" panose="03000609000000000000" pitchFamily="65" charset="0"/>
                <a:cs typeface="SolaimanLipi" panose="03000609000000000000" pitchFamily="65" charset="0"/>
              </a:rPr>
              <a:t> </a:t>
            </a:r>
            <a:r>
              <a:rPr lang="as-IN" sz="2800" dirty="0">
                <a:latin typeface="SolaimanLipi" panose="03000609000000000000" pitchFamily="65" charset="0"/>
                <a:cs typeface="SolaimanLipi" panose="03000609000000000000" pitchFamily="65" charset="0"/>
              </a:rPr>
              <a:t>বাস করে। কিন্তু </a:t>
            </a:r>
            <a:r>
              <a:rPr lang="en-US" sz="2800" dirty="0" err="1" smtClean="0">
                <a:latin typeface="SolaimanLipi" panose="03000609000000000000" pitchFamily="65" charset="0"/>
                <a:cs typeface="SolaimanLipi" panose="03000609000000000000" pitchFamily="65" charset="0"/>
              </a:rPr>
              <a:t>সেখানে</a:t>
            </a:r>
            <a:r>
              <a:rPr lang="en-US"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একটি</a:t>
            </a:r>
            <a:r>
              <a:rPr lang="en-GB" sz="2800" dirty="0" smtClean="0">
                <a:latin typeface="SolaimanLipi" panose="03000609000000000000" pitchFamily="65" charset="0"/>
                <a:cs typeface="SolaimanLipi" panose="03000609000000000000" pitchFamily="65" charset="0"/>
              </a:rPr>
              <a:t> </a:t>
            </a:r>
            <a:r>
              <a:rPr lang="en-US" sz="2800" dirty="0" smtClean="0">
                <a:latin typeface="SolaimanLipi" panose="03000609000000000000" pitchFamily="65" charset="0"/>
                <a:cs typeface="SolaimanLipi" panose="03000609000000000000" pitchFamily="65" charset="0"/>
              </a:rPr>
              <a:t>৫০</a:t>
            </a:r>
            <a:r>
              <a:rPr lang="as-IN" sz="2800" dirty="0" smtClean="0">
                <a:latin typeface="SolaimanLipi" panose="03000609000000000000" pitchFamily="65" charset="0"/>
                <a:cs typeface="SolaimanLipi" panose="03000609000000000000" pitchFamily="65" charset="0"/>
              </a:rPr>
              <a:t> শয্যাবিশিষ্ট </a:t>
            </a:r>
            <a:r>
              <a:rPr lang="en-GB" sz="2800" dirty="0" err="1" smtClean="0">
                <a:latin typeface="SolaimanLipi" panose="03000609000000000000" pitchFamily="65" charset="0"/>
                <a:cs typeface="SolaimanLipi" panose="03000609000000000000" pitchFamily="65" charset="0"/>
              </a:rPr>
              <a:t>উপজেলা</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স্বাস্থ্য</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কমপ্লেক্স</a:t>
            </a:r>
            <a:r>
              <a:rPr lang="en-GB" sz="2800" dirty="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আাছে</a:t>
            </a:r>
            <a:r>
              <a:rPr lang="en-GB" sz="2800" dirty="0" smtClean="0">
                <a:latin typeface="SolaimanLipi" panose="03000609000000000000" pitchFamily="65" charset="0"/>
                <a:cs typeface="SolaimanLipi" panose="03000609000000000000" pitchFamily="65" charset="0"/>
              </a:rPr>
              <a:t>।</a:t>
            </a:r>
            <a:r>
              <a:rPr lang="as-IN" sz="2800" dirty="0" smtClean="0">
                <a:latin typeface="SolaimanLipi" panose="03000609000000000000" pitchFamily="65" charset="0"/>
                <a:cs typeface="SolaimanLipi" panose="03000609000000000000" pitchFamily="65" charset="0"/>
              </a:rPr>
              <a:t> </a:t>
            </a:r>
            <a:r>
              <a:rPr lang="en-US" sz="2800" dirty="0" err="1" smtClean="0">
                <a:latin typeface="SolaimanLipi" panose="03000609000000000000" pitchFamily="65" charset="0"/>
                <a:cs typeface="SolaimanLipi" panose="03000609000000000000" pitchFamily="65" charset="0"/>
              </a:rPr>
              <a:t>উপজেলা</a:t>
            </a:r>
            <a:r>
              <a:rPr lang="en-US" sz="2800" dirty="0" smtClean="0">
                <a:latin typeface="SolaimanLipi" panose="03000609000000000000" pitchFamily="65" charset="0"/>
                <a:cs typeface="SolaimanLipi" panose="03000609000000000000" pitchFamily="65" charset="0"/>
              </a:rPr>
              <a:t> </a:t>
            </a:r>
            <a:r>
              <a:rPr lang="en-US" sz="2800" dirty="0" err="1" smtClean="0">
                <a:latin typeface="SolaimanLipi" panose="03000609000000000000" pitchFamily="65" charset="0"/>
                <a:cs typeface="SolaimanLipi" panose="03000609000000000000" pitchFamily="65" charset="0"/>
              </a:rPr>
              <a:t>পর্যায়ে</a:t>
            </a:r>
            <a:r>
              <a:rPr lang="en-US" sz="2800" dirty="0" smtClean="0">
                <a:latin typeface="SolaimanLipi" panose="03000609000000000000" pitchFamily="65" charset="0"/>
                <a:cs typeface="SolaimanLipi" panose="03000609000000000000" pitchFamily="65" charset="0"/>
              </a:rPr>
              <a:t> </a:t>
            </a:r>
            <a:r>
              <a:rPr lang="en-US" sz="2800" dirty="0" err="1" smtClean="0">
                <a:latin typeface="SolaimanLipi" panose="03000609000000000000" pitchFamily="65" charset="0"/>
                <a:cs typeface="SolaimanLipi" panose="03000609000000000000" pitchFamily="65" charset="0"/>
              </a:rPr>
              <a:t>পৌরসভায়</a:t>
            </a:r>
            <a:r>
              <a:rPr lang="en-US" sz="2800" dirty="0" smtClean="0">
                <a:latin typeface="SolaimanLipi" panose="03000609000000000000" pitchFamily="65" charset="0"/>
                <a:cs typeface="SolaimanLipi" panose="03000609000000000000" pitchFamily="65" charset="0"/>
              </a:rPr>
              <a:t> </a:t>
            </a:r>
            <a:r>
              <a:rPr lang="en-US" sz="2800" dirty="0" err="1" smtClean="0">
                <a:latin typeface="SolaimanLipi" panose="03000609000000000000" pitchFamily="65" charset="0"/>
                <a:cs typeface="SolaimanLipi" panose="03000609000000000000" pitchFamily="65" charset="0"/>
              </a:rPr>
              <a:t>গড়ে</a:t>
            </a:r>
            <a:r>
              <a:rPr lang="en-US" sz="2800" dirty="0" smtClean="0">
                <a:latin typeface="SolaimanLipi" panose="03000609000000000000" pitchFamily="65" charset="0"/>
                <a:cs typeface="SolaimanLipi" panose="03000609000000000000" pitchFamily="65" charset="0"/>
              </a:rPr>
              <a:t> ৪০ </a:t>
            </a:r>
            <a:r>
              <a:rPr lang="en-US" sz="2800" dirty="0" err="1" smtClean="0">
                <a:latin typeface="SolaimanLipi" panose="03000609000000000000" pitchFamily="65" charset="0"/>
                <a:cs typeface="SolaimanLipi" panose="03000609000000000000" pitchFamily="65" charset="0"/>
              </a:rPr>
              <a:t>হাজার</a:t>
            </a:r>
            <a:r>
              <a:rPr lang="en-US" sz="2800" dirty="0" smtClean="0">
                <a:latin typeface="SolaimanLipi" panose="03000609000000000000" pitchFamily="65" charset="0"/>
                <a:cs typeface="SolaimanLipi" panose="03000609000000000000" pitchFamily="65" charset="0"/>
              </a:rPr>
              <a:t> </a:t>
            </a:r>
            <a:r>
              <a:rPr lang="en-US" sz="2800" dirty="0" err="1" smtClean="0">
                <a:latin typeface="SolaimanLipi" panose="03000609000000000000" pitchFamily="65" charset="0"/>
                <a:cs typeface="SolaimanLipi" panose="03000609000000000000" pitchFamily="65" charset="0"/>
              </a:rPr>
              <a:t>লোক</a:t>
            </a:r>
            <a:r>
              <a:rPr lang="en-US" sz="2800" dirty="0" smtClean="0">
                <a:latin typeface="SolaimanLipi" panose="03000609000000000000" pitchFamily="65" charset="0"/>
                <a:cs typeface="SolaimanLipi" panose="03000609000000000000" pitchFamily="65" charset="0"/>
              </a:rPr>
              <a:t> </a:t>
            </a:r>
            <a:r>
              <a:rPr lang="en-US" sz="2800" dirty="0" err="1" smtClean="0">
                <a:latin typeface="SolaimanLipi" panose="03000609000000000000" pitchFamily="65" charset="0"/>
                <a:cs typeface="SolaimanLipi" panose="03000609000000000000" pitchFamily="65" charset="0"/>
              </a:rPr>
              <a:t>বাস</a:t>
            </a:r>
            <a:r>
              <a:rPr lang="en-US" sz="2800" dirty="0" smtClean="0">
                <a:latin typeface="SolaimanLipi" panose="03000609000000000000" pitchFamily="65" charset="0"/>
                <a:cs typeface="SolaimanLipi" panose="03000609000000000000" pitchFamily="65" charset="0"/>
              </a:rPr>
              <a:t> </a:t>
            </a:r>
            <a:r>
              <a:rPr lang="en-US" sz="2800" dirty="0" err="1" smtClean="0">
                <a:latin typeface="SolaimanLipi" panose="03000609000000000000" pitchFamily="65" charset="0"/>
                <a:cs typeface="SolaimanLipi" panose="03000609000000000000" pitchFamily="65" charset="0"/>
              </a:rPr>
              <a:t>করে</a:t>
            </a:r>
            <a:r>
              <a:rPr lang="en-US"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কিন্তু</a:t>
            </a:r>
            <a:r>
              <a:rPr lang="as-IN"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সেখানে</a:t>
            </a:r>
            <a:r>
              <a:rPr lang="en-GB" sz="2800" dirty="0" smtClean="0">
                <a:latin typeface="SolaimanLipi" panose="03000609000000000000" pitchFamily="65" charset="0"/>
                <a:cs typeface="SolaimanLipi" panose="03000609000000000000" pitchFamily="65" charset="0"/>
              </a:rPr>
              <a:t> </a:t>
            </a:r>
            <a:r>
              <a:rPr lang="en-US" sz="2800" dirty="0" err="1" smtClean="0">
                <a:latin typeface="SolaimanLipi" panose="03000609000000000000" pitchFamily="65" charset="0"/>
                <a:cs typeface="SolaimanLipi" panose="03000609000000000000" pitchFamily="65" charset="0"/>
              </a:rPr>
              <a:t>কোন</a:t>
            </a:r>
            <a:r>
              <a:rPr lang="en-US" sz="2800" dirty="0" smtClean="0">
                <a:latin typeface="SolaimanLipi" panose="03000609000000000000" pitchFamily="65" charset="0"/>
                <a:cs typeface="SolaimanLipi" panose="03000609000000000000" pitchFamily="65" charset="0"/>
              </a:rPr>
              <a:t> </a:t>
            </a:r>
            <a:r>
              <a:rPr lang="as-IN" sz="2800" dirty="0" smtClean="0">
                <a:latin typeface="SolaimanLipi" panose="03000609000000000000" pitchFamily="65" charset="0"/>
                <a:cs typeface="SolaimanLipi" panose="03000609000000000000" pitchFamily="65" charset="0"/>
              </a:rPr>
              <a:t>স্বাস্থ্য </a:t>
            </a:r>
            <a:r>
              <a:rPr lang="as-IN" sz="2800" dirty="0">
                <a:latin typeface="SolaimanLipi" panose="03000609000000000000" pitchFamily="65" charset="0"/>
                <a:cs typeface="SolaimanLipi" panose="03000609000000000000" pitchFamily="65" charset="0"/>
              </a:rPr>
              <a:t>অবকাঠামো নেই। </a:t>
            </a:r>
            <a:r>
              <a:rPr lang="as-IN" sz="2800" dirty="0" smtClean="0">
                <a:latin typeface="SolaimanLipi" panose="03000609000000000000" pitchFamily="65" charset="0"/>
                <a:cs typeface="SolaimanLipi" panose="03000609000000000000" pitchFamily="65" charset="0"/>
              </a:rPr>
              <a:t>ইপিআই</a:t>
            </a:r>
            <a:r>
              <a:rPr lang="en-GB" sz="2800" dirty="0" smtClean="0">
                <a:latin typeface="SolaimanLipi" panose="03000609000000000000" pitchFamily="65" charset="0"/>
                <a:cs typeface="SolaimanLipi" panose="03000609000000000000" pitchFamily="65" charset="0"/>
              </a:rPr>
              <a:t>,</a:t>
            </a:r>
            <a:r>
              <a:rPr lang="as-IN" sz="2800" dirty="0" smtClean="0">
                <a:latin typeface="SolaimanLipi" panose="03000609000000000000" pitchFamily="65" charset="0"/>
                <a:cs typeface="SolaimanLipi" panose="03000609000000000000" pitchFamily="65" charset="0"/>
              </a:rPr>
              <a:t> </a:t>
            </a:r>
            <a:r>
              <a:rPr lang="as-IN" sz="2800" dirty="0">
                <a:latin typeface="SolaimanLipi" panose="03000609000000000000" pitchFamily="65" charset="0"/>
                <a:cs typeface="SolaimanLipi" panose="03000609000000000000" pitchFamily="65" charset="0"/>
              </a:rPr>
              <a:t>পরিবার পরিকল্পনা, জনস্বাস্থ্য সংক্রান্ত অন্যান্য কার্যক্রম সন্তোষজনক নয়।</a:t>
            </a:r>
            <a:endParaRPr lang="en-GB" sz="2800" dirty="0" smtClean="0">
              <a:latin typeface="SolaimanLipi" panose="03000609000000000000" pitchFamily="65" charset="0"/>
              <a:cs typeface="SolaimanLipi" panose="03000609000000000000" pitchFamily="65" charset="0"/>
            </a:endParaRPr>
          </a:p>
        </p:txBody>
      </p:sp>
    </p:spTree>
    <p:extLst>
      <p:ext uri="{BB962C8B-B14F-4D97-AF65-F5344CB8AC3E}">
        <p14:creationId xmlns:p14="http://schemas.microsoft.com/office/powerpoint/2010/main" val="27388558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as-IN" dirty="0">
                <a:latin typeface="SolaimanLipi" panose="03000609000000000000" pitchFamily="65" charset="0"/>
                <a:cs typeface="SolaimanLipi" panose="03000609000000000000" pitchFamily="65" charset="0"/>
              </a:rPr>
              <a:t>সরকারি স্বাস্থ্য ব্যবস্থার পৃথক পৃথক স্তরের </a:t>
            </a:r>
            <a:r>
              <a:rPr lang="as-IN" dirty="0" smtClean="0">
                <a:latin typeface="SolaimanLipi" panose="03000609000000000000" pitchFamily="65" charset="0"/>
                <a:cs typeface="SolaimanLipi" panose="03000609000000000000" pitchFamily="65" charset="0"/>
              </a:rPr>
              <a:t>সমস্যা</a:t>
            </a:r>
            <a:r>
              <a:rPr lang="en-US" dirty="0" smtClean="0">
                <a:latin typeface="SolaimanLipi" panose="03000609000000000000" pitchFamily="65" charset="0"/>
                <a:cs typeface="SolaimanLipi" panose="03000609000000000000" pitchFamily="65" charset="0"/>
              </a:rPr>
              <a:t> - ৪ </a:t>
            </a:r>
            <a:r>
              <a:rPr lang="en-GB" dirty="0" smtClean="0">
                <a:latin typeface="SolaimanLipi" panose="03000609000000000000" pitchFamily="65" charset="0"/>
                <a:cs typeface="SolaimanLipi" panose="03000609000000000000" pitchFamily="65" charset="0"/>
              </a:rPr>
              <a:t>(</a:t>
            </a:r>
            <a:r>
              <a:rPr lang="as-IN" dirty="0">
                <a:latin typeface="SolaimanLipi" panose="03000609000000000000" pitchFamily="65" charset="0"/>
                <a:cs typeface="SolaimanLipi" panose="03000609000000000000" pitchFamily="65" charset="0"/>
              </a:rPr>
              <a:t>জেলা হাসপাতাল</a:t>
            </a:r>
            <a:r>
              <a:rPr lang="en-GB" dirty="0" smtClean="0">
                <a:latin typeface="SolaimanLipi" panose="03000609000000000000" pitchFamily="65" charset="0"/>
                <a:cs typeface="SolaimanLipi" panose="03000609000000000000" pitchFamily="65" charset="0"/>
              </a:rPr>
              <a:t>)</a:t>
            </a:r>
            <a:endParaRPr lang="en-GB" dirty="0">
              <a:latin typeface="SolaimanLipi" panose="03000609000000000000" pitchFamily="65" charset="0"/>
              <a:cs typeface="SolaimanLipi" panose="03000609000000000000" pitchFamily="65" charset="0"/>
            </a:endParaRPr>
          </a:p>
        </p:txBody>
      </p:sp>
      <p:sp>
        <p:nvSpPr>
          <p:cNvPr id="3" name="Content Placeholder 2"/>
          <p:cNvSpPr>
            <a:spLocks noGrp="1"/>
          </p:cNvSpPr>
          <p:nvPr>
            <p:ph idx="1"/>
          </p:nvPr>
        </p:nvSpPr>
        <p:spPr>
          <a:xfrm>
            <a:off x="304800" y="2675467"/>
            <a:ext cx="8610599" cy="3450696"/>
          </a:xfrm>
        </p:spPr>
        <p:txBody>
          <a:bodyPr>
            <a:normAutofit/>
          </a:bodyPr>
          <a:lstStyle/>
          <a:p>
            <a:pPr algn="just">
              <a:buFont typeface="Wingdings" pitchFamily="2" charset="2"/>
              <a:buChar char="Ø"/>
            </a:pPr>
            <a:r>
              <a:rPr lang="en-GB" sz="2800" b="1" dirty="0" smtClean="0">
                <a:latin typeface="SolaimanLipi" panose="03000609000000000000" pitchFamily="65" charset="0"/>
                <a:cs typeface="SolaimanLipi" panose="03000609000000000000" pitchFamily="65" charset="0"/>
              </a:rPr>
              <a:t>জেলা হাসপাতাল:</a:t>
            </a:r>
            <a:r>
              <a:rPr lang="en-GB" sz="2800" dirty="0" smtClean="0">
                <a:latin typeface="SolaimanLipi" panose="03000609000000000000" pitchFamily="65" charset="0"/>
                <a:cs typeface="SolaimanLipi" panose="03000609000000000000" pitchFamily="65" charset="0"/>
              </a:rPr>
              <a:t> </a:t>
            </a:r>
            <a:r>
              <a:rPr lang="as-IN" sz="2800" dirty="0" smtClean="0">
                <a:latin typeface="SolaimanLipi" panose="03000609000000000000" pitchFamily="65" charset="0"/>
                <a:cs typeface="SolaimanLipi" panose="03000609000000000000" pitchFamily="65" charset="0"/>
              </a:rPr>
              <a:t>দেশে</a:t>
            </a:r>
            <a:r>
              <a:rPr lang="en-GB" sz="2800" dirty="0" smtClean="0">
                <a:latin typeface="SolaimanLipi" panose="03000609000000000000" pitchFamily="65" charset="0"/>
                <a:cs typeface="SolaimanLipi" panose="03000609000000000000" pitchFamily="65" charset="0"/>
              </a:rPr>
              <a:t>র </a:t>
            </a:r>
            <a:r>
              <a:rPr lang="en-GB" sz="2800" dirty="0" err="1" smtClean="0">
                <a:latin typeface="SolaimanLipi" panose="03000609000000000000" pitchFamily="65" charset="0"/>
                <a:cs typeface="SolaimanLipi" panose="03000609000000000000" pitchFamily="65" charset="0"/>
              </a:rPr>
              <a:t>প্রতিটি</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জেলায়</a:t>
            </a:r>
            <a:r>
              <a:rPr lang="as-IN" sz="2800" dirty="0" smtClean="0">
                <a:latin typeface="SolaimanLipi" panose="03000609000000000000" pitchFamily="65" charset="0"/>
                <a:cs typeface="SolaimanLipi" panose="03000609000000000000" pitchFamily="65" charset="0"/>
              </a:rPr>
              <a:t> </a:t>
            </a:r>
            <a:r>
              <a:rPr lang="as-IN" sz="2800" dirty="0">
                <a:latin typeface="SolaimanLipi" panose="03000609000000000000" pitchFamily="65" charset="0"/>
                <a:cs typeface="SolaimanLipi" panose="03000609000000000000" pitchFamily="65" charset="0"/>
              </a:rPr>
              <a:t>১০০/২৫০ শয্যাবিশিষ্ট হাসপাতাল রয়েছে</a:t>
            </a:r>
            <a:r>
              <a:rPr lang="as-IN" sz="2800" dirty="0" smtClean="0">
                <a:latin typeface="SolaimanLipi" panose="03000609000000000000" pitchFamily="65" charset="0"/>
                <a:cs typeface="SolaimanLipi" panose="03000609000000000000" pitchFamily="65" charset="0"/>
              </a:rPr>
              <a:t>।</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এগুলো</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মুলত</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রেফারাল</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হসপিটাল</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কিন্ত</a:t>
            </a:r>
            <a:r>
              <a:rPr lang="as-IN" sz="2800" dirty="0" smtClean="0">
                <a:latin typeface="SolaimanLipi" panose="03000609000000000000" pitchFamily="65" charset="0"/>
                <a:cs typeface="SolaimanLipi" panose="03000609000000000000" pitchFamily="65" charset="0"/>
              </a:rPr>
              <a:t> </a:t>
            </a:r>
            <a:r>
              <a:rPr lang="as-IN" sz="2800" dirty="0">
                <a:latin typeface="SolaimanLipi" panose="03000609000000000000" pitchFamily="65" charset="0"/>
                <a:cs typeface="SolaimanLipi" panose="03000609000000000000" pitchFamily="65" charset="0"/>
              </a:rPr>
              <a:t>এই হাসপাতালগুলি প্রাথমিক এবং </a:t>
            </a:r>
            <a:r>
              <a:rPr lang="en-GB" sz="2800" dirty="0" err="1" smtClean="0">
                <a:latin typeface="SolaimanLipi" panose="03000609000000000000" pitchFamily="65" charset="0"/>
                <a:cs typeface="SolaimanLipi" panose="03000609000000000000" pitchFamily="65" charset="0"/>
              </a:rPr>
              <a:t>রেফারাল</a:t>
            </a:r>
            <a:r>
              <a:rPr lang="as-IN" sz="2800" dirty="0" smtClean="0">
                <a:latin typeface="SolaimanLipi" panose="03000609000000000000" pitchFamily="65" charset="0"/>
                <a:cs typeface="SolaimanLipi" panose="03000609000000000000" pitchFamily="65" charset="0"/>
              </a:rPr>
              <a:t> হাসপাতাল </a:t>
            </a:r>
            <a:r>
              <a:rPr lang="as-IN" sz="2800" dirty="0">
                <a:latin typeface="SolaimanLipi" panose="03000609000000000000" pitchFamily="65" charset="0"/>
                <a:cs typeface="SolaimanLipi" panose="03000609000000000000" pitchFamily="65" charset="0"/>
              </a:rPr>
              <a:t>হিসাবে কাজ করছে। </a:t>
            </a:r>
            <a:r>
              <a:rPr lang="en-US" sz="2800" dirty="0" smtClean="0">
                <a:latin typeface="SolaimanLipi" panose="03000609000000000000" pitchFamily="65" charset="0"/>
                <a:cs typeface="SolaimanLipi" panose="03000609000000000000" pitchFamily="65" charset="0"/>
              </a:rPr>
              <a:t>ফলে, </a:t>
            </a:r>
            <a:r>
              <a:rPr lang="as-IN" sz="2800" dirty="0" smtClean="0">
                <a:latin typeface="SolaimanLipi" panose="03000609000000000000" pitchFamily="65" charset="0"/>
                <a:cs typeface="SolaimanLipi" panose="03000609000000000000" pitchFamily="65" charset="0"/>
              </a:rPr>
              <a:t>শয্যা </a:t>
            </a:r>
            <a:r>
              <a:rPr lang="as-IN" sz="2800" dirty="0">
                <a:latin typeface="SolaimanLipi" panose="03000609000000000000" pitchFamily="65" charset="0"/>
                <a:cs typeface="SolaimanLipi" panose="03000609000000000000" pitchFamily="65" charset="0"/>
              </a:rPr>
              <a:t>দখলের হার ২৫০-৩০০</a:t>
            </a:r>
            <a:r>
              <a:rPr lang="as-IN" sz="2800" dirty="0" smtClean="0">
                <a:latin typeface="SolaimanLipi" panose="03000609000000000000" pitchFamily="65" charset="0"/>
                <a:cs typeface="SolaimanLipi" panose="03000609000000000000" pitchFamily="65" charset="0"/>
              </a:rPr>
              <a:t>%।</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বর্হি</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বিভাগে</a:t>
            </a:r>
            <a:r>
              <a:rPr lang="en-GB" sz="2800" dirty="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রোগীদের</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প্রচন্ড</a:t>
            </a:r>
            <a:r>
              <a:rPr lang="en-GB" sz="2800" dirty="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ভিড়</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থাকে</a:t>
            </a:r>
            <a:r>
              <a:rPr lang="en-GB" sz="2800" dirty="0" smtClean="0">
                <a:latin typeface="SolaimanLipi" panose="03000609000000000000" pitchFamily="65" charset="0"/>
                <a:cs typeface="SolaimanLipi" panose="03000609000000000000" pitchFamily="65" charset="0"/>
              </a:rPr>
              <a:t>।</a:t>
            </a:r>
          </a:p>
          <a:p>
            <a:pPr algn="just">
              <a:buFont typeface="Wingdings" pitchFamily="2" charset="2"/>
              <a:buChar char="Ø"/>
            </a:pPr>
            <a:r>
              <a:rPr lang="as-IN" sz="2800" dirty="0">
                <a:latin typeface="SolaimanLipi" panose="03000609000000000000" pitchFamily="65" charset="0"/>
                <a:cs typeface="SolaimanLipi" panose="03000609000000000000" pitchFamily="65" charset="0"/>
              </a:rPr>
              <a:t>জেলা সদর উপজেলায় </a:t>
            </a:r>
            <a:r>
              <a:rPr lang="en-GB" sz="2800" dirty="0" err="1" smtClean="0">
                <a:latin typeface="SolaimanLipi" panose="03000609000000000000" pitchFamily="65" charset="0"/>
                <a:cs typeface="SolaimanLipi" panose="03000609000000000000" pitchFamily="65" charset="0"/>
              </a:rPr>
              <a:t>কোন</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উপজেলা</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স্বাস্থ্য</a:t>
            </a:r>
            <a:r>
              <a:rPr lang="en-GB" sz="2800" dirty="0" smtClean="0">
                <a:latin typeface="SolaimanLipi" panose="03000609000000000000" pitchFamily="65" charset="0"/>
                <a:cs typeface="SolaimanLipi" panose="03000609000000000000" pitchFamily="65" charset="0"/>
              </a:rPr>
              <a:t> </a:t>
            </a:r>
            <a:r>
              <a:rPr lang="en-GB" sz="2800" dirty="0" err="1" smtClean="0">
                <a:latin typeface="SolaimanLipi" panose="03000609000000000000" pitchFamily="65" charset="0"/>
                <a:cs typeface="SolaimanLipi" panose="03000609000000000000" pitchFamily="65" charset="0"/>
              </a:rPr>
              <a:t>কমপ্লেক্স</a:t>
            </a:r>
            <a:r>
              <a:rPr lang="en-GB" sz="2800" dirty="0" smtClean="0">
                <a:latin typeface="SolaimanLipi" panose="03000609000000000000" pitchFamily="65" charset="0"/>
                <a:cs typeface="SolaimanLipi" panose="03000609000000000000" pitchFamily="65" charset="0"/>
              </a:rPr>
              <a:t> </a:t>
            </a:r>
            <a:r>
              <a:rPr lang="as-IN" sz="2800" dirty="0" smtClean="0">
                <a:latin typeface="SolaimanLipi" panose="03000609000000000000" pitchFamily="65" charset="0"/>
                <a:cs typeface="SolaimanLipi" panose="03000609000000000000" pitchFamily="65" charset="0"/>
              </a:rPr>
              <a:t> </a:t>
            </a:r>
            <a:r>
              <a:rPr lang="as-IN" sz="2800" dirty="0">
                <a:latin typeface="SolaimanLipi" panose="03000609000000000000" pitchFamily="65" charset="0"/>
                <a:cs typeface="SolaimanLipi" panose="03000609000000000000" pitchFamily="65" charset="0"/>
              </a:rPr>
              <a:t>নেই। </a:t>
            </a:r>
            <a:r>
              <a:rPr lang="en-GB" sz="2800" dirty="0" err="1" smtClean="0">
                <a:latin typeface="SolaimanLipi" panose="03000609000000000000" pitchFamily="65" charset="0"/>
                <a:cs typeface="SolaimanLipi" panose="03000609000000000000" pitchFamily="65" charset="0"/>
              </a:rPr>
              <a:t>ফলে</a:t>
            </a:r>
            <a:r>
              <a:rPr lang="en-GB" sz="2800" dirty="0" smtClean="0">
                <a:latin typeface="SolaimanLipi" panose="03000609000000000000" pitchFamily="65" charset="0"/>
                <a:cs typeface="SolaimanLipi" panose="03000609000000000000" pitchFamily="65" charset="0"/>
              </a:rPr>
              <a:t> </a:t>
            </a:r>
            <a:r>
              <a:rPr lang="as-IN" sz="2800" dirty="0" smtClean="0">
                <a:latin typeface="SolaimanLipi" panose="03000609000000000000" pitchFamily="65" charset="0"/>
                <a:cs typeface="SolaimanLipi" panose="03000609000000000000" pitchFamily="65" charset="0"/>
              </a:rPr>
              <a:t>সদর </a:t>
            </a:r>
            <a:r>
              <a:rPr lang="as-IN" sz="2800" dirty="0">
                <a:latin typeface="SolaimanLipi" panose="03000609000000000000" pitchFamily="65" charset="0"/>
                <a:cs typeface="SolaimanLipi" panose="03000609000000000000" pitchFamily="65" charset="0"/>
              </a:rPr>
              <a:t>উপজেলার </a:t>
            </a:r>
            <a:r>
              <a:rPr lang="as-IN" sz="2800" dirty="0" smtClean="0">
                <a:latin typeface="SolaimanLipi" panose="03000609000000000000" pitchFamily="65" charset="0"/>
                <a:cs typeface="SolaimanLipi" panose="03000609000000000000" pitchFamily="65" charset="0"/>
              </a:rPr>
              <a:t>রোগী</a:t>
            </a:r>
            <a:r>
              <a:rPr lang="en-GB" sz="2800" dirty="0" err="1" smtClean="0">
                <a:latin typeface="SolaimanLipi" panose="03000609000000000000" pitchFamily="65" charset="0"/>
                <a:cs typeface="SolaimanLipi" panose="03000609000000000000" pitchFamily="65" charset="0"/>
              </a:rPr>
              <a:t>রা</a:t>
            </a:r>
            <a:r>
              <a:rPr lang="as-IN" sz="2800" dirty="0" smtClean="0">
                <a:latin typeface="SolaimanLipi" panose="03000609000000000000" pitchFamily="65" charset="0"/>
                <a:cs typeface="SolaimanLipi" panose="03000609000000000000" pitchFamily="65" charset="0"/>
              </a:rPr>
              <a:t> </a:t>
            </a:r>
            <a:r>
              <a:rPr lang="as-IN" sz="2800" dirty="0">
                <a:latin typeface="SolaimanLipi" panose="03000609000000000000" pitchFamily="65" charset="0"/>
                <a:cs typeface="SolaimanLipi" panose="03000609000000000000" pitchFamily="65" charset="0"/>
              </a:rPr>
              <a:t>জেলা হাসপাতাল থেকে প্রাথমিক স্বাস্থ্য সেবা </a:t>
            </a:r>
            <a:r>
              <a:rPr lang="en-GB" sz="2800" dirty="0" err="1" smtClean="0">
                <a:latin typeface="SolaimanLipi" panose="03000609000000000000" pitchFamily="65" charset="0"/>
                <a:cs typeface="SolaimanLipi" panose="03000609000000000000" pitchFamily="65" charset="0"/>
              </a:rPr>
              <a:t>নি</a:t>
            </a:r>
            <a:r>
              <a:rPr lang="as-IN" sz="2800" dirty="0" smtClean="0">
                <a:latin typeface="SolaimanLipi" panose="03000609000000000000" pitchFamily="65" charset="0"/>
                <a:cs typeface="SolaimanLipi" panose="03000609000000000000" pitchFamily="65" charset="0"/>
              </a:rPr>
              <a:t>চ্ছেন</a:t>
            </a:r>
            <a:r>
              <a:rPr lang="as-IN" sz="2800" dirty="0">
                <a:latin typeface="SolaimanLipi" panose="03000609000000000000" pitchFamily="65" charset="0"/>
                <a:cs typeface="SolaimanLipi" panose="03000609000000000000" pitchFamily="65" charset="0"/>
              </a:rPr>
              <a:t>।</a:t>
            </a:r>
            <a:endParaRPr lang="en-GB" sz="2800" dirty="0" smtClean="0">
              <a:latin typeface="SolaimanLipi" panose="03000609000000000000" pitchFamily="65" charset="0"/>
              <a:cs typeface="SolaimanLipi" panose="03000609000000000000" pitchFamily="65" charset="0"/>
            </a:endParaRPr>
          </a:p>
        </p:txBody>
      </p:sp>
    </p:spTree>
    <p:extLst>
      <p:ext uri="{BB962C8B-B14F-4D97-AF65-F5344CB8AC3E}">
        <p14:creationId xmlns:p14="http://schemas.microsoft.com/office/powerpoint/2010/main" val="41680525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8534400" cy="1143000"/>
          </a:xfrm>
        </p:spPr>
        <p:txBody>
          <a:bodyPr>
            <a:normAutofit fontScale="90000"/>
          </a:bodyPr>
          <a:lstStyle/>
          <a:p>
            <a:r>
              <a:rPr lang="as-IN" dirty="0">
                <a:latin typeface="SolaimanLipi" panose="03000609000000000000" pitchFamily="65" charset="0"/>
                <a:cs typeface="SolaimanLipi" panose="03000609000000000000" pitchFamily="65" charset="0"/>
              </a:rPr>
              <a:t>সরকারি স্বাস্থ্য ব্যবস্থার পৃথক পৃথক স্তরের </a:t>
            </a:r>
            <a:r>
              <a:rPr lang="as-IN" dirty="0" smtClean="0">
                <a:latin typeface="SolaimanLipi" panose="03000609000000000000" pitchFamily="65" charset="0"/>
                <a:cs typeface="SolaimanLipi" panose="03000609000000000000" pitchFamily="65" charset="0"/>
              </a:rPr>
              <a:t>সমস্যা</a:t>
            </a:r>
            <a:r>
              <a:rPr lang="en-US" dirty="0" smtClean="0">
                <a:latin typeface="SolaimanLipi" panose="03000609000000000000" pitchFamily="65" charset="0"/>
                <a:cs typeface="SolaimanLipi" panose="03000609000000000000" pitchFamily="65" charset="0"/>
              </a:rPr>
              <a:t> - ৫ </a:t>
            </a:r>
            <a:r>
              <a:rPr lang="en-GB" dirty="0" smtClean="0">
                <a:latin typeface="SolaimanLipi" panose="03000609000000000000" pitchFamily="65" charset="0"/>
                <a:cs typeface="SolaimanLipi" panose="03000609000000000000" pitchFamily="65" charset="0"/>
              </a:rPr>
              <a:t>(</a:t>
            </a:r>
            <a:r>
              <a:rPr lang="as-IN" dirty="0">
                <a:latin typeface="SolaimanLipi" panose="03000609000000000000" pitchFamily="65" charset="0"/>
                <a:cs typeface="SolaimanLipi" panose="03000609000000000000" pitchFamily="65" charset="0"/>
              </a:rPr>
              <a:t>জেলা হাসপাতাল</a:t>
            </a:r>
            <a:r>
              <a:rPr lang="en-GB" dirty="0" smtClean="0">
                <a:latin typeface="SolaimanLipi" panose="03000609000000000000" pitchFamily="65" charset="0"/>
                <a:cs typeface="SolaimanLipi" panose="03000609000000000000" pitchFamily="65" charset="0"/>
              </a:rPr>
              <a:t>)</a:t>
            </a:r>
            <a:endParaRPr lang="en-GB" dirty="0">
              <a:latin typeface="SolaimanLipi" panose="03000609000000000000" pitchFamily="65" charset="0"/>
              <a:cs typeface="SolaimanLipi" panose="03000609000000000000" pitchFamily="65" charset="0"/>
            </a:endParaRPr>
          </a:p>
        </p:txBody>
      </p:sp>
      <p:sp>
        <p:nvSpPr>
          <p:cNvPr id="3" name="Content Placeholder 2"/>
          <p:cNvSpPr>
            <a:spLocks noGrp="1"/>
          </p:cNvSpPr>
          <p:nvPr>
            <p:ph idx="1"/>
          </p:nvPr>
        </p:nvSpPr>
        <p:spPr>
          <a:xfrm>
            <a:off x="304800" y="2209800"/>
            <a:ext cx="8610599" cy="4343400"/>
          </a:xfrm>
        </p:spPr>
        <p:txBody>
          <a:bodyPr>
            <a:noAutofit/>
          </a:bodyPr>
          <a:lstStyle/>
          <a:p>
            <a:pPr algn="just">
              <a:buFont typeface="Wingdings" pitchFamily="2" charset="2"/>
              <a:buChar char="Ø"/>
            </a:pPr>
            <a:r>
              <a:rPr lang="as-IN" sz="2650" dirty="0" smtClean="0">
                <a:latin typeface="SolaimanLipi" panose="03000609000000000000" pitchFamily="65" charset="0"/>
                <a:cs typeface="SolaimanLipi" panose="03000609000000000000" pitchFamily="65" charset="0"/>
              </a:rPr>
              <a:t>একটি </a:t>
            </a:r>
            <a:r>
              <a:rPr lang="as-IN" sz="2650" dirty="0">
                <a:latin typeface="SolaimanLipi" panose="03000609000000000000" pitchFamily="65" charset="0"/>
                <a:cs typeface="SolaimanLipi" panose="03000609000000000000" pitchFamily="65" charset="0"/>
              </a:rPr>
              <a:t>জেলা </a:t>
            </a:r>
            <a:r>
              <a:rPr lang="en-GB" sz="2650" dirty="0" err="1" smtClean="0">
                <a:latin typeface="SolaimanLipi" panose="03000609000000000000" pitchFamily="65" charset="0"/>
                <a:cs typeface="SolaimanLipi" panose="03000609000000000000" pitchFamily="65" charset="0"/>
              </a:rPr>
              <a:t>পর্যায়ের</a:t>
            </a:r>
            <a:r>
              <a:rPr lang="en-GB" sz="2650" dirty="0" smtClean="0">
                <a:latin typeface="SolaimanLipi" panose="03000609000000000000" pitchFamily="65" charset="0"/>
                <a:cs typeface="SolaimanLipi" panose="03000609000000000000" pitchFamily="65" charset="0"/>
              </a:rPr>
              <a:t> </a:t>
            </a:r>
            <a:r>
              <a:rPr lang="en-GB" sz="2650" dirty="0" err="1" smtClean="0">
                <a:latin typeface="SolaimanLipi" panose="03000609000000000000" pitchFamily="65" charset="0"/>
                <a:cs typeface="SolaimanLipi" panose="03000609000000000000" pitchFamily="65" charset="0"/>
              </a:rPr>
              <a:t>পৌরসভার</a:t>
            </a:r>
            <a:r>
              <a:rPr lang="en-GB" sz="2650" dirty="0" smtClean="0">
                <a:latin typeface="SolaimanLipi" panose="03000609000000000000" pitchFamily="65" charset="0"/>
                <a:cs typeface="SolaimanLipi" panose="03000609000000000000" pitchFamily="65" charset="0"/>
              </a:rPr>
              <a:t> </a:t>
            </a:r>
            <a:r>
              <a:rPr lang="as-IN" sz="2650" dirty="0" smtClean="0">
                <a:latin typeface="SolaimanLipi" panose="03000609000000000000" pitchFamily="65" charset="0"/>
                <a:cs typeface="SolaimanLipi" panose="03000609000000000000" pitchFamily="65" charset="0"/>
              </a:rPr>
              <a:t>জনসংখ্যা </a:t>
            </a:r>
            <a:r>
              <a:rPr lang="as-IN" sz="2650" dirty="0">
                <a:latin typeface="SolaimanLipi" panose="03000609000000000000" pitchFamily="65" charset="0"/>
                <a:cs typeface="SolaimanLipi" panose="03000609000000000000" pitchFamily="65" charset="0"/>
              </a:rPr>
              <a:t>রয়েছে, প্রায় 3-5 লক্ষ। তারা জেলা হাসপাতাল থেকে তাদের প্রাথমিক স্বাস্থ্যসেবা </a:t>
            </a:r>
            <a:r>
              <a:rPr lang="as-IN" sz="2650" dirty="0" smtClean="0">
                <a:latin typeface="SolaimanLipi" panose="03000609000000000000" pitchFamily="65" charset="0"/>
                <a:cs typeface="SolaimanLipi" panose="03000609000000000000" pitchFamily="65" charset="0"/>
              </a:rPr>
              <a:t>পা</a:t>
            </a:r>
            <a:r>
              <a:rPr lang="en-GB" sz="2650" dirty="0" smtClean="0">
                <a:latin typeface="SolaimanLipi" panose="03000609000000000000" pitchFamily="65" charset="0"/>
                <a:cs typeface="SolaimanLipi" panose="03000609000000000000" pitchFamily="65" charset="0"/>
              </a:rPr>
              <a:t>ন</a:t>
            </a:r>
            <a:r>
              <a:rPr lang="as-IN" sz="2650" dirty="0" smtClean="0">
                <a:latin typeface="SolaimanLipi" panose="03000609000000000000" pitchFamily="65" charset="0"/>
                <a:cs typeface="SolaimanLipi" panose="03000609000000000000" pitchFamily="65" charset="0"/>
              </a:rPr>
              <a:t>।</a:t>
            </a:r>
            <a:r>
              <a:rPr lang="en-GB" sz="2650" dirty="0" smtClean="0">
                <a:latin typeface="SolaimanLipi" panose="03000609000000000000" pitchFamily="65" charset="0"/>
                <a:cs typeface="SolaimanLipi" panose="03000609000000000000" pitchFamily="65" charset="0"/>
              </a:rPr>
              <a:t> </a:t>
            </a:r>
            <a:r>
              <a:rPr lang="as-IN" sz="2650" dirty="0" smtClean="0">
                <a:latin typeface="SolaimanLipi" panose="03000609000000000000" pitchFamily="65" charset="0"/>
                <a:cs typeface="SolaimanLipi" panose="03000609000000000000" pitchFamily="65" charset="0"/>
              </a:rPr>
              <a:t>পৌরসভা</a:t>
            </a:r>
            <a:r>
              <a:rPr lang="en-GB" sz="2650" dirty="0" smtClean="0">
                <a:latin typeface="SolaimanLipi" panose="03000609000000000000" pitchFamily="65" charset="0"/>
                <a:cs typeface="SolaimanLipi" panose="03000609000000000000" pitchFamily="65" charset="0"/>
              </a:rPr>
              <a:t>র </a:t>
            </a:r>
            <a:r>
              <a:rPr lang="en-GB" sz="2650" dirty="0" err="1" smtClean="0">
                <a:latin typeface="SolaimanLipi" panose="03000609000000000000" pitchFamily="65" charset="0"/>
                <a:cs typeface="SolaimanLipi" panose="03000609000000000000" pitchFamily="65" charset="0"/>
              </a:rPr>
              <a:t>নিজস্ব</a:t>
            </a:r>
            <a:r>
              <a:rPr lang="en-GB" sz="2650" dirty="0" smtClean="0">
                <a:latin typeface="SolaimanLipi" panose="03000609000000000000" pitchFamily="65" charset="0"/>
                <a:cs typeface="SolaimanLipi" panose="03000609000000000000" pitchFamily="65" charset="0"/>
              </a:rPr>
              <a:t> </a:t>
            </a:r>
            <a:r>
              <a:rPr lang="en-GB" sz="2650" dirty="0" err="1" smtClean="0">
                <a:latin typeface="SolaimanLipi" panose="03000609000000000000" pitchFamily="65" charset="0"/>
                <a:cs typeface="SolaimanLipi" panose="03000609000000000000" pitchFamily="65" charset="0"/>
              </a:rPr>
              <a:t>কোন</a:t>
            </a:r>
            <a:r>
              <a:rPr lang="en-GB" sz="2650" dirty="0" smtClean="0">
                <a:latin typeface="SolaimanLipi" panose="03000609000000000000" pitchFamily="65" charset="0"/>
                <a:cs typeface="SolaimanLipi" panose="03000609000000000000" pitchFamily="65" charset="0"/>
              </a:rPr>
              <a:t> </a:t>
            </a:r>
            <a:r>
              <a:rPr lang="en-GB" sz="2650" dirty="0" err="1" smtClean="0">
                <a:latin typeface="SolaimanLipi" panose="03000609000000000000" pitchFamily="65" charset="0"/>
                <a:cs typeface="SolaimanLipi" panose="03000609000000000000" pitchFamily="65" charset="0"/>
              </a:rPr>
              <a:t>হাসপাতাল</a:t>
            </a:r>
            <a:r>
              <a:rPr lang="en-GB" sz="2650" dirty="0" smtClean="0">
                <a:latin typeface="SolaimanLipi" panose="03000609000000000000" pitchFamily="65" charset="0"/>
                <a:cs typeface="SolaimanLipi" panose="03000609000000000000" pitchFamily="65" charset="0"/>
              </a:rPr>
              <a:t> </a:t>
            </a:r>
            <a:r>
              <a:rPr lang="en-GB" sz="2650" dirty="0" err="1" smtClean="0">
                <a:latin typeface="SolaimanLipi" panose="03000609000000000000" pitchFamily="65" charset="0"/>
                <a:cs typeface="SolaimanLipi" panose="03000609000000000000" pitchFamily="65" charset="0"/>
              </a:rPr>
              <a:t>নেই</a:t>
            </a:r>
            <a:r>
              <a:rPr lang="en-GB" sz="2650" dirty="0" smtClean="0">
                <a:latin typeface="SolaimanLipi" panose="03000609000000000000" pitchFamily="65" charset="0"/>
                <a:cs typeface="SolaimanLipi" panose="03000609000000000000" pitchFamily="65" charset="0"/>
              </a:rPr>
              <a:t>।</a:t>
            </a:r>
            <a:r>
              <a:rPr lang="as-IN" sz="2650" dirty="0" smtClean="0">
                <a:latin typeface="SolaimanLipi" panose="03000609000000000000" pitchFamily="65" charset="0"/>
                <a:cs typeface="SolaimanLipi" panose="03000609000000000000" pitchFamily="65" charset="0"/>
              </a:rPr>
              <a:t> পৌরসভা</a:t>
            </a:r>
            <a:r>
              <a:rPr lang="en-GB" sz="2650" dirty="0" smtClean="0">
                <a:latin typeface="SolaimanLipi" panose="03000609000000000000" pitchFamily="65" charset="0"/>
                <a:cs typeface="SolaimanLipi" panose="03000609000000000000" pitchFamily="65" charset="0"/>
              </a:rPr>
              <a:t> </a:t>
            </a:r>
            <a:r>
              <a:rPr lang="en-GB" sz="2650" dirty="0" err="1" smtClean="0">
                <a:latin typeface="SolaimanLipi" panose="03000609000000000000" pitchFamily="65" charset="0"/>
                <a:cs typeface="SolaimanLipi" panose="03000609000000000000" pitchFamily="65" charset="0"/>
              </a:rPr>
              <a:t>মূলত</a:t>
            </a:r>
            <a:r>
              <a:rPr lang="en-GB" sz="2650" dirty="0" smtClean="0">
                <a:latin typeface="SolaimanLipi" panose="03000609000000000000" pitchFamily="65" charset="0"/>
                <a:cs typeface="SolaimanLipi" panose="03000609000000000000" pitchFamily="65" charset="0"/>
              </a:rPr>
              <a:t> </a:t>
            </a:r>
            <a:r>
              <a:rPr lang="en-GB" sz="2650" dirty="0" err="1" smtClean="0">
                <a:latin typeface="SolaimanLipi" panose="03000609000000000000" pitchFamily="65" charset="0"/>
                <a:cs typeface="SolaimanLipi" panose="03000609000000000000" pitchFamily="65" charset="0"/>
              </a:rPr>
              <a:t>স্বাস্থ্য</a:t>
            </a:r>
            <a:r>
              <a:rPr lang="en-GB" sz="2650" dirty="0" smtClean="0">
                <a:latin typeface="SolaimanLipi" panose="03000609000000000000" pitchFamily="65" charset="0"/>
                <a:cs typeface="SolaimanLipi" panose="03000609000000000000" pitchFamily="65" charset="0"/>
              </a:rPr>
              <a:t> </a:t>
            </a:r>
            <a:r>
              <a:rPr lang="en-GB" sz="2650" dirty="0" err="1" smtClean="0">
                <a:latin typeface="SolaimanLipi" panose="03000609000000000000" pitchFamily="65" charset="0"/>
                <a:cs typeface="SolaimanLipi" panose="03000609000000000000" pitchFamily="65" charset="0"/>
              </a:rPr>
              <a:t>সেবার</a:t>
            </a:r>
            <a:r>
              <a:rPr lang="en-GB" sz="2650" dirty="0" smtClean="0">
                <a:latin typeface="SolaimanLipi" panose="03000609000000000000" pitchFamily="65" charset="0"/>
                <a:cs typeface="SolaimanLipi" panose="03000609000000000000" pitchFamily="65" charset="0"/>
              </a:rPr>
              <a:t> </a:t>
            </a:r>
            <a:r>
              <a:rPr lang="en-GB" sz="2650" dirty="0" err="1" smtClean="0">
                <a:latin typeface="SolaimanLipi" panose="03000609000000000000" pitchFamily="65" charset="0"/>
                <a:cs typeface="SolaimanLipi" panose="03000609000000000000" pitchFamily="65" charset="0"/>
              </a:rPr>
              <a:t>ক্ষেত্রে</a:t>
            </a:r>
            <a:r>
              <a:rPr lang="en-GB" sz="2650" dirty="0" smtClean="0">
                <a:latin typeface="SolaimanLipi" panose="03000609000000000000" pitchFamily="65" charset="0"/>
                <a:cs typeface="SolaimanLipi" panose="03000609000000000000" pitchFamily="65" charset="0"/>
              </a:rPr>
              <a:t> </a:t>
            </a:r>
            <a:r>
              <a:rPr lang="en-GB" sz="2650" dirty="0" err="1" smtClean="0">
                <a:latin typeface="SolaimanLipi" panose="03000609000000000000" pitchFamily="65" charset="0"/>
                <a:cs typeface="SolaimanLipi" panose="03000609000000000000" pitchFamily="65" charset="0"/>
              </a:rPr>
              <a:t>টিকা</a:t>
            </a:r>
            <a:r>
              <a:rPr lang="en-GB" sz="2650" dirty="0" smtClean="0">
                <a:latin typeface="SolaimanLipi" panose="03000609000000000000" pitchFamily="65" charset="0"/>
                <a:cs typeface="SolaimanLipi" panose="03000609000000000000" pitchFamily="65" charset="0"/>
              </a:rPr>
              <a:t> </a:t>
            </a:r>
            <a:r>
              <a:rPr lang="en-GB" sz="2650" dirty="0" err="1" smtClean="0">
                <a:latin typeface="SolaimanLipi" panose="03000609000000000000" pitchFamily="65" charset="0"/>
                <a:cs typeface="SolaimanLipi" panose="03000609000000000000" pitchFamily="65" charset="0"/>
              </a:rPr>
              <a:t>প্রদান</a:t>
            </a:r>
            <a:r>
              <a:rPr lang="en-GB" sz="2650" dirty="0" smtClean="0">
                <a:latin typeface="SolaimanLipi" panose="03000609000000000000" pitchFamily="65" charset="0"/>
                <a:cs typeface="SolaimanLipi" panose="03000609000000000000" pitchFamily="65" charset="0"/>
              </a:rPr>
              <a:t>, </a:t>
            </a:r>
            <a:r>
              <a:rPr lang="en-GB" sz="2650" dirty="0" err="1" smtClean="0">
                <a:latin typeface="SolaimanLipi" panose="03000609000000000000" pitchFamily="65" charset="0"/>
                <a:cs typeface="SolaimanLipi" panose="03000609000000000000" pitchFamily="65" charset="0"/>
              </a:rPr>
              <a:t>নিরাপদ</a:t>
            </a:r>
            <a:r>
              <a:rPr lang="en-GB" sz="2650" dirty="0" smtClean="0">
                <a:latin typeface="SolaimanLipi" panose="03000609000000000000" pitchFamily="65" charset="0"/>
                <a:cs typeface="SolaimanLipi" panose="03000609000000000000" pitchFamily="65" charset="0"/>
              </a:rPr>
              <a:t> </a:t>
            </a:r>
            <a:r>
              <a:rPr lang="en-GB" sz="2650" dirty="0" err="1" smtClean="0">
                <a:latin typeface="SolaimanLipi" panose="03000609000000000000" pitchFamily="65" charset="0"/>
                <a:cs typeface="SolaimanLipi" panose="03000609000000000000" pitchFamily="65" charset="0"/>
              </a:rPr>
              <a:t>পানি</a:t>
            </a:r>
            <a:r>
              <a:rPr lang="as-IN" sz="2650" dirty="0" smtClean="0">
                <a:latin typeface="SolaimanLipi" panose="03000609000000000000" pitchFamily="65" charset="0"/>
                <a:cs typeface="SolaimanLipi" panose="03000609000000000000" pitchFamily="65" charset="0"/>
              </a:rPr>
              <a:t> সরবরাহ</a:t>
            </a:r>
            <a:r>
              <a:rPr lang="as-IN" sz="2650" dirty="0">
                <a:latin typeface="SolaimanLipi" panose="03000609000000000000" pitchFamily="65" charset="0"/>
                <a:cs typeface="SolaimanLipi" panose="03000609000000000000" pitchFamily="65" charset="0"/>
              </a:rPr>
              <a:t>, </a:t>
            </a:r>
            <a:r>
              <a:rPr lang="as-IN" sz="2650" dirty="0" smtClean="0">
                <a:latin typeface="SolaimanLipi" panose="03000609000000000000" pitchFamily="65" charset="0"/>
                <a:cs typeface="SolaimanLipi" panose="03000609000000000000" pitchFamily="65" charset="0"/>
              </a:rPr>
              <a:t>স্যানিটেশন</a:t>
            </a:r>
            <a:r>
              <a:rPr lang="en-GB" sz="2650" dirty="0">
                <a:latin typeface="SolaimanLipi" panose="03000609000000000000" pitchFamily="65" charset="0"/>
                <a:cs typeface="SolaimanLipi" panose="03000609000000000000" pitchFamily="65" charset="0"/>
              </a:rPr>
              <a:t> </a:t>
            </a:r>
            <a:r>
              <a:rPr lang="en-GB" sz="2650" dirty="0" smtClean="0">
                <a:latin typeface="SolaimanLipi" panose="03000609000000000000" pitchFamily="65" charset="0"/>
                <a:cs typeface="SolaimanLipi" panose="03000609000000000000" pitchFamily="65" charset="0"/>
              </a:rPr>
              <a:t>ও </a:t>
            </a:r>
            <a:r>
              <a:rPr lang="en-GB" sz="2650" dirty="0" err="1" smtClean="0">
                <a:latin typeface="SolaimanLipi" panose="03000609000000000000" pitchFamily="65" charset="0"/>
                <a:cs typeface="SolaimanLipi" panose="03000609000000000000" pitchFamily="65" charset="0"/>
              </a:rPr>
              <a:t>মশা</a:t>
            </a:r>
            <a:r>
              <a:rPr lang="as-IN" sz="2650" dirty="0" smtClean="0">
                <a:latin typeface="SolaimanLipi" panose="03000609000000000000" pitchFamily="65" charset="0"/>
                <a:cs typeface="SolaimanLipi" panose="03000609000000000000" pitchFamily="65" charset="0"/>
              </a:rPr>
              <a:t> </a:t>
            </a:r>
            <a:r>
              <a:rPr lang="as-IN" sz="2650" dirty="0">
                <a:latin typeface="SolaimanLipi" panose="03000609000000000000" pitchFamily="65" charset="0"/>
                <a:cs typeface="SolaimanLipi" panose="03000609000000000000" pitchFamily="65" charset="0"/>
              </a:rPr>
              <a:t>নিয়ন্ত্রণের জন্য কাজ </a:t>
            </a:r>
            <a:r>
              <a:rPr lang="as-IN" sz="2650" dirty="0" smtClean="0">
                <a:latin typeface="SolaimanLipi" panose="03000609000000000000" pitchFamily="65" charset="0"/>
                <a:cs typeface="SolaimanLipi" panose="03000609000000000000" pitchFamily="65" charset="0"/>
              </a:rPr>
              <a:t>করছে</a:t>
            </a:r>
            <a:r>
              <a:rPr lang="en-US" sz="2650" dirty="0" smtClean="0">
                <a:latin typeface="SolaimanLipi" panose="03000609000000000000" pitchFamily="65" charset="0"/>
                <a:cs typeface="SolaimanLipi" panose="03000609000000000000" pitchFamily="65" charset="0"/>
              </a:rPr>
              <a:t>। </a:t>
            </a:r>
            <a:r>
              <a:rPr lang="en-GB" sz="2650" dirty="0" smtClean="0">
                <a:latin typeface="SolaimanLipi" panose="03000609000000000000" pitchFamily="65" charset="0"/>
                <a:cs typeface="SolaimanLipi" panose="03000609000000000000" pitchFamily="65" charset="0"/>
              </a:rPr>
              <a:t> </a:t>
            </a:r>
          </a:p>
          <a:p>
            <a:pPr algn="just">
              <a:buFont typeface="Wingdings" pitchFamily="2" charset="2"/>
              <a:buChar char="Ø"/>
            </a:pPr>
            <a:r>
              <a:rPr lang="as-IN" sz="2650" dirty="0">
                <a:latin typeface="SolaimanLipi" panose="03000609000000000000" pitchFamily="65" charset="0"/>
                <a:cs typeface="SolaimanLipi" panose="03000609000000000000" pitchFamily="65" charset="0"/>
              </a:rPr>
              <a:t>তাই জেলা হাসপাতাল রেফারেল সেন্টার হিসেবে কাজ করছে </a:t>
            </a:r>
            <a:r>
              <a:rPr lang="as-IN" sz="2650" dirty="0" smtClean="0">
                <a:latin typeface="SolaimanLipi" panose="03000609000000000000" pitchFamily="65" charset="0"/>
                <a:cs typeface="SolaimanLipi" panose="03000609000000000000" pitchFamily="65" charset="0"/>
              </a:rPr>
              <a:t>না</a:t>
            </a:r>
            <a:r>
              <a:rPr lang="en-US" sz="2650" dirty="0" smtClean="0">
                <a:latin typeface="SolaimanLipi" panose="03000609000000000000" pitchFamily="65" charset="0"/>
                <a:cs typeface="SolaimanLipi" panose="03000609000000000000" pitchFamily="65" charset="0"/>
              </a:rPr>
              <a:t>। </a:t>
            </a:r>
          </a:p>
          <a:p>
            <a:pPr algn="just">
              <a:buFont typeface="Wingdings" pitchFamily="2" charset="2"/>
              <a:buChar char="Ø"/>
            </a:pPr>
            <a:r>
              <a:rPr lang="as-IN" sz="2650" dirty="0">
                <a:latin typeface="SolaimanLipi" panose="03000609000000000000" pitchFamily="65" charset="0"/>
                <a:cs typeface="SolaimanLipi" panose="03000609000000000000" pitchFamily="65" charset="0"/>
              </a:rPr>
              <a:t>২০১৯ সালে ঝিনাইদহ সদর হাসপাতালে শয্যা দখলের হার </a:t>
            </a:r>
            <a:r>
              <a:rPr lang="as-IN" sz="2650" dirty="0" smtClean="0">
                <a:latin typeface="SolaimanLipi" panose="03000609000000000000" pitchFamily="65" charset="0"/>
                <a:cs typeface="SolaimanLipi" panose="03000609000000000000" pitchFamily="65" charset="0"/>
              </a:rPr>
              <a:t>ছিল</a:t>
            </a:r>
            <a:r>
              <a:rPr lang="en-GB" sz="2650" dirty="0" smtClean="0">
                <a:latin typeface="SolaimanLipi" panose="03000609000000000000" pitchFamily="65" charset="0"/>
                <a:cs typeface="SolaimanLipi" panose="03000609000000000000" pitchFamily="65" charset="0"/>
              </a:rPr>
              <a:t> </a:t>
            </a:r>
            <a:r>
              <a:rPr lang="en-GB" sz="2650" dirty="0" err="1" smtClean="0">
                <a:latin typeface="SolaimanLipi" panose="03000609000000000000" pitchFamily="65" charset="0"/>
                <a:cs typeface="SolaimanLipi" panose="03000609000000000000" pitchFamily="65" charset="0"/>
              </a:rPr>
              <a:t>প্রায়</a:t>
            </a:r>
            <a:r>
              <a:rPr lang="as-IN" sz="2650" dirty="0" smtClean="0">
                <a:latin typeface="SolaimanLipi" panose="03000609000000000000" pitchFamily="65" charset="0"/>
                <a:cs typeface="SolaimanLipi" panose="03000609000000000000" pitchFamily="65" charset="0"/>
              </a:rPr>
              <a:t> </a:t>
            </a:r>
            <a:r>
              <a:rPr lang="en-GB" sz="2650" dirty="0" smtClean="0">
                <a:latin typeface="SolaimanLipi" panose="03000609000000000000" pitchFamily="65" charset="0"/>
                <a:cs typeface="SolaimanLipi" panose="03000609000000000000" pitchFamily="65" charset="0"/>
              </a:rPr>
              <a:t>৩০০</a:t>
            </a:r>
            <a:r>
              <a:rPr lang="as-IN" sz="2650" dirty="0" smtClean="0">
                <a:latin typeface="SolaimanLipi" panose="03000609000000000000" pitchFamily="65" charset="0"/>
                <a:cs typeface="SolaimanLipi" panose="03000609000000000000" pitchFamily="65" charset="0"/>
              </a:rPr>
              <a:t>% </a:t>
            </a:r>
            <a:r>
              <a:rPr lang="as-IN" sz="2650" dirty="0">
                <a:latin typeface="SolaimanLipi" panose="03000609000000000000" pitchFamily="65" charset="0"/>
                <a:cs typeface="SolaimanLipi" panose="03000609000000000000" pitchFamily="65" charset="0"/>
              </a:rPr>
              <a:t>এবং প্রতিদিন ৪ জন মেডিকেল অফিসারের সাথে ১৩৫০ জন বহিঃবিভাগ রোগীর সেবা করা </a:t>
            </a:r>
            <a:r>
              <a:rPr lang="as-IN" sz="2650" dirty="0" smtClean="0">
                <a:latin typeface="SolaimanLipi" panose="03000609000000000000" pitchFamily="65" charset="0"/>
                <a:cs typeface="SolaimanLipi" panose="03000609000000000000" pitchFamily="65" charset="0"/>
              </a:rPr>
              <a:t>হয়</a:t>
            </a:r>
            <a:r>
              <a:rPr lang="en-US" sz="2650" dirty="0" smtClean="0">
                <a:latin typeface="SolaimanLipi" panose="03000609000000000000" pitchFamily="65" charset="0"/>
                <a:cs typeface="SolaimanLipi" panose="03000609000000000000" pitchFamily="65" charset="0"/>
              </a:rPr>
              <a:t>।</a:t>
            </a:r>
            <a:r>
              <a:rPr lang="en-GB" sz="2650" dirty="0" smtClean="0">
                <a:latin typeface="SolaimanLipi" panose="03000609000000000000" pitchFamily="65" charset="0"/>
                <a:cs typeface="SolaimanLipi" panose="03000609000000000000" pitchFamily="65" charset="0"/>
              </a:rPr>
              <a:t> </a:t>
            </a:r>
          </a:p>
        </p:txBody>
      </p:sp>
    </p:spTree>
    <p:extLst>
      <p:ext uri="{BB962C8B-B14F-4D97-AF65-F5344CB8AC3E}">
        <p14:creationId xmlns:p14="http://schemas.microsoft.com/office/powerpoint/2010/main" val="31157190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as-IN" dirty="0">
                <a:latin typeface="SolaimanLipi" panose="03000609000000000000" pitchFamily="65" charset="0"/>
                <a:cs typeface="SolaimanLipi" panose="03000609000000000000" pitchFamily="65" charset="0"/>
              </a:rPr>
              <a:t>কিভাবে </a:t>
            </a:r>
            <a:r>
              <a:rPr lang="bn-BD" dirty="0" smtClean="0">
                <a:latin typeface="SolaimanLipi" panose="03000609000000000000" pitchFamily="65" charset="0"/>
                <a:cs typeface="SolaimanLipi" panose="03000609000000000000" pitchFamily="65" charset="0"/>
              </a:rPr>
              <a:t>সমস্যার</a:t>
            </a:r>
            <a:r>
              <a:rPr lang="as-IN" dirty="0" smtClean="0">
                <a:latin typeface="SolaimanLipi" panose="03000609000000000000" pitchFamily="65" charset="0"/>
                <a:cs typeface="SolaimanLipi" panose="03000609000000000000" pitchFamily="65" charset="0"/>
              </a:rPr>
              <a:t> </a:t>
            </a:r>
            <a:r>
              <a:rPr lang="as-IN" dirty="0">
                <a:latin typeface="SolaimanLipi" panose="03000609000000000000" pitchFamily="65" charset="0"/>
                <a:cs typeface="SolaimanLipi" panose="03000609000000000000" pitchFamily="65" charset="0"/>
              </a:rPr>
              <a:t>সমাধান করা যায় </a:t>
            </a:r>
            <a:r>
              <a:rPr lang="as-IN" dirty="0" smtClean="0">
                <a:latin typeface="SolaimanLipi" panose="03000609000000000000" pitchFamily="65" charset="0"/>
                <a:cs typeface="SolaimanLipi" panose="03000609000000000000" pitchFamily="65" charset="0"/>
              </a:rPr>
              <a:t>-</a:t>
            </a:r>
            <a:r>
              <a:rPr lang="en-US" dirty="0">
                <a:latin typeface="SolaimanLipi" panose="03000609000000000000" pitchFamily="65" charset="0"/>
                <a:cs typeface="SolaimanLipi" panose="03000609000000000000" pitchFamily="65" charset="0"/>
              </a:rPr>
              <a:t> </a:t>
            </a:r>
            <a:r>
              <a:rPr lang="en-US" dirty="0" smtClean="0">
                <a:latin typeface="SolaimanLipi" panose="03000609000000000000" pitchFamily="65" charset="0"/>
                <a:cs typeface="SolaimanLipi" panose="03000609000000000000" pitchFamily="65" charset="0"/>
              </a:rPr>
              <a:t>১</a:t>
            </a:r>
            <a:endParaRPr lang="en-GB" dirty="0">
              <a:latin typeface="SolaimanLipi" panose="03000609000000000000" pitchFamily="65" charset="0"/>
              <a:cs typeface="SolaimanLipi" panose="03000609000000000000" pitchFamily="65" charset="0"/>
            </a:endParaRPr>
          </a:p>
        </p:txBody>
      </p:sp>
      <p:sp>
        <p:nvSpPr>
          <p:cNvPr id="3" name="Content Placeholder 2"/>
          <p:cNvSpPr>
            <a:spLocks noGrp="1"/>
          </p:cNvSpPr>
          <p:nvPr>
            <p:ph idx="1"/>
          </p:nvPr>
        </p:nvSpPr>
        <p:spPr>
          <a:xfrm>
            <a:off x="304800" y="1524000"/>
            <a:ext cx="8534399" cy="4191000"/>
          </a:xfrm>
        </p:spPr>
        <p:txBody>
          <a:bodyPr>
            <a:noAutofit/>
          </a:bodyPr>
          <a:lstStyle/>
          <a:p>
            <a:pPr algn="just">
              <a:buFont typeface="Wingdings" pitchFamily="2" charset="2"/>
              <a:buChar char="Ø"/>
            </a:pPr>
            <a:r>
              <a:rPr lang="en-GB" sz="2800" dirty="0" smtClean="0">
                <a:latin typeface="SolaimanLipi" panose="03000609000000000000" pitchFamily="65" charset="0"/>
                <a:cs typeface="SolaimanLipi" panose="03000609000000000000" pitchFamily="65" charset="0"/>
              </a:rPr>
              <a:t> </a:t>
            </a:r>
            <a:r>
              <a:rPr lang="as-IN" sz="2800" b="1" dirty="0">
                <a:latin typeface="SolaimanLipi" panose="03000609000000000000" pitchFamily="65" charset="0"/>
                <a:cs typeface="SolaimanLipi" panose="03000609000000000000" pitchFamily="65" charset="0"/>
              </a:rPr>
              <a:t>কমিউনিটি </a:t>
            </a:r>
            <a:r>
              <a:rPr lang="as-IN" sz="2800" b="1" dirty="0" smtClean="0">
                <a:latin typeface="SolaimanLipi" panose="03000609000000000000" pitchFamily="65" charset="0"/>
                <a:cs typeface="SolaimanLipi" panose="03000609000000000000" pitchFamily="65" charset="0"/>
              </a:rPr>
              <a:t>ক্লিনিক:</a:t>
            </a:r>
            <a:r>
              <a:rPr lang="as-IN" sz="2800" dirty="0" smtClean="0">
                <a:latin typeface="SolaimanLipi" panose="03000609000000000000" pitchFamily="65" charset="0"/>
                <a:cs typeface="SolaimanLipi" panose="03000609000000000000" pitchFamily="65" charset="0"/>
              </a:rPr>
              <a:t> </a:t>
            </a:r>
            <a:r>
              <a:rPr lang="as-IN" sz="2800" dirty="0">
                <a:latin typeface="SolaimanLipi" panose="03000609000000000000" pitchFamily="65" charset="0"/>
                <a:cs typeface="SolaimanLipi" panose="03000609000000000000" pitchFamily="65" charset="0"/>
              </a:rPr>
              <a:t>প্রতিটি কমিউনিটি ক্লিনিকে একজন মেডিকেল অ্যাসিস্ট্যান্ট </a:t>
            </a:r>
            <a:r>
              <a:rPr lang="en-GB" sz="2800" dirty="0" smtClean="0">
                <a:latin typeface="SolaimanLipi" panose="03000609000000000000" pitchFamily="65" charset="0"/>
                <a:cs typeface="SolaimanLipi" panose="03000609000000000000" pitchFamily="65" charset="0"/>
              </a:rPr>
              <a:t> (</a:t>
            </a:r>
            <a:r>
              <a:rPr lang="en-GB" sz="2800" dirty="0" smtClean="0">
                <a:cs typeface="SolaimanLipi" panose="03000609000000000000" pitchFamily="65" charset="0"/>
              </a:rPr>
              <a:t>SACMO) </a:t>
            </a:r>
            <a:r>
              <a:rPr lang="as-IN" sz="2800" dirty="0" smtClean="0">
                <a:latin typeface="SolaimanLipi" panose="03000609000000000000" pitchFamily="65" charset="0"/>
                <a:cs typeface="SolaimanLipi" panose="03000609000000000000" pitchFamily="65" charset="0"/>
              </a:rPr>
              <a:t>নিয়োগ </a:t>
            </a:r>
            <a:r>
              <a:rPr lang="as-IN" sz="2800" dirty="0">
                <a:latin typeface="SolaimanLipi" panose="03000609000000000000" pitchFamily="65" charset="0"/>
                <a:cs typeface="SolaimanLipi" panose="03000609000000000000" pitchFamily="65" charset="0"/>
              </a:rPr>
              <a:t>করা উচিত</a:t>
            </a:r>
            <a:r>
              <a:rPr lang="as-IN" sz="2800" dirty="0" smtClean="0">
                <a:latin typeface="SolaimanLipi" panose="03000609000000000000" pitchFamily="65" charset="0"/>
                <a:cs typeface="SolaimanLipi" panose="03000609000000000000" pitchFamily="65" charset="0"/>
              </a:rPr>
              <a:t>।</a:t>
            </a:r>
            <a:endParaRPr lang="en-US" sz="2800" dirty="0" smtClean="0">
              <a:latin typeface="SolaimanLipi" panose="03000609000000000000" pitchFamily="65" charset="0"/>
              <a:cs typeface="SolaimanLipi" panose="03000609000000000000" pitchFamily="65" charset="0"/>
            </a:endParaRPr>
          </a:p>
          <a:p>
            <a:pPr algn="just">
              <a:buFont typeface="Wingdings" pitchFamily="2" charset="2"/>
              <a:buChar char="Ø"/>
            </a:pPr>
            <a:r>
              <a:rPr lang="en-GB" sz="2800" b="1" dirty="0" smtClean="0">
                <a:latin typeface="SolaimanLipi" panose="03000609000000000000" pitchFamily="65" charset="0"/>
                <a:cs typeface="SolaimanLipi" panose="03000609000000000000" pitchFamily="65" charset="0"/>
              </a:rPr>
              <a:t>H&amp;FWC:</a:t>
            </a:r>
            <a:r>
              <a:rPr lang="en-GB" sz="2800" dirty="0" smtClean="0">
                <a:latin typeface="SolaimanLipi" panose="03000609000000000000" pitchFamily="65" charset="0"/>
                <a:cs typeface="SolaimanLipi" panose="03000609000000000000" pitchFamily="65" charset="0"/>
              </a:rPr>
              <a:t> </a:t>
            </a:r>
            <a:r>
              <a:rPr lang="as-IN" sz="2800" dirty="0">
                <a:latin typeface="SolaimanLipi" panose="03000609000000000000" pitchFamily="65" charset="0"/>
                <a:cs typeface="SolaimanLipi" panose="03000609000000000000" pitchFamily="65" charset="0"/>
              </a:rPr>
              <a:t>১৫ শয্যাবিশিষ্ট হাসপাতাল, ৪ ডাক্তার ১০ নার্স ও মিডওয়াইফ, এক্স-রে, ইউএসজি, এইচ এবং </a:t>
            </a:r>
            <a:r>
              <a:rPr lang="as-IN" sz="2800" dirty="0" smtClean="0">
                <a:latin typeface="SolaimanLipi" panose="03000609000000000000" pitchFamily="65" charset="0"/>
                <a:cs typeface="SolaimanLipi" panose="03000609000000000000" pitchFamily="65" charset="0"/>
              </a:rPr>
              <a:t>ল্যাব </a:t>
            </a:r>
            <a:r>
              <a:rPr lang="as-IN" sz="2800" dirty="0">
                <a:latin typeface="SolaimanLipi" panose="03000609000000000000" pitchFamily="65" charset="0"/>
                <a:cs typeface="SolaimanLipi" panose="03000609000000000000" pitchFamily="65" charset="0"/>
              </a:rPr>
              <a:t>সুবিধা। এটি একটি প্রাথমিক </a:t>
            </a:r>
            <a:r>
              <a:rPr lang="bn-BD" sz="2800" dirty="0" smtClean="0">
                <a:latin typeface="SolaimanLipi" panose="03000609000000000000" pitchFamily="65" charset="0"/>
                <a:cs typeface="SolaimanLipi" panose="03000609000000000000" pitchFamily="65" charset="0"/>
              </a:rPr>
              <a:t>স্বাস্থ্যসেবা</a:t>
            </a:r>
            <a:r>
              <a:rPr lang="as-IN" sz="2800" dirty="0" smtClean="0">
                <a:latin typeface="SolaimanLipi" panose="03000609000000000000" pitchFamily="65" charset="0"/>
                <a:cs typeface="SolaimanLipi" panose="03000609000000000000" pitchFamily="65" charset="0"/>
              </a:rPr>
              <a:t> </a:t>
            </a:r>
            <a:r>
              <a:rPr lang="as-IN" sz="2800" dirty="0">
                <a:latin typeface="SolaimanLipi" panose="03000609000000000000" pitchFamily="65" charset="0"/>
                <a:cs typeface="SolaimanLipi" panose="03000609000000000000" pitchFamily="65" charset="0"/>
              </a:rPr>
              <a:t>কেন্দ্র হিসেবে কাজ করবে। সেখানে </a:t>
            </a:r>
            <a:r>
              <a:rPr lang="en-GB" sz="2800" dirty="0" smtClean="0">
                <a:latin typeface="SolaimanLipi" panose="03000609000000000000" pitchFamily="65" charset="0"/>
                <a:cs typeface="SolaimanLipi" panose="03000609000000000000" pitchFamily="65" charset="0"/>
              </a:rPr>
              <a:t>২৪ </a:t>
            </a:r>
            <a:r>
              <a:rPr lang="as-IN" sz="2800" dirty="0" smtClean="0">
                <a:latin typeface="SolaimanLipi" panose="03000609000000000000" pitchFamily="65" charset="0"/>
                <a:cs typeface="SolaimanLipi" panose="03000609000000000000" pitchFamily="65" charset="0"/>
              </a:rPr>
              <a:t>ঘণ্টা </a:t>
            </a:r>
            <a:r>
              <a:rPr lang="as-IN" sz="2800" dirty="0">
                <a:latin typeface="SolaimanLipi" panose="03000609000000000000" pitchFamily="65" charset="0"/>
                <a:cs typeface="SolaimanLipi" panose="03000609000000000000" pitchFamily="65" charset="0"/>
              </a:rPr>
              <a:t>জরুরী পরিষেবা থাকতে হবে</a:t>
            </a:r>
            <a:r>
              <a:rPr lang="as-IN" sz="2800" dirty="0" smtClean="0">
                <a:latin typeface="SolaimanLipi" panose="03000609000000000000" pitchFamily="65" charset="0"/>
                <a:cs typeface="SolaimanLipi" panose="03000609000000000000" pitchFamily="65" charset="0"/>
              </a:rPr>
              <a:t>।</a:t>
            </a:r>
            <a:endParaRPr lang="en-US" sz="2800" dirty="0" smtClean="0">
              <a:latin typeface="SolaimanLipi" panose="03000609000000000000" pitchFamily="65" charset="0"/>
              <a:cs typeface="SolaimanLipi" panose="03000609000000000000" pitchFamily="65" charset="0"/>
            </a:endParaRPr>
          </a:p>
          <a:p>
            <a:pPr algn="just">
              <a:buFont typeface="Wingdings" pitchFamily="2" charset="2"/>
              <a:buChar char="Ø"/>
            </a:pPr>
            <a:r>
              <a:rPr lang="as-IN" sz="2800" b="1" dirty="0">
                <a:latin typeface="SolaimanLipi" panose="03000609000000000000" pitchFamily="65" charset="0"/>
                <a:cs typeface="SolaimanLipi" panose="03000609000000000000" pitchFamily="65" charset="0"/>
              </a:rPr>
              <a:t>১০০ শয্যাবিশিষ্ট </a:t>
            </a:r>
            <a:r>
              <a:rPr lang="en-GB" sz="2800" b="1" dirty="0">
                <a:latin typeface="SolaimanLipi" panose="03000609000000000000" pitchFamily="65" charset="0"/>
                <a:cs typeface="SolaimanLipi" panose="03000609000000000000" pitchFamily="65" charset="0"/>
              </a:rPr>
              <a:t>UHC :</a:t>
            </a:r>
            <a:r>
              <a:rPr lang="en-GB" sz="2800" dirty="0">
                <a:latin typeface="SolaimanLipi" panose="03000609000000000000" pitchFamily="65" charset="0"/>
                <a:cs typeface="SolaimanLipi" panose="03000609000000000000" pitchFamily="65" charset="0"/>
              </a:rPr>
              <a:t> </a:t>
            </a:r>
            <a:r>
              <a:rPr lang="as-IN" sz="2800" dirty="0">
                <a:latin typeface="SolaimanLipi" panose="03000609000000000000" pitchFamily="65" charset="0"/>
                <a:cs typeface="SolaimanLipi" panose="03000609000000000000" pitchFamily="65" charset="0"/>
              </a:rPr>
              <a:t>একটি প্রাথমিক এবং ১ম রেফারেল কেন্দ্র হিসাবে কাজ করবে। পৌরসভার প্রতি ৩০,০০০ জনসংখ্যার জন্য একটি </a:t>
            </a:r>
            <a:r>
              <a:rPr lang="en-GB" sz="2800" dirty="0">
                <a:latin typeface="SolaimanLipi" panose="03000609000000000000" pitchFamily="65" charset="0"/>
                <a:cs typeface="SolaimanLipi" panose="03000609000000000000" pitchFamily="65" charset="0"/>
              </a:rPr>
              <a:t>H&amp;FWC </a:t>
            </a:r>
            <a:r>
              <a:rPr lang="as-IN" sz="2800" dirty="0">
                <a:latin typeface="SolaimanLipi" panose="03000609000000000000" pitchFamily="65" charset="0"/>
                <a:cs typeface="SolaimanLipi" panose="03000609000000000000" pitchFamily="65" charset="0"/>
              </a:rPr>
              <a:t>থাকা উচিত।</a:t>
            </a:r>
            <a:endParaRPr lang="en-GB" sz="2800" dirty="0">
              <a:latin typeface="SolaimanLipi" panose="03000609000000000000" pitchFamily="65" charset="0"/>
              <a:cs typeface="SolaimanLipi" panose="03000609000000000000" pitchFamily="65" charset="0"/>
            </a:endParaRPr>
          </a:p>
        </p:txBody>
      </p:sp>
    </p:spTree>
    <p:extLst>
      <p:ext uri="{BB962C8B-B14F-4D97-AF65-F5344CB8AC3E}">
        <p14:creationId xmlns:p14="http://schemas.microsoft.com/office/powerpoint/2010/main" val="9234606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as-IN" dirty="0">
                <a:latin typeface="SolaimanLipi" panose="03000609000000000000" pitchFamily="65" charset="0"/>
                <a:cs typeface="SolaimanLipi" panose="03000609000000000000" pitchFamily="65" charset="0"/>
              </a:rPr>
              <a:t>কিভাবে সমস্যার সমাধান করা যায় </a:t>
            </a:r>
            <a:r>
              <a:rPr lang="as-IN" dirty="0" smtClean="0">
                <a:latin typeface="SolaimanLipi" panose="03000609000000000000" pitchFamily="65" charset="0"/>
                <a:cs typeface="SolaimanLipi" panose="03000609000000000000" pitchFamily="65" charset="0"/>
              </a:rPr>
              <a:t>-</a:t>
            </a:r>
            <a:r>
              <a:rPr lang="en-US" dirty="0">
                <a:latin typeface="SolaimanLipi" panose="03000609000000000000" pitchFamily="65" charset="0"/>
                <a:cs typeface="SolaimanLipi" panose="03000609000000000000" pitchFamily="65" charset="0"/>
              </a:rPr>
              <a:t>২</a:t>
            </a:r>
            <a:endParaRPr lang="en-GB" dirty="0">
              <a:latin typeface="SolaimanLipi" panose="03000609000000000000" pitchFamily="65" charset="0"/>
              <a:cs typeface="SolaimanLipi" panose="03000609000000000000" pitchFamily="65" charset="0"/>
            </a:endParaRPr>
          </a:p>
        </p:txBody>
      </p:sp>
      <p:sp>
        <p:nvSpPr>
          <p:cNvPr id="3" name="Content Placeholder 2"/>
          <p:cNvSpPr>
            <a:spLocks noGrp="1"/>
          </p:cNvSpPr>
          <p:nvPr>
            <p:ph idx="1"/>
          </p:nvPr>
        </p:nvSpPr>
        <p:spPr>
          <a:xfrm>
            <a:off x="304800" y="2057400"/>
            <a:ext cx="8534399" cy="4648200"/>
          </a:xfrm>
        </p:spPr>
        <p:txBody>
          <a:bodyPr>
            <a:noAutofit/>
          </a:bodyPr>
          <a:lstStyle/>
          <a:p>
            <a:pPr algn="just">
              <a:buFont typeface="Wingdings" pitchFamily="2" charset="2"/>
              <a:buChar char="Ø"/>
            </a:pPr>
            <a:r>
              <a:rPr lang="en-GB" sz="2500" dirty="0" smtClean="0">
                <a:latin typeface="SolaimanLipi" panose="03000609000000000000" pitchFamily="65" charset="0"/>
                <a:cs typeface="SolaimanLipi" panose="03000609000000000000" pitchFamily="65" charset="0"/>
              </a:rPr>
              <a:t> </a:t>
            </a:r>
            <a:r>
              <a:rPr lang="as-IN" sz="2400" dirty="0" smtClean="0">
                <a:latin typeface="SolaimanLipi" panose="03000609000000000000" pitchFamily="65" charset="0"/>
                <a:cs typeface="SolaimanLipi" panose="03000609000000000000" pitchFamily="65" charset="0"/>
              </a:rPr>
              <a:t>পৌরসভা</a:t>
            </a:r>
            <a:r>
              <a:rPr lang="en-GB" sz="2400" dirty="0" smtClean="0">
                <a:latin typeface="SolaimanLipi" panose="03000609000000000000" pitchFamily="65" charset="0"/>
                <a:cs typeface="SolaimanLipi" panose="03000609000000000000" pitchFamily="65" charset="0"/>
              </a:rPr>
              <a:t> </a:t>
            </a:r>
            <a:r>
              <a:rPr lang="en-GB" sz="2400" dirty="0" err="1" smtClean="0">
                <a:latin typeface="SolaimanLipi" panose="03000609000000000000" pitchFamily="65" charset="0"/>
                <a:cs typeface="SolaimanLipi" panose="03000609000000000000" pitchFamily="65" charset="0"/>
              </a:rPr>
              <a:t>মূলত</a:t>
            </a:r>
            <a:r>
              <a:rPr lang="en-GB" sz="2400" dirty="0" smtClean="0">
                <a:latin typeface="SolaimanLipi" panose="03000609000000000000" pitchFamily="65" charset="0"/>
                <a:cs typeface="SolaimanLipi" panose="03000609000000000000" pitchFamily="65" charset="0"/>
              </a:rPr>
              <a:t> </a:t>
            </a:r>
            <a:r>
              <a:rPr lang="en-GB" sz="2400" dirty="0" err="1" smtClean="0">
                <a:latin typeface="SolaimanLipi" panose="03000609000000000000" pitchFamily="65" charset="0"/>
                <a:cs typeface="SolaimanLipi" panose="03000609000000000000" pitchFamily="65" charset="0"/>
              </a:rPr>
              <a:t>স্বাস্থ্য</a:t>
            </a:r>
            <a:r>
              <a:rPr lang="en-GB" sz="2400" dirty="0" smtClean="0">
                <a:latin typeface="SolaimanLipi" panose="03000609000000000000" pitchFamily="65" charset="0"/>
                <a:cs typeface="SolaimanLipi" panose="03000609000000000000" pitchFamily="65" charset="0"/>
              </a:rPr>
              <a:t> </a:t>
            </a:r>
            <a:r>
              <a:rPr lang="en-GB" sz="2400" dirty="0" err="1" smtClean="0">
                <a:latin typeface="SolaimanLipi" panose="03000609000000000000" pitchFamily="65" charset="0"/>
                <a:cs typeface="SolaimanLipi" panose="03000609000000000000" pitchFamily="65" charset="0"/>
              </a:rPr>
              <a:t>সেবার</a:t>
            </a:r>
            <a:r>
              <a:rPr lang="en-GB" sz="2400" dirty="0" smtClean="0">
                <a:latin typeface="SolaimanLipi" panose="03000609000000000000" pitchFamily="65" charset="0"/>
                <a:cs typeface="SolaimanLipi" panose="03000609000000000000" pitchFamily="65" charset="0"/>
              </a:rPr>
              <a:t> </a:t>
            </a:r>
            <a:r>
              <a:rPr lang="en-GB" sz="2400" dirty="0" err="1" smtClean="0">
                <a:latin typeface="SolaimanLipi" panose="03000609000000000000" pitchFamily="65" charset="0"/>
                <a:cs typeface="SolaimanLipi" panose="03000609000000000000" pitchFamily="65" charset="0"/>
              </a:rPr>
              <a:t>ক্ষেত্রে</a:t>
            </a:r>
            <a:r>
              <a:rPr lang="as-IN" sz="2400" dirty="0" smtClean="0">
                <a:latin typeface="SolaimanLipi" panose="03000609000000000000" pitchFamily="65" charset="0"/>
                <a:cs typeface="SolaimanLipi" panose="03000609000000000000" pitchFamily="65" charset="0"/>
              </a:rPr>
              <a:t> বর্জ্য অপসারণ</a:t>
            </a:r>
            <a:r>
              <a:rPr lang="en-GB" sz="2400" dirty="0" smtClean="0">
                <a:latin typeface="SolaimanLipi" panose="03000609000000000000" pitchFamily="65" charset="0"/>
                <a:cs typeface="SolaimanLipi" panose="03000609000000000000" pitchFamily="65" charset="0"/>
              </a:rPr>
              <a:t>, </a:t>
            </a:r>
            <a:r>
              <a:rPr lang="en-GB" sz="2400" dirty="0" err="1" smtClean="0">
                <a:latin typeface="SolaimanLipi" panose="03000609000000000000" pitchFamily="65" charset="0"/>
                <a:cs typeface="SolaimanLipi" panose="03000609000000000000" pitchFamily="65" charset="0"/>
              </a:rPr>
              <a:t>নিরাপদ</a:t>
            </a:r>
            <a:r>
              <a:rPr lang="en-GB" sz="2400" dirty="0" smtClean="0">
                <a:latin typeface="SolaimanLipi" panose="03000609000000000000" pitchFamily="65" charset="0"/>
                <a:cs typeface="SolaimanLipi" panose="03000609000000000000" pitchFamily="65" charset="0"/>
              </a:rPr>
              <a:t> </a:t>
            </a:r>
            <a:r>
              <a:rPr lang="en-GB" sz="2400" dirty="0" err="1" smtClean="0">
                <a:latin typeface="SolaimanLipi" panose="03000609000000000000" pitchFamily="65" charset="0"/>
                <a:cs typeface="SolaimanLipi" panose="03000609000000000000" pitchFamily="65" charset="0"/>
              </a:rPr>
              <a:t>পানি</a:t>
            </a:r>
            <a:r>
              <a:rPr lang="as-IN" sz="2400" dirty="0" smtClean="0">
                <a:latin typeface="SolaimanLipi" panose="03000609000000000000" pitchFamily="65" charset="0"/>
                <a:cs typeface="SolaimanLipi" panose="03000609000000000000" pitchFamily="65" charset="0"/>
              </a:rPr>
              <a:t> সরবরাহ, স্যানিটেশন</a:t>
            </a:r>
            <a:r>
              <a:rPr lang="en-GB" sz="2400" dirty="0" smtClean="0">
                <a:latin typeface="SolaimanLipi" panose="03000609000000000000" pitchFamily="65" charset="0"/>
                <a:cs typeface="SolaimanLipi" panose="03000609000000000000" pitchFamily="65" charset="0"/>
              </a:rPr>
              <a:t> ও </a:t>
            </a:r>
            <a:r>
              <a:rPr lang="en-GB" sz="2400" dirty="0" err="1" smtClean="0">
                <a:latin typeface="SolaimanLipi" panose="03000609000000000000" pitchFamily="65" charset="0"/>
                <a:cs typeface="SolaimanLipi" panose="03000609000000000000" pitchFamily="65" charset="0"/>
              </a:rPr>
              <a:t>মশা</a:t>
            </a:r>
            <a:r>
              <a:rPr lang="as-IN" sz="2400" dirty="0" smtClean="0">
                <a:latin typeface="SolaimanLipi" panose="03000609000000000000" pitchFamily="65" charset="0"/>
                <a:cs typeface="SolaimanLipi" panose="03000609000000000000" pitchFamily="65" charset="0"/>
              </a:rPr>
              <a:t> নিয়ন্ত্রণের জন্য কাজ </a:t>
            </a:r>
            <a:r>
              <a:rPr lang="en-GB" sz="2400" dirty="0" err="1" smtClean="0">
                <a:latin typeface="SolaimanLipi" panose="03000609000000000000" pitchFamily="65" charset="0"/>
                <a:cs typeface="SolaimanLipi" panose="03000609000000000000" pitchFamily="65" charset="0"/>
              </a:rPr>
              <a:t>রেখে</a:t>
            </a:r>
            <a:r>
              <a:rPr lang="en-GB" sz="2400" dirty="0" smtClean="0">
                <a:latin typeface="SolaimanLipi" panose="03000609000000000000" pitchFamily="65" charset="0"/>
                <a:cs typeface="SolaimanLipi" panose="03000609000000000000" pitchFamily="65" charset="0"/>
              </a:rPr>
              <a:t> </a:t>
            </a:r>
            <a:r>
              <a:rPr lang="en-GB" sz="2400" dirty="0" err="1" smtClean="0">
                <a:latin typeface="SolaimanLipi" panose="03000609000000000000" pitchFamily="65" charset="0"/>
                <a:cs typeface="SolaimanLipi" panose="03000609000000000000" pitchFamily="65" charset="0"/>
              </a:rPr>
              <a:t>অন্যান্য</a:t>
            </a:r>
            <a:r>
              <a:rPr lang="en-GB" sz="2400" dirty="0" smtClean="0">
                <a:latin typeface="SolaimanLipi" panose="03000609000000000000" pitchFamily="65" charset="0"/>
                <a:cs typeface="SolaimanLipi" panose="03000609000000000000" pitchFamily="65" charset="0"/>
              </a:rPr>
              <a:t> </a:t>
            </a:r>
            <a:r>
              <a:rPr lang="en-GB" sz="2400" dirty="0" err="1" smtClean="0">
                <a:latin typeface="SolaimanLipi" panose="03000609000000000000" pitchFamily="65" charset="0"/>
                <a:cs typeface="SolaimanLipi" panose="03000609000000000000" pitchFamily="65" charset="0"/>
              </a:rPr>
              <a:t>স্বাস্থ্য</a:t>
            </a:r>
            <a:r>
              <a:rPr lang="en-GB" sz="2400" dirty="0" smtClean="0">
                <a:latin typeface="SolaimanLipi" panose="03000609000000000000" pitchFamily="65" charset="0"/>
                <a:cs typeface="SolaimanLipi" panose="03000609000000000000" pitchFamily="65" charset="0"/>
              </a:rPr>
              <a:t> </a:t>
            </a:r>
            <a:r>
              <a:rPr lang="en-GB" sz="2400" dirty="0" err="1" smtClean="0">
                <a:latin typeface="SolaimanLipi" panose="03000609000000000000" pitchFamily="65" charset="0"/>
                <a:cs typeface="SolaimanLipi" panose="03000609000000000000" pitchFamily="65" charset="0"/>
              </a:rPr>
              <a:t>সেবা</a:t>
            </a:r>
            <a:r>
              <a:rPr lang="en-GB" sz="2400" dirty="0" smtClean="0">
                <a:latin typeface="SolaimanLipi" panose="03000609000000000000" pitchFamily="65" charset="0"/>
                <a:cs typeface="SolaimanLipi" panose="03000609000000000000" pitchFamily="65" charset="0"/>
              </a:rPr>
              <a:t> </a:t>
            </a:r>
            <a:r>
              <a:rPr lang="en-GB" sz="2400" dirty="0" err="1" smtClean="0">
                <a:latin typeface="SolaimanLipi" panose="03000609000000000000" pitchFamily="65" charset="0"/>
                <a:cs typeface="SolaimanLipi" panose="03000609000000000000" pitchFamily="65" charset="0"/>
              </a:rPr>
              <a:t>গুলো</a:t>
            </a:r>
            <a:r>
              <a:rPr lang="en-GB" sz="2400" dirty="0" smtClean="0">
                <a:latin typeface="SolaimanLipi" panose="03000609000000000000" pitchFamily="65" charset="0"/>
                <a:cs typeface="SolaimanLipi" panose="03000609000000000000" pitchFamily="65" charset="0"/>
              </a:rPr>
              <a:t> </a:t>
            </a:r>
            <a:r>
              <a:rPr lang="en-US" sz="2400" dirty="0" smtClean="0">
                <a:latin typeface="SolaimanLipi" panose="03000609000000000000" pitchFamily="65" charset="0"/>
                <a:cs typeface="SolaimanLipi" panose="03000609000000000000" pitchFamily="65" charset="0"/>
              </a:rPr>
              <a:t> </a:t>
            </a:r>
            <a:r>
              <a:rPr lang="en-US" sz="2400" dirty="0" err="1" smtClean="0">
                <a:latin typeface="SolaimanLipi" panose="03000609000000000000" pitchFamily="65" charset="0"/>
                <a:cs typeface="SolaimanLipi" panose="03000609000000000000" pitchFamily="65" charset="0"/>
              </a:rPr>
              <a:t>শিক্ষা</a:t>
            </a:r>
            <a:r>
              <a:rPr lang="en-US" sz="2400" dirty="0" smtClean="0">
                <a:latin typeface="SolaimanLipi" panose="03000609000000000000" pitchFamily="65" charset="0"/>
                <a:cs typeface="SolaimanLipi" panose="03000609000000000000" pitchFamily="65" charset="0"/>
              </a:rPr>
              <a:t> </a:t>
            </a:r>
            <a:r>
              <a:rPr lang="en-US" sz="2400" dirty="0" err="1" smtClean="0">
                <a:latin typeface="SolaimanLipi" panose="03000609000000000000" pitchFamily="65" charset="0"/>
                <a:cs typeface="SolaimanLipi" panose="03000609000000000000" pitchFamily="65" charset="0"/>
              </a:rPr>
              <a:t>বিভাগের</a:t>
            </a:r>
            <a:r>
              <a:rPr lang="en-US" sz="2400" dirty="0" smtClean="0">
                <a:latin typeface="SolaimanLipi" panose="03000609000000000000" pitchFamily="65" charset="0"/>
                <a:cs typeface="SolaimanLipi" panose="03000609000000000000" pitchFamily="65" charset="0"/>
              </a:rPr>
              <a:t> </a:t>
            </a:r>
            <a:r>
              <a:rPr lang="en-US" sz="2400" dirty="0" err="1" smtClean="0">
                <a:latin typeface="SolaimanLipi" panose="03000609000000000000" pitchFamily="65" charset="0"/>
                <a:cs typeface="SolaimanLipi" panose="03000609000000000000" pitchFamily="65" charset="0"/>
              </a:rPr>
              <a:t>ন্যায়</a:t>
            </a:r>
            <a:r>
              <a:rPr lang="en-US" sz="2400" dirty="0" smtClean="0">
                <a:latin typeface="SolaimanLipi" panose="03000609000000000000" pitchFamily="65" charset="0"/>
                <a:cs typeface="SolaimanLipi" panose="03000609000000000000" pitchFamily="65" charset="0"/>
              </a:rPr>
              <a:t> </a:t>
            </a:r>
            <a:r>
              <a:rPr lang="en-US" sz="2400" dirty="0" err="1" smtClean="0">
                <a:latin typeface="SolaimanLipi" panose="03000609000000000000" pitchFamily="65" charset="0"/>
                <a:cs typeface="SolaimanLipi" panose="03000609000000000000" pitchFamily="65" charset="0"/>
              </a:rPr>
              <a:t>সরাসরি</a:t>
            </a:r>
            <a:r>
              <a:rPr lang="en-US" sz="2400" dirty="0" smtClean="0">
                <a:latin typeface="SolaimanLipi" panose="03000609000000000000" pitchFamily="65" charset="0"/>
                <a:cs typeface="SolaimanLipi" panose="03000609000000000000" pitchFamily="65" charset="0"/>
              </a:rPr>
              <a:t> </a:t>
            </a:r>
            <a:r>
              <a:rPr lang="en-US" sz="2400" dirty="0" err="1" smtClean="0">
                <a:latin typeface="SolaimanLipi" panose="03000609000000000000" pitchFamily="65" charset="0"/>
                <a:cs typeface="SolaimanLipi" panose="03000609000000000000" pitchFamily="65" charset="0"/>
              </a:rPr>
              <a:t>সরকারেরে</a:t>
            </a:r>
            <a:r>
              <a:rPr lang="en-US" sz="2400" dirty="0" smtClean="0">
                <a:latin typeface="SolaimanLipi" panose="03000609000000000000" pitchFamily="65" charset="0"/>
                <a:cs typeface="SolaimanLipi" panose="03000609000000000000" pitchFamily="65" charset="0"/>
              </a:rPr>
              <a:t> </a:t>
            </a:r>
            <a:r>
              <a:rPr lang="en-US" sz="2400" dirty="0" err="1" smtClean="0">
                <a:latin typeface="SolaimanLipi" panose="03000609000000000000" pitchFamily="65" charset="0"/>
                <a:cs typeface="SolaimanLipi" panose="03000609000000000000" pitchFamily="65" charset="0"/>
              </a:rPr>
              <a:t>অধীনে</a:t>
            </a:r>
            <a:r>
              <a:rPr lang="en-US" sz="2400" dirty="0" smtClean="0">
                <a:latin typeface="SolaimanLipi" panose="03000609000000000000" pitchFamily="65" charset="0"/>
                <a:cs typeface="SolaimanLipi" panose="03000609000000000000" pitchFamily="65" charset="0"/>
              </a:rPr>
              <a:t> </a:t>
            </a:r>
            <a:r>
              <a:rPr lang="en-US" sz="2400" dirty="0" err="1" smtClean="0">
                <a:latin typeface="SolaimanLipi" panose="03000609000000000000" pitchFamily="65" charset="0"/>
                <a:cs typeface="SolaimanLipi" panose="03000609000000000000" pitchFamily="65" charset="0"/>
              </a:rPr>
              <a:t>আনতে</a:t>
            </a:r>
            <a:r>
              <a:rPr lang="en-US" sz="2400" dirty="0" smtClean="0">
                <a:latin typeface="SolaimanLipi" panose="03000609000000000000" pitchFamily="65" charset="0"/>
                <a:cs typeface="SolaimanLipi" panose="03000609000000000000" pitchFamily="65" charset="0"/>
              </a:rPr>
              <a:t> </a:t>
            </a:r>
            <a:r>
              <a:rPr lang="en-US" sz="2400" dirty="0" err="1" smtClean="0">
                <a:latin typeface="SolaimanLipi" panose="03000609000000000000" pitchFamily="65" charset="0"/>
                <a:cs typeface="SolaimanLipi" panose="03000609000000000000" pitchFamily="65" charset="0"/>
              </a:rPr>
              <a:t>হবে</a:t>
            </a:r>
            <a:r>
              <a:rPr lang="en-US" sz="2400" dirty="0" smtClean="0">
                <a:latin typeface="SolaimanLipi" panose="03000609000000000000" pitchFamily="65" charset="0"/>
                <a:cs typeface="SolaimanLipi" panose="03000609000000000000" pitchFamily="65" charset="0"/>
              </a:rPr>
              <a:t>।</a:t>
            </a:r>
          </a:p>
          <a:p>
            <a:pPr algn="just">
              <a:buFont typeface="Wingdings" pitchFamily="2" charset="2"/>
              <a:buChar char="Ø"/>
            </a:pPr>
            <a:r>
              <a:rPr lang="as-IN" sz="2500" dirty="0" smtClean="0">
                <a:latin typeface="SolaimanLipi" panose="03000609000000000000" pitchFamily="65" charset="0"/>
                <a:cs typeface="SolaimanLipi" panose="03000609000000000000" pitchFamily="65" charset="0"/>
              </a:rPr>
              <a:t>জেলা </a:t>
            </a:r>
            <a:r>
              <a:rPr lang="as-IN" sz="2500" dirty="0">
                <a:latin typeface="SolaimanLipi" panose="03000609000000000000" pitchFamily="65" charset="0"/>
                <a:cs typeface="SolaimanLipi" panose="03000609000000000000" pitchFamily="65" charset="0"/>
              </a:rPr>
              <a:t>পর্যায়ের হাসপাতাল (২৫০ বা ৫০০ শয্যাবিশিষ্ট): এটি হবে সেকেন্ডারি রেফারেল সেন্টার। </a:t>
            </a:r>
            <a:r>
              <a:rPr lang="as-IN" sz="2500" dirty="0" smtClean="0">
                <a:latin typeface="SolaimanLipi" panose="03000609000000000000" pitchFamily="65" charset="0"/>
                <a:cs typeface="SolaimanLipi" panose="03000609000000000000" pitchFamily="65" charset="0"/>
              </a:rPr>
              <a:t>রেফারে</a:t>
            </a:r>
            <a:r>
              <a:rPr lang="en-GB" sz="2500" dirty="0" smtClean="0">
                <a:latin typeface="SolaimanLipi" panose="03000609000000000000" pitchFamily="65" charset="0"/>
                <a:cs typeface="SolaimanLipi" panose="03000609000000000000" pitchFamily="65" charset="0"/>
              </a:rPr>
              <a:t>ল</a:t>
            </a:r>
            <a:r>
              <a:rPr lang="as-IN" sz="2500" dirty="0" smtClean="0">
                <a:latin typeface="SolaimanLipi" panose="03000609000000000000" pitchFamily="65" charset="0"/>
                <a:cs typeface="SolaimanLipi" panose="03000609000000000000" pitchFamily="65" charset="0"/>
              </a:rPr>
              <a:t> </a:t>
            </a:r>
            <a:r>
              <a:rPr lang="as-IN" sz="2500" dirty="0">
                <a:latin typeface="SolaimanLipi" panose="03000609000000000000" pitchFamily="65" charset="0"/>
                <a:cs typeface="SolaimanLipi" panose="03000609000000000000" pitchFamily="65" charset="0"/>
              </a:rPr>
              <a:t>ছাড়া কোনো রোগীর সেখানে আসা উচিত নয়। জেলা সদরে সদর উপজেলা এবং পৌরসভা উভয়ের জন্য অন্যান্য ইউএইচসির মতো একটি সম্পূর্ণ ১০০ শয্যাবিশিষ্ট স্বাস্থ্য কমপ্লেক্স থাকতে হবে। প্রতি ৪০ হাজার জনসংখ্যার জন্য পৌরসভায় স্বাস্থ্য মন্ত্রণালয়ের অধীনে একটি </a:t>
            </a:r>
            <a:r>
              <a:rPr lang="en-US" sz="2500" dirty="0">
                <a:latin typeface="SolaimanLipi" panose="03000609000000000000" pitchFamily="65" charset="0"/>
                <a:cs typeface="SolaimanLipi" panose="03000609000000000000" pitchFamily="65" charset="0"/>
              </a:rPr>
              <a:t>H &amp; FWC </a:t>
            </a:r>
            <a:r>
              <a:rPr lang="as-IN" sz="2500" dirty="0">
                <a:latin typeface="SolaimanLipi" panose="03000609000000000000" pitchFamily="65" charset="0"/>
                <a:cs typeface="SolaimanLipi" panose="03000609000000000000" pitchFamily="65" charset="0"/>
              </a:rPr>
              <a:t>থাকা উচিত।</a:t>
            </a:r>
            <a:endParaRPr lang="en-GB" sz="2500" dirty="0" smtClean="0">
              <a:latin typeface="SolaimanLipi" panose="03000609000000000000" pitchFamily="65" charset="0"/>
              <a:cs typeface="SolaimanLipi" panose="03000609000000000000" pitchFamily="65" charset="0"/>
            </a:endParaRPr>
          </a:p>
        </p:txBody>
      </p:sp>
    </p:spTree>
    <p:extLst>
      <p:ext uri="{BB962C8B-B14F-4D97-AF65-F5344CB8AC3E}">
        <p14:creationId xmlns:p14="http://schemas.microsoft.com/office/powerpoint/2010/main" val="15421208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s-IN" dirty="0">
                <a:latin typeface="SolaimanLipi" panose="03000609000000000000" pitchFamily="65" charset="0"/>
                <a:cs typeface="SolaimanLipi" panose="03000609000000000000" pitchFamily="65" charset="0"/>
              </a:rPr>
              <a:t>সংস্কারকৃত রেফারেল </a:t>
            </a:r>
            <a:r>
              <a:rPr lang="as-IN" dirty="0" smtClean="0">
                <a:latin typeface="SolaimanLipi" panose="03000609000000000000" pitchFamily="65" charset="0"/>
                <a:cs typeface="SolaimanLipi" panose="03000609000000000000" pitchFamily="65" charset="0"/>
              </a:rPr>
              <a:t>পদ্ধতি -</a:t>
            </a:r>
            <a:r>
              <a:rPr lang="en-US" dirty="0">
                <a:latin typeface="SolaimanLipi" panose="03000609000000000000" pitchFamily="65" charset="0"/>
                <a:cs typeface="SolaimanLipi" panose="03000609000000000000" pitchFamily="65" charset="0"/>
              </a:rPr>
              <a:t> </a:t>
            </a:r>
            <a:r>
              <a:rPr lang="en-US" dirty="0" smtClean="0">
                <a:latin typeface="SolaimanLipi" panose="03000609000000000000" pitchFamily="65" charset="0"/>
                <a:cs typeface="SolaimanLipi" panose="03000609000000000000" pitchFamily="65" charset="0"/>
              </a:rPr>
              <a:t>১</a:t>
            </a:r>
            <a:endParaRPr lang="en-GB" dirty="0">
              <a:latin typeface="SolaimanLipi" panose="03000609000000000000" pitchFamily="65" charset="0"/>
              <a:cs typeface="SolaimanLipi" panose="03000609000000000000" pitchFamily="65" charset="0"/>
            </a:endParaRPr>
          </a:p>
        </p:txBody>
      </p:sp>
      <p:sp>
        <p:nvSpPr>
          <p:cNvPr id="3" name="Content Placeholder 2"/>
          <p:cNvSpPr>
            <a:spLocks noGrp="1"/>
          </p:cNvSpPr>
          <p:nvPr>
            <p:ph idx="1"/>
          </p:nvPr>
        </p:nvSpPr>
        <p:spPr>
          <a:xfrm>
            <a:off x="342900" y="1752600"/>
            <a:ext cx="8458199" cy="3840163"/>
          </a:xfrm>
        </p:spPr>
        <p:txBody>
          <a:bodyPr>
            <a:noAutofit/>
          </a:bodyPr>
          <a:lstStyle/>
          <a:p>
            <a:pPr algn="just"/>
            <a:r>
              <a:rPr lang="as-IN" sz="2500" dirty="0">
                <a:latin typeface="SolaimanLipi" panose="03000609000000000000" pitchFamily="65" charset="0"/>
                <a:cs typeface="SolaimanLipi" panose="03000609000000000000" pitchFamily="65" charset="0"/>
              </a:rPr>
              <a:t>যদি প্রতিদিন </a:t>
            </a:r>
            <a:r>
              <a:rPr lang="as-IN" sz="2500" dirty="0" smtClean="0">
                <a:latin typeface="SolaimanLipi" panose="03000609000000000000" pitchFamily="65" charset="0"/>
                <a:cs typeface="SolaimanLipi" panose="03000609000000000000" pitchFamily="65" charset="0"/>
              </a:rPr>
              <a:t>একটি </a:t>
            </a:r>
            <a:r>
              <a:rPr lang="as-IN" sz="2500" dirty="0">
                <a:latin typeface="SolaimanLipi" panose="03000609000000000000" pitchFamily="65" charset="0"/>
                <a:cs typeface="SolaimanLipi" panose="03000609000000000000" pitchFamily="65" charset="0"/>
              </a:rPr>
              <a:t>কমিউনিটি ক্লিনিকে </a:t>
            </a:r>
            <a:r>
              <a:rPr lang="as-IN" sz="2500" dirty="0" smtClean="0">
                <a:latin typeface="SolaimanLipi" panose="03000609000000000000" pitchFamily="65" charset="0"/>
                <a:cs typeface="SolaimanLipi" panose="03000609000000000000" pitchFamily="65" charset="0"/>
              </a:rPr>
              <a:t>আ</a:t>
            </a:r>
            <a:r>
              <a:rPr lang="en-GB" sz="2500" dirty="0" err="1" smtClean="0">
                <a:latin typeface="SolaimanLipi" panose="03000609000000000000" pitchFamily="65" charset="0"/>
                <a:cs typeface="SolaimanLipi" panose="03000609000000000000" pitchFamily="65" charset="0"/>
              </a:rPr>
              <a:t>গত</a:t>
            </a:r>
            <a:r>
              <a:rPr lang="as-IN" sz="2500" dirty="0" smtClean="0">
                <a:latin typeface="SolaimanLipi" panose="03000609000000000000" pitchFamily="65" charset="0"/>
                <a:cs typeface="SolaimanLipi" panose="03000609000000000000" pitchFamily="65" charset="0"/>
              </a:rPr>
              <a:t>, </a:t>
            </a:r>
            <a:r>
              <a:rPr lang="en-US" sz="2500" dirty="0" smtClean="0">
                <a:latin typeface="SolaimanLipi" panose="03000609000000000000" pitchFamily="65" charset="0"/>
                <a:cs typeface="SolaimanLipi" panose="03000609000000000000" pitchFamily="65" charset="0"/>
              </a:rPr>
              <a:t>১০</a:t>
            </a:r>
            <a:r>
              <a:rPr lang="as-IN" sz="2500" dirty="0" smtClean="0">
                <a:latin typeface="SolaimanLipi" panose="03000609000000000000" pitchFamily="65" charset="0"/>
                <a:cs typeface="SolaimanLipi" panose="03000609000000000000" pitchFamily="65" charset="0"/>
              </a:rPr>
              <a:t>% </a:t>
            </a:r>
            <a:r>
              <a:rPr lang="as-IN" sz="2500" dirty="0">
                <a:latin typeface="SolaimanLipi" panose="03000609000000000000" pitchFamily="65" charset="0"/>
                <a:cs typeface="SolaimanLipi" panose="03000609000000000000" pitchFamily="65" charset="0"/>
              </a:rPr>
              <a:t>রোগীকে ইউনিয়ন </a:t>
            </a:r>
            <a:r>
              <a:rPr lang="en-GB" sz="2500" dirty="0">
                <a:latin typeface="SolaimanLipi" panose="03000609000000000000" pitchFamily="65" charset="0"/>
                <a:cs typeface="SolaimanLipi" panose="03000609000000000000" pitchFamily="65" charset="0"/>
              </a:rPr>
              <a:t>H &amp; FWC/RD </a:t>
            </a:r>
            <a:r>
              <a:rPr lang="as-IN" sz="2500" dirty="0">
                <a:latin typeface="SolaimanLipi" panose="03000609000000000000" pitchFamily="65" charset="0"/>
                <a:cs typeface="SolaimanLipi" panose="03000609000000000000" pitchFamily="65" charset="0"/>
              </a:rPr>
              <a:t>তে </a:t>
            </a:r>
            <a:r>
              <a:rPr lang="en-GB" sz="2500" dirty="0" err="1" smtClean="0">
                <a:latin typeface="SolaimanLipi" panose="03000609000000000000" pitchFamily="65" charset="0"/>
                <a:cs typeface="SolaimanLipi" panose="03000609000000000000" pitchFamily="65" charset="0"/>
              </a:rPr>
              <a:t>রেফার</a:t>
            </a:r>
            <a:r>
              <a:rPr lang="en-GB" sz="2500" dirty="0" smtClean="0">
                <a:latin typeface="SolaimanLipi" panose="03000609000000000000" pitchFamily="65" charset="0"/>
                <a:cs typeface="SolaimanLipi" panose="03000609000000000000" pitchFamily="65" charset="0"/>
              </a:rPr>
              <a:t> </a:t>
            </a:r>
            <a:r>
              <a:rPr lang="en-GB" sz="2500" dirty="0" err="1" smtClean="0">
                <a:latin typeface="SolaimanLipi" panose="03000609000000000000" pitchFamily="65" charset="0"/>
                <a:cs typeface="SolaimanLipi" panose="03000609000000000000" pitchFamily="65" charset="0"/>
              </a:rPr>
              <a:t>করা</a:t>
            </a:r>
            <a:r>
              <a:rPr lang="as-IN" sz="2500" dirty="0" smtClean="0">
                <a:latin typeface="SolaimanLipi" panose="03000609000000000000" pitchFamily="65" charset="0"/>
                <a:cs typeface="SolaimanLipi" panose="03000609000000000000" pitchFamily="65" charset="0"/>
              </a:rPr>
              <a:t> হবে</a:t>
            </a:r>
            <a:r>
              <a:rPr lang="en-GB" sz="2500" dirty="0" smtClean="0">
                <a:latin typeface="SolaimanLipi" panose="03000609000000000000" pitchFamily="65" charset="0"/>
                <a:cs typeface="SolaimanLipi" panose="03000609000000000000" pitchFamily="65" charset="0"/>
              </a:rPr>
              <a:t>। </a:t>
            </a:r>
            <a:r>
              <a:rPr lang="en-GB" sz="2500" dirty="0" err="1" smtClean="0">
                <a:latin typeface="SolaimanLipi" panose="03000609000000000000" pitchFamily="65" charset="0"/>
                <a:cs typeface="SolaimanLipi" panose="03000609000000000000" pitchFamily="65" charset="0"/>
              </a:rPr>
              <a:t>সেখানে</a:t>
            </a:r>
            <a:r>
              <a:rPr lang="en-GB" sz="2500" dirty="0" smtClean="0">
                <a:latin typeface="SolaimanLipi" panose="03000609000000000000" pitchFamily="65" charset="0"/>
                <a:cs typeface="SolaimanLipi" panose="03000609000000000000" pitchFamily="65" charset="0"/>
              </a:rPr>
              <a:t> </a:t>
            </a:r>
            <a:r>
              <a:rPr lang="en-GB" sz="2500" dirty="0" err="1" smtClean="0">
                <a:latin typeface="SolaimanLipi" panose="03000609000000000000" pitchFamily="65" charset="0"/>
                <a:cs typeface="SolaimanLipi" panose="03000609000000000000" pitchFamily="65" charset="0"/>
              </a:rPr>
              <a:t>মেডিকেল</a:t>
            </a:r>
            <a:r>
              <a:rPr lang="en-GB" sz="2500" dirty="0" smtClean="0">
                <a:latin typeface="SolaimanLipi" panose="03000609000000000000" pitchFamily="65" charset="0"/>
                <a:cs typeface="SolaimanLipi" panose="03000609000000000000" pitchFamily="65" charset="0"/>
              </a:rPr>
              <a:t> </a:t>
            </a:r>
            <a:r>
              <a:rPr lang="en-GB" sz="2500" dirty="0" err="1" smtClean="0">
                <a:latin typeface="SolaimanLipi" panose="03000609000000000000" pitchFamily="65" charset="0"/>
                <a:cs typeface="SolaimanLipi" panose="03000609000000000000" pitchFamily="65" charset="0"/>
              </a:rPr>
              <a:t>অফিসার</a:t>
            </a:r>
            <a:r>
              <a:rPr lang="en-GB" sz="2500" dirty="0" smtClean="0">
                <a:latin typeface="SolaimanLipi" panose="03000609000000000000" pitchFamily="65" charset="0"/>
                <a:cs typeface="SolaimanLipi" panose="03000609000000000000" pitchFamily="65" charset="0"/>
              </a:rPr>
              <a:t> </a:t>
            </a:r>
            <a:r>
              <a:rPr lang="as-IN" sz="2500" dirty="0">
                <a:latin typeface="SolaimanLipi" panose="03000609000000000000" pitchFamily="65" charset="0"/>
                <a:cs typeface="SolaimanLipi" panose="03000609000000000000" pitchFamily="65" charset="0"/>
              </a:rPr>
              <a:t>দ্বারা চিকিত্সা করা হবে। </a:t>
            </a:r>
            <a:r>
              <a:rPr lang="as-IN" sz="2500" dirty="0" smtClean="0">
                <a:latin typeface="SolaimanLipi" panose="03000609000000000000" pitchFamily="65" charset="0"/>
                <a:cs typeface="SolaimanLipi" panose="03000609000000000000" pitchFamily="65" charset="0"/>
              </a:rPr>
              <a:t>তারপর</a:t>
            </a:r>
            <a:r>
              <a:rPr lang="en-GB" sz="2500" dirty="0" smtClean="0">
                <a:latin typeface="SolaimanLipi" panose="03000609000000000000" pitchFamily="65" charset="0"/>
                <a:cs typeface="SolaimanLipi" panose="03000609000000000000" pitchFamily="65" charset="0"/>
              </a:rPr>
              <a:t> </a:t>
            </a:r>
            <a:r>
              <a:rPr lang="en-US" sz="2500" dirty="0" smtClean="0">
                <a:latin typeface="SolaimanLipi" panose="03000609000000000000" pitchFamily="65" charset="0"/>
                <a:cs typeface="SolaimanLipi" panose="03000609000000000000" pitchFamily="65" charset="0"/>
              </a:rPr>
              <a:t>১০</a:t>
            </a:r>
            <a:r>
              <a:rPr lang="as-IN" sz="2500" dirty="0" smtClean="0">
                <a:latin typeface="SolaimanLipi" panose="03000609000000000000" pitchFamily="65" charset="0"/>
                <a:cs typeface="SolaimanLipi" panose="03000609000000000000" pitchFamily="65" charset="0"/>
              </a:rPr>
              <a:t>%</a:t>
            </a:r>
            <a:r>
              <a:rPr lang="en-GB" sz="2500" dirty="0" smtClean="0">
                <a:latin typeface="SolaimanLipi" panose="03000609000000000000" pitchFamily="65" charset="0"/>
                <a:cs typeface="SolaimanLipi" panose="03000609000000000000" pitchFamily="65" charset="0"/>
              </a:rPr>
              <a:t> </a:t>
            </a:r>
            <a:r>
              <a:rPr lang="as-IN" sz="2500" dirty="0" smtClean="0">
                <a:latin typeface="SolaimanLipi" panose="03000609000000000000" pitchFamily="65" charset="0"/>
                <a:cs typeface="SolaimanLipi" panose="03000609000000000000" pitchFamily="65" charset="0"/>
              </a:rPr>
              <a:t>রোগীদের </a:t>
            </a:r>
            <a:r>
              <a:rPr lang="en-GB" sz="2500" dirty="0" err="1" smtClean="0">
                <a:latin typeface="SolaimanLipi" panose="03000609000000000000" pitchFamily="65" charset="0"/>
                <a:cs typeface="SolaimanLipi" panose="03000609000000000000" pitchFamily="65" charset="0"/>
              </a:rPr>
              <a:t>উপজেলা</a:t>
            </a:r>
            <a:r>
              <a:rPr lang="en-GB" sz="2500" dirty="0" smtClean="0">
                <a:latin typeface="SolaimanLipi" panose="03000609000000000000" pitchFamily="65" charset="0"/>
                <a:cs typeface="SolaimanLipi" panose="03000609000000000000" pitchFamily="65" charset="0"/>
              </a:rPr>
              <a:t> </a:t>
            </a:r>
            <a:r>
              <a:rPr lang="en-GB" sz="2500" dirty="0" err="1" smtClean="0">
                <a:latin typeface="SolaimanLipi" panose="03000609000000000000" pitchFamily="65" charset="0"/>
                <a:cs typeface="SolaimanLipi" panose="03000609000000000000" pitchFamily="65" charset="0"/>
              </a:rPr>
              <a:t>স্বাস্থ্য</a:t>
            </a:r>
            <a:r>
              <a:rPr lang="en-GB" sz="2500" dirty="0" smtClean="0">
                <a:latin typeface="SolaimanLipi" panose="03000609000000000000" pitchFamily="65" charset="0"/>
                <a:cs typeface="SolaimanLipi" panose="03000609000000000000" pitchFamily="65" charset="0"/>
              </a:rPr>
              <a:t> </a:t>
            </a:r>
            <a:r>
              <a:rPr lang="en-GB" sz="2500" dirty="0" err="1" smtClean="0">
                <a:latin typeface="SolaimanLipi" panose="03000609000000000000" pitchFamily="65" charset="0"/>
                <a:cs typeface="SolaimanLipi" panose="03000609000000000000" pitchFamily="65" charset="0"/>
              </a:rPr>
              <a:t>কমপ্লেক্সে</a:t>
            </a:r>
            <a:r>
              <a:rPr lang="as-IN" sz="2500" dirty="0" smtClean="0">
                <a:latin typeface="SolaimanLipi" panose="03000609000000000000" pitchFamily="65" charset="0"/>
                <a:cs typeface="SolaimanLipi" panose="03000609000000000000" pitchFamily="65" charset="0"/>
              </a:rPr>
              <a:t> </a:t>
            </a:r>
            <a:r>
              <a:rPr lang="as-IN" sz="2500" dirty="0">
                <a:latin typeface="SolaimanLipi" panose="03000609000000000000" pitchFamily="65" charset="0"/>
                <a:cs typeface="SolaimanLipi" panose="03000609000000000000" pitchFamily="65" charset="0"/>
              </a:rPr>
              <a:t>রেফার করা হবে। </a:t>
            </a:r>
            <a:r>
              <a:rPr lang="en-GB" sz="2500" dirty="0" err="1" smtClean="0">
                <a:latin typeface="SolaimanLipi" panose="03000609000000000000" pitchFamily="65" charset="0"/>
                <a:cs typeface="SolaimanLipi" panose="03000609000000000000" pitchFamily="65" charset="0"/>
              </a:rPr>
              <a:t>সেখান</a:t>
            </a:r>
            <a:r>
              <a:rPr lang="en-GB" sz="2500" dirty="0" smtClean="0">
                <a:latin typeface="SolaimanLipi" panose="03000609000000000000" pitchFamily="65" charset="0"/>
                <a:cs typeface="SolaimanLipi" panose="03000609000000000000" pitchFamily="65" charset="0"/>
              </a:rPr>
              <a:t> </a:t>
            </a:r>
            <a:r>
              <a:rPr lang="en-GB" sz="2500" dirty="0" err="1" smtClean="0">
                <a:latin typeface="SolaimanLipi" panose="03000609000000000000" pitchFamily="65" charset="0"/>
                <a:cs typeface="SolaimanLipi" panose="03000609000000000000" pitchFamily="65" charset="0"/>
              </a:rPr>
              <a:t>থেকে</a:t>
            </a:r>
            <a:r>
              <a:rPr lang="en-GB" sz="2500" dirty="0" smtClean="0">
                <a:latin typeface="SolaimanLipi" panose="03000609000000000000" pitchFamily="65" charset="0"/>
                <a:cs typeface="SolaimanLipi" panose="03000609000000000000" pitchFamily="65" charset="0"/>
              </a:rPr>
              <a:t> ১০% </a:t>
            </a:r>
            <a:r>
              <a:rPr lang="en-GB" sz="2500" dirty="0" err="1" smtClean="0">
                <a:latin typeface="SolaimanLipi" panose="03000609000000000000" pitchFamily="65" charset="0"/>
                <a:cs typeface="SolaimanLipi" panose="03000609000000000000" pitchFamily="65" charset="0"/>
              </a:rPr>
              <a:t>রোগীকে</a:t>
            </a:r>
            <a:r>
              <a:rPr lang="en-GB" sz="2500" dirty="0" smtClean="0">
                <a:latin typeface="SolaimanLipi" panose="03000609000000000000" pitchFamily="65" charset="0"/>
                <a:cs typeface="SolaimanLipi" panose="03000609000000000000" pitchFamily="65" charset="0"/>
              </a:rPr>
              <a:t> </a:t>
            </a:r>
            <a:r>
              <a:rPr lang="en-GB" sz="2500" dirty="0" err="1" smtClean="0">
                <a:latin typeface="SolaimanLipi" panose="03000609000000000000" pitchFamily="65" charset="0"/>
                <a:cs typeface="SolaimanLipi" panose="03000609000000000000" pitchFamily="65" charset="0"/>
              </a:rPr>
              <a:t>জেলা</a:t>
            </a:r>
            <a:r>
              <a:rPr lang="en-GB" sz="2500" dirty="0" smtClean="0">
                <a:latin typeface="SolaimanLipi" panose="03000609000000000000" pitchFamily="65" charset="0"/>
                <a:cs typeface="SolaimanLipi" panose="03000609000000000000" pitchFamily="65" charset="0"/>
              </a:rPr>
              <a:t> </a:t>
            </a:r>
            <a:r>
              <a:rPr lang="en-GB" sz="2500" dirty="0" err="1" smtClean="0">
                <a:latin typeface="SolaimanLipi" panose="03000609000000000000" pitchFamily="65" charset="0"/>
                <a:cs typeface="SolaimanLipi" panose="03000609000000000000" pitchFamily="65" charset="0"/>
              </a:rPr>
              <a:t>হাসপাতালে</a:t>
            </a:r>
            <a:r>
              <a:rPr lang="en-GB" sz="2500" dirty="0" smtClean="0">
                <a:latin typeface="SolaimanLipi" panose="03000609000000000000" pitchFamily="65" charset="0"/>
                <a:cs typeface="SolaimanLipi" panose="03000609000000000000" pitchFamily="65" charset="0"/>
              </a:rPr>
              <a:t> </a:t>
            </a:r>
            <a:r>
              <a:rPr lang="en-GB" sz="2500" dirty="0" err="1" smtClean="0">
                <a:latin typeface="SolaimanLipi" panose="03000609000000000000" pitchFamily="65" charset="0"/>
                <a:cs typeface="SolaimanLipi" panose="03000609000000000000" pitchFamily="65" charset="0"/>
              </a:rPr>
              <a:t>রেফার</a:t>
            </a:r>
            <a:r>
              <a:rPr lang="en-GB" sz="2500" dirty="0" smtClean="0">
                <a:latin typeface="SolaimanLipi" panose="03000609000000000000" pitchFamily="65" charset="0"/>
                <a:cs typeface="SolaimanLipi" panose="03000609000000000000" pitchFamily="65" charset="0"/>
              </a:rPr>
              <a:t> </a:t>
            </a:r>
            <a:r>
              <a:rPr lang="en-GB" sz="2500" dirty="0" err="1" smtClean="0">
                <a:latin typeface="SolaimanLipi" panose="03000609000000000000" pitchFamily="65" charset="0"/>
                <a:cs typeface="SolaimanLipi" panose="03000609000000000000" pitchFamily="65" charset="0"/>
              </a:rPr>
              <a:t>করা</a:t>
            </a:r>
            <a:r>
              <a:rPr lang="en-GB" sz="2500" dirty="0" smtClean="0">
                <a:latin typeface="SolaimanLipi" panose="03000609000000000000" pitchFamily="65" charset="0"/>
                <a:cs typeface="SolaimanLipi" panose="03000609000000000000" pitchFamily="65" charset="0"/>
              </a:rPr>
              <a:t> </a:t>
            </a:r>
            <a:r>
              <a:rPr lang="en-GB" sz="2500" dirty="0" err="1" smtClean="0">
                <a:latin typeface="SolaimanLipi" panose="03000609000000000000" pitchFamily="65" charset="0"/>
                <a:cs typeface="SolaimanLipi" panose="03000609000000000000" pitchFamily="65" charset="0"/>
              </a:rPr>
              <a:t>হবে</a:t>
            </a:r>
            <a:r>
              <a:rPr lang="en-GB" sz="2500" dirty="0" smtClean="0">
                <a:latin typeface="SolaimanLipi" panose="03000609000000000000" pitchFamily="65" charset="0"/>
                <a:cs typeface="SolaimanLipi" panose="03000609000000000000" pitchFamily="65" charset="0"/>
              </a:rPr>
              <a:t>।</a:t>
            </a:r>
            <a:r>
              <a:rPr lang="as-IN" sz="2500" dirty="0" smtClean="0">
                <a:latin typeface="SolaimanLipi" panose="03000609000000000000" pitchFamily="65" charset="0"/>
                <a:cs typeface="SolaimanLipi" panose="03000609000000000000" pitchFamily="65" charset="0"/>
              </a:rPr>
              <a:t> </a:t>
            </a:r>
            <a:r>
              <a:rPr lang="en-GB" sz="2500" dirty="0" err="1" smtClean="0">
                <a:latin typeface="SolaimanLipi" panose="03000609000000000000" pitchFamily="65" charset="0"/>
                <a:cs typeface="SolaimanLipi" panose="03000609000000000000" pitchFamily="65" charset="0"/>
              </a:rPr>
              <a:t>তখন</a:t>
            </a:r>
            <a:r>
              <a:rPr lang="en-GB" sz="2500" dirty="0" smtClean="0">
                <a:latin typeface="SolaimanLipi" panose="03000609000000000000" pitchFamily="65" charset="0"/>
                <a:cs typeface="SolaimanLipi" panose="03000609000000000000" pitchFamily="65" charset="0"/>
              </a:rPr>
              <a:t> </a:t>
            </a:r>
            <a:r>
              <a:rPr lang="en-GB" sz="2500" dirty="0" err="1" smtClean="0">
                <a:latin typeface="SolaimanLipi" panose="03000609000000000000" pitchFamily="65" charset="0"/>
                <a:cs typeface="SolaimanLipi" panose="03000609000000000000" pitchFamily="65" charset="0"/>
              </a:rPr>
              <a:t>দেখা</a:t>
            </a:r>
            <a:r>
              <a:rPr lang="en-GB" sz="2500" dirty="0" smtClean="0">
                <a:latin typeface="SolaimanLipi" panose="03000609000000000000" pitchFamily="65" charset="0"/>
                <a:cs typeface="SolaimanLipi" panose="03000609000000000000" pitchFamily="65" charset="0"/>
              </a:rPr>
              <a:t> </a:t>
            </a:r>
            <a:r>
              <a:rPr lang="en-GB" sz="2500" dirty="0" err="1" smtClean="0">
                <a:latin typeface="SolaimanLipi" panose="03000609000000000000" pitchFamily="65" charset="0"/>
                <a:cs typeface="SolaimanLipi" panose="03000609000000000000" pitchFamily="65" charset="0"/>
              </a:rPr>
              <a:t>যাবে</a:t>
            </a:r>
            <a:r>
              <a:rPr lang="as-IN" sz="2500" dirty="0" smtClean="0">
                <a:latin typeface="SolaimanLipi" panose="03000609000000000000" pitchFamily="65" charset="0"/>
                <a:cs typeface="SolaimanLipi" panose="03000609000000000000" pitchFamily="65" charset="0"/>
              </a:rPr>
              <a:t> </a:t>
            </a:r>
            <a:r>
              <a:rPr lang="as-IN" sz="2500" dirty="0">
                <a:latin typeface="SolaimanLipi" panose="03000609000000000000" pitchFamily="65" charset="0"/>
                <a:cs typeface="SolaimanLipi" panose="03000609000000000000" pitchFamily="65" charset="0"/>
              </a:rPr>
              <a:t>জেলা হাসপাতালের বহির্বিভাগে মোট রোগী </a:t>
            </a:r>
            <a:r>
              <a:rPr lang="en-US" sz="2500" dirty="0" smtClean="0">
                <a:latin typeface="SolaimanLipi" panose="03000609000000000000" pitchFamily="65" charset="0"/>
                <a:cs typeface="SolaimanLipi" panose="03000609000000000000" pitchFamily="65" charset="0"/>
              </a:rPr>
              <a:t>১০০</a:t>
            </a:r>
            <a:r>
              <a:rPr lang="as-IN" sz="2500" dirty="0" smtClean="0">
                <a:latin typeface="SolaimanLipi" panose="03000609000000000000" pitchFamily="65" charset="0"/>
                <a:cs typeface="SolaimanLipi" panose="03000609000000000000" pitchFamily="65" charset="0"/>
              </a:rPr>
              <a:t> </a:t>
            </a:r>
            <a:r>
              <a:rPr lang="en-GB" sz="2500" dirty="0" err="1" smtClean="0">
                <a:latin typeface="SolaimanLipi" panose="03000609000000000000" pitchFamily="65" charset="0"/>
                <a:cs typeface="SolaimanLipi" panose="03000609000000000000" pitchFamily="65" charset="0"/>
              </a:rPr>
              <a:t>জনের</a:t>
            </a:r>
            <a:r>
              <a:rPr lang="as-IN" sz="2500" dirty="0" smtClean="0">
                <a:latin typeface="SolaimanLipi" panose="03000609000000000000" pitchFamily="65" charset="0"/>
                <a:cs typeface="SolaimanLipi" panose="03000609000000000000" pitchFamily="65" charset="0"/>
              </a:rPr>
              <a:t> </a:t>
            </a:r>
            <a:r>
              <a:rPr lang="as-IN" sz="2500" dirty="0">
                <a:latin typeface="SolaimanLipi" panose="03000609000000000000" pitchFamily="65" charset="0"/>
                <a:cs typeface="SolaimanLipi" panose="03000609000000000000" pitchFamily="65" charset="0"/>
              </a:rPr>
              <a:t>বেশি হবে না</a:t>
            </a:r>
            <a:r>
              <a:rPr lang="as-IN" sz="2500" dirty="0" smtClean="0">
                <a:latin typeface="SolaimanLipi" panose="03000609000000000000" pitchFamily="65" charset="0"/>
                <a:cs typeface="SolaimanLipi" panose="03000609000000000000" pitchFamily="65" charset="0"/>
              </a:rPr>
              <a:t>।</a:t>
            </a:r>
            <a:r>
              <a:rPr lang="en-GB" sz="2500" dirty="0" smtClean="0">
                <a:latin typeface="SolaimanLipi" panose="03000609000000000000" pitchFamily="65" charset="0"/>
                <a:cs typeface="SolaimanLipi" panose="03000609000000000000" pitchFamily="65" charset="0"/>
              </a:rPr>
              <a:t> </a:t>
            </a:r>
            <a:r>
              <a:rPr lang="en-GB" sz="2500" dirty="0" err="1" smtClean="0">
                <a:latin typeface="SolaimanLipi" panose="03000609000000000000" pitchFamily="65" charset="0"/>
                <a:cs typeface="SolaimanLipi" panose="03000609000000000000" pitchFamily="65" charset="0"/>
              </a:rPr>
              <a:t>অন্ত:বিভাগে</a:t>
            </a:r>
            <a:r>
              <a:rPr lang="en-GB" sz="2500" dirty="0" smtClean="0">
                <a:latin typeface="SolaimanLipi" panose="03000609000000000000" pitchFamily="65" charset="0"/>
                <a:cs typeface="SolaimanLipi" panose="03000609000000000000" pitchFamily="65" charset="0"/>
              </a:rPr>
              <a:t> </a:t>
            </a:r>
            <a:r>
              <a:rPr lang="en-GB" sz="2500" dirty="0" err="1" smtClean="0">
                <a:latin typeface="SolaimanLipi" panose="03000609000000000000" pitchFamily="65" charset="0"/>
                <a:cs typeface="SolaimanLipi" panose="03000609000000000000" pitchFamily="65" charset="0"/>
              </a:rPr>
              <a:t>ভর্তি</a:t>
            </a:r>
            <a:r>
              <a:rPr lang="en-GB" sz="2500" dirty="0" smtClean="0">
                <a:latin typeface="SolaimanLipi" panose="03000609000000000000" pitchFamily="65" charset="0"/>
                <a:cs typeface="SolaimanLipi" panose="03000609000000000000" pitchFamily="65" charset="0"/>
              </a:rPr>
              <a:t> </a:t>
            </a:r>
            <a:r>
              <a:rPr lang="en-GB" sz="2500" dirty="0" err="1" smtClean="0">
                <a:latin typeface="SolaimanLipi" panose="03000609000000000000" pitchFamily="65" charset="0"/>
                <a:cs typeface="SolaimanLipi" panose="03000609000000000000" pitchFamily="65" charset="0"/>
              </a:rPr>
              <a:t>রোগীর</a:t>
            </a:r>
            <a:r>
              <a:rPr lang="en-GB" sz="2500" dirty="0" smtClean="0">
                <a:latin typeface="SolaimanLipi" panose="03000609000000000000" pitchFamily="65" charset="0"/>
                <a:cs typeface="SolaimanLipi" panose="03000609000000000000" pitchFamily="65" charset="0"/>
              </a:rPr>
              <a:t> </a:t>
            </a:r>
            <a:r>
              <a:rPr lang="en-GB" sz="2500" dirty="0" err="1" smtClean="0">
                <a:latin typeface="SolaimanLipi" panose="03000609000000000000" pitchFamily="65" charset="0"/>
                <a:cs typeface="SolaimanLipi" panose="03000609000000000000" pitchFamily="65" charset="0"/>
              </a:rPr>
              <a:t>শয্যা</a:t>
            </a:r>
            <a:r>
              <a:rPr lang="en-GB" sz="2500" dirty="0" smtClean="0">
                <a:latin typeface="SolaimanLipi" panose="03000609000000000000" pitchFamily="65" charset="0"/>
                <a:cs typeface="SolaimanLipi" panose="03000609000000000000" pitchFamily="65" charset="0"/>
              </a:rPr>
              <a:t> </a:t>
            </a:r>
            <a:r>
              <a:rPr lang="en-GB" sz="2500" dirty="0" err="1" smtClean="0">
                <a:latin typeface="SolaimanLipi" panose="03000609000000000000" pitchFamily="65" charset="0"/>
                <a:cs typeface="SolaimanLipi" panose="03000609000000000000" pitchFamily="65" charset="0"/>
              </a:rPr>
              <a:t>দখলের</a:t>
            </a:r>
            <a:r>
              <a:rPr lang="en-GB" sz="2500" dirty="0" smtClean="0">
                <a:latin typeface="SolaimanLipi" panose="03000609000000000000" pitchFamily="65" charset="0"/>
                <a:cs typeface="SolaimanLipi" panose="03000609000000000000" pitchFamily="65" charset="0"/>
              </a:rPr>
              <a:t> </a:t>
            </a:r>
            <a:r>
              <a:rPr lang="en-GB" sz="2500" dirty="0" err="1" smtClean="0">
                <a:latin typeface="SolaimanLipi" panose="03000609000000000000" pitchFamily="65" charset="0"/>
                <a:cs typeface="SolaimanLipi" panose="03000609000000000000" pitchFamily="65" charset="0"/>
              </a:rPr>
              <a:t>হার</a:t>
            </a:r>
            <a:r>
              <a:rPr lang="en-GB" sz="2500" dirty="0" smtClean="0">
                <a:latin typeface="SolaimanLipi" panose="03000609000000000000" pitchFamily="65" charset="0"/>
                <a:cs typeface="SolaimanLipi" panose="03000609000000000000" pitchFamily="65" charset="0"/>
              </a:rPr>
              <a:t> </a:t>
            </a:r>
            <a:r>
              <a:rPr lang="en-GB" sz="2500" dirty="0" err="1" smtClean="0">
                <a:latin typeface="SolaimanLipi" panose="03000609000000000000" pitchFamily="65" charset="0"/>
                <a:cs typeface="SolaimanLipi" panose="03000609000000000000" pitchFamily="65" charset="0"/>
              </a:rPr>
              <a:t>হবে</a:t>
            </a:r>
            <a:r>
              <a:rPr lang="en-GB" sz="2500" dirty="0" smtClean="0">
                <a:latin typeface="SolaimanLipi" panose="03000609000000000000" pitchFamily="65" charset="0"/>
                <a:cs typeface="SolaimanLipi" panose="03000609000000000000" pitchFamily="65" charset="0"/>
              </a:rPr>
              <a:t> ১০০% </a:t>
            </a:r>
            <a:r>
              <a:rPr lang="en-GB" sz="2500" dirty="0" err="1" smtClean="0">
                <a:latin typeface="SolaimanLipi" panose="03000609000000000000" pitchFamily="65" charset="0"/>
                <a:cs typeface="SolaimanLipi" panose="03000609000000000000" pitchFamily="65" charset="0"/>
              </a:rPr>
              <a:t>এর</a:t>
            </a:r>
            <a:r>
              <a:rPr lang="en-GB" sz="2500" dirty="0" smtClean="0">
                <a:latin typeface="SolaimanLipi" panose="03000609000000000000" pitchFamily="65" charset="0"/>
                <a:cs typeface="SolaimanLipi" panose="03000609000000000000" pitchFamily="65" charset="0"/>
              </a:rPr>
              <a:t> </a:t>
            </a:r>
            <a:r>
              <a:rPr lang="en-GB" sz="2500" dirty="0" err="1" smtClean="0">
                <a:latin typeface="SolaimanLipi" panose="03000609000000000000" pitchFamily="65" charset="0"/>
                <a:cs typeface="SolaimanLipi" panose="03000609000000000000" pitchFamily="65" charset="0"/>
              </a:rPr>
              <a:t>নিচে</a:t>
            </a:r>
            <a:r>
              <a:rPr lang="en-GB" sz="2500" dirty="0" smtClean="0">
                <a:latin typeface="SolaimanLipi" panose="03000609000000000000" pitchFamily="65" charset="0"/>
                <a:cs typeface="SolaimanLipi" panose="03000609000000000000" pitchFamily="65" charset="0"/>
              </a:rPr>
              <a:t>।</a:t>
            </a:r>
            <a:endParaRPr lang="en-GB" sz="2500" dirty="0">
              <a:latin typeface="SolaimanLipi" panose="03000609000000000000" pitchFamily="65" charset="0"/>
              <a:cs typeface="SolaimanLipi" panose="03000609000000000000" pitchFamily="65" charset="0"/>
            </a:endParaRPr>
          </a:p>
        </p:txBody>
      </p:sp>
    </p:spTree>
    <p:extLst>
      <p:ext uri="{BB962C8B-B14F-4D97-AF65-F5344CB8AC3E}">
        <p14:creationId xmlns:p14="http://schemas.microsoft.com/office/powerpoint/2010/main" val="28971450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s-IN" dirty="0">
                <a:latin typeface="SolaimanLipi" panose="03000609000000000000" pitchFamily="65" charset="0"/>
                <a:cs typeface="SolaimanLipi" panose="03000609000000000000" pitchFamily="65" charset="0"/>
              </a:rPr>
              <a:t>সংস্কারকৃত রেফারেল </a:t>
            </a:r>
            <a:r>
              <a:rPr lang="as-IN" dirty="0" smtClean="0">
                <a:latin typeface="SolaimanLipi" panose="03000609000000000000" pitchFamily="65" charset="0"/>
                <a:cs typeface="SolaimanLipi" panose="03000609000000000000" pitchFamily="65" charset="0"/>
              </a:rPr>
              <a:t>পদ্ধতি </a:t>
            </a:r>
            <a:r>
              <a:rPr lang="as-IN" dirty="0">
                <a:latin typeface="SolaimanLipi" panose="03000609000000000000" pitchFamily="65" charset="0"/>
                <a:cs typeface="SolaimanLipi" panose="03000609000000000000" pitchFamily="65" charset="0"/>
              </a:rPr>
              <a:t>-</a:t>
            </a:r>
            <a:r>
              <a:rPr lang="en-US" dirty="0">
                <a:latin typeface="SolaimanLipi" panose="03000609000000000000" pitchFamily="65" charset="0"/>
                <a:cs typeface="SolaimanLipi" panose="03000609000000000000" pitchFamily="65" charset="0"/>
              </a:rPr>
              <a:t> </a:t>
            </a:r>
            <a:r>
              <a:rPr lang="en-US" dirty="0" smtClean="0">
                <a:latin typeface="SolaimanLipi" panose="03000609000000000000" pitchFamily="65" charset="0"/>
                <a:cs typeface="SolaimanLipi" panose="03000609000000000000" pitchFamily="65" charset="0"/>
              </a:rPr>
              <a:t>২</a:t>
            </a:r>
            <a:endParaRPr lang="en-GB" dirty="0">
              <a:latin typeface="SolaimanLipi" panose="03000609000000000000" pitchFamily="65" charset="0"/>
              <a:cs typeface="SolaimanLipi" panose="03000609000000000000" pitchFamily="65" charset="0"/>
            </a:endParaRPr>
          </a:p>
        </p:txBody>
      </p:sp>
      <p:sp>
        <p:nvSpPr>
          <p:cNvPr id="3" name="Content Placeholder 2"/>
          <p:cNvSpPr>
            <a:spLocks noGrp="1"/>
          </p:cNvSpPr>
          <p:nvPr>
            <p:ph idx="1"/>
          </p:nvPr>
        </p:nvSpPr>
        <p:spPr>
          <a:xfrm>
            <a:off x="304800" y="2675467"/>
            <a:ext cx="8610599" cy="3450696"/>
          </a:xfrm>
        </p:spPr>
        <p:txBody>
          <a:bodyPr>
            <a:normAutofit/>
          </a:bodyPr>
          <a:lstStyle/>
          <a:p>
            <a:pPr algn="just"/>
            <a:r>
              <a:rPr lang="as-IN" sz="2800" dirty="0" smtClean="0">
                <a:latin typeface="SolaimanLipi" panose="03000609000000000000" pitchFamily="65" charset="0"/>
                <a:cs typeface="SolaimanLipi" panose="03000609000000000000" pitchFamily="65" charset="0"/>
              </a:rPr>
              <a:t>২৫০ </a:t>
            </a:r>
            <a:r>
              <a:rPr lang="as-IN" sz="2800" dirty="0">
                <a:latin typeface="SolaimanLipi" panose="03000609000000000000" pitchFamily="65" charset="0"/>
                <a:cs typeface="SolaimanLipi" panose="03000609000000000000" pitchFamily="65" charset="0"/>
              </a:rPr>
              <a:t>বা </a:t>
            </a:r>
            <a:r>
              <a:rPr lang="as-IN" sz="2800" dirty="0" smtClean="0">
                <a:latin typeface="SolaimanLipi" panose="03000609000000000000" pitchFamily="65" charset="0"/>
                <a:cs typeface="SolaimanLipi" panose="03000609000000000000" pitchFamily="65" charset="0"/>
              </a:rPr>
              <a:t>৫০০</a:t>
            </a:r>
            <a:r>
              <a:rPr lang="en-US" sz="2800" dirty="0" smtClean="0">
                <a:latin typeface="SolaimanLipi" panose="03000609000000000000" pitchFamily="65" charset="0"/>
                <a:cs typeface="SolaimanLipi" panose="03000609000000000000" pitchFamily="65" charset="0"/>
              </a:rPr>
              <a:t> </a:t>
            </a:r>
            <a:r>
              <a:rPr lang="as-IN" sz="2800" dirty="0" smtClean="0">
                <a:latin typeface="SolaimanLipi" panose="03000609000000000000" pitchFamily="65" charset="0"/>
                <a:cs typeface="SolaimanLipi" panose="03000609000000000000" pitchFamily="65" charset="0"/>
              </a:rPr>
              <a:t>শয্যাবিশিষ্ট </a:t>
            </a:r>
            <a:r>
              <a:rPr lang="as-IN" sz="2800" dirty="0">
                <a:latin typeface="SolaimanLipi" panose="03000609000000000000" pitchFamily="65" charset="0"/>
                <a:cs typeface="SolaimanLipi" panose="03000609000000000000" pitchFamily="65" charset="0"/>
              </a:rPr>
              <a:t>জেলা হাসপাতালের মাধ্যমে প্রতিদিন ১০০ জন রোগীকে বহির্বিভাগে চিকিৎসা প্রদান সম্ভব। সেখান থেকে ১০ (১০%) রোগীকে মেডিকেল কলেজ (তৃতীয়) স্তরের হাসপাতালে পাঠানো হবে।</a:t>
            </a:r>
            <a:endParaRPr lang="en-GB" sz="2800" dirty="0">
              <a:latin typeface="SolaimanLipi" panose="03000609000000000000" pitchFamily="65" charset="0"/>
              <a:cs typeface="SolaimanLipi" panose="03000609000000000000" pitchFamily="65" charset="0"/>
            </a:endParaRPr>
          </a:p>
        </p:txBody>
      </p:sp>
    </p:spTree>
    <p:extLst>
      <p:ext uri="{BB962C8B-B14F-4D97-AF65-F5344CB8AC3E}">
        <p14:creationId xmlns:p14="http://schemas.microsoft.com/office/powerpoint/2010/main" val="12270012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as-IN" dirty="0" smtClean="0">
                <a:latin typeface="SolaimanLipi" panose="03000609000000000000" pitchFamily="65" charset="0"/>
                <a:cs typeface="SolaimanLipi" panose="03000609000000000000" pitchFamily="65" charset="0"/>
              </a:rPr>
              <a:t>সংস্কারকৃত </a:t>
            </a:r>
            <a:r>
              <a:rPr lang="as-IN" dirty="0">
                <a:latin typeface="SolaimanLipi" panose="03000609000000000000" pitchFamily="65" charset="0"/>
                <a:cs typeface="SolaimanLipi" panose="03000609000000000000" pitchFamily="65" charset="0"/>
              </a:rPr>
              <a:t>রেফারেল </a:t>
            </a:r>
            <a:r>
              <a:rPr lang="bn-IN" dirty="0" smtClean="0">
                <a:latin typeface="SolaimanLipi" panose="03000609000000000000" pitchFamily="65" charset="0"/>
                <a:cs typeface="SolaimanLipi" panose="03000609000000000000" pitchFamily="65" charset="0"/>
              </a:rPr>
              <a:t>পদ্ধতির</a:t>
            </a:r>
            <a:r>
              <a:rPr lang="as-IN" dirty="0" smtClean="0">
                <a:latin typeface="SolaimanLipi" panose="03000609000000000000" pitchFamily="65" charset="0"/>
                <a:cs typeface="SolaimanLipi" panose="03000609000000000000" pitchFamily="65" charset="0"/>
              </a:rPr>
              <a:t> </a:t>
            </a:r>
            <a:r>
              <a:rPr lang="as-IN" dirty="0">
                <a:latin typeface="SolaimanLipi" panose="03000609000000000000" pitchFamily="65" charset="0"/>
                <a:cs typeface="SolaimanLipi" panose="03000609000000000000" pitchFamily="65" charset="0"/>
              </a:rPr>
              <a:t>সুবিধা</a:t>
            </a:r>
            <a:endParaRPr lang="en-GB" dirty="0">
              <a:latin typeface="SolaimanLipi" panose="03000609000000000000" pitchFamily="65" charset="0"/>
              <a:cs typeface="SolaimanLipi" panose="03000609000000000000" pitchFamily="65" charset="0"/>
            </a:endParaRPr>
          </a:p>
        </p:txBody>
      </p:sp>
      <p:sp>
        <p:nvSpPr>
          <p:cNvPr id="3" name="Content Placeholder 2"/>
          <p:cNvSpPr>
            <a:spLocks noGrp="1"/>
          </p:cNvSpPr>
          <p:nvPr>
            <p:ph idx="1"/>
          </p:nvPr>
        </p:nvSpPr>
        <p:spPr>
          <a:xfrm>
            <a:off x="457200" y="1905000"/>
            <a:ext cx="8229600" cy="4525963"/>
          </a:xfrm>
        </p:spPr>
        <p:txBody>
          <a:bodyPr>
            <a:normAutofit/>
          </a:bodyPr>
          <a:lstStyle/>
          <a:p>
            <a:pPr algn="just"/>
            <a:r>
              <a:rPr lang="as-IN" dirty="0">
                <a:latin typeface="SolaimanLipi" panose="03000609000000000000" pitchFamily="65" charset="0"/>
                <a:cs typeface="SolaimanLipi" panose="03000609000000000000" pitchFamily="65" charset="0"/>
              </a:rPr>
              <a:t>মাত্রাতিরিক্ত রোগীর পরিমাণ হ্রাস পাবে এবং মানসম্মত সেবা দেয়া সম্ভব হবে</a:t>
            </a:r>
            <a:r>
              <a:rPr lang="as-IN" dirty="0" smtClean="0">
                <a:latin typeface="SolaimanLipi" panose="03000609000000000000" pitchFamily="65" charset="0"/>
                <a:cs typeface="SolaimanLipi" panose="03000609000000000000" pitchFamily="65" charset="0"/>
              </a:rPr>
              <a:t>।</a:t>
            </a:r>
            <a:endParaRPr lang="en-US" dirty="0" smtClean="0">
              <a:latin typeface="SolaimanLipi" panose="03000609000000000000" pitchFamily="65" charset="0"/>
              <a:cs typeface="SolaimanLipi" panose="03000609000000000000" pitchFamily="65" charset="0"/>
            </a:endParaRPr>
          </a:p>
          <a:p>
            <a:pPr algn="just"/>
            <a:r>
              <a:rPr lang="en-GB" dirty="0" smtClean="0">
                <a:latin typeface="SolaimanLipi" panose="03000609000000000000" pitchFamily="65" charset="0"/>
                <a:cs typeface="SolaimanLipi" panose="03000609000000000000" pitchFamily="65" charset="0"/>
              </a:rPr>
              <a:t> </a:t>
            </a:r>
            <a:r>
              <a:rPr lang="as-IN" dirty="0">
                <a:latin typeface="SolaimanLipi" panose="03000609000000000000" pitchFamily="65" charset="0"/>
                <a:cs typeface="SolaimanLipi" panose="03000609000000000000" pitchFamily="65" charset="0"/>
              </a:rPr>
              <a:t>বিদেশে </a:t>
            </a:r>
            <a:r>
              <a:rPr lang="as-IN" dirty="0" smtClean="0">
                <a:latin typeface="SolaimanLipi" panose="03000609000000000000" pitchFamily="65" charset="0"/>
                <a:cs typeface="SolaimanLipi" panose="03000609000000000000" pitchFamily="65" charset="0"/>
              </a:rPr>
              <a:t>চিকিৎসা</a:t>
            </a:r>
            <a:r>
              <a:rPr lang="en-GB" dirty="0" smtClean="0">
                <a:latin typeface="SolaimanLipi" panose="03000609000000000000" pitchFamily="65" charset="0"/>
                <a:cs typeface="SolaimanLipi" panose="03000609000000000000" pitchFamily="65" charset="0"/>
              </a:rPr>
              <a:t> </a:t>
            </a:r>
            <a:r>
              <a:rPr lang="en-GB" dirty="0" err="1" smtClean="0">
                <a:latin typeface="SolaimanLipi" panose="03000609000000000000" pitchFamily="65" charset="0"/>
                <a:cs typeface="SolaimanLipi" panose="03000609000000000000" pitchFamily="65" charset="0"/>
              </a:rPr>
              <a:t>গ্রহনের</a:t>
            </a:r>
            <a:r>
              <a:rPr lang="en-GB" dirty="0" smtClean="0">
                <a:latin typeface="SolaimanLipi" panose="03000609000000000000" pitchFamily="65" charset="0"/>
                <a:cs typeface="SolaimanLipi" panose="03000609000000000000" pitchFamily="65" charset="0"/>
              </a:rPr>
              <a:t> </a:t>
            </a:r>
            <a:r>
              <a:rPr lang="en-GB" dirty="0" err="1" smtClean="0">
                <a:latin typeface="SolaimanLipi" panose="03000609000000000000" pitchFamily="65" charset="0"/>
                <a:cs typeface="SolaimanLipi" panose="03000609000000000000" pitchFamily="65" charset="0"/>
              </a:rPr>
              <a:t>হার</a:t>
            </a:r>
            <a:r>
              <a:rPr lang="en-GB" dirty="0" smtClean="0">
                <a:latin typeface="SolaimanLipi" panose="03000609000000000000" pitchFamily="65" charset="0"/>
                <a:cs typeface="SolaimanLipi" panose="03000609000000000000" pitchFamily="65" charset="0"/>
              </a:rPr>
              <a:t> </a:t>
            </a:r>
            <a:r>
              <a:rPr lang="en-GB" dirty="0" err="1" smtClean="0">
                <a:latin typeface="SolaimanLipi" panose="03000609000000000000" pitchFamily="65" charset="0"/>
                <a:cs typeface="SolaimanLipi" panose="03000609000000000000" pitchFamily="65" charset="0"/>
              </a:rPr>
              <a:t>কমে</a:t>
            </a:r>
            <a:r>
              <a:rPr lang="en-GB" dirty="0" smtClean="0">
                <a:latin typeface="SolaimanLipi" panose="03000609000000000000" pitchFamily="65" charset="0"/>
                <a:cs typeface="SolaimanLipi" panose="03000609000000000000" pitchFamily="65" charset="0"/>
              </a:rPr>
              <a:t> </a:t>
            </a:r>
            <a:r>
              <a:rPr lang="en-GB" dirty="0" err="1" smtClean="0">
                <a:latin typeface="SolaimanLipi" panose="03000609000000000000" pitchFamily="65" charset="0"/>
                <a:cs typeface="SolaimanLipi" panose="03000609000000000000" pitchFamily="65" charset="0"/>
              </a:rPr>
              <a:t>যাবে</a:t>
            </a:r>
            <a:r>
              <a:rPr lang="en-GB" dirty="0" smtClean="0">
                <a:latin typeface="SolaimanLipi" panose="03000609000000000000" pitchFamily="65" charset="0"/>
                <a:cs typeface="SolaimanLipi" panose="03000609000000000000" pitchFamily="65" charset="0"/>
              </a:rPr>
              <a:t>।</a:t>
            </a:r>
            <a:endParaRPr lang="en-US" dirty="0" smtClean="0">
              <a:latin typeface="SolaimanLipi" panose="03000609000000000000" pitchFamily="65" charset="0"/>
              <a:cs typeface="SolaimanLipi" panose="03000609000000000000" pitchFamily="65" charset="0"/>
            </a:endParaRPr>
          </a:p>
          <a:p>
            <a:pPr algn="just"/>
            <a:r>
              <a:rPr lang="as-IN" dirty="0">
                <a:latin typeface="SolaimanLipi" panose="03000609000000000000" pitchFamily="65" charset="0"/>
                <a:cs typeface="SolaimanLipi" panose="03000609000000000000" pitchFamily="65" charset="0"/>
              </a:rPr>
              <a:t>বেসরকারি হাসপাতালের নির্ভরতা </a:t>
            </a:r>
            <a:r>
              <a:rPr lang="as-IN" dirty="0" smtClean="0">
                <a:latin typeface="SolaimanLipi" panose="03000609000000000000" pitchFamily="65" charset="0"/>
                <a:cs typeface="SolaimanLipi" panose="03000609000000000000" pitchFamily="65" charset="0"/>
              </a:rPr>
              <a:t>কমবে।</a:t>
            </a:r>
            <a:endParaRPr lang="en-US" dirty="0" smtClean="0">
              <a:latin typeface="SolaimanLipi" panose="03000609000000000000" pitchFamily="65" charset="0"/>
              <a:cs typeface="SolaimanLipi" panose="03000609000000000000" pitchFamily="65" charset="0"/>
            </a:endParaRPr>
          </a:p>
          <a:p>
            <a:pPr algn="just"/>
            <a:r>
              <a:rPr lang="as-IN" dirty="0">
                <a:latin typeface="SolaimanLipi" panose="03000609000000000000" pitchFamily="65" charset="0"/>
                <a:cs typeface="SolaimanLipi" panose="03000609000000000000" pitchFamily="65" charset="0"/>
              </a:rPr>
              <a:t>স্বাস্থ্য সংক্রান্ত এসডিজির সকল উপাদান ২০৩০ সালের মধ্যে সফলভাবে বাস্তবায়িত হবে</a:t>
            </a:r>
            <a:r>
              <a:rPr lang="as-IN" dirty="0" smtClean="0">
                <a:latin typeface="SolaimanLipi" panose="03000609000000000000" pitchFamily="65" charset="0"/>
                <a:cs typeface="SolaimanLipi" panose="03000609000000000000" pitchFamily="65" charset="0"/>
              </a:rPr>
              <a:t>।</a:t>
            </a:r>
            <a:endParaRPr lang="en-US" dirty="0" smtClean="0">
              <a:latin typeface="SolaimanLipi" panose="03000609000000000000" pitchFamily="65" charset="0"/>
              <a:cs typeface="SolaimanLipi" panose="03000609000000000000" pitchFamily="65" charset="0"/>
            </a:endParaRPr>
          </a:p>
          <a:p>
            <a:pPr algn="just"/>
            <a:r>
              <a:rPr lang="as-IN" dirty="0">
                <a:latin typeface="SolaimanLipi" panose="03000609000000000000" pitchFamily="65" charset="0"/>
                <a:cs typeface="SolaimanLipi" panose="03000609000000000000" pitchFamily="65" charset="0"/>
              </a:rPr>
              <a:t>প্রয়োজনীয় স্বাস্থ্য মানব </a:t>
            </a:r>
            <a:r>
              <a:rPr lang="as-IN" dirty="0" smtClean="0">
                <a:latin typeface="SolaimanLipi" panose="03000609000000000000" pitchFamily="65" charset="0"/>
                <a:cs typeface="SolaimanLipi" panose="03000609000000000000" pitchFamily="65" charset="0"/>
              </a:rPr>
              <a:t>সম্পদ</a:t>
            </a:r>
            <a:r>
              <a:rPr lang="en-GB" dirty="0" smtClean="0">
                <a:latin typeface="SolaimanLipi" panose="03000609000000000000" pitchFamily="65" charset="0"/>
                <a:cs typeface="SolaimanLipi" panose="03000609000000000000" pitchFamily="65" charset="0"/>
              </a:rPr>
              <a:t> </a:t>
            </a:r>
            <a:r>
              <a:rPr lang="en-GB" dirty="0" err="1" smtClean="0">
                <a:latin typeface="SolaimanLipi" panose="03000609000000000000" pitchFamily="65" charset="0"/>
                <a:cs typeface="SolaimanLipi" panose="03000609000000000000" pitchFamily="65" charset="0"/>
              </a:rPr>
              <a:t>উন্নয়ন</a:t>
            </a:r>
            <a:r>
              <a:rPr lang="as-IN" dirty="0" smtClean="0">
                <a:latin typeface="SolaimanLipi" panose="03000609000000000000" pitchFamily="65" charset="0"/>
                <a:cs typeface="SolaimanLipi" panose="03000609000000000000" pitchFamily="65" charset="0"/>
              </a:rPr>
              <a:t> </a:t>
            </a:r>
            <a:r>
              <a:rPr lang="as-IN" dirty="0">
                <a:latin typeface="SolaimanLipi" panose="03000609000000000000" pitchFamily="65" charset="0"/>
                <a:cs typeface="SolaimanLipi" panose="03000609000000000000" pitchFamily="65" charset="0"/>
              </a:rPr>
              <a:t>পরিকল্পনা সহজ হবে।</a:t>
            </a:r>
            <a:endParaRPr lang="en-GB" dirty="0">
              <a:latin typeface="SolaimanLipi" panose="03000609000000000000" pitchFamily="65" charset="0"/>
              <a:cs typeface="SolaimanLipi" panose="03000609000000000000" pitchFamily="65" charset="0"/>
            </a:endParaRPr>
          </a:p>
        </p:txBody>
      </p:sp>
    </p:spTree>
    <p:extLst>
      <p:ext uri="{BB962C8B-B14F-4D97-AF65-F5344CB8AC3E}">
        <p14:creationId xmlns:p14="http://schemas.microsoft.com/office/powerpoint/2010/main" val="3959084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9000" r="-1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00400" y="2590800"/>
            <a:ext cx="8229600" cy="1143000"/>
          </a:xfrm>
        </p:spPr>
        <p:txBody>
          <a:bodyPr>
            <a:noAutofit/>
          </a:bodyPr>
          <a:lstStyle/>
          <a:p>
            <a:r>
              <a:rPr lang="as-IN" sz="11500" dirty="0">
                <a:solidFill>
                  <a:schemeClr val="bg1"/>
                </a:solidFill>
                <a:latin typeface="SolaimanLipi" pitchFamily="2" charset="0"/>
                <a:cs typeface="SolaimanLipi" pitchFamily="2" charset="0"/>
              </a:rPr>
              <a:t>ধন্যবাদ</a:t>
            </a:r>
            <a:endParaRPr lang="en-GB" sz="11500" dirty="0">
              <a:solidFill>
                <a:schemeClr val="bg1"/>
              </a:solidFill>
              <a:latin typeface="SolaimanLipi" pitchFamily="2" charset="0"/>
              <a:cs typeface="SolaimanLipi" pitchFamily="2" charset="0"/>
            </a:endParaRPr>
          </a:p>
        </p:txBody>
      </p:sp>
    </p:spTree>
    <p:extLst>
      <p:ext uri="{BB962C8B-B14F-4D97-AF65-F5344CB8AC3E}">
        <p14:creationId xmlns:p14="http://schemas.microsoft.com/office/powerpoint/2010/main" val="17240810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1141</TotalTime>
  <Words>946</Words>
  <Application>Microsoft Office PowerPoint</Application>
  <PresentationFormat>On-screen Show (4:3)</PresentationFormat>
  <Paragraphs>112</Paragraphs>
  <Slides>15</Slides>
  <Notes>2</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Flow</vt:lpstr>
      <vt:lpstr>বাংলাদেশের স্বাস্থ্যব্যাবস্থায় কার্যকর রেফারেল পদ্ধতি</vt:lpstr>
      <vt:lpstr>PowerPoint Presentation</vt:lpstr>
      <vt:lpstr>বাংলাদেশের রেফারেল পদ্ধতি</vt:lpstr>
      <vt:lpstr>রেফারেল ব্যাবস্থার গুরুত্ব</vt:lpstr>
      <vt:lpstr>সরকারি স্বাস্থ্য ব্যবস্থার পৃথক পৃথক স্তরের সমস্যা - ১</vt:lpstr>
      <vt:lpstr>সরকারি স্বাস্থ্য ব্যবস্থার পৃথক পৃথক স্তরের সমস্যা - ২</vt:lpstr>
      <vt:lpstr>সরকারি স্বাস্থ্য ব্যবস্থার পৃথক পৃথক স্তরের সমস্যা - ৩</vt:lpstr>
      <vt:lpstr>সরকারি স্বাস্থ্য ব্যবস্থার পৃথক পৃথক স্তরের সমস্যা - ৪ (জেলা হাসপাতাল)</vt:lpstr>
      <vt:lpstr>সরকারি স্বাস্থ্য ব্যবস্থার পৃথক পৃথক স্তরের সমস্যা - ৫ (জেলা হাসপাতাল)</vt:lpstr>
      <vt:lpstr>কিভাবে সমস্যার সমাধান করা যায় - ১</vt:lpstr>
      <vt:lpstr>কিভাবে সমস্যার সমাধান করা যায় -২</vt:lpstr>
      <vt:lpstr>সংস্কারকৃত রেফারেল পদ্ধতি - ১</vt:lpstr>
      <vt:lpstr>সংস্কারকৃত রেফারেল পদ্ধতি - ২</vt:lpstr>
      <vt:lpstr>সংস্কারকৃত রেফারেল পদ্ধতির সুবিধা</vt:lpstr>
      <vt:lpstr>ধন্যবাদ</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Effective Refferal System in Bangladesh.</dc:title>
  <dc:creator>Emdad</dc:creator>
  <cp:lastModifiedBy>Emdad</cp:lastModifiedBy>
  <cp:revision>192</cp:revision>
  <dcterms:created xsi:type="dcterms:W3CDTF">2006-08-16T00:00:00Z</dcterms:created>
  <dcterms:modified xsi:type="dcterms:W3CDTF">2021-09-22T01:00:53Z</dcterms:modified>
</cp:coreProperties>
</file>