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2"/>
  </p:notesMasterIdLst>
  <p:sldIdLst>
    <p:sldId id="256" r:id="rId2"/>
    <p:sldId id="445" r:id="rId3"/>
    <p:sldId id="257" r:id="rId4"/>
    <p:sldId id="406" r:id="rId5"/>
    <p:sldId id="341" r:id="rId6"/>
    <p:sldId id="441" r:id="rId7"/>
    <p:sldId id="432" r:id="rId8"/>
    <p:sldId id="431" r:id="rId9"/>
    <p:sldId id="407" r:id="rId10"/>
    <p:sldId id="452" r:id="rId11"/>
    <p:sldId id="468" r:id="rId12"/>
    <p:sldId id="342" r:id="rId13"/>
    <p:sldId id="417" r:id="rId14"/>
    <p:sldId id="403" r:id="rId15"/>
    <p:sldId id="408" r:id="rId16"/>
    <p:sldId id="291" r:id="rId17"/>
    <p:sldId id="412" r:id="rId18"/>
    <p:sldId id="308" r:id="rId19"/>
    <p:sldId id="312" r:id="rId20"/>
    <p:sldId id="293" r:id="rId21"/>
    <p:sldId id="326" r:id="rId22"/>
    <p:sldId id="327" r:id="rId23"/>
    <p:sldId id="457" r:id="rId24"/>
    <p:sldId id="409" r:id="rId25"/>
    <p:sldId id="418" r:id="rId26"/>
    <p:sldId id="276" r:id="rId27"/>
    <p:sldId id="451" r:id="rId28"/>
    <p:sldId id="467" r:id="rId29"/>
    <p:sldId id="268" r:id="rId30"/>
    <p:sldId id="433" r:id="rId31"/>
    <p:sldId id="444" r:id="rId32"/>
    <p:sldId id="458" r:id="rId33"/>
    <p:sldId id="459" r:id="rId34"/>
    <p:sldId id="460" r:id="rId35"/>
    <p:sldId id="461" r:id="rId36"/>
    <p:sldId id="462" r:id="rId37"/>
    <p:sldId id="463" r:id="rId38"/>
    <p:sldId id="464" r:id="rId39"/>
    <p:sldId id="465" r:id="rId40"/>
    <p:sldId id="466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2545" autoAdjust="0"/>
  </p:normalViewPr>
  <p:slideViewPr>
    <p:cSldViewPr snapToGrid="0">
      <p:cViewPr>
        <p:scale>
          <a:sx n="66" d="100"/>
          <a:sy n="66" d="100"/>
        </p:scale>
        <p:origin x="-696" y="-1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38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Sheet1!$A$2:$A$16</c:f>
              <c:numCache>
                <c:formatCode>General</c:formatCode>
                <c:ptCount val="15"/>
                <c:pt idx="0">
                  <c:v>1997</c:v>
                </c:pt>
                <c:pt idx="1">
                  <c:v>1998</c:v>
                </c:pt>
                <c:pt idx="2">
                  <c:v>1999</c:v>
                </c:pt>
                <c:pt idx="3">
                  <c:v>2000</c:v>
                </c:pt>
                <c:pt idx="4">
                  <c:v>2001</c:v>
                </c:pt>
                <c:pt idx="5">
                  <c:v>2002</c:v>
                </c:pt>
                <c:pt idx="6">
                  <c:v>2003</c:v>
                </c:pt>
                <c:pt idx="7">
                  <c:v>2004</c:v>
                </c:pt>
                <c:pt idx="8">
                  <c:v>2005</c:v>
                </c:pt>
                <c:pt idx="9">
                  <c:v>2006</c:v>
                </c:pt>
                <c:pt idx="10">
                  <c:v>2007</c:v>
                </c:pt>
                <c:pt idx="11">
                  <c:v>2008</c:v>
                </c:pt>
                <c:pt idx="12">
                  <c:v>2009</c:v>
                </c:pt>
                <c:pt idx="13">
                  <c:v>2010</c:v>
                </c:pt>
                <c:pt idx="14">
                  <c:v>2011</c:v>
                </c:pt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151</c:v>
                </c:pt>
                <c:pt idx="1">
                  <c:v>182</c:v>
                </c:pt>
                <c:pt idx="2">
                  <c:v>228</c:v>
                </c:pt>
                <c:pt idx="3">
                  <c:v>312</c:v>
                </c:pt>
                <c:pt idx="4">
                  <c:v>421</c:v>
                </c:pt>
                <c:pt idx="5">
                  <c:v>422</c:v>
                </c:pt>
                <c:pt idx="6">
                  <c:v>661</c:v>
                </c:pt>
                <c:pt idx="7">
                  <c:v>1030</c:v>
                </c:pt>
                <c:pt idx="8">
                  <c:v>1293</c:v>
                </c:pt>
                <c:pt idx="9">
                  <c:v>1518</c:v>
                </c:pt>
                <c:pt idx="10">
                  <c:v>1899</c:v>
                </c:pt>
                <c:pt idx="11">
                  <c:v>2682</c:v>
                </c:pt>
                <c:pt idx="12">
                  <c:v>3489</c:v>
                </c:pt>
                <c:pt idx="13">
                  <c:v>3755</c:v>
                </c:pt>
                <c:pt idx="14">
                  <c:v>4413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1369600"/>
        <c:axId val="131371392"/>
      </c:barChart>
      <c:catAx>
        <c:axId val="1313696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1371392"/>
        <c:crosses val="autoZero"/>
        <c:auto val="1"/>
        <c:lblAlgn val="ctr"/>
        <c:lblOffset val="100"/>
        <c:noMultiLvlLbl val="0"/>
      </c:catAx>
      <c:valAx>
        <c:axId val="131371392"/>
        <c:scaling>
          <c:orientation val="minMax"/>
        </c:scaling>
        <c:delete val="0"/>
        <c:axPos val="l"/>
        <c:majorGridlines>
          <c:spPr>
            <a:ln>
              <a:gradFill>
                <a:gsLst>
                  <a:gs pos="0">
                    <a:srgbClr val="000082"/>
                  </a:gs>
                  <a:gs pos="30000">
                    <a:srgbClr val="66008F"/>
                  </a:gs>
                  <a:gs pos="64999">
                    <a:srgbClr val="BA0066"/>
                  </a:gs>
                  <a:gs pos="89999">
                    <a:srgbClr val="FF0000"/>
                  </a:gs>
                  <a:gs pos="100000">
                    <a:srgbClr val="FF8200"/>
                  </a:gs>
                </a:gsLst>
                <a:lin ang="5400000" scaled="0"/>
              </a:gradFill>
            </a:ln>
          </c:spPr>
        </c:majorGridlines>
        <c:numFmt formatCode="General" sourceLinked="1"/>
        <c:majorTickMark val="out"/>
        <c:minorTickMark val="none"/>
        <c:tickLblPos val="nextTo"/>
        <c:crossAx val="13136960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7"/>
              <c:layout>
                <c:manualLayout>
                  <c:x val="0"/>
                  <c:y val="-2.26284728712632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  <c:pt idx="7">
                  <c:v>2.88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7BC-4C5D-800A-1F77456ABE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1365376"/>
        <c:axId val="241366912"/>
      </c:barChart>
      <c:catAx>
        <c:axId val="2413653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41366912"/>
        <c:crosses val="autoZero"/>
        <c:auto val="1"/>
        <c:lblAlgn val="ctr"/>
        <c:lblOffset val="100"/>
        <c:noMultiLvlLbl val="0"/>
      </c:catAx>
      <c:valAx>
        <c:axId val="24136691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4136537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2E-2"/>
          <c:w val="0.65834289989452266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2011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170854</c:v>
                </c:pt>
                <c:pt idx="1">
                  <c:v>192791</c:v>
                </c:pt>
                <c:pt idx="2">
                  <c:v>233868</c:v>
                </c:pt>
                <c:pt idx="3">
                  <c:v>277301</c:v>
                </c:pt>
                <c:pt idx="4">
                  <c:v>296235</c:v>
                </c:pt>
                <c:pt idx="5">
                  <c:v>340932</c:v>
                </c:pt>
                <c:pt idx="6">
                  <c:v>384928</c:v>
                </c:pt>
                <c:pt idx="7">
                  <c:v>407474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9ED-450B-B91B-4D3AD0372B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2011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22435</c:v>
                </c:pt>
                <c:pt idx="1">
                  <c:v>24643</c:v>
                </c:pt>
                <c:pt idx="2">
                  <c:v>27905</c:v>
                </c:pt>
                <c:pt idx="3">
                  <c:v>29562</c:v>
                </c:pt>
                <c:pt idx="4">
                  <c:v>32300</c:v>
                </c:pt>
                <c:pt idx="5">
                  <c:v>35569</c:v>
                </c:pt>
                <c:pt idx="6">
                  <c:v>37096</c:v>
                </c:pt>
                <c:pt idx="7">
                  <c:v>42551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89ED-450B-B91B-4D3AD0372B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2046080"/>
        <c:axId val="242047616"/>
      </c:barChart>
      <c:catAx>
        <c:axId val="2420460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42047616"/>
        <c:crosses val="autoZero"/>
        <c:auto val="1"/>
        <c:lblAlgn val="ctr"/>
        <c:lblOffset val="100"/>
        <c:noMultiLvlLbl val="0"/>
      </c:catAx>
      <c:valAx>
        <c:axId val="2420476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4204608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19"/>
          <c:y val="0.42290223097112861"/>
          <c:w val="0.20621936860696158"/>
          <c:h val="0.2764177602799651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3"/>
              <c:layout/>
              <c:tx>
                <c:rich>
                  <a:bodyPr/>
                  <a:lstStyle/>
                  <a:p>
                    <a:r>
                      <a:rPr lang="en-US" smtClean="0"/>
                      <a:t>7,265,145</a:t>
                    </a:r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168073472"/>
        <c:axId val="168079360"/>
        <c:axId val="0"/>
      </c:bar3DChart>
      <c:catAx>
        <c:axId val="1680734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8079360"/>
        <c:crosses val="autoZero"/>
        <c:auto val="1"/>
        <c:lblAlgn val="ctr"/>
        <c:lblOffset val="100"/>
        <c:noMultiLvlLbl val="0"/>
      </c:catAx>
      <c:valAx>
        <c:axId val="168079360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68073472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621293866044522"/>
          <c:y val="4.4861391929187228E-2"/>
          <c:w val="0.69983231262758827"/>
          <c:h val="0.857203428309069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ANC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0802590648391173E-2"/>
                  <c:y val="-1.68361959653668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1354</c:v>
                </c:pt>
                <c:pt idx="1">
                  <c:v>2268</c:v>
                </c:pt>
                <c:pt idx="2">
                  <c:v>7096</c:v>
                </c:pt>
                <c:pt idx="3">
                  <c:v>13251</c:v>
                </c:pt>
                <c:pt idx="4">
                  <c:v>15309</c:v>
                </c:pt>
                <c:pt idx="5">
                  <c:v>14191</c:v>
                </c:pt>
                <c:pt idx="6">
                  <c:v>14712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5432098765432098E-3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1604938271604937E-2"/>
                  <c:y val="-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8518518518518576E-2"/>
                  <c:y val="1.4030163304472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0061728395061727E-2"/>
                  <c:y val="1.1224130643577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1.6975308641975308E-2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2375</c:v>
                </c:pt>
                <c:pt idx="1">
                  <c:v>2379</c:v>
                </c:pt>
                <c:pt idx="2">
                  <c:v>2796</c:v>
                </c:pt>
                <c:pt idx="3">
                  <c:v>3034</c:v>
                </c:pt>
                <c:pt idx="4">
                  <c:v>2981</c:v>
                </c:pt>
                <c:pt idx="5">
                  <c:v>2737</c:v>
                </c:pt>
                <c:pt idx="6">
                  <c:v>2753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9794560"/>
        <c:axId val="169935616"/>
      </c:barChart>
      <c:catAx>
        <c:axId val="1697945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9935616"/>
        <c:crosses val="autoZero"/>
        <c:auto val="1"/>
        <c:lblAlgn val="ctr"/>
        <c:lblOffset val="100"/>
        <c:noMultiLvlLbl val="0"/>
      </c:catAx>
      <c:valAx>
        <c:axId val="1699356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69794560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1"/>
          <c:y val="3.6443293946503766E-2"/>
          <c:w val="0.64635972586759993"/>
          <c:h val="0.781510586807713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17ED-4E31-A387-BAEE6AE702C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17ED-4E31-A387-BAEE6AE702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516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3888888888888892E-2"/>
                  <c:y val="8.418097982683465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1.2345679012345682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17ED-4E31-A387-BAEE6AE702C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17ED-4E31-A387-BAEE6AE702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2.3148148148148199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3.08641975308642E-3"/>
                  <c:y val="-3.08663592698393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17ED-4E31-A387-BAEE6AE702C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9-17ED-4E31-A387-BAEE6AE702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6E-3"/>
                  <c:y val="-1.96422286262614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17ED-4E31-A387-BAEE6AE702C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D-17ED-4E31-A387-BAEE6AE702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1007232"/>
        <c:axId val="242114944"/>
      </c:barChart>
      <c:catAx>
        <c:axId val="2410072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42114944"/>
        <c:crosses val="autoZero"/>
        <c:auto val="1"/>
        <c:lblAlgn val="ctr"/>
        <c:lblOffset val="100"/>
        <c:noMultiLvlLbl val="0"/>
      </c:catAx>
      <c:valAx>
        <c:axId val="24211494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4100723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51"/>
          <c:y val="0.37195288604878135"/>
          <c:w val="0.14578327014678721"/>
          <c:h val="0.31152795548704232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Sheet1!$A$2:$A$16</c:f>
              <c:numCache>
                <c:formatCode>General</c:formatCode>
                <c:ptCount val="15"/>
                <c:pt idx="0">
                  <c:v>1997</c:v>
                </c:pt>
                <c:pt idx="1">
                  <c:v>1998</c:v>
                </c:pt>
                <c:pt idx="2">
                  <c:v>1999</c:v>
                </c:pt>
                <c:pt idx="3">
                  <c:v>2000</c:v>
                </c:pt>
                <c:pt idx="4">
                  <c:v>2001</c:v>
                </c:pt>
                <c:pt idx="5">
                  <c:v>2002</c:v>
                </c:pt>
                <c:pt idx="6">
                  <c:v>2003</c:v>
                </c:pt>
                <c:pt idx="7">
                  <c:v>2004</c:v>
                </c:pt>
                <c:pt idx="8">
                  <c:v>2005</c:v>
                </c:pt>
                <c:pt idx="9">
                  <c:v>2006</c:v>
                </c:pt>
                <c:pt idx="10">
                  <c:v>2007</c:v>
                </c:pt>
                <c:pt idx="11">
                  <c:v>2008</c:v>
                </c:pt>
                <c:pt idx="12">
                  <c:v>2009</c:v>
                </c:pt>
                <c:pt idx="13">
                  <c:v>2010</c:v>
                </c:pt>
                <c:pt idx="14">
                  <c:v>2011</c:v>
                </c:pt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1228</c:v>
                </c:pt>
                <c:pt idx="1">
                  <c:v>1631</c:v>
                </c:pt>
                <c:pt idx="2">
                  <c:v>1851</c:v>
                </c:pt>
                <c:pt idx="3">
                  <c:v>2861</c:v>
                </c:pt>
                <c:pt idx="4">
                  <c:v>3509</c:v>
                </c:pt>
                <c:pt idx="5">
                  <c:v>3932</c:v>
                </c:pt>
                <c:pt idx="6">
                  <c:v>4484</c:v>
                </c:pt>
                <c:pt idx="7">
                  <c:v>4898</c:v>
                </c:pt>
                <c:pt idx="8">
                  <c:v>4993</c:v>
                </c:pt>
                <c:pt idx="9">
                  <c:v>5644</c:v>
                </c:pt>
                <c:pt idx="10">
                  <c:v>7292</c:v>
                </c:pt>
                <c:pt idx="11">
                  <c:v>8263</c:v>
                </c:pt>
                <c:pt idx="12">
                  <c:v>7499</c:v>
                </c:pt>
                <c:pt idx="13">
                  <c:v>7427</c:v>
                </c:pt>
                <c:pt idx="14">
                  <c:v>8935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0940416"/>
        <c:axId val="250946304"/>
      </c:barChart>
      <c:catAx>
        <c:axId val="2509404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50946304"/>
        <c:crosses val="autoZero"/>
        <c:auto val="1"/>
        <c:lblAlgn val="ctr"/>
        <c:lblOffset val="100"/>
        <c:noMultiLvlLbl val="0"/>
      </c:catAx>
      <c:valAx>
        <c:axId val="250946304"/>
        <c:scaling>
          <c:orientation val="minMax"/>
        </c:scaling>
        <c:delete val="0"/>
        <c:axPos val="l"/>
        <c:majorGridlines>
          <c:spPr>
            <a:ln>
              <a:gradFill>
                <a:gsLst>
                  <a:gs pos="0">
                    <a:srgbClr val="000082"/>
                  </a:gs>
                  <a:gs pos="30000">
                    <a:srgbClr val="66008F"/>
                  </a:gs>
                  <a:gs pos="64999">
                    <a:srgbClr val="BA0066"/>
                  </a:gs>
                  <a:gs pos="89999">
                    <a:srgbClr val="FF0000"/>
                  </a:gs>
                  <a:gs pos="100000">
                    <a:srgbClr val="FF8200"/>
                  </a:gs>
                </a:gsLst>
                <a:lin ang="5400000" scaled="0"/>
              </a:gradFill>
            </a:ln>
          </c:spPr>
        </c:majorGridlines>
        <c:numFmt formatCode="General" sourceLinked="1"/>
        <c:majorTickMark val="out"/>
        <c:minorTickMark val="none"/>
        <c:tickLblPos val="nextTo"/>
        <c:crossAx val="25094041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4665028533334671E-2"/>
          <c:y val="3.1643040757867398E-2"/>
          <c:w val="0.89973529686002107"/>
          <c:h val="0.853443474695726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</c:v>
                </c:pt>
                <c:pt idx="1">
                  <c:v>11</c:v>
                </c:pt>
                <c:pt idx="2">
                  <c:v>26</c:v>
                </c:pt>
                <c:pt idx="3">
                  <c:v>36</c:v>
                </c:pt>
                <c:pt idx="4">
                  <c:v>184</c:v>
                </c:pt>
                <c:pt idx="5">
                  <c:v>310</c:v>
                </c:pt>
                <c:pt idx="6">
                  <c:v>363</c:v>
                </c:pt>
                <c:pt idx="7">
                  <c:v>473</c:v>
                </c:pt>
                <c:pt idx="8">
                  <c:v>567</c:v>
                </c:pt>
                <c:pt idx="9">
                  <c:v>842</c:v>
                </c:pt>
                <c:pt idx="10">
                  <c:v>962</c:v>
                </c:pt>
                <c:pt idx="11">
                  <c:v>1007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0985472"/>
        <c:axId val="250987264"/>
      </c:barChart>
      <c:catAx>
        <c:axId val="2509854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50987264"/>
        <c:crosses val="autoZero"/>
        <c:auto val="1"/>
        <c:lblAlgn val="ctr"/>
        <c:lblOffset val="100"/>
        <c:noMultiLvlLbl val="0"/>
      </c:catAx>
      <c:valAx>
        <c:axId val="250987264"/>
        <c:scaling>
          <c:orientation val="minMax"/>
        </c:scaling>
        <c:delete val="0"/>
        <c:axPos val="l"/>
        <c:majorGridlines>
          <c:spPr>
            <a:ln>
              <a:gradFill>
                <a:gsLst>
                  <a:gs pos="0">
                    <a:srgbClr val="000082"/>
                  </a:gs>
                  <a:gs pos="30000">
                    <a:srgbClr val="66008F"/>
                  </a:gs>
                  <a:gs pos="64999">
                    <a:srgbClr val="BA0066"/>
                  </a:gs>
                  <a:gs pos="89999">
                    <a:srgbClr val="FF0000"/>
                  </a:gs>
                  <a:gs pos="100000">
                    <a:srgbClr val="FF8200"/>
                  </a:gs>
                </a:gsLst>
                <a:lin ang="5400000" scaled="0"/>
              </a:gradFill>
            </a:ln>
          </c:spPr>
        </c:majorGridlines>
        <c:numFmt formatCode="General" sourceLinked="1"/>
        <c:majorTickMark val="out"/>
        <c:minorTickMark val="none"/>
        <c:tickLblPos val="nextTo"/>
        <c:crossAx val="2509854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F660D2-7531-4B7B-9DC9-B462E3FDA8AA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02B9F0-E626-4C8B-BD2A-5010DA3B9508}">
      <dgm:prSet/>
      <dgm:spPr/>
      <dgm:t>
        <a:bodyPr/>
        <a:lstStyle/>
        <a:p>
          <a:r>
            <a:rPr lang="bn-IN" smtClean="0"/>
            <a:t>সম</a:t>
          </a:r>
          <a:r>
            <a:rPr lang="en-GB" smtClean="0"/>
            <a:t>্প্রসারণ</a:t>
          </a:r>
          <a:endParaRPr lang="en-GB" dirty="0" smtClean="0"/>
        </a:p>
      </dgm:t>
    </dgm:pt>
    <dgm:pt modelId="{A4D878FF-3C86-4BF2-B275-5C7CEF968DBF}" type="parTrans" cxnId="{8ABE57D6-2A0A-4702-BB91-B8B245AC27BA}">
      <dgm:prSet/>
      <dgm:spPr/>
      <dgm:t>
        <a:bodyPr/>
        <a:lstStyle/>
        <a:p>
          <a:endParaRPr lang="en-US"/>
        </a:p>
      </dgm:t>
    </dgm:pt>
    <dgm:pt modelId="{B1826330-98C3-41CB-B8D0-2180131A4C37}" type="sibTrans" cxnId="{8ABE57D6-2A0A-4702-BB91-B8B245AC27BA}">
      <dgm:prSet/>
      <dgm:spPr/>
      <dgm:t>
        <a:bodyPr/>
        <a:lstStyle/>
        <a:p>
          <a:endParaRPr lang="en-US"/>
        </a:p>
      </dgm:t>
    </dgm:pt>
    <dgm:pt modelId="{9AEA5E90-4BA3-4DD2-9B18-80F40A809CFB}">
      <dgm:prSet/>
      <dgm:spPr/>
      <dgm:t>
        <a:bodyPr/>
        <a:lstStyle/>
        <a:p>
          <a:r>
            <a:rPr lang="bn-IN" dirty="0" smtClean="0"/>
            <a:t>জনসম্পৃক্ততা</a:t>
          </a:r>
          <a:r>
            <a:rPr lang="en-GB" dirty="0" smtClean="0"/>
            <a:t> ও </a:t>
          </a:r>
          <a:r>
            <a:rPr lang="en-GB" dirty="0" err="1" smtClean="0"/>
            <a:t>কমিটি</a:t>
          </a:r>
          <a:r>
            <a:rPr lang="en-GB" dirty="0" smtClean="0"/>
            <a:t> </a:t>
          </a:r>
          <a:r>
            <a:rPr lang="en-GB" dirty="0" err="1" smtClean="0"/>
            <a:t>গঠন</a:t>
          </a:r>
          <a:r>
            <a:rPr lang="bn-IN" dirty="0" smtClean="0"/>
            <a:t> </a:t>
          </a:r>
          <a:endParaRPr lang="en-US" dirty="0"/>
        </a:p>
      </dgm:t>
    </dgm:pt>
    <dgm:pt modelId="{98546F5B-2118-40CD-B9FE-58E3011189BE}" type="parTrans" cxnId="{791D06BB-C3A8-4658-85D7-528F816FC9FB}">
      <dgm:prSet/>
      <dgm:spPr/>
      <dgm:t>
        <a:bodyPr/>
        <a:lstStyle/>
        <a:p>
          <a:endParaRPr lang="en-US"/>
        </a:p>
      </dgm:t>
    </dgm:pt>
    <dgm:pt modelId="{46721B0D-1AA6-4FC8-A238-D37C5C9FDA2F}" type="sibTrans" cxnId="{791D06BB-C3A8-4658-85D7-528F816FC9FB}">
      <dgm:prSet/>
      <dgm:spPr/>
      <dgm:t>
        <a:bodyPr/>
        <a:lstStyle/>
        <a:p>
          <a:endParaRPr lang="en-US"/>
        </a:p>
      </dgm:t>
    </dgm:pt>
    <dgm:pt modelId="{88D3464D-A729-40F4-BC36-33D77706DB6F}">
      <dgm:prSet/>
      <dgm:spPr/>
      <dgm:t>
        <a:bodyPr/>
        <a:lstStyle/>
        <a:p>
          <a:r>
            <a:rPr lang="en-US" dirty="0" err="1" smtClean="0"/>
            <a:t>স্টাফ</a:t>
          </a:r>
          <a:r>
            <a:rPr lang="en-US" dirty="0" smtClean="0"/>
            <a:t> </a:t>
          </a:r>
          <a:r>
            <a:rPr lang="en-US" dirty="0" err="1" smtClean="0"/>
            <a:t>বৃদ্ধি</a:t>
          </a:r>
          <a:r>
            <a:rPr lang="en-US" dirty="0" smtClean="0"/>
            <a:t>:     ৫৬ </a:t>
          </a:r>
          <a:r>
            <a:rPr lang="en-US" dirty="0" err="1" smtClean="0"/>
            <a:t>জন</a:t>
          </a:r>
          <a:endParaRPr lang="en-US" dirty="0" smtClean="0"/>
        </a:p>
      </dgm:t>
    </dgm:pt>
    <dgm:pt modelId="{7013BDC3-8014-4AF1-B8ED-04FED08A63B1}" type="parTrans" cxnId="{D2DF2B10-F455-4E92-9E93-98A19CBF2C56}">
      <dgm:prSet/>
      <dgm:spPr/>
      <dgm:t>
        <a:bodyPr/>
        <a:lstStyle/>
        <a:p>
          <a:endParaRPr lang="en-US"/>
        </a:p>
      </dgm:t>
    </dgm:pt>
    <dgm:pt modelId="{42B06845-0AB7-47D2-BB61-4A3F6D67E2E2}" type="sibTrans" cxnId="{D2DF2B10-F455-4E92-9E93-98A19CBF2C56}">
      <dgm:prSet/>
      <dgm:spPr/>
      <dgm:t>
        <a:bodyPr/>
        <a:lstStyle/>
        <a:p>
          <a:endParaRPr lang="en-US"/>
        </a:p>
      </dgm:t>
    </dgm:pt>
    <dgm:pt modelId="{610D7153-D836-425E-ABAB-41B69166C8FA}">
      <dgm:prSet/>
      <dgm:spPr/>
      <dgm:t>
        <a:bodyPr/>
        <a:lstStyle/>
        <a:p>
          <a:r>
            <a:rPr lang="bn-IN"/>
            <a:t>সুরক্ষা</a:t>
          </a:r>
          <a:endParaRPr lang="en-US"/>
        </a:p>
      </dgm:t>
    </dgm:pt>
    <dgm:pt modelId="{6CEE0124-3B99-402B-9A12-1318843520CA}" type="parTrans" cxnId="{9CC96D18-66E0-43F7-9580-25FB6CADC4DF}">
      <dgm:prSet/>
      <dgm:spPr/>
      <dgm:t>
        <a:bodyPr/>
        <a:lstStyle/>
        <a:p>
          <a:endParaRPr lang="en-US"/>
        </a:p>
      </dgm:t>
    </dgm:pt>
    <dgm:pt modelId="{8CCF91BC-C031-4D41-A211-F51D8C5F779A}" type="sibTrans" cxnId="{9CC96D18-66E0-43F7-9580-25FB6CADC4DF}">
      <dgm:prSet/>
      <dgm:spPr/>
      <dgm:t>
        <a:bodyPr/>
        <a:lstStyle/>
        <a:p>
          <a:endParaRPr lang="en-US"/>
        </a:p>
      </dgm:t>
    </dgm:pt>
    <dgm:pt modelId="{77B94860-9B07-4F13-B939-C7B0F42EECBC}">
      <dgm:prSet/>
      <dgm:spPr/>
      <dgm:t>
        <a:bodyPr/>
        <a:lstStyle/>
        <a:p>
          <a:r>
            <a:rPr lang="bn-IN" dirty="0"/>
            <a:t>দূর্নীতি </a:t>
          </a:r>
          <a:r>
            <a:rPr lang="bn-IN" dirty="0" smtClean="0"/>
            <a:t>প্রতিরোধ</a:t>
          </a:r>
          <a:r>
            <a:rPr lang="en-GB" dirty="0" smtClean="0"/>
            <a:t>  </a:t>
          </a:r>
          <a:endParaRPr lang="en-US" dirty="0"/>
        </a:p>
      </dgm:t>
    </dgm:pt>
    <dgm:pt modelId="{51C5C389-9023-43AD-BE4D-242654F19991}" type="parTrans" cxnId="{5ECC7277-5B7A-4B43-B7F3-18C191279D21}">
      <dgm:prSet/>
      <dgm:spPr/>
      <dgm:t>
        <a:bodyPr/>
        <a:lstStyle/>
        <a:p>
          <a:endParaRPr lang="en-US"/>
        </a:p>
      </dgm:t>
    </dgm:pt>
    <dgm:pt modelId="{CADCDD1F-286D-489C-AED4-25F7A9A1E31E}" type="sibTrans" cxnId="{5ECC7277-5B7A-4B43-B7F3-18C191279D21}">
      <dgm:prSet/>
      <dgm:spPr/>
      <dgm:t>
        <a:bodyPr/>
        <a:lstStyle/>
        <a:p>
          <a:endParaRPr lang="en-US"/>
        </a:p>
      </dgm:t>
    </dgm:pt>
    <dgm:pt modelId="{4D71D476-FD32-44C8-A5D7-96F395056DC2}">
      <dgm:prSet/>
      <dgm:spPr/>
      <dgm:t>
        <a:bodyPr/>
        <a:lstStyle/>
        <a:p>
          <a:r>
            <a:rPr lang="bn-IN"/>
            <a:t>পরিচ্ছন্নতা</a:t>
          </a:r>
          <a:r>
            <a:rPr lang="bn-IN" b="1"/>
            <a:t> </a:t>
          </a:r>
          <a:r>
            <a:rPr lang="bn-IN"/>
            <a:t>ও</a:t>
          </a:r>
          <a:r>
            <a:rPr lang="bn-IN" b="1"/>
            <a:t> </a:t>
          </a:r>
          <a:r>
            <a:rPr lang="bn-IN"/>
            <a:t>সৌন্দর্যবর্ধন </a:t>
          </a:r>
          <a:endParaRPr lang="en-US" dirty="0"/>
        </a:p>
      </dgm:t>
    </dgm:pt>
    <dgm:pt modelId="{038FB7E5-7686-400C-8BFA-CF6A6DD230D6}" type="parTrans" cxnId="{5F1D6F3C-A09A-4277-9D10-F90228167CA5}">
      <dgm:prSet/>
      <dgm:spPr/>
      <dgm:t>
        <a:bodyPr/>
        <a:lstStyle/>
        <a:p>
          <a:endParaRPr lang="en-US"/>
        </a:p>
      </dgm:t>
    </dgm:pt>
    <dgm:pt modelId="{B4982816-5802-4A0A-BA19-DD21221289D4}" type="sibTrans" cxnId="{5F1D6F3C-A09A-4277-9D10-F90228167CA5}">
      <dgm:prSet/>
      <dgm:spPr/>
      <dgm:t>
        <a:bodyPr/>
        <a:lstStyle/>
        <a:p>
          <a:endParaRPr lang="en-US"/>
        </a:p>
      </dgm:t>
    </dgm:pt>
    <dgm:pt modelId="{A84A2978-2AC1-4303-BCBD-40A8C5C9F7B0}">
      <dgm:prSet/>
      <dgm:spPr/>
      <dgm:t>
        <a:bodyPr/>
        <a:lstStyle/>
        <a:p>
          <a:r>
            <a:rPr lang="en-GB" dirty="0" err="1" smtClean="0"/>
            <a:t>শ্রেষ্ঠ</a:t>
          </a:r>
          <a:r>
            <a:rPr lang="en-GB" dirty="0" smtClean="0"/>
            <a:t> </a:t>
          </a:r>
          <a:r>
            <a:rPr lang="en-GB" dirty="0" err="1" smtClean="0"/>
            <a:t>মান</a:t>
          </a:r>
          <a:r>
            <a:rPr lang="en-GB" dirty="0" smtClean="0"/>
            <a:t> </a:t>
          </a:r>
          <a:r>
            <a:rPr lang="en-GB" dirty="0" err="1" smtClean="0"/>
            <a:t>সম্পন্ন</a:t>
          </a:r>
          <a:r>
            <a:rPr lang="en-GB" dirty="0" smtClean="0"/>
            <a:t> </a:t>
          </a:r>
          <a:r>
            <a:rPr lang="en-GB" dirty="0" err="1" smtClean="0"/>
            <a:t>সেবা</a:t>
          </a:r>
          <a:r>
            <a:rPr lang="en-GB" dirty="0" smtClean="0"/>
            <a:t> </a:t>
          </a:r>
          <a:r>
            <a:rPr lang="en-GB" dirty="0" err="1" smtClean="0"/>
            <a:t>কেন্দ্র</a:t>
          </a:r>
          <a:endParaRPr lang="en-US" dirty="0"/>
        </a:p>
      </dgm:t>
    </dgm:pt>
    <dgm:pt modelId="{4F97281A-802C-4000-8D2A-66142CFFCE3C}" type="sibTrans" cxnId="{166E3F99-1D73-450F-BDAA-30C14BAE59A4}">
      <dgm:prSet/>
      <dgm:spPr/>
      <dgm:t>
        <a:bodyPr/>
        <a:lstStyle/>
        <a:p>
          <a:endParaRPr lang="en-US"/>
        </a:p>
      </dgm:t>
    </dgm:pt>
    <dgm:pt modelId="{E3041B88-5468-4AB9-8D02-E4D51804522F}" type="parTrans" cxnId="{166E3F99-1D73-450F-BDAA-30C14BAE59A4}">
      <dgm:prSet/>
      <dgm:spPr/>
      <dgm:t>
        <a:bodyPr/>
        <a:lstStyle/>
        <a:p>
          <a:endParaRPr lang="en-US"/>
        </a:p>
      </dgm:t>
    </dgm:pt>
    <dgm:pt modelId="{D1F5521C-92B8-4D4D-8EED-39D567818230}" type="pres">
      <dgm:prSet presAssocID="{D9F660D2-7531-4B7B-9DC9-B462E3FDA8A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570E10F7-852E-4DD4-A1D9-BE86AC68401E}" type="pres">
      <dgm:prSet presAssocID="{D9F660D2-7531-4B7B-9DC9-B462E3FDA8AA}" presName="cycle" presStyleCnt="0"/>
      <dgm:spPr/>
    </dgm:pt>
    <dgm:pt modelId="{DF5D109B-C564-497C-B822-FF07AB5AC3EF}" type="pres">
      <dgm:prSet presAssocID="{A84A2978-2AC1-4303-BCBD-40A8C5C9F7B0}" presName="nodeFirst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046EDB0-D1C9-407A-A55E-5858E1E5D4AF}" type="pres">
      <dgm:prSet presAssocID="{4F97281A-802C-4000-8D2A-66142CFFCE3C}" presName="sibTransFirstNode" presStyleLbl="bgShp" presStyleIdx="0" presStyleCnt="1"/>
      <dgm:spPr/>
      <dgm:t>
        <a:bodyPr/>
        <a:lstStyle/>
        <a:p>
          <a:endParaRPr lang="en-GB"/>
        </a:p>
      </dgm:t>
    </dgm:pt>
    <dgm:pt modelId="{CB4F0E61-DC7F-4119-ABA9-796676CB2FA1}" type="pres">
      <dgm:prSet presAssocID="{3D02B9F0-E626-4C8B-BD2A-5010DA3B9508}" presName="nodeFollowingNodes" presStyleLbl="node1" presStyleIdx="1" presStyleCnt="7" custRadScaleRad="97866" custRadScaleInc="-22539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7FC54FE-E97C-4F29-92CF-2A7248720E8D}" type="pres">
      <dgm:prSet presAssocID="{9AEA5E90-4BA3-4DD2-9B18-80F40A809CFB}" presName="nodeFollowingNodes" presStyleLbl="node1" presStyleIdx="2" presStyleCnt="7" custRadScaleRad="98552" custRadScaleInc="-988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2E5C2CC-16B6-414F-A1E4-8C9432894059}" type="pres">
      <dgm:prSet presAssocID="{88D3464D-A729-40F4-BC36-33D77706DB6F}" presName="nodeFollowingNodes" presStyleLbl="node1" presStyleIdx="3" presStyleCnt="7" custRadScaleRad="101627" custRadScaleInc="12244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4FF0D0D-74E1-473C-A1E9-CFD413B11028}" type="pres">
      <dgm:prSet presAssocID="{610D7153-D836-425E-ABAB-41B69166C8FA}" presName="nodeFollowingNodes" presStyleLbl="node1" presStyleIdx="4" presStyleCnt="7" custRadScaleRad="99563" custRadScaleInc="-11759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D24C1E3-835B-4535-A9EB-AB5FCDF4505F}" type="pres">
      <dgm:prSet presAssocID="{77B94860-9B07-4F13-B939-C7B0F42EECBC}" presName="nodeFollowingNodes" presStyleLbl="node1" presStyleIdx="5" presStyleCnt="7" custRadScaleRad="98104" custRadScaleInc="1507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173D7A6-1922-458F-9222-CB9A92415CD8}" type="pres">
      <dgm:prSet presAssocID="{4D71D476-FD32-44C8-A5D7-96F395056DC2}" presName="nodeFollowingNodes" presStyleLbl="node1" presStyleIdx="6" presStyleCnt="7" custRadScaleRad="101286" custRadScaleInc="22738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D2DF2B10-F455-4E92-9E93-98A19CBF2C56}" srcId="{D9F660D2-7531-4B7B-9DC9-B462E3FDA8AA}" destId="{88D3464D-A729-40F4-BC36-33D77706DB6F}" srcOrd="3" destOrd="0" parTransId="{7013BDC3-8014-4AF1-B8ED-04FED08A63B1}" sibTransId="{42B06845-0AB7-47D2-BB61-4A3F6D67E2E2}"/>
    <dgm:cxn modelId="{9CC96D18-66E0-43F7-9580-25FB6CADC4DF}" srcId="{D9F660D2-7531-4B7B-9DC9-B462E3FDA8AA}" destId="{610D7153-D836-425E-ABAB-41B69166C8FA}" srcOrd="4" destOrd="0" parTransId="{6CEE0124-3B99-402B-9A12-1318843520CA}" sibTransId="{8CCF91BC-C031-4D41-A211-F51D8C5F779A}"/>
    <dgm:cxn modelId="{41CF2FE1-F406-4D15-BD41-2FC2F998AD6F}" type="presOf" srcId="{4F97281A-802C-4000-8D2A-66142CFFCE3C}" destId="{D046EDB0-D1C9-407A-A55E-5858E1E5D4AF}" srcOrd="0" destOrd="0" presId="urn:microsoft.com/office/officeart/2005/8/layout/cycle3"/>
    <dgm:cxn modelId="{B312A496-23FC-4EC1-9917-4C6FF45AB17D}" type="presOf" srcId="{3D02B9F0-E626-4C8B-BD2A-5010DA3B9508}" destId="{CB4F0E61-DC7F-4119-ABA9-796676CB2FA1}" srcOrd="0" destOrd="0" presId="urn:microsoft.com/office/officeart/2005/8/layout/cycle3"/>
    <dgm:cxn modelId="{791D06BB-C3A8-4658-85D7-528F816FC9FB}" srcId="{D9F660D2-7531-4B7B-9DC9-B462E3FDA8AA}" destId="{9AEA5E90-4BA3-4DD2-9B18-80F40A809CFB}" srcOrd="2" destOrd="0" parTransId="{98546F5B-2118-40CD-B9FE-58E3011189BE}" sibTransId="{46721B0D-1AA6-4FC8-A238-D37C5C9FDA2F}"/>
    <dgm:cxn modelId="{5F1D6F3C-A09A-4277-9D10-F90228167CA5}" srcId="{D9F660D2-7531-4B7B-9DC9-B462E3FDA8AA}" destId="{4D71D476-FD32-44C8-A5D7-96F395056DC2}" srcOrd="6" destOrd="0" parTransId="{038FB7E5-7686-400C-8BFA-CF6A6DD230D6}" sibTransId="{B4982816-5802-4A0A-BA19-DD21221289D4}"/>
    <dgm:cxn modelId="{BA33D93A-AE1F-4349-BC94-EE1264459AE5}" type="presOf" srcId="{A84A2978-2AC1-4303-BCBD-40A8C5C9F7B0}" destId="{DF5D109B-C564-497C-B822-FF07AB5AC3EF}" srcOrd="0" destOrd="0" presId="urn:microsoft.com/office/officeart/2005/8/layout/cycle3"/>
    <dgm:cxn modelId="{8432617A-D934-4ADD-A017-28D71B22766E}" type="presOf" srcId="{88D3464D-A729-40F4-BC36-33D77706DB6F}" destId="{E2E5C2CC-16B6-414F-A1E4-8C9432894059}" srcOrd="0" destOrd="0" presId="urn:microsoft.com/office/officeart/2005/8/layout/cycle3"/>
    <dgm:cxn modelId="{B1C432EA-4813-4747-8615-6D860E20D057}" type="presOf" srcId="{D9F660D2-7531-4B7B-9DC9-B462E3FDA8AA}" destId="{D1F5521C-92B8-4D4D-8EED-39D567818230}" srcOrd="0" destOrd="0" presId="urn:microsoft.com/office/officeart/2005/8/layout/cycle3"/>
    <dgm:cxn modelId="{AE388074-7BCE-4DC5-A93D-92DE561DA4A4}" type="presOf" srcId="{77B94860-9B07-4F13-B939-C7B0F42EECBC}" destId="{8D24C1E3-835B-4535-A9EB-AB5FCDF4505F}" srcOrd="0" destOrd="0" presId="urn:microsoft.com/office/officeart/2005/8/layout/cycle3"/>
    <dgm:cxn modelId="{1A7B7DA8-78F7-45CF-BCFF-2D514BCA9371}" type="presOf" srcId="{610D7153-D836-425E-ABAB-41B69166C8FA}" destId="{C4FF0D0D-74E1-473C-A1E9-CFD413B11028}" srcOrd="0" destOrd="0" presId="urn:microsoft.com/office/officeart/2005/8/layout/cycle3"/>
    <dgm:cxn modelId="{328E3CC5-1A88-4B63-9EA4-AA0C7780C381}" type="presOf" srcId="{9AEA5E90-4BA3-4DD2-9B18-80F40A809CFB}" destId="{57FC54FE-E97C-4F29-92CF-2A7248720E8D}" srcOrd="0" destOrd="0" presId="urn:microsoft.com/office/officeart/2005/8/layout/cycle3"/>
    <dgm:cxn modelId="{166E3F99-1D73-450F-BDAA-30C14BAE59A4}" srcId="{D9F660D2-7531-4B7B-9DC9-B462E3FDA8AA}" destId="{A84A2978-2AC1-4303-BCBD-40A8C5C9F7B0}" srcOrd="0" destOrd="0" parTransId="{E3041B88-5468-4AB9-8D02-E4D51804522F}" sibTransId="{4F97281A-802C-4000-8D2A-66142CFFCE3C}"/>
    <dgm:cxn modelId="{40389EFB-79C6-473A-9652-9C957BF4F0A3}" type="presOf" srcId="{4D71D476-FD32-44C8-A5D7-96F395056DC2}" destId="{8173D7A6-1922-458F-9222-CB9A92415CD8}" srcOrd="0" destOrd="0" presId="urn:microsoft.com/office/officeart/2005/8/layout/cycle3"/>
    <dgm:cxn modelId="{8ABE57D6-2A0A-4702-BB91-B8B245AC27BA}" srcId="{D9F660D2-7531-4B7B-9DC9-B462E3FDA8AA}" destId="{3D02B9F0-E626-4C8B-BD2A-5010DA3B9508}" srcOrd="1" destOrd="0" parTransId="{A4D878FF-3C86-4BF2-B275-5C7CEF968DBF}" sibTransId="{B1826330-98C3-41CB-B8D0-2180131A4C37}"/>
    <dgm:cxn modelId="{5ECC7277-5B7A-4B43-B7F3-18C191279D21}" srcId="{D9F660D2-7531-4B7B-9DC9-B462E3FDA8AA}" destId="{77B94860-9B07-4F13-B939-C7B0F42EECBC}" srcOrd="5" destOrd="0" parTransId="{51C5C389-9023-43AD-BE4D-242654F19991}" sibTransId="{CADCDD1F-286D-489C-AED4-25F7A9A1E31E}"/>
    <dgm:cxn modelId="{BFCD469E-AE63-49A0-AAA9-6EBAD75EEB7F}" type="presParOf" srcId="{D1F5521C-92B8-4D4D-8EED-39D567818230}" destId="{570E10F7-852E-4DD4-A1D9-BE86AC68401E}" srcOrd="0" destOrd="0" presId="urn:microsoft.com/office/officeart/2005/8/layout/cycle3"/>
    <dgm:cxn modelId="{1F38A63D-1766-4EA7-8F6C-B4125C965567}" type="presParOf" srcId="{570E10F7-852E-4DD4-A1D9-BE86AC68401E}" destId="{DF5D109B-C564-497C-B822-FF07AB5AC3EF}" srcOrd="0" destOrd="0" presId="urn:microsoft.com/office/officeart/2005/8/layout/cycle3"/>
    <dgm:cxn modelId="{8C335A4A-0805-4AFD-B0C6-0F8336F0070C}" type="presParOf" srcId="{570E10F7-852E-4DD4-A1D9-BE86AC68401E}" destId="{D046EDB0-D1C9-407A-A55E-5858E1E5D4AF}" srcOrd="1" destOrd="0" presId="urn:microsoft.com/office/officeart/2005/8/layout/cycle3"/>
    <dgm:cxn modelId="{921D464D-80BE-428B-B3B5-BB7A286F0085}" type="presParOf" srcId="{570E10F7-852E-4DD4-A1D9-BE86AC68401E}" destId="{CB4F0E61-DC7F-4119-ABA9-796676CB2FA1}" srcOrd="2" destOrd="0" presId="urn:microsoft.com/office/officeart/2005/8/layout/cycle3"/>
    <dgm:cxn modelId="{494C0E9E-0E71-421C-8032-5C0F96354044}" type="presParOf" srcId="{570E10F7-852E-4DD4-A1D9-BE86AC68401E}" destId="{57FC54FE-E97C-4F29-92CF-2A7248720E8D}" srcOrd="3" destOrd="0" presId="urn:microsoft.com/office/officeart/2005/8/layout/cycle3"/>
    <dgm:cxn modelId="{EF7791DF-23F7-44E8-B03D-7DAC30E26CC6}" type="presParOf" srcId="{570E10F7-852E-4DD4-A1D9-BE86AC68401E}" destId="{E2E5C2CC-16B6-414F-A1E4-8C9432894059}" srcOrd="4" destOrd="0" presId="urn:microsoft.com/office/officeart/2005/8/layout/cycle3"/>
    <dgm:cxn modelId="{4BACE444-A2AE-40F0-9521-6D093E7D43C5}" type="presParOf" srcId="{570E10F7-852E-4DD4-A1D9-BE86AC68401E}" destId="{C4FF0D0D-74E1-473C-A1E9-CFD413B11028}" srcOrd="5" destOrd="0" presId="urn:microsoft.com/office/officeart/2005/8/layout/cycle3"/>
    <dgm:cxn modelId="{E0F56571-1E3D-4460-A050-016D1EB6CA49}" type="presParOf" srcId="{570E10F7-852E-4DD4-A1D9-BE86AC68401E}" destId="{8D24C1E3-835B-4535-A9EB-AB5FCDF4505F}" srcOrd="6" destOrd="0" presId="urn:microsoft.com/office/officeart/2005/8/layout/cycle3"/>
    <dgm:cxn modelId="{8C0C5A0B-0944-4008-AD59-BA46819EE8C0}" type="presParOf" srcId="{570E10F7-852E-4DD4-A1D9-BE86AC68401E}" destId="{8173D7A6-1922-458F-9222-CB9A92415CD8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46EDB0-D1C9-407A-A55E-5858E1E5D4AF}">
      <dsp:nvSpPr>
        <dsp:cNvPr id="0" name=""/>
        <dsp:cNvSpPr/>
      </dsp:nvSpPr>
      <dsp:spPr>
        <a:xfrm>
          <a:off x="436464" y="134228"/>
          <a:ext cx="6078588" cy="6078588"/>
        </a:xfrm>
        <a:prstGeom prst="circularArrow">
          <a:avLst>
            <a:gd name="adj1" fmla="val 5544"/>
            <a:gd name="adj2" fmla="val 330680"/>
            <a:gd name="adj3" fmla="val 14514598"/>
            <a:gd name="adj4" fmla="val 16950906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5D109B-C564-497C-B822-FF07AB5AC3EF}">
      <dsp:nvSpPr>
        <dsp:cNvPr id="0" name=""/>
        <dsp:cNvSpPr/>
      </dsp:nvSpPr>
      <dsp:spPr>
        <a:xfrm>
          <a:off x="2528750" y="175994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dirty="0" err="1" smtClean="0"/>
            <a:t>শ্রেষ্ঠ</a:t>
          </a:r>
          <a:r>
            <a:rPr lang="en-GB" sz="1900" kern="1200" dirty="0" smtClean="0"/>
            <a:t> </a:t>
          </a:r>
          <a:r>
            <a:rPr lang="en-GB" sz="1900" kern="1200" dirty="0" err="1" smtClean="0"/>
            <a:t>মান</a:t>
          </a:r>
          <a:r>
            <a:rPr lang="en-GB" sz="1900" kern="1200" dirty="0" smtClean="0"/>
            <a:t> </a:t>
          </a:r>
          <a:r>
            <a:rPr lang="en-GB" sz="1900" kern="1200" dirty="0" err="1" smtClean="0"/>
            <a:t>সম্পন্ন</a:t>
          </a:r>
          <a:r>
            <a:rPr lang="en-GB" sz="1900" kern="1200" dirty="0" smtClean="0"/>
            <a:t> </a:t>
          </a:r>
          <a:r>
            <a:rPr lang="en-GB" sz="1900" kern="1200" dirty="0" err="1" smtClean="0"/>
            <a:t>সেবা</a:t>
          </a:r>
          <a:r>
            <a:rPr lang="en-GB" sz="1900" kern="1200" dirty="0" smtClean="0"/>
            <a:t> </a:t>
          </a:r>
          <a:r>
            <a:rPr lang="en-GB" sz="1900" kern="1200" dirty="0" err="1" smtClean="0"/>
            <a:t>কেন্দ্র</a:t>
          </a:r>
          <a:endParaRPr lang="en-US" sz="1900" kern="1200" dirty="0"/>
        </a:p>
      </dsp:txBody>
      <dsp:txXfrm>
        <a:off x="2574979" y="222223"/>
        <a:ext cx="1801558" cy="854550"/>
      </dsp:txXfrm>
    </dsp:sp>
    <dsp:sp modelId="{CB4F0E61-DC7F-4119-ABA9-796676CB2FA1}">
      <dsp:nvSpPr>
        <dsp:cNvPr id="0" name=""/>
        <dsp:cNvSpPr/>
      </dsp:nvSpPr>
      <dsp:spPr>
        <a:xfrm>
          <a:off x="585473" y="1137439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 smtClean="0"/>
            <a:t>সম</a:t>
          </a:r>
          <a:r>
            <a:rPr lang="en-GB" sz="1900" kern="1200" smtClean="0"/>
            <a:t>্প্রসারণ</a:t>
          </a:r>
          <a:endParaRPr lang="en-GB" sz="1900" kern="1200" dirty="0" smtClean="0"/>
        </a:p>
      </dsp:txBody>
      <dsp:txXfrm>
        <a:off x="631702" y="1183668"/>
        <a:ext cx="1801558" cy="854550"/>
      </dsp:txXfrm>
    </dsp:sp>
    <dsp:sp modelId="{57FC54FE-E97C-4F29-92CF-2A7248720E8D}">
      <dsp:nvSpPr>
        <dsp:cNvPr id="0" name=""/>
        <dsp:cNvSpPr/>
      </dsp:nvSpPr>
      <dsp:spPr>
        <a:xfrm>
          <a:off x="5055898" y="3141740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 dirty="0" smtClean="0"/>
            <a:t>জনসম্পৃক্ততা</a:t>
          </a:r>
          <a:r>
            <a:rPr lang="en-GB" sz="1900" kern="1200" dirty="0" smtClean="0"/>
            <a:t> ও </a:t>
          </a:r>
          <a:r>
            <a:rPr lang="en-GB" sz="1900" kern="1200" dirty="0" err="1" smtClean="0"/>
            <a:t>কমিটি</a:t>
          </a:r>
          <a:r>
            <a:rPr lang="en-GB" sz="1900" kern="1200" dirty="0" smtClean="0"/>
            <a:t> </a:t>
          </a:r>
          <a:r>
            <a:rPr lang="en-GB" sz="1900" kern="1200" dirty="0" err="1" smtClean="0"/>
            <a:t>গঠন</a:t>
          </a:r>
          <a:r>
            <a:rPr lang="bn-IN" sz="1900" kern="1200" dirty="0" smtClean="0"/>
            <a:t> </a:t>
          </a:r>
          <a:endParaRPr lang="en-US" sz="1900" kern="1200" dirty="0"/>
        </a:p>
      </dsp:txBody>
      <dsp:txXfrm>
        <a:off x="5102127" y="3187969"/>
        <a:ext cx="1801558" cy="854550"/>
      </dsp:txXfrm>
    </dsp:sp>
    <dsp:sp modelId="{E2E5C2CC-16B6-414F-A1E4-8C9432894059}">
      <dsp:nvSpPr>
        <dsp:cNvPr id="0" name=""/>
        <dsp:cNvSpPr/>
      </dsp:nvSpPr>
      <dsp:spPr>
        <a:xfrm>
          <a:off x="1236041" y="5063476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 smtClean="0"/>
            <a:t>স্টাফ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বৃদ্ধি</a:t>
          </a:r>
          <a:r>
            <a:rPr lang="en-US" sz="1900" kern="1200" dirty="0" smtClean="0"/>
            <a:t>:     ৫৬ </a:t>
          </a:r>
          <a:r>
            <a:rPr lang="en-US" sz="1900" kern="1200" dirty="0" err="1" smtClean="0"/>
            <a:t>জন</a:t>
          </a:r>
          <a:endParaRPr lang="en-US" sz="1900" kern="1200" dirty="0" smtClean="0"/>
        </a:p>
      </dsp:txBody>
      <dsp:txXfrm>
        <a:off x="1282270" y="5109705"/>
        <a:ext cx="1801558" cy="854550"/>
      </dsp:txXfrm>
    </dsp:sp>
    <dsp:sp modelId="{C4FF0D0D-74E1-473C-A1E9-CFD413B11028}">
      <dsp:nvSpPr>
        <dsp:cNvPr id="0" name=""/>
        <dsp:cNvSpPr/>
      </dsp:nvSpPr>
      <dsp:spPr>
        <a:xfrm>
          <a:off x="3708630" y="5063467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/>
            <a:t>সুরক্ষা</a:t>
          </a:r>
          <a:endParaRPr lang="en-US" sz="1900" kern="1200"/>
        </a:p>
      </dsp:txBody>
      <dsp:txXfrm>
        <a:off x="3754859" y="5109696"/>
        <a:ext cx="1801558" cy="854550"/>
      </dsp:txXfrm>
    </dsp:sp>
    <dsp:sp modelId="{8D24C1E3-835B-4535-A9EB-AB5FCDF4505F}">
      <dsp:nvSpPr>
        <dsp:cNvPr id="0" name=""/>
        <dsp:cNvSpPr/>
      </dsp:nvSpPr>
      <dsp:spPr>
        <a:xfrm>
          <a:off x="13" y="3037118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 dirty="0"/>
            <a:t>দূর্নীতি </a:t>
          </a:r>
          <a:r>
            <a:rPr lang="bn-IN" sz="1900" kern="1200" dirty="0" smtClean="0"/>
            <a:t>প্রতিরোধ</a:t>
          </a:r>
          <a:r>
            <a:rPr lang="en-GB" sz="1900" kern="1200" dirty="0" smtClean="0"/>
            <a:t>  </a:t>
          </a:r>
          <a:endParaRPr lang="en-US" sz="1900" kern="1200" dirty="0"/>
        </a:p>
      </dsp:txBody>
      <dsp:txXfrm>
        <a:off x="46242" y="3083347"/>
        <a:ext cx="1801558" cy="854550"/>
      </dsp:txXfrm>
    </dsp:sp>
    <dsp:sp modelId="{8173D7A6-1922-458F-9222-CB9A92415CD8}">
      <dsp:nvSpPr>
        <dsp:cNvPr id="0" name=""/>
        <dsp:cNvSpPr/>
      </dsp:nvSpPr>
      <dsp:spPr>
        <a:xfrm>
          <a:off x="4566132" y="1112172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/>
            <a:t>পরিচ্ছন্নতা</a:t>
          </a:r>
          <a:r>
            <a:rPr lang="bn-IN" sz="1900" b="1" kern="1200"/>
            <a:t> </a:t>
          </a:r>
          <a:r>
            <a:rPr lang="bn-IN" sz="1900" kern="1200"/>
            <a:t>ও</a:t>
          </a:r>
          <a:r>
            <a:rPr lang="bn-IN" sz="1900" b="1" kern="1200"/>
            <a:t> </a:t>
          </a:r>
          <a:r>
            <a:rPr lang="bn-IN" sz="1900" kern="1200"/>
            <a:t>সৌন্দর্যবর্ধন </a:t>
          </a:r>
          <a:endParaRPr lang="en-US" sz="1900" kern="1200" dirty="0"/>
        </a:p>
      </dsp:txBody>
      <dsp:txXfrm>
        <a:off x="4612361" y="1158401"/>
        <a:ext cx="1801558" cy="8545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539AD-9888-444D-B65C-76DECAF1EB84}" type="datetimeFigureOut">
              <a:rPr lang="bn-BD" smtClean="0"/>
              <a:pPr/>
              <a:t>6/2/1442</a:t>
            </a:fld>
            <a:endParaRPr lang="b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F21FC-2469-4510-B52A-1E80B6F41DF7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426975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2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617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9575" y="700088"/>
            <a:ext cx="6191250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58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074D112-C1F5-4C6B-9E8C-C7CB711A8238}" type="slidenum">
              <a:rPr lang="en-US" smtClean="0">
                <a:solidFill>
                  <a:srgbClr val="000000"/>
                </a:solidFill>
              </a:rPr>
              <a:pPr eaLnBrk="1" hangingPunct="1"/>
              <a:t>7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7413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6F21FC-2469-4510-B52A-1E80B6F41DF7}" type="slidenum">
              <a:rPr lang="bn-BD" smtClean="0"/>
              <a:pPr/>
              <a:t>8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659689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513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09" indent="-285734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2937" indent="-228587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112" indent="-228587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287" indent="-228587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461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63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8810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598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86761E05-EE1F-4A5F-966C-4E23ADB021F5}" type="slidenum">
              <a:rPr lang="en-US" smtClean="0">
                <a:solidFill>
                  <a:srgbClr val="000000"/>
                </a:solidFill>
              </a:rPr>
              <a:pPr eaLnBrk="1" hangingPunct="1"/>
              <a:t>23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7413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6F21FC-2469-4510-B52A-1E80B6F41DF7}" type="slidenum">
              <a:rPr lang="bn-BD" smtClean="0"/>
              <a:pPr/>
              <a:t>24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397817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28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074D112-C1F5-4C6B-9E8C-C7CB711A8238}" type="slidenum">
              <a:rPr lang="en-US" smtClean="0">
                <a:solidFill>
                  <a:srgbClr val="000000"/>
                </a:solidFill>
              </a:rPr>
              <a:pPr eaLnBrk="1" hangingPunct="1"/>
              <a:t>30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7413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7388"/>
            <a:ext cx="6092825" cy="3427412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1"/>
            <a:ext cx="5483225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7388"/>
            <a:ext cx="6092825" cy="3427412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723" y="4342797"/>
            <a:ext cx="5484556" cy="411439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1pPr>
            <a:lvl2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2pPr>
            <a:lvl3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3pPr>
            <a:lvl4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4pPr>
            <a:lvl5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5pPr>
            <a:lvl6pPr marL="2467577" indent="-224325" defTabSz="440862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6pPr>
            <a:lvl7pPr marL="2916227" indent="-224325" defTabSz="440862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7pPr>
            <a:lvl8pPr marL="3364878" indent="-224325" defTabSz="440862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8pPr>
            <a:lvl9pPr marL="3813528" indent="-224325" defTabSz="440862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/>
            <a:fld id="{067C116D-9CB3-42FB-BAA8-F1AACF7FCA97}" type="slidenum">
              <a:rPr lang="en-US" sz="1300">
                <a:solidFill>
                  <a:srgbClr val="000000"/>
                </a:solidFill>
                <a:latin typeface="Times New Roman" pitchFamily="18" charset="0"/>
                <a:ea typeface="ＭＳ Ｐ明朝"/>
                <a:cs typeface="ＭＳ Ｐ明朝"/>
              </a:rPr>
              <a:pPr eaLnBrk="1"/>
              <a:t>37</a:t>
            </a:fld>
            <a:endParaRPr lang="en-US" sz="1300">
              <a:solidFill>
                <a:srgbClr val="000000"/>
              </a:solidFill>
              <a:latin typeface="Times New Roman" pitchFamily="18" charset="0"/>
              <a:ea typeface="ＭＳ Ｐ明朝"/>
              <a:cs typeface="ＭＳ Ｐ明朝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8463" y="717550"/>
            <a:ext cx="6057900" cy="3408363"/>
          </a:xfrm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711" y="4370570"/>
            <a:ext cx="5031685" cy="4084820"/>
          </a:xfrm>
          <a:noFill/>
        </p:spPr>
        <p:txBody>
          <a:bodyPr lIns="91428" tIns="45714" rIns="91428" bIns="45714"/>
          <a:lstStyle/>
          <a:p>
            <a:pPr defTabSz="800716"/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7849" y="718279"/>
            <a:ext cx="4519198" cy="3407139"/>
          </a:xfrm>
        </p:spPr>
      </p:sp>
      <p:sp>
        <p:nvSpPr>
          <p:cNvPr id="5017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4711" y="4370570"/>
            <a:ext cx="5031685" cy="4084820"/>
          </a:xfrm>
          <a:noFill/>
        </p:spPr>
        <p:txBody>
          <a:bodyPr lIns="91428" tIns="45714" rIns="91428" bIns="45714"/>
          <a:lstStyle/>
          <a:p>
            <a:pPr defTabSz="897301"/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7849" y="718279"/>
            <a:ext cx="4519198" cy="3407139"/>
          </a:xfrm>
          <a:ln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51203" name="Rectangle 1028"/>
          <p:cNvSpPr>
            <a:spLocks noGrp="1" noChangeArrowheads="1"/>
          </p:cNvSpPr>
          <p:nvPr>
            <p:ph type="body" idx="1"/>
          </p:nvPr>
        </p:nvSpPr>
        <p:spPr>
          <a:xfrm>
            <a:off x="914711" y="4370570"/>
            <a:ext cx="5031685" cy="4084820"/>
          </a:xfrm>
          <a:noFill/>
        </p:spPr>
        <p:txBody>
          <a:bodyPr lIns="91428" tIns="45714" rIns="91428" bIns="45714"/>
          <a:lstStyle/>
          <a:p>
            <a:pPr defTabSz="89730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863035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290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  <p:sldLayoutId id="2147483671" r:id="rId18"/>
    <p:sldLayoutId id="2147483672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4.pn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0.png"/><Relationship Id="rId4" Type="http://schemas.openxmlformats.org/officeDocument/2006/relationships/image" Target="../media/image2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2.jpe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13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8.wmf"/><Relationship Id="rId10" Type="http://schemas.openxmlformats.org/officeDocument/2006/relationships/image" Target="../media/image50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5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notesSlide" Target="../notesSlides/notesSlide15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CCED5FC-CC01-4A03-9708-9580A492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411" y="908432"/>
            <a:ext cx="11749177" cy="1314159"/>
          </a:xfrm>
        </p:spPr>
        <p:txBody>
          <a:bodyPr>
            <a:noAutofit/>
          </a:bodyPr>
          <a:lstStyle/>
          <a:p>
            <a:pPr algn="ctr"/>
            <a:r>
              <a:rPr lang="bn-I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সি-জে জনসম্পৃক্ত স্বাস্থ্য ব্যবস্থাপনা</a:t>
            </a:r>
            <a:endParaRPr lang="bn-BD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129AF61-9AC1-4937-8C6E-F00B0D21A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3821" y="3240793"/>
            <a:ext cx="10850593" cy="3462068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ডা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মো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ইমদাদুল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হক</a:t>
            </a:r>
            <a:endParaRPr lang="bn-IN" sz="2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জাতীয় পরামর্শক</a:t>
            </a: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সমন্বয় ও সহায়তা 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কেন্দ্র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,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স্বাস্থ্য অধিদপ্তর</a:t>
            </a:r>
            <a:endParaRPr lang="bn-BD" sz="1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এবং</a:t>
            </a:r>
          </a:p>
          <a:p>
            <a:pPr algn="ctr"/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সদস্য, </a:t>
            </a:r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সি-জে মডেল স্বাস্থ্য 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ব্যবস্থাপনা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1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টেকনিক্যাল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1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কমিটি</a:t>
            </a:r>
            <a:endParaRPr lang="bn-IN" sz="1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2" y="129820"/>
            <a:ext cx="1281809" cy="127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83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402" y="2362200"/>
            <a:ext cx="5116327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510117" y="838200"/>
            <a:ext cx="11243733" cy="954107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err="1" smtClean="0">
                <a:solidFill>
                  <a:schemeClr val="tx1"/>
                </a:solidFill>
              </a:rPr>
              <a:t>চৌগাছা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উপজেলা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স্বাস্থ্য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কমপ্লেক্স</a:t>
            </a:r>
            <a:r>
              <a:rPr lang="en-US" sz="3200" b="1" dirty="0" smtClean="0">
                <a:solidFill>
                  <a:schemeClr val="tx1"/>
                </a:solidFill>
              </a:rPr>
              <a:t>, </a:t>
            </a:r>
            <a:r>
              <a:rPr lang="en-US" sz="3200" b="1" dirty="0" err="1" smtClean="0">
                <a:solidFill>
                  <a:schemeClr val="tx1"/>
                </a:solidFill>
              </a:rPr>
              <a:t>যশোর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endParaRPr lang="en-US" sz="2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1202" y="2362200"/>
            <a:ext cx="5389253" cy="3124200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478589" y="5638801"/>
            <a:ext cx="5820612" cy="584775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dirty="0" err="1" smtClean="0">
                <a:solidFill>
                  <a:schemeClr val="tx1"/>
                </a:solidFill>
              </a:rPr>
              <a:t>পুর্বের</a:t>
            </a:r>
            <a:r>
              <a:rPr lang="en-US" sz="3200" dirty="0" smtClean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স্বাস্থ্য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কমপ্লেক্স</a:t>
            </a:r>
            <a:r>
              <a:rPr lang="en-US" sz="3200" dirty="0" smtClean="0">
                <a:solidFill>
                  <a:schemeClr val="tx1"/>
                </a:solidFill>
              </a:rPr>
              <a:t> </a:t>
            </a:r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6649783" y="5638801"/>
            <a:ext cx="5104068" cy="584775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dirty="0" err="1" smtClean="0">
                <a:solidFill>
                  <a:schemeClr val="tx1"/>
                </a:solidFill>
              </a:rPr>
              <a:t>বর্তমান</a:t>
            </a:r>
            <a:r>
              <a:rPr lang="en-US" sz="3200" dirty="0" smtClean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স্বাস্থ্য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কমপ্লেক্স</a:t>
            </a:r>
            <a:endParaRPr lang="en-US" sz="32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30694487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5FD3E7D-C67C-4A49-9ECA-ADEE4EB05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779" y="189782"/>
            <a:ext cx="10131425" cy="1456267"/>
          </a:xfrm>
        </p:spPr>
        <p:txBody>
          <a:bodyPr>
            <a:noAutofit/>
          </a:bodyPr>
          <a:lstStyle/>
          <a:p>
            <a:pPr algn="ctr"/>
            <a:r>
              <a:rPr lang="bn-IN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ভূমিকা</a:t>
            </a:r>
            <a:endParaRPr lang="bn-BD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A9C56B05-E057-4D05-BEC9-A5A176CBD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75" y="1708030"/>
            <a:ext cx="11731923" cy="4525993"/>
          </a:xfrm>
        </p:spPr>
        <p:txBody>
          <a:bodyPr>
            <a:normAutofit/>
          </a:bodyPr>
          <a:lstStyle/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জনসম্পৃক্ততা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সমাদৃত স্বাস্থ্য ব্যবস্থাপনা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একাধিকবার পুরস্কৃত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অপ্রতুল 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সম্পদে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র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সর্বোত্তম 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ব্যবস্থাপনা</a:t>
            </a:r>
            <a:endParaRPr lang="bn-I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153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n-BD" sz="6600" dirty="0">
                <a:latin typeface="SolaimanLipi" pitchFamily="65" charset="0"/>
                <a:cs typeface="SolaimanLipi" pitchFamily="65" charset="0"/>
              </a:rPr>
              <a:t>চৌগাছা মডেল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8D7B1B53-5742-4EDF-93D5-D2A36AD7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80558"/>
            <a:ext cx="10131425" cy="4796287"/>
          </a:xfrm>
        </p:spPr>
        <p:txBody>
          <a:bodyPr>
            <a:normAutofit/>
          </a:bodyPr>
          <a:lstStyle/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শুরু: </a:t>
            </a:r>
            <a:r>
              <a:rPr lang="bn-IN" sz="4400" b="1" dirty="0" smtClean="0">
                <a:latin typeface="SolaimanLipi" pitchFamily="65" charset="0"/>
                <a:cs typeface="SolaimanLipi" pitchFamily="65" charset="0"/>
              </a:rPr>
              <a:t>১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৯৮৬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দৃশ্যমান পরিবর্তন: ১৯৯৬</a:t>
            </a: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মডেল হিসাবে ঘোষনা: ২০০৮</a:t>
            </a: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ডিজি বিশ্বস্বাস্থ্য সংস্থা এর পরিদর্শন: </a:t>
            </a:r>
            <a:r>
              <a:rPr lang="bn-IN" sz="4400" b="1" dirty="0" smtClean="0">
                <a:latin typeface="SolaimanLipi" pitchFamily="65" charset="0"/>
                <a:cs typeface="SolaimanLipi" pitchFamily="65" charset="0"/>
              </a:rPr>
              <a:t>২০১০</a:t>
            </a:r>
            <a:endParaRPr lang="en-GB" sz="4400" b="1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সম্প্রসারনের উদ্যোগ : ২০১৬</a:t>
            </a:r>
            <a:endParaRPr lang="bn-BD" sz="44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27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96" y="1113780"/>
            <a:ext cx="4590103" cy="2709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129" y="1113780"/>
            <a:ext cx="4243036" cy="2725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95" y="3976911"/>
            <a:ext cx="4590104" cy="277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130" y="3976911"/>
            <a:ext cx="4243036" cy="277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486" y="348344"/>
            <a:ext cx="10131425" cy="504180"/>
          </a:xfrm>
        </p:spPr>
        <p:txBody>
          <a:bodyPr>
            <a:normAutofit fontScale="90000"/>
          </a:bodyPr>
          <a:lstStyle/>
          <a:p>
            <a:pPr algn="ctr"/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কলেজ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পড়ুয়া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ছাত্রী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ভলেন্টিয়ার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1172028" y="1237536"/>
            <a:ext cx="1251857" cy="5041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রিসিপশনিস্ট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1172028" y="4249250"/>
            <a:ext cx="1672772" cy="5041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টিকা-দান কার্যক্রম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8767936" y="4018169"/>
            <a:ext cx="1883229" cy="25209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গর্ভবতী পরিচর্যায়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D0E666EE-FB06-4C1F-AED8-5F7043411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859" y="145143"/>
            <a:ext cx="10131425" cy="1451428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চৌগাছা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হাসপাতাল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প্রসববৃদ্ধি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/>
            </a:r>
            <a:b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</a:br>
            <a:endParaRPr lang="bn-BD" sz="44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600200"/>
            <a:ext cx="5384800" cy="4525963"/>
          </a:xfrm>
        </p:spPr>
        <p:txBody>
          <a:bodyPr/>
          <a:lstStyle/>
          <a:p>
            <a:pPr algn="ctr" eaLnBrk="1" hangingPunct="1">
              <a:buFontTx/>
              <a:buNone/>
            </a:pPr>
            <a:endParaRPr lang="en-US" sz="2800" dirty="0">
              <a:latin typeface="SolaimanLipi" pitchFamily="65" charset="0"/>
              <a:cs typeface="SolaimanLipi" pitchFamily="65" charset="0"/>
            </a:endParaRPr>
          </a:p>
          <a:p>
            <a:pPr algn="ctr" eaLnBrk="1" hangingPunct="1">
              <a:buFontTx/>
              <a:buNone/>
            </a:pPr>
            <a:endParaRPr lang="en-US" sz="2800" dirty="0">
              <a:latin typeface="SolaimanLipi" pitchFamily="65" charset="0"/>
              <a:cs typeface="SolaimanLipi" pitchFamily="65" charset="0"/>
            </a:endParaRPr>
          </a:p>
        </p:txBody>
      </p: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68619691"/>
              </p:ext>
            </p:extLst>
          </p:nvPr>
        </p:nvGraphicFramePr>
        <p:xfrm>
          <a:off x="1016001" y="1038981"/>
          <a:ext cx="9608456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45335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80870492"/>
              </p:ext>
            </p:extLst>
          </p:nvPr>
        </p:nvGraphicFramePr>
        <p:xfrm>
          <a:off x="551545" y="2492632"/>
          <a:ext cx="10871199" cy="332207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880533"/>
                <a:gridCol w="3115733"/>
                <a:gridCol w="1490133"/>
                <a:gridCol w="1405467"/>
                <a:gridCol w="1388533"/>
                <a:gridCol w="1270000"/>
                <a:gridCol w="1320800"/>
              </a:tblGrid>
              <a:tr h="6400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36570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36570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57905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67049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8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8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8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8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10580915" y="4276741"/>
            <a:ext cx="508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0542815" y="4670441"/>
            <a:ext cx="5588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2">
            <a:extLst>
              <a:ext uri="{FF2B5EF4-FFF2-40B4-BE49-F238E27FC236}">
                <a16:creationId xmlns="" xmlns:a16="http://schemas.microsoft.com/office/drawing/2014/main" id="{56B91B97-7C91-447C-95E9-36143BF78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826" y="624109"/>
            <a:ext cx="10131425" cy="1224951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চৌগাছা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খুলনা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বিভাগের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শ্রেষ্ঠ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প্রসুতি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সেবা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কেন্দ্র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, ২০১১</a:t>
            </a:r>
            <a:endParaRPr lang="bn-BD" sz="44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13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114" y="1865086"/>
            <a:ext cx="10972800" cy="4495800"/>
          </a:xfr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err="1" smtClean="0">
                <a:solidFill>
                  <a:schemeClr val="tx1"/>
                </a:solidFill>
              </a:rPr>
              <a:t>জনসম্পৃক্ততায়</a:t>
            </a:r>
            <a:r>
              <a:rPr lang="en-US" sz="3000" b="1" dirty="0" smtClean="0">
                <a:solidFill>
                  <a:schemeClr val="tx1"/>
                </a:solidFill>
              </a:rPr>
              <a:t> </a:t>
            </a:r>
            <a:r>
              <a:rPr lang="en-US" sz="3000" b="1" dirty="0" err="1" smtClean="0">
                <a:solidFill>
                  <a:schemeClr val="tx1"/>
                </a:solidFill>
              </a:rPr>
              <a:t>জনবল</a:t>
            </a:r>
            <a:r>
              <a:rPr lang="en-US" sz="3000" b="1" dirty="0" smtClean="0">
                <a:solidFill>
                  <a:schemeClr val="tx1"/>
                </a:solidFill>
              </a:rPr>
              <a:t> </a:t>
            </a:r>
            <a:r>
              <a:rPr lang="en-US" sz="3000" b="1" dirty="0" err="1" smtClean="0">
                <a:solidFill>
                  <a:schemeClr val="tx1"/>
                </a:solidFill>
              </a:rPr>
              <a:t>সহযোগিতা</a:t>
            </a:r>
            <a:endParaRPr lang="en-US" sz="3000" b="1" dirty="0" smtClean="0">
              <a:solidFill>
                <a:schemeClr val="tx1"/>
              </a:solidFill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200" b="1" dirty="0" err="1" smtClean="0">
                <a:solidFill>
                  <a:schemeClr val="tx1"/>
                </a:solidFill>
              </a:rPr>
              <a:t>সর্বেমোট</a:t>
            </a:r>
            <a:r>
              <a:rPr lang="en-US" sz="3200" dirty="0" smtClean="0">
                <a:solidFill>
                  <a:schemeClr val="tx1"/>
                </a:solidFill>
              </a:rPr>
              <a:t> 			              				:৪৬</a:t>
            </a:r>
          </a:p>
          <a:p>
            <a:pPr marL="640080" lvl="1" indent="-246888">
              <a:spcAft>
                <a:spcPts val="0"/>
              </a:spcAft>
              <a:buFont typeface="Wingdings 2"/>
              <a:buChar char=""/>
              <a:defRPr/>
            </a:pPr>
            <a:r>
              <a:rPr lang="en-GB" sz="3200" dirty="0" err="1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ভলেন্টিয়ার</a:t>
            </a:r>
            <a:r>
              <a:rPr lang="en-US" sz="3200" dirty="0" smtClean="0">
                <a:solidFill>
                  <a:schemeClr val="tx1"/>
                </a:solidFill>
              </a:rPr>
              <a:t> 		   					:</a:t>
            </a:r>
            <a:r>
              <a:rPr lang="en-GB" sz="32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২৬</a:t>
            </a:r>
            <a:endParaRPr lang="en-US" sz="3200" dirty="0" smtClean="0">
              <a:solidFill>
                <a:schemeClr val="tx1"/>
              </a:solidFill>
            </a:endParaRPr>
          </a:p>
          <a:p>
            <a:pPr marL="640080" lvl="1" indent="-246888">
              <a:spcAft>
                <a:spcPts val="0"/>
              </a:spcAft>
              <a:buFont typeface="Wingdings 2"/>
              <a:buChar char=""/>
              <a:defRPr/>
            </a:pPr>
            <a:r>
              <a:rPr lang="bn-IN" sz="28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পরিচ্ছন্নতা কর্মী</a:t>
            </a:r>
            <a:r>
              <a:rPr lang="en-GB" sz="28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2800" dirty="0" err="1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এবং</a:t>
            </a:r>
            <a:r>
              <a:rPr lang="en-GB" sz="28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2800" dirty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নিরাপত্তা রক্ষী</a:t>
            </a:r>
            <a:r>
              <a:rPr lang="en-GB" sz="28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  </a:t>
            </a:r>
            <a:r>
              <a:rPr lang="bn-IN" sz="28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3200" dirty="0" smtClean="0">
                <a:solidFill>
                  <a:schemeClr val="tx1"/>
                </a:solidFill>
              </a:rPr>
              <a:t>	:</a:t>
            </a:r>
            <a:r>
              <a:rPr lang="en-GB" sz="32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১৬</a:t>
            </a:r>
            <a:endParaRPr lang="en-US" sz="3200" dirty="0" smtClean="0">
              <a:solidFill>
                <a:schemeClr val="tx1"/>
              </a:solidFill>
            </a:endParaRPr>
          </a:p>
          <a:p>
            <a:pPr marL="640080" lvl="1" indent="-246888">
              <a:spcAft>
                <a:spcPts val="0"/>
              </a:spcAft>
              <a:buFont typeface="Wingdings 2"/>
              <a:buChar char=""/>
              <a:defRPr/>
            </a:pPr>
            <a:r>
              <a:rPr lang="en-GB" sz="3200" dirty="0" err="1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অনান্য</a:t>
            </a:r>
            <a:r>
              <a:rPr lang="en-US" sz="3200" dirty="0" smtClean="0">
                <a:solidFill>
                  <a:schemeClr val="tx1"/>
                </a:solidFill>
              </a:rPr>
              <a:t>	          						:</a:t>
            </a:r>
            <a:r>
              <a:rPr lang="en-GB" sz="32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০৪</a:t>
            </a:r>
            <a:endParaRPr lang="en-US" sz="3200" dirty="0" smtClean="0">
              <a:solidFill>
                <a:schemeClr val="tx1"/>
              </a:solidFill>
            </a:endParaRP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3200" dirty="0" err="1" smtClean="0">
                <a:solidFill>
                  <a:schemeClr val="tx1"/>
                </a:solidFill>
              </a:rPr>
              <a:t>অনুদানের</a:t>
            </a:r>
            <a:r>
              <a:rPr lang="en-US" sz="3200" dirty="0" smtClean="0">
                <a:solidFill>
                  <a:schemeClr val="tx1"/>
                </a:solidFill>
              </a:rPr>
              <a:t> </a:t>
            </a:r>
            <a:r>
              <a:rPr lang="en-US" sz="3200" dirty="0" err="1" smtClean="0">
                <a:solidFill>
                  <a:schemeClr val="tx1"/>
                </a:solidFill>
              </a:rPr>
              <a:t>উৎস</a:t>
            </a:r>
            <a:r>
              <a:rPr lang="en-US" sz="3200" dirty="0" smtClean="0">
                <a:solidFill>
                  <a:schemeClr val="tx1"/>
                </a:solidFill>
              </a:rPr>
              <a:t> </a:t>
            </a:r>
          </a:p>
          <a:p>
            <a:pPr marL="640080" lvl="1" indent="-246888">
              <a:spcAft>
                <a:spcPts val="0"/>
              </a:spcAft>
              <a:buNone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	</a:t>
            </a:r>
            <a:r>
              <a:rPr lang="en-GB" sz="3200" dirty="0" err="1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বাহিরের</a:t>
            </a:r>
            <a:r>
              <a:rPr lang="en-GB" sz="32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3200" dirty="0" err="1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উৎস</a:t>
            </a:r>
            <a:r>
              <a:rPr lang="en-US" sz="3200" dirty="0" smtClean="0">
                <a:solidFill>
                  <a:schemeClr val="tx1"/>
                </a:solidFill>
              </a:rPr>
              <a:t>       		:</a:t>
            </a:r>
            <a:r>
              <a:rPr lang="en-GB" sz="32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২৫</a:t>
            </a:r>
            <a:endParaRPr lang="en-US" sz="3200" dirty="0" smtClean="0">
              <a:solidFill>
                <a:schemeClr val="tx1"/>
              </a:solidFill>
            </a:endParaRPr>
          </a:p>
          <a:p>
            <a:pPr marL="640080" lvl="1" indent="-246888">
              <a:spcAft>
                <a:spcPts val="0"/>
              </a:spcAft>
              <a:buNone/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	</a:t>
            </a:r>
            <a:r>
              <a:rPr lang="en-GB" sz="3200" dirty="0" err="1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সেবাদানকারী</a:t>
            </a:r>
            <a:r>
              <a:rPr lang="en-GB" sz="32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		</a:t>
            </a:r>
            <a:r>
              <a:rPr lang="en-US" sz="3200" dirty="0" smtClean="0">
                <a:solidFill>
                  <a:schemeClr val="tx1"/>
                </a:solidFill>
              </a:rPr>
              <a:t>		:</a:t>
            </a:r>
            <a:r>
              <a:rPr lang="en-GB" sz="32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২১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510117" y="693060"/>
            <a:ext cx="11243733" cy="954107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err="1" smtClean="0">
                <a:solidFill>
                  <a:schemeClr val="tx1"/>
                </a:solidFill>
              </a:rPr>
              <a:t>চৌগাছা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উপজেলা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স্বাস্থ্য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কমপ্লেক্স</a:t>
            </a:r>
            <a:r>
              <a:rPr lang="en-US" sz="3200" b="1" dirty="0" smtClean="0">
                <a:solidFill>
                  <a:schemeClr val="tx1"/>
                </a:solidFill>
              </a:rPr>
              <a:t>, </a:t>
            </a:r>
            <a:r>
              <a:rPr lang="en-US" sz="3200" b="1" dirty="0" err="1" smtClean="0">
                <a:solidFill>
                  <a:schemeClr val="tx1"/>
                </a:solidFill>
              </a:rPr>
              <a:t>যশোর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endParaRPr lang="en-US" sz="2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669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8C474670-D0C5-4F5C-A0B6-A6F99CC2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062" y="215659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bn-IN" sz="8000" b="1" dirty="0">
                <a:latin typeface="SolaimanLipi" pitchFamily="65" charset="0"/>
                <a:cs typeface="SolaimanLipi" pitchFamily="65" charset="0"/>
              </a:rPr>
              <a:t>চৌগাছা: অর্জন </a:t>
            </a:r>
            <a:r>
              <a:rPr lang="en-GB" sz="8000" b="1" dirty="0" smtClean="0">
                <a:latin typeface="SolaimanLipi" pitchFamily="65" charset="0"/>
                <a:cs typeface="SolaimanLipi" pitchFamily="65" charset="0"/>
              </a:rPr>
              <a:t>২০১১</a:t>
            </a:r>
            <a:endParaRPr lang="bn-BD" sz="8000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A80B7D69-6D00-40EC-9C3C-65B4FF90B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061" y="1817297"/>
            <a:ext cx="11616906" cy="4825043"/>
          </a:xfrm>
        </p:spPr>
        <p:txBody>
          <a:bodyPr>
            <a:normAutofit lnSpcReduction="10000"/>
          </a:bodyPr>
          <a:lstStyle/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স্টাফ বৃদ্ধি: ৪৬</a:t>
            </a: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প্রাথমিক স্বাস্থ্য 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পরিচর্যা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বাস্তবায়ন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: ২০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০০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শ্রেষ্ঠ জরুরী প্রসুতি কেন্দ্র: 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২০০৫-২০১</a:t>
            </a:r>
            <a:r>
              <a:rPr lang="en-GB" sz="4800" b="1" dirty="0">
                <a:latin typeface="SolaimanLipi" pitchFamily="65" charset="0"/>
                <a:cs typeface="SolaimanLipi" pitchFamily="65" charset="0"/>
              </a:rPr>
              <a:t>৪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;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প্রতিষ্ঠানে প্রসব: 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৯৮.৪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%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(৪৪১৩)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সহস্রাব্দি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র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লক্ষ্যমাত্রা অর্জন: 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২০০৯</a:t>
            </a:r>
            <a:endParaRPr lang="en-GB" sz="4800" b="1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স্বাস্থ্যমন্ত্রী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পুরস্কার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(</a:t>
            </a:r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শ্রেষ্ঠ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) : ২০১৭,২০১৮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endParaRPr lang="bn-BD" sz="40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48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288580" y="246050"/>
            <a:ext cx="5299420" cy="4645264"/>
            <a:chOff x="1148" y="239"/>
            <a:chExt cx="3129" cy="2449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8" y="240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239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931" y="2567733"/>
            <a:ext cx="6106298" cy="4288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3">
            <a:extLst>
              <a:ext uri="{FF2B5EF4-FFF2-40B4-BE49-F238E27FC236}">
                <a16:creationId xmlns="" xmlns:a16="http://schemas.microsoft.com/office/drawing/2014/main" id="{8C474670-D0C5-4F5C-A0B6-A6F99CC2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8445" y="247947"/>
            <a:ext cx="7107783" cy="1456267"/>
          </a:xfrm>
        </p:spPr>
        <p:txBody>
          <a:bodyPr>
            <a:noAutofit/>
          </a:bodyPr>
          <a:lstStyle/>
          <a:p>
            <a:pPr algn="ctr"/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দৈনিক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প্রথম-আলোর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প্রতিবেদন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/>
            </a:r>
            <a:br>
              <a:rPr lang="en-GB" b="1" dirty="0" smtClean="0">
                <a:latin typeface="SolaimanLipi" pitchFamily="65" charset="0"/>
                <a:cs typeface="SolaimanLipi" pitchFamily="65" charset="0"/>
              </a:rPr>
            </a:br>
            <a:r>
              <a:rPr lang="en-GB" sz="2800" b="1" dirty="0" smtClean="0">
                <a:latin typeface="SolaimanLipi" pitchFamily="65" charset="0"/>
                <a:cs typeface="SolaimanLipi" pitchFamily="65" charset="0"/>
              </a:rPr>
              <a:t>১৪ </a:t>
            </a:r>
            <a:r>
              <a:rPr lang="en-GB" sz="2800" b="1" dirty="0" err="1" smtClean="0">
                <a:latin typeface="SolaimanLipi" pitchFamily="65" charset="0"/>
                <a:cs typeface="SolaimanLipi" pitchFamily="65" charset="0"/>
              </a:rPr>
              <a:t>অক্টোবর</a:t>
            </a:r>
            <a:r>
              <a:rPr lang="en-GB" sz="2800" b="1" dirty="0" smtClean="0">
                <a:latin typeface="SolaimanLipi" pitchFamily="65" charset="0"/>
                <a:cs typeface="SolaimanLipi" pitchFamily="65" charset="0"/>
              </a:rPr>
              <a:t>, ২০০৫</a:t>
            </a:r>
            <a:endParaRPr lang="bn-BD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="" xmlns:a16="http://schemas.microsoft.com/office/drawing/2014/main" id="{8C474670-D0C5-4F5C-A0B6-A6F99CC2474D}"/>
              </a:ext>
            </a:extLst>
          </p:cNvPr>
          <p:cNvSpPr txBox="1">
            <a:spLocks/>
          </p:cNvSpPr>
          <p:nvPr/>
        </p:nvSpPr>
        <p:spPr>
          <a:xfrm>
            <a:off x="696686" y="5431283"/>
            <a:ext cx="511324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bn-IN" sz="3200" b="1" dirty="0" smtClean="0">
                <a:latin typeface="SolaimanLipi" pitchFamily="65" charset="0"/>
                <a:cs typeface="SolaimanLipi" pitchFamily="65" charset="0"/>
              </a:rPr>
              <a:t>চৌগাছা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3200" b="1" dirty="0" err="1" smtClean="0">
                <a:latin typeface="SolaimanLipi" pitchFamily="65" charset="0"/>
                <a:cs typeface="SolaimanLipi" pitchFamily="65" charset="0"/>
              </a:rPr>
              <a:t>পরিদর্শন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, ১০ </a:t>
            </a:r>
            <a:r>
              <a:rPr lang="en-GB" sz="3200" b="1" dirty="0" err="1" smtClean="0">
                <a:latin typeface="SolaimanLipi" pitchFamily="65" charset="0"/>
                <a:cs typeface="SolaimanLipi" pitchFamily="65" charset="0"/>
              </a:rPr>
              <a:t>মার্চ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, ২০১০</a:t>
            </a:r>
            <a:endParaRPr lang="bn-BD" sz="32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84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3126" y="1"/>
            <a:ext cx="12126809" cy="1069143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 err="1" smtClean="0"/>
              <a:t>চৌগাছার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সার্বিক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উন্নয়নে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জন-অংশগ্রহণ</a:t>
            </a:r>
            <a:endParaRPr lang="en-US" sz="3600" b="1" dirty="0"/>
          </a:p>
        </p:txBody>
      </p:sp>
      <p:pic>
        <p:nvPicPr>
          <p:cNvPr id="8" name="Content Placeholder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14" y="1069144"/>
            <a:ext cx="5004542" cy="2743201"/>
          </a:xfrm>
          <a:prstGeom prst="rect">
            <a:avLst/>
          </a:prstGeom>
        </p:spPr>
      </p:pic>
      <p:pic>
        <p:nvPicPr>
          <p:cNvPr id="9" name="Picture 2" descr="C:\Users\Nishat\Desktop\PHCC Recent\20151030_12144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83086" y="1145344"/>
            <a:ext cx="5435600" cy="2667001"/>
          </a:xfrm>
          <a:prstGeom prst="rect">
            <a:avLst/>
          </a:prstGeom>
          <a:noFill/>
        </p:spPr>
      </p:pic>
      <p:pic>
        <p:nvPicPr>
          <p:cNvPr id="10" name="Content Placeholder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087" y="3962400"/>
            <a:ext cx="5435600" cy="2895600"/>
          </a:xfrm>
          <a:prstGeom prst="rect">
            <a:avLst/>
          </a:prstGeom>
        </p:spPr>
      </p:pic>
      <p:pic>
        <p:nvPicPr>
          <p:cNvPr id="12" name="Content Placeholder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28" y="4078515"/>
            <a:ext cx="4796970" cy="280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0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68" y="0"/>
            <a:ext cx="1140479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649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ঝিনাইদহ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মডেল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8D7B1B53-5742-4EDF-93D5-D2A36AD7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80558"/>
            <a:ext cx="10940142" cy="4796287"/>
          </a:xfrm>
        </p:spPr>
        <p:txBody>
          <a:bodyPr>
            <a:normAutofit/>
          </a:bodyPr>
          <a:lstStyle/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শুরু: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মে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, ২০১২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দৃশ্যমান পরিবর্তন: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জানুয়ারি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, ২০১৩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জেলা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হাসপাতাল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মডেলের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পাইলটিং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: ২০১৫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মডেলের</a:t>
            </a:r>
            <a:r>
              <a:rPr lang="en-GB" sz="4400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পরীক্ষামূলক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>
                <a:latin typeface="SolaimanLipi" pitchFamily="65" charset="0"/>
                <a:cs typeface="SolaimanLipi" pitchFamily="65" charset="0"/>
              </a:rPr>
              <a:t>সম্প্রসারনের</a:t>
            </a:r>
            <a:r>
              <a:rPr lang="en-GB" sz="4400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>
                <a:latin typeface="SolaimanLipi" pitchFamily="65" charset="0"/>
                <a:cs typeface="SolaimanLipi" pitchFamily="65" charset="0"/>
              </a:rPr>
              <a:t>উদ্যোগ</a:t>
            </a:r>
            <a:r>
              <a:rPr lang="en-GB" sz="4400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: ২০১৬</a:t>
            </a:r>
          </a:p>
          <a:p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উপজেলা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পর্যায়ে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সম্প্রসারনের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উদ্যোগ : ২০১৭</a:t>
            </a:r>
            <a:endParaRPr lang="bn-BD" sz="44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0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5484D6FA-5BF0-4916-BAE3-6D6457E9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43" y="155276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ঝ</a:t>
            </a:r>
            <a:r>
              <a:rPr lang="bn-BD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ি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ন</a:t>
            </a:r>
            <a:r>
              <a:rPr lang="bn-BD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াইদহ: চ্যালেন্জ সমূহ ২০১২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243AF0A6-9EA0-4460-8B16-2206F9374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45721"/>
            <a:ext cx="10131425" cy="5428890"/>
          </a:xfrm>
        </p:spPr>
        <p:txBody>
          <a:bodyPr>
            <a:normAutofit/>
          </a:bodyPr>
          <a:lstStyle/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অরক্ষিত হাসপাতাল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অপ্রতুল স্বাস্থ্য সেবা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অপ্রতুল সেবাদানকারী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রোগী হতে অর্থ গ্রহন</a:t>
            </a:r>
          </a:p>
          <a:p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দ</a:t>
            </a:r>
            <a:r>
              <a:rPr lang="en-GB" sz="4000" dirty="0" smtClean="0">
                <a:latin typeface="SolaimanLipi" pitchFamily="65" charset="0"/>
                <a:cs typeface="SolaimanLipi" pitchFamily="65" charset="0"/>
              </a:rPr>
              <a:t>ু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র্বল </a:t>
            </a:r>
            <a:r>
              <a:rPr lang="bn-BD" sz="4000" dirty="0">
                <a:latin typeface="SolaimanLipi" pitchFamily="65" charset="0"/>
                <a:cs typeface="SolaimanLipi" pitchFamily="65" charset="0"/>
              </a:rPr>
              <a:t>অর্থ ব্যবস্থাপনা</a:t>
            </a:r>
          </a:p>
          <a:p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অপ</a:t>
            </a:r>
            <a:r>
              <a:rPr lang="en-GB" sz="4000" dirty="0" err="1" smtClean="0">
                <a:latin typeface="SolaimanLipi" pitchFamily="65" charset="0"/>
                <a:cs typeface="SolaimanLipi" pitchFamily="65" charset="0"/>
              </a:rPr>
              <a:t>রি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চ্ছন্নতা</a:t>
            </a:r>
            <a:endParaRPr lang="bn-BD" sz="4000" dirty="0">
              <a:latin typeface="SolaimanLipi" pitchFamily="65" charset="0"/>
              <a:cs typeface="SolaimanLipi" pitchFamily="65" charset="0"/>
            </a:endParaRP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দুর্বল 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পরি</a:t>
            </a:r>
            <a:r>
              <a:rPr lang="en-GB" sz="4000" dirty="0" err="1" smtClean="0">
                <a:latin typeface="SolaimanLipi" pitchFamily="65" charset="0"/>
                <a:cs typeface="SolaimanLipi" pitchFamily="65" charset="0"/>
              </a:rPr>
              <a:t>বী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ক্ষণ</a:t>
            </a:r>
            <a:endParaRPr lang="bn-BD" sz="40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30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FB85FF63-2EE4-42A5-BB64-C9D70E3D7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74762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জনসম্পৃক্ততা</a:t>
            </a:r>
            <a:endParaRPr lang="bn-BD" sz="4800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FFB0DE48-3621-4A1E-9E79-9E4E18371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1" y="1581509"/>
            <a:ext cx="4996923" cy="5152846"/>
          </a:xfrm>
        </p:spPr>
        <p:txBody>
          <a:bodyPr>
            <a:normAutofit lnSpcReduction="10000"/>
          </a:bodyPr>
          <a:lstStyle/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স্টাফ: ৫৬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পরিচ্ছন্নতা কর্মী: ২১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আয়া/ওয়ার্ডবয়: ২২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নিরাপত্তা রক্ষী: ৭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স্বেচ্ছাসেবক: ৩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ট্রলিম্যান: ৩</a:t>
            </a:r>
          </a:p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জেনারেটর</a:t>
            </a:r>
          </a:p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ইন্টারকম</a:t>
            </a:r>
          </a:p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বায়োকেমিক্যাল অ্যানালাইজার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="" xmlns:a16="http://schemas.microsoft.com/office/drawing/2014/main" id="{6C307B88-65F8-494F-AA33-A28F7B839D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90925" y="2697432"/>
            <a:ext cx="4995334" cy="3910401"/>
          </a:xfrm>
        </p:spPr>
        <p:txBody>
          <a:bodyPr>
            <a:normAutofit lnSpcReduction="10000"/>
          </a:bodyPr>
          <a:lstStyle/>
          <a:p>
            <a:r>
              <a:rPr lang="bn-IN" sz="4300" dirty="0">
                <a:latin typeface="SolaimanLipi" pitchFamily="65" charset="0"/>
                <a:cs typeface="SolaimanLipi" pitchFamily="65" charset="0"/>
              </a:rPr>
              <a:t>সংসদ সদস্য</a:t>
            </a:r>
          </a:p>
          <a:p>
            <a:r>
              <a:rPr lang="bn-IN" sz="4300" dirty="0" smtClean="0">
                <a:latin typeface="SolaimanLipi" pitchFamily="65" charset="0"/>
                <a:cs typeface="SolaimanLipi" pitchFamily="65" charset="0"/>
              </a:rPr>
              <a:t>জাহে</a:t>
            </a:r>
            <a:r>
              <a:rPr lang="en-GB" sz="4300" dirty="0" err="1" smtClean="0">
                <a:latin typeface="SolaimanLipi" pitchFamily="65" charset="0"/>
                <a:cs typeface="SolaimanLipi" pitchFamily="65" charset="0"/>
              </a:rPr>
              <a:t>দী</a:t>
            </a:r>
            <a:r>
              <a:rPr lang="bn-IN" sz="43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4300" dirty="0">
                <a:latin typeface="SolaimanLipi" pitchFamily="65" charset="0"/>
                <a:cs typeface="SolaimanLipi" pitchFamily="65" charset="0"/>
              </a:rPr>
              <a:t>ফাউন্ডেশন</a:t>
            </a:r>
          </a:p>
          <a:p>
            <a:r>
              <a:rPr lang="bn-IN" sz="4300" dirty="0">
                <a:latin typeface="SolaimanLipi" pitchFamily="65" charset="0"/>
                <a:cs typeface="SolaimanLipi" pitchFamily="65" charset="0"/>
              </a:rPr>
              <a:t>মেয়র</a:t>
            </a:r>
          </a:p>
          <a:p>
            <a:r>
              <a:rPr lang="en-GB" sz="4300" dirty="0" smtClean="0">
                <a:latin typeface="SolaimanLipi" pitchFamily="65" charset="0"/>
                <a:cs typeface="SolaimanLipi" pitchFamily="65" charset="0"/>
              </a:rPr>
              <a:t>দানশীল ব্যক্তিবর্গ</a:t>
            </a:r>
            <a:endParaRPr lang="bn-IN" sz="4300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300" dirty="0">
                <a:latin typeface="SolaimanLipi" pitchFamily="65" charset="0"/>
                <a:cs typeface="SolaimanLipi" pitchFamily="65" charset="0"/>
              </a:rPr>
              <a:t>ডাক্তার</a:t>
            </a:r>
            <a:endParaRPr lang="bn-BD" sz="4300" dirty="0">
              <a:latin typeface="SolaimanLipi" pitchFamily="65" charset="0"/>
              <a:cs typeface="SolaimanLipi" pitchFamily="65" charset="0"/>
            </a:endParaRPr>
          </a:p>
          <a:p>
            <a:endParaRPr lang="bn-BD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1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245" y="3505201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652363" y="3772090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5920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781034" y="3899646"/>
            <a:ext cx="816570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6748746" y="3922214"/>
            <a:ext cx="672364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87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647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020" y="806428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245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1" y="0"/>
            <a:ext cx="9140825" cy="47148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algn="ctr"/>
            <a:r>
              <a:rPr lang="en-US" sz="3200" b="1" dirty="0" err="1" smtClean="0"/>
              <a:t>শিশু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ওয়ার্ড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বর্জব্যবস্থাপনার</a:t>
            </a:r>
            <a:r>
              <a:rPr lang="en-US" sz="3200" b="1" dirty="0" smtClean="0"/>
              <a:t>  </a:t>
            </a:r>
            <a:r>
              <a:rPr lang="en-US" sz="3200" b="1" dirty="0" err="1" smtClean="0"/>
              <a:t>পূর্বের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পরের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অবস্থা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821751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84951" y="3859214"/>
            <a:ext cx="4326467" cy="2895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50057" y="765176"/>
            <a:ext cx="4190859" cy="2926381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84951" y="792616"/>
            <a:ext cx="4350962" cy="296256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5731933" y="1981200"/>
            <a:ext cx="741438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5797851" y="4821238"/>
            <a:ext cx="675519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6584951" y="3859214"/>
            <a:ext cx="672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05833" y="-1"/>
            <a:ext cx="11679767" cy="79261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/>
            <a:r>
              <a:rPr lang="en-US" sz="3200" b="1" dirty="0" err="1" smtClean="0"/>
              <a:t>প্রসুতি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সার্জারি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ওয়ার্ডের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আগের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পরের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অবস্থা</a:t>
            </a:r>
            <a:endParaRPr lang="en-US" sz="3200" dirty="0"/>
          </a:p>
        </p:txBody>
      </p:sp>
      <p:pic>
        <p:nvPicPr>
          <p:cNvPr id="15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5241" y="3744913"/>
            <a:ext cx="4296692" cy="291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6910549" y="927616"/>
            <a:ext cx="672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1435241" y="792617"/>
            <a:ext cx="8165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1435241" y="3859214"/>
            <a:ext cx="8165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4143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52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8400" y="3998914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1852187" y="4092576"/>
            <a:ext cx="2131353" cy="36933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6324600" y="4035427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8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1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828801" y="1001713"/>
            <a:ext cx="1201419" cy="369332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400801" y="1001713"/>
            <a:ext cx="1201419" cy="369332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524001" y="0"/>
            <a:ext cx="9140825" cy="47148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algn="ctr"/>
            <a:r>
              <a:rPr lang="en-US" sz="3600" b="1" dirty="0" err="1" smtClean="0"/>
              <a:t>কাইজেন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পদ্ধতির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মাধ্যমে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পরিবর্তন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21993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644525"/>
            <a:ext cx="4162538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968" y="3733800"/>
            <a:ext cx="4136571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13" y="585786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654629" y="669925"/>
            <a:ext cx="1906932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tx1"/>
                </a:solidFill>
              </a:rPr>
              <a:t>A big cleaning day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763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Health education session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6286501" y="682739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84888" y="37338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6286500" y="3763963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Creation  of nursing aid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524001" y="0"/>
            <a:ext cx="9140825" cy="47148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algn="ctr"/>
            <a:r>
              <a:rPr lang="en-US" sz="3600" b="1" dirty="0" err="1" smtClean="0"/>
              <a:t>নব-উদ্যোগের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মাধ্যমে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পরিবর্তন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2562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582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607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676400" y="152400"/>
            <a:ext cx="88392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4000" dirty="0" smtClean="0"/>
              <a:t>স্থানীয় </a:t>
            </a:r>
            <a:r>
              <a:rPr lang="en-US" sz="4000" dirty="0" err="1" smtClean="0"/>
              <a:t>ব্যবস্থাপনায়</a:t>
            </a:r>
            <a:r>
              <a:rPr lang="en-US" sz="4000" dirty="0" smtClean="0"/>
              <a:t> </a:t>
            </a:r>
            <a:r>
              <a:rPr lang="en-US" sz="4000" dirty="0" err="1" smtClean="0"/>
              <a:t>শিশু</a:t>
            </a:r>
            <a:r>
              <a:rPr lang="en-US" sz="4000" dirty="0" smtClean="0"/>
              <a:t> </a:t>
            </a:r>
            <a:r>
              <a:rPr lang="en-US" sz="4000" dirty="0" err="1" smtClean="0"/>
              <a:t>ওয়ার্ডের</a:t>
            </a:r>
            <a:r>
              <a:rPr lang="en-US" sz="4000" dirty="0" smtClean="0"/>
              <a:t> </a:t>
            </a:r>
            <a:r>
              <a:rPr lang="en-US" sz="4000" dirty="0" err="1" smtClean="0"/>
              <a:t>উন্নয়ন</a:t>
            </a:r>
            <a:endParaRPr lang="en-US" sz="4000" b="1" dirty="0"/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676400" y="3732214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  <p:extLst>
      <p:ext uri="{BB962C8B-B14F-4D97-AF65-F5344CB8AC3E}">
        <p14:creationId xmlns:p14="http://schemas.microsoft.com/office/powerpoint/2010/main" val="10471691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1871157" y="126317"/>
            <a:ext cx="8229600" cy="609601"/>
          </a:xfrm>
          <a:prstGeom prst="rect">
            <a:avLst/>
          </a:prstGeom>
          <a:noFill/>
          <a:ln>
            <a:noFill/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48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ঝিনাইদহ</a:t>
            </a:r>
            <a:r>
              <a:rPr 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 </a:t>
            </a:r>
            <a:r>
              <a:rPr lang="bn-BD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শয্যা ব্যবহার</a:t>
            </a:r>
            <a:endParaRPr lang="en-US" sz="48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297192397"/>
              </p:ext>
            </p:extLst>
          </p:nvPr>
        </p:nvGraphicFramePr>
        <p:xfrm>
          <a:off x="1871157" y="684362"/>
          <a:ext cx="7704164" cy="6173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1626079" y="222848"/>
            <a:ext cx="8534400" cy="1042359"/>
          </a:xfrm>
          <a:noFill/>
          <a:ln>
            <a:noFill/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algn="ctr">
              <a:defRPr/>
            </a:pP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জরুরী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বহি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অন্ত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বিভাগ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রোগী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বৃদ্ধি</a:t>
            </a:r>
            <a:endParaRPr lang="en-US" sz="4400" b="1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382287412"/>
              </p:ext>
            </p:extLst>
          </p:nvPr>
        </p:nvGraphicFramePr>
        <p:xfrm>
          <a:off x="2031521" y="1184693"/>
          <a:ext cx="8534400" cy="5589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66810312"/>
              </p:ext>
            </p:extLst>
          </p:nvPr>
        </p:nvGraphicFramePr>
        <p:xfrm>
          <a:off x="522515" y="2416629"/>
          <a:ext cx="11161483" cy="3827977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078537"/>
                <a:gridCol w="4373574"/>
                <a:gridCol w="1262839"/>
                <a:gridCol w="1273153"/>
                <a:gridCol w="1555578"/>
                <a:gridCol w="1617802"/>
              </a:tblGrid>
              <a:tr h="83457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ANC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</a:tr>
              <a:tr h="519614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GB" sz="2400" dirty="0" smtClean="0"/>
                        <a:t>1</a:t>
                      </a:r>
                      <a:endParaRPr lang="en-GB" sz="2400" dirty="0"/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Jhenaidah</a:t>
                      </a: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20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Sadar</a:t>
                      </a: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Hospital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15360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1839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1143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2997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</a:tr>
              <a:tr h="519614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GB" sz="2400" dirty="0" smtClean="0"/>
                        <a:t>2</a:t>
                      </a:r>
                      <a:endParaRPr lang="en-GB" sz="2400" dirty="0"/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13152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28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28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713" marB="45713" horzOverflow="overflow"/>
                </a:tc>
              </a:tr>
              <a:tr h="519614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GB" sz="2400" dirty="0" smtClean="0"/>
                        <a:t>3</a:t>
                      </a:r>
                      <a:endParaRPr lang="en-GB" sz="2400" dirty="0"/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18650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2163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759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2922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</a:tr>
              <a:tr h="736093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GB" sz="2400" dirty="0" smtClean="0"/>
                        <a:t>4</a:t>
                      </a:r>
                      <a:endParaRPr lang="en-GB" sz="2400" dirty="0"/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6977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1455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1228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2683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</a:tr>
              <a:tr h="698471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GB" sz="2400" dirty="0" smtClean="0"/>
                        <a:t>5</a:t>
                      </a:r>
                      <a:endParaRPr lang="en-GB" sz="2400" dirty="0"/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r>
                        <a:rPr lang="en-GB" sz="2000" b="1" dirty="0" smtClean="0"/>
                        <a:t>250</a:t>
                      </a:r>
                      <a:r>
                        <a:rPr lang="en-GB" sz="2000" b="1" baseline="0" dirty="0" smtClean="0"/>
                        <a:t> Bedded Hospital, </a:t>
                      </a:r>
                      <a:r>
                        <a:rPr lang="en-GB" sz="2000" b="1" baseline="0" dirty="0" err="1" smtClean="0"/>
                        <a:t>Kushtia</a:t>
                      </a:r>
                      <a:endParaRPr lang="en-GB" sz="2000" b="1" dirty="0"/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 smtClean="0"/>
                        <a:t>4735</a:t>
                      </a:r>
                      <a:endParaRPr lang="en-GB" sz="2400" b="1" dirty="0">
                        <a:latin typeface="+mn-lt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 smtClean="0"/>
                        <a:t>1595</a:t>
                      </a:r>
                      <a:endParaRPr lang="en-GB" sz="2400" b="1" dirty="0">
                        <a:latin typeface="+mn-lt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 smtClean="0"/>
                        <a:t>919</a:t>
                      </a:r>
                      <a:endParaRPr lang="en-GB" sz="2400" b="1" dirty="0">
                        <a:latin typeface="+mn-lt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baseline="0" dirty="0" smtClean="0"/>
                        <a:t>2514</a:t>
                      </a:r>
                      <a:endParaRPr lang="en-GB" sz="2400" b="1" dirty="0">
                        <a:latin typeface="+mn-lt"/>
                      </a:endParaRPr>
                    </a:p>
                  </a:txBody>
                  <a:tcPr marL="121920" marR="121920" marT="45713" marB="45713" horzOverflow="overflow"/>
                </a:tc>
              </a:tr>
            </a:tbl>
          </a:graphicData>
        </a:graphic>
      </p:graphicFrame>
      <p:sp>
        <p:nvSpPr>
          <p:cNvPr id="4" name="Title 2">
            <a:extLst>
              <a:ext uri="{FF2B5EF4-FFF2-40B4-BE49-F238E27FC236}">
                <a16:creationId xmlns="" xmlns:a16="http://schemas.microsoft.com/office/drawing/2014/main" id="{56B91B97-7C91-447C-95E9-36143BF78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311" y="135830"/>
            <a:ext cx="10131425" cy="1224951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ঝিনাইদহ</a:t>
            </a:r>
            <a:r>
              <a:rPr lang="en-GB" sz="4400" b="1" dirty="0" err="1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ঃ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খুলনা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বিভাগের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শ্রেষ্ঠ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প্রসুতি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সেবা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কেন্দ্র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, ২০১৭</a:t>
            </a:r>
            <a:endParaRPr lang="bn-BD" sz="44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073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3536" y="792754"/>
            <a:ext cx="11080465" cy="808038"/>
          </a:xfr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4400" b="1" dirty="0" smtClean="0">
                <a:solidFill>
                  <a:schemeClr val="tx1"/>
                </a:solidFill>
              </a:rPr>
              <a:t>হাসপাতালের রাজস্ব আয়ের তুলনামূলক চিত্র (২০১৫ </a:t>
            </a:r>
            <a:r>
              <a:rPr lang="en-US" sz="4400" b="1" smtClean="0">
                <a:solidFill>
                  <a:schemeClr val="tx1"/>
                </a:solidFill>
              </a:rPr>
              <a:t>- </a:t>
            </a:r>
            <a:r>
              <a:rPr lang="en-US" sz="4400" b="1" smtClean="0">
                <a:solidFill>
                  <a:schemeClr val="tx1"/>
                </a:solidFill>
              </a:rPr>
              <a:t>২০১৯</a:t>
            </a:r>
            <a:r>
              <a:rPr lang="en-US" b="1" smtClean="0">
                <a:solidFill>
                  <a:schemeClr val="tx1"/>
                </a:solidFill>
              </a:rPr>
              <a:t>)</a:t>
            </a:r>
            <a:r>
              <a:rPr lang="en-US" sz="5300" b="1" dirty="0">
                <a:solidFill>
                  <a:schemeClr val="tx1"/>
                </a:solidFill>
              </a:rPr>
              <a:t/>
            </a:r>
            <a:br>
              <a:rPr lang="en-US" sz="5300" b="1" dirty="0">
                <a:solidFill>
                  <a:schemeClr val="tx1"/>
                </a:solidFill>
              </a:rPr>
            </a:br>
            <a:endParaRPr lang="en-US" sz="6700" b="1" dirty="0">
              <a:solidFill>
                <a:schemeClr val="tx1"/>
              </a:solidFill>
            </a:endParaRPr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4472130"/>
              </p:ext>
            </p:extLst>
          </p:nvPr>
        </p:nvGraphicFramePr>
        <p:xfrm>
          <a:off x="2235200" y="2133600"/>
          <a:ext cx="74168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2684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Subtitle 2">
            <a:extLst>
              <a:ext uri="{FF2B5EF4-FFF2-40B4-BE49-F238E27FC236}">
                <a16:creationId xmlns:a16="http://schemas.microsoft.com/office/drawing/2014/main" xmlns="" id="{78BD8583-50A9-461F-A1D2-4E6356CBDD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336325"/>
              </p:ext>
            </p:extLst>
          </p:nvPr>
        </p:nvGraphicFramePr>
        <p:xfrm>
          <a:off x="291112" y="391887"/>
          <a:ext cx="6951517" cy="6226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3B1EE1F-6738-485F-A620-2602F7683D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34657" y="0"/>
            <a:ext cx="4657344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12" y="5451765"/>
            <a:ext cx="1170945" cy="116671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8685" y="1257300"/>
            <a:ext cx="4049485" cy="425486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GB" b="1" dirty="0" err="1" smtClean="0">
                <a:latin typeface="SolaimanLipi" panose="03000609000000000000" pitchFamily="65" charset="0"/>
                <a:cs typeface="SolaimanLipi" panose="03000609000000000000" pitchFamily="65" charset="0"/>
              </a:rPr>
              <a:t>ঝিনাইদহ</a:t>
            </a:r>
            <a:r>
              <a:rPr lang="en-GB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: </a:t>
            </a:r>
            <a:r>
              <a:rPr lang="en-GB" b="1" dirty="0" err="1" smtClean="0">
                <a:latin typeface="SolaimanLipi" panose="03000609000000000000" pitchFamily="65" charset="0"/>
                <a:cs typeface="SolaimanLipi" panose="03000609000000000000" pitchFamily="65" charset="0"/>
              </a:rPr>
              <a:t>অর্জন</a:t>
            </a:r>
            <a:r>
              <a:rPr lang="en-GB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২০১৮</a:t>
            </a:r>
            <a:endParaRPr lang="en-US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73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43" y="152400"/>
            <a:ext cx="11639910" cy="1469366"/>
          </a:xfrm>
        </p:spPr>
        <p:txBody>
          <a:bodyPr>
            <a:noAutofit/>
          </a:bodyPr>
          <a:lstStyle/>
          <a:p>
            <a:pPr algn="ctr"/>
            <a:r>
              <a:rPr lang="en-GB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সম্প্রসারনের</a:t>
            </a:r>
            <a:r>
              <a:rPr lang="en-GB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BD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পদক্ষেপ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543" y="1506748"/>
            <a:ext cx="11484634" cy="4970254"/>
          </a:xfrm>
        </p:spPr>
        <p:txBody>
          <a:bodyPr>
            <a:normAutofit fontScale="92500" lnSpcReduction="20000"/>
          </a:bodyPr>
          <a:lstStyle/>
          <a:p>
            <a:r>
              <a:rPr lang="en-US" sz="4800" dirty="0" err="1">
                <a:latin typeface="SolaimanLipi" pitchFamily="65" charset="0"/>
                <a:cs typeface="SolaimanLipi" pitchFamily="65" charset="0"/>
              </a:rPr>
              <a:t>কমিটি</a:t>
            </a:r>
            <a:r>
              <a:rPr lang="en-US" sz="48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800" dirty="0" err="1">
                <a:latin typeface="SolaimanLipi" pitchFamily="65" charset="0"/>
                <a:cs typeface="SolaimanLipi" pitchFamily="65" charset="0"/>
              </a:rPr>
              <a:t>গঠন</a:t>
            </a:r>
            <a:endParaRPr lang="en-US" sz="4800" dirty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পরা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মর্শক </a:t>
            </a:r>
            <a:r>
              <a:rPr lang="bn-BD" sz="4800" dirty="0">
                <a:latin typeface="SolaimanLipi" pitchFamily="65" charset="0"/>
                <a:cs typeface="SolaimanLipi" pitchFamily="65" charset="0"/>
              </a:rPr>
              <a:t>নিয়োগ</a:t>
            </a:r>
          </a:p>
          <a:p>
            <a:r>
              <a:rPr lang="en-US" sz="4800" dirty="0" smtClean="0">
                <a:latin typeface="SolaimanLipi" pitchFamily="65" charset="0"/>
                <a:cs typeface="SolaimanLipi" pitchFamily="65" charset="0"/>
              </a:rPr>
              <a:t>ক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র</a:t>
            </a:r>
            <a:r>
              <a:rPr lang="en-US" sz="4800" dirty="0" smtClean="0">
                <a:latin typeface="SolaimanLipi" pitchFamily="65" charset="0"/>
                <a:cs typeface="SolaimanLipi" pitchFamily="65" charset="0"/>
              </a:rPr>
              <a:t>্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মকৌশল ও কর্মপরিকল্পনা প্রণয়ন</a:t>
            </a:r>
          </a:p>
          <a:p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উদ্বুদ্ধকরন</a:t>
            </a:r>
            <a:endParaRPr lang="bn-BD" sz="4800" dirty="0">
              <a:latin typeface="SolaimanLipi" pitchFamily="65" charset="0"/>
              <a:cs typeface="SolaimanLipi" pitchFamily="65" charset="0"/>
            </a:endParaRPr>
          </a:p>
          <a:p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প্রশিক্ষণ</a:t>
            </a:r>
            <a:endParaRPr lang="en-GB" sz="4800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বাস্তবায়ন</a:t>
            </a:r>
            <a:endParaRPr lang="en-GB" sz="4800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মূল্যায়ন</a:t>
            </a:r>
            <a:endParaRPr lang="en-US" sz="48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310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 smtClean="0"/>
              <a:t>Our usual solution: </a:t>
            </a:r>
            <a:br>
              <a:rPr lang="en-US" sz="3600" dirty="0" smtClean="0"/>
            </a:br>
            <a:r>
              <a:rPr lang="en-US" sz="3600" dirty="0" smtClean="0"/>
              <a:t>We need more RESOURCES!!!!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1356226"/>
            <a:ext cx="10945216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624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446911"/>
              </p:ext>
            </p:extLst>
          </p:nvPr>
        </p:nvGraphicFramePr>
        <p:xfrm>
          <a:off x="192585" y="1759849"/>
          <a:ext cx="11764750" cy="4394353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84339"/>
                <a:gridCol w="2369811"/>
                <a:gridCol w="1727200"/>
                <a:gridCol w="1727200"/>
                <a:gridCol w="1828800"/>
                <a:gridCol w="1727200"/>
                <a:gridCol w="1600200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 smtClean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8737600" y="6426170"/>
            <a:ext cx="3225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/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 smtClean="0">
                <a:latin typeface="Andalus"/>
                <a:ea typeface="Andalus"/>
                <a:cs typeface="Andalus"/>
              </a:rPr>
              <a:t> </a:t>
            </a:r>
            <a:r>
              <a:rPr lang="en-US" sz="2000" dirty="0" err="1" smtClean="0">
                <a:latin typeface="Andalus"/>
                <a:ea typeface="Andalus"/>
                <a:cs typeface="Andalus"/>
              </a:rPr>
              <a:t>বিশ্ব</a:t>
            </a:r>
            <a:r>
              <a:rPr lang="en-US" sz="2000" dirty="0" smtClean="0">
                <a:latin typeface="Andalus"/>
                <a:ea typeface="Andalus"/>
                <a:cs typeface="Andalus"/>
              </a:rPr>
              <a:t> </a:t>
            </a:r>
            <a:r>
              <a:rPr lang="en-US" sz="2000" dirty="0" err="1" smtClean="0">
                <a:latin typeface="Andalus"/>
                <a:ea typeface="Andalus"/>
                <a:cs typeface="Andalus"/>
              </a:rPr>
              <a:t>ব্যংক</a:t>
            </a:r>
            <a:r>
              <a:rPr lang="en-US" sz="2000" dirty="0" smtClean="0">
                <a:latin typeface="Andalus"/>
                <a:ea typeface="Andalus"/>
                <a:cs typeface="Andalus"/>
              </a:rPr>
              <a:t>, ২০১৮</a:t>
            </a:r>
            <a:endParaRPr lang="en-US" sz="2000" dirty="0">
              <a:latin typeface="Andalus"/>
              <a:ea typeface="Andalus"/>
              <a:cs typeface="Andalus"/>
            </a:endParaRPr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510117" y="504378"/>
            <a:ext cx="11243733" cy="1077218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err="1" smtClean="0">
                <a:solidFill>
                  <a:schemeClr val="tx1"/>
                </a:solidFill>
              </a:rPr>
              <a:t>বিশ্বের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কয়েকটি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দেশের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সরকারি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স্বাস্থ্য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সম্পদ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ব্যাবহারের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তুলনামূলক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চিত্র</a:t>
            </a:r>
            <a:r>
              <a:rPr lang="en-US" sz="3200" b="1" dirty="0" smtClean="0">
                <a:solidFill>
                  <a:schemeClr val="tx1"/>
                </a:solidFill>
              </a:rPr>
              <a:t>, ২০১৮</a:t>
            </a:r>
            <a:endParaRPr lang="en-US" sz="2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1671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SolaimanLipi" pitchFamily="65" charset="0"/>
                <a:cs typeface="SolaimanLipi" pitchFamily="65" charset="0"/>
              </a:rPr>
              <a:t>ধন্যবাদ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</p:nvPr>
        </p:nvGraphicFramePr>
        <p:xfrm>
          <a:off x="609600" y="3063875"/>
          <a:ext cx="10871199" cy="262101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880533"/>
                <a:gridCol w="3115733"/>
                <a:gridCol w="1490133"/>
                <a:gridCol w="1405467"/>
                <a:gridCol w="1388533"/>
                <a:gridCol w="1270000"/>
                <a:gridCol w="1320800"/>
              </a:tblGrid>
              <a:tr h="6400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36570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36570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57905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67049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10566400" y="4049714"/>
            <a:ext cx="508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0528300" y="4443414"/>
            <a:ext cx="5588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99" name="Rectangle 4"/>
          <p:cNvSpPr>
            <a:spLocks noChangeArrowheads="1"/>
          </p:cNvSpPr>
          <p:nvPr/>
        </p:nvSpPr>
        <p:spPr bwMode="auto">
          <a:xfrm>
            <a:off x="609600" y="1447800"/>
            <a:ext cx="10871200" cy="990600"/>
          </a:xfrm>
          <a:prstGeom prst="rect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US" sz="2400">
                <a:solidFill>
                  <a:srgbClr val="3333CC"/>
                </a:solidFill>
              </a:rPr>
              <a:t>Comparative Data of Delivery of best performing EOC center of Khulna Division in 2011</a:t>
            </a:r>
          </a:p>
        </p:txBody>
      </p:sp>
    </p:spTree>
    <p:extLst>
      <p:ext uri="{BB962C8B-B14F-4D97-AF65-F5344CB8AC3E}">
        <p14:creationId xmlns:p14="http://schemas.microsoft.com/office/powerpoint/2010/main" val="377513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154C379-12FB-4ED3-BD93-8FC5D6E96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028" y="0"/>
            <a:ext cx="8603374" cy="667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60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493488"/>
            <a:ext cx="10131425" cy="1456267"/>
          </a:xfr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GB" sz="2400" dirty="0" smtClean="0">
                <a:solidFill>
                  <a:schemeClr val="tx1"/>
                </a:solidFill>
              </a:rPr>
              <a:t>Total ANC and Delivery in Jhenaidah District Hospital 2011-2019</a:t>
            </a:r>
            <a:endParaRPr lang="en-GB" sz="2400" dirty="0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3926246"/>
              </p:ext>
            </p:extLst>
          </p:nvPr>
        </p:nvGraphicFramePr>
        <p:xfrm>
          <a:off x="638628" y="1948544"/>
          <a:ext cx="109728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63338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5660121"/>
              </p:ext>
            </p:extLst>
          </p:nvPr>
        </p:nvGraphicFramePr>
        <p:xfrm>
          <a:off x="1823049" y="1069675"/>
          <a:ext cx="8798943" cy="5725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2">
            <a:extLst>
              <a:ext uri="{FF2B5EF4-FFF2-40B4-BE49-F238E27FC236}">
                <a16:creationId xmlns="" xmlns:a16="http://schemas.microsoft.com/office/drawing/2014/main" id="{56B91B97-7C91-447C-95E9-36143BF78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311" y="63260"/>
            <a:ext cx="10131425" cy="122495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ঝিনাইদহ</a:t>
            </a:r>
            <a:r>
              <a:rPr lang="en-US" sz="4400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bn-BD" sz="4400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শ্রেষ্ঠ জরুরী </a:t>
            </a:r>
            <a:r>
              <a:rPr lang="bn-BD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প্রস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ুতি</a:t>
            </a:r>
            <a:r>
              <a:rPr lang="bn-BD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সেবা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কেন্দ্র</a:t>
            </a:r>
            <a:r>
              <a:rPr lang="bn-BD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BD" sz="4400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২০১৭</a:t>
            </a:r>
            <a:endParaRPr lang="bn-BD" sz="44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97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357" y="0"/>
            <a:ext cx="12257356" cy="6850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362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609600" y="1600200"/>
            <a:ext cx="108712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(ANC First Visit)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6049623"/>
              </p:ext>
            </p:extLst>
          </p:nvPr>
        </p:nvGraphicFramePr>
        <p:xfrm>
          <a:off x="957943" y="2332038"/>
          <a:ext cx="9913256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510117" y="649518"/>
            <a:ext cx="11243733" cy="954107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err="1" smtClean="0">
                <a:solidFill>
                  <a:schemeClr val="tx1"/>
                </a:solidFill>
              </a:rPr>
              <a:t>চৌগাছা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উপজেলা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স্বাস্থ্য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কমপ্লেক্স</a:t>
            </a:r>
            <a:r>
              <a:rPr lang="en-US" sz="3200" b="1" dirty="0" smtClean="0">
                <a:solidFill>
                  <a:schemeClr val="tx1"/>
                </a:solidFill>
              </a:rPr>
              <a:t>, </a:t>
            </a:r>
            <a:r>
              <a:rPr lang="en-US" sz="3200" b="1" dirty="0" err="1" smtClean="0">
                <a:solidFill>
                  <a:schemeClr val="tx1"/>
                </a:solidFill>
              </a:rPr>
              <a:t>যশোর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endParaRPr lang="en-US" sz="2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577139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609600" y="1600200"/>
            <a:ext cx="108712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18057894"/>
              </p:ext>
            </p:extLst>
          </p:nvPr>
        </p:nvGraphicFramePr>
        <p:xfrm>
          <a:off x="1233713" y="2448152"/>
          <a:ext cx="8955315" cy="4409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510117" y="693060"/>
            <a:ext cx="11243733" cy="954107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err="1" smtClean="0">
                <a:solidFill>
                  <a:schemeClr val="tx1"/>
                </a:solidFill>
              </a:rPr>
              <a:t>চৌগাছা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উপজেলা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স্বাস্থ্য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কমপ্লেক্স</a:t>
            </a:r>
            <a:r>
              <a:rPr lang="en-US" sz="3200" b="1" dirty="0" smtClean="0">
                <a:solidFill>
                  <a:schemeClr val="tx1"/>
                </a:solidFill>
              </a:rPr>
              <a:t>, </a:t>
            </a:r>
            <a:r>
              <a:rPr lang="en-US" sz="3200" b="1" dirty="0" err="1" smtClean="0">
                <a:solidFill>
                  <a:schemeClr val="tx1"/>
                </a:solidFill>
              </a:rPr>
              <a:t>যশোর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endParaRPr lang="en-US" sz="2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538838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8"/>
          <p:cNvGrpSpPr>
            <a:grpSpLocks/>
          </p:cNvGrpSpPr>
          <p:nvPr/>
        </p:nvGrpSpPr>
        <p:grpSpPr bwMode="auto">
          <a:xfrm>
            <a:off x="-1920" y="1905320"/>
            <a:ext cx="12193920" cy="4952680"/>
            <a:chOff x="-1" y="1200"/>
            <a:chExt cx="5761" cy="3120"/>
          </a:xfrm>
        </p:grpSpPr>
        <p:sp>
          <p:nvSpPr>
            <p:cNvPr id="25638" name="Freeform 2"/>
            <p:cNvSpPr>
              <a:spLocks/>
            </p:cNvSpPr>
            <p:nvPr/>
          </p:nvSpPr>
          <p:spPr bwMode="auto">
            <a:xfrm>
              <a:off x="1248" y="2427"/>
              <a:ext cx="4512" cy="1893"/>
            </a:xfrm>
            <a:custGeom>
              <a:avLst/>
              <a:gdLst>
                <a:gd name="T0" fmla="*/ 4511 w 4512"/>
                <a:gd name="T1" fmla="*/ 0 h 1893"/>
                <a:gd name="T2" fmla="*/ 4147 w 4512"/>
                <a:gd name="T3" fmla="*/ 194 h 1893"/>
                <a:gd name="T4" fmla="*/ 4120 w 4512"/>
                <a:gd name="T5" fmla="*/ 335 h 1893"/>
                <a:gd name="T6" fmla="*/ 3933 w 4512"/>
                <a:gd name="T7" fmla="*/ 557 h 1893"/>
                <a:gd name="T8" fmla="*/ 3713 w 4512"/>
                <a:gd name="T9" fmla="*/ 588 h 1893"/>
                <a:gd name="T10" fmla="*/ 3525 w 4512"/>
                <a:gd name="T11" fmla="*/ 599 h 1893"/>
                <a:gd name="T12" fmla="*/ 3482 w 4512"/>
                <a:gd name="T13" fmla="*/ 817 h 1893"/>
                <a:gd name="T14" fmla="*/ 3350 w 4512"/>
                <a:gd name="T15" fmla="*/ 726 h 1893"/>
                <a:gd name="T16" fmla="*/ 3118 w 4512"/>
                <a:gd name="T17" fmla="*/ 726 h 1893"/>
                <a:gd name="T18" fmla="*/ 2916 w 4512"/>
                <a:gd name="T19" fmla="*/ 678 h 1893"/>
                <a:gd name="T20" fmla="*/ 2799 w 4512"/>
                <a:gd name="T21" fmla="*/ 805 h 1893"/>
                <a:gd name="T22" fmla="*/ 2711 w 4512"/>
                <a:gd name="T23" fmla="*/ 1025 h 1893"/>
                <a:gd name="T24" fmla="*/ 2655 w 4512"/>
                <a:gd name="T25" fmla="*/ 931 h 1893"/>
                <a:gd name="T26" fmla="*/ 2538 w 4512"/>
                <a:gd name="T27" fmla="*/ 884 h 1893"/>
                <a:gd name="T28" fmla="*/ 2233 w 4512"/>
                <a:gd name="T29" fmla="*/ 1282 h 1893"/>
                <a:gd name="T30" fmla="*/ 2057 w 4512"/>
                <a:gd name="T31" fmla="*/ 1267 h 1893"/>
                <a:gd name="T32" fmla="*/ 1811 w 4512"/>
                <a:gd name="T33" fmla="*/ 1388 h 1893"/>
                <a:gd name="T34" fmla="*/ 1582 w 4512"/>
                <a:gd name="T35" fmla="*/ 1357 h 1893"/>
                <a:gd name="T36" fmla="*/ 1375 w 4512"/>
                <a:gd name="T37" fmla="*/ 1230 h 1893"/>
                <a:gd name="T38" fmla="*/ 1204 w 4512"/>
                <a:gd name="T39" fmla="*/ 1372 h 1893"/>
                <a:gd name="T40" fmla="*/ 970 w 4512"/>
                <a:gd name="T41" fmla="*/ 1357 h 1893"/>
                <a:gd name="T42" fmla="*/ 738 w 4512"/>
                <a:gd name="T43" fmla="*/ 1704 h 1893"/>
                <a:gd name="T44" fmla="*/ 507 w 4512"/>
                <a:gd name="T45" fmla="*/ 1700 h 1893"/>
                <a:gd name="T46" fmla="*/ 243 w 4512"/>
                <a:gd name="T47" fmla="*/ 1751 h 1893"/>
                <a:gd name="T48" fmla="*/ 73 w 4512"/>
                <a:gd name="T49" fmla="*/ 1851 h 1893"/>
                <a:gd name="T50" fmla="*/ 0 w 4512"/>
                <a:gd name="T51" fmla="*/ 1889 h 1893"/>
                <a:gd name="T52" fmla="*/ 4511 w 4512"/>
                <a:gd name="T53" fmla="*/ 1892 h 1893"/>
                <a:gd name="T54" fmla="*/ 4511 w 4512"/>
                <a:gd name="T55" fmla="*/ 0 h 189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12"/>
                <a:gd name="T85" fmla="*/ 0 h 1893"/>
                <a:gd name="T86" fmla="*/ 4512 w 4512"/>
                <a:gd name="T87" fmla="*/ 1893 h 189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12" h="1893">
                  <a:moveTo>
                    <a:pt x="4511" y="0"/>
                  </a:moveTo>
                  <a:lnTo>
                    <a:pt x="4147" y="194"/>
                  </a:lnTo>
                  <a:lnTo>
                    <a:pt x="4120" y="335"/>
                  </a:lnTo>
                  <a:lnTo>
                    <a:pt x="3933" y="557"/>
                  </a:lnTo>
                  <a:lnTo>
                    <a:pt x="3713" y="588"/>
                  </a:lnTo>
                  <a:lnTo>
                    <a:pt x="3525" y="599"/>
                  </a:lnTo>
                  <a:lnTo>
                    <a:pt x="3482" y="817"/>
                  </a:lnTo>
                  <a:lnTo>
                    <a:pt x="3350" y="726"/>
                  </a:lnTo>
                  <a:lnTo>
                    <a:pt x="3118" y="726"/>
                  </a:lnTo>
                  <a:lnTo>
                    <a:pt x="2916" y="678"/>
                  </a:lnTo>
                  <a:lnTo>
                    <a:pt x="2799" y="805"/>
                  </a:lnTo>
                  <a:lnTo>
                    <a:pt x="2711" y="1025"/>
                  </a:lnTo>
                  <a:lnTo>
                    <a:pt x="2655" y="931"/>
                  </a:lnTo>
                  <a:lnTo>
                    <a:pt x="2538" y="884"/>
                  </a:lnTo>
                  <a:lnTo>
                    <a:pt x="2233" y="1282"/>
                  </a:lnTo>
                  <a:lnTo>
                    <a:pt x="2057" y="1267"/>
                  </a:lnTo>
                  <a:lnTo>
                    <a:pt x="1811" y="1388"/>
                  </a:lnTo>
                  <a:lnTo>
                    <a:pt x="1582" y="1357"/>
                  </a:lnTo>
                  <a:lnTo>
                    <a:pt x="1375" y="1230"/>
                  </a:lnTo>
                  <a:lnTo>
                    <a:pt x="1204" y="1372"/>
                  </a:lnTo>
                  <a:lnTo>
                    <a:pt x="970" y="1357"/>
                  </a:lnTo>
                  <a:lnTo>
                    <a:pt x="738" y="1704"/>
                  </a:lnTo>
                  <a:lnTo>
                    <a:pt x="507" y="1700"/>
                  </a:lnTo>
                  <a:lnTo>
                    <a:pt x="243" y="1751"/>
                  </a:lnTo>
                  <a:lnTo>
                    <a:pt x="73" y="1851"/>
                  </a:lnTo>
                  <a:lnTo>
                    <a:pt x="0" y="1889"/>
                  </a:lnTo>
                  <a:lnTo>
                    <a:pt x="4511" y="1892"/>
                  </a:lnTo>
                  <a:lnTo>
                    <a:pt x="4511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5639" name="Object 3"/>
            <p:cNvGraphicFramePr>
              <a:graphicFrameLocks/>
            </p:cNvGraphicFramePr>
            <p:nvPr/>
          </p:nvGraphicFramePr>
          <p:xfrm>
            <a:off x="2587" y="3462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0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7" y="3462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0" name="Object 4"/>
            <p:cNvGraphicFramePr>
              <a:graphicFrameLocks/>
            </p:cNvGraphicFramePr>
            <p:nvPr/>
          </p:nvGraphicFramePr>
          <p:xfrm>
            <a:off x="4075" y="3463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1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5" y="3463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1" name="Object 5"/>
            <p:cNvGraphicFramePr>
              <a:graphicFrameLocks/>
            </p:cNvGraphicFramePr>
            <p:nvPr/>
          </p:nvGraphicFramePr>
          <p:xfrm>
            <a:off x="5035" y="3079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2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5" y="3079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42" name="Freeform 6"/>
            <p:cNvSpPr>
              <a:spLocks/>
            </p:cNvSpPr>
            <p:nvPr/>
          </p:nvSpPr>
          <p:spPr bwMode="auto">
            <a:xfrm>
              <a:off x="-1" y="1200"/>
              <a:ext cx="1920" cy="816"/>
            </a:xfrm>
            <a:custGeom>
              <a:avLst/>
              <a:gdLst>
                <a:gd name="T0" fmla="*/ 0 w 1920"/>
                <a:gd name="T1" fmla="*/ 0 h 816"/>
                <a:gd name="T2" fmla="*/ 155 w 1920"/>
                <a:gd name="T3" fmla="*/ 84 h 816"/>
                <a:gd name="T4" fmla="*/ 166 w 1920"/>
                <a:gd name="T5" fmla="*/ 145 h 816"/>
                <a:gd name="T6" fmla="*/ 246 w 1920"/>
                <a:gd name="T7" fmla="*/ 240 h 816"/>
                <a:gd name="T8" fmla="*/ 340 w 1920"/>
                <a:gd name="T9" fmla="*/ 253 h 816"/>
                <a:gd name="T10" fmla="*/ 420 w 1920"/>
                <a:gd name="T11" fmla="*/ 258 h 816"/>
                <a:gd name="T12" fmla="*/ 438 w 1920"/>
                <a:gd name="T13" fmla="*/ 352 h 816"/>
                <a:gd name="T14" fmla="*/ 494 w 1920"/>
                <a:gd name="T15" fmla="*/ 313 h 816"/>
                <a:gd name="T16" fmla="*/ 593 w 1920"/>
                <a:gd name="T17" fmla="*/ 313 h 816"/>
                <a:gd name="T18" fmla="*/ 679 w 1920"/>
                <a:gd name="T19" fmla="*/ 292 h 816"/>
                <a:gd name="T20" fmla="*/ 729 w 1920"/>
                <a:gd name="T21" fmla="*/ 347 h 816"/>
                <a:gd name="T22" fmla="*/ 766 w 1920"/>
                <a:gd name="T23" fmla="*/ 442 h 816"/>
                <a:gd name="T24" fmla="*/ 790 w 1920"/>
                <a:gd name="T25" fmla="*/ 401 h 816"/>
                <a:gd name="T26" fmla="*/ 840 w 1920"/>
                <a:gd name="T27" fmla="*/ 381 h 816"/>
                <a:gd name="T28" fmla="*/ 969 w 1920"/>
                <a:gd name="T29" fmla="*/ 552 h 816"/>
                <a:gd name="T30" fmla="*/ 1044 w 1920"/>
                <a:gd name="T31" fmla="*/ 546 h 816"/>
                <a:gd name="T32" fmla="*/ 1149 w 1920"/>
                <a:gd name="T33" fmla="*/ 598 h 816"/>
                <a:gd name="T34" fmla="*/ 1246 w 1920"/>
                <a:gd name="T35" fmla="*/ 585 h 816"/>
                <a:gd name="T36" fmla="*/ 1334 w 1920"/>
                <a:gd name="T37" fmla="*/ 530 h 816"/>
                <a:gd name="T38" fmla="*/ 1407 w 1920"/>
                <a:gd name="T39" fmla="*/ 591 h 816"/>
                <a:gd name="T40" fmla="*/ 1507 w 1920"/>
                <a:gd name="T41" fmla="*/ 585 h 816"/>
                <a:gd name="T42" fmla="*/ 1605 w 1920"/>
                <a:gd name="T43" fmla="*/ 734 h 816"/>
                <a:gd name="T44" fmla="*/ 1704 w 1920"/>
                <a:gd name="T45" fmla="*/ 732 h 816"/>
                <a:gd name="T46" fmla="*/ 1816 w 1920"/>
                <a:gd name="T47" fmla="*/ 754 h 816"/>
                <a:gd name="T48" fmla="*/ 1888 w 1920"/>
                <a:gd name="T49" fmla="*/ 797 h 816"/>
                <a:gd name="T50" fmla="*/ 1919 w 1920"/>
                <a:gd name="T51" fmla="*/ 814 h 816"/>
                <a:gd name="T52" fmla="*/ 0 w 1920"/>
                <a:gd name="T53" fmla="*/ 815 h 816"/>
                <a:gd name="T54" fmla="*/ 0 w 1920"/>
                <a:gd name="T55" fmla="*/ 0 h 81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20"/>
                <a:gd name="T85" fmla="*/ 0 h 816"/>
                <a:gd name="T86" fmla="*/ 1920 w 1920"/>
                <a:gd name="T87" fmla="*/ 816 h 81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20" h="816">
                  <a:moveTo>
                    <a:pt x="0" y="0"/>
                  </a:moveTo>
                  <a:lnTo>
                    <a:pt x="155" y="84"/>
                  </a:lnTo>
                  <a:lnTo>
                    <a:pt x="166" y="145"/>
                  </a:lnTo>
                  <a:lnTo>
                    <a:pt x="246" y="240"/>
                  </a:lnTo>
                  <a:lnTo>
                    <a:pt x="340" y="253"/>
                  </a:lnTo>
                  <a:lnTo>
                    <a:pt x="420" y="258"/>
                  </a:lnTo>
                  <a:lnTo>
                    <a:pt x="438" y="352"/>
                  </a:lnTo>
                  <a:lnTo>
                    <a:pt x="494" y="313"/>
                  </a:lnTo>
                  <a:lnTo>
                    <a:pt x="593" y="313"/>
                  </a:lnTo>
                  <a:lnTo>
                    <a:pt x="679" y="292"/>
                  </a:lnTo>
                  <a:lnTo>
                    <a:pt x="729" y="347"/>
                  </a:lnTo>
                  <a:lnTo>
                    <a:pt x="766" y="442"/>
                  </a:lnTo>
                  <a:lnTo>
                    <a:pt x="790" y="401"/>
                  </a:lnTo>
                  <a:lnTo>
                    <a:pt x="840" y="381"/>
                  </a:lnTo>
                  <a:lnTo>
                    <a:pt x="969" y="552"/>
                  </a:lnTo>
                  <a:lnTo>
                    <a:pt x="1044" y="546"/>
                  </a:lnTo>
                  <a:lnTo>
                    <a:pt x="1149" y="598"/>
                  </a:lnTo>
                  <a:lnTo>
                    <a:pt x="1246" y="585"/>
                  </a:lnTo>
                  <a:lnTo>
                    <a:pt x="1334" y="530"/>
                  </a:lnTo>
                  <a:lnTo>
                    <a:pt x="1407" y="591"/>
                  </a:lnTo>
                  <a:lnTo>
                    <a:pt x="1507" y="585"/>
                  </a:lnTo>
                  <a:lnTo>
                    <a:pt x="1605" y="734"/>
                  </a:lnTo>
                  <a:lnTo>
                    <a:pt x="1704" y="732"/>
                  </a:lnTo>
                  <a:lnTo>
                    <a:pt x="1816" y="754"/>
                  </a:lnTo>
                  <a:lnTo>
                    <a:pt x="1888" y="797"/>
                  </a:lnTo>
                  <a:lnTo>
                    <a:pt x="1919" y="814"/>
                  </a:lnTo>
                  <a:lnTo>
                    <a:pt x="0" y="815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5643" name="Object 7"/>
            <p:cNvGraphicFramePr>
              <a:graphicFrameLocks/>
            </p:cNvGraphicFramePr>
            <p:nvPr/>
          </p:nvGraphicFramePr>
          <p:xfrm>
            <a:off x="700" y="1206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3" name="ｸﾘｯﾌﾟ" r:id="rId8" imgW="2527911" imgH="3658757" progId="MS_ClipArt_Gallery.2">
                    <p:embed/>
                  </p:oleObj>
                </mc:Choice>
                <mc:Fallback>
                  <p:oleObj name="ｸﾘｯﾌﾟ" r:id="rId8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1206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508801" y="228986"/>
            <a:ext cx="6908160" cy="832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  <a:defRPr/>
            </a:pPr>
            <a:r>
              <a:rPr kumimoji="1" lang="en-US" altLang="ja-JP" sz="4800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KAIZEN(CQI)</a:t>
            </a:r>
          </a:p>
        </p:txBody>
      </p:sp>
      <p:grpSp>
        <p:nvGrpSpPr>
          <p:cNvPr id="25604" name="Group 42"/>
          <p:cNvGrpSpPr>
            <a:grpSpLocks/>
          </p:cNvGrpSpPr>
          <p:nvPr/>
        </p:nvGrpSpPr>
        <p:grpSpPr bwMode="auto">
          <a:xfrm>
            <a:off x="203520" y="1857795"/>
            <a:ext cx="11784960" cy="4818746"/>
            <a:chOff x="96" y="1170"/>
            <a:chExt cx="5568" cy="3036"/>
          </a:xfrm>
        </p:grpSpPr>
        <p:grpSp>
          <p:nvGrpSpPr>
            <p:cNvPr id="25606" name="Group 20"/>
            <p:cNvGrpSpPr>
              <a:grpSpLocks/>
            </p:cNvGrpSpPr>
            <p:nvPr/>
          </p:nvGrpSpPr>
          <p:grpSpPr bwMode="auto">
            <a:xfrm>
              <a:off x="227" y="2514"/>
              <a:ext cx="1753" cy="1692"/>
              <a:chOff x="227" y="2514"/>
              <a:chExt cx="1753" cy="1692"/>
            </a:xfrm>
          </p:grpSpPr>
          <p:sp>
            <p:nvSpPr>
              <p:cNvPr id="25628" name="Oval 10"/>
              <p:cNvSpPr>
                <a:spLocks noChangeArrowheads="1"/>
              </p:cNvSpPr>
              <p:nvPr/>
            </p:nvSpPr>
            <p:spPr bwMode="auto">
              <a:xfrm>
                <a:off x="227" y="2514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29" name="Group 19"/>
              <p:cNvGrpSpPr>
                <a:grpSpLocks/>
              </p:cNvGrpSpPr>
              <p:nvPr/>
            </p:nvGrpSpPr>
            <p:grpSpPr bwMode="auto">
              <a:xfrm>
                <a:off x="489" y="2772"/>
                <a:ext cx="1229" cy="1177"/>
                <a:chOff x="489" y="2772"/>
                <a:chExt cx="1229" cy="1177"/>
              </a:xfrm>
            </p:grpSpPr>
            <p:grpSp>
              <p:nvGrpSpPr>
                <p:cNvPr id="25630" name="Group 13"/>
                <p:cNvGrpSpPr>
                  <a:grpSpLocks/>
                </p:cNvGrpSpPr>
                <p:nvPr/>
              </p:nvGrpSpPr>
              <p:grpSpPr bwMode="auto">
                <a:xfrm>
                  <a:off x="489" y="2869"/>
                  <a:ext cx="1229" cy="1080"/>
                  <a:chOff x="489" y="2869"/>
                  <a:chExt cx="1229" cy="1080"/>
                </a:xfrm>
              </p:grpSpPr>
              <p:pic>
                <p:nvPicPr>
                  <p:cNvPr id="25636" name="Picture 11"/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89" y="2869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37" name="AutoShape 12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796" y="3027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100794" tIns="50397" rIns="100794" bIns="50397" anchor="ctr"/>
                  <a:lstStyle/>
                  <a:p>
                    <a:pPr defTabSz="914414"/>
                    <a:endParaRPr lang="en-US"/>
                  </a:p>
                </p:txBody>
              </p:sp>
            </p:grpSp>
            <p:grpSp>
              <p:nvGrpSpPr>
                <p:cNvPr id="25631" name="Group 18"/>
                <p:cNvGrpSpPr>
                  <a:grpSpLocks/>
                </p:cNvGrpSpPr>
                <p:nvPr/>
              </p:nvGrpSpPr>
              <p:grpSpPr bwMode="auto">
                <a:xfrm>
                  <a:off x="1139" y="2772"/>
                  <a:ext cx="467" cy="125"/>
                  <a:chOff x="1139" y="2772"/>
                  <a:chExt cx="467" cy="125"/>
                </a:xfrm>
              </p:grpSpPr>
              <p:sp>
                <p:nvSpPr>
                  <p:cNvPr id="25632" name="Freeform 14"/>
                  <p:cNvSpPr>
                    <a:spLocks/>
                  </p:cNvSpPr>
                  <p:nvPr/>
                </p:nvSpPr>
                <p:spPr bwMode="auto">
                  <a:xfrm>
                    <a:off x="1556" y="2853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3" name="Freeform 15"/>
                  <p:cNvSpPr>
                    <a:spLocks/>
                  </p:cNvSpPr>
                  <p:nvPr/>
                </p:nvSpPr>
                <p:spPr bwMode="auto">
                  <a:xfrm>
                    <a:off x="1139" y="2875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4" name="Freeform 16"/>
                  <p:cNvSpPr>
                    <a:spLocks/>
                  </p:cNvSpPr>
                  <p:nvPr/>
                </p:nvSpPr>
                <p:spPr bwMode="auto">
                  <a:xfrm>
                    <a:off x="1447" y="2772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5" name="Freeform 17"/>
                  <p:cNvSpPr>
                    <a:spLocks/>
                  </p:cNvSpPr>
                  <p:nvPr/>
                </p:nvSpPr>
                <p:spPr bwMode="auto">
                  <a:xfrm>
                    <a:off x="1203" y="2778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grpSp>
          <p:nvGrpSpPr>
            <p:cNvPr id="25607" name="Group 29"/>
            <p:cNvGrpSpPr>
              <a:grpSpLocks/>
            </p:cNvGrpSpPr>
            <p:nvPr/>
          </p:nvGrpSpPr>
          <p:grpSpPr bwMode="auto">
            <a:xfrm>
              <a:off x="1845" y="1588"/>
              <a:ext cx="1782" cy="1720"/>
              <a:chOff x="1845" y="1588"/>
              <a:chExt cx="1782" cy="1720"/>
            </a:xfrm>
          </p:grpSpPr>
          <p:sp>
            <p:nvSpPr>
              <p:cNvPr id="25620" name="Oval 21"/>
              <p:cNvSpPr>
                <a:spLocks noChangeArrowheads="1"/>
              </p:cNvSpPr>
              <p:nvPr/>
            </p:nvSpPr>
            <p:spPr bwMode="auto">
              <a:xfrm>
                <a:off x="1845" y="1588"/>
                <a:ext cx="1782" cy="1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21" name="Group 28"/>
              <p:cNvGrpSpPr>
                <a:grpSpLocks/>
              </p:cNvGrpSpPr>
              <p:nvPr/>
            </p:nvGrpSpPr>
            <p:grpSpPr bwMode="auto">
              <a:xfrm>
                <a:off x="2208" y="1788"/>
                <a:ext cx="1056" cy="1320"/>
                <a:chOff x="2208" y="1788"/>
                <a:chExt cx="1056" cy="1320"/>
              </a:xfrm>
            </p:grpSpPr>
            <p:pic>
              <p:nvPicPr>
                <p:cNvPr id="25622" name="Picture 22"/>
                <p:cNvPicPr>
                  <a:picLocks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08" y="1855"/>
                  <a:ext cx="1056" cy="1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5623" name="Group 27"/>
                <p:cNvGrpSpPr>
                  <a:grpSpLocks/>
                </p:cNvGrpSpPr>
                <p:nvPr/>
              </p:nvGrpSpPr>
              <p:grpSpPr bwMode="auto">
                <a:xfrm>
                  <a:off x="2690" y="1788"/>
                  <a:ext cx="516" cy="136"/>
                  <a:chOff x="2690" y="1788"/>
                  <a:chExt cx="516" cy="136"/>
                </a:xfrm>
              </p:grpSpPr>
              <p:sp>
                <p:nvSpPr>
                  <p:cNvPr id="25624" name="Freeform 23"/>
                  <p:cNvSpPr>
                    <a:spLocks/>
                  </p:cNvSpPr>
                  <p:nvPr/>
                </p:nvSpPr>
                <p:spPr bwMode="auto">
                  <a:xfrm>
                    <a:off x="3151" y="1876"/>
                    <a:ext cx="55" cy="25"/>
                  </a:xfrm>
                  <a:custGeom>
                    <a:avLst/>
                    <a:gdLst>
                      <a:gd name="T0" fmla="*/ 0 w 55"/>
                      <a:gd name="T1" fmla="*/ 24 h 25"/>
                      <a:gd name="T2" fmla="*/ 13 w 55"/>
                      <a:gd name="T3" fmla="*/ 10 h 25"/>
                      <a:gd name="T4" fmla="*/ 17 w 55"/>
                      <a:gd name="T5" fmla="*/ 7 h 25"/>
                      <a:gd name="T6" fmla="*/ 19 w 55"/>
                      <a:gd name="T7" fmla="*/ 6 h 25"/>
                      <a:gd name="T8" fmla="*/ 22 w 55"/>
                      <a:gd name="T9" fmla="*/ 4 h 25"/>
                      <a:gd name="T10" fmla="*/ 25 w 55"/>
                      <a:gd name="T11" fmla="*/ 2 h 25"/>
                      <a:gd name="T12" fmla="*/ 28 w 55"/>
                      <a:gd name="T13" fmla="*/ 1 h 25"/>
                      <a:gd name="T14" fmla="*/ 31 w 55"/>
                      <a:gd name="T15" fmla="*/ 0 h 25"/>
                      <a:gd name="T16" fmla="*/ 34 w 55"/>
                      <a:gd name="T17" fmla="*/ 0 h 25"/>
                      <a:gd name="T18" fmla="*/ 38 w 55"/>
                      <a:gd name="T19" fmla="*/ 0 h 25"/>
                      <a:gd name="T20" fmla="*/ 41 w 55"/>
                      <a:gd name="T21" fmla="*/ 0 h 25"/>
                      <a:gd name="T22" fmla="*/ 42 w 55"/>
                      <a:gd name="T23" fmla="*/ 0 h 25"/>
                      <a:gd name="T24" fmla="*/ 46 w 55"/>
                      <a:gd name="T25" fmla="*/ 0 h 25"/>
                      <a:gd name="T26" fmla="*/ 47 w 55"/>
                      <a:gd name="T27" fmla="*/ 1 h 25"/>
                      <a:gd name="T28" fmla="*/ 50 w 55"/>
                      <a:gd name="T29" fmla="*/ 4 h 25"/>
                      <a:gd name="T30" fmla="*/ 52 w 55"/>
                      <a:gd name="T31" fmla="*/ 6 h 25"/>
                      <a:gd name="T32" fmla="*/ 53 w 55"/>
                      <a:gd name="T33" fmla="*/ 8 h 25"/>
                      <a:gd name="T34" fmla="*/ 54 w 55"/>
                      <a:gd name="T35" fmla="*/ 12 h 25"/>
                      <a:gd name="T36" fmla="*/ 53 w 55"/>
                      <a:gd name="T37" fmla="*/ 17 h 25"/>
                      <a:gd name="T38" fmla="*/ 52 w 55"/>
                      <a:gd name="T39" fmla="*/ 19 h 25"/>
                      <a:gd name="T40" fmla="*/ 50 w 55"/>
                      <a:gd name="T41" fmla="*/ 20 h 25"/>
                      <a:gd name="T42" fmla="*/ 46 w 55"/>
                      <a:gd name="T43" fmla="*/ 22 h 25"/>
                      <a:gd name="T44" fmla="*/ 42 w 55"/>
                      <a:gd name="T45" fmla="*/ 23 h 25"/>
                      <a:gd name="T46" fmla="*/ 38 w 55"/>
                      <a:gd name="T47" fmla="*/ 23 h 25"/>
                      <a:gd name="T48" fmla="*/ 34 w 55"/>
                      <a:gd name="T49" fmla="*/ 21 h 25"/>
                      <a:gd name="T50" fmla="*/ 28 w 55"/>
                      <a:gd name="T51" fmla="*/ 19 h 25"/>
                      <a:gd name="T52" fmla="*/ 24 w 55"/>
                      <a:gd name="T53" fmla="*/ 19 h 25"/>
                      <a:gd name="T54" fmla="*/ 18 w 55"/>
                      <a:gd name="T55" fmla="*/ 19 h 25"/>
                      <a:gd name="T56" fmla="*/ 11 w 55"/>
                      <a:gd name="T57" fmla="*/ 20 h 25"/>
                      <a:gd name="T58" fmla="*/ 0 w 55"/>
                      <a:gd name="T59" fmla="*/ 24 h 25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5"/>
                      <a:gd name="T91" fmla="*/ 0 h 25"/>
                      <a:gd name="T92" fmla="*/ 55 w 55"/>
                      <a:gd name="T93" fmla="*/ 25 h 25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5" h="25">
                        <a:moveTo>
                          <a:pt x="0" y="24"/>
                        </a:moveTo>
                        <a:lnTo>
                          <a:pt x="13" y="10"/>
                        </a:lnTo>
                        <a:lnTo>
                          <a:pt x="17" y="7"/>
                        </a:lnTo>
                        <a:lnTo>
                          <a:pt x="19" y="6"/>
                        </a:lnTo>
                        <a:lnTo>
                          <a:pt x="22" y="4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1" y="0"/>
                        </a:lnTo>
                        <a:lnTo>
                          <a:pt x="34" y="0"/>
                        </a:lnTo>
                        <a:lnTo>
                          <a:pt x="38" y="0"/>
                        </a:lnTo>
                        <a:lnTo>
                          <a:pt x="41" y="0"/>
                        </a:lnTo>
                        <a:lnTo>
                          <a:pt x="42" y="0"/>
                        </a:lnTo>
                        <a:lnTo>
                          <a:pt x="46" y="0"/>
                        </a:lnTo>
                        <a:lnTo>
                          <a:pt x="47" y="1"/>
                        </a:lnTo>
                        <a:lnTo>
                          <a:pt x="50" y="4"/>
                        </a:lnTo>
                        <a:lnTo>
                          <a:pt x="52" y="6"/>
                        </a:lnTo>
                        <a:lnTo>
                          <a:pt x="53" y="8"/>
                        </a:lnTo>
                        <a:lnTo>
                          <a:pt x="54" y="12"/>
                        </a:lnTo>
                        <a:lnTo>
                          <a:pt x="53" y="17"/>
                        </a:lnTo>
                        <a:lnTo>
                          <a:pt x="52" y="19"/>
                        </a:lnTo>
                        <a:lnTo>
                          <a:pt x="50" y="20"/>
                        </a:lnTo>
                        <a:lnTo>
                          <a:pt x="46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4" y="21"/>
                        </a:lnTo>
                        <a:lnTo>
                          <a:pt x="28" y="19"/>
                        </a:lnTo>
                        <a:lnTo>
                          <a:pt x="24" y="19"/>
                        </a:lnTo>
                        <a:lnTo>
                          <a:pt x="18" y="19"/>
                        </a:lnTo>
                        <a:lnTo>
                          <a:pt x="11" y="20"/>
                        </a:lnTo>
                        <a:lnTo>
                          <a:pt x="0" y="2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5" name="Freeform 24"/>
                  <p:cNvSpPr>
                    <a:spLocks/>
                  </p:cNvSpPr>
                  <p:nvPr/>
                </p:nvSpPr>
                <p:spPr bwMode="auto">
                  <a:xfrm>
                    <a:off x="2690" y="1901"/>
                    <a:ext cx="36" cy="23"/>
                  </a:xfrm>
                  <a:custGeom>
                    <a:avLst/>
                    <a:gdLst>
                      <a:gd name="T0" fmla="*/ 35 w 36"/>
                      <a:gd name="T1" fmla="*/ 22 h 23"/>
                      <a:gd name="T2" fmla="*/ 25 w 36"/>
                      <a:gd name="T3" fmla="*/ 9 h 23"/>
                      <a:gd name="T4" fmla="*/ 24 w 36"/>
                      <a:gd name="T5" fmla="*/ 6 h 23"/>
                      <a:gd name="T6" fmla="*/ 22 w 36"/>
                      <a:gd name="T7" fmla="*/ 5 h 23"/>
                      <a:gd name="T8" fmla="*/ 21 w 36"/>
                      <a:gd name="T9" fmla="*/ 4 h 23"/>
                      <a:gd name="T10" fmla="*/ 18 w 36"/>
                      <a:gd name="T11" fmla="*/ 1 h 23"/>
                      <a:gd name="T12" fmla="*/ 15 w 36"/>
                      <a:gd name="T13" fmla="*/ 1 h 23"/>
                      <a:gd name="T14" fmla="*/ 14 w 36"/>
                      <a:gd name="T15" fmla="*/ 1 h 23"/>
                      <a:gd name="T16" fmla="*/ 13 w 36"/>
                      <a:gd name="T17" fmla="*/ 0 h 23"/>
                      <a:gd name="T18" fmla="*/ 10 w 36"/>
                      <a:gd name="T19" fmla="*/ 0 h 23"/>
                      <a:gd name="T20" fmla="*/ 9 w 36"/>
                      <a:gd name="T21" fmla="*/ 0 h 23"/>
                      <a:gd name="T22" fmla="*/ 7 w 36"/>
                      <a:gd name="T23" fmla="*/ 0 h 23"/>
                      <a:gd name="T24" fmla="*/ 5 w 36"/>
                      <a:gd name="T25" fmla="*/ 1 h 23"/>
                      <a:gd name="T26" fmla="*/ 3 w 36"/>
                      <a:gd name="T27" fmla="*/ 1 h 23"/>
                      <a:gd name="T28" fmla="*/ 1 w 36"/>
                      <a:gd name="T29" fmla="*/ 3 h 23"/>
                      <a:gd name="T30" fmla="*/ 1 w 36"/>
                      <a:gd name="T31" fmla="*/ 5 h 23"/>
                      <a:gd name="T32" fmla="*/ 0 w 36"/>
                      <a:gd name="T33" fmla="*/ 6 h 23"/>
                      <a:gd name="T34" fmla="*/ 0 w 36"/>
                      <a:gd name="T35" fmla="*/ 12 h 23"/>
                      <a:gd name="T36" fmla="*/ 0 w 36"/>
                      <a:gd name="T37" fmla="*/ 15 h 23"/>
                      <a:gd name="T38" fmla="*/ 1 w 36"/>
                      <a:gd name="T39" fmla="*/ 16 h 23"/>
                      <a:gd name="T40" fmla="*/ 1 w 36"/>
                      <a:gd name="T41" fmla="*/ 19 h 23"/>
                      <a:gd name="T42" fmla="*/ 5 w 36"/>
                      <a:gd name="T43" fmla="*/ 19 h 23"/>
                      <a:gd name="T44" fmla="*/ 7 w 36"/>
                      <a:gd name="T45" fmla="*/ 19 h 23"/>
                      <a:gd name="T46" fmla="*/ 10 w 36"/>
                      <a:gd name="T47" fmla="*/ 19 h 23"/>
                      <a:gd name="T48" fmla="*/ 13 w 36"/>
                      <a:gd name="T49" fmla="*/ 19 h 23"/>
                      <a:gd name="T50" fmla="*/ 15 w 36"/>
                      <a:gd name="T51" fmla="*/ 18 h 23"/>
                      <a:gd name="T52" fmla="*/ 19 w 36"/>
                      <a:gd name="T53" fmla="*/ 18 h 23"/>
                      <a:gd name="T54" fmla="*/ 23 w 36"/>
                      <a:gd name="T55" fmla="*/ 18 h 23"/>
                      <a:gd name="T56" fmla="*/ 28 w 36"/>
                      <a:gd name="T57" fmla="*/ 19 h 23"/>
                      <a:gd name="T58" fmla="*/ 35 w 36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6"/>
                      <a:gd name="T91" fmla="*/ 0 h 23"/>
                      <a:gd name="T92" fmla="*/ 36 w 36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6" h="23">
                        <a:moveTo>
                          <a:pt x="35" y="22"/>
                        </a:moveTo>
                        <a:lnTo>
                          <a:pt x="25" y="9"/>
                        </a:lnTo>
                        <a:lnTo>
                          <a:pt x="24" y="6"/>
                        </a:lnTo>
                        <a:lnTo>
                          <a:pt x="22" y="5"/>
                        </a:lnTo>
                        <a:lnTo>
                          <a:pt x="21" y="4"/>
                        </a:lnTo>
                        <a:lnTo>
                          <a:pt x="18" y="1"/>
                        </a:lnTo>
                        <a:lnTo>
                          <a:pt x="15" y="1"/>
                        </a:lnTo>
                        <a:lnTo>
                          <a:pt x="14" y="1"/>
                        </a:lnTo>
                        <a:lnTo>
                          <a:pt x="13" y="0"/>
                        </a:lnTo>
                        <a:lnTo>
                          <a:pt x="10" y="0"/>
                        </a:lnTo>
                        <a:lnTo>
                          <a:pt x="9" y="0"/>
                        </a:lnTo>
                        <a:lnTo>
                          <a:pt x="7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2"/>
                        </a:lnTo>
                        <a:lnTo>
                          <a:pt x="0" y="15"/>
                        </a:lnTo>
                        <a:lnTo>
                          <a:pt x="1" y="16"/>
                        </a:lnTo>
                        <a:lnTo>
                          <a:pt x="1" y="19"/>
                        </a:lnTo>
                        <a:lnTo>
                          <a:pt x="5" y="19"/>
                        </a:lnTo>
                        <a:lnTo>
                          <a:pt x="7" y="19"/>
                        </a:lnTo>
                        <a:lnTo>
                          <a:pt x="10" y="19"/>
                        </a:lnTo>
                        <a:lnTo>
                          <a:pt x="13" y="19"/>
                        </a:lnTo>
                        <a:lnTo>
                          <a:pt x="15" y="18"/>
                        </a:lnTo>
                        <a:lnTo>
                          <a:pt x="19" y="18"/>
                        </a:lnTo>
                        <a:lnTo>
                          <a:pt x="23" y="18"/>
                        </a:lnTo>
                        <a:lnTo>
                          <a:pt x="28" y="19"/>
                        </a:lnTo>
                        <a:lnTo>
                          <a:pt x="35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6" name="Freeform 25"/>
                  <p:cNvSpPr>
                    <a:spLocks/>
                  </p:cNvSpPr>
                  <p:nvPr/>
                </p:nvSpPr>
                <p:spPr bwMode="auto">
                  <a:xfrm>
                    <a:off x="3031" y="1788"/>
                    <a:ext cx="59" cy="44"/>
                  </a:xfrm>
                  <a:custGeom>
                    <a:avLst/>
                    <a:gdLst>
                      <a:gd name="T0" fmla="*/ 0 w 59"/>
                      <a:gd name="T1" fmla="*/ 43 h 44"/>
                      <a:gd name="T2" fmla="*/ 2 w 59"/>
                      <a:gd name="T3" fmla="*/ 37 h 44"/>
                      <a:gd name="T4" fmla="*/ 4 w 59"/>
                      <a:gd name="T5" fmla="*/ 28 h 44"/>
                      <a:gd name="T6" fmla="*/ 8 w 59"/>
                      <a:gd name="T7" fmla="*/ 22 h 44"/>
                      <a:gd name="T8" fmla="*/ 12 w 59"/>
                      <a:gd name="T9" fmla="*/ 15 h 44"/>
                      <a:gd name="T10" fmla="*/ 16 w 59"/>
                      <a:gd name="T11" fmla="*/ 9 h 44"/>
                      <a:gd name="T12" fmla="*/ 19 w 59"/>
                      <a:gd name="T13" fmla="*/ 6 h 44"/>
                      <a:gd name="T14" fmla="*/ 24 w 59"/>
                      <a:gd name="T15" fmla="*/ 3 h 44"/>
                      <a:gd name="T16" fmla="*/ 29 w 59"/>
                      <a:gd name="T17" fmla="*/ 1 h 44"/>
                      <a:gd name="T18" fmla="*/ 33 w 59"/>
                      <a:gd name="T19" fmla="*/ 0 h 44"/>
                      <a:gd name="T20" fmla="*/ 39 w 59"/>
                      <a:gd name="T21" fmla="*/ 0 h 44"/>
                      <a:gd name="T22" fmla="*/ 45 w 59"/>
                      <a:gd name="T23" fmla="*/ 0 h 44"/>
                      <a:gd name="T24" fmla="*/ 51 w 59"/>
                      <a:gd name="T25" fmla="*/ 0 h 44"/>
                      <a:gd name="T26" fmla="*/ 53 w 59"/>
                      <a:gd name="T27" fmla="*/ 2 h 44"/>
                      <a:gd name="T28" fmla="*/ 56 w 59"/>
                      <a:gd name="T29" fmla="*/ 3 h 44"/>
                      <a:gd name="T30" fmla="*/ 56 w 59"/>
                      <a:gd name="T31" fmla="*/ 5 h 44"/>
                      <a:gd name="T32" fmla="*/ 58 w 59"/>
                      <a:gd name="T33" fmla="*/ 7 h 44"/>
                      <a:gd name="T34" fmla="*/ 58 w 59"/>
                      <a:gd name="T35" fmla="*/ 9 h 44"/>
                      <a:gd name="T36" fmla="*/ 58 w 59"/>
                      <a:gd name="T37" fmla="*/ 13 h 44"/>
                      <a:gd name="T38" fmla="*/ 56 w 59"/>
                      <a:gd name="T39" fmla="*/ 17 h 44"/>
                      <a:gd name="T40" fmla="*/ 55 w 59"/>
                      <a:gd name="T41" fmla="*/ 19 h 44"/>
                      <a:gd name="T42" fmla="*/ 53 w 59"/>
                      <a:gd name="T43" fmla="*/ 20 h 44"/>
                      <a:gd name="T44" fmla="*/ 51 w 59"/>
                      <a:gd name="T45" fmla="*/ 20 h 44"/>
                      <a:gd name="T46" fmla="*/ 48 w 59"/>
                      <a:gd name="T47" fmla="*/ 22 h 44"/>
                      <a:gd name="T48" fmla="*/ 45 w 59"/>
                      <a:gd name="T49" fmla="*/ 22 h 44"/>
                      <a:gd name="T50" fmla="*/ 42 w 59"/>
                      <a:gd name="T51" fmla="*/ 23 h 44"/>
                      <a:gd name="T52" fmla="*/ 38 w 59"/>
                      <a:gd name="T53" fmla="*/ 23 h 44"/>
                      <a:gd name="T54" fmla="*/ 35 w 59"/>
                      <a:gd name="T55" fmla="*/ 22 h 44"/>
                      <a:gd name="T56" fmla="*/ 31 w 59"/>
                      <a:gd name="T57" fmla="*/ 22 h 44"/>
                      <a:gd name="T58" fmla="*/ 26 w 59"/>
                      <a:gd name="T59" fmla="*/ 23 h 44"/>
                      <a:gd name="T60" fmla="*/ 22 w 59"/>
                      <a:gd name="T61" fmla="*/ 24 h 44"/>
                      <a:gd name="T62" fmla="*/ 19 w 59"/>
                      <a:gd name="T63" fmla="*/ 27 h 44"/>
                      <a:gd name="T64" fmla="*/ 15 w 59"/>
                      <a:gd name="T65" fmla="*/ 28 h 44"/>
                      <a:gd name="T66" fmla="*/ 10 w 59"/>
                      <a:gd name="T67" fmla="*/ 33 h 44"/>
                      <a:gd name="T68" fmla="*/ 5 w 59"/>
                      <a:gd name="T69" fmla="*/ 35 h 44"/>
                      <a:gd name="T70" fmla="*/ 4 w 59"/>
                      <a:gd name="T71" fmla="*/ 38 h 44"/>
                      <a:gd name="T72" fmla="*/ 0 w 59"/>
                      <a:gd name="T73" fmla="*/ 43 h 44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9"/>
                      <a:gd name="T112" fmla="*/ 0 h 44"/>
                      <a:gd name="T113" fmla="*/ 59 w 59"/>
                      <a:gd name="T114" fmla="*/ 44 h 44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9" h="44">
                        <a:moveTo>
                          <a:pt x="0" y="43"/>
                        </a:moveTo>
                        <a:lnTo>
                          <a:pt x="2" y="37"/>
                        </a:lnTo>
                        <a:lnTo>
                          <a:pt x="4" y="28"/>
                        </a:lnTo>
                        <a:lnTo>
                          <a:pt x="8" y="22"/>
                        </a:lnTo>
                        <a:lnTo>
                          <a:pt x="12" y="15"/>
                        </a:lnTo>
                        <a:lnTo>
                          <a:pt x="16" y="9"/>
                        </a:lnTo>
                        <a:lnTo>
                          <a:pt x="19" y="6"/>
                        </a:lnTo>
                        <a:lnTo>
                          <a:pt x="24" y="3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9" y="0"/>
                        </a:lnTo>
                        <a:lnTo>
                          <a:pt x="45" y="0"/>
                        </a:ln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6" y="5"/>
                        </a:lnTo>
                        <a:lnTo>
                          <a:pt x="58" y="7"/>
                        </a:lnTo>
                        <a:lnTo>
                          <a:pt x="58" y="9"/>
                        </a:lnTo>
                        <a:lnTo>
                          <a:pt x="58" y="13"/>
                        </a:lnTo>
                        <a:lnTo>
                          <a:pt x="56" y="17"/>
                        </a:lnTo>
                        <a:lnTo>
                          <a:pt x="55" y="19"/>
                        </a:lnTo>
                        <a:lnTo>
                          <a:pt x="53" y="20"/>
                        </a:lnTo>
                        <a:lnTo>
                          <a:pt x="51" y="20"/>
                        </a:lnTo>
                        <a:lnTo>
                          <a:pt x="48" y="22"/>
                        </a:lnTo>
                        <a:lnTo>
                          <a:pt x="45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5" y="22"/>
                        </a:lnTo>
                        <a:lnTo>
                          <a:pt x="31" y="22"/>
                        </a:lnTo>
                        <a:lnTo>
                          <a:pt x="26" y="23"/>
                        </a:lnTo>
                        <a:lnTo>
                          <a:pt x="22" y="24"/>
                        </a:lnTo>
                        <a:lnTo>
                          <a:pt x="19" y="27"/>
                        </a:lnTo>
                        <a:lnTo>
                          <a:pt x="15" y="28"/>
                        </a:lnTo>
                        <a:lnTo>
                          <a:pt x="10" y="33"/>
                        </a:lnTo>
                        <a:lnTo>
                          <a:pt x="5" y="35"/>
                        </a:lnTo>
                        <a:lnTo>
                          <a:pt x="4" y="38"/>
                        </a:lnTo>
                        <a:lnTo>
                          <a:pt x="0" y="43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7" name="Freeform 26"/>
                  <p:cNvSpPr>
                    <a:spLocks/>
                  </p:cNvSpPr>
                  <p:nvPr/>
                </p:nvSpPr>
                <p:spPr bwMode="auto">
                  <a:xfrm>
                    <a:off x="2762" y="1794"/>
                    <a:ext cx="62" cy="45"/>
                  </a:xfrm>
                  <a:custGeom>
                    <a:avLst/>
                    <a:gdLst>
                      <a:gd name="T0" fmla="*/ 61 w 62"/>
                      <a:gd name="T1" fmla="*/ 44 h 45"/>
                      <a:gd name="T2" fmla="*/ 57 w 62"/>
                      <a:gd name="T3" fmla="*/ 38 h 45"/>
                      <a:gd name="T4" fmla="*/ 55 w 62"/>
                      <a:gd name="T5" fmla="*/ 29 h 45"/>
                      <a:gd name="T6" fmla="*/ 53 w 62"/>
                      <a:gd name="T7" fmla="*/ 22 h 45"/>
                      <a:gd name="T8" fmla="*/ 48 w 62"/>
                      <a:gd name="T9" fmla="*/ 16 h 45"/>
                      <a:gd name="T10" fmla="*/ 42 w 62"/>
                      <a:gd name="T11" fmla="*/ 11 h 45"/>
                      <a:gd name="T12" fmla="*/ 39 w 62"/>
                      <a:gd name="T13" fmla="*/ 7 h 45"/>
                      <a:gd name="T14" fmla="*/ 35 w 62"/>
                      <a:gd name="T15" fmla="*/ 4 h 45"/>
                      <a:gd name="T16" fmla="*/ 30 w 62"/>
                      <a:gd name="T17" fmla="*/ 2 h 45"/>
                      <a:gd name="T18" fmla="*/ 24 w 62"/>
                      <a:gd name="T19" fmla="*/ 0 h 45"/>
                      <a:gd name="T20" fmla="*/ 18 w 62"/>
                      <a:gd name="T21" fmla="*/ 0 h 45"/>
                      <a:gd name="T22" fmla="*/ 12 w 62"/>
                      <a:gd name="T23" fmla="*/ 0 h 45"/>
                      <a:gd name="T24" fmla="*/ 6 w 62"/>
                      <a:gd name="T25" fmla="*/ 1 h 45"/>
                      <a:gd name="T26" fmla="*/ 4 w 62"/>
                      <a:gd name="T27" fmla="*/ 2 h 45"/>
                      <a:gd name="T28" fmla="*/ 0 w 62"/>
                      <a:gd name="T29" fmla="*/ 4 h 45"/>
                      <a:gd name="T30" fmla="*/ 0 w 62"/>
                      <a:gd name="T31" fmla="*/ 5 h 45"/>
                      <a:gd name="T32" fmla="*/ 0 w 62"/>
                      <a:gd name="T33" fmla="*/ 7 h 45"/>
                      <a:gd name="T34" fmla="*/ 0 w 62"/>
                      <a:gd name="T35" fmla="*/ 11 h 45"/>
                      <a:gd name="T36" fmla="*/ 0 w 62"/>
                      <a:gd name="T37" fmla="*/ 14 h 45"/>
                      <a:gd name="T38" fmla="*/ 0 w 62"/>
                      <a:gd name="T39" fmla="*/ 17 h 45"/>
                      <a:gd name="T40" fmla="*/ 3 w 62"/>
                      <a:gd name="T41" fmla="*/ 18 h 45"/>
                      <a:gd name="T42" fmla="*/ 4 w 62"/>
                      <a:gd name="T43" fmla="*/ 21 h 45"/>
                      <a:gd name="T44" fmla="*/ 6 w 62"/>
                      <a:gd name="T45" fmla="*/ 22 h 45"/>
                      <a:gd name="T46" fmla="*/ 10 w 62"/>
                      <a:gd name="T47" fmla="*/ 22 h 45"/>
                      <a:gd name="T48" fmla="*/ 12 w 62"/>
                      <a:gd name="T49" fmla="*/ 22 h 45"/>
                      <a:gd name="T50" fmla="*/ 16 w 62"/>
                      <a:gd name="T51" fmla="*/ 24 h 45"/>
                      <a:gd name="T52" fmla="*/ 18 w 62"/>
                      <a:gd name="T53" fmla="*/ 24 h 45"/>
                      <a:gd name="T54" fmla="*/ 23 w 62"/>
                      <a:gd name="T55" fmla="*/ 24 h 45"/>
                      <a:gd name="T56" fmla="*/ 26 w 62"/>
                      <a:gd name="T57" fmla="*/ 22 h 45"/>
                      <a:gd name="T58" fmla="*/ 32 w 62"/>
                      <a:gd name="T59" fmla="*/ 24 h 45"/>
                      <a:gd name="T60" fmla="*/ 36 w 62"/>
                      <a:gd name="T61" fmla="*/ 25 h 45"/>
                      <a:gd name="T62" fmla="*/ 41 w 62"/>
                      <a:gd name="T63" fmla="*/ 27 h 45"/>
                      <a:gd name="T64" fmla="*/ 44 w 62"/>
                      <a:gd name="T65" fmla="*/ 29 h 45"/>
                      <a:gd name="T66" fmla="*/ 49 w 62"/>
                      <a:gd name="T67" fmla="*/ 33 h 45"/>
                      <a:gd name="T68" fmla="*/ 53 w 62"/>
                      <a:gd name="T69" fmla="*/ 36 h 45"/>
                      <a:gd name="T70" fmla="*/ 55 w 62"/>
                      <a:gd name="T71" fmla="*/ 39 h 45"/>
                      <a:gd name="T72" fmla="*/ 61 w 62"/>
                      <a:gd name="T73" fmla="*/ 44 h 45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62"/>
                      <a:gd name="T112" fmla="*/ 0 h 45"/>
                      <a:gd name="T113" fmla="*/ 62 w 62"/>
                      <a:gd name="T114" fmla="*/ 45 h 45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62" h="45">
                        <a:moveTo>
                          <a:pt x="61" y="44"/>
                        </a:moveTo>
                        <a:lnTo>
                          <a:pt x="57" y="38"/>
                        </a:lnTo>
                        <a:lnTo>
                          <a:pt x="55" y="29"/>
                        </a:lnTo>
                        <a:lnTo>
                          <a:pt x="53" y="22"/>
                        </a:lnTo>
                        <a:lnTo>
                          <a:pt x="48" y="16"/>
                        </a:lnTo>
                        <a:lnTo>
                          <a:pt x="42" y="11"/>
                        </a:lnTo>
                        <a:lnTo>
                          <a:pt x="39" y="7"/>
                        </a:lnTo>
                        <a:lnTo>
                          <a:pt x="35" y="4"/>
                        </a:lnTo>
                        <a:lnTo>
                          <a:pt x="30" y="2"/>
                        </a:lnTo>
                        <a:lnTo>
                          <a:pt x="24" y="0"/>
                        </a:lnTo>
                        <a:lnTo>
                          <a:pt x="18" y="0"/>
                        </a:lnTo>
                        <a:lnTo>
                          <a:pt x="12" y="0"/>
                        </a:lnTo>
                        <a:lnTo>
                          <a:pt x="6" y="1"/>
                        </a:lnTo>
                        <a:lnTo>
                          <a:pt x="4" y="2"/>
                        </a:lnTo>
                        <a:lnTo>
                          <a:pt x="0" y="4"/>
                        </a:lnTo>
                        <a:lnTo>
                          <a:pt x="0" y="5"/>
                        </a:lnTo>
                        <a:lnTo>
                          <a:pt x="0" y="7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0" y="17"/>
                        </a:lnTo>
                        <a:lnTo>
                          <a:pt x="3" y="18"/>
                        </a:lnTo>
                        <a:lnTo>
                          <a:pt x="4" y="21"/>
                        </a:lnTo>
                        <a:lnTo>
                          <a:pt x="6" y="22"/>
                        </a:lnTo>
                        <a:lnTo>
                          <a:pt x="10" y="22"/>
                        </a:lnTo>
                        <a:lnTo>
                          <a:pt x="12" y="22"/>
                        </a:lnTo>
                        <a:lnTo>
                          <a:pt x="16" y="24"/>
                        </a:lnTo>
                        <a:lnTo>
                          <a:pt x="18" y="24"/>
                        </a:lnTo>
                        <a:lnTo>
                          <a:pt x="23" y="24"/>
                        </a:lnTo>
                        <a:lnTo>
                          <a:pt x="26" y="22"/>
                        </a:lnTo>
                        <a:lnTo>
                          <a:pt x="32" y="24"/>
                        </a:lnTo>
                        <a:lnTo>
                          <a:pt x="36" y="25"/>
                        </a:lnTo>
                        <a:lnTo>
                          <a:pt x="41" y="27"/>
                        </a:lnTo>
                        <a:lnTo>
                          <a:pt x="44" y="29"/>
                        </a:lnTo>
                        <a:lnTo>
                          <a:pt x="49" y="33"/>
                        </a:lnTo>
                        <a:lnTo>
                          <a:pt x="53" y="36"/>
                        </a:lnTo>
                        <a:lnTo>
                          <a:pt x="55" y="39"/>
                        </a:lnTo>
                        <a:lnTo>
                          <a:pt x="61" y="4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grpSp>
          <p:nvGrpSpPr>
            <p:cNvPr id="25608" name="Group 40"/>
            <p:cNvGrpSpPr>
              <a:grpSpLocks/>
            </p:cNvGrpSpPr>
            <p:nvPr/>
          </p:nvGrpSpPr>
          <p:grpSpPr bwMode="auto">
            <a:xfrm>
              <a:off x="3683" y="1170"/>
              <a:ext cx="1753" cy="1692"/>
              <a:chOff x="3683" y="1170"/>
              <a:chExt cx="1753" cy="1692"/>
            </a:xfrm>
          </p:grpSpPr>
          <p:sp>
            <p:nvSpPr>
              <p:cNvPr id="25610" name="Oval 30"/>
              <p:cNvSpPr>
                <a:spLocks noChangeArrowheads="1"/>
              </p:cNvSpPr>
              <p:nvPr/>
            </p:nvSpPr>
            <p:spPr bwMode="auto">
              <a:xfrm>
                <a:off x="3683" y="1170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11" name="Group 39"/>
              <p:cNvGrpSpPr>
                <a:grpSpLocks/>
              </p:cNvGrpSpPr>
              <p:nvPr/>
            </p:nvGrpSpPr>
            <p:grpSpPr bwMode="auto">
              <a:xfrm>
                <a:off x="3945" y="1428"/>
                <a:ext cx="1229" cy="1177"/>
                <a:chOff x="3945" y="1428"/>
                <a:chExt cx="1229" cy="1177"/>
              </a:xfrm>
            </p:grpSpPr>
            <p:grpSp>
              <p:nvGrpSpPr>
                <p:cNvPr id="25612" name="Group 33"/>
                <p:cNvGrpSpPr>
                  <a:grpSpLocks/>
                </p:cNvGrpSpPr>
                <p:nvPr/>
              </p:nvGrpSpPr>
              <p:grpSpPr bwMode="auto">
                <a:xfrm>
                  <a:off x="3945" y="1525"/>
                  <a:ext cx="1229" cy="1080"/>
                  <a:chOff x="3945" y="1525"/>
                  <a:chExt cx="1229" cy="1080"/>
                </a:xfrm>
              </p:grpSpPr>
              <p:pic>
                <p:nvPicPr>
                  <p:cNvPr id="25618" name="Picture 31"/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945" y="1525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19" name="AutoShape 32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252" y="1683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100794" tIns="50397" rIns="100794" bIns="50397" anchor="ctr"/>
                  <a:lstStyle/>
                  <a:p>
                    <a:pPr defTabSz="914414"/>
                    <a:endParaRPr lang="en-US"/>
                  </a:p>
                </p:txBody>
              </p:sp>
            </p:grpSp>
            <p:grpSp>
              <p:nvGrpSpPr>
                <p:cNvPr id="25613" name="Group 38"/>
                <p:cNvGrpSpPr>
                  <a:grpSpLocks/>
                </p:cNvGrpSpPr>
                <p:nvPr/>
              </p:nvGrpSpPr>
              <p:grpSpPr bwMode="auto">
                <a:xfrm>
                  <a:off x="4595" y="1428"/>
                  <a:ext cx="467" cy="125"/>
                  <a:chOff x="4595" y="1428"/>
                  <a:chExt cx="467" cy="125"/>
                </a:xfrm>
              </p:grpSpPr>
              <p:sp>
                <p:nvSpPr>
                  <p:cNvPr id="25614" name="Freeform 34"/>
                  <p:cNvSpPr>
                    <a:spLocks/>
                  </p:cNvSpPr>
                  <p:nvPr/>
                </p:nvSpPr>
                <p:spPr bwMode="auto">
                  <a:xfrm>
                    <a:off x="5012" y="1509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5" name="Freeform 35"/>
                  <p:cNvSpPr>
                    <a:spLocks/>
                  </p:cNvSpPr>
                  <p:nvPr/>
                </p:nvSpPr>
                <p:spPr bwMode="auto">
                  <a:xfrm>
                    <a:off x="4595" y="1531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6" name="Freeform 36"/>
                  <p:cNvSpPr>
                    <a:spLocks/>
                  </p:cNvSpPr>
                  <p:nvPr/>
                </p:nvSpPr>
                <p:spPr bwMode="auto">
                  <a:xfrm>
                    <a:off x="4903" y="1428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7" name="Freeform 37"/>
                  <p:cNvSpPr>
                    <a:spLocks/>
                  </p:cNvSpPr>
                  <p:nvPr/>
                </p:nvSpPr>
                <p:spPr bwMode="auto">
                  <a:xfrm>
                    <a:off x="4659" y="1434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25609" name="Line 41"/>
            <p:cNvSpPr>
              <a:spLocks noChangeShapeType="1"/>
            </p:cNvSpPr>
            <p:nvPr/>
          </p:nvSpPr>
          <p:spPr bwMode="auto">
            <a:xfrm flipV="1">
              <a:off x="96" y="1943"/>
              <a:ext cx="5568" cy="2160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5605" name="Rectangle 43"/>
          <p:cNvSpPr>
            <a:spLocks noChangeArrowheads="1"/>
          </p:cNvSpPr>
          <p:nvPr/>
        </p:nvSpPr>
        <p:spPr bwMode="auto">
          <a:xfrm>
            <a:off x="2438400" y="990824"/>
            <a:ext cx="9550080" cy="1162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lang="en-US" sz="2900" b="1" dirty="0">
                <a:ea typeface="MS Gothic" pitchFamily="49" charset="-128"/>
              </a:rPr>
              <a:t>A frontline-based problem solving approach</a:t>
            </a:r>
            <a:r>
              <a:rPr lang="en-US" sz="2900" b="1" dirty="0">
                <a:solidFill>
                  <a:srgbClr val="B000B0"/>
                </a:solidFill>
                <a:ea typeface="MS Gothic" pitchFamily="49" charset="-128"/>
              </a:rPr>
              <a:t> </a:t>
            </a:r>
          </a:p>
          <a:p>
            <a:pPr defTabSz="914414">
              <a:spcBef>
                <a:spcPct val="50000"/>
              </a:spcBef>
            </a:pPr>
            <a:r>
              <a:rPr kumimoji="1" lang="en-US" altLang="ja-JP" sz="2700" b="1" dirty="0">
                <a:solidFill>
                  <a:schemeClr val="tx1">
                    <a:lumMod val="95000"/>
                  </a:schemeClr>
                </a:solidFill>
                <a:ea typeface="HG明朝B"/>
                <a:cs typeface="HG明朝B"/>
              </a:rPr>
              <a:t>Incremental but continuous progress</a:t>
            </a:r>
          </a:p>
        </p:txBody>
      </p:sp>
    </p:spTree>
    <p:extLst>
      <p:ext uri="{BB962C8B-B14F-4D97-AF65-F5344CB8AC3E}">
        <p14:creationId xmlns:p14="http://schemas.microsoft.com/office/powerpoint/2010/main" val="24276174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535680" y="417645"/>
            <a:ext cx="3861120" cy="462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endParaRPr kumimoji="1" lang="en-US" sz="2400">
              <a:solidFill>
                <a:srgbClr val="000000"/>
              </a:solidFill>
            </a:endParaRPr>
          </a:p>
        </p:txBody>
      </p:sp>
      <p:grpSp>
        <p:nvGrpSpPr>
          <p:cNvPr id="26627" name="Group 12"/>
          <p:cNvGrpSpPr>
            <a:grpSpLocks/>
          </p:cNvGrpSpPr>
          <p:nvPr/>
        </p:nvGrpSpPr>
        <p:grpSpPr bwMode="auto">
          <a:xfrm>
            <a:off x="1921" y="1990290"/>
            <a:ext cx="12190080" cy="4867711"/>
            <a:chOff x="1" y="1254"/>
            <a:chExt cx="5759" cy="3066"/>
          </a:xfrm>
        </p:grpSpPr>
        <p:grpSp>
          <p:nvGrpSpPr>
            <p:cNvPr id="26655" name="Group 5"/>
            <p:cNvGrpSpPr>
              <a:grpSpLocks/>
            </p:cNvGrpSpPr>
            <p:nvPr/>
          </p:nvGrpSpPr>
          <p:grpSpPr bwMode="auto">
            <a:xfrm>
              <a:off x="3840" y="2688"/>
              <a:ext cx="1920" cy="816"/>
              <a:chOff x="3840" y="2688"/>
              <a:chExt cx="1920" cy="816"/>
            </a:xfrm>
          </p:grpSpPr>
          <p:sp>
            <p:nvSpPr>
              <p:cNvPr id="26662" name="Freeform 3"/>
              <p:cNvSpPr>
                <a:spLocks/>
              </p:cNvSpPr>
              <p:nvPr/>
            </p:nvSpPr>
            <p:spPr bwMode="auto">
              <a:xfrm>
                <a:off x="3840" y="2688"/>
                <a:ext cx="1920" cy="816"/>
              </a:xfrm>
              <a:custGeom>
                <a:avLst/>
                <a:gdLst>
                  <a:gd name="T0" fmla="*/ 1919 w 1920"/>
                  <a:gd name="T1" fmla="*/ 0 h 816"/>
                  <a:gd name="T2" fmla="*/ 1764 w 1920"/>
                  <a:gd name="T3" fmla="*/ 83 h 816"/>
                  <a:gd name="T4" fmla="*/ 1753 w 1920"/>
                  <a:gd name="T5" fmla="*/ 144 h 816"/>
                  <a:gd name="T6" fmla="*/ 1673 w 1920"/>
                  <a:gd name="T7" fmla="*/ 240 h 816"/>
                  <a:gd name="T8" fmla="*/ 1579 w 1920"/>
                  <a:gd name="T9" fmla="*/ 253 h 816"/>
                  <a:gd name="T10" fmla="*/ 1499 w 1920"/>
                  <a:gd name="T11" fmla="*/ 258 h 816"/>
                  <a:gd name="T12" fmla="*/ 1481 w 1920"/>
                  <a:gd name="T13" fmla="*/ 352 h 816"/>
                  <a:gd name="T14" fmla="*/ 1425 w 1920"/>
                  <a:gd name="T15" fmla="*/ 312 h 816"/>
                  <a:gd name="T16" fmla="*/ 1326 w 1920"/>
                  <a:gd name="T17" fmla="*/ 312 h 816"/>
                  <a:gd name="T18" fmla="*/ 1240 w 1920"/>
                  <a:gd name="T19" fmla="*/ 292 h 816"/>
                  <a:gd name="T20" fmla="*/ 1190 w 1920"/>
                  <a:gd name="T21" fmla="*/ 346 h 816"/>
                  <a:gd name="T22" fmla="*/ 1153 w 1920"/>
                  <a:gd name="T23" fmla="*/ 441 h 816"/>
                  <a:gd name="T24" fmla="*/ 1129 w 1920"/>
                  <a:gd name="T25" fmla="*/ 401 h 816"/>
                  <a:gd name="T26" fmla="*/ 1079 w 1920"/>
                  <a:gd name="T27" fmla="*/ 380 h 816"/>
                  <a:gd name="T28" fmla="*/ 950 w 1920"/>
                  <a:gd name="T29" fmla="*/ 552 h 816"/>
                  <a:gd name="T30" fmla="*/ 875 w 1920"/>
                  <a:gd name="T31" fmla="*/ 546 h 816"/>
                  <a:gd name="T32" fmla="*/ 770 w 1920"/>
                  <a:gd name="T33" fmla="*/ 598 h 816"/>
                  <a:gd name="T34" fmla="*/ 673 w 1920"/>
                  <a:gd name="T35" fmla="*/ 584 h 816"/>
                  <a:gd name="T36" fmla="*/ 585 w 1920"/>
                  <a:gd name="T37" fmla="*/ 530 h 816"/>
                  <a:gd name="T38" fmla="*/ 512 w 1920"/>
                  <a:gd name="T39" fmla="*/ 591 h 816"/>
                  <a:gd name="T40" fmla="*/ 412 w 1920"/>
                  <a:gd name="T41" fmla="*/ 584 h 816"/>
                  <a:gd name="T42" fmla="*/ 314 w 1920"/>
                  <a:gd name="T43" fmla="*/ 734 h 816"/>
                  <a:gd name="T44" fmla="*/ 215 w 1920"/>
                  <a:gd name="T45" fmla="*/ 732 h 816"/>
                  <a:gd name="T46" fmla="*/ 103 w 1920"/>
                  <a:gd name="T47" fmla="*/ 754 h 816"/>
                  <a:gd name="T48" fmla="*/ 31 w 1920"/>
                  <a:gd name="T49" fmla="*/ 797 h 816"/>
                  <a:gd name="T50" fmla="*/ 0 w 1920"/>
                  <a:gd name="T51" fmla="*/ 813 h 816"/>
                  <a:gd name="T52" fmla="*/ 1919 w 1920"/>
                  <a:gd name="T53" fmla="*/ 815 h 816"/>
                  <a:gd name="T54" fmla="*/ 1919 w 1920"/>
                  <a:gd name="T55" fmla="*/ 0 h 81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920"/>
                  <a:gd name="T85" fmla="*/ 0 h 816"/>
                  <a:gd name="T86" fmla="*/ 1920 w 1920"/>
                  <a:gd name="T87" fmla="*/ 816 h 81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920" h="816">
                    <a:moveTo>
                      <a:pt x="1919" y="0"/>
                    </a:moveTo>
                    <a:lnTo>
                      <a:pt x="1764" y="83"/>
                    </a:lnTo>
                    <a:lnTo>
                      <a:pt x="1753" y="144"/>
                    </a:lnTo>
                    <a:lnTo>
                      <a:pt x="1673" y="240"/>
                    </a:lnTo>
                    <a:lnTo>
                      <a:pt x="1579" y="253"/>
                    </a:lnTo>
                    <a:lnTo>
                      <a:pt x="1499" y="258"/>
                    </a:lnTo>
                    <a:lnTo>
                      <a:pt x="1481" y="352"/>
                    </a:lnTo>
                    <a:lnTo>
                      <a:pt x="1425" y="312"/>
                    </a:lnTo>
                    <a:lnTo>
                      <a:pt x="1326" y="312"/>
                    </a:lnTo>
                    <a:lnTo>
                      <a:pt x="1240" y="292"/>
                    </a:lnTo>
                    <a:lnTo>
                      <a:pt x="1190" y="346"/>
                    </a:lnTo>
                    <a:lnTo>
                      <a:pt x="1153" y="441"/>
                    </a:lnTo>
                    <a:lnTo>
                      <a:pt x="1129" y="401"/>
                    </a:lnTo>
                    <a:lnTo>
                      <a:pt x="1079" y="380"/>
                    </a:lnTo>
                    <a:lnTo>
                      <a:pt x="950" y="552"/>
                    </a:lnTo>
                    <a:lnTo>
                      <a:pt x="875" y="546"/>
                    </a:lnTo>
                    <a:lnTo>
                      <a:pt x="770" y="598"/>
                    </a:lnTo>
                    <a:lnTo>
                      <a:pt x="673" y="584"/>
                    </a:lnTo>
                    <a:lnTo>
                      <a:pt x="585" y="530"/>
                    </a:lnTo>
                    <a:lnTo>
                      <a:pt x="512" y="591"/>
                    </a:lnTo>
                    <a:lnTo>
                      <a:pt x="412" y="584"/>
                    </a:lnTo>
                    <a:lnTo>
                      <a:pt x="314" y="734"/>
                    </a:lnTo>
                    <a:lnTo>
                      <a:pt x="215" y="732"/>
                    </a:lnTo>
                    <a:lnTo>
                      <a:pt x="103" y="754"/>
                    </a:lnTo>
                    <a:lnTo>
                      <a:pt x="31" y="797"/>
                    </a:lnTo>
                    <a:lnTo>
                      <a:pt x="0" y="813"/>
                    </a:lnTo>
                    <a:lnTo>
                      <a:pt x="1919" y="815"/>
                    </a:lnTo>
                    <a:lnTo>
                      <a:pt x="1919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63" name="Object 4"/>
              <p:cNvGraphicFramePr>
                <a:graphicFrameLocks/>
              </p:cNvGraphicFramePr>
              <p:nvPr/>
            </p:nvGraphicFramePr>
            <p:xfrm>
              <a:off x="4540" y="269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02" name="ｸﾘｯﾌﾟ" r:id="rId4" imgW="2527911" imgH="3658757" progId="MS_ClipArt_Gallery.2">
                      <p:embed/>
                    </p:oleObj>
                  </mc:Choice>
                  <mc:Fallback>
                    <p:oleObj name="ｸﾘｯﾌﾟ" r:id="rId4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0" y="269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656" name="Group 8"/>
            <p:cNvGrpSpPr>
              <a:grpSpLocks/>
            </p:cNvGrpSpPr>
            <p:nvPr/>
          </p:nvGrpSpPr>
          <p:grpSpPr bwMode="auto">
            <a:xfrm>
              <a:off x="4367" y="1254"/>
              <a:ext cx="1393" cy="763"/>
              <a:chOff x="4367" y="1254"/>
              <a:chExt cx="1393" cy="763"/>
            </a:xfrm>
          </p:grpSpPr>
          <p:sp>
            <p:nvSpPr>
              <p:cNvPr id="26660" name="Freeform 6"/>
              <p:cNvSpPr>
                <a:spLocks/>
              </p:cNvSpPr>
              <p:nvPr/>
            </p:nvSpPr>
            <p:spPr bwMode="auto">
              <a:xfrm>
                <a:off x="4367" y="1344"/>
                <a:ext cx="1393" cy="673"/>
              </a:xfrm>
              <a:custGeom>
                <a:avLst/>
                <a:gdLst>
                  <a:gd name="T0" fmla="*/ 1392 w 1393"/>
                  <a:gd name="T1" fmla="*/ 0 h 673"/>
                  <a:gd name="T2" fmla="*/ 1279 w 1393"/>
                  <a:gd name="T3" fmla="*/ 69 h 673"/>
                  <a:gd name="T4" fmla="*/ 1271 w 1393"/>
                  <a:gd name="T5" fmla="*/ 119 h 673"/>
                  <a:gd name="T6" fmla="*/ 1213 w 1393"/>
                  <a:gd name="T7" fmla="*/ 198 h 673"/>
                  <a:gd name="T8" fmla="*/ 1145 w 1393"/>
                  <a:gd name="T9" fmla="*/ 209 h 673"/>
                  <a:gd name="T10" fmla="*/ 1088 w 1393"/>
                  <a:gd name="T11" fmla="*/ 213 h 673"/>
                  <a:gd name="T12" fmla="*/ 1074 w 1393"/>
                  <a:gd name="T13" fmla="*/ 290 h 673"/>
                  <a:gd name="T14" fmla="*/ 1033 w 1393"/>
                  <a:gd name="T15" fmla="*/ 257 h 673"/>
                  <a:gd name="T16" fmla="*/ 962 w 1393"/>
                  <a:gd name="T17" fmla="*/ 257 h 673"/>
                  <a:gd name="T18" fmla="*/ 899 w 1393"/>
                  <a:gd name="T19" fmla="*/ 241 h 673"/>
                  <a:gd name="T20" fmla="*/ 863 w 1393"/>
                  <a:gd name="T21" fmla="*/ 285 h 673"/>
                  <a:gd name="T22" fmla="*/ 836 w 1393"/>
                  <a:gd name="T23" fmla="*/ 364 h 673"/>
                  <a:gd name="T24" fmla="*/ 819 w 1393"/>
                  <a:gd name="T25" fmla="*/ 330 h 673"/>
                  <a:gd name="T26" fmla="*/ 783 w 1393"/>
                  <a:gd name="T27" fmla="*/ 314 h 673"/>
                  <a:gd name="T28" fmla="*/ 689 w 1393"/>
                  <a:gd name="T29" fmla="*/ 455 h 673"/>
                  <a:gd name="T30" fmla="*/ 635 w 1393"/>
                  <a:gd name="T31" fmla="*/ 450 h 673"/>
                  <a:gd name="T32" fmla="*/ 559 w 1393"/>
                  <a:gd name="T33" fmla="*/ 493 h 673"/>
                  <a:gd name="T34" fmla="*/ 488 w 1393"/>
                  <a:gd name="T35" fmla="*/ 482 h 673"/>
                  <a:gd name="T36" fmla="*/ 424 w 1393"/>
                  <a:gd name="T37" fmla="*/ 437 h 673"/>
                  <a:gd name="T38" fmla="*/ 371 w 1393"/>
                  <a:gd name="T39" fmla="*/ 487 h 673"/>
                  <a:gd name="T40" fmla="*/ 299 w 1393"/>
                  <a:gd name="T41" fmla="*/ 482 h 673"/>
                  <a:gd name="T42" fmla="*/ 227 w 1393"/>
                  <a:gd name="T43" fmla="*/ 605 h 673"/>
                  <a:gd name="T44" fmla="*/ 156 w 1393"/>
                  <a:gd name="T45" fmla="*/ 603 h 673"/>
                  <a:gd name="T46" fmla="*/ 75 w 1393"/>
                  <a:gd name="T47" fmla="*/ 622 h 673"/>
                  <a:gd name="T48" fmla="*/ 22 w 1393"/>
                  <a:gd name="T49" fmla="*/ 657 h 673"/>
                  <a:gd name="T50" fmla="*/ 0 w 1393"/>
                  <a:gd name="T51" fmla="*/ 671 h 673"/>
                  <a:gd name="T52" fmla="*/ 1392 w 1393"/>
                  <a:gd name="T53" fmla="*/ 672 h 673"/>
                  <a:gd name="T54" fmla="*/ 1392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1392" y="0"/>
                    </a:moveTo>
                    <a:lnTo>
                      <a:pt x="1279" y="69"/>
                    </a:lnTo>
                    <a:lnTo>
                      <a:pt x="1271" y="119"/>
                    </a:lnTo>
                    <a:lnTo>
                      <a:pt x="1213" y="198"/>
                    </a:lnTo>
                    <a:lnTo>
                      <a:pt x="1145" y="209"/>
                    </a:lnTo>
                    <a:lnTo>
                      <a:pt x="1088" y="213"/>
                    </a:lnTo>
                    <a:lnTo>
                      <a:pt x="1074" y="290"/>
                    </a:lnTo>
                    <a:lnTo>
                      <a:pt x="1033" y="257"/>
                    </a:lnTo>
                    <a:lnTo>
                      <a:pt x="962" y="257"/>
                    </a:lnTo>
                    <a:lnTo>
                      <a:pt x="899" y="241"/>
                    </a:lnTo>
                    <a:lnTo>
                      <a:pt x="863" y="285"/>
                    </a:lnTo>
                    <a:lnTo>
                      <a:pt x="836" y="364"/>
                    </a:lnTo>
                    <a:lnTo>
                      <a:pt x="819" y="330"/>
                    </a:lnTo>
                    <a:lnTo>
                      <a:pt x="783" y="314"/>
                    </a:lnTo>
                    <a:lnTo>
                      <a:pt x="689" y="455"/>
                    </a:lnTo>
                    <a:lnTo>
                      <a:pt x="635" y="450"/>
                    </a:lnTo>
                    <a:lnTo>
                      <a:pt x="559" y="493"/>
                    </a:lnTo>
                    <a:lnTo>
                      <a:pt x="488" y="482"/>
                    </a:lnTo>
                    <a:lnTo>
                      <a:pt x="424" y="437"/>
                    </a:lnTo>
                    <a:lnTo>
                      <a:pt x="371" y="487"/>
                    </a:lnTo>
                    <a:lnTo>
                      <a:pt x="299" y="482"/>
                    </a:lnTo>
                    <a:lnTo>
                      <a:pt x="227" y="605"/>
                    </a:lnTo>
                    <a:lnTo>
                      <a:pt x="156" y="603"/>
                    </a:lnTo>
                    <a:lnTo>
                      <a:pt x="75" y="622"/>
                    </a:lnTo>
                    <a:lnTo>
                      <a:pt x="22" y="657"/>
                    </a:lnTo>
                    <a:lnTo>
                      <a:pt x="0" y="671"/>
                    </a:lnTo>
                    <a:lnTo>
                      <a:pt x="1392" y="672"/>
                    </a:lnTo>
                    <a:lnTo>
                      <a:pt x="1392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61" name="Object 7"/>
              <p:cNvGraphicFramePr>
                <a:graphicFrameLocks/>
              </p:cNvGraphicFramePr>
              <p:nvPr/>
            </p:nvGraphicFramePr>
            <p:xfrm>
              <a:off x="4925" y="125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03" name="ｸﾘｯﾌﾟ" r:id="rId6" imgW="2527911" imgH="3658757" progId="MS_ClipArt_Gallery.2">
                      <p:embed/>
                    </p:oleObj>
                  </mc:Choice>
                  <mc:Fallback>
                    <p:oleObj name="ｸﾘｯﾌﾟ" r:id="rId6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5" y="125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657" name="Group 11"/>
            <p:cNvGrpSpPr>
              <a:grpSpLocks/>
            </p:cNvGrpSpPr>
            <p:nvPr/>
          </p:nvGrpSpPr>
          <p:grpSpPr bwMode="auto">
            <a:xfrm>
              <a:off x="1" y="3339"/>
              <a:ext cx="1393" cy="981"/>
              <a:chOff x="1" y="3339"/>
              <a:chExt cx="1393" cy="981"/>
            </a:xfrm>
          </p:grpSpPr>
          <p:sp>
            <p:nvSpPr>
              <p:cNvPr id="26658" name="Freeform 9"/>
              <p:cNvSpPr>
                <a:spLocks/>
              </p:cNvSpPr>
              <p:nvPr/>
            </p:nvSpPr>
            <p:spPr bwMode="auto">
              <a:xfrm>
                <a:off x="1" y="3647"/>
                <a:ext cx="1393" cy="673"/>
              </a:xfrm>
              <a:custGeom>
                <a:avLst/>
                <a:gdLst>
                  <a:gd name="T0" fmla="*/ 0 w 1393"/>
                  <a:gd name="T1" fmla="*/ 0 h 673"/>
                  <a:gd name="T2" fmla="*/ 112 w 1393"/>
                  <a:gd name="T3" fmla="*/ 69 h 673"/>
                  <a:gd name="T4" fmla="*/ 120 w 1393"/>
                  <a:gd name="T5" fmla="*/ 120 h 673"/>
                  <a:gd name="T6" fmla="*/ 178 w 1393"/>
                  <a:gd name="T7" fmla="*/ 198 h 673"/>
                  <a:gd name="T8" fmla="*/ 246 w 1393"/>
                  <a:gd name="T9" fmla="*/ 209 h 673"/>
                  <a:gd name="T10" fmla="*/ 304 w 1393"/>
                  <a:gd name="T11" fmla="*/ 213 h 673"/>
                  <a:gd name="T12" fmla="*/ 318 w 1393"/>
                  <a:gd name="T13" fmla="*/ 291 h 673"/>
                  <a:gd name="T14" fmla="*/ 358 w 1393"/>
                  <a:gd name="T15" fmla="*/ 258 h 673"/>
                  <a:gd name="T16" fmla="*/ 430 w 1393"/>
                  <a:gd name="T17" fmla="*/ 258 h 673"/>
                  <a:gd name="T18" fmla="*/ 492 w 1393"/>
                  <a:gd name="T19" fmla="*/ 241 h 673"/>
                  <a:gd name="T20" fmla="*/ 528 w 1393"/>
                  <a:gd name="T21" fmla="*/ 286 h 673"/>
                  <a:gd name="T22" fmla="*/ 555 w 1393"/>
                  <a:gd name="T23" fmla="*/ 365 h 673"/>
                  <a:gd name="T24" fmla="*/ 573 w 1393"/>
                  <a:gd name="T25" fmla="*/ 331 h 673"/>
                  <a:gd name="T26" fmla="*/ 609 w 1393"/>
                  <a:gd name="T27" fmla="*/ 314 h 673"/>
                  <a:gd name="T28" fmla="*/ 703 w 1393"/>
                  <a:gd name="T29" fmla="*/ 456 h 673"/>
                  <a:gd name="T30" fmla="*/ 757 w 1393"/>
                  <a:gd name="T31" fmla="*/ 450 h 673"/>
                  <a:gd name="T32" fmla="*/ 833 w 1393"/>
                  <a:gd name="T33" fmla="*/ 493 h 673"/>
                  <a:gd name="T34" fmla="*/ 904 w 1393"/>
                  <a:gd name="T35" fmla="*/ 482 h 673"/>
                  <a:gd name="T36" fmla="*/ 968 w 1393"/>
                  <a:gd name="T37" fmla="*/ 437 h 673"/>
                  <a:gd name="T38" fmla="*/ 1020 w 1393"/>
                  <a:gd name="T39" fmla="*/ 488 h 673"/>
                  <a:gd name="T40" fmla="*/ 1093 w 1393"/>
                  <a:gd name="T41" fmla="*/ 482 h 673"/>
                  <a:gd name="T42" fmla="*/ 1164 w 1393"/>
                  <a:gd name="T43" fmla="*/ 606 h 673"/>
                  <a:gd name="T44" fmla="*/ 1235 w 1393"/>
                  <a:gd name="T45" fmla="*/ 604 h 673"/>
                  <a:gd name="T46" fmla="*/ 1317 w 1393"/>
                  <a:gd name="T47" fmla="*/ 622 h 673"/>
                  <a:gd name="T48" fmla="*/ 1369 w 1393"/>
                  <a:gd name="T49" fmla="*/ 658 h 673"/>
                  <a:gd name="T50" fmla="*/ 1392 w 1393"/>
                  <a:gd name="T51" fmla="*/ 671 h 673"/>
                  <a:gd name="T52" fmla="*/ 0 w 1393"/>
                  <a:gd name="T53" fmla="*/ 672 h 673"/>
                  <a:gd name="T54" fmla="*/ 0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0" y="0"/>
                    </a:moveTo>
                    <a:lnTo>
                      <a:pt x="112" y="69"/>
                    </a:lnTo>
                    <a:lnTo>
                      <a:pt x="120" y="120"/>
                    </a:lnTo>
                    <a:lnTo>
                      <a:pt x="178" y="198"/>
                    </a:lnTo>
                    <a:lnTo>
                      <a:pt x="246" y="209"/>
                    </a:lnTo>
                    <a:lnTo>
                      <a:pt x="304" y="213"/>
                    </a:lnTo>
                    <a:lnTo>
                      <a:pt x="318" y="291"/>
                    </a:lnTo>
                    <a:lnTo>
                      <a:pt x="358" y="258"/>
                    </a:lnTo>
                    <a:lnTo>
                      <a:pt x="430" y="258"/>
                    </a:lnTo>
                    <a:lnTo>
                      <a:pt x="492" y="241"/>
                    </a:lnTo>
                    <a:lnTo>
                      <a:pt x="528" y="286"/>
                    </a:lnTo>
                    <a:lnTo>
                      <a:pt x="555" y="365"/>
                    </a:lnTo>
                    <a:lnTo>
                      <a:pt x="573" y="331"/>
                    </a:lnTo>
                    <a:lnTo>
                      <a:pt x="609" y="314"/>
                    </a:lnTo>
                    <a:lnTo>
                      <a:pt x="703" y="456"/>
                    </a:lnTo>
                    <a:lnTo>
                      <a:pt x="757" y="450"/>
                    </a:lnTo>
                    <a:lnTo>
                      <a:pt x="833" y="493"/>
                    </a:lnTo>
                    <a:lnTo>
                      <a:pt x="904" y="482"/>
                    </a:lnTo>
                    <a:lnTo>
                      <a:pt x="968" y="437"/>
                    </a:lnTo>
                    <a:lnTo>
                      <a:pt x="1020" y="488"/>
                    </a:lnTo>
                    <a:lnTo>
                      <a:pt x="1093" y="482"/>
                    </a:lnTo>
                    <a:lnTo>
                      <a:pt x="1164" y="606"/>
                    </a:lnTo>
                    <a:lnTo>
                      <a:pt x="1235" y="604"/>
                    </a:lnTo>
                    <a:lnTo>
                      <a:pt x="1317" y="622"/>
                    </a:lnTo>
                    <a:lnTo>
                      <a:pt x="1369" y="658"/>
                    </a:lnTo>
                    <a:lnTo>
                      <a:pt x="1392" y="671"/>
                    </a:lnTo>
                    <a:lnTo>
                      <a:pt x="0" y="67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59" name="Object 10"/>
              <p:cNvGraphicFramePr>
                <a:graphicFrameLocks/>
              </p:cNvGraphicFramePr>
              <p:nvPr/>
            </p:nvGraphicFramePr>
            <p:xfrm>
              <a:off x="268" y="3339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04" name="ｸﾘｯﾌﾟ" r:id="rId7" imgW="2527911" imgH="3658757" progId="MS_ClipArt_Gallery.2">
                      <p:embed/>
                    </p:oleObj>
                  </mc:Choice>
                  <mc:Fallback>
                    <p:oleObj name="ｸﾘｯﾌﾟ" r:id="rId7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" y="3339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535681" y="264988"/>
            <a:ext cx="6576000" cy="82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  <a:defRPr/>
            </a:pP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grpSp>
        <p:nvGrpSpPr>
          <p:cNvPr id="26629" name="Group 37"/>
          <p:cNvGrpSpPr>
            <a:grpSpLocks/>
          </p:cNvGrpSpPr>
          <p:nvPr/>
        </p:nvGrpSpPr>
        <p:grpSpPr bwMode="auto">
          <a:xfrm>
            <a:off x="38401" y="1309098"/>
            <a:ext cx="12078720" cy="4710734"/>
            <a:chOff x="18" y="825"/>
            <a:chExt cx="5707" cy="2967"/>
          </a:xfrm>
        </p:grpSpPr>
        <p:grpSp>
          <p:nvGrpSpPr>
            <p:cNvPr id="26632" name="Group 23"/>
            <p:cNvGrpSpPr>
              <a:grpSpLocks/>
            </p:cNvGrpSpPr>
            <p:nvPr/>
          </p:nvGrpSpPr>
          <p:grpSpPr bwMode="auto">
            <a:xfrm>
              <a:off x="18" y="825"/>
              <a:ext cx="4368" cy="2141"/>
              <a:chOff x="18" y="825"/>
              <a:chExt cx="4368" cy="2141"/>
            </a:xfrm>
          </p:grpSpPr>
          <p:grpSp>
            <p:nvGrpSpPr>
              <p:cNvPr id="26646" name="Group 16"/>
              <p:cNvGrpSpPr>
                <a:grpSpLocks/>
              </p:cNvGrpSpPr>
              <p:nvPr/>
            </p:nvGrpSpPr>
            <p:grpSpPr bwMode="auto">
              <a:xfrm>
                <a:off x="2706" y="825"/>
                <a:ext cx="1680" cy="1613"/>
                <a:chOff x="2706" y="825"/>
                <a:chExt cx="1680" cy="1613"/>
              </a:xfrm>
            </p:grpSpPr>
            <p:sp>
              <p:nvSpPr>
                <p:cNvPr id="26653" name="Oval 14"/>
                <p:cNvSpPr>
                  <a:spLocks noChangeArrowheads="1"/>
                </p:cNvSpPr>
                <p:nvPr/>
              </p:nvSpPr>
              <p:spPr bwMode="auto">
                <a:xfrm>
                  <a:off x="2706" y="825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4" name="Picture 15"/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2" y="1096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647" name="Group 19"/>
              <p:cNvGrpSpPr>
                <a:grpSpLocks/>
              </p:cNvGrpSpPr>
              <p:nvPr/>
            </p:nvGrpSpPr>
            <p:grpSpPr bwMode="auto">
              <a:xfrm>
                <a:off x="18" y="1353"/>
                <a:ext cx="1680" cy="1613"/>
                <a:chOff x="18" y="1353"/>
                <a:chExt cx="1680" cy="1613"/>
              </a:xfrm>
            </p:grpSpPr>
            <p:sp>
              <p:nvSpPr>
                <p:cNvPr id="26651" name="Oval 17"/>
                <p:cNvSpPr>
                  <a:spLocks noChangeArrowheads="1"/>
                </p:cNvSpPr>
                <p:nvPr/>
              </p:nvSpPr>
              <p:spPr bwMode="auto">
                <a:xfrm>
                  <a:off x="18" y="1353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2" name="Picture 18"/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1624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648" name="Group 22"/>
              <p:cNvGrpSpPr>
                <a:grpSpLocks/>
              </p:cNvGrpSpPr>
              <p:nvPr/>
            </p:nvGrpSpPr>
            <p:grpSpPr bwMode="auto">
              <a:xfrm>
                <a:off x="1704" y="1296"/>
                <a:ext cx="1008" cy="1344"/>
                <a:chOff x="1704" y="1296"/>
                <a:chExt cx="1008" cy="1344"/>
              </a:xfrm>
            </p:grpSpPr>
            <p:sp>
              <p:nvSpPr>
                <p:cNvPr id="26649" name="Rectangle 20"/>
                <p:cNvSpPr>
                  <a:spLocks noChangeArrowheads="1"/>
                </p:cNvSpPr>
                <p:nvPr/>
              </p:nvSpPr>
              <p:spPr bwMode="auto">
                <a:xfrm>
                  <a:off x="1704" y="1296"/>
                  <a:ext cx="1008" cy="13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0" name="Picture 21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74" y="1348"/>
                  <a:ext cx="868" cy="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6633" name="Group 36"/>
            <p:cNvGrpSpPr>
              <a:grpSpLocks/>
            </p:cNvGrpSpPr>
            <p:nvPr/>
          </p:nvGrpSpPr>
          <p:grpSpPr bwMode="auto">
            <a:xfrm>
              <a:off x="994" y="2160"/>
              <a:ext cx="4731" cy="1632"/>
              <a:chOff x="994" y="2160"/>
              <a:chExt cx="4731" cy="1632"/>
            </a:xfrm>
          </p:grpSpPr>
          <p:sp>
            <p:nvSpPr>
              <p:cNvPr id="26634" name="Rectangle 24"/>
              <p:cNvSpPr>
                <a:spLocks noChangeArrowheads="1"/>
              </p:cNvSpPr>
              <p:nvPr/>
            </p:nvSpPr>
            <p:spPr bwMode="auto">
              <a:xfrm>
                <a:off x="2287" y="2711"/>
                <a:ext cx="1103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1494" tIns="50748" rIns="101494" bIns="50748">
                <a:spAutoFit/>
              </a:bodyPr>
              <a:lstStyle/>
              <a:p>
                <a:pPr algn="ctr" defTabSz="914414">
                  <a:spcBef>
                    <a:spcPct val="50000"/>
                  </a:spcBef>
                </a:pPr>
                <a:r>
                  <a:rPr kumimoji="1" lang="en-US" altLang="ja-JP" sz="1400" b="1">
                    <a:latin typeface="Times New Roman" pitchFamily="18" charset="0"/>
                    <a:ea typeface="HG明朝B"/>
                    <a:cs typeface="HG明朝B"/>
                  </a:rPr>
                  <a:t>THE IDEAL</a:t>
                </a:r>
              </a:p>
            </p:txBody>
          </p:sp>
          <p:sp>
            <p:nvSpPr>
              <p:cNvPr id="26635" name="Rectangle 25"/>
              <p:cNvSpPr>
                <a:spLocks noChangeArrowheads="1"/>
              </p:cNvSpPr>
              <p:nvPr/>
            </p:nvSpPr>
            <p:spPr bwMode="auto">
              <a:xfrm rot="660000">
                <a:off x="1819" y="3050"/>
                <a:ext cx="908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1494" tIns="50748" rIns="101494" bIns="50748">
                <a:spAutoFit/>
              </a:bodyPr>
              <a:lstStyle/>
              <a:p>
                <a:pPr defTabSz="914414">
                  <a:spcBef>
                    <a:spcPct val="50000"/>
                  </a:spcBef>
                </a:pPr>
                <a:r>
                  <a:rPr kumimoji="1" lang="en-US" altLang="ja-JP" sz="1400" b="1">
                    <a:latin typeface="Times New Roman" pitchFamily="18" charset="0"/>
                    <a:ea typeface="HG明朝B"/>
                    <a:cs typeface="HG明朝B"/>
                  </a:rPr>
                  <a:t>ACTUALITY</a:t>
                </a:r>
              </a:p>
            </p:txBody>
          </p:sp>
          <p:grpSp>
            <p:nvGrpSpPr>
              <p:cNvPr id="26636" name="Group 35"/>
              <p:cNvGrpSpPr>
                <a:grpSpLocks/>
              </p:cNvGrpSpPr>
              <p:nvPr/>
            </p:nvGrpSpPr>
            <p:grpSpPr bwMode="auto">
              <a:xfrm>
                <a:off x="994" y="2160"/>
                <a:ext cx="4731" cy="1632"/>
                <a:chOff x="994" y="2160"/>
                <a:chExt cx="4731" cy="1632"/>
              </a:xfrm>
            </p:grpSpPr>
            <p:grpSp>
              <p:nvGrpSpPr>
                <p:cNvPr id="26637" name="Group 32"/>
                <p:cNvGrpSpPr>
                  <a:grpSpLocks/>
                </p:cNvGrpSpPr>
                <p:nvPr/>
              </p:nvGrpSpPr>
              <p:grpSpPr bwMode="auto">
                <a:xfrm>
                  <a:off x="994" y="2183"/>
                  <a:ext cx="4608" cy="1609"/>
                  <a:chOff x="994" y="2183"/>
                  <a:chExt cx="4608" cy="1609"/>
                </a:xfrm>
              </p:grpSpPr>
              <p:grpSp>
                <p:nvGrpSpPr>
                  <p:cNvPr id="26640" name="Group 28"/>
                  <p:cNvGrpSpPr>
                    <a:grpSpLocks/>
                  </p:cNvGrpSpPr>
                  <p:nvPr/>
                </p:nvGrpSpPr>
                <p:grpSpPr bwMode="auto">
                  <a:xfrm>
                    <a:off x="3691" y="2183"/>
                    <a:ext cx="1911" cy="1090"/>
                    <a:chOff x="3691" y="2183"/>
                    <a:chExt cx="1911" cy="1090"/>
                  </a:xfrm>
                </p:grpSpPr>
                <p:sp>
                  <p:nvSpPr>
                    <p:cNvPr id="26644" name="Line 2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91" y="2183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6645" name="Line 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91" y="2200"/>
                      <a:ext cx="1911" cy="36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26641" name="Group 31"/>
                  <p:cNvGrpSpPr>
                    <a:grpSpLocks/>
                  </p:cNvGrpSpPr>
                  <p:nvPr/>
                </p:nvGrpSpPr>
                <p:grpSpPr bwMode="auto">
                  <a:xfrm>
                    <a:off x="994" y="2702"/>
                    <a:ext cx="2696" cy="1090"/>
                    <a:chOff x="994" y="2702"/>
                    <a:chExt cx="2696" cy="1090"/>
                  </a:xfrm>
                </p:grpSpPr>
                <p:sp>
                  <p:nvSpPr>
                    <p:cNvPr id="26642" name="Line 2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994" y="2702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6643" name="Line 3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4" y="2719"/>
                      <a:ext cx="2696" cy="55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</p:grpSp>
            <p:sp>
              <p:nvSpPr>
                <p:cNvPr id="26638" name="Line 33"/>
                <p:cNvSpPr>
                  <a:spLocks noChangeShapeType="1"/>
                </p:cNvSpPr>
                <p:nvPr/>
              </p:nvSpPr>
              <p:spPr bwMode="auto">
                <a:xfrm>
                  <a:off x="994" y="2688"/>
                  <a:ext cx="268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639" name="Line 34"/>
                <p:cNvSpPr>
                  <a:spLocks noChangeShapeType="1"/>
                </p:cNvSpPr>
                <p:nvPr/>
              </p:nvSpPr>
              <p:spPr bwMode="auto">
                <a:xfrm>
                  <a:off x="3709" y="2160"/>
                  <a:ext cx="201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</p:grpSp>
      <p:sp>
        <p:nvSpPr>
          <p:cNvPr id="26630" name="Rectangle 38"/>
          <p:cNvSpPr>
            <a:spLocks noChangeArrowheads="1"/>
          </p:cNvSpPr>
          <p:nvPr/>
        </p:nvSpPr>
        <p:spPr bwMode="auto">
          <a:xfrm>
            <a:off x="8252161" y="341318"/>
            <a:ext cx="3561600" cy="831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algn="ctr" defTabSz="914414">
              <a:spcBef>
                <a:spcPct val="50000"/>
              </a:spcBef>
            </a:pPr>
            <a:r>
              <a:rPr kumimoji="1" lang="en-US" altLang="ja-JP" sz="2400">
                <a:solidFill>
                  <a:srgbClr val="FFA7E8"/>
                </a:solidFill>
                <a:ea typeface="HG明朝B"/>
                <a:cs typeface="HG明朝B"/>
              </a:rPr>
              <a:t>Dramatic but intermittent progress</a:t>
            </a:r>
          </a:p>
        </p:txBody>
      </p:sp>
      <p:sp>
        <p:nvSpPr>
          <p:cNvPr id="26631" name="Rectangle 39"/>
          <p:cNvSpPr>
            <a:spLocks noChangeArrowheads="1"/>
          </p:cNvSpPr>
          <p:nvPr/>
        </p:nvSpPr>
        <p:spPr bwMode="auto">
          <a:xfrm>
            <a:off x="2363520" y="5594989"/>
            <a:ext cx="9697920" cy="831631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kumimoji="1" lang="en-US" altLang="ja-JP" sz="2400">
                <a:solidFill>
                  <a:srgbClr val="FFFFFF"/>
                </a:solidFill>
                <a:ea typeface="HG明朝B"/>
                <a:cs typeface="HG明朝B"/>
              </a:rPr>
              <a:t>Higher standard achieved through innovation is subject to deterioration unless continuing efforts are made first to maintain it and then to improve it</a:t>
            </a:r>
          </a:p>
        </p:txBody>
      </p:sp>
    </p:spTree>
    <p:extLst>
      <p:ext uri="{BB962C8B-B14F-4D97-AF65-F5344CB8AC3E}">
        <p14:creationId xmlns:p14="http://schemas.microsoft.com/office/powerpoint/2010/main" val="32562145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535680" y="417645"/>
            <a:ext cx="3861120" cy="462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endParaRPr kumimoji="1" lang="en-US" sz="2400">
              <a:solidFill>
                <a:srgbClr val="000000"/>
              </a:solidFill>
            </a:endParaRPr>
          </a:p>
        </p:txBody>
      </p:sp>
      <p:grpSp>
        <p:nvGrpSpPr>
          <p:cNvPr id="27651" name="Group 3"/>
          <p:cNvGrpSpPr>
            <a:grpSpLocks/>
          </p:cNvGrpSpPr>
          <p:nvPr/>
        </p:nvGrpSpPr>
        <p:grpSpPr bwMode="auto">
          <a:xfrm>
            <a:off x="0" y="5148542"/>
            <a:ext cx="12190080" cy="1709459"/>
            <a:chOff x="0" y="3243"/>
            <a:chExt cx="5759" cy="1077"/>
          </a:xfrm>
        </p:grpSpPr>
        <p:sp>
          <p:nvSpPr>
            <p:cNvPr id="27685" name="Freeform 4"/>
            <p:cNvSpPr>
              <a:spLocks/>
            </p:cNvSpPr>
            <p:nvPr/>
          </p:nvSpPr>
          <p:spPr bwMode="auto">
            <a:xfrm>
              <a:off x="0" y="3936"/>
              <a:ext cx="1104" cy="384"/>
            </a:xfrm>
            <a:custGeom>
              <a:avLst/>
              <a:gdLst>
                <a:gd name="T0" fmla="*/ 0 w 1104"/>
                <a:gd name="T1" fmla="*/ 0 h 384"/>
                <a:gd name="T2" fmla="*/ 88 w 1104"/>
                <a:gd name="T3" fmla="*/ 39 h 384"/>
                <a:gd name="T4" fmla="*/ 95 w 1104"/>
                <a:gd name="T5" fmla="*/ 68 h 384"/>
                <a:gd name="T6" fmla="*/ 141 w 1104"/>
                <a:gd name="T7" fmla="*/ 112 h 384"/>
                <a:gd name="T8" fmla="*/ 194 w 1104"/>
                <a:gd name="T9" fmla="*/ 119 h 384"/>
                <a:gd name="T10" fmla="*/ 240 w 1104"/>
                <a:gd name="T11" fmla="*/ 121 h 384"/>
                <a:gd name="T12" fmla="*/ 251 w 1104"/>
                <a:gd name="T13" fmla="*/ 165 h 384"/>
                <a:gd name="T14" fmla="*/ 283 w 1104"/>
                <a:gd name="T15" fmla="*/ 147 h 384"/>
                <a:gd name="T16" fmla="*/ 340 w 1104"/>
                <a:gd name="T17" fmla="*/ 147 h 384"/>
                <a:gd name="T18" fmla="*/ 389 w 1104"/>
                <a:gd name="T19" fmla="*/ 137 h 384"/>
                <a:gd name="T20" fmla="*/ 418 w 1104"/>
                <a:gd name="T21" fmla="*/ 163 h 384"/>
                <a:gd name="T22" fmla="*/ 439 w 1104"/>
                <a:gd name="T23" fmla="*/ 208 h 384"/>
                <a:gd name="T24" fmla="*/ 454 w 1104"/>
                <a:gd name="T25" fmla="*/ 188 h 384"/>
                <a:gd name="T26" fmla="*/ 482 w 1104"/>
                <a:gd name="T27" fmla="*/ 178 h 384"/>
                <a:gd name="T28" fmla="*/ 557 w 1104"/>
                <a:gd name="T29" fmla="*/ 259 h 384"/>
                <a:gd name="T30" fmla="*/ 599 w 1104"/>
                <a:gd name="T31" fmla="*/ 256 h 384"/>
                <a:gd name="T32" fmla="*/ 660 w 1104"/>
                <a:gd name="T33" fmla="*/ 280 h 384"/>
                <a:gd name="T34" fmla="*/ 716 w 1104"/>
                <a:gd name="T35" fmla="*/ 274 h 384"/>
                <a:gd name="T36" fmla="*/ 767 w 1104"/>
                <a:gd name="T37" fmla="*/ 249 h 384"/>
                <a:gd name="T38" fmla="*/ 808 w 1104"/>
                <a:gd name="T39" fmla="*/ 278 h 384"/>
                <a:gd name="T40" fmla="*/ 866 w 1104"/>
                <a:gd name="T41" fmla="*/ 274 h 384"/>
                <a:gd name="T42" fmla="*/ 922 w 1104"/>
                <a:gd name="T43" fmla="*/ 345 h 384"/>
                <a:gd name="T44" fmla="*/ 978 w 1104"/>
                <a:gd name="T45" fmla="*/ 344 h 384"/>
                <a:gd name="T46" fmla="*/ 1043 w 1104"/>
                <a:gd name="T47" fmla="*/ 354 h 384"/>
                <a:gd name="T48" fmla="*/ 1084 w 1104"/>
                <a:gd name="T49" fmla="*/ 375 h 384"/>
                <a:gd name="T50" fmla="*/ 1103 w 1104"/>
                <a:gd name="T51" fmla="*/ 382 h 384"/>
                <a:gd name="T52" fmla="*/ 0 w 1104"/>
                <a:gd name="T53" fmla="*/ 383 h 384"/>
                <a:gd name="T54" fmla="*/ 0 w 1104"/>
                <a:gd name="T55" fmla="*/ 0 h 3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04"/>
                <a:gd name="T85" fmla="*/ 0 h 384"/>
                <a:gd name="T86" fmla="*/ 1104 w 1104"/>
                <a:gd name="T87" fmla="*/ 384 h 3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04" h="384">
                  <a:moveTo>
                    <a:pt x="0" y="0"/>
                  </a:moveTo>
                  <a:lnTo>
                    <a:pt x="88" y="39"/>
                  </a:lnTo>
                  <a:lnTo>
                    <a:pt x="95" y="68"/>
                  </a:lnTo>
                  <a:lnTo>
                    <a:pt x="141" y="112"/>
                  </a:lnTo>
                  <a:lnTo>
                    <a:pt x="194" y="119"/>
                  </a:lnTo>
                  <a:lnTo>
                    <a:pt x="240" y="121"/>
                  </a:lnTo>
                  <a:lnTo>
                    <a:pt x="251" y="165"/>
                  </a:lnTo>
                  <a:lnTo>
                    <a:pt x="283" y="147"/>
                  </a:lnTo>
                  <a:lnTo>
                    <a:pt x="340" y="147"/>
                  </a:lnTo>
                  <a:lnTo>
                    <a:pt x="389" y="137"/>
                  </a:lnTo>
                  <a:lnTo>
                    <a:pt x="418" y="163"/>
                  </a:lnTo>
                  <a:lnTo>
                    <a:pt x="439" y="208"/>
                  </a:lnTo>
                  <a:lnTo>
                    <a:pt x="454" y="188"/>
                  </a:lnTo>
                  <a:lnTo>
                    <a:pt x="482" y="178"/>
                  </a:lnTo>
                  <a:lnTo>
                    <a:pt x="557" y="259"/>
                  </a:lnTo>
                  <a:lnTo>
                    <a:pt x="599" y="256"/>
                  </a:lnTo>
                  <a:lnTo>
                    <a:pt x="660" y="280"/>
                  </a:lnTo>
                  <a:lnTo>
                    <a:pt x="716" y="274"/>
                  </a:lnTo>
                  <a:lnTo>
                    <a:pt x="767" y="249"/>
                  </a:lnTo>
                  <a:lnTo>
                    <a:pt x="808" y="278"/>
                  </a:lnTo>
                  <a:lnTo>
                    <a:pt x="866" y="274"/>
                  </a:lnTo>
                  <a:lnTo>
                    <a:pt x="922" y="345"/>
                  </a:lnTo>
                  <a:lnTo>
                    <a:pt x="978" y="344"/>
                  </a:lnTo>
                  <a:lnTo>
                    <a:pt x="1043" y="354"/>
                  </a:lnTo>
                  <a:lnTo>
                    <a:pt x="1084" y="375"/>
                  </a:lnTo>
                  <a:lnTo>
                    <a:pt x="1103" y="382"/>
                  </a:lnTo>
                  <a:lnTo>
                    <a:pt x="0" y="383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sp>
          <p:nvSpPr>
            <p:cNvPr id="27686" name="Freeform 5"/>
            <p:cNvSpPr>
              <a:spLocks/>
            </p:cNvSpPr>
            <p:nvPr/>
          </p:nvSpPr>
          <p:spPr bwMode="auto">
            <a:xfrm>
              <a:off x="1006" y="3243"/>
              <a:ext cx="4753" cy="1077"/>
            </a:xfrm>
            <a:custGeom>
              <a:avLst/>
              <a:gdLst>
                <a:gd name="T0" fmla="*/ 4752 w 4753"/>
                <a:gd name="T1" fmla="*/ 0 h 1077"/>
                <a:gd name="T2" fmla="*/ 4369 w 4753"/>
                <a:gd name="T3" fmla="*/ 110 h 1077"/>
                <a:gd name="T4" fmla="*/ 4341 w 4753"/>
                <a:gd name="T5" fmla="*/ 191 h 1077"/>
                <a:gd name="T6" fmla="*/ 4143 w 4753"/>
                <a:gd name="T7" fmla="*/ 317 h 1077"/>
                <a:gd name="T8" fmla="*/ 3912 w 4753"/>
                <a:gd name="T9" fmla="*/ 334 h 1077"/>
                <a:gd name="T10" fmla="*/ 3714 w 4753"/>
                <a:gd name="T11" fmla="*/ 341 h 1077"/>
                <a:gd name="T12" fmla="*/ 3668 w 4753"/>
                <a:gd name="T13" fmla="*/ 464 h 1077"/>
                <a:gd name="T14" fmla="*/ 3529 w 4753"/>
                <a:gd name="T15" fmla="*/ 413 h 1077"/>
                <a:gd name="T16" fmla="*/ 3285 w 4753"/>
                <a:gd name="T17" fmla="*/ 413 h 1077"/>
                <a:gd name="T18" fmla="*/ 3072 w 4753"/>
                <a:gd name="T19" fmla="*/ 385 h 1077"/>
                <a:gd name="T20" fmla="*/ 2948 w 4753"/>
                <a:gd name="T21" fmla="*/ 457 h 1077"/>
                <a:gd name="T22" fmla="*/ 2856 w 4753"/>
                <a:gd name="T23" fmla="*/ 583 h 1077"/>
                <a:gd name="T24" fmla="*/ 2797 w 4753"/>
                <a:gd name="T25" fmla="*/ 529 h 1077"/>
                <a:gd name="T26" fmla="*/ 2673 w 4753"/>
                <a:gd name="T27" fmla="*/ 502 h 1077"/>
                <a:gd name="T28" fmla="*/ 2352 w 4753"/>
                <a:gd name="T29" fmla="*/ 729 h 1077"/>
                <a:gd name="T30" fmla="*/ 2167 w 4753"/>
                <a:gd name="T31" fmla="*/ 720 h 1077"/>
                <a:gd name="T32" fmla="*/ 1908 w 4753"/>
                <a:gd name="T33" fmla="*/ 789 h 1077"/>
                <a:gd name="T34" fmla="*/ 1667 w 4753"/>
                <a:gd name="T35" fmla="*/ 771 h 1077"/>
                <a:gd name="T36" fmla="*/ 1448 w 4753"/>
                <a:gd name="T37" fmla="*/ 700 h 1077"/>
                <a:gd name="T38" fmla="*/ 1268 w 4753"/>
                <a:gd name="T39" fmla="*/ 780 h 1077"/>
                <a:gd name="T40" fmla="*/ 1022 w 4753"/>
                <a:gd name="T41" fmla="*/ 771 h 1077"/>
                <a:gd name="T42" fmla="*/ 778 w 4753"/>
                <a:gd name="T43" fmla="*/ 969 h 1077"/>
                <a:gd name="T44" fmla="*/ 534 w 4753"/>
                <a:gd name="T45" fmla="*/ 966 h 1077"/>
                <a:gd name="T46" fmla="*/ 256 w 4753"/>
                <a:gd name="T47" fmla="*/ 996 h 1077"/>
                <a:gd name="T48" fmla="*/ 77 w 4753"/>
                <a:gd name="T49" fmla="*/ 1052 h 1077"/>
                <a:gd name="T50" fmla="*/ 0 w 4753"/>
                <a:gd name="T51" fmla="*/ 1074 h 1077"/>
                <a:gd name="T52" fmla="*/ 4752 w 4753"/>
                <a:gd name="T53" fmla="*/ 1076 h 1077"/>
                <a:gd name="T54" fmla="*/ 4752 w 4753"/>
                <a:gd name="T55" fmla="*/ 0 h 10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53"/>
                <a:gd name="T85" fmla="*/ 0 h 1077"/>
                <a:gd name="T86" fmla="*/ 4753 w 4753"/>
                <a:gd name="T87" fmla="*/ 1077 h 10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53" h="1077">
                  <a:moveTo>
                    <a:pt x="4752" y="0"/>
                  </a:moveTo>
                  <a:lnTo>
                    <a:pt x="4369" y="110"/>
                  </a:lnTo>
                  <a:lnTo>
                    <a:pt x="4341" y="191"/>
                  </a:lnTo>
                  <a:lnTo>
                    <a:pt x="4143" y="317"/>
                  </a:lnTo>
                  <a:lnTo>
                    <a:pt x="3912" y="334"/>
                  </a:lnTo>
                  <a:lnTo>
                    <a:pt x="3714" y="341"/>
                  </a:lnTo>
                  <a:lnTo>
                    <a:pt x="3668" y="464"/>
                  </a:lnTo>
                  <a:lnTo>
                    <a:pt x="3529" y="413"/>
                  </a:lnTo>
                  <a:lnTo>
                    <a:pt x="3285" y="413"/>
                  </a:lnTo>
                  <a:lnTo>
                    <a:pt x="3072" y="385"/>
                  </a:lnTo>
                  <a:lnTo>
                    <a:pt x="2948" y="457"/>
                  </a:lnTo>
                  <a:lnTo>
                    <a:pt x="2856" y="583"/>
                  </a:lnTo>
                  <a:lnTo>
                    <a:pt x="2797" y="529"/>
                  </a:lnTo>
                  <a:lnTo>
                    <a:pt x="2673" y="502"/>
                  </a:lnTo>
                  <a:lnTo>
                    <a:pt x="2352" y="729"/>
                  </a:lnTo>
                  <a:lnTo>
                    <a:pt x="2167" y="720"/>
                  </a:lnTo>
                  <a:lnTo>
                    <a:pt x="1908" y="789"/>
                  </a:lnTo>
                  <a:lnTo>
                    <a:pt x="1667" y="771"/>
                  </a:lnTo>
                  <a:lnTo>
                    <a:pt x="1448" y="700"/>
                  </a:lnTo>
                  <a:lnTo>
                    <a:pt x="1268" y="780"/>
                  </a:lnTo>
                  <a:lnTo>
                    <a:pt x="1022" y="771"/>
                  </a:lnTo>
                  <a:lnTo>
                    <a:pt x="778" y="969"/>
                  </a:lnTo>
                  <a:lnTo>
                    <a:pt x="534" y="966"/>
                  </a:lnTo>
                  <a:lnTo>
                    <a:pt x="256" y="996"/>
                  </a:lnTo>
                  <a:lnTo>
                    <a:pt x="77" y="1052"/>
                  </a:lnTo>
                  <a:lnTo>
                    <a:pt x="0" y="1074"/>
                  </a:lnTo>
                  <a:lnTo>
                    <a:pt x="4752" y="1076"/>
                  </a:lnTo>
                  <a:lnTo>
                    <a:pt x="4752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7687" name="Object 6"/>
            <p:cNvGraphicFramePr>
              <a:graphicFrameLocks/>
            </p:cNvGraphicFramePr>
            <p:nvPr/>
          </p:nvGraphicFramePr>
          <p:xfrm>
            <a:off x="4779" y="3414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6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3414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8" name="Object 7"/>
            <p:cNvGraphicFramePr>
              <a:graphicFrameLocks/>
            </p:cNvGraphicFramePr>
            <p:nvPr/>
          </p:nvGraphicFramePr>
          <p:xfrm>
            <a:off x="219" y="3531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7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" y="3531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9" name="Object 8"/>
            <p:cNvGraphicFramePr>
              <a:graphicFrameLocks/>
            </p:cNvGraphicFramePr>
            <p:nvPr/>
          </p:nvGraphicFramePr>
          <p:xfrm>
            <a:off x="3100" y="3558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8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0" y="3558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652" name="Group 9"/>
          <p:cNvGrpSpPr>
            <a:grpSpLocks/>
          </p:cNvGrpSpPr>
          <p:nvPr/>
        </p:nvGrpSpPr>
        <p:grpSpPr bwMode="auto">
          <a:xfrm>
            <a:off x="38400" y="776242"/>
            <a:ext cx="12051840" cy="5812450"/>
            <a:chOff x="18" y="489"/>
            <a:chExt cx="5694" cy="3661"/>
          </a:xfrm>
        </p:grpSpPr>
        <p:grpSp>
          <p:nvGrpSpPr>
            <p:cNvPr id="27655" name="Group 10"/>
            <p:cNvGrpSpPr>
              <a:grpSpLocks/>
            </p:cNvGrpSpPr>
            <p:nvPr/>
          </p:nvGrpSpPr>
          <p:grpSpPr bwMode="auto">
            <a:xfrm>
              <a:off x="18" y="489"/>
              <a:ext cx="4896" cy="3005"/>
              <a:chOff x="18" y="489"/>
              <a:chExt cx="4896" cy="3005"/>
            </a:xfrm>
          </p:grpSpPr>
          <p:grpSp>
            <p:nvGrpSpPr>
              <p:cNvPr id="27670" name="Group 11"/>
              <p:cNvGrpSpPr>
                <a:grpSpLocks/>
              </p:cNvGrpSpPr>
              <p:nvPr/>
            </p:nvGrpSpPr>
            <p:grpSpPr bwMode="auto">
              <a:xfrm>
                <a:off x="1741" y="1482"/>
                <a:ext cx="1702" cy="1643"/>
                <a:chOff x="1741" y="1482"/>
                <a:chExt cx="1702" cy="1643"/>
              </a:xfrm>
            </p:grpSpPr>
            <p:sp>
              <p:nvSpPr>
                <p:cNvPr id="27677" name="Oval 12"/>
                <p:cNvSpPr>
                  <a:spLocks noChangeArrowheads="1"/>
                </p:cNvSpPr>
                <p:nvPr/>
              </p:nvSpPr>
              <p:spPr bwMode="auto">
                <a:xfrm>
                  <a:off x="1741" y="1482"/>
                  <a:ext cx="1702" cy="1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grpSp>
              <p:nvGrpSpPr>
                <p:cNvPr id="27678" name="Group 13"/>
                <p:cNvGrpSpPr>
                  <a:grpSpLocks/>
                </p:cNvGrpSpPr>
                <p:nvPr/>
              </p:nvGrpSpPr>
              <p:grpSpPr bwMode="auto">
                <a:xfrm>
                  <a:off x="2088" y="1673"/>
                  <a:ext cx="1008" cy="1261"/>
                  <a:chOff x="2088" y="1673"/>
                  <a:chExt cx="1008" cy="1261"/>
                </a:xfrm>
              </p:grpSpPr>
              <p:pic>
                <p:nvPicPr>
                  <p:cNvPr id="27679" name="Picture 14"/>
                  <p:cNvPicPr>
                    <a:picLocks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88" y="1737"/>
                    <a:ext cx="1008" cy="11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grpSp>
                <p:nvGrpSpPr>
                  <p:cNvPr id="27680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2549" y="1673"/>
                    <a:ext cx="492" cy="131"/>
                    <a:chOff x="2549" y="1673"/>
                    <a:chExt cx="492" cy="131"/>
                  </a:xfrm>
                </p:grpSpPr>
                <p:sp>
                  <p:nvSpPr>
                    <p:cNvPr id="27681" name="Freeform 16"/>
                    <p:cNvSpPr>
                      <a:spLocks/>
                    </p:cNvSpPr>
                    <p:nvPr/>
                  </p:nvSpPr>
                  <p:spPr bwMode="auto">
                    <a:xfrm>
                      <a:off x="2988" y="1756"/>
                      <a:ext cx="53" cy="24"/>
                    </a:xfrm>
                    <a:custGeom>
                      <a:avLst/>
                      <a:gdLst>
                        <a:gd name="T0" fmla="*/ 0 w 53"/>
                        <a:gd name="T1" fmla="*/ 23 h 24"/>
                        <a:gd name="T2" fmla="*/ 13 w 53"/>
                        <a:gd name="T3" fmla="*/ 10 h 24"/>
                        <a:gd name="T4" fmla="*/ 16 w 53"/>
                        <a:gd name="T5" fmla="*/ 7 h 24"/>
                        <a:gd name="T6" fmla="*/ 18 w 53"/>
                        <a:gd name="T7" fmla="*/ 6 h 24"/>
                        <a:gd name="T8" fmla="*/ 21 w 53"/>
                        <a:gd name="T9" fmla="*/ 4 h 24"/>
                        <a:gd name="T10" fmla="*/ 24 w 53"/>
                        <a:gd name="T11" fmla="*/ 2 h 24"/>
                        <a:gd name="T12" fmla="*/ 27 w 53"/>
                        <a:gd name="T13" fmla="*/ 1 h 24"/>
                        <a:gd name="T14" fmla="*/ 30 w 53"/>
                        <a:gd name="T15" fmla="*/ 0 h 24"/>
                        <a:gd name="T16" fmla="*/ 33 w 53"/>
                        <a:gd name="T17" fmla="*/ 0 h 24"/>
                        <a:gd name="T18" fmla="*/ 37 w 53"/>
                        <a:gd name="T19" fmla="*/ 0 h 24"/>
                        <a:gd name="T20" fmla="*/ 39 w 53"/>
                        <a:gd name="T21" fmla="*/ 0 h 24"/>
                        <a:gd name="T22" fmla="*/ 41 w 53"/>
                        <a:gd name="T23" fmla="*/ 0 h 24"/>
                        <a:gd name="T24" fmla="*/ 44 w 53"/>
                        <a:gd name="T25" fmla="*/ 0 h 24"/>
                        <a:gd name="T26" fmla="*/ 45 w 53"/>
                        <a:gd name="T27" fmla="*/ 1 h 24"/>
                        <a:gd name="T28" fmla="*/ 48 w 53"/>
                        <a:gd name="T29" fmla="*/ 3 h 24"/>
                        <a:gd name="T30" fmla="*/ 50 w 53"/>
                        <a:gd name="T31" fmla="*/ 6 h 24"/>
                        <a:gd name="T32" fmla="*/ 51 w 53"/>
                        <a:gd name="T33" fmla="*/ 7 h 24"/>
                        <a:gd name="T34" fmla="*/ 52 w 53"/>
                        <a:gd name="T35" fmla="*/ 11 h 24"/>
                        <a:gd name="T36" fmla="*/ 51 w 53"/>
                        <a:gd name="T37" fmla="*/ 16 h 24"/>
                        <a:gd name="T38" fmla="*/ 50 w 53"/>
                        <a:gd name="T39" fmla="*/ 18 h 24"/>
                        <a:gd name="T40" fmla="*/ 48 w 53"/>
                        <a:gd name="T41" fmla="*/ 19 h 24"/>
                        <a:gd name="T42" fmla="*/ 44 w 53"/>
                        <a:gd name="T43" fmla="*/ 21 h 24"/>
                        <a:gd name="T44" fmla="*/ 41 w 53"/>
                        <a:gd name="T45" fmla="*/ 22 h 24"/>
                        <a:gd name="T46" fmla="*/ 37 w 53"/>
                        <a:gd name="T47" fmla="*/ 22 h 24"/>
                        <a:gd name="T48" fmla="*/ 33 w 53"/>
                        <a:gd name="T49" fmla="*/ 20 h 24"/>
                        <a:gd name="T50" fmla="*/ 27 w 53"/>
                        <a:gd name="T51" fmla="*/ 19 h 24"/>
                        <a:gd name="T52" fmla="*/ 23 w 53"/>
                        <a:gd name="T53" fmla="*/ 19 h 24"/>
                        <a:gd name="T54" fmla="*/ 17 w 53"/>
                        <a:gd name="T55" fmla="*/ 19 h 24"/>
                        <a:gd name="T56" fmla="*/ 10 w 53"/>
                        <a:gd name="T57" fmla="*/ 19 h 24"/>
                        <a:gd name="T58" fmla="*/ 0 w 53"/>
                        <a:gd name="T59" fmla="*/ 23 h 24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53"/>
                        <a:gd name="T91" fmla="*/ 0 h 24"/>
                        <a:gd name="T92" fmla="*/ 53 w 53"/>
                        <a:gd name="T93" fmla="*/ 24 h 24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53" h="24">
                          <a:moveTo>
                            <a:pt x="0" y="23"/>
                          </a:moveTo>
                          <a:lnTo>
                            <a:pt x="13" y="10"/>
                          </a:lnTo>
                          <a:lnTo>
                            <a:pt x="16" y="7"/>
                          </a:lnTo>
                          <a:lnTo>
                            <a:pt x="18" y="6"/>
                          </a:lnTo>
                          <a:lnTo>
                            <a:pt x="21" y="4"/>
                          </a:lnTo>
                          <a:lnTo>
                            <a:pt x="24" y="2"/>
                          </a:lnTo>
                          <a:lnTo>
                            <a:pt x="27" y="1"/>
                          </a:lnTo>
                          <a:lnTo>
                            <a:pt x="30" y="0"/>
                          </a:lnTo>
                          <a:lnTo>
                            <a:pt x="33" y="0"/>
                          </a:lnTo>
                          <a:lnTo>
                            <a:pt x="37" y="0"/>
                          </a:lnTo>
                          <a:lnTo>
                            <a:pt x="39" y="0"/>
                          </a:lnTo>
                          <a:lnTo>
                            <a:pt x="41" y="0"/>
                          </a:lnTo>
                          <a:lnTo>
                            <a:pt x="44" y="0"/>
                          </a:lnTo>
                          <a:lnTo>
                            <a:pt x="45" y="1"/>
                          </a:lnTo>
                          <a:lnTo>
                            <a:pt x="48" y="3"/>
                          </a:lnTo>
                          <a:lnTo>
                            <a:pt x="50" y="6"/>
                          </a:lnTo>
                          <a:lnTo>
                            <a:pt x="51" y="7"/>
                          </a:lnTo>
                          <a:lnTo>
                            <a:pt x="52" y="11"/>
                          </a:lnTo>
                          <a:lnTo>
                            <a:pt x="51" y="16"/>
                          </a:lnTo>
                          <a:lnTo>
                            <a:pt x="50" y="18"/>
                          </a:lnTo>
                          <a:lnTo>
                            <a:pt x="48" y="19"/>
                          </a:lnTo>
                          <a:lnTo>
                            <a:pt x="44" y="21"/>
                          </a:lnTo>
                          <a:lnTo>
                            <a:pt x="41" y="22"/>
                          </a:lnTo>
                          <a:lnTo>
                            <a:pt x="37" y="22"/>
                          </a:lnTo>
                          <a:lnTo>
                            <a:pt x="33" y="20"/>
                          </a:lnTo>
                          <a:lnTo>
                            <a:pt x="27" y="19"/>
                          </a:lnTo>
                          <a:lnTo>
                            <a:pt x="23" y="19"/>
                          </a:lnTo>
                          <a:lnTo>
                            <a:pt x="17" y="19"/>
                          </a:lnTo>
                          <a:lnTo>
                            <a:pt x="10" y="19"/>
                          </a:lnTo>
                          <a:lnTo>
                            <a:pt x="0" y="23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2" name="Freeform 17"/>
                    <p:cNvSpPr>
                      <a:spLocks/>
                    </p:cNvSpPr>
                    <p:nvPr/>
                  </p:nvSpPr>
                  <p:spPr bwMode="auto">
                    <a:xfrm>
                      <a:off x="2549" y="1781"/>
                      <a:ext cx="35" cy="23"/>
                    </a:xfrm>
                    <a:custGeom>
                      <a:avLst/>
                      <a:gdLst>
                        <a:gd name="T0" fmla="*/ 34 w 35"/>
                        <a:gd name="T1" fmla="*/ 22 h 23"/>
                        <a:gd name="T2" fmla="*/ 25 w 35"/>
                        <a:gd name="T3" fmla="*/ 9 h 23"/>
                        <a:gd name="T4" fmla="*/ 23 w 35"/>
                        <a:gd name="T5" fmla="*/ 6 h 23"/>
                        <a:gd name="T6" fmla="*/ 21 w 35"/>
                        <a:gd name="T7" fmla="*/ 5 h 23"/>
                        <a:gd name="T8" fmla="*/ 21 w 35"/>
                        <a:gd name="T9" fmla="*/ 4 h 23"/>
                        <a:gd name="T10" fmla="*/ 17 w 35"/>
                        <a:gd name="T11" fmla="*/ 1 h 23"/>
                        <a:gd name="T12" fmla="*/ 15 w 35"/>
                        <a:gd name="T13" fmla="*/ 1 h 23"/>
                        <a:gd name="T14" fmla="*/ 13 w 35"/>
                        <a:gd name="T15" fmla="*/ 1 h 23"/>
                        <a:gd name="T16" fmla="*/ 12 w 35"/>
                        <a:gd name="T17" fmla="*/ 0 h 23"/>
                        <a:gd name="T18" fmla="*/ 10 w 35"/>
                        <a:gd name="T19" fmla="*/ 0 h 23"/>
                        <a:gd name="T20" fmla="*/ 8 w 35"/>
                        <a:gd name="T21" fmla="*/ 0 h 23"/>
                        <a:gd name="T22" fmla="*/ 7 w 35"/>
                        <a:gd name="T23" fmla="*/ 0 h 23"/>
                        <a:gd name="T24" fmla="*/ 5 w 35"/>
                        <a:gd name="T25" fmla="*/ 1 h 23"/>
                        <a:gd name="T26" fmla="*/ 3 w 35"/>
                        <a:gd name="T27" fmla="*/ 1 h 23"/>
                        <a:gd name="T28" fmla="*/ 1 w 35"/>
                        <a:gd name="T29" fmla="*/ 3 h 23"/>
                        <a:gd name="T30" fmla="*/ 1 w 35"/>
                        <a:gd name="T31" fmla="*/ 5 h 23"/>
                        <a:gd name="T32" fmla="*/ 0 w 35"/>
                        <a:gd name="T33" fmla="*/ 6 h 23"/>
                        <a:gd name="T34" fmla="*/ 0 w 35"/>
                        <a:gd name="T35" fmla="*/ 12 h 23"/>
                        <a:gd name="T36" fmla="*/ 0 w 35"/>
                        <a:gd name="T37" fmla="*/ 15 h 23"/>
                        <a:gd name="T38" fmla="*/ 1 w 35"/>
                        <a:gd name="T39" fmla="*/ 16 h 23"/>
                        <a:gd name="T40" fmla="*/ 1 w 35"/>
                        <a:gd name="T41" fmla="*/ 19 h 23"/>
                        <a:gd name="T42" fmla="*/ 4 w 35"/>
                        <a:gd name="T43" fmla="*/ 19 h 23"/>
                        <a:gd name="T44" fmla="*/ 7 w 35"/>
                        <a:gd name="T45" fmla="*/ 19 h 23"/>
                        <a:gd name="T46" fmla="*/ 10 w 35"/>
                        <a:gd name="T47" fmla="*/ 19 h 23"/>
                        <a:gd name="T48" fmla="*/ 12 w 35"/>
                        <a:gd name="T49" fmla="*/ 19 h 23"/>
                        <a:gd name="T50" fmla="*/ 15 w 35"/>
                        <a:gd name="T51" fmla="*/ 18 h 23"/>
                        <a:gd name="T52" fmla="*/ 18 w 35"/>
                        <a:gd name="T53" fmla="*/ 18 h 23"/>
                        <a:gd name="T54" fmla="*/ 22 w 35"/>
                        <a:gd name="T55" fmla="*/ 18 h 23"/>
                        <a:gd name="T56" fmla="*/ 27 w 35"/>
                        <a:gd name="T57" fmla="*/ 19 h 23"/>
                        <a:gd name="T58" fmla="*/ 34 w 35"/>
                        <a:gd name="T59" fmla="*/ 22 h 23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35"/>
                        <a:gd name="T91" fmla="*/ 0 h 23"/>
                        <a:gd name="T92" fmla="*/ 35 w 35"/>
                        <a:gd name="T93" fmla="*/ 23 h 23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35" h="23">
                          <a:moveTo>
                            <a:pt x="34" y="22"/>
                          </a:moveTo>
                          <a:lnTo>
                            <a:pt x="25" y="9"/>
                          </a:lnTo>
                          <a:lnTo>
                            <a:pt x="23" y="6"/>
                          </a:lnTo>
                          <a:lnTo>
                            <a:pt x="21" y="5"/>
                          </a:lnTo>
                          <a:lnTo>
                            <a:pt x="21" y="4"/>
                          </a:lnTo>
                          <a:lnTo>
                            <a:pt x="17" y="1"/>
                          </a:lnTo>
                          <a:lnTo>
                            <a:pt x="15" y="1"/>
                          </a:lnTo>
                          <a:lnTo>
                            <a:pt x="13" y="1"/>
                          </a:lnTo>
                          <a:lnTo>
                            <a:pt x="12" y="0"/>
                          </a:lnTo>
                          <a:lnTo>
                            <a:pt x="10" y="0"/>
                          </a:lnTo>
                          <a:lnTo>
                            <a:pt x="8" y="0"/>
                          </a:lnTo>
                          <a:lnTo>
                            <a:pt x="7" y="0"/>
                          </a:lnTo>
                          <a:lnTo>
                            <a:pt x="5" y="1"/>
                          </a:lnTo>
                          <a:lnTo>
                            <a:pt x="3" y="1"/>
                          </a:lnTo>
                          <a:lnTo>
                            <a:pt x="1" y="3"/>
                          </a:lnTo>
                          <a:lnTo>
                            <a:pt x="1" y="5"/>
                          </a:lnTo>
                          <a:lnTo>
                            <a:pt x="0" y="6"/>
                          </a:lnTo>
                          <a:lnTo>
                            <a:pt x="0" y="12"/>
                          </a:lnTo>
                          <a:lnTo>
                            <a:pt x="0" y="15"/>
                          </a:lnTo>
                          <a:lnTo>
                            <a:pt x="1" y="16"/>
                          </a:lnTo>
                          <a:lnTo>
                            <a:pt x="1" y="19"/>
                          </a:lnTo>
                          <a:lnTo>
                            <a:pt x="4" y="19"/>
                          </a:lnTo>
                          <a:lnTo>
                            <a:pt x="7" y="19"/>
                          </a:lnTo>
                          <a:lnTo>
                            <a:pt x="10" y="19"/>
                          </a:lnTo>
                          <a:lnTo>
                            <a:pt x="12" y="19"/>
                          </a:lnTo>
                          <a:lnTo>
                            <a:pt x="15" y="18"/>
                          </a:lnTo>
                          <a:lnTo>
                            <a:pt x="18" y="18"/>
                          </a:lnTo>
                          <a:lnTo>
                            <a:pt x="22" y="18"/>
                          </a:lnTo>
                          <a:lnTo>
                            <a:pt x="27" y="19"/>
                          </a:lnTo>
                          <a:lnTo>
                            <a:pt x="34" y="2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3" name="Freeform 18"/>
                    <p:cNvSpPr>
                      <a:spLocks/>
                    </p:cNvSpPr>
                    <p:nvPr/>
                  </p:nvSpPr>
                  <p:spPr bwMode="auto">
                    <a:xfrm>
                      <a:off x="2873" y="1673"/>
                      <a:ext cx="56" cy="42"/>
                    </a:xfrm>
                    <a:custGeom>
                      <a:avLst/>
                      <a:gdLst>
                        <a:gd name="T0" fmla="*/ 0 w 56"/>
                        <a:gd name="T1" fmla="*/ 41 h 42"/>
                        <a:gd name="T2" fmla="*/ 2 w 56"/>
                        <a:gd name="T3" fmla="*/ 35 h 42"/>
                        <a:gd name="T4" fmla="*/ 3 w 56"/>
                        <a:gd name="T5" fmla="*/ 26 h 42"/>
                        <a:gd name="T6" fmla="*/ 7 w 56"/>
                        <a:gd name="T7" fmla="*/ 21 h 42"/>
                        <a:gd name="T8" fmla="*/ 11 w 56"/>
                        <a:gd name="T9" fmla="*/ 14 h 42"/>
                        <a:gd name="T10" fmla="*/ 15 w 56"/>
                        <a:gd name="T11" fmla="*/ 9 h 42"/>
                        <a:gd name="T12" fmla="*/ 18 w 56"/>
                        <a:gd name="T13" fmla="*/ 6 h 42"/>
                        <a:gd name="T14" fmla="*/ 22 w 56"/>
                        <a:gd name="T15" fmla="*/ 3 h 42"/>
                        <a:gd name="T16" fmla="*/ 27 w 56"/>
                        <a:gd name="T17" fmla="*/ 1 h 42"/>
                        <a:gd name="T18" fmla="*/ 32 w 56"/>
                        <a:gd name="T19" fmla="*/ 0 h 42"/>
                        <a:gd name="T20" fmla="*/ 37 w 56"/>
                        <a:gd name="T21" fmla="*/ 0 h 42"/>
                        <a:gd name="T22" fmla="*/ 43 w 56"/>
                        <a:gd name="T23" fmla="*/ 0 h 42"/>
                        <a:gd name="T24" fmla="*/ 48 w 56"/>
                        <a:gd name="T25" fmla="*/ 0 h 42"/>
                        <a:gd name="T26" fmla="*/ 50 w 56"/>
                        <a:gd name="T27" fmla="*/ 2 h 42"/>
                        <a:gd name="T28" fmla="*/ 53 w 56"/>
                        <a:gd name="T29" fmla="*/ 3 h 42"/>
                        <a:gd name="T30" fmla="*/ 53 w 56"/>
                        <a:gd name="T31" fmla="*/ 5 h 42"/>
                        <a:gd name="T32" fmla="*/ 55 w 56"/>
                        <a:gd name="T33" fmla="*/ 7 h 42"/>
                        <a:gd name="T34" fmla="*/ 55 w 56"/>
                        <a:gd name="T35" fmla="*/ 9 h 42"/>
                        <a:gd name="T36" fmla="*/ 55 w 56"/>
                        <a:gd name="T37" fmla="*/ 12 h 42"/>
                        <a:gd name="T38" fmla="*/ 53 w 56"/>
                        <a:gd name="T39" fmla="*/ 16 h 42"/>
                        <a:gd name="T40" fmla="*/ 52 w 56"/>
                        <a:gd name="T41" fmla="*/ 18 h 42"/>
                        <a:gd name="T42" fmla="*/ 50 w 56"/>
                        <a:gd name="T43" fmla="*/ 19 h 42"/>
                        <a:gd name="T44" fmla="*/ 48 w 56"/>
                        <a:gd name="T45" fmla="*/ 19 h 42"/>
                        <a:gd name="T46" fmla="*/ 46 w 56"/>
                        <a:gd name="T47" fmla="*/ 21 h 42"/>
                        <a:gd name="T48" fmla="*/ 43 w 56"/>
                        <a:gd name="T49" fmla="*/ 21 h 42"/>
                        <a:gd name="T50" fmla="*/ 40 w 56"/>
                        <a:gd name="T51" fmla="*/ 22 h 42"/>
                        <a:gd name="T52" fmla="*/ 36 w 56"/>
                        <a:gd name="T53" fmla="*/ 22 h 42"/>
                        <a:gd name="T54" fmla="*/ 33 w 56"/>
                        <a:gd name="T55" fmla="*/ 21 h 42"/>
                        <a:gd name="T56" fmla="*/ 29 w 56"/>
                        <a:gd name="T57" fmla="*/ 21 h 42"/>
                        <a:gd name="T58" fmla="*/ 25 w 56"/>
                        <a:gd name="T59" fmla="*/ 22 h 42"/>
                        <a:gd name="T60" fmla="*/ 21 w 56"/>
                        <a:gd name="T61" fmla="*/ 23 h 42"/>
                        <a:gd name="T62" fmla="*/ 18 w 56"/>
                        <a:gd name="T63" fmla="*/ 26 h 42"/>
                        <a:gd name="T64" fmla="*/ 14 w 56"/>
                        <a:gd name="T65" fmla="*/ 27 h 42"/>
                        <a:gd name="T66" fmla="*/ 10 w 56"/>
                        <a:gd name="T67" fmla="*/ 31 h 42"/>
                        <a:gd name="T68" fmla="*/ 5 w 56"/>
                        <a:gd name="T69" fmla="*/ 33 h 42"/>
                        <a:gd name="T70" fmla="*/ 3 w 56"/>
                        <a:gd name="T71" fmla="*/ 37 h 42"/>
                        <a:gd name="T72" fmla="*/ 0 w 56"/>
                        <a:gd name="T73" fmla="*/ 41 h 42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6"/>
                        <a:gd name="T112" fmla="*/ 0 h 42"/>
                        <a:gd name="T113" fmla="*/ 56 w 56"/>
                        <a:gd name="T114" fmla="*/ 42 h 42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6" h="42">
                          <a:moveTo>
                            <a:pt x="0" y="41"/>
                          </a:moveTo>
                          <a:lnTo>
                            <a:pt x="2" y="35"/>
                          </a:lnTo>
                          <a:lnTo>
                            <a:pt x="3" y="26"/>
                          </a:lnTo>
                          <a:lnTo>
                            <a:pt x="7" y="21"/>
                          </a:lnTo>
                          <a:lnTo>
                            <a:pt x="11" y="14"/>
                          </a:lnTo>
                          <a:lnTo>
                            <a:pt x="15" y="9"/>
                          </a:lnTo>
                          <a:lnTo>
                            <a:pt x="18" y="6"/>
                          </a:lnTo>
                          <a:lnTo>
                            <a:pt x="22" y="3"/>
                          </a:lnTo>
                          <a:lnTo>
                            <a:pt x="27" y="1"/>
                          </a:lnTo>
                          <a:lnTo>
                            <a:pt x="32" y="0"/>
                          </a:lnTo>
                          <a:lnTo>
                            <a:pt x="37" y="0"/>
                          </a:lnTo>
                          <a:lnTo>
                            <a:pt x="43" y="0"/>
                          </a:lnTo>
                          <a:lnTo>
                            <a:pt x="48" y="0"/>
                          </a:lnTo>
                          <a:lnTo>
                            <a:pt x="50" y="2"/>
                          </a:lnTo>
                          <a:lnTo>
                            <a:pt x="53" y="3"/>
                          </a:lnTo>
                          <a:lnTo>
                            <a:pt x="53" y="5"/>
                          </a:lnTo>
                          <a:lnTo>
                            <a:pt x="55" y="7"/>
                          </a:lnTo>
                          <a:lnTo>
                            <a:pt x="55" y="9"/>
                          </a:lnTo>
                          <a:lnTo>
                            <a:pt x="55" y="12"/>
                          </a:lnTo>
                          <a:lnTo>
                            <a:pt x="53" y="16"/>
                          </a:lnTo>
                          <a:lnTo>
                            <a:pt x="52" y="18"/>
                          </a:lnTo>
                          <a:lnTo>
                            <a:pt x="50" y="19"/>
                          </a:lnTo>
                          <a:lnTo>
                            <a:pt x="48" y="19"/>
                          </a:lnTo>
                          <a:lnTo>
                            <a:pt x="46" y="21"/>
                          </a:lnTo>
                          <a:lnTo>
                            <a:pt x="43" y="21"/>
                          </a:lnTo>
                          <a:lnTo>
                            <a:pt x="40" y="22"/>
                          </a:lnTo>
                          <a:lnTo>
                            <a:pt x="36" y="22"/>
                          </a:lnTo>
                          <a:lnTo>
                            <a:pt x="33" y="21"/>
                          </a:lnTo>
                          <a:lnTo>
                            <a:pt x="29" y="21"/>
                          </a:lnTo>
                          <a:lnTo>
                            <a:pt x="25" y="22"/>
                          </a:lnTo>
                          <a:lnTo>
                            <a:pt x="21" y="23"/>
                          </a:lnTo>
                          <a:lnTo>
                            <a:pt x="18" y="26"/>
                          </a:lnTo>
                          <a:lnTo>
                            <a:pt x="14" y="27"/>
                          </a:lnTo>
                          <a:lnTo>
                            <a:pt x="10" y="31"/>
                          </a:lnTo>
                          <a:lnTo>
                            <a:pt x="5" y="33"/>
                          </a:lnTo>
                          <a:lnTo>
                            <a:pt x="3" y="37"/>
                          </a:lnTo>
                          <a:lnTo>
                            <a:pt x="0" y="41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4" name="Freeform 19"/>
                    <p:cNvSpPr>
                      <a:spLocks/>
                    </p:cNvSpPr>
                    <p:nvPr/>
                  </p:nvSpPr>
                  <p:spPr bwMode="auto">
                    <a:xfrm>
                      <a:off x="2617" y="1678"/>
                      <a:ext cx="59" cy="43"/>
                    </a:xfrm>
                    <a:custGeom>
                      <a:avLst/>
                      <a:gdLst>
                        <a:gd name="T0" fmla="*/ 58 w 59"/>
                        <a:gd name="T1" fmla="*/ 42 h 43"/>
                        <a:gd name="T2" fmla="*/ 54 w 59"/>
                        <a:gd name="T3" fmla="*/ 36 h 43"/>
                        <a:gd name="T4" fmla="*/ 53 w 59"/>
                        <a:gd name="T5" fmla="*/ 28 h 43"/>
                        <a:gd name="T6" fmla="*/ 50 w 59"/>
                        <a:gd name="T7" fmla="*/ 21 h 43"/>
                        <a:gd name="T8" fmla="*/ 45 w 59"/>
                        <a:gd name="T9" fmla="*/ 16 h 43"/>
                        <a:gd name="T10" fmla="*/ 40 w 59"/>
                        <a:gd name="T11" fmla="*/ 10 h 43"/>
                        <a:gd name="T12" fmla="*/ 37 w 59"/>
                        <a:gd name="T13" fmla="*/ 7 h 43"/>
                        <a:gd name="T14" fmla="*/ 33 w 59"/>
                        <a:gd name="T15" fmla="*/ 4 h 43"/>
                        <a:gd name="T16" fmla="*/ 28 w 59"/>
                        <a:gd name="T17" fmla="*/ 2 h 43"/>
                        <a:gd name="T18" fmla="*/ 23 w 59"/>
                        <a:gd name="T19" fmla="*/ 0 h 43"/>
                        <a:gd name="T20" fmla="*/ 17 w 59"/>
                        <a:gd name="T21" fmla="*/ 0 h 43"/>
                        <a:gd name="T22" fmla="*/ 11 w 59"/>
                        <a:gd name="T23" fmla="*/ 0 h 43"/>
                        <a:gd name="T24" fmla="*/ 6 w 59"/>
                        <a:gd name="T25" fmla="*/ 1 h 43"/>
                        <a:gd name="T26" fmla="*/ 4 w 59"/>
                        <a:gd name="T27" fmla="*/ 2 h 43"/>
                        <a:gd name="T28" fmla="*/ 0 w 59"/>
                        <a:gd name="T29" fmla="*/ 4 h 43"/>
                        <a:gd name="T30" fmla="*/ 0 w 59"/>
                        <a:gd name="T31" fmla="*/ 5 h 43"/>
                        <a:gd name="T32" fmla="*/ 0 w 59"/>
                        <a:gd name="T33" fmla="*/ 7 h 43"/>
                        <a:gd name="T34" fmla="*/ 0 w 59"/>
                        <a:gd name="T35" fmla="*/ 10 h 43"/>
                        <a:gd name="T36" fmla="*/ 0 w 59"/>
                        <a:gd name="T37" fmla="*/ 13 h 43"/>
                        <a:gd name="T38" fmla="*/ 0 w 59"/>
                        <a:gd name="T39" fmla="*/ 16 h 43"/>
                        <a:gd name="T40" fmla="*/ 3 w 59"/>
                        <a:gd name="T41" fmla="*/ 17 h 43"/>
                        <a:gd name="T42" fmla="*/ 4 w 59"/>
                        <a:gd name="T43" fmla="*/ 20 h 43"/>
                        <a:gd name="T44" fmla="*/ 6 w 59"/>
                        <a:gd name="T45" fmla="*/ 21 h 43"/>
                        <a:gd name="T46" fmla="*/ 9 w 59"/>
                        <a:gd name="T47" fmla="*/ 21 h 43"/>
                        <a:gd name="T48" fmla="*/ 12 w 59"/>
                        <a:gd name="T49" fmla="*/ 21 h 43"/>
                        <a:gd name="T50" fmla="*/ 15 w 59"/>
                        <a:gd name="T51" fmla="*/ 23 h 43"/>
                        <a:gd name="T52" fmla="*/ 17 w 59"/>
                        <a:gd name="T53" fmla="*/ 23 h 43"/>
                        <a:gd name="T54" fmla="*/ 22 w 59"/>
                        <a:gd name="T55" fmla="*/ 23 h 43"/>
                        <a:gd name="T56" fmla="*/ 25 w 59"/>
                        <a:gd name="T57" fmla="*/ 21 h 43"/>
                        <a:gd name="T58" fmla="*/ 31 w 59"/>
                        <a:gd name="T59" fmla="*/ 23 h 43"/>
                        <a:gd name="T60" fmla="*/ 35 w 59"/>
                        <a:gd name="T61" fmla="*/ 24 h 43"/>
                        <a:gd name="T62" fmla="*/ 39 w 59"/>
                        <a:gd name="T63" fmla="*/ 26 h 43"/>
                        <a:gd name="T64" fmla="*/ 42 w 59"/>
                        <a:gd name="T65" fmla="*/ 28 h 43"/>
                        <a:gd name="T66" fmla="*/ 47 w 59"/>
                        <a:gd name="T67" fmla="*/ 31 h 43"/>
                        <a:gd name="T68" fmla="*/ 50 w 59"/>
                        <a:gd name="T69" fmla="*/ 34 h 43"/>
                        <a:gd name="T70" fmla="*/ 53 w 59"/>
                        <a:gd name="T71" fmla="*/ 37 h 43"/>
                        <a:gd name="T72" fmla="*/ 58 w 59"/>
                        <a:gd name="T73" fmla="*/ 42 h 4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9"/>
                        <a:gd name="T112" fmla="*/ 0 h 43"/>
                        <a:gd name="T113" fmla="*/ 59 w 59"/>
                        <a:gd name="T114" fmla="*/ 43 h 43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9" h="43">
                          <a:moveTo>
                            <a:pt x="58" y="42"/>
                          </a:moveTo>
                          <a:lnTo>
                            <a:pt x="54" y="36"/>
                          </a:lnTo>
                          <a:lnTo>
                            <a:pt x="53" y="28"/>
                          </a:lnTo>
                          <a:lnTo>
                            <a:pt x="50" y="21"/>
                          </a:lnTo>
                          <a:lnTo>
                            <a:pt x="45" y="16"/>
                          </a:lnTo>
                          <a:lnTo>
                            <a:pt x="40" y="10"/>
                          </a:lnTo>
                          <a:lnTo>
                            <a:pt x="37" y="7"/>
                          </a:lnTo>
                          <a:lnTo>
                            <a:pt x="33" y="4"/>
                          </a:lnTo>
                          <a:lnTo>
                            <a:pt x="28" y="2"/>
                          </a:lnTo>
                          <a:lnTo>
                            <a:pt x="23" y="0"/>
                          </a:lnTo>
                          <a:lnTo>
                            <a:pt x="17" y="0"/>
                          </a:lnTo>
                          <a:lnTo>
                            <a:pt x="11" y="0"/>
                          </a:lnTo>
                          <a:lnTo>
                            <a:pt x="6" y="1"/>
                          </a:lnTo>
                          <a:lnTo>
                            <a:pt x="4" y="2"/>
                          </a:lnTo>
                          <a:lnTo>
                            <a:pt x="0" y="4"/>
                          </a:lnTo>
                          <a:lnTo>
                            <a:pt x="0" y="5"/>
                          </a:lnTo>
                          <a:lnTo>
                            <a:pt x="0" y="7"/>
                          </a:lnTo>
                          <a:lnTo>
                            <a:pt x="0" y="10"/>
                          </a:lnTo>
                          <a:lnTo>
                            <a:pt x="0" y="13"/>
                          </a:lnTo>
                          <a:lnTo>
                            <a:pt x="0" y="16"/>
                          </a:lnTo>
                          <a:lnTo>
                            <a:pt x="3" y="17"/>
                          </a:lnTo>
                          <a:lnTo>
                            <a:pt x="4" y="20"/>
                          </a:lnTo>
                          <a:lnTo>
                            <a:pt x="6" y="21"/>
                          </a:lnTo>
                          <a:lnTo>
                            <a:pt x="9" y="21"/>
                          </a:lnTo>
                          <a:lnTo>
                            <a:pt x="12" y="21"/>
                          </a:lnTo>
                          <a:lnTo>
                            <a:pt x="15" y="23"/>
                          </a:lnTo>
                          <a:lnTo>
                            <a:pt x="17" y="23"/>
                          </a:lnTo>
                          <a:lnTo>
                            <a:pt x="22" y="23"/>
                          </a:lnTo>
                          <a:lnTo>
                            <a:pt x="25" y="21"/>
                          </a:lnTo>
                          <a:lnTo>
                            <a:pt x="31" y="23"/>
                          </a:lnTo>
                          <a:lnTo>
                            <a:pt x="35" y="24"/>
                          </a:lnTo>
                          <a:lnTo>
                            <a:pt x="39" y="26"/>
                          </a:lnTo>
                          <a:lnTo>
                            <a:pt x="42" y="28"/>
                          </a:lnTo>
                          <a:lnTo>
                            <a:pt x="47" y="31"/>
                          </a:lnTo>
                          <a:lnTo>
                            <a:pt x="50" y="34"/>
                          </a:lnTo>
                          <a:lnTo>
                            <a:pt x="53" y="37"/>
                          </a:lnTo>
                          <a:lnTo>
                            <a:pt x="58" y="4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</p:grpSp>
            </p:grpSp>
          </p:grpSp>
          <p:grpSp>
            <p:nvGrpSpPr>
              <p:cNvPr id="27671" name="Group 20"/>
              <p:cNvGrpSpPr>
                <a:grpSpLocks/>
              </p:cNvGrpSpPr>
              <p:nvPr/>
            </p:nvGrpSpPr>
            <p:grpSpPr bwMode="auto">
              <a:xfrm>
                <a:off x="3234" y="489"/>
                <a:ext cx="1680" cy="1613"/>
                <a:chOff x="3234" y="489"/>
                <a:chExt cx="1680" cy="1613"/>
              </a:xfrm>
            </p:grpSpPr>
            <p:sp>
              <p:nvSpPr>
                <p:cNvPr id="27675" name="Oval 21"/>
                <p:cNvSpPr>
                  <a:spLocks noChangeArrowheads="1"/>
                </p:cNvSpPr>
                <p:nvPr/>
              </p:nvSpPr>
              <p:spPr bwMode="auto">
                <a:xfrm>
                  <a:off x="3234" y="489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7676" name="Picture 22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90" y="760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7672" name="Group 23"/>
              <p:cNvGrpSpPr>
                <a:grpSpLocks/>
              </p:cNvGrpSpPr>
              <p:nvPr/>
            </p:nvGrpSpPr>
            <p:grpSpPr bwMode="auto">
              <a:xfrm>
                <a:off x="18" y="1881"/>
                <a:ext cx="1680" cy="1613"/>
                <a:chOff x="18" y="1881"/>
                <a:chExt cx="1680" cy="1613"/>
              </a:xfrm>
            </p:grpSpPr>
            <p:sp>
              <p:nvSpPr>
                <p:cNvPr id="27673" name="Oval 24"/>
                <p:cNvSpPr>
                  <a:spLocks noChangeArrowheads="1"/>
                </p:cNvSpPr>
                <p:nvPr/>
              </p:nvSpPr>
              <p:spPr bwMode="auto">
                <a:xfrm>
                  <a:off x="18" y="1881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7674" name="Picture 25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2152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27656" name="Rectangle 26"/>
            <p:cNvSpPr>
              <a:spLocks noChangeArrowheads="1"/>
            </p:cNvSpPr>
            <p:nvPr/>
          </p:nvSpPr>
          <p:spPr bwMode="auto">
            <a:xfrm rot="21120000">
              <a:off x="2868" y="2446"/>
              <a:ext cx="142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NEW STANDARD</a:t>
              </a:r>
            </a:p>
          </p:txBody>
        </p:sp>
        <p:sp>
          <p:nvSpPr>
            <p:cNvPr id="27657" name="Rectangle 27"/>
            <p:cNvSpPr>
              <a:spLocks noChangeArrowheads="1"/>
            </p:cNvSpPr>
            <p:nvPr/>
          </p:nvSpPr>
          <p:spPr bwMode="auto">
            <a:xfrm>
              <a:off x="2001" y="3238"/>
              <a:ext cx="1248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7658" name="Line 28"/>
            <p:cNvSpPr>
              <a:spLocks noChangeShapeType="1"/>
            </p:cNvSpPr>
            <p:nvPr/>
          </p:nvSpPr>
          <p:spPr bwMode="auto">
            <a:xfrm>
              <a:off x="1089" y="3216"/>
              <a:ext cx="3768" cy="0"/>
            </a:xfrm>
            <a:prstGeom prst="line">
              <a:avLst/>
            </a:prstGeom>
            <a:noFill/>
            <a:ln w="25400">
              <a:solidFill>
                <a:srgbClr val="CCFFFF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59" name="Rectangle 29"/>
            <p:cNvSpPr>
              <a:spLocks noChangeArrowheads="1"/>
            </p:cNvSpPr>
            <p:nvPr/>
          </p:nvSpPr>
          <p:spPr bwMode="auto">
            <a:xfrm>
              <a:off x="1137" y="3670"/>
              <a:ext cx="1344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7660" name="Rectangle 30"/>
            <p:cNvSpPr>
              <a:spLocks noChangeArrowheads="1"/>
            </p:cNvSpPr>
            <p:nvPr/>
          </p:nvSpPr>
          <p:spPr bwMode="auto">
            <a:xfrm>
              <a:off x="4352" y="2160"/>
              <a:ext cx="1360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7661" name="Rectangle 31"/>
            <p:cNvSpPr>
              <a:spLocks noChangeArrowheads="1"/>
            </p:cNvSpPr>
            <p:nvPr/>
          </p:nvSpPr>
          <p:spPr bwMode="auto">
            <a:xfrm>
              <a:off x="4305" y="2854"/>
              <a:ext cx="864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KAIZEN</a:t>
              </a:r>
            </a:p>
          </p:txBody>
        </p:sp>
        <p:sp>
          <p:nvSpPr>
            <p:cNvPr id="27662" name="Line 32"/>
            <p:cNvSpPr>
              <a:spLocks noChangeShapeType="1"/>
            </p:cNvSpPr>
            <p:nvPr/>
          </p:nvSpPr>
          <p:spPr bwMode="auto">
            <a:xfrm>
              <a:off x="4272" y="2688"/>
              <a:ext cx="0" cy="528"/>
            </a:xfrm>
            <a:prstGeom prst="line">
              <a:avLst/>
            </a:prstGeom>
            <a:noFill/>
            <a:ln w="25400">
              <a:solidFill>
                <a:srgbClr val="CCFFCC"/>
              </a:solidFill>
              <a:prstDash val="sysDot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3" name="Line 33"/>
            <p:cNvSpPr>
              <a:spLocks noChangeShapeType="1"/>
            </p:cNvSpPr>
            <p:nvPr/>
          </p:nvSpPr>
          <p:spPr bwMode="auto">
            <a:xfrm flipV="1">
              <a:off x="4272" y="1776"/>
              <a:ext cx="0" cy="912"/>
            </a:xfrm>
            <a:prstGeom prst="line">
              <a:avLst/>
            </a:prstGeom>
            <a:noFill/>
            <a:ln w="127000">
              <a:solidFill>
                <a:srgbClr val="99CC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4" name="Rectangle 34"/>
            <p:cNvSpPr>
              <a:spLocks noChangeArrowheads="1"/>
            </p:cNvSpPr>
            <p:nvPr/>
          </p:nvSpPr>
          <p:spPr bwMode="auto">
            <a:xfrm>
              <a:off x="4400" y="1838"/>
              <a:ext cx="120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7665" name="Line 35"/>
            <p:cNvSpPr>
              <a:spLocks noChangeShapeType="1"/>
            </p:cNvSpPr>
            <p:nvPr/>
          </p:nvSpPr>
          <p:spPr bwMode="auto">
            <a:xfrm flipV="1">
              <a:off x="4272" y="1598"/>
              <a:ext cx="1251" cy="192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6" name="Line 36"/>
            <p:cNvSpPr>
              <a:spLocks noChangeShapeType="1"/>
            </p:cNvSpPr>
            <p:nvPr/>
          </p:nvSpPr>
          <p:spPr bwMode="auto">
            <a:xfrm>
              <a:off x="4272" y="1838"/>
              <a:ext cx="142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27667" name="Group 37"/>
            <p:cNvGrpSpPr>
              <a:grpSpLocks/>
            </p:cNvGrpSpPr>
            <p:nvPr/>
          </p:nvGrpSpPr>
          <p:grpSpPr bwMode="auto">
            <a:xfrm>
              <a:off x="1063" y="2678"/>
              <a:ext cx="3259" cy="1472"/>
              <a:chOff x="1063" y="2678"/>
              <a:chExt cx="3259" cy="1472"/>
            </a:xfrm>
          </p:grpSpPr>
          <p:sp>
            <p:nvSpPr>
              <p:cNvPr id="27668" name="Line 38"/>
              <p:cNvSpPr>
                <a:spLocks noChangeShapeType="1"/>
              </p:cNvSpPr>
              <p:nvPr/>
            </p:nvSpPr>
            <p:spPr bwMode="auto">
              <a:xfrm flipV="1">
                <a:off x="1063" y="3142"/>
                <a:ext cx="0" cy="1008"/>
              </a:xfrm>
              <a:prstGeom prst="line">
                <a:avLst/>
              </a:prstGeom>
              <a:noFill/>
              <a:ln w="127000">
                <a:solidFill>
                  <a:srgbClr val="99CC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7669" name="Line 39"/>
              <p:cNvSpPr>
                <a:spLocks noChangeShapeType="1"/>
              </p:cNvSpPr>
              <p:nvPr/>
            </p:nvSpPr>
            <p:spPr bwMode="auto">
              <a:xfrm flipV="1">
                <a:off x="1063" y="2678"/>
                <a:ext cx="3259" cy="512"/>
              </a:xfrm>
              <a:prstGeom prst="line">
                <a:avLst/>
              </a:prstGeom>
              <a:noFill/>
              <a:ln w="1270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624680" name="Rectangle 40"/>
          <p:cNvSpPr>
            <a:spLocks noChangeArrowheads="1"/>
          </p:cNvSpPr>
          <p:nvPr/>
        </p:nvSpPr>
        <p:spPr bwMode="auto">
          <a:xfrm>
            <a:off x="305281" y="228985"/>
            <a:ext cx="11683200" cy="82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defRPr/>
            </a:pP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 </a:t>
            </a:r>
            <a:r>
              <a:rPr kumimoji="1" lang="en-US" altLang="ja-JP" sz="2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PLUS </a:t>
            </a: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sp>
        <p:nvSpPr>
          <p:cNvPr id="27654" name="Rectangle 41"/>
          <p:cNvSpPr>
            <a:spLocks noChangeArrowheads="1"/>
          </p:cNvSpPr>
          <p:nvPr/>
        </p:nvSpPr>
        <p:spPr bwMode="auto">
          <a:xfrm>
            <a:off x="407040" y="1103157"/>
            <a:ext cx="5790720" cy="831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kumimoji="1" lang="en-US" altLang="ja-JP" sz="2400">
                <a:ea typeface="HG明朝B"/>
                <a:cs typeface="HG明朝B"/>
              </a:rPr>
              <a:t>Desirable progress by combination of two opposing approaches</a:t>
            </a:r>
          </a:p>
        </p:txBody>
      </p:sp>
    </p:spTree>
    <p:extLst>
      <p:ext uri="{BB962C8B-B14F-4D97-AF65-F5344CB8AC3E}">
        <p14:creationId xmlns:p14="http://schemas.microsoft.com/office/powerpoint/2010/main" val="9643036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8801" y="319714"/>
            <a:ext cx="11174400" cy="600543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6020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845</TotalTime>
  <Words>823</Words>
  <Application>Microsoft Office PowerPoint</Application>
  <PresentationFormat>Custom</PresentationFormat>
  <Paragraphs>352</Paragraphs>
  <Slides>40</Slides>
  <Notes>15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2" baseType="lpstr">
      <vt:lpstr>Celestial</vt:lpstr>
      <vt:lpstr>ｸﾘｯﾌﾟ</vt:lpstr>
      <vt:lpstr>সি-জে জনসম্পৃক্ত স্বাস্থ্য ব্যবস্থাপনা</vt:lpstr>
      <vt:lpstr>PowerPoint Presentation</vt:lpstr>
      <vt:lpstr>ভূমিকা</vt:lpstr>
      <vt:lpstr>চৌগাছা মডেল</vt:lpstr>
      <vt:lpstr>কলেজ পড়ুয়া ছাত্রী ভলেন্টিয়ার</vt:lpstr>
      <vt:lpstr>চৌগাছা হাসপাতাল: প্রসববৃদ্ধি </vt:lpstr>
      <vt:lpstr>চৌগাছা খুলনা বিভাগের শ্রেষ্ঠ প্রসুতি সেবা কেন্দ্র, ২০১১</vt:lpstr>
      <vt:lpstr>PowerPoint Presentation</vt:lpstr>
      <vt:lpstr>চৌগাছা: অর্জন ২০১১</vt:lpstr>
      <vt:lpstr>দৈনিক প্রথম-আলোর প্রতিবেদন ১৪ অক্টোবর, ২০০৫</vt:lpstr>
      <vt:lpstr>PowerPoint Presentation</vt:lpstr>
      <vt:lpstr>PowerPoint Presentation</vt:lpstr>
      <vt:lpstr>ঝিনাইদহ মডেল</vt:lpstr>
      <vt:lpstr>ঝিনাইদহ: চ্যালেন্জ সমূহ ২০১২</vt:lpstr>
      <vt:lpstr>জনসম্পৃক্ততা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জরুরী বহি: অন্ত বিভাগ: রোগী বৃদ্ধি</vt:lpstr>
      <vt:lpstr>ঝিনাইদহঃ খুলনা বিভাগের শ্রেষ্ঠ প্রসুতি সেবা কেন্দ্র, ২০১৭</vt:lpstr>
      <vt:lpstr>  হাসপাতালের রাজস্ব আয়ের তুলনামূলক চিত্র (২০১৫ - ২০১৯) </vt:lpstr>
      <vt:lpstr>ঝিনাইদহ: অর্জন ২০১৮</vt:lpstr>
      <vt:lpstr>সম্প্রসারনের পদক্ষেপ</vt:lpstr>
      <vt:lpstr>Our usual solution:  We need more RESOURCES!!!!</vt:lpstr>
      <vt:lpstr>PowerPoint Presentation</vt:lpstr>
      <vt:lpstr>ধন্যবাদ</vt:lpstr>
      <vt:lpstr>PowerPoint Presentation</vt:lpstr>
      <vt:lpstr>PowerPoint Presentation</vt:lpstr>
      <vt:lpstr>Total ANC and Delivery in Jhenaidah District Hospital 2011-2019</vt:lpstr>
      <vt:lpstr>ঝিনাইদহ: শ্রেষ্ঠ জরুরী প্রসুতি সেবা কেন্দ্র ২০১৭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নেতা</dc:title>
  <dc:creator>Prof. Be-nazir Ahmed</dc:creator>
  <cp:lastModifiedBy>Emdad</cp:lastModifiedBy>
  <cp:revision>191</cp:revision>
  <dcterms:created xsi:type="dcterms:W3CDTF">2018-04-08T00:56:33Z</dcterms:created>
  <dcterms:modified xsi:type="dcterms:W3CDTF">2020-09-23T01:46:46Z</dcterms:modified>
</cp:coreProperties>
</file>