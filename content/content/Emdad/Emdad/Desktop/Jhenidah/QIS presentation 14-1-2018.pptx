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  <p:sldMasterId id="2147484020" r:id="rId3"/>
  </p:sldMasterIdLst>
  <p:notesMasterIdLst>
    <p:notesMasterId r:id="rId59"/>
  </p:notesMasterIdLst>
  <p:sldIdLst>
    <p:sldId id="331" r:id="rId4"/>
    <p:sldId id="345" r:id="rId5"/>
    <p:sldId id="367" r:id="rId6"/>
    <p:sldId id="332" r:id="rId7"/>
    <p:sldId id="376" r:id="rId8"/>
    <p:sldId id="368" r:id="rId9"/>
    <p:sldId id="374" r:id="rId10"/>
    <p:sldId id="341" r:id="rId11"/>
    <p:sldId id="337" r:id="rId12"/>
    <p:sldId id="338" r:id="rId13"/>
    <p:sldId id="375" r:id="rId14"/>
    <p:sldId id="339" r:id="rId15"/>
    <p:sldId id="340" r:id="rId16"/>
    <p:sldId id="342" r:id="rId17"/>
    <p:sldId id="382" r:id="rId18"/>
    <p:sldId id="343" r:id="rId19"/>
    <p:sldId id="256" r:id="rId20"/>
    <p:sldId id="360" r:id="rId21"/>
    <p:sldId id="361" r:id="rId22"/>
    <p:sldId id="359" r:id="rId23"/>
    <p:sldId id="326" r:id="rId24"/>
    <p:sldId id="327" r:id="rId25"/>
    <p:sldId id="328" r:id="rId26"/>
    <p:sldId id="352" r:id="rId27"/>
    <p:sldId id="351" r:id="rId28"/>
    <p:sldId id="346" r:id="rId29"/>
    <p:sldId id="362" r:id="rId30"/>
    <p:sldId id="369" r:id="rId31"/>
    <p:sldId id="287" r:id="rId32"/>
    <p:sldId id="288" r:id="rId33"/>
    <p:sldId id="290" r:id="rId34"/>
    <p:sldId id="291" r:id="rId35"/>
    <p:sldId id="292" r:id="rId36"/>
    <p:sldId id="308" r:id="rId37"/>
    <p:sldId id="323" r:id="rId38"/>
    <p:sldId id="312" r:id="rId39"/>
    <p:sldId id="366" r:id="rId40"/>
    <p:sldId id="363" r:id="rId41"/>
    <p:sldId id="364" r:id="rId42"/>
    <p:sldId id="370" r:id="rId43"/>
    <p:sldId id="372" r:id="rId44"/>
    <p:sldId id="371" r:id="rId45"/>
    <p:sldId id="297" r:id="rId46"/>
    <p:sldId id="293" r:id="rId47"/>
    <p:sldId id="294" r:id="rId48"/>
    <p:sldId id="330" r:id="rId49"/>
    <p:sldId id="344" r:id="rId50"/>
    <p:sldId id="381" r:id="rId51"/>
    <p:sldId id="380" r:id="rId52"/>
    <p:sldId id="379" r:id="rId53"/>
    <p:sldId id="378" r:id="rId54"/>
    <p:sldId id="356" r:id="rId55"/>
    <p:sldId id="353" r:id="rId56"/>
    <p:sldId id="354" r:id="rId57"/>
    <p:sldId id="377" r:id="rId5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9" autoAdjust="0"/>
    <p:restoredTop sz="91815" autoAdjust="0"/>
  </p:normalViewPr>
  <p:slideViewPr>
    <p:cSldViewPr>
      <p:cViewPr>
        <p:scale>
          <a:sx n="70" d="100"/>
          <a:sy n="70" d="100"/>
        </p:scale>
        <p:origin x="-1614" y="-2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2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61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3156608"/>
        <c:axId val="233158144"/>
      </c:barChart>
      <c:catAx>
        <c:axId val="2331566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33158144"/>
        <c:crosses val="autoZero"/>
        <c:auto val="1"/>
        <c:lblAlgn val="ctr"/>
        <c:lblOffset val="100"/>
        <c:noMultiLvlLbl val="0"/>
      </c:catAx>
      <c:valAx>
        <c:axId val="23315814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3315660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3374464"/>
        <c:axId val="233376000"/>
      </c:barChart>
      <c:catAx>
        <c:axId val="2333744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33376000"/>
        <c:crosses val="autoZero"/>
        <c:auto val="1"/>
        <c:lblAlgn val="ctr"/>
        <c:lblOffset val="100"/>
        <c:noMultiLvlLbl val="0"/>
      </c:catAx>
      <c:valAx>
        <c:axId val="23337600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3337446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0934240566213921"/>
          <c:y val="5.0614472425046991E-2"/>
          <c:w val="0.87051107128595528"/>
          <c:h val="0.8304979053062837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4.494116857551923E-3"/>
                  <c:y val="-5.57724964536090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28E-3"/>
                  <c:y val="-4.4398347073456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097E-3"/>
                  <c:y val="-4.26781932937234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229E-3"/>
                  <c:y val="-5.22004070639995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075E-3"/>
                  <c:y val="-3.44067761764766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  <c:pt idx="6">
                  <c:v>1578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233456000"/>
        <c:axId val="233457536"/>
        <c:axId val="0"/>
      </c:bar3DChart>
      <c:catAx>
        <c:axId val="233456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33457536"/>
        <c:crosses val="autoZero"/>
        <c:auto val="1"/>
        <c:lblAlgn val="ctr"/>
        <c:lblOffset val="100"/>
        <c:noMultiLvlLbl val="0"/>
      </c:catAx>
      <c:valAx>
        <c:axId val="23345753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3345600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709</c:v>
                </c:pt>
                <c:pt idx="1">
                  <c:v>766</c:v>
                </c:pt>
                <c:pt idx="2">
                  <c:v>835</c:v>
                </c:pt>
                <c:pt idx="3">
                  <c:v>876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1127</c:v>
                </c:pt>
                <c:pt idx="1">
                  <c:v>923</c:v>
                </c:pt>
                <c:pt idx="2">
                  <c:v>1595</c:v>
                </c:pt>
                <c:pt idx="3">
                  <c:v>1493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848</c:v>
                </c:pt>
                <c:pt idx="1">
                  <c:v>806</c:v>
                </c:pt>
                <c:pt idx="2">
                  <c:v>1123</c:v>
                </c:pt>
                <c:pt idx="3">
                  <c:v>1297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Sheet1!$E$2:$E$5</c:f>
              <c:numCache>
                <c:formatCode>General</c:formatCode>
                <c:ptCount val="4"/>
                <c:pt idx="0">
                  <c:v>2684</c:v>
                </c:pt>
                <c:pt idx="1">
                  <c:v>2495</c:v>
                </c:pt>
                <c:pt idx="2">
                  <c:v>3553</c:v>
                </c:pt>
                <c:pt idx="3">
                  <c:v>3666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3351424"/>
        <c:axId val="233361408"/>
      </c:barChart>
      <c:catAx>
        <c:axId val="2333514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33361408"/>
        <c:crosses val="autoZero"/>
        <c:auto val="1"/>
        <c:lblAlgn val="ctr"/>
        <c:lblOffset val="100"/>
        <c:noMultiLvlLbl val="0"/>
      </c:catAx>
      <c:valAx>
        <c:axId val="23336140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3335142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314925161381854"/>
          <c:y val="0.34423591178275209"/>
          <c:w val="0.20784173937717243"/>
          <c:h val="0.46305371917534455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3612032"/>
        <c:axId val="233613568"/>
      </c:barChart>
      <c:catAx>
        <c:axId val="233612032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33613568"/>
        <c:crosses val="autoZero"/>
        <c:auto val="1"/>
        <c:lblAlgn val="ctr"/>
        <c:lblOffset val="100"/>
        <c:noMultiLvlLbl val="0"/>
      </c:catAx>
      <c:valAx>
        <c:axId val="23361356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3361203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Sheet1!$B$2:$B$4</c:f>
              <c:numCache>
                <c:formatCode>#,##0</c:formatCode>
                <c:ptCount val="3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146333696"/>
        <c:axId val="146335232"/>
        <c:axId val="0"/>
      </c:bar3DChart>
      <c:catAx>
        <c:axId val="1463336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46335232"/>
        <c:crosses val="autoZero"/>
        <c:auto val="1"/>
        <c:lblAlgn val="ctr"/>
        <c:lblOffset val="100"/>
        <c:noMultiLvlLbl val="0"/>
      </c:catAx>
      <c:valAx>
        <c:axId val="14633523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146333696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9/1/2020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8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A4FD03C-E954-4298-9799-2404B990A5D5}" type="slidenum">
              <a:rPr lang="en-US" smtClean="0">
                <a:solidFill>
                  <a:srgbClr val="000000"/>
                </a:solidFill>
              </a:rPr>
              <a:pPr/>
              <a:t>12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5025" cy="34845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CDC74EA-1436-4302-A7A0-7857452C14B5}" type="slidenum">
              <a:rPr lang="en-US" smtClean="0">
                <a:solidFill>
                  <a:srgbClr val="000000"/>
                </a:solidFill>
              </a:rPr>
              <a:pPr/>
              <a:t>14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5325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4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15</a:t>
            </a:fld>
            <a:endParaRPr lang="en-US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27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46</a:t>
            </a:fld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47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A4FD03C-E954-4298-9799-2404B990A5D5}" type="slidenum">
              <a:rPr lang="en-US" smtClean="0">
                <a:solidFill>
                  <a:srgbClr val="000000"/>
                </a:solidFill>
              </a:rPr>
              <a:pPr/>
              <a:t>55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5025" cy="34845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 smtClean="0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2020/9/1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2020/9/1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2020/9/1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2020/9/1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2020/9/1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2020/9/1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2020/9/1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2020/9/1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 smtClean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2020/9/1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2020/9/1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2020/9/1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9/1/2020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9/1/2020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9/1/2020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9/1/2020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9/1/2020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9/1/2020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9/1/2020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9/1/2020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9/1/2020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9/1/2020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9/1/2020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3806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830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0018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1316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7031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1759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2355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2597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78118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2499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76802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42658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67338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smtClean="0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2020/9/1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2020/9/1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2020/9/1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07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  <p:sldLayoutId id="2147484033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2.jpeg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jpeg"/><Relationship Id="rId7" Type="http://schemas.openxmlformats.org/officeDocument/2006/relationships/image" Target="../media/image42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7.jpeg"/><Relationship Id="rId4" Type="http://schemas.openxmlformats.org/officeDocument/2006/relationships/image" Target="../media/image56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65.png"/><Relationship Id="rId5" Type="http://schemas.openxmlformats.org/officeDocument/2006/relationships/image" Target="../media/image64.jpeg"/><Relationship Id="rId4" Type="http://schemas.openxmlformats.org/officeDocument/2006/relationships/image" Target="../media/image63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9.jpeg"/><Relationship Id="rId4" Type="http://schemas.openxmlformats.org/officeDocument/2006/relationships/image" Target="../media/image68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3.jpeg"/><Relationship Id="rId4" Type="http://schemas.openxmlformats.org/officeDocument/2006/relationships/image" Target="../media/image72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7.jpeg"/><Relationship Id="rId4" Type="http://schemas.openxmlformats.org/officeDocument/2006/relationships/image" Target="../media/image76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81.jpeg"/><Relationship Id="rId4" Type="http://schemas.openxmlformats.org/officeDocument/2006/relationships/image" Target="../media/image80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5.jpeg"/><Relationship Id="rId4" Type="http://schemas.openxmlformats.org/officeDocument/2006/relationships/image" Target="../media/image8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97.jpeg"/><Relationship Id="rId4" Type="http://schemas.openxmlformats.org/officeDocument/2006/relationships/image" Target="../media/image9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eg"/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01.jpeg"/><Relationship Id="rId4" Type="http://schemas.openxmlformats.org/officeDocument/2006/relationships/image" Target="../media/image10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eg"/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5.jpeg"/><Relationship Id="rId4" Type="http://schemas.openxmlformats.org/officeDocument/2006/relationships/image" Target="../media/image104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14.png"/><Relationship Id="rId4" Type="http://schemas.openxmlformats.org/officeDocument/2006/relationships/image" Target="../media/image113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228600" y="228600"/>
            <a:ext cx="8686800" cy="1077218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UHC model &amp; Jhenaidah Sadar Hospital Development by local initiatives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2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Consultant (Obst &amp; Gynae)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Sadar Hospital Jhenaidah</a:t>
            </a: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17738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217738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814407"/>
              </p:ext>
            </p:extLst>
          </p:nvPr>
        </p:nvGraphicFramePr>
        <p:xfrm>
          <a:off x="152400" y="1371600"/>
          <a:ext cx="8894763" cy="4887199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914400"/>
                <a:gridCol w="1981200"/>
                <a:gridCol w="2362200"/>
                <a:gridCol w="1905000"/>
                <a:gridCol w="1731963"/>
              </a:tblGrid>
              <a:tr h="8512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 2014 by  Govt.   ($)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752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9403 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3935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Japan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3703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456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19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kern="1200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40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04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09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31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2.2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2015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228600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:\G\Dr Emdad\Photo -Lohagara\ScreenShot_201605240637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5408" y="4289813"/>
            <a:ext cx="3620964" cy="2365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5" descr="G:\G\Dr Emdad\Photo -Lohagara\ScreenShot_2015120719482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529" y="1374776"/>
            <a:ext cx="360997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G:\G\Dr Emdad\Photo -Lohagara\ScreenShot_2015120721101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772" y="1374775"/>
            <a:ext cx="36576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7" descr="G:\G\Dr Emdad\Photo -Lohagara\ScreenShot_20151207202519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608" y="4263956"/>
            <a:ext cx="3571875" cy="235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02190" y="381000"/>
            <a:ext cx="8591426" cy="54042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 smtClean="0">
                <a:solidFill>
                  <a:srgbClr val="0070C0"/>
                </a:solidFill>
              </a:rPr>
              <a:t>Community Mobilization Meeting at Lohagara in </a:t>
            </a:r>
            <a:r>
              <a:rPr lang="en-US" sz="2400" b="1" dirty="0" smtClean="0">
                <a:solidFill>
                  <a:srgbClr val="0070C0"/>
                </a:solidFill>
                <a:latin typeface="Book Antiqua" pitchFamily="18" charset="0"/>
              </a:rPr>
              <a:t>1995</a:t>
            </a:r>
            <a:endParaRPr lang="en-US" sz="2400" b="1" dirty="0">
              <a:solidFill>
                <a:srgbClr val="0070C0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195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Sub-district level Women-Friendly 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sincerity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and </a:t>
            </a:r>
          </a:p>
          <a:p>
            <a:pPr algn="ctr" eaLnBrk="0" hangingPunct="0"/>
            <a:r>
              <a:rPr lang="en-US" sz="1600" b="1" dirty="0"/>
              <a:t>prompt 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system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&amp; Health </a:t>
            </a:r>
          </a:p>
          <a:p>
            <a:pPr algn="ctr" eaLnBrk="0" hangingPunct="0"/>
            <a:r>
              <a:rPr lang="en-US" sz="1600" b="1" dirty="0"/>
              <a:t>Management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9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/>
        </p:nvSpPr>
        <p:spPr bwMode="auto">
          <a:xfrm>
            <a:off x="0" y="2810889"/>
            <a:ext cx="3733800" cy="69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l"/>
            <a:r>
              <a:rPr lang="en-US" sz="1800" dirty="0" smtClean="0">
                <a:latin typeface="Calibri" pitchFamily="34" charset="0"/>
              </a:rPr>
              <a:t>Blood donation program stared in 16 December, 1996 in Chowgacha UHC</a:t>
            </a:r>
            <a:endParaRPr lang="en-GB" sz="1800" dirty="0" smtClean="0">
              <a:latin typeface="Calibri" pitchFamily="34" charset="0"/>
            </a:endParaRPr>
          </a:p>
        </p:txBody>
      </p:sp>
      <p:pic>
        <p:nvPicPr>
          <p:cNvPr id="5" name="Picture 4" descr="H:\D. S. Islam\ee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4191000" cy="276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H:\D. S. Islam\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0"/>
            <a:ext cx="43434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ubtitle 2"/>
          <p:cNvSpPr txBox="1">
            <a:spLocks/>
          </p:cNvSpPr>
          <p:nvPr/>
        </p:nvSpPr>
        <p:spPr bwMode="auto">
          <a:xfrm>
            <a:off x="4800600" y="2826261"/>
            <a:ext cx="4267200" cy="90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 seminar held on basic information system </a:t>
            </a:r>
            <a:r>
              <a:rPr lang="en-US" dirty="0" smtClean="0">
                <a:latin typeface="Calibri" pitchFamily="34" charset="0"/>
              </a:rPr>
              <a:t>at </a:t>
            </a:r>
            <a:r>
              <a:rPr lang="en-US" dirty="0">
                <a:latin typeface="Calibri" pitchFamily="34" charset="0"/>
              </a:rPr>
              <a:t>Chowgacha </a:t>
            </a:r>
            <a:r>
              <a:rPr lang="en-US" dirty="0" smtClean="0">
                <a:latin typeface="Calibri" pitchFamily="34" charset="0"/>
              </a:rPr>
              <a:t>Degree </a:t>
            </a:r>
            <a:r>
              <a:rPr lang="en-US" dirty="0">
                <a:latin typeface="Calibri" pitchFamily="34" charset="0"/>
              </a:rPr>
              <a:t>College </a:t>
            </a:r>
            <a:r>
              <a:rPr lang="en-US" dirty="0" smtClean="0">
                <a:latin typeface="Calibri" pitchFamily="34" charset="0"/>
              </a:rPr>
              <a:t>in </a:t>
            </a:r>
            <a:r>
              <a:rPr lang="en-US" dirty="0">
                <a:latin typeface="Calibri" pitchFamily="34" charset="0"/>
              </a:rPr>
              <a:t>June, 1997. DC </a:t>
            </a:r>
            <a:r>
              <a:rPr lang="en-US" dirty="0" err="1">
                <a:latin typeface="Calibri" pitchFamily="34" charset="0"/>
              </a:rPr>
              <a:t>Jessore</a:t>
            </a:r>
            <a:r>
              <a:rPr lang="en-US" dirty="0">
                <a:latin typeface="Calibri" pitchFamily="34" charset="0"/>
              </a:rPr>
              <a:t> was the chief </a:t>
            </a:r>
            <a:r>
              <a:rPr lang="en-US" dirty="0" smtClean="0">
                <a:latin typeface="Calibri" pitchFamily="34" charset="0"/>
              </a:rPr>
              <a:t>guest . </a:t>
            </a:r>
            <a:endParaRPr lang="en-GB" dirty="0">
              <a:latin typeface="Calibri" pitchFamily="34" charset="0"/>
            </a:endParaRPr>
          </a:p>
        </p:txBody>
      </p:sp>
      <p:pic>
        <p:nvPicPr>
          <p:cNvPr id="8" name="Picture 4" descr="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0000">
            <a:off x="2062254" y="3684253"/>
            <a:ext cx="4257490" cy="313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07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SC018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050"/>
            <a:ext cx="4457700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DSC018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3517900"/>
            <a:ext cx="44704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 descr="DSC0175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3517900"/>
            <a:ext cx="44450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DSC0177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9525"/>
            <a:ext cx="4430712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7028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6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60438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3600" dirty="0" smtClean="0">
              <a:solidFill>
                <a:srgbClr val="FF0066"/>
              </a:solidFill>
            </a:endParaRPr>
          </a:p>
          <a:p>
            <a:pPr algn="ctr" eaLnBrk="1" hangingPunct="1">
              <a:buFontTx/>
              <a:buNone/>
            </a:pPr>
            <a:endParaRPr lang="en-US" sz="3600" dirty="0" smtClean="0">
              <a:solidFill>
                <a:srgbClr val="FF0066"/>
              </a:solidFill>
            </a:endParaRPr>
          </a:p>
        </p:txBody>
      </p:sp>
      <p:graphicFrame>
        <p:nvGraphicFramePr>
          <p:cNvPr id="32772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72415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0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10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72415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5240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2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2000 - 2011 (Caesarian Section)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95275"/>
            <a:ext cx="8229600" cy="771525"/>
          </a:xfrm>
          <a:solidFill>
            <a:schemeClr val="accent1"/>
          </a:solidFill>
          <a:ln/>
        </p:spPr>
        <p:txBody>
          <a:bodyPr/>
          <a:lstStyle/>
          <a:p>
            <a:r>
              <a:rPr lang="en-US" sz="3200" b="1"/>
              <a:t>Upazila Health  Complex</a:t>
            </a:r>
            <a:br>
              <a:rPr lang="en-US" sz="3200" b="1"/>
            </a:br>
            <a:r>
              <a:rPr lang="en-US" sz="2000" b="1"/>
              <a:t>CHOWGACHA , JESSORE.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57200" y="1422400"/>
            <a:ext cx="8153400" cy="3810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ACTVITIES : ( Vision By The Year 2010) </a:t>
            </a:r>
          </a:p>
        </p:txBody>
      </p:sp>
      <p:graphicFrame>
        <p:nvGraphicFramePr>
          <p:cNvPr id="7" name="Group 5"/>
          <p:cNvGraphicFramePr>
            <a:graphicFrameLocks noGrp="1"/>
          </p:cNvGraphicFramePr>
          <p:nvPr>
            <p:ph sz="half" idx="4294967295"/>
          </p:nvPr>
        </p:nvGraphicFramePr>
        <p:xfrm>
          <a:off x="381000" y="2095500"/>
          <a:ext cx="8305800" cy="4218432"/>
        </p:xfrm>
        <a:graphic>
          <a:graphicData uri="http://schemas.openxmlformats.org/drawingml/2006/table">
            <a:tbl>
              <a:tblPr/>
              <a:tblGrid>
                <a:gridCol w="457200"/>
                <a:gridCol w="2057400"/>
                <a:gridCol w="609600"/>
                <a:gridCol w="596900"/>
                <a:gridCol w="641350"/>
                <a:gridCol w="641350"/>
                <a:gridCol w="641350"/>
                <a:gridCol w="641350"/>
                <a:gridCol w="641350"/>
                <a:gridCol w="601663"/>
                <a:gridCol w="776287"/>
              </a:tblGrid>
              <a:tr h="4064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 No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Achived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Target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1997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  1st   Visit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24.6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94.7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110.8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133.7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143.0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  2nd  Visit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33.4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59.7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91.2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  3rd Visit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9.2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49.6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59.6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PNC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9.9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13.5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20.11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39.3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Hospital Delivery Rate%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26.5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32.3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38.1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52.4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Caesarian Section Rate%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0.07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Maternal Mortality Ratio / 100000 Live birth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168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160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Neonatal Death Rate / 1000 live birth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42.4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21.5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16.5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7026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95313"/>
            <a:ext cx="8229600" cy="1238250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36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62752733"/>
              </p:ext>
            </p:extLst>
          </p:nvPr>
        </p:nvGraphicFramePr>
        <p:xfrm>
          <a:off x="457200" y="3063874"/>
          <a:ext cx="8153400" cy="303212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60400"/>
                <a:gridCol w="2336800"/>
                <a:gridCol w="1117600"/>
                <a:gridCol w="1054100"/>
                <a:gridCol w="1041400"/>
                <a:gridCol w="952500"/>
                <a:gridCol w="990600"/>
              </a:tblGrid>
              <a:tr h="710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1124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3492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63777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86583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57200" y="1930400"/>
            <a:ext cx="8153400" cy="889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924800" y="4049713"/>
            <a:ext cx="381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896225" y="4443413"/>
            <a:ext cx="4191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447800"/>
          </a:xfrm>
          <a:solidFill>
            <a:srgbClr val="0070C0"/>
          </a:solidFill>
        </p:spPr>
        <p:txBody>
          <a:bodyPr/>
          <a:lstStyle/>
          <a:p>
            <a:pPr eaLnBrk="1" hangingPunct="1"/>
            <a:r>
              <a:rPr lang="en-US" b="1" i="1" dirty="0" smtClean="0">
                <a:solidFill>
                  <a:schemeClr val="bg1"/>
                </a:solidFill>
                <a:latin typeface="Albertus Extra Bold" pitchFamily="34" charset="0"/>
              </a:rPr>
              <a:t>MDG 4 and 5 Achieved at Chowgacha in 2009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idx="1"/>
          </p:nvPr>
        </p:nvSpPr>
        <p:spPr>
          <a:xfrm>
            <a:off x="419100" y="2133600"/>
            <a:ext cx="8305800" cy="3733800"/>
          </a:xfr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000" b="1" smtClean="0">
                <a:solidFill>
                  <a:srgbClr val="C00000"/>
                </a:solidFill>
              </a:rPr>
              <a:t>Per 1000 live Birth      Chowgacha          MDG Target        National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2000" b="1" smtClean="0">
              <a:solidFill>
                <a:schemeClr val="hlink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smtClean="0">
                <a:solidFill>
                  <a:srgbClr val="0000FF"/>
                </a:solidFill>
              </a:rPr>
              <a:t>MMR:                                        </a:t>
            </a:r>
            <a:r>
              <a:rPr lang="en-US" sz="2400" b="1" smtClean="0">
                <a:solidFill>
                  <a:srgbClr val="669900"/>
                </a:solidFill>
              </a:rPr>
              <a:t>.42</a:t>
            </a:r>
            <a:r>
              <a:rPr lang="en-US" sz="1800" b="1" smtClean="0">
                <a:solidFill>
                  <a:srgbClr val="336600"/>
                </a:solidFill>
              </a:rPr>
              <a:t>                      </a:t>
            </a:r>
            <a:r>
              <a:rPr lang="en-US" sz="1800" b="1" smtClean="0">
                <a:solidFill>
                  <a:srgbClr val="FF0066"/>
                </a:solidFill>
              </a:rPr>
              <a:t>1.47 </a:t>
            </a:r>
            <a:r>
              <a:rPr lang="en-US" sz="1800" b="1" smtClean="0">
                <a:solidFill>
                  <a:srgbClr val="CC0000"/>
                </a:solidFill>
              </a:rPr>
              <a:t>                      </a:t>
            </a:r>
            <a:r>
              <a:rPr lang="en-US" sz="1800" b="1" smtClean="0">
                <a:solidFill>
                  <a:srgbClr val="0000FF"/>
                </a:solidFill>
              </a:rPr>
              <a:t>3.2   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smtClean="0">
                <a:solidFill>
                  <a:srgbClr val="0000FF"/>
                </a:solidFill>
              </a:rPr>
              <a:t>(MDG 5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smtClean="0">
                <a:solidFill>
                  <a:srgbClr val="0000FF"/>
                </a:solidFill>
              </a:rPr>
              <a:t>IMR:                                        </a:t>
            </a:r>
            <a:r>
              <a:rPr lang="en-US" sz="1800" b="1" smtClean="0">
                <a:solidFill>
                  <a:srgbClr val="669900"/>
                </a:solidFill>
              </a:rPr>
              <a:t>  </a:t>
            </a:r>
            <a:r>
              <a:rPr lang="en-US" sz="2400" b="1" smtClean="0">
                <a:solidFill>
                  <a:srgbClr val="669900"/>
                </a:solidFill>
              </a:rPr>
              <a:t>20.6 </a:t>
            </a:r>
            <a:r>
              <a:rPr lang="en-US" sz="1800" b="1" smtClean="0">
                <a:solidFill>
                  <a:srgbClr val="669900"/>
                </a:solidFill>
              </a:rPr>
              <a:t> </a:t>
            </a:r>
            <a:r>
              <a:rPr lang="en-US" sz="1800" b="1" smtClean="0">
                <a:solidFill>
                  <a:srgbClr val="0000FF"/>
                </a:solidFill>
              </a:rPr>
              <a:t>                   </a:t>
            </a:r>
            <a:r>
              <a:rPr lang="en-US" sz="1800" b="1" smtClean="0">
                <a:solidFill>
                  <a:srgbClr val="FF0066"/>
                </a:solidFill>
              </a:rPr>
              <a:t>31  </a:t>
            </a:r>
            <a:r>
              <a:rPr lang="en-US" sz="1800" b="1" smtClean="0">
                <a:solidFill>
                  <a:srgbClr val="0000FF"/>
                </a:solidFill>
              </a:rPr>
              <a:t>                     52 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smtClean="0">
                <a:solidFill>
                  <a:srgbClr val="0000FF"/>
                </a:solidFill>
              </a:rPr>
              <a:t>&lt;5 MR:                                     </a:t>
            </a:r>
            <a:r>
              <a:rPr lang="en-US" sz="2400" b="1" smtClean="0">
                <a:solidFill>
                  <a:srgbClr val="0000FF"/>
                </a:solidFill>
              </a:rPr>
              <a:t> </a:t>
            </a:r>
            <a:r>
              <a:rPr lang="en-US" sz="2400" b="1" smtClean="0">
                <a:solidFill>
                  <a:srgbClr val="669900"/>
                </a:solidFill>
              </a:rPr>
              <a:t>22.7 </a:t>
            </a:r>
            <a:r>
              <a:rPr lang="en-US" sz="1800" b="1" smtClean="0">
                <a:solidFill>
                  <a:srgbClr val="669900"/>
                </a:solidFill>
              </a:rPr>
              <a:t> </a:t>
            </a:r>
            <a:r>
              <a:rPr lang="en-US" sz="1800" b="1" smtClean="0">
                <a:solidFill>
                  <a:srgbClr val="0000FF"/>
                </a:solidFill>
              </a:rPr>
              <a:t>                   </a:t>
            </a:r>
            <a:r>
              <a:rPr lang="en-US" sz="1800" b="1" smtClean="0">
                <a:solidFill>
                  <a:srgbClr val="FF0066"/>
                </a:solidFill>
              </a:rPr>
              <a:t>50    </a:t>
            </a:r>
            <a:r>
              <a:rPr lang="en-US" sz="1800" b="1" smtClean="0">
                <a:solidFill>
                  <a:srgbClr val="0000FF"/>
                </a:solidFill>
              </a:rPr>
              <a:t>                   65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smtClean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Chowgacha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From 1996 to 2012, took initiatives to develop </a:t>
            </a:r>
            <a:r>
              <a:rPr lang="en-US" sz="2400" b="1" dirty="0" smtClean="0"/>
              <a:t>Upazilla level standard services </a:t>
            </a:r>
            <a:r>
              <a:rPr lang="en-US" sz="2400" dirty="0" smtClean="0"/>
              <a:t>in Chowgacha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In </a:t>
            </a:r>
            <a:r>
              <a:rPr lang="en-US" sz="2400" dirty="0" smtClean="0"/>
              <a:t>2008, </a:t>
            </a:r>
            <a:r>
              <a:rPr lang="en-US" sz="2400" dirty="0" smtClean="0"/>
              <a:t>Chowgacha Health Complex declared as the model upazilla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  <a:endParaRPr lang="en-US" sz="2400" dirty="0" smtClean="0">
              <a:latin typeface="Symbol" pitchFamily="18" charset="2"/>
            </a:endParaRP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>
                <a:cs typeface="Calibri" pitchFamily="34" charset="0"/>
              </a:rPr>
              <a:t> Mobilized 46 additional </a:t>
            </a:r>
            <a:r>
              <a:rPr lang="en-US" sz="2400" dirty="0" smtClean="0"/>
              <a:t>workers from community (26 </a:t>
            </a:r>
            <a:r>
              <a:rPr lang="en-US" sz="2400" dirty="0"/>
              <a:t>volunteer, 12 </a:t>
            </a:r>
            <a:r>
              <a:rPr lang="en-US" sz="2400" dirty="0" smtClean="0"/>
              <a:t>cleaners </a:t>
            </a:r>
            <a:r>
              <a:rPr lang="en-US" sz="2400" dirty="0"/>
              <a:t>and </a:t>
            </a:r>
            <a:r>
              <a:rPr lang="en-US" sz="2400" dirty="0" smtClean="0"/>
              <a:t>others </a:t>
            </a:r>
            <a:r>
              <a:rPr lang="en-US" sz="2400" dirty="0"/>
              <a:t>8</a:t>
            </a:r>
            <a:r>
              <a:rPr lang="en-US" sz="2400" dirty="0" smtClean="0"/>
              <a:t>).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 EOC Beds increased from 11 </a:t>
            </a:r>
            <a:r>
              <a:rPr lang="en-US" sz="2400" smtClean="0"/>
              <a:t>to </a:t>
            </a:r>
            <a:r>
              <a:rPr lang="en-US" sz="2400" smtClean="0"/>
              <a:t>41(Extra-30)</a:t>
            </a: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UHC  became the best EOC center  with 98.4% delivery </a:t>
            </a:r>
            <a:r>
              <a:rPr lang="en-US" sz="2400" dirty="0" smtClean="0"/>
              <a:t>rate in 2011.</a:t>
            </a: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</a:t>
            </a:r>
            <a:r>
              <a:rPr lang="en-US" sz="2400" dirty="0"/>
              <a:t>UHC achieved </a:t>
            </a:r>
            <a:r>
              <a:rPr lang="en-US" sz="2400" dirty="0" smtClean="0"/>
              <a:t>MDG target in 2009</a:t>
            </a:r>
            <a:r>
              <a:rPr lang="en-US" sz="2400" dirty="0"/>
              <a:t>. </a:t>
            </a: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Health complex is awarded for best performance in EOC form 2005 to 2014. </a:t>
            </a:r>
          </a:p>
        </p:txBody>
      </p:sp>
    </p:spTree>
    <p:extLst>
      <p:ext uri="{BB962C8B-B14F-4D97-AF65-F5344CB8AC3E}">
        <p14:creationId xmlns:p14="http://schemas.microsoft.com/office/powerpoint/2010/main" val="9918597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/>
              <a:t>Health </a:t>
            </a:r>
            <a:r>
              <a:rPr lang="en-US" sz="4000" dirty="0" smtClean="0"/>
              <a:t>,Nutrition </a:t>
            </a:r>
            <a:r>
              <a:rPr lang="en-US" sz="4000" dirty="0"/>
              <a:t>and population targets for the 7</a:t>
            </a:r>
            <a:r>
              <a:rPr lang="en-US" sz="4000" baseline="30000" dirty="0"/>
              <a:t>th</a:t>
            </a:r>
            <a:r>
              <a:rPr lang="en-US" sz="4000" dirty="0"/>
              <a:t> FYP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077397"/>
              </p:ext>
            </p:extLst>
          </p:nvPr>
        </p:nvGraphicFramePr>
        <p:xfrm>
          <a:off x="0" y="1295399"/>
          <a:ext cx="91440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  <a:gridCol w="4343400"/>
                <a:gridCol w="2514600"/>
                <a:gridCol w="1752600"/>
              </a:tblGrid>
              <a:tr h="101850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Sr</a:t>
                      </a:r>
                      <a:r>
                        <a:rPr lang="en-US" dirty="0" smtClean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Indicator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(Impact/Outcome)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Base year’s information(source with year)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baseline="0" dirty="0" smtClean="0"/>
                        <a:t> FYP target </a:t>
                      </a:r>
                    </a:p>
                    <a:p>
                      <a:r>
                        <a:rPr lang="en-US" baseline="0" dirty="0" smtClean="0"/>
                        <a:t>FY 2020</a:t>
                      </a:r>
                    </a:p>
                    <a:p>
                      <a:endParaRPr lang="en-US" baseline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Life Expectancy at Birth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70.4 (SVRS 2013)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72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Under-five</a:t>
                      </a:r>
                      <a:r>
                        <a:rPr lang="en-US" baseline="0" dirty="0" smtClean="0"/>
                        <a:t> Mortality Rate (per 1,000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46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37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Infant </a:t>
                      </a:r>
                      <a:r>
                        <a:rPr lang="en-US" baseline="0" dirty="0" smtClean="0"/>
                        <a:t>Mortality Rate (per ,1000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38 (BDHS 2014)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Maternal </a:t>
                      </a:r>
                      <a:r>
                        <a:rPr lang="en-US" baseline="0" dirty="0" smtClean="0"/>
                        <a:t>Mortality Ratio(per 100,000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170 (MMEIG 2013)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105</a:t>
                      </a:r>
                      <a:endParaRPr lang="en-US" dirty="0"/>
                    </a:p>
                  </a:txBody>
                  <a:tcPr/>
                </a:tc>
              </a:tr>
              <a:tr h="621192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 of Under Weight among</a:t>
                      </a:r>
                      <a:r>
                        <a:rPr lang="en-US" baseline="0" dirty="0" smtClean="0"/>
                        <a:t> Under-five children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32.6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Proportion of stunting among</a:t>
                      </a:r>
                      <a:r>
                        <a:rPr lang="en-US" baseline="0" dirty="0" smtClean="0"/>
                        <a:t> Under-five children (%)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36.1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9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/>
              <a:t>Health </a:t>
            </a:r>
            <a:r>
              <a:rPr lang="en-US" sz="4000" dirty="0" smtClean="0"/>
              <a:t>,Nutrition </a:t>
            </a:r>
            <a:r>
              <a:rPr lang="en-US" sz="4000" dirty="0"/>
              <a:t>and population targets for the 7</a:t>
            </a:r>
            <a:r>
              <a:rPr lang="en-US" sz="4000" baseline="30000" dirty="0"/>
              <a:t>th</a:t>
            </a:r>
            <a:r>
              <a:rPr lang="en-US" sz="4000" dirty="0"/>
              <a:t> </a:t>
            </a:r>
            <a:r>
              <a:rPr lang="en-US" sz="4000" dirty="0" smtClean="0"/>
              <a:t>FYP</a:t>
            </a:r>
            <a:endParaRPr lang="en-US" sz="40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855438"/>
              </p:ext>
            </p:extLst>
          </p:nvPr>
        </p:nvGraphicFramePr>
        <p:xfrm>
          <a:off x="0" y="1295399"/>
          <a:ext cx="9144000" cy="5114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  <a:gridCol w="4343400"/>
                <a:gridCol w="2514600"/>
                <a:gridCol w="1752600"/>
              </a:tblGrid>
              <a:tr h="114092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Sr</a:t>
                      </a:r>
                      <a:r>
                        <a:rPr lang="en-US" dirty="0" smtClean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Indicator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(Impact/Outcome)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Base year’s information(source with year)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baseline="0" dirty="0" smtClean="0"/>
                        <a:t> FYP target </a:t>
                      </a:r>
                    </a:p>
                    <a:p>
                      <a:r>
                        <a:rPr lang="en-US" baseline="0" dirty="0" smtClean="0"/>
                        <a:t>FY 2020</a:t>
                      </a:r>
                    </a:p>
                    <a:p>
                      <a:endParaRPr lang="en-US" baseline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410349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Total Fertility Rate (Children</a:t>
                      </a:r>
                      <a:r>
                        <a:rPr lang="en-US" baseline="0" dirty="0" smtClean="0"/>
                        <a:t> per Woman)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2.3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2.0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Contraceptive Prevalence</a:t>
                      </a:r>
                      <a:r>
                        <a:rPr lang="en-US" baseline="0" dirty="0" smtClean="0"/>
                        <a:t> Rate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62.4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Proportion of children fully vaccinated by 12 months </a:t>
                      </a:r>
                      <a:r>
                        <a:rPr lang="en-US" baseline="0" dirty="0" smtClean="0"/>
                        <a:t>(%)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78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95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</a:t>
                      </a:r>
                      <a:r>
                        <a:rPr lang="en-US" baseline="0" dirty="0" smtClean="0"/>
                        <a:t> of births attended medically trained provider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42.1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</a:tr>
              <a:tr h="877634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 of births</a:t>
                      </a:r>
                      <a:r>
                        <a:rPr lang="en-US" baseline="0" dirty="0" smtClean="0"/>
                        <a:t> in health facilities by wealth quintiles (Ratio of lowest and highest quantities)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15:69.5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1:3.5</a:t>
                      </a:r>
                      <a:endParaRPr lang="en-US" dirty="0"/>
                    </a:p>
                  </a:txBody>
                  <a:tcPr/>
                </a:tc>
              </a:tr>
              <a:tr h="681064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TB case detection rate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53 (GTR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2014 )                       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00600" y="6477000"/>
            <a:ext cx="4191000" cy="346841"/>
          </a:xfrm>
        </p:spPr>
        <p:txBody>
          <a:bodyPr/>
          <a:lstStyle/>
          <a:p>
            <a:pPr marL="0" indent="0">
              <a:buNone/>
            </a:pPr>
            <a:r>
              <a:rPr lang="en-US" sz="1600" b="1" i="1" dirty="0" smtClean="0"/>
              <a:t>Source: Ministry of Health and Family Welfare</a:t>
            </a:r>
            <a:endParaRPr lang="en-US" sz="1600" b="1" i="1" dirty="0"/>
          </a:p>
        </p:txBody>
      </p:sp>
    </p:spTree>
    <p:extLst>
      <p:ext uri="{BB962C8B-B14F-4D97-AF65-F5344CB8AC3E}">
        <p14:creationId xmlns:p14="http://schemas.microsoft.com/office/powerpoint/2010/main" val="261133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534400" cy="715962"/>
          </a:xfrm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8447" name="Group 7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538287"/>
              </p:ext>
            </p:extLst>
          </p:nvPr>
        </p:nvGraphicFramePr>
        <p:xfrm>
          <a:off x="152401" y="1524000"/>
          <a:ext cx="8686800" cy="5151966"/>
        </p:xfrm>
        <a:graphic>
          <a:graphicData uri="http://schemas.openxmlformats.org/drawingml/2006/table">
            <a:tbl>
              <a:tblPr/>
              <a:tblGrid>
                <a:gridCol w="1534936"/>
                <a:gridCol w="2808464"/>
                <a:gridCol w="2171700"/>
                <a:gridCol w="2171700"/>
              </a:tblGrid>
              <a:tr h="6247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Serial No.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Person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Post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Vacant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Doctor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02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Nurse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63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MLSS, Ward boy,  Ayah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04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Cleaner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05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Guard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Gardener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Electrician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08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Trolley man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 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09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Others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Total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151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31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57"/>
          <p:cNvSpPr>
            <a:spLocks noChangeArrowheads="1"/>
          </p:cNvSpPr>
          <p:nvPr/>
        </p:nvSpPr>
        <p:spPr bwMode="auto">
          <a:xfrm>
            <a:off x="228600" y="723792"/>
            <a:ext cx="85344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Important post of Human Resources</a:t>
            </a:r>
          </a:p>
        </p:txBody>
      </p:sp>
    </p:spTree>
    <p:extLst>
      <p:ext uri="{BB962C8B-B14F-4D97-AF65-F5344CB8AC3E}">
        <p14:creationId xmlns:p14="http://schemas.microsoft.com/office/powerpoint/2010/main" val="85345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2017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929509912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2017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590283279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2296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2017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442999"/>
              </p:ext>
            </p:extLst>
          </p:nvPr>
        </p:nvGraphicFramePr>
        <p:xfrm>
          <a:off x="1143000" y="2057400"/>
          <a:ext cx="6934199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4558568"/>
              </p:ext>
            </p:extLst>
          </p:nvPr>
        </p:nvGraphicFramePr>
        <p:xfrm>
          <a:off x="381000" y="1528465"/>
          <a:ext cx="84582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457200" y="1066800"/>
            <a:ext cx="8305800" cy="461665"/>
          </a:xfrm>
          <a:prstGeom prst="rect">
            <a:avLst/>
          </a:prstGeom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2014 to 2017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26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2017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85172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from 2015 to 2017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290331"/>
              </p:ext>
            </p:extLst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847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53 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20, 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6, 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14 manpower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 supports 10 manpower and an intercom with a cost of nearly two lac taka. 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repaired the boundary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wall and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5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 and donation of a biochemistry analyzer at a cost of 1,15,000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Taka. </a:t>
            </a: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donated a generator for 24 hours OT service    with a cost of nearly 33 thousand taka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457200" indent="-457200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Former-chairman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Jhenidah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Pourosova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supports 2 manpower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the hospital and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town supports 17 man power.</a:t>
            </a:r>
            <a:endParaRPr lang="en-US" sz="2600" b="1" dirty="0" smtClean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83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</a:t>
            </a:r>
            <a:r>
              <a:rPr lang="en-US" sz="2000" b="1" dirty="0" smtClean="0">
                <a:solidFill>
                  <a:schemeClr val="bg1"/>
                </a:solidFill>
              </a:rPr>
              <a:t>Hospital and Introduction </a:t>
            </a:r>
            <a:r>
              <a:rPr lang="en-US" sz="2000" b="1" dirty="0">
                <a:solidFill>
                  <a:schemeClr val="bg1"/>
                </a:solidFill>
              </a:rPr>
              <a:t>of TQM </a:t>
            </a:r>
            <a:r>
              <a:rPr lang="en-US" sz="2000" b="1" dirty="0" smtClean="0">
                <a:solidFill>
                  <a:schemeClr val="bg1"/>
                </a:solidFill>
              </a:rPr>
              <a:t>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3" y="3814916"/>
            <a:ext cx="43037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27206"/>
            <a:ext cx="4303713" cy="29527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685801"/>
            <a:ext cx="4281094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8861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3733800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8900" y="3733800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/>
          <p:cNvSpPr txBox="1">
            <a:spLocks/>
          </p:cNvSpPr>
          <p:nvPr/>
        </p:nvSpPr>
        <p:spPr bwMode="auto">
          <a:xfrm>
            <a:off x="228600" y="152400"/>
            <a:ext cx="86868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smtClean="0">
                <a:solidFill>
                  <a:schemeClr val="bg1"/>
                </a:solidFill>
              </a:rPr>
              <a:t>Changes in Surgery &amp; Pediatric Word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7475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3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8846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 smtClean="0">
                <a:solidFill>
                  <a:srgbClr val="FFFFFF"/>
                </a:solidFill>
              </a:rPr>
              <a:t>Waste </a:t>
            </a:r>
            <a:r>
              <a:rPr lang="en-US" sz="2800" b="1" dirty="0">
                <a:solidFill>
                  <a:srgbClr val="FFFFFF"/>
                </a:solidFill>
              </a:rPr>
              <a:t>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134" name="Right Arrow 9"/>
          <p:cNvSpPr>
            <a:spLocks noChangeArrowheads="1"/>
          </p:cNvSpPr>
          <p:nvPr/>
        </p:nvSpPr>
        <p:spPr bwMode="auto">
          <a:xfrm>
            <a:off x="426720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856038"/>
            <a:ext cx="40132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Office and Hospital </a:t>
            </a:r>
            <a:r>
              <a:rPr lang="en-US" sz="2800" b="1" dirty="0">
                <a:solidFill>
                  <a:schemeClr val="bg1"/>
                </a:solidFill>
              </a:rPr>
              <a:t>I</a:t>
            </a:r>
            <a:r>
              <a:rPr lang="en-US" sz="2800" b="1" dirty="0" smtClean="0">
                <a:solidFill>
                  <a:schemeClr val="bg1"/>
                </a:solidFill>
              </a:rPr>
              <a:t>nternal </a:t>
            </a:r>
            <a:r>
              <a:rPr lang="en-US" sz="2800" b="1" dirty="0">
                <a:solidFill>
                  <a:schemeClr val="bg1"/>
                </a:solidFill>
              </a:rPr>
              <a:t>E</a:t>
            </a:r>
            <a:r>
              <a:rPr lang="en-US" sz="2800" b="1" dirty="0" smtClean="0">
                <a:solidFill>
                  <a:schemeClr val="bg1"/>
                </a:solidFill>
              </a:rPr>
              <a:t>nvironment</a:t>
            </a:r>
          </a:p>
        </p:txBody>
      </p:sp>
      <p:pic>
        <p:nvPicPr>
          <p:cNvPr id="23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832350" y="3781425"/>
            <a:ext cx="3994150" cy="29210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9156" name="Picture 1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88" y="838200"/>
            <a:ext cx="4021137" cy="2743200"/>
          </a:xfrm>
        </p:spPr>
      </p:pic>
      <p:pic>
        <p:nvPicPr>
          <p:cNvPr id="49157" name="Picture 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6638" y="889000"/>
            <a:ext cx="4297362" cy="2616200"/>
          </a:xfrm>
        </p:spPr>
      </p:pic>
      <p:pic>
        <p:nvPicPr>
          <p:cNvPr id="25" name="Content Placeholder 6"/>
          <p:cNvPicPr>
            <a:picLocks noGrp="1" noChangeAspect="1"/>
          </p:cNvPicPr>
          <p:nvPr>
            <p:ph sz="quarter" idx="4294967295"/>
          </p:nvPr>
        </p:nvPicPr>
        <p:blipFill>
          <a:blip r:embed="rId5"/>
          <a:stretch>
            <a:fillRect/>
          </a:stretch>
        </p:blipFill>
        <p:spPr>
          <a:xfrm>
            <a:off x="0" y="3778250"/>
            <a:ext cx="4038600" cy="29781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76200" y="97155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46638" y="1003300"/>
            <a:ext cx="67151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4897438" y="3933825"/>
            <a:ext cx="671512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After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76200" y="3895725"/>
            <a:ext cx="903288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Before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5344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dirty="0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waste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3962400" cy="26035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148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809999"/>
            <a:ext cx="4038600" cy="2908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84162" y="669925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3927929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5" descr="DSC0249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10100" y="852487"/>
            <a:ext cx="4419600" cy="2705100"/>
          </a:xfrm>
          <a:prstGeom prst="rect">
            <a:avLst/>
          </a:prstGeom>
          <a:noFill/>
          <a:ln/>
        </p:spPr>
      </p:pic>
      <p:pic>
        <p:nvPicPr>
          <p:cNvPr id="5" name="Picture 4" descr="DSC0254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407" y="852487"/>
            <a:ext cx="4257675" cy="2705100"/>
          </a:xfrm>
          <a:prstGeom prst="rect">
            <a:avLst/>
          </a:prstGeom>
          <a:noFill/>
          <a:ln/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91407" y="152400"/>
            <a:ext cx="8838293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- 2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3886200"/>
            <a:ext cx="4257675" cy="278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22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10" y="3886200"/>
            <a:ext cx="4133973" cy="2590800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86" y="3886200"/>
            <a:ext cx="4127426" cy="2590800"/>
          </a:xfrm>
        </p:spPr>
      </p:pic>
      <p:pic>
        <p:nvPicPr>
          <p:cNvPr id="11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219200"/>
            <a:ext cx="4038599" cy="2514268"/>
          </a:xfrm>
          <a:prstGeom prst="rect">
            <a:avLst/>
          </a:prstGeom>
        </p:spPr>
      </p:pic>
      <p:pic>
        <p:nvPicPr>
          <p:cNvPr id="7" name="Content Placeholder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4" y="1219200"/>
            <a:ext cx="4114800" cy="2563359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 bwMode="auto">
          <a:xfrm>
            <a:off x="246184" y="464343"/>
            <a:ext cx="8593015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10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36" y="1066800"/>
            <a:ext cx="4342829" cy="2514599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990600"/>
            <a:ext cx="4041775" cy="2667000"/>
          </a:xfrm>
        </p:spPr>
      </p:pic>
      <p:pic>
        <p:nvPicPr>
          <p:cNvPr id="12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3886198"/>
            <a:ext cx="4041606" cy="2819401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04798" y="457200"/>
            <a:ext cx="8537491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- 4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Content Placeholder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71" y="3886198"/>
            <a:ext cx="4293029" cy="281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10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4176713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8" y="914400"/>
            <a:ext cx="4532312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114800"/>
            <a:ext cx="4495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4800"/>
            <a:ext cx="4257675" cy="2743200"/>
          </a:xfr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- 5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31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847725"/>
            <a:ext cx="4652963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8200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3981451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3962400"/>
            <a:ext cx="4662489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dministrator &amp; Mayor in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98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69490" y="601354"/>
            <a:ext cx="4191000" cy="2827646"/>
          </a:xfr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81" y="3599597"/>
            <a:ext cx="4343401" cy="2846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69" y="609600"/>
            <a:ext cx="4183626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581400"/>
            <a:ext cx="4237232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district high officials in hospital activities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26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1837" y="3895725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3900487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122237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QIC meeting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4637087" y="3930816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 Sadar Hospital, Jhenaidah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Active </a:t>
            </a:r>
            <a:r>
              <a:rPr lang="en-US" b="1" dirty="0"/>
              <a:t>C</a:t>
            </a:r>
            <a:r>
              <a:rPr lang="en-US" b="1" dirty="0" smtClean="0"/>
              <a:t>ommunity Participation in health service is an example in </a:t>
            </a:r>
            <a:r>
              <a:rPr lang="en-US" b="1" dirty="0" err="1" smtClean="0"/>
              <a:t>Bangldesh</a:t>
            </a:r>
            <a:r>
              <a:rPr lang="en-US" b="1" dirty="0" smtClean="0"/>
              <a:t>.</a:t>
            </a:r>
          </a:p>
          <a:p>
            <a:pPr marL="0" algn="just">
              <a:defRPr/>
            </a:pPr>
            <a:r>
              <a:rPr lang="en-US" dirty="0" smtClean="0"/>
              <a:t> </a:t>
            </a:r>
          </a:p>
          <a:p>
            <a:pPr marL="0" algn="just">
              <a:defRPr/>
            </a:pPr>
            <a:r>
              <a:rPr lang="en-US" b="1" dirty="0" smtClean="0"/>
              <a:t>2. Improved   </a:t>
            </a:r>
            <a:r>
              <a:rPr lang="en-US" b="1" dirty="0"/>
              <a:t>p</a:t>
            </a:r>
            <a:r>
              <a:rPr lang="en-US" b="1" dirty="0" smtClean="0"/>
              <a:t>erformance  of all services specially Pediatric, </a:t>
            </a:r>
            <a:r>
              <a:rPr lang="en-US" b="1" dirty="0"/>
              <a:t>o</a:t>
            </a:r>
            <a:r>
              <a:rPr lang="en-US" b="1" dirty="0" smtClean="0"/>
              <a:t>bstetric, operation and outdoor service.</a:t>
            </a:r>
            <a:endParaRPr lang="en-US" b="1" dirty="0"/>
          </a:p>
          <a:p>
            <a:pPr marL="0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b="1" dirty="0"/>
              <a:t>. Improved Cleanliness and </a:t>
            </a:r>
            <a:r>
              <a:rPr lang="en-US" b="1" dirty="0" smtClean="0"/>
              <a:t>Beautification of Campus.</a:t>
            </a:r>
            <a:endParaRPr lang="en-US" b="1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4. </a:t>
            </a:r>
            <a:r>
              <a:rPr lang="en-US" b="1" dirty="0"/>
              <a:t>Functioning </a:t>
            </a:r>
            <a:r>
              <a:rPr lang="en-US" b="1" dirty="0" smtClean="0"/>
              <a:t>of X-Ray service and starting of Biochemistry investigation by local initiatives.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Piloting of “Model  District Hospital” is running in Jhenaidah Sadar Hospital.</a:t>
            </a:r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 smtClean="0"/>
              <a:t>8. </a:t>
            </a:r>
            <a:r>
              <a:rPr lang="en-US" b="1" dirty="0"/>
              <a:t>The hospital is </a:t>
            </a:r>
            <a:r>
              <a:rPr lang="en-US" b="1" dirty="0" smtClean="0"/>
              <a:t>awarded 5 </a:t>
            </a:r>
            <a:r>
              <a:rPr lang="en-US" b="1" dirty="0"/>
              <a:t>times from 2013 to </a:t>
            </a:r>
            <a:r>
              <a:rPr lang="en-US" b="1" dirty="0" smtClean="0"/>
              <a:t>2017. </a:t>
            </a:r>
            <a:r>
              <a:rPr lang="en-US" b="1" dirty="0"/>
              <a:t>Stood first award by 5S-KAIZEN-TQM among the 100 bedded district hospitals by defeating </a:t>
            </a:r>
            <a:r>
              <a:rPr lang="en-US" b="1" dirty="0" err="1" smtClean="0"/>
              <a:t>Norsindi</a:t>
            </a:r>
            <a:r>
              <a:rPr lang="en-US" b="1" dirty="0" smtClean="0"/>
              <a:t> </a:t>
            </a:r>
            <a:r>
              <a:rPr lang="en-US" b="1" dirty="0"/>
              <a:t>Sadar Hospital.</a:t>
            </a:r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2275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GB" sz="3600" dirty="0" smtClean="0">
                <a:solidFill>
                  <a:srgbClr val="FF0000"/>
                </a:solidFill>
              </a:rPr>
              <a:t>Experience in </a:t>
            </a:r>
            <a:r>
              <a:rPr lang="en-GB" sz="3600" dirty="0" err="1" smtClean="0">
                <a:solidFill>
                  <a:srgbClr val="FF0000"/>
                </a:solidFill>
              </a:rPr>
              <a:t>Srilanka</a:t>
            </a:r>
            <a:endParaRPr lang="en-GB" sz="3600" dirty="0">
              <a:solidFill>
                <a:srgbClr val="FF0000"/>
              </a:solidFill>
            </a:endParaRPr>
          </a:p>
        </p:txBody>
      </p:sp>
      <p:pic>
        <p:nvPicPr>
          <p:cNvPr id="35842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6800"/>
            <a:ext cx="4038600" cy="2667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015" y="1143001"/>
            <a:ext cx="4572000" cy="26669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2" y="3962400"/>
            <a:ext cx="4038601" cy="28738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3719" y="4038600"/>
            <a:ext cx="4572000" cy="28068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6942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GB" sz="3600" dirty="0" smtClean="0">
                <a:solidFill>
                  <a:srgbClr val="FF0000"/>
                </a:solidFill>
              </a:rPr>
              <a:t>Experience in Tanzania</a:t>
            </a:r>
            <a:endParaRPr lang="en-GB" sz="3600" dirty="0">
              <a:solidFill>
                <a:srgbClr val="FF0000"/>
              </a:solidFill>
            </a:endParaRPr>
          </a:p>
        </p:txBody>
      </p:sp>
      <p:pic>
        <p:nvPicPr>
          <p:cNvPr id="3481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62400"/>
            <a:ext cx="4038600" cy="2895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066800"/>
            <a:ext cx="4572000" cy="2667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2" descr="DSC03544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472" y="989462"/>
            <a:ext cx="4038600" cy="27443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482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2430" y="3962400"/>
            <a:ext cx="4449170" cy="2895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6025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9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667000"/>
            <a:ext cx="4038600" cy="3105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0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667000"/>
            <a:ext cx="4038600" cy="3028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ex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600" dirty="0" smtClean="0">
                <a:solidFill>
                  <a:srgbClr val="FF0000"/>
                </a:solidFill>
              </a:rPr>
              <a:t>Experience in  </a:t>
            </a:r>
            <a:r>
              <a:rPr lang="en-GB" sz="3600" dirty="0">
                <a:solidFill>
                  <a:srgbClr val="FF0000"/>
                </a:solidFill>
              </a:rPr>
              <a:t>Malaysia</a:t>
            </a:r>
          </a:p>
        </p:txBody>
      </p:sp>
    </p:spTree>
    <p:extLst>
      <p:ext uri="{BB962C8B-B14F-4D97-AF65-F5344CB8AC3E}">
        <p14:creationId xmlns:p14="http://schemas.microsoft.com/office/powerpoint/2010/main" val="965435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057400"/>
            <a:ext cx="4278566" cy="3124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057400"/>
            <a:ext cx="4038600" cy="31743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ex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600" smtClean="0">
                <a:solidFill>
                  <a:srgbClr val="FF0000"/>
                </a:solidFill>
              </a:rPr>
              <a:t>Experience in Thailand</a:t>
            </a:r>
            <a:endParaRPr lang="en-GB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526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0" y="1219200"/>
            <a:ext cx="9126940" cy="56388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Post of consultants of eye, anesthesia should be fulfilled immediately.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The repairing and maintenance of hospital building authority should be shifted from HED to PWD.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Oxygen plant should be repaired immediately and a manpower should be engaged.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Separation of words where the number of consultants is more than one.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Condemnation of unwanted items should be done immediately.</a:t>
            </a:r>
            <a:endParaRPr lang="en-US" sz="2400" dirty="0"/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The campus should be cleaned.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Medical technologist lab should be appointed immediately in blood bank.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Problems of The Hospital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641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Activities Done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59006"/>
            <a:ext cx="9144000" cy="5598994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Health education in three places with community response.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Established NCD corner 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Arrangement of effective pediatric </a:t>
            </a:r>
            <a:r>
              <a:rPr lang="en-US" dirty="0"/>
              <a:t>o</a:t>
            </a:r>
            <a:r>
              <a:rPr lang="en-US" dirty="0" smtClean="0"/>
              <a:t>utdoor.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Digital disease profiling  system in every word.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24 hours EOC service.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Effective post-natal care.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construction work of 250 bedded </a:t>
            </a:r>
            <a:r>
              <a:rPr lang="en-US" dirty="0" smtClean="0"/>
              <a:t>has started.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66246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0" y="1219200"/>
            <a:ext cx="9126940" cy="56388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514350" indent="-514350">
              <a:buFont typeface="+mj-lt"/>
              <a:buAutoNum type="arabicPeriod" startAt="8"/>
            </a:pPr>
            <a:r>
              <a:rPr lang="en-US" dirty="0"/>
              <a:t>Improved infection control system.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US" dirty="0"/>
              <a:t>Emergency use of ECG, </a:t>
            </a:r>
            <a:r>
              <a:rPr lang="en-US" dirty="0" smtClean="0"/>
              <a:t>pulse-</a:t>
            </a:r>
            <a:r>
              <a:rPr lang="en-US" dirty="0" err="1" smtClean="0"/>
              <a:t>oxymeter</a:t>
            </a:r>
            <a:r>
              <a:rPr lang="en-US" dirty="0"/>
              <a:t>, glucometer</a:t>
            </a:r>
            <a:r>
              <a:rPr lang="en-US" dirty="0" smtClean="0"/>
              <a:t>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Everyday ultrasonography service.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Arrangement of effective training of MA by creating adaptable environment.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Established representative control system.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Established gate-pass system to control visitor.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Removal of unnecessary bill boards and improved beautification.</a:t>
            </a:r>
          </a:p>
          <a:p>
            <a:pPr marL="0" indent="0" algn="just">
              <a:buNone/>
            </a:pPr>
            <a:endParaRPr lang="en-US" sz="28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Activities Done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356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73539543"/>
              </p:ext>
            </p:extLst>
          </p:nvPr>
        </p:nvGraphicFramePr>
        <p:xfrm>
          <a:off x="428768" y="1828800"/>
          <a:ext cx="8153399" cy="384970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87865"/>
                <a:gridCol w="3194870"/>
                <a:gridCol w="922497"/>
                <a:gridCol w="930031"/>
                <a:gridCol w="1136341"/>
                <a:gridCol w="1181795"/>
              </a:tblGrid>
              <a:tr h="710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ANC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01.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Jhenaidah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Sadar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 Hospital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15360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1839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1143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2997</a:t>
                      </a: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13152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1778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2967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18650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2163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759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2922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6977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1455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1228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2683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637773">
                <a:tc>
                  <a:txBody>
                    <a:bodyPr/>
                    <a:lstStyle/>
                    <a:p>
                      <a:r>
                        <a:rPr lang="en-GB" sz="1600" b="1" baseline="0" dirty="0" smtClean="0"/>
                        <a:t>   </a:t>
                      </a:r>
                      <a:r>
                        <a:rPr lang="en-GB" sz="1800" b="1" baseline="0" dirty="0" smtClean="0"/>
                        <a:t>05.</a:t>
                      </a:r>
                      <a:endParaRPr lang="en-GB" sz="1600" b="1" dirty="0"/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r>
                        <a:rPr lang="en-GB" sz="1600" b="1" dirty="0" smtClean="0"/>
                        <a:t>250</a:t>
                      </a:r>
                      <a:r>
                        <a:rPr lang="en-GB" sz="1600" b="1" baseline="0" dirty="0" smtClean="0"/>
                        <a:t> Bedded Hospital, </a:t>
                      </a:r>
                      <a:r>
                        <a:rPr lang="en-GB" sz="1600" b="1" baseline="0" dirty="0" err="1" smtClean="0"/>
                        <a:t>Kushtia</a:t>
                      </a:r>
                      <a:endParaRPr lang="en-GB" sz="1600" b="1" dirty="0"/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>
                          <a:latin typeface="+mn-lt"/>
                        </a:rPr>
                        <a:t>4735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>
                          <a:latin typeface="+mn-lt"/>
                        </a:rPr>
                        <a:t>1595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>
                          <a:latin typeface="+mn-lt"/>
                        </a:rPr>
                        <a:t>919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baseline="0" dirty="0" smtClean="0">
                          <a:latin typeface="+mn-lt"/>
                        </a:rPr>
                        <a:t>2514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09" marB="45709" horzOverflow="overflow"/>
                </a:tc>
              </a:tr>
              <a:tr h="86583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06.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28767" y="381000"/>
            <a:ext cx="8153400" cy="889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latin typeface="Arial" charset="0"/>
                <a:cs typeface="Arial" charset="0"/>
              </a:rPr>
              <a:t>Comparative Data of Delivery of best performing EOC center of Khulna Division in </a:t>
            </a:r>
            <a:r>
              <a:rPr lang="en-US" sz="2400" dirty="0" smtClean="0">
                <a:solidFill>
                  <a:srgbClr val="3333CC"/>
                </a:solidFill>
                <a:latin typeface="Arial" charset="0"/>
                <a:cs typeface="Arial" charset="0"/>
              </a:rPr>
              <a:t>2017</a:t>
            </a:r>
            <a:endParaRPr lang="en-US" sz="2400" dirty="0">
              <a:solidFill>
                <a:srgbClr val="3333CC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189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2872</TotalTime>
  <Words>1673</Words>
  <Application>Microsoft Office PowerPoint</Application>
  <PresentationFormat>On-screen Show (4:3)</PresentationFormat>
  <Paragraphs>550</Paragraphs>
  <Slides>55</Slides>
  <Notes>15</Notes>
  <HiddenSlides>0</HiddenSlides>
  <MMClips>0</MMClips>
  <ScaleCrop>false</ScaleCrop>
  <HeadingPairs>
    <vt:vector size="6" baseType="variant"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9" baseType="lpstr">
      <vt:lpstr>5_シック</vt:lpstr>
      <vt:lpstr>Office Theme</vt:lpstr>
      <vt:lpstr>1_Office Theme</vt:lpstr>
      <vt:lpstr>Chart</vt:lpstr>
      <vt:lpstr>PowerPoint Presentation</vt:lpstr>
      <vt:lpstr>PowerPoint Presentation</vt:lpstr>
      <vt:lpstr>PowerPoint Presentation</vt:lpstr>
      <vt:lpstr>PowerPoint Presentation</vt:lpstr>
      <vt:lpstr>A Sub-district level Women-Friendly Hospital with a Vision …</vt:lpstr>
      <vt:lpstr>PowerPoint Presentation</vt:lpstr>
      <vt:lpstr>PowerPoint Presentation</vt:lpstr>
      <vt:lpstr>PowerPoint Presentation</vt:lpstr>
      <vt:lpstr>Upazila Health  Complex CHOWGACHA , JESSORE.</vt:lpstr>
      <vt:lpstr>Upazila Health  Complex CHOWGACHA , JESSORE.</vt:lpstr>
      <vt:lpstr>Upazila Health  Complex CHOWGACHA , JESSORE.</vt:lpstr>
      <vt:lpstr>Upazila Health  Complex CHOWGACHA , JESSORE.</vt:lpstr>
      <vt:lpstr>Upazilla Health  Complex CHOWGACHA , JESSORE.</vt:lpstr>
      <vt:lpstr>MDG 4 and 5 Achieved at Chowgacha in 2009</vt:lpstr>
      <vt:lpstr>Achievement of Chowgacha Health Complex</vt:lpstr>
      <vt:lpstr>PowerPoint Presentation</vt:lpstr>
      <vt:lpstr>100 kh¨v wewkó m`i nvmcvZvj, wSbvB`n</vt:lpstr>
      <vt:lpstr>Health ,Nutrition and population targets for the 7th FYP</vt:lpstr>
      <vt:lpstr>Health ,Nutrition and population targets for the 7th FYP</vt:lpstr>
      <vt:lpstr>Sadar Hospital, Jhenaidah</vt:lpstr>
      <vt:lpstr>PowerPoint Presentation</vt:lpstr>
      <vt:lpstr>Emergency &amp; Out Door, Indoor  Service 1998 to 2017</vt:lpstr>
      <vt:lpstr>Operation Service (Major) 2011 to 2017</vt:lpstr>
      <vt:lpstr>PowerPoint Presentation</vt:lpstr>
      <vt:lpstr>3 best performing EmOC Hospital in Khulna division - 2017</vt:lpstr>
      <vt:lpstr>  Comparative data of revenue income (in Taka) from 2015 to 2017 </vt:lpstr>
      <vt:lpstr>PowerPoint Presentation</vt:lpstr>
      <vt:lpstr>PowerPoint Presentation</vt:lpstr>
      <vt:lpstr>Changes in EOC Ward</vt:lpstr>
      <vt:lpstr>PowerPoint Presentation</vt:lpstr>
      <vt:lpstr>Changes in Gardens of The Hospital</vt:lpstr>
      <vt:lpstr>PowerPoint Presentation</vt:lpstr>
      <vt:lpstr>Changes in Office and Hospital Internal Environment</vt:lpstr>
      <vt:lpstr>Use of direction sign, labeling of rooms, clean latrine and waste segregation</vt:lpstr>
      <vt:lpstr>Use of color code, alignment of picture &amp; continuous big cleaning day</vt:lpstr>
      <vt:lpstr>Innovative activities of Jhenaidah Sadar Hospital - 1</vt:lpstr>
      <vt:lpstr>PowerPoint Presentation</vt:lpstr>
      <vt:lpstr>PowerPoint Presentation</vt:lpstr>
      <vt:lpstr>Innovative activities of Jhenaidah Sadar Hospital - 4</vt:lpstr>
      <vt:lpstr>Innovative activities of Jhenaidah Sadar Hospital - 5</vt:lpstr>
      <vt:lpstr>Involvement of MP, District Administrator &amp; Mayor in Sadar Hospital</vt:lpstr>
      <vt:lpstr>Involvement of district high officials in hospital activities </vt:lpstr>
      <vt:lpstr>Internal Monitoring System</vt:lpstr>
      <vt:lpstr>PowerPoint Presentation</vt:lpstr>
      <vt:lpstr>Hospital Environment</vt:lpstr>
      <vt:lpstr>PowerPoint Presentation</vt:lpstr>
      <vt:lpstr>PowerPoint Presentation</vt:lpstr>
      <vt:lpstr>Experience in Srilanka</vt:lpstr>
      <vt:lpstr>Experience in Tanzania</vt:lpstr>
      <vt:lpstr>PowerPoint Presentation</vt:lpstr>
      <vt:lpstr>PowerPoint Presentation</vt:lpstr>
      <vt:lpstr>Problems of The Hospital</vt:lpstr>
      <vt:lpstr>Activities Done</vt:lpstr>
      <vt:lpstr>Activities Done</vt:lpstr>
      <vt:lpstr>PowerPoint Presentation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409</cp:revision>
  <cp:lastPrinted>2017-03-18T23:47:54Z</cp:lastPrinted>
  <dcterms:created xsi:type="dcterms:W3CDTF">2013-05-05T09:56:19Z</dcterms:created>
  <dcterms:modified xsi:type="dcterms:W3CDTF">2020-09-01T16:11:34Z</dcterms:modified>
</cp:coreProperties>
</file>