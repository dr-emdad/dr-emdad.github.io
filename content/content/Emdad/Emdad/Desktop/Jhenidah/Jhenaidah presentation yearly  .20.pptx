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wav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drawings/drawing1.xml" ContentType="application/vnd.openxmlformats-officedocument.drawingml.chartshapes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theme/themeOverride1.xml" ContentType="application/vnd.openxmlformats-officedocument.themeOverride+xml"/>
  <Override PartName="/ppt/drawings/drawing2.xml" ContentType="application/vnd.openxmlformats-officedocument.drawingml.chartshapes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drawings/drawing3.xml" ContentType="application/vnd.openxmlformats-officedocument.drawingml.chartshapes+xml"/>
  <Override PartName="/ppt/charts/chart10.xml" ContentType="application/vnd.openxmlformats-officedocument.drawingml.chart+xml"/>
  <Override PartName="/ppt/drawings/drawing4.xml" ContentType="application/vnd.openxmlformats-officedocument.drawingml.chartshapes+xml"/>
  <Override PartName="/ppt/charts/chart11.xml" ContentType="application/vnd.openxmlformats-officedocument.drawingml.chart+xml"/>
  <Override PartName="/ppt/drawings/drawing5.xml" ContentType="application/vnd.openxmlformats-officedocument.drawingml.chartshapes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9" r:id="rId1"/>
  </p:sldMasterIdLst>
  <p:notesMasterIdLst>
    <p:notesMasterId r:id="rId39"/>
  </p:notesMasterIdLst>
  <p:handoutMasterIdLst>
    <p:handoutMasterId r:id="rId40"/>
  </p:handoutMasterIdLst>
  <p:sldIdLst>
    <p:sldId id="423" r:id="rId2"/>
    <p:sldId id="404" r:id="rId3"/>
    <p:sldId id="405" r:id="rId4"/>
    <p:sldId id="448" r:id="rId5"/>
    <p:sldId id="327" r:id="rId6"/>
    <p:sldId id="451" r:id="rId7"/>
    <p:sldId id="417" r:id="rId8"/>
    <p:sldId id="452" r:id="rId9"/>
    <p:sldId id="352" r:id="rId10"/>
    <p:sldId id="328" r:id="rId11"/>
    <p:sldId id="408" r:id="rId12"/>
    <p:sldId id="401" r:id="rId13"/>
    <p:sldId id="351" r:id="rId14"/>
    <p:sldId id="410" r:id="rId15"/>
    <p:sldId id="419" r:id="rId16"/>
    <p:sldId id="346" r:id="rId17"/>
    <p:sldId id="424" r:id="rId18"/>
    <p:sldId id="362" r:id="rId19"/>
    <p:sldId id="440" r:id="rId20"/>
    <p:sldId id="443" r:id="rId21"/>
    <p:sldId id="425" r:id="rId22"/>
    <p:sldId id="433" r:id="rId23"/>
    <p:sldId id="432" r:id="rId24"/>
    <p:sldId id="363" r:id="rId25"/>
    <p:sldId id="293" r:id="rId26"/>
    <p:sldId id="431" r:id="rId27"/>
    <p:sldId id="430" r:id="rId28"/>
    <p:sldId id="444" r:id="rId29"/>
    <p:sldId id="445" r:id="rId30"/>
    <p:sldId id="446" r:id="rId31"/>
    <p:sldId id="441" r:id="rId32"/>
    <p:sldId id="447" r:id="rId33"/>
    <p:sldId id="372" r:id="rId34"/>
    <p:sldId id="297" r:id="rId35"/>
    <p:sldId id="294" r:id="rId36"/>
    <p:sldId id="428" r:id="rId37"/>
    <p:sldId id="344" r:id="rId38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EEE00"/>
    <a:srgbClr val="33CC33"/>
    <a:srgbClr val="0C7E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44" autoAdjust="0"/>
    <p:restoredTop sz="91860" autoAdjust="0"/>
  </p:normalViewPr>
  <p:slideViewPr>
    <p:cSldViewPr>
      <p:cViewPr>
        <p:scale>
          <a:sx n="52" d="100"/>
          <a:sy n="52" d="100"/>
        </p:scale>
        <p:origin x="-2118" y="-4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image" Target="../media/image7.jpeg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.xlsx"/><Relationship Id="rId1" Type="http://schemas.openxmlformats.org/officeDocument/2006/relationships/image" Target="../media/image9.jpeg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1.xml"/><Relationship Id="rId2" Type="http://schemas.openxmlformats.org/officeDocument/2006/relationships/oleObject" Target="file:///C:\Users\USER\Desktop\Chart\Outcome%20report%2018.xlsx" TargetMode="External"/><Relationship Id="rId1" Type="http://schemas.openxmlformats.org/officeDocument/2006/relationships/image" Target="../media/image7.jpeg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Chart\Covid-19%20report%2020.xlsx" TargetMode="External"/><Relationship Id="rId2" Type="http://schemas.openxmlformats.org/officeDocument/2006/relationships/image" Target="../media/image10.jpeg"/><Relationship Id="rId1" Type="http://schemas.openxmlformats.org/officeDocument/2006/relationships/themeOverride" Target="../theme/themeOverride1.xml"/><Relationship Id="rId4" Type="http://schemas.openxmlformats.org/officeDocument/2006/relationships/chartUserShapes" Target="../drawings/drawing2.xml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3.xlsx"/><Relationship Id="rId1" Type="http://schemas.openxmlformats.org/officeDocument/2006/relationships/image" Target="../media/image8.jpeg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4.xlsx"/><Relationship Id="rId1" Type="http://schemas.openxmlformats.org/officeDocument/2006/relationships/image" Target="../media/image11.jpeg"/></Relationships>
</file>

<file path=ppt/charts/_rels/chart7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USER\Desktop\Chart\Operation.xlsx" TargetMode="External"/><Relationship Id="rId1" Type="http://schemas.openxmlformats.org/officeDocument/2006/relationships/image" Target="../media/image12.jpeg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Chart\EOC.xlsx" TargetMode="External"/><Relationship Id="rId2" Type="http://schemas.openxmlformats.org/officeDocument/2006/relationships/image" Target="../media/image13.jpeg"/><Relationship Id="rId1" Type="http://schemas.openxmlformats.org/officeDocument/2006/relationships/image" Target="../media/image9.jpeg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openxmlformats.org/officeDocument/2006/relationships/image" Target="../media/image7.jpeg"/><Relationship Id="rId1" Type="http://schemas.openxmlformats.org/officeDocument/2006/relationships/image" Target="../media/image14.jpeg"/><Relationship Id="rId4" Type="http://schemas.openxmlformats.org/officeDocument/2006/relationships/chartUserShapes" Target="../drawings/drawing3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Chart\Death%20repoet.xlsx" TargetMode="External"/><Relationship Id="rId2" Type="http://schemas.openxmlformats.org/officeDocument/2006/relationships/image" Target="../media/image9.jpeg"/><Relationship Id="rId1" Type="http://schemas.openxmlformats.org/officeDocument/2006/relationships/image" Target="../media/image1.jpeg"/><Relationship Id="rId4" Type="http://schemas.openxmlformats.org/officeDocument/2006/relationships/chartUserShapes" Target="../drawings/drawing4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5.xml"/><Relationship Id="rId2" Type="http://schemas.openxmlformats.org/officeDocument/2006/relationships/oleObject" Target="file:///C:\Users\USER\Desktop\Chart\Outcome%20report%2018%20(2)-.xlsx" TargetMode="External"/><Relationship Id="rId1" Type="http://schemas.openxmlformats.org/officeDocument/2006/relationships/image" Target="../media/image4.jpeg"/></Relationships>
</file>

<file path=ppt/charts/_rels/chart1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6.xlsx"/><Relationship Id="rId1" Type="http://schemas.openxmlformats.org/officeDocument/2006/relationships/image" Target="../media/image4.jpeg"/></Relationships>
</file>

<file path=ppt/charts/_rels/chart13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USER\Desktop\Chart\Income%20Monthly.xlsx" TargetMode="External"/><Relationship Id="rId1" Type="http://schemas.openxmlformats.org/officeDocument/2006/relationships/image" Target="../media/image4.jpeg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1.0174150528481239E-3"/>
          <c:w val="1"/>
          <c:h val="0.8941097396609207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sz="16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Sheet1!$A$2:$A$11</c:f>
              <c:numCache>
                <c:formatCode>General</c:formatCode>
                <c:ptCount val="10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  <c:pt idx="6">
                  <c:v>340932</c:v>
                </c:pt>
                <c:pt idx="7">
                  <c:v>384928</c:v>
                </c:pt>
                <c:pt idx="8">
                  <c:v>407474</c:v>
                </c:pt>
                <c:pt idx="9">
                  <c:v>267724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dLbl>
              <c:idx val="4"/>
              <c:layout>
                <c:manualLayout>
                  <c:x val="6.2305295950157435E-3"/>
                  <c:y val="-1.111111111111122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6.2305295950157435E-3"/>
                  <c:y val="8.333333333333336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layout>
                <c:manualLayout>
                  <c:x val="-1.0708427071616101E-3"/>
                  <c:y val="-1.38564222440944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layout>
                <c:manualLayout>
                  <c:x val="-6.5370734908138859E-4"/>
                  <c:y val="-1.25793553149606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-5400000" vert="horz"/>
              <a:lstStyle/>
              <a:p>
                <a:pPr>
                  <a:defRPr sz="16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Sheet1!$A$2:$A$11</c:f>
              <c:numCache>
                <c:formatCode>General</c:formatCode>
                <c:ptCount val="10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</c:numCache>
            </c:num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  <c:pt idx="6">
                  <c:v>35569</c:v>
                </c:pt>
                <c:pt idx="7">
                  <c:v>37096</c:v>
                </c:pt>
                <c:pt idx="8">
                  <c:v>42551</c:v>
                </c:pt>
                <c:pt idx="9">
                  <c:v>27989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857472"/>
        <c:axId val="10863360"/>
      </c:barChart>
      <c:catAx>
        <c:axId val="108574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0863360"/>
        <c:crosses val="autoZero"/>
        <c:auto val="1"/>
        <c:lblAlgn val="ctr"/>
        <c:lblOffset val="100"/>
        <c:noMultiLvlLbl val="0"/>
      </c:catAx>
      <c:valAx>
        <c:axId val="1086336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0857472"/>
        <c:crosses val="autoZero"/>
        <c:crossBetween val="between"/>
      </c:valAx>
      <c:spPr>
        <a:blipFill>
          <a:blip xmlns:r="http://schemas.openxmlformats.org/officeDocument/2006/relationships" r:embed="rId1"/>
          <a:tile tx="0" ty="0" sx="100000" sy="100000" flip="none" algn="tl"/>
        </a:blipFill>
        <a:ln w="25400">
          <a:noFill/>
        </a:ln>
      </c:spPr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0.888948835099318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txPr>
              <a:bodyPr/>
              <a:lstStyle/>
              <a:p>
                <a:pPr>
                  <a:defRPr sz="20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</c:numCache>
            </c:numRef>
          </c:cat>
          <c:val>
            <c:numRef>
              <c:f>Sheet1!$B$2:$B$10</c:f>
              <c:numCache>
                <c:formatCode>0%</c:formatCode>
                <c:ptCount val="9"/>
                <c:pt idx="0">
                  <c:v>1.26</c:v>
                </c:pt>
                <c:pt idx="1">
                  <c:v>1.46</c:v>
                </c:pt>
                <c:pt idx="2">
                  <c:v>1.6500000000000001</c:v>
                </c:pt>
                <c:pt idx="3">
                  <c:v>1.930000000000009</c:v>
                </c:pt>
                <c:pt idx="4">
                  <c:v>2.14</c:v>
                </c:pt>
                <c:pt idx="5">
                  <c:v>2.42</c:v>
                </c:pt>
                <c:pt idx="6">
                  <c:v>2.5099999999999998</c:v>
                </c:pt>
                <c:pt idx="7">
                  <c:v>2.88</c:v>
                </c:pt>
                <c:pt idx="8">
                  <c:v>1.85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889472"/>
        <c:axId val="10936320"/>
      </c:barChart>
      <c:catAx>
        <c:axId val="108894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2400" baseline="0"/>
            </a:pPr>
            <a:endParaRPr lang="en-US"/>
          </a:p>
        </c:txPr>
        <c:crossAx val="10936320"/>
        <c:crosses val="autoZero"/>
        <c:auto val="1"/>
        <c:lblAlgn val="ctr"/>
        <c:lblOffset val="100"/>
        <c:noMultiLvlLbl val="0"/>
      </c:catAx>
      <c:valAx>
        <c:axId val="10936320"/>
        <c:scaling>
          <c:orientation val="minMax"/>
        </c:scaling>
        <c:delete val="1"/>
        <c:axPos val="l"/>
        <c:majorGridlines/>
        <c:numFmt formatCode="0%" sourceLinked="1"/>
        <c:majorTickMark val="out"/>
        <c:minorTickMark val="none"/>
        <c:tickLblPos val="nextTo"/>
        <c:crossAx val="10889472"/>
        <c:crosses val="autoZero"/>
        <c:crossBetween val="between"/>
      </c:valAx>
      <c:spPr>
        <a:solidFill>
          <a:srgbClr val="92D050"/>
        </a:solidFill>
      </c:spPr>
    </c:plotArea>
    <c:plotVisOnly val="1"/>
    <c:dispBlanksAs val="gap"/>
    <c:showDLblsOverMax val="0"/>
  </c:chart>
  <c:spPr>
    <a:blipFill>
      <a:blip xmlns:r="http://schemas.openxmlformats.org/officeDocument/2006/relationships" r:embed="rId1"/>
      <a:tile tx="0" ty="0" sx="100000" sy="100000" flip="none" algn="tl"/>
    </a:blipFill>
  </c:spPr>
  <c:txPr>
    <a:bodyPr/>
    <a:lstStyle/>
    <a:p>
      <a:pPr>
        <a:defRPr sz="1800" b="1"/>
      </a:pPr>
      <a:endParaRPr lang="en-US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sz="3200" dirty="0" smtClean="0"/>
              <a:t>Ward Wise Admission Report 2020</a:t>
            </a:r>
            <a:endParaRPr lang="en-US" sz="3200" dirty="0"/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explosion val="8"/>
          <c:dPt>
            <c:idx val="4"/>
            <c:bubble3D val="0"/>
            <c:explosion val="9"/>
          </c:dPt>
          <c:dLbls>
            <c:dLbl>
              <c:idx val="0"/>
              <c:layout>
                <c:manualLayout>
                  <c:x val="-8.1447506561680066E-2"/>
                  <c:y val="0.18401246719160363"/>
                </c:manualLayout>
              </c:layout>
              <c:showLegendKey val="0"/>
              <c:showVal val="1"/>
              <c:showCatName val="1"/>
              <c:showSerName val="0"/>
              <c:showPercent val="1"/>
              <c:showBubbleSize val="0"/>
            </c:dLbl>
            <c:txPr>
              <a:bodyPr/>
              <a:lstStyle/>
              <a:p>
                <a:pPr>
                  <a:defRPr sz="2000" baseline="0"/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1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MMW</c:v>
                </c:pt>
                <c:pt idx="1">
                  <c:v>MSW</c:v>
                </c:pt>
                <c:pt idx="2">
                  <c:v>FMW</c:v>
                </c:pt>
                <c:pt idx="3">
                  <c:v>FSW</c:v>
                </c:pt>
                <c:pt idx="4">
                  <c:v>EOC</c:v>
                </c:pt>
                <c:pt idx="5">
                  <c:v>DIARRHEA</c:v>
                </c:pt>
                <c:pt idx="6">
                  <c:v>CHILD 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5075</c:v>
                </c:pt>
                <c:pt idx="1">
                  <c:v>3717</c:v>
                </c:pt>
                <c:pt idx="2">
                  <c:v>5676</c:v>
                </c:pt>
                <c:pt idx="3">
                  <c:v>2707</c:v>
                </c:pt>
                <c:pt idx="4">
                  <c:v>5729</c:v>
                </c:pt>
                <c:pt idx="5">
                  <c:v>1722</c:v>
                </c:pt>
                <c:pt idx="6">
                  <c:v>3363</c:v>
                </c:pt>
              </c:numCache>
            </c:numRef>
          </c:val>
        </c:ser>
        <c:ser>
          <c:idx val="1"/>
          <c:order val="1"/>
          <c:cat>
            <c:strRef>
              <c:f>Sheet1!$A$2:$A$8</c:f>
              <c:strCache>
                <c:ptCount val="7"/>
                <c:pt idx="0">
                  <c:v>MMW</c:v>
                </c:pt>
                <c:pt idx="1">
                  <c:v>MSW</c:v>
                </c:pt>
                <c:pt idx="2">
                  <c:v>FMW</c:v>
                </c:pt>
                <c:pt idx="3">
                  <c:v>FSW</c:v>
                </c:pt>
                <c:pt idx="4">
                  <c:v>EOC</c:v>
                </c:pt>
                <c:pt idx="5">
                  <c:v>DIARRHEA</c:v>
                </c:pt>
                <c:pt idx="6">
                  <c:v>CHILD 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18.13212333416682</c:v>
                </c:pt>
                <c:pt idx="1">
                  <c:v>13.280217228196792</c:v>
                </c:pt>
                <c:pt idx="2">
                  <c:v>20.279395476794491</c:v>
                </c:pt>
                <c:pt idx="3">
                  <c:v>9.6716567222837551</c:v>
                </c:pt>
                <c:pt idx="4">
                  <c:v>20.468755582550106</c:v>
                </c:pt>
                <c:pt idx="5">
                  <c:v>6.1524170209725249</c:v>
                </c:pt>
                <c:pt idx="6">
                  <c:v>12.015434635035346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</c:chart>
  <c:spPr>
    <a:blipFill>
      <a:blip xmlns:r="http://schemas.openxmlformats.org/officeDocument/2006/relationships" r:embed="rId1"/>
      <a:tile tx="0" ty="0" sx="100000" sy="100000" flip="none" algn="tl"/>
    </a:blipFill>
  </c:spPr>
  <c:externalData r:id="rId2">
    <c:autoUpdate val="0"/>
  </c:externalData>
  <c:userShapes r:id="rId3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00B050"/>
              </a:solidFill>
            </c:spPr>
          </c:dPt>
          <c:dPt>
            <c:idx val="1"/>
            <c:bubble3D val="0"/>
            <c:spPr>
              <a:solidFill>
                <a:srgbClr val="00B0F0"/>
              </a:solidFill>
            </c:spPr>
          </c:dPt>
          <c:dPt>
            <c:idx val="2"/>
            <c:bubble3D val="0"/>
            <c:spPr>
              <a:solidFill>
                <a:srgbClr val="FFFF00"/>
              </a:solidFill>
            </c:spPr>
          </c:dPt>
          <c:dPt>
            <c:idx val="3"/>
            <c:bubble3D val="0"/>
            <c:spPr>
              <a:solidFill>
                <a:srgbClr val="FFC000"/>
              </a:solidFill>
            </c:spPr>
          </c:dPt>
          <c:dPt>
            <c:idx val="4"/>
            <c:bubble3D val="0"/>
            <c:spPr>
              <a:solidFill>
                <a:srgbClr val="FF0000"/>
              </a:solidFill>
            </c:spPr>
          </c:dPt>
          <c:dLbls>
            <c:dLbl>
              <c:idx val="1"/>
              <c:layout>
                <c:manualLayout>
                  <c:x val="-9.4279965004374744E-2"/>
                  <c:y val="0.18361961699232246"/>
                </c:manualLayout>
              </c:layout>
              <c:showLegendKey val="0"/>
              <c:showVal val="1"/>
              <c:showCatName val="1"/>
              <c:showSerName val="0"/>
              <c:showPercent val="1"/>
              <c:showBubbleSize val="0"/>
            </c:dLbl>
            <c:dLbl>
              <c:idx val="2"/>
              <c:layout>
                <c:manualLayout>
                  <c:x val="-0.13692432195975487"/>
                  <c:y val="8.5345419785490748E-2"/>
                </c:manualLayout>
              </c:layout>
              <c:showLegendKey val="0"/>
              <c:showVal val="1"/>
              <c:showCatName val="1"/>
              <c:showSerName val="0"/>
              <c:showPercent val="1"/>
              <c:showBubbleSize val="0"/>
            </c:dLbl>
            <c:dLbl>
              <c:idx val="3"/>
              <c:layout>
                <c:manualLayout>
                  <c:x val="-3.1284886264217014E-2"/>
                  <c:y val="-2.7777939794562938E-2"/>
                </c:manualLayout>
              </c:layout>
              <c:spPr/>
              <c:txPr>
                <a:bodyPr rot="-5400000" vert="horz"/>
                <a:lstStyle/>
                <a:p>
                  <a:pPr>
                    <a:defRPr sz="1800"/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1"/>
              <c:showBubbleSize val="0"/>
            </c:dLbl>
            <c:dLbl>
              <c:idx val="4"/>
              <c:layout>
                <c:manualLayout>
                  <c:x val="3.0641951006124293E-2"/>
                  <c:y val="1.2048192771084338E-2"/>
                </c:manualLayout>
              </c:layout>
              <c:showLegendKey val="0"/>
              <c:showVal val="1"/>
              <c:showCatName val="1"/>
              <c:showSerName val="0"/>
              <c:showPercent val="1"/>
              <c:showBubbleSize val="0"/>
            </c:dLbl>
            <c:txPr>
              <a:bodyPr/>
              <a:lstStyle/>
              <a:p>
                <a:pPr>
                  <a:defRPr sz="1800"/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1"/>
            <c:showBubbleSize val="0"/>
            <c:showLeaderLines val="1"/>
          </c:dLbls>
          <c:cat>
            <c:strRef>
              <c:f>Sheet1!$B$4:$B$8</c:f>
              <c:strCache>
                <c:ptCount val="5"/>
                <c:pt idx="0">
                  <c:v>Release</c:v>
                </c:pt>
                <c:pt idx="1">
                  <c:v>DORB</c:v>
                </c:pt>
                <c:pt idx="2">
                  <c:v>Ref.</c:v>
                </c:pt>
                <c:pt idx="3">
                  <c:v>Stay </c:v>
                </c:pt>
                <c:pt idx="4">
                  <c:v>Death</c:v>
                </c:pt>
              </c:strCache>
            </c:strRef>
          </c:cat>
          <c:val>
            <c:numRef>
              <c:f>Sheet1!$C$4:$C$8</c:f>
              <c:numCache>
                <c:formatCode>General</c:formatCode>
                <c:ptCount val="5"/>
                <c:pt idx="0">
                  <c:v>341</c:v>
                </c:pt>
                <c:pt idx="1">
                  <c:v>35</c:v>
                </c:pt>
                <c:pt idx="2">
                  <c:v>35</c:v>
                </c:pt>
                <c:pt idx="3">
                  <c:v>15</c:v>
                </c:pt>
                <c:pt idx="4">
                  <c:v>34</c:v>
                </c:pt>
              </c:numCache>
            </c:numRef>
          </c:val>
        </c:ser>
        <c:ser>
          <c:idx val="1"/>
          <c:order val="1"/>
          <c:cat>
            <c:strRef>
              <c:f>Sheet1!$B$4:$B$8</c:f>
              <c:strCache>
                <c:ptCount val="5"/>
                <c:pt idx="0">
                  <c:v>Release</c:v>
                </c:pt>
                <c:pt idx="1">
                  <c:v>DORB</c:v>
                </c:pt>
                <c:pt idx="2">
                  <c:v>Ref.</c:v>
                </c:pt>
                <c:pt idx="3">
                  <c:v>Stay </c:v>
                </c:pt>
                <c:pt idx="4">
                  <c:v>Death</c:v>
                </c:pt>
              </c:strCache>
            </c:strRef>
          </c:cat>
          <c:val>
            <c:numRef>
              <c:f>Sheet1!$D$4:$D$8</c:f>
              <c:numCache>
                <c:formatCode>General</c:formatCode>
                <c:ptCount val="5"/>
              </c:numCache>
            </c:numRef>
          </c:val>
        </c:ser>
        <c:ser>
          <c:idx val="2"/>
          <c:order val="2"/>
          <c:cat>
            <c:strRef>
              <c:f>Sheet1!$B$4:$B$8</c:f>
              <c:strCache>
                <c:ptCount val="5"/>
                <c:pt idx="0">
                  <c:v>Release</c:v>
                </c:pt>
                <c:pt idx="1">
                  <c:v>DORB</c:v>
                </c:pt>
                <c:pt idx="2">
                  <c:v>Ref.</c:v>
                </c:pt>
                <c:pt idx="3">
                  <c:v>Stay </c:v>
                </c:pt>
                <c:pt idx="4">
                  <c:v>Death</c:v>
                </c:pt>
              </c:strCache>
            </c:strRef>
          </c:cat>
          <c:val>
            <c:numRef>
              <c:f>Sheet1!$E$4:$E$8</c:f>
              <c:numCache>
                <c:formatCode>General</c:formatCode>
                <c:ptCount val="5"/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</c:chart>
  <c:spPr>
    <a:blipFill>
      <a:blip xmlns:r="http://schemas.openxmlformats.org/officeDocument/2006/relationships" r:embed="rId2"/>
      <a:tile tx="0" ty="0" sx="100000" sy="100000" flip="none" algn="tl"/>
    </a:blipFill>
  </c:spPr>
  <c:externalData r:id="rId3">
    <c:autoUpdate val="0"/>
  </c:externalData>
  <c:userShapes r:id="rId4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5.7589676290463823E-4"/>
          <c:y val="4.3358628589390852E-2"/>
          <c:w val="0.99942410323709541"/>
          <c:h val="0.821918720909672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0-28 days</c:v>
                </c:pt>
              </c:strCache>
            </c:strRef>
          </c:tx>
          <c:spPr>
            <a:solidFill>
              <a:srgbClr val="00B0F0"/>
            </a:solidFill>
          </c:spPr>
          <c:invertIfNegative val="0"/>
          <c:dLbls>
            <c:dLbl>
              <c:idx val="4"/>
              <c:layout>
                <c:manualLayout>
                  <c:x val="-8.6206896551724223E-3"/>
                  <c:y val="1.084814560773972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-5400000" vert="horz"/>
              <a:lstStyle/>
              <a:p>
                <a:pPr>
                  <a:defRPr sz="1600" b="1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709</c:v>
                </c:pt>
                <c:pt idx="1">
                  <c:v>766</c:v>
                </c:pt>
                <c:pt idx="2">
                  <c:v>835</c:v>
                </c:pt>
                <c:pt idx="3">
                  <c:v>876</c:v>
                </c:pt>
                <c:pt idx="4">
                  <c:v>1028</c:v>
                </c:pt>
                <c:pt idx="5">
                  <c:v>1000</c:v>
                </c:pt>
                <c:pt idx="6">
                  <c:v>804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29 days-1 year</c:v>
                </c:pt>
              </c:strCache>
            </c:strRef>
          </c:tx>
          <c:invertIfNegative val="0"/>
          <c:dLbls>
            <c:txPr>
              <a:bodyPr rot="-5400000" vert="horz"/>
              <a:lstStyle/>
              <a:p>
                <a:pPr>
                  <a:defRPr sz="1600" b="1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1127</c:v>
                </c:pt>
                <c:pt idx="1">
                  <c:v>923</c:v>
                </c:pt>
                <c:pt idx="2">
                  <c:v>1595</c:v>
                </c:pt>
                <c:pt idx="3">
                  <c:v>1493</c:v>
                </c:pt>
                <c:pt idx="4">
                  <c:v>1535</c:v>
                </c:pt>
                <c:pt idx="5">
                  <c:v>2014</c:v>
                </c:pt>
                <c:pt idx="6">
                  <c:v>910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 – 5 years</c:v>
                </c:pt>
              </c:strCache>
            </c:strRef>
          </c:tx>
          <c:invertIfNegative val="0"/>
          <c:dLbls>
            <c:txPr>
              <a:bodyPr rot="-5400000" vert="horz"/>
              <a:lstStyle/>
              <a:p>
                <a:pPr>
                  <a:defRPr sz="1600" b="1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</c:numCache>
            </c:numRef>
          </c:cat>
          <c:val>
            <c:numRef>
              <c:f>Sheet1!$D$2:$D$8</c:f>
              <c:numCache>
                <c:formatCode>General</c:formatCode>
                <c:ptCount val="7"/>
                <c:pt idx="0">
                  <c:v>848</c:v>
                </c:pt>
                <c:pt idx="1">
                  <c:v>806</c:v>
                </c:pt>
                <c:pt idx="2">
                  <c:v>1123</c:v>
                </c:pt>
                <c:pt idx="3">
                  <c:v>1297</c:v>
                </c:pt>
                <c:pt idx="4">
                  <c:v>1029</c:v>
                </c:pt>
                <c:pt idx="5">
                  <c:v>1648</c:v>
                </c:pt>
                <c:pt idx="6">
                  <c:v>861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Admission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</c:numCache>
            </c:numRef>
          </c:cat>
          <c:val>
            <c:numRef>
              <c:f>Sheet1!$E$2:$E$8</c:f>
              <c:numCache>
                <c:formatCode>General</c:formatCode>
                <c:ptCount val="7"/>
                <c:pt idx="0">
                  <c:v>2684</c:v>
                </c:pt>
                <c:pt idx="1">
                  <c:v>2495</c:v>
                </c:pt>
                <c:pt idx="2">
                  <c:v>3553</c:v>
                </c:pt>
                <c:pt idx="3">
                  <c:v>3666</c:v>
                </c:pt>
                <c:pt idx="4">
                  <c:v>3592</c:v>
                </c:pt>
                <c:pt idx="5">
                  <c:v>4662</c:v>
                </c:pt>
                <c:pt idx="6">
                  <c:v>2575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145216"/>
        <c:axId val="13146752"/>
      </c:barChart>
      <c:catAx>
        <c:axId val="131452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3146752"/>
        <c:crosses val="autoZero"/>
        <c:auto val="1"/>
        <c:lblAlgn val="ctr"/>
        <c:lblOffset val="100"/>
        <c:noMultiLvlLbl val="0"/>
      </c:catAx>
      <c:valAx>
        <c:axId val="1314675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3145216"/>
        <c:crosses val="autoZero"/>
        <c:crossBetween val="between"/>
      </c:valAx>
    </c:plotArea>
    <c:legend>
      <c:legendPos val="t"/>
      <c:legendEntry>
        <c:idx val="1"/>
        <c:txPr>
          <a:bodyPr/>
          <a:lstStyle/>
          <a:p>
            <a:pPr>
              <a:defRPr sz="1800" b="1" baseline="0"/>
            </a:pPr>
            <a:endParaRPr lang="en-US"/>
          </a:p>
        </c:txPr>
      </c:legendEntry>
      <c:legendEntry>
        <c:idx val="3"/>
        <c:txPr>
          <a:bodyPr/>
          <a:lstStyle/>
          <a:p>
            <a:pPr>
              <a:defRPr sz="1800" b="1" baseline="0"/>
            </a:pPr>
            <a:endParaRPr lang="en-US"/>
          </a:p>
        </c:txPr>
      </c:legendEntry>
      <c:layout>
        <c:manualLayout>
          <c:xMode val="edge"/>
          <c:yMode val="edge"/>
          <c:x val="0"/>
          <c:y val="0"/>
          <c:w val="0.70813571741032721"/>
          <c:h val="8.1837744679505414E-2"/>
        </c:manualLayout>
      </c:layout>
      <c:overlay val="0"/>
      <c:txPr>
        <a:bodyPr/>
        <a:lstStyle/>
        <a:p>
          <a:pPr>
            <a:defRPr sz="1800" b="1" baseline="0"/>
          </a:pPr>
          <a:endParaRPr lang="en-US"/>
        </a:p>
      </c:txPr>
    </c:legend>
    <c:plotVisOnly val="1"/>
    <c:dispBlanksAs val="gap"/>
    <c:showDLblsOverMax val="0"/>
  </c:chart>
  <c:spPr>
    <a:blipFill>
      <a:blip xmlns:r="http://schemas.openxmlformats.org/officeDocument/2006/relationships" r:embed="rId1"/>
      <a:tile tx="0" ty="0" sx="100000" sy="100000" flip="none" algn="tl"/>
    </a:blipFill>
  </c:spPr>
  <c:txPr>
    <a:bodyPr/>
    <a:lstStyle/>
    <a:p>
      <a:pPr>
        <a:defRPr sz="1800"/>
      </a:pPr>
      <a:endParaRPr lang="en-US"/>
    </a:p>
  </c:txPr>
  <c:externalData r:id="rId2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27"/>
    </mc:Choice>
    <mc:Fallback>
      <c:style val="27"/>
    </mc:Fallback>
  </mc:AlternateContent>
  <c:chart>
    <c:autoTitleDeleted val="1"/>
    <c:view3D>
      <c:rotX val="0"/>
      <c:rotY val="0"/>
      <c:depthPercent val="150"/>
      <c:rAngAx val="0"/>
      <c:perspective val="0"/>
    </c:view3D>
    <c:floor>
      <c:thickness val="0"/>
    </c:floor>
    <c:side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sideWall>
    <c:back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backWall>
    <c:plotArea>
      <c:layout>
        <c:manualLayout>
          <c:layoutTarget val="inner"/>
          <c:xMode val="edge"/>
          <c:yMode val="edge"/>
          <c:x val="9.653886722103695E-3"/>
          <c:y val="3.3947725284339481E-2"/>
          <c:w val="0.99034611327789634"/>
          <c:h val="0.83049790530628376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Major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Pt>
            <c:idx val="1"/>
            <c:invertIfNegative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Lbls>
            <c:dLbl>
              <c:idx val="0"/>
              <c:layout>
                <c:manualLayout>
                  <c:x val="4.4941168575518865E-3"/>
                  <c:y val="-5.577249645361064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9565363278453841E-3"/>
                  <c:y val="-4.439834707345657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1.3819792412312101E-3"/>
                  <c:y val="-4.267819329372339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4.5897458840372524E-3"/>
                  <c:y val="-5.220040706399949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2.7922557265569292E-3"/>
                  <c:y val="-3.440677617647681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780</c:v>
                </c:pt>
                <c:pt idx="1">
                  <c:v>977</c:v>
                </c:pt>
                <c:pt idx="2">
                  <c:v>1294</c:v>
                </c:pt>
                <c:pt idx="3">
                  <c:v>1339</c:v>
                </c:pt>
                <c:pt idx="4">
                  <c:v>1582</c:v>
                </c:pt>
                <c:pt idx="5">
                  <c:v>1383</c:v>
                </c:pt>
                <c:pt idx="6">
                  <c:v>1578</c:v>
                </c:pt>
                <c:pt idx="7">
                  <c:v>1385</c:v>
                </c:pt>
                <c:pt idx="8">
                  <c:v>1496</c:v>
                </c:pt>
                <c:pt idx="9">
                  <c:v>1445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13161600"/>
        <c:axId val="13163136"/>
        <c:axId val="0"/>
      </c:bar3DChart>
      <c:catAx>
        <c:axId val="131616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3163136"/>
        <c:crosses val="autoZero"/>
        <c:auto val="1"/>
        <c:lblAlgn val="ctr"/>
        <c:lblOffset val="100"/>
        <c:noMultiLvlLbl val="0"/>
      </c:catAx>
      <c:valAx>
        <c:axId val="1316313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316160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2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1.2361182124961652E-2"/>
          <c:w val="1"/>
          <c:h val="0.86441762961448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Sheet1!$I$3</c:f>
              <c:strCache>
                <c:ptCount val="1"/>
                <c:pt idx="0">
                  <c:v>Major</c:v>
                </c:pt>
              </c:strCache>
            </c:strRef>
          </c:tx>
          <c:invertIfNegative val="0"/>
          <c:dLbls>
            <c:txPr>
              <a:bodyPr rot="-5400000" vert="horz"/>
              <a:lstStyle/>
              <a:p>
                <a:pPr>
                  <a:defRPr sz="20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Sheet1!$H$4:$H$9</c:f>
              <c:strCache>
                <c:ptCount val="6"/>
                <c:pt idx="0">
                  <c:v>G.Surgery</c:v>
                </c:pt>
                <c:pt idx="1">
                  <c:v>Gyn.&amp; Obs.</c:v>
                </c:pt>
                <c:pt idx="2">
                  <c:v>Orthopedic</c:v>
                </c:pt>
                <c:pt idx="3">
                  <c:v>ENT</c:v>
                </c:pt>
                <c:pt idx="4">
                  <c:v>Dental</c:v>
                </c:pt>
                <c:pt idx="5">
                  <c:v>Eye</c:v>
                </c:pt>
              </c:strCache>
            </c:strRef>
          </c:cat>
          <c:val>
            <c:numRef>
              <c:f>Sheet1!$I$4:$I$9</c:f>
              <c:numCache>
                <c:formatCode>General</c:formatCode>
                <c:ptCount val="6"/>
                <c:pt idx="0">
                  <c:v>139</c:v>
                </c:pt>
                <c:pt idx="1">
                  <c:v>1002</c:v>
                </c:pt>
                <c:pt idx="2">
                  <c:v>291</c:v>
                </c:pt>
                <c:pt idx="3">
                  <c:v>13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Sheet1!$J$3</c:f>
              <c:strCache>
                <c:ptCount val="1"/>
                <c:pt idx="0">
                  <c:v>Minor</c:v>
                </c:pt>
              </c:strCache>
            </c:strRef>
          </c:tx>
          <c:invertIfNegative val="0"/>
          <c:dLbls>
            <c:txPr>
              <a:bodyPr rot="-5400000" vert="horz"/>
              <a:lstStyle/>
              <a:p>
                <a:pPr>
                  <a:defRPr sz="20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Sheet1!$H$4:$H$9</c:f>
              <c:strCache>
                <c:ptCount val="6"/>
                <c:pt idx="0">
                  <c:v>G.Surgery</c:v>
                </c:pt>
                <c:pt idx="1">
                  <c:v>Gyn.&amp; Obs.</c:v>
                </c:pt>
                <c:pt idx="2">
                  <c:v>Orthopedic</c:v>
                </c:pt>
                <c:pt idx="3">
                  <c:v>ENT</c:v>
                </c:pt>
                <c:pt idx="4">
                  <c:v>Dental</c:v>
                </c:pt>
                <c:pt idx="5">
                  <c:v>Eye</c:v>
                </c:pt>
              </c:strCache>
            </c:strRef>
          </c:cat>
          <c:val>
            <c:numRef>
              <c:f>Sheet1!$J$4:$J$9</c:f>
              <c:numCache>
                <c:formatCode>General</c:formatCode>
                <c:ptCount val="6"/>
                <c:pt idx="0">
                  <c:v>1906</c:v>
                </c:pt>
                <c:pt idx="1">
                  <c:v>122</c:v>
                </c:pt>
                <c:pt idx="2">
                  <c:v>3486</c:v>
                </c:pt>
                <c:pt idx="3">
                  <c:v>32</c:v>
                </c:pt>
                <c:pt idx="4">
                  <c:v>242</c:v>
                </c:pt>
                <c:pt idx="5">
                  <c:v>13</c:v>
                </c:pt>
              </c:numCache>
            </c:numRef>
          </c:val>
        </c:ser>
        <c:ser>
          <c:idx val="2"/>
          <c:order val="2"/>
          <c:tx>
            <c:strRef>
              <c:f>Sheet1!$K$3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Lbls>
            <c:dLbl>
              <c:idx val="4"/>
              <c:layout>
                <c:manualLayout>
                  <c:x val="-5.6497175141242938E-3"/>
                  <c:y val="4.566210045662158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-5400000" vert="horz"/>
              <a:lstStyle/>
              <a:p>
                <a:pPr>
                  <a:defRPr sz="20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Sheet1!$H$4:$H$9</c:f>
              <c:strCache>
                <c:ptCount val="6"/>
                <c:pt idx="0">
                  <c:v>G.Surgery</c:v>
                </c:pt>
                <c:pt idx="1">
                  <c:v>Gyn.&amp; Obs.</c:v>
                </c:pt>
                <c:pt idx="2">
                  <c:v>Orthopedic</c:v>
                </c:pt>
                <c:pt idx="3">
                  <c:v>ENT</c:v>
                </c:pt>
                <c:pt idx="4">
                  <c:v>Dental</c:v>
                </c:pt>
                <c:pt idx="5">
                  <c:v>Eye</c:v>
                </c:pt>
              </c:strCache>
            </c:strRef>
          </c:cat>
          <c:val>
            <c:numRef>
              <c:f>Sheet1!$K$4:$K$9</c:f>
              <c:numCache>
                <c:formatCode>General</c:formatCode>
                <c:ptCount val="6"/>
                <c:pt idx="0">
                  <c:v>2045</c:v>
                </c:pt>
                <c:pt idx="1">
                  <c:v>1124</c:v>
                </c:pt>
                <c:pt idx="2">
                  <c:v>3777</c:v>
                </c:pt>
                <c:pt idx="3">
                  <c:v>45</c:v>
                </c:pt>
                <c:pt idx="4">
                  <c:v>242</c:v>
                </c:pt>
                <c:pt idx="5">
                  <c:v>13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3326976"/>
        <c:axId val="163706368"/>
      </c:barChart>
      <c:catAx>
        <c:axId val="16332697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aseline="0">
                <a:solidFill>
                  <a:srgbClr val="0070C0"/>
                </a:solidFill>
              </a:defRPr>
            </a:pPr>
            <a:endParaRPr lang="en-US"/>
          </a:p>
        </c:txPr>
        <c:crossAx val="163706368"/>
        <c:crosses val="autoZero"/>
        <c:auto val="1"/>
        <c:lblAlgn val="ctr"/>
        <c:lblOffset val="100"/>
        <c:noMultiLvlLbl val="0"/>
      </c:catAx>
      <c:valAx>
        <c:axId val="163706368"/>
        <c:scaling>
          <c:orientation val="minMax"/>
        </c:scaling>
        <c:delete val="1"/>
        <c:axPos val="l"/>
        <c:majorGridlines/>
        <c:numFmt formatCode="General" sourceLinked="1"/>
        <c:majorTickMark val="out"/>
        <c:minorTickMark val="none"/>
        <c:tickLblPos val="nextTo"/>
        <c:crossAx val="163326976"/>
        <c:crosses val="autoZero"/>
        <c:crossBetween val="between"/>
      </c:valAx>
      <c:spPr>
        <a:blipFill>
          <a:blip xmlns:r="http://schemas.openxmlformats.org/officeDocument/2006/relationships" r:embed="rId1"/>
          <a:tile tx="0" ty="0" sx="100000" sy="100000" flip="none" algn="tl"/>
        </a:blipFill>
      </c:spPr>
    </c:plotArea>
    <c:plotVisOnly val="1"/>
    <c:dispBlanksAs val="gap"/>
    <c:showDLblsOverMax val="0"/>
  </c:chart>
  <c:externalData r:id="rId2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"/>
          <c:y val="6.0108987900902834E-2"/>
          <c:w val="1"/>
          <c:h val="0.801569521797579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Sheet2!$A$3</c:f>
              <c:strCache>
                <c:ptCount val="1"/>
                <c:pt idx="0">
                  <c:v>C-section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0"/>
              <c:layout>
                <c:manualLayout>
                  <c:x val="-1.6666666666666701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-8.3333333333333228E-3"/>
                  <c:y val="4.016064257028109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1.6666666666666701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1.388888888888901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-1.6666666666666701E-2"/>
                  <c:y val="-4.016064257028109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-1.388888888888901E-2"/>
                  <c:y val="-1.004016064257030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800" b="1" i="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Sheet2!$B$2:$G$2</c:f>
              <c:numCache>
                <c:formatCode>General</c:formatCode>
                <c:ptCount val="6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</c:numCache>
            </c:numRef>
          </c:cat>
          <c:val>
            <c:numRef>
              <c:f>Sheet2!$B$3:$G$3</c:f>
              <c:numCache>
                <c:formatCode>General</c:formatCode>
                <c:ptCount val="6"/>
                <c:pt idx="0">
                  <c:v>1090</c:v>
                </c:pt>
                <c:pt idx="1">
                  <c:v>1016</c:v>
                </c:pt>
                <c:pt idx="2">
                  <c:v>1143</c:v>
                </c:pt>
                <c:pt idx="3">
                  <c:v>887</c:v>
                </c:pt>
                <c:pt idx="4">
                  <c:v>1019</c:v>
                </c:pt>
                <c:pt idx="5">
                  <c:v>945</c:v>
                </c:pt>
              </c:numCache>
            </c:numRef>
          </c:val>
        </c:ser>
        <c:ser>
          <c:idx val="1"/>
          <c:order val="1"/>
          <c:tx>
            <c:strRef>
              <c:f>Sheet2!$A$4</c:f>
              <c:strCache>
                <c:ptCount val="1"/>
                <c:pt idx="0">
                  <c:v>NVD</c:v>
                </c:pt>
              </c:strCache>
            </c:strRef>
          </c:tx>
          <c:spPr>
            <a:solidFill>
              <a:srgbClr val="00B0F0"/>
            </a:solidFill>
          </c:spPr>
          <c:invertIfNegative val="0"/>
          <c:dLbls>
            <c:dLbl>
              <c:idx val="0"/>
              <c:layout>
                <c:manualLayout>
                  <c:x val="-1.9444444444444445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-1.1111111111111125E-2"/>
                  <c:y val="-4.016064257028109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1.9444444444444445E-2"/>
                  <c:y val="-6.024096385542210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1.1111111111111125E-2"/>
                  <c:y val="4.016064257028109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-1.1111111111111125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-1.1111111111111125E-2"/>
                  <c:y val="-4.016064257028109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800" b="1" i="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Sheet2!$B$2:$G$2</c:f>
              <c:numCache>
                <c:formatCode>General</c:formatCode>
                <c:ptCount val="6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</c:numCache>
            </c:numRef>
          </c:cat>
          <c:val>
            <c:numRef>
              <c:f>Sheet2!$B$4:$G$4</c:f>
              <c:numCache>
                <c:formatCode>General</c:formatCode>
                <c:ptCount val="6"/>
                <c:pt idx="0">
                  <c:v>1944</c:v>
                </c:pt>
                <c:pt idx="1">
                  <c:v>1920</c:v>
                </c:pt>
                <c:pt idx="2">
                  <c:v>1854</c:v>
                </c:pt>
                <c:pt idx="3">
                  <c:v>1803</c:v>
                </c:pt>
                <c:pt idx="4">
                  <c:v>1731</c:v>
                </c:pt>
                <c:pt idx="5">
                  <c:v>1552</c:v>
                </c:pt>
              </c:numCache>
            </c:numRef>
          </c:val>
        </c:ser>
        <c:ser>
          <c:idx val="2"/>
          <c:order val="2"/>
          <c:tx>
            <c:strRef>
              <c:f>Sheet2!$A$5</c:f>
              <c:strCache>
                <c:ptCount val="1"/>
                <c:pt idx="0">
                  <c:v>Total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sz="1800" b="1" i="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Sheet2!$B$2:$G$2</c:f>
              <c:numCache>
                <c:formatCode>General</c:formatCode>
                <c:ptCount val="6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</c:numCache>
            </c:numRef>
          </c:cat>
          <c:val>
            <c:numRef>
              <c:f>Sheet2!$B$5:$G$5</c:f>
              <c:numCache>
                <c:formatCode>General</c:formatCode>
                <c:ptCount val="6"/>
                <c:pt idx="0">
                  <c:v>3034</c:v>
                </c:pt>
                <c:pt idx="1">
                  <c:v>2936</c:v>
                </c:pt>
                <c:pt idx="2">
                  <c:v>2997</c:v>
                </c:pt>
                <c:pt idx="3">
                  <c:v>2690</c:v>
                </c:pt>
                <c:pt idx="4">
                  <c:v>2750</c:v>
                </c:pt>
                <c:pt idx="5">
                  <c:v>2497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5481088"/>
        <c:axId val="222220672"/>
      </c:barChart>
      <c:catAx>
        <c:axId val="2054810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0">
                <a:latin typeface="Arial Black" pitchFamily="34" charset="0"/>
              </a:defRPr>
            </a:pPr>
            <a:endParaRPr lang="en-US"/>
          </a:p>
        </c:txPr>
        <c:crossAx val="222220672"/>
        <c:crosses val="autoZero"/>
        <c:auto val="1"/>
        <c:lblAlgn val="ctr"/>
        <c:lblOffset val="100"/>
        <c:noMultiLvlLbl val="0"/>
      </c:catAx>
      <c:valAx>
        <c:axId val="22222067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05481088"/>
        <c:crosses val="autoZero"/>
        <c:crossBetween val="between"/>
      </c:valAx>
      <c:spPr>
        <a:blipFill>
          <a:blip xmlns:r="http://schemas.openxmlformats.org/officeDocument/2006/relationships" r:embed="rId1"/>
          <a:tile tx="0" ty="0" sx="100000" sy="100000" flip="none" algn="tl"/>
        </a:blipFill>
      </c:spPr>
    </c:plotArea>
    <c:legend>
      <c:legendPos val="t"/>
      <c:layout>
        <c:manualLayout>
          <c:xMode val="edge"/>
          <c:yMode val="edge"/>
          <c:x val="0"/>
          <c:y val="0"/>
          <c:w val="1"/>
          <c:h val="6.0260546699954828E-2"/>
        </c:manualLayout>
      </c:layout>
      <c:overlay val="0"/>
      <c:spPr>
        <a:blipFill>
          <a:blip xmlns:r="http://schemas.openxmlformats.org/officeDocument/2006/relationships" r:embed="rId2"/>
          <a:tile tx="0" ty="0" sx="100000" sy="100000" flip="none" algn="tl"/>
        </a:blipFill>
      </c:spPr>
    </c:legend>
    <c:plotVisOnly val="1"/>
    <c:dispBlanksAs val="gap"/>
    <c:showDLblsOverMax val="0"/>
  </c:chart>
  <c:txPr>
    <a:bodyPr/>
    <a:lstStyle/>
    <a:p>
      <a:pPr>
        <a:defRPr sz="2500" baseline="0"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"/>
          <c:y val="0"/>
          <c:w val="1"/>
          <c:h val="0.770920697412829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C-Section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-5400000" vert="horz"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Kushtia District Hospital</c:v>
                </c:pt>
                <c:pt idx="1">
                  <c:v>Jhenaidah Sadar Hospital</c:v>
                </c:pt>
                <c:pt idx="2">
                  <c:v>Jessore District Hospital</c:v>
                </c:pt>
                <c:pt idx="3">
                  <c:v>Chuadanga District Hospital</c:v>
                </c:pt>
                <c:pt idx="4">
                  <c:v>Meherpur District Hospital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1431</c:v>
                </c:pt>
                <c:pt idx="1">
                  <c:v>945</c:v>
                </c:pt>
                <c:pt idx="2">
                  <c:v>1072</c:v>
                </c:pt>
                <c:pt idx="3">
                  <c:v>265</c:v>
                </c:pt>
                <c:pt idx="4">
                  <c:v>277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NVD</c:v>
                </c:pt>
              </c:strCache>
            </c:strRef>
          </c:tx>
          <c:spPr>
            <a:solidFill>
              <a:srgbClr val="0070C0"/>
            </a:solidFill>
          </c:spPr>
          <c:invertIfNegative val="0"/>
          <c:dLbls>
            <c:dLbl>
              <c:idx val="0"/>
              <c:layout>
                <c:manualLayout>
                  <c:x val="-4.6296296296297014E-3"/>
                  <c:y val="-4.975123403626985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4.6296296296297014E-3"/>
                  <c:y val="8.418143844136825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3.0864197530864729E-3"/>
                  <c:y val="1.05872192997183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3.0864197530864729E-3"/>
                  <c:y val="9.950246807253976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-3.0864197530864729E-3"/>
                  <c:y val="2.48756170181351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-5400000" vert="horz"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Kushtia District Hospital</c:v>
                </c:pt>
                <c:pt idx="1">
                  <c:v>Jhenaidah Sadar Hospital</c:v>
                </c:pt>
                <c:pt idx="2">
                  <c:v>Jessore District Hospital</c:v>
                </c:pt>
                <c:pt idx="3">
                  <c:v>Chuadanga District Hospital</c:v>
                </c:pt>
                <c:pt idx="4">
                  <c:v>Meherpur District Hospital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1729</c:v>
                </c:pt>
                <c:pt idx="1">
                  <c:v>1552</c:v>
                </c:pt>
                <c:pt idx="2">
                  <c:v>1254</c:v>
                </c:pt>
                <c:pt idx="3">
                  <c:v>1027</c:v>
                </c:pt>
                <c:pt idx="4">
                  <c:v>977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 Delivery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Lbls>
            <c:dLbl>
              <c:idx val="0"/>
              <c:layout>
                <c:manualLayout>
                  <c:x val="-3.086419753086466E-3"/>
                  <c:y val="9.3625796775405985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0"/>
                  <c:y val="-3.6949756280465398E-3"/>
                </c:manualLayout>
              </c:layout>
              <c:spPr/>
              <c:txPr>
                <a:bodyPr rot="-5400000" vert="horz"/>
                <a:lstStyle/>
                <a:p>
                  <a:pPr>
                    <a:defRPr sz="2400" b="1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3.086419753086492E-3"/>
                  <c:y val="-3.086635926983937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-5400000" vert="horz"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Kushtia District Hospital</c:v>
                </c:pt>
                <c:pt idx="1">
                  <c:v>Jhenaidah Sadar Hospital</c:v>
                </c:pt>
                <c:pt idx="2">
                  <c:v>Jessore District Hospital</c:v>
                </c:pt>
                <c:pt idx="3">
                  <c:v>Chuadanga District Hospital</c:v>
                </c:pt>
                <c:pt idx="4">
                  <c:v>Meherpur District Hospital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3160</c:v>
                </c:pt>
                <c:pt idx="1">
                  <c:v>2497</c:v>
                </c:pt>
                <c:pt idx="2">
                  <c:v>2326</c:v>
                </c:pt>
                <c:pt idx="3">
                  <c:v>1292</c:v>
                </c:pt>
                <c:pt idx="4">
                  <c:v>1254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526912"/>
        <c:axId val="13528448"/>
      </c:barChart>
      <c:catAx>
        <c:axId val="13526912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blipFill>
            <a:blip xmlns:r="http://schemas.openxmlformats.org/officeDocument/2006/relationships" r:embed="rId1"/>
            <a:tile tx="0" ty="0" sx="100000" sy="100000" flip="none" algn="tl"/>
          </a:blipFill>
        </c:spPr>
        <c:txPr>
          <a:bodyPr/>
          <a:lstStyle/>
          <a:p>
            <a:pPr>
              <a:defRPr b="1"/>
            </a:pPr>
            <a:endParaRPr lang="en-US"/>
          </a:p>
        </c:txPr>
        <c:crossAx val="13528448"/>
        <c:crosses val="autoZero"/>
        <c:auto val="1"/>
        <c:lblAlgn val="ctr"/>
        <c:lblOffset val="100"/>
        <c:noMultiLvlLbl val="0"/>
      </c:catAx>
      <c:valAx>
        <c:axId val="13528448"/>
        <c:scaling>
          <c:orientation val="minMax"/>
        </c:scaling>
        <c:delete val="1"/>
        <c:axPos val="l"/>
        <c:majorGridlines/>
        <c:numFmt formatCode="General" sourceLinked="1"/>
        <c:majorTickMark val="out"/>
        <c:minorTickMark val="none"/>
        <c:tickLblPos val="nextTo"/>
        <c:crossAx val="13526912"/>
        <c:crosses val="autoZero"/>
        <c:crossBetween val="between"/>
      </c:valAx>
      <c:spPr>
        <a:blipFill>
          <a:blip xmlns:r="http://schemas.openxmlformats.org/officeDocument/2006/relationships" r:embed="rId2"/>
          <a:tile tx="0" ty="0" sx="100000" sy="100000" flip="none" algn="tl"/>
        </a:blipFill>
      </c:spPr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3">
    <c:autoUpdate val="0"/>
  </c:externalData>
  <c:userShapes r:id="rId4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4357734986097597E-2"/>
          <c:y val="0.14137748957850871"/>
          <c:w val="0.75971653543307471"/>
          <c:h val="0.7949345375945688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'[Death repoet.xlsx]Sheet1'!$H$3</c:f>
              <c:strCache>
                <c:ptCount val="1"/>
                <c:pt idx="0">
                  <c:v>percentage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'[Death repoet.xlsx]Sheet1'!$G$4:$G$9</c:f>
              <c:numCache>
                <c:formatCode>General</c:formatCode>
                <c:ptCount val="6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</c:numCache>
            </c:numRef>
          </c:cat>
          <c:val>
            <c:numRef>
              <c:f>'[Death repoet.xlsx]Sheet1'!$H$4:$H$9</c:f>
              <c:numCache>
                <c:formatCode>General</c:formatCode>
                <c:ptCount val="6"/>
                <c:pt idx="0">
                  <c:v>1.35</c:v>
                </c:pt>
                <c:pt idx="1">
                  <c:v>1.43</c:v>
                </c:pt>
                <c:pt idx="2">
                  <c:v>1.4</c:v>
                </c:pt>
                <c:pt idx="3">
                  <c:v>1.33</c:v>
                </c:pt>
                <c:pt idx="4">
                  <c:v>1.1900000000000064</c:v>
                </c:pt>
                <c:pt idx="5">
                  <c:v>2.02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64761728"/>
        <c:axId val="264764032"/>
      </c:barChart>
      <c:catAx>
        <c:axId val="2647617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64764032"/>
        <c:crosses val="autoZero"/>
        <c:auto val="1"/>
        <c:lblAlgn val="ctr"/>
        <c:lblOffset val="100"/>
        <c:noMultiLvlLbl val="0"/>
      </c:catAx>
      <c:valAx>
        <c:axId val="26476403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64761728"/>
        <c:crosses val="autoZero"/>
        <c:crossBetween val="between"/>
      </c:valAx>
      <c:spPr>
        <a:blipFill>
          <a:blip xmlns:r="http://schemas.openxmlformats.org/officeDocument/2006/relationships" r:embed="rId1"/>
          <a:tile tx="0" ty="0" sx="100000" sy="100000" flip="none" algn="tl"/>
        </a:blipFill>
      </c:spPr>
    </c:plotArea>
    <c:plotVisOnly val="1"/>
    <c:dispBlanksAs val="gap"/>
    <c:showDLblsOverMax val="0"/>
  </c:chart>
  <c:spPr>
    <a:blipFill>
      <a:blip xmlns:r="http://schemas.openxmlformats.org/officeDocument/2006/relationships" r:embed="rId2"/>
      <a:tile tx="0" ty="0" sx="100000" sy="100000" flip="none" algn="tl"/>
    </a:blipFill>
  </c:spPr>
  <c:txPr>
    <a:bodyPr/>
    <a:lstStyle/>
    <a:p>
      <a:pPr>
        <a:defRPr sz="2400" b="1" i="0" baseline="0"/>
      </a:pPr>
      <a:endParaRPr lang="en-US"/>
    </a:p>
  </c:txPr>
  <c:externalData r:id="rId3">
    <c:autoUpdate val="0"/>
  </c:externalData>
  <c:userShapes r:id="rId4"/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explosion val="4"/>
          <c:dPt>
            <c:idx val="0"/>
            <c:bubble3D val="0"/>
            <c:spPr>
              <a:solidFill>
                <a:srgbClr val="0C7E17"/>
              </a:solidFill>
            </c:spPr>
          </c:dPt>
          <c:dPt>
            <c:idx val="1"/>
            <c:bubble3D val="0"/>
            <c:explosion val="2"/>
            <c:spPr>
              <a:solidFill>
                <a:srgbClr val="FFC000"/>
              </a:solidFill>
            </c:spPr>
          </c:dPt>
          <c:dPt>
            <c:idx val="2"/>
            <c:bubble3D val="0"/>
            <c:spPr>
              <a:solidFill>
                <a:srgbClr val="00B0F0"/>
              </a:solidFill>
            </c:spPr>
          </c:dPt>
          <c:dPt>
            <c:idx val="3"/>
            <c:bubble3D val="0"/>
            <c:spPr>
              <a:solidFill>
                <a:srgbClr val="002060"/>
              </a:solidFill>
            </c:spPr>
          </c:dPt>
          <c:dPt>
            <c:idx val="4"/>
            <c:bubble3D val="0"/>
            <c:spPr>
              <a:solidFill>
                <a:srgbClr val="FF0000"/>
              </a:solidFill>
            </c:spPr>
          </c:dPt>
          <c:dLbls>
            <c:dLbl>
              <c:idx val="0"/>
              <c:layout>
                <c:manualLayout>
                  <c:x val="1.8852252843394576E-2"/>
                  <c:y val="-1.8136649058108242E-2"/>
                </c:manualLayout>
              </c:layout>
              <c:numFmt formatCode="General" sourceLinked="0"/>
              <c:spPr/>
              <c:txPr>
                <a:bodyPr/>
                <a:lstStyle/>
                <a:p>
                  <a:pPr>
                    <a:defRPr sz="2200" b="1" baseline="0">
                      <a:solidFill>
                        <a:srgbClr val="00B050"/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1"/>
              <c:showBubbleSize val="0"/>
            </c:dLbl>
            <c:dLbl>
              <c:idx val="1"/>
              <c:layout>
                <c:manualLayout>
                  <c:x val="-3.0025590551181102E-2"/>
                  <c:y val="1.0521279776736801E-2"/>
                </c:manualLayout>
              </c:layout>
              <c:showLegendKey val="0"/>
              <c:showVal val="1"/>
              <c:showCatName val="1"/>
              <c:showSerName val="0"/>
              <c:showPercent val="1"/>
              <c:showBubbleSize val="0"/>
            </c:dLbl>
            <c:dLbl>
              <c:idx val="2"/>
              <c:layout>
                <c:manualLayout>
                  <c:x val="-4.9125984251968513E-2"/>
                  <c:y val="0.10616746097527385"/>
                </c:manualLayout>
              </c:layout>
              <c:numFmt formatCode="General" sourceLinked="0"/>
              <c:spPr/>
              <c:txPr>
                <a:bodyPr/>
                <a:lstStyle/>
                <a:p>
                  <a:pPr>
                    <a:defRPr sz="2200" b="1" baseline="0">
                      <a:solidFill>
                        <a:srgbClr val="00B0F0"/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1"/>
              <c:showBubbleSize val="0"/>
            </c:dLbl>
            <c:dLbl>
              <c:idx val="3"/>
              <c:layout>
                <c:manualLayout>
                  <c:x val="-0.11080632108486438"/>
                  <c:y val="1.0162601626016328E-3"/>
                </c:manualLayout>
              </c:layout>
              <c:numFmt formatCode="General" sourceLinked="0"/>
              <c:spPr/>
              <c:txPr>
                <a:bodyPr/>
                <a:lstStyle/>
                <a:p>
                  <a:pPr>
                    <a:defRPr sz="2200" b="1" baseline="0">
                      <a:solidFill>
                        <a:schemeClr val="tx2"/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1"/>
              <c:showBubbleSize val="0"/>
            </c:dLbl>
            <c:dLbl>
              <c:idx val="4"/>
              <c:layout>
                <c:manualLayout>
                  <c:x val="0.23925000000000021"/>
                  <c:y val="2.1929824561403512E-3"/>
                </c:manualLayout>
              </c:layout>
              <c:numFmt formatCode="General" sourceLinked="0"/>
              <c:spPr/>
              <c:txPr>
                <a:bodyPr/>
                <a:lstStyle/>
                <a:p>
                  <a:pPr>
                    <a:defRPr sz="2200" b="1" baseline="0">
                      <a:solidFill>
                        <a:srgbClr val="FF0000"/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1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2200" b="1" baseline="0">
                    <a:solidFill>
                      <a:schemeClr val="tx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1"/>
            <c:showBubbleSize val="0"/>
            <c:showLeaderLines val="1"/>
          </c:dLbls>
          <c:cat>
            <c:strRef>
              <c:f>Sheet2!$B$3:$F$3</c:f>
              <c:strCache>
                <c:ptCount val="5"/>
                <c:pt idx="0">
                  <c:v>Discharge</c:v>
                </c:pt>
                <c:pt idx="1">
                  <c:v>DORB</c:v>
                </c:pt>
                <c:pt idx="2">
                  <c:v>ABS.</c:v>
                </c:pt>
                <c:pt idx="3">
                  <c:v>Ref.</c:v>
                </c:pt>
                <c:pt idx="4">
                  <c:v>Death </c:v>
                </c:pt>
              </c:strCache>
            </c:strRef>
          </c:cat>
          <c:val>
            <c:numRef>
              <c:f>Sheet2!$B$4:$F$4</c:f>
              <c:numCache>
                <c:formatCode>General</c:formatCode>
                <c:ptCount val="5"/>
                <c:pt idx="0">
                  <c:v>19523</c:v>
                </c:pt>
                <c:pt idx="1">
                  <c:v>2788</c:v>
                </c:pt>
                <c:pt idx="2">
                  <c:v>3667</c:v>
                </c:pt>
                <c:pt idx="3">
                  <c:v>1523</c:v>
                </c:pt>
                <c:pt idx="4">
                  <c:v>542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</c:chart>
  <c:spPr>
    <a:blipFill>
      <a:blip xmlns:r="http://schemas.openxmlformats.org/officeDocument/2006/relationships" r:embed="rId1"/>
      <a:tile tx="0" ty="0" sx="100000" sy="100000" flip="none" algn="tl"/>
    </a:blipFill>
  </c:spPr>
  <c:externalData r:id="rId2">
    <c:autoUpdate val="0"/>
  </c:externalData>
  <c:userShapes r:id="rId3"/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10"/>
      <c:rAngAx val="1"/>
    </c:view3D>
    <c:floor>
      <c:thickness val="0"/>
    </c:floor>
    <c:side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sideWall>
    <c:back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backWall>
    <c:plotArea>
      <c:layout>
        <c:manualLayout>
          <c:layoutTarget val="inner"/>
          <c:xMode val="edge"/>
          <c:yMode val="edge"/>
          <c:x val="0"/>
          <c:y val="3.2163742690058485E-2"/>
          <c:w val="0.98514599737532804"/>
          <c:h val="0.83777362204724415"/>
        </c:manualLayout>
      </c:layout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dLbl>
              <c:idx val="4"/>
              <c:layout>
                <c:manualLayout>
                  <c:x val="4.1666666666666683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</c:numCache>
            </c:numRef>
          </c:cat>
          <c:val>
            <c:numRef>
              <c:f>Sheet1!$B$2:$B$7</c:f>
              <c:numCache>
                <c:formatCode>#,##0</c:formatCode>
                <c:ptCount val="6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  <c:pt idx="3">
                  <c:v>7265145</c:v>
                </c:pt>
                <c:pt idx="4" formatCode="General">
                  <c:v>8903675</c:v>
                </c:pt>
                <c:pt idx="5" formatCode="General">
                  <c:v>7105951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one"/>
        <c:axId val="13653120"/>
        <c:axId val="13654656"/>
        <c:axId val="13778432"/>
      </c:bar3DChart>
      <c:catAx>
        <c:axId val="136531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900" b="1" baseline="0"/>
            </a:pPr>
            <a:endParaRPr lang="en-US"/>
          </a:p>
        </c:txPr>
        <c:crossAx val="13654656"/>
        <c:crosses val="autoZero"/>
        <c:auto val="1"/>
        <c:lblAlgn val="ctr"/>
        <c:lblOffset val="100"/>
        <c:noMultiLvlLbl val="0"/>
      </c:catAx>
      <c:valAx>
        <c:axId val="13654656"/>
        <c:scaling>
          <c:orientation val="minMax"/>
        </c:scaling>
        <c:delete val="1"/>
        <c:axPos val="l"/>
        <c:numFmt formatCode="#,##0" sourceLinked="1"/>
        <c:majorTickMark val="out"/>
        <c:minorTickMark val="none"/>
        <c:tickLblPos val="nextTo"/>
        <c:crossAx val="13653120"/>
        <c:crosses val="autoZero"/>
        <c:crossBetween val="between"/>
      </c:valAx>
      <c:serAx>
        <c:axId val="13778432"/>
        <c:scaling>
          <c:orientation val="minMax"/>
        </c:scaling>
        <c:delete val="1"/>
        <c:axPos val="b"/>
        <c:majorTickMark val="out"/>
        <c:minorTickMark val="none"/>
        <c:tickLblPos val="nextTo"/>
        <c:crossAx val="13654656"/>
        <c:crosses val="autoZero"/>
      </c:serAx>
      <c:spPr>
        <a:noFill/>
        <a:ln w="25386">
          <a:noFill/>
        </a:ln>
      </c:spPr>
    </c:plotArea>
    <c:plotVisOnly val="1"/>
    <c:dispBlanksAs val="gap"/>
    <c:showDLblsOverMax val="0"/>
  </c:chart>
  <c:spPr>
    <a:blipFill>
      <a:blip xmlns:r="http://schemas.openxmlformats.org/officeDocument/2006/relationships" r:embed="rId1"/>
      <a:tile tx="0" ty="0" sx="100000" sy="100000" flip="none" algn="tl"/>
    </a:blipFill>
  </c:spPr>
  <c:txPr>
    <a:bodyPr/>
    <a:lstStyle/>
    <a:p>
      <a:pPr>
        <a:defRPr sz="1797"/>
      </a:pPr>
      <a:endParaRPr lang="en-US"/>
    </a:p>
  </c:txPr>
  <c:externalData r:id="rId2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rAngAx val="1"/>
    </c:view3D>
    <c:floor>
      <c:thickness val="0"/>
    </c:floor>
    <c:sideWall>
      <c:thickness val="0"/>
    </c:sideWall>
    <c:back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backWall>
    <c:plotArea>
      <c:layout/>
      <c:bar3DChart>
        <c:barDir val="col"/>
        <c:grouping val="clustered"/>
        <c:varyColors val="0"/>
        <c:ser>
          <c:idx val="0"/>
          <c:order val="0"/>
          <c:invertIfNegative val="0"/>
          <c:dLbls>
            <c:txPr>
              <a:bodyPr/>
              <a:lstStyle/>
              <a:p>
                <a:pPr>
                  <a:defRPr sz="16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Sheet2!$A$3:$A$13</c:f>
              <c:strCache>
                <c:ptCount val="11"/>
                <c:pt idx="0">
                  <c:v>MSR</c:v>
                </c:pt>
                <c:pt idx="1">
                  <c:v>Operation Charge </c:v>
                </c:pt>
                <c:pt idx="2">
                  <c:v>Pat. Admission fee</c:v>
                </c:pt>
                <c:pt idx="3">
                  <c:v>ECG </c:v>
                </c:pt>
                <c:pt idx="4">
                  <c:v>Ultrasono.</c:v>
                </c:pt>
                <c:pt idx="5">
                  <c:v>B. Bank</c:v>
                </c:pt>
                <c:pt idx="6">
                  <c:v>X-ray</c:v>
                </c:pt>
                <c:pt idx="7">
                  <c:v>Cabin &amp; Paying fee </c:v>
                </c:pt>
                <c:pt idx="8">
                  <c:v>Ambulance </c:v>
                </c:pt>
                <c:pt idx="9">
                  <c:v>OPD &amp; Emer. (Ticket)</c:v>
                </c:pt>
                <c:pt idx="10">
                  <c:v>Pathology</c:v>
                </c:pt>
              </c:strCache>
            </c:strRef>
          </c:cat>
          <c:val>
            <c:numRef>
              <c:f>Sheet2!$B$3:$B$13</c:f>
              <c:numCache>
                <c:formatCode>General</c:formatCode>
                <c:ptCount val="11"/>
                <c:pt idx="0">
                  <c:v>65250</c:v>
                </c:pt>
                <c:pt idx="1">
                  <c:v>161000</c:v>
                </c:pt>
                <c:pt idx="2">
                  <c:v>233840</c:v>
                </c:pt>
                <c:pt idx="3">
                  <c:v>320670</c:v>
                </c:pt>
                <c:pt idx="4">
                  <c:v>472810</c:v>
                </c:pt>
                <c:pt idx="5">
                  <c:v>542250</c:v>
                </c:pt>
                <c:pt idx="6">
                  <c:v>557247</c:v>
                </c:pt>
                <c:pt idx="7">
                  <c:v>729350</c:v>
                </c:pt>
                <c:pt idx="8">
                  <c:v>972510</c:v>
                </c:pt>
                <c:pt idx="9">
                  <c:v>1217840</c:v>
                </c:pt>
                <c:pt idx="10">
                  <c:v>1833184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0818688"/>
        <c:axId val="10820224"/>
        <c:axId val="0"/>
      </c:bar3DChart>
      <c:catAx>
        <c:axId val="10818688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 b="1"/>
            </a:pPr>
            <a:endParaRPr lang="en-US"/>
          </a:p>
        </c:txPr>
        <c:crossAx val="10820224"/>
        <c:crosses val="autoZero"/>
        <c:auto val="1"/>
        <c:lblAlgn val="ctr"/>
        <c:lblOffset val="100"/>
        <c:noMultiLvlLbl val="0"/>
      </c:catAx>
      <c:valAx>
        <c:axId val="10820224"/>
        <c:scaling>
          <c:orientation val="minMax"/>
        </c:scaling>
        <c:delete val="1"/>
        <c:axPos val="l"/>
        <c:majorGridlines/>
        <c:numFmt formatCode="General" sourceLinked="1"/>
        <c:majorTickMark val="out"/>
        <c:minorTickMark val="none"/>
        <c:tickLblPos val="nextTo"/>
        <c:crossAx val="10818688"/>
        <c:crosses val="autoZero"/>
        <c:crossBetween val="between"/>
      </c:valAx>
    </c:plotArea>
    <c:plotVisOnly val="1"/>
    <c:dispBlanksAs val="gap"/>
    <c:showDLblsOverMax val="0"/>
  </c:chart>
  <c:externalData r:id="rId2">
    <c:autoUpdate val="0"/>
  </c:externalData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0.54167</cdr:x>
      <cdr:y>0.4</cdr:y>
    </cdr:from>
    <cdr:to>
      <cdr:x>0.60001</cdr:x>
      <cdr:y>0.44445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4953000" y="2743200"/>
          <a:ext cx="533460" cy="304838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sz="2400" dirty="0" smtClean="0">
              <a:solidFill>
                <a:srgbClr val="FFFF00"/>
              </a:solidFill>
            </a:rPr>
            <a:t>3</a:t>
          </a:r>
          <a:endParaRPr lang="en-US" sz="2400" dirty="0">
            <a:solidFill>
              <a:srgbClr val="FFFF00"/>
            </a:solidFill>
          </a:endParaRPr>
        </a:p>
      </cdr:txBody>
    </cdr:sp>
  </cdr:relSizeAnchor>
  <cdr:relSizeAnchor xmlns:cdr="http://schemas.openxmlformats.org/drawingml/2006/chartDrawing">
    <cdr:from>
      <cdr:x>0.36667</cdr:x>
      <cdr:y>0.53333</cdr:y>
    </cdr:from>
    <cdr:to>
      <cdr:x>0.41667</cdr:x>
      <cdr:y>0.58889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3352800" y="3657600"/>
          <a:ext cx="457200" cy="38099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sz="2400" dirty="0" smtClean="0">
              <a:solidFill>
                <a:srgbClr val="FFFF00"/>
              </a:solidFill>
            </a:rPr>
            <a:t>1</a:t>
          </a:r>
          <a:endParaRPr lang="en-US" sz="2400" dirty="0">
            <a:solidFill>
              <a:srgbClr val="FFFF00"/>
            </a:solidFill>
          </a:endParaRPr>
        </a:p>
      </cdr:txBody>
    </cdr:sp>
  </cdr:relSizeAnchor>
  <cdr:relSizeAnchor xmlns:cdr="http://schemas.openxmlformats.org/drawingml/2006/chartDrawing">
    <cdr:from>
      <cdr:x>0.43333</cdr:x>
      <cdr:y>0.37778</cdr:y>
    </cdr:from>
    <cdr:to>
      <cdr:x>0.48333</cdr:x>
      <cdr:y>0.41111</cdr:y>
    </cdr:to>
    <cdr:sp macro="" textlink="">
      <cdr:nvSpPr>
        <cdr:cNvPr id="4" name="TextBox 3"/>
        <cdr:cNvSpPr txBox="1"/>
      </cdr:nvSpPr>
      <cdr:spPr>
        <a:xfrm xmlns:a="http://schemas.openxmlformats.org/drawingml/2006/main">
          <a:off x="3962400" y="2590800"/>
          <a:ext cx="457200" cy="22857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sz="2400" dirty="0">
              <a:solidFill>
                <a:srgbClr val="FFFF00"/>
              </a:solidFill>
            </a:rPr>
            <a:t>5</a:t>
          </a:r>
        </a:p>
      </cdr:txBody>
    </cdr:sp>
  </cdr:relSizeAnchor>
  <cdr:relSizeAnchor xmlns:cdr="http://schemas.openxmlformats.org/drawingml/2006/chartDrawing">
    <cdr:from>
      <cdr:x>0.59167</cdr:x>
      <cdr:y>0.51111</cdr:y>
    </cdr:from>
    <cdr:to>
      <cdr:x>0.63333</cdr:x>
      <cdr:y>0.54444</cdr:y>
    </cdr:to>
    <cdr:sp macro="" textlink="">
      <cdr:nvSpPr>
        <cdr:cNvPr id="5" name="TextBox 4"/>
        <cdr:cNvSpPr txBox="1"/>
      </cdr:nvSpPr>
      <cdr:spPr>
        <a:xfrm xmlns:a="http://schemas.openxmlformats.org/drawingml/2006/main">
          <a:off x="5410200" y="3505200"/>
          <a:ext cx="381000" cy="2286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sz="2400" dirty="0" smtClean="0">
              <a:solidFill>
                <a:srgbClr val="FFFF00"/>
              </a:solidFill>
            </a:rPr>
            <a:t>4</a:t>
          </a:r>
          <a:endParaRPr lang="en-US" sz="2400" dirty="0">
            <a:solidFill>
              <a:srgbClr val="FFFF00"/>
            </a:solidFill>
          </a:endParaRPr>
        </a:p>
      </cdr:txBody>
    </cdr:sp>
  </cdr:relSizeAnchor>
  <cdr:relSizeAnchor xmlns:cdr="http://schemas.openxmlformats.org/drawingml/2006/chartDrawing">
    <cdr:from>
      <cdr:x>0.36667</cdr:x>
      <cdr:y>0.41111</cdr:y>
    </cdr:from>
    <cdr:to>
      <cdr:x>0.40833</cdr:x>
      <cdr:y>0.44444</cdr:y>
    </cdr:to>
    <cdr:sp macro="" textlink="">
      <cdr:nvSpPr>
        <cdr:cNvPr id="6" name="TextBox 5"/>
        <cdr:cNvSpPr txBox="1"/>
      </cdr:nvSpPr>
      <cdr:spPr>
        <a:xfrm xmlns:a="http://schemas.openxmlformats.org/drawingml/2006/main">
          <a:off x="3352800" y="2819400"/>
          <a:ext cx="380940" cy="22857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sz="2000" dirty="0">
              <a:solidFill>
                <a:srgbClr val="FFFF00"/>
              </a:solidFill>
            </a:rPr>
            <a:t>7</a:t>
          </a:r>
        </a:p>
      </cdr:txBody>
    </cdr:sp>
  </cdr:relSizeAnchor>
  <cdr:relSizeAnchor xmlns:cdr="http://schemas.openxmlformats.org/drawingml/2006/chartDrawing">
    <cdr:from>
      <cdr:x>0.43333</cdr:x>
      <cdr:y>0.66667</cdr:y>
    </cdr:from>
    <cdr:to>
      <cdr:x>0.45833</cdr:x>
      <cdr:y>0.70001</cdr:y>
    </cdr:to>
    <cdr:sp macro="" textlink="">
      <cdr:nvSpPr>
        <cdr:cNvPr id="7" name="TextBox 6"/>
        <cdr:cNvSpPr txBox="1"/>
      </cdr:nvSpPr>
      <cdr:spPr>
        <a:xfrm xmlns:a="http://schemas.openxmlformats.org/drawingml/2006/main">
          <a:off x="3962400" y="4572000"/>
          <a:ext cx="228600" cy="22864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sz="2400" dirty="0" smtClean="0">
              <a:solidFill>
                <a:srgbClr val="FFFF00"/>
              </a:solidFill>
            </a:rPr>
            <a:t>6</a:t>
          </a:r>
          <a:endParaRPr lang="en-US" sz="2400" dirty="0">
            <a:solidFill>
              <a:srgbClr val="FFFF00"/>
            </a:solidFill>
          </a:endParaRPr>
        </a:p>
      </cdr:txBody>
    </cdr:sp>
  </cdr:relSizeAnchor>
  <cdr:relSizeAnchor xmlns:cdr="http://schemas.openxmlformats.org/drawingml/2006/chartDrawing">
    <cdr:from>
      <cdr:x>0.9</cdr:x>
      <cdr:y>0.36667</cdr:y>
    </cdr:from>
    <cdr:to>
      <cdr:x>0.96667</cdr:x>
      <cdr:y>0.71111</cdr:y>
    </cdr:to>
    <cdr:sp macro="" textlink="">
      <cdr:nvSpPr>
        <cdr:cNvPr id="8" name="TextBox 7"/>
        <cdr:cNvSpPr txBox="1"/>
      </cdr:nvSpPr>
      <cdr:spPr>
        <a:xfrm xmlns:a="http://schemas.openxmlformats.org/drawingml/2006/main">
          <a:off x="8229600" y="2514600"/>
          <a:ext cx="609600" cy="23622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  <cdr:relSizeAnchor xmlns:cdr="http://schemas.openxmlformats.org/drawingml/2006/chartDrawing">
    <cdr:from>
      <cdr:x>0.91667</cdr:x>
      <cdr:y>0.2</cdr:y>
    </cdr:from>
    <cdr:to>
      <cdr:x>0.975</cdr:x>
      <cdr:y>0.67778</cdr:y>
    </cdr:to>
    <cdr:sp macro="" textlink="">
      <cdr:nvSpPr>
        <cdr:cNvPr id="9" name="TextBox 8"/>
        <cdr:cNvSpPr txBox="1"/>
      </cdr:nvSpPr>
      <cdr:spPr>
        <a:xfrm xmlns:a="http://schemas.openxmlformats.org/drawingml/2006/main">
          <a:off x="8382000" y="1371600"/>
          <a:ext cx="533400" cy="32766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="vert270" wrap="square" rtlCol="0"/>
        <a:lstStyle xmlns:a="http://schemas.openxmlformats.org/drawingml/2006/main"/>
        <a:p xmlns:a="http://schemas.openxmlformats.org/drawingml/2006/main">
          <a:r>
            <a:rPr lang="en-US" sz="2400" b="1" dirty="0" smtClean="0">
              <a:solidFill>
                <a:srgbClr val="00B050"/>
              </a:solidFill>
            </a:rPr>
            <a:t>Total Admission- 27989</a:t>
          </a:r>
          <a:endParaRPr lang="en-US" sz="2400" b="1" dirty="0">
            <a:solidFill>
              <a:srgbClr val="00B050"/>
            </a:solidFill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0.725</cdr:x>
      <cdr:y>0</cdr:y>
    </cdr:from>
    <cdr:to>
      <cdr:x>1</cdr:x>
      <cdr:y>0.06173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6629400" y="0"/>
          <a:ext cx="2514600" cy="390418"/>
        </a:xfrm>
        <a:prstGeom xmlns:a="http://schemas.openxmlformats.org/drawingml/2006/main" prst="rect">
          <a:avLst/>
        </a:prstGeom>
        <a:solidFill xmlns:a="http://schemas.openxmlformats.org/drawingml/2006/main">
          <a:srgbClr val="CCFFFF"/>
        </a:solidFill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sz="2400" dirty="0" smtClean="0"/>
            <a:t>Total  Admit -460</a:t>
          </a:r>
          <a:endParaRPr lang="en-US" sz="2400" dirty="0"/>
        </a:p>
      </cdr:txBody>
    </cdr:sp>
  </cdr:relSizeAnchor>
  <cdr:relSizeAnchor xmlns:cdr="http://schemas.openxmlformats.org/drawingml/2006/chartDrawing">
    <cdr:from>
      <cdr:x>0.90576</cdr:x>
      <cdr:y>0.11111</cdr:y>
    </cdr:from>
    <cdr:to>
      <cdr:x>0.96635</cdr:x>
      <cdr:y>0.88889</cdr:y>
    </cdr:to>
    <cdr:sp macro="" textlink="">
      <cdr:nvSpPr>
        <cdr:cNvPr id="3" name="TextBox 4"/>
        <cdr:cNvSpPr txBox="1"/>
      </cdr:nvSpPr>
      <cdr:spPr>
        <a:xfrm xmlns:a="http://schemas.openxmlformats.org/drawingml/2006/main">
          <a:off x="8282269" y="702726"/>
          <a:ext cx="553998" cy="4919148"/>
        </a:xfrm>
        <a:prstGeom xmlns:a="http://schemas.openxmlformats.org/drawingml/2006/main" prst="rect">
          <a:avLst/>
        </a:prstGeom>
        <a:solidFill xmlns:a="http://schemas.openxmlformats.org/drawingml/2006/main">
          <a:srgbClr val="00B0F0"/>
        </a:solidFill>
      </cdr:spPr>
      <cdr:txBody>
        <a:bodyPr xmlns:a="http://schemas.openxmlformats.org/drawingml/2006/main" vert="vert270" wrap="square" rtlCol="0">
          <a:spAutoFit/>
        </a:bodyPr>
        <a:lstStyle xmlns:a="http://schemas.openxmlformats.org/drawingml/2006/main">
          <a:defPPr>
            <a:defRPr lang="en-US"/>
          </a:defPPr>
          <a:lvl1pPr marL="0" algn="l" defTabSz="778371" rtl="0" eaLnBrk="1" latinLnBrk="0" hangingPunct="1">
            <a:defRPr sz="1500" kern="1200">
              <a:solidFill>
                <a:sysClr val="windowText" lastClr="000000"/>
              </a:solidFill>
              <a:latin typeface="Cambria"/>
            </a:defRPr>
          </a:lvl1pPr>
          <a:lvl2pPr marL="389185" algn="l" defTabSz="778371" rtl="0" eaLnBrk="1" latinLnBrk="0" hangingPunct="1">
            <a:defRPr sz="1500" kern="1200">
              <a:solidFill>
                <a:sysClr val="windowText" lastClr="000000"/>
              </a:solidFill>
              <a:latin typeface="Cambria"/>
            </a:defRPr>
          </a:lvl2pPr>
          <a:lvl3pPr marL="778371" algn="l" defTabSz="778371" rtl="0" eaLnBrk="1" latinLnBrk="0" hangingPunct="1">
            <a:defRPr sz="1500" kern="1200">
              <a:solidFill>
                <a:sysClr val="windowText" lastClr="000000"/>
              </a:solidFill>
              <a:latin typeface="Cambria"/>
            </a:defRPr>
          </a:lvl3pPr>
          <a:lvl4pPr marL="1167556" algn="l" defTabSz="778371" rtl="0" eaLnBrk="1" latinLnBrk="0" hangingPunct="1">
            <a:defRPr sz="1500" kern="1200">
              <a:solidFill>
                <a:sysClr val="windowText" lastClr="000000"/>
              </a:solidFill>
              <a:latin typeface="Cambria"/>
            </a:defRPr>
          </a:lvl4pPr>
          <a:lvl5pPr marL="1556742" algn="l" defTabSz="778371" rtl="0" eaLnBrk="1" latinLnBrk="0" hangingPunct="1">
            <a:defRPr sz="1500" kern="1200">
              <a:solidFill>
                <a:sysClr val="windowText" lastClr="000000"/>
              </a:solidFill>
              <a:latin typeface="Cambria"/>
            </a:defRPr>
          </a:lvl5pPr>
          <a:lvl6pPr marL="1945927" algn="l" defTabSz="778371" rtl="0" eaLnBrk="1" latinLnBrk="0" hangingPunct="1">
            <a:defRPr sz="1500" kern="1200">
              <a:solidFill>
                <a:sysClr val="windowText" lastClr="000000"/>
              </a:solidFill>
              <a:latin typeface="Cambria"/>
            </a:defRPr>
          </a:lvl6pPr>
          <a:lvl7pPr marL="2335112" algn="l" defTabSz="778371" rtl="0" eaLnBrk="1" latinLnBrk="0" hangingPunct="1">
            <a:defRPr sz="1500" kern="1200">
              <a:solidFill>
                <a:sysClr val="windowText" lastClr="000000"/>
              </a:solidFill>
              <a:latin typeface="Cambria"/>
            </a:defRPr>
          </a:lvl7pPr>
          <a:lvl8pPr marL="2724298" algn="l" defTabSz="778371" rtl="0" eaLnBrk="1" latinLnBrk="0" hangingPunct="1">
            <a:defRPr sz="1500" kern="1200">
              <a:solidFill>
                <a:sysClr val="windowText" lastClr="000000"/>
              </a:solidFill>
              <a:latin typeface="Cambria"/>
            </a:defRPr>
          </a:lvl8pPr>
          <a:lvl9pPr marL="3113483" algn="l" defTabSz="778371" rtl="0" eaLnBrk="1" latinLnBrk="0" hangingPunct="1">
            <a:defRPr sz="1500" kern="1200">
              <a:solidFill>
                <a:sysClr val="windowText" lastClr="000000"/>
              </a:solidFill>
              <a:latin typeface="Cambria"/>
            </a:defRPr>
          </a:lvl9pPr>
        </a:lstStyle>
        <a:p xmlns:a="http://schemas.openxmlformats.org/drawingml/2006/main">
          <a:r>
            <a:rPr lang="en-US" sz="2000" b="1" dirty="0" smtClean="0">
              <a:latin typeface="Times New Roman" pitchFamily="18" charset="0"/>
              <a:cs typeface="Times New Roman" pitchFamily="18" charset="0"/>
            </a:rPr>
            <a:t>Total Health Staff positive   -  </a:t>
          </a:r>
          <a:r>
            <a:rPr lang="en-US" sz="2400" b="1" dirty="0" smtClean="0">
              <a:latin typeface="Times New Roman" pitchFamily="18" charset="0"/>
              <a:cs typeface="Times New Roman" pitchFamily="18" charset="0"/>
            </a:rPr>
            <a:t>108</a:t>
          </a:r>
          <a:endParaRPr lang="en-US" sz="2400" b="1" dirty="0">
            <a:latin typeface="Times New Roman" pitchFamily="18" charset="0"/>
            <a:cs typeface="Times New Roman" pitchFamily="18" charset="0"/>
          </a:endParaRP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0.34259</cdr:x>
      <cdr:y>0.77612</cdr:y>
    </cdr:from>
    <cdr:to>
      <cdr:x>0.34815</cdr:x>
      <cdr:y>0.80597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2819400" y="3962400"/>
          <a:ext cx="45719" cy="152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  <cdr:relSizeAnchor xmlns:cdr="http://schemas.openxmlformats.org/drawingml/2006/chartDrawing">
    <cdr:from>
      <cdr:x>0.43333</cdr:x>
      <cdr:y>0.90278</cdr:y>
    </cdr:from>
    <cdr:to>
      <cdr:x>0.5537</cdr:x>
      <cdr:y>0.96249</cdr:y>
    </cdr:to>
    <cdr:sp macro="" textlink="">
      <cdr:nvSpPr>
        <cdr:cNvPr id="4" name="TextBox 3"/>
        <cdr:cNvSpPr txBox="1"/>
      </cdr:nvSpPr>
      <cdr:spPr>
        <a:xfrm xmlns:a="http://schemas.openxmlformats.org/drawingml/2006/main">
          <a:off x="3962400" y="4953000"/>
          <a:ext cx="1100663" cy="327593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sz="1600" b="1" dirty="0" smtClean="0"/>
            <a:t>250 bed</a:t>
          </a:r>
          <a:endParaRPr lang="en-US" sz="1600" b="1" dirty="0"/>
        </a:p>
      </cdr:txBody>
    </cdr:sp>
  </cdr:relSizeAnchor>
  <cdr:relSizeAnchor xmlns:cdr="http://schemas.openxmlformats.org/drawingml/2006/chartDrawing">
    <cdr:from>
      <cdr:x>0.67593</cdr:x>
      <cdr:y>0.9403</cdr:y>
    </cdr:from>
    <cdr:to>
      <cdr:x>0.80556</cdr:x>
      <cdr:y>1</cdr:y>
    </cdr:to>
    <cdr:sp macro="" textlink="">
      <cdr:nvSpPr>
        <cdr:cNvPr id="5" name="TextBox 4"/>
        <cdr:cNvSpPr txBox="1"/>
      </cdr:nvSpPr>
      <cdr:spPr>
        <a:xfrm xmlns:a="http://schemas.openxmlformats.org/drawingml/2006/main">
          <a:off x="5562600" y="5029200"/>
          <a:ext cx="1066803" cy="31843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endParaRPr lang="en-US" sz="1600" b="1" dirty="0"/>
        </a:p>
      </cdr:txBody>
    </cdr:sp>
  </cdr:relSizeAnchor>
  <cdr:relSizeAnchor xmlns:cdr="http://schemas.openxmlformats.org/drawingml/2006/chartDrawing">
    <cdr:from>
      <cdr:x>0.84167</cdr:x>
      <cdr:y>0.91667</cdr:y>
    </cdr:from>
    <cdr:to>
      <cdr:x>0.96204</cdr:x>
      <cdr:y>0.97222</cdr:y>
    </cdr:to>
    <cdr:sp macro="" textlink="">
      <cdr:nvSpPr>
        <cdr:cNvPr id="6" name="TextBox 5"/>
        <cdr:cNvSpPr txBox="1"/>
      </cdr:nvSpPr>
      <cdr:spPr>
        <a:xfrm xmlns:a="http://schemas.openxmlformats.org/drawingml/2006/main">
          <a:off x="7696200" y="5029200"/>
          <a:ext cx="1100667" cy="3048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sz="1600" b="1" dirty="0" smtClean="0"/>
            <a:t>250 bed</a:t>
          </a:r>
          <a:endParaRPr lang="en-US" sz="1600" b="1" dirty="0"/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0.83333</cdr:x>
      <cdr:y>0</cdr:y>
    </cdr:from>
    <cdr:to>
      <cdr:x>1</cdr:x>
      <cdr:y>0.29198</cdr:y>
    </cdr:to>
    <cdr:sp macro="" textlink="">
      <cdr:nvSpPr>
        <cdr:cNvPr id="2" name="TextBox 2"/>
        <cdr:cNvSpPr txBox="1"/>
      </cdr:nvSpPr>
      <cdr:spPr>
        <a:xfrm xmlns:a="http://schemas.openxmlformats.org/drawingml/2006/main">
          <a:off x="7620000" y="0"/>
          <a:ext cx="1524000" cy="1846659"/>
        </a:xfrm>
        <a:prstGeom xmlns:a="http://schemas.openxmlformats.org/drawingml/2006/main" prst="rect">
          <a:avLst/>
        </a:prstGeom>
        <a:solidFill xmlns:a="http://schemas.openxmlformats.org/drawingml/2006/main">
          <a:srgbClr val="FFC000"/>
        </a:solidFill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US"/>
          </a:defPPr>
          <a:lvl1pPr algn="l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ysClr val="windowText" lastClr="000000"/>
              </a:solidFill>
              <a:latin typeface="Arial" pitchFamily="34" charset="0"/>
              <a:cs typeface="Arial" pitchFamily="34" charset="0"/>
            </a:defRPr>
          </a:lvl1pPr>
          <a:lvl2pPr marL="457200" algn="l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ysClr val="windowText" lastClr="000000"/>
              </a:solidFill>
              <a:latin typeface="Arial" pitchFamily="34" charset="0"/>
              <a:cs typeface="Arial" pitchFamily="34" charset="0"/>
            </a:defRPr>
          </a:lvl2pPr>
          <a:lvl3pPr marL="914400" algn="l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ysClr val="windowText" lastClr="000000"/>
              </a:solidFill>
              <a:latin typeface="Arial" pitchFamily="34" charset="0"/>
              <a:cs typeface="Arial" pitchFamily="34" charset="0"/>
            </a:defRPr>
          </a:lvl3pPr>
          <a:lvl4pPr marL="1371600" algn="l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ysClr val="windowText" lastClr="000000"/>
              </a:solidFill>
              <a:latin typeface="Arial" pitchFamily="34" charset="0"/>
              <a:cs typeface="Arial" pitchFamily="34" charset="0"/>
            </a:defRPr>
          </a:lvl4pPr>
          <a:lvl5pPr marL="1828800" algn="l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ysClr val="windowText" lastClr="000000"/>
              </a:solidFill>
              <a:latin typeface="Arial" pitchFamily="34" charset="0"/>
              <a:cs typeface="Arial" pitchFamily="34" charset="0"/>
            </a:defRPr>
          </a:lvl5pPr>
          <a:lvl6pPr marL="2286000" algn="l" defTabSz="914400" rtl="0" eaLnBrk="1" latinLnBrk="0" hangingPunct="1">
            <a:defRPr kern="1200">
              <a:solidFill>
                <a:sysClr val="windowText" lastClr="000000"/>
              </a:solidFill>
              <a:latin typeface="Arial" pitchFamily="34" charset="0"/>
              <a:cs typeface="Arial" pitchFamily="34" charset="0"/>
            </a:defRPr>
          </a:lvl6pPr>
          <a:lvl7pPr marL="2743200" algn="l" defTabSz="914400" rtl="0" eaLnBrk="1" latinLnBrk="0" hangingPunct="1">
            <a:defRPr kern="1200">
              <a:solidFill>
                <a:sysClr val="windowText" lastClr="000000"/>
              </a:solidFill>
              <a:latin typeface="Arial" pitchFamily="34" charset="0"/>
              <a:cs typeface="Arial" pitchFamily="34" charset="0"/>
            </a:defRPr>
          </a:lvl7pPr>
          <a:lvl8pPr marL="3200400" algn="l" defTabSz="914400" rtl="0" eaLnBrk="1" latinLnBrk="0" hangingPunct="1">
            <a:defRPr kern="1200">
              <a:solidFill>
                <a:sysClr val="windowText" lastClr="000000"/>
              </a:solidFill>
              <a:latin typeface="Arial" pitchFamily="34" charset="0"/>
              <a:cs typeface="Arial" pitchFamily="34" charset="0"/>
            </a:defRPr>
          </a:lvl8pPr>
          <a:lvl9pPr marL="3657600" algn="l" defTabSz="914400" rtl="0" eaLnBrk="1" latinLnBrk="0" hangingPunct="1">
            <a:defRPr kern="1200">
              <a:solidFill>
                <a:sysClr val="windowText" lastClr="000000"/>
              </a:solidFill>
              <a:latin typeface="Arial" pitchFamily="34" charset="0"/>
              <a:cs typeface="Arial" pitchFamily="34" charset="0"/>
            </a:defRPr>
          </a:lvl9pPr>
        </a:lstStyle>
        <a:p xmlns:a="http://schemas.openxmlformats.org/drawingml/2006/main">
          <a:r>
            <a:rPr lang="en-US" sz="1600" b="1" dirty="0" smtClean="0">
              <a:solidFill>
                <a:srgbClr val="FF0000"/>
              </a:solidFill>
            </a:rPr>
            <a:t> </a:t>
          </a:r>
          <a:r>
            <a:rPr lang="en-US" sz="1800" b="1" dirty="0" smtClean="0">
              <a:solidFill>
                <a:srgbClr val="FF0000"/>
              </a:solidFill>
            </a:rPr>
            <a:t>Total death</a:t>
          </a:r>
        </a:p>
        <a:p xmlns:a="http://schemas.openxmlformats.org/drawingml/2006/main">
          <a:r>
            <a:rPr lang="en-US" sz="1600" b="1" dirty="0" smtClean="0">
              <a:solidFill>
                <a:srgbClr val="FF0000"/>
              </a:solidFill>
            </a:rPr>
            <a:t>   </a:t>
          </a:r>
          <a:r>
            <a:rPr lang="en-US" sz="1600" dirty="0" smtClean="0">
              <a:solidFill>
                <a:srgbClr val="7030A0"/>
              </a:solidFill>
            </a:rPr>
            <a:t>2015 - 385</a:t>
          </a:r>
        </a:p>
        <a:p xmlns:a="http://schemas.openxmlformats.org/drawingml/2006/main">
          <a:pPr algn="ctr"/>
          <a:r>
            <a:rPr lang="en-US" sz="1600" dirty="0" smtClean="0">
              <a:solidFill>
                <a:srgbClr val="7030A0"/>
              </a:solidFill>
            </a:rPr>
            <a:t>2016 - 440</a:t>
          </a:r>
        </a:p>
        <a:p xmlns:a="http://schemas.openxmlformats.org/drawingml/2006/main">
          <a:pPr algn="ctr"/>
          <a:r>
            <a:rPr lang="en-US" sz="1600" dirty="0" smtClean="0">
              <a:solidFill>
                <a:srgbClr val="7030A0"/>
              </a:solidFill>
            </a:rPr>
            <a:t>2017-  493</a:t>
          </a:r>
        </a:p>
        <a:p xmlns:a="http://schemas.openxmlformats.org/drawingml/2006/main">
          <a:pPr algn="ctr"/>
          <a:r>
            <a:rPr lang="en-US" sz="1600" dirty="0" smtClean="0">
              <a:solidFill>
                <a:srgbClr val="7030A0"/>
              </a:solidFill>
            </a:rPr>
            <a:t>2018 – 486</a:t>
          </a:r>
        </a:p>
        <a:p xmlns:a="http://schemas.openxmlformats.org/drawingml/2006/main">
          <a:pPr algn="ctr"/>
          <a:r>
            <a:rPr lang="en-US" sz="1600" dirty="0" smtClean="0">
              <a:solidFill>
                <a:srgbClr val="7030A0"/>
              </a:solidFill>
            </a:rPr>
            <a:t>2019 – 506</a:t>
          </a:r>
        </a:p>
        <a:p xmlns:a="http://schemas.openxmlformats.org/drawingml/2006/main">
          <a:pPr algn="ctr"/>
          <a:r>
            <a:rPr lang="en-US" sz="1600" dirty="0" smtClean="0">
              <a:solidFill>
                <a:srgbClr val="7030A0"/>
              </a:solidFill>
            </a:rPr>
            <a:t>2020 - 542</a:t>
          </a:r>
          <a:endParaRPr lang="en-US" sz="1600" dirty="0">
            <a:solidFill>
              <a:srgbClr val="7030A0"/>
            </a:solidFill>
          </a:endParaRPr>
        </a:p>
      </cdr:txBody>
    </cdr:sp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0.64167</cdr:x>
      <cdr:y>0.93671</cdr:y>
    </cdr:from>
    <cdr:to>
      <cdr:x>0.95833</cdr:x>
      <cdr:y>1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5867400" y="6134100"/>
          <a:ext cx="2895600" cy="3810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  <cdr:relSizeAnchor xmlns:cdr="http://schemas.openxmlformats.org/drawingml/2006/chartDrawing">
    <cdr:from>
      <cdr:x>0.8</cdr:x>
      <cdr:y>0</cdr:y>
    </cdr:from>
    <cdr:to>
      <cdr:x>1</cdr:x>
      <cdr:y>0.11688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7315200" y="0"/>
          <a:ext cx="1828800" cy="730313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sz="2400" b="1" dirty="0" smtClean="0">
              <a:solidFill>
                <a:srgbClr val="0070C0"/>
              </a:solidFill>
            </a:rPr>
            <a:t>Total  28043</a:t>
          </a:r>
          <a:endParaRPr lang="en-US" sz="2400" b="1" dirty="0">
            <a:solidFill>
              <a:srgbClr val="0070C0"/>
            </a:solidFill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4CDF27-F1D8-43DB-AE1E-79EA73E8C6AD}" type="datetimeFigureOut">
              <a:rPr lang="en-US" smtClean="0"/>
              <a:pPr/>
              <a:t>6/22/2021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2E1DF0-C833-486A-BCF7-538A0E2317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6610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6/22/2021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8D161-2428-4ACF-BABB-CFA0748B32BA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4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18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36</a:t>
            </a:fld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37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6/22/2021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  <p:transition spd="slow">
    <p:strips dir="r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6/22/2021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  <p:transition spd="slow">
    <p:strips dir="r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6/22/2021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  <p:transition spd="slow">
    <p:strips dir="r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6/22/2021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  <p:transition spd="slow">
    <p:strips dir="r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6/22/2021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  <p:transition spd="slow">
    <p:strips dir="r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6/22/2021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  <p:transition spd="slow">
    <p:strips dir="r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6/22/2021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  <p:transition spd="slow">
    <p:strips dir="r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6/22/2021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  <p:transition spd="slow">
    <p:strips dir="r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6/22/2021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  <p:transition spd="slow">
    <p:strips dir="r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6/22/2021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  <p:transition spd="slow">
    <p:strips dir="r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6/22/2021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  <p:transition spd="slow">
    <p:strips dir="r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 spd="slow">
    <p:strips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2021/6/22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9" r:id="rId12"/>
  </p:sldLayoutIdLst>
  <p:transition spd="slow">
    <p:strips dir="ru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4.jpeg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jpeg"/><Relationship Id="rId4" Type="http://schemas.openxmlformats.org/officeDocument/2006/relationships/image" Target="../media/image37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4.jpeg"/><Relationship Id="rId4" Type="http://schemas.openxmlformats.org/officeDocument/2006/relationships/image" Target="../media/image5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8.jpeg"/><Relationship Id="rId4" Type="http://schemas.openxmlformats.org/officeDocument/2006/relationships/image" Target="../media/image57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2057400"/>
            <a:ext cx="9144000" cy="4800600"/>
          </a:xfrm>
          <a:blipFill>
            <a:blip r:embed="rId3"/>
            <a:tile tx="0" ty="0" sx="100000" sy="100000" flip="none" algn="tl"/>
          </a:blip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</a:pPr>
            <a:r>
              <a:rPr lang="en-US" sz="3600" dirty="0" err="1" smtClean="0">
                <a:latin typeface="Nikosh" pitchFamily="2" charset="0"/>
                <a:cs typeface="Nikosh" pitchFamily="2" charset="0"/>
              </a:rPr>
              <a:t>রিপোর্ট</a:t>
            </a:r>
            <a:r>
              <a:rPr lang="en-US" sz="36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3600" dirty="0" err="1" smtClean="0">
                <a:latin typeface="Nikosh" pitchFamily="2" charset="0"/>
                <a:cs typeface="Nikosh" pitchFamily="2" charset="0"/>
              </a:rPr>
              <a:t>সংকলন</a:t>
            </a:r>
            <a:r>
              <a:rPr lang="en-US" sz="3600" dirty="0" smtClean="0">
                <a:latin typeface="Nikosh" pitchFamily="2" charset="0"/>
                <a:cs typeface="Nikosh" pitchFamily="2" charset="0"/>
              </a:rPr>
              <a:t> ও </a:t>
            </a:r>
            <a:r>
              <a:rPr lang="en-US" sz="3600" dirty="0" err="1" smtClean="0">
                <a:latin typeface="Nikosh" pitchFamily="2" charset="0"/>
                <a:cs typeface="Nikosh" pitchFamily="2" charset="0"/>
              </a:rPr>
              <a:t>উপষ্থাপনাঃ</a:t>
            </a:r>
            <a:r>
              <a:rPr lang="en-US" sz="36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3600" dirty="0" err="1" smtClean="0">
                <a:latin typeface="Nikosh" pitchFamily="2" charset="0"/>
                <a:cs typeface="Nikosh" pitchFamily="2" charset="0"/>
              </a:rPr>
              <a:t>মোঃ</a:t>
            </a:r>
            <a:r>
              <a:rPr lang="en-US" sz="36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3600" dirty="0" err="1" smtClean="0">
                <a:latin typeface="Nikosh" pitchFamily="2" charset="0"/>
                <a:cs typeface="Nikosh" pitchFamily="2" charset="0"/>
              </a:rPr>
              <a:t>আব্দুল</a:t>
            </a:r>
            <a:r>
              <a:rPr lang="en-US" sz="36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3600" dirty="0" err="1" smtClean="0">
                <a:latin typeface="Nikosh" pitchFamily="2" charset="0"/>
                <a:cs typeface="Nikosh" pitchFamily="2" charset="0"/>
              </a:rPr>
              <a:t>কাদের</a:t>
            </a:r>
            <a:r>
              <a:rPr lang="en-US" sz="36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3600" dirty="0" smtClean="0">
                <a:latin typeface="SutonnyMJ" pitchFamily="2" charset="0"/>
              </a:rPr>
              <a:t>    </a:t>
            </a:r>
          </a:p>
          <a:p>
            <a:pPr algn="ctr">
              <a:lnSpc>
                <a:spcPct val="150000"/>
              </a:lnSpc>
              <a:spcBef>
                <a:spcPts val="0"/>
              </a:spcBef>
            </a:pPr>
            <a:r>
              <a:rPr lang="en-US" sz="3600" dirty="0" err="1" smtClean="0">
                <a:latin typeface="Nikosh" pitchFamily="2" charset="0"/>
                <a:cs typeface="Nikosh" pitchFamily="2" charset="0"/>
              </a:rPr>
              <a:t>দিক</a:t>
            </a:r>
            <a:r>
              <a:rPr lang="en-US" sz="36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3600" dirty="0" err="1" smtClean="0">
                <a:latin typeface="Nikosh" pitchFamily="2" charset="0"/>
                <a:cs typeface="Nikosh" pitchFamily="2" charset="0"/>
              </a:rPr>
              <a:t>নির্দেশনাঃ</a:t>
            </a:r>
            <a:r>
              <a:rPr lang="en-US" sz="36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3600" dirty="0" err="1" smtClean="0">
                <a:latin typeface="Nikosh" pitchFamily="2" charset="0"/>
                <a:cs typeface="Nikosh" pitchFamily="2" charset="0"/>
              </a:rPr>
              <a:t>ডাঃ</a:t>
            </a:r>
            <a:r>
              <a:rPr lang="en-US" sz="36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3600" dirty="0" err="1" smtClean="0">
                <a:latin typeface="Nikosh" pitchFamily="2" charset="0"/>
                <a:cs typeface="Nikosh" pitchFamily="2" charset="0"/>
              </a:rPr>
              <a:t>মিথিলা</a:t>
            </a:r>
            <a:r>
              <a:rPr lang="en-US" sz="36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3600" dirty="0" err="1" smtClean="0">
                <a:latin typeface="Nikosh" pitchFamily="2" charset="0"/>
                <a:cs typeface="Nikosh" pitchFamily="2" charset="0"/>
              </a:rPr>
              <a:t>ইসলাম</a:t>
            </a:r>
            <a:r>
              <a:rPr lang="en-US" sz="3600" dirty="0" smtClean="0">
                <a:latin typeface="SutonnyMJ" pitchFamily="2" charset="0"/>
              </a:rPr>
              <a:t>, </a:t>
            </a:r>
            <a:r>
              <a:rPr lang="en-US" sz="3600" dirty="0" err="1" smtClean="0">
                <a:latin typeface="Nikosh" pitchFamily="2" charset="0"/>
                <a:cs typeface="Nikosh" pitchFamily="2" charset="0"/>
              </a:rPr>
              <a:t>আরএমও</a:t>
            </a:r>
            <a:endParaRPr lang="en-US" sz="3600" dirty="0" smtClean="0">
              <a:latin typeface="SutonnyMJ" pitchFamily="2" charset="0"/>
            </a:endParaRPr>
          </a:p>
          <a:p>
            <a:pPr algn="ctr">
              <a:buNone/>
            </a:pPr>
            <a:r>
              <a:rPr lang="en-US" sz="3600" dirty="0" err="1" smtClean="0">
                <a:solidFill>
                  <a:srgbClr val="002060"/>
                </a:solidFill>
                <a:latin typeface="Nikosh" pitchFamily="2" charset="0"/>
                <a:cs typeface="Nikosh" pitchFamily="2" charset="0"/>
              </a:rPr>
              <a:t>সার্বিক</a:t>
            </a:r>
            <a:r>
              <a:rPr lang="en-US" sz="3600" dirty="0" smtClean="0">
                <a:solidFill>
                  <a:srgbClr val="00206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3600" dirty="0" err="1" smtClean="0">
                <a:solidFill>
                  <a:srgbClr val="002060"/>
                </a:solidFill>
                <a:latin typeface="Nikosh" pitchFamily="2" charset="0"/>
                <a:cs typeface="Nikosh" pitchFamily="2" charset="0"/>
              </a:rPr>
              <a:t>তত্ত্বাবধানে</a:t>
            </a:r>
            <a:r>
              <a:rPr lang="en-US" sz="3600" dirty="0" smtClean="0">
                <a:solidFill>
                  <a:srgbClr val="00206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3600" dirty="0" smtClean="0">
                <a:solidFill>
                  <a:srgbClr val="002060"/>
                </a:solidFill>
                <a:latin typeface="SutonnyMJ" pitchFamily="2" charset="0"/>
              </a:rPr>
              <a:t>t</a:t>
            </a:r>
          </a:p>
          <a:p>
            <a:pPr algn="ctr">
              <a:spcBef>
                <a:spcPts val="0"/>
              </a:spcBef>
            </a:pPr>
            <a:r>
              <a:rPr lang="en-US" dirty="0" smtClean="0">
                <a:latin typeface="SutonnyMJ" pitchFamily="2" charset="0"/>
              </a:rPr>
              <a:t> </a:t>
            </a:r>
            <a:r>
              <a:rPr lang="en-US" sz="5400" b="1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ডাঃ</a:t>
            </a:r>
            <a:r>
              <a:rPr lang="en-US" sz="5400" b="1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5400" b="1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মোঃ</a:t>
            </a:r>
            <a:r>
              <a:rPr lang="en-US" sz="5400" b="1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5400" b="1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হারুন-অর-রশীদ</a:t>
            </a:r>
            <a:endParaRPr lang="en-US" sz="5400" b="1" dirty="0" smtClean="0">
              <a:solidFill>
                <a:srgbClr val="0070C0"/>
              </a:solidFill>
              <a:latin typeface="Nikosh" pitchFamily="2" charset="0"/>
              <a:cs typeface="Nikosh" pitchFamily="2" charset="0"/>
            </a:endParaRPr>
          </a:p>
          <a:p>
            <a:pPr algn="ctr">
              <a:spcBef>
                <a:spcPts val="0"/>
              </a:spcBef>
            </a:pPr>
            <a:r>
              <a:rPr lang="en-US" sz="54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তত্ত্বাবধায়ক</a:t>
            </a:r>
            <a:endParaRPr lang="en-US" dirty="0" smtClean="0">
              <a:solidFill>
                <a:srgbClr val="0070C0"/>
              </a:solidFill>
              <a:latin typeface="Nikosh" pitchFamily="2" charset="0"/>
              <a:cs typeface="Nikosh" pitchFamily="2" charset="0"/>
            </a:endParaRPr>
          </a:p>
          <a:p>
            <a:pPr>
              <a:buNone/>
            </a:pPr>
            <a:endParaRPr lang="en-US" dirty="0">
              <a:latin typeface="SutonnyMJ" pitchFamily="2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981200"/>
          </a:xfrm>
          <a:solidFill>
            <a:srgbClr val="FFFF00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dirty="0" err="1" smtClean="0">
                <a:latin typeface="Nikosh" pitchFamily="2" charset="0"/>
                <a:cs typeface="Nikosh" pitchFamily="2" charset="0"/>
              </a:rPr>
              <a:t>বার্ষিক</a:t>
            </a:r>
            <a:r>
              <a:rPr lang="en-US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dirty="0" err="1" smtClean="0">
                <a:latin typeface="Nikosh" pitchFamily="2" charset="0"/>
                <a:cs typeface="Nikosh" pitchFamily="2" charset="0"/>
              </a:rPr>
              <a:t>প্রতিবেদন</a:t>
            </a:r>
            <a:r>
              <a:rPr lang="en-US" dirty="0" smtClean="0">
                <a:latin typeface="Nikosh" pitchFamily="2" charset="0"/>
                <a:cs typeface="Nikosh" pitchFamily="2" charset="0"/>
              </a:rPr>
              <a:t> - ২০২০</a:t>
            </a:r>
            <a:r>
              <a:rPr smtClean="0">
                <a:latin typeface="SutonnyMJ" pitchFamily="2" charset="0"/>
                <a:cs typeface="SumeshwariMJ" pitchFamily="2" charset="0"/>
              </a:rPr>
              <a:t/>
            </a:r>
            <a:br>
              <a:rPr smtClean="0">
                <a:latin typeface="SutonnyMJ" pitchFamily="2" charset="0"/>
                <a:cs typeface="SumeshwariMJ" pitchFamily="2" charset="0"/>
              </a:rPr>
            </a:br>
            <a:r>
              <a:rPr lang="en-US" dirty="0" err="1" smtClean="0">
                <a:latin typeface="Nikosh" pitchFamily="2" charset="0"/>
                <a:cs typeface="Nikosh" pitchFamily="2" charset="0"/>
              </a:rPr>
              <a:t>তারিখ</a:t>
            </a:r>
            <a:r>
              <a:rPr lang="en-US" dirty="0" smtClean="0">
                <a:latin typeface="Nikosh" pitchFamily="2" charset="0"/>
                <a:cs typeface="Nikosh" pitchFamily="2" charset="0"/>
              </a:rPr>
              <a:t> – ১২/০৬/২১</a:t>
            </a:r>
            <a:r>
              <a:rPr smtClean="0">
                <a:solidFill>
                  <a:srgbClr val="00B050"/>
                </a:solidFill>
                <a:latin typeface="SutonnyMJ" pitchFamily="2" charset="0"/>
                <a:cs typeface="SumeshwariMJ" pitchFamily="2" charset="0"/>
              </a:rPr>
              <a:t>, </a:t>
            </a:r>
            <a:r>
              <a:rPr lang="en-US" dirty="0" err="1" smtClean="0">
                <a:solidFill>
                  <a:schemeClr val="tx2"/>
                </a:solidFill>
                <a:latin typeface="Nikosh" pitchFamily="2" charset="0"/>
                <a:cs typeface="Nikosh" pitchFamily="2" charset="0"/>
              </a:rPr>
              <a:t>সকাল</a:t>
            </a:r>
            <a:r>
              <a:rPr lang="en-US" dirty="0" smtClean="0">
                <a:solidFill>
                  <a:schemeClr val="tx2"/>
                </a:solidFill>
                <a:latin typeface="Nikosh" pitchFamily="2" charset="0"/>
                <a:cs typeface="Nikosh" pitchFamily="2" charset="0"/>
              </a:rPr>
              <a:t> – ১০ </a:t>
            </a:r>
            <a:r>
              <a:rPr lang="en-US" dirty="0" err="1" smtClean="0">
                <a:solidFill>
                  <a:schemeClr val="tx2"/>
                </a:solidFill>
                <a:latin typeface="Nikosh" pitchFamily="2" charset="0"/>
                <a:cs typeface="Nikosh" pitchFamily="2" charset="0"/>
              </a:rPr>
              <a:t>টা</a:t>
            </a:r>
            <a:r>
              <a:rPr lang="en-US" dirty="0" smtClean="0">
                <a:solidFill>
                  <a:schemeClr val="tx2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smtClean="0">
                <a:solidFill>
                  <a:schemeClr val="tx2"/>
                </a:solidFill>
                <a:latin typeface="SutonnyMJ" pitchFamily="2" charset="0"/>
                <a:cs typeface="SumeshwariMJ" pitchFamily="2" charset="0"/>
              </a:rPr>
              <a:t>  </a:t>
            </a:r>
            <a:r>
              <a:rPr smtClean="0">
                <a:latin typeface="SutonnyMJ" pitchFamily="2" charset="0"/>
                <a:cs typeface="SumeshwariMJ" pitchFamily="2" charset="0"/>
              </a:rPr>
              <a:t/>
            </a:r>
            <a:br>
              <a:rPr smtClean="0">
                <a:latin typeface="SutonnyMJ" pitchFamily="2" charset="0"/>
                <a:cs typeface="SumeshwariMJ" pitchFamily="2" charset="0"/>
              </a:rPr>
            </a:br>
            <a:r>
              <a:rPr lang="en-US" dirty="0" err="1" smtClean="0">
                <a:latin typeface="Nikosh" pitchFamily="2" charset="0"/>
                <a:cs typeface="Nikosh" pitchFamily="2" charset="0"/>
              </a:rPr>
              <a:t>স্থানঃ</a:t>
            </a:r>
            <a:r>
              <a:rPr lang="en-US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dirty="0" err="1" smtClean="0">
                <a:latin typeface="Nikosh" pitchFamily="2" charset="0"/>
                <a:cs typeface="Nikosh" pitchFamily="2" charset="0"/>
              </a:rPr>
              <a:t>সম্মেলন</a:t>
            </a:r>
            <a:r>
              <a:rPr lang="en-US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dirty="0" err="1" smtClean="0">
                <a:latin typeface="Nikosh" pitchFamily="2" charset="0"/>
                <a:cs typeface="Nikosh" pitchFamily="2" charset="0"/>
              </a:rPr>
              <a:t>কক্ষ</a:t>
            </a:r>
            <a:r>
              <a:rPr lang="en-US" dirty="0" smtClean="0">
                <a:latin typeface="Nikosh" pitchFamily="2" charset="0"/>
                <a:cs typeface="Nikosh" pitchFamily="2" charset="0"/>
              </a:rPr>
              <a:t>, </a:t>
            </a:r>
            <a:r>
              <a:rPr lang="en-US" dirty="0" err="1" smtClean="0">
                <a:latin typeface="Nikosh" pitchFamily="2" charset="0"/>
                <a:cs typeface="Nikosh" pitchFamily="2" charset="0"/>
              </a:rPr>
              <a:t>সদর</a:t>
            </a:r>
            <a:r>
              <a:rPr lang="en-US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dirty="0" err="1" smtClean="0">
                <a:latin typeface="Nikosh" pitchFamily="2" charset="0"/>
                <a:cs typeface="Nikosh" pitchFamily="2" charset="0"/>
              </a:rPr>
              <a:t>হাসপাতাল,ঝিনাইদহ</a:t>
            </a:r>
            <a:r>
              <a:rPr lang="en-US" dirty="0" smtClean="0">
                <a:latin typeface="Nikosh" pitchFamily="2" charset="0"/>
                <a:cs typeface="Nikosh" pitchFamily="2" charset="0"/>
              </a:rPr>
              <a:t> </a:t>
            </a:r>
            <a:r>
              <a:rPr smtClean="0">
                <a:solidFill>
                  <a:srgbClr val="00B0F0"/>
                </a:solidFill>
                <a:latin typeface="SutonnyMJ" pitchFamily="2" charset="0"/>
                <a:cs typeface="SumeshwariMJ" pitchFamily="2" charset="0"/>
              </a:rPr>
              <a:t>|</a:t>
            </a:r>
            <a:endParaRPr lang="en-US" dirty="0">
              <a:solidFill>
                <a:srgbClr val="00B0F0"/>
              </a:solidFill>
              <a:latin typeface="SutonnyMJ" pitchFamily="2" charset="0"/>
              <a:cs typeface="SumeshwariMJ" pitchFamily="2" charset="0"/>
            </a:endParaRPr>
          </a:p>
        </p:txBody>
      </p:sp>
    </p:spTree>
  </p:cSld>
  <p:clrMapOvr>
    <a:masterClrMapping/>
  </p:clrMapOvr>
  <p:transition spd="slow">
    <p:wheel spokes="8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solidFill>
                  <a:schemeClr val="bg1"/>
                </a:solidFill>
                <a:latin typeface="NikoshBAN" pitchFamily="2" charset="0"/>
                <a:cs typeface="NikoshBAN" pitchFamily="2" charset="0"/>
              </a:rPr>
              <a:t> ২৫০ </a:t>
            </a:r>
            <a:r>
              <a:rPr lang="en-US" sz="3600" dirty="0" err="1" smtClean="0">
                <a:solidFill>
                  <a:schemeClr val="bg1"/>
                </a:solidFill>
                <a:latin typeface="NikoshBAN" pitchFamily="2" charset="0"/>
                <a:cs typeface="NikoshBAN" pitchFamily="2" charset="0"/>
              </a:rPr>
              <a:t>শয্যা</a:t>
            </a:r>
            <a:r>
              <a:rPr lang="en-US" sz="3600" dirty="0" smtClean="0">
                <a:solidFill>
                  <a:schemeClr val="bg1"/>
                </a:solidFill>
                <a:latin typeface="NikoshBAN" pitchFamily="2" charset="0"/>
                <a:cs typeface="NikoshBAN" pitchFamily="2" charset="0"/>
              </a:rPr>
              <a:t>  </a:t>
            </a:r>
            <a:r>
              <a:rPr lang="en-US" sz="3600" dirty="0" err="1" smtClean="0">
                <a:solidFill>
                  <a:schemeClr val="bg1"/>
                </a:solidFill>
                <a:latin typeface="NikoshBAN" pitchFamily="2" charset="0"/>
                <a:cs typeface="NikoshBAN" pitchFamily="2" charset="0"/>
              </a:rPr>
              <a:t>বিশিষ্ট</a:t>
            </a:r>
            <a:r>
              <a:rPr lang="en-US" sz="3600" dirty="0" smtClean="0">
                <a:solidFill>
                  <a:schemeClr val="bg1"/>
                </a:solidFill>
                <a:latin typeface="NikoshBAN" pitchFamily="2" charset="0"/>
                <a:cs typeface="NikoshBAN" pitchFamily="2" charset="0"/>
              </a:rPr>
              <a:t>  </a:t>
            </a:r>
            <a:r>
              <a:rPr lang="en-US" sz="3600" dirty="0" err="1" smtClean="0">
                <a:solidFill>
                  <a:schemeClr val="bg1"/>
                </a:solidFill>
                <a:latin typeface="NikoshBAN" pitchFamily="2" charset="0"/>
                <a:cs typeface="NikoshBAN" pitchFamily="2" charset="0"/>
              </a:rPr>
              <a:t>জেলা</a:t>
            </a:r>
            <a:r>
              <a:rPr lang="en-US" sz="3600" dirty="0" smtClean="0">
                <a:solidFill>
                  <a:schemeClr val="bg1"/>
                </a:solidFill>
                <a:latin typeface="NikoshBAN" pitchFamily="2" charset="0"/>
                <a:cs typeface="NikoshBAN" pitchFamily="2" charset="0"/>
              </a:rPr>
              <a:t>  </a:t>
            </a:r>
            <a:r>
              <a:rPr lang="en-US" sz="3600" dirty="0" err="1" smtClean="0">
                <a:solidFill>
                  <a:schemeClr val="bg1"/>
                </a:solidFill>
                <a:latin typeface="NikoshBAN" pitchFamily="2" charset="0"/>
                <a:cs typeface="NikoshBAN" pitchFamily="2" charset="0"/>
              </a:rPr>
              <a:t>হাসপাতাল</a:t>
            </a:r>
            <a:r>
              <a:rPr lang="en-US" sz="3600" dirty="0" smtClean="0">
                <a:solidFill>
                  <a:schemeClr val="bg1"/>
                </a:solidFill>
                <a:latin typeface="NikoshBAN" pitchFamily="2" charset="0"/>
                <a:cs typeface="NikoshBAN" pitchFamily="2" charset="0"/>
              </a:rPr>
              <a:t>, </a:t>
            </a:r>
            <a:r>
              <a:rPr lang="en-US" sz="3600" dirty="0" err="1" smtClean="0">
                <a:solidFill>
                  <a:schemeClr val="bg1"/>
                </a:solidFill>
                <a:latin typeface="NikoshBAN" pitchFamily="2" charset="0"/>
                <a:cs typeface="NikoshBAN" pitchFamily="2" charset="0"/>
              </a:rPr>
              <a:t>ঝিনাইদহ</a:t>
            </a:r>
            <a:r>
              <a:rPr lang="en-US" sz="3600" dirty="0" smtClean="0">
                <a:solidFill>
                  <a:schemeClr val="bg1"/>
                </a:solidFill>
                <a:latin typeface="NikoshBAN" pitchFamily="2" charset="0"/>
                <a:cs typeface="NikoshBAN" pitchFamily="2" charset="0"/>
              </a:rPr>
              <a:t> </a:t>
            </a:r>
            <a:endParaRPr lang="en-US" sz="3600" dirty="0">
              <a:solidFill>
                <a:schemeClr val="bg1"/>
              </a:solidFill>
              <a:latin typeface="NikoshBAN" pitchFamily="2" charset="0"/>
              <a:cs typeface="NikoshBAN" pitchFamily="2" charset="0"/>
            </a:endParaRPr>
          </a:p>
        </p:txBody>
      </p:sp>
      <p:pic>
        <p:nvPicPr>
          <p:cNvPr id="3076" name="Picture 4" descr="C:\Users\USER\Desktop\IMG_4297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685800"/>
            <a:ext cx="9144000" cy="61722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9597"/>
          </a:xfrm>
          <a:blipFill>
            <a:blip r:embed="rId2"/>
            <a:tile tx="0" ty="0" sx="100000" sy="100000" flip="none" algn="tl"/>
          </a:blipFill>
        </p:spPr>
        <p:txBody>
          <a:bodyPr>
            <a:noAutofit/>
          </a:bodyPr>
          <a:lstStyle/>
          <a:p>
            <a:pPr algn="ctr"/>
            <a:r>
              <a:rPr sz="4000" smtClean="0">
                <a:solidFill>
                  <a:schemeClr val="tx1"/>
                </a:solidFill>
                <a:latin typeface="NikoshBAN" pitchFamily="2" charset="0"/>
                <a:cs typeface="NikoshBAN" pitchFamily="2" charset="0"/>
              </a:rPr>
              <a:t>সদর হাসপাতাল,ঝিনাইদহ </a:t>
            </a:r>
            <a:endParaRPr lang="en-US" sz="4000" dirty="0">
              <a:solidFill>
                <a:schemeClr val="tx1"/>
              </a:solidFill>
              <a:latin typeface="NikoshBAN" pitchFamily="2" charset="0"/>
              <a:cs typeface="NikoshBAN" pitchFamily="2" charset="0"/>
            </a:endParaRPr>
          </a:p>
        </p:txBody>
      </p:sp>
      <p:pic>
        <p:nvPicPr>
          <p:cNvPr id="7" name="Content Placeholder 6" descr="Hospital garden side.jpg"/>
          <p:cNvPicPr>
            <a:picLocks noGrp="1" noChangeAspect="1"/>
          </p:cNvPicPr>
          <p:nvPr>
            <p:ph sz="half" idx="1"/>
          </p:nvPr>
        </p:nvPicPr>
        <p:blipFill>
          <a:blip r:embed="rId3" cstate="print"/>
          <a:stretch>
            <a:fillRect/>
          </a:stretch>
        </p:blipFill>
        <p:spPr>
          <a:xfrm>
            <a:off x="0" y="1371600"/>
            <a:ext cx="4953000" cy="5486400"/>
          </a:xfrm>
        </p:spPr>
      </p:pic>
      <p:sp>
        <p:nvSpPr>
          <p:cNvPr id="9" name="TextBox 8"/>
          <p:cNvSpPr txBox="1"/>
          <p:nvPr/>
        </p:nvSpPr>
        <p:spPr>
          <a:xfrm>
            <a:off x="5105400" y="838200"/>
            <a:ext cx="4038600" cy="4001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NikoshBAN" pitchFamily="2" charset="0"/>
                <a:cs typeface="NikoshBAN" pitchFamily="2" charset="0"/>
              </a:rPr>
              <a:t> </a:t>
            </a:r>
            <a:r>
              <a:rPr lang="en-US" dirty="0" err="1" smtClean="0">
                <a:latin typeface="NikoshBAN" pitchFamily="2" charset="0"/>
                <a:cs typeface="NikoshBAN" pitchFamily="2" charset="0"/>
              </a:rPr>
              <a:t>নতুন</a:t>
            </a:r>
            <a:r>
              <a:rPr lang="en-US" dirty="0" smtClean="0">
                <a:latin typeface="NikoshBAN" pitchFamily="2" charset="0"/>
                <a:cs typeface="NikoshBAN" pitchFamily="2" charset="0"/>
              </a:rPr>
              <a:t> </a:t>
            </a:r>
            <a:r>
              <a:rPr lang="en-US" dirty="0" err="1" smtClean="0">
                <a:latin typeface="NikoshBAN" pitchFamily="2" charset="0"/>
                <a:cs typeface="NikoshBAN" pitchFamily="2" charset="0"/>
              </a:rPr>
              <a:t>ভবন</a:t>
            </a:r>
            <a:r>
              <a:rPr lang="en-US" dirty="0" smtClean="0">
                <a:latin typeface="NikoshBAN" pitchFamily="2" charset="0"/>
                <a:cs typeface="NikoshBAN" pitchFamily="2" charset="0"/>
              </a:rPr>
              <a:t> ২৫০ </a:t>
            </a:r>
            <a:r>
              <a:rPr lang="en-US" dirty="0" err="1" smtClean="0">
                <a:latin typeface="NikoshBAN" pitchFamily="2" charset="0"/>
                <a:cs typeface="NikoshBAN" pitchFamily="2" charset="0"/>
              </a:rPr>
              <a:t>শয্যা</a:t>
            </a:r>
            <a:r>
              <a:rPr lang="en-US" dirty="0" smtClean="0">
                <a:latin typeface="NikoshBAN" pitchFamily="2" charset="0"/>
                <a:cs typeface="NikoshBAN" pitchFamily="2" charset="0"/>
              </a:rPr>
              <a:t> </a:t>
            </a:r>
            <a:r>
              <a:rPr lang="en-US" dirty="0" err="1" smtClean="0">
                <a:latin typeface="NikoshBAN" pitchFamily="2" charset="0"/>
                <a:cs typeface="NikoshBAN" pitchFamily="2" charset="0"/>
              </a:rPr>
              <a:t>হাসপাতাল</a:t>
            </a:r>
            <a:r>
              <a:rPr lang="en-US" dirty="0" smtClean="0">
                <a:latin typeface="NikoshBAN" pitchFamily="2" charset="0"/>
                <a:cs typeface="NikoshBAN" pitchFamily="2" charset="0"/>
              </a:rPr>
              <a:t>, </a:t>
            </a:r>
            <a:r>
              <a:rPr lang="en-US" dirty="0" err="1" smtClean="0">
                <a:latin typeface="NikoshBAN" pitchFamily="2" charset="0"/>
                <a:cs typeface="NikoshBAN" pitchFamily="2" charset="0"/>
              </a:rPr>
              <a:t>ঝিনাইদ</a:t>
            </a:r>
            <a:r>
              <a:rPr lang="en-US" sz="2000" dirty="0" err="1" smtClean="0">
                <a:latin typeface="NikoshBAN" pitchFamily="2" charset="0"/>
                <a:cs typeface="NikoshBAN" pitchFamily="2" charset="0"/>
              </a:rPr>
              <a:t>হ</a:t>
            </a:r>
            <a:r>
              <a:rPr lang="en-US" sz="2000" dirty="0" smtClean="0">
                <a:latin typeface="NikoshBAN" pitchFamily="2" charset="0"/>
                <a:cs typeface="NikoshBAN" pitchFamily="2" charset="0"/>
              </a:rPr>
              <a:t> </a:t>
            </a:r>
            <a:endParaRPr 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304800" y="762000"/>
            <a:ext cx="3733800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2400" dirty="0" err="1" smtClean="0">
                <a:latin typeface="NikoshBAN" pitchFamily="2" charset="0"/>
                <a:cs typeface="NikoshBAN" pitchFamily="2" charset="0"/>
              </a:rPr>
              <a:t>পুরাতন</a:t>
            </a:r>
            <a:r>
              <a:rPr lang="en-US" sz="2400" dirty="0" smtClean="0">
                <a:latin typeface="NikoshBAN" pitchFamily="2" charset="0"/>
                <a:cs typeface="NikoshBAN" pitchFamily="2" charset="0"/>
              </a:rPr>
              <a:t>  </a:t>
            </a:r>
            <a:r>
              <a:rPr lang="en-US" sz="2400" dirty="0" err="1" smtClean="0">
                <a:latin typeface="NikoshBAN" pitchFamily="2" charset="0"/>
                <a:cs typeface="NikoshBAN" pitchFamily="2" charset="0"/>
              </a:rPr>
              <a:t>ভবন</a:t>
            </a:r>
            <a:r>
              <a:rPr lang="en-US" sz="2400" dirty="0" smtClean="0">
                <a:latin typeface="NikoshBAN" pitchFamily="2" charset="0"/>
                <a:cs typeface="NikoshBAN" pitchFamily="2" charset="0"/>
              </a:rPr>
              <a:t> - ১০০ </a:t>
            </a:r>
            <a:r>
              <a:rPr lang="en-US" sz="2400" dirty="0" err="1" smtClean="0">
                <a:latin typeface="NikoshBAN" pitchFamily="2" charset="0"/>
                <a:cs typeface="NikoshBAN" pitchFamily="2" charset="0"/>
              </a:rPr>
              <a:t>শয্যা</a:t>
            </a:r>
            <a:r>
              <a:rPr lang="en-US" sz="2400" dirty="0" smtClean="0">
                <a:latin typeface="NikoshBAN" pitchFamily="2" charset="0"/>
                <a:cs typeface="NikoshBAN" pitchFamily="2" charset="0"/>
              </a:rPr>
              <a:t> </a:t>
            </a:r>
            <a:endParaRPr lang="en-US" sz="2400" dirty="0">
              <a:latin typeface="NikoshBAN" pitchFamily="2" charset="0"/>
              <a:cs typeface="NikoshBAN" pitchFamily="2" charset="0"/>
            </a:endParaRPr>
          </a:p>
        </p:txBody>
      </p:sp>
      <p:pic>
        <p:nvPicPr>
          <p:cNvPr id="5122" name="Picture 2" descr="C:\Users\USER\Desktop\IMG_4298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5067300" y="1371600"/>
            <a:ext cx="4076700" cy="54864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plus/>
    <p:sndAc>
      <p:endSnd/>
    </p:sndAc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5287976"/>
              </p:ext>
            </p:extLst>
          </p:nvPr>
        </p:nvGraphicFramePr>
        <p:xfrm>
          <a:off x="144439" y="1295400"/>
          <a:ext cx="8823562" cy="4639717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588254"/>
                <a:gridCol w="1777358"/>
                <a:gridCol w="1295400"/>
                <a:gridCol w="1295400"/>
                <a:gridCol w="1371600"/>
                <a:gridCol w="1295400"/>
                <a:gridCol w="1200150"/>
              </a:tblGrid>
              <a:tr h="923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 by  Govt.   ($)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Beds per 10000 population</a:t>
                      </a: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Out of pocket expenditure</a:t>
                      </a:r>
                    </a:p>
                  </a:txBody>
                  <a:tcPr marL="68580" marR="68580" marT="0" marB="0" anchor="ctr" horzOverflow="overflow"/>
                </a:tc>
              </a:tr>
              <a:tr h="4514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10246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119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11.08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3860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25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 smtClean="0">
                          <a:effectLst/>
                        </a:rPr>
                        <a:t>14.79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36.67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159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41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38.43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69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7.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5.3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65.06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48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7.5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60.41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184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9.8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66.49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5.3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6553200" y="6426170"/>
            <a:ext cx="2419350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r" eaLnBrk="1" hangingPunct="1"/>
            <a:r>
              <a:rPr lang="en-US" sz="2000" dirty="0" smtClean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 World Bank 2018</a:t>
            </a:r>
            <a:endParaRPr lang="en-US" sz="2000" dirty="0">
              <a:solidFill>
                <a:srgbClr val="000000"/>
              </a:solidFill>
              <a:latin typeface="Andalus"/>
              <a:ea typeface="Andalus"/>
              <a:cs typeface="Andalus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37531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8657233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08038"/>
          </a:xfrm>
          <a:solidFill>
            <a:srgbClr val="3EEE00"/>
          </a:solidFill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tx2"/>
                </a:solidFill>
              </a:rPr>
              <a:t>Emergency + Outdoor &amp; Indoor  Service 1998 to 2020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590283279"/>
              </p:ext>
            </p:extLst>
          </p:nvPr>
        </p:nvGraphicFramePr>
        <p:xfrm>
          <a:off x="0" y="1219200"/>
          <a:ext cx="9144000" cy="563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0" y="838200"/>
            <a:ext cx="9144000" cy="38100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     </a:t>
            </a:r>
            <a:r>
              <a:rPr lang="en-US" b="1" dirty="0" smtClean="0">
                <a:solidFill>
                  <a:srgbClr val="0070C0"/>
                </a:solidFill>
              </a:rPr>
              <a:t>Emergency + Outdoor visit</a:t>
            </a:r>
            <a:r>
              <a:rPr lang="en-US" dirty="0" smtClean="0"/>
              <a:t>,       </a:t>
            </a:r>
            <a:r>
              <a:rPr lang="en-US" dirty="0" smtClean="0">
                <a:solidFill>
                  <a:srgbClr val="C00000"/>
                </a:solidFill>
              </a:rPr>
              <a:t>Indoor (admission)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52600" y="990600"/>
            <a:ext cx="1524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257800" y="990600"/>
            <a:ext cx="152400" cy="1524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slow">
    <p:newsflash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0" y="0"/>
            <a:ext cx="9144000" cy="609601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</a:t>
            </a:r>
            <a:r>
              <a:rPr lang="en-US" sz="24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2020</a:t>
            </a:r>
            <a:endParaRPr lang="en-US" sz="2400" b="1" dirty="0"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0"/>
            <a:ext cx="8229600" cy="94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endParaRPr lang="en-US" sz="43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alibri" pitchFamily="34" charset="0"/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407081008"/>
              </p:ext>
            </p:extLst>
          </p:nvPr>
        </p:nvGraphicFramePr>
        <p:xfrm>
          <a:off x="0" y="685800"/>
          <a:ext cx="9144000" cy="6126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481304613"/>
      </p:ext>
    </p:extLst>
  </p:cSld>
  <p:clrMapOvr>
    <a:masterClrMapping/>
  </p:clrMapOvr>
  <p:transition spd="slow">
    <p:diamond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/>
          <p:cNvGraphicFramePr/>
          <p:nvPr/>
        </p:nvGraphicFramePr>
        <p:xfrm>
          <a:off x="0" y="0"/>
          <a:ext cx="9144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953000" y="4191000"/>
            <a:ext cx="76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FF00"/>
                </a:solidFill>
              </a:rPr>
              <a:t>2</a:t>
            </a:r>
            <a:endParaRPr lang="en-US" sz="2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 spd="slow">
    <p:plus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Covid-19 Admitted Patient Report 7/5/20  to 12/06/2021 </a:t>
            </a:r>
            <a:endParaRPr lang="en-US" sz="2800" dirty="0"/>
          </a:p>
        </p:txBody>
      </p:sp>
      <p:graphicFrame>
        <p:nvGraphicFramePr>
          <p:cNvPr id="4" name="Chart 3"/>
          <p:cNvGraphicFramePr/>
          <p:nvPr/>
        </p:nvGraphicFramePr>
        <p:xfrm>
          <a:off x="0" y="533400"/>
          <a:ext cx="9144000" cy="632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67600" y="1371600"/>
            <a:ext cx="553998" cy="4800600"/>
          </a:xfrm>
          <a:prstGeom prst="rect">
            <a:avLst/>
          </a:prstGeom>
          <a:solidFill>
            <a:srgbClr val="FFC000"/>
          </a:solidFill>
        </p:spPr>
        <p:txBody>
          <a:bodyPr vert="vert270"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Total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possitive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Jhenaidah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District - 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3037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472330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4558568"/>
              </p:ext>
            </p:extLst>
          </p:nvPr>
        </p:nvGraphicFramePr>
        <p:xfrm>
          <a:off x="0" y="533400"/>
          <a:ext cx="9144000" cy="632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0" y="0"/>
            <a:ext cx="9144000" cy="461665"/>
          </a:xfrm>
          <a:prstGeom prst="rect">
            <a:avLst/>
          </a:prstGeom>
          <a:solidFill>
            <a:srgbClr val="00B0F0"/>
          </a:solidFill>
          <a:ln/>
          <a:ex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dirty="0" smtClean="0">
                <a:solidFill>
                  <a:srgbClr val="FFFFFF"/>
                </a:solidFill>
              </a:rPr>
              <a:t>Admitted Under 5 children in  indoor from 2014 to 2020</a:t>
            </a:r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26679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90600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rgbClr val="FFFFFF"/>
                </a:solidFill>
              </a:rPr>
              <a:t>Operation Service (Major) 2011 to 2020</a:t>
            </a:r>
          </a:p>
        </p:txBody>
      </p:sp>
      <p:graphicFrame>
        <p:nvGraphicFramePr>
          <p:cNvPr id="2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4442999"/>
              </p:ext>
            </p:extLst>
          </p:nvPr>
        </p:nvGraphicFramePr>
        <p:xfrm>
          <a:off x="0" y="1676400"/>
          <a:ext cx="9144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</a:t>
            </a: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Hosital</a:t>
            </a: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 spd="slow">
    <p:strips dir="r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9144000" cy="954107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>
              <a:defRPr sz="180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en-US" sz="3200" b="1" dirty="0" smtClean="0">
                <a:solidFill>
                  <a:prstClr val="black"/>
                </a:solidFill>
              </a:rPr>
              <a:t>Department wise Operation report  2020</a:t>
            </a:r>
          </a:p>
          <a:p>
            <a:pPr algn="ctr">
              <a:defRPr sz="180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en-US" sz="2400" b="1" dirty="0" smtClean="0">
                <a:solidFill>
                  <a:srgbClr val="0C7E17"/>
                </a:solidFill>
              </a:rPr>
              <a:t>Total  operation – 8675  </a:t>
            </a:r>
            <a:r>
              <a:rPr lang="en-US" b="1" dirty="0" smtClean="0">
                <a:solidFill>
                  <a:srgbClr val="FF0000"/>
                </a:solidFill>
              </a:rPr>
              <a:t>( </a:t>
            </a:r>
            <a:r>
              <a:rPr lang="en-US" b="1" dirty="0" smtClean="0">
                <a:solidFill>
                  <a:srgbClr val="0070C0"/>
                </a:solidFill>
              </a:rPr>
              <a:t>Major-1445</a:t>
            </a:r>
            <a:r>
              <a:rPr lang="en-US" b="1" dirty="0" smtClean="0">
                <a:solidFill>
                  <a:srgbClr val="FF0000"/>
                </a:solidFill>
              </a:rPr>
              <a:t>, Minor- 7230)</a:t>
            </a:r>
            <a:endParaRPr lang="en-US" dirty="0"/>
          </a:p>
        </p:txBody>
      </p:sp>
      <p:graphicFrame>
        <p:nvGraphicFramePr>
          <p:cNvPr id="4" name="Chart 3"/>
          <p:cNvGraphicFramePr/>
          <p:nvPr/>
        </p:nvGraphicFramePr>
        <p:xfrm>
          <a:off x="0" y="990600"/>
          <a:ext cx="9144000" cy="586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 spd="slow">
    <p:strips dir="r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>
              <a:defRPr sz="180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en-US" sz="2800" b="1" dirty="0" smtClean="0">
                <a:solidFill>
                  <a:prstClr val="black"/>
                </a:solidFill>
              </a:rPr>
              <a:t> </a:t>
            </a:r>
            <a:r>
              <a:rPr lang="en-US" sz="2800" b="1" dirty="0" err="1" smtClean="0">
                <a:solidFill>
                  <a:prstClr val="black"/>
                </a:solidFill>
              </a:rPr>
              <a:t>EmOC</a:t>
            </a:r>
            <a:r>
              <a:rPr lang="en-US" sz="2800" b="1" dirty="0" smtClean="0">
                <a:solidFill>
                  <a:prstClr val="black"/>
                </a:solidFill>
              </a:rPr>
              <a:t> performance 2015 to 2020</a:t>
            </a:r>
            <a:endParaRPr lang="en-US" sz="2800" b="1" dirty="0">
              <a:solidFill>
                <a:prstClr val="black"/>
              </a:solidFill>
            </a:endParaRPr>
          </a:p>
        </p:txBody>
      </p:sp>
      <p:graphicFrame>
        <p:nvGraphicFramePr>
          <p:cNvPr id="11" name="Chart 10"/>
          <p:cNvGraphicFramePr/>
          <p:nvPr/>
        </p:nvGraphicFramePr>
        <p:xfrm>
          <a:off x="0" y="533400"/>
          <a:ext cx="9144000" cy="632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b="1" dirty="0" smtClean="0">
                <a:ea typeface="Calibri"/>
                <a:cs typeface="Vrinda"/>
              </a:rPr>
              <a:t>5 Best Performing </a:t>
            </a:r>
            <a:r>
              <a:rPr lang="en-US" sz="2400" b="1" dirty="0" err="1" smtClean="0">
                <a:ea typeface="Calibri"/>
                <a:cs typeface="Vrinda"/>
              </a:rPr>
              <a:t>EmOC</a:t>
            </a:r>
            <a:r>
              <a:rPr lang="en-US" sz="2400" b="1" dirty="0" smtClean="0">
                <a:ea typeface="Calibri"/>
                <a:cs typeface="Vrinda"/>
              </a:rPr>
              <a:t> District Hospital </a:t>
            </a:r>
            <a:r>
              <a:rPr lang="en-US" sz="2400" b="1" dirty="0">
                <a:ea typeface="Calibri"/>
                <a:cs typeface="Vrinda"/>
              </a:rPr>
              <a:t>in Khulna </a:t>
            </a:r>
            <a:r>
              <a:rPr lang="en-US" sz="2400" b="1" dirty="0" smtClean="0">
                <a:ea typeface="Calibri"/>
                <a:cs typeface="Vrinda"/>
              </a:rPr>
              <a:t>Division </a:t>
            </a:r>
            <a:r>
              <a:rPr lang="en-US" sz="2400" b="1" dirty="0">
                <a:ea typeface="Calibri"/>
                <a:cs typeface="Vrinda"/>
              </a:rPr>
              <a:t>- </a:t>
            </a:r>
            <a:r>
              <a:rPr lang="en-US" sz="2400" b="1" dirty="0" smtClean="0">
                <a:ea typeface="Calibri"/>
                <a:cs typeface="Vrinda"/>
              </a:rPr>
              <a:t>2020</a:t>
            </a:r>
            <a:endParaRPr lang="en-US" sz="2400" dirty="0"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3851720"/>
              </p:ext>
            </p:extLst>
          </p:nvPr>
        </p:nvGraphicFramePr>
        <p:xfrm>
          <a:off x="0" y="990600"/>
          <a:ext cx="9144000" cy="586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0" y="609600"/>
            <a:ext cx="9144000" cy="38100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C-Section</a:t>
            </a:r>
            <a:r>
              <a:rPr lang="en-US" b="1" dirty="0" smtClean="0">
                <a:solidFill>
                  <a:srgbClr val="0070C0"/>
                </a:solidFill>
              </a:rPr>
              <a:t>,</a:t>
            </a:r>
            <a:r>
              <a:rPr lang="en-US" b="1" dirty="0" smtClean="0"/>
              <a:t>  </a:t>
            </a:r>
            <a:r>
              <a:rPr lang="en-US" b="1" dirty="0" smtClean="0">
                <a:solidFill>
                  <a:srgbClr val="0070C0"/>
                </a:solidFill>
              </a:rPr>
              <a:t>NVD</a:t>
            </a:r>
            <a:r>
              <a:rPr lang="en-US" b="1" dirty="0" smtClean="0"/>
              <a:t>,  </a:t>
            </a:r>
            <a:r>
              <a:rPr lang="en-US" b="1" dirty="0" smtClean="0">
                <a:solidFill>
                  <a:srgbClr val="00B050"/>
                </a:solidFill>
              </a:rPr>
              <a:t>Total Delivery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6248400"/>
            <a:ext cx="8499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/>
              <a:t>250 bed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579453608"/>
      </p:ext>
    </p:extLst>
  </p:cSld>
  <p:clrMapOvr>
    <a:masterClrMapping/>
  </p:clrMapOvr>
  <p:transition spd="slow" advClick="0">
    <p:circl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/>
          <p:cNvGraphicFramePr/>
          <p:nvPr/>
        </p:nvGraphicFramePr>
        <p:xfrm>
          <a:off x="0" y="533400"/>
          <a:ext cx="9144000" cy="632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FF0000"/>
                </a:solidFill>
                <a:latin typeface="Algerian" pitchFamily="82" charset="0"/>
              </a:rPr>
              <a:t>Hospital Death Rate 2015 - 2020</a:t>
            </a:r>
            <a:endParaRPr lang="en-US" sz="2800" dirty="0">
              <a:solidFill>
                <a:srgbClr val="FF0000"/>
              </a:solidFill>
              <a:latin typeface="Algerian" pitchFamily="82" charset="0"/>
            </a:endParaRPr>
          </a:p>
        </p:txBody>
      </p:sp>
    </p:spTree>
  </p:cSld>
  <p:clrMapOvr>
    <a:masterClrMapping/>
  </p:clrMapOvr>
  <p:transition spd="slow">
    <p:comb dir="vert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/>
          <p:cNvGraphicFramePr/>
          <p:nvPr/>
        </p:nvGraphicFramePr>
        <p:xfrm>
          <a:off x="0" y="609600"/>
          <a:ext cx="9144000" cy="624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0" y="0"/>
            <a:ext cx="9144000" cy="58477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/>
              <a:t>Outcome  Report 2020</a:t>
            </a:r>
            <a:endParaRPr lang="en-US" sz="3200" b="1" dirty="0"/>
          </a:p>
        </p:txBody>
      </p:sp>
    </p:spTree>
  </p:cSld>
  <p:clrMapOvr>
    <a:masterClrMapping/>
  </p:clrMapOvr>
  <p:transition spd="slow" advClick="0">
    <p:diamond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08038"/>
          </a:xfrm>
          <a:blipFill>
            <a:blip r:embed="rId2"/>
            <a:tile tx="0" ty="0" sx="100000" sy="100000" flip="none" algn="tl"/>
          </a:blip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500" b="1" dirty="0" smtClean="0">
                <a:solidFill>
                  <a:srgbClr val="00B050"/>
                </a:solidFill>
              </a:rPr>
              <a:t>Comparative </a:t>
            </a:r>
            <a:r>
              <a:rPr lang="en-US" sz="2500" b="1" dirty="0">
                <a:solidFill>
                  <a:srgbClr val="00B050"/>
                </a:solidFill>
              </a:rPr>
              <a:t>data of revenue </a:t>
            </a:r>
            <a:r>
              <a:rPr lang="en-US" sz="2500" b="1" dirty="0" smtClean="0">
                <a:solidFill>
                  <a:srgbClr val="00B050"/>
                </a:solidFill>
              </a:rPr>
              <a:t>income </a:t>
            </a:r>
            <a:r>
              <a:rPr lang="en-US" sz="2800" b="1" dirty="0" smtClean="0">
                <a:solidFill>
                  <a:srgbClr val="00B050"/>
                </a:solidFill>
              </a:rPr>
              <a:t>(</a:t>
            </a:r>
            <a:r>
              <a:rPr lang="en-US" sz="2200" b="1" dirty="0" smtClean="0">
                <a:solidFill>
                  <a:srgbClr val="00B050"/>
                </a:solidFill>
              </a:rPr>
              <a:t>in Taka</a:t>
            </a:r>
            <a:r>
              <a:rPr lang="en-US" sz="2800" b="1" dirty="0" smtClean="0">
                <a:solidFill>
                  <a:srgbClr val="00B050"/>
                </a:solidFill>
              </a:rPr>
              <a:t>) from </a:t>
            </a:r>
            <a:r>
              <a:rPr lang="en-US" sz="2600" b="1" dirty="0" smtClean="0">
                <a:solidFill>
                  <a:srgbClr val="00B050"/>
                </a:solidFill>
              </a:rPr>
              <a:t>2015 to 2020</a:t>
            </a:r>
            <a:r>
              <a:rPr lang="en-US" sz="4800" b="1" dirty="0"/>
              <a:t/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1290331"/>
              </p:ext>
            </p:extLst>
          </p:nvPr>
        </p:nvGraphicFramePr>
        <p:xfrm>
          <a:off x="0" y="914400"/>
          <a:ext cx="9144000" cy="594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61847977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/>
        </p:nvGraphicFramePr>
        <p:xfrm>
          <a:off x="0" y="914400"/>
          <a:ext cx="9144000" cy="594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0" y="0"/>
            <a:ext cx="9144000" cy="830997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pPr algn="ctr">
              <a:defRPr sz="180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en-US" sz="2400" b="1" dirty="0" smtClean="0">
                <a:solidFill>
                  <a:prstClr val="black"/>
                </a:solidFill>
              </a:rPr>
              <a:t>Category Wise Revenue Collection report 2020</a:t>
            </a:r>
          </a:p>
          <a:p>
            <a:pPr algn="ctr">
              <a:defRPr sz="180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en-US" sz="2400" b="1" dirty="0" smtClean="0">
                <a:solidFill>
                  <a:prstClr val="black"/>
                </a:solidFill>
              </a:rPr>
              <a:t>Total Collection- 71,05,951 Taka</a:t>
            </a:r>
            <a:endParaRPr lang="en-US" sz="2400" dirty="0"/>
          </a:p>
        </p:txBody>
      </p:sp>
    </p:spTree>
  </p:cSld>
  <p:clrMapOvr>
    <a:masterClrMapping/>
  </p:clrMapOvr>
  <p:transition spd="slow">
    <p:strips dir="r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81050"/>
            <a:ext cx="9144000" cy="60769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58 manpower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(Cleaner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26,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Ayah &amp; ward boy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22,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Guard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5,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Volunteer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Trolley man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3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)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is supported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by the community.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MP of Jhenaidah-2 donated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19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support.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Chairman of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edee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foundation supports 12 manpower and an intercom with a cost of nearly two lac taka. 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Mayor of Jhenaidah Paurasava plays an important role in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security , cleanliness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repaired the boundary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wall and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supports 5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power and renovation of pediatric word and donation of a biochemistry analyzer at a cost of 1,15,000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Taka. </a:t>
            </a: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Former-chairman of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Jhenidah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Pourosova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supports 2 manpower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 of the hospital and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town supports 17 man power.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000" b="1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Different kind of instruments donated by community leaders in </a:t>
            </a:r>
            <a:r>
              <a:rPr lang="en-US" sz="2000" b="1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covid</a:t>
            </a:r>
            <a:r>
              <a:rPr lang="en-US" sz="2000" b="1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-19 situation .(About 7000000 taka)</a:t>
            </a:r>
            <a:endParaRPr lang="en-US" sz="2000" b="1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8386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HSSI  Health  Minister’s  National  Award 2019</a:t>
            </a:r>
            <a:endParaRPr lang="en-US" sz="3200" dirty="0"/>
          </a:p>
        </p:txBody>
      </p:sp>
      <p:pic>
        <p:nvPicPr>
          <p:cNvPr id="3074" name="Picture 2" descr="C:\Users\USER\Desktop\Award 13.1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95300"/>
            <a:ext cx="9144000" cy="6362700"/>
          </a:xfrm>
          <a:prstGeom prst="rect">
            <a:avLst/>
          </a:prstGeom>
          <a:noFill/>
        </p:spPr>
      </p:pic>
    </p:spTree>
  </p:cSld>
  <p:clrMapOvr>
    <a:masterClrMapping/>
  </p:clrMapOvr>
  <p:transition spd="slow" advClick="0">
    <p:wheel spokes="3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524000"/>
          </a:xfrm>
          <a:blipFill>
            <a:blip r:embed="rId3"/>
            <a:tile tx="0" ty="0" sx="100000" sy="100000" flip="none" algn="tl"/>
          </a:blipFill>
        </p:spPr>
        <p:txBody>
          <a:bodyPr anchor="ctr">
            <a:normAutofit/>
          </a:bodyPr>
          <a:lstStyle/>
          <a:p>
            <a:pPr algn="l"/>
            <a:r>
              <a:rPr sz="2400" dirty="0" err="1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উত্তম</a:t>
            </a:r>
            <a:r>
              <a:rPr sz="2400" dirty="0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sz="2400" dirty="0" err="1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কাজের</a:t>
            </a:r>
            <a:r>
              <a:rPr sz="2400" dirty="0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sz="2400" dirty="0" err="1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স্বীকৃতি</a:t>
            </a:r>
            <a:r>
              <a:rPr sz="2400" dirty="0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sz="2400" dirty="0" err="1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স্বরুপ</a:t>
            </a:r>
            <a:r>
              <a:rPr sz="2400" dirty="0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   </a:t>
            </a:r>
            <a:r>
              <a:rPr lang="as-IN" sz="2400" b="1" dirty="0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সদর হাসপাতাল,</a:t>
            </a:r>
            <a:r>
              <a:rPr sz="2400" b="1" dirty="0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lang="as-IN" sz="2400" b="1" dirty="0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ঝিনাইদ</a:t>
            </a:r>
            <a:r>
              <a:rPr sz="2400" b="1" err="1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হকে</a:t>
            </a:r>
            <a:r>
              <a:rPr lang="as-IN" sz="2400" dirty="0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sz="2400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lang="en-US" sz="2400" dirty="0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‘</a:t>
            </a:r>
            <a:r>
              <a:rPr lang="as-IN" sz="2400" dirty="0" smtClean="0">
                <a:solidFill>
                  <a:srgbClr val="00B050"/>
                </a:solidFill>
                <a:latin typeface="NikoshBAN" pitchFamily="2" charset="0"/>
                <a:cs typeface="NikoshBAN" pitchFamily="2" charset="0"/>
              </a:rPr>
              <a:t>স্বাস্থ্য মন্ত্রী জাতীয় পুরস্কার </a:t>
            </a:r>
            <a:r>
              <a:rPr lang="as-IN" sz="2400" dirty="0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-</a:t>
            </a:r>
            <a:r>
              <a:rPr sz="2400" dirty="0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lang="as-IN" sz="2400" dirty="0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২০১৯’ </a:t>
            </a:r>
            <a:r>
              <a:rPr sz="2400" dirty="0" err="1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প্রদান</a:t>
            </a:r>
            <a:r>
              <a:rPr sz="2400" dirty="0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sz="2400" dirty="0" err="1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করা</a:t>
            </a:r>
            <a:r>
              <a:rPr sz="2400" dirty="0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sz="2400" dirty="0" err="1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হয়</a:t>
            </a:r>
            <a:r>
              <a:rPr sz="2400" dirty="0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sz="2400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।  পুরস্কার </a:t>
            </a:r>
            <a:r>
              <a:rPr lang="as-IN" sz="2400" dirty="0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গ্রহন করছেন জনাব ডাঃ মোঃ </a:t>
            </a:r>
            <a:r>
              <a:rPr sz="2400" dirty="0" err="1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হারুন</a:t>
            </a:r>
            <a:r>
              <a:rPr lang="as-IN" sz="2400" dirty="0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-অর-রশীদ, তত্ত্বাবধায়ক </a:t>
            </a:r>
            <a:endParaRPr lang="en-US" sz="2400" dirty="0">
              <a:solidFill>
                <a:srgbClr val="00B050"/>
              </a:solidFill>
              <a:latin typeface="NikoshBAN" pitchFamily="2" charset="0"/>
              <a:cs typeface="NikoshBAN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38800" y="6324600"/>
            <a:ext cx="38100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FFFF00"/>
                </a:solidFill>
              </a:rPr>
              <a:t>আমাদের</a:t>
            </a:r>
            <a:r>
              <a:rPr lang="en-US" dirty="0" smtClean="0">
                <a:solidFill>
                  <a:srgbClr val="FFFF00"/>
                </a:solidFill>
              </a:rPr>
              <a:t> </a:t>
            </a:r>
            <a:r>
              <a:rPr lang="en-US" dirty="0" err="1" smtClean="0">
                <a:solidFill>
                  <a:srgbClr val="FFFF00"/>
                </a:solidFill>
              </a:rPr>
              <a:t>বাগানের</a:t>
            </a:r>
            <a:r>
              <a:rPr lang="en-US" dirty="0" smtClean="0">
                <a:solidFill>
                  <a:srgbClr val="FFFF00"/>
                </a:solidFill>
              </a:rPr>
              <a:t> </a:t>
            </a:r>
            <a:r>
              <a:rPr lang="en-US" dirty="0" err="1" smtClean="0">
                <a:solidFill>
                  <a:srgbClr val="FFFF00"/>
                </a:solidFill>
              </a:rPr>
              <a:t>ফুল</a:t>
            </a:r>
            <a:r>
              <a:rPr lang="en-US" dirty="0" smtClean="0">
                <a:solidFill>
                  <a:srgbClr val="FFFF00"/>
                </a:solidFill>
              </a:rPr>
              <a:t> </a:t>
            </a:r>
            <a:endParaRPr lang="en-US" dirty="0">
              <a:solidFill>
                <a:srgbClr val="FFFF00"/>
              </a:solidFill>
            </a:endParaRPr>
          </a:p>
        </p:txBody>
      </p:sp>
      <p:pic>
        <p:nvPicPr>
          <p:cNvPr id="2" name="Picture 2" descr="C:\Users\USER\Desktop\Award 20 pic.jpg"/>
          <p:cNvPicPr>
            <a:picLocks noGrp="1" noChangeAspect="1" noChangeArrowheads="1"/>
          </p:cNvPicPr>
          <p:nvPr>
            <p:ph idx="1"/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0" y="1828800"/>
            <a:ext cx="9144000" cy="51816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wheel spokes="3"/>
    <p:sndAc>
      <p:stSnd>
        <p:snd r:embed="rId2" name="applause.wav"/>
      </p:stSnd>
    </p:sndAc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304800" y="1"/>
            <a:ext cx="8305800" cy="685800"/>
          </a:xfrm>
        </p:spPr>
        <p:txBody>
          <a:bodyPr/>
          <a:lstStyle/>
          <a:p>
            <a:r>
              <a:rPr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4 New Innovation</a:t>
            </a:r>
            <a:r>
              <a:rPr lang="en-US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-20</a:t>
            </a:r>
            <a:endParaRPr lang="en-US" dirty="0">
              <a:solidFill>
                <a:srgbClr val="0070C0"/>
              </a:solidFill>
              <a:latin typeface="Nikosh" pitchFamily="2" charset="0"/>
              <a:cs typeface="Nikosh" pitchFamily="2" charset="0"/>
            </a:endParaRPr>
          </a:p>
        </p:txBody>
      </p:sp>
      <p:pic>
        <p:nvPicPr>
          <p:cNvPr id="3075" name="Picture 3" descr="C:\Users\USER\Desktop\Ticket counter new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09600"/>
            <a:ext cx="4648200" cy="2895600"/>
          </a:xfrm>
          <a:prstGeom prst="rect">
            <a:avLst/>
          </a:prstGeom>
          <a:noFill/>
        </p:spPr>
      </p:pic>
      <p:pic>
        <p:nvPicPr>
          <p:cNvPr id="1027" name="Picture 3" descr="C:\Users\USER\Desktop\Information desk new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24400" y="609600"/>
            <a:ext cx="4419600" cy="2895600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0" y="609600"/>
            <a:ext cx="2438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latin typeface="Nikosh" pitchFamily="2" charset="0"/>
                <a:cs typeface="Nikosh" pitchFamily="2" charset="0"/>
              </a:rPr>
              <a:t>নতুন</a:t>
            </a:r>
            <a:r>
              <a:rPr lang="en-US" sz="2000" dirty="0" smtClean="0">
                <a:latin typeface="Nikosh" pitchFamily="2" charset="0"/>
                <a:cs typeface="Nikosh" pitchFamily="2" charset="0"/>
              </a:rPr>
              <a:t>  </a:t>
            </a:r>
            <a:r>
              <a:rPr lang="en-US" sz="2000" dirty="0" err="1" smtClean="0">
                <a:latin typeface="Nikosh" pitchFamily="2" charset="0"/>
                <a:cs typeface="Nikosh" pitchFamily="2" charset="0"/>
              </a:rPr>
              <a:t>টিকিট</a:t>
            </a:r>
            <a:r>
              <a:rPr lang="en-US" sz="20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000" dirty="0" err="1" smtClean="0">
                <a:latin typeface="Nikosh" pitchFamily="2" charset="0"/>
                <a:cs typeface="Nikosh" pitchFamily="2" charset="0"/>
              </a:rPr>
              <a:t>কাউন্টার</a:t>
            </a:r>
            <a:endParaRPr lang="en-US" sz="2000" dirty="0">
              <a:latin typeface="Nikosh" pitchFamily="2" charset="0"/>
              <a:cs typeface="Nikosh" pitchFamily="2" charset="0"/>
            </a:endParaRPr>
          </a:p>
        </p:txBody>
      </p:sp>
      <p:pic>
        <p:nvPicPr>
          <p:cNvPr id="9" name="Picture 8" descr="C:\Users\USER\Downloads\rsz_img_4771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3657600"/>
            <a:ext cx="4648200" cy="3200400"/>
          </a:xfrm>
          <a:prstGeom prst="rect">
            <a:avLst/>
          </a:prstGeom>
          <a:noFill/>
        </p:spPr>
      </p:pic>
      <p:pic>
        <p:nvPicPr>
          <p:cNvPr id="10" name="Picture 3" descr="C:\Users\USER\Downloads\rsz_img_4773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00600" y="3657600"/>
            <a:ext cx="4343400" cy="3200400"/>
          </a:xfrm>
          <a:prstGeom prst="rect">
            <a:avLst/>
          </a:prstGeom>
          <a:noFill/>
        </p:spPr>
      </p:pic>
      <p:sp>
        <p:nvSpPr>
          <p:cNvPr id="11" name="TextBox 10"/>
          <p:cNvSpPr txBox="1"/>
          <p:nvPr/>
        </p:nvSpPr>
        <p:spPr>
          <a:xfrm>
            <a:off x="5029200" y="3657600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SutonnyMJ" pitchFamily="2" charset="0"/>
              </a:rPr>
              <a:t> †</a:t>
            </a:r>
            <a:r>
              <a:rPr lang="en-US" sz="2400" dirty="0" err="1" smtClean="0">
                <a:latin typeface="SutonnyMJ" pitchFamily="2" charset="0"/>
              </a:rPr>
              <a:t>ivMxi</a:t>
            </a:r>
            <a:r>
              <a:rPr lang="en-US" sz="2400" dirty="0" smtClean="0">
                <a:latin typeface="SutonnyMJ" pitchFamily="2" charset="0"/>
              </a:rPr>
              <a:t> ¯^</a:t>
            </a:r>
            <a:r>
              <a:rPr lang="en-US" sz="2400" dirty="0" err="1" smtClean="0">
                <a:latin typeface="SutonnyMJ" pitchFamily="2" charset="0"/>
              </a:rPr>
              <a:t>Rb‡`i</a:t>
            </a:r>
            <a:r>
              <a:rPr lang="en-US" sz="2400" dirty="0" smtClean="0">
                <a:latin typeface="SutonnyMJ" pitchFamily="2" charset="0"/>
              </a:rPr>
              <a:t> </a:t>
            </a:r>
            <a:r>
              <a:rPr lang="en-US" sz="2400" dirty="0" err="1" smtClean="0">
                <a:latin typeface="SutonnyMJ" pitchFamily="2" charset="0"/>
              </a:rPr>
              <a:t>Lvevi</a:t>
            </a:r>
            <a:r>
              <a:rPr lang="en-US" sz="2400" dirty="0" smtClean="0">
                <a:latin typeface="SutonnyMJ" pitchFamily="2" charset="0"/>
              </a:rPr>
              <a:t> </a:t>
            </a:r>
            <a:r>
              <a:rPr lang="en-US" sz="2400" dirty="0" err="1" smtClean="0">
                <a:latin typeface="SutonnyMJ" pitchFamily="2" charset="0"/>
              </a:rPr>
              <a:t>RvqMv</a:t>
            </a:r>
            <a:endParaRPr lang="en-US" sz="2400" dirty="0">
              <a:latin typeface="SutonnyMJ" pitchFamily="2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3581400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SutonnyMJ" pitchFamily="2" charset="0"/>
              </a:rPr>
              <a:t> †</a:t>
            </a:r>
            <a:r>
              <a:rPr lang="en-US" sz="2400" dirty="0" err="1" smtClean="0">
                <a:latin typeface="SutonnyMJ" pitchFamily="2" charset="0"/>
              </a:rPr>
              <a:t>ivMxi</a:t>
            </a:r>
            <a:r>
              <a:rPr lang="en-US" sz="2400" dirty="0" smtClean="0">
                <a:latin typeface="SutonnyMJ" pitchFamily="2" charset="0"/>
              </a:rPr>
              <a:t> ¯^</a:t>
            </a:r>
            <a:r>
              <a:rPr lang="en-US" sz="2400" dirty="0" err="1" smtClean="0">
                <a:latin typeface="SutonnyMJ" pitchFamily="2" charset="0"/>
              </a:rPr>
              <a:t>Rb‡`i</a:t>
            </a:r>
            <a:r>
              <a:rPr lang="en-US" sz="2400" dirty="0" smtClean="0">
                <a:latin typeface="SutonnyMJ" pitchFamily="2" charset="0"/>
              </a:rPr>
              <a:t> </a:t>
            </a:r>
            <a:r>
              <a:rPr lang="en-US" sz="2400" dirty="0" err="1" smtClean="0">
                <a:latin typeface="SutonnyMJ" pitchFamily="2" charset="0"/>
              </a:rPr>
              <a:t>Lvevi</a:t>
            </a:r>
            <a:r>
              <a:rPr lang="en-US" sz="2400" dirty="0" smtClean="0">
                <a:latin typeface="SutonnyMJ" pitchFamily="2" charset="0"/>
              </a:rPr>
              <a:t> </a:t>
            </a:r>
            <a:r>
              <a:rPr lang="en-US" sz="2400" dirty="0" err="1" smtClean="0">
                <a:latin typeface="SutonnyMJ" pitchFamily="2" charset="0"/>
              </a:rPr>
              <a:t>RvqMv</a:t>
            </a:r>
            <a:endParaRPr lang="en-US" sz="2400" dirty="0">
              <a:latin typeface="SutonnyMJ" pitchFamily="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91400" y="685800"/>
            <a:ext cx="1752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latin typeface="Nikosh" pitchFamily="2" charset="0"/>
                <a:cs typeface="Nikosh" pitchFamily="2" charset="0"/>
              </a:rPr>
              <a:t>হেলপ</a:t>
            </a:r>
            <a:r>
              <a:rPr lang="en-US" sz="20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000" dirty="0" err="1" smtClean="0">
                <a:latin typeface="Nikosh" pitchFamily="2" charset="0"/>
                <a:cs typeface="Nikosh" pitchFamily="2" charset="0"/>
              </a:rPr>
              <a:t>ডেস্ক</a:t>
            </a:r>
            <a:endParaRPr lang="en-US" sz="2000" dirty="0">
              <a:latin typeface="Nikosh" pitchFamily="2" charset="0"/>
              <a:cs typeface="Nikosh" pitchFamily="2" charset="0"/>
            </a:endParaRPr>
          </a:p>
        </p:txBody>
      </p:sp>
    </p:spTree>
  </p:cSld>
  <p:clrMapOvr>
    <a:masterClrMapping/>
  </p:clrMapOvr>
  <p:transition spd="slow">
    <p:wheel spokes="3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304800" y="1"/>
            <a:ext cx="8305800" cy="685800"/>
          </a:xfrm>
        </p:spPr>
        <p:txBody>
          <a:bodyPr anchor="t"/>
          <a:lstStyle/>
          <a:p>
            <a:r>
              <a:rPr sz="240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Female Medicine Ward  </a:t>
            </a:r>
            <a:endParaRPr lang="en-US" sz="2400" dirty="0">
              <a:solidFill>
                <a:srgbClr val="0070C0"/>
              </a:solidFill>
              <a:latin typeface="Nikosh" pitchFamily="2" charset="0"/>
              <a:cs typeface="Nikosh" pitchFamily="2" charset="0"/>
            </a:endParaRPr>
          </a:p>
        </p:txBody>
      </p:sp>
      <p:pic>
        <p:nvPicPr>
          <p:cNvPr id="2051" name="Picture 3" descr="C:\Users\USER\Desktop\rsz_received_320551819175133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8200" y="381000"/>
            <a:ext cx="4495800" cy="3200399"/>
          </a:xfrm>
          <a:prstGeom prst="rect">
            <a:avLst/>
          </a:prstGeom>
          <a:noFill/>
        </p:spPr>
      </p:pic>
      <p:pic>
        <p:nvPicPr>
          <p:cNvPr id="2052" name="Picture 4" descr="C:\Users\USER\Desktop\New folder (2)\FMW new\rsz_received_632309657443608_2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381000"/>
            <a:ext cx="4572000" cy="3200400"/>
          </a:xfrm>
          <a:prstGeom prst="rect">
            <a:avLst/>
          </a:prstGeom>
          <a:noFill/>
        </p:spPr>
      </p:pic>
      <p:pic>
        <p:nvPicPr>
          <p:cNvPr id="2053" name="Picture 5" descr="C:\Users\USER\Desktop\New folder (2)\FMW new\rsz_received_320551819175133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657601"/>
            <a:ext cx="4572000" cy="3200399"/>
          </a:xfrm>
          <a:prstGeom prst="rect">
            <a:avLst/>
          </a:prstGeom>
          <a:noFill/>
        </p:spPr>
      </p:pic>
      <p:pic>
        <p:nvPicPr>
          <p:cNvPr id="2054" name="Picture 6" descr="C:\Users\USER\Desktop\New folder (2)\FMW new\rsz_received_954290461734233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648200" y="3657600"/>
            <a:ext cx="4495800" cy="32004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wheel spokes="3"/>
    <p:sndAc>
      <p:stSnd>
        <p:snd r:embed="rId2" name="drumroll.wav"/>
      </p:stSnd>
    </p:sndAc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304800" y="1"/>
            <a:ext cx="8305800" cy="685800"/>
          </a:xfrm>
        </p:spPr>
        <p:txBody>
          <a:bodyPr anchor="t"/>
          <a:lstStyle/>
          <a:p>
            <a:r>
              <a:rPr sz="320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Innovation Male Medicine Ward </a:t>
            </a:r>
            <a:endParaRPr lang="en-US" sz="3200" dirty="0">
              <a:solidFill>
                <a:srgbClr val="0070C0"/>
              </a:solidFill>
              <a:latin typeface="Nikosh" pitchFamily="2" charset="0"/>
              <a:cs typeface="Nikosh" pitchFamily="2" charset="0"/>
            </a:endParaRPr>
          </a:p>
        </p:txBody>
      </p:sp>
      <p:pic>
        <p:nvPicPr>
          <p:cNvPr id="2050" name="Picture 2" descr="C:\Users\USER\Desktop\rsz_img_4540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00600" y="533400"/>
            <a:ext cx="4343400" cy="2895600"/>
          </a:xfrm>
          <a:prstGeom prst="rect">
            <a:avLst/>
          </a:prstGeom>
          <a:noFill/>
        </p:spPr>
      </p:pic>
      <p:pic>
        <p:nvPicPr>
          <p:cNvPr id="2051" name="Picture 3" descr="C:\Users\USER\Desktop\Medicine 2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533400"/>
            <a:ext cx="4724400" cy="2895600"/>
          </a:xfrm>
          <a:prstGeom prst="rect">
            <a:avLst/>
          </a:prstGeom>
          <a:noFill/>
        </p:spPr>
      </p:pic>
      <p:pic>
        <p:nvPicPr>
          <p:cNvPr id="2052" name="Picture 4" descr="C:\Users\USER\Desktop\rsz_img_4540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505200"/>
            <a:ext cx="4724400" cy="3352800"/>
          </a:xfrm>
          <a:prstGeom prst="rect">
            <a:avLst/>
          </a:prstGeom>
          <a:noFill/>
        </p:spPr>
      </p:pic>
      <p:pic>
        <p:nvPicPr>
          <p:cNvPr id="2053" name="Picture 5" descr="C:\Users\USER\Desktop\Medicine 3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00600" y="3505200"/>
            <a:ext cx="4343400" cy="33528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wheel spokes="3"/>
    <p:sndAc>
      <p:stSnd>
        <p:snd r:embed="rId2" name="drumroll.wav"/>
      </p:stSnd>
    </p:sndAc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 noChangeAspect="1"/>
          </p:cNvPicPr>
          <p:nvPr>
            <p:ph sz="half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10" y="3886200"/>
            <a:ext cx="4133973" cy="2590800"/>
          </a:xfrm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86" y="3886200"/>
            <a:ext cx="4127426" cy="2590800"/>
          </a:xfrm>
        </p:spPr>
      </p:pic>
      <p:pic>
        <p:nvPicPr>
          <p:cNvPr id="11" name="Content Placeholder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1219200"/>
            <a:ext cx="4038599" cy="2514268"/>
          </a:xfrm>
          <a:prstGeom prst="rect">
            <a:avLst/>
          </a:prstGeom>
        </p:spPr>
      </p:pic>
      <p:pic>
        <p:nvPicPr>
          <p:cNvPr id="7" name="Content Placeholder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84" y="1219200"/>
            <a:ext cx="4114800" cy="2563359"/>
          </a:xfrm>
          <a:prstGeom prst="rect">
            <a:avLst/>
          </a:prstGeom>
        </p:spPr>
      </p:pic>
      <p:sp>
        <p:nvSpPr>
          <p:cNvPr id="13" name="Title 1"/>
          <p:cNvSpPr txBox="1">
            <a:spLocks/>
          </p:cNvSpPr>
          <p:nvPr/>
        </p:nvSpPr>
        <p:spPr bwMode="auto">
          <a:xfrm>
            <a:off x="246184" y="464343"/>
            <a:ext cx="8593015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  <a:ex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Jhenaidah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- 3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109367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>
                <a:solidFill>
                  <a:schemeClr val="bg1"/>
                </a:solidFill>
              </a:rPr>
              <a:t>Improved pediatric word by local initiative</a:t>
            </a:r>
            <a:endParaRPr lang="en-US" sz="2800" b="1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</p:spTree>
  </p:cSld>
  <p:clrMapOvr>
    <a:masterClrMapping/>
  </p:clrMapOvr>
  <p:transition spd="slow">
    <p:strips dir="ru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304800" y="1"/>
            <a:ext cx="8305800" cy="685800"/>
          </a:xfrm>
        </p:spPr>
        <p:txBody>
          <a:bodyPr anchor="t"/>
          <a:lstStyle/>
          <a:p>
            <a:r>
              <a:rPr lang="as-IN" sz="36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জাহেদী ফাউন্ডেশন কর্তৃক পিকআপ ভ্যান প্রদান</a:t>
            </a:r>
            <a:endParaRPr lang="en-US" sz="3600" dirty="0">
              <a:solidFill>
                <a:srgbClr val="0070C0"/>
              </a:solidFill>
              <a:latin typeface="Nikosh" pitchFamily="2" charset="0"/>
              <a:cs typeface="Nikosh" pitchFamily="2" charset="0"/>
            </a:endParaRPr>
          </a:p>
        </p:txBody>
      </p:sp>
      <p:pic>
        <p:nvPicPr>
          <p:cNvPr id="1028" name="Picture 4" descr="C:\Users\USER\Desktop\462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33400"/>
            <a:ext cx="4648200" cy="3048000"/>
          </a:xfrm>
          <a:prstGeom prst="rect">
            <a:avLst/>
          </a:prstGeom>
          <a:noFill/>
        </p:spPr>
      </p:pic>
      <p:pic>
        <p:nvPicPr>
          <p:cNvPr id="1029" name="Picture 5" descr="C:\Users\USER\Desktop\4627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92041" y="3657600"/>
            <a:ext cx="4451959" cy="3200400"/>
          </a:xfrm>
          <a:prstGeom prst="rect">
            <a:avLst/>
          </a:prstGeom>
          <a:noFill/>
        </p:spPr>
      </p:pic>
      <p:pic>
        <p:nvPicPr>
          <p:cNvPr id="1030" name="Picture 6" descr="C:\Users\USER\Desktop\4629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3657600"/>
            <a:ext cx="4648200" cy="3200400"/>
          </a:xfrm>
          <a:prstGeom prst="rect">
            <a:avLst/>
          </a:prstGeom>
          <a:noFill/>
        </p:spPr>
      </p:pic>
      <p:pic>
        <p:nvPicPr>
          <p:cNvPr id="1032" name="Picture 8" descr="C:\Users\USER\Desktop\rsz_img_4603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724400" y="533400"/>
            <a:ext cx="4419600" cy="30480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strips dir="ru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s-IN" sz="2000" b="1" dirty="0" smtClean="0">
                <a:solidFill>
                  <a:srgbClr val="00B050"/>
                </a:solidFill>
                <a:latin typeface="Nikosh" pitchFamily="2" charset="0"/>
                <a:cs typeface="Nikosh" pitchFamily="2" charset="0"/>
              </a:rPr>
              <a:t>সদর হাসপাতাল,ঝিনাইদহে জাহেদী ফাউন্ডেশন কর্তৃক পিকআপ ভ্যান প্রদান অনুষ্ঠান । প্রধান অতিথি ছিলেন মাননীয় জাতীয় সাংসদ জনাব মোঃ আব্দুল হাই,বিশেষ অতিথি হিসাবে উপস্থিত ছিলেন পুলিশ সুপার, পৌরসভার সুযোগ্য মেয়র ও অন্যান্য অতিথিবৃন্দ</a:t>
            </a:r>
            <a:r>
              <a:rPr lang="as-IN" sz="20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endParaRPr lang="en-US" sz="2000" dirty="0"/>
          </a:p>
        </p:txBody>
      </p:sp>
      <p:pic>
        <p:nvPicPr>
          <p:cNvPr id="3" name="Content Placeholder 6" descr="IMG_4625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219200"/>
            <a:ext cx="9144000" cy="5638800"/>
          </a:xfrm>
          <a:prstGeom prst="rect">
            <a:avLst/>
          </a:prstGeom>
        </p:spPr>
      </p:pic>
    </p:spTree>
  </p:cSld>
  <p:clrMapOvr>
    <a:masterClrMapping/>
  </p:clrMapOvr>
  <p:transition spd="slow">
    <p:strips dir="ru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752600"/>
          </a:xfrm>
          <a:blipFill>
            <a:blip r:embed="rId2"/>
            <a:tile tx="0" ty="0" sx="100000" sy="100000" flip="none" algn="tl"/>
          </a:blipFill>
        </p:spPr>
        <p:txBody>
          <a:bodyPr anchor="t"/>
          <a:lstStyle/>
          <a:p>
            <a:r>
              <a:rPr lang="en-US" sz="24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মাননীয়</a:t>
            </a:r>
            <a:r>
              <a:rPr lang="en-US" sz="24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4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জাতীয়</a:t>
            </a:r>
            <a:r>
              <a:rPr lang="en-US" sz="24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4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সংসদ</a:t>
            </a:r>
            <a:r>
              <a:rPr lang="en-US" sz="24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4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সদস্য</a:t>
            </a:r>
            <a:r>
              <a:rPr lang="en-US" sz="24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4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ঝিনাইদহ</a:t>
            </a:r>
            <a:r>
              <a:rPr lang="en-US" sz="24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-২ </a:t>
            </a:r>
            <a:r>
              <a:rPr lang="en-US" sz="24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জনাব</a:t>
            </a:r>
            <a:r>
              <a:rPr lang="en-US" sz="24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4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তাহজীব</a:t>
            </a:r>
            <a:r>
              <a:rPr lang="en-US" sz="24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4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আলম</a:t>
            </a:r>
            <a:r>
              <a:rPr lang="en-US" sz="24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4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সিদ্দিকী</a:t>
            </a:r>
            <a:r>
              <a:rPr lang="en-US" sz="24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4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মহোদয়</a:t>
            </a:r>
            <a:r>
              <a:rPr lang="en-US" sz="24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4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করোনা</a:t>
            </a:r>
            <a:r>
              <a:rPr lang="en-US" sz="24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4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রোগীর</a:t>
            </a:r>
            <a:r>
              <a:rPr lang="en-US" sz="24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4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চিকিৎসার</a:t>
            </a:r>
            <a:r>
              <a:rPr lang="en-US" sz="24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4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জন্য</a:t>
            </a:r>
            <a:r>
              <a:rPr lang="en-US" sz="24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4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হাইফ্লোনেজাল</a:t>
            </a:r>
            <a:r>
              <a:rPr lang="en-US" sz="24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4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ক্যানোলা</a:t>
            </a:r>
            <a:r>
              <a:rPr lang="en-US" sz="24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ও ২৪টি </a:t>
            </a:r>
            <a:r>
              <a:rPr lang="en-US" sz="24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বড়</a:t>
            </a:r>
            <a:r>
              <a:rPr lang="en-US" sz="24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4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অক্রিজেন</a:t>
            </a:r>
            <a:r>
              <a:rPr lang="en-US" sz="24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4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সিলিন্ডার</a:t>
            </a:r>
            <a:r>
              <a:rPr lang="en-US" sz="24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4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প্রদান</a:t>
            </a:r>
            <a:r>
              <a:rPr lang="en-US" sz="24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4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করেন</a:t>
            </a:r>
            <a:r>
              <a:rPr lang="en-US" sz="24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endParaRPr lang="en-US" sz="2400" dirty="0">
              <a:solidFill>
                <a:srgbClr val="0070C0"/>
              </a:solidFill>
              <a:latin typeface="Nikosh" pitchFamily="2" charset="0"/>
              <a:cs typeface="Nikosh" pitchFamily="2" charset="0"/>
            </a:endParaRPr>
          </a:p>
        </p:txBody>
      </p:sp>
      <p:pic>
        <p:nvPicPr>
          <p:cNvPr id="1026" name="Picture 2" descr="C:\Users\USER\Desktop\New folder\Consentrator by MP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752600"/>
            <a:ext cx="4648200" cy="4267200"/>
          </a:xfrm>
          <a:prstGeom prst="rect">
            <a:avLst/>
          </a:prstGeom>
          <a:noFill/>
        </p:spPr>
      </p:pic>
      <p:pic>
        <p:nvPicPr>
          <p:cNvPr id="1027" name="Picture 3" descr="C:\Users\USER\Desktop\New folder\Oxigen by MP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24400" y="1752600"/>
            <a:ext cx="4419600" cy="42672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strips dir="ru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752600"/>
          </a:xfrm>
        </p:spPr>
        <p:txBody>
          <a:bodyPr anchor="t"/>
          <a:lstStyle/>
          <a:p>
            <a:r>
              <a:rPr lang="en-US" sz="28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মাননীয়</a:t>
            </a:r>
            <a:r>
              <a:rPr lang="en-US" sz="28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প্রধান</a:t>
            </a:r>
            <a:r>
              <a:rPr lang="en-US" sz="28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মন্ত্রীর</a:t>
            </a:r>
            <a:r>
              <a:rPr lang="en-US" sz="28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সমাজ</a:t>
            </a:r>
            <a:r>
              <a:rPr lang="en-US" sz="28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কল্যান</a:t>
            </a:r>
            <a:r>
              <a:rPr lang="en-US" sz="28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ও </a:t>
            </a:r>
            <a:r>
              <a:rPr lang="en-US" sz="28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ত্রান</a:t>
            </a:r>
            <a:r>
              <a:rPr lang="en-US" sz="28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উপকমিটির</a:t>
            </a:r>
            <a:r>
              <a:rPr lang="en-US" sz="28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পক্ষে</a:t>
            </a:r>
            <a:r>
              <a:rPr lang="en-US" sz="28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জনাব</a:t>
            </a:r>
            <a:r>
              <a:rPr lang="en-US" sz="28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পারভীন</a:t>
            </a:r>
            <a:r>
              <a:rPr lang="en-US" sz="28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জামান</a:t>
            </a:r>
            <a:r>
              <a:rPr lang="en-US" sz="28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কল্পনা</a:t>
            </a:r>
            <a:r>
              <a:rPr lang="en-US" sz="28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করোনা</a:t>
            </a:r>
            <a:r>
              <a:rPr lang="en-US" sz="28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রোগীর</a:t>
            </a:r>
            <a:r>
              <a:rPr lang="en-US" sz="28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চিকিৎসার</a:t>
            </a:r>
            <a:r>
              <a:rPr lang="en-US" sz="28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জন্য</a:t>
            </a:r>
            <a:r>
              <a:rPr lang="en-US" sz="28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১টি </a:t>
            </a:r>
            <a:r>
              <a:rPr lang="en-US" sz="28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অক্সিজেন</a:t>
            </a:r>
            <a:r>
              <a:rPr lang="en-US" sz="28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কনসেনট্রেটর</a:t>
            </a:r>
            <a:r>
              <a:rPr lang="en-US" sz="28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ও </a:t>
            </a:r>
            <a:r>
              <a:rPr lang="en-US" sz="28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স্বাস্থ্য</a:t>
            </a:r>
            <a:r>
              <a:rPr lang="en-US" sz="28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সুরক্ষা</a:t>
            </a:r>
            <a:r>
              <a:rPr lang="en-US" sz="28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সামগ্রী</a:t>
            </a:r>
            <a:r>
              <a:rPr lang="en-US" sz="28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প্রদান</a:t>
            </a:r>
            <a:r>
              <a:rPr lang="en-US" sz="28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করেন</a:t>
            </a:r>
            <a:r>
              <a:rPr lang="en-US" sz="28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endParaRPr lang="en-US" sz="2800" dirty="0">
              <a:solidFill>
                <a:srgbClr val="0070C0"/>
              </a:solidFill>
              <a:latin typeface="Nikosh" pitchFamily="2" charset="0"/>
              <a:cs typeface="Nikosh" pitchFamily="2" charset="0"/>
            </a:endParaRPr>
          </a:p>
        </p:txBody>
      </p:sp>
      <p:pic>
        <p:nvPicPr>
          <p:cNvPr id="3074" name="Picture 2" descr="C:\Users\USER\Desktop\rsz_img_4584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95400"/>
            <a:ext cx="9144000" cy="55626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strips dir="ru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90600"/>
          </a:xfrm>
          <a:blipFill>
            <a:blip r:embed="rId2"/>
            <a:tile tx="0" ty="0" sx="100000" sy="100000" flip="none" algn="tl"/>
          </a:blipFill>
        </p:spPr>
        <p:txBody>
          <a:bodyPr anchor="t"/>
          <a:lstStyle/>
          <a:p>
            <a:r>
              <a:rPr lang="en-US" sz="20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মাননীয়</a:t>
            </a:r>
            <a:r>
              <a:rPr lang="en-US" sz="20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0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সচিব</a:t>
            </a:r>
            <a:r>
              <a:rPr lang="en-US" sz="20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, </a:t>
            </a:r>
            <a:r>
              <a:rPr lang="en-US" sz="20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স্বাস্থ্য</a:t>
            </a:r>
            <a:r>
              <a:rPr lang="en-US" sz="20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0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সেবা</a:t>
            </a:r>
            <a:r>
              <a:rPr lang="en-US" sz="20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0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বিভাগ</a:t>
            </a:r>
            <a:r>
              <a:rPr lang="en-US" sz="20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0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জনাব</a:t>
            </a:r>
            <a:r>
              <a:rPr lang="en-US" sz="20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0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মোঃ</a:t>
            </a:r>
            <a:r>
              <a:rPr lang="en-US" sz="20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0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আসাদুল</a:t>
            </a:r>
            <a:r>
              <a:rPr lang="en-US" sz="20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0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ইসলাম</a:t>
            </a:r>
            <a:r>
              <a:rPr lang="en-US" sz="20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0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করোনা</a:t>
            </a:r>
            <a:r>
              <a:rPr lang="en-US" sz="20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0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রোগীর</a:t>
            </a:r>
            <a:r>
              <a:rPr lang="en-US" sz="20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0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চিকিৎসার</a:t>
            </a:r>
            <a:r>
              <a:rPr lang="en-US" sz="20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0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জন্য</a:t>
            </a:r>
            <a:r>
              <a:rPr lang="en-US" sz="20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0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স্বাস্থ্য</a:t>
            </a:r>
            <a:r>
              <a:rPr lang="en-US" sz="20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0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সুরক্ষা</a:t>
            </a:r>
            <a:r>
              <a:rPr lang="en-US" sz="20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0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সামগ্রী</a:t>
            </a:r>
            <a:r>
              <a:rPr lang="en-US" sz="20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ও </a:t>
            </a:r>
            <a:r>
              <a:rPr lang="en-US" sz="20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নগদ</a:t>
            </a:r>
            <a:r>
              <a:rPr lang="en-US" sz="20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৫০,০০০/= </a:t>
            </a:r>
            <a:r>
              <a:rPr lang="en-US" sz="20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টাকা</a:t>
            </a:r>
            <a:r>
              <a:rPr lang="en-US" sz="20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 </a:t>
            </a:r>
            <a:r>
              <a:rPr lang="en-US" sz="20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প্রদান</a:t>
            </a:r>
            <a:r>
              <a:rPr lang="en-US" sz="20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2000" dirty="0" err="1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করেন</a:t>
            </a:r>
            <a:r>
              <a:rPr lang="en-US" sz="20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endParaRPr lang="en-US" sz="2000" dirty="0">
              <a:solidFill>
                <a:srgbClr val="0070C0"/>
              </a:solidFill>
              <a:latin typeface="Nikosh" pitchFamily="2" charset="0"/>
              <a:cs typeface="Nikosh" pitchFamily="2" charset="0"/>
            </a:endParaRPr>
          </a:p>
        </p:txBody>
      </p:sp>
      <p:pic>
        <p:nvPicPr>
          <p:cNvPr id="1027" name="Picture 3" descr="C:\Users\USER\Desktop\secretary_gift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066800"/>
            <a:ext cx="9144000" cy="60198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strips dir="ru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  <a:solidFill>
            <a:srgbClr val="00B0F0"/>
          </a:solidFill>
        </p:spPr>
        <p:txBody>
          <a:bodyPr/>
          <a:lstStyle/>
          <a:p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জনাব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তাহজীব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আলম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সিদ্দীকি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মাননীয়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জাতীয়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সংসদ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সদস্য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এর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সহধর্মীনি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সদর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হাসপতপাল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ঝিনাইদহে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২টি </a:t>
            </a:r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ইনকিউবেটর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মেশিন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প্রদান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করেন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</a:t>
            </a:r>
            <a:endParaRPr lang="en-US" sz="2800" dirty="0">
              <a:latin typeface="Nikosh" pitchFamily="2" charset="0"/>
              <a:cs typeface="Nikosh" pitchFamily="2" charset="0"/>
            </a:endParaRPr>
          </a:p>
        </p:txBody>
      </p:sp>
      <p:pic>
        <p:nvPicPr>
          <p:cNvPr id="1027" name="Picture 3" descr="F:\Incubetor Machine pic\IMG_4907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8200" y="1524000"/>
            <a:ext cx="4495800" cy="3962400"/>
          </a:xfrm>
          <a:prstGeom prst="rect">
            <a:avLst/>
          </a:prstGeom>
          <a:noFill/>
        </p:spPr>
      </p:pic>
      <p:pic>
        <p:nvPicPr>
          <p:cNvPr id="2050" name="Picture 2" descr="C:\Users\USER\Downloads\IMG20210220100739 (1).jpg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524000"/>
            <a:ext cx="4572000" cy="39624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strips dir="ru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Nikosh" pitchFamily="2" charset="0"/>
                <a:cs typeface="Nikosh" pitchFamily="2" charset="0"/>
              </a:rPr>
              <a:t>জনাব</a:t>
            </a:r>
            <a:r>
              <a:rPr lang="en-US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dirty="0" err="1" smtClean="0">
                <a:latin typeface="Nikosh" pitchFamily="2" charset="0"/>
                <a:cs typeface="Nikosh" pitchFamily="2" charset="0"/>
              </a:rPr>
              <a:t>তাহজীব</a:t>
            </a:r>
            <a:r>
              <a:rPr lang="en-US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dirty="0" err="1" smtClean="0">
                <a:latin typeface="Nikosh" pitchFamily="2" charset="0"/>
                <a:cs typeface="Nikosh" pitchFamily="2" charset="0"/>
              </a:rPr>
              <a:t>আলম</a:t>
            </a:r>
            <a:r>
              <a:rPr lang="en-US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dirty="0" err="1" smtClean="0">
                <a:latin typeface="Nikosh" pitchFamily="2" charset="0"/>
                <a:cs typeface="Nikosh" pitchFamily="2" charset="0"/>
              </a:rPr>
              <a:t>সিদ্দীকি</a:t>
            </a:r>
            <a:r>
              <a:rPr lang="en-US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dirty="0" err="1" smtClean="0">
                <a:latin typeface="Nikosh" pitchFamily="2" charset="0"/>
                <a:cs typeface="Nikosh" pitchFamily="2" charset="0"/>
              </a:rPr>
              <a:t>মাননীয়</a:t>
            </a:r>
            <a:r>
              <a:rPr lang="en-US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dirty="0" err="1" smtClean="0">
                <a:latin typeface="Nikosh" pitchFamily="2" charset="0"/>
                <a:cs typeface="Nikosh" pitchFamily="2" charset="0"/>
              </a:rPr>
              <a:t>জাতীয়</a:t>
            </a:r>
            <a:r>
              <a:rPr lang="en-US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dirty="0" err="1" smtClean="0">
                <a:latin typeface="Nikosh" pitchFamily="2" charset="0"/>
                <a:cs typeface="Nikosh" pitchFamily="2" charset="0"/>
              </a:rPr>
              <a:t>সংসদ</a:t>
            </a:r>
            <a:r>
              <a:rPr lang="en-US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dirty="0" err="1" smtClean="0">
                <a:latin typeface="Nikosh" pitchFamily="2" charset="0"/>
                <a:cs typeface="Nikosh" pitchFamily="2" charset="0"/>
              </a:rPr>
              <a:t>সদস্য,ঝিনাইদহ</a:t>
            </a:r>
            <a:r>
              <a:rPr lang="en-US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dirty="0" err="1" smtClean="0">
                <a:latin typeface="Nikosh" pitchFamily="2" charset="0"/>
                <a:cs typeface="Nikosh" pitchFamily="2" charset="0"/>
              </a:rPr>
              <a:t>স্বেচ্ছায়</a:t>
            </a:r>
            <a:r>
              <a:rPr lang="en-US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dirty="0" err="1" smtClean="0">
                <a:latin typeface="Nikosh" pitchFamily="2" charset="0"/>
                <a:cs typeface="Nikosh" pitchFamily="2" charset="0"/>
              </a:rPr>
              <a:t>রক্তদান</a:t>
            </a:r>
            <a:r>
              <a:rPr lang="en-US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dirty="0" err="1" smtClean="0">
                <a:latin typeface="Nikosh" pitchFamily="2" charset="0"/>
                <a:cs typeface="Nikosh" pitchFamily="2" charset="0"/>
              </a:rPr>
              <a:t>করছেন</a:t>
            </a:r>
            <a:r>
              <a:rPr lang="en-US" dirty="0" smtClean="0">
                <a:latin typeface="Nikosh" pitchFamily="2" charset="0"/>
                <a:cs typeface="Nikosh" pitchFamily="2" charset="0"/>
              </a:rPr>
              <a:t> </a:t>
            </a:r>
            <a:endParaRPr lang="en-US" dirty="0"/>
          </a:p>
        </p:txBody>
      </p:sp>
      <p:pic>
        <p:nvPicPr>
          <p:cNvPr id="1026" name="Picture 2" descr="C:\Users\USER\Desktop\FB_IMG_1616655436979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1524000"/>
            <a:ext cx="8915400" cy="5333999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strips dir="ru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3" y="847725"/>
            <a:ext cx="4652963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 descr="G:\101MSDCF 1\DSC02621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838200"/>
            <a:ext cx="4343400" cy="2862263"/>
          </a:xfrm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3981451"/>
            <a:ext cx="4329112" cy="287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3" y="3962400"/>
            <a:ext cx="4662489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MP, District </a:t>
            </a: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dministrator &amp; Mayor in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0986247"/>
      </p:ext>
    </p:extLst>
  </p:cSld>
  <p:clrMapOvr>
    <a:masterClrMapping/>
  </p:clrMapOvr>
  <p:transition spd="slow">
    <p:plus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itle 4"/>
          <p:cNvSpPr>
            <a:spLocks noGrp="1"/>
          </p:cNvSpPr>
          <p:nvPr>
            <p:ph type="title" sz="quarter"/>
          </p:nvPr>
        </p:nvSpPr>
        <p:spPr>
          <a:xfrm>
            <a:off x="0" y="-4763"/>
            <a:ext cx="9144000" cy="461963"/>
          </a:xfrm>
          <a:solidFill>
            <a:srgbClr val="0C7E17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Internal Monitoring System</a:t>
            </a:r>
          </a:p>
        </p:txBody>
      </p:sp>
      <p:pic>
        <p:nvPicPr>
          <p:cNvPr id="50179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41837" y="3895725"/>
            <a:ext cx="4419600" cy="2914650"/>
          </a:xfrm>
        </p:spPr>
      </p:pic>
      <p:pic>
        <p:nvPicPr>
          <p:cNvPr id="50180" name="Picture 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685800"/>
            <a:ext cx="4343400" cy="2895600"/>
          </a:xfrm>
          <a:noFill/>
        </p:spPr>
      </p:pic>
      <p:pic>
        <p:nvPicPr>
          <p:cNvPr id="50181" name="Picture 7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674688"/>
            <a:ext cx="4327525" cy="2906712"/>
          </a:xfrm>
          <a:noFill/>
        </p:spPr>
      </p:pic>
      <p:pic>
        <p:nvPicPr>
          <p:cNvPr id="50182" name="Content Placeholder 11"/>
          <p:cNvPicPr>
            <a:picLocks noGrp="1" noChangeAspect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3900487"/>
            <a:ext cx="4306888" cy="2884488"/>
          </a:xfrm>
        </p:spPr>
      </p:pic>
      <p:sp>
        <p:nvSpPr>
          <p:cNvPr id="50183" name="Rectangle 4"/>
          <p:cNvSpPr>
            <a:spLocks noChangeArrowheads="1"/>
          </p:cNvSpPr>
          <p:nvPr/>
        </p:nvSpPr>
        <p:spPr bwMode="auto">
          <a:xfrm>
            <a:off x="76200" y="685800"/>
            <a:ext cx="4267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health improvement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4" name="Rectangle 4"/>
          <p:cNvSpPr>
            <a:spLocks noChangeArrowheads="1"/>
          </p:cNvSpPr>
          <p:nvPr/>
        </p:nvSpPr>
        <p:spPr bwMode="auto">
          <a:xfrm>
            <a:off x="4648200" y="742950"/>
            <a:ext cx="4419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community support group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5" name="Rectangle 3"/>
          <p:cNvSpPr>
            <a:spLocks noChangeArrowheads="1"/>
          </p:cNvSpPr>
          <p:nvPr/>
        </p:nvSpPr>
        <p:spPr bwMode="auto">
          <a:xfrm>
            <a:off x="122237" y="3886200"/>
            <a:ext cx="4175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QIC meeting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0186" name="Rectangle 4"/>
          <p:cNvSpPr>
            <a:spLocks noChangeArrowheads="1"/>
          </p:cNvSpPr>
          <p:nvPr/>
        </p:nvSpPr>
        <p:spPr bwMode="auto">
          <a:xfrm>
            <a:off x="4637087" y="3930816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Monthly meeting schedule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 spd="slow">
    <p:plus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Hospital Environment</a:t>
            </a:r>
          </a:p>
        </p:txBody>
      </p:sp>
      <p:pic>
        <p:nvPicPr>
          <p:cNvPr id="57347" name="Picture 3" descr="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836987"/>
            <a:ext cx="4502150" cy="2994026"/>
          </a:xfrm>
        </p:spPr>
      </p:pic>
      <p:pic>
        <p:nvPicPr>
          <p:cNvPr id="57348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00088"/>
            <a:ext cx="4267200" cy="2936875"/>
          </a:xfrm>
        </p:spPr>
      </p:pic>
      <p:pic>
        <p:nvPicPr>
          <p:cNvPr id="57349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576" y="684213"/>
            <a:ext cx="4524375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50" name="Picture 7" descr="G:\101MSDCF\DSC0271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836987"/>
            <a:ext cx="4267200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lus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36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 </a:t>
            </a:r>
            <a:r>
              <a:rPr lang="en-US" altLang="ja-JP" sz="36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of the Hospit</a:t>
            </a: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838200"/>
            <a:ext cx="9144000" cy="6019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 smtClean="0"/>
              <a:t>1. </a:t>
            </a:r>
            <a:r>
              <a:rPr lang="en-US" sz="1600" b="1" dirty="0" smtClean="0"/>
              <a:t>Active </a:t>
            </a:r>
            <a:r>
              <a:rPr lang="en-US" sz="1600" b="1" dirty="0"/>
              <a:t>C</a:t>
            </a:r>
            <a:r>
              <a:rPr lang="en-US" sz="1600" b="1" dirty="0" smtClean="0"/>
              <a:t>ommunity Participation in health service is an example in Bangladesh.</a:t>
            </a:r>
          </a:p>
          <a:p>
            <a:pPr marL="0" algn="just">
              <a:defRPr/>
            </a:pPr>
            <a:r>
              <a:rPr lang="en-US" sz="1600" dirty="0" smtClean="0"/>
              <a:t> </a:t>
            </a:r>
          </a:p>
          <a:p>
            <a:pPr marL="0" algn="just">
              <a:defRPr/>
            </a:pPr>
            <a:r>
              <a:rPr lang="en-US" sz="1600" b="1" dirty="0" smtClean="0"/>
              <a:t>2. Improved   </a:t>
            </a:r>
            <a:r>
              <a:rPr lang="en-US" sz="1600" b="1" dirty="0"/>
              <a:t>p</a:t>
            </a:r>
            <a:r>
              <a:rPr lang="en-US" sz="1600" b="1" dirty="0" smtClean="0"/>
              <a:t>erformance  of all services specially Pediatric, </a:t>
            </a:r>
            <a:r>
              <a:rPr lang="en-US" sz="1600" b="1" dirty="0"/>
              <a:t>o</a:t>
            </a:r>
            <a:r>
              <a:rPr lang="en-US" sz="1600" b="1" dirty="0" smtClean="0"/>
              <a:t>bstetric, operation</a:t>
            </a:r>
          </a:p>
          <a:p>
            <a:pPr marL="0" algn="just">
              <a:defRPr/>
            </a:pPr>
            <a:r>
              <a:rPr lang="en-US" sz="1600" b="1" dirty="0" smtClean="0"/>
              <a:t>     and outdoor service.</a:t>
            </a:r>
            <a:endParaRPr lang="en-US" sz="1600" b="1" dirty="0"/>
          </a:p>
          <a:p>
            <a:pPr marL="0">
              <a:defRPr/>
            </a:pPr>
            <a:endParaRPr lang="en-US" sz="1600" b="1" dirty="0" smtClean="0"/>
          </a:p>
          <a:p>
            <a:pPr marL="0">
              <a:defRPr/>
            </a:pPr>
            <a:r>
              <a:rPr lang="en-US" b="1" dirty="0" smtClean="0"/>
              <a:t>3</a:t>
            </a:r>
            <a:r>
              <a:rPr lang="en-US" sz="1600" b="1" dirty="0"/>
              <a:t>. Improved Cleanliness and </a:t>
            </a:r>
            <a:r>
              <a:rPr lang="en-US" sz="1600" b="1" dirty="0" smtClean="0"/>
              <a:t>Beautification of Campus.</a:t>
            </a:r>
            <a:endParaRPr lang="en-US" sz="1600" b="1" dirty="0"/>
          </a:p>
          <a:p>
            <a:pPr marL="0" algn="just">
              <a:defRPr/>
            </a:pPr>
            <a:endParaRPr lang="en-US" b="1" dirty="0" smtClean="0"/>
          </a:p>
          <a:p>
            <a:pPr marL="0">
              <a:defRPr/>
            </a:pPr>
            <a:r>
              <a:rPr lang="en-US" b="1" dirty="0" smtClean="0"/>
              <a:t>4</a:t>
            </a:r>
            <a:r>
              <a:rPr lang="en-US" sz="1600" b="1" dirty="0" smtClean="0"/>
              <a:t>. </a:t>
            </a:r>
            <a:r>
              <a:rPr lang="en-US" sz="1400" b="1" dirty="0"/>
              <a:t>Functioning </a:t>
            </a:r>
            <a:r>
              <a:rPr lang="en-US" sz="1400" b="1" dirty="0" smtClean="0"/>
              <a:t>of X-Ray service and starting of Biochemistry investigation by local initiatives</a:t>
            </a:r>
            <a:r>
              <a:rPr lang="en-US" sz="1600" b="1" dirty="0" smtClean="0"/>
              <a:t>.</a:t>
            </a:r>
            <a:endParaRPr lang="en-US" sz="16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5. </a:t>
            </a:r>
            <a:r>
              <a:rPr lang="en-US" b="1" dirty="0"/>
              <a:t>Improved </a:t>
            </a:r>
            <a:r>
              <a:rPr lang="en-US" b="1" dirty="0" smtClean="0"/>
              <a:t>Security.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6. </a:t>
            </a:r>
            <a:r>
              <a:rPr lang="en-US" b="1" dirty="0"/>
              <a:t>Improved Financial Management</a:t>
            </a:r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/>
              <a:t>7</a:t>
            </a:r>
            <a:r>
              <a:rPr lang="en-US" b="1" dirty="0" smtClean="0"/>
              <a:t>. Piloting of “Model  District Hospital” is running in Jhenaidah Sadar Hospital.</a:t>
            </a:r>
          </a:p>
          <a:p>
            <a:pPr marL="0" algn="just">
              <a:defRPr/>
            </a:pPr>
            <a:endParaRPr lang="en-US" b="1" dirty="0"/>
          </a:p>
          <a:p>
            <a:pPr marL="0" algn="just">
              <a:defRPr/>
            </a:pPr>
            <a:r>
              <a:rPr lang="en-US" b="1" dirty="0" smtClean="0"/>
              <a:t>8. </a:t>
            </a:r>
            <a:r>
              <a:rPr lang="en-US" b="1" dirty="0"/>
              <a:t>The hospital is </a:t>
            </a:r>
            <a:r>
              <a:rPr lang="en-US" b="1" dirty="0" smtClean="0"/>
              <a:t>awarded 7 </a:t>
            </a:r>
            <a:r>
              <a:rPr lang="en-US" b="1" dirty="0"/>
              <a:t>times from 2013 to </a:t>
            </a:r>
            <a:r>
              <a:rPr lang="en-US" b="1" dirty="0" smtClean="0"/>
              <a:t>2019. </a:t>
            </a:r>
          </a:p>
          <a:p>
            <a:pPr marL="0" algn="just">
              <a:defRPr/>
            </a:pPr>
            <a:endParaRPr lang="en-US" b="1" dirty="0" smtClean="0"/>
          </a:p>
          <a:p>
            <a:pPr marL="342900" indent="-342900" algn="just">
              <a:defRPr/>
            </a:pPr>
            <a:r>
              <a:rPr lang="en-US" b="1" dirty="0" smtClean="0"/>
              <a:t>9.. Improved gate pass system. </a:t>
            </a:r>
          </a:p>
          <a:p>
            <a:pPr marL="342900" indent="-342900" algn="just">
              <a:buAutoNum type="arabicPeriod" startAt="9"/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10. The dining place of the relatives of the patient has been improved</a:t>
            </a: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slow">
    <p:newsflash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096000"/>
            <a:ext cx="9144000" cy="762000"/>
          </a:xfrm>
          <a:blipFill>
            <a:blip r:embed="rId3"/>
            <a:tile tx="0" ty="0" sx="100000" sy="100000" flip="none" algn="tl"/>
          </a:blipFill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70C0"/>
                </a:solidFill>
              </a:rPr>
              <a:t>THANK YOU ALL 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8600" y="533400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আমাদের</a:t>
            </a:r>
            <a:r>
              <a:rPr lang="en-US" dirty="0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 </a:t>
            </a:r>
            <a:r>
              <a:rPr lang="en-US" dirty="0" err="1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বাগানের</a:t>
            </a:r>
            <a:r>
              <a:rPr lang="en-US" dirty="0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lang="en-US" dirty="0" err="1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ফুল</a:t>
            </a:r>
            <a:endParaRPr lang="en-US" dirty="0">
              <a:solidFill>
                <a:srgbClr val="FFFF00"/>
              </a:solidFill>
              <a:latin typeface="NikoshBAN" pitchFamily="2" charset="0"/>
              <a:cs typeface="NikoshBAN" pitchFamily="2" charset="0"/>
            </a:endParaRPr>
          </a:p>
        </p:txBody>
      </p:sp>
      <p:pic>
        <p:nvPicPr>
          <p:cNvPr id="2050" name="Picture 2" descr="C:\Users\USER\Desktop\Flower 26.12.20\IMG_4785.JPG"/>
          <p:cNvPicPr>
            <a:picLocks noGrp="1" noChangeAspect="1" noChangeArrowheads="1"/>
          </p:cNvPicPr>
          <p:nvPr>
            <p:ph idx="1"/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9143999" cy="6126163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push dir="d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5867</TotalTime>
  <Words>953</Words>
  <Application>Microsoft Office PowerPoint</Application>
  <PresentationFormat>On-screen Show (4:3)</PresentationFormat>
  <Paragraphs>225</Paragraphs>
  <Slides>37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Office Theme</vt:lpstr>
      <vt:lpstr>বার্ষিক প্রতিবেদন - ২০২০ তারিখ – ১২/০৬/২১, সকাল – ১০ টা    স্থানঃ সম্মেলন কক্ষ, সদর হাসপাতাল,ঝিনাইদহ |</vt:lpstr>
      <vt:lpstr>PowerPoint Presentation</vt:lpstr>
      <vt:lpstr>সদর হাসপাতাল,ঝিনাইদহ </vt:lpstr>
      <vt:lpstr>PowerPoint Presentation</vt:lpstr>
      <vt:lpstr>Emergency + Outdoor &amp; Indoor  Service 1998 to 2020</vt:lpstr>
      <vt:lpstr>PowerPoint Presentation</vt:lpstr>
      <vt:lpstr>PowerPoint Presentation</vt:lpstr>
      <vt:lpstr>PowerPoint Presentation</vt:lpstr>
      <vt:lpstr>PowerPoint Presentation</vt:lpstr>
      <vt:lpstr>Operation Service (Major) 2011 to 2020</vt:lpstr>
      <vt:lpstr>PowerPoint Presentation</vt:lpstr>
      <vt:lpstr>PowerPoint Presentation</vt:lpstr>
      <vt:lpstr>5 Best Performing EmOC District Hospital in Khulna Division - 2020</vt:lpstr>
      <vt:lpstr>PowerPoint Presentation</vt:lpstr>
      <vt:lpstr>PowerPoint Presentation</vt:lpstr>
      <vt:lpstr>  Comparative data of revenue income (in Taka) from 2015 to 2020 </vt:lpstr>
      <vt:lpstr>PowerPoint Presentation</vt:lpstr>
      <vt:lpstr>PowerPoint Presentation</vt:lpstr>
      <vt:lpstr>PowerPoint Presentation</vt:lpstr>
      <vt:lpstr>উত্তম কাজের স্বীকৃতি স্বরুপ   সদর হাসপাতাল, ঝিনাইদহকে  ‘স্বাস্থ্য মন্ত্রী জাতীয় পুরস্কার - ২০১৯’ প্রদান করা হয় ।  পুরস্কার গ্রহন করছেন জনাব ডাঃ মোঃ হারুন-অর-রশীদ, তত্ত্বাবধায়ক </vt:lpstr>
      <vt:lpstr>4 New Innovation-20</vt:lpstr>
      <vt:lpstr>Female Medicine Ward  </vt:lpstr>
      <vt:lpstr>Innovation Male Medicine Ward </vt:lpstr>
      <vt:lpstr>PowerPoint Presentation</vt:lpstr>
      <vt:lpstr>PowerPoint Presentation</vt:lpstr>
      <vt:lpstr>জাহেদী ফাউন্ডেশন কর্তৃক পিকআপ ভ্যান প্রদান</vt:lpstr>
      <vt:lpstr>PowerPoint Presentation</vt:lpstr>
      <vt:lpstr>মাননীয় জাতীয় সংসদ সদস্য ঝিনাইদহ -২ জনাব তাহজীব আলম সিদ্দিকী মহোদয় করোনা রোগীর চিকিৎসার জন্য হাইফ্লোনেজাল ক্যানোলা ও ২৪টি বড় অক্রিজেন সিলিন্ডার প্রদান করেন </vt:lpstr>
      <vt:lpstr>মাননীয় প্রধান মন্ত্রীর সমাজ কল্যান ও ত্রান উপকমিটির পক্ষে জনাব পারভীন জামান কল্পনা করোনা রোগীর চিকিৎসার জন্য ১টি অক্সিজেন কনসেনট্রেটর ও স্বাস্থ্য সুরক্ষা সামগ্রী প্রদান করেন </vt:lpstr>
      <vt:lpstr>মাননীয় সচিব, স্বাস্থ্য সেবা বিভাগ জনাব মোঃ আসাদুল ইসলাম করোনা রোগীর চিকিৎসার জন্য স্বাস্থ্য সুরক্ষা সামগ্রী ও নগদ ৫০,০০০/= টাকা  প্রদান করেন </vt:lpstr>
      <vt:lpstr>জনাব তাহজীব আলম সিদ্দীকি মাননীয় জাতীয় সংসদ সদস্য এর সহধর্মীনি সদর হাসপতপাল ঝিনাইদহে ২টি ইনকিউবেটর মেশিন প্রদান করেন </vt:lpstr>
      <vt:lpstr>জনাব তাহজীব আলম সিদ্দীকি মাননীয় জাতীয় সংসদ সদস্য,ঝিনাইদহ স্বেচ্ছায় রক্তদান করছেন </vt:lpstr>
      <vt:lpstr>Involvement of MP, District Administrator &amp; Mayor in Sadar Hospital</vt:lpstr>
      <vt:lpstr>Internal Monitoring System</vt:lpstr>
      <vt:lpstr>Hospital Environment</vt:lpstr>
      <vt:lpstr>PowerPoint Presentation</vt:lpstr>
      <vt:lpstr>THANK YOU ALL </vt:lpstr>
    </vt:vector>
  </TitlesOfParts>
  <Company>UNICEF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Emdad</cp:lastModifiedBy>
  <cp:revision>849</cp:revision>
  <cp:lastPrinted>2017-03-18T23:47:54Z</cp:lastPrinted>
  <dcterms:created xsi:type="dcterms:W3CDTF">2013-05-05T09:56:19Z</dcterms:created>
  <dcterms:modified xsi:type="dcterms:W3CDTF">2021-06-22T03:14:11Z</dcterms:modified>
</cp:coreProperties>
</file>