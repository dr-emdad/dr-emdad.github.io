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0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0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2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6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5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6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7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4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57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7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8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0CFE5-8150-46EF-ABC8-9239EC45500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BB3B8-E76C-4F88-9A3D-EA62761C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2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54834"/>
              </p:ext>
            </p:extLst>
          </p:nvPr>
        </p:nvGraphicFramePr>
        <p:xfrm>
          <a:off x="2218938" y="540382"/>
          <a:ext cx="8012456" cy="5675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5435">
                  <a:extLst>
                    <a:ext uri="{9D8B030D-6E8A-4147-A177-3AD203B41FA5}">
                      <a16:colId xmlns:a16="http://schemas.microsoft.com/office/drawing/2014/main" val="3042377228"/>
                    </a:ext>
                  </a:extLst>
                </a:gridCol>
                <a:gridCol w="731581">
                  <a:extLst>
                    <a:ext uri="{9D8B030D-6E8A-4147-A177-3AD203B41FA5}">
                      <a16:colId xmlns:a16="http://schemas.microsoft.com/office/drawing/2014/main" val="995439371"/>
                    </a:ext>
                  </a:extLst>
                </a:gridCol>
                <a:gridCol w="1474968">
                  <a:extLst>
                    <a:ext uri="{9D8B030D-6E8A-4147-A177-3AD203B41FA5}">
                      <a16:colId xmlns:a16="http://schemas.microsoft.com/office/drawing/2014/main" val="2271061345"/>
                    </a:ext>
                  </a:extLst>
                </a:gridCol>
                <a:gridCol w="2286693">
                  <a:extLst>
                    <a:ext uri="{9D8B030D-6E8A-4147-A177-3AD203B41FA5}">
                      <a16:colId xmlns:a16="http://schemas.microsoft.com/office/drawing/2014/main" val="3196215646"/>
                    </a:ext>
                  </a:extLst>
                </a:gridCol>
                <a:gridCol w="1942137">
                  <a:extLst>
                    <a:ext uri="{9D8B030D-6E8A-4147-A177-3AD203B41FA5}">
                      <a16:colId xmlns:a16="http://schemas.microsoft.com/office/drawing/2014/main" val="678265037"/>
                    </a:ext>
                  </a:extLst>
                </a:gridCol>
                <a:gridCol w="961642">
                  <a:extLst>
                    <a:ext uri="{9D8B030D-6E8A-4147-A177-3AD203B41FA5}">
                      <a16:colId xmlns:a16="http://schemas.microsoft.com/office/drawing/2014/main" val="2297451083"/>
                    </a:ext>
                  </a:extLst>
                </a:gridCol>
              </a:tblGrid>
              <a:tr h="7941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নং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লক্ষ্যমাত্রা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নির্দেশক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সূচক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প্রভাব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ফলাফল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বছরের তথ্য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বর্ষ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২০৩০ সাল নাগাদ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933995809"/>
                  </a:ext>
                </a:extLst>
              </a:tr>
              <a:tr h="646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মাতৃমৃত্যুর হার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লক্ষ জীবিত জন্মে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১৭৬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বিশ্ব স্বাস্থ্য সংস্থা ২০১৬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186326481"/>
                  </a:ext>
                </a:extLst>
              </a:tr>
              <a:tr h="5678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চিকিৎসক ও প্রশিক্ষিত ব্যক্তি দ্বারা প্রসবকৃত শিশু জন্মের অনুপাত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(%)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বিডিএইচএস 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573314468"/>
                  </a:ext>
                </a:extLst>
              </a:tr>
              <a:tr h="6489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পাঁচ বছরের কম বয়সী শিশুদের মৃত্যুহার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১০০০ জীবিত জন্মে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বিডিএইচএস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২৫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640993533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নবজাতকের মৃত্যু হার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১২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403221860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এইচআইভি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এইডস সংক্রমণের হার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০১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931815692"/>
                  </a:ext>
                </a:extLst>
              </a:tr>
              <a:tr h="4867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যক্ষ্মা সনাক্তকরণের হার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 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২০১৪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074090070"/>
                  </a:ext>
                </a:extLst>
              </a:tr>
              <a:tr h="828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ম্যালেরিয়া সংক্রমণের 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হাই এন্ডেমিক ৩ জেলা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-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 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১০০০০ জনসংখ্যা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জনস্বাস্থ্য সমস্যা হিসেবে না থাকা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546195970"/>
                  </a:ext>
                </a:extLst>
              </a:tr>
              <a:tr h="631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হেপাটাইটিস বি সংক্রমণের হার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11477040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18941" y="140274"/>
            <a:ext cx="686598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28700" algn="ctr"/>
              </a:tabLst>
            </a:pPr>
            <a:r>
              <a:rPr kumimoji="0" lang="bn-IN" altLang="en-US" sz="2000" b="1" i="0" u="none" strike="noStrike" cap="none" normalizeH="0" baseline="0" dirty="0" smtClean="0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স</a:t>
            </a:r>
            <a:r>
              <a:rPr kumimoji="0" lang="bn-IN" altLang="en-US" sz="2000" b="1" i="0" u="none" strike="noStrike" cap="none" normalizeH="0" baseline="0" dirty="0" smtClean="0" bmk="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ারণি ৮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.</a:t>
            </a:r>
            <a:r>
              <a:rPr kumimoji="0" lang="bn-IN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 স্বাস্থ্য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 সংক্রান্ত এসডিজি লক্ষ্য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, 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লক্ষ্যমাত্রা 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(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১৩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), 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ও নির্দেশক 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(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২৭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445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002488"/>
              </p:ext>
            </p:extLst>
          </p:nvPr>
        </p:nvGraphicFramePr>
        <p:xfrm>
          <a:off x="1270687" y="206890"/>
          <a:ext cx="8973063" cy="657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9389">
                  <a:extLst>
                    <a:ext uri="{9D8B030D-6E8A-4147-A177-3AD203B41FA5}">
                      <a16:colId xmlns:a16="http://schemas.microsoft.com/office/drawing/2014/main" val="4227262324"/>
                    </a:ext>
                  </a:extLst>
                </a:gridCol>
                <a:gridCol w="1638201">
                  <a:extLst>
                    <a:ext uri="{9D8B030D-6E8A-4147-A177-3AD203B41FA5}">
                      <a16:colId xmlns:a16="http://schemas.microsoft.com/office/drawing/2014/main" val="1082010769"/>
                    </a:ext>
                  </a:extLst>
                </a:gridCol>
                <a:gridCol w="1699427">
                  <a:extLst>
                    <a:ext uri="{9D8B030D-6E8A-4147-A177-3AD203B41FA5}">
                      <a16:colId xmlns:a16="http://schemas.microsoft.com/office/drawing/2014/main" val="3048887242"/>
                    </a:ext>
                  </a:extLst>
                </a:gridCol>
                <a:gridCol w="2085468">
                  <a:extLst>
                    <a:ext uri="{9D8B030D-6E8A-4147-A177-3AD203B41FA5}">
                      <a16:colId xmlns:a16="http://schemas.microsoft.com/office/drawing/2014/main" val="1784463147"/>
                    </a:ext>
                  </a:extLst>
                </a:gridCol>
                <a:gridCol w="1771231">
                  <a:extLst>
                    <a:ext uri="{9D8B030D-6E8A-4147-A177-3AD203B41FA5}">
                      <a16:colId xmlns:a16="http://schemas.microsoft.com/office/drawing/2014/main" val="2873165647"/>
                    </a:ext>
                  </a:extLst>
                </a:gridCol>
                <a:gridCol w="899347">
                  <a:extLst>
                    <a:ext uri="{9D8B030D-6E8A-4147-A177-3AD203B41FA5}">
                      <a16:colId xmlns:a16="http://schemas.microsoft.com/office/drawing/2014/main" val="3848347762"/>
                    </a:ext>
                  </a:extLst>
                </a:gridCol>
              </a:tblGrid>
              <a:tr h="3444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নং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লক্ষ্যমাত্রা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নির্দেশক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সূচক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প্রভাব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ফলাফল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বছরের তথ্য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বর্ষ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২০৩০ সাল নাগাদ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564788600"/>
                  </a:ext>
                </a:extLst>
              </a:tr>
              <a:tr h="408619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 smtClean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৯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cs typeface="SolaimanLipi" panose="03000609000000000000" pitchFamily="65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cs typeface="SolaimanLipi" panose="03000609000000000000" pitchFamily="65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দশ হাজার জনসংখ্যায় এনসিডিতে মৃত্যুহার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-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৬৯ বছর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১৮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বিশ্ব স্বাস্থ্য সংস্থা 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237459148"/>
                  </a:ext>
                </a:extLst>
              </a:tr>
              <a:tr h="301089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হৃদরোগ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713031389"/>
                  </a:ext>
                </a:extLst>
              </a:tr>
              <a:tr h="387113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ক্যান্সার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711610213"/>
                  </a:ext>
                </a:extLst>
              </a:tr>
              <a:tr h="286646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ডায়াবেটিস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699695490"/>
                  </a:ext>
                </a:extLst>
              </a:tr>
              <a:tr h="225816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দীর্ঘমেয়াদী শ্বাসকষ্ট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619441244"/>
                  </a:ext>
                </a:extLst>
              </a:tr>
              <a:tr h="254387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আত্মহত্যা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লক্ষ জনসংখ্যায়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২০১৪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৬৭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553371438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পুরুষ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790024098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নারী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4039467962"/>
                  </a:ext>
                </a:extLst>
              </a:tr>
              <a:tr h="5694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মাদকাসক্ত রোগীর সংখ্যা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 হাজার জনসংখ্যায়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3770107459"/>
                  </a:ext>
                </a:extLst>
              </a:tr>
              <a:tr h="390803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সড়ক দুর্ঘটনায় মৃত্যুহার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 লক্ষ জনসংখ্যায়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বিশ্ব ব্যাংক ২০০২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অর্ধেক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২০২০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275084714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পুরুষ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314251594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নারী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605679458"/>
                  </a:ext>
                </a:extLst>
              </a:tr>
              <a:tr h="3974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জন্মনিয়ন্ত্রণ সামগ্রী ব্যবহারের হার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(%)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বিডিএইচএস 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2582258556"/>
                  </a:ext>
                </a:extLst>
              </a:tr>
              <a:tr h="3974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 smtClean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1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কিশোরীদের উর্বরতার 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-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১৯ 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.)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ঐ বয়সে প্রতি হাজারে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1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৩১</a:t>
                      </a:r>
                      <a:endParaRPr lang="en-US" sz="11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1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4757929"/>
                  </a:ext>
                </a:extLst>
              </a:tr>
              <a:tr h="874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১৫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সর্বজনীন স্বাস্থ্য সুরক্ষা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১০০০ জনসংখায়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052674420"/>
                  </a:ext>
                </a:extLst>
              </a:tr>
              <a:tr h="874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১৬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৯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৯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পানি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, 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বায়ু ও মাটি দূষণে মৃত্যুর হার কমানো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১০০০ জনসংখায়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val="1497467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646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410</Words>
  <Application>Microsoft Office PowerPoint</Application>
  <PresentationFormat>Widescreen</PresentationFormat>
  <Paragraphs>132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SolaimanLipi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Labnan</dc:creator>
  <cp:lastModifiedBy>Labnan</cp:lastModifiedBy>
  <cp:revision>5</cp:revision>
  <dcterms:created xsi:type="dcterms:W3CDTF">2020-03-18T09:03:45Z</dcterms:created>
  <dcterms:modified xsi:type="dcterms:W3CDTF">2020-03-18T09:38:28Z</dcterms:modified>
</cp:coreProperties>
</file>