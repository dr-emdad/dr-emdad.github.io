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450" r:id="rId3"/>
    <p:sldId id="445" r:id="rId4"/>
    <p:sldId id="257" r:id="rId5"/>
    <p:sldId id="406" r:id="rId6"/>
    <p:sldId id="341" r:id="rId7"/>
    <p:sldId id="440" r:id="rId8"/>
    <p:sldId id="441" r:id="rId9"/>
    <p:sldId id="442" r:id="rId10"/>
    <p:sldId id="432" r:id="rId11"/>
    <p:sldId id="443" r:id="rId12"/>
    <p:sldId id="431" r:id="rId13"/>
    <p:sldId id="455" r:id="rId14"/>
    <p:sldId id="407" r:id="rId15"/>
    <p:sldId id="452" r:id="rId16"/>
    <p:sldId id="276" r:id="rId17"/>
    <p:sldId id="451" r:id="rId18"/>
    <p:sldId id="453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2545" autoAdjust="0"/>
  </p:normalViewPr>
  <p:slideViewPr>
    <p:cSldViewPr snapToGrid="0">
      <p:cViewPr>
        <p:scale>
          <a:sx n="66" d="100"/>
          <a:sy n="66" d="100"/>
        </p:scale>
        <p:origin x="-696" y="-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1228</c:v>
                </c:pt>
                <c:pt idx="1">
                  <c:v>1631</c:v>
                </c:pt>
                <c:pt idx="2">
                  <c:v>1851</c:v>
                </c:pt>
                <c:pt idx="3">
                  <c:v>2861</c:v>
                </c:pt>
                <c:pt idx="4">
                  <c:v>3509</c:v>
                </c:pt>
                <c:pt idx="5">
                  <c:v>3932</c:v>
                </c:pt>
                <c:pt idx="6">
                  <c:v>4484</c:v>
                </c:pt>
                <c:pt idx="7">
                  <c:v>4898</c:v>
                </c:pt>
                <c:pt idx="8">
                  <c:v>4993</c:v>
                </c:pt>
                <c:pt idx="9">
                  <c:v>5644</c:v>
                </c:pt>
                <c:pt idx="10">
                  <c:v>7292</c:v>
                </c:pt>
                <c:pt idx="11">
                  <c:v>8263</c:v>
                </c:pt>
                <c:pt idx="12">
                  <c:v>7499</c:v>
                </c:pt>
                <c:pt idx="13">
                  <c:v>7427</c:v>
                </c:pt>
                <c:pt idx="14">
                  <c:v>8935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303104"/>
        <c:axId val="178685440"/>
      </c:barChart>
      <c:catAx>
        <c:axId val="132303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78685440"/>
        <c:crosses val="autoZero"/>
        <c:auto val="1"/>
        <c:lblAlgn val="ctr"/>
        <c:lblOffset val="100"/>
        <c:noMultiLvlLbl val="0"/>
      </c:catAx>
      <c:valAx>
        <c:axId val="178685440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3230310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151</c:v>
                </c:pt>
                <c:pt idx="1">
                  <c:v>182</c:v>
                </c:pt>
                <c:pt idx="2">
                  <c:v>228</c:v>
                </c:pt>
                <c:pt idx="3">
                  <c:v>312</c:v>
                </c:pt>
                <c:pt idx="4">
                  <c:v>421</c:v>
                </c:pt>
                <c:pt idx="5">
                  <c:v>422</c:v>
                </c:pt>
                <c:pt idx="6">
                  <c:v>661</c:v>
                </c:pt>
                <c:pt idx="7">
                  <c:v>1030</c:v>
                </c:pt>
                <c:pt idx="8">
                  <c:v>1293</c:v>
                </c:pt>
                <c:pt idx="9">
                  <c:v>1518</c:v>
                </c:pt>
                <c:pt idx="10">
                  <c:v>1899</c:v>
                </c:pt>
                <c:pt idx="11">
                  <c:v>2682</c:v>
                </c:pt>
                <c:pt idx="12">
                  <c:v>3489</c:v>
                </c:pt>
                <c:pt idx="13">
                  <c:v>3755</c:v>
                </c:pt>
                <c:pt idx="14">
                  <c:v>4413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6350592"/>
        <c:axId val="246352128"/>
      </c:barChart>
      <c:catAx>
        <c:axId val="246350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6352128"/>
        <c:crosses val="autoZero"/>
        <c:auto val="1"/>
        <c:lblAlgn val="ctr"/>
        <c:lblOffset val="100"/>
        <c:noMultiLvlLbl val="0"/>
      </c:catAx>
      <c:valAx>
        <c:axId val="246352128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2463505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665028533334671E-2"/>
          <c:y val="3.1643040757867398E-2"/>
          <c:w val="0.89973529686002107"/>
          <c:h val="0.853443474695726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11</c:v>
                </c:pt>
                <c:pt idx="2">
                  <c:v>26</c:v>
                </c:pt>
                <c:pt idx="3">
                  <c:v>36</c:v>
                </c:pt>
                <c:pt idx="4">
                  <c:v>184</c:v>
                </c:pt>
                <c:pt idx="5">
                  <c:v>310</c:v>
                </c:pt>
                <c:pt idx="6">
                  <c:v>363</c:v>
                </c:pt>
                <c:pt idx="7">
                  <c:v>473</c:v>
                </c:pt>
                <c:pt idx="8">
                  <c:v>567</c:v>
                </c:pt>
                <c:pt idx="9">
                  <c:v>842</c:v>
                </c:pt>
                <c:pt idx="10">
                  <c:v>962</c:v>
                </c:pt>
                <c:pt idx="11">
                  <c:v>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6689792"/>
        <c:axId val="246691328"/>
      </c:barChart>
      <c:catAx>
        <c:axId val="2466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6691328"/>
        <c:crosses val="autoZero"/>
        <c:auto val="1"/>
        <c:lblAlgn val="ctr"/>
        <c:lblOffset val="100"/>
        <c:noMultiLvlLbl val="0"/>
      </c:catAx>
      <c:valAx>
        <c:axId val="246691328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2466897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10/7/1441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1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723" y="4342797"/>
            <a:ext cx="5484556" cy="411439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12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D5E88F6-21DF-47ED-995E-14693183BF52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61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26279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5166178"/>
            <a:ext cx="1426514" cy="14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43729"/>
              </p:ext>
            </p:extLst>
          </p:nvPr>
        </p:nvGraphicFramePr>
        <p:xfrm>
          <a:off x="198651" y="990600"/>
          <a:ext cx="11859687" cy="433466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0227"/>
                <a:gridCol w="2343923"/>
                <a:gridCol w="2017064"/>
                <a:gridCol w="1751624"/>
                <a:gridCol w="1664043"/>
                <a:gridCol w="1636403"/>
                <a:gridCol w="1636403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9100456" y="6178538"/>
            <a:ext cx="2862943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latin typeface="Andalus"/>
                <a:ea typeface="Andalus"/>
                <a:cs typeface="Andalus"/>
              </a:rPr>
              <a:t>From </a:t>
            </a:r>
            <a:r>
              <a:rPr lang="en-US" sz="2000" dirty="0">
                <a:latin typeface="Andalus"/>
                <a:ea typeface="Andalus"/>
                <a:cs typeface="Andalus"/>
              </a:rPr>
              <a:t>internet 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3200" y="37531"/>
            <a:ext cx="1176020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</a:t>
            </a:r>
            <a:r>
              <a:rPr lang="en-US" sz="28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countries </a:t>
            </a: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(2017)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90157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402" y="2362200"/>
            <a:ext cx="511632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510117" y="838200"/>
            <a:ext cx="11243733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2" y="2362200"/>
            <a:ext cx="5389253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589" y="5638801"/>
            <a:ext cx="5820612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649783" y="5638801"/>
            <a:ext cx="5104068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69448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319242"/>
              </p:ext>
            </p:extLst>
          </p:nvPr>
        </p:nvGraphicFramePr>
        <p:xfrm>
          <a:off x="957943" y="2332038"/>
          <a:ext cx="9913256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0295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8619691"/>
              </p:ext>
            </p:extLst>
          </p:nvPr>
        </p:nvGraphicFramePr>
        <p:xfrm>
          <a:off x="1016001" y="1038981"/>
          <a:ext cx="960845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5335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0731751"/>
              </p:ext>
            </p:extLst>
          </p:nvPr>
        </p:nvGraphicFramePr>
        <p:xfrm>
          <a:off x="1233713" y="2448152"/>
          <a:ext cx="8955315" cy="4409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7317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609600" y="3063875"/>
          <a:ext cx="10871199" cy="26210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66400" y="4049714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28300" y="4443414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solidFill>
            <a:srgbClr val="BBE0E3"/>
          </a:solid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 err="1" smtClean="0">
                <a:solidFill>
                  <a:sysClr val="windowText" lastClr="000000"/>
                </a:solidFill>
              </a:rPr>
              <a:t>Upazila</a:t>
            </a:r>
            <a:r>
              <a:rPr lang="en-US" sz="3200" b="1" kern="0" dirty="0" smtClean="0">
                <a:solidFill>
                  <a:sysClr val="windowText" lastClr="000000"/>
                </a:solidFill>
              </a:rPr>
              <a:t> Health  Complex</a:t>
            </a:r>
            <a:br>
              <a:rPr lang="en-US" sz="3200" b="1" kern="0" dirty="0" smtClean="0">
                <a:solidFill>
                  <a:sysClr val="windowText" lastClr="000000"/>
                </a:solidFill>
              </a:rPr>
            </a:br>
            <a:r>
              <a:rPr lang="en-US" sz="2000" b="1" kern="0" dirty="0" smtClean="0">
                <a:solidFill>
                  <a:sysClr val="windowText" lastClr="000000"/>
                </a:solidFill>
              </a:rPr>
              <a:t>CHOWGACHA , JESSORE.</a:t>
            </a:r>
          </a:p>
        </p:txBody>
      </p: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609600" y="1447800"/>
            <a:ext cx="108712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6952"/>
              </p:ext>
            </p:extLst>
          </p:nvPr>
        </p:nvGraphicFramePr>
        <p:xfrm>
          <a:off x="1015999" y="1219200"/>
          <a:ext cx="10668004" cy="541020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658532"/>
                <a:gridCol w="1066801"/>
                <a:gridCol w="1540933"/>
                <a:gridCol w="1422400"/>
                <a:gridCol w="1422400"/>
                <a:gridCol w="1303867"/>
                <a:gridCol w="1253071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effectLst/>
                        </a:rPr>
                        <a:t>-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1200" y="342885"/>
            <a:ext cx="10972800" cy="477054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24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865086"/>
            <a:ext cx="10972800" cy="4495800"/>
          </a:xfr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>
                <a:solidFill>
                  <a:schemeClr val="tx1"/>
                </a:solidFill>
              </a:rPr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smtClean="0">
                <a:solidFill>
                  <a:schemeClr val="tx1"/>
                </a:solidFill>
              </a:rPr>
              <a:t>TOTAL</a:t>
            </a:r>
            <a:r>
              <a:rPr lang="en-US" sz="3200" dirty="0" smtClean="0">
                <a:solidFill>
                  <a:schemeClr val="tx1"/>
                </a:solidFill>
              </a:rPr>
              <a:t> 			              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Volunteers 		  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Cleaners &amp; guards	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Others			          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Outsourcing       	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US" sz="3200" dirty="0" smtClean="0">
                <a:solidFill>
                  <a:schemeClr val="tx1"/>
                </a:solidFill>
              </a:rPr>
              <a:t>Service provider		:21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5276"/>
            <a:ext cx="10972800" cy="612775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609600" y="1422400"/>
            <a:ext cx="108712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ACTVITIES : ( Vision By The Year 2010) </a:t>
            </a:r>
          </a:p>
        </p:txBody>
      </p:sp>
      <p:graphicFrame>
        <p:nvGraphicFramePr>
          <p:cNvPr id="131594" name="Group 522"/>
          <p:cNvGraphicFramePr>
            <a:graphicFrameLocks noGrp="1"/>
          </p:cNvGraphicFramePr>
          <p:nvPr>
            <p:ph sz="half" idx="2"/>
          </p:nvPr>
        </p:nvGraphicFramePr>
        <p:xfrm>
          <a:off x="1219200" y="2057400"/>
          <a:ext cx="9499599" cy="4340268"/>
        </p:xfrm>
        <a:graphic>
          <a:graphicData uri="http://schemas.openxmlformats.org/drawingml/2006/table">
            <a:tbl>
              <a:tblPr/>
              <a:tblGrid>
                <a:gridCol w="609600"/>
                <a:gridCol w="2743200"/>
                <a:gridCol w="812800"/>
                <a:gridCol w="795867"/>
                <a:gridCol w="931333"/>
                <a:gridCol w="778933"/>
                <a:gridCol w="855133"/>
                <a:gridCol w="855133"/>
                <a:gridCol w="1117600"/>
              </a:tblGrid>
              <a:tr h="5713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142.6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118.2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59.1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236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 lnSpcReduction="10000"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;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২০০৯</a:t>
            </a:r>
            <a:endParaRPr lang="en-GB" sz="48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স্বাস্থ্যমন্ত্রী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) : ২০১৭,২০১৮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356226"/>
            <a:ext cx="1094521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624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57" y="0"/>
            <a:ext cx="12257356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20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721</TotalTime>
  <Words>680</Words>
  <Application>Microsoft Office PowerPoint</Application>
  <PresentationFormat>Custom</PresentationFormat>
  <Paragraphs>322</Paragraphs>
  <Slides>19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Celestial</vt:lpstr>
      <vt:lpstr>সি-জে জনসম্পৃক্ত স্বাস্থ্য ব্যবস্থাপনা</vt:lpstr>
      <vt:lpstr>PowerPoint Presentation</vt:lpstr>
      <vt:lpstr>PowerPoint Presentation</vt:lpstr>
      <vt:lpstr>ভূমিকা</vt:lpstr>
      <vt:lpstr>চৌগাছা মডেল</vt:lpstr>
      <vt:lpstr>কলেজ পড়ুয়া ছাত্রী ভলেন্টিয়ার</vt:lpstr>
      <vt:lpstr>Upazila Health  Complex CHOWGACHA , JESSORE.</vt:lpstr>
      <vt:lpstr>চৌগাছা হাসপাতাল: প্রসববৃদ্ধি 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Upazila Health  Complex CHOWGACHA , JESSORE.</vt:lpstr>
      <vt:lpstr>চৌগাছা: অর্জন ২০১১</vt:lpstr>
      <vt:lpstr>দৈনিক প্রথম-আলোর প্রতিবেদন ১৪ অক্টোবর, ২০০৫</vt:lpstr>
      <vt:lpstr>সম্প্রসারনের পদক্ষেপ</vt:lpstr>
      <vt:lpstr>Our usual solution:  We need more RESOURCES!!!!</vt:lpstr>
      <vt:lpstr>PowerPoint Presentation</vt:lpstr>
      <vt:lpstr>ধন্যবাদ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161</cp:revision>
  <dcterms:created xsi:type="dcterms:W3CDTF">2018-04-08T00:56:33Z</dcterms:created>
  <dcterms:modified xsi:type="dcterms:W3CDTF">2020-03-04T01:38:43Z</dcterms:modified>
</cp:coreProperties>
</file>