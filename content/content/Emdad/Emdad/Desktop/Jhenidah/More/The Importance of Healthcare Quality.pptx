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3"/>
    <p:sldId id="257" r:id="rId4"/>
    <p:sldId id="261" r:id="rId5"/>
    <p:sldId id="260" r:id="rId6"/>
    <p:sldId id="259" r:id="rId7"/>
    <p:sldId id="258" r:id="rId8"/>
    <p:sldId id="262" r:id="rId9"/>
    <p:sldId id="263" r:id="rId10"/>
    <p:sldId id="264" r:id="rId11"/>
    <p:sldId id="265" r:id="rId12"/>
    <p:sldId id="266" r:id="rId13"/>
    <p:sldId id="271" r:id="rId14"/>
    <p:sldId id="272" r:id="rId15"/>
    <p:sldId id="267" r:id="rId16"/>
    <p:sldId id="268" r:id="rId17"/>
    <p:sldId id="269" r:id="rId18"/>
    <p:sldId id="270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0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9/12/2016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7B8E3-97D5-42CB-9E66-0C32C6EC3114}" type="datetimeFigureOut">
              <a:rPr lang="en-US" smtClean="0"/>
              <a:t>9/12/2016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B0919-9684-4400-BBCB-93DD4DAC2399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9/12/2016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8A5FD1-66CC-4960-9AA9-CFCD7D7A42EB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2086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F56CB-55B6-4D14-9725-674F6D56A04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9/12/2016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A73D5-DF41-47FD-9C4E-550254C7A4B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749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5ED693-CBF4-4B11-B692-5D667AA2CB3D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9/12/2016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9D400-12B2-495B-B0AA-E66D23241C08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21662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72D7A-37C2-424D-A26E-5BE9B16E7C07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9/12/2016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CB431F-B0D8-4241-9987-C913E6F47645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3787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1D85F-1C0C-4D39-987E-4B71CB38FB5A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9/12/2016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FC59B-569A-4D59-8828-74E93A13751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33382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638C1F-CF3E-404F-95BB-501139BB908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9/12/2016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19A6D-4DD8-4520-9B2D-4891833E42A1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352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C27B9-B631-4C29-B8BA-7F2C07EEB03C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9/12/2016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D9C0A-2198-4BB4-BD2C-9C4CF030278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5441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D8679-C261-410D-A1B5-966FA4914F2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9/12/2016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049D3-8E8E-4ACE-9B26-19F9E2A48002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5476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34041-8579-41D2-BA7E-D0C7DF620675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9/12/2016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EBDEE-FB86-4827-AACA-C5B8174C112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915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D2217-7454-4056-AB51-D442E837963B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9/12/2016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43889-7143-4B61-8073-DB60027F39FA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53597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DE1D3-7726-4FA7-9EF2-57D304A95E18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9/12/2016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9B772-BC4B-46F4-B691-B65CE913A3B9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3936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13F95-13FA-4F6B-B2BA-4D6BC5C6EEC5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55664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C67B8E3-97D5-42CB-9E66-0C32C6EC3114}" type="datetimeFigureOut">
              <a:rPr lang="en-US" smtClean="0"/>
              <a:t>9/12/2016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92E2787-7AE8-4EA5-9AE3-6BBC16FE062D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9136B6-CD83-4EC0-9CEB-09C776D1E1B1}" type="datetimeFigureOut">
              <a:rPr lang="en-US" alt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9/12/2016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454B987-C91B-4304-9BFF-446EA7CA19E4}" type="slidenum">
              <a:rPr lang="en-US" altLang="en-US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9661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1412776"/>
            <a:ext cx="7772400" cy="2187674"/>
          </a:xfrm>
        </p:spPr>
        <p:txBody>
          <a:bodyPr>
            <a:normAutofit/>
          </a:bodyPr>
          <a:lstStyle/>
          <a:p>
            <a:pPr algn="ctr"/>
            <a:r>
              <a:rPr lang="en-US" sz="4800" dirty="0" smtClean="0"/>
              <a:t>The Importance of Healthcare</a:t>
            </a:r>
            <a:br>
              <a:rPr lang="en-US" sz="4800" dirty="0" smtClean="0"/>
            </a:br>
            <a:r>
              <a:rPr lang="en-US" sz="4800" dirty="0" smtClean="0"/>
              <a:t>Quality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7475" y="3703177"/>
            <a:ext cx="7854696" cy="1752600"/>
          </a:xfrm>
        </p:spPr>
        <p:txBody>
          <a:bodyPr/>
          <a:lstStyle/>
          <a:p>
            <a:pPr algn="ctr"/>
            <a:endParaRPr lang="en-US" dirty="0" smtClean="0"/>
          </a:p>
          <a:p>
            <a:pPr algn="ctr"/>
            <a:r>
              <a:rPr lang="en-US" dirty="0" smtClean="0"/>
              <a:t>Dr. Md. </a:t>
            </a:r>
            <a:r>
              <a:rPr lang="en-US" dirty="0" err="1" smtClean="0"/>
              <a:t>Emdadul</a:t>
            </a:r>
            <a:r>
              <a:rPr lang="en-US" dirty="0" smtClean="0"/>
              <a:t> </a:t>
            </a:r>
            <a:r>
              <a:rPr lang="en-US" dirty="0" err="1" smtClean="0"/>
              <a:t>Haque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48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/>
            <a:r>
              <a:rPr lang="en-US" dirty="0" smtClean="0"/>
              <a:t>Why does Quality matter?</a:t>
            </a:r>
            <a:endParaRPr lang="en-US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Increases the health status of individuals  and the  population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Poor quality can do harm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Social and economic benefits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Increases the efficiency of the health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473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205" y="1484784"/>
            <a:ext cx="8568952" cy="4555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8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755" y="99508"/>
            <a:ext cx="8229600" cy="1143000"/>
          </a:xfrm>
        </p:spPr>
        <p:txBody>
          <a:bodyPr/>
          <a:lstStyle/>
          <a:p>
            <a:pPr algn="l"/>
            <a:r>
              <a:rPr lang="en-US" dirty="0" smtClean="0"/>
              <a:t>Oh dear!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317" y="1242508"/>
            <a:ext cx="7766477" cy="5066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4571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Who should care!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1"/>
            <a:ext cx="8496944" cy="53401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7459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Solve priority </a:t>
            </a:r>
            <a:br>
              <a:rPr lang="en-US" dirty="0" smtClean="0"/>
            </a:br>
            <a:r>
              <a:rPr lang="en-US" dirty="0" smtClean="0"/>
              <a:t>	   Quality problems …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772816"/>
            <a:ext cx="8290124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320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Our usual solution: </a:t>
            </a:r>
            <a:br>
              <a:rPr lang="en-US" sz="3600" dirty="0" smtClean="0"/>
            </a:br>
            <a:r>
              <a:rPr lang="en-US" sz="3600" dirty="0" smtClean="0"/>
              <a:t>We need more RESOURCES!!!!</a:t>
            </a:r>
            <a:endParaRPr lang="en-US" sz="36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356226"/>
            <a:ext cx="8208912" cy="547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531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83568" y="548680"/>
            <a:ext cx="2743200" cy="2592288"/>
          </a:xfrm>
        </p:spPr>
        <p:txBody>
          <a:bodyPr/>
          <a:lstStyle/>
          <a:p>
            <a:r>
              <a:rPr lang="en-US" sz="2400" dirty="0"/>
              <a:t>Quality </a:t>
            </a:r>
            <a:r>
              <a:rPr lang="en-US" sz="2400" dirty="0" smtClean="0"/>
              <a:t>Improvement</a:t>
            </a:r>
            <a:br>
              <a:rPr lang="en-US" sz="2400" dirty="0" smtClean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800" dirty="0" smtClean="0"/>
              <a:t>Although </a:t>
            </a:r>
            <a:r>
              <a:rPr lang="en-US" sz="2800" dirty="0"/>
              <a:t>all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improvement </a:t>
            </a:r>
            <a:r>
              <a:rPr lang="en-US" sz="2800" dirty="0"/>
              <a:t>involves change,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"/>
          </p:nvPr>
        </p:nvSpPr>
        <p:spPr>
          <a:xfrm>
            <a:off x="611560" y="4077072"/>
            <a:ext cx="2743200" cy="3035424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04617B"/>
                </a:solidFill>
                <a:latin typeface="Calibri"/>
                <a:ea typeface="+mj-ea"/>
                <a:cs typeface="+mj-cs"/>
              </a:rPr>
              <a:t>not all changes are improvement.</a:t>
            </a:r>
            <a:endParaRPr lang="en-US" sz="16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620688"/>
            <a:ext cx="4666600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3645024"/>
            <a:ext cx="4860032" cy="2948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500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11560" y="1916832"/>
            <a:ext cx="8305800" cy="2652904"/>
          </a:xfrm>
        </p:spPr>
        <p:txBody>
          <a:bodyPr>
            <a:normAutofit/>
          </a:bodyPr>
          <a:lstStyle/>
          <a:p>
            <a:r>
              <a:rPr lang="en-US" dirty="0"/>
              <a:t>Every SYSTEM achieves the RESULTS for which it was designed!</a:t>
            </a:r>
          </a:p>
        </p:txBody>
      </p:sp>
    </p:spTree>
    <p:extLst>
      <p:ext uri="{BB962C8B-B14F-4D97-AF65-F5344CB8AC3E}">
        <p14:creationId xmlns:p14="http://schemas.microsoft.com/office/powerpoint/2010/main" val="847964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Deming Cycle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772816"/>
            <a:ext cx="7488832" cy="4425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83493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70" y="908720"/>
            <a:ext cx="8975849" cy="5832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651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77" y="696386"/>
            <a:ext cx="7848872" cy="61616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2375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4876800" y="3733800"/>
            <a:ext cx="4038600" cy="297180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5" name="Content Placeholder 4"/>
          <p:cNvPicPr>
            <a:picLocks noGrp="1" noChangeAspect="1"/>
          </p:cNvPicPr>
          <p:nvPr>
            <p:ph sz="quarter" idx="4294967295"/>
          </p:nvPr>
        </p:nvPicPr>
        <p:blipFill>
          <a:blip r:embed="rId3"/>
          <a:stretch>
            <a:fillRect/>
          </a:stretch>
        </p:blipFill>
        <p:spPr>
          <a:xfrm>
            <a:off x="88900" y="3733800"/>
            <a:ext cx="4102100" cy="295275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/>
        </p:spPr>
      </p:pic>
      <p:pic>
        <p:nvPicPr>
          <p:cNvPr id="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4"/>
          <a:srcRect/>
          <a:stretch>
            <a:fillRect/>
          </a:stretch>
        </p:blipFill>
        <p:spPr>
          <a:xfrm>
            <a:off x="88900" y="955098"/>
            <a:ext cx="4038600" cy="266700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876800" y="889794"/>
            <a:ext cx="4038600" cy="2667000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ight Arrow 2"/>
          <p:cNvSpPr>
            <a:spLocks noChangeArrowheads="1"/>
          </p:cNvSpPr>
          <p:nvPr/>
        </p:nvSpPr>
        <p:spPr bwMode="auto">
          <a:xfrm>
            <a:off x="43338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0" hangingPunct="0"/>
            <a:endParaRPr lang="en-US">
              <a:solidFill>
                <a:srgbClr val="000000"/>
              </a:solidFill>
            </a:endParaRPr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4097" y="4948599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2"/>
          <p:cNvSpPr>
            <a:spLocks noGrp="1"/>
          </p:cNvSpPr>
          <p:nvPr>
            <p:ph type="title"/>
          </p:nvPr>
        </p:nvSpPr>
        <p:spPr>
          <a:xfrm>
            <a:off x="0" y="-286061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Changes in Surgery &amp; Pediatric </a:t>
            </a:r>
            <a:r>
              <a:rPr lang="en-US" sz="3200" b="1" dirty="0" smtClean="0">
                <a:solidFill>
                  <a:schemeClr val="accent1">
                    <a:lumMod val="75000"/>
                  </a:schemeClr>
                </a:solidFill>
              </a:rPr>
              <a:t>Word in Jhenaidah Sadar Hospital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251520" y="1123589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51520" y="3834750"/>
            <a:ext cx="1066800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eaLnBrk="0" hangingPunct="0"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5056950" y="1091045"/>
            <a:ext cx="89891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5056949" y="3834750"/>
            <a:ext cx="89891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b="1" dirty="0" smtClean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753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51" y="1109662"/>
            <a:ext cx="8860774" cy="5343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/>
          </p:nvPr>
        </p:nvSpPr>
        <p:spPr>
          <a:xfrm>
            <a:off x="221205" y="53816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Quality Management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is </a:t>
            </a:r>
            <a:r>
              <a:rPr lang="en-US" dirty="0"/>
              <a:t>Continuous Improvement</a:t>
            </a:r>
          </a:p>
        </p:txBody>
      </p:sp>
    </p:spTree>
    <p:extLst>
      <p:ext uri="{BB962C8B-B14F-4D97-AF65-F5344CB8AC3E}">
        <p14:creationId xmlns:p14="http://schemas.microsoft.com/office/powerpoint/2010/main" val="275274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9018" y="0"/>
            <a:ext cx="9193017" cy="685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069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People connect the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</a:t>
            </a:r>
            <a:r>
              <a:rPr lang="en-US" sz="2400" dirty="0"/>
              <a:t>No quality management system works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unless </a:t>
            </a:r>
            <a:r>
              <a:rPr lang="en-US" sz="2400" dirty="0"/>
              <a:t>people are empowered and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committed </a:t>
            </a:r>
            <a:r>
              <a:rPr lang="en-US" sz="2400" dirty="0"/>
              <a:t>to take responsibility for quality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-</a:t>
            </a:r>
            <a:r>
              <a:rPr lang="en-US" sz="2400" dirty="0"/>
              <a:t>as an ongoing process –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  in </a:t>
            </a:r>
            <a:r>
              <a:rPr lang="en-US" sz="2400" dirty="0"/>
              <a:t>the end, quality becomes part of people's </a:t>
            </a:r>
            <a:r>
              <a:rPr lang="en-US" sz="2400" dirty="0" smtClean="0"/>
              <a:t>behavior  and  attitudes</a:t>
            </a:r>
            <a:r>
              <a:rPr lang="en-US" sz="2400" dirty="0"/>
              <a:t>” </a:t>
            </a:r>
            <a:endParaRPr lang="en-US" sz="2400" dirty="0" smtClean="0"/>
          </a:p>
          <a:p>
            <a:pPr marL="0" indent="0">
              <a:buNone/>
            </a:pPr>
            <a:r>
              <a:rPr lang="en-US" sz="3200" dirty="0" smtClean="0"/>
              <a:t>Dr</a:t>
            </a:r>
            <a:r>
              <a:rPr lang="en-US" sz="3200" dirty="0"/>
              <a:t>. Joseph </a:t>
            </a:r>
            <a:r>
              <a:rPr lang="en-US" sz="3200" dirty="0" err="1"/>
              <a:t>Juran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15485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620688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dirty="0"/>
              <a:t>The Paradigm Shift in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800" i="1" dirty="0" smtClean="0">
                <a:solidFill>
                  <a:srgbClr val="00B0F0"/>
                </a:solidFill>
              </a:rPr>
              <a:t>from </a:t>
            </a:r>
            <a:r>
              <a:rPr lang="en-US" sz="1800" i="1" dirty="0" smtClean="0">
                <a:solidFill>
                  <a:srgbClr val="00B0F0"/>
                </a:solidFill>
              </a:rPr>
              <a:t>we</a:t>
            </a:r>
            <a:r>
              <a:rPr lang="en-US" sz="2800" i="1" dirty="0" smtClean="0">
                <a:solidFill>
                  <a:srgbClr val="00B0F0"/>
                </a:solidFill>
              </a:rPr>
              <a:t> </a:t>
            </a:r>
            <a:r>
              <a:rPr lang="en-US" sz="2800" i="1" dirty="0">
                <a:solidFill>
                  <a:srgbClr val="00B0F0"/>
                </a:solidFill>
              </a:rPr>
              <a:t>know best what is good for you </a:t>
            </a:r>
            <a:endParaRPr lang="en-US" sz="2800" i="1" dirty="0" smtClean="0">
              <a:solidFill>
                <a:srgbClr val="00B0F0"/>
              </a:solidFill>
            </a:endParaRPr>
          </a:p>
          <a:p>
            <a:pPr marL="640080" lvl="2" indent="0">
              <a:buNone/>
            </a:pPr>
            <a:r>
              <a:rPr lang="en-US" sz="2400" dirty="0" smtClean="0">
                <a:solidFill>
                  <a:srgbClr val="00B0F0"/>
                </a:solidFill>
              </a:rPr>
              <a:t>			</a:t>
            </a:r>
            <a:r>
              <a:rPr lang="en-US" sz="2800" b="1" dirty="0" smtClean="0">
                <a:solidFill>
                  <a:srgbClr val="00B0F0"/>
                </a:solidFill>
              </a:rPr>
              <a:t>to </a:t>
            </a:r>
            <a:r>
              <a:rPr lang="en-US" sz="2800" b="1" dirty="0">
                <a:solidFill>
                  <a:srgbClr val="00B0F0"/>
                </a:solidFill>
              </a:rPr>
              <a:t>customer orientation </a:t>
            </a:r>
            <a:endParaRPr lang="en-US" sz="2800" b="1" dirty="0" smtClean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>
                <a:solidFill>
                  <a:srgbClr val="FF0000"/>
                </a:solidFill>
              </a:rPr>
              <a:t>2.   </a:t>
            </a:r>
            <a:r>
              <a:rPr lang="en-US" sz="2800" i="1" dirty="0" smtClean="0">
                <a:solidFill>
                  <a:schemeClr val="accent4">
                    <a:lumMod val="75000"/>
                  </a:schemeClr>
                </a:solidFill>
              </a:rPr>
              <a:t>from </a:t>
            </a:r>
            <a:r>
              <a:rPr lang="en-US" sz="2800" i="1" dirty="0">
                <a:solidFill>
                  <a:schemeClr val="accent4">
                    <a:lumMod val="75000"/>
                  </a:schemeClr>
                </a:solidFill>
              </a:rPr>
              <a:t>post-production </a:t>
            </a:r>
            <a:r>
              <a:rPr lang="en-US" sz="2800" i="1" dirty="0" smtClean="0">
                <a:solidFill>
                  <a:schemeClr val="accent4">
                    <a:lumMod val="75000"/>
                  </a:schemeClr>
                </a:solidFill>
              </a:rPr>
              <a:t>evaluation                  </a:t>
            </a:r>
            <a:r>
              <a:rPr lang="en-US" sz="2800" b="1" i="1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800" b="1" dirty="0" smtClean="0">
                <a:solidFill>
                  <a:schemeClr val="accent4">
                    <a:lumMod val="75000"/>
                  </a:schemeClr>
                </a:solidFill>
              </a:rPr>
              <a:t>		                       to prevention and continuous 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improvement </a:t>
            </a:r>
            <a:endParaRPr lang="en-US" sz="2800" b="1" dirty="0" smtClean="0">
              <a:solidFill>
                <a:schemeClr val="accent4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>
                <a:solidFill>
                  <a:srgbClr val="0070C0"/>
                </a:solidFill>
              </a:rPr>
              <a:t>3</a:t>
            </a:r>
            <a:r>
              <a:rPr lang="en-US" sz="2800" dirty="0">
                <a:solidFill>
                  <a:srgbClr val="0070C0"/>
                </a:solidFill>
              </a:rPr>
              <a:t>. </a:t>
            </a:r>
            <a:r>
              <a:rPr lang="en-US" sz="2800" i="1" dirty="0">
                <a:solidFill>
                  <a:srgbClr val="FF0000"/>
                </a:solidFill>
              </a:rPr>
              <a:t>from external focus on control through </a:t>
            </a:r>
            <a:r>
              <a:rPr lang="en-US" sz="2800" i="1" dirty="0" smtClean="0">
                <a:solidFill>
                  <a:srgbClr val="FF0000"/>
                </a:solidFill>
              </a:rPr>
              <a:t>inspection </a:t>
            </a:r>
            <a:r>
              <a:rPr lang="en-US" sz="2800" dirty="0" smtClean="0">
                <a:solidFill>
                  <a:srgbClr val="FF0000"/>
                </a:solidFill>
              </a:rPr>
              <a:t>			</a:t>
            </a:r>
            <a:r>
              <a:rPr lang="en-US" sz="2800" b="1" dirty="0" smtClean="0">
                <a:solidFill>
                  <a:srgbClr val="FF0000"/>
                </a:solidFill>
              </a:rPr>
              <a:t>to </a:t>
            </a:r>
            <a:r>
              <a:rPr lang="en-US" sz="2800" b="1" dirty="0">
                <a:solidFill>
                  <a:srgbClr val="FF0000"/>
                </a:solidFill>
              </a:rPr>
              <a:t>design and self assessment</a:t>
            </a:r>
          </a:p>
        </p:txBody>
      </p:sp>
    </p:spTree>
    <p:extLst>
      <p:ext uri="{BB962C8B-B14F-4D97-AF65-F5344CB8AC3E}">
        <p14:creationId xmlns:p14="http://schemas.microsoft.com/office/powerpoint/2010/main" val="2506524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5013176"/>
            <a:ext cx="3823320" cy="1080120"/>
          </a:xfrm>
        </p:spPr>
        <p:txBody>
          <a:bodyPr/>
          <a:lstStyle/>
          <a:p>
            <a:pPr marL="0" indent="0">
              <a:buNone/>
            </a:pPr>
            <a:r>
              <a:rPr lang="en-US" sz="4400" dirty="0" smtClean="0">
                <a:solidFill>
                  <a:srgbClr val="00B0F0"/>
                </a:solidFill>
              </a:rPr>
              <a:t>Thank You</a:t>
            </a:r>
            <a:endParaRPr lang="en-US" sz="4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777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72</TotalTime>
  <Words>127</Words>
  <Application>Microsoft Office PowerPoint</Application>
  <PresentationFormat>On-screen Show (4:3)</PresentationFormat>
  <Paragraphs>41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Flow</vt:lpstr>
      <vt:lpstr>Office Theme</vt:lpstr>
      <vt:lpstr>The Importance of Healthcare Quality</vt:lpstr>
      <vt:lpstr>Why does Quality matter?</vt:lpstr>
      <vt:lpstr>PowerPoint Presentation</vt:lpstr>
      <vt:lpstr>Oh dear!</vt:lpstr>
      <vt:lpstr>Who should care!</vt:lpstr>
      <vt:lpstr>Solve priority      Quality problems …</vt:lpstr>
      <vt:lpstr>Our usual solution:  We need more RESOURCES!!!!</vt:lpstr>
      <vt:lpstr>Quality Improvement  Although all  improvement involves change, </vt:lpstr>
      <vt:lpstr>Every SYSTEM achieves the RESULTS for which it was designed!</vt:lpstr>
      <vt:lpstr>Deming Cycle </vt:lpstr>
      <vt:lpstr>PowerPoint Presentation</vt:lpstr>
      <vt:lpstr>PowerPoint Presentation</vt:lpstr>
      <vt:lpstr>Changes in Surgery &amp; Pediatric Word in Jhenaidah Sadar Hospital</vt:lpstr>
      <vt:lpstr>Quality Management  is Continuous Improvement</vt:lpstr>
      <vt:lpstr>PowerPoint Presentation</vt:lpstr>
      <vt:lpstr>People connect the links</vt:lpstr>
      <vt:lpstr>The Paradigm Shift in Quality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Importance of Healthcare Quality</dc:title>
  <dc:creator>Emdad</dc:creator>
  <cp:lastModifiedBy>Emdad</cp:lastModifiedBy>
  <cp:revision>16</cp:revision>
  <dcterms:created xsi:type="dcterms:W3CDTF">2016-09-12T00:18:27Z</dcterms:created>
  <dcterms:modified xsi:type="dcterms:W3CDTF">2016-09-12T01:31:14Z</dcterms:modified>
</cp:coreProperties>
</file>