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4020" r:id="rId2"/>
  </p:sldMasterIdLst>
  <p:notesMasterIdLst>
    <p:notesMasterId r:id="rId48"/>
  </p:notesMasterIdLst>
  <p:sldIdLst>
    <p:sldId id="331" r:id="rId3"/>
    <p:sldId id="345" r:id="rId4"/>
    <p:sldId id="332" r:id="rId5"/>
    <p:sldId id="376" r:id="rId6"/>
    <p:sldId id="408" r:id="rId7"/>
    <p:sldId id="368" r:id="rId8"/>
    <p:sldId id="341" r:id="rId9"/>
    <p:sldId id="334" r:id="rId10"/>
    <p:sldId id="337" r:id="rId11"/>
    <p:sldId id="407" r:id="rId12"/>
    <p:sldId id="340" r:id="rId13"/>
    <p:sldId id="343" r:id="rId14"/>
    <p:sldId id="256" r:id="rId15"/>
    <p:sldId id="326" r:id="rId16"/>
    <p:sldId id="327" r:id="rId17"/>
    <p:sldId id="328" r:id="rId18"/>
    <p:sldId id="352" r:id="rId19"/>
    <p:sldId id="351" r:id="rId20"/>
    <p:sldId id="346" r:id="rId21"/>
    <p:sldId id="362" r:id="rId22"/>
    <p:sldId id="369" r:id="rId23"/>
    <p:sldId id="287" r:id="rId24"/>
    <p:sldId id="288" r:id="rId25"/>
    <p:sldId id="290" r:id="rId26"/>
    <p:sldId id="291" r:id="rId27"/>
    <p:sldId id="323" r:id="rId28"/>
    <p:sldId id="312" r:id="rId29"/>
    <p:sldId id="366" r:id="rId30"/>
    <p:sldId id="370" r:id="rId31"/>
    <p:sldId id="293" r:id="rId32"/>
    <p:sldId id="294" r:id="rId33"/>
    <p:sldId id="330" r:id="rId34"/>
    <p:sldId id="344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9" r:id="rId44"/>
    <p:sldId id="400" r:id="rId45"/>
    <p:sldId id="398" r:id="rId46"/>
    <p:sldId id="406" r:id="rId4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619" autoAdjust="0"/>
    <p:restoredTop sz="86477" autoAdjust="0"/>
  </p:normalViewPr>
  <p:slideViewPr>
    <p:cSldViewPr>
      <p:cViewPr>
        <p:scale>
          <a:sx n="70" d="100"/>
          <a:sy n="70" d="100"/>
        </p:scale>
        <p:origin x="-1836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5103488"/>
        <c:axId val="185105024"/>
      </c:barChart>
      <c:catAx>
        <c:axId val="185103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5105024"/>
        <c:crosses val="autoZero"/>
        <c:auto val="1"/>
        <c:lblAlgn val="ctr"/>
        <c:lblOffset val="100"/>
        <c:noMultiLvlLbl val="0"/>
      </c:catAx>
      <c:valAx>
        <c:axId val="18510502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851034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5890304"/>
        <c:axId val="185891840"/>
      </c:barChart>
      <c:catAx>
        <c:axId val="185890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5891840"/>
        <c:crosses val="autoZero"/>
        <c:auto val="1"/>
        <c:lblAlgn val="ctr"/>
        <c:lblOffset val="100"/>
        <c:noMultiLvlLbl val="0"/>
      </c:catAx>
      <c:valAx>
        <c:axId val="1858918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58903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85795712"/>
        <c:axId val="185797248"/>
        <c:axId val="0"/>
      </c:bar3DChart>
      <c:catAx>
        <c:axId val="185795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5797248"/>
        <c:crosses val="autoZero"/>
        <c:auto val="1"/>
        <c:lblAlgn val="ctr"/>
        <c:lblOffset val="100"/>
        <c:noMultiLvlLbl val="0"/>
      </c:catAx>
      <c:valAx>
        <c:axId val="185797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57957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766</c:v>
                </c:pt>
                <c:pt idx="1">
                  <c:v>835</c:v>
                </c:pt>
                <c:pt idx="2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923</c:v>
                </c:pt>
                <c:pt idx="1">
                  <c:v>1595</c:v>
                </c:pt>
                <c:pt idx="2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806</c:v>
                </c:pt>
                <c:pt idx="1">
                  <c:v>1123</c:v>
                </c:pt>
                <c:pt idx="2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2495</c:v>
                </c:pt>
                <c:pt idx="1">
                  <c:v>3553</c:v>
                </c:pt>
                <c:pt idx="2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6022912"/>
        <c:axId val="186036992"/>
      </c:barChart>
      <c:catAx>
        <c:axId val="186022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6036992"/>
        <c:crosses val="autoZero"/>
        <c:auto val="1"/>
        <c:lblAlgn val="ctr"/>
        <c:lblOffset val="100"/>
        <c:noMultiLvlLbl val="0"/>
      </c:catAx>
      <c:valAx>
        <c:axId val="186036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60229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5968128"/>
        <c:axId val="185969664"/>
      </c:barChart>
      <c:catAx>
        <c:axId val="18596812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5969664"/>
        <c:crosses val="autoZero"/>
        <c:auto val="1"/>
        <c:lblAlgn val="ctr"/>
        <c:lblOffset val="100"/>
        <c:noMultiLvlLbl val="0"/>
      </c:catAx>
      <c:valAx>
        <c:axId val="1859696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59681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85672448"/>
        <c:axId val="185673984"/>
        <c:axId val="0"/>
      </c:bar3DChart>
      <c:catAx>
        <c:axId val="185672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5673984"/>
        <c:crosses val="autoZero"/>
        <c:auto val="1"/>
        <c:lblAlgn val="ctr"/>
        <c:lblOffset val="100"/>
        <c:noMultiLvlLbl val="0"/>
      </c:catAx>
      <c:valAx>
        <c:axId val="185673984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8567244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7/31/2018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693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7/31/2018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2018/7/31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2C5264A-7754-4726-AC52-E1F06AF192FF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60A3115-D531-4BF5-8912-0DDF8A1BF818}" type="datetimeFigureOut">
              <a:rPr lang="ja-JP" altLang="en-US" smtClean="0"/>
              <a:pPr>
                <a:defRPr/>
              </a:pPr>
              <a:t>2018/7/31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5.jpe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gIps428Ic" TargetMode="External"/><Relationship Id="rId2" Type="http://schemas.openxmlformats.org/officeDocument/2006/relationships/hyperlink" Target="https://www.unicef.org/bangladesh/media_4795.htm" TargetMode="Externa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91947" y="751582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 -J model: A new community support group(CSG) initiative  in Bangladesh.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04495"/>
              </p:ext>
            </p:extLst>
          </p:nvPr>
        </p:nvGraphicFramePr>
        <p:xfrm>
          <a:off x="381000" y="1219200"/>
          <a:ext cx="8205551" cy="463915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752600"/>
                <a:gridCol w="2133600"/>
                <a:gridCol w="1828800"/>
                <a:gridCol w="1576151"/>
              </a:tblGrid>
              <a:tr h="8049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sz="3950" dirty="0" smtClean="0"/>
              <a:t>A  SUB-DISTRICT LEVEL HOSPITAL WITH A VISION</a:t>
            </a:r>
            <a:endParaRPr lang="en-GB" sz="3950" dirty="0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dirty="0" smtClean="0"/>
              <a:t>Background History of </a:t>
            </a:r>
            <a:r>
              <a:rPr lang="en-US" sz="3200" b="1" dirty="0" err="1" smtClean="0"/>
              <a:t>Chowgacha</a:t>
            </a:r>
            <a:r>
              <a:rPr lang="en-US" sz="3200" b="1" dirty="0" smtClean="0"/>
              <a:t> Health Complex Model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382000" cy="49530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dirty="0" smtClean="0"/>
              <a:t>To reduce Maternal and Child Mortality and Mobility and to ensure the quality services to the mother and child, UHFPO opened 5 special activities headed by medical officers in Feb. 1996. And </a:t>
            </a:r>
            <a:r>
              <a:rPr lang="en-US" sz="1800" b="1" u="sng" dirty="0" smtClean="0"/>
              <a:t>from January 1995 to 1997 </a:t>
            </a:r>
            <a:r>
              <a:rPr lang="en-US" sz="1800" b="1" u="sng" dirty="0" smtClean="0">
                <a:solidFill>
                  <a:srgbClr val="0000FF"/>
                </a:solidFill>
              </a:rPr>
              <a:t>JICA</a:t>
            </a:r>
            <a:r>
              <a:rPr lang="en-US" sz="1800" b="1" u="sng" dirty="0" smtClean="0"/>
              <a:t> helped us by Frontline MCH Program to implement the program by giving technical and logistic supports. Since 1998 </a:t>
            </a:r>
            <a:r>
              <a:rPr lang="en-US" sz="1800" b="1" u="sng" dirty="0" smtClean="0">
                <a:solidFill>
                  <a:srgbClr val="0000FF"/>
                </a:solidFill>
              </a:rPr>
              <a:t>DGHS</a:t>
            </a:r>
            <a:r>
              <a:rPr lang="en-US" sz="1800" b="1" u="sng" dirty="0" smtClean="0"/>
              <a:t> &amp; </a:t>
            </a:r>
            <a:r>
              <a:rPr lang="en-US" sz="1800" b="1" u="sng" dirty="0" smtClean="0">
                <a:solidFill>
                  <a:srgbClr val="0000FF"/>
                </a:solidFill>
              </a:rPr>
              <a:t>UNICEF</a:t>
            </a:r>
            <a:r>
              <a:rPr lang="en-US" sz="1800" b="1" u="sng" dirty="0" smtClean="0"/>
              <a:t> have continued the support</a:t>
            </a:r>
            <a:r>
              <a:rPr lang="en-US" sz="1800" b="1" u="sng" dirty="0"/>
              <a:t> </a:t>
            </a:r>
            <a:r>
              <a:rPr lang="en-US" sz="1800" b="1" u="sng" dirty="0" smtClean="0"/>
              <a:t>and starts</a:t>
            </a:r>
            <a:endParaRPr lang="en-US" sz="1800" b="1" dirty="0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</a:rPr>
              <a:t>5</a:t>
            </a:r>
            <a:r>
              <a:rPr lang="en-US" sz="2400" b="1" dirty="0" smtClean="0">
                <a:solidFill>
                  <a:srgbClr val="0000FF"/>
                </a:solidFill>
              </a:rPr>
              <a:t> Special activities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1800" b="1" dirty="0" smtClean="0">
                <a:solidFill>
                  <a:srgbClr val="0000FF"/>
                </a:solidFill>
              </a:rPr>
              <a:t>ANC-Corner</a:t>
            </a:r>
            <a:r>
              <a:rPr lang="en-US" sz="1800" b="1" dirty="0" smtClean="0"/>
              <a:t> –for pregnant mother for effective ANC service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+mj-lt"/>
              <a:buAutoNum type="arabicPeriod"/>
            </a:pPr>
            <a:endParaRPr lang="en-US" sz="18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1800" b="1" dirty="0" smtClean="0">
                <a:solidFill>
                  <a:srgbClr val="0000FF"/>
                </a:solidFill>
              </a:rPr>
              <a:t>Basic EOC service </a:t>
            </a:r>
            <a:r>
              <a:rPr lang="en-US" sz="1800" b="1" dirty="0" smtClean="0"/>
              <a:t>to increase hospital delivery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/>
            </a:pPr>
            <a:endParaRPr lang="en-US" sz="1800" b="1" dirty="0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/>
            </a:pPr>
            <a:r>
              <a:rPr lang="en-US" sz="1800" b="1" dirty="0" smtClean="0">
                <a:solidFill>
                  <a:srgbClr val="0000FF"/>
                </a:solidFill>
              </a:rPr>
              <a:t>  Under 5 corner for under 5 children</a:t>
            </a:r>
            <a:r>
              <a:rPr lang="en-US" sz="1800" b="1" dirty="0" smtClean="0"/>
              <a:t> for their nutritional assessment and treatment.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+mj-lt"/>
              <a:buAutoNum type="arabicPeriod"/>
            </a:pPr>
            <a:endParaRPr lang="en-US" sz="18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1800" b="1" dirty="0" smtClean="0">
                <a:solidFill>
                  <a:srgbClr val="0000FF"/>
                </a:solidFill>
              </a:rPr>
              <a:t>Monthly birth and death record</a:t>
            </a:r>
            <a:r>
              <a:rPr lang="en-US" sz="1800" b="1" dirty="0" smtClean="0"/>
              <a:t> by specially developed format by health assistant throughout the </a:t>
            </a:r>
            <a:r>
              <a:rPr lang="en-US" sz="1800" b="1" dirty="0" err="1" smtClean="0"/>
              <a:t>Upazilla</a:t>
            </a:r>
            <a:r>
              <a:rPr lang="en-US" sz="1800" b="1" dirty="0" smtClean="0"/>
              <a:t> to asses the progress of health status by health indicators.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+mj-lt"/>
              <a:buAutoNum type="arabicPeriod"/>
            </a:pPr>
            <a:endParaRPr lang="en-US" sz="18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1800" b="1" dirty="0" smtClean="0">
                <a:solidFill>
                  <a:schemeClr val="tx2">
                    <a:lumMod val="75000"/>
                  </a:schemeClr>
                </a:solidFill>
              </a:rPr>
              <a:t>Health Education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14023323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Achievements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 smtClean="0"/>
              <a:t>From 1996 to 2012, took local initiatives and implements all the components of primary healthcare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endParaRPr lang="en-US" sz="2400" dirty="0" smtClean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 startAt="3"/>
              <a:defRPr/>
            </a:pPr>
            <a:r>
              <a:rPr lang="en-US" sz="2400" dirty="0" smtClean="0">
                <a:cs typeface="Calibri" pitchFamily="34" charset="0"/>
              </a:rPr>
              <a:t>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 startAt="3"/>
              <a:defRPr/>
            </a:pPr>
            <a:endParaRPr lang="en-US" sz="2400" dirty="0" smtClean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 startAt="3"/>
              <a:defRPr/>
            </a:pPr>
            <a:r>
              <a:rPr lang="en-US" sz="2400" dirty="0" smtClean="0"/>
              <a:t>Hospital delivery rate of </a:t>
            </a:r>
            <a:r>
              <a:rPr lang="en-US" sz="2400" dirty="0" err="1" smtClean="0"/>
              <a:t>ChowgachaUHC</a:t>
            </a:r>
            <a:r>
              <a:rPr lang="en-US" sz="2400" dirty="0" smtClean="0"/>
              <a:t> increase from 2% </a:t>
            </a:r>
            <a:r>
              <a:rPr lang="en-US" sz="2400" smtClean="0"/>
              <a:t>in 1997 </a:t>
            </a:r>
            <a:r>
              <a:rPr lang="en-US" sz="2400" dirty="0" smtClean="0"/>
              <a:t>to 98.4</a:t>
            </a:r>
            <a:r>
              <a:rPr lang="en-US" sz="2400" smtClean="0"/>
              <a:t>% in2011. </a:t>
            </a:r>
            <a:endParaRPr lang="en-US" sz="2400" dirty="0" smtClean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 startAt="3"/>
              <a:defRPr/>
            </a:pPr>
            <a:endParaRPr lang="en-US" sz="2400" dirty="0" smtClean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 startAt="3"/>
              <a:defRPr/>
            </a:pPr>
            <a:r>
              <a:rPr lang="en-US" sz="2400" dirty="0" err="1" smtClean="0"/>
              <a:t>Chowgacha</a:t>
            </a:r>
            <a:r>
              <a:rPr lang="en-US" sz="2400" dirty="0" smtClean="0"/>
              <a:t>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 </a:t>
            </a:r>
            <a:r>
              <a:rPr lang="en-US" sz="2400" dirty="0" smtClean="0"/>
              <a:t>and MCH achievement close to SDG in 2011.</a:t>
            </a:r>
            <a:endParaRPr lang="en-US" sz="2400" dirty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 startAt="3"/>
              <a:defRPr/>
            </a:pPr>
            <a:endParaRPr lang="en-US" sz="2400" dirty="0" smtClean="0"/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 startAt="3"/>
              <a:defRPr/>
            </a:pPr>
            <a:r>
              <a:rPr lang="en-US" sz="2400" dirty="0" err="1" smtClean="0"/>
              <a:t>Chowgacha</a:t>
            </a:r>
            <a:r>
              <a:rPr lang="en-US" sz="2400" dirty="0" smtClean="0"/>
              <a:t>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09275394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11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76400" y="3967956"/>
            <a:ext cx="6400800" cy="17526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94" y="1447799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459133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2015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5, </a:t>
            </a: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Biswas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400" dirty="0"/>
              <a:t>Builders </a:t>
            </a:r>
            <a:r>
              <a:rPr lang="en-US" sz="2400" dirty="0" smtClean="0"/>
              <a:t>7,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10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357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487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94812"/>
            <a:ext cx="4343400" cy="2895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558" y="3938588"/>
            <a:ext cx="2855884" cy="21875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46" y="1600200"/>
            <a:ext cx="2833508" cy="2185988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10" name="Content Placeholder 10"/>
          <p:cNvPicPr>
            <a:picLocks noGrp="1" noChangeAspect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528" y="1600200"/>
            <a:ext cx="3365944" cy="2185988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914400"/>
            <a:ext cx="4114800" cy="2563359"/>
          </a:xfrm>
          <a:prstGeom prst="rect">
            <a:avLst/>
          </a:prstGeom>
        </p:spPr>
      </p:pic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6186" y="914400"/>
            <a:ext cx="4127426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107858" y="1600200"/>
            <a:ext cx="3119283" cy="21859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8"/>
            <a:ext cx="4502150" cy="29940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</a:t>
            </a:r>
            <a:r>
              <a:rPr lang="en-US" b="1"/>
              <a:t>district </a:t>
            </a:r>
            <a:r>
              <a:rPr lang="en-US" b="1" smtClean="0"/>
              <a:t>hospitals.</a:t>
            </a: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</a:t>
            </a:r>
            <a:r>
              <a:rPr lang="en-US" sz="2800" smtClean="0"/>
              <a:t>District Hospital </a:t>
            </a:r>
            <a:endParaRPr lang="en-US" sz="28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polithin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trolley man.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957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86438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Some of the none govt. workers would take charge from the patient.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Information display system was neglected.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>
              <a:buFont typeface="+mj-lt"/>
              <a:buAutoNum type="arabicPeriod" startAt="7"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4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challenges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Problem identification. </a:t>
            </a:r>
            <a:r>
              <a:rPr lang="en-US" sz="1400" dirty="0" smtClean="0">
                <a:solidFill>
                  <a:srgbClr val="000000"/>
                </a:solidFill>
              </a:rPr>
              <a:t>*Problems of the hospital 1 &amp; 2 (Later)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 dirty="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Local administration </a:t>
            </a:r>
            <a:r>
              <a:rPr lang="en-US" sz="1400" dirty="0" smtClean="0">
                <a:solidFill>
                  <a:srgbClr val="000000"/>
                </a:solidFill>
              </a:rPr>
              <a:t>DC, </a:t>
            </a:r>
            <a:r>
              <a:rPr lang="en-US" sz="1400" dirty="0">
                <a:solidFill>
                  <a:srgbClr val="000000"/>
                </a:solidFill>
              </a:rPr>
              <a:t>ADC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Social workers, Human Rights Organizations, few NGO, 		      	      teachers, industrialists , </a:t>
            </a:r>
            <a:r>
              <a:rPr lang="en-US" sz="1400" dirty="0" smtClean="0">
                <a:solidFill>
                  <a:srgbClr val="000000"/>
                </a:solidFill>
              </a:rPr>
              <a:t>TIB .&amp; religious leaders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7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771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</p:spTree>
    <p:extLst>
      <p:ext uri="{BB962C8B-B14F-4D97-AF65-F5344CB8AC3E}">
        <p14:creationId xmlns:p14="http://schemas.microsoft.com/office/powerpoint/2010/main" val="26750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712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32138" y="114300"/>
            <a:ext cx="6011862" cy="889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smtClean="0">
                <a:solidFill>
                  <a:schemeClr val="bg1"/>
                </a:solidFill>
              </a:rPr>
              <a:t>Problems</a:t>
            </a:r>
            <a:r>
              <a:rPr lang="en-US" sz="4000" b="1" smtClean="0">
                <a:solidFill>
                  <a:schemeClr val="bg1"/>
                </a:solidFill>
              </a:rPr>
              <a:t> </a:t>
            </a:r>
            <a:r>
              <a:rPr lang="en-US" sz="3200" b="1" smtClean="0">
                <a:solidFill>
                  <a:schemeClr val="bg1"/>
                </a:solidFill>
              </a:rPr>
              <a:t>of Sadar Hospital-1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68400"/>
            <a:ext cx="8229600" cy="5237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dirty="0" smtClean="0"/>
              <a:t>100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Hospital running with 50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manpower since 1994.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are 9 unit in hospital (wards 06, OT, Out door, Emergency) needs cleaners about 36 but there are only 6 cleaners.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</a:t>
            </a:r>
            <a:r>
              <a:rPr lang="en-US" sz="1400" dirty="0" err="1" smtClean="0"/>
              <a:t>Aya</a:t>
            </a:r>
            <a:r>
              <a:rPr lang="en-US" sz="1400" dirty="0" smtClean="0"/>
              <a:t>, Ward boy, Security guard in the Hospital.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indoor medical officer so hamper indoor service &amp; night rounds.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One (01) anesthesiologist working for surgery, </a:t>
            </a:r>
            <a:r>
              <a:rPr lang="en-US" sz="1400" dirty="0" err="1" smtClean="0"/>
              <a:t>gynae</a:t>
            </a:r>
            <a:r>
              <a:rPr lang="en-US" sz="1400" dirty="0" smtClean="0"/>
              <a:t>, Orthopedics, ENT, Eye, 24 hours EOC &amp; emergency service.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effective waste management system.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Condemnation board is not working regularly due to administrative problems.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Many of the instruments and </a:t>
            </a:r>
            <a:r>
              <a:rPr lang="en-US" sz="1400" dirty="0" err="1" smtClean="0"/>
              <a:t>equipments</a:t>
            </a:r>
            <a:r>
              <a:rPr lang="en-US" sz="1400" dirty="0" smtClean="0"/>
              <a:t> are not functioning due to lack of bio-technologist &amp; funds for repair. 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target for indoor-outdoor patient &amp; huge number of indoor &amp; out door patient creates a heavy loads for services providers 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MIS system is weak and there is no hospital action plan.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No client satisfaction survey system.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 number of nurses is very few.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Hospital health management committee &amp; monthly co-ordination committee meeting is not perform regularly.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Female privacy is not properly maintained.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Insufficient in toilets &amp; safe drinking water supply.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Influential person influence on tenders of drugs, free cabin &amp; paying ward.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Auditing &amp; accounting system is not corruption free.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Consultants &amp; MOs are also the teacher of NTC, MATS etc. which affect hospital services.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Three doctors are illegally suspended. 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7848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5943600" cy="584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Problems of </a:t>
            </a:r>
            <a:r>
              <a:rPr lang="en-US" sz="3200" b="1" dirty="0" err="1" smtClean="0">
                <a:solidFill>
                  <a:schemeClr val="bg1"/>
                </a:solidFill>
              </a:rPr>
              <a:t>Sadar</a:t>
            </a:r>
            <a:r>
              <a:rPr lang="en-US" sz="3200" b="1" dirty="0" smtClean="0">
                <a:solidFill>
                  <a:schemeClr val="bg1"/>
                </a:solidFill>
              </a:rPr>
              <a:t> Hospital-2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4478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600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sz="1600" dirty="0" smtClean="0"/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visitor control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EPI, ORT corner, DOTS corner, VIA </a:t>
            </a:r>
            <a:r>
              <a:rPr lang="en-US" sz="1600" dirty="0" err="1" smtClean="0"/>
              <a:t>centre</a:t>
            </a:r>
            <a:r>
              <a:rPr lang="en-US" sz="1600" dirty="0" smtClean="0"/>
              <a:t>  are running  with least or no defined health personnel.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Health education systems is very poor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pediatrician in this Hospital.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are 5 beds in EOC word, which is insufficient  for 40000  pregnant mother per year in </a:t>
            </a:r>
            <a:r>
              <a:rPr lang="en-US" sz="1600" dirty="0" err="1" smtClean="0"/>
              <a:t>Jhenaidah</a:t>
            </a:r>
            <a:r>
              <a:rPr lang="en-US" sz="1600" dirty="0" smtClean="0"/>
              <a:t> District 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intercom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IMCI corner for under 5 children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Non health Issues  get less importance.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Scarcity of blood in emergency need.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adolescence health corner.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Total </a:t>
            </a:r>
            <a:r>
              <a:rPr lang="en-US" sz="1600" dirty="0" err="1" smtClean="0"/>
              <a:t>problame</a:t>
            </a:r>
            <a:r>
              <a:rPr lang="en-US" sz="1600" dirty="0" smtClean="0"/>
              <a:t> is 31.</a:t>
            </a:r>
          </a:p>
        </p:txBody>
      </p:sp>
    </p:spTree>
    <p:extLst>
      <p:ext uri="{BB962C8B-B14F-4D97-AF65-F5344CB8AC3E}">
        <p14:creationId xmlns:p14="http://schemas.microsoft.com/office/powerpoint/2010/main" val="28856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Awards &amp; Appreciations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           </a:t>
            </a:r>
            <a:r>
              <a:rPr lang="en-US" sz="1600" b="1" u="sng" dirty="0" smtClean="0"/>
              <a:t>Awards:</a:t>
            </a:r>
            <a:endParaRPr lang="en-US" sz="1600" dirty="0" smtClean="0"/>
          </a:p>
          <a:p>
            <a:pPr lvl="0"/>
            <a:r>
              <a:rPr lang="en-US" sz="1400" b="1" dirty="0" smtClean="0"/>
              <a:t>Community Service Award</a:t>
            </a:r>
            <a:r>
              <a:rPr lang="en-US" sz="1400" dirty="0" smtClean="0"/>
              <a:t> by OGSB in 2006. </a:t>
            </a:r>
          </a:p>
          <a:p>
            <a:pPr lvl="0"/>
            <a:r>
              <a:rPr lang="en-US" sz="1400" b="1" dirty="0" err="1" smtClean="0"/>
              <a:t>Besr</a:t>
            </a:r>
            <a:r>
              <a:rPr lang="en-US" sz="1400" b="1" dirty="0" smtClean="0"/>
              <a:t> performance Award</a:t>
            </a:r>
            <a:r>
              <a:rPr lang="en-US" sz="1400" dirty="0" smtClean="0"/>
              <a:t> by MOH &amp; FW and DGHS in 2008.</a:t>
            </a:r>
          </a:p>
          <a:p>
            <a:pPr lvl="0"/>
            <a:r>
              <a:rPr lang="en-US" sz="1400" b="1" dirty="0" smtClean="0"/>
              <a:t>Professor </a:t>
            </a:r>
            <a:r>
              <a:rPr lang="en-US" sz="1400" b="1" dirty="0" err="1" smtClean="0"/>
              <a:t>Muklechur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r>
              <a:rPr lang="en-US" sz="1400" b="1" dirty="0" smtClean="0"/>
              <a:t> Award</a:t>
            </a:r>
            <a:r>
              <a:rPr lang="en-US" sz="1400" dirty="0" smtClean="0"/>
              <a:t> by OGSB in 2010. </a:t>
            </a:r>
          </a:p>
          <a:p>
            <a:pPr lvl="0"/>
            <a:r>
              <a:rPr lang="en-US" sz="1400" b="1" dirty="0" smtClean="0"/>
              <a:t>Kaizen Role Model Award </a:t>
            </a:r>
            <a:r>
              <a:rPr lang="en-US" sz="1400" dirty="0" smtClean="0"/>
              <a:t>by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 in November 2013. </a:t>
            </a:r>
          </a:p>
          <a:p>
            <a:pPr lvl="0"/>
            <a:r>
              <a:rPr lang="en-US" sz="1400" b="1" dirty="0" smtClean="0"/>
              <a:t>Lifetime Award</a:t>
            </a:r>
            <a:r>
              <a:rPr lang="en-US" sz="1400" dirty="0" smtClean="0"/>
              <a:t> by OGSB in 2016.</a:t>
            </a:r>
          </a:p>
          <a:p>
            <a:pPr marL="0" indent="0">
              <a:buNone/>
            </a:pPr>
            <a:r>
              <a:rPr lang="en-US" sz="1400" dirty="0" smtClean="0"/>
              <a:t>           </a:t>
            </a:r>
            <a:r>
              <a:rPr lang="en-US" sz="1600" b="1" u="sng" dirty="0" smtClean="0"/>
              <a:t>Appreciations:</a:t>
            </a:r>
            <a:endParaRPr lang="en-US" sz="1600" dirty="0" smtClean="0"/>
          </a:p>
          <a:p>
            <a:pPr lvl="0"/>
            <a:r>
              <a:rPr lang="en-US" sz="1400" dirty="0" smtClean="0"/>
              <a:t>The Daily </a:t>
            </a:r>
            <a:r>
              <a:rPr lang="en-US" sz="1400" dirty="0" err="1" smtClean="0"/>
              <a:t>Prothom</a:t>
            </a:r>
            <a:r>
              <a:rPr lang="en-US" sz="1400" dirty="0" smtClean="0"/>
              <a:t> </a:t>
            </a:r>
            <a:r>
              <a:rPr lang="en-US" sz="1400" dirty="0" err="1" smtClean="0"/>
              <a:t>Alo</a:t>
            </a:r>
            <a:r>
              <a:rPr lang="en-US" sz="1400" dirty="0" smtClean="0"/>
              <a:t> – Special report in first page on 14 October 2005. </a:t>
            </a:r>
          </a:p>
          <a:p>
            <a:pPr lvl="0"/>
            <a:r>
              <a:rPr lang="en-US" sz="1400" dirty="0" err="1" smtClean="0"/>
              <a:t>Unisef</a:t>
            </a:r>
            <a:r>
              <a:rPr lang="en-US" sz="1400" dirty="0" smtClean="0"/>
              <a:t> Bangladesh report on saving mother’s life: dedication of a doctor. (Url: </a:t>
            </a:r>
            <a:r>
              <a:rPr lang="en-US" sz="1400" u="sng" dirty="0" smtClean="0">
                <a:hlinkClick r:id="rId2"/>
              </a:rPr>
              <a:t>https://www.unicef.org/bangladesh/media_4795.htm</a:t>
            </a:r>
            <a:r>
              <a:rPr lang="en-US" sz="1400" dirty="0" smtClean="0"/>
              <a:t>)</a:t>
            </a:r>
          </a:p>
          <a:p>
            <a:pPr lvl="0"/>
            <a:r>
              <a:rPr lang="en-US" sz="1400" dirty="0" smtClean="0"/>
              <a:t>Video on local </a:t>
            </a:r>
            <a:r>
              <a:rPr lang="en-US" sz="1400" dirty="0" err="1" smtClean="0"/>
              <a:t>innitiatives</a:t>
            </a:r>
            <a:r>
              <a:rPr lang="en-US" sz="1400" dirty="0" smtClean="0"/>
              <a:t> to improve service quality in a district hospital – </a:t>
            </a:r>
            <a:r>
              <a:rPr lang="en-US" sz="1400" dirty="0" err="1" smtClean="0"/>
              <a:t>Jhenaidah</a:t>
            </a:r>
            <a:r>
              <a:rPr lang="en-US" sz="1400" dirty="0" smtClean="0"/>
              <a:t> </a:t>
            </a:r>
            <a:r>
              <a:rPr lang="en-US" sz="1400" dirty="0" err="1" smtClean="0"/>
              <a:t>Sadar</a:t>
            </a:r>
            <a:r>
              <a:rPr lang="en-US" sz="1400" dirty="0" smtClean="0"/>
              <a:t> Hospital by Save The Children Bangladesh. 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Videolink</a:t>
            </a:r>
            <a:r>
              <a:rPr lang="en-US" sz="1400" dirty="0" smtClean="0"/>
              <a:t>: </a:t>
            </a:r>
            <a:r>
              <a:rPr lang="en-US" sz="1400" u="sng" dirty="0" smtClean="0">
                <a:hlinkClick r:id="rId3"/>
              </a:rPr>
              <a:t>https://www.youtube.com/watch?v=wMgIps428Ic</a:t>
            </a:r>
            <a:r>
              <a:rPr lang="en-US" sz="1400" dirty="0" smtClean="0"/>
              <a:t> )</a:t>
            </a:r>
          </a:p>
          <a:p>
            <a:pPr lvl="0"/>
            <a:r>
              <a:rPr lang="en-US" sz="1400" dirty="0" smtClean="0"/>
              <a:t>Guest Lecturer of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600" b="1" dirty="0" smtClean="0"/>
              <a:t>         </a:t>
            </a:r>
            <a:r>
              <a:rPr lang="en-US" sz="1600" b="1" u="sng" dirty="0" smtClean="0"/>
              <a:t>Experience in foreign countries</a:t>
            </a:r>
            <a:endParaRPr lang="en-US" sz="1600" u="sng" dirty="0" smtClean="0"/>
          </a:p>
          <a:p>
            <a:pPr lvl="0"/>
            <a:r>
              <a:rPr lang="en-US" sz="1400" dirty="0" smtClean="0"/>
              <a:t>Indonesia</a:t>
            </a:r>
          </a:p>
          <a:p>
            <a:pPr lvl="0"/>
            <a:r>
              <a:rPr lang="en-US" sz="1400" dirty="0" err="1" smtClean="0"/>
              <a:t>Srilanka</a:t>
            </a:r>
            <a:endParaRPr lang="en-US" sz="1400" dirty="0" smtClean="0"/>
          </a:p>
          <a:p>
            <a:pPr lvl="0"/>
            <a:r>
              <a:rPr lang="en-US" sz="1400" dirty="0" smtClean="0"/>
              <a:t>Tanzania</a:t>
            </a:r>
          </a:p>
          <a:p>
            <a:pPr lvl="0"/>
            <a:r>
              <a:rPr lang="en-US" sz="1400" dirty="0" smtClean="0"/>
              <a:t>Malaysia</a:t>
            </a:r>
          </a:p>
          <a:p>
            <a:pPr lvl="0"/>
            <a:r>
              <a:rPr lang="en-US" sz="1400" dirty="0" smtClean="0"/>
              <a:t>Thailand</a:t>
            </a:r>
          </a:p>
          <a:p>
            <a:pPr lvl="0"/>
            <a:r>
              <a:rPr lang="en-US" sz="1400" dirty="0" smtClean="0"/>
              <a:t>Malaya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228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5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3416</TotalTime>
  <Words>1430</Words>
  <Application>Microsoft Office PowerPoint</Application>
  <PresentationFormat>On-screen Show (4:3)</PresentationFormat>
  <Paragraphs>459</Paragraphs>
  <Slides>45</Slides>
  <Notes>17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5_シック</vt:lpstr>
      <vt:lpstr>Adjacency</vt:lpstr>
      <vt:lpstr>Chart</vt:lpstr>
      <vt:lpstr>PowerPoint Presentation</vt:lpstr>
      <vt:lpstr>PowerPoint Presentation</vt:lpstr>
      <vt:lpstr>PowerPoint Presentation</vt:lpstr>
      <vt:lpstr>A  SUB-DISTRICT LEVEL HOSPITAL WITH A VISION</vt:lpstr>
      <vt:lpstr>Background History of Chowgacha Health Complex Model</vt:lpstr>
      <vt:lpstr>PowerPoint Presentation</vt:lpstr>
      <vt:lpstr>PowerPoint Presentation</vt:lpstr>
      <vt:lpstr>Achievements of Chowgacha Health Complex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100 kh¨v wewkó m`i nvmcvZvj, wSbvB`n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Use of color code, alignment of picture &amp; continuous big cleaning day</vt:lpstr>
      <vt:lpstr>Innovative activities of Jhenaidah Sadar Hospital - 1</vt:lpstr>
      <vt:lpstr>PowerPoint Presentation</vt:lpstr>
      <vt:lpstr>Innovative activities of Jhenaidah Sadar Hospital - 3</vt:lpstr>
      <vt:lpstr>PowerPoint Presentation</vt:lpstr>
      <vt:lpstr>Hospital Environment</vt:lpstr>
      <vt:lpstr>PowerPoint Presentation</vt:lpstr>
      <vt:lpstr>Thank You </vt:lpstr>
      <vt:lpstr>Situation of District Hospital </vt:lpstr>
      <vt:lpstr>Situation of the hospital in May 2012 -2</vt:lpstr>
      <vt:lpstr>Situation of the hospital in May 2012 -3</vt:lpstr>
      <vt:lpstr>How we overcome the challenges</vt:lpstr>
      <vt:lpstr>How we overcome the challenges -2</vt:lpstr>
      <vt:lpstr>How we overcome the challenges -3</vt:lpstr>
      <vt:lpstr>How we overcome the challenges -4</vt:lpstr>
      <vt:lpstr>PowerPoint Presentation</vt:lpstr>
      <vt:lpstr>Problems of Sadar Hospital-1</vt:lpstr>
      <vt:lpstr>Problems of Sadar Hospital-2 </vt:lpstr>
      <vt:lpstr>Awards &amp; Appreciations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513</cp:revision>
  <cp:lastPrinted>2017-03-18T23:47:54Z</cp:lastPrinted>
  <dcterms:created xsi:type="dcterms:W3CDTF">2013-05-05T09:56:19Z</dcterms:created>
  <dcterms:modified xsi:type="dcterms:W3CDTF">2018-07-31T11:22:32Z</dcterms:modified>
</cp:coreProperties>
</file>