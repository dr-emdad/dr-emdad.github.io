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36" r:id="rId4"/>
    <p:sldMasterId id="2147484052" r:id="rId5"/>
    <p:sldMasterId id="2147484068" r:id="rId6"/>
    <p:sldMasterId id="2147484084" r:id="rId7"/>
  </p:sldMasterIdLst>
  <p:notesMasterIdLst>
    <p:notesMasterId r:id="rId72"/>
  </p:notesMasterIdLst>
  <p:sldIdLst>
    <p:sldId id="331" r:id="rId8"/>
    <p:sldId id="345" r:id="rId9"/>
    <p:sldId id="367" r:id="rId10"/>
    <p:sldId id="332" r:id="rId11"/>
    <p:sldId id="376" r:id="rId12"/>
    <p:sldId id="401" r:id="rId13"/>
    <p:sldId id="402" r:id="rId14"/>
    <p:sldId id="368" r:id="rId15"/>
    <p:sldId id="374" r:id="rId16"/>
    <p:sldId id="341" r:id="rId17"/>
    <p:sldId id="334" r:id="rId18"/>
    <p:sldId id="337" r:id="rId19"/>
    <p:sldId id="338" r:id="rId20"/>
    <p:sldId id="403" r:id="rId21"/>
    <p:sldId id="339" r:id="rId22"/>
    <p:sldId id="404" r:id="rId23"/>
    <p:sldId id="340" r:id="rId24"/>
    <p:sldId id="405" r:id="rId25"/>
    <p:sldId id="386" r:id="rId26"/>
    <p:sldId id="385" r:id="rId27"/>
    <p:sldId id="388" r:id="rId28"/>
    <p:sldId id="343" r:id="rId29"/>
    <p:sldId id="256" r:id="rId30"/>
    <p:sldId id="360" r:id="rId31"/>
    <p:sldId id="361" r:id="rId32"/>
    <p:sldId id="359" r:id="rId33"/>
    <p:sldId id="326" r:id="rId34"/>
    <p:sldId id="327" r:id="rId35"/>
    <p:sldId id="328" r:id="rId36"/>
    <p:sldId id="352" r:id="rId37"/>
    <p:sldId id="351" r:id="rId38"/>
    <p:sldId id="346" r:id="rId39"/>
    <p:sldId id="362" r:id="rId40"/>
    <p:sldId id="369" r:id="rId41"/>
    <p:sldId id="287" r:id="rId42"/>
    <p:sldId id="288" r:id="rId43"/>
    <p:sldId id="290" r:id="rId44"/>
    <p:sldId id="291" r:id="rId45"/>
    <p:sldId id="292" r:id="rId46"/>
    <p:sldId id="308" r:id="rId47"/>
    <p:sldId id="323" r:id="rId48"/>
    <p:sldId id="312" r:id="rId49"/>
    <p:sldId id="366" r:id="rId50"/>
    <p:sldId id="363" r:id="rId51"/>
    <p:sldId id="364" r:id="rId52"/>
    <p:sldId id="370" r:id="rId53"/>
    <p:sldId id="372" r:id="rId54"/>
    <p:sldId id="371" r:id="rId55"/>
    <p:sldId id="297" r:id="rId56"/>
    <p:sldId id="293" r:id="rId57"/>
    <p:sldId id="294" r:id="rId58"/>
    <p:sldId id="330" r:id="rId59"/>
    <p:sldId id="389" r:id="rId60"/>
    <p:sldId id="390" r:id="rId61"/>
    <p:sldId id="391" r:id="rId62"/>
    <p:sldId id="392" r:id="rId63"/>
    <p:sldId id="393" r:id="rId64"/>
    <p:sldId id="394" r:id="rId65"/>
    <p:sldId id="395" r:id="rId66"/>
    <p:sldId id="396" r:id="rId67"/>
    <p:sldId id="399" r:id="rId68"/>
    <p:sldId id="400" r:id="rId69"/>
    <p:sldId id="398" r:id="rId70"/>
    <p:sldId id="344" r:id="rId7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 varScale="1">
        <p:scale>
          <a:sx n="60" d="100"/>
          <a:sy n="60" d="100"/>
        </p:scale>
        <p:origin x="160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31840784"/>
        <c:axId val="-335762512"/>
      </c:barChart>
      <c:catAx>
        <c:axId val="-231840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335762512"/>
        <c:crosses val="autoZero"/>
        <c:auto val="1"/>
        <c:lblAlgn val="ctr"/>
        <c:lblOffset val="100"/>
        <c:noMultiLvlLbl val="0"/>
      </c:catAx>
      <c:valAx>
        <c:axId val="-33576251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-231840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335769040"/>
        <c:axId val="-335767408"/>
      </c:barChart>
      <c:catAx>
        <c:axId val="-335769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335767408"/>
        <c:crosses val="autoZero"/>
        <c:auto val="1"/>
        <c:lblAlgn val="ctr"/>
        <c:lblOffset val="100"/>
        <c:noMultiLvlLbl val="0"/>
      </c:catAx>
      <c:valAx>
        <c:axId val="-3357674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33576904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-757188688"/>
        <c:axId val="-757187600"/>
        <c:axId val="0"/>
      </c:bar3DChart>
      <c:catAx>
        <c:axId val="-757188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-757187600"/>
        <c:crosses val="autoZero"/>
        <c:auto val="1"/>
        <c:lblAlgn val="ctr"/>
        <c:lblOffset val="100"/>
        <c:noMultiLvlLbl val="0"/>
      </c:catAx>
      <c:valAx>
        <c:axId val="-7571876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-7571886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708429824"/>
        <c:axId val="-708429280"/>
      </c:barChart>
      <c:catAx>
        <c:axId val="-708429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-708429280"/>
        <c:crosses val="autoZero"/>
        <c:auto val="1"/>
        <c:lblAlgn val="ctr"/>
        <c:lblOffset val="100"/>
        <c:noMultiLvlLbl val="0"/>
      </c:catAx>
      <c:valAx>
        <c:axId val="-7084292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-7084298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03375584"/>
        <c:axId val="-2003379936"/>
      </c:barChart>
      <c:catAx>
        <c:axId val="-20033755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-2003379936"/>
        <c:crosses val="autoZero"/>
        <c:auto val="1"/>
        <c:lblAlgn val="ctr"/>
        <c:lblOffset val="100"/>
        <c:noMultiLvlLbl val="0"/>
      </c:catAx>
      <c:valAx>
        <c:axId val="-20033799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-20033755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-2003375040"/>
        <c:axId val="-2003378848"/>
        <c:axId val="0"/>
      </c:bar3DChart>
      <c:catAx>
        <c:axId val="-2003375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-2003378848"/>
        <c:crosses val="autoZero"/>
        <c:auto val="1"/>
        <c:lblAlgn val="ctr"/>
        <c:lblOffset val="100"/>
        <c:noMultiLvlLbl val="0"/>
      </c:catAx>
      <c:valAx>
        <c:axId val="-200337884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-200337504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07471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3485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51418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850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284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98183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992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71034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26193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DB715A5-4E61-477B-B704-EE88266FC04A}" type="slidenum">
              <a:rPr lang="en-US">
                <a:solidFill>
                  <a:prstClr val="black"/>
                </a:solidFill>
              </a:rPr>
              <a:pPr eaLnBrk="1" hangingPunct="1"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388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7014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95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394826D-A9C4-4BA0-A87A-E9ABADA5E2DC}" type="slidenum">
              <a:rPr lang="en-US">
                <a:solidFill>
                  <a:srgbClr val="000000"/>
                </a:solidFill>
              </a:rPr>
              <a:pPr eaLnBrk="1" hangingPunct="1"/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5325"/>
            <a:ext cx="4648200" cy="34861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49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205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2E3C9E-3939-4A8F-BBFD-C7262509DA66}" type="slidenum">
              <a:rPr lang="en-US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625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365DA7-1AB3-4591-9A15-206B1C243C5B}" type="slidenum">
              <a:rPr lang="en-US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230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C9AF92-867A-466E-BC2E-768F9ED70BBF}" type="slidenum">
              <a:rPr lang="en-US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61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690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33</a:t>
            </a:fld>
            <a:endParaRPr 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199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52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01924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69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797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64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4193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6/3/2026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7844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9064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2828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567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7154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9981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969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8830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022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1639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9959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0475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2787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968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507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4149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828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09366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1645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1989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127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6261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3724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77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843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863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0600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204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38716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44929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002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836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144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2205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2820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898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1258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5983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98765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52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205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19420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22327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6888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0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2026/6/3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82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  <p:sldLayoutId id="214748408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8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  <p:sldLayoutId id="2147484096" r:id="rId12"/>
    <p:sldLayoutId id="2147484097" r:id="rId13"/>
    <p:sldLayoutId id="2147484098" r:id="rId14"/>
    <p:sldLayoutId id="2147484099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6.pn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2.jpeg"/><Relationship Id="rId4" Type="http://schemas.openxmlformats.org/officeDocument/2006/relationships/image" Target="../media/image8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jpeg"/><Relationship Id="rId4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8.jpeg"/><Relationship Id="rId4" Type="http://schemas.openxmlformats.org/officeDocument/2006/relationships/image" Target="../media/image9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2.jpeg"/><Relationship Id="rId4" Type="http://schemas.openxmlformats.org/officeDocument/2006/relationships/image" Target="../media/image10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6.jpeg"/><Relationship Id="rId4" Type="http://schemas.openxmlformats.org/officeDocument/2006/relationships/image" Target="../media/image105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MgIps428Ic" TargetMode="External"/><Relationship Id="rId2" Type="http://schemas.openxmlformats.org/officeDocument/2006/relationships/hyperlink" Target="https://www.unicef.org/bangladesh/media_4795.htm" TargetMode="Externa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91947" y="9906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07218"/>
              </p:ext>
            </p:extLst>
          </p:nvPr>
        </p:nvGraphicFramePr>
        <p:xfrm>
          <a:off x="148988" y="1105771"/>
          <a:ext cx="8894763" cy="506642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Afghanistan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 smtClean="0"/>
              <a:t>Background History of MCH services of </a:t>
            </a:r>
            <a:r>
              <a:rPr lang="en-US" sz="2800" b="1" dirty="0" err="1" smtClean="0"/>
              <a:t>Chowgacha</a:t>
            </a:r>
            <a:r>
              <a:rPr lang="en-US" sz="2800" b="1" dirty="0" smtClean="0"/>
              <a:t> Health Complex, </a:t>
            </a:r>
            <a:r>
              <a:rPr lang="en-US" sz="2800" b="1" dirty="0" err="1" smtClean="0"/>
              <a:t>Jessore</a:t>
            </a:r>
            <a:endParaRPr lang="en-US" sz="28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9530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1800" b="1" u="sng" smtClean="0"/>
              <a:t>from January 1995 to 1997 </a:t>
            </a:r>
            <a:r>
              <a:rPr lang="en-US" sz="1800" b="1" u="sng" smtClean="0">
                <a:solidFill>
                  <a:srgbClr val="0000FF"/>
                </a:solidFill>
              </a:rPr>
              <a:t>JICA</a:t>
            </a:r>
            <a:r>
              <a:rPr lang="en-US" sz="1800" b="1" u="sng" smtClean="0"/>
              <a:t> helped us by Frontline MCH Program to implement the program by giving technical and logistic supports. Since 1998 </a:t>
            </a:r>
            <a:r>
              <a:rPr lang="en-US" sz="1800" b="1" u="sng" smtClean="0">
                <a:solidFill>
                  <a:srgbClr val="0000FF"/>
                </a:solidFill>
              </a:rPr>
              <a:t>DGHS</a:t>
            </a:r>
            <a:r>
              <a:rPr lang="en-US" sz="1800" b="1" u="sng" smtClean="0"/>
              <a:t> &amp; </a:t>
            </a:r>
            <a:r>
              <a:rPr lang="en-US" sz="1800" b="1" u="sng" smtClean="0">
                <a:solidFill>
                  <a:srgbClr val="0000FF"/>
                </a:solidFill>
              </a:rPr>
              <a:t>UNICEF</a:t>
            </a:r>
            <a:r>
              <a:rPr lang="en-US" sz="1800" b="1" u="sng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u="sng" smtClean="0"/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u="sng" smtClean="0"/>
              <a:t>support.</a:t>
            </a:r>
            <a:endParaRPr lang="en-US" sz="1800" b="1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ANC-Corner</a:t>
            </a:r>
            <a:r>
              <a:rPr lang="en-US" sz="1800" b="1" smtClean="0"/>
              <a:t> – leaded by female Medical Officer for pregnant mother for effective ANC services who receive TT immunization in the Health Complex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Basic EOC service</a:t>
            </a:r>
            <a:r>
              <a:rPr lang="en-US" sz="1800" b="1" smtClean="0"/>
              <a:t> by a Gyne &amp; Obs. trained MO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Under 5 corner for under 5 children</a:t>
            </a:r>
            <a:r>
              <a:rPr lang="en-US" sz="1800" b="1" smtClean="0"/>
              <a:t> for their nutritional assessment and treatment by RMO.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Monthly birth and death record</a:t>
            </a:r>
            <a:r>
              <a:rPr lang="en-US" sz="1800" b="1" smtClean="0"/>
              <a:t> by specially developed format by health assistant throughout the Upazilla to asses the progress of maternal and child health status by health indicators supervised by UH&amp;FPO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smtClean="0"/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Dec. 1999 Reproductive Health Department of DGHS and UNICEF gave logistic supports and human resources development (like medical officer trained in anesthesia).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Form November 2000 started Comprehensive EOC program.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In 2004, 2005, 2006, 2007 , 2008, 2009, 2010,2011 &amp; 2012 the UHC was awarded by the Bangladesh Government and UNICEF for best performance on EOC Service.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August 2006 Safe Blood Transfusion unit established with the aid of UNICEF.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April 2007 Demand Side Financing (DSF) program started. 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Women friendly Hospital declared in 2008.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Hospital is declared as model health complex on 20 June 2008 and upgraded to 50 bedded hospital by Secretary of Ministry of Health &amp; family welfare.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err="1" smtClean="0"/>
              <a:t>Chowgacha</a:t>
            </a:r>
            <a:r>
              <a:rPr lang="en-US" sz="1600" b="1" dirty="0" smtClean="0"/>
              <a:t> health complex Model is replicable through out the country. Declared by Dr. Margaret Chan, D.G. WHO on 8</a:t>
            </a:r>
            <a:r>
              <a:rPr lang="en-US" sz="1600" b="1" baseline="30000" dirty="0" smtClean="0"/>
              <a:t>th</a:t>
            </a:r>
            <a:r>
              <a:rPr lang="en-US" sz="1600" b="1" dirty="0" smtClean="0"/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Major Killer Disease (diabetes, hypertension, cancer, RTA &amp; poisoning)  prevention program starts in  1</a:t>
            </a:r>
            <a:r>
              <a:rPr lang="en-US" sz="1600" b="1" baseline="30000" dirty="0" smtClean="0"/>
              <a:t>st</a:t>
            </a:r>
            <a:r>
              <a:rPr lang="en-US" sz="1600" b="1" dirty="0" smtClean="0"/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TQM activates starts in July 2011 by the support of JACA.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62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Progress Of EOC Activities based on UN Process Indicators</a:t>
            </a:r>
            <a:r>
              <a:rPr lang="en-US" sz="440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41325" y="2246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18708" name="Group 276"/>
          <p:cNvGraphicFramePr>
            <a:graphicFrameLocks noGrp="1"/>
          </p:cNvGraphicFramePr>
          <p:nvPr>
            <p:ph sz="half" idx="2"/>
          </p:nvPr>
        </p:nvGraphicFramePr>
        <p:xfrm>
          <a:off x="715963" y="1905000"/>
          <a:ext cx="8047037" cy="4075114"/>
        </p:xfrm>
        <a:graphic>
          <a:graphicData uri="http://schemas.openxmlformats.org/drawingml/2006/table">
            <a:tbl>
              <a:tblPr/>
              <a:tblGrid>
                <a:gridCol w="469900"/>
                <a:gridCol w="2349500"/>
                <a:gridCol w="914400"/>
                <a:gridCol w="609600"/>
                <a:gridCol w="685800"/>
                <a:gridCol w="762000"/>
                <a:gridCol w="774700"/>
                <a:gridCol w="801687"/>
                <a:gridCol w="679450"/>
              </a:tblGrid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 of UN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Pregnancy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5270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5793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5595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Hospital delivery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3755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4413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Caesarian section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473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death in health Complex.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of birth in health Complex.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&gt;15%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Met-need for EmOC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92.1%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175 %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263%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of all births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22.5%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9900"/>
                          </a:solidFill>
                          <a:effectLst/>
                          <a:latin typeface="Arial" charset="0"/>
                          <a:cs typeface="Arial" charset="0"/>
                        </a:rPr>
                        <a:t>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5-15%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Case Fatality Rate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0.44%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.13%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0.38%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92" name="Text Box 108"/>
          <p:cNvSpPr txBox="1">
            <a:spLocks noChangeArrowheads="1"/>
          </p:cNvSpPr>
          <p:nvPr/>
        </p:nvSpPr>
        <p:spPr bwMode="auto">
          <a:xfrm>
            <a:off x="914400" y="5943600"/>
            <a:ext cx="715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mtClean="0">
                <a:solidFill>
                  <a:srgbClr val="669900"/>
                </a:solidFill>
              </a:rPr>
              <a:t>*</a:t>
            </a:r>
            <a:r>
              <a:rPr lang="en-US" smtClean="0">
                <a:solidFill>
                  <a:srgbClr val="000000"/>
                </a:solidFill>
              </a:rPr>
              <a:t> </a:t>
            </a:r>
            <a:r>
              <a:rPr lang="en-US" sz="1400" smtClean="0">
                <a:solidFill>
                  <a:srgbClr val="000000"/>
                </a:solidFill>
              </a:rPr>
              <a:t> Among the total delivery of Chowgacha Upazilla, the CS rate is 12.8% but CS 9.7% is </a:t>
            </a:r>
          </a:p>
          <a:p>
            <a:r>
              <a:rPr lang="en-US" sz="1400" smtClean="0">
                <a:solidFill>
                  <a:srgbClr val="000000"/>
                </a:solidFill>
              </a:rPr>
              <a:t>increased due to complicated delivery from outside this upazilla.</a:t>
            </a:r>
          </a:p>
        </p:txBody>
      </p:sp>
    </p:spTree>
    <p:extLst>
      <p:ext uri="{BB962C8B-B14F-4D97-AF65-F5344CB8AC3E}">
        <p14:creationId xmlns:p14="http://schemas.microsoft.com/office/powerpoint/2010/main" val="3766291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457200" y="2590800"/>
          <a:ext cx="8153399" cy="34750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sz="3200" b="1" smtClean="0">
                <a:solidFill>
                  <a:srgbClr val="000000"/>
                </a:solidFill>
              </a:rPr>
            </a:br>
            <a:r>
              <a:rPr 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2400" smtClean="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344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sz="2800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2011 and SDG targets in 2030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SDG Target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.68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.70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NNMR:			</a:t>
            </a:r>
            <a:r>
              <a:rPr lang="en-US" sz="2600" b="1" dirty="0" smtClean="0">
                <a:solidFill>
                  <a:srgbClr val="0000FF"/>
                </a:solidFill>
              </a:rPr>
              <a:t>   </a:t>
            </a:r>
            <a:r>
              <a:rPr lang="en-US" sz="2200" b="1" dirty="0" smtClean="0">
                <a:solidFill>
                  <a:srgbClr val="669900"/>
                </a:solidFill>
              </a:rPr>
              <a:t>18.2</a:t>
            </a:r>
            <a:r>
              <a:rPr lang="en-US" sz="2600" b="1" dirty="0" smtClean="0">
                <a:solidFill>
                  <a:srgbClr val="669900"/>
                </a:solidFill>
              </a:rPr>
              <a:t>		</a:t>
            </a:r>
            <a:r>
              <a:rPr lang="en-US" sz="2600" b="1" dirty="0" smtClean="0">
                <a:solidFill>
                  <a:srgbClr val="FF0000"/>
                </a:solidFill>
              </a:rPr>
              <a:t>  -       </a:t>
            </a:r>
            <a:r>
              <a:rPr lang="en-US" sz="2600" b="1" dirty="0" smtClean="0">
                <a:solidFill>
                  <a:srgbClr val="669900"/>
                </a:solidFill>
              </a:rPr>
              <a:t>		   </a:t>
            </a:r>
            <a:r>
              <a:rPr lang="en-US" sz="1700" b="1" dirty="0" smtClean="0">
                <a:solidFill>
                  <a:srgbClr val="0000FF"/>
                </a:solidFill>
              </a:rPr>
              <a:t>12</a:t>
            </a:r>
            <a:r>
              <a:rPr lang="en-US" sz="2600" b="1" dirty="0" smtClean="0">
                <a:solidFill>
                  <a:srgbClr val="669900"/>
                </a:solidFill>
              </a:rPr>
              <a:t>	</a:t>
            </a:r>
            <a:endParaRPr lang="en-US" sz="26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23.6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   -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25.7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25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4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/>
              <a:t>Factors Responsible for Reduction of Maternal and Infant Mortality Rate in </a:t>
            </a:r>
            <a:r>
              <a:rPr lang="en-US" sz="2800" b="1" dirty="0" err="1"/>
              <a:t>Chowgacha</a:t>
            </a:r>
            <a:endParaRPr lang="en-US" sz="2800" b="1" dirty="0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953000"/>
          </a:xfrm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dirty="0">
                <a:solidFill>
                  <a:srgbClr val="0000FF"/>
                </a:solidFill>
              </a:rPr>
              <a:t>Special Activities initiated by Medical Officers in February 1996: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dirty="0">
              <a:solidFill>
                <a:srgbClr val="0000FF"/>
              </a:solidFill>
            </a:endParaRP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Setting up </a:t>
            </a:r>
            <a:r>
              <a:rPr lang="en-US" sz="1800" b="1" dirty="0" smtClean="0">
                <a:solidFill>
                  <a:srgbClr val="0000FF"/>
                </a:solidFill>
              </a:rPr>
              <a:t> of ANC Corner &amp;final treatment should given by a  MO  initiated by a nurse .All the pregnant mother come to the UHC for ANC care.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24 hours  Com </a:t>
            </a:r>
            <a:r>
              <a:rPr lang="en-US" sz="1800" b="1" dirty="0">
                <a:solidFill>
                  <a:srgbClr val="0000FF"/>
                </a:solidFill>
              </a:rPr>
              <a:t>EOC Service</a:t>
            </a:r>
            <a:r>
              <a:rPr lang="en-US" sz="1800" b="1" dirty="0"/>
              <a:t> by a </a:t>
            </a:r>
            <a:r>
              <a:rPr lang="en-US" sz="1800" b="1" dirty="0" err="1"/>
              <a:t>Gyne</a:t>
            </a:r>
            <a:r>
              <a:rPr lang="en-US" sz="1800" b="1" dirty="0"/>
              <a:t> &amp; Obs. trained Medical </a:t>
            </a:r>
            <a:r>
              <a:rPr lang="en-US" sz="1800" b="1" dirty="0" smtClean="0"/>
              <a:t>officer.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Establishment of Under 5 Corner for under 5 children</a:t>
            </a:r>
            <a:r>
              <a:rPr lang="en-US" sz="1800" b="1" dirty="0"/>
              <a:t> for their nutritional assessment and treatment by </a:t>
            </a:r>
            <a:r>
              <a:rPr lang="en-US" sz="1800" b="1" dirty="0" smtClean="0"/>
              <a:t>MO</a:t>
            </a:r>
            <a:r>
              <a:rPr lang="en-US" sz="1800" b="1" dirty="0"/>
              <a:t>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Record Keeping of Monthly Birth and Death</a:t>
            </a:r>
            <a:r>
              <a:rPr lang="en-US" sz="1800" b="1" dirty="0"/>
              <a:t> by specially developed format by health assistant throughout the </a:t>
            </a:r>
            <a:r>
              <a:rPr lang="en-US" sz="1800" b="1" dirty="0" err="1"/>
              <a:t>Upazilla</a:t>
            </a:r>
            <a:r>
              <a:rPr lang="en-US" sz="1800" b="1" dirty="0"/>
              <a:t> supervised by </a:t>
            </a:r>
            <a:r>
              <a:rPr lang="en-US" sz="1800" b="1" dirty="0" smtClean="0"/>
              <a:t>UH&amp;FPO.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Health Education by MO  as per roster</a:t>
            </a:r>
            <a:r>
              <a:rPr lang="en-US" sz="1800" b="1" dirty="0" smtClean="0"/>
              <a:t> </a:t>
            </a:r>
            <a:r>
              <a:rPr lang="en-US" sz="1800" b="1" dirty="0"/>
              <a:t>among women coming for antenatal care, pregnant women and general patients and their attendants at all </a:t>
            </a:r>
            <a:r>
              <a:rPr lang="en-US" sz="1800" b="1" dirty="0" smtClean="0"/>
              <a:t>corners.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 smtClean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Established </a:t>
            </a:r>
            <a:r>
              <a:rPr lang="en-US" sz="1800" b="1" dirty="0">
                <a:solidFill>
                  <a:srgbClr val="0000FF"/>
                </a:solidFill>
              </a:rPr>
              <a:t>Service Corner</a:t>
            </a:r>
            <a:r>
              <a:rPr lang="en-US" sz="1800" b="1" dirty="0"/>
              <a:t> </a:t>
            </a:r>
            <a:r>
              <a:rPr lang="en-US" sz="1800" b="1" dirty="0" smtClean="0"/>
              <a:t> </a:t>
            </a:r>
            <a:r>
              <a:rPr lang="en-US" sz="1800" b="1" dirty="0"/>
              <a:t>ANC </a:t>
            </a:r>
            <a:r>
              <a:rPr lang="en-US" sz="1800" b="1" dirty="0" err="1" smtClean="0"/>
              <a:t>corner,Under</a:t>
            </a:r>
            <a:r>
              <a:rPr lang="en-US" sz="1800" b="1" dirty="0" smtClean="0"/>
              <a:t> _5 corner, </a:t>
            </a:r>
            <a:r>
              <a:rPr lang="en-US" sz="1800" b="1" dirty="0" err="1" smtClean="0"/>
              <a:t>EPI&amp;Breast</a:t>
            </a:r>
            <a:r>
              <a:rPr lang="en-US" sz="1800" b="1" dirty="0" smtClean="0"/>
              <a:t> feeding corner, </a:t>
            </a:r>
            <a:r>
              <a:rPr lang="en-US" sz="1800" b="1" dirty="0"/>
              <a:t>ORT </a:t>
            </a:r>
            <a:r>
              <a:rPr lang="en-US" sz="1800" b="1" dirty="0" smtClean="0"/>
              <a:t>corner, Health education corner </a:t>
            </a:r>
            <a:r>
              <a:rPr lang="en-US" sz="2000" b="1" dirty="0"/>
              <a:t>.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590333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/>
              <a:t>Factors Responsible for Reduction of Maternal and Infant Mortality Rate in Chowgacha-</a:t>
            </a:r>
            <a:r>
              <a:rPr lang="en-US" sz="2800" b="1" i="1"/>
              <a:t> Contd.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724400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Maintaining all criteria for woman friendly hospital</a:t>
            </a:r>
            <a:r>
              <a:rPr lang="en-US" sz="2000" dirty="0"/>
              <a:t> 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 smtClean="0">
                <a:solidFill>
                  <a:srgbClr val="0000FF"/>
                </a:solidFill>
              </a:rPr>
              <a:t>Separation of patient to  </a:t>
            </a:r>
            <a:r>
              <a:rPr lang="en-US" sz="2000" b="1" dirty="0">
                <a:solidFill>
                  <a:srgbClr val="0000FF"/>
                </a:solidFill>
              </a:rPr>
              <a:t>M</a:t>
            </a:r>
            <a:r>
              <a:rPr lang="en-US" sz="2000" b="1" dirty="0" smtClean="0">
                <a:solidFill>
                  <a:srgbClr val="0000FF"/>
                </a:solidFill>
              </a:rPr>
              <a:t>ale, Female</a:t>
            </a:r>
            <a:r>
              <a:rPr lang="en-US" sz="2000" b="1" smtClean="0">
                <a:solidFill>
                  <a:srgbClr val="0000FF"/>
                </a:solidFill>
              </a:rPr>
              <a:t>, Under 5 </a:t>
            </a:r>
            <a:r>
              <a:rPr lang="en-US" sz="2000" b="1" dirty="0" smtClean="0">
                <a:solidFill>
                  <a:srgbClr val="0000FF"/>
                </a:solidFill>
              </a:rPr>
              <a:t>&amp; EOC  and develop responsibility of individuals.</a:t>
            </a:r>
            <a:endParaRPr lang="en-US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 smtClean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Separation of words</a:t>
            </a:r>
            <a:r>
              <a:rPr lang="en-US" sz="2000" dirty="0" smtClean="0"/>
              <a:t> into male, female, pediatric and EOC word.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Operating Blood Bank System</a:t>
            </a:r>
            <a:r>
              <a:rPr lang="en-US" sz="2000" dirty="0"/>
              <a:t> by registered about 600 donors addresses within 1 km. radius of the hospital; 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Mobile phone in emergency, indoor, EOC</a:t>
            </a:r>
            <a:r>
              <a:rPr lang="en-US" sz="2000" dirty="0"/>
              <a:t> to provide telephonic health service facility and emergency ambulance service;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Well equipped </a:t>
            </a:r>
            <a:r>
              <a:rPr lang="en-US" sz="2000" b="1" dirty="0" smtClean="0">
                <a:solidFill>
                  <a:srgbClr val="0000FF"/>
                </a:solidFill>
              </a:rPr>
              <a:t>Emergency  department &amp; Primarily managed by MA and MO on call.</a:t>
            </a: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endParaRPr lang="en-US" sz="20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50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News of paper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  </a:t>
            </a:r>
          </a:p>
          <a:p>
            <a:pPr>
              <a:buFontTx/>
              <a:buNone/>
            </a:pPr>
            <a:endParaRPr lang="en-US" sz="600"/>
          </a:p>
        </p:txBody>
      </p:sp>
      <p:pic>
        <p:nvPicPr>
          <p:cNvPr id="193540" name="Picture 4" descr="Untitled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701800"/>
            <a:ext cx="7924800" cy="4622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96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10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8.Biswas Builders supports 7 manpower.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n-US" sz="1800" dirty="0" smtClean="0"/>
              <a:t>Unprotected Campus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a. Addicted person moved here and there at day and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b. Campus unclean goats and cows moved everywhere in day.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c. Front of the hospital was full of posters.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d. Broken cycle stand and there was a shade of </a:t>
            </a:r>
            <a:r>
              <a:rPr lang="en-US" sz="1800" dirty="0" err="1" smtClean="0"/>
              <a:t>polithin</a:t>
            </a:r>
            <a:r>
              <a:rPr lang="en-US" sz="1800" dirty="0" smtClean="0"/>
              <a:t> in front of the cycle 	stand.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e. </a:t>
            </a:r>
            <a:r>
              <a:rPr lang="en-US" sz="1800" dirty="0" err="1" smtClean="0"/>
              <a:t>Vesoz</a:t>
            </a:r>
            <a:r>
              <a:rPr lang="en-US" sz="1800" dirty="0" smtClean="0"/>
              <a:t> Garden was unclean and full of hospital waste.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1800" dirty="0" smtClean="0"/>
              <a:t>Emergency: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Full of broken lockers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b. Unhygienic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c. Used as a cycle store at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d. No boiling system. Infection control system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e. Addicted person worked in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f. No trolley man.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g. No slopping for trolley in front of the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h. Privacy was neglected during stomach wash of the patient.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i. Corruption was not prevented.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957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457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 smtClean="0"/>
              <a:t>Situation of the hospital in May 2012 -2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3.      Outdoor: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a. No patient separation. Male female and child treated in outdoor by every 	outdoor doctor.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No IMCI Corner.                        c. No  FP Unit.</a:t>
            </a:r>
          </a:p>
          <a:p>
            <a:pPr>
              <a:buFont typeface="Arial" charset="0"/>
              <a:buAutoNum type="arabicPeriod" startAt="4"/>
              <a:defRPr/>
            </a:pPr>
            <a:r>
              <a:rPr lang="en-US" sz="1800" dirty="0" smtClean="0"/>
              <a:t>Blood Bank: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	a. No worker for 24 Hours blood bank support.</a:t>
            </a:r>
            <a:endParaRPr lang="en-US" sz="1800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5.    Indoor: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Unwanted items within the ward. Like broken patient bed.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Unhygienic environment.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 Patient in paying cabin and paying ward without govt. charge.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d. No table and chair in paying cabin.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e. Non Govt. worker would take charge from the patient and some of the 	govt. workers also involved in corruption.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6.     Dead body room: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Unclean.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Unused large telephone box for 10 years.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Workers would take heavy charge from the relatives of the dead person.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86438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r>
              <a:rPr lang="en-US" sz="1600" dirty="0" smtClean="0"/>
              <a:t>EOC ward: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a. Only 4 govt. bed and 4 extra. Total 8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b. The ward was unhygienic and foul smelling.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c.  Privacy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d. ANC Corner system ineffective.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e. One washroom with broken door.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f.  No </a:t>
            </a:r>
            <a:r>
              <a:rPr lang="en-US" sz="1600" dirty="0" err="1" smtClean="0"/>
              <a:t>rexin</a:t>
            </a:r>
            <a:r>
              <a:rPr lang="en-US" sz="1600" dirty="0" smtClean="0"/>
              <a:t> sheet and unclean mattress of the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g. Mal use of oxytocic drug.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h. Weak infection control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i. Consultant reside outside the campus.	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j. No health education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k. No pre </a:t>
            </a:r>
            <a:r>
              <a:rPr lang="en-US" sz="1600" dirty="0" err="1" smtClean="0"/>
              <a:t>labour</a:t>
            </a:r>
            <a:r>
              <a:rPr lang="en-US" sz="1600" dirty="0" smtClean="0"/>
              <a:t> room.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l. No night round of the consultant.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Some of the none govt. workers would take charge from the patient.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 No round of superintendent of the hospital even one in a month.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No RMO, in charge RMO worked for six years.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Information display system was neglected.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One super were charged by local MP and one super fled away.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Frequently, Hospital stuffs faced physical and mental torture.</a:t>
            </a:r>
          </a:p>
          <a:p>
            <a:pPr>
              <a:buFont typeface="+mj-lt"/>
              <a:buAutoNum type="arabicPeriod" startAt="7"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842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How we overcome the challenges</a:t>
            </a:r>
            <a:endParaRPr lang="en-US" sz="3200" dirty="0"/>
          </a:p>
        </p:txBody>
      </p:sp>
      <p:sp>
        <p:nvSpPr>
          <p:cNvPr id="64515" name="Rectangle 8"/>
          <p:cNvSpPr>
            <a:spLocks noChangeArrowheads="1"/>
          </p:cNvSpPr>
          <p:nvPr/>
        </p:nvSpPr>
        <p:spPr bwMode="auto">
          <a:xfrm>
            <a:off x="609600" y="914400"/>
            <a:ext cx="8077200" cy="67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1.                Situation analysis and prepare a baseline survey report in June 2012 and compared the    	progress with the baseline report of 1998.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Problem identification. </a:t>
            </a:r>
            <a:r>
              <a:rPr lang="en-US" sz="1400" dirty="0" smtClean="0">
                <a:solidFill>
                  <a:srgbClr val="000000"/>
                </a:solidFill>
              </a:rPr>
              <a:t>*Problems of the hospital 1 &amp; 2 (Later)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	b.   Basic activities.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Govt. resources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Scope</a:t>
            </a:r>
          </a:p>
          <a:p>
            <a:r>
              <a:rPr lang="en-US" sz="1400" dirty="0">
                <a:solidFill>
                  <a:srgbClr val="000000"/>
                </a:solidFill>
              </a:rPr>
              <a:t>2.	Motivation of doctors, nurses and staff.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3.	Community motivation and social mobilization.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Local administration </a:t>
            </a:r>
            <a:r>
              <a:rPr lang="en-US" sz="1400" dirty="0" smtClean="0">
                <a:solidFill>
                  <a:srgbClr val="000000"/>
                </a:solidFill>
              </a:rPr>
              <a:t>DC, </a:t>
            </a:r>
            <a:r>
              <a:rPr lang="en-US" sz="1400" dirty="0">
                <a:solidFill>
                  <a:srgbClr val="000000"/>
                </a:solidFill>
              </a:rPr>
              <a:t>ADC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District health improvement committee which is headed by 		      	      local MP.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Local Govt. Mayor, district chairmen.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Reporters and media personalities.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Social workers, Human Rights Organizations, few NGO, 		      	      teachers, industrialists , </a:t>
            </a:r>
            <a:r>
              <a:rPr lang="en-US" sz="1400" dirty="0" smtClean="0">
                <a:solidFill>
                  <a:srgbClr val="000000"/>
                </a:solidFill>
              </a:rPr>
              <a:t>TIB .&amp; religious leaders</a:t>
            </a:r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4.	Improved cleanliness and beautification of the outer environment.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Involvement of Mayor. Ensure security of the campus and regular  	       	      removal of hospital wastes, cleanliness of the drainage system.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Removal of all posters.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Made a boundary wall.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Starting for the beautification of the campus.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Celebrate A Big Cleaning Day in 17th March, the birthday of the father of the nation.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7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How we overcome the challenges -2</a:t>
            </a:r>
            <a:endParaRPr lang="en-US" sz="2800" dirty="0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990600"/>
            <a:ext cx="838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5.	Reform of EOC program:</a:t>
            </a:r>
          </a:p>
          <a:p>
            <a:pPr marL="342900" indent="-342900" algn="just" eaLnBrk="1" hangingPunct="1">
              <a:defRPr/>
            </a:pPr>
            <a:endParaRPr 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en-US" sz="1600" dirty="0"/>
              <a:t>	-Introduce </a:t>
            </a:r>
            <a:r>
              <a:rPr lang="en-US" sz="1600" dirty="0" err="1"/>
              <a:t>Labour</a:t>
            </a:r>
            <a:r>
              <a:rPr lang="en-US" sz="1600" dirty="0"/>
              <a:t> Admission Register, </a:t>
            </a:r>
            <a:r>
              <a:rPr lang="en-US" sz="1600" dirty="0" err="1"/>
              <a:t>Labour</a:t>
            </a:r>
            <a:r>
              <a:rPr lang="en-US" sz="1600" dirty="0"/>
              <a:t> Ward Admission Form, Separate 	Discharge Form. </a:t>
            </a:r>
          </a:p>
          <a:p>
            <a:pPr lvl="1" algn="just" eaLnBrk="1" hangingPunct="1">
              <a:defRPr/>
            </a:pPr>
            <a:r>
              <a:rPr lang="en-US" sz="1600" dirty="0"/>
              <a:t>	-Starting of ANC &amp; PNC corner and Arrange a Room for Medical Officer.</a:t>
            </a:r>
          </a:p>
          <a:p>
            <a:pPr lvl="1" algn="just" eaLnBrk="1" hangingPunct="1">
              <a:defRPr/>
            </a:pPr>
            <a:r>
              <a:rPr lang="en-US" sz="1600" dirty="0"/>
              <a:t>	-NO. of EOC Bed increase from 10 to 21 though on EOC bed only 5.</a:t>
            </a:r>
          </a:p>
          <a:p>
            <a:pPr lvl="1" algn="just" eaLnBrk="1" hangingPunct="1">
              <a:defRPr/>
            </a:pPr>
            <a:r>
              <a:rPr lang="en-US" sz="1600" dirty="0"/>
              <a:t>	-Improve EOC Operation Theater. </a:t>
            </a:r>
          </a:p>
          <a:p>
            <a:pPr lvl="1" algn="just" eaLnBrk="1" hangingPunct="1">
              <a:defRPr/>
            </a:pPr>
            <a:r>
              <a:rPr lang="en-US" sz="1600" dirty="0"/>
              <a:t>	-Moral based environment with 12 (twelve) workers supported by community 	donors. </a:t>
            </a:r>
          </a:p>
          <a:p>
            <a:pPr lvl="1" algn="just" eaLnBrk="1" hangingPunct="1">
              <a:defRPr/>
            </a:pPr>
            <a:r>
              <a:rPr lang="en-US" sz="1600" dirty="0"/>
              <a:t>	-EOC Operation activities extended from 8 A.M. to 2 P.M to 8 P.M.</a:t>
            </a:r>
          </a:p>
          <a:p>
            <a:pPr lvl="1" algn="just" eaLnBrk="1" hangingPunct="1">
              <a:defRPr/>
            </a:pPr>
            <a:r>
              <a:rPr lang="en-US" sz="1600" dirty="0"/>
              <a:t>	-Ensuring Rational use of drugs in EOC ward. </a:t>
            </a:r>
          </a:p>
          <a:p>
            <a:pPr lvl="1" algn="just" eaLnBrk="1" hangingPunct="1">
              <a:defRPr/>
            </a:pPr>
            <a:r>
              <a:rPr lang="en-US" sz="1600" dirty="0"/>
              <a:t>	-Provision of Mobile Phone in EOC ward no. 01857935012.</a:t>
            </a:r>
          </a:p>
          <a:p>
            <a:pPr lvl="1" algn="just" eaLnBrk="1" hangingPunct="1">
              <a:defRPr/>
            </a:pPr>
            <a:r>
              <a:rPr lang="en-US" sz="1600" dirty="0"/>
              <a:t>	-Shoe-free environment for infection control.</a:t>
            </a:r>
          </a:p>
          <a:p>
            <a:pPr lvl="1" algn="just" eaLnBrk="1" hangingPunct="1">
              <a:defRPr/>
            </a:pPr>
            <a:r>
              <a:rPr lang="en-US" sz="1600" dirty="0"/>
              <a:t>	-The center is used as a effective training center for SBA, Nursing student, Mid-	</a:t>
            </a:r>
            <a:r>
              <a:rPr lang="en-US" sz="1600" dirty="0" err="1"/>
              <a:t>wifiry</a:t>
            </a:r>
            <a:r>
              <a:rPr lang="en-US" sz="1600" dirty="0"/>
              <a:t>.</a:t>
            </a:r>
          </a:p>
          <a:p>
            <a:pPr lvl="1" algn="just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39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600" dirty="0" smtClean="0"/>
              <a:t>6. Changes in Emergency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all unnecessary items.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Improved infection control system.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Transfer the addicted person from emergency,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EMOS room is reformed.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e. Arrange 3 trolley men.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f.  Tiles fitting of the walls of emergency department.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g. Ensure privacy.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h. Make a slope for easy carry of the patient.</a:t>
            </a:r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7. Changes in outdoor: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Separation of the outdoor patient. Male, Female, IMCI 	  	    	    corner. </a:t>
            </a:r>
            <a:r>
              <a:rPr lang="en-US" sz="1600" dirty="0"/>
              <a:t>	</a:t>
            </a:r>
            <a:endParaRPr lang="en-US" sz="1600" dirty="0" smtClean="0"/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	b. Opening of family planning section.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Opening of one step crisis service.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Opening of one cash counter and another delivery of report 	    	    system. </a:t>
            </a:r>
          </a:p>
          <a:p>
            <a:pPr>
              <a:buFontTx/>
              <a:buAutoNum type="arabicPeriod" startAt="8"/>
              <a:defRPr/>
            </a:pPr>
            <a:r>
              <a:rPr lang="en-US" sz="1600" dirty="0" smtClean="0"/>
              <a:t>Change in dead body room: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telephone box.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Ensure clean environment.  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Prevention of corruption.     </a:t>
            </a:r>
            <a:endParaRPr lang="en-US" sz="16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715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smtClean="0"/>
              <a:t>9. Changes in blood bank:</a:t>
            </a:r>
          </a:p>
          <a:p>
            <a:pPr marL="0" indent="0">
              <a:buFontTx/>
              <a:buNone/>
            </a:pPr>
            <a:r>
              <a:rPr lang="en-US" sz="1600" smtClean="0"/>
              <a:t>	a. 24 hours blood bank service by the support of blood bank rule.</a:t>
            </a:r>
          </a:p>
          <a:p>
            <a:pPr marL="0" indent="0">
              <a:buFontTx/>
              <a:buNone/>
            </a:pPr>
            <a:r>
              <a:rPr lang="en-US" sz="1600" smtClean="0"/>
              <a:t>10. Changes in G OT</a:t>
            </a:r>
          </a:p>
          <a:p>
            <a:pPr marL="0" indent="0">
              <a:buFontTx/>
              <a:buNone/>
            </a:pPr>
            <a:r>
              <a:rPr lang="en-US" sz="1600" smtClean="0"/>
              <a:t>	a. Arrange Generator.</a:t>
            </a:r>
          </a:p>
          <a:p>
            <a:pPr marL="0" indent="0">
              <a:buFontTx/>
              <a:buNone/>
            </a:pPr>
            <a:r>
              <a:rPr lang="en-US" sz="1600" smtClean="0"/>
              <a:t>	b. Prevent corruption.</a:t>
            </a:r>
          </a:p>
          <a:p>
            <a:pPr marL="0" indent="0">
              <a:buFontTx/>
              <a:buNone/>
            </a:pPr>
            <a:r>
              <a:rPr lang="en-US" sz="1600" smtClean="0"/>
              <a:t>	c. Beautiful OT environment.</a:t>
            </a:r>
          </a:p>
          <a:p>
            <a:pPr marL="0" indent="0">
              <a:buFontTx/>
              <a:buNone/>
            </a:pPr>
            <a:r>
              <a:rPr lang="en-US" sz="1600" smtClean="0"/>
              <a:t>11. Changes in indoor:</a:t>
            </a:r>
          </a:p>
          <a:p>
            <a:pPr marL="0" indent="0">
              <a:buFontTx/>
              <a:buNone/>
            </a:pPr>
            <a:r>
              <a:rPr lang="en-US" sz="1600" smtClean="0"/>
              <a:t>	a. Improve cleanliness.</a:t>
            </a:r>
          </a:p>
          <a:p>
            <a:pPr marL="0" indent="0">
              <a:buFontTx/>
              <a:buNone/>
            </a:pPr>
            <a:r>
              <a:rPr lang="en-US" sz="1600" smtClean="0"/>
              <a:t>	b. Arrange tiles at the wall of the female medicine indoor.</a:t>
            </a:r>
          </a:p>
          <a:p>
            <a:pPr marL="0" indent="0">
              <a:buFontTx/>
              <a:buNone/>
            </a:pPr>
            <a:r>
              <a:rPr lang="en-US" sz="1600" smtClean="0"/>
              <a:t>	c. Removal of unwanted items.</a:t>
            </a:r>
          </a:p>
          <a:p>
            <a:pPr marL="0" indent="0">
              <a:buFontTx/>
              <a:buNone/>
            </a:pPr>
            <a:r>
              <a:rPr lang="en-US" sz="1600" smtClean="0"/>
              <a:t>	d. Coloring of the patient beds, locker.</a:t>
            </a:r>
          </a:p>
          <a:p>
            <a:pPr marL="0" indent="0">
              <a:buFontTx/>
              <a:buNone/>
            </a:pPr>
            <a:r>
              <a:rPr lang="en-US" sz="1600" smtClean="0"/>
              <a:t>	e. Arrange 3 ayah and 3 cleaner in every ward.</a:t>
            </a:r>
          </a:p>
          <a:p>
            <a:pPr marL="0" indent="0">
              <a:buFontTx/>
              <a:buNone/>
            </a:pPr>
            <a:r>
              <a:rPr lang="en-US" sz="1600" smtClean="0"/>
              <a:t>	f. Table an chair supplies in every cabin for the patient.</a:t>
            </a:r>
          </a:p>
          <a:p>
            <a:pPr marL="0" indent="0">
              <a:buFontTx/>
              <a:buNone/>
            </a:pPr>
            <a:r>
              <a:rPr lang="en-US" sz="1600" smtClean="0"/>
              <a:t>	  </a:t>
            </a:r>
          </a:p>
          <a:p>
            <a:pPr marL="0" indent="0">
              <a:buFontTx/>
              <a:buNone/>
            </a:pPr>
            <a:r>
              <a:rPr lang="en-US" sz="1600" smtClean="0"/>
              <a:t>.    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50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274638"/>
            <a:ext cx="8229600" cy="411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How we overcome the challenges -5</a:t>
            </a:r>
            <a:endParaRPr lang="en-US" sz="2800" dirty="0"/>
          </a:p>
        </p:txBody>
      </p:sp>
      <p:sp>
        <p:nvSpPr>
          <p:cNvPr id="6861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12.	Community support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Manpower, b. logistics, c. security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13.	Improved MIS and Display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14.	Improved supervisory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District health development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Ensure monthly meeting.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Formation of QIT and WIT team.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Idea sharing with Satkhira District Hospital visit.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Coordination with officials of DGHS, Ministry of Health and Family 	Welfare, BPATC Savar, Divisional Health Office, ICDDRB and JAICA.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15.	Achievements: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Active community participation.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High performance of EOC program.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Improved cleanliness and beautification.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Ensure security.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Improved revenue income.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f.  Achieve overall community satisfaction.</a:t>
            </a:r>
          </a:p>
          <a:p>
            <a:pPr marL="0" indent="0">
              <a:buFont typeface="Arial" charset="0"/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712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114300"/>
            <a:ext cx="6011863" cy="8890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smtClean="0">
                <a:solidFill>
                  <a:schemeClr val="bg1"/>
                </a:solidFill>
              </a:rPr>
              <a:t>Problems</a:t>
            </a:r>
            <a:r>
              <a:rPr lang="en-US" sz="4000" b="1" smtClean="0">
                <a:solidFill>
                  <a:schemeClr val="bg1"/>
                </a:solidFill>
              </a:rPr>
              <a:t> </a:t>
            </a:r>
            <a:r>
              <a:rPr lang="en-US" sz="3200" b="1" smtClean="0">
                <a:solidFill>
                  <a:schemeClr val="bg1"/>
                </a:solidFill>
              </a:rPr>
              <a:t>of Sadar Hospital-1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68400"/>
            <a:ext cx="8229600" cy="52371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400" dirty="0" smtClean="0"/>
              <a:t>100 </a:t>
            </a:r>
            <a:r>
              <a:rPr lang="en-US" sz="1400" dirty="0" err="1" smtClean="0"/>
              <a:t>Beded</a:t>
            </a:r>
            <a:r>
              <a:rPr lang="en-US" sz="1400" dirty="0" smtClean="0"/>
              <a:t> Hospital running with 50 </a:t>
            </a:r>
            <a:r>
              <a:rPr lang="en-US" sz="1400" dirty="0" err="1" smtClean="0"/>
              <a:t>beded</a:t>
            </a:r>
            <a:r>
              <a:rPr lang="en-US" sz="1400" dirty="0" smtClean="0"/>
              <a:t> manpower since 1994.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are 9 unit in hospital (wards 06, OT, Out door, Emergency) needs cleaners about 36 but there are only 6 cleaners.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post of </a:t>
            </a:r>
            <a:r>
              <a:rPr lang="en-US" sz="1400" dirty="0" err="1" smtClean="0"/>
              <a:t>Aya</a:t>
            </a:r>
            <a:r>
              <a:rPr lang="en-US" sz="1400" dirty="0" smtClean="0"/>
              <a:t>, Ward boy, Security guard in the Hospital.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post of indoor medical officer so hamper indoor service &amp; night rounds.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One (01) anesthesiologist working for surgery, </a:t>
            </a:r>
            <a:r>
              <a:rPr lang="en-US" sz="1400" dirty="0" err="1" smtClean="0"/>
              <a:t>gynae</a:t>
            </a:r>
            <a:r>
              <a:rPr lang="en-US" sz="1400" dirty="0" smtClean="0"/>
              <a:t>, Orthopedics, ENT, Eye, 24 hours EOC &amp; emergency service.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effective waste management system.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Condemnation board is not working regularly due to administrative problems.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Many of the instruments and </a:t>
            </a:r>
            <a:r>
              <a:rPr lang="en-US" sz="1400" dirty="0" err="1" smtClean="0"/>
              <a:t>equipments</a:t>
            </a:r>
            <a:r>
              <a:rPr lang="en-US" sz="1400" dirty="0" smtClean="0"/>
              <a:t> are not functioning due to lack of bio-technologist &amp; funds for repair. 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target for indoor-outdoor patient &amp; huge number of indoor &amp; out door patient creates a heavy loads for services providers 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MIS system is weak and there is no hospital action plan.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No client satisfaction survey system.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 number of nurses is very few.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Hospital health management committee &amp; monthly co-ordination committee meeting is not perform regularly.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Female privacy is not properly maintained.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Insufficient in toilets &amp; safe drinking water supply.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Influential person influence on tenders of drugs, free cabin &amp; paying ward.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Auditing &amp; accounting system is not corruption free.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Consultants &amp; MOs are also the teacher of NTC, MATS etc. which affect hospital services.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Three doctors are illegally suspended. 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78485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85800"/>
            <a:ext cx="5943600" cy="584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Problems of </a:t>
            </a:r>
            <a:r>
              <a:rPr lang="en-US" sz="3200" b="1" dirty="0" err="1" smtClean="0">
                <a:solidFill>
                  <a:schemeClr val="bg1"/>
                </a:solidFill>
              </a:rPr>
              <a:t>Sadar</a:t>
            </a:r>
            <a:r>
              <a:rPr lang="en-US" sz="3200" b="1" dirty="0" smtClean="0">
                <a:solidFill>
                  <a:schemeClr val="bg1"/>
                </a:solidFill>
              </a:rPr>
              <a:t> Hospital-2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478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1600" dirty="0" smtClean="0"/>
          </a:p>
          <a:p>
            <a:pPr>
              <a:lnSpc>
                <a:spcPct val="90000"/>
              </a:lnSpc>
              <a:buFontTx/>
              <a:buNone/>
            </a:pPr>
            <a:endParaRPr lang="en-US" sz="1600" dirty="0" smtClean="0"/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visitor control system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EPI, ORT corner, DOTS corner, VIA </a:t>
            </a:r>
            <a:r>
              <a:rPr lang="en-US" sz="1600" dirty="0" err="1" smtClean="0"/>
              <a:t>centre</a:t>
            </a:r>
            <a:r>
              <a:rPr lang="en-US" sz="1600" dirty="0" smtClean="0"/>
              <a:t>  are running  with least or no defined health personnel.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Health education systems is very poor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pediatrician in this Hospital.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are 5 beds in EOC word, which is insufficient  for 40000  pregnant mother per year in </a:t>
            </a:r>
            <a:r>
              <a:rPr lang="en-US" sz="1600" dirty="0" err="1" smtClean="0"/>
              <a:t>Jhenaidah</a:t>
            </a:r>
            <a:r>
              <a:rPr lang="en-US" sz="1600" dirty="0" smtClean="0"/>
              <a:t> District 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intercom system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IMCI corner for under 5 children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Non health Issues  get less importance.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Scarcity of blood in emergency need.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adolescence health corner.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Total </a:t>
            </a:r>
            <a:r>
              <a:rPr lang="en-US" sz="1600" dirty="0" err="1" smtClean="0"/>
              <a:t>problame</a:t>
            </a:r>
            <a:r>
              <a:rPr lang="en-US" sz="1600" dirty="0" smtClean="0"/>
              <a:t> is 31.</a:t>
            </a:r>
          </a:p>
        </p:txBody>
      </p:sp>
    </p:spTree>
    <p:extLst>
      <p:ext uri="{BB962C8B-B14F-4D97-AF65-F5344CB8AC3E}">
        <p14:creationId xmlns:p14="http://schemas.microsoft.com/office/powerpoint/2010/main" val="28856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Awards &amp; Appreciations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           </a:t>
            </a:r>
            <a:r>
              <a:rPr lang="en-US" sz="1600" b="1" u="sng" dirty="0" smtClean="0"/>
              <a:t>Awards:</a:t>
            </a:r>
            <a:endParaRPr lang="en-US" sz="1600" dirty="0" smtClean="0"/>
          </a:p>
          <a:p>
            <a:pPr lvl="0"/>
            <a:r>
              <a:rPr lang="en-US" sz="1400" b="1" dirty="0" smtClean="0"/>
              <a:t>Community Service Award</a:t>
            </a:r>
            <a:r>
              <a:rPr lang="en-US" sz="1400" dirty="0" smtClean="0"/>
              <a:t> by OGSB in 2006. </a:t>
            </a:r>
          </a:p>
          <a:p>
            <a:pPr lvl="0"/>
            <a:r>
              <a:rPr lang="en-US" sz="1400" b="1" dirty="0" err="1" smtClean="0"/>
              <a:t>Besr</a:t>
            </a:r>
            <a:r>
              <a:rPr lang="en-US" sz="1400" b="1" dirty="0" smtClean="0"/>
              <a:t> performance Award</a:t>
            </a:r>
            <a:r>
              <a:rPr lang="en-US" sz="1400" dirty="0" smtClean="0"/>
              <a:t> by MOH &amp; FW and DGHS in 2008.</a:t>
            </a:r>
          </a:p>
          <a:p>
            <a:pPr lvl="0"/>
            <a:r>
              <a:rPr lang="en-US" sz="1400" b="1" dirty="0" smtClean="0"/>
              <a:t>Professor </a:t>
            </a:r>
            <a:r>
              <a:rPr lang="en-US" sz="1400" b="1" dirty="0" err="1" smtClean="0"/>
              <a:t>Muklechur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Rahman</a:t>
            </a:r>
            <a:r>
              <a:rPr lang="en-US" sz="1400" b="1" dirty="0" smtClean="0"/>
              <a:t> Award</a:t>
            </a:r>
            <a:r>
              <a:rPr lang="en-US" sz="1400" dirty="0" smtClean="0"/>
              <a:t> by OGSB in 2010. </a:t>
            </a:r>
          </a:p>
          <a:p>
            <a:pPr lvl="0"/>
            <a:r>
              <a:rPr lang="en-US" sz="1400" b="1" dirty="0" smtClean="0"/>
              <a:t>Kaizen Role Model Award </a:t>
            </a:r>
            <a:r>
              <a:rPr lang="en-US" sz="1400" dirty="0" smtClean="0"/>
              <a:t>by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 in November 2013. </a:t>
            </a:r>
          </a:p>
          <a:p>
            <a:pPr lvl="0"/>
            <a:r>
              <a:rPr lang="en-US" sz="1400" b="1" dirty="0" smtClean="0"/>
              <a:t>Lifetime Award</a:t>
            </a:r>
            <a:r>
              <a:rPr lang="en-US" sz="1400" dirty="0" smtClean="0"/>
              <a:t> by OGSB in 2016.</a:t>
            </a:r>
          </a:p>
          <a:p>
            <a:pPr marL="0" indent="0">
              <a:buNone/>
            </a:pPr>
            <a:r>
              <a:rPr lang="en-US" sz="1400" dirty="0" smtClean="0"/>
              <a:t>           </a:t>
            </a:r>
            <a:r>
              <a:rPr lang="en-US" sz="1600" b="1" u="sng" dirty="0" smtClean="0"/>
              <a:t>Appreciations:</a:t>
            </a:r>
            <a:endParaRPr lang="en-US" sz="1600" dirty="0" smtClean="0"/>
          </a:p>
          <a:p>
            <a:pPr lvl="0"/>
            <a:r>
              <a:rPr lang="en-US" sz="1400" dirty="0" smtClean="0"/>
              <a:t>The Daily </a:t>
            </a:r>
            <a:r>
              <a:rPr lang="en-US" sz="1400" dirty="0" err="1" smtClean="0"/>
              <a:t>Prothom</a:t>
            </a:r>
            <a:r>
              <a:rPr lang="en-US" sz="1400" dirty="0" smtClean="0"/>
              <a:t> </a:t>
            </a:r>
            <a:r>
              <a:rPr lang="en-US" sz="1400" dirty="0" err="1" smtClean="0"/>
              <a:t>Alo</a:t>
            </a:r>
            <a:r>
              <a:rPr lang="en-US" sz="1400" dirty="0" smtClean="0"/>
              <a:t> – Special report in first page on 14 October 2005. </a:t>
            </a:r>
          </a:p>
          <a:p>
            <a:pPr lvl="0"/>
            <a:r>
              <a:rPr lang="en-US" sz="1400" dirty="0" err="1" smtClean="0"/>
              <a:t>Unisef</a:t>
            </a:r>
            <a:r>
              <a:rPr lang="en-US" sz="1400" dirty="0" smtClean="0"/>
              <a:t> Bangladesh report on saving mother’s life: dedication of a doctor. (Url: </a:t>
            </a:r>
            <a:r>
              <a:rPr lang="en-US" sz="1400" u="sng" dirty="0" smtClean="0">
                <a:hlinkClick r:id="rId2"/>
              </a:rPr>
              <a:t>https://www.unicef.org/bangladesh/media_4795.htm</a:t>
            </a:r>
            <a:r>
              <a:rPr lang="en-US" sz="1400" dirty="0" smtClean="0"/>
              <a:t>)</a:t>
            </a:r>
          </a:p>
          <a:p>
            <a:pPr lvl="0"/>
            <a:r>
              <a:rPr lang="en-US" sz="1400" dirty="0" smtClean="0"/>
              <a:t>Video on local </a:t>
            </a:r>
            <a:r>
              <a:rPr lang="en-US" sz="1400" dirty="0" err="1" smtClean="0"/>
              <a:t>innitiatives</a:t>
            </a:r>
            <a:r>
              <a:rPr lang="en-US" sz="1400" dirty="0" smtClean="0"/>
              <a:t> to improve service quality in a district hospital – </a:t>
            </a:r>
            <a:r>
              <a:rPr lang="en-US" sz="1400" dirty="0" err="1" smtClean="0"/>
              <a:t>Jhenaidah</a:t>
            </a:r>
            <a:r>
              <a:rPr lang="en-US" sz="1400" dirty="0" smtClean="0"/>
              <a:t> </a:t>
            </a:r>
            <a:r>
              <a:rPr lang="en-US" sz="1400" dirty="0" err="1" smtClean="0"/>
              <a:t>Sadar</a:t>
            </a:r>
            <a:r>
              <a:rPr lang="en-US" sz="1400" dirty="0" smtClean="0"/>
              <a:t> Hospital by Save The Children Bangladesh. </a:t>
            </a:r>
          </a:p>
          <a:p>
            <a:r>
              <a:rPr lang="en-US" sz="1400" dirty="0" smtClean="0"/>
              <a:t>(</a:t>
            </a:r>
            <a:r>
              <a:rPr lang="en-US" sz="1400" dirty="0" err="1" smtClean="0"/>
              <a:t>Videolink</a:t>
            </a:r>
            <a:r>
              <a:rPr lang="en-US" sz="1400" dirty="0" smtClean="0"/>
              <a:t>: </a:t>
            </a:r>
            <a:r>
              <a:rPr lang="en-US" sz="1400" u="sng" dirty="0" smtClean="0">
                <a:hlinkClick r:id="rId3"/>
              </a:rPr>
              <a:t>https://www.youtube.com/watch?v=wMgIps428Ic</a:t>
            </a:r>
            <a:r>
              <a:rPr lang="en-US" sz="1400" dirty="0" smtClean="0"/>
              <a:t> )</a:t>
            </a:r>
          </a:p>
          <a:p>
            <a:pPr lvl="0"/>
            <a:r>
              <a:rPr lang="en-US" sz="1400" dirty="0" smtClean="0"/>
              <a:t>Guest Lecturer of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600" b="1" dirty="0" smtClean="0"/>
              <a:t>         </a:t>
            </a:r>
            <a:r>
              <a:rPr lang="en-US" sz="1600" b="1" u="sng" dirty="0" smtClean="0"/>
              <a:t>Experience in foreign countries</a:t>
            </a:r>
            <a:endParaRPr lang="en-US" sz="1600" u="sng" dirty="0" smtClean="0"/>
          </a:p>
          <a:p>
            <a:pPr lvl="0"/>
            <a:r>
              <a:rPr lang="en-US" sz="1400" dirty="0" smtClean="0"/>
              <a:t>Indonesia</a:t>
            </a:r>
          </a:p>
          <a:p>
            <a:pPr lvl="0"/>
            <a:r>
              <a:rPr lang="en-US" sz="1400" dirty="0" err="1" smtClean="0"/>
              <a:t>Srilanka</a:t>
            </a:r>
            <a:endParaRPr lang="en-US" sz="1400" dirty="0" smtClean="0"/>
          </a:p>
          <a:p>
            <a:pPr lvl="0"/>
            <a:r>
              <a:rPr lang="en-US" sz="1400" dirty="0" smtClean="0"/>
              <a:t>Tanzania</a:t>
            </a:r>
          </a:p>
          <a:p>
            <a:pPr lvl="0"/>
            <a:r>
              <a:rPr lang="en-US" sz="1400" dirty="0" smtClean="0"/>
              <a:t>Malaysia</a:t>
            </a:r>
          </a:p>
          <a:p>
            <a:pPr lvl="0"/>
            <a:r>
              <a:rPr lang="en-US" sz="1400" dirty="0" smtClean="0"/>
              <a:t>Thailand</a:t>
            </a:r>
          </a:p>
          <a:p>
            <a:pPr lvl="0"/>
            <a:r>
              <a:rPr lang="en-US" sz="1400" dirty="0" smtClean="0"/>
              <a:t>Malaya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228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3142</TotalTime>
  <Words>2648</Words>
  <Application>Microsoft Office PowerPoint</Application>
  <PresentationFormat>On-screen Show (4:3)</PresentationFormat>
  <Paragraphs>766</Paragraphs>
  <Slides>64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86" baseType="lpstr">
      <vt:lpstr>MS Gothic</vt:lpstr>
      <vt:lpstr>MS PGothic</vt:lpstr>
      <vt:lpstr>Albertus Extra Bold</vt:lpstr>
      <vt:lpstr>Andalus</vt:lpstr>
      <vt:lpstr>Arial</vt:lpstr>
      <vt:lpstr>Book Antiqua</vt:lpstr>
      <vt:lpstr>Calibri</vt:lpstr>
      <vt:lpstr>SutonnyMJ</vt:lpstr>
      <vt:lpstr>Symbol</vt:lpstr>
      <vt:lpstr>Times New Roman</vt:lpstr>
      <vt:lpstr>Verdana</vt:lpstr>
      <vt:lpstr>Vrinda</vt:lpstr>
      <vt:lpstr>Wingdings</vt:lpstr>
      <vt:lpstr>Wingdings 2</vt:lpstr>
      <vt:lpstr>5_シック</vt:lpstr>
      <vt:lpstr>Office Theme</vt:lpstr>
      <vt:lpstr>Default Design</vt:lpstr>
      <vt:lpstr>1_Default Design</vt:lpstr>
      <vt:lpstr>2_Default Design</vt:lpstr>
      <vt:lpstr>3_Default Design</vt:lpstr>
      <vt:lpstr>4_Default Design</vt:lpstr>
      <vt:lpstr>Chart</vt:lpstr>
      <vt:lpstr>PowerPoint Presentation</vt:lpstr>
      <vt:lpstr>PowerPoint Presentation</vt:lpstr>
      <vt:lpstr>PowerPoint Presentation</vt:lpstr>
      <vt:lpstr>PowerPoint Presentation</vt:lpstr>
      <vt:lpstr>A Sub-district level Women-Friendly Hospital with a Vision …</vt:lpstr>
      <vt:lpstr>Background History of MCH services of Chowgacha Health Complex, Jessore</vt:lpstr>
      <vt:lpstr>Contd.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2011 and SDG targets in 2030</vt:lpstr>
      <vt:lpstr>Factors Responsible for Reduction of Maternal and Infant Mortality Rate in Chowgacha</vt:lpstr>
      <vt:lpstr>Factors Responsible for Reduction of Maternal and Infant Mortality Rate in Chowgacha- Contd.</vt:lpstr>
      <vt:lpstr>                 News of paper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Situation of the hospital in May 2012 -1</vt:lpstr>
      <vt:lpstr>Situation of the hospital in May 2012 -2</vt:lpstr>
      <vt:lpstr>Situation of the hospital in May 2012 -3</vt:lpstr>
      <vt:lpstr>How we overcome the challenges</vt:lpstr>
      <vt:lpstr>How we overcome the challenges -2</vt:lpstr>
      <vt:lpstr>How we overcome the challenges -3</vt:lpstr>
      <vt:lpstr>How we overcome the challenges -4</vt:lpstr>
      <vt:lpstr>PowerPoint Presentation</vt:lpstr>
      <vt:lpstr>Problems of Sadar Hospital-1</vt:lpstr>
      <vt:lpstr>Problems of Sadar Hospital-2 </vt:lpstr>
      <vt:lpstr>Awards &amp; Appreciations</vt:lpstr>
      <vt:lpstr>Thank You </vt:lpstr>
    </vt:vector>
  </TitlesOfParts>
  <Company>UNICEF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user</cp:lastModifiedBy>
  <cp:revision>458</cp:revision>
  <cp:lastPrinted>2017-03-18T23:47:54Z</cp:lastPrinted>
  <dcterms:created xsi:type="dcterms:W3CDTF">2013-05-05T09:56:19Z</dcterms:created>
  <dcterms:modified xsi:type="dcterms:W3CDTF">2026-06-02T18:16:50Z</dcterms:modified>
</cp:coreProperties>
</file>