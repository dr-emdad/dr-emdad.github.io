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38"/>
  </p:notesMasterIdLst>
  <p:sldIdLst>
    <p:sldId id="331" r:id="rId4"/>
    <p:sldId id="345" r:id="rId5"/>
    <p:sldId id="332" r:id="rId6"/>
    <p:sldId id="410" r:id="rId7"/>
    <p:sldId id="376" r:id="rId8"/>
    <p:sldId id="412" r:id="rId9"/>
    <p:sldId id="368" r:id="rId10"/>
    <p:sldId id="341" r:id="rId11"/>
    <p:sldId id="334" r:id="rId12"/>
    <p:sldId id="337" r:id="rId13"/>
    <p:sldId id="405" r:id="rId14"/>
    <p:sldId id="340" r:id="rId15"/>
    <p:sldId id="343" r:id="rId16"/>
    <p:sldId id="256" r:id="rId17"/>
    <p:sldId id="403" r:id="rId18"/>
    <p:sldId id="413" r:id="rId19"/>
    <p:sldId id="414" r:id="rId20"/>
    <p:sldId id="326" r:id="rId21"/>
    <p:sldId id="327" r:id="rId22"/>
    <p:sldId id="328" r:id="rId23"/>
    <p:sldId id="351" r:id="rId24"/>
    <p:sldId id="346" r:id="rId25"/>
    <p:sldId id="402" r:id="rId26"/>
    <p:sldId id="369" r:id="rId27"/>
    <p:sldId id="287" r:id="rId28"/>
    <p:sldId id="291" r:id="rId29"/>
    <p:sldId id="308" r:id="rId30"/>
    <p:sldId id="323" r:id="rId31"/>
    <p:sldId id="312" r:id="rId32"/>
    <p:sldId id="293" r:id="rId33"/>
    <p:sldId id="294" r:id="rId34"/>
    <p:sldId id="330" r:id="rId35"/>
    <p:sldId id="409" r:id="rId36"/>
    <p:sldId id="344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00FF99"/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60" d="100"/>
          <a:sy n="60" d="100"/>
        </p:scale>
        <p:origin x="-1164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5169280"/>
        <c:axId val="348063232"/>
      </c:barChart>
      <c:catAx>
        <c:axId val="345169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48063232"/>
        <c:crosses val="autoZero"/>
        <c:auto val="1"/>
        <c:lblAlgn val="ctr"/>
        <c:lblOffset val="100"/>
        <c:noMultiLvlLbl val="0"/>
      </c:catAx>
      <c:valAx>
        <c:axId val="3480632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451692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2774400"/>
        <c:axId val="353583104"/>
      </c:barChart>
      <c:catAx>
        <c:axId val="352774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53583104"/>
        <c:crosses val="autoZero"/>
        <c:auto val="1"/>
        <c:lblAlgn val="ctr"/>
        <c:lblOffset val="100"/>
        <c:noMultiLvlLbl val="0"/>
      </c:catAx>
      <c:valAx>
        <c:axId val="353583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527744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364503040"/>
        <c:axId val="364504576"/>
        <c:axId val="0"/>
      </c:bar3DChart>
      <c:catAx>
        <c:axId val="364503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4504576"/>
        <c:crosses val="autoZero"/>
        <c:auto val="1"/>
        <c:lblAlgn val="ctr"/>
        <c:lblOffset val="100"/>
        <c:noMultiLvlLbl val="0"/>
      </c:catAx>
      <c:valAx>
        <c:axId val="3645045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4503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5934464"/>
        <c:axId val="365936000"/>
      </c:barChart>
      <c:catAx>
        <c:axId val="36593446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5936000"/>
        <c:crosses val="autoZero"/>
        <c:auto val="1"/>
        <c:lblAlgn val="ctr"/>
        <c:lblOffset val="100"/>
        <c:noMultiLvlLbl val="0"/>
      </c:catAx>
      <c:valAx>
        <c:axId val="365936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59344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367776896"/>
        <c:axId val="367778432"/>
        <c:axId val="0"/>
      </c:bar3DChart>
      <c:catAx>
        <c:axId val="367776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67778432"/>
        <c:crosses val="autoZero"/>
        <c:auto val="1"/>
        <c:lblAlgn val="ctr"/>
        <c:lblOffset val="100"/>
        <c:noMultiLvlLbl val="0"/>
      </c:catAx>
      <c:valAx>
        <c:axId val="3677784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36777689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77E97B4-4284-4676-8E2A-9E73D57B32F9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95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1/13/2019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3B3F9-B7BA-4F9F-B968-2712AD790B1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7477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AE5B1-15BF-45DA-B856-53F3A079F0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0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B6A36-2831-41A9-BE1D-A7256D0EB54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4650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948E7-62D5-4800-8F07-C3DF2A98304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89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164F4-644D-4E7A-8AD4-2154A701732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21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04C7F-36C1-4BD1-834F-61887090754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1190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4F55F-D84D-485E-AC16-8834D01651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9366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2BD15-957B-474C-AAE0-579F69984FC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877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8C35B-4EA0-434D-ACCA-1F2F9C7545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35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0BB47-4B6A-4C9A-AC51-84845F132AE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5970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498CF-993E-4B98-B876-42D0669FE5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5949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B7E49-E542-4CD7-8BE0-1471A867222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07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4229-2F1E-4E5D-8F00-412758CC5F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7837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FDB42-C1DF-48B7-8368-4AC739C0265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2116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E1D4F-D18C-4507-85B1-979F4BE7316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24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2019/1/13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7DA5C4B7-6F82-44B2-A833-B663AF043F19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08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4.jpe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233809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model: Challenges and way to overcome and achievement 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 National Consultant 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DGHS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721631"/>
              </p:ext>
            </p:extLst>
          </p:nvPr>
        </p:nvGraphicFramePr>
        <p:xfrm>
          <a:off x="148988" y="990600"/>
          <a:ext cx="8894764" cy="43922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07670"/>
                <a:gridCol w="1757942"/>
                <a:gridCol w="1512798"/>
                <a:gridCol w="1313718"/>
                <a:gridCol w="1248032"/>
                <a:gridCol w="1227302"/>
                <a:gridCol w="1227302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GB" dirty="0" smtClean="0"/>
              <a:t>Challenges of Chowgacha UHC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dirty="0" smtClean="0"/>
              <a:t>Infrastructure problem</a:t>
            </a:r>
          </a:p>
          <a:p>
            <a:r>
              <a:rPr lang="en-GB" dirty="0" smtClean="0"/>
              <a:t>Human resources problem</a:t>
            </a:r>
          </a:p>
          <a:p>
            <a:r>
              <a:rPr lang="en-GB" dirty="0" smtClean="0"/>
              <a:t>Management problem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72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4838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smtClean="0"/>
              <a:t>Background History of MCH services of Chowgacha Health Complex, Jessore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dirty="0" smtClean="0"/>
              <a:t>In 1985, UHC is extended to nearby public library and opened 6 bedded indoor and started EPI, with the help of Upazilla </a:t>
            </a:r>
            <a:r>
              <a:rPr lang="en-US" sz="2000" b="1" dirty="0" err="1" smtClean="0"/>
              <a:t>parishad</a:t>
            </a:r>
            <a:r>
              <a:rPr lang="en-US" sz="2000" b="1" dirty="0" smtClean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0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dirty="0" smtClean="0"/>
              <a:t>In 1994, health complex shifted to new 31 bedded hospital, with 6 bedded </a:t>
            </a:r>
            <a:r>
              <a:rPr lang="en-US" sz="2000" b="1" dirty="0" err="1" smtClean="0"/>
              <a:t>materniy</a:t>
            </a:r>
            <a:r>
              <a:rPr lang="en-US" sz="2000" b="1" dirty="0" smtClean="0"/>
              <a:t> ward.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dirty="0" smtClean="0"/>
              <a:t>To reduce Maternal and Child Mortality and Mobility and to ensure  the quality services to the mother and child, UHFPO opened 5  special </a:t>
            </a:r>
            <a:r>
              <a:rPr lang="en-US" sz="2000" b="1" dirty="0" smtClean="0"/>
              <a:t>activities headed by medical officers in Feb. </a:t>
            </a:r>
            <a:r>
              <a:rPr lang="en-US" sz="2000" b="1" dirty="0" smtClean="0"/>
              <a:t>1996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u="sng" dirty="0"/>
              <a:t>F</a:t>
            </a:r>
            <a:r>
              <a:rPr lang="en-US" sz="2000" b="1" u="sng" dirty="0" smtClean="0"/>
              <a:t>rom </a:t>
            </a:r>
            <a:r>
              <a:rPr lang="en-US" sz="2000" b="1" u="sng" dirty="0" smtClean="0"/>
              <a:t>January 1997 to 2000 </a:t>
            </a:r>
            <a:r>
              <a:rPr lang="en-US" sz="2000" b="1" u="sng" dirty="0" smtClean="0">
                <a:solidFill>
                  <a:srgbClr val="0000FF"/>
                </a:solidFill>
              </a:rPr>
              <a:t>JICA</a:t>
            </a:r>
            <a:r>
              <a:rPr lang="en-US" sz="2000" b="1" u="sng" dirty="0" smtClean="0"/>
              <a:t> helped us by Frontline MCH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u="sng" dirty="0" smtClean="0"/>
              <a:t>Program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b="1" dirty="0" smtClean="0">
                <a:solidFill>
                  <a:srgbClr val="0000FF"/>
                </a:solidFill>
              </a:rPr>
              <a:t>&lt;5 </a:t>
            </a:r>
            <a:r>
              <a:rPr lang="en-US" sz="2000" b="1" dirty="0" smtClean="0">
                <a:solidFill>
                  <a:srgbClr val="0000FF"/>
                </a:solidFill>
              </a:rPr>
              <a:t>Special activities&gt;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b="1" dirty="0" smtClean="0">
                <a:solidFill>
                  <a:srgbClr val="0000FF"/>
                </a:solidFill>
              </a:rPr>
              <a:t>ANC-Corner</a:t>
            </a: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000" b="1" dirty="0" smtClean="0"/>
              <a:t> </a:t>
            </a: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b="1" dirty="0" smtClean="0">
                <a:solidFill>
                  <a:srgbClr val="0000FF"/>
                </a:solidFill>
              </a:rPr>
              <a:t>Under </a:t>
            </a:r>
            <a:r>
              <a:rPr lang="en-US" sz="2000" b="1" dirty="0" smtClean="0">
                <a:solidFill>
                  <a:srgbClr val="0000FF"/>
                </a:solidFill>
              </a:rPr>
              <a:t>5 corner for under 5 </a:t>
            </a:r>
            <a:r>
              <a:rPr lang="en-US" sz="2000" b="1" dirty="0" smtClean="0">
                <a:solidFill>
                  <a:srgbClr val="0000FF"/>
                </a:solidFill>
              </a:rPr>
              <a:t>children</a:t>
            </a: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b="1" dirty="0" smtClean="0">
                <a:solidFill>
                  <a:srgbClr val="0000FF"/>
                </a:solidFill>
              </a:rPr>
              <a:t>Monthly birth and death </a:t>
            </a:r>
            <a:r>
              <a:rPr lang="en-US" sz="2000" b="1" dirty="0" smtClean="0">
                <a:solidFill>
                  <a:srgbClr val="0000FF"/>
                </a:solidFill>
              </a:rPr>
              <a:t>record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000" b="1" dirty="0" smtClean="0">
                <a:solidFill>
                  <a:srgbClr val="0000FF"/>
                </a:solidFill>
              </a:rPr>
              <a:t>Health Education Session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400079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2982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 smtClean="0"/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   In 2008, Chowgacha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       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All the components of primary health care implemented in Chowgacha in 2000.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2004 to 2018.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47944249"/>
              </p:ext>
            </p:extLst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err="1" smtClean="0"/>
                        <a:t>Jhekorgacha</a:t>
                      </a:r>
                      <a:r>
                        <a:rPr lang="en-GB" sz="1600" b="1" baseline="0" dirty="0" smtClean="0"/>
                        <a:t> UHC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5698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248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295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>
                          <a:latin typeface="+mn-lt"/>
                        </a:rPr>
                        <a:t>543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126582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8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marL="0" indent="0">
              <a:buNone/>
              <a:defRPr/>
            </a:pPr>
            <a:r>
              <a:rPr lang="en-US" sz="2000" b="1" dirty="0" smtClean="0"/>
              <a:t>    Unprotected and insecure  hospital environment.</a:t>
            </a:r>
          </a:p>
          <a:p>
            <a:pPr marL="0" indent="0">
              <a:buNone/>
              <a:defRPr/>
            </a:pPr>
            <a:r>
              <a:rPr lang="en-US" sz="2000" dirty="0" smtClean="0"/>
              <a:t>	</a:t>
            </a:r>
            <a:endParaRPr lang="en-US" sz="2000" dirty="0"/>
          </a:p>
          <a:p>
            <a:pPr>
              <a:defRPr/>
            </a:pPr>
            <a:r>
              <a:rPr lang="en-US" sz="2000" b="1" dirty="0" smtClean="0"/>
              <a:t>Performance of all activities</a:t>
            </a:r>
            <a:r>
              <a:rPr lang="en-US" sz="1800" b="1" dirty="0" smtClean="0"/>
              <a:t> </a:t>
            </a:r>
            <a:r>
              <a:rPr lang="en-US" sz="2000" b="1" dirty="0" smtClean="0"/>
              <a:t>was very low.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 smtClean="0"/>
              <a:t>Very limited support staff. 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 smtClean="0"/>
              <a:t>Receiving money from the patients by non-gob staff.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 smtClean="0"/>
              <a:t>Financial management was very weak.</a:t>
            </a:r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r>
              <a:rPr lang="en-US" sz="2000" b="1" dirty="0" smtClean="0"/>
              <a:t>Waste management system was poor.</a:t>
            </a:r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r>
              <a:rPr lang="en-US" sz="2000" b="1" dirty="0" smtClean="0"/>
              <a:t>Monitoring  </a:t>
            </a:r>
            <a:r>
              <a:rPr lang="en-US" sz="2000" b="1" dirty="0"/>
              <a:t>m</a:t>
            </a:r>
            <a:r>
              <a:rPr lang="en-US" sz="2000" b="1" dirty="0" smtClean="0"/>
              <a:t>eeting was not performed regularly.</a:t>
            </a:r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How </a:t>
            </a:r>
            <a:r>
              <a:rPr lang="en-US" sz="2800" b="1" dirty="0" smtClean="0"/>
              <a:t>to overcome the challenges.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287" y="1031544"/>
            <a:ext cx="8153400" cy="56388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sz="1800" b="1" dirty="0" smtClean="0"/>
          </a:p>
          <a:p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Local level &amp; institutional level commitment.</a:t>
            </a:r>
          </a:p>
          <a:p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Setup a vision of the institution</a:t>
            </a:r>
          </a:p>
          <a:p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 Identification of problems</a:t>
            </a:r>
          </a:p>
          <a:p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Baseline  survey about overall situation and make a report</a:t>
            </a:r>
            <a:r>
              <a:rPr lang="en-US" sz="1800" b="1" dirty="0" smtClean="0">
                <a:solidFill>
                  <a:schemeClr val="tx1"/>
                </a:solidFill>
              </a:rPr>
              <a:t>.</a:t>
            </a:r>
          </a:p>
          <a:p>
            <a:endParaRPr lang="en-US" sz="1800" b="1" dirty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 Motivation of the  service provider about goals&amp; its indicators related to 4</a:t>
            </a:r>
            <a:r>
              <a:rPr lang="en-US" sz="1800" b="1" baseline="30000" dirty="0" smtClean="0">
                <a:solidFill>
                  <a:schemeClr val="tx1"/>
                </a:solidFill>
              </a:rPr>
              <a:t>th</a:t>
            </a:r>
            <a:r>
              <a:rPr lang="en-US" sz="1800" b="1" dirty="0" smtClean="0">
                <a:solidFill>
                  <a:schemeClr val="tx1"/>
                </a:solidFill>
              </a:rPr>
              <a:t> HPNSP &amp; SDG and how to asses its progress </a:t>
            </a:r>
          </a:p>
          <a:p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Social mobilization  with local administration, police, reporters, and community </a:t>
            </a:r>
            <a:r>
              <a:rPr lang="en-US" sz="1800" b="1" dirty="0" err="1" smtClean="0">
                <a:solidFill>
                  <a:schemeClr val="tx1"/>
                </a:solidFill>
              </a:rPr>
              <a:t>leaders,NGOs,&amp;religious</a:t>
            </a:r>
            <a:r>
              <a:rPr lang="en-US" sz="1800" b="1" dirty="0" smtClean="0">
                <a:solidFill>
                  <a:schemeClr val="tx1"/>
                </a:solidFill>
              </a:rPr>
              <a:t> leaders.</a:t>
            </a:r>
          </a:p>
          <a:p>
            <a:endParaRPr lang="en-US" sz="1800" b="1" dirty="0"/>
          </a:p>
          <a:p>
            <a:endParaRPr lang="en-US" sz="1800" b="1" dirty="0" smtClean="0"/>
          </a:p>
          <a:p>
            <a:pPr marL="0" indent="0">
              <a:buNone/>
            </a:pPr>
            <a:endParaRPr lang="en-US" sz="1800" b="1" dirty="0" smtClean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2191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153400" cy="56388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1800" b="1" dirty="0" smtClean="0"/>
          </a:p>
          <a:p>
            <a:r>
              <a:rPr lang="en-US" sz="1800" b="1" dirty="0" smtClean="0"/>
              <a:t>Motivation of the service provider  to the leadership quality of the managers.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Create a moral based health  environment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Starting of visible change by using 5s KAIZEN philosophy by own resources  &amp; formation of WIT and QIC.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 Donation starts from service providers, then from the community 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Formation of  Community  Support </a:t>
            </a:r>
            <a:r>
              <a:rPr lang="en-US" sz="1800" b="1" dirty="0"/>
              <a:t>,</a:t>
            </a:r>
            <a:r>
              <a:rPr lang="en-US" sz="1800" b="1" dirty="0" smtClean="0"/>
              <a:t>  </a:t>
            </a:r>
            <a:r>
              <a:rPr lang="en-US" sz="1800" b="1" dirty="0" smtClean="0"/>
              <a:t>Committee &amp;utilize the committee as per need of the hospital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Monitoring &amp; evaluation of all activities</a:t>
            </a:r>
          </a:p>
          <a:p>
            <a:endParaRPr lang="en-US" sz="1800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How </a:t>
            </a:r>
            <a:r>
              <a:rPr lang="en-US" sz="2800" b="1" dirty="0" smtClean="0"/>
              <a:t>to overcome the challenges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3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199" y="3895725"/>
            <a:ext cx="4313237" cy="2914650"/>
          </a:xfrm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prstGeom prst="rect">
            <a:avLst/>
          </a:prstGeom>
          <a:noFill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31" y="388620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all </a:t>
            </a:r>
            <a:r>
              <a:rPr lang="en-US" b="1" dirty="0"/>
              <a:t>p</a:t>
            </a:r>
            <a:r>
              <a:rPr lang="en-US" b="1" dirty="0" smtClean="0"/>
              <a:t>erformance  of all services of the hospital.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</a:t>
            </a:r>
            <a:r>
              <a:rPr lang="en-US" b="1" dirty="0" smtClean="0"/>
              <a:t>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.c-j model is replicating in 11 district hospital and 5 </a:t>
            </a:r>
            <a:r>
              <a:rPr lang="en-US" b="1" dirty="0" err="1" smtClean="0"/>
              <a:t>upazilla</a:t>
            </a:r>
            <a:r>
              <a:rPr lang="en-US" b="1" dirty="0" smtClean="0"/>
              <a:t>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</a:t>
            </a:r>
            <a:r>
              <a:rPr lang="en-US" b="1" dirty="0"/>
              <a:t>7</a:t>
            </a:r>
            <a:r>
              <a:rPr lang="en-US" b="1" dirty="0" smtClean="0"/>
              <a:t> </a:t>
            </a:r>
            <a:r>
              <a:rPr lang="en-US" b="1" dirty="0"/>
              <a:t>times from 2013 to </a:t>
            </a:r>
            <a:r>
              <a:rPr lang="en-US" b="1" dirty="0" smtClean="0"/>
              <a:t>2018.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5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5103</TotalTime>
  <Words>1063</Words>
  <Application>Microsoft Office PowerPoint</Application>
  <PresentationFormat>On-screen Show (4:3)</PresentationFormat>
  <Paragraphs>344</Paragraphs>
  <Slides>34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5_シック</vt:lpstr>
      <vt:lpstr>Office Theme</vt:lpstr>
      <vt:lpstr>Default Design</vt:lpstr>
      <vt:lpstr>Chart</vt:lpstr>
      <vt:lpstr>PowerPoint Presentation</vt:lpstr>
      <vt:lpstr>PowerPoint Presentation</vt:lpstr>
      <vt:lpstr>PowerPoint Presentation</vt:lpstr>
      <vt:lpstr>Challenges of Chowgacha UHC</vt:lpstr>
      <vt:lpstr>A Sub-district level  Hospital with a Vision …</vt:lpstr>
      <vt:lpstr>Background History of MCH services of Chowgacha Health Complex, Jessore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100 kh¨v wewkó m`i nvmcvZvj, wSbvB`n</vt:lpstr>
      <vt:lpstr>Challenges of the hospital in 2012</vt:lpstr>
      <vt:lpstr>How to overcome the challenges.</vt:lpstr>
      <vt:lpstr>How to overcome the challenges 2</vt:lpstr>
      <vt:lpstr>PowerPoint Presentation</vt:lpstr>
      <vt:lpstr>Emergency &amp; Out Door, Indoor  Service 1998 to 2017</vt:lpstr>
      <vt:lpstr>Operation Service (Major) 2011 to 2017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641</cp:revision>
  <cp:lastPrinted>2017-03-18T23:47:54Z</cp:lastPrinted>
  <dcterms:created xsi:type="dcterms:W3CDTF">2013-05-05T09:56:19Z</dcterms:created>
  <dcterms:modified xsi:type="dcterms:W3CDTF">2019-01-13T17:51:00Z</dcterms:modified>
</cp:coreProperties>
</file>