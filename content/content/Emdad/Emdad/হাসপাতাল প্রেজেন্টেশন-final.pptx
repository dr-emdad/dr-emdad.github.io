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0" r:id="rId2"/>
  </p:sldMasterIdLst>
  <p:notesMasterIdLst>
    <p:notesMasterId r:id="rId71"/>
  </p:notesMasterIdLst>
  <p:handoutMasterIdLst>
    <p:handoutMasterId r:id="rId72"/>
  </p:handoutMasterIdLst>
  <p:sldIdLst>
    <p:sldId id="420" r:id="rId3"/>
    <p:sldId id="409" r:id="rId4"/>
    <p:sldId id="366" r:id="rId5"/>
    <p:sldId id="410" r:id="rId6"/>
    <p:sldId id="411" r:id="rId7"/>
    <p:sldId id="412" r:id="rId8"/>
    <p:sldId id="369" r:id="rId9"/>
    <p:sldId id="256" r:id="rId10"/>
    <p:sldId id="257" r:id="rId11"/>
    <p:sldId id="259" r:id="rId12"/>
    <p:sldId id="310" r:id="rId13"/>
    <p:sldId id="260" r:id="rId14"/>
    <p:sldId id="261" r:id="rId15"/>
    <p:sldId id="262" r:id="rId16"/>
    <p:sldId id="371" r:id="rId17"/>
    <p:sldId id="280" r:id="rId18"/>
    <p:sldId id="281" r:id="rId19"/>
    <p:sldId id="283" r:id="rId20"/>
    <p:sldId id="284" r:id="rId21"/>
    <p:sldId id="311" r:id="rId22"/>
    <p:sldId id="313" r:id="rId23"/>
    <p:sldId id="301" r:id="rId24"/>
    <p:sldId id="358" r:id="rId25"/>
    <p:sldId id="341" r:id="rId26"/>
    <p:sldId id="295" r:id="rId27"/>
    <p:sldId id="340" r:id="rId28"/>
    <p:sldId id="413" r:id="rId29"/>
    <p:sldId id="296" r:id="rId30"/>
    <p:sldId id="315" r:id="rId31"/>
    <p:sldId id="316" r:id="rId32"/>
    <p:sldId id="317" r:id="rId33"/>
    <p:sldId id="318" r:id="rId34"/>
    <p:sldId id="344" r:id="rId35"/>
    <p:sldId id="345" r:id="rId36"/>
    <p:sldId id="348" r:id="rId37"/>
    <p:sldId id="347" r:id="rId38"/>
    <p:sldId id="321" r:id="rId39"/>
    <p:sldId id="351" r:id="rId40"/>
    <p:sldId id="367" r:id="rId41"/>
    <p:sldId id="323" r:id="rId42"/>
    <p:sldId id="326" r:id="rId43"/>
    <p:sldId id="327" r:id="rId44"/>
    <p:sldId id="350" r:id="rId45"/>
    <p:sldId id="330" r:id="rId46"/>
    <p:sldId id="352" r:id="rId47"/>
    <p:sldId id="331" r:id="rId48"/>
    <p:sldId id="338" r:id="rId49"/>
    <p:sldId id="342" r:id="rId50"/>
    <p:sldId id="335" r:id="rId51"/>
    <p:sldId id="336" r:id="rId52"/>
    <p:sldId id="372" r:id="rId53"/>
    <p:sldId id="303" r:id="rId54"/>
    <p:sldId id="276" r:id="rId55"/>
    <p:sldId id="373" r:id="rId56"/>
    <p:sldId id="414" r:id="rId57"/>
    <p:sldId id="415" r:id="rId58"/>
    <p:sldId id="416" r:id="rId59"/>
    <p:sldId id="417" r:id="rId60"/>
    <p:sldId id="374" r:id="rId61"/>
    <p:sldId id="421" r:id="rId62"/>
    <p:sldId id="423" r:id="rId63"/>
    <p:sldId id="376" r:id="rId64"/>
    <p:sldId id="377" r:id="rId65"/>
    <p:sldId id="422" r:id="rId66"/>
    <p:sldId id="378" r:id="rId67"/>
    <p:sldId id="379" r:id="rId68"/>
    <p:sldId id="418" r:id="rId69"/>
    <p:sldId id="408" r:id="rId7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F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624" autoAdjust="0"/>
  </p:normalViewPr>
  <p:slideViewPr>
    <p:cSldViewPr>
      <p:cViewPr varScale="1">
        <p:scale>
          <a:sx n="53" d="100"/>
          <a:sy n="53" d="100"/>
        </p:scale>
        <p:origin x="-96" y="-4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5BC07-1886-426D-A8FD-8B57FD5B8FDD}" type="datetimeFigureOut">
              <a:rPr lang="en-US" smtClean="0"/>
              <a:pPr/>
              <a:t>8/4/2019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29345-2F78-4322-9959-D0C16B0BC0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7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AD48E-6416-4B28-B021-62D67D95A1BB}" type="datetimeFigureOut">
              <a:rPr lang="en-US" smtClean="0"/>
              <a:pPr/>
              <a:t>8/4/2019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164B8-BE28-4E77-B52F-416508C18E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178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3D149D36-0DC6-44AB-B8D9-8FDEB9D9B8ED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9A8033E6-1A4C-494D-9997-17E26475F861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09468F39-9A4E-4F93-82FA-673394CB8DF8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7CA11C38-FF3F-4911-A666-56CDE38AA092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BBD3D38A-8465-4AF9-9AA2-98BB258D0DC3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E323-023B-433B-87EA-4ED8706EAB6B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CF989BD4-10EF-4FE2-88AB-5B36A7903C67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6E223E22-EAD0-4B9A-BA4A-AA9DD037691D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096CD6CB-95C8-4D64-A083-09DC620188D6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E105-1F91-4CF8-B81B-2947F18D541E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BE574-8D6A-4021-9606-85AAF27F991B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4DC8-00CC-438C-AF91-48A11CBE39DA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1F041-1E7D-4B94-B807-35015E1775D4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86FC-A325-4B64-8B3F-81FC75171C69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A9261-E52F-43E7-820D-66F819AB3F68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0291-B9DC-4A3B-851F-D30C7F513130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37563-CBE7-430D-B207-B3F910BAFA23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55C4-A6EA-4553-B59E-68D864C7E7E7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022C-8277-4AF4-B043-9B40C2F4FF47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938991E1-3107-49DC-86BC-527D1F97080C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A1597-B43D-4D0D-9D37-7245AE5CE8EB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48E43-3B4E-49A1-8A68-D11A02C475DD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C749F52F-35A2-4374-B3F1-BC8029F1EDBD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DC1EBE1D-D8EF-4711-A567-6D1A60DBD501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CDA1A2E9-63FE-408D-A803-8E306ECAB4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46543" y="450222"/>
            <a:ext cx="8454557" cy="3918123"/>
          </a:xfrm>
          <a:prstGeom prst="rect">
            <a:avLst/>
          </a:prstGeom>
          <a:solidFill>
            <a:srgbClr val="404040">
              <a:alpha val="95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502" y="682389"/>
            <a:ext cx="7508873" cy="305258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 err="1" smtClean="0">
                <a:solidFill>
                  <a:srgbClr val="FFFFFF"/>
                </a:solidFill>
              </a:rPr>
              <a:t>চৌগাছা-ঝিনাইদহ</a:t>
            </a:r>
            <a:r>
              <a:rPr lang="en-US" dirty="0" smtClean="0">
                <a:solidFill>
                  <a:srgbClr val="FFFFFF"/>
                </a:solidFill>
              </a:rPr>
              <a:t> (</a:t>
            </a:r>
            <a:r>
              <a:rPr lang="en-US" dirty="0" err="1" smtClean="0">
                <a:solidFill>
                  <a:srgbClr val="FFFFFF"/>
                </a:solidFill>
              </a:rPr>
              <a:t>সি-জে</a:t>
            </a:r>
            <a:r>
              <a:rPr lang="en-US" dirty="0" smtClean="0">
                <a:solidFill>
                  <a:srgbClr val="FFFFFF"/>
                </a:solidFill>
              </a:rPr>
              <a:t>) </a:t>
            </a:r>
            <a:r>
              <a:rPr lang="en-US" dirty="0" err="1" smtClean="0">
                <a:solidFill>
                  <a:srgbClr val="FFFFFF"/>
                </a:solidFill>
              </a:rPr>
              <a:t>মডেল</a:t>
            </a:r>
            <a:r>
              <a:rPr lang="en-US" dirty="0" smtClean="0">
                <a:solidFill>
                  <a:srgbClr val="FFFFFF"/>
                </a:solidFill>
              </a:rPr>
              <a:t>:</a:t>
            </a:r>
            <a:r>
              <a:rPr lang="en-US" dirty="0">
                <a:solidFill>
                  <a:srgbClr val="FFFFFF"/>
                </a:solidFill>
              </a:rPr>
              <a:t/>
            </a:r>
            <a:br>
              <a:rPr lang="en-US" dirty="0">
                <a:solidFill>
                  <a:srgbClr val="FFFFFF"/>
                </a:solidFill>
              </a:rPr>
            </a:br>
            <a:r>
              <a:rPr lang="bn-IN" dirty="0" smtClean="0">
                <a:solidFill>
                  <a:srgbClr val="FFFFFF"/>
                </a:solidFill>
                <a:latin typeface="SolaimanLipi" pitchFamily="65" charset="0"/>
                <a:cs typeface="SolaimanLipi" pitchFamily="65" charset="0"/>
              </a:rPr>
              <a:t>নেতৃত্ব এবং দলগত ব্যবস্থাপনা</a:t>
            </a:r>
            <a:br>
              <a:rPr lang="bn-IN" dirty="0" smtClean="0">
                <a:solidFill>
                  <a:srgbClr val="FFFFFF"/>
                </a:solidFill>
                <a:latin typeface="SolaimanLipi" pitchFamily="65" charset="0"/>
                <a:cs typeface="SolaimanLipi" pitchFamily="65" charset="0"/>
              </a:rPr>
            </a:br>
            <a:r>
              <a:rPr lang="bn-IN" dirty="0" smtClean="0">
                <a:solidFill>
                  <a:srgbClr val="FFFFFF"/>
                </a:solidFill>
                <a:latin typeface="SolaimanLipi" pitchFamily="65" charset="0"/>
                <a:cs typeface="SolaimanLipi" pitchFamily="65" charset="0"/>
              </a:rPr>
              <a:t>মুজিবনগর ও কোটচাঁদপুর উপজেলা স্বাস্থ্য কমপ্লেক্স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FBE9F90C-C163-435B-9A68-D15C92D1CF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42900" y="4521270"/>
            <a:ext cx="5024435" cy="1877811"/>
          </a:xfrm>
          <a:prstGeom prst="rect">
            <a:avLst/>
          </a:prstGeom>
          <a:solidFill>
            <a:srgbClr val="A5A5A5">
              <a:alpha val="80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962" y="4521270"/>
            <a:ext cx="5024435" cy="1877810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r>
              <a:rPr lang="en-US" sz="3200" b="1" dirty="0">
                <a:solidFill>
                  <a:srgbClr val="1B1B1B"/>
                </a:solidFill>
              </a:rPr>
              <a:t> </a:t>
            </a:r>
            <a:r>
              <a:rPr lang="en-US" sz="3600" b="1" dirty="0" err="1" smtClean="0">
                <a:solidFill>
                  <a:srgbClr val="1B1B1B"/>
                </a:solidFill>
              </a:rPr>
              <a:t>ডা</a:t>
            </a:r>
            <a:r>
              <a:rPr lang="bn-IN" sz="3600" b="1" dirty="0" smtClean="0">
                <a:solidFill>
                  <a:srgbClr val="1B1B1B"/>
                </a:solidFill>
              </a:rPr>
              <a:t>. </a:t>
            </a:r>
            <a:r>
              <a:rPr lang="bn-BD" sz="3600" b="1" dirty="0" smtClean="0">
                <a:solidFill>
                  <a:srgbClr val="1B1B1B"/>
                </a:solidFill>
              </a:rPr>
              <a:t>ম</a:t>
            </a:r>
            <a:r>
              <a:rPr lang="en-US" sz="3600" b="1" dirty="0" smtClean="0">
                <a:solidFill>
                  <a:srgbClr val="1B1B1B"/>
                </a:solidFill>
              </a:rPr>
              <a:t>ো</a:t>
            </a:r>
            <a:r>
              <a:rPr lang="bn-IN" sz="3600" b="1" dirty="0" smtClean="0">
                <a:solidFill>
                  <a:srgbClr val="1B1B1B"/>
                </a:solidFill>
              </a:rPr>
              <a:t>ঃ</a:t>
            </a:r>
            <a:r>
              <a:rPr lang="en-US" sz="3600" b="1" dirty="0" smtClean="0">
                <a:solidFill>
                  <a:srgbClr val="1B1B1B"/>
                </a:solidFill>
              </a:rPr>
              <a:t> </a:t>
            </a:r>
            <a:r>
              <a:rPr lang="bn-IN" sz="3600" b="1" dirty="0" smtClean="0">
                <a:solidFill>
                  <a:srgbClr val="1B1B1B"/>
                </a:solidFill>
              </a:rPr>
              <a:t>শাহাব উদ্দিন</a:t>
            </a:r>
            <a:endParaRPr lang="en-US" sz="3600" b="1" dirty="0">
              <a:solidFill>
                <a:srgbClr val="1B1B1B"/>
              </a:solidFill>
            </a:endParaRPr>
          </a:p>
          <a:p>
            <a:r>
              <a:rPr lang="bn-IN" sz="3200" b="1" dirty="0" smtClean="0">
                <a:solidFill>
                  <a:srgbClr val="1B1B1B"/>
                </a:solidFill>
              </a:rPr>
              <a:t> </a:t>
            </a:r>
            <a:r>
              <a:rPr lang="bn-IN" sz="2600" b="1" dirty="0" smtClean="0">
                <a:solidFill>
                  <a:srgbClr val="1B1B1B"/>
                </a:solidFill>
              </a:rPr>
              <a:t>অনারারি কনসালট্যান্ট,স্বাস্থ্য অধিদপ্তর</a:t>
            </a:r>
            <a:endParaRPr lang="en-US" sz="2600" b="1" dirty="0">
              <a:solidFill>
                <a:srgbClr val="1B1B1B"/>
              </a:solidFill>
            </a:endParaRPr>
          </a:p>
          <a:p>
            <a:r>
              <a:rPr lang="bn-IN" dirty="0" smtClean="0">
                <a:solidFill>
                  <a:srgbClr val="1B1B1B"/>
                </a:solidFill>
              </a:rPr>
              <a:t>উপজেলা স্বাস্থ্য ও পঃ পঃ কর্মকর্তা (অবঃ)</a:t>
            </a:r>
            <a:endParaRPr lang="en-US" b="1" dirty="0">
              <a:solidFill>
                <a:srgbClr val="1B1B1B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5B21C29-90F7-462A-A9E9-C39ED42AFF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8" r="5" b="5159"/>
          <a:stretch/>
        </p:blipFill>
        <p:spPr>
          <a:xfrm>
            <a:off x="5608634" y="4681182"/>
            <a:ext cx="1364576" cy="1717898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1A882A9F-F4E9-4E23-8F0B-20B5DF42EA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214509" y="4521270"/>
            <a:ext cx="1586591" cy="1890204"/>
          </a:xfrm>
          <a:prstGeom prst="rect">
            <a:avLst/>
          </a:prstGeom>
          <a:solidFill>
            <a:srgbClr val="43815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735" y="4681183"/>
            <a:ext cx="1279477" cy="155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476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11" y="1155962"/>
            <a:ext cx="78867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6" y="5808497"/>
            <a:ext cx="641026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103" y="5808496"/>
            <a:ext cx="547211" cy="76835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pic>
        <p:nvPicPr>
          <p:cNvPr id="10" name="Content Placeholder 6" descr="IMG_20160829_144042.jpg"/>
          <p:cNvPicPr>
            <a:picLocks noGrp="1" noChangeAspect="1"/>
          </p:cNvPicPr>
          <p:nvPr>
            <p:ph idx="1"/>
          </p:nvPr>
        </p:nvPicPr>
        <p:blipFill>
          <a:blip r:embed="rId4" cstate="print"/>
          <a:stretch>
            <a:fillRect/>
          </a:stretch>
        </p:blipFill>
        <p:spPr>
          <a:xfrm>
            <a:off x="834785" y="1037231"/>
            <a:ext cx="7594979" cy="4148918"/>
          </a:xfr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 txBox="1">
            <a:spLocks/>
          </p:cNvSpPr>
          <p:nvPr/>
        </p:nvSpPr>
        <p:spPr>
          <a:xfrm>
            <a:off x="582589" y="122830"/>
            <a:ext cx="7886700" cy="707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 </a:t>
            </a:r>
            <a:b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                                       </a:t>
            </a:r>
            <a:r>
              <a:rPr lang="bn-IN" sz="12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উপজেলা স্বাস্থ্য কমপ্লেক্স, কোটচাঁদপুর </a:t>
            </a:r>
            <a:endParaRPr lang="en-US" sz="120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782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z-1-scontent-sin1-1.xx.fbcdn.net/v/t1.0-9/13315799_251587221866420_4962305093066743845_n.jpg?oh=0d45b43af44d6ed9a26a35da8f574a56&amp;oe=57DDBB8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066800" y="1905000"/>
            <a:ext cx="7620000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11500" b="1" dirty="0" err="1" smtClean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Kalpurush" pitchFamily="2" charset="0"/>
                <a:cs typeface="Kalpurush" pitchFamily="2" charset="0"/>
              </a:rPr>
              <a:t>স্বাস্থ্য</a:t>
            </a:r>
            <a:r>
              <a:rPr lang="en-US" sz="11500" b="1" dirty="0" smtClean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sz="11500" b="1" dirty="0" err="1" smtClean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Kalpurush" pitchFamily="2" charset="0"/>
                <a:cs typeface="Kalpurush" pitchFamily="2" charset="0"/>
              </a:rPr>
              <a:t>বিভাগ</a:t>
            </a:r>
            <a:endParaRPr lang="en-US" sz="9600" b="1" dirty="0" smtClean="0">
              <a:ln w="11430"/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Kalpurush" pitchFamily="2" charset="0"/>
              <a:cs typeface="Kalpurush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70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67000" y="3482876"/>
            <a:ext cx="6324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 smtClean="0">
                <a:solidFill>
                  <a:srgbClr val="FFFF0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bn-BD" sz="8000" b="1" dirty="0" smtClean="0">
                <a:ln w="28575">
                  <a:solidFill>
                    <a:schemeClr val="bg1">
                      <a:lumMod val="85000"/>
                      <a:lumOff val="15000"/>
                    </a:schemeClr>
                  </a:solidFill>
                </a:ln>
                <a:solidFill>
                  <a:srgbClr val="FFFF0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alpurush" pitchFamily="2" charset="0"/>
                <a:cs typeface="Kalpurush" pitchFamily="2" charset="0"/>
              </a:rPr>
              <a:t>কোটচাঁদপুর</a:t>
            </a:r>
            <a:endParaRPr lang="en-US" sz="8000" b="1" dirty="0" smtClean="0">
              <a:ln w="28575">
                <a:solidFill>
                  <a:schemeClr val="bg1">
                    <a:lumMod val="85000"/>
                    <a:lumOff val="15000"/>
                  </a:schemeClr>
                </a:solidFill>
              </a:ln>
              <a:solidFill>
                <a:srgbClr val="FFFF00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Kalpurush" pitchFamily="2" charset="0"/>
              <a:cs typeface="Kalpurush" pitchFamily="2" charset="0"/>
            </a:endParaRPr>
          </a:p>
          <a:p>
            <a:pPr algn="ctr"/>
            <a:r>
              <a:rPr lang="en-US" sz="8000" b="1" dirty="0" smtClean="0">
                <a:ln w="28575">
                  <a:solidFill>
                    <a:schemeClr val="bg1">
                      <a:lumMod val="85000"/>
                      <a:lumOff val="15000"/>
                    </a:schemeClr>
                  </a:solidFill>
                </a:ln>
                <a:solidFill>
                  <a:srgbClr val="FFFF0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alpurush" pitchFamily="2" charset="0"/>
                <a:cs typeface="Kalpurush" pitchFamily="2" charset="0"/>
              </a:rPr>
              <a:t>  </a:t>
            </a:r>
            <a:r>
              <a:rPr lang="bn-BD" sz="8000" b="1" dirty="0" smtClean="0">
                <a:ln w="28575">
                  <a:solidFill>
                    <a:schemeClr val="bg1">
                      <a:lumMod val="85000"/>
                      <a:lumOff val="15000"/>
                    </a:schemeClr>
                  </a:solidFill>
                </a:ln>
                <a:solidFill>
                  <a:srgbClr val="FFFF0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alpurush" pitchFamily="2" charset="0"/>
                <a:cs typeface="Kalpurush" pitchFamily="2" charset="0"/>
              </a:rPr>
              <a:t>ঝিনাইদহ</a:t>
            </a:r>
            <a:endParaRPr lang="en-US" sz="8000" b="1" dirty="0">
              <a:ln w="28575">
                <a:solidFill>
                  <a:schemeClr val="bg1">
                    <a:lumMod val="85000"/>
                    <a:lumOff val="15000"/>
                  </a:schemeClr>
                </a:solidFill>
              </a:ln>
              <a:solidFill>
                <a:srgbClr val="FFFF00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Kalpurush" pitchFamily="2" charset="0"/>
              <a:cs typeface="Kalpurush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6296"/>
            <a:ext cx="78867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sz="4800" dirty="0" smtClean="0">
                <a:solidFill>
                  <a:srgbClr val="002060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                      ভূমিকা</a:t>
            </a:r>
            <a:endParaRPr lang="en-US" sz="4800" dirty="0">
              <a:solidFill>
                <a:srgbClr val="002060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89" y="971719"/>
            <a:ext cx="8705566" cy="471257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bn-IN" sz="4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৫০ শয্যাবিশিষ্ট হাসপাতাল</a:t>
            </a:r>
          </a:p>
          <a:p>
            <a:pPr marL="0" indent="0">
              <a:buNone/>
            </a:pPr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হাসপাতালের লোকবলঃ</a:t>
            </a:r>
          </a:p>
          <a:p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ইউএইচ এফ পিও সহ </a:t>
            </a:r>
            <a:r>
              <a:rPr lang="bn-IN" sz="4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৫ জন </a:t>
            </a:r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মেডিকেল অফিসার।</a:t>
            </a:r>
          </a:p>
          <a:p>
            <a:r>
              <a:rPr lang="bn-IN" sz="4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১২ </a:t>
            </a:r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জন নার্স</a:t>
            </a:r>
          </a:p>
          <a:p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পরিচ্ছন্নকর্মী </a:t>
            </a:r>
            <a:r>
              <a:rPr lang="bn-IN" sz="4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২ </a:t>
            </a:r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জন</a:t>
            </a:r>
          </a:p>
          <a:p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আয়া ২ জন</a:t>
            </a:r>
          </a:p>
          <a:p>
            <a:pPr marL="0" indent="0">
              <a:buNone/>
            </a:pPr>
            <a:endParaRPr lang="bn-IN" sz="2000" b="1" dirty="0" smtClean="0"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endParaRPr lang="en-US" sz="20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6" y="5808497"/>
            <a:ext cx="641026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103" y="5808496"/>
            <a:ext cx="547211" cy="76835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157E6F12-B8AF-4F30-8145-9B8074193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1236749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89" y="313900"/>
            <a:ext cx="8705566" cy="5370394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bn-IN" sz="3600" b="1" dirty="0" smtClean="0">
                <a:solidFill>
                  <a:schemeClr val="tx2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                                  </a:t>
            </a:r>
            <a:r>
              <a:rPr lang="bn-IN" sz="4800" b="1" dirty="0" smtClean="0">
                <a:solidFill>
                  <a:schemeClr val="tx2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সমস্যাসমূহ</a:t>
            </a:r>
            <a:endParaRPr lang="bn-IN" sz="4800" b="1" dirty="0">
              <a:solidFill>
                <a:schemeClr val="tx2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অপরিচ্ছিন্ন পরিবেশ</a:t>
            </a: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নিরাপত্তার অভাব</a:t>
            </a: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জনবলের অভাব</a:t>
            </a: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প্রশাসনিক </a:t>
            </a:r>
            <a:r>
              <a:rPr lang="bn-IN" sz="36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দূর্বলতা</a:t>
            </a:r>
          </a:p>
          <a:p>
            <a:r>
              <a:rPr lang="bn-IN" sz="36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পথ্য </a:t>
            </a:r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অব্যবস্থাপনা</a:t>
            </a: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বর্জ্য ও পয়ঃনিষ্কাশন অব্যবস্থাপনা</a:t>
            </a: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অপর্যাপ্ত বিদ্যুৎ ও পানি সরবরাহ ব্যবস্থা</a:t>
            </a: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দূর্বল সেবা ব্যবস্থা</a:t>
            </a:r>
          </a:p>
          <a:p>
            <a:endParaRPr lang="en-US" sz="20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6" y="5808497"/>
            <a:ext cx="641026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103" y="5808496"/>
            <a:ext cx="547211" cy="76835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157E6F12-B8AF-4F30-8145-9B8074193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1426932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414" y="109182"/>
            <a:ext cx="7886700" cy="582759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bn-IN" sz="3200" b="1" dirty="0" smtClean="0">
                <a:solidFill>
                  <a:schemeClr val="tx2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                               </a:t>
            </a:r>
            <a:r>
              <a:rPr lang="bn-IN" sz="4400" b="1" dirty="0" smtClean="0">
                <a:solidFill>
                  <a:schemeClr val="tx2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উদ্যোগ</a:t>
            </a:r>
            <a:endParaRPr lang="bn-IN" sz="4400" b="1" dirty="0">
              <a:solidFill>
                <a:schemeClr val="tx2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সমন্বয় সাধন- উপজেলা প্রশাসন,আইনশৃঙ্খলা বাহিনী ও জনপ্রতিনিধিদের সাথে মত বিনিময়।</a:t>
            </a: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উর্ধতন কর্তৃপক্ষের দৃষ্টি আকর্ষণ।</a:t>
            </a: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অসাধু ব্যক্তিবর্গের বিরুদ্ধে আইনগত ব্যবস্থা</a:t>
            </a:r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ক্যাম্পাসে বাগান লীজ দেওয়া বন্ধ।</a:t>
            </a:r>
            <a:endParaRPr lang="bn-IN" sz="32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পরিষ্কার পরিচ্ছন্নতার ব্যপারে উদ্যোগ গ্রহণ।</a:t>
            </a: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সেবা ব্যবস্থার উন্নয়ন- বিভিন্ন কর্নার চালু করা, </a:t>
            </a:r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সিসি ক্যামেরা,ইন্টারকম পদ্ধতি, ডিজিটাল স্বাস্থ্য শিক্ষা ব্যবস্থা  এবং আল্ট্রাসাউন্ড মেশিন চালু </a:t>
            </a:r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করা।</a:t>
            </a: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সৌন্দর্যবর্ধন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গ্যারেজ ও স্টোর  উন্নতিকরণ।</a:t>
            </a:r>
            <a:endParaRPr lang="bn-IN" sz="32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পানি ও বিদ্যুৎ সরবরাহের </a:t>
            </a:r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উন্নয়ন, জেনারেটর এর ব্যবস্থা।</a:t>
            </a:r>
            <a:endParaRPr lang="bn-IN" sz="32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 smtClean="0"/>
              <a:t>সিজে জনসম্পৃক্ত স্বাস্থ্য ব্যবস্থাপনা মডেল সম্প্রসারণ</a:t>
            </a:r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507128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6100" y="6858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SutonnyMJ" pitchFamily="2" charset="0"/>
                <a:cs typeface="SutonnyMJ" pitchFamily="2" charset="0"/>
              </a:rPr>
              <a:t>   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9" name="Content Placeholder 8" descr="CYMERA_20160504_094632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127000" y="1905000"/>
            <a:ext cx="4368800" cy="3276600"/>
          </a:xfrm>
        </p:spPr>
      </p:pic>
      <p:pic>
        <p:nvPicPr>
          <p:cNvPr id="10" name="Content Placeholder 9" descr="CYMERA_20161112_102854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99000" y="1981200"/>
            <a:ext cx="4368800" cy="32766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609600" y="53340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utonnyMJ" pitchFamily="2" charset="0"/>
                <a:ea typeface="+mj-ea"/>
                <a:cs typeface="SutonnyMJ" pitchFamily="2" charset="0"/>
              </a:rPr>
              <a:t> </a:t>
            </a:r>
            <a:r>
              <a:rPr kumimoji="0" lang="en-US" sz="4200" b="1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utonnyMJ" pitchFamily="2" charset="0"/>
                <a:ea typeface="+mj-ea"/>
                <a:cs typeface="SutonnyMJ" pitchFamily="2" charset="0"/>
              </a:rPr>
              <a:t>  </a:t>
            </a:r>
            <a:r>
              <a:rPr kumimoji="0" lang="bn-BD" sz="4200" b="1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হাসপাতালের স</a:t>
            </a:r>
            <a:r>
              <a:rPr lang="bn-BD" sz="42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ea typeface="+mj-ea"/>
                <a:cs typeface="Kalpurush" pitchFamily="2" charset="0"/>
              </a:rPr>
              <a:t>ম্মুখভাগ</a:t>
            </a:r>
            <a:r>
              <a:rPr lang="bn-BD" sz="42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ea typeface="+mj-ea"/>
                <a:cs typeface="Kalpurush" pitchFamily="2" charset="0"/>
              </a:rPr>
              <a:t> 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5458968"/>
            <a:ext cx="8229600" cy="1399032"/>
          </a:xfrm>
        </p:spPr>
        <p:txBody>
          <a:bodyPr/>
          <a:lstStyle/>
          <a:p>
            <a:pPr algn="ctr"/>
            <a:r>
              <a:rPr lang="en-US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Wv÷web</a:t>
            </a:r>
            <a:endParaRPr lang="en-US" dirty="0">
              <a:solidFill>
                <a:schemeClr val="accent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7" name="Content Placeholder 6" descr="20160905_082203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2133600"/>
            <a:ext cx="4495800" cy="3524624"/>
          </a:xfrm>
        </p:spPr>
      </p:pic>
      <p:pic>
        <p:nvPicPr>
          <p:cNvPr id="5" name="Content Placeholder 4" descr="20161007_015553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572000" y="2133600"/>
            <a:ext cx="4572000" cy="358140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546100" y="6858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algn="l" rtl="0" eaLnBrk="1" latinLnBrk="0" hangingPunct="1">
              <a:spcBef>
                <a:spcPct val="0"/>
              </a:spcBef>
              <a:buNone/>
              <a:defRPr kumimoji="0" sz="42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>
                <a:latin typeface="SutonnyMJ" pitchFamily="2" charset="0"/>
                <a:cs typeface="SutonnyMJ" pitchFamily="2" charset="0"/>
              </a:rPr>
              <a:t>   c~‡e©i Ae¯’v                      eZ©gvb Ae¯’v </a:t>
            </a:r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6100" y="5471668"/>
            <a:ext cx="8229600" cy="1399032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mvB‡Kj</a:t>
            </a:r>
            <a:r>
              <a:rPr lang="en-US" b="1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M¨v‡iR</a:t>
            </a:r>
            <a:endParaRPr lang="en-US" b="1" dirty="0">
              <a:solidFill>
                <a:schemeClr val="accent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1026" name="Picture 2" descr="C:\Users\CMSD\Desktop\Digital Camera\DSC01539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470944"/>
            <a:ext cx="4038600" cy="3028950"/>
          </a:xfrm>
          <a:prstGeom prst="rect">
            <a:avLst/>
          </a:prstGeom>
          <a:noFill/>
        </p:spPr>
      </p:pic>
      <p:pic>
        <p:nvPicPr>
          <p:cNvPr id="6" name="Content Placeholder 4" descr="20160905_082015.jpg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457200" y="2470944"/>
            <a:ext cx="4038600" cy="3028950"/>
          </a:xfr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546100" y="6858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algn="l" rtl="0" eaLnBrk="1" latinLnBrk="0" hangingPunct="1">
              <a:spcBef>
                <a:spcPct val="0"/>
              </a:spcBef>
              <a:buNone/>
              <a:defRPr kumimoji="0" sz="42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>
                <a:latin typeface="SutonnyMJ" pitchFamily="2" charset="0"/>
                <a:cs typeface="SutonnyMJ" pitchFamily="2" charset="0"/>
              </a:rPr>
              <a:t>   c~‡e©i Ae¯’v                      eZ©gvb Ae¯’v </a:t>
            </a:r>
            <a:endParaRPr lang="en-US" dirty="0"/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20160905_081236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2229644"/>
            <a:ext cx="4343400" cy="3257550"/>
          </a:xfrm>
        </p:spPr>
      </p:pic>
      <p:pic>
        <p:nvPicPr>
          <p:cNvPr id="7" name="Content Placeholder 6" descr="20170205_120618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209800"/>
            <a:ext cx="4386792" cy="3290094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330581" y="5741432"/>
            <a:ext cx="25368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err="1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evm</a:t>
            </a:r>
            <a:r>
              <a:rPr lang="en-US" sz="4000" dirty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dirty="0" err="1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feb</a:t>
            </a:r>
            <a:r>
              <a:rPr lang="en-US" sz="4000" dirty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dirty="0" err="1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PË¡i</a:t>
            </a:r>
            <a:r>
              <a:rPr lang="en-US" sz="4000" dirty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</a:t>
            </a:r>
            <a:endParaRPr lang="en-GB" sz="4000" dirty="0">
              <a:solidFill>
                <a:schemeClr val="accent1"/>
              </a:solidFill>
            </a:endParaRPr>
          </a:p>
        </p:txBody>
      </p: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latin typeface="SutonnyMJ" pitchFamily="2" charset="0"/>
                <a:cs typeface="SutonnyMJ" pitchFamily="2" charset="0"/>
              </a:rPr>
              <a:t>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20160905_081349.jpg"/>
          <p:cNvPicPr>
            <a:picLocks noGrp="1" noChangeAspect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>
          <a:xfrm>
            <a:off x="228600" y="1851223"/>
            <a:ext cx="4268788" cy="3787577"/>
          </a:xfrm>
        </p:spPr>
      </p:pic>
      <p:pic>
        <p:nvPicPr>
          <p:cNvPr id="8" name="Content Placeholder 7" descr="IMG_20170219_095616.jpg"/>
          <p:cNvPicPr>
            <a:picLocks noGrp="1" noChangeAspect="1"/>
          </p:cNvPicPr>
          <p:nvPr>
            <p:ph sz="quarter" idx="4"/>
          </p:nvPr>
        </p:nvPicPr>
        <p:blipFill>
          <a:blip r:embed="rId3" cstate="print"/>
          <a:stretch>
            <a:fillRect/>
          </a:stretch>
        </p:blipFill>
        <p:spPr>
          <a:xfrm>
            <a:off x="4645025" y="1828800"/>
            <a:ext cx="4483277" cy="3810000"/>
          </a:xfr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381000" y="56388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utonnyMJ" pitchFamily="2" charset="0"/>
                <a:ea typeface="+mj-ea"/>
                <a:cs typeface="SutonnyMJ" pitchFamily="2" charset="0"/>
              </a:rPr>
              <a:t>  </a:t>
            </a:r>
            <a:r>
              <a:rPr lang="en-US" sz="4200" noProof="0" dirty="0" err="1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utonnyMJ" pitchFamily="2" charset="0"/>
                <a:ea typeface="+mj-ea"/>
                <a:cs typeface="SutonnyMJ" pitchFamily="2" charset="0"/>
              </a:rPr>
              <a:t>W‡g©Uwii</a:t>
            </a:r>
            <a:r>
              <a:rPr lang="en-US" sz="420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utonnyMJ" pitchFamily="2" charset="0"/>
                <a:ea typeface="+mj-ea"/>
                <a:cs typeface="SutonnyMJ" pitchFamily="2" charset="0"/>
              </a:rPr>
              <a:t> </a:t>
            </a:r>
            <a:r>
              <a:rPr lang="en-US" sz="4200" noProof="0" dirty="0" err="1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utonnyMJ" pitchFamily="2" charset="0"/>
                <a:ea typeface="+mj-ea"/>
                <a:cs typeface="SutonnyMJ" pitchFamily="2" charset="0"/>
              </a:rPr>
              <a:t>wcQbfvM</a:t>
            </a:r>
            <a:r>
              <a:rPr lang="en-US" sz="420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utonnyMJ" pitchFamily="2" charset="0"/>
                <a:ea typeface="+mj-ea"/>
                <a:cs typeface="SutonnyMJ" pitchFamily="2" charset="0"/>
              </a:rPr>
              <a:t> </a:t>
            </a:r>
            <a:r>
              <a:rPr lang="bn-BD" sz="42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ea typeface="+mj-ea"/>
                <a:cs typeface="Kalpurush" pitchFamily="2" charset="0"/>
              </a:rPr>
              <a:t> 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c~‡</a:t>
            </a:r>
            <a:r>
              <a:rPr lang="en-US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</a:t>
            </a:r>
            <a:endParaRPr lang="en-US" dirty="0">
              <a:solidFill>
                <a:schemeClr val="accent1"/>
              </a:solidFill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>
                <a:latin typeface="SutonnyMJ" pitchFamily="2" charset="0"/>
                <a:cs typeface="SutonnyMJ" pitchFamily="2" charset="0"/>
              </a:rPr>
              <a:t>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9" name="Content Placeholder 8" descr="CYMERA_20160504_101744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905000"/>
            <a:ext cx="4038600" cy="3028950"/>
          </a:xfrm>
        </p:spPr>
      </p:pic>
      <p:pic>
        <p:nvPicPr>
          <p:cNvPr id="10" name="Content Placeholder 9" descr="CYMERA_20161112_104046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1905000"/>
            <a:ext cx="4038600" cy="302895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304800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n-BD" sz="42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utonnyMJ" pitchFamily="2" charset="0"/>
                <a:ea typeface="+mj-ea"/>
                <a:cs typeface="Kalpurush" pitchFamily="2" charset="0"/>
              </a:rPr>
              <a:t>অফিস</a:t>
            </a:r>
            <a:r>
              <a:rPr lang="bn-BD" sz="42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ea typeface="+mj-ea"/>
                <a:cs typeface="Kalpurush" pitchFamily="2" charset="0"/>
              </a:rPr>
              <a:t> 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heel spokes="2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200025"/>
            <a:ext cx="8229600" cy="1143000"/>
          </a:xfrm>
        </p:spPr>
        <p:txBody>
          <a:bodyPr/>
          <a:lstStyle/>
          <a:p>
            <a:pPr algn="ctr"/>
            <a:r>
              <a:rPr lang="en-US" dirty="0" smtClean="0">
                <a:latin typeface="SutonnyMJ" pitchFamily="2" charset="0"/>
                <a:cs typeface="SutonnyMJ" pitchFamily="2" charset="0"/>
              </a:rPr>
              <a:t>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10" name="Content Placeholder 9" descr="IMG_20151207_105537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371600"/>
            <a:ext cx="4724400" cy="3886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533400" y="5422900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0" normalizeH="0" baseline="0" noProof="0" dirty="0" err="1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হাসপাতালের</a:t>
            </a:r>
            <a:r>
              <a:rPr kumimoji="0" lang="en-US" sz="4200" b="0" i="0" u="none" strike="noStrike" kern="1200" cap="none" spc="0" normalizeH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 </a:t>
            </a:r>
            <a:r>
              <a:rPr kumimoji="0" lang="en-US" sz="4200" b="0" i="0" u="none" strike="noStrike" kern="1200" cap="none" spc="0" normalizeH="0" noProof="0" dirty="0" err="1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অভ্যন্তর</a:t>
            </a:r>
            <a:r>
              <a:rPr kumimoji="0" lang="en-US" sz="4200" b="0" i="0" u="none" strike="noStrike" kern="1200" cap="none" spc="0" normalizeH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 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l="9434" b="9732"/>
          <a:stretch>
            <a:fillRect/>
          </a:stretch>
        </p:blipFill>
        <p:spPr bwMode="auto">
          <a:xfrm>
            <a:off x="5029200" y="1343025"/>
            <a:ext cx="3962400" cy="3838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wheel spokes="3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5458968"/>
            <a:ext cx="8229600" cy="139903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latin typeface="SutonnyMJ" pitchFamily="2" charset="0"/>
                <a:cs typeface="SutonnyMJ" pitchFamily="2" charset="0"/>
              </a:rPr>
              <a:t>†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flR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evMvb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7" name="Content Placeholder 6" descr="20160905_105521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-25400" y="2133600"/>
            <a:ext cx="4495800" cy="3371850"/>
          </a:xfrm>
        </p:spPr>
      </p:pic>
      <p:pic>
        <p:nvPicPr>
          <p:cNvPr id="10" name="Content Placeholder 9" descr="20170204_142043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133600"/>
            <a:ext cx="4288304" cy="3211817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algn="l" rtl="0" eaLnBrk="1" latinLnBrk="0" hangingPunct="1">
              <a:spcBef>
                <a:spcPct val="0"/>
              </a:spcBef>
              <a:buNone/>
              <a:defRPr kumimoji="0" sz="42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mtClean="0">
                <a:latin typeface="SutonnyMJ" pitchFamily="2" charset="0"/>
                <a:cs typeface="SutonnyMJ" pitchFamily="2" charset="0"/>
              </a:rPr>
              <a:t>c~‡e©i Ae¯’v                      eZ©gvb Ae¯’v 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SutonnyMJ" pitchFamily="2" charset="0"/>
                <a:cs typeface="SutonnyMJ" pitchFamily="2" charset="0"/>
              </a:rPr>
              <a:t>  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10" name="Content Placeholder 9" descr="CYMERA_20160504_103509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25400" y="1828800"/>
            <a:ext cx="4470400" cy="33528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533400" y="54102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n-BD" sz="4200" b="0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আই</a:t>
            </a:r>
            <a:r>
              <a:rPr kumimoji="0" lang="bn-BD" sz="4200" b="0" i="0" u="none" strike="noStrike" kern="1200" cap="none" spc="0" normalizeH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 এম সি আই কর্ণার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3" cstate="print">
            <a:lum bright="10000" contrast="20000"/>
          </a:blip>
          <a:srcRect/>
          <a:stretch>
            <a:fillRect/>
          </a:stretch>
        </p:blipFill>
        <p:spPr bwMode="auto">
          <a:xfrm>
            <a:off x="4572000" y="1844842"/>
            <a:ext cx="4419600" cy="34129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SutonnyMJ" pitchFamily="2" charset="0"/>
                <a:cs typeface="SutonnyMJ" pitchFamily="2" charset="0"/>
              </a:rPr>
              <a:t>   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5" name="Content Placeholder 4" descr="CYMERA_20160504_100123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828800"/>
            <a:ext cx="4038600" cy="3028950"/>
          </a:xfrm>
        </p:spPr>
      </p:pic>
      <p:pic>
        <p:nvPicPr>
          <p:cNvPr id="6" name="Content Placeholder 5" descr="CYMERA_20161112_104320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1828800"/>
            <a:ext cx="4038600" cy="302895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533400" y="54102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bn-BD" sz="42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অন্তঃবিভাগ সুইচ বোর্ড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SutonnyMJ" pitchFamily="2" charset="0"/>
                <a:cs typeface="SutonnyMJ" pitchFamily="2" charset="0"/>
              </a:rPr>
              <a:t>    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5" name="Content Placeholder 4" descr="CYMERA_20161112_103833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981200"/>
            <a:ext cx="4038600" cy="3028950"/>
          </a:xfrm>
        </p:spPr>
      </p:pic>
      <p:pic>
        <p:nvPicPr>
          <p:cNvPr id="6" name="Content Placeholder 5" descr="CYMERA_20160504_101306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1981200"/>
            <a:ext cx="4038600" cy="302895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533400" y="54102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bn-BD" sz="42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বহিঃবিভাগ ফার্মেসী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SutonnyMJ" pitchFamily="2" charset="0"/>
                <a:cs typeface="SutonnyMJ" pitchFamily="2" charset="0"/>
              </a:rPr>
              <a:t>   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6" name="Content Placeholder 5" descr="CYMERA_20160504_095509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828800"/>
            <a:ext cx="4038600" cy="3028950"/>
          </a:xfrm>
        </p:spPr>
      </p:pic>
      <p:pic>
        <p:nvPicPr>
          <p:cNvPr id="5" name="Content Placeholder 4" descr="CYMERA_20161112_102614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1828800"/>
            <a:ext cx="4038600" cy="302895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533400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n-BD" sz="4200" b="0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জরুরী</a:t>
            </a:r>
            <a:r>
              <a:rPr kumimoji="0" lang="bn-BD" sz="4200" b="0" i="0" u="none" strike="noStrike" kern="1200" cap="none" spc="0" normalizeH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 বিভাগ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SutonnyMJ" pitchFamily="2" charset="0"/>
                <a:cs typeface="SutonnyMJ" pitchFamily="2" charset="0"/>
              </a:rPr>
              <a:t>   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6" name="Content Placeholder 5" descr="CYMERA_20161112_104451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4648200" y="1524000"/>
            <a:ext cx="4038600" cy="3028950"/>
          </a:xfrm>
        </p:spPr>
      </p:pic>
      <p:pic>
        <p:nvPicPr>
          <p:cNvPr id="2051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04800" y="1600200"/>
            <a:ext cx="4038600" cy="303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533400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n-BD" sz="42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ea typeface="+mj-ea"/>
                <a:cs typeface="Kalpurush" pitchFamily="2" charset="0"/>
              </a:rPr>
              <a:t>মহিলা ওয়ার্ড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SutonnyMJ" pitchFamily="2" charset="0"/>
                <a:cs typeface="SutonnyMJ" pitchFamily="2" charset="0"/>
              </a:rPr>
              <a:t>   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76400"/>
            <a:ext cx="4038600" cy="3028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2" descr="D:\Picture 1\Jubaeir vai\20170225_103806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1600200"/>
            <a:ext cx="4038600" cy="30308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533400" y="50292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n-BD" sz="4200" b="0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ষ্টোর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SutonnyMJ" pitchFamily="2" charset="0"/>
                <a:cs typeface="SutonnyMJ" pitchFamily="2" charset="0"/>
              </a:rPr>
              <a:t>   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3074" name="Picture 2" descr="D:\Picture 1\Jubaeir vai\20170108_115912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981200"/>
            <a:ext cx="4038600" cy="3028950"/>
          </a:xfrm>
          <a:prstGeom prst="rect">
            <a:avLst/>
          </a:prstGeom>
          <a:noFill/>
        </p:spPr>
      </p:pic>
      <p:pic>
        <p:nvPicPr>
          <p:cNvPr id="3075" name="Picture 3" descr="C:\Users\CMSD\Desktop\20170225_103848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1905000"/>
            <a:ext cx="4038600" cy="3028950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533400" y="54102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n-BD" sz="4200" b="0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ষ্টোর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latin typeface="SutonnyMJ" pitchFamily="2" charset="0"/>
                <a:cs typeface="SutonnyMJ" pitchFamily="2" charset="0"/>
              </a:rPr>
              <a:t>c~‡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Ae¯’v</a:t>
            </a:r>
            <a:endParaRPr lang="en-US" b="1" dirty="0"/>
          </a:p>
        </p:txBody>
      </p:sp>
      <p:pic>
        <p:nvPicPr>
          <p:cNvPr id="6" name="Content Placeholder 5" descr="IMG_20170115_115337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56445" y="1981200"/>
            <a:ext cx="4439355" cy="312420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9" name="Title 3"/>
          <p:cNvSpPr txBox="1">
            <a:spLocks/>
          </p:cNvSpPr>
          <p:nvPr/>
        </p:nvSpPr>
        <p:spPr>
          <a:xfrm>
            <a:off x="533400" y="54102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n-BD" sz="42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ea typeface="+mj-ea"/>
                <a:cs typeface="Kalpurush" pitchFamily="2" charset="0"/>
              </a:rPr>
              <a:t> </a:t>
            </a:r>
            <a:r>
              <a:rPr lang="bn-BD" sz="42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ea typeface="+mj-ea"/>
                <a:cs typeface="Kalpurush" pitchFamily="2" charset="0"/>
              </a:rPr>
              <a:t>ওয়ার্ড বেড</a:t>
            </a:r>
            <a:endParaRPr kumimoji="0" lang="en-US" sz="4200" b="1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lum bright="10000" contrast="20000"/>
          </a:blip>
          <a:srcRect/>
          <a:stretch>
            <a:fillRect/>
          </a:stretch>
        </p:blipFill>
        <p:spPr bwMode="auto">
          <a:xfrm>
            <a:off x="4572000" y="1905000"/>
            <a:ext cx="4419600" cy="3200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bn-BD" sz="2000" dirty="0" smtClean="0">
                <a:latin typeface="Nirmala UI" pitchFamily="34" charset="0"/>
                <a:cs typeface="Nirmala UI" pitchFamily="34" charset="0"/>
              </a:rPr>
              <a:t/>
            </a:r>
            <a:br>
              <a:rPr lang="bn-BD" sz="2000" dirty="0" smtClean="0">
                <a:latin typeface="Nirmala UI" pitchFamily="34" charset="0"/>
                <a:cs typeface="Nirmala UI" pitchFamily="34" charset="0"/>
              </a:rPr>
            </a:br>
            <a:r>
              <a:rPr lang="bn-BD" sz="3600" b="1" dirty="0" smtClean="0">
                <a:latin typeface="Kalpurush" pitchFamily="2" charset="0"/>
                <a:cs typeface="Kalpurush" pitchFamily="2" charset="0"/>
              </a:rPr>
              <a:t>পূর্বের অবস্থা </a:t>
            </a:r>
            <a:r>
              <a:rPr lang="bn-BD" sz="3100" b="1" dirty="0" smtClean="0">
                <a:latin typeface="Kalpurush" pitchFamily="2" charset="0"/>
                <a:cs typeface="Kalpurush" pitchFamily="2" charset="0"/>
              </a:rPr>
              <a:t>                           </a:t>
            </a:r>
            <a:r>
              <a:rPr lang="bn-BD" sz="3600" b="1" dirty="0" smtClean="0">
                <a:latin typeface="Kalpurush" pitchFamily="2" charset="0"/>
                <a:cs typeface="Kalpurush" pitchFamily="2" charset="0"/>
              </a:rPr>
              <a:t>বর্তমান অবস্থা </a:t>
            </a:r>
            <a:r>
              <a:rPr lang="bn-BD" sz="2200" b="1" dirty="0" smtClean="0">
                <a:latin typeface="Kalpurush" pitchFamily="2" charset="0"/>
                <a:cs typeface="Kalpurush" pitchFamily="2" charset="0"/>
              </a:rPr>
              <a:t/>
            </a:r>
            <a:br>
              <a:rPr lang="bn-BD" sz="2200" b="1" dirty="0" smtClean="0">
                <a:latin typeface="Kalpurush" pitchFamily="2" charset="0"/>
                <a:cs typeface="Kalpurush" pitchFamily="2" charset="0"/>
              </a:rPr>
            </a:br>
            <a:endParaRPr lang="en-US" sz="2000" b="1" dirty="0">
              <a:latin typeface="Kalpurush" pitchFamily="2" charset="0"/>
              <a:cs typeface="Kalpurush" pitchFamily="2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4098" name="Picture 2" descr="C:\Users\CMSD\Desktop\New folder\Pic-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2247343"/>
            <a:ext cx="4343400" cy="31628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50" name="Picture 2" descr="C:\Users\CMSD\Desktop\New folder\DSC0165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59087" y="2141765"/>
            <a:ext cx="4169226" cy="31269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itle 3"/>
          <p:cNvSpPr txBox="1">
            <a:spLocks/>
          </p:cNvSpPr>
          <p:nvPr/>
        </p:nvSpPr>
        <p:spPr>
          <a:xfrm>
            <a:off x="533400" y="54102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200" dirty="0" err="1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utonnyMJ" pitchFamily="2" charset="0"/>
                <a:ea typeface="+mj-ea"/>
                <a:cs typeface="SutonnyMJ" pitchFamily="2" charset="0"/>
              </a:rPr>
              <a:t>nvmcvZv‡ji</a:t>
            </a:r>
            <a:r>
              <a:rPr lang="en-US" sz="42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utonnyMJ" pitchFamily="2" charset="0"/>
                <a:ea typeface="+mj-ea"/>
                <a:cs typeface="SutonnyMJ" pitchFamily="2" charset="0"/>
              </a:rPr>
              <a:t> m¤§</a:t>
            </a:r>
            <a:r>
              <a:rPr lang="en-US" sz="4200" dirty="0" err="1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utonnyMJ" pitchFamily="2" charset="0"/>
                <a:ea typeface="+mj-ea"/>
                <a:cs typeface="SutonnyMJ" pitchFamily="2" charset="0"/>
              </a:rPr>
              <a:t>yLfvM</a:t>
            </a:r>
            <a:endParaRPr kumimoji="0" lang="en-US" sz="4200" b="1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SutonnyMJ" pitchFamily="2" charset="0"/>
              <a:ea typeface="+mj-ea"/>
              <a:cs typeface="SutonnyMJ" pitchFamily="2" charset="0"/>
            </a:endParaRP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399032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err="1" smtClean="0">
                <a:latin typeface="Kalpurush" pitchFamily="2" charset="0"/>
                <a:cs typeface="Kalpurush" pitchFamily="2" charset="0"/>
              </a:rPr>
              <a:t>নতুন</a:t>
            </a:r>
            <a:r>
              <a:rPr lang="en-US" sz="4800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bn-BD" sz="4800" b="1" dirty="0" smtClean="0">
                <a:latin typeface="Kalpurush" pitchFamily="2" charset="0"/>
                <a:cs typeface="Kalpurush" pitchFamily="2" charset="0"/>
              </a:rPr>
              <a:t>সংযোজন</a:t>
            </a:r>
            <a:endParaRPr lang="en-US" sz="4800" b="1" dirty="0"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5" name="Content Placeholder 4" descr="CYMERA_20161205_110849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1066800" y="1219200"/>
            <a:ext cx="7239000" cy="4439444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533400" y="5562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bn-BD" sz="42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ea typeface="+mj-ea"/>
                <a:cs typeface="Kalpurush" pitchFamily="2" charset="0"/>
              </a:rPr>
              <a:t>দিবা প্রহরী</a:t>
            </a:r>
            <a:endParaRPr kumimoji="0" lang="en-US" sz="4200" b="1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399032"/>
          </a:xfrm>
        </p:spPr>
        <p:txBody>
          <a:bodyPr>
            <a:normAutofit/>
          </a:bodyPr>
          <a:lstStyle/>
          <a:p>
            <a:pPr algn="ctr"/>
            <a:r>
              <a:rPr lang="bn-BD" sz="4800" b="1" dirty="0" smtClean="0">
                <a:latin typeface="Kalpurush" pitchFamily="2" charset="0"/>
                <a:cs typeface="Kalpurush" pitchFamily="2" charset="0"/>
              </a:rPr>
              <a:t>নতুন সংযোজন</a:t>
            </a:r>
            <a:endParaRPr lang="en-US" sz="4800" b="1" dirty="0"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5" name="Content Placeholder 4" descr="IMG_20170115_102937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990600"/>
            <a:ext cx="8458200" cy="4876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533400" y="58674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bn-BD" sz="4200" b="1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জেনারেটর</a:t>
            </a:r>
            <a:endParaRPr kumimoji="0" lang="en-US" sz="4200" b="1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180306"/>
          </a:xfrm>
        </p:spPr>
        <p:txBody>
          <a:bodyPr/>
          <a:lstStyle/>
          <a:p>
            <a:pPr algn="ctr"/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বায়োমেট্রিক</a:t>
            </a:r>
            <a:r>
              <a:rPr lang="en-US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মেশিন</a:t>
            </a:r>
            <a:r>
              <a:rPr lang="en-US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স্থাপন</a:t>
            </a:r>
            <a:endParaRPr lang="en-US" b="1" dirty="0"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5" name="Content Placeholder 5" descr="IMG_20170115_111515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2362200" y="1524000"/>
            <a:ext cx="4648200" cy="50040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ransition>
    <p:cover dir="l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544" y="304801"/>
            <a:ext cx="8062912" cy="914400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 smtClean="0"/>
              <a:t>ইন্টারকম</a:t>
            </a:r>
            <a:r>
              <a:rPr lang="en-US" b="1" dirty="0" smtClean="0"/>
              <a:t> </a:t>
            </a:r>
            <a:r>
              <a:rPr lang="en-US" b="1" dirty="0" err="1" smtClean="0"/>
              <a:t>উদ্ধোধন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676400"/>
            <a:ext cx="8062912" cy="419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1026" name="Picture 2" descr="C:\Users\User\Desktop\ডাঃ শাহাবউদ্দিন\FB_IMG_154737951230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200"/>
            <a:ext cx="8458200" cy="4953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490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err="1" smtClean="0">
                <a:effectLst/>
                <a:latin typeface="Kalpurush" pitchFamily="2" charset="0"/>
                <a:cs typeface="Kalpurush" pitchFamily="2" charset="0"/>
              </a:rPr>
              <a:t>কনফারেন্স</a:t>
            </a:r>
            <a:r>
              <a:rPr lang="en-US" sz="4800" b="1" dirty="0" smtClean="0">
                <a:effectLst/>
                <a:latin typeface="Kalpurush" pitchFamily="2" charset="0"/>
                <a:cs typeface="Kalpurush" pitchFamily="2" charset="0"/>
              </a:rPr>
              <a:t> </a:t>
            </a:r>
            <a:r>
              <a:rPr lang="en-US" sz="4800" b="1" dirty="0" err="1" smtClean="0">
                <a:effectLst/>
                <a:latin typeface="Kalpurush" pitchFamily="2" charset="0"/>
                <a:cs typeface="Kalpurush" pitchFamily="2" charset="0"/>
              </a:rPr>
              <a:t>রুমে</a:t>
            </a:r>
            <a:r>
              <a:rPr lang="en-US" sz="4800" b="1" dirty="0" smtClean="0">
                <a:effectLst/>
                <a:latin typeface="Kalpurush" pitchFamily="2" charset="0"/>
                <a:cs typeface="Kalpurush" pitchFamily="2" charset="0"/>
              </a:rPr>
              <a:t> </a:t>
            </a:r>
            <a:r>
              <a:rPr lang="en-US" sz="4800" b="1" dirty="0" err="1" smtClean="0">
                <a:effectLst/>
                <a:latin typeface="Kalpurush" pitchFamily="2" charset="0"/>
                <a:cs typeface="Kalpurush" pitchFamily="2" charset="0"/>
              </a:rPr>
              <a:t>নতুন</a:t>
            </a:r>
            <a:r>
              <a:rPr lang="en-US" sz="4800" b="1" dirty="0" smtClean="0">
                <a:effectLst/>
                <a:latin typeface="Kalpurush" pitchFamily="2" charset="0"/>
                <a:cs typeface="Kalpurush" pitchFamily="2" charset="0"/>
              </a:rPr>
              <a:t> </a:t>
            </a:r>
            <a:r>
              <a:rPr lang="en-US" sz="4800" b="1" dirty="0" err="1" smtClean="0">
                <a:effectLst/>
                <a:latin typeface="Kalpurush" pitchFamily="2" charset="0"/>
                <a:cs typeface="Kalpurush" pitchFamily="2" charset="0"/>
              </a:rPr>
              <a:t>সংযোজন</a:t>
            </a:r>
            <a:endParaRPr lang="en-US" sz="4800" b="1" dirty="0">
              <a:effectLst/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5" name="Content Placeholder 4" descr="IMG_20170115_114906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2503771"/>
            <a:ext cx="4114800" cy="34398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10" name="Picture 9" descr="DSC0158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0" y="2438400"/>
            <a:ext cx="4419600" cy="3429000"/>
          </a:xfrm>
          <a:prstGeom prst="rect">
            <a:avLst/>
          </a:prstGeom>
        </p:spPr>
      </p:pic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55638"/>
            <a:ext cx="74676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শিশু</a:t>
            </a:r>
            <a:r>
              <a:rPr lang="en-US" b="1" dirty="0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ওয়ার্ড</a:t>
            </a:r>
            <a:r>
              <a:rPr lang="en-US" b="1" dirty="0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D‡Øvab</a:t>
            </a:r>
            <a:endParaRPr lang="en-US" b="1" dirty="0">
              <a:solidFill>
                <a:schemeClr val="accent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2050" name="Picture 2" descr="C:\Users\CMSD\Desktop\Dr. Tanvir\Pic-4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447800"/>
            <a:ext cx="7545392" cy="4508390"/>
          </a:xfrm>
          <a:prstGeom prst="rect">
            <a:avLst/>
          </a:prstGeom>
          <a:noFill/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0838"/>
            <a:ext cx="74676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শিশু</a:t>
            </a:r>
            <a:r>
              <a:rPr lang="en-US" b="1" dirty="0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ওয়ার্ড</a:t>
            </a:r>
            <a:r>
              <a:rPr lang="en-US" b="1" dirty="0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 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371600"/>
            <a:ext cx="8610600" cy="5122128"/>
          </a:xfrm>
          <a:prstGeom prst="rect">
            <a:avLst/>
          </a:prstGeom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ransition>
    <p:wheel spokes="3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 err="1" smtClean="0">
                <a:solidFill>
                  <a:srgbClr val="0DF723"/>
                </a:solidFill>
                <a:latin typeface="Kalpurush" pitchFamily="2" charset="0"/>
                <a:cs typeface="Kalpurush" pitchFamily="2" charset="0"/>
              </a:rPr>
              <a:t>অপারেশন</a:t>
            </a:r>
            <a:r>
              <a:rPr lang="en-US" sz="4400" b="1" dirty="0" smtClean="0">
                <a:solidFill>
                  <a:srgbClr val="0DF723"/>
                </a:solidFill>
                <a:latin typeface="Kalpurush" pitchFamily="2" charset="0"/>
                <a:cs typeface="Kalpurush" pitchFamily="2" charset="0"/>
              </a:rPr>
              <a:t> </a:t>
            </a:r>
            <a:r>
              <a:rPr lang="en-US" sz="4400" b="1" dirty="0" err="1" smtClean="0">
                <a:solidFill>
                  <a:srgbClr val="0DF723"/>
                </a:solidFill>
                <a:latin typeface="Kalpurush" pitchFamily="2" charset="0"/>
                <a:cs typeface="Kalpurush" pitchFamily="2" charset="0"/>
              </a:rPr>
              <a:t>থিয়েটার</a:t>
            </a:r>
            <a:r>
              <a:rPr lang="en-US" sz="4800" b="1" dirty="0" smtClean="0">
                <a:solidFill>
                  <a:srgbClr val="0DF723"/>
                </a:solidFill>
                <a:latin typeface="Kalpurush" pitchFamily="2" charset="0"/>
                <a:cs typeface="Kalpurush" pitchFamily="2" charset="0"/>
              </a:rPr>
              <a:t> </a:t>
            </a:r>
            <a:r>
              <a:rPr lang="en-US" sz="4800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Pvjy</a:t>
            </a:r>
            <a:endParaRPr lang="en-US" b="1" dirty="0"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2057400"/>
            <a:ext cx="4419600" cy="365760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  <p:pic>
        <p:nvPicPr>
          <p:cNvPr id="3086" name="Picture 14" descr="C:\Users\Ruposhi\Desktop\New folder\DSC0157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2057400"/>
            <a:ext cx="4267200" cy="3581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style>
          <a:lnRef idx="0">
            <a:scrgbClr r="0" g="0" b="0"/>
          </a:lnRef>
          <a:fillRef idx="1002">
            <a:schemeClr val="dk2"/>
          </a:fillRef>
          <a:effectRef idx="0">
            <a:scrgbClr r="0" g="0" b="0"/>
          </a:effectRef>
          <a:fontRef idx="major"/>
        </p:style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cs typeface="SutonnyMJ" pitchFamily="2" charset="0"/>
              </a:rPr>
              <a:t>NCD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KY©vi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Pvjy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Kiv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n‡q‡Q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762919"/>
            <a:ext cx="8380588" cy="4714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ransition>
    <p:cover dir="ld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Kalpurush" pitchFamily="2" charset="0"/>
                <a:cs typeface="Kalpurush" pitchFamily="2" charset="0"/>
              </a:rPr>
              <a:t>এ </a:t>
            </a:r>
            <a:r>
              <a:rPr lang="en-US" sz="4800" b="1" dirty="0" err="1" smtClean="0">
                <a:latin typeface="Kalpurush" pitchFamily="2" charset="0"/>
                <a:cs typeface="Kalpurush" pitchFamily="2" charset="0"/>
              </a:rPr>
              <a:t>এন</a:t>
            </a:r>
            <a:r>
              <a:rPr lang="en-US" sz="4800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sz="4800" b="1" dirty="0" err="1" smtClean="0">
                <a:latin typeface="Kalpurush" pitchFamily="2" charset="0"/>
                <a:cs typeface="Kalpurush" pitchFamily="2" charset="0"/>
              </a:rPr>
              <a:t>সি</a:t>
            </a:r>
            <a:r>
              <a:rPr lang="en-US" sz="4800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sz="4800" b="1" dirty="0" err="1" smtClean="0">
                <a:latin typeface="Kalpurush" pitchFamily="2" charset="0"/>
                <a:cs typeface="Kalpurush" pitchFamily="2" charset="0"/>
              </a:rPr>
              <a:t>কর্নার</a:t>
            </a:r>
            <a:r>
              <a:rPr lang="en-US" sz="4800" b="1" dirty="0" smtClean="0">
                <a:latin typeface="Kalpurush" pitchFamily="2" charset="0"/>
                <a:cs typeface="Kalpurush" pitchFamily="2" charset="0"/>
              </a:rPr>
              <a:t> </a:t>
            </a:r>
            <a:endParaRPr lang="en-US" sz="4800" b="1" dirty="0"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1026" name="Picture 2" descr="C:\Users\CMSD\Desktop\Dr. Tanvir\pic\DSC0156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539874"/>
            <a:ext cx="7924799" cy="4892676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Kalpurush" pitchFamily="2" charset="0"/>
                <a:cs typeface="Kalpurush" pitchFamily="2" charset="0"/>
              </a:rPr>
              <a:t>ই.</a:t>
            </a:r>
            <a:r>
              <a:rPr lang="bn-BD" sz="4800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sz="4800" b="1" dirty="0" err="1" smtClean="0">
                <a:latin typeface="Kalpurush" pitchFamily="2" charset="0"/>
                <a:cs typeface="Kalpurush" pitchFamily="2" charset="0"/>
              </a:rPr>
              <a:t>পি</a:t>
            </a:r>
            <a:r>
              <a:rPr lang="en-US" sz="4800" b="1" dirty="0" smtClean="0">
                <a:latin typeface="Kalpurush" pitchFamily="2" charset="0"/>
                <a:cs typeface="Kalpurush" pitchFamily="2" charset="0"/>
              </a:rPr>
              <a:t>. </a:t>
            </a:r>
            <a:r>
              <a:rPr lang="en-US" sz="4800" b="1" dirty="0" err="1" smtClean="0">
                <a:latin typeface="Kalpurush" pitchFamily="2" charset="0"/>
                <a:cs typeface="Kalpurush" pitchFamily="2" charset="0"/>
              </a:rPr>
              <a:t>আই</a:t>
            </a:r>
            <a:r>
              <a:rPr lang="en-US" sz="4800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sz="4800" b="1" dirty="0" err="1" smtClean="0">
                <a:latin typeface="Kalpurush" pitchFamily="2" charset="0"/>
                <a:cs typeface="Kalpurush" pitchFamily="2" charset="0"/>
              </a:rPr>
              <a:t>কর্নার</a:t>
            </a:r>
            <a:endParaRPr lang="en-US" sz="4800" b="1" dirty="0"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4" name="Content Placeholder 3" descr="IMG_20170115_11133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11232" y="1882775"/>
            <a:ext cx="8121535" cy="45720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আই</a:t>
            </a:r>
            <a:r>
              <a:rPr lang="en-US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এম</a:t>
            </a:r>
            <a:r>
              <a:rPr lang="en-US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সি</a:t>
            </a:r>
            <a:r>
              <a:rPr lang="en-US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আই</a:t>
            </a:r>
            <a:r>
              <a:rPr lang="en-US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কর্নার</a:t>
            </a:r>
            <a:endParaRPr lang="en-US" b="1" dirty="0">
              <a:latin typeface="Kalpurush" pitchFamily="2" charset="0"/>
              <a:cs typeface="Kalpurush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>
            <a:lum bright="10000" contrast="20000"/>
          </a:blip>
          <a:srcRect/>
          <a:stretch>
            <a:fillRect/>
          </a:stretch>
        </p:blipFill>
        <p:spPr bwMode="auto">
          <a:xfrm>
            <a:off x="685800" y="1904999"/>
            <a:ext cx="7772400" cy="44998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KvDbwmwjs</a:t>
            </a:r>
            <a:r>
              <a:rPr lang="en-US" sz="5400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5400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KY©vi</a:t>
            </a:r>
            <a:r>
              <a:rPr lang="en-US" sz="5400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endParaRPr lang="en-US" sz="5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lum bright="10000" contrast="20000"/>
          </a:blip>
          <a:srcRect/>
          <a:stretch>
            <a:fillRect/>
          </a:stretch>
        </p:blipFill>
        <p:spPr bwMode="auto">
          <a:xfrm>
            <a:off x="457200" y="1752600"/>
            <a:ext cx="8382000" cy="4343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আউটডোরে</a:t>
            </a:r>
            <a:r>
              <a:rPr lang="en-US" b="1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ডিজিটাল</a:t>
            </a:r>
            <a:r>
              <a:rPr lang="en-US" b="1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স্বাস্থ্য</a:t>
            </a:r>
            <a:r>
              <a:rPr lang="en-US" b="1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শিক্ষা</a:t>
            </a:r>
            <a:r>
              <a:rPr lang="en-US" b="1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কর্নার</a:t>
            </a:r>
            <a:endParaRPr lang="en-US" b="1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 descr="G:\DCIM\101MSDCF\DSC0154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42002" t="10037" r="31479" b="58418"/>
          <a:stretch>
            <a:fillRect/>
          </a:stretch>
        </p:blipFill>
        <p:spPr bwMode="auto">
          <a:xfrm>
            <a:off x="5000860" y="1905000"/>
            <a:ext cx="3914540" cy="4267200"/>
          </a:xfrm>
          <a:prstGeom prst="rect">
            <a:avLst/>
          </a:prstGeom>
          <a:noFill/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905000"/>
            <a:ext cx="46482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94"/>
            <a:ext cx="8229600" cy="875506"/>
          </a:xfrm>
        </p:spPr>
        <p:txBody>
          <a:bodyPr/>
          <a:lstStyle/>
          <a:p>
            <a:pPr algn="ctr"/>
            <a:r>
              <a:rPr lang="bn-BD" b="1" dirty="0" smtClean="0">
                <a:latin typeface="Kalpurush" pitchFamily="2" charset="0"/>
                <a:cs typeface="Kalpurush" pitchFamily="2" charset="0"/>
              </a:rPr>
              <a:t>ইনডোরে ডিজিটাল স্বাস্থ্য শিক্ষা চালু</a:t>
            </a:r>
            <a:endParaRPr lang="en-US" b="1" dirty="0">
              <a:latin typeface="Kalpurush" pitchFamily="2" charset="0"/>
              <a:cs typeface="Kalpurush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1026" name="Picture 2" descr="C:\Users\CMSD\Desktop\New folder (2)\Pic-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43656" y="1981201"/>
            <a:ext cx="4247944" cy="380999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028" name="Picture 4" descr="C:\Users\CMSD\Desktop\New folder (2)\DSC0164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0215" y="1981200"/>
            <a:ext cx="4441785" cy="3810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n-BD" b="1" dirty="0" smtClean="0">
                <a:latin typeface="Kalpurush" pitchFamily="2" charset="0"/>
                <a:cs typeface="Kalpurush" pitchFamily="2" charset="0"/>
              </a:rPr>
              <a:t>স্থানীয় ব্যবস্থাপনায় নিয়োগ (দশ জন)</a:t>
            </a:r>
            <a:endParaRPr lang="en-US" b="1" dirty="0">
              <a:latin typeface="Kalpurush" pitchFamily="2" charset="0"/>
              <a:cs typeface="Kalpurush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1026" name="Picture 2" descr="C:\Users\CMSD\Desktop\Dr. Tanvir\pic\DSC0168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600200"/>
            <a:ext cx="8610600" cy="4724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458200" cy="1066800"/>
          </a:xfrm>
        </p:spPr>
        <p:txBody>
          <a:bodyPr>
            <a:normAutofit fontScale="90000"/>
          </a:bodyPr>
          <a:lstStyle/>
          <a:p>
            <a:pPr marL="514350" indent="-514350" algn="ctr"/>
            <a:r>
              <a:rPr lang="bn-BD" sz="2200" b="1" dirty="0" smtClean="0">
                <a:latin typeface="SutonnyMJ" pitchFamily="2" charset="0"/>
                <a:cs typeface="SutonnyMJ" pitchFamily="2" charset="0"/>
              </a:rPr>
              <a:t/>
            </a:r>
            <a:br>
              <a:rPr lang="bn-BD" sz="2200" b="1" dirty="0" smtClean="0">
                <a:latin typeface="SutonnyMJ" pitchFamily="2" charset="0"/>
                <a:cs typeface="SutonnyMJ" pitchFamily="2" charset="0"/>
              </a:rPr>
            </a:b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‡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eZb-fvZv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e¨vsK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GKvD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‡›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Ui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gva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¨‡g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cÖ`v‡bi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Rb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¨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mKj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Kg©KZ©v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I</a:t>
            </a:r>
            <a:r>
              <a:rPr lang="bn-BD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Kg©Pvix‡`i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¯’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vbxq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mvbvjx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e¨vs‡K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GKvD›U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Lvjv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n‡q‡Q</a:t>
            </a:r>
            <a:r>
              <a:rPr lang="en-US" sz="5300" b="1" dirty="0" smtClean="0">
                <a:latin typeface="SutonnyMJ" pitchFamily="2" charset="0"/>
                <a:cs typeface="SutonnyMJ" pitchFamily="2" charset="0"/>
              </a:rPr>
              <a:t/>
            </a:r>
            <a:br>
              <a:rPr lang="en-US" sz="5300" b="1" dirty="0" smtClean="0">
                <a:latin typeface="SutonnyMJ" pitchFamily="2" charset="0"/>
                <a:cs typeface="SutonnyMJ" pitchFamily="2" charset="0"/>
              </a:rPr>
            </a:br>
            <a:endParaRPr lang="en-US" dirty="0"/>
          </a:p>
        </p:txBody>
      </p:sp>
      <p:pic>
        <p:nvPicPr>
          <p:cNvPr id="1026" name="Picture 2" descr="C:\Users\CMSD\Desktop\Dr. Tanvir\Sonali Bank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0999" y="2257424"/>
            <a:ext cx="8462373" cy="4371976"/>
          </a:xfrm>
          <a:prstGeom prst="rect">
            <a:avLst/>
          </a:prstGeom>
          <a:noFill/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ঔষুধ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কোম্পানীর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প্রতিনিধিদের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হাসপাতালে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প্রবেশ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সুশৃঙ্খল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করা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হয়েছে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1026" name="Picture 2" descr="C:\Users\CMSD\Desktop\DCIM\101MSDCF\DSC0162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2590800"/>
            <a:ext cx="3962400" cy="3124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7" name="Picture 3" descr="D:\Picture 1\new\Pic-10\20170307_09464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0800000" flipH="1" flipV="1">
            <a:off x="381000" y="2714171"/>
            <a:ext cx="4038600" cy="30008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 5"/>
          <p:cNvSpPr/>
          <p:nvPr/>
        </p:nvSpPr>
        <p:spPr>
          <a:xfrm>
            <a:off x="304800" y="2006025"/>
            <a:ext cx="373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atin typeface="SutonnyMJ" pitchFamily="2" charset="0"/>
                <a:cs typeface="SutonnyMJ" pitchFamily="2" charset="0"/>
              </a:rPr>
              <a:t>mKvj-9 </a:t>
            </a:r>
            <a:r>
              <a:rPr lang="en-US" sz="3200" dirty="0" err="1" smtClean="0">
                <a:latin typeface="SutonnyMJ" pitchFamily="2" charset="0"/>
                <a:cs typeface="SutonnyMJ" pitchFamily="2" charset="0"/>
              </a:rPr>
              <a:t>Uv</a:t>
            </a:r>
            <a:endParaRPr lang="en-US" sz="3200" dirty="0"/>
          </a:p>
        </p:txBody>
      </p:sp>
      <p:sp>
        <p:nvSpPr>
          <p:cNvPr id="7" name="Rectangle 6"/>
          <p:cNvSpPr/>
          <p:nvPr/>
        </p:nvSpPr>
        <p:spPr>
          <a:xfrm>
            <a:off x="4902200" y="1905000"/>
            <a:ext cx="373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atin typeface="SutonnyMJ" pitchFamily="2" charset="0"/>
                <a:cs typeface="SutonnyMJ" pitchFamily="2" charset="0"/>
              </a:rPr>
              <a:t>mKvj-10 </a:t>
            </a:r>
            <a:r>
              <a:rPr lang="en-US" sz="3200" dirty="0" err="1" smtClean="0">
                <a:latin typeface="SutonnyMJ" pitchFamily="2" charset="0"/>
                <a:cs typeface="SutonnyMJ" pitchFamily="2" charset="0"/>
              </a:rPr>
              <a:t>Uv</a:t>
            </a:r>
            <a:endParaRPr lang="en-US" sz="32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সম্মেলন</a:t>
            </a:r>
            <a:r>
              <a:rPr lang="en-US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কক্ষ</a:t>
            </a:r>
            <a:r>
              <a:rPr lang="en-US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সজ্জিতকরণ</a:t>
            </a:r>
            <a:endParaRPr lang="en-US" b="1" dirty="0"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1026" name="Picture 2" descr="D:\Picture 1\Jubaeir vai\IMG_20170209_13014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828800"/>
            <a:ext cx="8610600" cy="4419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SutonnyMJ" pitchFamily="2" charset="0"/>
                <a:cs typeface="SutonnyMJ" pitchFamily="2" charset="0"/>
              </a:rPr>
              <a:t>we`¨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yZ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I </a:t>
            </a:r>
            <a:r>
              <a:rPr lang="bn-BD" b="1" dirty="0" smtClean="0">
                <a:latin typeface="Kalpurush" pitchFamily="2" charset="0"/>
                <a:cs typeface="Kalpurush" pitchFamily="2" charset="0"/>
              </a:rPr>
              <a:t>পানির লাইনের ব্যবস্থা</a:t>
            </a:r>
            <a:endParaRPr lang="en-US" b="1" dirty="0">
              <a:latin typeface="Kalpurush" pitchFamily="2" charset="0"/>
              <a:cs typeface="Kalpurush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2050" name="Picture 2" descr="C:\Users\CMSD\Desktop\New folder (2)\Pic-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8223" y="1981200"/>
            <a:ext cx="4241597" cy="3733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1" name="Picture 3" descr="C:\Users\CMSD\Desktop\New folder (2)\Pic-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1981200"/>
            <a:ext cx="4191000" cy="3733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3"/>
          <p:cNvSpPr txBox="1">
            <a:spLocks/>
          </p:cNvSpPr>
          <p:nvPr/>
        </p:nvSpPr>
        <p:spPr>
          <a:xfrm>
            <a:off x="533400" y="5562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bn-BD" sz="4400" b="1" dirty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কমিউনিটি </a:t>
            </a:r>
            <a:r>
              <a:rPr lang="bn-BD" sz="4400" b="1" dirty="0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ক্লিনিক</a:t>
            </a:r>
            <a:endParaRPr kumimoji="0" lang="en-US" sz="4200" b="1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/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001000" cy="1143000"/>
          </a:xfrm>
        </p:spPr>
        <p:txBody>
          <a:bodyPr>
            <a:normAutofit/>
          </a:bodyPr>
          <a:lstStyle/>
          <a:p>
            <a:pPr algn="ctr"/>
            <a:r>
              <a:rPr lang="en-US" sz="3900" b="1" dirty="0" err="1" smtClean="0">
                <a:latin typeface="Kalpurush" pitchFamily="2" charset="0"/>
                <a:cs typeface="Kalpurush" pitchFamily="2" charset="0"/>
              </a:rPr>
              <a:t>হাসপাতালে</a:t>
            </a:r>
            <a:r>
              <a:rPr lang="en-US" sz="3900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sz="3900" b="1" dirty="0" err="1" smtClean="0">
                <a:latin typeface="Kalpurush" pitchFamily="2" charset="0"/>
                <a:cs typeface="Kalpurush" pitchFamily="2" charset="0"/>
              </a:rPr>
              <a:t>জেনারেটরের</a:t>
            </a:r>
            <a:r>
              <a:rPr lang="en-US" sz="3900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sz="3900" b="1" dirty="0" err="1" smtClean="0">
                <a:latin typeface="Kalpurush" pitchFamily="2" charset="0"/>
                <a:cs typeface="Kalpurush" pitchFamily="2" charset="0"/>
              </a:rPr>
              <a:t>ব্যবস্থা</a:t>
            </a:r>
            <a:r>
              <a:rPr lang="en-US" sz="3900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sz="3900" b="1" dirty="0" err="1" smtClean="0">
                <a:latin typeface="Kalpurush" pitchFamily="2" charset="0"/>
                <a:cs typeface="Kalpurush" pitchFamily="2" charset="0"/>
              </a:rPr>
              <a:t>করা</a:t>
            </a:r>
            <a:endParaRPr lang="en-US" dirty="0"/>
          </a:p>
        </p:txBody>
      </p:sp>
      <p:pic>
        <p:nvPicPr>
          <p:cNvPr id="4" name="Content Placeholder 4" descr="IMG_20170115_102937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2055723"/>
            <a:ext cx="7636629" cy="4297569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  <p:transition>
    <p:comb dir="vert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j¨vcUc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I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gvwëwgwWqvi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e¨e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¯’v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Kiv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b="1" dirty="0"/>
          </a:p>
        </p:txBody>
      </p:sp>
      <p:pic>
        <p:nvPicPr>
          <p:cNvPr id="2050" name="Picture 2" descr="C:\Users\CMSD\Desktop\DCIM\101MSDCF\DSC0163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209800"/>
            <a:ext cx="6172200" cy="37504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9144000" cy="9144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nvmcvZvj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fe‡b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bn-BD" sz="4000" b="1" dirty="0" smtClean="0">
                <a:latin typeface="Kalpurush" pitchFamily="2" charset="0"/>
                <a:cs typeface="Kalpurush" pitchFamily="2" charset="0"/>
              </a:rPr>
              <a:t>১৪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b="1" dirty="0" smtClean="0">
                <a:latin typeface="SutonnyMJ" pitchFamily="2" charset="0"/>
                <a:cs typeface="SutonnyMJ" pitchFamily="2" charset="0"/>
              </a:rPr>
              <a:t>(</a:t>
            </a:r>
            <a:r>
              <a:rPr lang="bn-BD" sz="3600" b="1" dirty="0" smtClean="0">
                <a:latin typeface="Kalpurush" pitchFamily="2" charset="0"/>
                <a:cs typeface="Kalpurush" pitchFamily="2" charset="0"/>
              </a:rPr>
              <a:t>চৌদ্দ</a:t>
            </a:r>
            <a:r>
              <a:rPr lang="en-US" sz="3600" b="1" dirty="0" smtClean="0">
                <a:latin typeface="SutonnyMJ" pitchFamily="2" charset="0"/>
                <a:cs typeface="SutonnyMJ" pitchFamily="2" charset="0"/>
              </a:rPr>
              <a:t>)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wU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mvP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©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jvBU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¯’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vcb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Kiv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n‡q‡Q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800" b="1" dirty="0" smtClean="0">
                <a:latin typeface="SutonnyMJ" pitchFamily="2" charset="0"/>
                <a:cs typeface="SutonnyMJ" pitchFamily="2" charset="0"/>
              </a:rPr>
              <a:t/>
            </a:r>
            <a:br>
              <a:rPr lang="en-US" sz="4800" b="1" dirty="0" smtClean="0">
                <a:latin typeface="SutonnyMJ" pitchFamily="2" charset="0"/>
                <a:cs typeface="SutonnyMJ" pitchFamily="2" charset="0"/>
              </a:rPr>
            </a:br>
            <a:endParaRPr lang="en-US" dirty="0"/>
          </a:p>
        </p:txBody>
      </p:sp>
      <p:pic>
        <p:nvPicPr>
          <p:cNvPr id="4" name="Content Placeholder 4" descr="IMG_20170115_104311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lum bright="10000" contrast="10000"/>
          </a:blip>
          <a:stretch>
            <a:fillRect/>
          </a:stretch>
        </p:blipFill>
        <p:spPr>
          <a:xfrm>
            <a:off x="2624289" y="1676400"/>
            <a:ext cx="4081311" cy="483067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glow rad="228600">
              <a:schemeClr val="accent5">
                <a:satMod val="175000"/>
                <a:alpha val="40000"/>
              </a:schemeClr>
            </a:glow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wewfbœ</a:t>
            </a:r>
            <a:r>
              <a:rPr lang="en-US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cÖKvi</a:t>
            </a:r>
            <a:r>
              <a:rPr lang="en-US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mgš^q</a:t>
            </a:r>
            <a:r>
              <a:rPr lang="en-US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mfv</a:t>
            </a:r>
            <a:r>
              <a:rPr lang="en-US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endParaRPr lang="en-US" b="1" dirty="0">
              <a:solidFill>
                <a:srgbClr val="0DF723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1026" name="Picture 2" descr="C:\Users\CMSD\Desktop\New folder (2)\DSC01579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600200"/>
            <a:ext cx="4363508" cy="32726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</p:spPr>
      </p:pic>
      <p:pic>
        <p:nvPicPr>
          <p:cNvPr id="7" name="Content Placeholder 6" descr="20170117_11122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22800" y="1600200"/>
            <a:ext cx="4292600" cy="3276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</p:spPr>
      </p:pic>
      <p:sp>
        <p:nvSpPr>
          <p:cNvPr id="10" name="Text Placeholder 2"/>
          <p:cNvSpPr txBox="1">
            <a:spLocks/>
          </p:cNvSpPr>
          <p:nvPr/>
        </p:nvSpPr>
        <p:spPr>
          <a:xfrm>
            <a:off x="304800" y="5334000"/>
            <a:ext cx="4040188" cy="8382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pPr marL="448056" marR="0" lvl="0" indent="-384048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bn-BD" sz="2800" b="1" i="0" u="none" strike="noStrike" kern="1200" cap="none" spc="0" normalizeH="0" baseline="0" noProof="0" dirty="0" smtClean="0">
                <a:ln w="6350">
                  <a:noFill/>
                </a:ln>
                <a:solidFill>
                  <a:srgbClr val="0DF723"/>
                </a:solidFill>
                <a:effectLst/>
                <a:uLnTx/>
                <a:uFillTx/>
                <a:latin typeface="Kalpurush" pitchFamily="2" charset="0"/>
                <a:ea typeface="+mn-ea"/>
                <a:cs typeface="Kalpurush" pitchFamily="2" charset="0"/>
              </a:rPr>
              <a:t>রোগী কল্যাণ</a:t>
            </a:r>
            <a:r>
              <a:rPr kumimoji="0" lang="bn-BD" sz="2800" b="1" i="0" u="none" strike="noStrike" kern="1200" cap="none" spc="0" normalizeH="0" noProof="0" dirty="0" smtClean="0">
                <a:ln w="6350">
                  <a:noFill/>
                </a:ln>
                <a:solidFill>
                  <a:srgbClr val="0DF723"/>
                </a:solidFill>
                <a:effectLst/>
                <a:uLnTx/>
                <a:uFillTx/>
                <a:latin typeface="Kalpurush" pitchFamily="2" charset="0"/>
                <a:ea typeface="+mn-ea"/>
                <a:cs typeface="Kalpurush" pitchFamily="2" charset="0"/>
              </a:rPr>
              <a:t> সমিতির সাধারণ সভা</a:t>
            </a:r>
            <a:endParaRPr kumimoji="0" lang="en-US" sz="2800" b="1" i="0" u="none" strike="noStrike" kern="1200" cap="none" spc="0" normalizeH="0" baseline="0" noProof="0" dirty="0">
              <a:ln w="6350">
                <a:noFill/>
              </a:ln>
              <a:solidFill>
                <a:srgbClr val="0DF723"/>
              </a:solidFill>
              <a:effectLst/>
              <a:uLnTx/>
              <a:uFillTx/>
              <a:latin typeface="Kalpurush" pitchFamily="2" charset="0"/>
              <a:ea typeface="+mn-ea"/>
              <a:cs typeface="Kalpurush" pitchFamily="2" charset="0"/>
            </a:endParaRPr>
          </a:p>
        </p:txBody>
      </p:sp>
      <p:sp>
        <p:nvSpPr>
          <p:cNvPr id="11" name="Text Placeholder 2"/>
          <p:cNvSpPr txBox="1">
            <a:spLocks/>
          </p:cNvSpPr>
          <p:nvPr/>
        </p:nvSpPr>
        <p:spPr>
          <a:xfrm>
            <a:off x="4648200" y="5334000"/>
            <a:ext cx="4040188" cy="8382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pPr algn="ctr"/>
            <a:r>
              <a:rPr lang="bn-BD" sz="2800" b="1" dirty="0" smtClean="0">
                <a:solidFill>
                  <a:srgbClr val="0DF723"/>
                </a:solidFill>
                <a:latin typeface="Kalpurush" pitchFamily="2" charset="0"/>
                <a:cs typeface="Kalpurush" pitchFamily="2" charset="0"/>
              </a:rPr>
              <a:t>ঔষধ </a:t>
            </a:r>
            <a:r>
              <a:rPr lang="en-US" sz="2800" b="1" dirty="0" err="1" smtClean="0">
                <a:solidFill>
                  <a:srgbClr val="0DF723"/>
                </a:solidFill>
                <a:latin typeface="Kalpurush" pitchFamily="2" charset="0"/>
                <a:cs typeface="Kalpurush" pitchFamily="2" charset="0"/>
              </a:rPr>
              <a:t>কোম্পানির</a:t>
            </a:r>
            <a:r>
              <a:rPr lang="bn-BD" sz="2800" b="1" dirty="0" smtClean="0">
                <a:solidFill>
                  <a:srgbClr val="0DF723"/>
                </a:solidFill>
                <a:latin typeface="Kalpurush" pitchFamily="2" charset="0"/>
                <a:cs typeface="Kalpurush" pitchFamily="2" charset="0"/>
              </a:rPr>
              <a:t> প্রতিনিধিদের সাথে সভা</a:t>
            </a:r>
            <a:endParaRPr lang="en-US" sz="2800" b="1" dirty="0">
              <a:solidFill>
                <a:srgbClr val="0DF723"/>
              </a:solidFill>
              <a:latin typeface="Kalpurush" pitchFamily="2" charset="0"/>
              <a:cs typeface="Kalpurush" pitchFamily="2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80726"/>
          </a:xfrm>
        </p:spPr>
        <p:txBody>
          <a:bodyPr/>
          <a:lstStyle/>
          <a:p>
            <a:pPr algn="ctr"/>
            <a:r>
              <a:rPr lang="en-US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wewfbœ</a:t>
            </a:r>
            <a:r>
              <a:rPr lang="en-US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cÖKvi</a:t>
            </a:r>
            <a:r>
              <a:rPr lang="en-US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mgš^q</a:t>
            </a:r>
            <a:r>
              <a:rPr lang="en-US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mfv</a:t>
            </a:r>
            <a:r>
              <a:rPr lang="bn-BD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.......</a:t>
            </a:r>
            <a:r>
              <a:rPr lang="en-US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5" name="Content Placeholder 8" descr="20161224_113633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1661017"/>
            <a:ext cx="7467600" cy="4058076"/>
          </a:xfrm>
        </p:spPr>
      </p:pic>
      <p:sp>
        <p:nvSpPr>
          <p:cNvPr id="6" name="Text Placeholder 2"/>
          <p:cNvSpPr txBox="1">
            <a:spLocks/>
          </p:cNvSpPr>
          <p:nvPr/>
        </p:nvSpPr>
        <p:spPr>
          <a:xfrm>
            <a:off x="457200" y="5943600"/>
            <a:ext cx="8077200" cy="5334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marL="448056" marR="0" lvl="0" indent="-384048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bn-BD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DF723"/>
                </a:solidFill>
                <a:effectLst/>
                <a:uLnTx/>
                <a:uFillTx/>
                <a:latin typeface="Kalpurush" pitchFamily="2" charset="0"/>
                <a:ea typeface="+mn-ea"/>
                <a:cs typeface="Kalpurush" pitchFamily="2" charset="0"/>
              </a:rPr>
              <a:t>সাংবাদিকদের সাথে মতবিনিময় সভা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DF723"/>
              </a:solidFill>
              <a:effectLst/>
              <a:uLnTx/>
              <a:uFillTx/>
              <a:latin typeface="Kalpurush" pitchFamily="2" charset="0"/>
              <a:ea typeface="+mn-ea"/>
              <a:cs typeface="Kalpurush" pitchFamily="2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 smtClean="0">
                <a:latin typeface="Kalpurush" pitchFamily="2" charset="0"/>
                <a:cs typeface="Kalpurush" pitchFamily="2" charset="0"/>
              </a:rPr>
              <a:t>ওয়ার্ক</a:t>
            </a:r>
            <a:r>
              <a:rPr lang="en-US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dirty="0" err="1" smtClean="0">
                <a:latin typeface="Kalpurush" pitchFamily="2" charset="0"/>
                <a:cs typeface="Kalpurush" pitchFamily="2" charset="0"/>
              </a:rPr>
              <a:t>ইম</a:t>
            </a:r>
            <a:r>
              <a:rPr lang="bn-BD" dirty="0" smtClean="0">
                <a:latin typeface="Kalpurush" pitchFamily="2" charset="0"/>
                <a:cs typeface="Kalpurush" pitchFamily="2" charset="0"/>
              </a:rPr>
              <a:t>প্রুভমেন্ট টিমের মিটিং চালু</a:t>
            </a:r>
            <a:endParaRPr lang="en-US" dirty="0">
              <a:latin typeface="Kalpurush" pitchFamily="2" charset="0"/>
              <a:cs typeface="Kalpurush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752600"/>
            <a:ext cx="7924800" cy="4362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mvßvwnK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cwi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®‹vi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cwi”QbœZv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Awfhvb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3078" name="Picture 6" descr="G:\DSC0160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438400"/>
            <a:ext cx="4191000" cy="3352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51" name="Picture 3" descr="C:\Users\CMSD\Desktop\New folder (2)\DSC0159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2362200"/>
            <a:ext cx="3962400" cy="3429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505968"/>
            <a:ext cx="8229600" cy="1399032"/>
          </a:xfrm>
          <a:ln>
            <a:noFill/>
          </a:ln>
        </p:spPr>
        <p:txBody>
          <a:bodyPr>
            <a:noAutofit/>
          </a:bodyPr>
          <a:lstStyle/>
          <a:p>
            <a:pPr algn="ctr"/>
            <a:r>
              <a:rPr lang="en-US" sz="6000" b="1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¯^v¯’¨ </a:t>
            </a:r>
            <a:r>
              <a:rPr lang="en-US" sz="6000" b="1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Kg‡cø</a:t>
            </a:r>
            <a:r>
              <a:rPr lang="en-US" sz="6000" b="1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‡· </a:t>
            </a:r>
            <a:r>
              <a:rPr lang="en-US" sz="6000" b="1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AvevwmK</a:t>
            </a:r>
            <a:r>
              <a:rPr lang="en-US" sz="6000" b="1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6000" b="1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feb</a:t>
            </a:r>
            <a:endParaRPr lang="en-US" sz="5400" b="1" dirty="0">
              <a:solidFill>
                <a:schemeClr val="accent1"/>
              </a:solidFill>
            </a:endParaRPr>
          </a:p>
        </p:txBody>
      </p:sp>
      <p:pic>
        <p:nvPicPr>
          <p:cNvPr id="5" name="Content Placeholder 4" descr="20161001_224250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470944"/>
            <a:ext cx="4038600" cy="3028950"/>
          </a:xfrm>
        </p:spPr>
      </p:pic>
      <p:pic>
        <p:nvPicPr>
          <p:cNvPr id="6" name="Content Placeholder 5" descr="20161001_224110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470944"/>
            <a:ext cx="4038600" cy="302895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60946"/>
      </p:ext>
    </p:extLst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334000"/>
            <a:ext cx="8763000" cy="1143000"/>
          </a:xfrm>
        </p:spPr>
        <p:txBody>
          <a:bodyPr>
            <a:noAutofit/>
          </a:bodyPr>
          <a:lstStyle/>
          <a:p>
            <a:pPr algn="ctr"/>
            <a:r>
              <a:rPr lang="bn-BD" sz="3600" b="1" dirty="0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উন্নয়ন মেলা,</a:t>
            </a:r>
            <a:r>
              <a:rPr lang="en-US" sz="3600" b="1" dirty="0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 </a:t>
            </a:r>
            <a:r>
              <a:rPr lang="bn-BD" sz="3600" b="1" dirty="0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২০১৭</a:t>
            </a:r>
            <a:endParaRPr lang="en-US" sz="3600" b="1" dirty="0">
              <a:solidFill>
                <a:schemeClr val="accent1"/>
              </a:solidFill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7" name="Content Placeholder 6" descr="20170110_155548.jpg"/>
          <p:cNvPicPr>
            <a:picLocks noGrp="1" noChangeAspect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>
          <a:xfrm>
            <a:off x="20903" y="1752600"/>
            <a:ext cx="4476485" cy="3357364"/>
          </a:xfrm>
        </p:spPr>
      </p:pic>
      <p:pic>
        <p:nvPicPr>
          <p:cNvPr id="8" name="Content Placeholder 7" descr="20170111_173547.jpg"/>
          <p:cNvPicPr>
            <a:picLocks noGrp="1" noChangeAspect="1"/>
          </p:cNvPicPr>
          <p:nvPr>
            <p:ph sz="quarter" idx="4"/>
          </p:nvPr>
        </p:nvPicPr>
        <p:blipFill>
          <a:blip r:embed="rId3" cstate="print"/>
          <a:stretch>
            <a:fillRect/>
          </a:stretch>
        </p:blipFill>
        <p:spPr>
          <a:xfrm>
            <a:off x="4654232" y="1752600"/>
            <a:ext cx="4489768" cy="3428999"/>
          </a:xfr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514600" y="304800"/>
            <a:ext cx="4040188" cy="838200"/>
          </a:xfrm>
        </p:spPr>
        <p:txBody>
          <a:bodyPr>
            <a:normAutofit/>
          </a:bodyPr>
          <a:lstStyle/>
          <a:p>
            <a:pPr algn="ctr"/>
            <a:r>
              <a:rPr lang="bn-BD" sz="3600" dirty="0" smtClean="0">
                <a:latin typeface="Kalpurush" pitchFamily="2" charset="0"/>
                <a:cs typeface="Kalpurush" pitchFamily="2" charset="0"/>
              </a:rPr>
              <a:t>২য় সেরা </a:t>
            </a:r>
            <a:r>
              <a:rPr lang="en-US" sz="4000" dirty="0" smtClean="0">
                <a:latin typeface="SutonnyMJ" pitchFamily="2" charset="0"/>
                <a:cs typeface="SutonnyMJ" pitchFamily="2" charset="0"/>
              </a:rPr>
              <a:t>÷j</a:t>
            </a:r>
            <a:endParaRPr lang="en-GB" sz="3600" dirty="0"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ransition>
    <p:comb dir="vert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8965" y="0"/>
            <a:ext cx="915296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457200" y="1524000"/>
            <a:ext cx="7620000" cy="31547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bn-BD" sz="19900" b="1" dirty="0" smtClean="0">
                <a:ln w="11430"/>
                <a:solidFill>
                  <a:srgbClr val="0DF723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ab¨ev`</a:t>
            </a:r>
            <a:endParaRPr lang="en-US" sz="19900" b="1" cap="none" spc="0" dirty="0">
              <a:ln w="11430"/>
              <a:solidFill>
                <a:srgbClr val="0DF723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ডাঃ শাহাবউদ্দিন\FB_IMG_154736837825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" y="457200"/>
            <a:ext cx="8458200" cy="5486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37915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6" y="5808497"/>
            <a:ext cx="641026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103" y="5808496"/>
            <a:ext cx="547211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A77ADD-16AF-4430-909D-FE194DB5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33" y="900752"/>
            <a:ext cx="8403609" cy="478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 txBox="1">
            <a:spLocks/>
          </p:cNvSpPr>
          <p:nvPr/>
        </p:nvSpPr>
        <p:spPr>
          <a:xfrm>
            <a:off x="582589" y="122830"/>
            <a:ext cx="7886700" cy="707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 </a:t>
            </a:r>
            <a:b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                                            </a:t>
            </a:r>
            <a:r>
              <a:rPr lang="bn-IN" sz="12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উপজেলা স্বাস্থ্য কমপ্লেক্স, মুজিবনগর</a:t>
            </a:r>
            <a:endParaRPr lang="en-US" sz="120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8374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11" y="1155962"/>
            <a:ext cx="78867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397" y="1064526"/>
            <a:ext cx="8705566" cy="38623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৫০ শয্যাবিশিষ্ট হাসপাতাল।</a:t>
            </a:r>
          </a:p>
          <a:p>
            <a:pPr marL="0" indent="0">
              <a:buNone/>
            </a:pPr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হাসপাতালের লোকবলঃ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ইউএইচ এফ পিও সহ তিনজন মেডিকেল অফিসার।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৬ জন নার্স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পরিচ্ছন্নকর্মী ৪ জন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আয়া ২ জন</a:t>
            </a:r>
          </a:p>
          <a:p>
            <a:endParaRPr lang="en-US" sz="32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6" y="5808497"/>
            <a:ext cx="641026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103" y="5808496"/>
            <a:ext cx="547211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A77ADD-16AF-4430-909D-FE194DB5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 txBox="1">
            <a:spLocks/>
          </p:cNvSpPr>
          <p:nvPr/>
        </p:nvSpPr>
        <p:spPr>
          <a:xfrm>
            <a:off x="582589" y="432630"/>
            <a:ext cx="7886700" cy="7954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 </a:t>
            </a:r>
            <a:b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 txBox="1">
            <a:spLocks/>
          </p:cNvSpPr>
          <p:nvPr/>
        </p:nvSpPr>
        <p:spPr>
          <a:xfrm>
            <a:off x="339488" y="455376"/>
            <a:ext cx="8705566" cy="772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n-IN" sz="24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ভূমিকা</a:t>
            </a:r>
            <a:endParaRPr lang="en-US" sz="24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5897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11" y="1155962"/>
            <a:ext cx="78867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89" y="382137"/>
            <a:ext cx="8705566" cy="5302156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সমস্যাঃ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অপরিচ্ছিন্ন পরিবেশ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নিরাপত্তার অভাব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জনবলের অভাব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প্রশাসনিক দূর্বলতা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আর্থিক অব্যবস্থাপনা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বর্জ্য ও পয়ঃনিষ্কাশন অব্যবস্থাপনা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অপর্যাপ্ত বিদ্যুৎ ও পানি সরবরাহ ব্যবস্থা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দূর্বল সেবা ব্যবস্থা</a:t>
            </a:r>
          </a:p>
          <a:p>
            <a:pPr marL="0" indent="0">
              <a:buNone/>
            </a:pPr>
            <a:endParaRPr lang="en-US" sz="24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6" y="5808497"/>
            <a:ext cx="641026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103" y="5808496"/>
            <a:ext cx="547211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A77ADD-16AF-4430-909D-FE194DB5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17848945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11" y="1155962"/>
            <a:ext cx="78867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89" y="532263"/>
            <a:ext cx="8705566" cy="5276232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উদ্যোগঃ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সমন্বয় সাধন- উপজেলা প্রশাসন,আইনশৃঙ্খলা বাহিনী ও জনপ্রতিনিধিদের সাথে মত বিনিময়।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উর্ধতন কর্তৃপক্ষের দৃষ্টি আকর্ষণ।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অসাধু ব্যক্তিবর্গের বিরুদ্ধে আইনগত ব্যবস্থা।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পরিষ্কার পরিচ্ছন্নতার ব্যপারে উদ্যোগ গ্রহণ।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সেবা ব্যবস্থার উন্নয়ন- বিভিন্ন কর্নার চালু করা, টেলিমেডিসিন এবং আল্ট্রাসাউন্ড মেশিন চালু করা।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সৌন্দর্যবর্ধন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গ্যারেজ চালু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পানি ও বিদ্যুৎ সরবরাহের উন্নয়ন</a:t>
            </a:r>
          </a:p>
          <a:p>
            <a:endParaRPr lang="bn-IN" sz="3200" b="1" dirty="0" smtClean="0"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endParaRPr lang="en-US" sz="32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6" y="5808497"/>
            <a:ext cx="641026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103" y="5808496"/>
            <a:ext cx="547211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A77ADD-16AF-4430-909D-FE194DB5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16523926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2"/>
            <a:ext cx="7772400" cy="6857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Avf¨šÍixY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cwi‡ek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5" name="Picture 2" descr="C:\Users\user\Desktop\IMG_20160316_09485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295400"/>
            <a:ext cx="3864429" cy="4724400"/>
          </a:xfrm>
          <a:prstGeom prst="rect">
            <a:avLst/>
          </a:prstGeom>
          <a:noFill/>
        </p:spPr>
      </p:pic>
      <p:pic>
        <p:nvPicPr>
          <p:cNvPr id="1027" name="Picture 3" descr="C:\Users\user\Desktop\IMG_20160316_09364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1295400"/>
            <a:ext cx="3657600" cy="4724400"/>
          </a:xfrm>
          <a:prstGeom prst="rect">
            <a:avLst/>
          </a:prstGeom>
          <a:noFill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718782" y="6140358"/>
            <a:ext cx="7772400" cy="685799"/>
          </a:xfrm>
          <a:prstGeom prst="rect">
            <a:avLst/>
          </a:prstGeom>
        </p:spPr>
        <p:txBody>
          <a:bodyPr vert="horz" anchor="b">
            <a:normAutofit fontScale="90000" lnSpcReduction="10000"/>
          </a:bodyPr>
          <a:lstStyle>
            <a:lvl1pPr marL="484632" algn="r" rtl="0" eaLnBrk="1" latinLnBrk="0" hangingPunct="1">
              <a:spcBef>
                <a:spcPct val="0"/>
              </a:spcBef>
              <a:buNone/>
              <a:defRPr kumimoji="0" sz="44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err="1" smtClean="0">
                <a:latin typeface="SutonnyMJ" pitchFamily="2" charset="0"/>
                <a:cs typeface="SutonnyMJ" pitchFamily="2" charset="0"/>
              </a:rPr>
              <a:t>Uq‡jU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			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bvwm©s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†÷vi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2219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:\Mujibnagar\New folder\IMG_20160316_11022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1226249"/>
            <a:ext cx="3960125" cy="471030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86" y="1143000"/>
            <a:ext cx="3965814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 txBox="1">
            <a:spLocks/>
          </p:cNvSpPr>
          <p:nvPr/>
        </p:nvSpPr>
        <p:spPr>
          <a:xfrm>
            <a:off x="618130" y="6019800"/>
            <a:ext cx="7886700" cy="628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†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Wªb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		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wcQb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 txBox="1">
            <a:spLocks/>
          </p:cNvSpPr>
          <p:nvPr/>
        </p:nvSpPr>
        <p:spPr>
          <a:xfrm>
            <a:off x="781050" y="328696"/>
            <a:ext cx="7886700" cy="628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 smtClean="0"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evwn‡ii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cwi‡ek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3994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5400" dirty="0" err="1" smtClean="0">
                <a:latin typeface="SutonnyMJ" pitchFamily="2" charset="0"/>
                <a:cs typeface="SutonnyMJ" pitchFamily="2" charset="0"/>
              </a:rPr>
              <a:t>nvmcvZv‡ji</a:t>
            </a:r>
            <a:r>
              <a:rPr lang="en-GB" sz="54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GB" sz="5400" dirty="0" err="1" smtClean="0">
                <a:latin typeface="SutonnyMJ" pitchFamily="2" charset="0"/>
                <a:cs typeface="SutonnyMJ" pitchFamily="2" charset="0"/>
              </a:rPr>
              <a:t>Lv</a:t>
            </a:r>
            <a:r>
              <a:rPr lang="en-GB" sz="5400" dirty="0" smtClean="0">
                <a:latin typeface="SutonnyMJ" pitchFamily="2" charset="0"/>
                <a:cs typeface="SutonnyMJ" pitchFamily="2" charset="0"/>
              </a:rPr>
              <a:t>`¨ </a:t>
            </a:r>
            <a:r>
              <a:rPr lang="en-GB" sz="5400" dirty="0" err="1" smtClean="0">
                <a:latin typeface="SutonnyMJ" pitchFamily="2" charset="0"/>
                <a:cs typeface="SutonnyMJ" pitchFamily="2" charset="0"/>
              </a:rPr>
              <a:t>mieivn</a:t>
            </a:r>
            <a:endParaRPr lang="en-GB" sz="5400"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61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447800"/>
            <a:ext cx="5617617" cy="716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533400" y="5029200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484632" algn="l" rtl="0" eaLnBrk="1" latinLnBrk="0" hangingPunct="1">
              <a:spcBef>
                <a:spcPct val="0"/>
              </a:spcBef>
              <a:buNone/>
              <a:defRPr kumimoji="0" sz="42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dirty="0" smtClean="0">
                <a:latin typeface="SutonnyMJ" pitchFamily="2" charset="0"/>
                <a:cs typeface="SutonnyMJ" pitchFamily="2" charset="0"/>
              </a:rPr>
              <a:t>‡</a:t>
            </a:r>
            <a:r>
              <a:rPr lang="en-GB" sz="5400" dirty="0" err="1" smtClean="0">
                <a:latin typeface="SutonnyMJ" pitchFamily="2" charset="0"/>
                <a:cs typeface="SutonnyMJ" pitchFamily="2" charset="0"/>
              </a:rPr>
              <a:t>QvUgvQ</a:t>
            </a:r>
            <a:r>
              <a:rPr lang="en-GB" sz="54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GB" sz="5400" dirty="0" err="1" smtClean="0">
                <a:latin typeface="SutonnyMJ" pitchFamily="2" charset="0"/>
                <a:cs typeface="SutonnyMJ" pitchFamily="2" charset="0"/>
              </a:rPr>
              <a:t>mieivn</a:t>
            </a:r>
            <a:endParaRPr lang="en-GB" sz="5400" dirty="0">
              <a:latin typeface="SutonnyMJ" pitchFamily="2" charset="0"/>
              <a:cs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9433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8534400" cy="1371601"/>
          </a:xfrm>
        </p:spPr>
        <p:txBody>
          <a:bodyPr/>
          <a:lstStyle/>
          <a:p>
            <a:pPr algn="ctr"/>
            <a:r>
              <a:rPr lang="en-US" dirty="0" err="1" smtClean="0">
                <a:latin typeface="SutonnyMJ" pitchFamily="2" charset="0"/>
                <a:cs typeface="SutonnyMJ" pitchFamily="2" charset="0"/>
              </a:rPr>
              <a:t>cwi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®‹vi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cwi”Qbœ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Awfhvb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2050" name="Picture 2" descr="I:\Mujibnagar\New folder\20160405_11163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752600"/>
            <a:ext cx="3810000" cy="4648200"/>
          </a:xfrm>
          <a:prstGeom prst="rect">
            <a:avLst/>
          </a:prstGeom>
          <a:noFill/>
        </p:spPr>
      </p:pic>
      <p:pic>
        <p:nvPicPr>
          <p:cNvPr id="2051" name="Picture 3" descr="I:\Mujibnagar\20160405_10392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1" y="1752600"/>
            <a:ext cx="4114799" cy="4648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304861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I:\Mujibnagar\New folder\20160404_17512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990600"/>
            <a:ext cx="7239000" cy="53708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09600" y="228601"/>
            <a:ext cx="7772400" cy="762000"/>
          </a:xfrm>
        </p:spPr>
        <p:txBody>
          <a:bodyPr>
            <a:normAutofit/>
          </a:bodyPr>
          <a:lstStyle/>
          <a:p>
            <a:pPr algn="ctr"/>
            <a:r>
              <a:rPr lang="en-US" dirty="0" err="1" smtClean="0"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cwi‡ek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912694" y="6248400"/>
            <a:ext cx="7772400" cy="76200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484632" algn="r" rtl="0" eaLnBrk="1" latinLnBrk="0" hangingPunct="1">
              <a:spcBef>
                <a:spcPct val="0"/>
              </a:spcBef>
              <a:buNone/>
              <a:defRPr kumimoji="0" sz="44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 smtClean="0">
                <a:latin typeface="SutonnyMJ" pitchFamily="2" charset="0"/>
                <a:cs typeface="SutonnyMJ" pitchFamily="2" charset="0"/>
              </a:rPr>
              <a:t>mvg‡bi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`„k¨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6258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1"/>
            <a:ext cx="7772400" cy="762000"/>
          </a:xfrm>
        </p:spPr>
        <p:txBody>
          <a:bodyPr>
            <a:normAutofit/>
          </a:bodyPr>
          <a:lstStyle/>
          <a:p>
            <a:pPr algn="ctr"/>
            <a:r>
              <a:rPr lang="en-US" dirty="0" err="1" smtClean="0"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cwi‡ek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4" name="Picture 2" descr="F:\Mujibnagar picture\Mujibnagar Hospital Pic\20160404_17502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914400"/>
            <a:ext cx="7159388" cy="5334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912694" y="6248400"/>
            <a:ext cx="7772400" cy="76200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484632" algn="r" rtl="0" eaLnBrk="1" latinLnBrk="0" hangingPunct="1">
              <a:spcBef>
                <a:spcPct val="0"/>
              </a:spcBef>
              <a:buNone/>
              <a:defRPr kumimoji="0" sz="44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 smtClean="0">
                <a:latin typeface="SutonnyMJ" pitchFamily="2" charset="0"/>
                <a:cs typeface="SutonnyMJ" pitchFamily="2" charset="0"/>
              </a:rPr>
              <a:t>wcQ‡bi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`„k¨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5301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algn="ctr"/>
            <a:r>
              <a:rPr lang="en-US" dirty="0" err="1" smtClean="0"/>
              <a:t>কনফারেন্স</a:t>
            </a:r>
            <a:r>
              <a:rPr lang="en-US" dirty="0" smtClean="0"/>
              <a:t> </a:t>
            </a:r>
            <a:r>
              <a:rPr lang="en-US" dirty="0" err="1" smtClean="0"/>
              <a:t>রুম</a:t>
            </a:r>
            <a:endParaRPr lang="en-US" dirty="0"/>
          </a:p>
        </p:txBody>
      </p:sp>
      <p:pic>
        <p:nvPicPr>
          <p:cNvPr id="6146" name="Picture 2" descr="I:\Mujibnagar\New folder\20160624_18350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b="32497"/>
          <a:stretch>
            <a:fillRect/>
          </a:stretch>
        </p:blipFill>
        <p:spPr bwMode="auto">
          <a:xfrm>
            <a:off x="1295400" y="1295400"/>
            <a:ext cx="6934200" cy="5181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229638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5638800"/>
            <a:ext cx="7772400" cy="914401"/>
          </a:xfrm>
        </p:spPr>
        <p:txBody>
          <a:bodyPr>
            <a:normAutofit/>
          </a:bodyPr>
          <a:lstStyle/>
          <a:p>
            <a:pPr algn="ctr"/>
            <a:r>
              <a:rPr lang="en-US" dirty="0" err="1" smtClean="0"/>
              <a:t>আল্ট্রাসনো</a:t>
            </a:r>
            <a:endParaRPr lang="en-US" dirty="0"/>
          </a:p>
        </p:txBody>
      </p:sp>
      <p:pic>
        <p:nvPicPr>
          <p:cNvPr id="4098" name="Picture 2" descr="I:\Mujibnagar\New folder\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295400"/>
            <a:ext cx="4343400" cy="4191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3"/>
          <p:cNvSpPr txBox="1">
            <a:spLocks/>
          </p:cNvSpPr>
          <p:nvPr/>
        </p:nvSpPr>
        <p:spPr>
          <a:xfrm>
            <a:off x="457200" y="-76200"/>
            <a:ext cx="8229600" cy="1399032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484632" algn="r" rtl="0" eaLnBrk="1" latinLnBrk="0" hangingPunct="1">
              <a:spcBef>
                <a:spcPct val="0"/>
              </a:spcBef>
              <a:buNone/>
              <a:defRPr kumimoji="0" sz="44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smtClean="0">
                <a:latin typeface="Kalpurush" pitchFamily="2" charset="0"/>
                <a:cs typeface="Kalpurush" pitchFamily="2" charset="0"/>
              </a:rPr>
              <a:t>নতুন </a:t>
            </a:r>
            <a:r>
              <a:rPr lang="bn-BD" sz="4800" b="1" smtClean="0">
                <a:latin typeface="Kalpurush" pitchFamily="2" charset="0"/>
                <a:cs typeface="Kalpurush" pitchFamily="2" charset="0"/>
              </a:rPr>
              <a:t>সংযোজন</a:t>
            </a:r>
            <a:endParaRPr lang="en-US" sz="4800" b="1" dirty="0"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7" name="Picture 2" descr="I:\Mujibnagar\New folder\20160621_11521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3472" y="1257435"/>
            <a:ext cx="4170528" cy="43166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993232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5638800"/>
            <a:ext cx="7772400" cy="914401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 </a:t>
            </a:r>
            <a:r>
              <a:rPr lang="en-US" dirty="0" err="1" smtClean="0"/>
              <a:t>টেলিমেডিসিন</a:t>
            </a:r>
            <a:endParaRPr lang="en-US" dirty="0"/>
          </a:p>
        </p:txBody>
      </p:sp>
      <p:pic>
        <p:nvPicPr>
          <p:cNvPr id="1026" name="Picture 2" descr="C:\Users\User\Downloads\13308207_619893294825025_4862883499342364212_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1" y="1360363"/>
            <a:ext cx="3962399" cy="38640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3"/>
          <p:cNvSpPr txBox="1">
            <a:spLocks/>
          </p:cNvSpPr>
          <p:nvPr/>
        </p:nvSpPr>
        <p:spPr>
          <a:xfrm>
            <a:off x="457200" y="-76200"/>
            <a:ext cx="8229600" cy="1399032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484632" algn="r" rtl="0" eaLnBrk="1" latinLnBrk="0" hangingPunct="1">
              <a:spcBef>
                <a:spcPct val="0"/>
              </a:spcBef>
              <a:buNone/>
              <a:defRPr kumimoji="0" sz="44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smtClean="0">
                <a:latin typeface="Kalpurush" pitchFamily="2" charset="0"/>
                <a:cs typeface="Kalpurush" pitchFamily="2" charset="0"/>
              </a:rPr>
              <a:t>নতুন </a:t>
            </a:r>
            <a:r>
              <a:rPr lang="bn-BD" sz="4800" b="1" smtClean="0">
                <a:latin typeface="Kalpurush" pitchFamily="2" charset="0"/>
                <a:cs typeface="Kalpurush" pitchFamily="2" charset="0"/>
              </a:rPr>
              <a:t>সংযোজন</a:t>
            </a:r>
            <a:endParaRPr lang="en-US" sz="4800" b="1" dirty="0"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7" name="Picture 3" descr="I:\Mujibnagar\New folder\P_20160625_10404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1322832"/>
            <a:ext cx="3962400" cy="37825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872958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68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8965" y="0"/>
            <a:ext cx="915296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457200" y="1524000"/>
            <a:ext cx="7620000" cy="31547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bn-BD" sz="19900" b="1" dirty="0" smtClean="0">
                <a:ln w="11430"/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ab¨ev`</a:t>
            </a:r>
            <a:endParaRPr lang="en-US" sz="19900" b="1" cap="none" spc="0" dirty="0">
              <a:ln w="11430"/>
              <a:solidFill>
                <a:srgbClr val="00B05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SutonnyMJ" pitchFamily="2" charset="0"/>
              <a:cs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44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chnic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1910</TotalTime>
  <Words>778</Words>
  <Application>Microsoft Office PowerPoint</Application>
  <PresentationFormat>On-screen Show (4:3)</PresentationFormat>
  <Paragraphs>212</Paragraphs>
  <Slides>68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68</vt:i4>
      </vt:variant>
    </vt:vector>
  </HeadingPairs>
  <TitlesOfParts>
    <vt:vector size="70" baseType="lpstr">
      <vt:lpstr>Verve</vt:lpstr>
      <vt:lpstr>Technic</vt:lpstr>
      <vt:lpstr>চৌগাছা-ঝিনাইদহ (সি-জে) মডেল: নেতৃত্ব এবং দলগত ব্যবস্থাপনা মুজিবনগর ও কোটচাঁদপুর উপজেলা স্বাস্থ্য কমপ্লেক্স</vt:lpstr>
      <vt:lpstr> </vt:lpstr>
      <vt:lpstr>PowerPoint Presentation</vt:lpstr>
      <vt:lpstr>                      ভূমিকা</vt:lpstr>
      <vt:lpstr>PowerPoint Presentation</vt:lpstr>
      <vt:lpstr>PowerPoint Presentation</vt:lpstr>
      <vt:lpstr>   c~‡e©i Ae¯’v                      eZ©gvb Ae¯’v </vt:lpstr>
      <vt:lpstr>Wv÷web</vt:lpstr>
      <vt:lpstr>mvB‡Kj M¨v‡iR</vt:lpstr>
      <vt:lpstr>c~‡e©i Ae¯’v                      eZ©gvb Ae¯’v </vt:lpstr>
      <vt:lpstr>c~‡e©i Ae¯’v                      eZ©gvb Ae¯’v </vt:lpstr>
      <vt:lpstr>c~‡e©i Ae¯’v                      eZ©gvb Ae¯’v </vt:lpstr>
      <vt:lpstr>c~‡e©i Ae¯’v                      eZ©gvb Ae¯’v </vt:lpstr>
      <vt:lpstr>†flR evMvb </vt:lpstr>
      <vt:lpstr>  c~‡e©i Ae¯’v                      eZ©gvb Ae¯’v </vt:lpstr>
      <vt:lpstr>   c~‡e©i Ae¯’v                      eZ©gvb Ae¯’v </vt:lpstr>
      <vt:lpstr>    c~‡e©i Ae¯’v                      eZ©gvb Ae¯’v </vt:lpstr>
      <vt:lpstr>   c~‡e©i Ae¯’v                      eZ©gvb Ae¯’v </vt:lpstr>
      <vt:lpstr>   c~‡e©i Ae¯’v                      eZ©gvb Ae¯’v </vt:lpstr>
      <vt:lpstr>   c~‡e©i Ae¯’v                      eZ©gvb Ae¯’v </vt:lpstr>
      <vt:lpstr>   c~‡e©i Ae¯’v                      eZ©gvb Ae¯’v </vt:lpstr>
      <vt:lpstr>c~‡e©i Ae¯’v                      eZ©gvb Ae¯’v</vt:lpstr>
      <vt:lpstr> পূর্বের অবস্থা                            বর্তমান অবস্থা  </vt:lpstr>
      <vt:lpstr>নতুন সংযোজন</vt:lpstr>
      <vt:lpstr>নতুন সংযোজন</vt:lpstr>
      <vt:lpstr>বায়োমেট্রিক মেশিন স্থাপন</vt:lpstr>
      <vt:lpstr>ইন্টারকম উদ্ধোধন</vt:lpstr>
      <vt:lpstr>কনফারেন্স রুমে নতুন সংযোজন</vt:lpstr>
      <vt:lpstr>শিশু ওয়ার্ড D‡Øvab</vt:lpstr>
      <vt:lpstr>শিশু ওয়ার্ড </vt:lpstr>
      <vt:lpstr>অপারেশন থিয়েটার Pvjy</vt:lpstr>
      <vt:lpstr>NCD KY©vi Pvjy Kiv n‡q‡Q</vt:lpstr>
      <vt:lpstr>এ এন সি কর্নার </vt:lpstr>
      <vt:lpstr>ই. পি. আই কর্নার</vt:lpstr>
      <vt:lpstr>আই এম সি আই কর্নার</vt:lpstr>
      <vt:lpstr>KvDbwmwjs KY©vi </vt:lpstr>
      <vt:lpstr>আউটডোরে ডিজিটাল স্বাস্থ্য শিক্ষা কর্নার</vt:lpstr>
      <vt:lpstr>ইনডোরে ডিজিটাল স্বাস্থ্য শিক্ষা চালু</vt:lpstr>
      <vt:lpstr>স্থানীয় ব্যবস্থাপনায় নিয়োগ (দশ জন)</vt:lpstr>
      <vt:lpstr> ‡eZb-fvZv e¨vsK GKvD‡›Ui gva¨‡g cÖ`v‡bi Rb¨ mKj Kg©KZ©v I Kg©Pvix‡`i ¯’vbxq †mvbvjx e¨vs‡K GKvD›U †Lvjv n‡q‡Q </vt:lpstr>
      <vt:lpstr>ঔষুধ কোম্পানীর প্রতিনিধিদের হাসপাতালে প্রবেশ সুশৃঙ্খল করা হয়েছে </vt:lpstr>
      <vt:lpstr>সম্মেলন কক্ষ সজ্জিতকরণ</vt:lpstr>
      <vt:lpstr>we`¨yZ I পানির লাইনের ব্যবস্থা</vt:lpstr>
      <vt:lpstr>হাসপাতালে জেনারেটরের ব্যবস্থা করা</vt:lpstr>
      <vt:lpstr>j¨vcUc I gvwëwgwWqvi e¨e¯’v Kiv </vt:lpstr>
      <vt:lpstr>nvmcvZvj fe‡b ১৪ (চৌদ্দ) wU mvP© jvBU ¯’vcb Kiv n‡q‡Q  </vt:lpstr>
      <vt:lpstr>wewfbœ cÖKvi mgš^q mfv </vt:lpstr>
      <vt:lpstr>wewfbœ cÖKvi mgš^q mfv....... </vt:lpstr>
      <vt:lpstr>ওয়ার্ক ইমপ্রুভমেন্ট টিমের মিটিং চালু</vt:lpstr>
      <vt:lpstr>mvßvwnK cwi®‹vi cwi”QbœZv Awfhvb </vt:lpstr>
      <vt:lpstr>¯^v¯’¨ Kg‡cø‡· AvevwmK feb</vt:lpstr>
      <vt:lpstr>উন্নয়ন মেলা, ২০১৭</vt:lpstr>
      <vt:lpstr>PowerPoint Presentation</vt:lpstr>
      <vt:lpstr>PowerPoint Presentation</vt:lpstr>
      <vt:lpstr>PowerPoint Presentation</vt:lpstr>
      <vt:lpstr> </vt:lpstr>
      <vt:lpstr> </vt:lpstr>
      <vt:lpstr> </vt:lpstr>
      <vt:lpstr>nvmcvZv‡ji Avf¨šÍixY cwi‡ek</vt:lpstr>
      <vt:lpstr>PowerPoint Presentation</vt:lpstr>
      <vt:lpstr>nvmcvZv‡ji Lv`¨ mieivn</vt:lpstr>
      <vt:lpstr>cwi®‹vi cwi”Qbœ Awfhvb</vt:lpstr>
      <vt:lpstr>nvmcvZv‡ji cwi‡ek</vt:lpstr>
      <vt:lpstr>nvmcvZv‡ji cwi‡ek</vt:lpstr>
      <vt:lpstr>কনফারেন্স রুম</vt:lpstr>
      <vt:lpstr>আল্ট্রাসনো</vt:lpstr>
      <vt:lpstr> টেলিমেডিসিন</vt:lpstr>
      <vt:lpstr>PowerPoint Presentation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CMSD</dc:creator>
  <cp:lastModifiedBy>Emdad</cp:lastModifiedBy>
  <cp:revision>308</cp:revision>
  <dcterms:created xsi:type="dcterms:W3CDTF">2016-10-07T14:57:38Z</dcterms:created>
  <dcterms:modified xsi:type="dcterms:W3CDTF">2019-08-04T15:21:40Z</dcterms:modified>
</cp:coreProperties>
</file>