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xls" ContentType="application/vnd.ms-excel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3" r:id="rId1"/>
    <p:sldMasterId id="2147483909" r:id="rId2"/>
    <p:sldMasterId id="2147484020" r:id="rId3"/>
  </p:sldMasterIdLst>
  <p:notesMasterIdLst>
    <p:notesMasterId r:id="rId61"/>
  </p:notesMasterIdLst>
  <p:sldIdLst>
    <p:sldId id="331" r:id="rId4"/>
    <p:sldId id="345" r:id="rId5"/>
    <p:sldId id="367" r:id="rId6"/>
    <p:sldId id="332" r:id="rId7"/>
    <p:sldId id="376" r:id="rId8"/>
    <p:sldId id="368" r:id="rId9"/>
    <p:sldId id="374" r:id="rId10"/>
    <p:sldId id="341" r:id="rId11"/>
    <p:sldId id="334" r:id="rId12"/>
    <p:sldId id="337" r:id="rId13"/>
    <p:sldId id="338" r:id="rId14"/>
    <p:sldId id="375" r:id="rId15"/>
    <p:sldId id="339" r:id="rId16"/>
    <p:sldId id="382" r:id="rId17"/>
    <p:sldId id="340" r:id="rId18"/>
    <p:sldId id="342" r:id="rId19"/>
    <p:sldId id="343" r:id="rId20"/>
    <p:sldId id="256" r:id="rId21"/>
    <p:sldId id="360" r:id="rId22"/>
    <p:sldId id="361" r:id="rId23"/>
    <p:sldId id="359" r:id="rId24"/>
    <p:sldId id="326" r:id="rId25"/>
    <p:sldId id="327" r:id="rId26"/>
    <p:sldId id="328" r:id="rId27"/>
    <p:sldId id="352" r:id="rId28"/>
    <p:sldId id="351" r:id="rId29"/>
    <p:sldId id="346" r:id="rId30"/>
    <p:sldId id="362" r:id="rId31"/>
    <p:sldId id="369" r:id="rId32"/>
    <p:sldId id="287" r:id="rId33"/>
    <p:sldId id="288" r:id="rId34"/>
    <p:sldId id="290" r:id="rId35"/>
    <p:sldId id="291" r:id="rId36"/>
    <p:sldId id="292" r:id="rId37"/>
    <p:sldId id="308" r:id="rId38"/>
    <p:sldId id="323" r:id="rId39"/>
    <p:sldId id="312" r:id="rId40"/>
    <p:sldId id="366" r:id="rId41"/>
    <p:sldId id="363" r:id="rId42"/>
    <p:sldId id="364" r:id="rId43"/>
    <p:sldId id="370" r:id="rId44"/>
    <p:sldId id="372" r:id="rId45"/>
    <p:sldId id="371" r:id="rId46"/>
    <p:sldId id="297" r:id="rId47"/>
    <p:sldId id="293" r:id="rId48"/>
    <p:sldId id="294" r:id="rId49"/>
    <p:sldId id="330" r:id="rId50"/>
    <p:sldId id="344" r:id="rId51"/>
    <p:sldId id="381" r:id="rId52"/>
    <p:sldId id="380" r:id="rId53"/>
    <p:sldId id="379" r:id="rId54"/>
    <p:sldId id="378" r:id="rId55"/>
    <p:sldId id="356" r:id="rId56"/>
    <p:sldId id="353" r:id="rId57"/>
    <p:sldId id="354" r:id="rId58"/>
    <p:sldId id="355" r:id="rId59"/>
    <p:sldId id="377" r:id="rId60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C7E17"/>
    <a:srgbClr val="3EEE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071" autoAdjust="0"/>
    <p:restoredTop sz="91637" autoAdjust="0"/>
  </p:normalViewPr>
  <p:slideViewPr>
    <p:cSldViewPr>
      <p:cViewPr>
        <p:scale>
          <a:sx n="70" d="100"/>
          <a:sy n="70" d="100"/>
        </p:scale>
        <p:origin x="-1650" y="-1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522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presProps" Target="pres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61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viewProps" Target="view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txPr>
              <a:bodyPr/>
              <a:lstStyle/>
              <a:p>
                <a:pPr>
                  <a:defRPr lang="en-GB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Sheet1!$A$2:$A$7</c:f>
              <c:numCache>
                <c:formatCode>General</c:formatCode>
                <c:ptCount val="6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</c:numCache>
            </c:numRef>
          </c:cat>
          <c:val>
            <c:numRef>
              <c:f>Sheet1!$B$2:$B$7</c:f>
              <c:numCache>
                <c:formatCode>0%</c:formatCode>
                <c:ptCount val="6"/>
                <c:pt idx="0">
                  <c:v>1.26</c:v>
                </c:pt>
                <c:pt idx="1">
                  <c:v>1.46</c:v>
                </c:pt>
                <c:pt idx="2">
                  <c:v>1.6500000000000001</c:v>
                </c:pt>
                <c:pt idx="3">
                  <c:v>1.93</c:v>
                </c:pt>
                <c:pt idx="4">
                  <c:v>2.14</c:v>
                </c:pt>
                <c:pt idx="5">
                  <c:v>2.42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9166720"/>
        <c:axId val="19168256"/>
      </c:barChart>
      <c:catAx>
        <c:axId val="191667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lang="en-GB"/>
            </a:pPr>
            <a:endParaRPr lang="en-US"/>
          </a:p>
        </c:txPr>
        <c:crossAx val="19168256"/>
        <c:crosses val="autoZero"/>
        <c:auto val="1"/>
        <c:lblAlgn val="ctr"/>
        <c:lblOffset val="100"/>
        <c:noMultiLvlLbl val="0"/>
      </c:catAx>
      <c:valAx>
        <c:axId val="19168256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txPr>
          <a:bodyPr/>
          <a:lstStyle/>
          <a:p>
            <a:pPr>
              <a:defRPr lang="en-GB"/>
            </a:pPr>
            <a:endParaRPr lang="en-US"/>
          </a:p>
        </c:txPr>
        <c:crossAx val="1916672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141903990973091"/>
          <c:y val="4.440966754155732E-2"/>
          <c:w val="0.65834289989452266"/>
          <c:h val="0.844752405949256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 &amp; Outdoors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lang="en-GB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81796</c:v>
                </c:pt>
                <c:pt idx="1">
                  <c:v>170854</c:v>
                </c:pt>
                <c:pt idx="2">
                  <c:v>192791</c:v>
                </c:pt>
                <c:pt idx="3">
                  <c:v>233868</c:v>
                </c:pt>
                <c:pt idx="4">
                  <c:v>277301</c:v>
                </c:pt>
                <c:pt idx="5">
                  <c:v>296235</c:v>
                </c:pt>
                <c:pt idx="6">
                  <c:v>340932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lang="en-GB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Sheet1!$C$2:$C$8</c:f>
              <c:numCache>
                <c:formatCode>General</c:formatCode>
                <c:ptCount val="7"/>
                <c:pt idx="0">
                  <c:v>12973</c:v>
                </c:pt>
                <c:pt idx="1">
                  <c:v>22435</c:v>
                </c:pt>
                <c:pt idx="2">
                  <c:v>24643</c:v>
                </c:pt>
                <c:pt idx="3">
                  <c:v>27905</c:v>
                </c:pt>
                <c:pt idx="4">
                  <c:v>29562</c:v>
                </c:pt>
                <c:pt idx="5">
                  <c:v>32300</c:v>
                </c:pt>
                <c:pt idx="6">
                  <c:v>35569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006784"/>
        <c:axId val="20008320"/>
      </c:barChart>
      <c:catAx>
        <c:axId val="2000678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lang="en-GB"/>
            </a:pPr>
            <a:endParaRPr lang="en-US"/>
          </a:p>
        </c:txPr>
        <c:crossAx val="20008320"/>
        <c:crosses val="autoZero"/>
        <c:auto val="1"/>
        <c:lblAlgn val="ctr"/>
        <c:lblOffset val="100"/>
        <c:noMultiLvlLbl val="0"/>
      </c:catAx>
      <c:valAx>
        <c:axId val="2000832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lang="en-GB"/>
            </a:pPr>
            <a:endParaRPr lang="en-US"/>
          </a:p>
        </c:txPr>
        <c:crossAx val="20006784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8443483700051519"/>
          <c:y val="0.42290223097112861"/>
          <c:w val="0.20621936860696158"/>
          <c:h val="0.27641776027996512"/>
        </c:manualLayout>
      </c:layout>
      <c:overlay val="0"/>
      <c:txPr>
        <a:bodyPr/>
        <a:lstStyle/>
        <a:p>
          <a:pPr>
            <a:defRPr lang="en-GB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27"/>
    </mc:Choice>
    <mc:Fallback>
      <c:style val="27"/>
    </mc:Fallback>
  </mc:AlternateContent>
  <c:chart>
    <c:autoTitleDeleted val="1"/>
    <c:view3D>
      <c:rotX val="0"/>
      <c:rotY val="0"/>
      <c:depthPercent val="150"/>
      <c:rAngAx val="0"/>
      <c:perspective val="0"/>
    </c:view3D>
    <c:floor>
      <c:thickness val="0"/>
    </c:floor>
    <c:sideWall>
      <c:thickness val="0"/>
    </c:sideWall>
    <c:backWall>
      <c:thickness val="0"/>
    </c:backWall>
    <c:plotArea>
      <c:layout>
        <c:manualLayout>
          <c:layoutTarget val="inner"/>
          <c:xMode val="edge"/>
          <c:yMode val="edge"/>
          <c:x val="0.10934240566213922"/>
          <c:y val="5.0614472425046998E-2"/>
          <c:w val="0.87051107128595528"/>
          <c:h val="0.83049790530628376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Major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Pt>
            <c:idx val="1"/>
            <c:invertIfNegative val="0"/>
            <c:bubble3D val="0"/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dPt>
          <c:dLbls>
            <c:dLbl>
              <c:idx val="0"/>
              <c:layout>
                <c:manualLayout>
                  <c:x val="4.4941168575519221E-3"/>
                  <c:y val="-5.57724964536090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9565363278453833E-3"/>
                  <c:y val="-4.43983470734565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-1.3819792412312099E-3"/>
                  <c:y val="-4.267819329372339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layout>
                <c:manualLayout>
                  <c:x val="-4.5897458840372246E-3"/>
                  <c:y val="-5.220040706399949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layout>
                <c:manualLayout>
                  <c:x val="2.792255726556908E-3"/>
                  <c:y val="-3.440677617647663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lang="en-GB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Sheet1!$A$2:$A$8</c:f>
              <c:numCache>
                <c:formatCode>General</c:formatCode>
                <c:ptCount val="7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780</c:v>
                </c:pt>
                <c:pt idx="1">
                  <c:v>977</c:v>
                </c:pt>
                <c:pt idx="2">
                  <c:v>1294</c:v>
                </c:pt>
                <c:pt idx="3">
                  <c:v>1339</c:v>
                </c:pt>
                <c:pt idx="4">
                  <c:v>1582</c:v>
                </c:pt>
                <c:pt idx="5">
                  <c:v>1383</c:v>
                </c:pt>
                <c:pt idx="6">
                  <c:v>1578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cylinder"/>
        <c:axId val="14489088"/>
        <c:axId val="14490624"/>
        <c:axId val="0"/>
      </c:bar3DChart>
      <c:catAx>
        <c:axId val="144890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lang="en-GB" b="1"/>
            </a:pPr>
            <a:endParaRPr lang="en-US"/>
          </a:p>
        </c:txPr>
        <c:crossAx val="14490624"/>
        <c:crosses val="autoZero"/>
        <c:auto val="1"/>
        <c:lblAlgn val="ctr"/>
        <c:lblOffset val="100"/>
        <c:noMultiLvlLbl val="0"/>
      </c:catAx>
      <c:valAx>
        <c:axId val="1449062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lang="en-GB" b="1"/>
            </a:pPr>
            <a:endParaRPr lang="en-US"/>
          </a:p>
        </c:txPr>
        <c:crossAx val="1448908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0-28 days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lang="en-GB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709</c:v>
                </c:pt>
                <c:pt idx="1">
                  <c:v>766</c:v>
                </c:pt>
                <c:pt idx="2">
                  <c:v>835</c:v>
                </c:pt>
                <c:pt idx="3">
                  <c:v>876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29 days-1 year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lang="en-GB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1127</c:v>
                </c:pt>
                <c:pt idx="1">
                  <c:v>923</c:v>
                </c:pt>
                <c:pt idx="2">
                  <c:v>1595</c:v>
                </c:pt>
                <c:pt idx="3">
                  <c:v>1493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1 – 5 years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lang="en-GB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</c:numCache>
            </c:numRef>
          </c:cat>
          <c:val>
            <c:numRef>
              <c:f>Sheet1!$D$2:$D$5</c:f>
              <c:numCache>
                <c:formatCode>General</c:formatCode>
                <c:ptCount val="4"/>
                <c:pt idx="0">
                  <c:v>848</c:v>
                </c:pt>
                <c:pt idx="1">
                  <c:v>806</c:v>
                </c:pt>
                <c:pt idx="2">
                  <c:v>1123</c:v>
                </c:pt>
                <c:pt idx="3">
                  <c:v>1297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Admission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lang="en-GB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Sheet1!$A$2:$A$5</c:f>
              <c:numCache>
                <c:formatCode>General</c:formatCode>
                <c:ptCount val="4"/>
                <c:pt idx="0">
                  <c:v>2014</c:v>
                </c:pt>
                <c:pt idx="1">
                  <c:v>2015</c:v>
                </c:pt>
                <c:pt idx="2">
                  <c:v>2016</c:v>
                </c:pt>
                <c:pt idx="3">
                  <c:v>2017</c:v>
                </c:pt>
              </c:numCache>
            </c:numRef>
          </c:cat>
          <c:val>
            <c:numRef>
              <c:f>Sheet1!$E$2:$E$5</c:f>
              <c:numCache>
                <c:formatCode>General</c:formatCode>
                <c:ptCount val="4"/>
                <c:pt idx="0">
                  <c:v>2684</c:v>
                </c:pt>
                <c:pt idx="1">
                  <c:v>2495</c:v>
                </c:pt>
                <c:pt idx="2">
                  <c:v>3553</c:v>
                </c:pt>
                <c:pt idx="3">
                  <c:v>3666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548352"/>
        <c:axId val="14562432"/>
      </c:barChart>
      <c:catAx>
        <c:axId val="1454835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lang="en-GB" b="1"/>
            </a:pPr>
            <a:endParaRPr lang="en-US"/>
          </a:p>
        </c:txPr>
        <c:crossAx val="14562432"/>
        <c:crosses val="autoZero"/>
        <c:auto val="1"/>
        <c:lblAlgn val="ctr"/>
        <c:lblOffset val="100"/>
        <c:noMultiLvlLbl val="0"/>
      </c:catAx>
      <c:valAx>
        <c:axId val="1456243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lang="en-GB" b="1"/>
            </a:pPr>
            <a:endParaRPr lang="en-US"/>
          </a:p>
        </c:txPr>
        <c:crossAx val="14548352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8314925161381876"/>
          <c:y val="0.34423591178275215"/>
          <c:w val="0.20784173937717246"/>
          <c:h val="0.4630537191753446"/>
        </c:manualLayout>
      </c:layout>
      <c:overlay val="0"/>
      <c:txPr>
        <a:bodyPr/>
        <a:lstStyle/>
        <a:p>
          <a:pPr>
            <a:defRPr lang="en-GB"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312651890735881"/>
          <c:y val="3.6443293946503766E-2"/>
          <c:w val="0.64635972586759993"/>
          <c:h val="0.7815105868077134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ANC 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1.68361959653669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lang="en-GB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15360</c:v>
                </c:pt>
                <c:pt idx="1">
                  <c:v>12178</c:v>
                </c:pt>
                <c:pt idx="2">
                  <c:v>6977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 Section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7.7160493827160516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3888888888888892E-2"/>
                  <c:y val="8.418097982683465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1.2345679012345682E-2"/>
                  <c:y val="5.6120653217889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lang="en-GB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1143</c:v>
                </c:pt>
                <c:pt idx="1">
                  <c:v>1778</c:v>
                </c:pt>
                <c:pt idx="2">
                  <c:v>1228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NVD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-2.52542939480503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2.3148148148148199E-2"/>
                  <c:y val="-6.73447838614677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3.08641975308642E-3"/>
                  <c:y val="-3.086635926983937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lang="en-GB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1854</c:v>
                </c:pt>
                <c:pt idx="1">
                  <c:v>1189</c:v>
                </c:pt>
                <c:pt idx="2">
                  <c:v>1455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Del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3.0864197530864486E-3"/>
                  <c:y val="-1.964222862626141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layout>
                <c:manualLayout>
                  <c:x val="1.8518397005929815E-2"/>
                  <c:y val="-3.647842459162834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layout>
                <c:manualLayout>
                  <c:x val="0"/>
                  <c:y val="-2.80603266089448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lang="en-GB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2997</c:v>
                </c:pt>
                <c:pt idx="1">
                  <c:v>2967</c:v>
                </c:pt>
                <c:pt idx="2">
                  <c:v>2683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9896192"/>
        <c:axId val="19897728"/>
      </c:barChart>
      <c:catAx>
        <c:axId val="19896192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lang="en-GB" b="1"/>
            </a:pPr>
            <a:endParaRPr lang="en-US"/>
          </a:p>
        </c:txPr>
        <c:crossAx val="19897728"/>
        <c:crosses val="autoZero"/>
        <c:auto val="1"/>
        <c:lblAlgn val="ctr"/>
        <c:lblOffset val="100"/>
        <c:noMultiLvlLbl val="0"/>
      </c:catAx>
      <c:valAx>
        <c:axId val="1989772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lang="en-GB" b="1"/>
            </a:pPr>
            <a:endParaRPr lang="en-US"/>
          </a:p>
        </c:txPr>
        <c:crossAx val="19896192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4948624477495851"/>
          <c:y val="0.37195288604878135"/>
          <c:w val="0.14578327014678721"/>
          <c:h val="0.31152795548704232"/>
        </c:manualLayout>
      </c:layout>
      <c:overlay val="0"/>
      <c:txPr>
        <a:bodyPr/>
        <a:lstStyle/>
        <a:p>
          <a:pPr>
            <a:defRPr lang="en-GB"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0"/>
      <c:rotY val="0"/>
      <c:depthPercent val="10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Lbls>
            <c:txPr>
              <a:bodyPr/>
              <a:lstStyle/>
              <a:p>
                <a:pPr>
                  <a:defRPr lang="en-GB" b="1">
                    <a:solidFill>
                      <a:schemeClr val="accent1">
                        <a:lumMod val="75000"/>
                      </a:schemeClr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numRef>
              <c:f>Sheet1!$A$2:$A$4</c:f>
              <c:numCache>
                <c:formatCode>General</c:formatCode>
                <c:ptCount val="3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</c:numCache>
            </c:numRef>
          </c:cat>
          <c:val>
            <c:numRef>
              <c:f>Sheet1!$B$2:$B$4</c:f>
              <c:numCache>
                <c:formatCode>#,##0</c:formatCode>
                <c:ptCount val="3"/>
                <c:pt idx="0">
                  <c:v>6044975</c:v>
                </c:pt>
                <c:pt idx="1">
                  <c:v>6330758</c:v>
                </c:pt>
                <c:pt idx="2">
                  <c:v>7059560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35"/>
        <c:gapDepth val="228"/>
        <c:shape val="cylinder"/>
        <c:axId val="19813504"/>
        <c:axId val="19815040"/>
        <c:axId val="0"/>
      </c:bar3DChart>
      <c:catAx>
        <c:axId val="1981350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lang="en-GB" b="1"/>
            </a:pPr>
            <a:endParaRPr lang="en-US"/>
          </a:p>
        </c:txPr>
        <c:crossAx val="19815040"/>
        <c:crosses val="autoZero"/>
        <c:auto val="1"/>
        <c:lblAlgn val="ctr"/>
        <c:lblOffset val="100"/>
        <c:noMultiLvlLbl val="0"/>
      </c:catAx>
      <c:valAx>
        <c:axId val="19815040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txPr>
          <a:bodyPr/>
          <a:lstStyle/>
          <a:p>
            <a:pPr>
              <a:defRPr lang="en-GB" b="1">
                <a:solidFill>
                  <a:schemeClr val="tx2"/>
                </a:solidFill>
              </a:defRPr>
            </a:pPr>
            <a:endParaRPr lang="en-US"/>
          </a:p>
        </c:txPr>
        <c:crossAx val="19813504"/>
        <c:crosses val="autoZero"/>
        <c:crossBetween val="between"/>
      </c:valAx>
      <c:spPr>
        <a:noFill/>
        <a:ln w="25386">
          <a:noFill/>
        </a:ln>
      </c:spPr>
    </c:plotArea>
    <c:plotVisOnly val="1"/>
    <c:dispBlanksAs val="gap"/>
    <c:showDLblsOverMax val="0"/>
  </c:chart>
  <c:txPr>
    <a:bodyPr/>
    <a:lstStyle/>
    <a:p>
      <a:pPr>
        <a:defRPr sz="1797"/>
      </a:pPr>
      <a:endParaRPr lang="en-US"/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5/14/2018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66DE5D76-C7F9-4E73-8FF9-746B2A4AD456}" type="slidenum">
              <a:rPr lang="en-US" smtClean="0"/>
              <a:pPr/>
              <a:t>2</a:t>
            </a:fld>
            <a:endParaRPr lang="en-US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E1CFFC81-D30A-48BE-844E-591ABC2E2AC9}" type="slidenum">
              <a:rPr lang="en-US" smtClean="0">
                <a:solidFill>
                  <a:srgbClr val="000000"/>
                </a:solidFill>
              </a:rPr>
              <a:pPr/>
              <a:t>4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795245E5-9100-4885-8E70-993AA1DC8825}" type="slidenum">
              <a:rPr lang="en-US" smtClean="0">
                <a:solidFill>
                  <a:srgbClr val="000000"/>
                </a:solidFill>
              </a:rPr>
              <a:pPr/>
              <a:t>8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3A337629-D36D-49E4-ACBA-6A81B0F14D58}" type="slidenum">
              <a:rPr lang="en-US" smtClean="0">
                <a:solidFill>
                  <a:srgbClr val="000000"/>
                </a:solidFill>
              </a:rPr>
              <a:pPr/>
              <a:t>9</a:t>
            </a:fld>
            <a:endParaRPr lang="en-US" dirty="0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2A4FD03C-E954-4298-9799-2404B990A5D5}" type="slidenum">
              <a:rPr lang="en-US" smtClean="0">
                <a:solidFill>
                  <a:srgbClr val="000000"/>
                </a:solidFill>
              </a:rPr>
              <a:pPr/>
              <a:t>13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5025" cy="3484562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2A4FD03C-E954-4298-9799-2404B990A5D5}" type="slidenum">
              <a:rPr lang="en-US" smtClean="0">
                <a:solidFill>
                  <a:srgbClr val="000000"/>
                </a:solidFill>
              </a:rPr>
              <a:pPr/>
              <a:t>14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5025" cy="3484562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2CDC74EA-1436-4302-A7A0-7857452C14B5}" type="slidenum">
              <a:rPr lang="en-US" smtClean="0">
                <a:solidFill>
                  <a:srgbClr val="000000"/>
                </a:solidFill>
              </a:rPr>
              <a:pPr/>
              <a:t>16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1100" y="695325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46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90005B86-5533-402D-BA49-C1AC2C357B9B}" type="slidenum">
              <a:rPr lang="en-US" smtClean="0">
                <a:solidFill>
                  <a:srgbClr val="000000"/>
                </a:solidFill>
              </a:rPr>
              <a:pPr/>
              <a:t>28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B36F5E-8ADC-4553-AFDF-0075743DECD4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4204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F89CEDC-CC36-4240-A8E3-18CC66A39448}" type="slidenum">
              <a:rPr lang="en-US" smtClean="0"/>
              <a:pPr/>
              <a:t>47</a:t>
            </a:fld>
            <a:endParaRPr 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48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2A4FD03C-E954-4298-9799-2404B990A5D5}" type="slidenum">
              <a:rPr lang="en-US" smtClean="0">
                <a:solidFill>
                  <a:srgbClr val="000000"/>
                </a:solidFill>
              </a:rPr>
              <a:pPr/>
              <a:t>57</a:t>
            </a:fld>
            <a:endParaRPr lang="en-US" dirty="0" smtClean="0">
              <a:solidFill>
                <a:srgbClr val="000000"/>
              </a:solidFill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5025" cy="3484562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30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14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角丸四角形 9"/>
          <p:cNvSpPr/>
          <p:nvPr/>
        </p:nvSpPr>
        <p:spPr>
          <a:xfrm>
            <a:off x="418596" y="434162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タイトル 4"/>
          <p:cNvSpPr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20" name="サブタイトル 19"/>
          <p:cNvSpPr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</p:spPr>
        <p:txBody>
          <a:bodyPr tIns="0"/>
          <a:lstStyle>
            <a:lvl1pPr marL="36576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ja-JP" altLang="en-US" smtClean="0"/>
              <a:t>マスタ サブタイトルの書式設定</a:t>
            </a:r>
            <a:endParaRPr lang="en-US"/>
          </a:p>
        </p:txBody>
      </p:sp>
      <p:sp>
        <p:nvSpPr>
          <p:cNvPr id="7" name="日付プレースホルダ 1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F423E39-EC46-4B87-9157-92D4019721E3}" type="datetimeFigureOut">
              <a:rPr lang="ja-JP" altLang="en-US"/>
              <a:pPr>
                <a:defRPr/>
              </a:pPr>
              <a:t>2018/5/14</a:t>
            </a:fld>
            <a:endParaRPr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68B281E-05FA-4A3F-87CB-6F2DBFB0E332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0869637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4187952"/>
          </a:xfrm>
        </p:spPr>
        <p:txBody>
          <a:bodyPr/>
          <a:lstStyle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F0A4B03-A037-4479-A95E-9F890E943F1D}" type="datetimeFigureOut">
              <a:rPr lang="ja-JP" altLang="en-US"/>
              <a:pPr>
                <a:defRPr/>
              </a:pPr>
              <a:t>2018/5/14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1305691A-773F-4752-A63A-0306B2347D03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77517666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角丸四角形 13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5" name="角丸四角形 10"/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/>
          <a:lstStyle>
            <a:lvl1pPr marL="0" marR="36576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6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0A492C7-9BF5-407B-9BEB-4402C24C4E0E}" type="datetimeFigureOut">
              <a:rPr lang="ja-JP" altLang="en-US"/>
              <a:pPr>
                <a:defRPr/>
              </a:pPr>
              <a:t>2018/5/14</a:t>
            </a:fld>
            <a:endParaRPr lang="ja-JP" altLang="en-US"/>
          </a:p>
        </p:txBody>
      </p:sp>
      <p:sp>
        <p:nvSpPr>
          <p:cNvPr id="7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8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F1A22980-DD61-414F-B1BB-0DD8FA6FC17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08623234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514352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755360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709EC0F-9618-4BA0-97B5-480E39F24805}" type="datetimeFigureOut">
              <a:rPr lang="ja-JP" altLang="en-US"/>
              <a:pPr>
                <a:defRPr/>
              </a:pPr>
              <a:t>2018/5/14</a:t>
            </a:fld>
            <a:endParaRPr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5ED81223-A624-438C-A394-98C2ADE1D72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19066942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lvl1pPr>
              <a:defRPr b="1"/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3"/>
          </p:nvPr>
        </p:nvSpPr>
        <p:spPr>
          <a:xfrm>
            <a:off x="4652169" y="579438"/>
            <a:ext cx="393192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5" name="コンテンツ プレースホルダ 4"/>
          <p:cNvSpPr>
            <a:spLocks noGrp="1"/>
          </p:cNvSpPr>
          <p:nvPr>
            <p:ph sz="quarter" idx="2"/>
          </p:nvPr>
        </p:nvSpPr>
        <p:spPr>
          <a:xfrm>
            <a:off x="607224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52169" y="1447800"/>
            <a:ext cx="3931920" cy="348996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2610355-3AB5-4CFB-BF1E-7F71F0A50339}" type="datetimeFigureOut">
              <a:rPr lang="ja-JP" altLang="en-US"/>
              <a:pPr>
                <a:defRPr/>
              </a:pPr>
              <a:t>2018/5/14</a:t>
            </a:fld>
            <a:endParaRPr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FE793E15-B530-4520-8CD7-8B5C5E2BDF89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6851586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6CDBDD60-69F8-4F1D-B6DC-C055790BA01B}" type="datetimeFigureOut">
              <a:rPr lang="ja-JP" altLang="en-US"/>
              <a:pPr>
                <a:defRPr/>
              </a:pPr>
              <a:t>2018/5/14</a:t>
            </a:fld>
            <a:endParaRPr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517AC1C-C325-4039-B14B-4CB98637DDA0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9017939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角丸四角形 6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3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BBCACF58-10DC-4662-B41E-DBC9A69CE3C7}" type="datetimeFigureOut">
              <a:rPr lang="ja-JP" altLang="en-US"/>
              <a:pPr>
                <a:defRPr/>
              </a:pPr>
              <a:t>2018/5/14</a:t>
            </a:fld>
            <a:endParaRPr lang="ja-JP" altLang="en-US"/>
          </a:p>
        </p:txBody>
      </p:sp>
      <p:sp>
        <p:nvSpPr>
          <p:cNvPr id="4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C24655F0-8969-4363-944D-6F8C7F78DCF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610277185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2"/>
          </p:nvPr>
        </p:nvSpPr>
        <p:spPr>
          <a:xfrm>
            <a:off x="5538847" y="1447802"/>
            <a:ext cx="2971800" cy="4206112"/>
          </a:xfrm>
        </p:spPr>
        <p:txBody>
          <a:bodyPr lIns="91440"/>
          <a:lstStyle>
            <a:lvl1pPr marL="18288" marR="18288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1"/>
          </p:nvPr>
        </p:nvSpPr>
        <p:spPr>
          <a:xfrm>
            <a:off x="761372" y="930144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BB087666-013F-4FDA-BEFA-0D52CB0B933D}" type="datetimeFigureOut">
              <a:rPr lang="ja-JP" altLang="en-US"/>
              <a:pPr>
                <a:defRPr/>
              </a:pPr>
              <a:t>2018/5/14</a:t>
            </a:fld>
            <a:endParaRPr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42257595-CDAE-4E4E-8D2A-48072503B9A9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9732274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角丸四角形 14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1 つの角を丸めた四角形 10"/>
          <p:cNvSpPr/>
          <p:nvPr/>
        </p:nvSpPr>
        <p:spPr>
          <a:xfrm>
            <a:off x="6400800" y="433388"/>
            <a:ext cx="2324100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 bwMode="grayWhite">
          <a:xfrm>
            <a:off x="6462712" y="533400"/>
            <a:ext cx="224028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ja-JP" altLang="en-US" noProof="0" smtClean="0"/>
              <a:t>アイコンをクリックして図を追加</a:t>
            </a:r>
            <a:endParaRPr lang="en-US" noProof="0" dirty="0"/>
          </a:p>
        </p:txBody>
      </p:sp>
      <p:sp>
        <p:nvSpPr>
          <p:cNvPr id="7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C3A78DF4-B142-4B1F-AE36-CA2E01530601}" type="datetimeFigureOut">
              <a:rPr lang="ja-JP" altLang="en-US"/>
              <a:pPr>
                <a:defRPr/>
              </a:pPr>
              <a:t>2018/5/14</a:t>
            </a:fld>
            <a:endParaRPr lang="ja-JP" altLang="en-US"/>
          </a:p>
        </p:txBody>
      </p:sp>
      <p:sp>
        <p:nvSpPr>
          <p:cNvPr id="8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24CE8912-7021-44CE-93B5-24B4E497462A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43837545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502920" y="530352"/>
            <a:ext cx="8183880" cy="4187952"/>
          </a:xfrm>
        </p:spPr>
        <p:txBody>
          <a:bodyPr vert="eaVert"/>
          <a:lstStyle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08256B4-4D99-4226-B7B7-70A96A8C0142}" type="datetimeFigureOut">
              <a:rPr lang="ja-JP" altLang="en-US"/>
              <a:pPr>
                <a:defRPr/>
              </a:pPr>
              <a:t>2018/5/14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A4231D10-4EED-4D9C-9B53-3199AADE8933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279982675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533404"/>
            <a:ext cx="1981200" cy="5257799"/>
          </a:xfrm>
        </p:spPr>
        <p:txBody>
          <a:bodyPr vert="eaVert"/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533400" y="533402"/>
            <a:ext cx="5943600" cy="5257801"/>
          </a:xfrm>
        </p:spPr>
        <p:txBody>
          <a:bodyPr vert="eaVert"/>
          <a:lstStyle>
            <a:extLst/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02EF0357-2710-446F-8233-F225A9131398}" type="datetimeFigureOut">
              <a:rPr lang="ja-JP" altLang="en-US"/>
              <a:pPr>
                <a:defRPr/>
              </a:pPr>
              <a:t>2018/5/14</a:t>
            </a:fld>
            <a:endParaRPr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Arial" charset="0"/>
                <a:cs typeface="Arial" charset="0"/>
              </a:defRPr>
            </a:lvl1pPr>
            <a:extLst/>
          </a:lstStyle>
          <a:p>
            <a:pPr>
              <a:defRPr/>
            </a:pPr>
            <a:fld id="{88CA1B56-A0EE-40A3-8B26-7F95EB598CFD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76098720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528EF-78D8-49A5-809B-2599B7DD834B}" type="datetimeFigureOut">
              <a:rPr lang="en-US" altLang="en-US"/>
              <a:pPr>
                <a:defRPr/>
              </a:pPr>
              <a:t>5/14/2018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FA2A5-5979-48A6-9408-4607D4934BE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602256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57163-4E2A-442A-AF52-8DCCF3E5F898}" type="datetimeFigureOut">
              <a:rPr lang="en-US" altLang="en-US"/>
              <a:pPr>
                <a:defRPr/>
              </a:pPr>
              <a:t>5/14/2018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4CFB5-2CC1-45EB-A3F2-C919B032989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027016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ADFD7-462D-4DC3-B03B-C216ECE8D47D}" type="datetimeFigureOut">
              <a:rPr lang="en-US" altLang="en-US"/>
              <a:pPr>
                <a:defRPr/>
              </a:pPr>
              <a:t>5/14/2018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B0A13-5CDD-4B02-825E-D5B70CB11E2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73574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FF109-4CB5-4AAD-95FA-C87EB3E04025}" type="datetimeFigureOut">
              <a:rPr lang="en-US" altLang="en-US"/>
              <a:pPr>
                <a:defRPr/>
              </a:pPr>
              <a:t>5/14/2018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3CE82-7117-4891-B558-D1CF2158FB3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335248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A6665-6F14-4A40-AA68-DF2D49F6DD20}" type="datetimeFigureOut">
              <a:rPr lang="en-US" altLang="en-US"/>
              <a:pPr>
                <a:defRPr/>
              </a:pPr>
              <a:t>5/14/2018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2395EA-16E2-485C-BE10-C0C30288CF7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044225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FB527-45A3-4F1F-BC31-990A27D35CF4}" type="datetimeFigureOut">
              <a:rPr lang="en-US" altLang="en-US"/>
              <a:pPr>
                <a:defRPr/>
              </a:pPr>
              <a:t>5/14/2018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52998-14DA-4294-9809-0671B108F66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22159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0C454-2AF4-4F56-B134-15CC2881F322}" type="datetimeFigureOut">
              <a:rPr lang="en-US" altLang="en-US"/>
              <a:pPr>
                <a:defRPr/>
              </a:pPr>
              <a:t>5/14/2018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FBE90-576A-469F-BB2C-57A27D47CF3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521419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0C9C6-69CB-45B7-9979-6C3E38187D0A}" type="datetimeFigureOut">
              <a:rPr lang="en-US" altLang="en-US"/>
              <a:pPr>
                <a:defRPr/>
              </a:pPr>
              <a:t>5/14/2018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E9712-EA71-450B-AE72-6EC24D46A79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018187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0AD57-2794-4A43-BC3A-6D6DEE633501}" type="datetimeFigureOut">
              <a:rPr lang="en-US" altLang="en-US"/>
              <a:pPr>
                <a:defRPr/>
              </a:pPr>
              <a:t>5/14/2018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B9D0AA-CDC8-41BE-AFF7-7A9CB8C401D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713506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D4D3F-EDC6-440C-ABD2-54996654AEC4}" type="datetimeFigureOut">
              <a:rPr lang="en-US" altLang="en-US"/>
              <a:pPr>
                <a:defRPr/>
              </a:pPr>
              <a:t>5/14/2018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68EAF-25D6-47A5-AF16-8E40A707229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86205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5DA01-3A8D-4832-86F7-58BF2CA1F9C1}" type="datetimeFigureOut">
              <a:rPr lang="en-US" altLang="en-US"/>
              <a:pPr>
                <a:defRPr/>
              </a:pPr>
              <a:t>5/14/2018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CA87E-87C4-451A-AA13-2FDE2706BB2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350803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7954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569369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528EF-78D8-49A5-809B-2599B7DD834B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5/14/2018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FA2A5-5979-48A6-9408-4607D4934BEB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038063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57163-4E2A-442A-AF52-8DCCF3E5F898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5/14/2018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4CFB5-2CC1-45EB-A3F2-C919B0329890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68306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ADFD7-462D-4DC3-B03B-C216ECE8D47D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5/14/2018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B0A13-5CDD-4B02-825E-D5B70CB11E2D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000189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FF109-4CB5-4AAD-95FA-C87EB3E04025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5/14/2018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3CE82-7117-4891-B558-D1CF2158FB35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81316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A6665-6F14-4A40-AA68-DF2D49F6DD20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5/14/2018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2395EA-16E2-485C-BE10-C0C30288CF78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770315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FB527-45A3-4F1F-BC31-990A27D35CF4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5/14/2018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52998-14DA-4294-9809-0671B108F665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417590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0C454-2AF4-4F56-B134-15CC2881F322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5/14/2018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FBE90-576A-469F-BB2C-57A27D47CF36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023550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0C9C6-69CB-45B7-9979-6C3E38187D0A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5/14/2018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E9712-EA71-450B-AE72-6EC24D46A791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025972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0AD57-2794-4A43-BC3A-6D6DEE633501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5/14/2018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B9D0AA-CDC8-41BE-AFF7-7A9CB8C401D6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781188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D4D3F-EDC6-440C-ABD2-54996654AEC4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5/14/2018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68EAF-25D6-47A5-AF16-8E40A707229B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924996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5DA01-3A8D-4832-86F7-58BF2CA1F9C1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5/14/2018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CA87E-87C4-451A-AA13-2FDE2706BB27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776802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142658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367338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角丸四角形 6"/>
          <p:cNvSpPr/>
          <p:nvPr/>
        </p:nvSpPr>
        <p:spPr>
          <a:xfrm>
            <a:off x="304800" y="328613"/>
            <a:ext cx="8532813" cy="6197600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角丸四角形 8"/>
          <p:cNvSpPr/>
          <p:nvPr/>
        </p:nvSpPr>
        <p:spPr>
          <a:xfrm>
            <a:off x="418596" y="434162"/>
            <a:ext cx="8306809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" name="タイトル プレースホルダ 12"/>
          <p:cNvSpPr>
            <a:spLocks noGrp="1"/>
          </p:cNvSpPr>
          <p:nvPr>
            <p:ph type="title"/>
          </p:nvPr>
        </p:nvSpPr>
        <p:spPr>
          <a:xfrm>
            <a:off x="503238" y="4986338"/>
            <a:ext cx="8183562" cy="1050925"/>
          </a:xfrm>
          <a:prstGeom prst="rect">
            <a:avLst/>
          </a:prstGeom>
        </p:spPr>
        <p:txBody>
          <a:bodyPr vert="horz" anchor="b">
            <a:normAutofit/>
          </a:bodyPr>
          <a:lstStyle>
            <a:extLst/>
          </a:lstStyle>
          <a:p>
            <a:r>
              <a:rPr lang="ja-JP" altLang="en-US" smtClean="0"/>
              <a:t>マスタ タイトルの書式設定</a:t>
            </a:r>
            <a:endParaRPr lang="en-US"/>
          </a:p>
        </p:txBody>
      </p:sp>
      <p:sp>
        <p:nvSpPr>
          <p:cNvPr id="1031" name="テキスト プレースホルダ 3"/>
          <p:cNvSpPr>
            <a:spLocks noGrp="1"/>
          </p:cNvSpPr>
          <p:nvPr>
            <p:ph type="body" idx="1"/>
          </p:nvPr>
        </p:nvSpPr>
        <p:spPr bwMode="auto">
          <a:xfrm>
            <a:off x="503238" y="530225"/>
            <a:ext cx="8183562" cy="418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82880" tIns="9144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en-US" smtClean="0"/>
          </a:p>
        </p:txBody>
      </p:sp>
      <p:sp>
        <p:nvSpPr>
          <p:cNvPr id="25" name="日付プレースホルダ 24"/>
          <p:cNvSpPr>
            <a:spLocks noGrp="1"/>
          </p:cNvSpPr>
          <p:nvPr>
            <p:ph type="dt" sz="half" idx="2"/>
          </p:nvPr>
        </p:nvSpPr>
        <p:spPr>
          <a:xfrm>
            <a:off x="3776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fld id="{B60A3115-D531-4BF5-8912-0DDF8A1BF818}" type="datetimeFigureOut">
              <a:rPr lang="ja-JP" altLang="en-US"/>
              <a:pPr>
                <a:defRPr/>
              </a:pPr>
              <a:t>2018/5/14</a:t>
            </a:fld>
            <a:endParaRPr lang="ja-JP" altLang="en-US"/>
          </a:p>
        </p:txBody>
      </p:sp>
      <p:sp>
        <p:nvSpPr>
          <p:cNvPr id="18" name="フッター プレースホルダ 17"/>
          <p:cNvSpPr>
            <a:spLocks noGrp="1"/>
          </p:cNvSpPr>
          <p:nvPr>
            <p:ph type="ftr" sz="quarter" idx="3"/>
          </p:nvPr>
        </p:nvSpPr>
        <p:spPr>
          <a:xfrm>
            <a:off x="6062663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4"/>
          </p:nvPr>
        </p:nvSpPr>
        <p:spPr>
          <a:xfrm>
            <a:off x="8348663" y="61118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1" sz="1000">
                <a:solidFill>
                  <a:srgbClr val="E3DED1">
                    <a:shade val="50000"/>
                  </a:srgbClr>
                </a:solidFill>
                <a:latin typeface="Verdana"/>
                <a:cs typeface="+mn-cs"/>
              </a:defRPr>
            </a:lvl1pPr>
            <a:extLst/>
          </a:lstStyle>
          <a:p>
            <a:pPr>
              <a:defRPr/>
            </a:pPr>
            <a:fld id="{52C5264A-7754-4726-AC52-E1F06AF192FF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6" r:id="rId1"/>
    <p:sldLayoutId id="2147483997" r:id="rId2"/>
    <p:sldLayoutId id="2147483998" r:id="rId3"/>
    <p:sldLayoutId id="2147483999" r:id="rId4"/>
    <p:sldLayoutId id="2147484000" r:id="rId5"/>
    <p:sldLayoutId id="2147484001" r:id="rId6"/>
    <p:sldLayoutId id="2147484002" r:id="rId7"/>
    <p:sldLayoutId id="2147484003" r:id="rId8"/>
    <p:sldLayoutId id="2147484004" r:id="rId9"/>
    <p:sldLayoutId id="2147484005" r:id="rId10"/>
    <p:sldLayoutId id="2147484006" r:id="rId11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600" b="1" kern="1200">
          <a:solidFill>
            <a:srgbClr val="FF8D3E"/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600" b="1">
          <a:solidFill>
            <a:srgbClr val="FF8D3E"/>
          </a:solidFill>
          <a:latin typeface="Verdana" pitchFamily="34" charset="0"/>
        </a:defRPr>
      </a:lvl9pPr>
      <a:extLst/>
    </p:titleStyle>
    <p:bodyStyle>
      <a:lvl1pPr marL="265113" indent="-265113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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00025" algn="l" rtl="0" eaLnBrk="0" fontAlgn="base" hangingPunct="0">
        <a:spcBef>
          <a:spcPts val="250"/>
        </a:spcBef>
        <a:spcAft>
          <a:spcPct val="0"/>
        </a:spcAft>
        <a:buClr>
          <a:schemeClr val="accent1"/>
        </a:buClr>
        <a:buSzPct val="100000"/>
        <a:buFont typeface="Verdana" pitchFamily="34" charset="0"/>
        <a:buChar char="◦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5813" indent="-182563" algn="l" rtl="0" eaLnBrk="0" fontAlgn="base" hangingPunct="0">
        <a:spcBef>
          <a:spcPts val="250"/>
        </a:spcBef>
        <a:spcAft>
          <a:spcPct val="0"/>
        </a:spcAft>
        <a:buClr>
          <a:srgbClr val="ED3742"/>
        </a:buClr>
        <a:buSzPct val="100000"/>
        <a:buFont typeface="Wingdings 2" pitchFamily="18" charset="2"/>
        <a:buChar char=""/>
        <a:defRPr kumimoji="1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3938" indent="-182563" algn="l" rtl="0" eaLnBrk="0" fontAlgn="base" hangingPunct="0">
        <a:spcBef>
          <a:spcPts val="225"/>
        </a:spcBef>
        <a:spcAft>
          <a:spcPct val="0"/>
        </a:spcAft>
        <a:buClr>
          <a:srgbClr val="ED3742"/>
        </a:buClr>
        <a:buSzPct val="112000"/>
        <a:buFont typeface="Verdana" pitchFamily="34" charset="0"/>
        <a:buChar char="◦"/>
        <a:defRPr kumimoji="1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79525" indent="-182563" algn="l" rtl="0" eaLnBrk="0" fontAlgn="base" hangingPunct="0">
        <a:spcBef>
          <a:spcPts val="250"/>
        </a:spcBef>
        <a:spcAft>
          <a:spcPct val="0"/>
        </a:spcAft>
        <a:buClr>
          <a:srgbClr val="4A85BF"/>
        </a:buClr>
        <a:buSzPct val="100000"/>
        <a:buFont typeface="Wingdings 2" pitchFamily="18" charset="2"/>
        <a:buChar char="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1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784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7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1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/>
              <a:pPr>
                <a:defRPr/>
              </a:pPr>
              <a:t>2018/5/14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  <p:sldLayoutId id="2147484019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2018/5/14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ja-JP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9077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1" r:id="rId1"/>
    <p:sldLayoutId id="2147484022" r:id="rId2"/>
    <p:sldLayoutId id="2147484023" r:id="rId3"/>
    <p:sldLayoutId id="2147484024" r:id="rId4"/>
    <p:sldLayoutId id="2147484025" r:id="rId5"/>
    <p:sldLayoutId id="2147484026" r:id="rId6"/>
    <p:sldLayoutId id="2147484027" r:id="rId7"/>
    <p:sldLayoutId id="2147484028" r:id="rId8"/>
    <p:sldLayoutId id="2147484029" r:id="rId9"/>
    <p:sldLayoutId id="2147484030" r:id="rId10"/>
    <p:sldLayoutId id="2147484031" r:id="rId11"/>
    <p:sldLayoutId id="2147484032" r:id="rId12"/>
    <p:sldLayoutId id="2147484033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0.emf"/><Relationship Id="rId5" Type="http://schemas.openxmlformats.org/officeDocument/2006/relationships/oleObject" Target="../embeddings/Microsoft_Excel_97-2003_Worksheet1.xls"/><Relationship Id="rId4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1.emf"/><Relationship Id="rId5" Type="http://schemas.openxmlformats.org/officeDocument/2006/relationships/oleObject" Target="../embeddings/Microsoft_Excel_97-2003_Worksheet2.xls"/><Relationship Id="rId4" Type="http://schemas.openxmlformats.org/officeDocument/2006/relationships/oleObject" Target="../embeddings/oleObject2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Relationship Id="rId4" Type="http://schemas.openxmlformats.org/officeDocument/2006/relationships/chart" Target="../charts/char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2.jpeg"/><Relationship Id="rId4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36.jpeg"/><Relationship Id="rId4" Type="http://schemas.openxmlformats.org/officeDocument/2006/relationships/image" Target="../media/image35.jpe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jpeg"/><Relationship Id="rId7" Type="http://schemas.openxmlformats.org/officeDocument/2006/relationships/image" Target="../media/image42.pn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49.jpeg"/><Relationship Id="rId5" Type="http://schemas.openxmlformats.org/officeDocument/2006/relationships/image" Target="../media/image48.jpeg"/><Relationship Id="rId4" Type="http://schemas.openxmlformats.org/officeDocument/2006/relationships/image" Target="../media/image4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57.jpeg"/><Relationship Id="rId4" Type="http://schemas.openxmlformats.org/officeDocument/2006/relationships/image" Target="../media/image56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65.png"/><Relationship Id="rId5" Type="http://schemas.openxmlformats.org/officeDocument/2006/relationships/image" Target="../media/image64.jpeg"/><Relationship Id="rId4" Type="http://schemas.openxmlformats.org/officeDocument/2006/relationships/image" Target="../media/image63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9.jpeg"/><Relationship Id="rId4" Type="http://schemas.openxmlformats.org/officeDocument/2006/relationships/image" Target="../media/image68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e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73.jpeg"/><Relationship Id="rId4" Type="http://schemas.openxmlformats.org/officeDocument/2006/relationships/image" Target="../media/image72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eg"/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7.png"/><Relationship Id="rId4" Type="http://schemas.openxmlformats.org/officeDocument/2006/relationships/image" Target="../media/image76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eg"/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81.jpeg"/><Relationship Id="rId4" Type="http://schemas.openxmlformats.org/officeDocument/2006/relationships/image" Target="../media/image80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5.jpeg"/><Relationship Id="rId4" Type="http://schemas.openxmlformats.org/officeDocument/2006/relationships/image" Target="../media/image8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jpeg"/><Relationship Id="rId2" Type="http://schemas.openxmlformats.org/officeDocument/2006/relationships/image" Target="../media/image86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jpeg"/><Relationship Id="rId2" Type="http://schemas.openxmlformats.org/officeDocument/2006/relationships/image" Target="../media/image90.jpe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97.jpeg"/><Relationship Id="rId4" Type="http://schemas.openxmlformats.org/officeDocument/2006/relationships/image" Target="../media/image9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jpeg"/><Relationship Id="rId2" Type="http://schemas.openxmlformats.org/officeDocument/2006/relationships/image" Target="../media/image98.jpe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101.jpeg"/><Relationship Id="rId4" Type="http://schemas.openxmlformats.org/officeDocument/2006/relationships/image" Target="../media/image10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jpeg"/><Relationship Id="rId2" Type="http://schemas.openxmlformats.org/officeDocument/2006/relationships/image" Target="../media/image102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5.jpeg"/><Relationship Id="rId4" Type="http://schemas.openxmlformats.org/officeDocument/2006/relationships/image" Target="../media/image104.jpe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110.png"/><Relationship Id="rId4" Type="http://schemas.openxmlformats.org/officeDocument/2006/relationships/image" Target="../media/image109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114.png"/><Relationship Id="rId4" Type="http://schemas.openxmlformats.org/officeDocument/2006/relationships/image" Target="../media/image113.jpe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8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8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0" y="228600"/>
            <a:ext cx="91440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en-US" sz="4000" b="1" dirty="0">
              <a:solidFill>
                <a:srgbClr val="CC00FF"/>
              </a:solidFill>
            </a:endParaRPr>
          </a:p>
        </p:txBody>
      </p:sp>
      <p:sp>
        <p:nvSpPr>
          <p:cNvPr id="27651" name="TextBox 2"/>
          <p:cNvSpPr txBox="1">
            <a:spLocks noChangeArrowheads="1"/>
          </p:cNvSpPr>
          <p:nvPr/>
        </p:nvSpPr>
        <p:spPr bwMode="auto">
          <a:xfrm>
            <a:off x="228600" y="228600"/>
            <a:ext cx="8686800" cy="1077218"/>
          </a:xfrm>
          <a:prstGeom prst="rect">
            <a:avLst/>
          </a:prstGeom>
          <a:ln/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 eaLnBrk="1" hangingPunct="1"/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Book Antiqua" pitchFamily="18" charset="0"/>
              </a:rPr>
              <a:t>Chowgacha UHC model &amp; Jhenaidah Sadar Hospital Development by local initiatives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267200" y="5491163"/>
            <a:ext cx="4572000" cy="113823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Dr. Md.Emdadul Haque</a:t>
            </a:r>
            <a:r>
              <a:rPr lang="en-US" sz="16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 </a:t>
            </a:r>
          </a:p>
          <a:p>
            <a:pPr algn="ctr">
              <a:defRPr/>
            </a:pP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Senior Consultant (Obst &amp; Gynae)</a:t>
            </a:r>
          </a:p>
          <a:p>
            <a:pPr algn="ctr">
              <a:defRPr/>
            </a:pPr>
            <a:r>
              <a:rPr lang="en-US" sz="2000" dirty="0">
                <a:solidFill>
                  <a:srgbClr val="00206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cs typeface="Arial" charset="0"/>
              </a:rPr>
              <a:t>Sadar Hospital Jhenaidah</a:t>
            </a:r>
          </a:p>
        </p:txBody>
      </p:sp>
      <p:pic>
        <p:nvPicPr>
          <p:cNvPr id="2765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217738"/>
            <a:ext cx="3886200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4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" y="2217738"/>
            <a:ext cx="4048125" cy="30114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85" name="Group 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2814407"/>
              </p:ext>
            </p:extLst>
          </p:nvPr>
        </p:nvGraphicFramePr>
        <p:xfrm>
          <a:off x="152400" y="1371600"/>
          <a:ext cx="8894763" cy="4887199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914400"/>
                <a:gridCol w="1981200"/>
                <a:gridCol w="2362200"/>
                <a:gridCol w="1905000"/>
                <a:gridCol w="1731963"/>
              </a:tblGrid>
              <a:tr h="8512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SL  NO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Country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Per capita health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Expenditure per year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 2014 by  Govt.   ($)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Doctors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Nurse per 10000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Population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anchor="ctr" horzOverflow="overflow"/>
                </a:tc>
              </a:tr>
              <a:tr h="4752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01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USA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9403 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24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98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02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UK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3935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28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88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03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Japan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3703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23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114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04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Malaysia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456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12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33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05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Sri Lanka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127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19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06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India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75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7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17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07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Nepal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kern="1200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40</a:t>
                      </a:r>
                      <a:endParaRPr kumimoji="0" lang="en-US" sz="28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6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04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08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Pakistan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36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8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6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  <a:tr h="4457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09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Bangladesh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31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3.6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Book Antiqua" pitchFamily="18" charset="0"/>
                        </a:rPr>
                        <a:t>2.2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 Antiqua" pitchFamily="18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/>
                </a:tc>
              </a:tr>
            </a:tbl>
          </a:graphicData>
        </a:graphic>
      </p:graphicFrame>
      <p:sp>
        <p:nvSpPr>
          <p:cNvPr id="28675" name="Rectangle 1"/>
          <p:cNvSpPr>
            <a:spLocks noChangeArrowheads="1"/>
          </p:cNvSpPr>
          <p:nvPr/>
        </p:nvSpPr>
        <p:spPr bwMode="auto">
          <a:xfrm>
            <a:off x="6553200" y="6426200"/>
            <a:ext cx="2419350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r" eaLnBrk="1" hangingPunct="1"/>
            <a:r>
              <a:rPr lang="en-US" sz="2000" dirty="0">
                <a:solidFill>
                  <a:srgbClr val="000000"/>
                </a:solidFill>
                <a:latin typeface="Andalus"/>
                <a:ea typeface="Andalus"/>
                <a:cs typeface="Andalus"/>
              </a:rPr>
              <a:t>From internet 2015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2400" y="228600"/>
            <a:ext cx="8820150" cy="990600"/>
          </a:xfrm>
          <a:prstGeom prst="rect">
            <a:avLst/>
          </a:prstGeom>
          <a:solidFill>
            <a:srgbClr val="0070C0"/>
          </a:solidFill>
          <a:ln w="38100">
            <a:solidFill>
              <a:schemeClr val="accent4">
                <a:lumMod val="40000"/>
                <a:lumOff val="60000"/>
              </a:schemeClr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defRPr/>
            </a:pPr>
            <a:r>
              <a:rPr lang="en-US" sz="28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Comparative data of health facilities of different country of the world</a:t>
            </a:r>
            <a:r>
              <a:rPr lang="en-US" sz="2400" b="1" dirty="0">
                <a:solidFill>
                  <a:schemeClr val="bg1"/>
                </a:solidFill>
                <a:latin typeface="Andalus" pitchFamily="18" charset="-78"/>
                <a:cs typeface="Andalus" pitchFamily="18" charset="-78"/>
              </a:rPr>
              <a:t> </a:t>
            </a:r>
            <a:endParaRPr lang="en-US" sz="2400" dirty="0">
              <a:solidFill>
                <a:schemeClr val="bg1"/>
              </a:solidFill>
              <a:latin typeface="Andalus" pitchFamily="18" charset="-78"/>
              <a:cs typeface="Andalus" pitchFamily="18" charset="-78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G:\G\Dr Emdad\Photo -Lohagara\ScreenShot_201605240637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65408" y="4289813"/>
            <a:ext cx="3620964" cy="2365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5" descr="G:\G\Dr Emdad\Photo -Lohagara\ScreenShot_20151207194825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2529" y="1374776"/>
            <a:ext cx="3609975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 descr="G:\G\Dr Emdad\Photo -Lohagara\ScreenShot_20151207211013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772" y="1374775"/>
            <a:ext cx="365760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7" descr="G:\G\Dr Emdad\Photo -Lohagara\ScreenShot_20151207202519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2608" y="4263956"/>
            <a:ext cx="3571875" cy="2355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302190" y="381000"/>
            <a:ext cx="8591426" cy="54042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 smtClean="0">
                <a:solidFill>
                  <a:srgbClr val="0070C0"/>
                </a:solidFill>
              </a:rPr>
              <a:t>Community Mobilization Meeting at Lohagara in </a:t>
            </a:r>
            <a:r>
              <a:rPr lang="en-US" sz="2400" b="1" dirty="0" smtClean="0">
                <a:solidFill>
                  <a:srgbClr val="0070C0"/>
                </a:solidFill>
                <a:latin typeface="Book Antiqua" pitchFamily="18" charset="0"/>
              </a:rPr>
              <a:t>1995</a:t>
            </a:r>
            <a:endParaRPr lang="en-US" sz="2400" b="1" dirty="0">
              <a:solidFill>
                <a:srgbClr val="0070C0"/>
              </a:solidFill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2195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12" descr="Picture 23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1963" y="2209800"/>
            <a:ext cx="5735637" cy="352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382588" y="838200"/>
            <a:ext cx="8432800" cy="107791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US" sz="3200" b="1" dirty="0">
                <a:solidFill>
                  <a:schemeClr val="bg1"/>
                </a:solidFill>
              </a:rPr>
              <a:t>50 BEDED UPAZILA  HEALTH  COMPLEX </a:t>
            </a:r>
            <a:br>
              <a:rPr lang="en-US" sz="3200" b="1" dirty="0">
                <a:solidFill>
                  <a:schemeClr val="bg1"/>
                </a:solidFill>
              </a:rPr>
            </a:br>
            <a:r>
              <a:rPr lang="en-US" sz="3200" b="1" dirty="0">
                <a:solidFill>
                  <a:schemeClr val="bg1"/>
                </a:solidFill>
              </a:rPr>
              <a:t>Chowgacha, Jessore</a:t>
            </a: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016000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3600" b="1" dirty="0"/>
              <a:t>A Sub-district level Women-Friendly Hospital with a Vision …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4281487" y="2019300"/>
            <a:ext cx="3124200" cy="12954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600" b="1" dirty="0">
              <a:solidFill>
                <a:srgbClr val="FF0066"/>
              </a:solidFill>
            </a:endParaRPr>
          </a:p>
          <a:p>
            <a:pPr algn="ctr" eaLnBrk="0" hangingPunct="0"/>
            <a:r>
              <a:rPr lang="en-US" sz="1600" b="1" dirty="0"/>
              <a:t>Maximum utilization of Govt.</a:t>
            </a:r>
          </a:p>
          <a:p>
            <a:pPr algn="ctr" eaLnBrk="0" hangingPunct="0"/>
            <a:r>
              <a:rPr lang="en-US" sz="1600" b="1" dirty="0"/>
              <a:t>resources with </a:t>
            </a:r>
          </a:p>
          <a:p>
            <a:pPr algn="ctr" eaLnBrk="0" hangingPunct="0"/>
            <a:r>
              <a:rPr lang="en-US" sz="1600" b="1" dirty="0"/>
              <a:t>honesty and sincerity</a:t>
            </a:r>
          </a:p>
          <a:p>
            <a:pPr algn="ctr" eaLnBrk="0" hangingPunct="0"/>
            <a:endParaRPr lang="en-US" sz="1600" b="1" dirty="0"/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4281487" y="51054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Providing Effective and </a:t>
            </a:r>
          </a:p>
          <a:p>
            <a:pPr algn="ctr" eaLnBrk="0" hangingPunct="0"/>
            <a:r>
              <a:rPr lang="en-US" sz="1600" b="1" dirty="0"/>
              <a:t>prompt services </a:t>
            </a:r>
          </a:p>
          <a:p>
            <a:pPr algn="ctr" eaLnBrk="0" hangingPunct="0"/>
            <a:r>
              <a:rPr lang="en-US" sz="1600" b="1" dirty="0"/>
              <a:t>through improved </a:t>
            </a:r>
          </a:p>
          <a:p>
            <a:pPr algn="ctr" eaLnBrk="0" hangingPunct="0"/>
            <a:r>
              <a:rPr lang="en-US" sz="1600" b="1" dirty="0"/>
              <a:t>management system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1447800" y="2438400"/>
            <a:ext cx="2514600" cy="457200"/>
          </a:xfrm>
          <a:prstGeom prst="notchedRightArrow">
            <a:avLst>
              <a:gd name="adj1" fmla="val 50000"/>
              <a:gd name="adj2" fmla="val 137500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1343025" y="54864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4281487" y="36195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Integrated approach of </a:t>
            </a:r>
          </a:p>
          <a:p>
            <a:pPr algn="ctr" eaLnBrk="0" hangingPunct="0"/>
            <a:r>
              <a:rPr lang="en-US" sz="1600" b="1" dirty="0"/>
              <a:t>Administration, Community</a:t>
            </a:r>
          </a:p>
          <a:p>
            <a:pPr algn="ctr" eaLnBrk="0" hangingPunct="0"/>
            <a:r>
              <a:rPr lang="en-US" sz="1600" b="1" dirty="0"/>
              <a:t>Leaders &amp; Health </a:t>
            </a:r>
          </a:p>
          <a:p>
            <a:pPr algn="ctr" eaLnBrk="0" hangingPunct="0"/>
            <a:r>
              <a:rPr lang="en-US" sz="1600" b="1" dirty="0"/>
              <a:t>Management</a:t>
            </a:r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1328737" y="40005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19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>
            <a:spLocks noGrp="1"/>
          </p:cNvSpPr>
          <p:nvPr/>
        </p:nvSpPr>
        <p:spPr bwMode="auto">
          <a:xfrm>
            <a:off x="0" y="2810889"/>
            <a:ext cx="3733800" cy="69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+mn-lt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algn="l"/>
            <a:r>
              <a:rPr lang="en-US" sz="1800" dirty="0" smtClean="0">
                <a:latin typeface="Calibri" pitchFamily="34" charset="0"/>
              </a:rPr>
              <a:t>Blood donation program stared in 16 December, 1996 in Chowgacha UHC</a:t>
            </a:r>
            <a:endParaRPr lang="en-GB" sz="1800" dirty="0" smtClean="0">
              <a:latin typeface="Calibri" pitchFamily="34" charset="0"/>
            </a:endParaRPr>
          </a:p>
        </p:txBody>
      </p:sp>
      <p:pic>
        <p:nvPicPr>
          <p:cNvPr id="5" name="Picture 4" descr="H:\D. S. Islam\ee.jpg"/>
          <p:cNvPicPr>
            <a:picLocks noGrp="1"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0"/>
            <a:ext cx="4191000" cy="2762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H:\D. S. Islam\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0"/>
            <a:ext cx="4343400" cy="280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Subtitle 2"/>
          <p:cNvSpPr txBox="1">
            <a:spLocks/>
          </p:cNvSpPr>
          <p:nvPr/>
        </p:nvSpPr>
        <p:spPr bwMode="auto">
          <a:xfrm>
            <a:off x="4800600" y="2826261"/>
            <a:ext cx="4267200" cy="9075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just">
              <a:spcBef>
                <a:spcPct val="20000"/>
              </a:spcBef>
            </a:pPr>
            <a:r>
              <a:rPr lang="en-US" dirty="0">
                <a:latin typeface="Calibri" pitchFamily="34" charset="0"/>
              </a:rPr>
              <a:t>A seminar held on basic information system </a:t>
            </a:r>
            <a:r>
              <a:rPr lang="en-US" dirty="0" smtClean="0">
                <a:latin typeface="Calibri" pitchFamily="34" charset="0"/>
              </a:rPr>
              <a:t>at </a:t>
            </a:r>
            <a:r>
              <a:rPr lang="en-US" dirty="0">
                <a:latin typeface="Calibri" pitchFamily="34" charset="0"/>
              </a:rPr>
              <a:t>Chowgacha </a:t>
            </a:r>
            <a:r>
              <a:rPr lang="en-US" dirty="0" smtClean="0">
                <a:latin typeface="Calibri" pitchFamily="34" charset="0"/>
              </a:rPr>
              <a:t>Degree </a:t>
            </a:r>
            <a:r>
              <a:rPr lang="en-US" dirty="0">
                <a:latin typeface="Calibri" pitchFamily="34" charset="0"/>
              </a:rPr>
              <a:t>College </a:t>
            </a:r>
            <a:r>
              <a:rPr lang="en-US" dirty="0" smtClean="0">
                <a:latin typeface="Calibri" pitchFamily="34" charset="0"/>
              </a:rPr>
              <a:t>in </a:t>
            </a:r>
            <a:r>
              <a:rPr lang="en-US" dirty="0">
                <a:latin typeface="Calibri" pitchFamily="34" charset="0"/>
              </a:rPr>
              <a:t>June, 1997. DC </a:t>
            </a:r>
            <a:r>
              <a:rPr lang="en-US" dirty="0" err="1">
                <a:latin typeface="Calibri" pitchFamily="34" charset="0"/>
              </a:rPr>
              <a:t>Jessore</a:t>
            </a:r>
            <a:r>
              <a:rPr lang="en-US" dirty="0">
                <a:latin typeface="Calibri" pitchFamily="34" charset="0"/>
              </a:rPr>
              <a:t> was the chief </a:t>
            </a:r>
            <a:r>
              <a:rPr lang="en-US" dirty="0" smtClean="0">
                <a:latin typeface="Calibri" pitchFamily="34" charset="0"/>
              </a:rPr>
              <a:t>guest . </a:t>
            </a:r>
            <a:endParaRPr lang="en-GB" dirty="0">
              <a:latin typeface="Calibri" pitchFamily="34" charset="0"/>
            </a:endParaRPr>
          </a:p>
        </p:txBody>
      </p:sp>
      <p:pic>
        <p:nvPicPr>
          <p:cNvPr id="8" name="Picture 4" descr="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0000">
            <a:off x="2062254" y="3684253"/>
            <a:ext cx="4257490" cy="3136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3073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SC0180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9050"/>
            <a:ext cx="4457700" cy="346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 descr="DSC018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700" y="3517900"/>
            <a:ext cx="4470400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 descr="DSC0175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000" y="3517900"/>
            <a:ext cx="4445000" cy="335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 descr="DSC01779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000" y="9525"/>
            <a:ext cx="4430712" cy="343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37028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0"/>
            <a:ext cx="4308475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925" y="0"/>
            <a:ext cx="4572000" cy="327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3505200"/>
            <a:ext cx="4308475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925" y="3505200"/>
            <a:ext cx="4578350" cy="336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>
          <a:xfrm>
            <a:off x="0" y="23884"/>
            <a:ext cx="9144000" cy="6096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Achievement of Chowgacha Health Complex</a:t>
            </a:r>
            <a:endParaRPr lang="en-US" sz="36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6400800"/>
          </a:xfr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AutoNum type="arabicPeriod"/>
              <a:defRPr/>
            </a:pPr>
            <a:r>
              <a:rPr lang="en-US" sz="2400" dirty="0" smtClean="0"/>
              <a:t>From 1996 to 2012, took initiatives to develop </a:t>
            </a:r>
            <a:r>
              <a:rPr lang="en-US" sz="2400" b="1" dirty="0" smtClean="0"/>
              <a:t>Upazilla level standard services </a:t>
            </a:r>
            <a:r>
              <a:rPr lang="en-US" sz="2400" dirty="0" smtClean="0"/>
              <a:t>in Chowgacha health complex.</a:t>
            </a:r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AutoNum type="arabicPeriod"/>
              <a:defRPr/>
            </a:pPr>
            <a:r>
              <a:rPr lang="en-US" sz="2400" dirty="0" smtClean="0"/>
              <a:t>In 2010, Chowgacha Health Complex declared as the model upazilla health complex.</a:t>
            </a:r>
          </a:p>
          <a:p>
            <a:pPr marL="457200" indent="-457200" algn="just" eaLnBrk="1" fontAlgn="auto" hangingPunct="1"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/>
            </a:pPr>
            <a:r>
              <a:rPr lang="en-US" sz="2400" dirty="0">
                <a:latin typeface="Symbol" pitchFamily="18" charset="2"/>
              </a:rPr>
              <a:t>	</a:t>
            </a:r>
            <a:endParaRPr lang="en-US" sz="2400" dirty="0" smtClean="0">
              <a:latin typeface="Symbol" pitchFamily="18" charset="2"/>
            </a:endParaRP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>
                <a:cs typeface="Calibri" pitchFamily="34" charset="0"/>
              </a:rPr>
              <a:t> Mobilized 46 additional </a:t>
            </a:r>
            <a:r>
              <a:rPr lang="en-US" sz="2400" dirty="0" smtClean="0"/>
              <a:t>workers from community (26 </a:t>
            </a:r>
            <a:r>
              <a:rPr lang="en-US" sz="2400" dirty="0"/>
              <a:t>volunteer, 12 </a:t>
            </a:r>
            <a:r>
              <a:rPr lang="en-US" sz="2400" dirty="0" smtClean="0"/>
              <a:t>cleaners </a:t>
            </a:r>
            <a:r>
              <a:rPr lang="en-US" sz="2400" dirty="0"/>
              <a:t>and </a:t>
            </a:r>
            <a:r>
              <a:rPr lang="en-US" sz="2400" dirty="0" smtClean="0"/>
              <a:t>others </a:t>
            </a:r>
            <a:r>
              <a:rPr lang="en-US" sz="2400" dirty="0"/>
              <a:t>8</a:t>
            </a:r>
            <a:r>
              <a:rPr lang="en-US" sz="2400" dirty="0" smtClean="0"/>
              <a:t>).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 EOC Beds increased from 11 to 41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Chowgacha UHC  became the best EOC center  with 98.4% delivery rate</a:t>
            </a:r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Chowgacha </a:t>
            </a:r>
            <a:r>
              <a:rPr lang="en-US" sz="2400" dirty="0"/>
              <a:t>UHC achieved </a:t>
            </a:r>
            <a:r>
              <a:rPr lang="en-US" sz="2400" dirty="0" smtClean="0"/>
              <a:t>MDG target in 2009</a:t>
            </a:r>
            <a:r>
              <a:rPr lang="en-US" sz="2400" dirty="0"/>
              <a:t>. </a:t>
            </a:r>
            <a:endParaRPr lang="en-US" sz="2400" dirty="0" smtClean="0"/>
          </a:p>
          <a:p>
            <a:pPr marL="400050" lvl="1" indent="0" algn="just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sz="2400" dirty="0" smtClean="0"/>
              <a:t>Chowgacha Health complex is awarded for best performance in EOC form 2005 to 2014. 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800" dirty="0" smtClean="0"/>
          </a:p>
          <a:p>
            <a:pPr algn="ctr" eaLnBrk="1" hangingPunct="1">
              <a:buFontTx/>
              <a:buNone/>
            </a:pPr>
            <a:endParaRPr lang="en-US" sz="2800" dirty="0" smtClean="0"/>
          </a:p>
        </p:txBody>
      </p:sp>
      <p:graphicFrame>
        <p:nvGraphicFramePr>
          <p:cNvPr id="31748" name="Object 29"/>
          <p:cNvGraphicFramePr>
            <a:graphicFrameLocks noGrp="1" noChangeAspect="1"/>
          </p:cNvGraphicFramePr>
          <p:nvPr>
            <p:ph sz="half" idx="2"/>
          </p:nvPr>
        </p:nvGraphicFramePr>
        <p:xfrm>
          <a:off x="914400" y="2211388"/>
          <a:ext cx="7694613" cy="438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79" name="Chart" r:id="rId5" imgW="4667402" imgH="2657551" progId="Excel.Chart.8">
                  <p:embed/>
                </p:oleObj>
              </mc:Choice>
              <mc:Fallback>
                <p:oleObj name="Chart" r:id="rId5" imgW="4667402" imgH="2657551" progId="Excel.Chart.8">
                  <p:embed/>
                  <p:pic>
                    <p:nvPicPr>
                      <p:cNvPr id="0" name="Picture 22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211388"/>
                        <a:ext cx="7694613" cy="438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1997- 2011 (Hospital Delivery 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60438"/>
          </a:xfrm>
          <a:solidFill>
            <a:schemeClr val="accent1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sz="40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3600" dirty="0" smtClean="0">
              <a:solidFill>
                <a:srgbClr val="FF0066"/>
              </a:solidFill>
            </a:endParaRPr>
          </a:p>
          <a:p>
            <a:pPr algn="ctr" eaLnBrk="1" hangingPunct="1">
              <a:buFontTx/>
              <a:buNone/>
            </a:pPr>
            <a:endParaRPr lang="en-US" sz="3600" dirty="0" smtClean="0">
              <a:solidFill>
                <a:srgbClr val="FF0066"/>
              </a:solidFill>
            </a:endParaRPr>
          </a:p>
        </p:txBody>
      </p:sp>
      <p:graphicFrame>
        <p:nvGraphicFramePr>
          <p:cNvPr id="32772" name="Object 105"/>
          <p:cNvGraphicFramePr>
            <a:graphicFrameLocks noGrp="1" noChangeAspect="1"/>
          </p:cNvGraphicFramePr>
          <p:nvPr>
            <p:ph sz="half" idx="2"/>
          </p:nvPr>
        </p:nvGraphicFramePr>
        <p:xfrm>
          <a:off x="1447800" y="2724150"/>
          <a:ext cx="6858000" cy="3905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03" name="Chart" r:id="rId5" imgW="4667402" imgH="2657551" progId="Excel.Chart.8">
                  <p:embed/>
                </p:oleObj>
              </mc:Choice>
              <mc:Fallback>
                <p:oleObj name="Chart" r:id="rId5" imgW="4667402" imgH="2657551" progId="Excel.Chart.8">
                  <p:embed/>
                  <p:pic>
                    <p:nvPicPr>
                      <p:cNvPr id="0" name="Picture 22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724150"/>
                        <a:ext cx="6858000" cy="3905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457200" y="1524000"/>
            <a:ext cx="8153400" cy="990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3200" dirty="0">
                <a:solidFill>
                  <a:srgbClr val="FF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2000 - 2011 (Caesarian Section)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95275"/>
            <a:ext cx="8229600" cy="771525"/>
          </a:xfrm>
          <a:solidFill>
            <a:schemeClr val="accent1"/>
          </a:solidFill>
          <a:ln/>
        </p:spPr>
        <p:txBody>
          <a:bodyPr/>
          <a:lstStyle/>
          <a:p>
            <a:r>
              <a:rPr lang="en-US" sz="3200" b="1"/>
              <a:t>Upazila Health  Complex</a:t>
            </a:r>
            <a:br>
              <a:rPr lang="en-US" sz="3200" b="1"/>
            </a:br>
            <a:r>
              <a:rPr lang="en-US" sz="2000" b="1"/>
              <a:t>CHOWGACHA , JESSORE.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FontTx/>
              <a:buNone/>
            </a:pPr>
            <a:endParaRPr lang="en-US" sz="2800" smtClean="0"/>
          </a:p>
          <a:p>
            <a:pPr algn="ctr">
              <a:buFontTx/>
              <a:buNone/>
            </a:pPr>
            <a:endParaRPr lang="en-US" sz="280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457200" y="1422400"/>
            <a:ext cx="8153400" cy="3810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EOC ACTVITIES : ( Vision By The Year 2010) </a:t>
            </a:r>
          </a:p>
        </p:txBody>
      </p:sp>
      <p:graphicFrame>
        <p:nvGraphicFramePr>
          <p:cNvPr id="7" name="Group 5"/>
          <p:cNvGraphicFramePr>
            <a:graphicFrameLocks noGrp="1"/>
          </p:cNvGraphicFramePr>
          <p:nvPr>
            <p:ph sz="half" idx="4294967295"/>
          </p:nvPr>
        </p:nvGraphicFramePr>
        <p:xfrm>
          <a:off x="381000" y="2095500"/>
          <a:ext cx="8305800" cy="4218432"/>
        </p:xfrm>
        <a:graphic>
          <a:graphicData uri="http://schemas.openxmlformats.org/drawingml/2006/table">
            <a:tbl>
              <a:tblPr/>
              <a:tblGrid>
                <a:gridCol w="457200"/>
                <a:gridCol w="2057400"/>
                <a:gridCol w="609600"/>
                <a:gridCol w="596900"/>
                <a:gridCol w="641350"/>
                <a:gridCol w="641350"/>
                <a:gridCol w="641350"/>
                <a:gridCol w="641350"/>
                <a:gridCol w="641350"/>
                <a:gridCol w="601663"/>
                <a:gridCol w="776287"/>
              </a:tblGrid>
              <a:tr h="40640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SL No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Indicator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Achived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Target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1997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2009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ANC  1st   Visit 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24.6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59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94.7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110.8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133.7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143.0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147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02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ANC  2nd  Visit 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11.6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33.4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59.7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68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91.2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108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ANC  3rd Visit 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9.2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39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49.6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59.6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04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PNC 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-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5.5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9.9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13.5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20.11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11.2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39.3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60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Hospital Delivery Rate%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3.4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6.4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26.5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32.3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38.1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52.4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06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Caesarian Section Rate%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0.07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0.8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6.3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7.4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9.6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11.0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17.3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07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Maternal Mortality Ratio / 100000 Live birth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168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114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160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160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08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Neonatal Death Rate / 1000 live birth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42.4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-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21.5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20.5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21.5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16.5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19.3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7026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95313"/>
            <a:ext cx="8229600" cy="1238250"/>
          </a:xfrm>
          <a:solidFill>
            <a:schemeClr val="accent1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3600" b="1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CHOWGACHA , JESSORE.</a:t>
            </a:r>
          </a:p>
        </p:txBody>
      </p:sp>
      <p:graphicFrame>
        <p:nvGraphicFramePr>
          <p:cNvPr id="19757" name="Group 301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162752733"/>
              </p:ext>
            </p:extLst>
          </p:nvPr>
        </p:nvGraphicFramePr>
        <p:xfrm>
          <a:off x="457200" y="3063874"/>
          <a:ext cx="8153400" cy="3032125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660400"/>
                <a:gridCol w="2336800"/>
                <a:gridCol w="1117600"/>
                <a:gridCol w="1054100"/>
                <a:gridCol w="1041400"/>
                <a:gridCol w="952500"/>
                <a:gridCol w="990600"/>
              </a:tblGrid>
              <a:tr h="7109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SL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No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Name of institute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NVD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Vacuum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Del.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V.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Breech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Section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Total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40879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01.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Chowgacha UHC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3346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34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26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1007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4413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40879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02.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Ad-din Hospital Jessore.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1124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1864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3492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637773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03.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Khulna Medical College Hospital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1581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58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18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1356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3013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86583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04.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250 bed Hospital, Jessore 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1327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1498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2852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09" marB="45709" horzOverflow="overflow"/>
                </a:tc>
              </a:tr>
            </a:tbl>
          </a:graphicData>
        </a:graphic>
      </p:graphicFrame>
      <p:sp>
        <p:nvSpPr>
          <p:cNvPr id="129027" name="Rectangle 3"/>
          <p:cNvSpPr>
            <a:spLocks noChangeArrowheads="1"/>
          </p:cNvSpPr>
          <p:nvPr/>
        </p:nvSpPr>
        <p:spPr bwMode="auto">
          <a:xfrm>
            <a:off x="457200" y="1930400"/>
            <a:ext cx="8153400" cy="889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latin typeface="Arial" charset="0"/>
                <a:cs typeface="Arial" charset="0"/>
              </a:rPr>
              <a:t>Comparative Data of Delivery of best performing EOC center of Khulna Division in 2011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7924800" y="4049713"/>
            <a:ext cx="381000" cy="158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7896225" y="4443413"/>
            <a:ext cx="419100" cy="317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757" name="Group 301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017043873"/>
              </p:ext>
            </p:extLst>
          </p:nvPr>
        </p:nvGraphicFramePr>
        <p:xfrm>
          <a:off x="423080" y="1676400"/>
          <a:ext cx="8153399" cy="2791227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87865"/>
                <a:gridCol w="3194870"/>
                <a:gridCol w="922497"/>
                <a:gridCol w="930031"/>
                <a:gridCol w="1136341"/>
                <a:gridCol w="1181795"/>
              </a:tblGrid>
              <a:tr h="7109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SL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No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Name of institute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ANC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NVD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Section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Total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40879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01.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Jhenaidah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 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Sadar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 Hospital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15360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1839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1143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2997</a:t>
                      </a:r>
                    </a:p>
                  </a:txBody>
                  <a:tcPr marT="45709" marB="45709" horzOverflow="overflow"/>
                </a:tc>
              </a:tr>
              <a:tr h="40879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02.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250 bed Hospital, Jessore 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13152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1327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1778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2967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09" marB="45709" horzOverflow="overflow"/>
                </a:tc>
              </a:tr>
              <a:tr h="40879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03.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Chowgacha UHC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18650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+mn-cs"/>
                        </a:rPr>
                        <a:t>2163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+mn-cs"/>
                        </a:rPr>
                        <a:t>759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+mn-cs"/>
                        </a:rPr>
                        <a:t>2922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40879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04.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Khulna Medical College Hospital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6977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lt"/>
                        </a:rPr>
                        <a:t>1455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+mn-cs"/>
                        </a:rPr>
                        <a:t>1228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+mn-cs"/>
                        </a:rPr>
                        <a:t>2683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445127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05.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Ad-din Hospital Jessore.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23981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640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3075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3715</a:t>
                      </a:r>
                    </a:p>
                  </a:txBody>
                  <a:tcPr marT="45709" marB="45709" horzOverflow="overflow"/>
                </a:tc>
              </a:tr>
            </a:tbl>
          </a:graphicData>
        </a:graphic>
      </p:graphicFrame>
      <p:sp>
        <p:nvSpPr>
          <p:cNvPr id="129027" name="Rectangle 3"/>
          <p:cNvSpPr>
            <a:spLocks noChangeArrowheads="1"/>
          </p:cNvSpPr>
          <p:nvPr/>
        </p:nvSpPr>
        <p:spPr bwMode="auto">
          <a:xfrm>
            <a:off x="428767" y="381000"/>
            <a:ext cx="8153400" cy="889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latin typeface="Arial" charset="0"/>
                <a:cs typeface="Arial" charset="0"/>
              </a:rPr>
              <a:t>Comparative Data of Delivery of best performing EOC center of Khulna Division in </a:t>
            </a:r>
            <a:r>
              <a:rPr lang="en-US" sz="2400" dirty="0" smtClean="0">
                <a:solidFill>
                  <a:srgbClr val="3333CC"/>
                </a:solidFill>
                <a:latin typeface="Arial" charset="0"/>
                <a:cs typeface="Arial" charset="0"/>
              </a:rPr>
              <a:t>2017</a:t>
            </a:r>
            <a:endParaRPr lang="en-US" sz="2400" dirty="0">
              <a:solidFill>
                <a:srgbClr val="3333CC"/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9954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" y="1905000"/>
            <a:ext cx="8229600" cy="449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25562"/>
          </a:xfrm>
          <a:solidFill>
            <a:srgbClr val="0070C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b="1" dirty="0" smtClean="0">
                <a:solidFill>
                  <a:schemeClr val="bg1"/>
                </a:solidFill>
              </a:rPr>
              <a:t>Upazilla Health  Complex</a:t>
            </a:r>
            <a:br>
              <a:rPr lang="en-US" sz="5400" b="1" dirty="0" smtClean="0">
                <a:solidFill>
                  <a:schemeClr val="bg1"/>
                </a:solidFill>
              </a:rPr>
            </a:br>
            <a:r>
              <a:rPr lang="en-US" b="1" dirty="0" smtClean="0">
                <a:solidFill>
                  <a:schemeClr val="bg1"/>
                </a:solidFill>
              </a:rPr>
              <a:t>CHOWGACHA , JESSORE.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4958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 fontScale="92500" lnSpcReduction="10000"/>
          </a:bodyPr>
          <a:lstStyle/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sz="3000" b="1" dirty="0" smtClean="0"/>
              <a:t>COMMUNITY  SUPPORTED MANPOWER</a:t>
            </a:r>
          </a:p>
          <a:p>
            <a:pPr marL="274320" indent="-274320" eaLnBrk="1" fontAlgn="auto" hangingPunct="1">
              <a:spcAft>
                <a:spcPts val="0"/>
              </a:spcAft>
              <a:buClr>
                <a:schemeClr val="accent3"/>
              </a:buClr>
              <a:buFont typeface="Wingdings 2"/>
              <a:buNone/>
              <a:defRPr/>
            </a:pPr>
            <a:r>
              <a:rPr lang="en-US" b="1" dirty="0" smtClean="0"/>
              <a:t>TOTAL</a:t>
            </a:r>
            <a:r>
              <a:rPr lang="en-US" dirty="0" smtClean="0"/>
              <a:t> 			:46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Volunteers 		:26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Cleaners &amp; guards	:16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Others			:04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The remunerations come from 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	</a:t>
            </a:r>
            <a:r>
              <a:rPr lang="en-US" sz="2000" dirty="0" smtClean="0"/>
              <a:t>Outsourcing	:25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 smtClean="0"/>
              <a:t>	Service provider	:21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r>
              <a:rPr lang="en-US" sz="2000" dirty="0" smtClean="0"/>
              <a:t>The amount of remuneration ranging  from 200/= To 8000/=tk. Per month depending  upon the style of work, which costs a total of nearly 90,ooo/=Tk per month.</a:t>
            </a:r>
          </a:p>
          <a:p>
            <a:pPr marL="640080" lvl="1" indent="-246888" eaLnBrk="1" fontAlgn="auto" hangingPunct="1">
              <a:spcAft>
                <a:spcPts val="0"/>
              </a:spcAft>
              <a:buFont typeface="Wingdings 2"/>
              <a:buNone/>
              <a:defRPr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447800"/>
          </a:xfrm>
          <a:solidFill>
            <a:srgbClr val="0070C0"/>
          </a:solidFill>
        </p:spPr>
        <p:txBody>
          <a:bodyPr/>
          <a:lstStyle/>
          <a:p>
            <a:pPr eaLnBrk="1" hangingPunct="1"/>
            <a:r>
              <a:rPr lang="en-US" b="1" i="1" dirty="0" smtClean="0">
                <a:solidFill>
                  <a:schemeClr val="bg1"/>
                </a:solidFill>
                <a:latin typeface="Albertus Extra Bold" pitchFamily="34" charset="0"/>
              </a:rPr>
              <a:t>MDG 4 and 5 Achieved at Chowgacha in 2009</a:t>
            </a:r>
          </a:p>
        </p:txBody>
      </p:sp>
      <p:sp>
        <p:nvSpPr>
          <p:cNvPr id="28674" name="Rectangle 2"/>
          <p:cNvSpPr>
            <a:spLocks noGrp="1" noChangeArrowheads="1"/>
          </p:cNvSpPr>
          <p:nvPr>
            <p:ph idx="1"/>
          </p:nvPr>
        </p:nvSpPr>
        <p:spPr>
          <a:xfrm>
            <a:off x="419100" y="2133600"/>
            <a:ext cx="8305800" cy="3733800"/>
          </a:xfr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2000" b="1" smtClean="0">
                <a:solidFill>
                  <a:srgbClr val="C00000"/>
                </a:solidFill>
              </a:rPr>
              <a:t>Per 1000 live Birth      Chowgacha          MDG Target        National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2000" b="1" smtClean="0">
              <a:solidFill>
                <a:schemeClr val="hlink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smtClean="0">
                <a:solidFill>
                  <a:srgbClr val="0000FF"/>
                </a:solidFill>
              </a:rPr>
              <a:t>MMR:                                        </a:t>
            </a:r>
            <a:r>
              <a:rPr lang="en-US" sz="2400" b="1" smtClean="0">
                <a:solidFill>
                  <a:srgbClr val="669900"/>
                </a:solidFill>
              </a:rPr>
              <a:t>.42</a:t>
            </a:r>
            <a:r>
              <a:rPr lang="en-US" sz="1800" b="1" smtClean="0">
                <a:solidFill>
                  <a:srgbClr val="336600"/>
                </a:solidFill>
              </a:rPr>
              <a:t>                      </a:t>
            </a:r>
            <a:r>
              <a:rPr lang="en-US" sz="1800" b="1" smtClean="0">
                <a:solidFill>
                  <a:srgbClr val="FF0066"/>
                </a:solidFill>
              </a:rPr>
              <a:t>1.47 </a:t>
            </a:r>
            <a:r>
              <a:rPr lang="en-US" sz="1800" b="1" smtClean="0">
                <a:solidFill>
                  <a:srgbClr val="CC0000"/>
                </a:solidFill>
              </a:rPr>
              <a:t>                      </a:t>
            </a:r>
            <a:r>
              <a:rPr lang="en-US" sz="1800" b="1" smtClean="0">
                <a:solidFill>
                  <a:srgbClr val="0000FF"/>
                </a:solidFill>
              </a:rPr>
              <a:t>3.2   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smtClean="0">
                <a:solidFill>
                  <a:srgbClr val="0000FF"/>
                </a:solidFill>
              </a:rPr>
              <a:t>(MDG 5 Achieved)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800" b="1" smtClean="0">
              <a:solidFill>
                <a:srgbClr val="0000FF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smtClean="0">
                <a:solidFill>
                  <a:srgbClr val="0000FF"/>
                </a:solidFill>
              </a:rPr>
              <a:t>IMR:                                        </a:t>
            </a:r>
            <a:r>
              <a:rPr lang="en-US" sz="1800" b="1" smtClean="0">
                <a:solidFill>
                  <a:srgbClr val="669900"/>
                </a:solidFill>
              </a:rPr>
              <a:t>  </a:t>
            </a:r>
            <a:r>
              <a:rPr lang="en-US" sz="2400" b="1" smtClean="0">
                <a:solidFill>
                  <a:srgbClr val="669900"/>
                </a:solidFill>
              </a:rPr>
              <a:t>20.6 </a:t>
            </a:r>
            <a:r>
              <a:rPr lang="en-US" sz="1800" b="1" smtClean="0">
                <a:solidFill>
                  <a:srgbClr val="669900"/>
                </a:solidFill>
              </a:rPr>
              <a:t> </a:t>
            </a:r>
            <a:r>
              <a:rPr lang="en-US" sz="1800" b="1" smtClean="0">
                <a:solidFill>
                  <a:srgbClr val="0000FF"/>
                </a:solidFill>
              </a:rPr>
              <a:t>                   </a:t>
            </a:r>
            <a:r>
              <a:rPr lang="en-US" sz="1800" b="1" smtClean="0">
                <a:solidFill>
                  <a:srgbClr val="FF0066"/>
                </a:solidFill>
              </a:rPr>
              <a:t>31  </a:t>
            </a:r>
            <a:r>
              <a:rPr lang="en-US" sz="1800" b="1" smtClean="0">
                <a:solidFill>
                  <a:srgbClr val="0000FF"/>
                </a:solidFill>
              </a:rPr>
              <a:t>                     52 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smtClean="0">
                <a:solidFill>
                  <a:srgbClr val="0000FF"/>
                </a:solidFill>
              </a:rPr>
              <a:t>(MDG 4 Achieved)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800" b="1" smtClean="0">
              <a:solidFill>
                <a:srgbClr val="0000FF"/>
              </a:solidFill>
            </a:endParaRP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smtClean="0">
                <a:solidFill>
                  <a:srgbClr val="0000FF"/>
                </a:solidFill>
              </a:rPr>
              <a:t>&lt;5 MR:                                     </a:t>
            </a:r>
            <a:r>
              <a:rPr lang="en-US" sz="2400" b="1" smtClean="0">
                <a:solidFill>
                  <a:srgbClr val="0000FF"/>
                </a:solidFill>
              </a:rPr>
              <a:t> </a:t>
            </a:r>
            <a:r>
              <a:rPr lang="en-US" sz="2400" b="1" smtClean="0">
                <a:solidFill>
                  <a:srgbClr val="669900"/>
                </a:solidFill>
              </a:rPr>
              <a:t>22.7 </a:t>
            </a:r>
            <a:r>
              <a:rPr lang="en-US" sz="1800" b="1" smtClean="0">
                <a:solidFill>
                  <a:srgbClr val="669900"/>
                </a:solidFill>
              </a:rPr>
              <a:t> </a:t>
            </a:r>
            <a:r>
              <a:rPr lang="en-US" sz="1800" b="1" smtClean="0">
                <a:solidFill>
                  <a:srgbClr val="0000FF"/>
                </a:solidFill>
              </a:rPr>
              <a:t>                   </a:t>
            </a:r>
            <a:r>
              <a:rPr lang="en-US" sz="1800" b="1" smtClean="0">
                <a:solidFill>
                  <a:srgbClr val="FF0066"/>
                </a:solidFill>
              </a:rPr>
              <a:t>50    </a:t>
            </a:r>
            <a:r>
              <a:rPr lang="en-US" sz="1800" b="1" smtClean="0">
                <a:solidFill>
                  <a:srgbClr val="0000FF"/>
                </a:solidFill>
              </a:rPr>
              <a:t>                   65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en-US" sz="1800" b="1" smtClean="0">
                <a:solidFill>
                  <a:srgbClr val="0000FF"/>
                </a:solidFill>
              </a:rPr>
              <a:t>(MDG 4 Achieved)</a:t>
            </a:r>
          </a:p>
          <a:p>
            <a:pPr marL="609600" indent="-609600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800" b="1" smtClean="0">
              <a:solidFill>
                <a:srgbClr val="0000FF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6"/>
          <p:cNvGrpSpPr>
            <a:grpSpLocks/>
          </p:cNvGrpSpPr>
          <p:nvPr/>
        </p:nvGrpSpPr>
        <p:grpSpPr bwMode="auto">
          <a:xfrm>
            <a:off x="4611688" y="647700"/>
            <a:ext cx="4267200" cy="2955925"/>
            <a:chOff x="1248" y="288"/>
            <a:chExt cx="3157" cy="2448"/>
          </a:xfrm>
        </p:grpSpPr>
        <p:pic>
          <p:nvPicPr>
            <p:cNvPr id="37894" name="Picture 4" descr="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48" y="288"/>
              <a:ext cx="1782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895" name="Picture 5" descr="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4" y="288"/>
              <a:ext cx="1381" cy="2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612775"/>
            <a:ext cx="4170362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8" y="3810000"/>
            <a:ext cx="4140200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3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5975" y="3810000"/>
            <a:ext cx="4518025" cy="302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308194" y="304800"/>
            <a:ext cx="8643938" cy="990600"/>
          </a:xfrm>
          <a:ln>
            <a:miter lim="800000"/>
            <a:headEnd/>
            <a:tailEnd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100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kh¨v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wewkó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m`i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nvmcvZvj</a:t>
            </a:r>
            <a:r>
              <a:rPr lang="en-US" altLang="en-US" sz="4800" b="1" dirty="0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, </a:t>
            </a:r>
            <a:r>
              <a:rPr lang="en-US" altLang="en-US" sz="4800" b="1" dirty="0" err="1" smtClean="0">
                <a:solidFill>
                  <a:schemeClr val="bg1"/>
                </a:solidFill>
                <a:latin typeface="SutonnyMJ" pitchFamily="2" charset="0"/>
                <a:cs typeface="SutonnyMJ" pitchFamily="2" charset="0"/>
              </a:rPr>
              <a:t>wSbvB`n</a:t>
            </a:r>
            <a:endParaRPr lang="en-US" altLang="en-US" sz="4800" b="1" dirty="0" smtClean="0">
              <a:solidFill>
                <a:schemeClr val="bg1"/>
              </a:solidFill>
              <a:latin typeface="SutonnyMJ" pitchFamily="2" charset="0"/>
              <a:cs typeface="SutonnyMJ" pitchFamily="2" charset="0"/>
            </a:endParaRPr>
          </a:p>
        </p:txBody>
      </p:sp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47800"/>
            <a:ext cx="8382000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sz="4000" dirty="0"/>
              <a:t>Health </a:t>
            </a:r>
            <a:r>
              <a:rPr lang="en-US" sz="4000" dirty="0" smtClean="0"/>
              <a:t>,Nutrition </a:t>
            </a:r>
            <a:r>
              <a:rPr lang="en-US" sz="4000" dirty="0"/>
              <a:t>and population targets for the 7</a:t>
            </a:r>
            <a:r>
              <a:rPr lang="en-US" sz="4000" baseline="30000" dirty="0"/>
              <a:t>th</a:t>
            </a:r>
            <a:r>
              <a:rPr lang="en-US" sz="4000" dirty="0"/>
              <a:t> FYP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2077397"/>
              </p:ext>
            </p:extLst>
          </p:nvPr>
        </p:nvGraphicFramePr>
        <p:xfrm>
          <a:off x="0" y="1295399"/>
          <a:ext cx="91440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/>
                <a:gridCol w="4343400"/>
                <a:gridCol w="2514600"/>
                <a:gridCol w="1752600"/>
              </a:tblGrid>
              <a:tr h="1018504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Sr</a:t>
                      </a:r>
                      <a:r>
                        <a:rPr lang="en-US" dirty="0" smtClean="0"/>
                        <a:t> #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Indicator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 smtClean="0"/>
                        <a:t>(Impact/Outcome)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Base year’s information(source with year)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r>
                        <a:rPr lang="en-US" baseline="30000" dirty="0" smtClean="0"/>
                        <a:t>th</a:t>
                      </a:r>
                      <a:r>
                        <a:rPr lang="en-US" baseline="0" dirty="0" smtClean="0"/>
                        <a:t> FYP target </a:t>
                      </a:r>
                    </a:p>
                    <a:p>
                      <a:r>
                        <a:rPr lang="en-US" baseline="0" dirty="0" smtClean="0"/>
                        <a:t>FY 2020</a:t>
                      </a:r>
                    </a:p>
                    <a:p>
                      <a:endParaRPr lang="en-US" baseline="0" dirty="0" smtClean="0"/>
                    </a:p>
                    <a:p>
                      <a:endParaRPr lang="en-US" dirty="0"/>
                    </a:p>
                  </a:txBody>
                  <a:tcPr/>
                </a:tc>
              </a:tr>
              <a:tr h="313386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Life Expectancy at Birth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70.4 (SVRS 2013)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72</a:t>
                      </a:r>
                      <a:endParaRPr lang="en-US" dirty="0"/>
                    </a:p>
                  </a:txBody>
                  <a:tcPr/>
                </a:tc>
              </a:tr>
              <a:tr h="313386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Under-five</a:t>
                      </a:r>
                      <a:r>
                        <a:rPr lang="en-US" baseline="0" dirty="0" smtClean="0"/>
                        <a:t> Mortality Rate (per 1,000 live births)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46 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37</a:t>
                      </a:r>
                      <a:endParaRPr lang="en-US" dirty="0"/>
                    </a:p>
                  </a:txBody>
                  <a:tcPr/>
                </a:tc>
              </a:tr>
              <a:tr h="313386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Infant </a:t>
                      </a:r>
                      <a:r>
                        <a:rPr lang="en-US" baseline="0" dirty="0" smtClean="0"/>
                        <a:t>Mortality Rate (per ,1000 live births)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38 (BDHS 2014)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</a:tr>
              <a:tr h="313386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Maternal </a:t>
                      </a:r>
                      <a:r>
                        <a:rPr lang="en-US" baseline="0" dirty="0" smtClean="0"/>
                        <a:t>Mortality Ratio(per 100,000 live births)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170 (MMEIG 2013)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105</a:t>
                      </a:r>
                      <a:endParaRPr lang="en-US" dirty="0"/>
                    </a:p>
                  </a:txBody>
                  <a:tcPr/>
                </a:tc>
              </a:tr>
              <a:tr h="621192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Proportion of Under Weight among</a:t>
                      </a:r>
                      <a:r>
                        <a:rPr lang="en-US" baseline="0" dirty="0" smtClean="0"/>
                        <a:t> Under-five children (%)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32.6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</a:t>
                      </a:r>
                      <a:endParaRPr lang="en-US" dirty="0"/>
                    </a:p>
                  </a:txBody>
                  <a:tcPr/>
                </a:tc>
              </a:tr>
              <a:tr h="313386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Proportion of stunting among</a:t>
                      </a:r>
                      <a:r>
                        <a:rPr lang="en-US" baseline="0" dirty="0" smtClean="0"/>
                        <a:t> Under-five children (%)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36.1 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490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sz="4000" dirty="0"/>
              <a:t>Health </a:t>
            </a:r>
            <a:r>
              <a:rPr lang="en-US" sz="4000" dirty="0" smtClean="0"/>
              <a:t>,Nutrition </a:t>
            </a:r>
            <a:r>
              <a:rPr lang="en-US" sz="4000" dirty="0"/>
              <a:t>and population targets for the 7</a:t>
            </a:r>
            <a:r>
              <a:rPr lang="en-US" sz="4000" baseline="30000" dirty="0"/>
              <a:t>th</a:t>
            </a:r>
            <a:r>
              <a:rPr lang="en-US" sz="4000" dirty="0"/>
              <a:t> </a:t>
            </a:r>
            <a:r>
              <a:rPr lang="en-US" sz="4000" dirty="0" smtClean="0"/>
              <a:t>FYP</a:t>
            </a:r>
            <a:endParaRPr lang="en-US" sz="40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855438"/>
              </p:ext>
            </p:extLst>
          </p:nvPr>
        </p:nvGraphicFramePr>
        <p:xfrm>
          <a:off x="0" y="1295399"/>
          <a:ext cx="9144000" cy="51147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/>
                <a:gridCol w="4343400"/>
                <a:gridCol w="2514600"/>
                <a:gridCol w="1752600"/>
              </a:tblGrid>
              <a:tr h="1140924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Sr</a:t>
                      </a:r>
                      <a:r>
                        <a:rPr lang="en-US" dirty="0" smtClean="0"/>
                        <a:t> #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Indicator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 smtClean="0"/>
                        <a:t>(Impact/Outcome)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Base year’s information(source with year)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r>
                        <a:rPr lang="en-US" baseline="30000" dirty="0" smtClean="0"/>
                        <a:t>th</a:t>
                      </a:r>
                      <a:r>
                        <a:rPr lang="en-US" baseline="0" dirty="0" smtClean="0"/>
                        <a:t> FYP target </a:t>
                      </a:r>
                    </a:p>
                    <a:p>
                      <a:r>
                        <a:rPr lang="en-US" baseline="0" dirty="0" smtClean="0"/>
                        <a:t>FY 2020</a:t>
                      </a:r>
                    </a:p>
                    <a:p>
                      <a:endParaRPr lang="en-US" baseline="0" dirty="0" smtClean="0"/>
                    </a:p>
                    <a:p>
                      <a:endParaRPr lang="en-US" dirty="0"/>
                    </a:p>
                  </a:txBody>
                  <a:tcPr/>
                </a:tc>
              </a:tr>
              <a:tr h="410349"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Total Fertility Rate (Children</a:t>
                      </a:r>
                      <a:r>
                        <a:rPr lang="en-US" baseline="0" dirty="0" smtClean="0"/>
                        <a:t> per Woman)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2.3 (BDHS 2014)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2.0</a:t>
                      </a:r>
                      <a:endParaRPr lang="en-US" dirty="0"/>
                    </a:p>
                  </a:txBody>
                  <a:tcPr/>
                </a:tc>
              </a:tr>
              <a:tr h="614344"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Contraceptive Prevalence</a:t>
                      </a:r>
                      <a:r>
                        <a:rPr lang="en-US" baseline="0" dirty="0" smtClean="0"/>
                        <a:t> Rate (%)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62.4 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75</a:t>
                      </a:r>
                      <a:endParaRPr lang="en-US" dirty="0"/>
                    </a:p>
                  </a:txBody>
                  <a:tcPr/>
                </a:tc>
              </a:tr>
              <a:tr h="614344"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Proportion of children fully vaccinated by 12 months </a:t>
                      </a:r>
                      <a:r>
                        <a:rPr lang="en-US" baseline="0" dirty="0" smtClean="0"/>
                        <a:t>(%)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78 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95</a:t>
                      </a:r>
                      <a:endParaRPr lang="en-US" dirty="0"/>
                    </a:p>
                  </a:txBody>
                  <a:tcPr/>
                </a:tc>
              </a:tr>
              <a:tr h="614344">
                <a:tc>
                  <a:txBody>
                    <a:bodyPr/>
                    <a:lstStyle/>
                    <a:p>
                      <a:r>
                        <a:rPr lang="en-US" dirty="0" smtClean="0"/>
                        <a:t>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Proportion</a:t>
                      </a:r>
                      <a:r>
                        <a:rPr lang="en-US" baseline="0" dirty="0" smtClean="0"/>
                        <a:t> of births attended medically trained provider (%)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42.1 (BDHS 2014)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65</a:t>
                      </a:r>
                      <a:endParaRPr lang="en-US" dirty="0"/>
                    </a:p>
                  </a:txBody>
                  <a:tcPr/>
                </a:tc>
              </a:tr>
              <a:tr h="877634"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Proportion of births</a:t>
                      </a:r>
                      <a:r>
                        <a:rPr lang="en-US" baseline="0" dirty="0" smtClean="0"/>
                        <a:t> in health facilities by wealth quintiles (Ratio of lowest and highest quantities)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15:69.5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(BDHS 2014)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1:3.5</a:t>
                      </a:r>
                      <a:endParaRPr lang="en-US" dirty="0"/>
                    </a:p>
                  </a:txBody>
                  <a:tcPr/>
                </a:tc>
              </a:tr>
              <a:tr h="681064">
                <a:tc>
                  <a:txBody>
                    <a:bodyPr/>
                    <a:lstStyle/>
                    <a:p>
                      <a:r>
                        <a:rPr lang="en-US" dirty="0" smtClean="0"/>
                        <a:t>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TB case detection rate (%)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53 (GTR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2014 )                       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800600" y="6477000"/>
            <a:ext cx="4191000" cy="346841"/>
          </a:xfrm>
        </p:spPr>
        <p:txBody>
          <a:bodyPr/>
          <a:lstStyle/>
          <a:p>
            <a:pPr marL="0" indent="0">
              <a:buNone/>
            </a:pPr>
            <a:r>
              <a:rPr lang="en-US" sz="1600" b="1" i="1" dirty="0" smtClean="0"/>
              <a:t>Source: Ministry of Health and Family Welfare</a:t>
            </a:r>
            <a:endParaRPr lang="en-US" sz="1600" b="1" i="1" dirty="0"/>
          </a:p>
        </p:txBody>
      </p:sp>
    </p:spTree>
    <p:extLst>
      <p:ext uri="{BB962C8B-B14F-4D97-AF65-F5344CB8AC3E}">
        <p14:creationId xmlns:p14="http://schemas.microsoft.com/office/powerpoint/2010/main" val="2611330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76200"/>
            <a:ext cx="8534400" cy="715962"/>
          </a:xfrm>
          <a:ex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8447" name="Group 7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1538287"/>
              </p:ext>
            </p:extLst>
          </p:nvPr>
        </p:nvGraphicFramePr>
        <p:xfrm>
          <a:off x="152401" y="1524000"/>
          <a:ext cx="8686800" cy="5151966"/>
        </p:xfrm>
        <a:graphic>
          <a:graphicData uri="http://schemas.openxmlformats.org/drawingml/2006/table">
            <a:tbl>
              <a:tblPr/>
              <a:tblGrid>
                <a:gridCol w="1534936"/>
                <a:gridCol w="2808464"/>
                <a:gridCol w="2171700"/>
                <a:gridCol w="2171700"/>
              </a:tblGrid>
              <a:tr h="6247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Serial No.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Person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Post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Vacant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Doctor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40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14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02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Nurse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73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08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MLSS, Ward boy,  Ayah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16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04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Cleaner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07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05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Guard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06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Gardener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07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Electrician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08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Trolley man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 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09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Others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---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---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4527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Total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151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31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57"/>
          <p:cNvSpPr>
            <a:spLocks noChangeArrowheads="1"/>
          </p:cNvSpPr>
          <p:nvPr/>
        </p:nvSpPr>
        <p:spPr bwMode="auto">
          <a:xfrm>
            <a:off x="228600" y="723792"/>
            <a:ext cx="8534400" cy="6096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headEnd/>
            <a:tailEnd/>
          </a:ln>
          <a:ex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Important post of Human Resources</a:t>
            </a:r>
          </a:p>
        </p:txBody>
      </p:sp>
    </p:spTree>
    <p:extLst>
      <p:ext uri="{BB962C8B-B14F-4D97-AF65-F5344CB8AC3E}">
        <p14:creationId xmlns:p14="http://schemas.microsoft.com/office/powerpoint/2010/main" val="853456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462176" y="983206"/>
            <a:ext cx="8229600" cy="609601"/>
          </a:xfrm>
          <a:prstGeom prst="rect">
            <a:avLst/>
          </a:prstGeom>
          <a:ln>
            <a:headEnd/>
            <a:tailEnd/>
          </a:ln>
          <a:extLst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Bed Occupancy Rate from 1998 to </a:t>
            </a:r>
            <a:r>
              <a:rPr lang="en-US" sz="24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2017</a:t>
            </a:r>
            <a:endParaRPr lang="en-US" sz="24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2015" name="Title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-28032"/>
            <a:ext cx="8339138" cy="131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452438" y="228600"/>
            <a:ext cx="82296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90000"/>
              </a:lnSpc>
              <a:defRPr/>
            </a:pPr>
            <a:r>
              <a:rPr lang="en-US" sz="43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Sadar Hospital, Jhenaidah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1929509912"/>
              </p:ext>
            </p:extLst>
          </p:nvPr>
        </p:nvGraphicFramePr>
        <p:xfrm>
          <a:off x="1251744" y="1981200"/>
          <a:ext cx="5834856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228600" y="1143000"/>
            <a:ext cx="8534400" cy="503238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Emergency &amp; Out Door, Indoor  Service 1998 to 2017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228600" y="228600"/>
            <a:ext cx="85344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1590283279"/>
              </p:ext>
            </p:extLst>
          </p:nvPr>
        </p:nvGraphicFramePr>
        <p:xfrm>
          <a:off x="609600" y="1981200"/>
          <a:ext cx="81534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533400" y="1066800"/>
            <a:ext cx="82296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rgbClr val="FFFFFF"/>
                </a:solidFill>
              </a:rPr>
              <a:t>Operation Service (Major) 2011 to 2017</a:t>
            </a:r>
          </a:p>
        </p:txBody>
      </p:sp>
      <p:graphicFrame>
        <p:nvGraphicFramePr>
          <p:cNvPr id="2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4442999"/>
              </p:ext>
            </p:extLst>
          </p:nvPr>
        </p:nvGraphicFramePr>
        <p:xfrm>
          <a:off x="1143000" y="2057400"/>
          <a:ext cx="6934199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 bwMode="auto">
          <a:xfrm>
            <a:off x="457200" y="2286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4558568"/>
              </p:ext>
            </p:extLst>
          </p:nvPr>
        </p:nvGraphicFramePr>
        <p:xfrm>
          <a:off x="381000" y="1528465"/>
          <a:ext cx="84582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 bwMode="auto">
          <a:xfrm>
            <a:off x="457200" y="2286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457200" y="1066800"/>
            <a:ext cx="8305800" cy="461665"/>
          </a:xfrm>
          <a:prstGeom prst="rect">
            <a:avLst/>
          </a:prstGeom>
          <a:ln/>
          <a:ex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dirty="0" smtClean="0">
                <a:solidFill>
                  <a:srgbClr val="FFFFFF"/>
                </a:solidFill>
              </a:rPr>
              <a:t>Admitted Under 5 children in  indoor from 2014 to 2017</a:t>
            </a:r>
            <a:endParaRPr lang="en-US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2266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457200" y="944562"/>
            <a:ext cx="83058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 fontScale="9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 b="1" dirty="0" smtClean="0">
                <a:ea typeface="Calibri"/>
                <a:cs typeface="Vrinda"/>
              </a:rPr>
              <a:t>3 best performing </a:t>
            </a:r>
            <a:r>
              <a:rPr lang="en-US" sz="2800" b="1" dirty="0" err="1" smtClean="0">
                <a:ea typeface="Calibri"/>
                <a:cs typeface="Vrinda"/>
              </a:rPr>
              <a:t>EmOC</a:t>
            </a:r>
            <a:r>
              <a:rPr lang="en-US" sz="2800" b="1" dirty="0" smtClean="0">
                <a:ea typeface="Calibri"/>
                <a:cs typeface="Vrinda"/>
              </a:rPr>
              <a:t> Hospital </a:t>
            </a:r>
            <a:r>
              <a:rPr lang="en-US" sz="2800" b="1" dirty="0">
                <a:ea typeface="Calibri"/>
                <a:cs typeface="Vrinda"/>
              </a:rPr>
              <a:t>in Khulna division - </a:t>
            </a:r>
            <a:r>
              <a:rPr lang="en-US" sz="2800" b="1" dirty="0" smtClean="0">
                <a:ea typeface="Calibri"/>
                <a:cs typeface="Vrinda"/>
              </a:rPr>
              <a:t>2017</a:t>
            </a:r>
            <a:endParaRPr lang="en-US" sz="2800" dirty="0">
              <a:ea typeface="Calibri"/>
              <a:cs typeface="Vrinda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3851720"/>
              </p:ext>
            </p:extLst>
          </p:nvPr>
        </p:nvGraphicFramePr>
        <p:xfrm>
          <a:off x="457200" y="20574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itle 1"/>
          <p:cNvSpPr txBox="1">
            <a:spLocks/>
          </p:cNvSpPr>
          <p:nvPr/>
        </p:nvSpPr>
        <p:spPr bwMode="auto">
          <a:xfrm>
            <a:off x="457200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79453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2651" y="792754"/>
            <a:ext cx="8310349" cy="808038"/>
          </a:xfr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2400" b="1" dirty="0" smtClean="0">
                <a:solidFill>
                  <a:schemeClr val="bg1"/>
                </a:solidFill>
              </a:rPr>
              <a:t/>
            </a:r>
            <a:br>
              <a:rPr lang="en-US" sz="2400" b="1" dirty="0" smtClean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/>
            </a:r>
            <a:br>
              <a:rPr lang="en-US" sz="2400" b="1" dirty="0">
                <a:solidFill>
                  <a:schemeClr val="bg1"/>
                </a:solidFill>
              </a:rPr>
            </a:br>
            <a:r>
              <a:rPr lang="en-US" sz="2800" b="1" dirty="0" smtClean="0">
                <a:solidFill>
                  <a:schemeClr val="bg1"/>
                </a:solidFill>
              </a:rPr>
              <a:t>Comparative </a:t>
            </a:r>
            <a:r>
              <a:rPr lang="en-US" sz="2800" b="1" dirty="0">
                <a:solidFill>
                  <a:schemeClr val="bg1"/>
                </a:solidFill>
              </a:rPr>
              <a:t>data of revenue </a:t>
            </a:r>
            <a:r>
              <a:rPr lang="en-US" sz="2800" b="1" dirty="0" smtClean="0">
                <a:solidFill>
                  <a:schemeClr val="bg1"/>
                </a:solidFill>
              </a:rPr>
              <a:t>income (in Taka) from 2015 to 2017</a:t>
            </a:r>
            <a:r>
              <a:rPr lang="en-US" sz="4800" b="1" dirty="0"/>
              <a:t/>
            </a:r>
            <a:br>
              <a:rPr lang="en-US" sz="4800" b="1" dirty="0"/>
            </a:br>
            <a:endParaRPr lang="en-US" sz="5400" b="1" dirty="0"/>
          </a:p>
        </p:txBody>
      </p:sp>
      <p:graphicFrame>
        <p:nvGraphicFramePr>
          <p:cNvPr id="2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1290331"/>
              </p:ext>
            </p:extLst>
          </p:nvPr>
        </p:nvGraphicFramePr>
        <p:xfrm>
          <a:off x="1676400" y="2133600"/>
          <a:ext cx="556260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 bwMode="auto">
          <a:xfrm>
            <a:off x="452651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Sadar Hospital, Jhenaidah</a:t>
            </a:r>
            <a:endParaRPr lang="en-US" b="1" dirty="0"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18479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prstClr val="white"/>
                </a:solidFill>
                <a:latin typeface="Arial" charset="0"/>
                <a:cs typeface="Arial" charset="0"/>
              </a:rPr>
              <a:t>Community Support System in Sadar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781050"/>
            <a:ext cx="9144000" cy="60769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2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457200" indent="-457200" algn="just">
              <a:buFontTx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53 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manpower (Cleaner 20, Ayah &amp; ward boy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21,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Guard 6, Volunteer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3,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Trolley man 3 )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is supported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by the community.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MP of Jhenaidah-2 donated 14 manpower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support.</a:t>
            </a:r>
            <a:endParaRPr lang="en-US" sz="26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Chairman of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Zahedee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foundation </a:t>
            </a:r>
            <a:r>
              <a:rPr lang="en-US" sz="260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supports </a:t>
            </a:r>
            <a:r>
              <a:rPr lang="en-US" sz="260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12</a:t>
            </a:r>
            <a:r>
              <a:rPr lang="en-US" sz="260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manpower and an intercom with a cost of nearly two lac taka. </a:t>
            </a: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Mayor of Jhenaidah Paurasava plays an important role in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security , cleanliness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, repaired the boundary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wall and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supports 5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man 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power and renovation of pediatric word and donation of a biochemistry analyzer at a cost of 1,15,000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Taka. </a:t>
            </a:r>
            <a:endParaRPr lang="en-US" sz="2600" dirty="0" smtClean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Retired secretary donated a generator for 24 hours OT service    with a cost of nearly 33 thousand taka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.</a:t>
            </a:r>
          </a:p>
          <a:p>
            <a:pPr marL="457200" indent="-457200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Former-chairman of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Jhenidah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Pourosova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supports 2 manpower</a:t>
            </a:r>
            <a:endParaRPr lang="en-US" sz="2600" dirty="0">
              <a:solidFill>
                <a:prstClr val="black"/>
              </a:solidFill>
              <a:latin typeface="Calibri" pitchFamily="34" charset="0"/>
              <a:cs typeface="Calibri" pitchFamily="34" charset="0"/>
            </a:endParaRPr>
          </a:p>
          <a:p>
            <a:pPr marL="457200" indent="-457200" algn="just">
              <a:buFontTx/>
              <a:buAutoNum type="arabicPeriod"/>
              <a:defRPr/>
            </a:pP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Doctors of the hospital and </a:t>
            </a:r>
            <a:r>
              <a:rPr lang="en-US" sz="2600" dirty="0" err="1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Jhenaidah</a:t>
            </a:r>
            <a:r>
              <a:rPr lang="en-US" sz="2600" dirty="0" smtClean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town supports 17 man power.</a:t>
            </a:r>
            <a:endParaRPr lang="en-US" sz="2600" b="1" dirty="0" smtClean="0">
              <a:solidFill>
                <a:srgbClr val="1F497D">
                  <a:lumMod val="75000"/>
                </a:srgb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algn="just">
              <a:defRPr/>
            </a:pPr>
            <a:endParaRPr lang="en-US" sz="2600" dirty="0" smtClean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endParaRPr lang="en-US" sz="2600" dirty="0" smtClean="0">
              <a:solidFill>
                <a:srgbClr val="1F497D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838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530" y="685800"/>
            <a:ext cx="4309243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Visit to </a:t>
            </a:r>
            <a:r>
              <a:rPr lang="en-US" sz="2000" b="1" dirty="0" err="1">
                <a:solidFill>
                  <a:schemeClr val="bg1"/>
                </a:solidFill>
              </a:rPr>
              <a:t>Shatkhira</a:t>
            </a:r>
            <a:r>
              <a:rPr lang="en-US" sz="2000" b="1" dirty="0">
                <a:solidFill>
                  <a:schemeClr val="bg1"/>
                </a:solidFill>
              </a:rPr>
              <a:t> District </a:t>
            </a:r>
            <a:r>
              <a:rPr lang="en-US" sz="2000" b="1" dirty="0" smtClean="0">
                <a:solidFill>
                  <a:schemeClr val="bg1"/>
                </a:solidFill>
              </a:rPr>
              <a:t>Hospital and Introduction </a:t>
            </a:r>
            <a:r>
              <a:rPr lang="en-US" sz="2000" b="1" dirty="0">
                <a:solidFill>
                  <a:schemeClr val="bg1"/>
                </a:solidFill>
              </a:rPr>
              <a:t>of TQM </a:t>
            </a:r>
            <a:r>
              <a:rPr lang="en-US" sz="2000" b="1" dirty="0" smtClean="0">
                <a:solidFill>
                  <a:schemeClr val="bg1"/>
                </a:solidFill>
              </a:rPr>
              <a:t>activities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7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983" y="3814916"/>
            <a:ext cx="4303713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27206"/>
            <a:ext cx="4303713" cy="295275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4" name="Picture 2" descr="DSC03196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984" y="685801"/>
            <a:ext cx="4281094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78861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EOC Ward</a:t>
            </a:r>
          </a:p>
        </p:txBody>
      </p:sp>
      <p:pic>
        <p:nvPicPr>
          <p:cNvPr id="45059" name="Picture 19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762000"/>
            <a:ext cx="3886200" cy="2743200"/>
          </a:xfrm>
          <a:noFill/>
        </p:spPr>
      </p:pic>
      <p:pic>
        <p:nvPicPr>
          <p:cNvPr id="45060" name="Picture 20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8388" y="762000"/>
            <a:ext cx="4037012" cy="2630488"/>
          </a:xfrm>
          <a:noFill/>
        </p:spPr>
      </p:pic>
      <p:pic>
        <p:nvPicPr>
          <p:cNvPr id="45061" name="コンテンツ プレースホルダ 4" descr="②.jpg"/>
          <p:cNvPicPr>
            <a:picLocks noGrp="1" noChangeAspect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657600"/>
            <a:ext cx="3886200" cy="3048000"/>
          </a:xfrm>
        </p:spPr>
      </p:pic>
      <p:pic>
        <p:nvPicPr>
          <p:cNvPr id="45062" name="Picture 1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29200" y="3776663"/>
            <a:ext cx="3733800" cy="2860675"/>
          </a:xfrm>
          <a:noFill/>
        </p:spPr>
      </p:pic>
      <p:sp>
        <p:nvSpPr>
          <p:cNvPr id="45063" name="Right Arrow 2"/>
          <p:cNvSpPr>
            <a:spLocks noChangeArrowheads="1"/>
          </p:cNvSpPr>
          <p:nvPr/>
        </p:nvSpPr>
        <p:spPr bwMode="auto">
          <a:xfrm>
            <a:off x="429895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4" name="Right Arrow 11"/>
          <p:cNvSpPr>
            <a:spLocks noChangeArrowheads="1"/>
          </p:cNvSpPr>
          <p:nvPr/>
        </p:nvSpPr>
        <p:spPr bwMode="auto">
          <a:xfrm>
            <a:off x="4298950" y="4821238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5" name="Rectangle 8"/>
          <p:cNvSpPr>
            <a:spLocks noChangeArrowheads="1"/>
          </p:cNvSpPr>
          <p:nvPr/>
        </p:nvSpPr>
        <p:spPr bwMode="auto">
          <a:xfrm>
            <a:off x="4938713" y="3859213"/>
            <a:ext cx="72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6" name="Rectangle 7"/>
          <p:cNvSpPr>
            <a:spLocks noChangeArrowheads="1"/>
          </p:cNvSpPr>
          <p:nvPr/>
        </p:nvSpPr>
        <p:spPr bwMode="auto">
          <a:xfrm>
            <a:off x="304800" y="3657600"/>
            <a:ext cx="915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7" name="Rectangle 1"/>
          <p:cNvSpPr>
            <a:spLocks noChangeArrowheads="1"/>
          </p:cNvSpPr>
          <p:nvPr/>
        </p:nvSpPr>
        <p:spPr bwMode="auto">
          <a:xfrm>
            <a:off x="333375" y="801688"/>
            <a:ext cx="9159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45068" name="Rectangle 9"/>
          <p:cNvSpPr>
            <a:spLocks noChangeArrowheads="1"/>
          </p:cNvSpPr>
          <p:nvPr/>
        </p:nvSpPr>
        <p:spPr bwMode="auto">
          <a:xfrm>
            <a:off x="4930775" y="742950"/>
            <a:ext cx="72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29200" y="3733800"/>
            <a:ext cx="3886200" cy="29718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Content Placeholder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8900" y="3733800"/>
            <a:ext cx="4102100" cy="295275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itle 1"/>
          <p:cNvSpPr txBox="1">
            <a:spLocks/>
          </p:cNvSpPr>
          <p:nvPr/>
        </p:nvSpPr>
        <p:spPr bwMode="auto">
          <a:xfrm>
            <a:off x="228600" y="152400"/>
            <a:ext cx="86868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 fontScale="900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smtClean="0">
                <a:solidFill>
                  <a:schemeClr val="bg1"/>
                </a:solidFill>
              </a:rPr>
              <a:t>Changes in Surgery &amp; Pediatric Word</a:t>
            </a:r>
            <a:endParaRPr lang="en-US" sz="2800" b="1" dirty="0" smtClean="0">
              <a:solidFill>
                <a:schemeClr val="bg1"/>
              </a:solidFill>
            </a:endParaRPr>
          </a:p>
        </p:txBody>
      </p:sp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17475" y="762000"/>
            <a:ext cx="4038600" cy="26670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76800" y="762000"/>
            <a:ext cx="4038600" cy="26670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Right Arrow 2"/>
          <p:cNvSpPr>
            <a:spLocks noChangeArrowheads="1"/>
          </p:cNvSpPr>
          <p:nvPr/>
        </p:nvSpPr>
        <p:spPr bwMode="auto">
          <a:xfrm>
            <a:off x="43338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pic>
        <p:nvPicPr>
          <p:cNvPr id="24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4363" y="4953000"/>
            <a:ext cx="4762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1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8" y="762000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Picture 1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" y="3884613"/>
            <a:ext cx="1146175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Picture 1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125" y="3629025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Picture 1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625" y="609600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itle 1"/>
          <p:cNvSpPr>
            <a:spLocks noGrp="1"/>
          </p:cNvSpPr>
          <p:nvPr>
            <p:ph type="title" sz="quarter"/>
          </p:nvPr>
        </p:nvSpPr>
        <p:spPr>
          <a:xfrm>
            <a:off x="152400" y="152400"/>
            <a:ext cx="87630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Gardens of The Hospital</a:t>
            </a:r>
          </a:p>
        </p:txBody>
      </p:sp>
      <p:pic>
        <p:nvPicPr>
          <p:cNvPr id="47107" name="Picture 5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53000" y="3811588"/>
            <a:ext cx="3886200" cy="2894012"/>
          </a:xfrm>
        </p:spPr>
      </p:pic>
      <p:pic>
        <p:nvPicPr>
          <p:cNvPr id="47108" name="Picture 4" descr="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1138" y="703263"/>
            <a:ext cx="4033837" cy="2743200"/>
          </a:xfrm>
        </p:spPr>
      </p:pic>
      <p:pic>
        <p:nvPicPr>
          <p:cNvPr id="47109" name="Picture 2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0175" y="3740150"/>
            <a:ext cx="4114800" cy="2971800"/>
          </a:xfrm>
          <a:noFill/>
        </p:spPr>
      </p:pic>
      <p:pic>
        <p:nvPicPr>
          <p:cNvPr id="47110" name="Picture 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6175" y="696913"/>
            <a:ext cx="3883025" cy="2743200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000000"/>
            </a:solidFill>
            <a:miter lim="800000"/>
            <a:headEnd/>
            <a:tailEnd/>
          </a:ln>
        </p:spPr>
      </p:pic>
      <p:sp>
        <p:nvSpPr>
          <p:cNvPr id="47111" name="Right Arrow 9"/>
          <p:cNvSpPr>
            <a:spLocks noChangeArrowheads="1"/>
          </p:cNvSpPr>
          <p:nvPr/>
        </p:nvSpPr>
        <p:spPr bwMode="auto">
          <a:xfrm>
            <a:off x="44735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7112" name="Right Arrow 10"/>
          <p:cNvSpPr>
            <a:spLocks noChangeArrowheads="1"/>
          </p:cNvSpPr>
          <p:nvPr/>
        </p:nvSpPr>
        <p:spPr bwMode="auto">
          <a:xfrm>
            <a:off x="4291013" y="4887913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7113" name="Rectangle 11"/>
          <p:cNvSpPr>
            <a:spLocks noChangeArrowheads="1"/>
          </p:cNvSpPr>
          <p:nvPr/>
        </p:nvSpPr>
        <p:spPr bwMode="auto">
          <a:xfrm>
            <a:off x="250825" y="696913"/>
            <a:ext cx="9159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7114" name="Rectangle 14"/>
          <p:cNvSpPr>
            <a:spLocks noChangeArrowheads="1"/>
          </p:cNvSpPr>
          <p:nvPr/>
        </p:nvSpPr>
        <p:spPr bwMode="auto">
          <a:xfrm>
            <a:off x="4953000" y="814388"/>
            <a:ext cx="723900" cy="3698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4956175" y="3811588"/>
            <a:ext cx="6731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268288" y="3690938"/>
            <a:ext cx="10668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550863"/>
            <a:ext cx="4754563" cy="362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87325" y="706438"/>
            <a:ext cx="3978275" cy="3006725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8132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 b="1" dirty="0" smtClean="0">
                <a:solidFill>
                  <a:srgbClr val="FFFFFF"/>
                </a:solidFill>
              </a:rPr>
              <a:t>Waste </a:t>
            </a:r>
            <a:r>
              <a:rPr lang="en-US" sz="2800" b="1" dirty="0">
                <a:solidFill>
                  <a:srgbClr val="FFFFFF"/>
                </a:solidFill>
              </a:rPr>
              <a:t>Management &amp; Campus Protection</a:t>
            </a:r>
          </a:p>
        </p:txBody>
      </p:sp>
      <p:sp>
        <p:nvSpPr>
          <p:cNvPr id="48133" name="Right Arrow 8"/>
          <p:cNvSpPr>
            <a:spLocks noChangeArrowheads="1"/>
          </p:cNvSpPr>
          <p:nvPr/>
        </p:nvSpPr>
        <p:spPr bwMode="auto">
          <a:xfrm>
            <a:off x="426720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8134" name="Right Arrow 9"/>
          <p:cNvSpPr>
            <a:spLocks noChangeArrowheads="1"/>
          </p:cNvSpPr>
          <p:nvPr/>
        </p:nvSpPr>
        <p:spPr bwMode="auto">
          <a:xfrm>
            <a:off x="4267200" y="48768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169863" y="835025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4899025" y="776288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89097" name="Picture 1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" y="3856038"/>
            <a:ext cx="4013200" cy="2849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  <p:pic>
        <p:nvPicPr>
          <p:cNvPr id="89098" name="Picture 1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76800" y="3856038"/>
            <a:ext cx="4114800" cy="2849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  <p:sp>
        <p:nvSpPr>
          <p:cNvPr id="16394" name="Rectangle 11"/>
          <p:cNvSpPr>
            <a:spLocks noChangeArrowheads="1"/>
          </p:cNvSpPr>
          <p:nvPr/>
        </p:nvSpPr>
        <p:spPr bwMode="auto">
          <a:xfrm>
            <a:off x="169863" y="3886200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5" name="Rectangle 12"/>
          <p:cNvSpPr>
            <a:spLocks noChangeArrowheads="1"/>
          </p:cNvSpPr>
          <p:nvPr/>
        </p:nvSpPr>
        <p:spPr bwMode="auto">
          <a:xfrm>
            <a:off x="4899025" y="3884613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7630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 smtClean="0">
                <a:solidFill>
                  <a:schemeClr val="bg1"/>
                </a:solidFill>
              </a:rPr>
              <a:t>Changes in Office and Hospital </a:t>
            </a:r>
            <a:r>
              <a:rPr lang="en-US" sz="2800" b="1" dirty="0">
                <a:solidFill>
                  <a:schemeClr val="bg1"/>
                </a:solidFill>
              </a:rPr>
              <a:t>I</a:t>
            </a:r>
            <a:r>
              <a:rPr lang="en-US" sz="2800" b="1" dirty="0" smtClean="0">
                <a:solidFill>
                  <a:schemeClr val="bg1"/>
                </a:solidFill>
              </a:rPr>
              <a:t>nternal </a:t>
            </a:r>
            <a:r>
              <a:rPr lang="en-US" sz="2800" b="1" dirty="0">
                <a:solidFill>
                  <a:schemeClr val="bg1"/>
                </a:solidFill>
              </a:rPr>
              <a:t>E</a:t>
            </a:r>
            <a:r>
              <a:rPr lang="en-US" sz="2800" b="1" dirty="0" smtClean="0">
                <a:solidFill>
                  <a:schemeClr val="bg1"/>
                </a:solidFill>
              </a:rPr>
              <a:t>nvironment</a:t>
            </a:r>
          </a:p>
        </p:txBody>
      </p:sp>
      <p:pic>
        <p:nvPicPr>
          <p:cNvPr id="23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832350" y="3781425"/>
            <a:ext cx="3994150" cy="292100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9156" name="Picture 12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288" y="838200"/>
            <a:ext cx="4021137" cy="2743200"/>
          </a:xfrm>
        </p:spPr>
      </p:pic>
      <p:pic>
        <p:nvPicPr>
          <p:cNvPr id="49157" name="Picture 1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46638" y="889000"/>
            <a:ext cx="4297362" cy="2616200"/>
          </a:xfrm>
        </p:spPr>
      </p:pic>
      <p:pic>
        <p:nvPicPr>
          <p:cNvPr id="25" name="Content Placeholder 6"/>
          <p:cNvPicPr>
            <a:picLocks noGrp="1" noChangeAspect="1"/>
          </p:cNvPicPr>
          <p:nvPr>
            <p:ph sz="quarter" idx="4294967295"/>
          </p:nvPr>
        </p:nvPicPr>
        <p:blipFill>
          <a:blip r:embed="rId5"/>
          <a:stretch>
            <a:fillRect/>
          </a:stretch>
        </p:blipFill>
        <p:spPr>
          <a:xfrm>
            <a:off x="0" y="3778250"/>
            <a:ext cx="4038600" cy="29781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76200" y="971550"/>
            <a:ext cx="1066800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4846638" y="1003300"/>
            <a:ext cx="671512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4897438" y="3933825"/>
            <a:ext cx="671512" cy="369888"/>
          </a:xfrm>
          <a:prstGeom prst="rect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kern="0" dirty="0">
                <a:solidFill>
                  <a:srgbClr val="FF0000"/>
                </a:solidFill>
                <a:latin typeface="Calibri"/>
                <a:cs typeface="+mn-cs"/>
              </a:rPr>
              <a:t>After</a:t>
            </a:r>
            <a:endParaRPr lang="en-US" kern="0" dirty="0">
              <a:solidFill>
                <a:srgbClr val="FF0000"/>
              </a:solidFill>
              <a:latin typeface="Calibri"/>
              <a:cs typeface="+mn-cs"/>
            </a:endParaRPr>
          </a:p>
        </p:txBody>
      </p:sp>
      <p:sp>
        <p:nvSpPr>
          <p:cNvPr id="26" name="Rectangle 10"/>
          <p:cNvSpPr>
            <a:spLocks noChangeArrowheads="1"/>
          </p:cNvSpPr>
          <p:nvPr/>
        </p:nvSpPr>
        <p:spPr bwMode="auto">
          <a:xfrm>
            <a:off x="76200" y="3895725"/>
            <a:ext cx="903288" cy="369888"/>
          </a:xfrm>
          <a:prstGeom prst="rect">
            <a:avLst/>
          </a:prstGeom>
          <a:noFill/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kern="0" dirty="0">
                <a:solidFill>
                  <a:srgbClr val="FF0000"/>
                </a:solidFill>
                <a:latin typeface="Calibri"/>
                <a:cs typeface="+mn-cs"/>
              </a:rPr>
              <a:t>Before</a:t>
            </a:r>
            <a:endParaRPr lang="en-US" kern="0" dirty="0">
              <a:solidFill>
                <a:srgbClr val="FF0000"/>
              </a:solidFill>
              <a:latin typeface="Calibri"/>
              <a:cs typeface="+mn-cs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2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534400" cy="563562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000" b="1" dirty="0" smtClean="0">
                <a:solidFill>
                  <a:srgbClr val="FFFFFF"/>
                </a:solidFill>
                <a:latin typeface="Arial" charset="0"/>
                <a:cs typeface="Arial" charset="0"/>
              </a:rPr>
              <a:t>Use of direction sign, labeling of rooms, clean latrine and waste segregation</a:t>
            </a:r>
          </a:p>
        </p:txBody>
      </p:sp>
      <p:pic>
        <p:nvPicPr>
          <p:cNvPr id="51203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85850"/>
            <a:ext cx="4114800" cy="2571750"/>
          </a:xfrm>
        </p:spPr>
      </p:pic>
      <p:pic>
        <p:nvPicPr>
          <p:cNvPr id="51204" name="Content Placeholder 9"/>
          <p:cNvPicPr>
            <a:picLocks noGrp="1" noChangeAspect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066800"/>
            <a:ext cx="3968750" cy="2590800"/>
          </a:xfrm>
        </p:spPr>
      </p:pic>
      <p:pic>
        <p:nvPicPr>
          <p:cNvPr id="51205" name="Picture 6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1000" y="3962400"/>
            <a:ext cx="4038600" cy="2625725"/>
          </a:xfrm>
          <a:noFill/>
        </p:spPr>
      </p:pic>
      <p:pic>
        <p:nvPicPr>
          <p:cNvPr id="51206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1225" y="3962400"/>
            <a:ext cx="3965575" cy="265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7" name="Rectangle 4"/>
          <p:cNvSpPr>
            <a:spLocks noChangeArrowheads="1"/>
          </p:cNvSpPr>
          <p:nvPr/>
        </p:nvSpPr>
        <p:spPr bwMode="auto">
          <a:xfrm>
            <a:off x="304800" y="1143000"/>
            <a:ext cx="2466975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Use of direction sign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51208" name="Rectangle 5"/>
          <p:cNvSpPr>
            <a:spLocks noChangeArrowheads="1"/>
          </p:cNvSpPr>
          <p:nvPr/>
        </p:nvSpPr>
        <p:spPr bwMode="auto">
          <a:xfrm>
            <a:off x="4941888" y="1143000"/>
            <a:ext cx="2185987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solidFill>
                  <a:srgbClr val="FF0000"/>
                </a:solidFill>
              </a:rPr>
              <a:t>Labeling of rooms</a:t>
            </a: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57200" y="3998913"/>
            <a:ext cx="1981200" cy="36988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waist segregation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1210" name="Rectangle 8"/>
          <p:cNvSpPr>
            <a:spLocks noChangeArrowheads="1"/>
          </p:cNvSpPr>
          <p:nvPr/>
        </p:nvSpPr>
        <p:spPr bwMode="auto">
          <a:xfrm>
            <a:off x="4702175" y="4021138"/>
            <a:ext cx="1570038" cy="36988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n-US" b="1">
                <a:solidFill>
                  <a:srgbClr val="FF0000"/>
                </a:solidFill>
              </a:rPr>
              <a:t>Clean latrine</a:t>
            </a:r>
            <a:endParaRPr 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 sz="quarter"/>
          </p:nvPr>
        </p:nvSpPr>
        <p:spPr>
          <a:xfrm>
            <a:off x="228600" y="274638"/>
            <a:ext cx="8458200" cy="563562"/>
          </a:xfrm>
          <a:solidFill>
            <a:srgbClr val="006600"/>
          </a:solidFill>
        </p:spPr>
        <p:txBody>
          <a:bodyPr/>
          <a:lstStyle/>
          <a:p>
            <a:pPr eaLnBrk="1" hangingPunct="1"/>
            <a:r>
              <a:rPr lang="en-US" sz="1800" b="1" smtClean="0">
                <a:solidFill>
                  <a:srgbClr val="FFFFFF"/>
                </a:solidFill>
                <a:latin typeface="Arial" pitchFamily="34" charset="0"/>
                <a:cs typeface="Arial" pitchFamily="34" charset="0"/>
              </a:rPr>
              <a:t>Use of color code, alignment of picture &amp; continuous big cleaning day</a:t>
            </a:r>
          </a:p>
        </p:txBody>
      </p:sp>
      <p:pic>
        <p:nvPicPr>
          <p:cNvPr id="52227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030288"/>
            <a:ext cx="3962400" cy="2603500"/>
          </a:xfrm>
        </p:spPr>
      </p:pic>
      <p:pic>
        <p:nvPicPr>
          <p:cNvPr id="52228" name="Content Placeholder 11"/>
          <p:cNvPicPr>
            <a:picLocks noGrp="1" noChangeAspect="1"/>
          </p:cNvPicPr>
          <p:nvPr>
            <p:ph sz="quarter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01714"/>
            <a:ext cx="4132263" cy="2608262"/>
          </a:xfrm>
        </p:spPr>
      </p:pic>
      <p:pic>
        <p:nvPicPr>
          <p:cNvPr id="52229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810000"/>
            <a:ext cx="4114800" cy="290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30" name="Rectangle 4"/>
          <p:cNvSpPr>
            <a:spLocks noChangeArrowheads="1"/>
          </p:cNvSpPr>
          <p:nvPr/>
        </p:nvSpPr>
        <p:spPr bwMode="auto">
          <a:xfrm>
            <a:off x="304800" y="3979863"/>
            <a:ext cx="2557463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Alignment of pictures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1" name="Rectangle 4"/>
          <p:cNvSpPr>
            <a:spLocks noChangeArrowheads="1"/>
          </p:cNvSpPr>
          <p:nvPr/>
        </p:nvSpPr>
        <p:spPr bwMode="auto">
          <a:xfrm>
            <a:off x="304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2232" name="Rectangle 4"/>
          <p:cNvSpPr>
            <a:spLocks noChangeArrowheads="1"/>
          </p:cNvSpPr>
          <p:nvPr/>
        </p:nvSpPr>
        <p:spPr bwMode="auto">
          <a:xfrm>
            <a:off x="4876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pic>
        <p:nvPicPr>
          <p:cNvPr id="13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3809999"/>
            <a:ext cx="4038600" cy="2908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75" y="609600"/>
            <a:ext cx="3997325" cy="290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1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" y="3733800"/>
            <a:ext cx="4013200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252" name="Content Placeholder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3733800"/>
            <a:ext cx="3997325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284162" y="669925"/>
            <a:ext cx="1709738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Reception room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239713" y="3762375"/>
            <a:ext cx="2570162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Health education session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4459288" y="3762375"/>
            <a:ext cx="2587625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Community engagement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69875" y="38100"/>
            <a:ext cx="82296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- 1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53257" name="Content Placeholder 3"/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486275" y="609600"/>
            <a:ext cx="4006850" cy="2905125"/>
          </a:xfrm>
        </p:spPr>
      </p:pic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495800" y="644525"/>
            <a:ext cx="2403475" cy="368300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FF00"/>
                </a:solidFill>
              </a:rPr>
              <a:t>Creation  of nursing aid</a:t>
            </a: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0" y="3927929"/>
            <a:ext cx="4267200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5" descr="DSC0249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10100" y="852487"/>
            <a:ext cx="4419600" cy="2705100"/>
          </a:xfrm>
          <a:prstGeom prst="rect">
            <a:avLst/>
          </a:prstGeom>
          <a:noFill/>
          <a:ln/>
        </p:spPr>
      </p:pic>
      <p:pic>
        <p:nvPicPr>
          <p:cNvPr id="5" name="Picture 4" descr="DSC0254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1407" y="852487"/>
            <a:ext cx="4257675" cy="2705100"/>
          </a:xfrm>
          <a:prstGeom prst="rect">
            <a:avLst/>
          </a:prstGeom>
          <a:noFill/>
          <a:ln/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191407" y="152400"/>
            <a:ext cx="8838293" cy="490537"/>
          </a:xfrm>
          <a:prstGeom prst="rect">
            <a:avLst/>
          </a:prstGeom>
          <a:solidFill>
            <a:srgbClr val="0C7E17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Jhenaidah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- 2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Content Placeholder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407" y="3886200"/>
            <a:ext cx="4257675" cy="2784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220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/>
          <p:cNvPicPr>
            <a:picLocks noGrp="1" noChangeAspect="1"/>
          </p:cNvPicPr>
          <p:nvPr>
            <p:ph sz="quarter"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186" y="3962400"/>
            <a:ext cx="4127426" cy="2590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Content Placeholder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1233985"/>
            <a:ext cx="4038599" cy="25142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Content Placeholder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184" y="1184894"/>
            <a:ext cx="4114800" cy="25633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Title 1"/>
          <p:cNvSpPr txBox="1">
            <a:spLocks/>
          </p:cNvSpPr>
          <p:nvPr/>
        </p:nvSpPr>
        <p:spPr bwMode="auto">
          <a:xfrm>
            <a:off x="246184" y="464343"/>
            <a:ext cx="8593015" cy="490537"/>
          </a:xfrm>
          <a:prstGeom prst="rect">
            <a:avLst/>
          </a:prstGeom>
          <a:solidFill>
            <a:srgbClr val="0C7E17"/>
          </a:solidFill>
          <a:ln w="25400" cap="flat" cmpd="sng" algn="ctr">
            <a:solidFill>
              <a:schemeClr val="bg1"/>
            </a:solidFill>
            <a:prstDash val="solid"/>
          </a:ln>
          <a:extLst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Jhenaidah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- 3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184" y="3962400"/>
            <a:ext cx="4114800" cy="26289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83109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036" y="1066800"/>
            <a:ext cx="4342829" cy="2514599"/>
          </a:xfrm>
        </p:spPr>
      </p:pic>
      <p:pic>
        <p:nvPicPr>
          <p:cNvPr id="10" name="Content Placeholder 9"/>
          <p:cNvPicPr>
            <a:picLocks noGrp="1" noChangeAspect="1"/>
          </p:cNvPicPr>
          <p:nvPr>
            <p:ph sz="quarter" idx="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84" y="990600"/>
            <a:ext cx="4041775" cy="2667000"/>
          </a:xfrm>
        </p:spPr>
      </p:pic>
      <p:pic>
        <p:nvPicPr>
          <p:cNvPr id="12" name="Content Placeholder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84" y="3886198"/>
            <a:ext cx="4041606" cy="2819401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04798" y="457200"/>
            <a:ext cx="8537491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- 4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8" name="Content Placeholder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171" y="3886198"/>
            <a:ext cx="4293029" cy="2819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810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1365250" y="4648200"/>
            <a:ext cx="3051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endParaRPr lang="en-US"/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14400"/>
            <a:ext cx="4176713" cy="287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1688" y="914400"/>
            <a:ext cx="4532312" cy="28765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4114800"/>
            <a:ext cx="44958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Oval 8"/>
          <p:cNvSpPr/>
          <p:nvPr/>
        </p:nvSpPr>
        <p:spPr>
          <a:xfrm>
            <a:off x="7345363" y="2335213"/>
            <a:ext cx="1524000" cy="1447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0" name="Content Placeholder 3"/>
          <p:cNvPicPr>
            <a:picLocks noGrp="1" noChangeAspect="1"/>
          </p:cNvPicPr>
          <p:nvPr>
            <p:ph sz="quarter"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14800"/>
            <a:ext cx="4257675" cy="2743200"/>
          </a:xfrm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Innovative activities of Jhenaidah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 - 5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1310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6273" y="847725"/>
            <a:ext cx="4652963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6" descr="G:\101MSDCF 1\DSC02621.JP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838200"/>
            <a:ext cx="4343400" cy="2862263"/>
          </a:xfrm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8" y="3981451"/>
            <a:ext cx="4329112" cy="2876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6273" y="3962400"/>
            <a:ext cx="4662489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42863"/>
            <a:ext cx="91440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Involvement of MP, District </a:t>
            </a:r>
            <a:r>
              <a:rPr lang="en-US" sz="24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dministrator &amp; Mayor in </a:t>
            </a:r>
            <a:r>
              <a:rPr lang="en-US" sz="2400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Sadar</a:t>
            </a: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Hospital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0986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69490" y="601354"/>
            <a:ext cx="4191000" cy="2827646"/>
          </a:xfrm>
        </p:spPr>
      </p:pic>
      <p:pic>
        <p:nvPicPr>
          <p:cNvPr id="5" name="Content Placeholder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81" y="3599597"/>
            <a:ext cx="4343401" cy="2846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169" y="609600"/>
            <a:ext cx="4183626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3581400"/>
            <a:ext cx="4237232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42863"/>
            <a:ext cx="9144000" cy="490537"/>
          </a:xfrm>
          <a:solidFill>
            <a:srgbClr val="0C7E17"/>
          </a:solidFill>
          <a:ln>
            <a:solidFill>
              <a:schemeClr val="bg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Involvement of district high officials in hospital activities </a:t>
            </a:r>
            <a:endParaRPr lang="en-US" sz="24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326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Title 4"/>
          <p:cNvSpPr>
            <a:spLocks noGrp="1"/>
          </p:cNvSpPr>
          <p:nvPr>
            <p:ph type="title" sz="quarter"/>
          </p:nvPr>
        </p:nvSpPr>
        <p:spPr>
          <a:xfrm>
            <a:off x="0" y="-4763"/>
            <a:ext cx="9144000" cy="461963"/>
          </a:xfrm>
          <a:solidFill>
            <a:srgbClr val="0C7E17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solidFill>
                  <a:schemeClr val="bg1"/>
                </a:solidFill>
              </a:rPr>
              <a:t>Internal Monitoring System</a:t>
            </a:r>
          </a:p>
        </p:txBody>
      </p:sp>
      <p:pic>
        <p:nvPicPr>
          <p:cNvPr id="50179" name="Content Placeholder 10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41837" y="3895725"/>
            <a:ext cx="4419600" cy="2914650"/>
          </a:xfrm>
        </p:spPr>
      </p:pic>
      <p:pic>
        <p:nvPicPr>
          <p:cNvPr id="50180" name="Picture 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48200" y="685800"/>
            <a:ext cx="4343400" cy="2895600"/>
          </a:xfrm>
          <a:noFill/>
        </p:spPr>
      </p:pic>
      <p:pic>
        <p:nvPicPr>
          <p:cNvPr id="50181" name="Picture 7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" y="674688"/>
            <a:ext cx="4327525" cy="2906712"/>
          </a:xfrm>
          <a:noFill/>
        </p:spPr>
      </p:pic>
      <p:pic>
        <p:nvPicPr>
          <p:cNvPr id="50182" name="Content Placeholder 11"/>
          <p:cNvPicPr>
            <a:picLocks noGrp="1" noChangeAspect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" y="3900487"/>
            <a:ext cx="4306888" cy="2884488"/>
          </a:xfrm>
        </p:spPr>
      </p:pic>
      <p:sp>
        <p:nvSpPr>
          <p:cNvPr id="50183" name="Rectangle 4"/>
          <p:cNvSpPr>
            <a:spLocks noChangeArrowheads="1"/>
          </p:cNvSpPr>
          <p:nvPr/>
        </p:nvSpPr>
        <p:spPr bwMode="auto">
          <a:xfrm>
            <a:off x="76200" y="685800"/>
            <a:ext cx="42672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Meting of health improvement committee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0184" name="Rectangle 4"/>
          <p:cNvSpPr>
            <a:spLocks noChangeArrowheads="1"/>
          </p:cNvSpPr>
          <p:nvPr/>
        </p:nvSpPr>
        <p:spPr bwMode="auto">
          <a:xfrm>
            <a:off x="4648200" y="742950"/>
            <a:ext cx="4419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Meting of community support group committee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50185" name="Rectangle 3"/>
          <p:cNvSpPr>
            <a:spLocks noChangeArrowheads="1"/>
          </p:cNvSpPr>
          <p:nvPr/>
        </p:nvSpPr>
        <p:spPr bwMode="auto">
          <a:xfrm>
            <a:off x="122237" y="3886200"/>
            <a:ext cx="4175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QIC meeting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50186" name="Rectangle 4"/>
          <p:cNvSpPr>
            <a:spLocks noChangeArrowheads="1"/>
          </p:cNvSpPr>
          <p:nvPr/>
        </p:nvSpPr>
        <p:spPr bwMode="auto">
          <a:xfrm>
            <a:off x="4637087" y="3930816"/>
            <a:ext cx="444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Monthly meeting schedule</a:t>
            </a:r>
            <a:endParaRPr lang="en-US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8738" y="762000"/>
            <a:ext cx="4367212" cy="27622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5083175" y="3879850"/>
            <a:ext cx="3925888" cy="2909888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6324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>
                <a:solidFill>
                  <a:schemeClr val="bg1"/>
                </a:solidFill>
              </a:rPr>
              <a:t>Improved pediatric word by local initiative</a:t>
            </a:r>
            <a:endParaRPr lang="en-US" sz="2800" b="1">
              <a:solidFill>
                <a:schemeClr val="bg1"/>
              </a:solidFill>
            </a:endParaRPr>
          </a:p>
        </p:txBody>
      </p:sp>
      <p:pic>
        <p:nvPicPr>
          <p:cNvPr id="5632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609600"/>
            <a:ext cx="4675188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52400" y="3732213"/>
            <a:ext cx="4267200" cy="305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ctrTitle"/>
          </p:nvPr>
        </p:nvSpPr>
        <p:spPr>
          <a:xfrm>
            <a:off x="228600" y="76200"/>
            <a:ext cx="8631238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solidFill>
                  <a:schemeClr val="bg1"/>
                </a:solidFill>
              </a:rPr>
              <a:t>Hospital Environment</a:t>
            </a:r>
          </a:p>
        </p:txBody>
      </p:sp>
      <p:pic>
        <p:nvPicPr>
          <p:cNvPr id="57347" name="Picture 3" descr="1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3836987"/>
            <a:ext cx="4502150" cy="2994026"/>
          </a:xfrm>
        </p:spPr>
      </p:pic>
      <p:pic>
        <p:nvPicPr>
          <p:cNvPr id="57348" name="Picture 2" descr="DSC02561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6800" y="700088"/>
            <a:ext cx="4267200" cy="2936875"/>
          </a:xfrm>
        </p:spPr>
      </p:pic>
      <p:pic>
        <p:nvPicPr>
          <p:cNvPr id="57349" name="Picture 2" descr="G:\G\Dr Emdad\Photos- Jhenaidah\22-6-15\New folder\New folder\District hospital. Jhenaidah by GMB Akash (56)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8576" y="684213"/>
            <a:ext cx="4524375" cy="297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50" name="Picture 7" descr="G:\101MSDCF\DSC02710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836987"/>
            <a:ext cx="4267200" cy="302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r>
              <a:rPr lang="en-US" altLang="ja-JP" sz="32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Jhenaidah Sadar Hospital, Jhenaidah</a:t>
            </a:r>
          </a:p>
          <a:p>
            <a:pPr algn="ctr" fontAlgn="auto">
              <a:spcAft>
                <a:spcPts val="0"/>
              </a:spcAft>
              <a:defRPr/>
            </a:pPr>
            <a:r>
              <a:rPr lang="en-US" altLang="ja-JP" sz="32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Achievement of the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914400"/>
            <a:ext cx="9144000" cy="59436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r>
              <a:rPr lang="en-US" b="1" dirty="0" smtClean="0"/>
              <a:t>1. Active </a:t>
            </a:r>
            <a:r>
              <a:rPr lang="en-US" b="1" dirty="0"/>
              <a:t>C</a:t>
            </a:r>
            <a:r>
              <a:rPr lang="en-US" b="1" dirty="0" smtClean="0"/>
              <a:t>ommunity Participation in health service is an example in </a:t>
            </a:r>
            <a:r>
              <a:rPr lang="en-US" b="1" dirty="0" err="1" smtClean="0"/>
              <a:t>Bangldesh</a:t>
            </a:r>
            <a:r>
              <a:rPr lang="en-US" b="1" dirty="0" smtClean="0"/>
              <a:t>.</a:t>
            </a:r>
          </a:p>
          <a:p>
            <a:pPr marL="0" algn="just">
              <a:defRPr/>
            </a:pPr>
            <a:r>
              <a:rPr lang="en-US" dirty="0" smtClean="0"/>
              <a:t> </a:t>
            </a:r>
          </a:p>
          <a:p>
            <a:pPr marL="0" algn="just">
              <a:defRPr/>
            </a:pPr>
            <a:r>
              <a:rPr lang="en-US" b="1" dirty="0" smtClean="0"/>
              <a:t>2. Improved   </a:t>
            </a:r>
            <a:r>
              <a:rPr lang="en-US" b="1" dirty="0"/>
              <a:t>p</a:t>
            </a:r>
            <a:r>
              <a:rPr lang="en-US" b="1" dirty="0" smtClean="0"/>
              <a:t>erformance  of all services specially Pediatric, </a:t>
            </a:r>
            <a:r>
              <a:rPr lang="en-US" b="1" dirty="0"/>
              <a:t>o</a:t>
            </a:r>
            <a:r>
              <a:rPr lang="en-US" b="1" dirty="0" smtClean="0"/>
              <a:t>bstetric, operation and outdoor service.</a:t>
            </a:r>
            <a:endParaRPr lang="en-US" b="1" dirty="0"/>
          </a:p>
          <a:p>
            <a:pPr marL="0">
              <a:defRPr/>
            </a:pPr>
            <a:endParaRPr lang="en-US" b="1" dirty="0" smtClean="0"/>
          </a:p>
          <a:p>
            <a:pPr marL="0">
              <a:defRPr/>
            </a:pPr>
            <a:r>
              <a:rPr lang="en-US" b="1" dirty="0" smtClean="0"/>
              <a:t>3</a:t>
            </a:r>
            <a:r>
              <a:rPr lang="en-US" b="1" dirty="0"/>
              <a:t>. Improved Cleanliness and </a:t>
            </a:r>
            <a:r>
              <a:rPr lang="en-US" b="1" dirty="0" smtClean="0"/>
              <a:t>Beautification of Campus.</a:t>
            </a:r>
            <a:endParaRPr lang="en-US" b="1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4. </a:t>
            </a:r>
            <a:r>
              <a:rPr lang="en-US" b="1" dirty="0"/>
              <a:t>Functioning </a:t>
            </a:r>
            <a:r>
              <a:rPr lang="en-US" b="1" dirty="0" smtClean="0"/>
              <a:t>of X-Ray service and starting of Biochemistry investigation by local initiatives.</a:t>
            </a:r>
            <a:endParaRPr lang="en-US" sz="900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5. </a:t>
            </a:r>
            <a:r>
              <a:rPr lang="en-US" b="1" dirty="0"/>
              <a:t>Improved </a:t>
            </a:r>
            <a:r>
              <a:rPr lang="en-US" b="1" dirty="0" smtClean="0"/>
              <a:t>Security.</a:t>
            </a:r>
            <a:endParaRPr lang="en-US" sz="900" dirty="0"/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 smtClean="0"/>
              <a:t>6. </a:t>
            </a:r>
            <a:r>
              <a:rPr lang="en-US" b="1" dirty="0"/>
              <a:t>Improved Financial Management</a:t>
            </a:r>
          </a:p>
          <a:p>
            <a:pPr marL="0" algn="just">
              <a:defRPr/>
            </a:pPr>
            <a:endParaRPr lang="en-US" b="1" dirty="0" smtClean="0"/>
          </a:p>
          <a:p>
            <a:pPr marL="0" algn="just">
              <a:defRPr/>
            </a:pPr>
            <a:r>
              <a:rPr lang="en-US" b="1" dirty="0"/>
              <a:t>7</a:t>
            </a:r>
            <a:r>
              <a:rPr lang="en-US" b="1" dirty="0" smtClean="0"/>
              <a:t>. Piloting of “Model  District Hospital” is running in Jhenaidah Sadar Hospital.</a:t>
            </a:r>
          </a:p>
          <a:p>
            <a:pPr marL="0" algn="just">
              <a:defRPr/>
            </a:pPr>
            <a:endParaRPr lang="en-US" b="1" dirty="0"/>
          </a:p>
          <a:p>
            <a:pPr marL="0" algn="just">
              <a:defRPr/>
            </a:pPr>
            <a:r>
              <a:rPr lang="en-US" b="1" dirty="0" smtClean="0"/>
              <a:t>8. </a:t>
            </a:r>
            <a:r>
              <a:rPr lang="en-US" b="1" dirty="0"/>
              <a:t>The hospital is </a:t>
            </a:r>
            <a:r>
              <a:rPr lang="en-US" b="1" dirty="0" smtClean="0"/>
              <a:t>awarded 5 </a:t>
            </a:r>
            <a:r>
              <a:rPr lang="en-US" b="1" dirty="0"/>
              <a:t>times from 2013 to </a:t>
            </a:r>
            <a:r>
              <a:rPr lang="en-US" b="1" dirty="0" smtClean="0"/>
              <a:t>2017. </a:t>
            </a:r>
            <a:r>
              <a:rPr lang="en-US" b="1" dirty="0"/>
              <a:t>Stood first award by 5S-KAIZEN-TQM among the 100 bedded district hospitals by defeating </a:t>
            </a:r>
            <a:r>
              <a:rPr lang="en-US" b="1" dirty="0" err="1" smtClean="0"/>
              <a:t>Norsindi</a:t>
            </a:r>
            <a:r>
              <a:rPr lang="en-US" b="1" dirty="0" smtClean="0"/>
              <a:t> </a:t>
            </a:r>
            <a:r>
              <a:rPr lang="en-US" b="1" dirty="0"/>
              <a:t>Sadar Hospital.</a:t>
            </a:r>
          </a:p>
          <a:p>
            <a:pPr marL="0" algn="just">
              <a:defRPr/>
            </a:pPr>
            <a:endParaRPr lang="en-US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 descr="Sunset"/>
          <p:cNvSpPr>
            <a:spLocks noGrp="1" noChangeArrowheads="1"/>
          </p:cNvSpPr>
          <p:nvPr>
            <p:ph type="body" idx="4294967295"/>
          </p:nvPr>
        </p:nvSpPr>
        <p:spPr>
          <a:xfrm>
            <a:off x="-2275" y="0"/>
            <a:ext cx="9144000" cy="6858000"/>
          </a:xfrm>
          <a:blipFill dpi="0" rotWithShape="1">
            <a:blip r:embed="rId3"/>
            <a:srcRect/>
            <a:stretch>
              <a:fillRect/>
            </a:stretch>
          </a:blipFill>
          <a:ln>
            <a:solidFill>
              <a:schemeClr val="tx1"/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>
              <a:buFontTx/>
              <a:buNone/>
              <a:defRPr/>
            </a:pPr>
            <a:endParaRPr lang="en-US" sz="4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4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44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4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r>
              <a:rPr lang="en-US" sz="44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Thank You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r>
              <a:rPr lang="en-GB" sz="3600" dirty="0" err="1" smtClean="0">
                <a:solidFill>
                  <a:srgbClr val="FF0000"/>
                </a:solidFill>
              </a:rPr>
              <a:t>Srilanka</a:t>
            </a:r>
            <a:endParaRPr lang="en-GB" sz="3600" dirty="0">
              <a:solidFill>
                <a:srgbClr val="FF0000"/>
              </a:solidFill>
            </a:endParaRPr>
          </a:p>
        </p:txBody>
      </p:sp>
      <p:pic>
        <p:nvPicPr>
          <p:cNvPr id="35842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66800"/>
            <a:ext cx="4038600" cy="2667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1015" y="1143001"/>
            <a:ext cx="4572000" cy="26669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4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2" y="3962400"/>
            <a:ext cx="4038601" cy="28738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3719" y="4038600"/>
            <a:ext cx="4572000" cy="28068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06942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r>
              <a:rPr lang="en-GB" sz="3600" dirty="0" smtClean="0">
                <a:solidFill>
                  <a:srgbClr val="FF0000"/>
                </a:solidFill>
              </a:rPr>
              <a:t>Tanzania</a:t>
            </a:r>
            <a:endParaRPr lang="en-GB" sz="3600" dirty="0">
              <a:solidFill>
                <a:srgbClr val="FF0000"/>
              </a:solidFill>
            </a:endParaRPr>
          </a:p>
        </p:txBody>
      </p:sp>
      <p:pic>
        <p:nvPicPr>
          <p:cNvPr id="34818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62400"/>
            <a:ext cx="4038600" cy="2895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1066800"/>
            <a:ext cx="4572000" cy="2667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2" descr="DSC03544"/>
          <p:cNvPicPr>
            <a:picLocks noGrp="1" noChangeAspect="1" noChangeArrowheads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472" y="989462"/>
            <a:ext cx="4038600" cy="27443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482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2430" y="3962400"/>
            <a:ext cx="4449170" cy="2895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76025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9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676400"/>
            <a:ext cx="4038600" cy="40957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10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76400"/>
            <a:ext cx="4038600" cy="40195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ex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3600" dirty="0" smtClean="0">
                <a:solidFill>
                  <a:srgbClr val="FF0000"/>
                </a:solidFill>
              </a:rPr>
              <a:t> </a:t>
            </a:r>
            <a:r>
              <a:rPr lang="en-GB" sz="3600" dirty="0">
                <a:solidFill>
                  <a:srgbClr val="FF0000"/>
                </a:solidFill>
              </a:rPr>
              <a:t>Malaysia</a:t>
            </a:r>
          </a:p>
        </p:txBody>
      </p:sp>
    </p:spTree>
    <p:extLst>
      <p:ext uri="{BB962C8B-B14F-4D97-AF65-F5344CB8AC3E}">
        <p14:creationId xmlns:p14="http://schemas.microsoft.com/office/powerpoint/2010/main" val="965435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76" y="990600"/>
            <a:ext cx="4511942" cy="4648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1600200"/>
            <a:ext cx="4495800" cy="40426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/>
          <p:cNvSpPr txBox="1">
            <a:spLocks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ex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3600" dirty="0" smtClean="0">
                <a:solidFill>
                  <a:srgbClr val="FF0000"/>
                </a:solidFill>
              </a:rPr>
              <a:t>Thailand</a:t>
            </a:r>
            <a:endParaRPr lang="en-GB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0526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60" y="1219200"/>
            <a:ext cx="9126940" cy="5638800"/>
          </a:xfr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pPr marL="514350" indent="-514350" algn="just">
              <a:buFont typeface="+mj-lt"/>
              <a:buAutoNum type="arabicPeriod"/>
            </a:pPr>
            <a:r>
              <a:rPr lang="en-US" sz="2400" dirty="0" smtClean="0"/>
              <a:t>Post of consultants of eye, anesthesia should be fulfilled immediately.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 smtClean="0"/>
              <a:t>The repairing and maintenance of hospital building authority should be shifted from HED to PWD.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 smtClean="0"/>
              <a:t>Oxygen plant should be repaired immediately and a manpower should be engaged.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 smtClean="0"/>
              <a:t>Separation of words where the number of consultants is more than one.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 smtClean="0"/>
              <a:t>Condemnation of unwanted items should be done immediately.</a:t>
            </a:r>
            <a:endParaRPr lang="en-US" sz="2400" dirty="0"/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 smtClean="0"/>
              <a:t>The campus should be cleaned.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dirty="0" smtClean="0"/>
              <a:t>Medical technologist lab should be appointed immediately in blood bank.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Problems of The Hospital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4641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Activities Done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59006"/>
            <a:ext cx="9144000" cy="5598994"/>
          </a:xfr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Health education in three places with community response.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Established NCD corner 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Arrangement of effective pediatric </a:t>
            </a:r>
            <a:r>
              <a:rPr lang="en-US" dirty="0"/>
              <a:t>o</a:t>
            </a:r>
            <a:r>
              <a:rPr lang="en-US" dirty="0" smtClean="0"/>
              <a:t>utdoor.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Digital disease profiling  system in every word.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24 hours EOC service.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Effective post-natal care.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construction work of 250 bedded </a:t>
            </a:r>
            <a:r>
              <a:rPr lang="en-US" dirty="0" smtClean="0"/>
              <a:t>has started.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566246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60" y="1219200"/>
            <a:ext cx="9126940" cy="5638800"/>
          </a:xfr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pPr marL="514350" indent="-514350">
              <a:buFont typeface="+mj-lt"/>
              <a:buAutoNum type="arabicPeriod" startAt="8"/>
            </a:pPr>
            <a:r>
              <a:rPr lang="en-US" dirty="0"/>
              <a:t>Improved infection control system.</a:t>
            </a:r>
          </a:p>
          <a:p>
            <a:pPr marL="514350" indent="-514350">
              <a:buFont typeface="+mj-lt"/>
              <a:buAutoNum type="arabicPeriod" startAt="8"/>
            </a:pPr>
            <a:r>
              <a:rPr lang="en-US" dirty="0"/>
              <a:t>Emergency use of ECG, </a:t>
            </a:r>
            <a:r>
              <a:rPr lang="en-US" dirty="0" smtClean="0"/>
              <a:t>pulse-</a:t>
            </a:r>
            <a:r>
              <a:rPr lang="en-US" dirty="0" err="1" smtClean="0"/>
              <a:t>oxymeter</a:t>
            </a:r>
            <a:r>
              <a:rPr lang="en-US" dirty="0"/>
              <a:t>, glucometer</a:t>
            </a:r>
            <a:r>
              <a:rPr lang="en-US" dirty="0" smtClean="0"/>
              <a:t>.</a:t>
            </a:r>
          </a:p>
          <a:p>
            <a:pPr marL="514350" indent="-514350" algn="just">
              <a:buFont typeface="+mj-lt"/>
              <a:buAutoNum type="arabicPeriod" startAt="9"/>
            </a:pPr>
            <a:r>
              <a:rPr lang="en-US" dirty="0" smtClean="0"/>
              <a:t>Everyday ultrasonography service.</a:t>
            </a:r>
          </a:p>
          <a:p>
            <a:pPr marL="514350" indent="-514350" algn="just">
              <a:buFont typeface="+mj-lt"/>
              <a:buAutoNum type="arabicPeriod" startAt="9"/>
            </a:pPr>
            <a:r>
              <a:rPr lang="en-US" dirty="0" smtClean="0"/>
              <a:t>Arrangement of effective training of MA by creating adaptable environment.</a:t>
            </a:r>
          </a:p>
          <a:p>
            <a:pPr marL="514350" indent="-514350" algn="just">
              <a:buFont typeface="+mj-lt"/>
              <a:buAutoNum type="arabicPeriod" startAt="9"/>
            </a:pPr>
            <a:r>
              <a:rPr lang="en-US" dirty="0" smtClean="0"/>
              <a:t>Established representative control system.</a:t>
            </a:r>
          </a:p>
          <a:p>
            <a:pPr marL="514350" indent="-514350" algn="just">
              <a:buFont typeface="+mj-lt"/>
              <a:buAutoNum type="arabicPeriod" startAt="9"/>
            </a:pPr>
            <a:r>
              <a:rPr lang="en-US" dirty="0" smtClean="0"/>
              <a:t>Established gate-pass system to control visitor.</a:t>
            </a:r>
          </a:p>
          <a:p>
            <a:pPr marL="514350" indent="-514350" algn="just">
              <a:buFont typeface="+mj-lt"/>
              <a:buAutoNum type="arabicPeriod" startAt="9"/>
            </a:pPr>
            <a:r>
              <a:rPr lang="en-US" dirty="0" smtClean="0"/>
              <a:t>Removal of unnecessary bill boards and improved beautification.</a:t>
            </a:r>
          </a:p>
          <a:p>
            <a:pPr marL="0" indent="0" algn="just">
              <a:buNone/>
            </a:pPr>
            <a:endParaRPr lang="en-US" sz="2800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Activities Done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8356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60" y="1219200"/>
            <a:ext cx="9126940" cy="5638800"/>
          </a:xfr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pPr marL="514350" indent="-514350" algn="just">
              <a:buFont typeface="+mj-lt"/>
              <a:buAutoNum type="arabicPeriod"/>
            </a:pPr>
            <a:r>
              <a:rPr lang="en-US" smtClean="0"/>
              <a:t>Display of health, Nutrition and population targets for the 7</a:t>
            </a:r>
            <a:r>
              <a:rPr lang="en-US" baseline="30000" smtClean="0"/>
              <a:t>th</a:t>
            </a:r>
            <a:r>
              <a:rPr lang="en-US" smtClean="0"/>
              <a:t> FYP.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mtClean="0"/>
              <a:t>Arrangement of a new ambulance.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mtClean="0"/>
              <a:t>Cleanliness of whole campus.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mtClean="0"/>
              <a:t>Improve Patient Monitoring System by recording Pulse BP and temperature.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mtClean="0"/>
              <a:t>Reform the duty rooster of internee(MA).</a:t>
            </a:r>
          </a:p>
          <a:p>
            <a:pPr marL="0" indent="0" algn="just">
              <a:buFont typeface="+mj-lt"/>
              <a:buNone/>
            </a:pPr>
            <a:endParaRPr lang="en-US" smtClean="0"/>
          </a:p>
          <a:p>
            <a:pPr marL="0" indent="0" algn="just">
              <a:buFont typeface="+mj-lt"/>
              <a:buNone/>
            </a:pP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Future Plan for April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062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757" name="Group 301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501867990"/>
              </p:ext>
            </p:extLst>
          </p:nvPr>
        </p:nvGraphicFramePr>
        <p:xfrm>
          <a:off x="423080" y="1676400"/>
          <a:ext cx="8153399" cy="3825218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87865"/>
                <a:gridCol w="3194870"/>
                <a:gridCol w="922497"/>
                <a:gridCol w="930031"/>
                <a:gridCol w="1136341"/>
                <a:gridCol w="1181795"/>
              </a:tblGrid>
              <a:tr h="71094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SL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No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Name of institute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cs typeface="Arial" charset="0"/>
                        </a:rPr>
                        <a:t>ANC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NVD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C.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Section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Total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40879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01.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Jhenaidah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 </a:t>
                      </a:r>
                      <a:r>
                        <a:rPr kumimoji="0" lang="en-US" sz="16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Sadar</a:t>
                      </a:r>
                      <a:r>
                        <a:rPr kumimoji="0" 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 Hospital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15360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1839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1143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2997</a:t>
                      </a:r>
                    </a:p>
                  </a:txBody>
                  <a:tcPr marT="45709" marB="45709" horzOverflow="overflow"/>
                </a:tc>
              </a:tr>
              <a:tr h="40879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02.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250 bed Hospital, Jessore 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13152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1327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1778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2967</a:t>
                      </a:r>
                      <a:endParaRPr kumimoji="0" lang="en-US" sz="2000" b="1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</a:txBody>
                  <a:tcPr marT="45709" marB="45709" horzOverflow="overflow"/>
                </a:tc>
              </a:tr>
              <a:tr h="40879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03.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Chowgacha UHC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18650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+mn-cs"/>
                        </a:rPr>
                        <a:t>2163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+mn-cs"/>
                        </a:rPr>
                        <a:t>759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+mn-cs"/>
                        </a:rPr>
                        <a:t>2922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40879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04.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Khulna Medical College Hospital</a:t>
                      </a:r>
                      <a:endParaRPr kumimoji="0" lang="en-US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6977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+mn-lt"/>
                        </a:rPr>
                        <a:t>1455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+mn-cs"/>
                        </a:rPr>
                        <a:t>1228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+mn-cs"/>
                        </a:rPr>
                        <a:t>2683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cs typeface="Arial" charset="0"/>
                      </a:endParaRPr>
                    </a:p>
                  </a:txBody>
                  <a:tcPr marT="45709" marB="45709" horzOverflow="overflow"/>
                </a:tc>
              </a:tr>
              <a:tr h="637773">
                <a:tc>
                  <a:txBody>
                    <a:bodyPr/>
                    <a:lstStyle/>
                    <a:p>
                      <a:r>
                        <a:rPr lang="en-GB" sz="1600" b="1" baseline="0" dirty="0" smtClean="0"/>
                        <a:t>   </a:t>
                      </a:r>
                      <a:r>
                        <a:rPr lang="en-GB" sz="1800" b="1" baseline="0" dirty="0" smtClean="0"/>
                        <a:t>05.</a:t>
                      </a:r>
                      <a:endParaRPr lang="en-GB" sz="1600" b="1" dirty="0"/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r>
                        <a:rPr lang="en-GB" sz="1600" b="1" dirty="0" smtClean="0"/>
                        <a:t>250</a:t>
                      </a:r>
                      <a:r>
                        <a:rPr lang="en-GB" sz="1600" b="1" baseline="0" dirty="0" smtClean="0"/>
                        <a:t> Bedded Hospital, </a:t>
                      </a:r>
                      <a:r>
                        <a:rPr lang="en-GB" sz="1600" b="1" baseline="0" dirty="0" err="1" smtClean="0"/>
                        <a:t>Kushtia</a:t>
                      </a:r>
                      <a:endParaRPr lang="en-GB" sz="1600" b="1" dirty="0"/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 smtClean="0">
                          <a:latin typeface="+mn-lt"/>
                        </a:rPr>
                        <a:t>4735</a:t>
                      </a:r>
                      <a:endParaRPr lang="en-GB" sz="1800" b="1" dirty="0">
                        <a:latin typeface="+mn-lt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 smtClean="0">
                          <a:latin typeface="+mn-lt"/>
                        </a:rPr>
                        <a:t>1595</a:t>
                      </a:r>
                      <a:endParaRPr lang="en-GB" sz="1800" b="1" dirty="0">
                        <a:latin typeface="+mn-lt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dirty="0" smtClean="0">
                          <a:latin typeface="+mn-lt"/>
                        </a:rPr>
                        <a:t>919</a:t>
                      </a:r>
                      <a:endParaRPr lang="en-GB" sz="1800" b="1" dirty="0">
                        <a:latin typeface="+mn-lt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="1" baseline="0" dirty="0" smtClean="0">
                          <a:latin typeface="+mn-lt"/>
                        </a:rPr>
                        <a:t>2514</a:t>
                      </a:r>
                      <a:endParaRPr lang="en-GB" sz="1800" b="1" dirty="0">
                        <a:latin typeface="+mn-lt"/>
                      </a:endParaRPr>
                    </a:p>
                  </a:txBody>
                  <a:tcPr marT="45709" marB="45709" horzOverflow="overflow"/>
                </a:tc>
              </a:tr>
              <a:tr h="445127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06.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Ad-din Hospital Jessore.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23981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640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3075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3715</a:t>
                      </a:r>
                    </a:p>
                  </a:txBody>
                  <a:tcPr marT="45709" marB="45709" horzOverflow="overflow"/>
                </a:tc>
              </a:tr>
              <a:tr h="1524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07.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Fatema</a:t>
                      </a: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 hospital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12417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239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929</a:t>
                      </a:r>
                    </a:p>
                  </a:txBody>
                  <a:tcPr marT="45709" marB="45709" horzOverflow="overflow"/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Arial" charset="0"/>
                        </a:rPr>
                        <a:t>1168</a:t>
                      </a:r>
                    </a:p>
                  </a:txBody>
                  <a:tcPr marT="45709" marB="45709" horzOverflow="overflow"/>
                </a:tc>
              </a:tr>
            </a:tbl>
          </a:graphicData>
        </a:graphic>
      </p:graphicFrame>
      <p:sp>
        <p:nvSpPr>
          <p:cNvPr id="129027" name="Rectangle 3"/>
          <p:cNvSpPr>
            <a:spLocks noChangeArrowheads="1"/>
          </p:cNvSpPr>
          <p:nvPr/>
        </p:nvSpPr>
        <p:spPr bwMode="auto">
          <a:xfrm>
            <a:off x="428767" y="381000"/>
            <a:ext cx="8153400" cy="8890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latin typeface="Arial" charset="0"/>
                <a:cs typeface="Arial" charset="0"/>
              </a:rPr>
              <a:t>Comparative Data of Delivery of best performing EOC center of Khulna Division in </a:t>
            </a:r>
            <a:r>
              <a:rPr lang="en-US" sz="2400" dirty="0" smtClean="0">
                <a:solidFill>
                  <a:srgbClr val="3333CC"/>
                </a:solidFill>
                <a:latin typeface="Arial" charset="0"/>
                <a:cs typeface="Arial" charset="0"/>
              </a:rPr>
              <a:t>2017</a:t>
            </a:r>
            <a:endParaRPr lang="en-US" sz="2400" dirty="0">
              <a:solidFill>
                <a:srgbClr val="3333CC"/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9189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5_シック">
  <a:themeElements>
    <a:clrScheme name="シック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シック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シック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Couture</Template>
  <TotalTime>2894</TotalTime>
  <Words>1798</Words>
  <Application>Microsoft Office PowerPoint</Application>
  <PresentationFormat>On-screen Show (4:3)</PresentationFormat>
  <Paragraphs>606</Paragraphs>
  <Slides>57</Slides>
  <Notes>16</Notes>
  <HiddenSlides>0</HiddenSlides>
  <MMClips>0</MMClips>
  <ScaleCrop>false</ScaleCrop>
  <HeadingPairs>
    <vt:vector size="6" baseType="variant"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1" baseType="lpstr">
      <vt:lpstr>5_シック</vt:lpstr>
      <vt:lpstr>Office Theme</vt:lpstr>
      <vt:lpstr>1_Office Theme</vt:lpstr>
      <vt:lpstr>Chart</vt:lpstr>
      <vt:lpstr>PowerPoint Presentation</vt:lpstr>
      <vt:lpstr>PowerPoint Presentation</vt:lpstr>
      <vt:lpstr>PowerPoint Presentation</vt:lpstr>
      <vt:lpstr>PowerPoint Presentation</vt:lpstr>
      <vt:lpstr>A Sub-district level Women-Friendly Hospital with a Vision …</vt:lpstr>
      <vt:lpstr>PowerPoint Presentation</vt:lpstr>
      <vt:lpstr>PowerPoint Presentation</vt:lpstr>
      <vt:lpstr>PowerPoint Presentation</vt:lpstr>
      <vt:lpstr>Achievement of Chowgacha Health Complex</vt:lpstr>
      <vt:lpstr>Upazila Health  Complex CHOWGACHA , JESSORE.</vt:lpstr>
      <vt:lpstr>Upazila Health  Complex CHOWGACHA , JESSORE.</vt:lpstr>
      <vt:lpstr>Upazila Health  Complex CHOWGACHA , JESSORE.</vt:lpstr>
      <vt:lpstr>Upazila Health  Complex CHOWGACHA , JESSORE.</vt:lpstr>
      <vt:lpstr>PowerPoint Presentation</vt:lpstr>
      <vt:lpstr>Upazilla Health  Complex CHOWGACHA , JESSORE.</vt:lpstr>
      <vt:lpstr>MDG 4 and 5 Achieved at Chowgacha in 2009</vt:lpstr>
      <vt:lpstr>PowerPoint Presentation</vt:lpstr>
      <vt:lpstr>100 kh¨v wewkó m`i nvmcvZvj, wSbvB`n</vt:lpstr>
      <vt:lpstr>Health ,Nutrition and population targets for the 7th FYP</vt:lpstr>
      <vt:lpstr>Health ,Nutrition and population targets for the 7th FYP</vt:lpstr>
      <vt:lpstr>Sadar Hospital, Jhenaidah</vt:lpstr>
      <vt:lpstr>PowerPoint Presentation</vt:lpstr>
      <vt:lpstr>Emergency &amp; Out Door, Indoor  Service 1998 to 2017</vt:lpstr>
      <vt:lpstr>Operation Service (Major) 2011 to 2017</vt:lpstr>
      <vt:lpstr>PowerPoint Presentation</vt:lpstr>
      <vt:lpstr>3 best performing EmOC Hospital in Khulna division - 2017</vt:lpstr>
      <vt:lpstr>  Comparative data of revenue income (in Taka) from 2015 to 2017 </vt:lpstr>
      <vt:lpstr>PowerPoint Presentation</vt:lpstr>
      <vt:lpstr>PowerPoint Presentation</vt:lpstr>
      <vt:lpstr>Changes in EOC Ward</vt:lpstr>
      <vt:lpstr>PowerPoint Presentation</vt:lpstr>
      <vt:lpstr>Changes in Gardens of The Hospital</vt:lpstr>
      <vt:lpstr>PowerPoint Presentation</vt:lpstr>
      <vt:lpstr>Changes in Office and Hospital Internal Environment</vt:lpstr>
      <vt:lpstr>Use of direction sign, labeling of rooms, clean latrine and waste segregation</vt:lpstr>
      <vt:lpstr>Use of color code, alignment of picture &amp; continuous big cleaning day</vt:lpstr>
      <vt:lpstr>Innovative activities of Jhenaidah Sadar Hospital - 1</vt:lpstr>
      <vt:lpstr>PowerPoint Presentation</vt:lpstr>
      <vt:lpstr>PowerPoint Presentation</vt:lpstr>
      <vt:lpstr>Innovative activities of Jhenaidah Sadar Hospital - 4</vt:lpstr>
      <vt:lpstr>Innovative activities of Jhenaidah Sadar Hospital - 5</vt:lpstr>
      <vt:lpstr>Involvement of MP, District Administrator &amp; Mayor in Sadar Hospital</vt:lpstr>
      <vt:lpstr>Involvement of district high officials in hospital activities </vt:lpstr>
      <vt:lpstr>Internal Monitoring System</vt:lpstr>
      <vt:lpstr>PowerPoint Presentation</vt:lpstr>
      <vt:lpstr>Hospital Environment</vt:lpstr>
      <vt:lpstr>PowerPoint Presentation</vt:lpstr>
      <vt:lpstr>PowerPoint Presentation</vt:lpstr>
      <vt:lpstr>Srilanka</vt:lpstr>
      <vt:lpstr>Tanzania</vt:lpstr>
      <vt:lpstr>PowerPoint Presentation</vt:lpstr>
      <vt:lpstr>PowerPoint Presentation</vt:lpstr>
      <vt:lpstr>Problems of The Hospital</vt:lpstr>
      <vt:lpstr>Activities Done</vt:lpstr>
      <vt:lpstr>Activities Done</vt:lpstr>
      <vt:lpstr>Future Plan for April</vt:lpstr>
      <vt:lpstr>PowerPoint Presentation</vt:lpstr>
    </vt:vector>
  </TitlesOfParts>
  <Company>UNICEF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Emdad</cp:lastModifiedBy>
  <cp:revision>412</cp:revision>
  <cp:lastPrinted>2017-03-18T23:47:54Z</cp:lastPrinted>
  <dcterms:created xsi:type="dcterms:W3CDTF">2013-05-05T09:56:19Z</dcterms:created>
  <dcterms:modified xsi:type="dcterms:W3CDTF">2018-05-14T04:17:38Z</dcterms:modified>
</cp:coreProperties>
</file>