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charts/style33.xml" ContentType="application/vnd.ms-office.chartstyle+xml"/>
  <Override PartName="/ppt/slides/slide36.xml" ContentType="application/vnd.openxmlformats-officedocument.presentationml.slide+xml"/>
  <Override PartName="/ppt/charts/style22.xml" ContentType="application/vnd.ms-office.chartstyl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charts/colors45.xml" ContentType="application/vnd.ms-office.chartcolorstyle+xml"/>
  <Override PartName="/ppt/charts/style11.xml" ContentType="application/vnd.ms-office.chartstyle+xml"/>
  <Override PartName="/ppt/charts/colors34.xml" ContentType="application/vnd.ms-office.chartcolorstyle+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charts/chart13.xml" ContentType="application/vnd.openxmlformats-officedocument.drawingml.chart+xml"/>
  <Override PartName="/ppt/charts/chart24.xml" ContentType="application/vnd.openxmlformats-officedocument.drawingml.chart+xml"/>
  <Override PartName="/ppt/charts/colors23.xml" ContentType="application/vnd.ms-office.chartcolorstyle+xml"/>
  <Override PartName="/ppt/tableStyles.xml" ContentType="application/vnd.openxmlformats-officedocument.presentationml.tableStyles+xml"/>
  <Override PartName="/ppt/charts/colors12.xml" ContentType="application/vnd.ms-office.chartcolorstyle+xml"/>
  <Override PartName="/ppt/charts/style49.xml" ContentType="application/vnd.ms-office.chartstyle+xml"/>
  <Override PartName="/ppt/charts/chart3.xml" ContentType="application/vnd.openxmlformats-officedocument.drawingml.chart+xml"/>
  <Override PartName="/ppt/diagrams/layout1.xml" ContentType="application/vnd.openxmlformats-officedocument.drawingml.diagramLayout+xml"/>
  <Override PartName="/ppt/notesSlides/notesSlide7.xml" ContentType="application/vnd.openxmlformats-officedocument.presentationml.notesSlide+xml"/>
  <Override PartName="/ppt/charts/style27.xml" ContentType="application/vnd.ms-office.chartstyl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charts/style45.xml" ContentType="application/vnd.ms-office.chartstyle+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notesSlides/notesSlide3.xml" ContentType="application/vnd.openxmlformats-officedocument.presentationml.notesSlide+xml"/>
  <Override PartName="/ppt/charts/chart29.xml" ContentType="application/vnd.openxmlformats-officedocument.drawingml.chart+xml"/>
  <Override PartName="/ppt/charts/style23.xml" ContentType="application/vnd.ms-office.chartstyle+xml"/>
  <Override PartName="/ppt/charts/style34.xml" ContentType="application/vnd.ms-office.chartstyl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charts/chart18.xml" ContentType="application/vnd.openxmlformats-officedocument.drawingml.chart+xml"/>
  <Override PartName="/ppt/charts/style30.xml" ContentType="application/vnd.ms-office.chartstyle+xml"/>
  <Override PartName="/ppt/charts/style12.xml" ContentType="application/vnd.ms-office.chartstyle+xml"/>
  <Override PartName="/ppt/charts/colors28.xml" ContentType="application/vnd.ms-office.chartcolorstyle+xml"/>
  <Override PartName="/ppt/charts/colors46.xml" ContentType="application/vnd.ms-office.chartcolorstyle+xml"/>
  <Override PartName="/ppt/charts/colors7.xml" ContentType="application/vnd.ms-office.chartcolorstyl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Layouts/slideLayout3.xml" ContentType="application/vnd.openxmlformats-officedocument.presentationml.slideLayout+xml"/>
  <Default Extension="emf" ContentType="image/x-emf"/>
  <Override PartName="/ppt/charts/chart25.xml" ContentType="application/vnd.openxmlformats-officedocument.drawingml.chart+xml"/>
  <Override PartName="/ppt/charts/colors35.xml" ContentType="application/vnd.ms-office.chartcolorstyl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charts/chart14.xml" ContentType="application/vnd.openxmlformats-officedocument.drawingml.chart+xml"/>
  <Override PartName="/ppt/charts/chart32.xml" ContentType="application/vnd.openxmlformats-officedocument.drawingml.chart+xml"/>
  <Override PartName="/docProps/app.xml" ContentType="application/vnd.openxmlformats-officedocument.extended-properties+xml"/>
  <Override PartName="/ppt/charts/colors42.xml" ContentType="application/vnd.ms-office.chartcolorstyle+xml"/>
  <Override PartName="/ppt/charts/colors13.xml" ContentType="application/vnd.ms-office.chartcolorstyle+xml"/>
  <Override PartName="/ppt/slides/slide11.xml" ContentType="application/vnd.openxmlformats-officedocument.presentationml.slide+xml"/>
  <Override PartName="/ppt/slides/slide40.xml" ContentType="application/vnd.openxmlformats-officedocument.presentationml.slide+xml"/>
  <Override PartName="/ppt/charts/chart8.xml" ContentType="application/vnd.openxmlformats-officedocument.drawingml.chart+xml"/>
  <Override PartName="/ppt/charts/chart21.xml" ContentType="application/vnd.openxmlformats-officedocument.drawingml.chart+xml"/>
  <Override PartName="/ppt/charts/colors31.xml" ContentType="application/vnd.ms-office.chartcolorstyl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charts/chart10.xml" ContentType="application/vnd.openxmlformats-officedocument.drawingml.chart+xml"/>
  <Override PartName="/ppt/charts/colors20.xml" ContentType="application/vnd.ms-office.chartcolorstyle+xml"/>
  <Override PartName="/ppt/charts/chart4.xml" ContentType="application/vnd.openxmlformats-officedocument.drawingml.chart+xml"/>
  <Override PartName="/ppt/charts/style28.xml" ContentType="application/vnd.ms-office.chartstyle+xml"/>
  <Override PartName="/ppt/charts/style46.xml" ContentType="application/vnd.ms-office.chartstyle+xml"/>
  <Override PartName="/ppt/slides/slide49.xml" ContentType="application/vnd.openxmlformats-officedocument.presentationml.slide+xml"/>
  <Override PartName="/ppt/slides/slide7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charts/style35.xml" ContentType="application/vnd.ms-office.chartstyle+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charts/style42.xml" ContentType="application/vnd.ms-office.chartstyle+xml"/>
  <Override PartName="/ppt/charts/colors8.xml" ContentType="application/vnd.ms-office.chartcolorstyle+xml"/>
  <Override PartName="/ppt/charts/colors29.xml" ContentType="application/vnd.ms-office.chartcolorstyl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charts/chart19.xml" ContentType="application/vnd.openxmlformats-officedocument.drawingml.chart+xml"/>
  <Override PartName="/ppt/charts/style13.xml" ContentType="application/vnd.ms-office.chartstyle+xml"/>
  <Override PartName="/ppt/charts/colors36.xml" ContentType="application/vnd.ms-office.chartcolorstyle+xml"/>
  <Override PartName="/ppt/charts/colors47.xml" ContentType="application/vnd.ms-office.chartcolorstyle+xml"/>
  <Override PartName="/ppt/charts/style31.xml" ContentType="application/vnd.ms-office.chartstyl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charts/chart26.xml" ContentType="application/vnd.openxmlformats-officedocument.drawingml.chart+xml"/>
  <Override PartName="/ppt/charts/style20.xml" ContentType="application/vnd.ms-office.chartstyle+xml"/>
  <Override PartName="/ppt/charts/colors25.xml" ContentType="application/vnd.ms-office.chartcolorstyl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charts/chart15.xml" ContentType="application/vnd.openxmlformats-officedocument.drawingml.chart+xml"/>
  <Override PartName="/ppt/charts/chart33.xml" ContentType="application/vnd.openxmlformats-officedocument.drawingml.chart+xml"/>
  <Override PartName="/ppt/charts/colors32.xml" ContentType="application/vnd.ms-office.chartcolorstyle+xml"/>
  <Override PartName="/ppt/charts/colors43.xml" ContentType="application/vnd.ms-office.chartcolorstyl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charts/chart9.xml" ContentType="application/vnd.openxmlformats-officedocument.drawingml.chart+xml"/>
  <Override PartName="/ppt/charts/chart11.xml" ContentType="application/vnd.openxmlformats-officedocument.drawingml.chart+xml"/>
  <Override PartName="/ppt/charts/chart22.xml" ContentType="application/vnd.openxmlformats-officedocument.drawingml.chart+xml"/>
  <Override PartName="/ppt/charts/colors50.xml" ContentType="application/vnd.ms-office.chartcolorstyle+xml"/>
  <Override PartName="/ppt/charts/colors21.xml" ContentType="application/vnd.ms-office.chartcolorstyle+xml"/>
  <Override PartName="/ppt/charts/style29.xml" ContentType="application/vnd.ms-office.chartstyle+xml"/>
  <Override PartName="/ppt/charts/colors10.xml" ContentType="application/vnd.ms-office.chartcolorstyle+xml"/>
  <Override PartName="/ppt/charts/style7.xml" ContentType="application/vnd.ms-office.chartstyle+xml"/>
  <Override PartName="/ppt/slides/slide79.xml" ContentType="application/vnd.openxmlformats-officedocument.presentationml.slide+xml"/>
  <Override PartName="/ppt/charts/chart5.xml" ContentType="application/vnd.openxmlformats-officedocument.drawingml.chart+xml"/>
  <Override PartName="/ppt/charts/style47.xml" ContentType="application/vnd.ms-office.chartstyl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charts/chart1.xml" ContentType="application/vnd.openxmlformats-officedocument.drawingml.chart+xml"/>
  <Override PartName="/ppt/notesSlides/notesSlide5.xml" ContentType="application/vnd.openxmlformats-officedocument.presentationml.notesSlide+xml"/>
  <Override PartName="/ppt/charts/style25.xml" ContentType="application/vnd.ms-office.chartstyle+xml"/>
  <Override PartName="/ppt/charts/style36.xml" ContentType="application/vnd.ms-office.chartstyl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notesSlides/notesSlide1.xml" ContentType="application/vnd.openxmlformats-officedocument.presentationml.notesSlide+xml"/>
  <Override PartName="/ppt/charts/colors48.xml" ContentType="application/vnd.ms-office.chartcolorstyle+xml"/>
  <Override PartName="/ppt/charts/style32.xml" ContentType="application/vnd.ms-office.chartstyle+xml"/>
  <Override PartName="/ppt/charts/style43.xml" ContentType="application/vnd.ms-office.chartstyle+xml"/>
  <Override PartName="/ppt/charts/colors9.xml" ContentType="application/vnd.ms-office.chartcolorstyl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charts/chart27.xml" ContentType="application/vnd.openxmlformats-officedocument.drawingml.chart+xml"/>
  <Override PartName="/ppt/diagrams/drawing1.xml" ContentType="application/vnd.ms-office.drawingml.diagramDrawing+xml"/>
  <Override PartName="/ppt/charts/style50.xml" ContentType="application/vnd.ms-office.chartstyle+xml"/>
  <Override PartName="/ppt/charts/colors37.xml" ContentType="application/vnd.ms-office.chartcolorstyle+xml"/>
  <Override PartName="/ppt/charts/style21.xml" ContentType="application/vnd.ms-office.chartstyl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Default Extension="jpeg" ContentType="image/jpeg"/>
  <Override PartName="/ppt/diagrams/quickStyle1.xml" ContentType="application/vnd.openxmlformats-officedocument.drawingml.diagramStyle+xml"/>
  <Override PartName="/ppt/charts/chart16.xml" ContentType="application/vnd.openxmlformats-officedocument.drawingml.chart+xml"/>
  <Override PartName="/ppt/charts/chart34.xml" ContentType="application/vnd.openxmlformats-officedocument.drawingml.chart+xml"/>
  <Override PartName="/ppt/charts/colors44.xml" ContentType="application/vnd.ms-office.chartcolorstyle+xml"/>
  <Override PartName="/ppt/charts/style10.xml" ContentType="application/vnd.ms-office.chartstyle+xml"/>
  <Override PartName="/ppt/charts/colors26.xml" ContentType="application/vnd.ms-office.chartcolorstyl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charts/chart23.xml" ContentType="application/vnd.openxmlformats-officedocument.drawingml.chart+xml"/>
  <Override PartName="/ppt/charts/colors33.xml" ContentType="application/vnd.ms-office.chartcolorstyle+xml"/>
  <Override PartName="/ppt/charts/colors51.xml" ContentType="application/vnd.ms-office.chartcolorstyle+xml"/>
  <Override PartName="/ppt/slides/slide20.xml" ContentType="application/vnd.openxmlformats-officedocument.presentationml.slide+xml"/>
  <Override PartName="/ppt/charts/chart12.xml" ContentType="application/vnd.openxmlformats-officedocument.drawingml.chart+xml"/>
  <Override PartName="/ppt/charts/chart30.xml" ContentType="application/vnd.openxmlformats-officedocument.drawingml.chart+xml"/>
  <Override PartName="/ppt/charts/colors11.xml" ContentType="application/vnd.ms-office.chartcolorstyle+xml"/>
  <Override PartName="/ppt/charts/colors22.xml" ContentType="application/vnd.ms-office.chartcolorstyle+xml"/>
  <Override PartName="/ppt/charts/chart6.xml" ContentType="application/vnd.openxmlformats-officedocument.drawingml.chart+xml"/>
  <Override PartName="/ppt/charts/style48.xml" ContentType="application/vnd.ms-office.chartstyle+xml"/>
  <Override PartName="/ppt/charts/style8.xml" ContentType="application/vnd.ms-office.chartstyle+xml"/>
  <Override PartName="/ppt/notesSlides/notesSlide6.xml" ContentType="application/vnd.openxmlformats-officedocument.presentationml.notesSlide+xml"/>
  <Override PartName="/ppt/charts/style37.xml" ContentType="application/vnd.ms-office.chartstyle+xml"/>
  <Override PartName="/ppt/slides/slide8.xml" ContentType="application/vnd.openxmlformats-officedocument.presentationml.slide+xml"/>
  <Override PartName="/ppt/slides/slide69.xml" ContentType="application/vnd.openxmlformats-officedocument.presentationml.slide+xml"/>
  <Override PartName="/ppt/charts/chart2.xml" ContentType="application/vnd.openxmlformats-officedocument.drawingml.chart+xml"/>
  <Override PartName="/ppt/diagrams/data1.xml" ContentType="application/vnd.openxmlformats-officedocument.drawingml.diagramData+xml"/>
  <Override PartName="/ppt/charts/style44.xml" ContentType="application/vnd.ms-office.chartstyle+xml"/>
  <Override PartName="/ppt/charts/style26.xml" ContentType="application/vnd.ms-office.chartstyle+xml"/>
  <Override PartName="/ppt/slides/slide29.xml" ContentType="application/vnd.openxmlformats-officedocument.presentationml.slide+xml"/>
  <Override PartName="/ppt/slides/slide76.xml" ContentType="application/vnd.openxmlformats-officedocument.presentationml.slide+xml"/>
  <Override PartName="/ppt/charts/style51.xml" ContentType="application/vnd.ms-office.chartstyle+xml"/>
  <Override PartName="/ppt/charts/colors49.xml" ContentType="application/vnd.ms-office.chartcolorstyl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charts/chart28.xml" ContentType="application/vnd.openxmlformats-officedocument.drawingml.chart+xml"/>
  <Override PartName="/ppt/charts/colors27.xml" ContentType="application/vnd.ms-office.chartcolorstyle+xml"/>
  <Override PartName="/ppt/slides/slide43.xml" ContentType="application/vnd.openxmlformats-officedocument.presentationml.slide+xml"/>
  <Override PartName="/ppt/theme/theme1.xml" ContentType="application/vnd.openxmlformats-officedocument.theme+xml"/>
  <Override PartName="/ppt/charts/chart17.xml" ContentType="application/vnd.openxmlformats-officedocument.drawingml.chart+xml"/>
  <Override PartName="/ppt/slides/slide32.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charts/chart31.xml" ContentType="application/vnd.openxmlformats-officedocument.drawingml.chart+xml"/>
  <Override PartName="/ppt/charts/colors30.xml" ContentType="application/vnd.ms-office.chartcolorstyle+xml"/>
  <Override PartName="/ppt/charts/chart7.xml" ContentType="application/vnd.openxmlformats-officedocument.drawingml.chart+xml"/>
  <Override PartName="/ppt/charts/chart20.xml" ContentType="application/vnd.openxmlformats-officedocument.drawingml.chart+xml"/>
  <Override PartName="/ppt/charts/style9.xml" ContentType="application/vnd.ms-office.chartstyl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48" r:id="rId1"/>
  </p:sldMasterIdLst>
  <p:notesMasterIdLst>
    <p:notesMasterId r:id="rId82"/>
  </p:notesMasterIdLst>
  <p:sldIdLst>
    <p:sldId id="256" r:id="rId2"/>
    <p:sldId id="290" r:id="rId3"/>
    <p:sldId id="292" r:id="rId4"/>
    <p:sldId id="310" r:id="rId5"/>
    <p:sldId id="295" r:id="rId6"/>
    <p:sldId id="296" r:id="rId7"/>
    <p:sldId id="297" r:id="rId8"/>
    <p:sldId id="298" r:id="rId9"/>
    <p:sldId id="427" r:id="rId10"/>
    <p:sldId id="299" r:id="rId11"/>
    <p:sldId id="428" r:id="rId12"/>
    <p:sldId id="300" r:id="rId13"/>
    <p:sldId id="301" r:id="rId14"/>
    <p:sldId id="302" r:id="rId15"/>
    <p:sldId id="304" r:id="rId16"/>
    <p:sldId id="682" r:id="rId17"/>
    <p:sldId id="683" r:id="rId18"/>
    <p:sldId id="684" r:id="rId19"/>
    <p:sldId id="613" r:id="rId20"/>
    <p:sldId id="471" r:id="rId21"/>
    <p:sldId id="474" r:id="rId22"/>
    <p:sldId id="478" r:id="rId23"/>
    <p:sldId id="483" r:id="rId24"/>
    <p:sldId id="487" r:id="rId25"/>
    <p:sldId id="490" r:id="rId26"/>
    <p:sldId id="493" r:id="rId27"/>
    <p:sldId id="495" r:id="rId28"/>
    <p:sldId id="499" r:id="rId29"/>
    <p:sldId id="502" r:id="rId30"/>
    <p:sldId id="506" r:id="rId31"/>
    <p:sldId id="510" r:id="rId32"/>
    <p:sldId id="514" r:id="rId33"/>
    <p:sldId id="517" r:id="rId34"/>
    <p:sldId id="522" r:id="rId35"/>
    <p:sldId id="526" r:id="rId36"/>
    <p:sldId id="530" r:id="rId37"/>
    <p:sldId id="537" r:id="rId38"/>
    <p:sldId id="538" r:id="rId39"/>
    <p:sldId id="657" r:id="rId40"/>
    <p:sldId id="685" r:id="rId41"/>
    <p:sldId id="655" r:id="rId42"/>
    <p:sldId id="591" r:id="rId43"/>
    <p:sldId id="592" r:id="rId44"/>
    <p:sldId id="593" r:id="rId45"/>
    <p:sldId id="660" r:id="rId46"/>
    <p:sldId id="688" r:id="rId47"/>
    <p:sldId id="689" r:id="rId48"/>
    <p:sldId id="662" r:id="rId49"/>
    <p:sldId id="663" r:id="rId50"/>
    <p:sldId id="664" r:id="rId51"/>
    <p:sldId id="665" r:id="rId52"/>
    <p:sldId id="616" r:id="rId53"/>
    <p:sldId id="680" r:id="rId54"/>
    <p:sldId id="681" r:id="rId55"/>
    <p:sldId id="629" r:id="rId56"/>
    <p:sldId id="630" r:id="rId57"/>
    <p:sldId id="632" r:id="rId58"/>
    <p:sldId id="633" r:id="rId59"/>
    <p:sldId id="634" r:id="rId60"/>
    <p:sldId id="635" r:id="rId61"/>
    <p:sldId id="636" r:id="rId62"/>
    <p:sldId id="637" r:id="rId63"/>
    <p:sldId id="638" r:id="rId64"/>
    <p:sldId id="639" r:id="rId65"/>
    <p:sldId id="640" r:id="rId66"/>
    <p:sldId id="641" r:id="rId67"/>
    <p:sldId id="642" r:id="rId68"/>
    <p:sldId id="643" r:id="rId69"/>
    <p:sldId id="644" r:id="rId70"/>
    <p:sldId id="646" r:id="rId71"/>
    <p:sldId id="647" r:id="rId72"/>
    <p:sldId id="648" r:id="rId73"/>
    <p:sldId id="649" r:id="rId74"/>
    <p:sldId id="650" r:id="rId75"/>
    <p:sldId id="651" r:id="rId76"/>
    <p:sldId id="652" r:id="rId77"/>
    <p:sldId id="653" r:id="rId78"/>
    <p:sldId id="654" r:id="rId79"/>
    <p:sldId id="568" r:id="rId80"/>
    <p:sldId id="687"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21772" autoAdjust="0"/>
    <p:restoredTop sz="94660"/>
  </p:normalViewPr>
  <p:slideViewPr>
    <p:cSldViewPr snapToGrid="0">
      <p:cViewPr varScale="1">
        <p:scale>
          <a:sx n="73" d="100"/>
          <a:sy n="73" d="100"/>
        </p:scale>
        <p:origin x="-336" y="-102"/>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10764"/>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microsoft.com/office/2011/relationships/chartStyle" Target="style7.xml"/><Relationship Id="rId2" Type="http://schemas.microsoft.com/office/2011/relationships/chartColorStyle" Target="colors7.xml"/><Relationship Id="rId1" Type="http://schemas.openxmlformats.org/officeDocument/2006/relationships/oleObject" Target="file:///G:\SVRS\SVRS_excel.xlsx" TargetMode="External"/></Relationships>
</file>

<file path=ppt/charts/_rels/chart2.xml.rels><?xml version="1.0" encoding="UTF-8" standalone="yes"?>
<Relationships xmlns="http://schemas.openxmlformats.org/package/2006/relationships"><Relationship Id="rId3" Type="http://schemas.microsoft.com/office/2011/relationships/chartStyle" Target="style8.xml"/><Relationship Id="rId2" Type="http://schemas.microsoft.com/office/2011/relationships/chartColorStyle" Target="colors8.xml"/><Relationship Id="rId1" Type="http://schemas.openxmlformats.org/officeDocument/2006/relationships/oleObject" Target="file:///G:\SVRS\SVRS_excel.xlsx" TargetMode="External"/></Relationships>
</file>

<file path=ppt/charts/_rels/chart3.xml.rels><?xml version="1.0" encoding="UTF-8" standalone="yes"?>
<Relationships xmlns="http://schemas.openxmlformats.org/package/2006/relationships"><Relationship Id="rId3" Type="http://schemas.microsoft.com/office/2011/relationships/chartStyle" Target="style9.xml"/><Relationship Id="rId2" Type="http://schemas.microsoft.com/office/2011/relationships/chartColorStyle" Target="colors9.xml"/><Relationship Id="rId1" Type="http://schemas.openxmlformats.org/officeDocument/2006/relationships/oleObject" Target="file:///G:\SVRS\SVRS_excel.xlsx" TargetMode="External"/></Relationships>
</file>

<file path=ppt/charts/_rels/chart4.xml.rels><?xml version="1.0" encoding="UTF-8" standalone="yes"?>
<Relationships xmlns="http://schemas.openxmlformats.org/package/2006/relationships"><Relationship Id="rId3" Type="http://schemas.microsoft.com/office/2011/relationships/chartStyle" Target="style10.xml"/><Relationship Id="rId2" Type="http://schemas.microsoft.com/office/2011/relationships/chartColorStyle" Target="colors10.xml"/><Relationship Id="rId1" Type="http://schemas.openxmlformats.org/officeDocument/2006/relationships/oleObject" Target="file:///G:\MDG\MDG_2015\BDHS%20basd%20info.xls" TargetMode="External"/></Relationships>
</file>

<file path=ppt/charts/_rels/chart5.xml.rels><?xml version="1.0" encoding="UTF-8" standalone="yes"?>
<Relationships xmlns="http://schemas.openxmlformats.org/package/2006/relationships"><Relationship Id="rId3" Type="http://schemas.microsoft.com/office/2011/relationships/chartStyle" Target="style11.xml"/><Relationship Id="rId2" Type="http://schemas.microsoft.com/office/2011/relationships/chartColorStyle" Target="colors11.xml"/><Relationship Id="rId1" Type="http://schemas.openxmlformats.org/officeDocument/2006/relationships/oleObject" Target="file:///G:\Sustainable%20Development%20Goals\SDG%20data%20gap\Data_Revised_09_12_2016.xlsx" TargetMode="External"/></Relationships>
</file>

<file path=ppt/charts/_rels/chart6.xml.rels><?xml version="1.0" encoding="UTF-8" standalone="yes"?>
<Relationships xmlns="http://schemas.openxmlformats.org/package/2006/relationships"><Relationship Id="rId3" Type="http://schemas.microsoft.com/office/2011/relationships/chartStyle" Target="style12.xml"/><Relationship Id="rId2" Type="http://schemas.microsoft.com/office/2011/relationships/chartColorStyle" Target="colors12.xml"/><Relationship Id="rId1" Type="http://schemas.openxmlformats.org/officeDocument/2006/relationships/oleObject" Target="file:///G:\Sustainable%20Development%20Goals\SDGs_Data%20gap\Data_Revised_15_02_2016.xlsx" TargetMode="External"/></Relationships>
</file>

<file path=ppt/charts/_rels/chart7.xml.rels><?xml version="1.0" encoding="UTF-8" standalone="yes"?>
<Relationships xmlns="http://schemas.openxmlformats.org/package/2006/relationships"><Relationship Id="rId3" Type="http://schemas.microsoft.com/office/2011/relationships/chartStyle" Target="style13.xml"/><Relationship Id="rId2" Type="http://schemas.microsoft.com/office/2011/relationships/chartColorStyle" Target="colors13.xml"/><Relationship Id="rId1" Type="http://schemas.openxmlformats.org/officeDocument/2006/relationships/oleObject" Target="file:///G:\Sustainable%20Development%20Goals\SDGs_Data%20gap\Data_Revised_15_02_2016.xlsx" TargetMode="External"/></Relationships>
</file>

<file path=ppt/charts/_rels/chart8.xml.rels><?xml version="1.0" encoding="UTF-8" standalone="yes"?>
<Relationships xmlns="http://schemas.openxmlformats.org/package/2006/relationships"><Relationship Id="rId3" Type="http://schemas.microsoft.com/office/2011/relationships/chartStyle" Target="style20.xml"/><Relationship Id="rId2" Type="http://schemas.microsoft.com/office/2011/relationships/chartColorStyle" Target="colors20.xml"/><Relationship Id="rId1" Type="http://schemas.openxmlformats.org/officeDocument/2006/relationships/oleObject" Target="file:///G:\1_Sustainable%20Development%20Goals\3_SDGs_M&amp;E\M&amp;E%20Framework\M&amp;E%20Framework_all%20goals_31_08_2017.xlsx" TargetMode="External"/></Relationships>
</file>

<file path=ppt/charts/_rels/chart9.xml.rels><?xml version="1.0" encoding="UTF-8" standalone="yes"?>
<Relationships xmlns="http://schemas.openxmlformats.org/package/2006/relationships"><Relationship Id="rId3" Type="http://schemas.microsoft.com/office/2011/relationships/chartStyle" Target="style21.xml"/><Relationship Id="rId2" Type="http://schemas.microsoft.com/office/2011/relationships/chartColorStyle" Target="colors21.xml"/><Relationship Id="rId1" Type="http://schemas.openxmlformats.org/officeDocument/2006/relationships/oleObject" Target="file:///G:\1_Sustainable%20Development%20Goals\3_SDGs_M&amp;E\M&amp;E%20Framework\M&amp;E%20Framework_all%20goals_31_08_2017.xlsx" TargetMode="External"/></Relationships>
</file>

<file path=ppt/charts/_rels/chart10.xml.rels><?xml version="1.0" encoding="UTF-8" standalone="yes"?>
<Relationships xmlns="http://schemas.openxmlformats.org/package/2006/relationships"><Relationship Id="rId3" Type="http://schemas.microsoft.com/office/2011/relationships/chartStyle" Target="style22.xml"/><Relationship Id="rId2" Type="http://schemas.microsoft.com/office/2011/relationships/chartColorStyle" Target="colors22.xml"/><Relationship Id="rId1" Type="http://schemas.openxmlformats.org/officeDocument/2006/relationships/oleObject" Target="file:///G:\1_Sustainable%20Development%20Goals\3_SDGs_M&amp;E\M&amp;E%20Framework\M&amp;E%20Framework_all%20goals_31_08_2017.xlsx" TargetMode="External"/></Relationships>
</file>

<file path=ppt/charts/_rels/chart11.xml.rels><?xml version="1.0" encoding="UTF-8" standalone="yes"?>
<Relationships xmlns="http://schemas.openxmlformats.org/package/2006/relationships"><Relationship Id="rId3" Type="http://schemas.microsoft.com/office/2011/relationships/chartStyle" Target="style23.xml"/><Relationship Id="rId2" Type="http://schemas.microsoft.com/office/2011/relationships/chartColorStyle" Target="colors23.xml"/><Relationship Id="rId1" Type="http://schemas.openxmlformats.org/officeDocument/2006/relationships/oleObject" Target="file:///G:\1_Sustainable%20Development%20Goals\3_SDGs_M&amp;E\M&amp;E%20Framework_all%20goals_08_03_2017.xlsx" TargetMode="External"/></Relationships>
</file>

<file path=ppt/charts/_rels/chart12.xml.rels><?xml version="1.0" encoding="UTF-8" standalone="yes"?>
<Relationships xmlns="http://schemas.openxmlformats.org/package/2006/relationships"><Relationship Id="rId3" Type="http://schemas.microsoft.com/office/2011/relationships/chartStyle" Target="style25.xml"/><Relationship Id="rId2" Type="http://schemas.microsoft.com/office/2011/relationships/chartColorStyle" Target="colors25.xml"/><Relationship Id="rId1" Type="http://schemas.openxmlformats.org/officeDocument/2006/relationships/oleObject" Target="file:///G:\1_Sustainable%20Development%20Goals\3_SDGs_M&amp;E\M&amp;E%20Framework\M&amp;E%20Framework_all%20goals_31_08_2017.xlsx" TargetMode="External"/></Relationships>
</file>

<file path=ppt/charts/_rels/chart13.xml.rels><?xml version="1.0" encoding="UTF-8" standalone="yes"?>
<Relationships xmlns="http://schemas.openxmlformats.org/package/2006/relationships"><Relationship Id="rId3" Type="http://schemas.microsoft.com/office/2011/relationships/chartStyle" Target="style26.xml"/><Relationship Id="rId2" Type="http://schemas.microsoft.com/office/2011/relationships/chartColorStyle" Target="colors26.xml"/><Relationship Id="rId1" Type="http://schemas.openxmlformats.org/officeDocument/2006/relationships/oleObject" Target="file:///G:\1_Sustainable%20Development%20Goals\3_SDGs_M&amp;E\M&amp;E%20Framework\M&amp;E%20Framework_all%20goals_19_04_2017.xlsx" TargetMode="External"/></Relationships>
</file>

<file path=ppt/charts/_rels/chart14.xml.rels><?xml version="1.0" encoding="UTF-8" standalone="yes"?>
<Relationships xmlns="http://schemas.openxmlformats.org/package/2006/relationships"><Relationship Id="rId3" Type="http://schemas.microsoft.com/office/2011/relationships/chartStyle" Target="style27.xml"/><Relationship Id="rId2" Type="http://schemas.microsoft.com/office/2011/relationships/chartColorStyle" Target="colors27.xml"/><Relationship Id="rId1" Type="http://schemas.openxmlformats.org/officeDocument/2006/relationships/oleObject" Target="file:///G:\1_Sustainable%20Development%20Goals\3_SDGs_M&amp;E\M&amp;E%20Framework\M&amp;E%20Framework_all%20goals_31_08_2017.xlsx" TargetMode="External"/></Relationships>
</file>

<file path=ppt/charts/_rels/chart15.xml.rels><?xml version="1.0" encoding="UTF-8" standalone="yes"?>
<Relationships xmlns="http://schemas.openxmlformats.org/package/2006/relationships"><Relationship Id="rId3" Type="http://schemas.microsoft.com/office/2011/relationships/chartStyle" Target="style28.xml"/><Relationship Id="rId2" Type="http://schemas.microsoft.com/office/2011/relationships/chartColorStyle" Target="colors28.xml"/><Relationship Id="rId1" Type="http://schemas.openxmlformats.org/officeDocument/2006/relationships/oleObject" Target="file:///G:\1_Sustainable%20Development%20Goals\3_SDGs_M&amp;E\M&amp;E%20Framework_all%20goals_08_03_2017.xlsx" TargetMode="External"/></Relationships>
</file>

<file path=ppt/charts/_rels/chart16.xml.rels><?xml version="1.0" encoding="UTF-8" standalone="yes"?>
<Relationships xmlns="http://schemas.openxmlformats.org/package/2006/relationships"><Relationship Id="rId3" Type="http://schemas.microsoft.com/office/2011/relationships/chartStyle" Target="style29.xml"/><Relationship Id="rId2" Type="http://schemas.microsoft.com/office/2011/relationships/chartColorStyle" Target="colors29.xml"/><Relationship Id="rId1" Type="http://schemas.openxmlformats.org/officeDocument/2006/relationships/oleObject" Target="file:///G:\1_Sustainable%20Development%20Goals\3_SDGs_M&amp;E\M&amp;E%20Framework_all%20goals_08_03_2017.xlsx" TargetMode="External"/></Relationships>
</file>

<file path=ppt/charts/_rels/chart17.xml.rels><?xml version="1.0" encoding="UTF-8" standalone="yes"?>
<Relationships xmlns="http://schemas.openxmlformats.org/package/2006/relationships"><Relationship Id="rId3" Type="http://schemas.microsoft.com/office/2011/relationships/chartStyle" Target="style30.xml"/><Relationship Id="rId2" Type="http://schemas.microsoft.com/office/2011/relationships/chartColorStyle" Target="colors30.xml"/><Relationship Id="rId1" Type="http://schemas.openxmlformats.org/officeDocument/2006/relationships/oleObject" Target="file:///G:\1_Sustainable%20Development%20Goals\3_SDGs_M&amp;E\M&amp;E%20Framework\M&amp;E%20Framework_all%20goals_31_08_2017.xlsx" TargetMode="External"/></Relationships>
</file>

<file path=ppt/charts/_rels/chart18.xml.rels><?xml version="1.0" encoding="UTF-8" standalone="yes"?>
<Relationships xmlns="http://schemas.openxmlformats.org/package/2006/relationships"><Relationship Id="rId3" Type="http://schemas.microsoft.com/office/2011/relationships/chartStyle" Target="style31.xml"/><Relationship Id="rId2" Type="http://schemas.microsoft.com/office/2011/relationships/chartColorStyle" Target="colors31.xml"/><Relationship Id="rId1" Type="http://schemas.openxmlformats.org/officeDocument/2006/relationships/oleObject" Target="file:///G:\1_Sustainable%20Development%20Goals\3_SDGs_M&amp;E\M&amp;E%20Framework\M&amp;E%20Framework_all%20goals_31_08_2017.xlsx" TargetMode="External"/></Relationships>
</file>

<file path=ppt/charts/_rels/chart19.xml.rels><?xml version="1.0" encoding="UTF-8" standalone="yes"?>
<Relationships xmlns="http://schemas.openxmlformats.org/package/2006/relationships"><Relationship Id="rId3" Type="http://schemas.microsoft.com/office/2011/relationships/chartStyle" Target="style32.xml"/><Relationship Id="rId2" Type="http://schemas.microsoft.com/office/2011/relationships/chartColorStyle" Target="colors32.xml"/><Relationship Id="rId1" Type="http://schemas.openxmlformats.org/officeDocument/2006/relationships/oleObject" Target="file:///G:\1_Sustainable%20Development%20Goals\3_SDGs_M&amp;E\M&amp;E%20Framework\M&amp;E%20Framework_all%20goals_31_08_2017.xlsx" TargetMode="External"/></Relationships>
</file>

<file path=ppt/charts/_rels/chart20.xml.rels><?xml version="1.0" encoding="UTF-8" standalone="yes"?>
<Relationships xmlns="http://schemas.openxmlformats.org/package/2006/relationships"><Relationship Id="rId3" Type="http://schemas.microsoft.com/office/2011/relationships/chartStyle" Target="style33.xml"/><Relationship Id="rId2" Type="http://schemas.microsoft.com/office/2011/relationships/chartColorStyle" Target="colors33.xml"/><Relationship Id="rId1" Type="http://schemas.openxmlformats.org/officeDocument/2006/relationships/oleObject" Target="file:///G:\1_Sustainable%20Development%20Goals\3_SDGs_M&amp;E\M&amp;E%20Framework_all%20goals_08_03_2017.xlsx" TargetMode="External"/></Relationships>
</file>

<file path=ppt/charts/_rels/chart21.xml.rels><?xml version="1.0" encoding="UTF-8" standalone="yes"?>
<Relationships xmlns="http://schemas.openxmlformats.org/package/2006/relationships"><Relationship Id="rId3" Type="http://schemas.microsoft.com/office/2011/relationships/chartStyle" Target="style34.xml"/><Relationship Id="rId2" Type="http://schemas.microsoft.com/office/2011/relationships/chartColorStyle" Target="colors34.xml"/><Relationship Id="rId1" Type="http://schemas.openxmlformats.org/officeDocument/2006/relationships/oleObject" Target="file:///G:\1_Sustainable%20Development%20Goals\3_SDGs_M&amp;E\M&amp;E%20Framework\M&amp;E%20Framework_all%20goals_31_08_2017.xlsx" TargetMode="External"/></Relationships>
</file>

<file path=ppt/charts/_rels/chart22.xml.rels><?xml version="1.0" encoding="UTF-8" standalone="yes"?>
<Relationships xmlns="http://schemas.openxmlformats.org/package/2006/relationships"><Relationship Id="rId3" Type="http://schemas.microsoft.com/office/2011/relationships/chartStyle" Target="style35.xml"/><Relationship Id="rId2" Type="http://schemas.microsoft.com/office/2011/relationships/chartColorStyle" Target="colors35.xml"/><Relationship Id="rId1" Type="http://schemas.openxmlformats.org/officeDocument/2006/relationships/oleObject" Target="file:///G:\1_Sustainable%20Development%20Goals\3_SDGs_M&amp;E\M&amp;E%20Framework\M&amp;E%20Framework_all%20goals_31_08_2017.xlsx" TargetMode="External"/></Relationships>
</file>

<file path=ppt/charts/_rels/chart23.xml.rels><?xml version="1.0" encoding="UTF-8" standalone="yes"?>
<Relationships xmlns="http://schemas.openxmlformats.org/package/2006/relationships"><Relationship Id="rId3" Type="http://schemas.microsoft.com/office/2011/relationships/chartStyle" Target="style36.xml"/><Relationship Id="rId2" Type="http://schemas.microsoft.com/office/2011/relationships/chartColorStyle" Target="colors36.xml"/><Relationship Id="rId1" Type="http://schemas.openxmlformats.org/officeDocument/2006/relationships/oleObject" Target="file:///G:\1_Sustainable%20Development%20Goals\3_SDGs_M&amp;E\M&amp;E%20Framework\M&amp;E%20Framework_all%20goals_31_08_2017.xlsx" TargetMode="External"/></Relationships>
</file>

<file path=ppt/charts/_rels/chart24.xml.rels><?xml version="1.0" encoding="UTF-8" standalone="yes"?>
<Relationships xmlns="http://schemas.openxmlformats.org/package/2006/relationships"><Relationship Id="rId3" Type="http://schemas.microsoft.com/office/2011/relationships/chartStyle" Target="style37.xml"/><Relationship Id="rId2" Type="http://schemas.microsoft.com/office/2011/relationships/chartColorStyle" Target="colors37.xml"/><Relationship Id="rId1" Type="http://schemas.openxmlformats.org/officeDocument/2006/relationships/oleObject" Target="file:///G:\1_Sustainable%20Development%20Goals\3_SDGs_M&amp;E\M&amp;E%20Framework_all%20goals_08_03_2017.xlsx" TargetMode="External"/></Relationships>
</file>

<file path=ppt/charts/_rels/chart25.xml.rels><?xml version="1.0" encoding="UTF-8" standalone="yes"?>
<Relationships xmlns="http://schemas.openxmlformats.org/package/2006/relationships"><Relationship Id="rId3" Type="http://schemas.microsoft.com/office/2011/relationships/chartStyle" Target="style42.xml"/><Relationship Id="rId2" Type="http://schemas.microsoft.com/office/2011/relationships/chartColorStyle" Target="colors42.xml"/><Relationship Id="rId1" Type="http://schemas.openxmlformats.org/officeDocument/2006/relationships/oleObject" Target="file:///G:\1_Sustainable%20Development%20Goals\3_SDGs_M&amp;E\M&amp;E%20Framework_all%20goals_08_03_2017.xlsx" TargetMode="External"/></Relationships>
</file>

<file path=ppt/charts/_rels/chart26.xml.rels><?xml version="1.0" encoding="UTF-8" standalone="yes"?>
<Relationships xmlns="http://schemas.openxmlformats.org/package/2006/relationships"><Relationship Id="rId3" Type="http://schemas.microsoft.com/office/2011/relationships/chartStyle" Target="style43.xml"/><Relationship Id="rId2" Type="http://schemas.microsoft.com/office/2011/relationships/chartColorStyle" Target="colors43.xml"/><Relationship Id="rId1" Type="http://schemas.openxmlformats.org/officeDocument/2006/relationships/oleObject" Target="file:///G:\1_Sustainable%20Development%20Goals\3_SDGs_M&amp;E\M&amp;E%20Framework_all%20goals_08_03_2017.xlsx" TargetMode="External"/></Relationships>
</file>

<file path=ppt/charts/_rels/chart27.xml.rels><?xml version="1.0" encoding="UTF-8" standalone="yes"?>
<Relationships xmlns="http://schemas.openxmlformats.org/package/2006/relationships"><Relationship Id="rId3" Type="http://schemas.microsoft.com/office/2011/relationships/chartStyle" Target="style44.xml"/><Relationship Id="rId2" Type="http://schemas.microsoft.com/office/2011/relationships/chartColorStyle" Target="colors44.xml"/><Relationship Id="rId1" Type="http://schemas.openxmlformats.org/officeDocument/2006/relationships/oleObject" Target="file:///G:\1_Sustainable%20Development%20Goals\3_SDGs_M&amp;E\M&amp;E%20Framework_all%20goals_08_03_2017.xlsx" TargetMode="External"/></Relationships>
</file>

<file path=ppt/charts/_rels/chart28.xml.rels><?xml version="1.0" encoding="UTF-8" standalone="yes"?>
<Relationships xmlns="http://schemas.openxmlformats.org/package/2006/relationships"><Relationship Id="rId3" Type="http://schemas.microsoft.com/office/2011/relationships/chartStyle" Target="style45.xml"/><Relationship Id="rId2" Type="http://schemas.microsoft.com/office/2011/relationships/chartColorStyle" Target="colors45.xml"/><Relationship Id="rId1" Type="http://schemas.openxmlformats.org/officeDocument/2006/relationships/oleObject" Target="file:///G:\1_Sustainable%20Development%20Goals\3_SDGs_M&amp;E\M&amp;E%20Framework_all%20goals_08_03_2017.xlsx" TargetMode="External"/></Relationships>
</file>

<file path=ppt/charts/_rels/chart29.xml.rels><?xml version="1.0" encoding="UTF-8" standalone="yes"?>
<Relationships xmlns="http://schemas.openxmlformats.org/package/2006/relationships"><Relationship Id="rId3" Type="http://schemas.microsoft.com/office/2011/relationships/chartStyle" Target="style46.xml"/><Relationship Id="rId2" Type="http://schemas.microsoft.com/office/2011/relationships/chartColorStyle" Target="colors46.xml"/><Relationship Id="rId1" Type="http://schemas.openxmlformats.org/officeDocument/2006/relationships/oleObject" Target="file:///G:\1_Sustainable%20Development%20Goals\3_SDGs_M&amp;E\M&amp;E%20Framework_all%20goals_08_03_2017.xlsx" TargetMode="External"/></Relationships>
</file>

<file path=ppt/charts/_rels/chart30.xml.rels><?xml version="1.0" encoding="UTF-8" standalone="yes"?>
<Relationships xmlns="http://schemas.openxmlformats.org/package/2006/relationships"><Relationship Id="rId3" Type="http://schemas.microsoft.com/office/2011/relationships/chartStyle" Target="style47.xml"/><Relationship Id="rId2" Type="http://schemas.microsoft.com/office/2011/relationships/chartColorStyle" Target="colors47.xml"/><Relationship Id="rId1" Type="http://schemas.openxmlformats.org/officeDocument/2006/relationships/oleObject" Target="file:///G:\1_Sustainable%20Development%20Goals\3_SDGs_M&amp;E\M&amp;E%20Framework_all%20goals_08_03_2017.xlsx" TargetMode="External"/></Relationships>
</file>

<file path=ppt/charts/_rels/chart31.xml.rels><?xml version="1.0" encoding="UTF-8" standalone="yes"?>
<Relationships xmlns="http://schemas.openxmlformats.org/package/2006/relationships"><Relationship Id="rId3" Type="http://schemas.microsoft.com/office/2011/relationships/chartStyle" Target="style48.xml"/><Relationship Id="rId2" Type="http://schemas.microsoft.com/office/2011/relationships/chartColorStyle" Target="colors48.xml"/><Relationship Id="rId1" Type="http://schemas.openxmlformats.org/officeDocument/2006/relationships/oleObject" Target="file:///G:\1_Sustainable%20Development%20Goals\3_SDGs_M&amp;E\M&amp;E%20Framework\M&amp;E%20Framework_all%20goals_09_05_2017.xlsx" TargetMode="External"/></Relationships>
</file>

<file path=ppt/charts/_rels/chart32.xml.rels><?xml version="1.0" encoding="UTF-8" standalone="yes"?>
<Relationships xmlns="http://schemas.openxmlformats.org/package/2006/relationships"><Relationship Id="rId3" Type="http://schemas.microsoft.com/office/2011/relationships/chartStyle" Target="style49.xml"/><Relationship Id="rId2" Type="http://schemas.microsoft.com/office/2011/relationships/chartColorStyle" Target="colors49.xml"/><Relationship Id="rId1" Type="http://schemas.openxmlformats.org/officeDocument/2006/relationships/oleObject" Target="file:///G:\1_Sustainable%20Development%20Goals\3_SDGs_M&amp;E\M&amp;E%20Framework\M&amp;E%20Framework_all%20goals_31_08_2017.xlsx" TargetMode="External"/></Relationships>
</file>

<file path=ppt/charts/_rels/chart33.xml.rels><?xml version="1.0" encoding="UTF-8" standalone="yes"?>
<Relationships xmlns="http://schemas.openxmlformats.org/package/2006/relationships"><Relationship Id="rId3" Type="http://schemas.microsoft.com/office/2011/relationships/chartStyle" Target="style50.xml"/><Relationship Id="rId2" Type="http://schemas.microsoft.com/office/2011/relationships/chartColorStyle" Target="colors50.xml"/><Relationship Id="rId1" Type="http://schemas.openxmlformats.org/officeDocument/2006/relationships/oleObject" Target="file:///G:\1_Sustainable%20Development%20Goals\3_SDGs_M&amp;E\M&amp;E%20Framework_all%20goals_08_03_2017.xlsx" TargetMode="External"/></Relationships>
</file>

<file path=ppt/charts/_rels/chart34.xml.rels><?xml version="1.0" encoding="UTF-8" standalone="yes"?>
<Relationships xmlns="http://schemas.openxmlformats.org/package/2006/relationships"><Relationship Id="rId3" Type="http://schemas.microsoft.com/office/2011/relationships/chartStyle" Target="style51.xml"/><Relationship Id="rId2" Type="http://schemas.microsoft.com/office/2011/relationships/chartColorStyle" Target="colors51.xml"/><Relationship Id="rId1" Type="http://schemas.openxmlformats.org/officeDocument/2006/relationships/oleObject" Target="file:///G:\1_Sustainable%20Development%20Goals\3_SDGs_M&amp;E\M&amp;E%20Framework_all%20goals_08_03_2017.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a:t>IMR per 1000 LB</a:t>
            </a:r>
          </a:p>
        </c:rich>
      </c:tx>
      <c:layout/>
      <c:spPr>
        <a:noFill/>
        <a:ln>
          <a:noFill/>
        </a:ln>
        <a:effectLst/>
      </c:spPr>
    </c:title>
    <c:plotArea>
      <c:layout/>
      <c:lineChart>
        <c:grouping val="standard"/>
        <c:ser>
          <c:idx val="0"/>
          <c:order val="0"/>
          <c:tx>
            <c:strRef>
              <c:f>IMR!$B$2</c:f>
              <c:strCache>
                <c:ptCount val="1"/>
                <c:pt idx="0">
                  <c:v>National </c:v>
                </c:pt>
              </c:strCache>
            </c:strRef>
          </c:tx>
          <c:spPr>
            <a:ln w="28575" cap="rnd">
              <a:solidFill>
                <a:schemeClr val="accent1"/>
              </a:solidFill>
              <a:round/>
            </a:ln>
            <a:effectLst/>
          </c:spPr>
          <c:marker>
            <c:symbol val="none"/>
          </c:marker>
          <c:dLbls>
            <c:dLbl>
              <c:idx val="1"/>
              <c:delete val="1"/>
              <c:extLst>
                <c:ext xmlns:c15="http://schemas.microsoft.com/office/drawing/2012/chart" uri="{CE6537A1-D6FC-4f65-9D91-7224C49458BB}"/>
              </c:extLst>
            </c:dLbl>
            <c:dLbl>
              <c:idx val="2"/>
              <c:delete val="1"/>
              <c:extLst>
                <c:ext xmlns:c15="http://schemas.microsoft.com/office/drawing/2012/chart" uri="{CE6537A1-D6FC-4f65-9D91-7224C49458BB}"/>
              </c:extLst>
            </c:dLbl>
            <c:dLbl>
              <c:idx val="3"/>
              <c:delete val="1"/>
              <c:extLst>
                <c:ext xmlns:c15="http://schemas.microsoft.com/office/drawing/2012/chart" uri="{CE6537A1-D6FC-4f65-9D91-7224C49458BB}"/>
              </c:extLst>
            </c:dLbl>
            <c:dLbl>
              <c:idx val="4"/>
              <c:delete val="1"/>
              <c:extLst>
                <c:ext xmlns:c15="http://schemas.microsoft.com/office/drawing/2012/chart" uri="{CE6537A1-D6FC-4f65-9D91-7224C49458BB}"/>
              </c:extLst>
            </c:dLbl>
            <c:dLbl>
              <c:idx val="5"/>
              <c:delete val="1"/>
              <c:extLst>
                <c:ext xmlns:c15="http://schemas.microsoft.com/office/drawing/2012/chart" uri="{CE6537A1-D6FC-4f65-9D91-7224C49458BB}"/>
              </c:extLst>
            </c:dLbl>
            <c:dLbl>
              <c:idx val="6"/>
              <c:delete val="1"/>
              <c:extLst>
                <c:ext xmlns:c15="http://schemas.microsoft.com/office/drawing/2012/chart" uri="{CE6537A1-D6FC-4f65-9D91-7224C49458BB}"/>
              </c:extLst>
            </c:dLbl>
            <c:dLbl>
              <c:idx val="7"/>
              <c:delete val="1"/>
              <c:extLst>
                <c:ext xmlns:c15="http://schemas.microsoft.com/office/drawing/2012/chart" uri="{CE6537A1-D6FC-4f65-9D91-7224C49458BB}"/>
              </c:extLst>
            </c:dLbl>
            <c:dLbl>
              <c:idx val="8"/>
              <c:delete val="1"/>
              <c:extLst>
                <c:ext xmlns:c15="http://schemas.microsoft.com/office/drawing/2012/chart" uri="{CE6537A1-D6FC-4f65-9D91-7224C49458BB}"/>
              </c:extLst>
            </c:dLbl>
            <c:dLbl>
              <c:idx val="10"/>
              <c:delete val="1"/>
              <c:extLst>
                <c:ext xmlns:c15="http://schemas.microsoft.com/office/drawing/2012/chart" uri="{CE6537A1-D6FC-4f65-9D91-7224C49458BB}"/>
              </c:extLst>
            </c:dLbl>
            <c:dLbl>
              <c:idx val="11"/>
              <c:delete val="1"/>
              <c:extLst>
                <c:ext xmlns:c15="http://schemas.microsoft.com/office/drawing/2012/chart" uri="{CE6537A1-D6FC-4f65-9D91-7224C49458BB}"/>
              </c:extLst>
            </c:dLbl>
            <c:dLbl>
              <c:idx val="12"/>
              <c:delete val="1"/>
              <c:extLst>
                <c:ext xmlns:c15="http://schemas.microsoft.com/office/drawing/2012/chart" uri="{CE6537A1-D6FC-4f65-9D91-7224C49458BB}"/>
              </c:extLst>
            </c:dLbl>
            <c:dLbl>
              <c:idx val="13"/>
              <c:delete val="1"/>
              <c:extLst>
                <c:ext xmlns:c15="http://schemas.microsoft.com/office/drawing/2012/chart" uri="{CE6537A1-D6FC-4f65-9D91-7224C49458BB}"/>
              </c:extLst>
            </c:dLbl>
            <c:dLbl>
              <c:idx val="14"/>
              <c:delete val="1"/>
              <c:extLst>
                <c:ext xmlns:c15="http://schemas.microsoft.com/office/drawing/2012/chart" uri="{CE6537A1-D6FC-4f65-9D91-7224C49458BB}"/>
              </c:extLst>
            </c:dLbl>
            <c:dLbl>
              <c:idx val="15"/>
              <c:delete val="1"/>
              <c:extLst>
                <c:ext xmlns:c15="http://schemas.microsoft.com/office/drawing/2012/chart" uri="{CE6537A1-D6FC-4f65-9D91-7224C49458BB}"/>
              </c:extLst>
            </c:dLbl>
            <c:dLbl>
              <c:idx val="16"/>
              <c:delete val="1"/>
              <c:extLst>
                <c:ext xmlns:c15="http://schemas.microsoft.com/office/drawing/2012/chart" uri="{CE6537A1-D6FC-4f65-9D91-7224C49458BB}"/>
              </c:extLst>
            </c:dLbl>
            <c:dLbl>
              <c:idx val="17"/>
              <c:delete val="1"/>
              <c:extLst>
                <c:ext xmlns:c15="http://schemas.microsoft.com/office/drawing/2012/chart" uri="{CE6537A1-D6FC-4f65-9D91-7224C49458BB}"/>
              </c:extLst>
            </c:dLbl>
            <c:dLbl>
              <c:idx val="18"/>
              <c:delete val="1"/>
              <c:extLst>
                <c:ext xmlns:c15="http://schemas.microsoft.com/office/drawing/2012/chart" uri="{CE6537A1-D6FC-4f65-9D91-7224C49458BB}"/>
              </c:extLst>
            </c:dLbl>
            <c:dLbl>
              <c:idx val="19"/>
              <c:delete val="1"/>
              <c:extLst>
                <c:ext xmlns:c15="http://schemas.microsoft.com/office/drawing/2012/chart" uri="{CE6537A1-D6FC-4f65-9D91-7224C49458BB}"/>
              </c:extLst>
            </c:dLbl>
            <c:dLbl>
              <c:idx val="20"/>
              <c:delete val="1"/>
              <c:extLst>
                <c:ext xmlns:c15="http://schemas.microsoft.com/office/drawing/2012/chart" uri="{CE6537A1-D6FC-4f65-9D91-7224C49458BB}"/>
              </c:extLst>
            </c:dLbl>
            <c:dLbl>
              <c:idx val="21"/>
              <c:delete val="1"/>
              <c:extLst>
                <c:ext xmlns:c15="http://schemas.microsoft.com/office/drawing/2012/chart" uri="{CE6537A1-D6FC-4f65-9D91-7224C49458BB}"/>
              </c:extLst>
            </c:dLbl>
            <c:dLbl>
              <c:idx val="22"/>
              <c:delete val="1"/>
              <c:extLst>
                <c:ext xmlns:c15="http://schemas.microsoft.com/office/drawing/2012/chart" uri="{CE6537A1-D6FC-4f65-9D91-7224C49458BB}"/>
              </c:extLst>
            </c:dLbl>
            <c:dLbl>
              <c:idx val="23"/>
              <c:delete val="1"/>
              <c:extLst>
                <c:ext xmlns:c15="http://schemas.microsoft.com/office/drawing/2012/chart" uri="{CE6537A1-D6FC-4f65-9D91-7224C49458BB}"/>
              </c:extLst>
            </c:dLbl>
            <c:dLbl>
              <c:idx val="24"/>
              <c:delete val="1"/>
              <c:extLst>
                <c:ext xmlns:c15="http://schemas.microsoft.com/office/drawing/2012/chart" uri="{CE6537A1-D6FC-4f65-9D91-7224C49458BB}"/>
              </c:extLst>
            </c:dLbl>
            <c:dLbl>
              <c:idx val="25"/>
              <c:delete val="1"/>
              <c:extLst>
                <c:ext xmlns:c15="http://schemas.microsoft.com/office/drawing/2012/chart" uri="{CE6537A1-D6FC-4f65-9D91-7224C49458BB}"/>
              </c:extLst>
            </c:dLbl>
            <c:dLbl>
              <c:idx val="26"/>
              <c:delete val="1"/>
              <c:extLst>
                <c:ext xmlns:c15="http://schemas.microsoft.com/office/drawing/2012/chart" uri="{CE6537A1-D6FC-4f65-9D91-7224C49458BB}"/>
              </c:extLst>
            </c:dLbl>
            <c:dLbl>
              <c:idx val="27"/>
              <c:delete val="1"/>
              <c:extLst>
                <c:ext xmlns:c15="http://schemas.microsoft.com/office/drawing/2012/chart" uri="{CE6537A1-D6FC-4f65-9D91-7224C49458BB}"/>
              </c:extLst>
            </c:dLbl>
            <c:dLbl>
              <c:idx val="28"/>
              <c:delete val="1"/>
              <c:extLst>
                <c:ext xmlns:c15="http://schemas.microsoft.com/office/drawing/2012/chart" uri="{CE6537A1-D6FC-4f65-9D91-7224C49458BB}"/>
              </c:extLst>
            </c:dLbl>
            <c:dLbl>
              <c:idx val="29"/>
              <c:delete val="1"/>
              <c:extLst>
                <c:ext xmlns:c15="http://schemas.microsoft.com/office/drawing/2012/chart" uri="{CE6537A1-D6FC-4f65-9D91-7224C49458BB}"/>
              </c:extLst>
            </c:dLbl>
            <c:dLbl>
              <c:idx val="30"/>
              <c:delete val="1"/>
              <c:extLst>
                <c:ext xmlns:c15="http://schemas.microsoft.com/office/drawing/2012/chart" uri="{CE6537A1-D6FC-4f65-9D91-7224C49458BB}"/>
              </c:extLst>
            </c:dLbl>
            <c:dLbl>
              <c:idx val="31"/>
              <c:delete val="1"/>
              <c:extLst>
                <c:ext xmlns:c15="http://schemas.microsoft.com/office/drawing/2012/chart" uri="{CE6537A1-D6FC-4f65-9D91-7224C49458BB}"/>
              </c:extLst>
            </c:dLbl>
            <c:dLbl>
              <c:idx val="32"/>
              <c:delete val="1"/>
              <c:extLst>
                <c:ext xmlns:c15="http://schemas.microsoft.com/office/drawing/2012/chart" uri="{CE6537A1-D6FC-4f65-9D91-7224C49458BB}"/>
              </c:extLst>
            </c:dLbl>
            <c:dLbl>
              <c:idx val="33"/>
              <c:delete val="1"/>
              <c:extLst>
                <c:ext xmlns:c15="http://schemas.microsoft.com/office/drawing/2012/chart" uri="{CE6537A1-D6FC-4f65-9D91-7224C49458BB}"/>
              </c:extLst>
            </c:dLbl>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l"/>
            <c:showVal val="1"/>
            <c:extLst>
              <c:ext xmlns:c15="http://schemas.microsoft.com/office/drawing/2012/chart" uri="{CE6537A1-D6FC-4f65-9D91-7224C49458BB}">
                <c15:spPr xmlns:c15="http://schemas.microsoft.com/office/drawing/2012/chart">
                  <a:prstGeom prst="ellipse">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numRef>
              <c:f>IMR!$A$3:$A$37</c:f>
              <c:numCache>
                <c:formatCode>General</c:formatCode>
                <c:ptCount val="35"/>
                <c:pt idx="0">
                  <c:v>1981</c:v>
                </c:pt>
                <c:pt idx="1">
                  <c:v>1982</c:v>
                </c:pt>
                <c:pt idx="2">
                  <c:v>1983</c:v>
                </c:pt>
                <c:pt idx="3">
                  <c:v>1984</c:v>
                </c:pt>
                <c:pt idx="4">
                  <c:v>1985</c:v>
                </c:pt>
                <c:pt idx="5">
                  <c:v>1986</c:v>
                </c:pt>
                <c:pt idx="6">
                  <c:v>1987</c:v>
                </c:pt>
                <c:pt idx="7">
                  <c:v>1988</c:v>
                </c:pt>
                <c:pt idx="8">
                  <c:v>1989</c:v>
                </c:pt>
                <c:pt idx="9">
                  <c:v>1990</c:v>
                </c:pt>
                <c:pt idx="10">
                  <c:v>1991</c:v>
                </c:pt>
                <c:pt idx="11">
                  <c:v>1992</c:v>
                </c:pt>
                <c:pt idx="12">
                  <c:v>1993</c:v>
                </c:pt>
                <c:pt idx="13">
                  <c:v>1994</c:v>
                </c:pt>
                <c:pt idx="14">
                  <c:v>1995</c:v>
                </c:pt>
                <c:pt idx="15">
                  <c:v>1996</c:v>
                </c:pt>
                <c:pt idx="16">
                  <c:v>1997</c:v>
                </c:pt>
                <c:pt idx="17">
                  <c:v>1998</c:v>
                </c:pt>
                <c:pt idx="18">
                  <c:v>1999</c:v>
                </c:pt>
                <c:pt idx="19">
                  <c:v>2000</c:v>
                </c:pt>
                <c:pt idx="20">
                  <c:v>2001</c:v>
                </c:pt>
                <c:pt idx="21">
                  <c:v>2002</c:v>
                </c:pt>
                <c:pt idx="22">
                  <c:v>2003</c:v>
                </c:pt>
                <c:pt idx="23">
                  <c:v>2004</c:v>
                </c:pt>
                <c:pt idx="24">
                  <c:v>2005</c:v>
                </c:pt>
                <c:pt idx="25">
                  <c:v>2006</c:v>
                </c:pt>
                <c:pt idx="26">
                  <c:v>2007</c:v>
                </c:pt>
                <c:pt idx="27">
                  <c:v>2008</c:v>
                </c:pt>
                <c:pt idx="28">
                  <c:v>2009</c:v>
                </c:pt>
                <c:pt idx="29">
                  <c:v>2010</c:v>
                </c:pt>
                <c:pt idx="30">
                  <c:v>2011</c:v>
                </c:pt>
                <c:pt idx="31">
                  <c:v>2012</c:v>
                </c:pt>
                <c:pt idx="32">
                  <c:v>2013</c:v>
                </c:pt>
                <c:pt idx="33">
                  <c:v>2014</c:v>
                </c:pt>
                <c:pt idx="34">
                  <c:v>2015</c:v>
                </c:pt>
              </c:numCache>
            </c:numRef>
          </c:cat>
          <c:val>
            <c:numRef>
              <c:f>IMR!$B$3:$B$37</c:f>
              <c:numCache>
                <c:formatCode>General</c:formatCode>
                <c:ptCount val="35"/>
                <c:pt idx="0">
                  <c:v>111</c:v>
                </c:pt>
                <c:pt idx="1">
                  <c:v>122</c:v>
                </c:pt>
                <c:pt idx="2">
                  <c:v>117</c:v>
                </c:pt>
                <c:pt idx="3">
                  <c:v>119</c:v>
                </c:pt>
                <c:pt idx="4">
                  <c:v>112</c:v>
                </c:pt>
                <c:pt idx="5">
                  <c:v>116</c:v>
                </c:pt>
                <c:pt idx="6">
                  <c:v>113</c:v>
                </c:pt>
                <c:pt idx="7">
                  <c:v>110</c:v>
                </c:pt>
                <c:pt idx="8">
                  <c:v>102</c:v>
                </c:pt>
                <c:pt idx="9">
                  <c:v>94</c:v>
                </c:pt>
                <c:pt idx="10">
                  <c:v>92</c:v>
                </c:pt>
                <c:pt idx="11">
                  <c:v>88</c:v>
                </c:pt>
                <c:pt idx="12">
                  <c:v>84</c:v>
                </c:pt>
                <c:pt idx="13">
                  <c:v>77</c:v>
                </c:pt>
                <c:pt idx="14">
                  <c:v>71</c:v>
                </c:pt>
                <c:pt idx="15">
                  <c:v>67</c:v>
                </c:pt>
                <c:pt idx="16">
                  <c:v>60</c:v>
                </c:pt>
                <c:pt idx="17">
                  <c:v>57</c:v>
                </c:pt>
                <c:pt idx="18">
                  <c:v>59</c:v>
                </c:pt>
                <c:pt idx="19">
                  <c:v>58</c:v>
                </c:pt>
                <c:pt idx="20">
                  <c:v>56</c:v>
                </c:pt>
                <c:pt idx="21">
                  <c:v>53</c:v>
                </c:pt>
                <c:pt idx="22">
                  <c:v>53</c:v>
                </c:pt>
                <c:pt idx="23">
                  <c:v>52</c:v>
                </c:pt>
                <c:pt idx="24">
                  <c:v>50</c:v>
                </c:pt>
                <c:pt idx="25">
                  <c:v>45</c:v>
                </c:pt>
                <c:pt idx="26">
                  <c:v>43</c:v>
                </c:pt>
                <c:pt idx="27">
                  <c:v>41</c:v>
                </c:pt>
                <c:pt idx="28">
                  <c:v>39</c:v>
                </c:pt>
                <c:pt idx="29">
                  <c:v>36</c:v>
                </c:pt>
                <c:pt idx="30">
                  <c:v>35</c:v>
                </c:pt>
                <c:pt idx="31">
                  <c:v>33</c:v>
                </c:pt>
                <c:pt idx="32">
                  <c:v>31</c:v>
                </c:pt>
                <c:pt idx="33">
                  <c:v>30</c:v>
                </c:pt>
                <c:pt idx="34">
                  <c:v>29</c:v>
                </c:pt>
              </c:numCache>
            </c:numRef>
          </c:val>
        </c:ser>
        <c:ser>
          <c:idx val="1"/>
          <c:order val="1"/>
          <c:tx>
            <c:strRef>
              <c:f>IMR!$C$2</c:f>
              <c:strCache>
                <c:ptCount val="1"/>
                <c:pt idx="0">
                  <c:v>Rural </c:v>
                </c:pt>
              </c:strCache>
            </c:strRef>
          </c:tx>
          <c:spPr>
            <a:ln w="28575" cap="rnd">
              <a:solidFill>
                <a:schemeClr val="accent2"/>
              </a:solidFill>
              <a:round/>
            </a:ln>
            <a:effectLst/>
          </c:spPr>
          <c:marker>
            <c:symbol val="none"/>
          </c:marker>
          <c:dLbls>
            <c:dLbl>
              <c:idx val="1"/>
              <c:delete val="1"/>
              <c:extLst>
                <c:ext xmlns:c15="http://schemas.microsoft.com/office/drawing/2012/chart" uri="{CE6537A1-D6FC-4f65-9D91-7224C49458BB}"/>
              </c:extLst>
            </c:dLbl>
            <c:dLbl>
              <c:idx val="2"/>
              <c:delete val="1"/>
              <c:extLst>
                <c:ext xmlns:c15="http://schemas.microsoft.com/office/drawing/2012/chart" uri="{CE6537A1-D6FC-4f65-9D91-7224C49458BB}"/>
              </c:extLst>
            </c:dLbl>
            <c:dLbl>
              <c:idx val="3"/>
              <c:delete val="1"/>
              <c:extLst>
                <c:ext xmlns:c15="http://schemas.microsoft.com/office/drawing/2012/chart" uri="{CE6537A1-D6FC-4f65-9D91-7224C49458BB}"/>
              </c:extLst>
            </c:dLbl>
            <c:dLbl>
              <c:idx val="4"/>
              <c:delete val="1"/>
              <c:extLst>
                <c:ext xmlns:c15="http://schemas.microsoft.com/office/drawing/2012/chart" uri="{CE6537A1-D6FC-4f65-9D91-7224C49458BB}"/>
              </c:extLst>
            </c:dLbl>
            <c:dLbl>
              <c:idx val="5"/>
              <c:delete val="1"/>
              <c:extLst>
                <c:ext xmlns:c15="http://schemas.microsoft.com/office/drawing/2012/chart" uri="{CE6537A1-D6FC-4f65-9D91-7224C49458BB}"/>
              </c:extLst>
            </c:dLbl>
            <c:dLbl>
              <c:idx val="6"/>
              <c:delete val="1"/>
              <c:extLst>
                <c:ext xmlns:c15="http://schemas.microsoft.com/office/drawing/2012/chart" uri="{CE6537A1-D6FC-4f65-9D91-7224C49458BB}"/>
              </c:extLst>
            </c:dLbl>
            <c:dLbl>
              <c:idx val="7"/>
              <c:delete val="1"/>
              <c:extLst>
                <c:ext xmlns:c15="http://schemas.microsoft.com/office/drawing/2012/chart" uri="{CE6537A1-D6FC-4f65-9D91-7224C49458BB}"/>
              </c:extLst>
            </c:dLbl>
            <c:dLbl>
              <c:idx val="8"/>
              <c:delete val="1"/>
              <c:extLst>
                <c:ext xmlns:c15="http://schemas.microsoft.com/office/drawing/2012/chart" uri="{CE6537A1-D6FC-4f65-9D91-7224C49458BB}"/>
              </c:extLst>
            </c:dLbl>
            <c:dLbl>
              <c:idx val="10"/>
              <c:delete val="1"/>
              <c:extLst>
                <c:ext xmlns:c15="http://schemas.microsoft.com/office/drawing/2012/chart" uri="{CE6537A1-D6FC-4f65-9D91-7224C49458BB}"/>
              </c:extLst>
            </c:dLbl>
            <c:dLbl>
              <c:idx val="11"/>
              <c:delete val="1"/>
              <c:extLst>
                <c:ext xmlns:c15="http://schemas.microsoft.com/office/drawing/2012/chart" uri="{CE6537A1-D6FC-4f65-9D91-7224C49458BB}"/>
              </c:extLst>
            </c:dLbl>
            <c:dLbl>
              <c:idx val="12"/>
              <c:delete val="1"/>
              <c:extLst>
                <c:ext xmlns:c15="http://schemas.microsoft.com/office/drawing/2012/chart" uri="{CE6537A1-D6FC-4f65-9D91-7224C49458BB}"/>
              </c:extLst>
            </c:dLbl>
            <c:dLbl>
              <c:idx val="13"/>
              <c:delete val="1"/>
              <c:extLst>
                <c:ext xmlns:c15="http://schemas.microsoft.com/office/drawing/2012/chart" uri="{CE6537A1-D6FC-4f65-9D91-7224C49458BB}"/>
              </c:extLst>
            </c:dLbl>
            <c:dLbl>
              <c:idx val="14"/>
              <c:delete val="1"/>
              <c:extLst>
                <c:ext xmlns:c15="http://schemas.microsoft.com/office/drawing/2012/chart" uri="{CE6537A1-D6FC-4f65-9D91-7224C49458BB}"/>
              </c:extLst>
            </c:dLbl>
            <c:dLbl>
              <c:idx val="15"/>
              <c:delete val="1"/>
              <c:extLst>
                <c:ext xmlns:c15="http://schemas.microsoft.com/office/drawing/2012/chart" uri="{CE6537A1-D6FC-4f65-9D91-7224C49458BB}"/>
              </c:extLst>
            </c:dLbl>
            <c:dLbl>
              <c:idx val="16"/>
              <c:delete val="1"/>
              <c:extLst>
                <c:ext xmlns:c15="http://schemas.microsoft.com/office/drawing/2012/chart" uri="{CE6537A1-D6FC-4f65-9D91-7224C49458BB}"/>
              </c:extLst>
            </c:dLbl>
            <c:dLbl>
              <c:idx val="17"/>
              <c:delete val="1"/>
              <c:extLst>
                <c:ext xmlns:c15="http://schemas.microsoft.com/office/drawing/2012/chart" uri="{CE6537A1-D6FC-4f65-9D91-7224C49458BB}"/>
              </c:extLst>
            </c:dLbl>
            <c:dLbl>
              <c:idx val="18"/>
              <c:delete val="1"/>
              <c:extLst>
                <c:ext xmlns:c15="http://schemas.microsoft.com/office/drawing/2012/chart" uri="{CE6537A1-D6FC-4f65-9D91-7224C49458BB}"/>
              </c:extLst>
            </c:dLbl>
            <c:dLbl>
              <c:idx val="19"/>
              <c:delete val="1"/>
              <c:extLst>
                <c:ext xmlns:c15="http://schemas.microsoft.com/office/drawing/2012/chart" uri="{CE6537A1-D6FC-4f65-9D91-7224C49458BB}"/>
              </c:extLst>
            </c:dLbl>
            <c:dLbl>
              <c:idx val="20"/>
              <c:delete val="1"/>
              <c:extLst>
                <c:ext xmlns:c15="http://schemas.microsoft.com/office/drawing/2012/chart" uri="{CE6537A1-D6FC-4f65-9D91-7224C49458BB}"/>
              </c:extLst>
            </c:dLbl>
            <c:dLbl>
              <c:idx val="21"/>
              <c:delete val="1"/>
              <c:extLst>
                <c:ext xmlns:c15="http://schemas.microsoft.com/office/drawing/2012/chart" uri="{CE6537A1-D6FC-4f65-9D91-7224C49458BB}"/>
              </c:extLst>
            </c:dLbl>
            <c:dLbl>
              <c:idx val="22"/>
              <c:delete val="1"/>
              <c:extLst>
                <c:ext xmlns:c15="http://schemas.microsoft.com/office/drawing/2012/chart" uri="{CE6537A1-D6FC-4f65-9D91-7224C49458BB}"/>
              </c:extLst>
            </c:dLbl>
            <c:dLbl>
              <c:idx val="23"/>
              <c:delete val="1"/>
              <c:extLst>
                <c:ext xmlns:c15="http://schemas.microsoft.com/office/drawing/2012/chart" uri="{CE6537A1-D6FC-4f65-9D91-7224C49458BB}"/>
              </c:extLst>
            </c:dLbl>
            <c:dLbl>
              <c:idx val="24"/>
              <c:delete val="1"/>
              <c:extLst>
                <c:ext xmlns:c15="http://schemas.microsoft.com/office/drawing/2012/chart" uri="{CE6537A1-D6FC-4f65-9D91-7224C49458BB}"/>
              </c:extLst>
            </c:dLbl>
            <c:dLbl>
              <c:idx val="25"/>
              <c:delete val="1"/>
              <c:extLst>
                <c:ext xmlns:c15="http://schemas.microsoft.com/office/drawing/2012/chart" uri="{CE6537A1-D6FC-4f65-9D91-7224C49458BB}"/>
              </c:extLst>
            </c:dLbl>
            <c:dLbl>
              <c:idx val="26"/>
              <c:delete val="1"/>
              <c:extLst>
                <c:ext xmlns:c15="http://schemas.microsoft.com/office/drawing/2012/chart" uri="{CE6537A1-D6FC-4f65-9D91-7224C49458BB}"/>
              </c:extLst>
            </c:dLbl>
            <c:dLbl>
              <c:idx val="27"/>
              <c:delete val="1"/>
              <c:extLst>
                <c:ext xmlns:c15="http://schemas.microsoft.com/office/drawing/2012/chart" uri="{CE6537A1-D6FC-4f65-9D91-7224C49458BB}"/>
              </c:extLst>
            </c:dLbl>
            <c:dLbl>
              <c:idx val="28"/>
              <c:delete val="1"/>
              <c:extLst>
                <c:ext xmlns:c15="http://schemas.microsoft.com/office/drawing/2012/chart" uri="{CE6537A1-D6FC-4f65-9D91-7224C49458BB}"/>
              </c:extLst>
            </c:dLbl>
            <c:dLbl>
              <c:idx val="29"/>
              <c:delete val="1"/>
              <c:extLst>
                <c:ext xmlns:c15="http://schemas.microsoft.com/office/drawing/2012/chart" uri="{CE6537A1-D6FC-4f65-9D91-7224C49458BB}"/>
              </c:extLst>
            </c:dLbl>
            <c:dLbl>
              <c:idx val="30"/>
              <c:delete val="1"/>
              <c:extLst>
                <c:ext xmlns:c15="http://schemas.microsoft.com/office/drawing/2012/chart" uri="{CE6537A1-D6FC-4f65-9D91-7224C49458BB}"/>
              </c:extLst>
            </c:dLbl>
            <c:dLbl>
              <c:idx val="31"/>
              <c:delete val="1"/>
              <c:extLst>
                <c:ext xmlns:c15="http://schemas.microsoft.com/office/drawing/2012/chart" uri="{CE6537A1-D6FC-4f65-9D91-7224C49458BB}"/>
              </c:extLst>
            </c:dLbl>
            <c:dLbl>
              <c:idx val="32"/>
              <c:delete val="1"/>
              <c:extLst>
                <c:ext xmlns:c15="http://schemas.microsoft.com/office/drawing/2012/chart" uri="{CE6537A1-D6FC-4f65-9D91-7224C49458BB}"/>
              </c:extLst>
            </c:dLbl>
            <c:dLbl>
              <c:idx val="33"/>
              <c:delete val="1"/>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IMR!$A$3:$A$37</c:f>
              <c:numCache>
                <c:formatCode>General</c:formatCode>
                <c:ptCount val="35"/>
                <c:pt idx="0">
                  <c:v>1981</c:v>
                </c:pt>
                <c:pt idx="1">
                  <c:v>1982</c:v>
                </c:pt>
                <c:pt idx="2">
                  <c:v>1983</c:v>
                </c:pt>
                <c:pt idx="3">
                  <c:v>1984</c:v>
                </c:pt>
                <c:pt idx="4">
                  <c:v>1985</c:v>
                </c:pt>
                <c:pt idx="5">
                  <c:v>1986</c:v>
                </c:pt>
                <c:pt idx="6">
                  <c:v>1987</c:v>
                </c:pt>
                <c:pt idx="7">
                  <c:v>1988</c:v>
                </c:pt>
                <c:pt idx="8">
                  <c:v>1989</c:v>
                </c:pt>
                <c:pt idx="9">
                  <c:v>1990</c:v>
                </c:pt>
                <c:pt idx="10">
                  <c:v>1991</c:v>
                </c:pt>
                <c:pt idx="11">
                  <c:v>1992</c:v>
                </c:pt>
                <c:pt idx="12">
                  <c:v>1993</c:v>
                </c:pt>
                <c:pt idx="13">
                  <c:v>1994</c:v>
                </c:pt>
                <c:pt idx="14">
                  <c:v>1995</c:v>
                </c:pt>
                <c:pt idx="15">
                  <c:v>1996</c:v>
                </c:pt>
                <c:pt idx="16">
                  <c:v>1997</c:v>
                </c:pt>
                <c:pt idx="17">
                  <c:v>1998</c:v>
                </c:pt>
                <c:pt idx="18">
                  <c:v>1999</c:v>
                </c:pt>
                <c:pt idx="19">
                  <c:v>2000</c:v>
                </c:pt>
                <c:pt idx="20">
                  <c:v>2001</c:v>
                </c:pt>
                <c:pt idx="21">
                  <c:v>2002</c:v>
                </c:pt>
                <c:pt idx="22">
                  <c:v>2003</c:v>
                </c:pt>
                <c:pt idx="23">
                  <c:v>2004</c:v>
                </c:pt>
                <c:pt idx="24">
                  <c:v>2005</c:v>
                </c:pt>
                <c:pt idx="25">
                  <c:v>2006</c:v>
                </c:pt>
                <c:pt idx="26">
                  <c:v>2007</c:v>
                </c:pt>
                <c:pt idx="27">
                  <c:v>2008</c:v>
                </c:pt>
                <c:pt idx="28">
                  <c:v>2009</c:v>
                </c:pt>
                <c:pt idx="29">
                  <c:v>2010</c:v>
                </c:pt>
                <c:pt idx="30">
                  <c:v>2011</c:v>
                </c:pt>
                <c:pt idx="31">
                  <c:v>2012</c:v>
                </c:pt>
                <c:pt idx="32">
                  <c:v>2013</c:v>
                </c:pt>
                <c:pt idx="33">
                  <c:v>2014</c:v>
                </c:pt>
                <c:pt idx="34">
                  <c:v>2015</c:v>
                </c:pt>
              </c:numCache>
            </c:numRef>
          </c:cat>
          <c:val>
            <c:numRef>
              <c:f>IMR!$C$3:$C$37</c:f>
              <c:numCache>
                <c:formatCode>General</c:formatCode>
                <c:ptCount val="35"/>
                <c:pt idx="0">
                  <c:v>112</c:v>
                </c:pt>
                <c:pt idx="1">
                  <c:v>123</c:v>
                </c:pt>
                <c:pt idx="2">
                  <c:v>121</c:v>
                </c:pt>
                <c:pt idx="3">
                  <c:v>122</c:v>
                </c:pt>
                <c:pt idx="4">
                  <c:v>113</c:v>
                </c:pt>
                <c:pt idx="5">
                  <c:v>118</c:v>
                </c:pt>
                <c:pt idx="6">
                  <c:v>115</c:v>
                </c:pt>
                <c:pt idx="7">
                  <c:v>112</c:v>
                </c:pt>
                <c:pt idx="8">
                  <c:v>103</c:v>
                </c:pt>
                <c:pt idx="9">
                  <c:v>97</c:v>
                </c:pt>
                <c:pt idx="10">
                  <c:v>94</c:v>
                </c:pt>
                <c:pt idx="11">
                  <c:v>91</c:v>
                </c:pt>
                <c:pt idx="12">
                  <c:v>88</c:v>
                </c:pt>
                <c:pt idx="13">
                  <c:v>79</c:v>
                </c:pt>
                <c:pt idx="14">
                  <c:v>78</c:v>
                </c:pt>
                <c:pt idx="15">
                  <c:v>76</c:v>
                </c:pt>
                <c:pt idx="16">
                  <c:v>69</c:v>
                </c:pt>
                <c:pt idx="17">
                  <c:v>66</c:v>
                </c:pt>
                <c:pt idx="18">
                  <c:v>63</c:v>
                </c:pt>
                <c:pt idx="19">
                  <c:v>62</c:v>
                </c:pt>
                <c:pt idx="20">
                  <c:v>60</c:v>
                </c:pt>
                <c:pt idx="21">
                  <c:v>57</c:v>
                </c:pt>
                <c:pt idx="22">
                  <c:v>57</c:v>
                </c:pt>
                <c:pt idx="23">
                  <c:v>55</c:v>
                </c:pt>
                <c:pt idx="24">
                  <c:v>51</c:v>
                </c:pt>
                <c:pt idx="25">
                  <c:v>47</c:v>
                </c:pt>
                <c:pt idx="26">
                  <c:v>43</c:v>
                </c:pt>
                <c:pt idx="27">
                  <c:v>42</c:v>
                </c:pt>
                <c:pt idx="28">
                  <c:v>40</c:v>
                </c:pt>
                <c:pt idx="29">
                  <c:v>37</c:v>
                </c:pt>
                <c:pt idx="30">
                  <c:v>36</c:v>
                </c:pt>
                <c:pt idx="31">
                  <c:v>34</c:v>
                </c:pt>
                <c:pt idx="32">
                  <c:v>34</c:v>
                </c:pt>
                <c:pt idx="33">
                  <c:v>31</c:v>
                </c:pt>
                <c:pt idx="34">
                  <c:v>29</c:v>
                </c:pt>
              </c:numCache>
            </c:numRef>
          </c:val>
        </c:ser>
        <c:ser>
          <c:idx val="2"/>
          <c:order val="2"/>
          <c:tx>
            <c:strRef>
              <c:f>IMR!$D$2</c:f>
              <c:strCache>
                <c:ptCount val="1"/>
                <c:pt idx="0">
                  <c:v>Urban </c:v>
                </c:pt>
              </c:strCache>
            </c:strRef>
          </c:tx>
          <c:spPr>
            <a:ln w="28575" cap="rnd">
              <a:solidFill>
                <a:schemeClr val="accent3"/>
              </a:solidFill>
              <a:round/>
            </a:ln>
            <a:effectLst/>
          </c:spPr>
          <c:marker>
            <c:symbol val="none"/>
          </c:marker>
          <c:dLbls>
            <c:dLbl>
              <c:idx val="1"/>
              <c:delete val="1"/>
              <c:extLst>
                <c:ext xmlns:c15="http://schemas.microsoft.com/office/drawing/2012/chart" uri="{CE6537A1-D6FC-4f65-9D91-7224C49458BB}"/>
              </c:extLst>
            </c:dLbl>
            <c:dLbl>
              <c:idx val="2"/>
              <c:delete val="1"/>
              <c:extLst>
                <c:ext xmlns:c15="http://schemas.microsoft.com/office/drawing/2012/chart" uri="{CE6537A1-D6FC-4f65-9D91-7224C49458BB}"/>
              </c:extLst>
            </c:dLbl>
            <c:dLbl>
              <c:idx val="3"/>
              <c:delete val="1"/>
              <c:extLst>
                <c:ext xmlns:c15="http://schemas.microsoft.com/office/drawing/2012/chart" uri="{CE6537A1-D6FC-4f65-9D91-7224C49458BB}"/>
              </c:extLst>
            </c:dLbl>
            <c:dLbl>
              <c:idx val="4"/>
              <c:delete val="1"/>
              <c:extLst>
                <c:ext xmlns:c15="http://schemas.microsoft.com/office/drawing/2012/chart" uri="{CE6537A1-D6FC-4f65-9D91-7224C49458BB}"/>
              </c:extLst>
            </c:dLbl>
            <c:dLbl>
              <c:idx val="5"/>
              <c:delete val="1"/>
              <c:extLst>
                <c:ext xmlns:c15="http://schemas.microsoft.com/office/drawing/2012/chart" uri="{CE6537A1-D6FC-4f65-9D91-7224C49458BB}"/>
              </c:extLst>
            </c:dLbl>
            <c:dLbl>
              <c:idx val="6"/>
              <c:delete val="1"/>
              <c:extLst>
                <c:ext xmlns:c15="http://schemas.microsoft.com/office/drawing/2012/chart" uri="{CE6537A1-D6FC-4f65-9D91-7224C49458BB}"/>
              </c:extLst>
            </c:dLbl>
            <c:dLbl>
              <c:idx val="7"/>
              <c:delete val="1"/>
              <c:extLst>
                <c:ext xmlns:c15="http://schemas.microsoft.com/office/drawing/2012/chart" uri="{CE6537A1-D6FC-4f65-9D91-7224C49458BB}"/>
              </c:extLst>
            </c:dLbl>
            <c:dLbl>
              <c:idx val="8"/>
              <c:delete val="1"/>
              <c:extLst>
                <c:ext xmlns:c15="http://schemas.microsoft.com/office/drawing/2012/chart" uri="{CE6537A1-D6FC-4f65-9D91-7224C49458BB}"/>
              </c:extLst>
            </c:dLbl>
            <c:dLbl>
              <c:idx val="10"/>
              <c:delete val="1"/>
              <c:extLst>
                <c:ext xmlns:c15="http://schemas.microsoft.com/office/drawing/2012/chart" uri="{CE6537A1-D6FC-4f65-9D91-7224C49458BB}"/>
              </c:extLst>
            </c:dLbl>
            <c:dLbl>
              <c:idx val="11"/>
              <c:delete val="1"/>
              <c:extLst>
                <c:ext xmlns:c15="http://schemas.microsoft.com/office/drawing/2012/chart" uri="{CE6537A1-D6FC-4f65-9D91-7224C49458BB}"/>
              </c:extLst>
            </c:dLbl>
            <c:dLbl>
              <c:idx val="12"/>
              <c:delete val="1"/>
              <c:extLst>
                <c:ext xmlns:c15="http://schemas.microsoft.com/office/drawing/2012/chart" uri="{CE6537A1-D6FC-4f65-9D91-7224C49458BB}"/>
              </c:extLst>
            </c:dLbl>
            <c:dLbl>
              <c:idx val="13"/>
              <c:delete val="1"/>
              <c:extLst>
                <c:ext xmlns:c15="http://schemas.microsoft.com/office/drawing/2012/chart" uri="{CE6537A1-D6FC-4f65-9D91-7224C49458BB}"/>
              </c:extLst>
            </c:dLbl>
            <c:dLbl>
              <c:idx val="14"/>
              <c:delete val="1"/>
              <c:extLst>
                <c:ext xmlns:c15="http://schemas.microsoft.com/office/drawing/2012/chart" uri="{CE6537A1-D6FC-4f65-9D91-7224C49458BB}"/>
              </c:extLst>
            </c:dLbl>
            <c:dLbl>
              <c:idx val="15"/>
              <c:delete val="1"/>
              <c:extLst>
                <c:ext xmlns:c15="http://schemas.microsoft.com/office/drawing/2012/chart" uri="{CE6537A1-D6FC-4f65-9D91-7224C49458BB}"/>
              </c:extLst>
            </c:dLbl>
            <c:dLbl>
              <c:idx val="16"/>
              <c:delete val="1"/>
              <c:extLst>
                <c:ext xmlns:c15="http://schemas.microsoft.com/office/drawing/2012/chart" uri="{CE6537A1-D6FC-4f65-9D91-7224C49458BB}"/>
              </c:extLst>
            </c:dLbl>
            <c:dLbl>
              <c:idx val="17"/>
              <c:delete val="1"/>
              <c:extLst>
                <c:ext xmlns:c15="http://schemas.microsoft.com/office/drawing/2012/chart" uri="{CE6537A1-D6FC-4f65-9D91-7224C49458BB}"/>
              </c:extLst>
            </c:dLbl>
            <c:dLbl>
              <c:idx val="18"/>
              <c:delete val="1"/>
              <c:extLst>
                <c:ext xmlns:c15="http://schemas.microsoft.com/office/drawing/2012/chart" uri="{CE6537A1-D6FC-4f65-9D91-7224C49458BB}"/>
              </c:extLst>
            </c:dLbl>
            <c:dLbl>
              <c:idx val="19"/>
              <c:delete val="1"/>
              <c:extLst>
                <c:ext xmlns:c15="http://schemas.microsoft.com/office/drawing/2012/chart" uri="{CE6537A1-D6FC-4f65-9D91-7224C49458BB}"/>
              </c:extLst>
            </c:dLbl>
            <c:dLbl>
              <c:idx val="20"/>
              <c:delete val="1"/>
              <c:extLst>
                <c:ext xmlns:c15="http://schemas.microsoft.com/office/drawing/2012/chart" uri="{CE6537A1-D6FC-4f65-9D91-7224C49458BB}"/>
              </c:extLst>
            </c:dLbl>
            <c:dLbl>
              <c:idx val="21"/>
              <c:delete val="1"/>
              <c:extLst>
                <c:ext xmlns:c15="http://schemas.microsoft.com/office/drawing/2012/chart" uri="{CE6537A1-D6FC-4f65-9D91-7224C49458BB}"/>
              </c:extLst>
            </c:dLbl>
            <c:dLbl>
              <c:idx val="22"/>
              <c:delete val="1"/>
              <c:extLst>
                <c:ext xmlns:c15="http://schemas.microsoft.com/office/drawing/2012/chart" uri="{CE6537A1-D6FC-4f65-9D91-7224C49458BB}"/>
              </c:extLst>
            </c:dLbl>
            <c:dLbl>
              <c:idx val="23"/>
              <c:delete val="1"/>
              <c:extLst>
                <c:ext xmlns:c15="http://schemas.microsoft.com/office/drawing/2012/chart" uri="{CE6537A1-D6FC-4f65-9D91-7224C49458BB}"/>
              </c:extLst>
            </c:dLbl>
            <c:dLbl>
              <c:idx val="24"/>
              <c:delete val="1"/>
              <c:extLst>
                <c:ext xmlns:c15="http://schemas.microsoft.com/office/drawing/2012/chart" uri="{CE6537A1-D6FC-4f65-9D91-7224C49458BB}"/>
              </c:extLst>
            </c:dLbl>
            <c:dLbl>
              <c:idx val="25"/>
              <c:delete val="1"/>
              <c:extLst>
                <c:ext xmlns:c15="http://schemas.microsoft.com/office/drawing/2012/chart" uri="{CE6537A1-D6FC-4f65-9D91-7224C49458BB}"/>
              </c:extLst>
            </c:dLbl>
            <c:dLbl>
              <c:idx val="26"/>
              <c:delete val="1"/>
              <c:extLst>
                <c:ext xmlns:c15="http://schemas.microsoft.com/office/drawing/2012/chart" uri="{CE6537A1-D6FC-4f65-9D91-7224C49458BB}"/>
              </c:extLst>
            </c:dLbl>
            <c:dLbl>
              <c:idx val="27"/>
              <c:delete val="1"/>
              <c:extLst>
                <c:ext xmlns:c15="http://schemas.microsoft.com/office/drawing/2012/chart" uri="{CE6537A1-D6FC-4f65-9D91-7224C49458BB}"/>
              </c:extLst>
            </c:dLbl>
            <c:dLbl>
              <c:idx val="28"/>
              <c:delete val="1"/>
              <c:extLst>
                <c:ext xmlns:c15="http://schemas.microsoft.com/office/drawing/2012/chart" uri="{CE6537A1-D6FC-4f65-9D91-7224C49458BB}"/>
              </c:extLst>
            </c:dLbl>
            <c:dLbl>
              <c:idx val="29"/>
              <c:delete val="1"/>
              <c:extLst>
                <c:ext xmlns:c15="http://schemas.microsoft.com/office/drawing/2012/chart" uri="{CE6537A1-D6FC-4f65-9D91-7224C49458BB}"/>
              </c:extLst>
            </c:dLbl>
            <c:dLbl>
              <c:idx val="30"/>
              <c:delete val="1"/>
              <c:extLst>
                <c:ext xmlns:c15="http://schemas.microsoft.com/office/drawing/2012/chart" uri="{CE6537A1-D6FC-4f65-9D91-7224C49458BB}"/>
              </c:extLst>
            </c:dLbl>
            <c:dLbl>
              <c:idx val="31"/>
              <c:delete val="1"/>
              <c:extLst>
                <c:ext xmlns:c15="http://schemas.microsoft.com/office/drawing/2012/chart" uri="{CE6537A1-D6FC-4f65-9D91-7224C49458BB}"/>
              </c:extLst>
            </c:dLbl>
            <c:dLbl>
              <c:idx val="32"/>
              <c:delete val="1"/>
              <c:extLst>
                <c:ext xmlns:c15="http://schemas.microsoft.com/office/drawing/2012/chart" uri="{CE6537A1-D6FC-4f65-9D91-7224C49458BB}"/>
              </c:extLst>
            </c:dLbl>
            <c:dLbl>
              <c:idx val="33"/>
              <c:delete val="1"/>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IMR!$A$3:$A$37</c:f>
              <c:numCache>
                <c:formatCode>General</c:formatCode>
                <c:ptCount val="35"/>
                <c:pt idx="0">
                  <c:v>1981</c:v>
                </c:pt>
                <c:pt idx="1">
                  <c:v>1982</c:v>
                </c:pt>
                <c:pt idx="2">
                  <c:v>1983</c:v>
                </c:pt>
                <c:pt idx="3">
                  <c:v>1984</c:v>
                </c:pt>
                <c:pt idx="4">
                  <c:v>1985</c:v>
                </c:pt>
                <c:pt idx="5">
                  <c:v>1986</c:v>
                </c:pt>
                <c:pt idx="6">
                  <c:v>1987</c:v>
                </c:pt>
                <c:pt idx="7">
                  <c:v>1988</c:v>
                </c:pt>
                <c:pt idx="8">
                  <c:v>1989</c:v>
                </c:pt>
                <c:pt idx="9">
                  <c:v>1990</c:v>
                </c:pt>
                <c:pt idx="10">
                  <c:v>1991</c:v>
                </c:pt>
                <c:pt idx="11">
                  <c:v>1992</c:v>
                </c:pt>
                <c:pt idx="12">
                  <c:v>1993</c:v>
                </c:pt>
                <c:pt idx="13">
                  <c:v>1994</c:v>
                </c:pt>
                <c:pt idx="14">
                  <c:v>1995</c:v>
                </c:pt>
                <c:pt idx="15">
                  <c:v>1996</c:v>
                </c:pt>
                <c:pt idx="16">
                  <c:v>1997</c:v>
                </c:pt>
                <c:pt idx="17">
                  <c:v>1998</c:v>
                </c:pt>
                <c:pt idx="18">
                  <c:v>1999</c:v>
                </c:pt>
                <c:pt idx="19">
                  <c:v>2000</c:v>
                </c:pt>
                <c:pt idx="20">
                  <c:v>2001</c:v>
                </c:pt>
                <c:pt idx="21">
                  <c:v>2002</c:v>
                </c:pt>
                <c:pt idx="22">
                  <c:v>2003</c:v>
                </c:pt>
                <c:pt idx="23">
                  <c:v>2004</c:v>
                </c:pt>
                <c:pt idx="24">
                  <c:v>2005</c:v>
                </c:pt>
                <c:pt idx="25">
                  <c:v>2006</c:v>
                </c:pt>
                <c:pt idx="26">
                  <c:v>2007</c:v>
                </c:pt>
                <c:pt idx="27">
                  <c:v>2008</c:v>
                </c:pt>
                <c:pt idx="28">
                  <c:v>2009</c:v>
                </c:pt>
                <c:pt idx="29">
                  <c:v>2010</c:v>
                </c:pt>
                <c:pt idx="30">
                  <c:v>2011</c:v>
                </c:pt>
                <c:pt idx="31">
                  <c:v>2012</c:v>
                </c:pt>
                <c:pt idx="32">
                  <c:v>2013</c:v>
                </c:pt>
                <c:pt idx="33">
                  <c:v>2014</c:v>
                </c:pt>
                <c:pt idx="34">
                  <c:v>2015</c:v>
                </c:pt>
              </c:numCache>
            </c:numRef>
          </c:cat>
          <c:val>
            <c:numRef>
              <c:f>IMR!$D$3:$D$37</c:f>
              <c:numCache>
                <c:formatCode>General</c:formatCode>
                <c:ptCount val="35"/>
                <c:pt idx="0">
                  <c:v>99</c:v>
                </c:pt>
                <c:pt idx="1">
                  <c:v>103</c:v>
                </c:pt>
                <c:pt idx="2">
                  <c:v>99</c:v>
                </c:pt>
                <c:pt idx="3">
                  <c:v>102</c:v>
                </c:pt>
                <c:pt idx="4">
                  <c:v>99</c:v>
                </c:pt>
                <c:pt idx="5">
                  <c:v>101</c:v>
                </c:pt>
                <c:pt idx="6">
                  <c:v>95</c:v>
                </c:pt>
                <c:pt idx="7">
                  <c:v>91</c:v>
                </c:pt>
                <c:pt idx="8">
                  <c:v>86</c:v>
                </c:pt>
                <c:pt idx="9">
                  <c:v>71</c:v>
                </c:pt>
                <c:pt idx="10">
                  <c:v>69</c:v>
                </c:pt>
                <c:pt idx="11">
                  <c:v>65</c:v>
                </c:pt>
                <c:pt idx="12">
                  <c:v>61</c:v>
                </c:pt>
                <c:pt idx="13">
                  <c:v>57</c:v>
                </c:pt>
                <c:pt idx="14">
                  <c:v>53</c:v>
                </c:pt>
                <c:pt idx="15">
                  <c:v>50</c:v>
                </c:pt>
                <c:pt idx="16">
                  <c:v>49</c:v>
                </c:pt>
                <c:pt idx="17">
                  <c:v>47</c:v>
                </c:pt>
                <c:pt idx="18">
                  <c:v>46</c:v>
                </c:pt>
                <c:pt idx="19">
                  <c:v>44</c:v>
                </c:pt>
                <c:pt idx="20">
                  <c:v>43</c:v>
                </c:pt>
                <c:pt idx="21">
                  <c:v>37</c:v>
                </c:pt>
                <c:pt idx="22">
                  <c:v>40</c:v>
                </c:pt>
                <c:pt idx="23">
                  <c:v>41</c:v>
                </c:pt>
                <c:pt idx="24">
                  <c:v>44</c:v>
                </c:pt>
                <c:pt idx="25">
                  <c:v>38</c:v>
                </c:pt>
                <c:pt idx="26">
                  <c:v>42</c:v>
                </c:pt>
                <c:pt idx="27">
                  <c:v>40</c:v>
                </c:pt>
                <c:pt idx="28">
                  <c:v>37</c:v>
                </c:pt>
                <c:pt idx="29">
                  <c:v>35</c:v>
                </c:pt>
                <c:pt idx="30">
                  <c:v>32</c:v>
                </c:pt>
                <c:pt idx="31">
                  <c:v>31</c:v>
                </c:pt>
                <c:pt idx="32">
                  <c:v>26</c:v>
                </c:pt>
                <c:pt idx="33">
                  <c:v>26</c:v>
                </c:pt>
                <c:pt idx="34">
                  <c:v>28</c:v>
                </c:pt>
              </c:numCache>
            </c:numRef>
          </c:val>
        </c:ser>
        <c:marker val="1"/>
        <c:axId val="100666368"/>
        <c:axId val="109605632"/>
      </c:lineChart>
      <c:catAx>
        <c:axId val="100666368"/>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09605632"/>
        <c:crosses val="autoZero"/>
        <c:auto val="1"/>
        <c:lblAlgn val="ctr"/>
        <c:lblOffset val="100"/>
      </c:catAx>
      <c:valAx>
        <c:axId val="109605632"/>
        <c:scaling>
          <c:orientation val="minMax"/>
        </c:scaling>
        <c:axPos val="l"/>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00666368"/>
        <c:crosses val="autoZero"/>
        <c:crossBetween val="between"/>
      </c:valAx>
      <c:spPr>
        <a:noFill/>
        <a:ln>
          <a:noFill/>
        </a:ln>
        <a:effectLst/>
      </c:spPr>
    </c:plotArea>
    <c:legend>
      <c:legendPos val="b"/>
      <c:layout/>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chart>
  <c:spPr>
    <a:noFill/>
    <a:ln>
      <a:noFill/>
    </a:ln>
    <a:effectLst/>
  </c:spPr>
  <c:txPr>
    <a:bodyPr/>
    <a:lstStyle/>
    <a:p>
      <a:pPr>
        <a:defRPr/>
      </a:pPr>
      <a:endParaRPr lang="en-US"/>
    </a:p>
  </c:txPr>
  <c:externalData r:id="rId1"/>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US"/>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a:t>U5MR per 100 LB</a:t>
            </a:r>
          </a:p>
        </c:rich>
      </c:tx>
      <c:layout/>
      <c:spPr>
        <a:noFill/>
        <a:ln>
          <a:noFill/>
        </a:ln>
        <a:effectLst/>
      </c:spPr>
    </c:title>
    <c:plotArea>
      <c:layout/>
      <c:lineChart>
        <c:grouping val="standard"/>
        <c:ser>
          <c:idx val="0"/>
          <c:order val="0"/>
          <c:tx>
            <c:strRef>
              <c:f>U5MR!$B$8</c:f>
              <c:strCache>
                <c:ptCount val="1"/>
                <c:pt idx="0">
                  <c:v>National </c:v>
                </c:pt>
              </c:strCache>
            </c:strRef>
          </c:tx>
          <c:spPr>
            <a:ln w="28575" cap="rnd">
              <a:solidFill>
                <a:schemeClr val="accent1"/>
              </a:solidFill>
              <a:round/>
            </a:ln>
            <a:effectLst/>
          </c:spPr>
          <c:marker>
            <c:symbol val="none"/>
          </c:marker>
          <c:dLbls>
            <c:dLbl>
              <c:idx val="2"/>
              <c:delete val="1"/>
              <c:extLst>
                <c:ext xmlns:c15="http://schemas.microsoft.com/office/drawing/2012/chart" uri="{CE6537A1-D6FC-4f65-9D91-7224C49458BB}"/>
              </c:extLst>
            </c:dLbl>
            <c:dLbl>
              <c:idx val="3"/>
              <c:delete val="1"/>
              <c:extLst>
                <c:ext xmlns:c15="http://schemas.microsoft.com/office/drawing/2012/chart" uri="{CE6537A1-D6FC-4f65-9D91-7224C49458BB}"/>
              </c:extLst>
            </c:dLbl>
            <c:dLbl>
              <c:idx val="4"/>
              <c:delete val="1"/>
              <c:extLst>
                <c:ext xmlns:c15="http://schemas.microsoft.com/office/drawing/2012/chart" uri="{CE6537A1-D6FC-4f65-9D91-7224C49458BB}"/>
              </c:extLst>
            </c:dLbl>
            <c:dLbl>
              <c:idx val="5"/>
              <c:delete val="1"/>
              <c:extLst>
                <c:ext xmlns:c15="http://schemas.microsoft.com/office/drawing/2012/chart" uri="{CE6537A1-D6FC-4f65-9D91-7224C49458BB}"/>
              </c:extLst>
            </c:dLbl>
            <c:dLbl>
              <c:idx val="6"/>
              <c:delete val="1"/>
              <c:extLst>
                <c:ext xmlns:c15="http://schemas.microsoft.com/office/drawing/2012/chart" uri="{CE6537A1-D6FC-4f65-9D91-7224C49458BB}"/>
              </c:extLst>
            </c:dLbl>
            <c:dLbl>
              <c:idx val="7"/>
              <c:delete val="1"/>
              <c:extLst>
                <c:ext xmlns:c15="http://schemas.microsoft.com/office/drawing/2012/chart" uri="{CE6537A1-D6FC-4f65-9D91-7224C49458BB}"/>
              </c:extLst>
            </c:dLbl>
            <c:dLbl>
              <c:idx val="8"/>
              <c:delete val="1"/>
              <c:extLst>
                <c:ext xmlns:c15="http://schemas.microsoft.com/office/drawing/2012/chart" uri="{CE6537A1-D6FC-4f65-9D91-7224C49458BB}"/>
              </c:extLst>
            </c:dLbl>
            <c:dLbl>
              <c:idx val="10"/>
              <c:delete val="1"/>
              <c:extLst>
                <c:ext xmlns:c15="http://schemas.microsoft.com/office/drawing/2012/chart" uri="{CE6537A1-D6FC-4f65-9D91-7224C49458BB}"/>
              </c:extLst>
            </c:dLbl>
            <c:dLbl>
              <c:idx val="11"/>
              <c:delete val="1"/>
              <c:extLst>
                <c:ext xmlns:c15="http://schemas.microsoft.com/office/drawing/2012/chart" uri="{CE6537A1-D6FC-4f65-9D91-7224C49458BB}"/>
              </c:extLst>
            </c:dLbl>
            <c:dLbl>
              <c:idx val="12"/>
              <c:delete val="1"/>
              <c:extLst>
                <c:ext xmlns:c15="http://schemas.microsoft.com/office/drawing/2012/chart" uri="{CE6537A1-D6FC-4f65-9D91-7224C49458BB}"/>
              </c:extLst>
            </c:dLbl>
            <c:dLbl>
              <c:idx val="13"/>
              <c:delete val="1"/>
              <c:extLst>
                <c:ext xmlns:c15="http://schemas.microsoft.com/office/drawing/2012/chart" uri="{CE6537A1-D6FC-4f65-9D91-7224C49458BB}"/>
              </c:extLst>
            </c:dLbl>
            <c:dLbl>
              <c:idx val="14"/>
              <c:delete val="1"/>
              <c:extLst>
                <c:ext xmlns:c15="http://schemas.microsoft.com/office/drawing/2012/chart" uri="{CE6537A1-D6FC-4f65-9D91-7224C49458BB}"/>
              </c:extLst>
            </c:dLbl>
            <c:dLbl>
              <c:idx val="15"/>
              <c:delete val="1"/>
              <c:extLst>
                <c:ext xmlns:c15="http://schemas.microsoft.com/office/drawing/2012/chart" uri="{CE6537A1-D6FC-4f65-9D91-7224C49458BB}"/>
              </c:extLst>
            </c:dLbl>
            <c:dLbl>
              <c:idx val="16"/>
              <c:delete val="1"/>
              <c:extLst>
                <c:ext xmlns:c15="http://schemas.microsoft.com/office/drawing/2012/chart" uri="{CE6537A1-D6FC-4f65-9D91-7224C49458BB}"/>
              </c:extLst>
            </c:dLbl>
            <c:dLbl>
              <c:idx val="17"/>
              <c:delete val="1"/>
              <c:extLst>
                <c:ext xmlns:c15="http://schemas.microsoft.com/office/drawing/2012/chart" uri="{CE6537A1-D6FC-4f65-9D91-7224C49458BB}"/>
              </c:extLst>
            </c:dLbl>
            <c:dLbl>
              <c:idx val="18"/>
              <c:delete val="1"/>
              <c:extLst>
                <c:ext xmlns:c15="http://schemas.microsoft.com/office/drawing/2012/chart" uri="{CE6537A1-D6FC-4f65-9D91-7224C49458BB}"/>
              </c:extLst>
            </c:dLbl>
            <c:dLbl>
              <c:idx val="19"/>
              <c:delete val="1"/>
              <c:extLst>
                <c:ext xmlns:c15="http://schemas.microsoft.com/office/drawing/2012/chart" uri="{CE6537A1-D6FC-4f65-9D91-7224C49458BB}"/>
              </c:extLst>
            </c:dLbl>
            <c:dLbl>
              <c:idx val="20"/>
              <c:delete val="1"/>
              <c:extLst>
                <c:ext xmlns:c15="http://schemas.microsoft.com/office/drawing/2012/chart" uri="{CE6537A1-D6FC-4f65-9D91-7224C49458BB}"/>
              </c:extLst>
            </c:dLbl>
            <c:dLbl>
              <c:idx val="21"/>
              <c:delete val="1"/>
              <c:extLst>
                <c:ext xmlns:c15="http://schemas.microsoft.com/office/drawing/2012/chart" uri="{CE6537A1-D6FC-4f65-9D91-7224C49458BB}"/>
              </c:extLst>
            </c:dLbl>
            <c:dLbl>
              <c:idx val="22"/>
              <c:delete val="1"/>
              <c:extLst>
                <c:ext xmlns:c15="http://schemas.microsoft.com/office/drawing/2012/chart" uri="{CE6537A1-D6FC-4f65-9D91-7224C49458BB}"/>
              </c:extLst>
            </c:dLbl>
            <c:dLbl>
              <c:idx val="23"/>
              <c:delete val="1"/>
              <c:extLst>
                <c:ext xmlns:c15="http://schemas.microsoft.com/office/drawing/2012/chart" uri="{CE6537A1-D6FC-4f65-9D91-7224C49458BB}"/>
              </c:extLst>
            </c:dLbl>
            <c:dLbl>
              <c:idx val="24"/>
              <c:delete val="1"/>
              <c:extLst>
                <c:ext xmlns:c15="http://schemas.microsoft.com/office/drawing/2012/chart" uri="{CE6537A1-D6FC-4f65-9D91-7224C49458BB}"/>
              </c:extLst>
            </c:dLbl>
            <c:dLbl>
              <c:idx val="25"/>
              <c:delete val="1"/>
              <c:extLst>
                <c:ext xmlns:c15="http://schemas.microsoft.com/office/drawing/2012/chart" uri="{CE6537A1-D6FC-4f65-9D91-7224C49458BB}"/>
              </c:extLst>
            </c:dLbl>
            <c:dLbl>
              <c:idx val="26"/>
              <c:delete val="1"/>
              <c:extLst>
                <c:ext xmlns:c15="http://schemas.microsoft.com/office/drawing/2012/chart" uri="{CE6537A1-D6FC-4f65-9D91-7224C49458BB}"/>
              </c:extLst>
            </c:dLbl>
            <c:dLbl>
              <c:idx val="27"/>
              <c:delete val="1"/>
              <c:extLst>
                <c:ext xmlns:c15="http://schemas.microsoft.com/office/drawing/2012/chart" uri="{CE6537A1-D6FC-4f65-9D91-7224C49458BB}"/>
              </c:extLst>
            </c:dLbl>
            <c:dLbl>
              <c:idx val="28"/>
              <c:delete val="1"/>
              <c:extLst>
                <c:ext xmlns:c15="http://schemas.microsoft.com/office/drawing/2012/chart" uri="{CE6537A1-D6FC-4f65-9D91-7224C49458BB}"/>
              </c:extLst>
            </c:dLbl>
            <c:dLbl>
              <c:idx val="29"/>
              <c:delete val="1"/>
              <c:extLst>
                <c:ext xmlns:c15="http://schemas.microsoft.com/office/drawing/2012/chart" uri="{CE6537A1-D6FC-4f65-9D91-7224C49458BB}"/>
              </c:extLst>
            </c:dLbl>
            <c:dLbl>
              <c:idx val="30"/>
              <c:delete val="1"/>
              <c:extLst>
                <c:ext xmlns:c15="http://schemas.microsoft.com/office/drawing/2012/chart" uri="{CE6537A1-D6FC-4f65-9D91-7224C49458BB}"/>
              </c:extLst>
            </c:dLbl>
            <c:dLbl>
              <c:idx val="31"/>
              <c:delete val="1"/>
              <c:extLst>
                <c:ext xmlns:c15="http://schemas.microsoft.com/office/drawing/2012/chart" uri="{CE6537A1-D6FC-4f65-9D91-7224C49458BB}"/>
              </c:extLst>
            </c:dLbl>
            <c:dLbl>
              <c:idx val="32"/>
              <c:delete val="1"/>
              <c:extLst>
                <c:ext xmlns:c15="http://schemas.microsoft.com/office/drawing/2012/chart" uri="{CE6537A1-D6FC-4f65-9D91-7224C49458BB}"/>
              </c:extLst>
            </c:dLbl>
            <c:dLbl>
              <c:idx val="33"/>
              <c:delete val="1"/>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U5MR!$A$9:$A$43</c:f>
              <c:numCache>
                <c:formatCode>General</c:formatCode>
                <c:ptCount val="35"/>
                <c:pt idx="0">
                  <c:v>1981</c:v>
                </c:pt>
                <c:pt idx="1">
                  <c:v>1982</c:v>
                </c:pt>
                <c:pt idx="2">
                  <c:v>1983</c:v>
                </c:pt>
                <c:pt idx="3">
                  <c:v>1984</c:v>
                </c:pt>
                <c:pt idx="4">
                  <c:v>1985</c:v>
                </c:pt>
                <c:pt idx="5">
                  <c:v>1986</c:v>
                </c:pt>
                <c:pt idx="6">
                  <c:v>1987</c:v>
                </c:pt>
                <c:pt idx="7">
                  <c:v>1988</c:v>
                </c:pt>
                <c:pt idx="8">
                  <c:v>1989</c:v>
                </c:pt>
                <c:pt idx="9">
                  <c:v>1990</c:v>
                </c:pt>
                <c:pt idx="10">
                  <c:v>1991</c:v>
                </c:pt>
                <c:pt idx="11">
                  <c:v>1992</c:v>
                </c:pt>
                <c:pt idx="12">
                  <c:v>1993</c:v>
                </c:pt>
                <c:pt idx="13">
                  <c:v>1994</c:v>
                </c:pt>
                <c:pt idx="14">
                  <c:v>1995</c:v>
                </c:pt>
                <c:pt idx="15">
                  <c:v>1996</c:v>
                </c:pt>
                <c:pt idx="16">
                  <c:v>1997</c:v>
                </c:pt>
                <c:pt idx="17">
                  <c:v>1998</c:v>
                </c:pt>
                <c:pt idx="18">
                  <c:v>1999</c:v>
                </c:pt>
                <c:pt idx="19">
                  <c:v>2000</c:v>
                </c:pt>
                <c:pt idx="20">
                  <c:v>2001</c:v>
                </c:pt>
                <c:pt idx="21">
                  <c:v>2002</c:v>
                </c:pt>
                <c:pt idx="22">
                  <c:v>2003</c:v>
                </c:pt>
                <c:pt idx="23">
                  <c:v>2004</c:v>
                </c:pt>
                <c:pt idx="24">
                  <c:v>2005</c:v>
                </c:pt>
                <c:pt idx="25">
                  <c:v>2006</c:v>
                </c:pt>
                <c:pt idx="26">
                  <c:v>2007</c:v>
                </c:pt>
                <c:pt idx="27">
                  <c:v>2008</c:v>
                </c:pt>
                <c:pt idx="28">
                  <c:v>2009</c:v>
                </c:pt>
                <c:pt idx="29">
                  <c:v>2010</c:v>
                </c:pt>
                <c:pt idx="30">
                  <c:v>2011</c:v>
                </c:pt>
                <c:pt idx="31">
                  <c:v>2012</c:v>
                </c:pt>
                <c:pt idx="32">
                  <c:v>2013</c:v>
                </c:pt>
                <c:pt idx="33">
                  <c:v>2014</c:v>
                </c:pt>
                <c:pt idx="34">
                  <c:v>2015</c:v>
                </c:pt>
              </c:numCache>
            </c:numRef>
          </c:cat>
          <c:val>
            <c:numRef>
              <c:f>U5MR!$B$9:$B$43</c:f>
              <c:numCache>
                <c:formatCode>General</c:formatCode>
                <c:ptCount val="35"/>
                <c:pt idx="1">
                  <c:v>212</c:v>
                </c:pt>
                <c:pt idx="2">
                  <c:v>220</c:v>
                </c:pt>
                <c:pt idx="3">
                  <c:v>188</c:v>
                </c:pt>
                <c:pt idx="4">
                  <c:v>170</c:v>
                </c:pt>
                <c:pt idx="5">
                  <c:v>169</c:v>
                </c:pt>
                <c:pt idx="6">
                  <c:v>168</c:v>
                </c:pt>
                <c:pt idx="7">
                  <c:v>162</c:v>
                </c:pt>
                <c:pt idx="8">
                  <c:v>151</c:v>
                </c:pt>
                <c:pt idx="9">
                  <c:v>151</c:v>
                </c:pt>
                <c:pt idx="10">
                  <c:v>146</c:v>
                </c:pt>
                <c:pt idx="11">
                  <c:v>144</c:v>
                </c:pt>
                <c:pt idx="12">
                  <c:v>139</c:v>
                </c:pt>
                <c:pt idx="13">
                  <c:v>134</c:v>
                </c:pt>
                <c:pt idx="14">
                  <c:v>125</c:v>
                </c:pt>
                <c:pt idx="15">
                  <c:v>117</c:v>
                </c:pt>
                <c:pt idx="16">
                  <c:v>115</c:v>
                </c:pt>
                <c:pt idx="17">
                  <c:v>110</c:v>
                </c:pt>
                <c:pt idx="18">
                  <c:v>87</c:v>
                </c:pt>
                <c:pt idx="19">
                  <c:v>84</c:v>
                </c:pt>
                <c:pt idx="20">
                  <c:v>82</c:v>
                </c:pt>
                <c:pt idx="21">
                  <c:v>76</c:v>
                </c:pt>
                <c:pt idx="22">
                  <c:v>78</c:v>
                </c:pt>
                <c:pt idx="23">
                  <c:v>74</c:v>
                </c:pt>
                <c:pt idx="24">
                  <c:v>68</c:v>
                </c:pt>
                <c:pt idx="25">
                  <c:v>62</c:v>
                </c:pt>
                <c:pt idx="26">
                  <c:v>60</c:v>
                </c:pt>
                <c:pt idx="27" formatCode="0">
                  <c:v>53.84</c:v>
                </c:pt>
                <c:pt idx="28">
                  <c:v>50</c:v>
                </c:pt>
                <c:pt idx="29">
                  <c:v>47</c:v>
                </c:pt>
                <c:pt idx="30">
                  <c:v>44</c:v>
                </c:pt>
                <c:pt idx="31">
                  <c:v>42</c:v>
                </c:pt>
                <c:pt idx="32">
                  <c:v>41</c:v>
                </c:pt>
                <c:pt idx="33">
                  <c:v>38</c:v>
                </c:pt>
                <c:pt idx="34">
                  <c:v>36</c:v>
                </c:pt>
              </c:numCache>
            </c:numRef>
          </c:val>
        </c:ser>
        <c:ser>
          <c:idx val="1"/>
          <c:order val="1"/>
          <c:tx>
            <c:strRef>
              <c:f>U5MR!$C$8</c:f>
              <c:strCache>
                <c:ptCount val="1"/>
                <c:pt idx="0">
                  <c:v>Rural </c:v>
                </c:pt>
              </c:strCache>
            </c:strRef>
          </c:tx>
          <c:spPr>
            <a:ln w="28575" cap="rnd">
              <a:solidFill>
                <a:schemeClr val="accent2"/>
              </a:solidFill>
              <a:round/>
            </a:ln>
            <a:effectLst/>
          </c:spPr>
          <c:marker>
            <c:symbol val="none"/>
          </c:marker>
          <c:dLbls>
            <c:dLbl>
              <c:idx val="2"/>
              <c:delete val="1"/>
              <c:extLst>
                <c:ext xmlns:c15="http://schemas.microsoft.com/office/drawing/2012/chart" uri="{CE6537A1-D6FC-4f65-9D91-7224C49458BB}"/>
              </c:extLst>
            </c:dLbl>
            <c:dLbl>
              <c:idx val="3"/>
              <c:delete val="1"/>
              <c:extLst>
                <c:ext xmlns:c15="http://schemas.microsoft.com/office/drawing/2012/chart" uri="{CE6537A1-D6FC-4f65-9D91-7224C49458BB}"/>
              </c:extLst>
            </c:dLbl>
            <c:dLbl>
              <c:idx val="4"/>
              <c:delete val="1"/>
              <c:extLst>
                <c:ext xmlns:c15="http://schemas.microsoft.com/office/drawing/2012/chart" uri="{CE6537A1-D6FC-4f65-9D91-7224C49458BB}"/>
              </c:extLst>
            </c:dLbl>
            <c:dLbl>
              <c:idx val="5"/>
              <c:delete val="1"/>
              <c:extLst>
                <c:ext xmlns:c15="http://schemas.microsoft.com/office/drawing/2012/chart" uri="{CE6537A1-D6FC-4f65-9D91-7224C49458BB}"/>
              </c:extLst>
            </c:dLbl>
            <c:dLbl>
              <c:idx val="6"/>
              <c:delete val="1"/>
              <c:extLst>
                <c:ext xmlns:c15="http://schemas.microsoft.com/office/drawing/2012/chart" uri="{CE6537A1-D6FC-4f65-9D91-7224C49458BB}"/>
              </c:extLst>
            </c:dLbl>
            <c:dLbl>
              <c:idx val="7"/>
              <c:delete val="1"/>
              <c:extLst>
                <c:ext xmlns:c15="http://schemas.microsoft.com/office/drawing/2012/chart" uri="{CE6537A1-D6FC-4f65-9D91-7224C49458BB}"/>
              </c:extLst>
            </c:dLbl>
            <c:dLbl>
              <c:idx val="8"/>
              <c:delete val="1"/>
              <c:extLst>
                <c:ext xmlns:c15="http://schemas.microsoft.com/office/drawing/2012/chart" uri="{CE6537A1-D6FC-4f65-9D91-7224C49458BB}"/>
              </c:extLst>
            </c:dLbl>
            <c:dLbl>
              <c:idx val="10"/>
              <c:delete val="1"/>
              <c:extLst>
                <c:ext xmlns:c15="http://schemas.microsoft.com/office/drawing/2012/chart" uri="{CE6537A1-D6FC-4f65-9D91-7224C49458BB}"/>
              </c:extLst>
            </c:dLbl>
            <c:dLbl>
              <c:idx val="11"/>
              <c:delete val="1"/>
              <c:extLst>
                <c:ext xmlns:c15="http://schemas.microsoft.com/office/drawing/2012/chart" uri="{CE6537A1-D6FC-4f65-9D91-7224C49458BB}"/>
              </c:extLst>
            </c:dLbl>
            <c:dLbl>
              <c:idx val="12"/>
              <c:delete val="1"/>
              <c:extLst>
                <c:ext xmlns:c15="http://schemas.microsoft.com/office/drawing/2012/chart" uri="{CE6537A1-D6FC-4f65-9D91-7224C49458BB}"/>
              </c:extLst>
            </c:dLbl>
            <c:dLbl>
              <c:idx val="13"/>
              <c:delete val="1"/>
              <c:extLst>
                <c:ext xmlns:c15="http://schemas.microsoft.com/office/drawing/2012/chart" uri="{CE6537A1-D6FC-4f65-9D91-7224C49458BB}"/>
              </c:extLst>
            </c:dLbl>
            <c:dLbl>
              <c:idx val="14"/>
              <c:delete val="1"/>
              <c:extLst>
                <c:ext xmlns:c15="http://schemas.microsoft.com/office/drawing/2012/chart" uri="{CE6537A1-D6FC-4f65-9D91-7224C49458BB}"/>
              </c:extLst>
            </c:dLbl>
            <c:dLbl>
              <c:idx val="15"/>
              <c:delete val="1"/>
              <c:extLst>
                <c:ext xmlns:c15="http://schemas.microsoft.com/office/drawing/2012/chart" uri="{CE6537A1-D6FC-4f65-9D91-7224C49458BB}"/>
              </c:extLst>
            </c:dLbl>
            <c:dLbl>
              <c:idx val="16"/>
              <c:delete val="1"/>
              <c:extLst>
                <c:ext xmlns:c15="http://schemas.microsoft.com/office/drawing/2012/chart" uri="{CE6537A1-D6FC-4f65-9D91-7224C49458BB}"/>
              </c:extLst>
            </c:dLbl>
            <c:dLbl>
              <c:idx val="17"/>
              <c:delete val="1"/>
              <c:extLst>
                <c:ext xmlns:c15="http://schemas.microsoft.com/office/drawing/2012/chart" uri="{CE6537A1-D6FC-4f65-9D91-7224C49458BB}"/>
              </c:extLst>
            </c:dLbl>
            <c:dLbl>
              <c:idx val="18"/>
              <c:delete val="1"/>
              <c:extLst>
                <c:ext xmlns:c15="http://schemas.microsoft.com/office/drawing/2012/chart" uri="{CE6537A1-D6FC-4f65-9D91-7224C49458BB}"/>
              </c:extLst>
            </c:dLbl>
            <c:dLbl>
              <c:idx val="19"/>
              <c:delete val="1"/>
              <c:extLst>
                <c:ext xmlns:c15="http://schemas.microsoft.com/office/drawing/2012/chart" uri="{CE6537A1-D6FC-4f65-9D91-7224C49458BB}"/>
              </c:extLst>
            </c:dLbl>
            <c:dLbl>
              <c:idx val="20"/>
              <c:delete val="1"/>
              <c:extLst>
                <c:ext xmlns:c15="http://schemas.microsoft.com/office/drawing/2012/chart" uri="{CE6537A1-D6FC-4f65-9D91-7224C49458BB}"/>
              </c:extLst>
            </c:dLbl>
            <c:dLbl>
              <c:idx val="21"/>
              <c:delete val="1"/>
              <c:extLst>
                <c:ext xmlns:c15="http://schemas.microsoft.com/office/drawing/2012/chart" uri="{CE6537A1-D6FC-4f65-9D91-7224C49458BB}"/>
              </c:extLst>
            </c:dLbl>
            <c:dLbl>
              <c:idx val="22"/>
              <c:delete val="1"/>
              <c:extLst>
                <c:ext xmlns:c15="http://schemas.microsoft.com/office/drawing/2012/chart" uri="{CE6537A1-D6FC-4f65-9D91-7224C49458BB}"/>
              </c:extLst>
            </c:dLbl>
            <c:dLbl>
              <c:idx val="23"/>
              <c:delete val="1"/>
              <c:extLst>
                <c:ext xmlns:c15="http://schemas.microsoft.com/office/drawing/2012/chart" uri="{CE6537A1-D6FC-4f65-9D91-7224C49458BB}"/>
              </c:extLst>
            </c:dLbl>
            <c:dLbl>
              <c:idx val="24"/>
              <c:delete val="1"/>
              <c:extLst>
                <c:ext xmlns:c15="http://schemas.microsoft.com/office/drawing/2012/chart" uri="{CE6537A1-D6FC-4f65-9D91-7224C49458BB}"/>
              </c:extLst>
            </c:dLbl>
            <c:dLbl>
              <c:idx val="25"/>
              <c:delete val="1"/>
              <c:extLst>
                <c:ext xmlns:c15="http://schemas.microsoft.com/office/drawing/2012/chart" uri="{CE6537A1-D6FC-4f65-9D91-7224C49458BB}"/>
              </c:extLst>
            </c:dLbl>
            <c:dLbl>
              <c:idx val="26"/>
              <c:delete val="1"/>
              <c:extLst>
                <c:ext xmlns:c15="http://schemas.microsoft.com/office/drawing/2012/chart" uri="{CE6537A1-D6FC-4f65-9D91-7224C49458BB}"/>
              </c:extLst>
            </c:dLbl>
            <c:dLbl>
              <c:idx val="27"/>
              <c:delete val="1"/>
              <c:extLst>
                <c:ext xmlns:c15="http://schemas.microsoft.com/office/drawing/2012/chart" uri="{CE6537A1-D6FC-4f65-9D91-7224C49458BB}"/>
              </c:extLst>
            </c:dLbl>
            <c:dLbl>
              <c:idx val="28"/>
              <c:delete val="1"/>
              <c:extLst>
                <c:ext xmlns:c15="http://schemas.microsoft.com/office/drawing/2012/chart" uri="{CE6537A1-D6FC-4f65-9D91-7224C49458BB}"/>
              </c:extLst>
            </c:dLbl>
            <c:dLbl>
              <c:idx val="29"/>
              <c:delete val="1"/>
              <c:extLst>
                <c:ext xmlns:c15="http://schemas.microsoft.com/office/drawing/2012/chart" uri="{CE6537A1-D6FC-4f65-9D91-7224C49458BB}"/>
              </c:extLst>
            </c:dLbl>
            <c:dLbl>
              <c:idx val="30"/>
              <c:delete val="1"/>
              <c:extLst>
                <c:ext xmlns:c15="http://schemas.microsoft.com/office/drawing/2012/chart" uri="{CE6537A1-D6FC-4f65-9D91-7224C49458BB}"/>
              </c:extLst>
            </c:dLbl>
            <c:dLbl>
              <c:idx val="31"/>
              <c:delete val="1"/>
              <c:extLst>
                <c:ext xmlns:c15="http://schemas.microsoft.com/office/drawing/2012/chart" uri="{CE6537A1-D6FC-4f65-9D91-7224C49458BB}"/>
              </c:extLst>
            </c:dLbl>
            <c:dLbl>
              <c:idx val="32"/>
              <c:delete val="1"/>
              <c:extLst>
                <c:ext xmlns:c15="http://schemas.microsoft.com/office/drawing/2012/chart" uri="{CE6537A1-D6FC-4f65-9D91-7224C49458BB}"/>
              </c:extLst>
            </c:dLbl>
            <c:dLbl>
              <c:idx val="33"/>
              <c:delete val="1"/>
              <c:extLst>
                <c:ext xmlns:c15="http://schemas.microsoft.com/office/drawing/2012/chart" uri="{CE6537A1-D6FC-4f65-9D91-7224C49458BB}"/>
              </c:extLst>
            </c:dLbl>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l"/>
            <c:showVal val="1"/>
            <c:extLst>
              <c:ext xmlns:c15="http://schemas.microsoft.com/office/drawing/2012/chart" uri="{CE6537A1-D6FC-4f65-9D91-7224C49458BB}">
                <c15:spPr xmlns:c15="http://schemas.microsoft.com/office/drawing/2012/chart">
                  <a:prstGeom prst="ellipse">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numRef>
              <c:f>U5MR!$A$9:$A$43</c:f>
              <c:numCache>
                <c:formatCode>General</c:formatCode>
                <c:ptCount val="35"/>
                <c:pt idx="0">
                  <c:v>1981</c:v>
                </c:pt>
                <c:pt idx="1">
                  <c:v>1982</c:v>
                </c:pt>
                <c:pt idx="2">
                  <c:v>1983</c:v>
                </c:pt>
                <c:pt idx="3">
                  <c:v>1984</c:v>
                </c:pt>
                <c:pt idx="4">
                  <c:v>1985</c:v>
                </c:pt>
                <c:pt idx="5">
                  <c:v>1986</c:v>
                </c:pt>
                <c:pt idx="6">
                  <c:v>1987</c:v>
                </c:pt>
                <c:pt idx="7">
                  <c:v>1988</c:v>
                </c:pt>
                <c:pt idx="8">
                  <c:v>1989</c:v>
                </c:pt>
                <c:pt idx="9">
                  <c:v>1990</c:v>
                </c:pt>
                <c:pt idx="10">
                  <c:v>1991</c:v>
                </c:pt>
                <c:pt idx="11">
                  <c:v>1992</c:v>
                </c:pt>
                <c:pt idx="12">
                  <c:v>1993</c:v>
                </c:pt>
                <c:pt idx="13">
                  <c:v>1994</c:v>
                </c:pt>
                <c:pt idx="14">
                  <c:v>1995</c:v>
                </c:pt>
                <c:pt idx="15">
                  <c:v>1996</c:v>
                </c:pt>
                <c:pt idx="16">
                  <c:v>1997</c:v>
                </c:pt>
                <c:pt idx="17">
                  <c:v>1998</c:v>
                </c:pt>
                <c:pt idx="18">
                  <c:v>1999</c:v>
                </c:pt>
                <c:pt idx="19">
                  <c:v>2000</c:v>
                </c:pt>
                <c:pt idx="20">
                  <c:v>2001</c:v>
                </c:pt>
                <c:pt idx="21">
                  <c:v>2002</c:v>
                </c:pt>
                <c:pt idx="22">
                  <c:v>2003</c:v>
                </c:pt>
                <c:pt idx="23">
                  <c:v>2004</c:v>
                </c:pt>
                <c:pt idx="24">
                  <c:v>2005</c:v>
                </c:pt>
                <c:pt idx="25">
                  <c:v>2006</c:v>
                </c:pt>
                <c:pt idx="26">
                  <c:v>2007</c:v>
                </c:pt>
                <c:pt idx="27">
                  <c:v>2008</c:v>
                </c:pt>
                <c:pt idx="28">
                  <c:v>2009</c:v>
                </c:pt>
                <c:pt idx="29">
                  <c:v>2010</c:v>
                </c:pt>
                <c:pt idx="30">
                  <c:v>2011</c:v>
                </c:pt>
                <c:pt idx="31">
                  <c:v>2012</c:v>
                </c:pt>
                <c:pt idx="32">
                  <c:v>2013</c:v>
                </c:pt>
                <c:pt idx="33">
                  <c:v>2014</c:v>
                </c:pt>
                <c:pt idx="34">
                  <c:v>2015</c:v>
                </c:pt>
              </c:numCache>
            </c:numRef>
          </c:cat>
          <c:val>
            <c:numRef>
              <c:f>U5MR!$C$9:$C$43</c:f>
              <c:numCache>
                <c:formatCode>General</c:formatCode>
                <c:ptCount val="35"/>
                <c:pt idx="1">
                  <c:v>221</c:v>
                </c:pt>
                <c:pt idx="2">
                  <c:v>232</c:v>
                </c:pt>
                <c:pt idx="3">
                  <c:v>193</c:v>
                </c:pt>
                <c:pt idx="4">
                  <c:v>174</c:v>
                </c:pt>
                <c:pt idx="5">
                  <c:v>174</c:v>
                </c:pt>
                <c:pt idx="6">
                  <c:v>173</c:v>
                </c:pt>
                <c:pt idx="7">
                  <c:v>171</c:v>
                </c:pt>
                <c:pt idx="8">
                  <c:v>168</c:v>
                </c:pt>
                <c:pt idx="9">
                  <c:v>158</c:v>
                </c:pt>
                <c:pt idx="10">
                  <c:v>154</c:v>
                </c:pt>
                <c:pt idx="11">
                  <c:v>152</c:v>
                </c:pt>
                <c:pt idx="12">
                  <c:v>150</c:v>
                </c:pt>
                <c:pt idx="13">
                  <c:v>145</c:v>
                </c:pt>
                <c:pt idx="14">
                  <c:v>150</c:v>
                </c:pt>
                <c:pt idx="15">
                  <c:v>125</c:v>
                </c:pt>
                <c:pt idx="16">
                  <c:v>120</c:v>
                </c:pt>
                <c:pt idx="17">
                  <c:v>115</c:v>
                </c:pt>
                <c:pt idx="18">
                  <c:v>92</c:v>
                </c:pt>
                <c:pt idx="19">
                  <c:v>90</c:v>
                </c:pt>
                <c:pt idx="20">
                  <c:v>89</c:v>
                </c:pt>
                <c:pt idx="21">
                  <c:v>80</c:v>
                </c:pt>
                <c:pt idx="22">
                  <c:v>81</c:v>
                </c:pt>
                <c:pt idx="23">
                  <c:v>77</c:v>
                </c:pt>
                <c:pt idx="24">
                  <c:v>71</c:v>
                </c:pt>
                <c:pt idx="25">
                  <c:v>64</c:v>
                </c:pt>
                <c:pt idx="26">
                  <c:v>62</c:v>
                </c:pt>
                <c:pt idx="27" formatCode="0">
                  <c:v>55.67</c:v>
                </c:pt>
                <c:pt idx="28">
                  <c:v>52</c:v>
                </c:pt>
                <c:pt idx="29">
                  <c:v>48</c:v>
                </c:pt>
                <c:pt idx="30">
                  <c:v>47</c:v>
                </c:pt>
                <c:pt idx="31">
                  <c:v>44</c:v>
                </c:pt>
                <c:pt idx="32">
                  <c:v>43</c:v>
                </c:pt>
                <c:pt idx="33">
                  <c:v>40</c:v>
                </c:pt>
                <c:pt idx="34">
                  <c:v>39</c:v>
                </c:pt>
              </c:numCache>
            </c:numRef>
          </c:val>
        </c:ser>
        <c:ser>
          <c:idx val="2"/>
          <c:order val="2"/>
          <c:tx>
            <c:strRef>
              <c:f>U5MR!$D$8</c:f>
              <c:strCache>
                <c:ptCount val="1"/>
                <c:pt idx="0">
                  <c:v>Urban </c:v>
                </c:pt>
              </c:strCache>
            </c:strRef>
          </c:tx>
          <c:spPr>
            <a:ln w="28575" cap="rnd">
              <a:solidFill>
                <a:schemeClr val="accent3"/>
              </a:solidFill>
              <a:round/>
            </a:ln>
            <a:effectLst/>
          </c:spPr>
          <c:marker>
            <c:symbol val="none"/>
          </c:marker>
          <c:dLbls>
            <c:dLbl>
              <c:idx val="2"/>
              <c:delete val="1"/>
              <c:extLst>
                <c:ext xmlns:c15="http://schemas.microsoft.com/office/drawing/2012/chart" uri="{CE6537A1-D6FC-4f65-9D91-7224C49458BB}"/>
              </c:extLst>
            </c:dLbl>
            <c:dLbl>
              <c:idx val="3"/>
              <c:delete val="1"/>
              <c:extLst>
                <c:ext xmlns:c15="http://schemas.microsoft.com/office/drawing/2012/chart" uri="{CE6537A1-D6FC-4f65-9D91-7224C49458BB}"/>
              </c:extLst>
            </c:dLbl>
            <c:dLbl>
              <c:idx val="4"/>
              <c:delete val="1"/>
              <c:extLst>
                <c:ext xmlns:c15="http://schemas.microsoft.com/office/drawing/2012/chart" uri="{CE6537A1-D6FC-4f65-9D91-7224C49458BB}"/>
              </c:extLst>
            </c:dLbl>
            <c:dLbl>
              <c:idx val="5"/>
              <c:delete val="1"/>
              <c:extLst>
                <c:ext xmlns:c15="http://schemas.microsoft.com/office/drawing/2012/chart" uri="{CE6537A1-D6FC-4f65-9D91-7224C49458BB}"/>
              </c:extLst>
            </c:dLbl>
            <c:dLbl>
              <c:idx val="6"/>
              <c:delete val="1"/>
              <c:extLst>
                <c:ext xmlns:c15="http://schemas.microsoft.com/office/drawing/2012/chart" uri="{CE6537A1-D6FC-4f65-9D91-7224C49458BB}"/>
              </c:extLst>
            </c:dLbl>
            <c:dLbl>
              <c:idx val="7"/>
              <c:delete val="1"/>
              <c:extLst>
                <c:ext xmlns:c15="http://schemas.microsoft.com/office/drawing/2012/chart" uri="{CE6537A1-D6FC-4f65-9D91-7224C49458BB}"/>
              </c:extLst>
            </c:dLbl>
            <c:dLbl>
              <c:idx val="8"/>
              <c:delete val="1"/>
              <c:extLst>
                <c:ext xmlns:c15="http://schemas.microsoft.com/office/drawing/2012/chart" uri="{CE6537A1-D6FC-4f65-9D91-7224C49458BB}"/>
              </c:extLst>
            </c:dLbl>
            <c:dLbl>
              <c:idx val="10"/>
              <c:delete val="1"/>
              <c:extLst>
                <c:ext xmlns:c15="http://schemas.microsoft.com/office/drawing/2012/chart" uri="{CE6537A1-D6FC-4f65-9D91-7224C49458BB}"/>
              </c:extLst>
            </c:dLbl>
            <c:dLbl>
              <c:idx val="11"/>
              <c:delete val="1"/>
              <c:extLst>
                <c:ext xmlns:c15="http://schemas.microsoft.com/office/drawing/2012/chart" uri="{CE6537A1-D6FC-4f65-9D91-7224C49458BB}"/>
              </c:extLst>
            </c:dLbl>
            <c:dLbl>
              <c:idx val="12"/>
              <c:delete val="1"/>
              <c:extLst>
                <c:ext xmlns:c15="http://schemas.microsoft.com/office/drawing/2012/chart" uri="{CE6537A1-D6FC-4f65-9D91-7224C49458BB}"/>
              </c:extLst>
            </c:dLbl>
            <c:dLbl>
              <c:idx val="13"/>
              <c:delete val="1"/>
              <c:extLst>
                <c:ext xmlns:c15="http://schemas.microsoft.com/office/drawing/2012/chart" uri="{CE6537A1-D6FC-4f65-9D91-7224C49458BB}"/>
              </c:extLst>
            </c:dLbl>
            <c:dLbl>
              <c:idx val="14"/>
              <c:delete val="1"/>
              <c:extLst>
                <c:ext xmlns:c15="http://schemas.microsoft.com/office/drawing/2012/chart" uri="{CE6537A1-D6FC-4f65-9D91-7224C49458BB}"/>
              </c:extLst>
            </c:dLbl>
            <c:dLbl>
              <c:idx val="15"/>
              <c:delete val="1"/>
              <c:extLst>
                <c:ext xmlns:c15="http://schemas.microsoft.com/office/drawing/2012/chart" uri="{CE6537A1-D6FC-4f65-9D91-7224C49458BB}"/>
              </c:extLst>
            </c:dLbl>
            <c:dLbl>
              <c:idx val="16"/>
              <c:delete val="1"/>
              <c:extLst>
                <c:ext xmlns:c15="http://schemas.microsoft.com/office/drawing/2012/chart" uri="{CE6537A1-D6FC-4f65-9D91-7224C49458BB}"/>
              </c:extLst>
            </c:dLbl>
            <c:dLbl>
              <c:idx val="17"/>
              <c:delete val="1"/>
              <c:extLst>
                <c:ext xmlns:c15="http://schemas.microsoft.com/office/drawing/2012/chart" uri="{CE6537A1-D6FC-4f65-9D91-7224C49458BB}"/>
              </c:extLst>
            </c:dLbl>
            <c:dLbl>
              <c:idx val="18"/>
              <c:delete val="1"/>
              <c:extLst>
                <c:ext xmlns:c15="http://schemas.microsoft.com/office/drawing/2012/chart" uri="{CE6537A1-D6FC-4f65-9D91-7224C49458BB}"/>
              </c:extLst>
            </c:dLbl>
            <c:dLbl>
              <c:idx val="19"/>
              <c:delete val="1"/>
              <c:extLst>
                <c:ext xmlns:c15="http://schemas.microsoft.com/office/drawing/2012/chart" uri="{CE6537A1-D6FC-4f65-9D91-7224C49458BB}"/>
              </c:extLst>
            </c:dLbl>
            <c:dLbl>
              <c:idx val="20"/>
              <c:delete val="1"/>
              <c:extLst>
                <c:ext xmlns:c15="http://schemas.microsoft.com/office/drawing/2012/chart" uri="{CE6537A1-D6FC-4f65-9D91-7224C49458BB}"/>
              </c:extLst>
            </c:dLbl>
            <c:dLbl>
              <c:idx val="21"/>
              <c:delete val="1"/>
              <c:extLst>
                <c:ext xmlns:c15="http://schemas.microsoft.com/office/drawing/2012/chart" uri="{CE6537A1-D6FC-4f65-9D91-7224C49458BB}"/>
              </c:extLst>
            </c:dLbl>
            <c:dLbl>
              <c:idx val="22"/>
              <c:delete val="1"/>
              <c:extLst>
                <c:ext xmlns:c15="http://schemas.microsoft.com/office/drawing/2012/chart" uri="{CE6537A1-D6FC-4f65-9D91-7224C49458BB}"/>
              </c:extLst>
            </c:dLbl>
            <c:dLbl>
              <c:idx val="23"/>
              <c:delete val="1"/>
              <c:extLst>
                <c:ext xmlns:c15="http://schemas.microsoft.com/office/drawing/2012/chart" uri="{CE6537A1-D6FC-4f65-9D91-7224C49458BB}"/>
              </c:extLst>
            </c:dLbl>
            <c:dLbl>
              <c:idx val="24"/>
              <c:delete val="1"/>
              <c:extLst>
                <c:ext xmlns:c15="http://schemas.microsoft.com/office/drawing/2012/chart" uri="{CE6537A1-D6FC-4f65-9D91-7224C49458BB}"/>
              </c:extLst>
            </c:dLbl>
            <c:dLbl>
              <c:idx val="25"/>
              <c:delete val="1"/>
              <c:extLst>
                <c:ext xmlns:c15="http://schemas.microsoft.com/office/drawing/2012/chart" uri="{CE6537A1-D6FC-4f65-9D91-7224C49458BB}"/>
              </c:extLst>
            </c:dLbl>
            <c:dLbl>
              <c:idx val="26"/>
              <c:delete val="1"/>
              <c:extLst>
                <c:ext xmlns:c15="http://schemas.microsoft.com/office/drawing/2012/chart" uri="{CE6537A1-D6FC-4f65-9D91-7224C49458BB}"/>
              </c:extLst>
            </c:dLbl>
            <c:dLbl>
              <c:idx val="27"/>
              <c:delete val="1"/>
              <c:extLst>
                <c:ext xmlns:c15="http://schemas.microsoft.com/office/drawing/2012/chart" uri="{CE6537A1-D6FC-4f65-9D91-7224C49458BB}"/>
              </c:extLst>
            </c:dLbl>
            <c:dLbl>
              <c:idx val="28"/>
              <c:delete val="1"/>
              <c:extLst>
                <c:ext xmlns:c15="http://schemas.microsoft.com/office/drawing/2012/chart" uri="{CE6537A1-D6FC-4f65-9D91-7224C49458BB}"/>
              </c:extLst>
            </c:dLbl>
            <c:dLbl>
              <c:idx val="29"/>
              <c:delete val="1"/>
              <c:extLst>
                <c:ext xmlns:c15="http://schemas.microsoft.com/office/drawing/2012/chart" uri="{CE6537A1-D6FC-4f65-9D91-7224C49458BB}"/>
              </c:extLst>
            </c:dLbl>
            <c:dLbl>
              <c:idx val="30"/>
              <c:delete val="1"/>
              <c:extLst>
                <c:ext xmlns:c15="http://schemas.microsoft.com/office/drawing/2012/chart" uri="{CE6537A1-D6FC-4f65-9D91-7224C49458BB}"/>
              </c:extLst>
            </c:dLbl>
            <c:dLbl>
              <c:idx val="31"/>
              <c:delete val="1"/>
              <c:extLst>
                <c:ext xmlns:c15="http://schemas.microsoft.com/office/drawing/2012/chart" uri="{CE6537A1-D6FC-4f65-9D91-7224C49458BB}"/>
              </c:extLst>
            </c:dLbl>
            <c:dLbl>
              <c:idx val="32"/>
              <c:delete val="1"/>
              <c:extLst>
                <c:ext xmlns:c15="http://schemas.microsoft.com/office/drawing/2012/chart" uri="{CE6537A1-D6FC-4f65-9D91-7224C49458BB}"/>
              </c:extLst>
            </c:dLbl>
            <c:dLbl>
              <c:idx val="33"/>
              <c:delete val="1"/>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U5MR!$A$9:$A$43</c:f>
              <c:numCache>
                <c:formatCode>General</c:formatCode>
                <c:ptCount val="35"/>
                <c:pt idx="0">
                  <c:v>1981</c:v>
                </c:pt>
                <c:pt idx="1">
                  <c:v>1982</c:v>
                </c:pt>
                <c:pt idx="2">
                  <c:v>1983</c:v>
                </c:pt>
                <c:pt idx="3">
                  <c:v>1984</c:v>
                </c:pt>
                <c:pt idx="4">
                  <c:v>1985</c:v>
                </c:pt>
                <c:pt idx="5">
                  <c:v>1986</c:v>
                </c:pt>
                <c:pt idx="6">
                  <c:v>1987</c:v>
                </c:pt>
                <c:pt idx="7">
                  <c:v>1988</c:v>
                </c:pt>
                <c:pt idx="8">
                  <c:v>1989</c:v>
                </c:pt>
                <c:pt idx="9">
                  <c:v>1990</c:v>
                </c:pt>
                <c:pt idx="10">
                  <c:v>1991</c:v>
                </c:pt>
                <c:pt idx="11">
                  <c:v>1992</c:v>
                </c:pt>
                <c:pt idx="12">
                  <c:v>1993</c:v>
                </c:pt>
                <c:pt idx="13">
                  <c:v>1994</c:v>
                </c:pt>
                <c:pt idx="14">
                  <c:v>1995</c:v>
                </c:pt>
                <c:pt idx="15">
                  <c:v>1996</c:v>
                </c:pt>
                <c:pt idx="16">
                  <c:v>1997</c:v>
                </c:pt>
                <c:pt idx="17">
                  <c:v>1998</c:v>
                </c:pt>
                <c:pt idx="18">
                  <c:v>1999</c:v>
                </c:pt>
                <c:pt idx="19">
                  <c:v>2000</c:v>
                </c:pt>
                <c:pt idx="20">
                  <c:v>2001</c:v>
                </c:pt>
                <c:pt idx="21">
                  <c:v>2002</c:v>
                </c:pt>
                <c:pt idx="22">
                  <c:v>2003</c:v>
                </c:pt>
                <c:pt idx="23">
                  <c:v>2004</c:v>
                </c:pt>
                <c:pt idx="24">
                  <c:v>2005</c:v>
                </c:pt>
                <c:pt idx="25">
                  <c:v>2006</c:v>
                </c:pt>
                <c:pt idx="26">
                  <c:v>2007</c:v>
                </c:pt>
                <c:pt idx="27">
                  <c:v>2008</c:v>
                </c:pt>
                <c:pt idx="28">
                  <c:v>2009</c:v>
                </c:pt>
                <c:pt idx="29">
                  <c:v>2010</c:v>
                </c:pt>
                <c:pt idx="30">
                  <c:v>2011</c:v>
                </c:pt>
                <c:pt idx="31">
                  <c:v>2012</c:v>
                </c:pt>
                <c:pt idx="32">
                  <c:v>2013</c:v>
                </c:pt>
                <c:pt idx="33">
                  <c:v>2014</c:v>
                </c:pt>
                <c:pt idx="34">
                  <c:v>2015</c:v>
                </c:pt>
              </c:numCache>
            </c:numRef>
          </c:cat>
          <c:val>
            <c:numRef>
              <c:f>U5MR!$D$9:$D$43</c:f>
              <c:numCache>
                <c:formatCode>General</c:formatCode>
                <c:ptCount val="35"/>
                <c:pt idx="1">
                  <c:v>121</c:v>
                </c:pt>
                <c:pt idx="2">
                  <c:v>147</c:v>
                </c:pt>
                <c:pt idx="3">
                  <c:v>142</c:v>
                </c:pt>
                <c:pt idx="4">
                  <c:v>131</c:v>
                </c:pt>
                <c:pt idx="5">
                  <c:v>124</c:v>
                </c:pt>
                <c:pt idx="6">
                  <c:v>126</c:v>
                </c:pt>
                <c:pt idx="7">
                  <c:v>118</c:v>
                </c:pt>
                <c:pt idx="8">
                  <c:v>100</c:v>
                </c:pt>
                <c:pt idx="9">
                  <c:v>100</c:v>
                </c:pt>
                <c:pt idx="10">
                  <c:v>96</c:v>
                </c:pt>
                <c:pt idx="11">
                  <c:v>93</c:v>
                </c:pt>
                <c:pt idx="12">
                  <c:v>90</c:v>
                </c:pt>
                <c:pt idx="13">
                  <c:v>87</c:v>
                </c:pt>
                <c:pt idx="14">
                  <c:v>83</c:v>
                </c:pt>
                <c:pt idx="15">
                  <c:v>73</c:v>
                </c:pt>
                <c:pt idx="16">
                  <c:v>69</c:v>
                </c:pt>
                <c:pt idx="17">
                  <c:v>65</c:v>
                </c:pt>
                <c:pt idx="18">
                  <c:v>62</c:v>
                </c:pt>
                <c:pt idx="19">
                  <c:v>55</c:v>
                </c:pt>
                <c:pt idx="20">
                  <c:v>52</c:v>
                </c:pt>
                <c:pt idx="21">
                  <c:v>55</c:v>
                </c:pt>
                <c:pt idx="22">
                  <c:v>55</c:v>
                </c:pt>
                <c:pt idx="23">
                  <c:v>60</c:v>
                </c:pt>
                <c:pt idx="24">
                  <c:v>56</c:v>
                </c:pt>
                <c:pt idx="25">
                  <c:v>53</c:v>
                </c:pt>
                <c:pt idx="26">
                  <c:v>54</c:v>
                </c:pt>
                <c:pt idx="27" formatCode="0">
                  <c:v>49.55</c:v>
                </c:pt>
                <c:pt idx="28">
                  <c:v>47</c:v>
                </c:pt>
                <c:pt idx="29">
                  <c:v>44</c:v>
                </c:pt>
                <c:pt idx="30">
                  <c:v>39</c:v>
                </c:pt>
                <c:pt idx="31">
                  <c:v>37</c:v>
                </c:pt>
                <c:pt idx="32">
                  <c:v>35</c:v>
                </c:pt>
                <c:pt idx="33">
                  <c:v>30</c:v>
                </c:pt>
                <c:pt idx="34">
                  <c:v>32</c:v>
                </c:pt>
              </c:numCache>
            </c:numRef>
          </c:val>
        </c:ser>
        <c:marker val="1"/>
        <c:axId val="109743104"/>
        <c:axId val="109658880"/>
      </c:lineChart>
      <c:catAx>
        <c:axId val="109743104"/>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09658880"/>
        <c:crosses val="autoZero"/>
        <c:auto val="1"/>
        <c:lblAlgn val="ctr"/>
        <c:lblOffset val="100"/>
      </c:catAx>
      <c:valAx>
        <c:axId val="109658880"/>
        <c:scaling>
          <c:orientation val="minMax"/>
        </c:scaling>
        <c:axPos val="l"/>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09743104"/>
        <c:crosses val="autoZero"/>
        <c:crossBetween val="between"/>
      </c:valAx>
      <c:spPr>
        <a:noFill/>
        <a:ln>
          <a:noFill/>
        </a:ln>
        <a:effectLst/>
      </c:spPr>
    </c:plotArea>
    <c:legend>
      <c:legendPos val="b"/>
      <c:layout/>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chart>
  <c:spPr>
    <a:noFill/>
    <a:ln>
      <a:noFill/>
    </a:ln>
    <a:effectLst/>
  </c:spPr>
  <c:txPr>
    <a:bodyPr/>
    <a:lstStyle/>
    <a:p>
      <a:pPr>
        <a:defRPr/>
      </a:pPr>
      <a:endParaRPr lang="en-US"/>
    </a:p>
  </c:txPr>
  <c:externalData r:id="rId1"/>
</c:chartSpace>
</file>

<file path=ppt/charts/chart3.xml><?xml version="1.0" encoding="utf-8"?>
<c:chartSpace xmlns:c="http://schemas.openxmlformats.org/drawingml/2006/chart" xmlns:a="http://schemas.openxmlformats.org/drawingml/2006/main" xmlns:r="http://schemas.openxmlformats.org/officeDocument/2006/relationships">
  <c:date1904 val="1"/>
  <c:lang val="en-US"/>
  <c:chart>
    <c:title>
      <c:tx>
        <c:rich>
          <a:bodyPr rot="0" spcFirstLastPara="1" vertOverflow="ellipsis" vert="horz" wrap="square" anchor="ctr" anchorCtr="1"/>
          <a:lstStyle/>
          <a:p>
            <a:pPr>
              <a:defRPr sz="1800" b="1" i="0" u="none" strike="noStrike" kern="1200" spc="0" baseline="0">
                <a:solidFill>
                  <a:schemeClr val="tx1">
                    <a:lumMod val="65000"/>
                    <a:lumOff val="35000"/>
                  </a:schemeClr>
                </a:solidFill>
                <a:latin typeface="+mn-lt"/>
                <a:ea typeface="+mn-ea"/>
                <a:cs typeface="+mn-cs"/>
              </a:defRPr>
            </a:pPr>
            <a:r>
              <a:rPr lang="en-US" sz="1800" b="1" dirty="0"/>
              <a:t>MMR per </a:t>
            </a:r>
            <a:r>
              <a:rPr lang="en-US" sz="1800" b="1" dirty="0" smtClean="0"/>
              <a:t>100,000 </a:t>
            </a:r>
            <a:r>
              <a:rPr lang="en-US" sz="1800" b="1" dirty="0"/>
              <a:t>LB</a:t>
            </a:r>
          </a:p>
        </c:rich>
      </c:tx>
      <c:layout/>
      <c:spPr>
        <a:noFill/>
        <a:ln>
          <a:noFill/>
        </a:ln>
        <a:effectLst/>
      </c:spPr>
    </c:title>
    <c:plotArea>
      <c:layout/>
      <c:lineChart>
        <c:grouping val="standard"/>
        <c:ser>
          <c:idx val="0"/>
          <c:order val="0"/>
          <c:tx>
            <c:strRef>
              <c:f>MMR!$B$2</c:f>
              <c:strCache>
                <c:ptCount val="1"/>
                <c:pt idx="0">
                  <c:v>National </c:v>
                </c:pt>
              </c:strCache>
            </c:strRef>
          </c:tx>
          <c:spPr>
            <a:ln w="28575" cap="rnd">
              <a:solidFill>
                <a:schemeClr val="accent1"/>
              </a:solidFill>
              <a:round/>
            </a:ln>
            <a:effectLst/>
          </c:spPr>
          <c:marker>
            <c:symbol val="none"/>
          </c:marker>
          <c:dLbls>
            <c:dLbl>
              <c:idx val="1"/>
              <c:delete val="1"/>
              <c:extLst>
                <c:ext xmlns:c15="http://schemas.microsoft.com/office/drawing/2012/chart" uri="{CE6537A1-D6FC-4f65-9D91-7224C49458BB}"/>
              </c:extLst>
            </c:dLbl>
            <c:dLbl>
              <c:idx val="2"/>
              <c:delete val="1"/>
              <c:extLst>
                <c:ext xmlns:c15="http://schemas.microsoft.com/office/drawing/2012/chart" uri="{CE6537A1-D6FC-4f65-9D91-7224C49458BB}"/>
              </c:extLst>
            </c:dLbl>
            <c:dLbl>
              <c:idx val="3"/>
              <c:delete val="1"/>
              <c:extLst>
                <c:ext xmlns:c15="http://schemas.microsoft.com/office/drawing/2012/chart" uri="{CE6537A1-D6FC-4f65-9D91-7224C49458BB}"/>
              </c:extLst>
            </c:dLbl>
            <c:dLbl>
              <c:idx val="5"/>
              <c:delete val="1"/>
              <c:extLst>
                <c:ext xmlns:c15="http://schemas.microsoft.com/office/drawing/2012/chart" uri="{CE6537A1-D6FC-4f65-9D91-7224C49458BB}"/>
              </c:extLst>
            </c:dLbl>
            <c:dLbl>
              <c:idx val="6"/>
              <c:delete val="1"/>
              <c:extLst>
                <c:ext xmlns:c15="http://schemas.microsoft.com/office/drawing/2012/chart" uri="{CE6537A1-D6FC-4f65-9D91-7224C49458BB}"/>
              </c:extLst>
            </c:dLbl>
            <c:dLbl>
              <c:idx val="7"/>
              <c:delete val="1"/>
              <c:extLst>
                <c:ext xmlns:c15="http://schemas.microsoft.com/office/drawing/2012/chart" uri="{CE6537A1-D6FC-4f65-9D91-7224C49458BB}"/>
              </c:extLst>
            </c:dLbl>
            <c:dLbl>
              <c:idx val="8"/>
              <c:delete val="1"/>
              <c:extLst>
                <c:ext xmlns:c15="http://schemas.microsoft.com/office/drawing/2012/chart" uri="{CE6537A1-D6FC-4f65-9D91-7224C49458BB}"/>
              </c:extLst>
            </c:dLbl>
            <c:dLbl>
              <c:idx val="9"/>
              <c:delete val="1"/>
              <c:extLst>
                <c:ext xmlns:c15="http://schemas.microsoft.com/office/drawing/2012/chart" uri="{CE6537A1-D6FC-4f65-9D91-7224C49458BB}"/>
              </c:extLst>
            </c:dLbl>
            <c:dLbl>
              <c:idx val="10"/>
              <c:delete val="1"/>
              <c:extLst>
                <c:ext xmlns:c15="http://schemas.microsoft.com/office/drawing/2012/chart" uri="{CE6537A1-D6FC-4f65-9D91-7224C49458BB}"/>
              </c:extLst>
            </c:dLbl>
            <c:dLbl>
              <c:idx val="11"/>
              <c:delete val="1"/>
              <c:extLst>
                <c:ext xmlns:c15="http://schemas.microsoft.com/office/drawing/2012/chart" uri="{CE6537A1-D6FC-4f65-9D91-7224C49458BB}"/>
              </c:extLst>
            </c:dLbl>
            <c:dLbl>
              <c:idx val="12"/>
              <c:delete val="1"/>
              <c:extLst>
                <c:ext xmlns:c15="http://schemas.microsoft.com/office/drawing/2012/chart" uri="{CE6537A1-D6FC-4f65-9D91-7224C49458BB}"/>
              </c:extLst>
            </c:dLbl>
            <c:dLbl>
              <c:idx val="13"/>
              <c:delete val="1"/>
              <c:extLst>
                <c:ext xmlns:c15="http://schemas.microsoft.com/office/drawing/2012/chart" uri="{CE6537A1-D6FC-4f65-9D91-7224C49458BB}"/>
              </c:extLst>
            </c:dLbl>
            <c:dLbl>
              <c:idx val="14"/>
              <c:delete val="1"/>
              <c:extLst>
                <c:ext xmlns:c15="http://schemas.microsoft.com/office/drawing/2012/chart" uri="{CE6537A1-D6FC-4f65-9D91-7224C49458BB}"/>
              </c:extLst>
            </c:dLbl>
            <c:dLbl>
              <c:idx val="15"/>
              <c:delete val="1"/>
              <c:extLst>
                <c:ext xmlns:c15="http://schemas.microsoft.com/office/drawing/2012/chart" uri="{CE6537A1-D6FC-4f65-9D91-7224C49458BB}"/>
              </c:extLst>
            </c:dLbl>
            <c:dLbl>
              <c:idx val="16"/>
              <c:delete val="1"/>
              <c:extLst>
                <c:ext xmlns:c15="http://schemas.microsoft.com/office/drawing/2012/chart" uri="{CE6537A1-D6FC-4f65-9D91-7224C49458BB}"/>
              </c:extLst>
            </c:dLbl>
            <c:dLbl>
              <c:idx val="17"/>
              <c:delete val="1"/>
              <c:extLst>
                <c:ext xmlns:c15="http://schemas.microsoft.com/office/drawing/2012/chart" uri="{CE6537A1-D6FC-4f65-9D91-7224C49458BB}"/>
              </c:extLst>
            </c:dLbl>
            <c:dLbl>
              <c:idx val="18"/>
              <c:delete val="1"/>
              <c:extLst>
                <c:ext xmlns:c15="http://schemas.microsoft.com/office/drawing/2012/chart" uri="{CE6537A1-D6FC-4f65-9D91-7224C49458BB}"/>
              </c:extLst>
            </c:dLbl>
            <c:dLbl>
              <c:idx val="19"/>
              <c:delete val="1"/>
              <c:extLst>
                <c:ext xmlns:c15="http://schemas.microsoft.com/office/drawing/2012/chart" uri="{CE6537A1-D6FC-4f65-9D91-7224C49458BB}"/>
              </c:extLst>
            </c:dLbl>
            <c:dLbl>
              <c:idx val="20"/>
              <c:delete val="1"/>
              <c:extLst>
                <c:ext xmlns:c15="http://schemas.microsoft.com/office/drawing/2012/chart" uri="{CE6537A1-D6FC-4f65-9D91-7224C49458BB}"/>
              </c:extLst>
            </c:dLbl>
            <c:dLbl>
              <c:idx val="21"/>
              <c:delete val="1"/>
              <c:extLst>
                <c:ext xmlns:c15="http://schemas.microsoft.com/office/drawing/2012/chart" uri="{CE6537A1-D6FC-4f65-9D91-7224C49458BB}"/>
              </c:extLst>
            </c:dLbl>
            <c:dLbl>
              <c:idx val="22"/>
              <c:delete val="1"/>
              <c:extLst>
                <c:ext xmlns:c15="http://schemas.microsoft.com/office/drawing/2012/chart" uri="{CE6537A1-D6FC-4f65-9D91-7224C49458BB}"/>
              </c:extLst>
            </c:dLbl>
            <c:dLbl>
              <c:idx val="23"/>
              <c:delete val="1"/>
              <c:extLst>
                <c:ext xmlns:c15="http://schemas.microsoft.com/office/drawing/2012/chart" uri="{CE6537A1-D6FC-4f65-9D91-7224C49458BB}"/>
              </c:extLst>
            </c:dLbl>
            <c:dLbl>
              <c:idx val="24"/>
              <c:delete val="1"/>
              <c:extLst>
                <c:ext xmlns:c15="http://schemas.microsoft.com/office/drawing/2012/chart" uri="{CE6537A1-D6FC-4f65-9D91-7224C49458BB}"/>
              </c:extLst>
            </c:dLbl>
            <c:dLbl>
              <c:idx val="25"/>
              <c:delete val="1"/>
              <c:extLst>
                <c:ext xmlns:c15="http://schemas.microsoft.com/office/drawing/2012/chart" uri="{CE6537A1-D6FC-4f65-9D91-7224C49458BB}"/>
              </c:extLst>
            </c:dLbl>
            <c:dLbl>
              <c:idx val="26"/>
              <c:delete val="1"/>
              <c:extLst>
                <c:ext xmlns:c15="http://schemas.microsoft.com/office/drawing/2012/chart" uri="{CE6537A1-D6FC-4f65-9D91-7224C49458BB}"/>
              </c:extLst>
            </c:dLbl>
            <c:dLbl>
              <c:idx val="27"/>
              <c:delete val="1"/>
              <c:extLst>
                <c:ext xmlns:c15="http://schemas.microsoft.com/office/drawing/2012/chart" uri="{CE6537A1-D6FC-4f65-9D91-7224C49458BB}"/>
              </c:extLst>
            </c:dLbl>
            <c:dLbl>
              <c:idx val="28"/>
              <c:delete val="1"/>
              <c:extLst>
                <c:ext xmlns:c15="http://schemas.microsoft.com/office/drawing/2012/chart" uri="{CE6537A1-D6FC-4f65-9D91-7224C49458BB}"/>
              </c:extLst>
            </c:dLbl>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l"/>
            <c:showVal val="1"/>
            <c:extLst>
              <c:ext xmlns:c15="http://schemas.microsoft.com/office/drawing/2012/chart" uri="{CE6537A1-D6FC-4f65-9D91-7224C49458BB}">
                <c15:spPr xmlns:c15="http://schemas.microsoft.com/office/drawing/2012/chart">
                  <a:prstGeom prst="ellipse">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numRef>
              <c:f>MMR!$A$3:$A$32</c:f>
              <c:numCache>
                <c:formatCode>General</c:formatCode>
                <c:ptCount val="30"/>
                <c:pt idx="0">
                  <c:v>1986</c:v>
                </c:pt>
                <c:pt idx="1">
                  <c:v>1987</c:v>
                </c:pt>
                <c:pt idx="2">
                  <c:v>1988</c:v>
                </c:pt>
                <c:pt idx="3">
                  <c:v>1989</c:v>
                </c:pt>
                <c:pt idx="4">
                  <c:v>1990</c:v>
                </c:pt>
                <c:pt idx="5">
                  <c:v>1991</c:v>
                </c:pt>
                <c:pt idx="6">
                  <c:v>1992</c:v>
                </c:pt>
                <c:pt idx="7">
                  <c:v>1993</c:v>
                </c:pt>
                <c:pt idx="8">
                  <c:v>1994</c:v>
                </c:pt>
                <c:pt idx="9">
                  <c:v>1995</c:v>
                </c:pt>
                <c:pt idx="10">
                  <c:v>1996</c:v>
                </c:pt>
                <c:pt idx="11">
                  <c:v>1997</c:v>
                </c:pt>
                <c:pt idx="12">
                  <c:v>1998</c:v>
                </c:pt>
                <c:pt idx="13">
                  <c:v>1999</c:v>
                </c:pt>
                <c:pt idx="14">
                  <c:v>2000</c:v>
                </c:pt>
                <c:pt idx="15">
                  <c:v>2001</c:v>
                </c:pt>
                <c:pt idx="16">
                  <c:v>2002</c:v>
                </c:pt>
                <c:pt idx="17">
                  <c:v>2003</c:v>
                </c:pt>
                <c:pt idx="18">
                  <c:v>2004</c:v>
                </c:pt>
                <c:pt idx="19">
                  <c:v>2005</c:v>
                </c:pt>
                <c:pt idx="20">
                  <c:v>2006</c:v>
                </c:pt>
                <c:pt idx="21">
                  <c:v>2007</c:v>
                </c:pt>
                <c:pt idx="22">
                  <c:v>2008</c:v>
                </c:pt>
                <c:pt idx="23">
                  <c:v>2009</c:v>
                </c:pt>
                <c:pt idx="24">
                  <c:v>2010</c:v>
                </c:pt>
                <c:pt idx="25">
                  <c:v>2011</c:v>
                </c:pt>
                <c:pt idx="26">
                  <c:v>2012</c:v>
                </c:pt>
                <c:pt idx="27">
                  <c:v>2013</c:v>
                </c:pt>
                <c:pt idx="28">
                  <c:v>2014</c:v>
                </c:pt>
                <c:pt idx="29">
                  <c:v>2015</c:v>
                </c:pt>
              </c:numCache>
            </c:numRef>
          </c:cat>
          <c:val>
            <c:numRef>
              <c:f>MMR!$B$3:$B$32</c:f>
              <c:numCache>
                <c:formatCode>General</c:formatCode>
                <c:ptCount val="30"/>
                <c:pt idx="0">
                  <c:v>648</c:v>
                </c:pt>
                <c:pt idx="1">
                  <c:v>596</c:v>
                </c:pt>
                <c:pt idx="2">
                  <c:v>572</c:v>
                </c:pt>
                <c:pt idx="3">
                  <c:v>508</c:v>
                </c:pt>
                <c:pt idx="4">
                  <c:v>478</c:v>
                </c:pt>
                <c:pt idx="5">
                  <c:v>472</c:v>
                </c:pt>
                <c:pt idx="6">
                  <c:v>468</c:v>
                </c:pt>
                <c:pt idx="7">
                  <c:v>452</c:v>
                </c:pt>
                <c:pt idx="8">
                  <c:v>449</c:v>
                </c:pt>
                <c:pt idx="9">
                  <c:v>447</c:v>
                </c:pt>
                <c:pt idx="10">
                  <c:v>444</c:v>
                </c:pt>
                <c:pt idx="11">
                  <c:v>350</c:v>
                </c:pt>
                <c:pt idx="12">
                  <c:v>323</c:v>
                </c:pt>
                <c:pt idx="13">
                  <c:v>320</c:v>
                </c:pt>
                <c:pt idx="14">
                  <c:v>318</c:v>
                </c:pt>
                <c:pt idx="15">
                  <c:v>315</c:v>
                </c:pt>
                <c:pt idx="16">
                  <c:v>391</c:v>
                </c:pt>
                <c:pt idx="17">
                  <c:v>376</c:v>
                </c:pt>
                <c:pt idx="18">
                  <c:v>365</c:v>
                </c:pt>
                <c:pt idx="19">
                  <c:v>348</c:v>
                </c:pt>
                <c:pt idx="20">
                  <c:v>337</c:v>
                </c:pt>
                <c:pt idx="21">
                  <c:v>351</c:v>
                </c:pt>
                <c:pt idx="22">
                  <c:v>348</c:v>
                </c:pt>
                <c:pt idx="23">
                  <c:v>259</c:v>
                </c:pt>
                <c:pt idx="24">
                  <c:v>216</c:v>
                </c:pt>
                <c:pt idx="25">
                  <c:v>209</c:v>
                </c:pt>
                <c:pt idx="26">
                  <c:v>203</c:v>
                </c:pt>
                <c:pt idx="27">
                  <c:v>197</c:v>
                </c:pt>
                <c:pt idx="28">
                  <c:v>193</c:v>
                </c:pt>
                <c:pt idx="29">
                  <c:v>181</c:v>
                </c:pt>
              </c:numCache>
            </c:numRef>
          </c:val>
        </c:ser>
        <c:ser>
          <c:idx val="1"/>
          <c:order val="1"/>
          <c:tx>
            <c:strRef>
              <c:f>MMR!$C$2</c:f>
              <c:strCache>
                <c:ptCount val="1"/>
                <c:pt idx="0">
                  <c:v>Rural </c:v>
                </c:pt>
              </c:strCache>
            </c:strRef>
          </c:tx>
          <c:spPr>
            <a:ln w="28575" cap="rnd">
              <a:solidFill>
                <a:schemeClr val="accent2"/>
              </a:solidFill>
              <a:round/>
            </a:ln>
            <a:effectLst/>
          </c:spPr>
          <c:marker>
            <c:symbol val="none"/>
          </c:marker>
          <c:dLbls>
            <c:dLbl>
              <c:idx val="1"/>
              <c:delete val="1"/>
              <c:extLst>
                <c:ext xmlns:c15="http://schemas.microsoft.com/office/drawing/2012/chart" uri="{CE6537A1-D6FC-4f65-9D91-7224C49458BB}"/>
              </c:extLst>
            </c:dLbl>
            <c:dLbl>
              <c:idx val="2"/>
              <c:delete val="1"/>
              <c:extLst>
                <c:ext xmlns:c15="http://schemas.microsoft.com/office/drawing/2012/chart" uri="{CE6537A1-D6FC-4f65-9D91-7224C49458BB}"/>
              </c:extLst>
            </c:dLbl>
            <c:dLbl>
              <c:idx val="4"/>
              <c:delete val="1"/>
              <c:extLst>
                <c:ext xmlns:c15="http://schemas.microsoft.com/office/drawing/2012/chart" uri="{CE6537A1-D6FC-4f65-9D91-7224C49458BB}"/>
              </c:extLst>
            </c:dLbl>
            <c:dLbl>
              <c:idx val="5"/>
              <c:delete val="1"/>
              <c:extLst>
                <c:ext xmlns:c15="http://schemas.microsoft.com/office/drawing/2012/chart" uri="{CE6537A1-D6FC-4f65-9D91-7224C49458BB}"/>
              </c:extLst>
            </c:dLbl>
            <c:dLbl>
              <c:idx val="6"/>
              <c:delete val="1"/>
              <c:extLst>
                <c:ext xmlns:c15="http://schemas.microsoft.com/office/drawing/2012/chart" uri="{CE6537A1-D6FC-4f65-9D91-7224C49458BB}"/>
              </c:extLst>
            </c:dLbl>
            <c:dLbl>
              <c:idx val="7"/>
              <c:delete val="1"/>
              <c:extLst>
                <c:ext xmlns:c15="http://schemas.microsoft.com/office/drawing/2012/chart" uri="{CE6537A1-D6FC-4f65-9D91-7224C49458BB}"/>
              </c:extLst>
            </c:dLbl>
            <c:dLbl>
              <c:idx val="8"/>
              <c:delete val="1"/>
              <c:extLst>
                <c:ext xmlns:c15="http://schemas.microsoft.com/office/drawing/2012/chart" uri="{CE6537A1-D6FC-4f65-9D91-7224C49458BB}"/>
              </c:extLst>
            </c:dLbl>
            <c:dLbl>
              <c:idx val="9"/>
              <c:delete val="1"/>
              <c:extLst>
                <c:ext xmlns:c15="http://schemas.microsoft.com/office/drawing/2012/chart" uri="{CE6537A1-D6FC-4f65-9D91-7224C49458BB}"/>
              </c:extLst>
            </c:dLbl>
            <c:dLbl>
              <c:idx val="10"/>
              <c:delete val="1"/>
              <c:extLst>
                <c:ext xmlns:c15="http://schemas.microsoft.com/office/drawing/2012/chart" uri="{CE6537A1-D6FC-4f65-9D91-7224C49458BB}"/>
              </c:extLst>
            </c:dLbl>
            <c:dLbl>
              <c:idx val="11"/>
              <c:delete val="1"/>
              <c:extLst>
                <c:ext xmlns:c15="http://schemas.microsoft.com/office/drawing/2012/chart" uri="{CE6537A1-D6FC-4f65-9D91-7224C49458BB}"/>
              </c:extLst>
            </c:dLbl>
            <c:dLbl>
              <c:idx val="12"/>
              <c:delete val="1"/>
              <c:extLst>
                <c:ext xmlns:c15="http://schemas.microsoft.com/office/drawing/2012/chart" uri="{CE6537A1-D6FC-4f65-9D91-7224C49458BB}"/>
              </c:extLst>
            </c:dLbl>
            <c:dLbl>
              <c:idx val="13"/>
              <c:delete val="1"/>
              <c:extLst>
                <c:ext xmlns:c15="http://schemas.microsoft.com/office/drawing/2012/chart" uri="{CE6537A1-D6FC-4f65-9D91-7224C49458BB}"/>
              </c:extLst>
            </c:dLbl>
            <c:dLbl>
              <c:idx val="14"/>
              <c:delete val="1"/>
              <c:extLst>
                <c:ext xmlns:c15="http://schemas.microsoft.com/office/drawing/2012/chart" uri="{CE6537A1-D6FC-4f65-9D91-7224C49458BB}"/>
              </c:extLst>
            </c:dLbl>
            <c:dLbl>
              <c:idx val="15"/>
              <c:delete val="1"/>
              <c:extLst>
                <c:ext xmlns:c15="http://schemas.microsoft.com/office/drawing/2012/chart" uri="{CE6537A1-D6FC-4f65-9D91-7224C49458BB}"/>
              </c:extLst>
            </c:dLbl>
            <c:dLbl>
              <c:idx val="16"/>
              <c:delete val="1"/>
              <c:extLst>
                <c:ext xmlns:c15="http://schemas.microsoft.com/office/drawing/2012/chart" uri="{CE6537A1-D6FC-4f65-9D91-7224C49458BB}"/>
              </c:extLst>
            </c:dLbl>
            <c:dLbl>
              <c:idx val="17"/>
              <c:delete val="1"/>
              <c:extLst>
                <c:ext xmlns:c15="http://schemas.microsoft.com/office/drawing/2012/chart" uri="{CE6537A1-D6FC-4f65-9D91-7224C49458BB}"/>
              </c:extLst>
            </c:dLbl>
            <c:dLbl>
              <c:idx val="18"/>
              <c:delete val="1"/>
              <c:extLst>
                <c:ext xmlns:c15="http://schemas.microsoft.com/office/drawing/2012/chart" uri="{CE6537A1-D6FC-4f65-9D91-7224C49458BB}"/>
              </c:extLst>
            </c:dLbl>
            <c:dLbl>
              <c:idx val="19"/>
              <c:delete val="1"/>
              <c:extLst>
                <c:ext xmlns:c15="http://schemas.microsoft.com/office/drawing/2012/chart" uri="{CE6537A1-D6FC-4f65-9D91-7224C49458BB}"/>
              </c:extLst>
            </c:dLbl>
            <c:dLbl>
              <c:idx val="20"/>
              <c:delete val="1"/>
              <c:extLst>
                <c:ext xmlns:c15="http://schemas.microsoft.com/office/drawing/2012/chart" uri="{CE6537A1-D6FC-4f65-9D91-7224C49458BB}"/>
              </c:extLst>
            </c:dLbl>
            <c:dLbl>
              <c:idx val="21"/>
              <c:delete val="1"/>
              <c:extLst>
                <c:ext xmlns:c15="http://schemas.microsoft.com/office/drawing/2012/chart" uri="{CE6537A1-D6FC-4f65-9D91-7224C49458BB}"/>
              </c:extLst>
            </c:dLbl>
            <c:dLbl>
              <c:idx val="22"/>
              <c:delete val="1"/>
              <c:extLst>
                <c:ext xmlns:c15="http://schemas.microsoft.com/office/drawing/2012/chart" uri="{CE6537A1-D6FC-4f65-9D91-7224C49458BB}"/>
              </c:extLst>
            </c:dLbl>
            <c:dLbl>
              <c:idx val="23"/>
              <c:delete val="1"/>
              <c:extLst>
                <c:ext xmlns:c15="http://schemas.microsoft.com/office/drawing/2012/chart" uri="{CE6537A1-D6FC-4f65-9D91-7224C49458BB}"/>
              </c:extLst>
            </c:dLbl>
            <c:dLbl>
              <c:idx val="24"/>
              <c:delete val="1"/>
              <c:extLst>
                <c:ext xmlns:c15="http://schemas.microsoft.com/office/drawing/2012/chart" uri="{CE6537A1-D6FC-4f65-9D91-7224C49458BB}"/>
              </c:extLst>
            </c:dLbl>
            <c:dLbl>
              <c:idx val="25"/>
              <c:delete val="1"/>
              <c:extLst>
                <c:ext xmlns:c15="http://schemas.microsoft.com/office/drawing/2012/chart" uri="{CE6537A1-D6FC-4f65-9D91-7224C49458BB}"/>
              </c:extLst>
            </c:dLbl>
            <c:dLbl>
              <c:idx val="26"/>
              <c:delete val="1"/>
              <c:extLst>
                <c:ext xmlns:c15="http://schemas.microsoft.com/office/drawing/2012/chart" uri="{CE6537A1-D6FC-4f65-9D91-7224C49458BB}"/>
              </c:extLst>
            </c:dLbl>
            <c:dLbl>
              <c:idx val="27"/>
              <c:delete val="1"/>
              <c:extLst>
                <c:ext xmlns:c15="http://schemas.microsoft.com/office/drawing/2012/chart" uri="{CE6537A1-D6FC-4f65-9D91-7224C49458BB}"/>
              </c:extLst>
            </c:dLbl>
            <c:dLbl>
              <c:idx val="28"/>
              <c:delete val="1"/>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MMR!$A$3:$A$32</c:f>
              <c:numCache>
                <c:formatCode>General</c:formatCode>
                <c:ptCount val="30"/>
                <c:pt idx="0">
                  <c:v>1986</c:v>
                </c:pt>
                <c:pt idx="1">
                  <c:v>1987</c:v>
                </c:pt>
                <c:pt idx="2">
                  <c:v>1988</c:v>
                </c:pt>
                <c:pt idx="3">
                  <c:v>1989</c:v>
                </c:pt>
                <c:pt idx="4">
                  <c:v>1990</c:v>
                </c:pt>
                <c:pt idx="5">
                  <c:v>1991</c:v>
                </c:pt>
                <c:pt idx="6">
                  <c:v>1992</c:v>
                </c:pt>
                <c:pt idx="7">
                  <c:v>1993</c:v>
                </c:pt>
                <c:pt idx="8">
                  <c:v>1994</c:v>
                </c:pt>
                <c:pt idx="9">
                  <c:v>1995</c:v>
                </c:pt>
                <c:pt idx="10">
                  <c:v>1996</c:v>
                </c:pt>
                <c:pt idx="11">
                  <c:v>1997</c:v>
                </c:pt>
                <c:pt idx="12">
                  <c:v>1998</c:v>
                </c:pt>
                <c:pt idx="13">
                  <c:v>1999</c:v>
                </c:pt>
                <c:pt idx="14">
                  <c:v>2000</c:v>
                </c:pt>
                <c:pt idx="15">
                  <c:v>2001</c:v>
                </c:pt>
                <c:pt idx="16">
                  <c:v>2002</c:v>
                </c:pt>
                <c:pt idx="17">
                  <c:v>2003</c:v>
                </c:pt>
                <c:pt idx="18">
                  <c:v>2004</c:v>
                </c:pt>
                <c:pt idx="19">
                  <c:v>2005</c:v>
                </c:pt>
                <c:pt idx="20">
                  <c:v>2006</c:v>
                </c:pt>
                <c:pt idx="21">
                  <c:v>2007</c:v>
                </c:pt>
                <c:pt idx="22">
                  <c:v>2008</c:v>
                </c:pt>
                <c:pt idx="23">
                  <c:v>2009</c:v>
                </c:pt>
                <c:pt idx="24">
                  <c:v>2010</c:v>
                </c:pt>
                <c:pt idx="25">
                  <c:v>2011</c:v>
                </c:pt>
                <c:pt idx="26">
                  <c:v>2012</c:v>
                </c:pt>
                <c:pt idx="27">
                  <c:v>2013</c:v>
                </c:pt>
                <c:pt idx="28">
                  <c:v>2014</c:v>
                </c:pt>
                <c:pt idx="29">
                  <c:v>2015</c:v>
                </c:pt>
              </c:numCache>
            </c:numRef>
          </c:cat>
          <c:val>
            <c:numRef>
              <c:f>MMR!$C$3:$C$32</c:f>
              <c:numCache>
                <c:formatCode>General</c:formatCode>
                <c:ptCount val="30"/>
                <c:pt idx="0">
                  <c:v>669</c:v>
                </c:pt>
                <c:pt idx="1">
                  <c:v>613</c:v>
                </c:pt>
                <c:pt idx="2">
                  <c:v>598</c:v>
                </c:pt>
                <c:pt idx="3">
                  <c:v>578</c:v>
                </c:pt>
                <c:pt idx="4">
                  <c:v>502</c:v>
                </c:pt>
                <c:pt idx="5">
                  <c:v>484</c:v>
                </c:pt>
                <c:pt idx="6">
                  <c:v>480</c:v>
                </c:pt>
                <c:pt idx="7">
                  <c:v>468</c:v>
                </c:pt>
                <c:pt idx="8">
                  <c:v>460</c:v>
                </c:pt>
                <c:pt idx="9">
                  <c:v>452</c:v>
                </c:pt>
                <c:pt idx="10">
                  <c:v>450</c:v>
                </c:pt>
                <c:pt idx="11">
                  <c:v>378</c:v>
                </c:pt>
                <c:pt idx="12">
                  <c:v>336</c:v>
                </c:pt>
                <c:pt idx="13">
                  <c:v>333</c:v>
                </c:pt>
                <c:pt idx="14">
                  <c:v>329</c:v>
                </c:pt>
                <c:pt idx="15">
                  <c:v>326</c:v>
                </c:pt>
                <c:pt idx="16">
                  <c:v>417</c:v>
                </c:pt>
                <c:pt idx="17">
                  <c:v>402</c:v>
                </c:pt>
                <c:pt idx="18">
                  <c:v>387</c:v>
                </c:pt>
                <c:pt idx="19">
                  <c:v>358</c:v>
                </c:pt>
                <c:pt idx="20">
                  <c:v>375</c:v>
                </c:pt>
                <c:pt idx="21">
                  <c:v>386</c:v>
                </c:pt>
                <c:pt idx="22">
                  <c:v>393</c:v>
                </c:pt>
                <c:pt idx="23">
                  <c:v>285</c:v>
                </c:pt>
                <c:pt idx="24">
                  <c:v>230</c:v>
                </c:pt>
                <c:pt idx="25">
                  <c:v>215</c:v>
                </c:pt>
                <c:pt idx="26">
                  <c:v>210</c:v>
                </c:pt>
                <c:pt idx="27">
                  <c:v>211</c:v>
                </c:pt>
                <c:pt idx="28">
                  <c:v>196</c:v>
                </c:pt>
                <c:pt idx="29">
                  <c:v>191</c:v>
                </c:pt>
              </c:numCache>
            </c:numRef>
          </c:val>
        </c:ser>
        <c:ser>
          <c:idx val="2"/>
          <c:order val="2"/>
          <c:tx>
            <c:strRef>
              <c:f>MMR!$D$2</c:f>
              <c:strCache>
                <c:ptCount val="1"/>
                <c:pt idx="0">
                  <c:v>Urban </c:v>
                </c:pt>
              </c:strCache>
            </c:strRef>
          </c:tx>
          <c:spPr>
            <a:ln w="28575" cap="rnd">
              <a:solidFill>
                <a:schemeClr val="accent3"/>
              </a:solidFill>
              <a:round/>
            </a:ln>
            <a:effectLst/>
          </c:spPr>
          <c:marker>
            <c:symbol val="none"/>
          </c:marker>
          <c:dLbls>
            <c:dLbl>
              <c:idx val="1"/>
              <c:delete val="1"/>
              <c:extLst>
                <c:ext xmlns:c15="http://schemas.microsoft.com/office/drawing/2012/chart" uri="{CE6537A1-D6FC-4f65-9D91-7224C49458BB}"/>
              </c:extLst>
            </c:dLbl>
            <c:dLbl>
              <c:idx val="2"/>
              <c:delete val="1"/>
              <c:extLst>
                <c:ext xmlns:c15="http://schemas.microsoft.com/office/drawing/2012/chart" uri="{CE6537A1-D6FC-4f65-9D91-7224C49458BB}"/>
              </c:extLst>
            </c:dLbl>
            <c:dLbl>
              <c:idx val="3"/>
              <c:delete val="1"/>
              <c:extLst>
                <c:ext xmlns:c15="http://schemas.microsoft.com/office/drawing/2012/chart" uri="{CE6537A1-D6FC-4f65-9D91-7224C49458BB}"/>
              </c:extLst>
            </c:dLbl>
            <c:dLbl>
              <c:idx val="5"/>
              <c:delete val="1"/>
              <c:extLst>
                <c:ext xmlns:c15="http://schemas.microsoft.com/office/drawing/2012/chart" uri="{CE6537A1-D6FC-4f65-9D91-7224C49458BB}"/>
              </c:extLst>
            </c:dLbl>
            <c:dLbl>
              <c:idx val="6"/>
              <c:delete val="1"/>
              <c:extLst>
                <c:ext xmlns:c15="http://schemas.microsoft.com/office/drawing/2012/chart" uri="{CE6537A1-D6FC-4f65-9D91-7224C49458BB}"/>
              </c:extLst>
            </c:dLbl>
            <c:dLbl>
              <c:idx val="7"/>
              <c:delete val="1"/>
              <c:extLst>
                <c:ext xmlns:c15="http://schemas.microsoft.com/office/drawing/2012/chart" uri="{CE6537A1-D6FC-4f65-9D91-7224C49458BB}"/>
              </c:extLst>
            </c:dLbl>
            <c:dLbl>
              <c:idx val="8"/>
              <c:delete val="1"/>
              <c:extLst>
                <c:ext xmlns:c15="http://schemas.microsoft.com/office/drawing/2012/chart" uri="{CE6537A1-D6FC-4f65-9D91-7224C49458BB}"/>
              </c:extLst>
            </c:dLbl>
            <c:dLbl>
              <c:idx val="9"/>
              <c:delete val="1"/>
              <c:extLst>
                <c:ext xmlns:c15="http://schemas.microsoft.com/office/drawing/2012/chart" uri="{CE6537A1-D6FC-4f65-9D91-7224C49458BB}"/>
              </c:extLst>
            </c:dLbl>
            <c:dLbl>
              <c:idx val="10"/>
              <c:delete val="1"/>
              <c:extLst>
                <c:ext xmlns:c15="http://schemas.microsoft.com/office/drawing/2012/chart" uri="{CE6537A1-D6FC-4f65-9D91-7224C49458BB}"/>
              </c:extLst>
            </c:dLbl>
            <c:dLbl>
              <c:idx val="11"/>
              <c:delete val="1"/>
              <c:extLst>
                <c:ext xmlns:c15="http://schemas.microsoft.com/office/drawing/2012/chart" uri="{CE6537A1-D6FC-4f65-9D91-7224C49458BB}"/>
              </c:extLst>
            </c:dLbl>
            <c:dLbl>
              <c:idx val="12"/>
              <c:delete val="1"/>
              <c:extLst>
                <c:ext xmlns:c15="http://schemas.microsoft.com/office/drawing/2012/chart" uri="{CE6537A1-D6FC-4f65-9D91-7224C49458BB}"/>
              </c:extLst>
            </c:dLbl>
            <c:dLbl>
              <c:idx val="13"/>
              <c:delete val="1"/>
              <c:extLst>
                <c:ext xmlns:c15="http://schemas.microsoft.com/office/drawing/2012/chart" uri="{CE6537A1-D6FC-4f65-9D91-7224C49458BB}"/>
              </c:extLst>
            </c:dLbl>
            <c:dLbl>
              <c:idx val="14"/>
              <c:delete val="1"/>
              <c:extLst>
                <c:ext xmlns:c15="http://schemas.microsoft.com/office/drawing/2012/chart" uri="{CE6537A1-D6FC-4f65-9D91-7224C49458BB}"/>
              </c:extLst>
            </c:dLbl>
            <c:dLbl>
              <c:idx val="15"/>
              <c:delete val="1"/>
              <c:extLst>
                <c:ext xmlns:c15="http://schemas.microsoft.com/office/drawing/2012/chart" uri="{CE6537A1-D6FC-4f65-9D91-7224C49458BB}"/>
              </c:extLst>
            </c:dLbl>
            <c:dLbl>
              <c:idx val="16"/>
              <c:delete val="1"/>
              <c:extLst>
                <c:ext xmlns:c15="http://schemas.microsoft.com/office/drawing/2012/chart" uri="{CE6537A1-D6FC-4f65-9D91-7224C49458BB}"/>
              </c:extLst>
            </c:dLbl>
            <c:dLbl>
              <c:idx val="17"/>
              <c:delete val="1"/>
              <c:extLst>
                <c:ext xmlns:c15="http://schemas.microsoft.com/office/drawing/2012/chart" uri="{CE6537A1-D6FC-4f65-9D91-7224C49458BB}"/>
              </c:extLst>
            </c:dLbl>
            <c:dLbl>
              <c:idx val="18"/>
              <c:delete val="1"/>
              <c:extLst>
                <c:ext xmlns:c15="http://schemas.microsoft.com/office/drawing/2012/chart" uri="{CE6537A1-D6FC-4f65-9D91-7224C49458BB}"/>
              </c:extLst>
            </c:dLbl>
            <c:dLbl>
              <c:idx val="19"/>
              <c:delete val="1"/>
              <c:extLst>
                <c:ext xmlns:c15="http://schemas.microsoft.com/office/drawing/2012/chart" uri="{CE6537A1-D6FC-4f65-9D91-7224C49458BB}"/>
              </c:extLst>
            </c:dLbl>
            <c:dLbl>
              <c:idx val="20"/>
              <c:delete val="1"/>
              <c:extLst>
                <c:ext xmlns:c15="http://schemas.microsoft.com/office/drawing/2012/chart" uri="{CE6537A1-D6FC-4f65-9D91-7224C49458BB}"/>
              </c:extLst>
            </c:dLbl>
            <c:dLbl>
              <c:idx val="21"/>
              <c:delete val="1"/>
              <c:extLst>
                <c:ext xmlns:c15="http://schemas.microsoft.com/office/drawing/2012/chart" uri="{CE6537A1-D6FC-4f65-9D91-7224C49458BB}"/>
              </c:extLst>
            </c:dLbl>
            <c:dLbl>
              <c:idx val="22"/>
              <c:delete val="1"/>
              <c:extLst>
                <c:ext xmlns:c15="http://schemas.microsoft.com/office/drawing/2012/chart" uri="{CE6537A1-D6FC-4f65-9D91-7224C49458BB}"/>
              </c:extLst>
            </c:dLbl>
            <c:dLbl>
              <c:idx val="23"/>
              <c:delete val="1"/>
              <c:extLst>
                <c:ext xmlns:c15="http://schemas.microsoft.com/office/drawing/2012/chart" uri="{CE6537A1-D6FC-4f65-9D91-7224C49458BB}"/>
              </c:extLst>
            </c:dLbl>
            <c:dLbl>
              <c:idx val="24"/>
              <c:delete val="1"/>
              <c:extLst>
                <c:ext xmlns:c15="http://schemas.microsoft.com/office/drawing/2012/chart" uri="{CE6537A1-D6FC-4f65-9D91-7224C49458BB}"/>
              </c:extLst>
            </c:dLbl>
            <c:dLbl>
              <c:idx val="25"/>
              <c:delete val="1"/>
              <c:extLst>
                <c:ext xmlns:c15="http://schemas.microsoft.com/office/drawing/2012/chart" uri="{CE6537A1-D6FC-4f65-9D91-7224C49458BB}"/>
              </c:extLst>
            </c:dLbl>
            <c:dLbl>
              <c:idx val="26"/>
              <c:delete val="1"/>
              <c:extLst>
                <c:ext xmlns:c15="http://schemas.microsoft.com/office/drawing/2012/chart" uri="{CE6537A1-D6FC-4f65-9D91-7224C49458BB}"/>
              </c:extLst>
            </c:dLbl>
            <c:dLbl>
              <c:idx val="27"/>
              <c:delete val="1"/>
              <c:extLst>
                <c:ext xmlns:c15="http://schemas.microsoft.com/office/drawing/2012/chart" uri="{CE6537A1-D6FC-4f65-9D91-7224C49458BB}"/>
              </c:extLst>
            </c:dLbl>
            <c:dLbl>
              <c:idx val="28"/>
              <c:delete val="1"/>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MMR!$A$3:$A$32</c:f>
              <c:numCache>
                <c:formatCode>General</c:formatCode>
                <c:ptCount val="30"/>
                <c:pt idx="0">
                  <c:v>1986</c:v>
                </c:pt>
                <c:pt idx="1">
                  <c:v>1987</c:v>
                </c:pt>
                <c:pt idx="2">
                  <c:v>1988</c:v>
                </c:pt>
                <c:pt idx="3">
                  <c:v>1989</c:v>
                </c:pt>
                <c:pt idx="4">
                  <c:v>1990</c:v>
                </c:pt>
                <c:pt idx="5">
                  <c:v>1991</c:v>
                </c:pt>
                <c:pt idx="6">
                  <c:v>1992</c:v>
                </c:pt>
                <c:pt idx="7">
                  <c:v>1993</c:v>
                </c:pt>
                <c:pt idx="8">
                  <c:v>1994</c:v>
                </c:pt>
                <c:pt idx="9">
                  <c:v>1995</c:v>
                </c:pt>
                <c:pt idx="10">
                  <c:v>1996</c:v>
                </c:pt>
                <c:pt idx="11">
                  <c:v>1997</c:v>
                </c:pt>
                <c:pt idx="12">
                  <c:v>1998</c:v>
                </c:pt>
                <c:pt idx="13">
                  <c:v>1999</c:v>
                </c:pt>
                <c:pt idx="14">
                  <c:v>2000</c:v>
                </c:pt>
                <c:pt idx="15">
                  <c:v>2001</c:v>
                </c:pt>
                <c:pt idx="16">
                  <c:v>2002</c:v>
                </c:pt>
                <c:pt idx="17">
                  <c:v>2003</c:v>
                </c:pt>
                <c:pt idx="18">
                  <c:v>2004</c:v>
                </c:pt>
                <c:pt idx="19">
                  <c:v>2005</c:v>
                </c:pt>
                <c:pt idx="20">
                  <c:v>2006</c:v>
                </c:pt>
                <c:pt idx="21">
                  <c:v>2007</c:v>
                </c:pt>
                <c:pt idx="22">
                  <c:v>2008</c:v>
                </c:pt>
                <c:pt idx="23">
                  <c:v>2009</c:v>
                </c:pt>
                <c:pt idx="24">
                  <c:v>2010</c:v>
                </c:pt>
                <c:pt idx="25">
                  <c:v>2011</c:v>
                </c:pt>
                <c:pt idx="26">
                  <c:v>2012</c:v>
                </c:pt>
                <c:pt idx="27">
                  <c:v>2013</c:v>
                </c:pt>
                <c:pt idx="28">
                  <c:v>2014</c:v>
                </c:pt>
                <c:pt idx="29">
                  <c:v>2015</c:v>
                </c:pt>
              </c:numCache>
            </c:numRef>
          </c:cat>
          <c:val>
            <c:numRef>
              <c:f>MMR!$D$3:$D$32</c:f>
              <c:numCache>
                <c:formatCode>General</c:formatCode>
                <c:ptCount val="30"/>
                <c:pt idx="0">
                  <c:v>579</c:v>
                </c:pt>
                <c:pt idx="1">
                  <c:v>551</c:v>
                </c:pt>
                <c:pt idx="2">
                  <c:v>531</c:v>
                </c:pt>
                <c:pt idx="3">
                  <c:v>460</c:v>
                </c:pt>
                <c:pt idx="4">
                  <c:v>425</c:v>
                </c:pt>
                <c:pt idx="5">
                  <c:v>402</c:v>
                </c:pt>
                <c:pt idx="6">
                  <c:v>398</c:v>
                </c:pt>
                <c:pt idx="7">
                  <c:v>391</c:v>
                </c:pt>
                <c:pt idx="8">
                  <c:v>385</c:v>
                </c:pt>
                <c:pt idx="9">
                  <c:v>380</c:v>
                </c:pt>
                <c:pt idx="10">
                  <c:v>375</c:v>
                </c:pt>
                <c:pt idx="11">
                  <c:v>308</c:v>
                </c:pt>
                <c:pt idx="12">
                  <c:v>285</c:v>
                </c:pt>
                <c:pt idx="13">
                  <c:v>263</c:v>
                </c:pt>
                <c:pt idx="14">
                  <c:v>261</c:v>
                </c:pt>
                <c:pt idx="15">
                  <c:v>258</c:v>
                </c:pt>
                <c:pt idx="16">
                  <c:v>273</c:v>
                </c:pt>
                <c:pt idx="17">
                  <c:v>270</c:v>
                </c:pt>
                <c:pt idx="18">
                  <c:v>253</c:v>
                </c:pt>
                <c:pt idx="19">
                  <c:v>275</c:v>
                </c:pt>
                <c:pt idx="20">
                  <c:v>196</c:v>
                </c:pt>
                <c:pt idx="21">
                  <c:v>219</c:v>
                </c:pt>
                <c:pt idx="22">
                  <c:v>242</c:v>
                </c:pt>
                <c:pt idx="23">
                  <c:v>179</c:v>
                </c:pt>
                <c:pt idx="24">
                  <c:v>178</c:v>
                </c:pt>
                <c:pt idx="25">
                  <c:v>196</c:v>
                </c:pt>
                <c:pt idx="26">
                  <c:v>190</c:v>
                </c:pt>
                <c:pt idx="27">
                  <c:v>146</c:v>
                </c:pt>
                <c:pt idx="28">
                  <c:v>182</c:v>
                </c:pt>
                <c:pt idx="29">
                  <c:v>162</c:v>
                </c:pt>
              </c:numCache>
            </c:numRef>
          </c:val>
        </c:ser>
        <c:marker val="1"/>
        <c:axId val="61304832"/>
        <c:axId val="61306368"/>
      </c:lineChart>
      <c:catAx>
        <c:axId val="61304832"/>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306368"/>
        <c:crosses val="autoZero"/>
        <c:auto val="1"/>
        <c:lblAlgn val="ctr"/>
        <c:lblOffset val="100"/>
      </c:catAx>
      <c:valAx>
        <c:axId val="61306368"/>
        <c:scaling>
          <c:orientation val="minMax"/>
        </c:scaling>
        <c:axPos val="l"/>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61304832"/>
        <c:crosses val="autoZero"/>
        <c:crossBetween val="between"/>
      </c:valAx>
      <c:spPr>
        <a:noFill/>
        <a:ln>
          <a:noFill/>
        </a:ln>
        <a:effectLst/>
      </c:spPr>
    </c:plotArea>
    <c:legend>
      <c:legendPos val="b"/>
      <c:layout/>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chart>
  <c:spPr>
    <a:noFill/>
    <a:ln>
      <a:noFill/>
    </a:ln>
    <a:effectLst/>
  </c:spPr>
  <c:txPr>
    <a:bodyPr/>
    <a:lstStyle/>
    <a:p>
      <a:pPr>
        <a:defRPr/>
      </a:pPr>
      <a:endParaRPr lang="en-US"/>
    </a:p>
  </c:txPr>
  <c:externalData r:id="rId1"/>
</c:chartSpace>
</file>

<file path=ppt/charts/chart4.xml><?xml version="1.0" encoding="utf-8"?>
<c:chartSpace xmlns:c="http://schemas.openxmlformats.org/drawingml/2006/chart" xmlns:a="http://schemas.openxmlformats.org/drawingml/2006/main" xmlns:r="http://schemas.openxmlformats.org/officeDocument/2006/relationships">
  <c:date1904 val="1"/>
  <c:lang val="en-US"/>
  <c:chart>
    <c:title>
      <c:layout/>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plotArea>
      <c:layout/>
      <c:scatterChart>
        <c:scatterStyle val="lineMarker"/>
        <c:ser>
          <c:idx val="0"/>
          <c:order val="0"/>
          <c:tx>
            <c:strRef>
              <c:f>SBA!$B$1</c:f>
              <c:strCache>
                <c:ptCount val="1"/>
                <c:pt idx="0">
                  <c:v>Births attended by Skilled Health Personnel </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SBA!$A$2:$A$10</c:f>
              <c:numCache>
                <c:formatCode>General</c:formatCode>
                <c:ptCount val="9"/>
                <c:pt idx="0">
                  <c:v>1991</c:v>
                </c:pt>
                <c:pt idx="1">
                  <c:v>1994</c:v>
                </c:pt>
                <c:pt idx="2">
                  <c:v>2004</c:v>
                </c:pt>
                <c:pt idx="3">
                  <c:v>2007</c:v>
                </c:pt>
                <c:pt idx="4">
                  <c:v>2009</c:v>
                </c:pt>
                <c:pt idx="5">
                  <c:v>2010</c:v>
                </c:pt>
                <c:pt idx="6">
                  <c:v>2011</c:v>
                </c:pt>
                <c:pt idx="7">
                  <c:v>2013</c:v>
                </c:pt>
                <c:pt idx="8">
                  <c:v>2014</c:v>
                </c:pt>
              </c:numCache>
            </c:numRef>
          </c:xVal>
          <c:yVal>
            <c:numRef>
              <c:f>SBA!$B$2:$B$10</c:f>
              <c:numCache>
                <c:formatCode>General</c:formatCode>
                <c:ptCount val="9"/>
                <c:pt idx="0">
                  <c:v>5</c:v>
                </c:pt>
                <c:pt idx="1">
                  <c:v>9.5</c:v>
                </c:pt>
                <c:pt idx="2">
                  <c:v>15.6</c:v>
                </c:pt>
                <c:pt idx="3">
                  <c:v>20.9</c:v>
                </c:pt>
                <c:pt idx="4">
                  <c:v>24.4</c:v>
                </c:pt>
                <c:pt idx="5">
                  <c:v>26.5</c:v>
                </c:pt>
                <c:pt idx="6">
                  <c:v>31.7</c:v>
                </c:pt>
                <c:pt idx="7">
                  <c:v>34.4</c:v>
                </c:pt>
                <c:pt idx="8">
                  <c:v>42.1</c:v>
                </c:pt>
              </c:numCache>
            </c:numRef>
          </c:yVal>
        </c:ser>
        <c:axId val="61220352"/>
        <c:axId val="61221888"/>
      </c:scatterChart>
      <c:valAx>
        <c:axId val="61220352"/>
        <c:scaling>
          <c:orientation val="minMax"/>
        </c:scaling>
        <c:axPos val="b"/>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61221888"/>
        <c:crosses val="autoZero"/>
        <c:crossBetween val="midCat"/>
      </c:valAx>
      <c:valAx>
        <c:axId val="61221888"/>
        <c:scaling>
          <c:orientation val="minMax"/>
        </c:scaling>
        <c:axPos val="l"/>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61220352"/>
        <c:crosses val="autoZero"/>
        <c:crossBetween val="midCat"/>
      </c:valAx>
      <c:spPr>
        <a:noFill/>
        <a:ln>
          <a:noFill/>
        </a:ln>
        <a:effectLst/>
      </c:spPr>
    </c:plotArea>
    <c:plotVisOnly val="1"/>
    <c:dispBlanksAs val="gap"/>
  </c:chart>
  <c:spPr>
    <a:noFill/>
    <a:ln>
      <a:noFill/>
    </a:ln>
    <a:effectLst/>
  </c:spPr>
  <c:txPr>
    <a:bodyPr/>
    <a:lstStyle/>
    <a:p>
      <a:pPr>
        <a:defRPr/>
      </a:pPr>
      <a:endParaRPr lang="en-US"/>
    </a:p>
  </c:txPr>
  <c:externalData r:id="rId1"/>
</c:chartSpace>
</file>

<file path=ppt/charts/chart5.xml><?xml version="1.0" encoding="utf-8"?>
<c:chartSpace xmlns:c="http://schemas.openxmlformats.org/drawingml/2006/chart" xmlns:a="http://schemas.openxmlformats.org/drawingml/2006/main" xmlns:r="http://schemas.openxmlformats.org/officeDocument/2006/relationships">
  <c:date1904 val="1"/>
  <c:lang val="en-US"/>
  <c:chart>
    <c:autoTitleDeleted val="1"/>
    <c:view3D>
      <c:depthPercent val="100"/>
      <c:rAngAx val="1"/>
    </c:view3D>
    <c:floor>
      <c:spPr>
        <a:noFill/>
        <a:ln>
          <a:noFill/>
        </a:ln>
        <a:effectLst/>
        <a:sp3d/>
      </c:spPr>
    </c:floor>
    <c:sideWall>
      <c:spPr>
        <a:noFill/>
        <a:ln>
          <a:noFill/>
        </a:ln>
        <a:effectLst/>
        <a:sp3d/>
      </c:spPr>
    </c:sideWall>
    <c:backWall>
      <c:spPr>
        <a:noFill/>
        <a:ln>
          <a:noFill/>
        </a:ln>
        <a:effectLst/>
        <a:sp3d/>
      </c:spPr>
    </c:backWall>
    <c:plotArea>
      <c:layout/>
      <c:bar3DChart>
        <c:barDir val="col"/>
        <c:grouping val="clustered"/>
        <c:ser>
          <c:idx val="0"/>
          <c:order val="0"/>
          <c:tx>
            <c:strRef>
              <c:f>'lead-co-as'!$E$70</c:f>
              <c:strCache>
                <c:ptCount val="1"/>
                <c:pt idx="0">
                  <c:v>Lead </c:v>
                </c:pt>
              </c:strCache>
            </c:strRef>
          </c:tx>
          <c:spPr>
            <a:solidFill>
              <a:schemeClr val="accent1"/>
            </a:solidFill>
            <a:ln>
              <a:noFill/>
            </a:ln>
            <a:effectLst/>
            <a:sp3d/>
          </c:spPr>
          <c:dLbls>
            <c:spPr>
              <a:noFill/>
              <a:ln>
                <a:noFill/>
              </a:ln>
              <a:effectLst/>
            </c:spPr>
            <c:txPr>
              <a:bodyPr rot="0" spcFirstLastPara="1" vertOverflow="ellipsis" vert="horz" wrap="square" lIns="38100" tIns="19050" rIns="38100" bIns="19050" anchor="ctr" anchorCtr="1">
                <a:spAutoFit/>
              </a:bodyPr>
              <a:lstStyle/>
              <a:p>
                <a:pPr>
                  <a:defRPr sz="24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'lead-co-as'!$E$71</c:f>
              <c:numCache>
                <c:formatCode>General</c:formatCode>
                <c:ptCount val="1"/>
                <c:pt idx="0">
                  <c:v>40</c:v>
                </c:pt>
              </c:numCache>
            </c:numRef>
          </c:val>
        </c:ser>
        <c:ser>
          <c:idx val="1"/>
          <c:order val="1"/>
          <c:tx>
            <c:strRef>
              <c:f>'lead-co-as'!$F$70</c:f>
              <c:strCache>
                <c:ptCount val="1"/>
                <c:pt idx="0">
                  <c:v>Co-lead</c:v>
                </c:pt>
              </c:strCache>
            </c:strRef>
          </c:tx>
          <c:spPr>
            <a:solidFill>
              <a:schemeClr val="accent2"/>
            </a:solidFill>
            <a:ln>
              <a:noFill/>
            </a:ln>
            <a:effectLst/>
            <a:sp3d/>
          </c:spPr>
          <c:dLbls>
            <c:spPr>
              <a:noFill/>
              <a:ln>
                <a:noFill/>
              </a:ln>
              <a:effectLst/>
            </c:spPr>
            <c:txPr>
              <a:bodyPr rot="0" spcFirstLastPara="1" vertOverflow="ellipsis" vert="horz" wrap="square" lIns="38100" tIns="19050" rIns="38100" bIns="19050" anchor="ctr" anchorCtr="1">
                <a:spAutoFit/>
              </a:bodyPr>
              <a:lstStyle/>
              <a:p>
                <a:pPr>
                  <a:defRPr sz="24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'lead-co-as'!$F$71</c:f>
              <c:numCache>
                <c:formatCode>General</c:formatCode>
                <c:ptCount val="1"/>
                <c:pt idx="0">
                  <c:v>34</c:v>
                </c:pt>
              </c:numCache>
            </c:numRef>
          </c:val>
        </c:ser>
        <c:ser>
          <c:idx val="2"/>
          <c:order val="2"/>
          <c:tx>
            <c:strRef>
              <c:f>'lead-co-as'!$G$70</c:f>
              <c:strCache>
                <c:ptCount val="1"/>
                <c:pt idx="0">
                  <c:v>Associate </c:v>
                </c:pt>
              </c:strCache>
            </c:strRef>
          </c:tx>
          <c:spPr>
            <a:solidFill>
              <a:schemeClr val="accent3"/>
            </a:solidFill>
            <a:ln>
              <a:noFill/>
            </a:ln>
            <a:effectLst/>
            <a:sp3d/>
          </c:spPr>
          <c:dLbls>
            <c:spPr>
              <a:noFill/>
              <a:ln>
                <a:noFill/>
              </a:ln>
              <a:effectLst/>
            </c:spPr>
            <c:txPr>
              <a:bodyPr rot="0" spcFirstLastPara="1" vertOverflow="ellipsis" vert="horz" wrap="square" lIns="38100" tIns="19050" rIns="38100" bIns="19050" anchor="ctr" anchorCtr="1">
                <a:spAutoFit/>
              </a:bodyPr>
              <a:lstStyle/>
              <a:p>
                <a:pPr>
                  <a:defRPr sz="24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'lead-co-as'!$G$71</c:f>
              <c:numCache>
                <c:formatCode>General</c:formatCode>
                <c:ptCount val="1"/>
                <c:pt idx="0">
                  <c:v>61</c:v>
                </c:pt>
              </c:numCache>
            </c:numRef>
          </c:val>
        </c:ser>
        <c:shape val="box"/>
        <c:axId val="61266176"/>
        <c:axId val="100581376"/>
        <c:axId val="0"/>
      </c:bar3DChart>
      <c:catAx>
        <c:axId val="61266176"/>
        <c:scaling>
          <c:orientation val="minMax"/>
        </c:scaling>
        <c:delete val="1"/>
        <c:axPos val="b"/>
        <c:numFmt formatCode="General" sourceLinked="1"/>
        <c:majorTickMark val="none"/>
        <c:tickLblPos val="nextTo"/>
        <c:crossAx val="100581376"/>
        <c:crosses val="autoZero"/>
        <c:auto val="1"/>
        <c:lblAlgn val="ctr"/>
        <c:lblOffset val="100"/>
      </c:catAx>
      <c:valAx>
        <c:axId val="100581376"/>
        <c:scaling>
          <c:orientation val="minMax"/>
        </c:scaling>
        <c:axPos val="l"/>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266176"/>
        <c:crosses val="autoZero"/>
        <c:crossBetween val="between"/>
      </c:valAx>
      <c:spPr>
        <a:noFill/>
        <a:ln>
          <a:noFill/>
        </a:ln>
        <a:effectLst/>
      </c:spPr>
    </c:plotArea>
    <c:legend>
      <c:legendPos val="b"/>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chart>
  <c:spPr>
    <a:noFill/>
    <a:ln>
      <a:noFill/>
    </a:ln>
    <a:effectLst/>
  </c:spPr>
  <c:txPr>
    <a:bodyPr/>
    <a:lstStyle/>
    <a:p>
      <a:pPr>
        <a:defRPr/>
      </a:pPr>
      <a:endParaRPr lang="en-US"/>
    </a:p>
  </c:txPr>
  <c:externalData r:id="rId1"/>
</c:chartSpace>
</file>

<file path=ppt/charts/chart6.xml><?xml version="1.0" encoding="utf-8"?>
<c:chartSpace xmlns:c="http://schemas.openxmlformats.org/drawingml/2006/chart" xmlns:a="http://schemas.openxmlformats.org/drawingml/2006/main" xmlns:r="http://schemas.openxmlformats.org/officeDocument/2006/relationships">
  <c:date1904 val="1"/>
  <c:lang val="en-US"/>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dirty="0" smtClean="0"/>
              <a:t>40_Lead Ministry/Division </a:t>
            </a:r>
            <a:r>
              <a:rPr lang="en-US" b="1" dirty="0"/>
              <a:t>for SDG Implementation </a:t>
            </a:r>
          </a:p>
        </c:rich>
      </c:tx>
      <c:layout>
        <c:manualLayout>
          <c:xMode val="edge"/>
          <c:yMode val="edge"/>
          <c:x val="0.36555045625027521"/>
          <c:y val="3.5312029220009061E-2"/>
        </c:manualLayout>
      </c:layout>
      <c:spPr>
        <a:solidFill>
          <a:schemeClr val="accent2"/>
        </a:solidFill>
        <a:ln>
          <a:noFill/>
        </a:ln>
        <a:effectLst/>
      </c:spPr>
    </c:title>
    <c:plotArea>
      <c:layout/>
      <c:barChart>
        <c:barDir val="col"/>
        <c:grouping val="clustered"/>
        <c:ser>
          <c:idx val="0"/>
          <c:order val="0"/>
          <c:tx>
            <c:strRef>
              <c:f>Lead!$B$1</c:f>
              <c:strCache>
                <c:ptCount val="1"/>
                <c:pt idx="0">
                  <c:v>Lead</c:v>
                </c:pt>
              </c:strCache>
            </c:strRef>
          </c:tx>
          <c:spPr>
            <a:solidFill>
              <a:schemeClr val="accent1"/>
            </a:solidFill>
            <a:ln>
              <a:noFill/>
            </a:ln>
            <a:effectLst/>
          </c:spPr>
          <c:dLbls>
            <c:dLbl>
              <c:idx val="2"/>
              <c:spPr>
                <a:solidFill>
                  <a:schemeClr val="bg1"/>
                </a:solid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dLbl>
            <c:dLbl>
              <c:idx val="6"/>
              <c:spPr>
                <a:no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
            <c:dLbl>
              <c:idx val="21"/>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Val val="1"/>
              <c:extLst>
                <c:ext xmlns:c15="http://schemas.microsoft.com/office/drawing/2012/chart" uri="{CE6537A1-D6FC-4f65-9D91-7224C49458BB}">
                  <c15:spPr xmlns:c15="http://schemas.microsoft.com/office/drawing/2012/chart">
                    <a:prstGeom prst="ellipse">
                      <a:avLst/>
                    </a:prstGeom>
                    <a:noFill/>
                    <a:ln>
                      <a:noFill/>
                    </a:ln>
                  </c15:spPr>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Lead!$A$2:$A$41</c:f>
              <c:strCache>
                <c:ptCount val="40"/>
                <c:pt idx="0">
                  <c:v>MoEF</c:v>
                </c:pt>
                <c:pt idx="1">
                  <c:v>MoHFW</c:v>
                </c:pt>
                <c:pt idx="2">
                  <c:v>LGD</c:v>
                </c:pt>
                <c:pt idx="3">
                  <c:v>ERD</c:v>
                </c:pt>
                <c:pt idx="4">
                  <c:v>MoWCA</c:v>
                </c:pt>
                <c:pt idx="5">
                  <c:v>MoHA</c:v>
                </c:pt>
                <c:pt idx="6">
                  <c:v>FD</c:v>
                </c:pt>
                <c:pt idx="7">
                  <c:v>CD</c:v>
                </c:pt>
                <c:pt idx="8">
                  <c:v>GED</c:v>
                </c:pt>
                <c:pt idx="9">
                  <c:v>MoC</c:v>
                </c:pt>
                <c:pt idx="10">
                  <c:v>MoInd</c:v>
                </c:pt>
                <c:pt idx="11">
                  <c:v>MoA</c:v>
                </c:pt>
                <c:pt idx="12">
                  <c:v>MoE</c:v>
                </c:pt>
                <c:pt idx="13">
                  <c:v>SID</c:v>
                </c:pt>
                <c:pt idx="14">
                  <c:v>PoD</c:v>
                </c:pt>
                <c:pt idx="15">
                  <c:v>MoWR</c:v>
                </c:pt>
                <c:pt idx="16">
                  <c:v>MoST</c:v>
                </c:pt>
                <c:pt idx="17">
                  <c:v>MoPME</c:v>
                </c:pt>
                <c:pt idx="18">
                  <c:v>MoLE</c:v>
                </c:pt>
                <c:pt idx="19">
                  <c:v>MoDMR</c:v>
                </c:pt>
                <c:pt idx="20">
                  <c:v>BFID</c:v>
                </c:pt>
                <c:pt idx="21">
                  <c:v>RTHD</c:v>
                </c:pt>
                <c:pt idx="22">
                  <c:v>MoFL</c:v>
                </c:pt>
                <c:pt idx="23">
                  <c:v>PMO</c:v>
                </c:pt>
                <c:pt idx="24">
                  <c:v>MoHPW</c:v>
                </c:pt>
                <c:pt idx="25">
                  <c:v>MoFA</c:v>
                </c:pt>
                <c:pt idx="26">
                  <c:v>MoCAT</c:v>
                </c:pt>
                <c:pt idx="27">
                  <c:v>MoYS</c:v>
                </c:pt>
                <c:pt idx="28">
                  <c:v>MoInf</c:v>
                </c:pt>
                <c:pt idx="29">
                  <c:v>MoEWOE</c:v>
                </c:pt>
                <c:pt idx="30">
                  <c:v>LJD</c:v>
                </c:pt>
                <c:pt idx="31">
                  <c:v>ICTD</c:v>
                </c:pt>
                <c:pt idx="32">
                  <c:v>PTD</c:v>
                </c:pt>
                <c:pt idx="33">
                  <c:v>MoSW</c:v>
                </c:pt>
                <c:pt idx="34">
                  <c:v>MoPA</c:v>
                </c:pt>
                <c:pt idx="35">
                  <c:v>MoF</c:v>
                </c:pt>
                <c:pt idx="36">
                  <c:v>MoCA</c:v>
                </c:pt>
                <c:pt idx="37">
                  <c:v>LPAD</c:v>
                </c:pt>
                <c:pt idx="38">
                  <c:v>IRD</c:v>
                </c:pt>
                <c:pt idx="39">
                  <c:v>IMED</c:v>
                </c:pt>
              </c:strCache>
            </c:strRef>
          </c:cat>
          <c:val>
            <c:numRef>
              <c:f>Lead!$B$2:$B$41</c:f>
              <c:numCache>
                <c:formatCode>General</c:formatCode>
                <c:ptCount val="40"/>
                <c:pt idx="0">
                  <c:v>26</c:v>
                </c:pt>
                <c:pt idx="1">
                  <c:v>22</c:v>
                </c:pt>
                <c:pt idx="2">
                  <c:v>16</c:v>
                </c:pt>
                <c:pt idx="3">
                  <c:v>16</c:v>
                </c:pt>
                <c:pt idx="4">
                  <c:v>15</c:v>
                </c:pt>
                <c:pt idx="5">
                  <c:v>11</c:v>
                </c:pt>
                <c:pt idx="6">
                  <c:v>10</c:v>
                </c:pt>
                <c:pt idx="7">
                  <c:v>10</c:v>
                </c:pt>
                <c:pt idx="8">
                  <c:v>9</c:v>
                </c:pt>
                <c:pt idx="9">
                  <c:v>8</c:v>
                </c:pt>
                <c:pt idx="10">
                  <c:v>7</c:v>
                </c:pt>
                <c:pt idx="11">
                  <c:v>7</c:v>
                </c:pt>
                <c:pt idx="12">
                  <c:v>6</c:v>
                </c:pt>
                <c:pt idx="13">
                  <c:v>5</c:v>
                </c:pt>
                <c:pt idx="14">
                  <c:v>5</c:v>
                </c:pt>
                <c:pt idx="15">
                  <c:v>5</c:v>
                </c:pt>
                <c:pt idx="16">
                  <c:v>5</c:v>
                </c:pt>
                <c:pt idx="17">
                  <c:v>5</c:v>
                </c:pt>
                <c:pt idx="18">
                  <c:v>5</c:v>
                </c:pt>
                <c:pt idx="19">
                  <c:v>5</c:v>
                </c:pt>
                <c:pt idx="20">
                  <c:v>5</c:v>
                </c:pt>
                <c:pt idx="21">
                  <c:v>4</c:v>
                </c:pt>
                <c:pt idx="22">
                  <c:v>4</c:v>
                </c:pt>
                <c:pt idx="23">
                  <c:v>3</c:v>
                </c:pt>
                <c:pt idx="24">
                  <c:v>3</c:v>
                </c:pt>
                <c:pt idx="25">
                  <c:v>3</c:v>
                </c:pt>
                <c:pt idx="26">
                  <c:v>3</c:v>
                </c:pt>
                <c:pt idx="27">
                  <c:v>2</c:v>
                </c:pt>
                <c:pt idx="28">
                  <c:v>2</c:v>
                </c:pt>
                <c:pt idx="29">
                  <c:v>2</c:v>
                </c:pt>
                <c:pt idx="30">
                  <c:v>2</c:v>
                </c:pt>
                <c:pt idx="31">
                  <c:v>2</c:v>
                </c:pt>
                <c:pt idx="32">
                  <c:v>1</c:v>
                </c:pt>
                <c:pt idx="33">
                  <c:v>1</c:v>
                </c:pt>
                <c:pt idx="34">
                  <c:v>1</c:v>
                </c:pt>
                <c:pt idx="35">
                  <c:v>1</c:v>
                </c:pt>
                <c:pt idx="36">
                  <c:v>1</c:v>
                </c:pt>
                <c:pt idx="37">
                  <c:v>1</c:v>
                </c:pt>
                <c:pt idx="38">
                  <c:v>1</c:v>
                </c:pt>
                <c:pt idx="39">
                  <c:v>1</c:v>
                </c:pt>
              </c:numCache>
            </c:numRef>
          </c:val>
        </c:ser>
        <c:gapWidth val="219"/>
        <c:overlap val="-27"/>
        <c:axId val="98362880"/>
        <c:axId val="98364416"/>
      </c:barChart>
      <c:catAx>
        <c:axId val="98362880"/>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98364416"/>
        <c:crosses val="autoZero"/>
        <c:auto val="1"/>
        <c:lblAlgn val="ctr"/>
        <c:lblOffset val="100"/>
      </c:catAx>
      <c:valAx>
        <c:axId val="98364416"/>
        <c:scaling>
          <c:orientation val="minMax"/>
        </c:scaling>
        <c:axPos val="l"/>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98362880"/>
        <c:crosses val="autoZero"/>
        <c:crossBetween val="between"/>
      </c:valAx>
      <c:spPr>
        <a:noFill/>
        <a:ln>
          <a:noFill/>
        </a:ln>
        <a:effectLst/>
      </c:spPr>
    </c:plotArea>
    <c:plotVisOnly val="1"/>
    <c:dispBlanksAs val="gap"/>
  </c:chart>
  <c:spPr>
    <a:noFill/>
    <a:ln>
      <a:noFill/>
    </a:ln>
    <a:effectLst/>
  </c:spPr>
  <c:txPr>
    <a:bodyPr/>
    <a:lstStyle/>
    <a:p>
      <a:pPr>
        <a:defRPr/>
      </a:pPr>
      <a:endParaRPr lang="en-US"/>
    </a:p>
  </c:txPr>
  <c:externalData r:id="rId1"/>
</c:chartSpace>
</file>

<file path=ppt/charts/chart7.xml><?xml version="1.0" encoding="utf-8"?>
<c:chartSpace xmlns:c="http://schemas.openxmlformats.org/drawingml/2006/chart" xmlns:a="http://schemas.openxmlformats.org/drawingml/2006/main" xmlns:r="http://schemas.openxmlformats.org/officeDocument/2006/relationships">
  <c:date1904 val="1"/>
  <c:lang val="en-US"/>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dirty="0" smtClean="0"/>
              <a:t>34_Co-lead </a:t>
            </a:r>
            <a:r>
              <a:rPr lang="en-US" b="1" dirty="0"/>
              <a:t>Ministries/Divisions</a:t>
            </a:r>
          </a:p>
        </c:rich>
      </c:tx>
      <c:spPr>
        <a:solidFill>
          <a:schemeClr val="accent2"/>
        </a:solidFill>
        <a:ln>
          <a:noFill/>
        </a:ln>
        <a:effectLst/>
      </c:spPr>
    </c:title>
    <c:plotArea>
      <c:layout/>
      <c:barChart>
        <c:barDir val="col"/>
        <c:grouping val="clustered"/>
        <c:ser>
          <c:idx val="0"/>
          <c:order val="0"/>
          <c:tx>
            <c:strRef>
              <c:f>'Co-lead'!$B$1</c:f>
              <c:strCache>
                <c:ptCount val="1"/>
                <c:pt idx="0">
                  <c:v>Co-lead</c:v>
                </c:pt>
              </c:strCache>
            </c:strRef>
          </c:tx>
          <c:spPr>
            <a:solidFill>
              <a:schemeClr val="accent1"/>
            </a:solidFill>
            <a:ln>
              <a:noFill/>
            </a:ln>
            <a:effectLst/>
          </c:spPr>
          <c:dLbls>
            <c:dLbl>
              <c:idx val="2"/>
              <c:spPr>
                <a:solidFill>
                  <a:schemeClr val="bg1"/>
                </a:solid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
            <c:dLbl>
              <c:idx val="5"/>
              <c:spPr>
                <a:no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'Co-lead'!$A$2:$A$35</c:f>
              <c:strCache>
                <c:ptCount val="34"/>
                <c:pt idx="0">
                  <c:v>MoEF</c:v>
                </c:pt>
                <c:pt idx="1">
                  <c:v>MoHFW</c:v>
                </c:pt>
                <c:pt idx="2">
                  <c:v>LGD</c:v>
                </c:pt>
                <c:pt idx="3">
                  <c:v>ERD</c:v>
                </c:pt>
                <c:pt idx="4">
                  <c:v>MoWCA</c:v>
                </c:pt>
                <c:pt idx="5">
                  <c:v>FD</c:v>
                </c:pt>
                <c:pt idx="6">
                  <c:v>MoHA</c:v>
                </c:pt>
                <c:pt idx="7">
                  <c:v>GED</c:v>
                </c:pt>
                <c:pt idx="8">
                  <c:v>MoC</c:v>
                </c:pt>
                <c:pt idx="9">
                  <c:v>MoInd</c:v>
                </c:pt>
                <c:pt idx="10">
                  <c:v>MoA</c:v>
                </c:pt>
                <c:pt idx="11">
                  <c:v>MoE</c:v>
                </c:pt>
                <c:pt idx="12">
                  <c:v>MoWR</c:v>
                </c:pt>
                <c:pt idx="13">
                  <c:v>MoPME</c:v>
                </c:pt>
                <c:pt idx="14">
                  <c:v>MoLE</c:v>
                </c:pt>
                <c:pt idx="15">
                  <c:v>MoDMR</c:v>
                </c:pt>
                <c:pt idx="16">
                  <c:v>MoFL</c:v>
                </c:pt>
                <c:pt idx="17">
                  <c:v>MoHPW</c:v>
                </c:pt>
                <c:pt idx="18">
                  <c:v>MoFA</c:v>
                </c:pt>
                <c:pt idx="19">
                  <c:v>ICTD</c:v>
                </c:pt>
                <c:pt idx="20">
                  <c:v>PTD</c:v>
                </c:pt>
                <c:pt idx="21">
                  <c:v>MoSW</c:v>
                </c:pt>
                <c:pt idx="22">
                  <c:v>MoPA</c:v>
                </c:pt>
                <c:pt idx="23">
                  <c:v>MoF</c:v>
                </c:pt>
                <c:pt idx="24">
                  <c:v>MoCA</c:v>
                </c:pt>
                <c:pt idx="25">
                  <c:v>LPAD</c:v>
                </c:pt>
                <c:pt idx="26">
                  <c:v>RDCD</c:v>
                </c:pt>
                <c:pt idx="27">
                  <c:v>MoTJ</c:v>
                </c:pt>
                <c:pt idx="28">
                  <c:v>MoS</c:v>
                </c:pt>
                <c:pt idx="29">
                  <c:v>MoR</c:v>
                </c:pt>
                <c:pt idx="30">
                  <c:v>MoL</c:v>
                </c:pt>
                <c:pt idx="31">
                  <c:v>MoD</c:v>
                </c:pt>
                <c:pt idx="32">
                  <c:v>EMRD</c:v>
                </c:pt>
                <c:pt idx="33">
                  <c:v>EC</c:v>
                </c:pt>
              </c:strCache>
            </c:strRef>
          </c:cat>
          <c:val>
            <c:numRef>
              <c:f>'Co-lead'!$B$2:$B$35</c:f>
              <c:numCache>
                <c:formatCode>General</c:formatCode>
                <c:ptCount val="34"/>
                <c:pt idx="0">
                  <c:v>3</c:v>
                </c:pt>
                <c:pt idx="1">
                  <c:v>1</c:v>
                </c:pt>
                <c:pt idx="2">
                  <c:v>1</c:v>
                </c:pt>
                <c:pt idx="3">
                  <c:v>2</c:v>
                </c:pt>
                <c:pt idx="4">
                  <c:v>1</c:v>
                </c:pt>
                <c:pt idx="5">
                  <c:v>1</c:v>
                </c:pt>
                <c:pt idx="6">
                  <c:v>2</c:v>
                </c:pt>
                <c:pt idx="7">
                  <c:v>8</c:v>
                </c:pt>
                <c:pt idx="8">
                  <c:v>1</c:v>
                </c:pt>
                <c:pt idx="9">
                  <c:v>3</c:v>
                </c:pt>
                <c:pt idx="10">
                  <c:v>6</c:v>
                </c:pt>
                <c:pt idx="11">
                  <c:v>2</c:v>
                </c:pt>
                <c:pt idx="12">
                  <c:v>1</c:v>
                </c:pt>
                <c:pt idx="13">
                  <c:v>2</c:v>
                </c:pt>
                <c:pt idx="14">
                  <c:v>2</c:v>
                </c:pt>
                <c:pt idx="15">
                  <c:v>6</c:v>
                </c:pt>
                <c:pt idx="16">
                  <c:v>6</c:v>
                </c:pt>
                <c:pt idx="17">
                  <c:v>1</c:v>
                </c:pt>
                <c:pt idx="18">
                  <c:v>12</c:v>
                </c:pt>
                <c:pt idx="19">
                  <c:v>1</c:v>
                </c:pt>
                <c:pt idx="20">
                  <c:v>2</c:v>
                </c:pt>
                <c:pt idx="21">
                  <c:v>2</c:v>
                </c:pt>
                <c:pt idx="22">
                  <c:v>1</c:v>
                </c:pt>
                <c:pt idx="23">
                  <c:v>5</c:v>
                </c:pt>
                <c:pt idx="24">
                  <c:v>2</c:v>
                </c:pt>
                <c:pt idx="25">
                  <c:v>1</c:v>
                </c:pt>
                <c:pt idx="26">
                  <c:v>2</c:v>
                </c:pt>
                <c:pt idx="27">
                  <c:v>1</c:v>
                </c:pt>
                <c:pt idx="28">
                  <c:v>2</c:v>
                </c:pt>
                <c:pt idx="29">
                  <c:v>1</c:v>
                </c:pt>
                <c:pt idx="30">
                  <c:v>1</c:v>
                </c:pt>
                <c:pt idx="31">
                  <c:v>1</c:v>
                </c:pt>
                <c:pt idx="32">
                  <c:v>2</c:v>
                </c:pt>
                <c:pt idx="33">
                  <c:v>1</c:v>
                </c:pt>
              </c:numCache>
            </c:numRef>
          </c:val>
        </c:ser>
        <c:gapWidth val="219"/>
        <c:overlap val="-27"/>
        <c:axId val="61714432"/>
        <c:axId val="61715968"/>
      </c:barChart>
      <c:catAx>
        <c:axId val="61714432"/>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61715968"/>
        <c:crosses val="autoZero"/>
        <c:auto val="1"/>
        <c:lblAlgn val="ctr"/>
        <c:lblOffset val="100"/>
      </c:catAx>
      <c:valAx>
        <c:axId val="61715968"/>
        <c:scaling>
          <c:orientation val="minMax"/>
        </c:scaling>
        <c:axPos val="l"/>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61714432"/>
        <c:crosses val="autoZero"/>
        <c:crossBetween val="between"/>
      </c:valAx>
      <c:spPr>
        <a:noFill/>
        <a:ln>
          <a:noFill/>
        </a:ln>
        <a:effectLst/>
      </c:spPr>
    </c:plotArea>
    <c:plotVisOnly val="1"/>
    <c:dispBlanksAs val="gap"/>
  </c:chart>
  <c:spPr>
    <a:noFill/>
    <a:ln>
      <a:noFill/>
    </a:ln>
    <a:effectLst/>
  </c:spPr>
  <c:txPr>
    <a:bodyPr/>
    <a:lstStyle/>
    <a:p>
      <a:pPr>
        <a:defRPr/>
      </a:pPr>
      <a:endParaRPr lang="en-US"/>
    </a:p>
  </c:txPr>
  <c:externalData r:id="rId1"/>
</c:chartSpace>
</file>

<file path=ppt/charts/chart8.xml><?xml version="1.0" encoding="utf-8"?>
<c:chartSpace xmlns:c="http://schemas.openxmlformats.org/drawingml/2006/chart" xmlns:a="http://schemas.openxmlformats.org/drawingml/2006/main" xmlns:r="http://schemas.openxmlformats.org/officeDocument/2006/relationships">
  <c:date1904 val="1"/>
  <c:lang val="en-US"/>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a:t>Prevalence of stunting among children under 5 years of age, %</a:t>
            </a:r>
          </a:p>
        </c:rich>
      </c:tx>
      <c:spPr>
        <a:noFill/>
        <a:ln>
          <a:noFill/>
        </a:ln>
        <a:effectLst/>
      </c:spPr>
    </c:title>
    <c:plotArea>
      <c:layout/>
      <c:barChart>
        <c:barDir val="col"/>
        <c:grouping val="clustered"/>
        <c:ser>
          <c:idx val="0"/>
          <c:order val="0"/>
          <c:spPr>
            <a:solidFill>
              <a:schemeClr val="accent1"/>
            </a:solidFill>
            <a:ln>
              <a:noFill/>
            </a:ln>
            <a:effectLst/>
          </c:spPr>
          <c:dPt>
            <c:idx val="23"/>
            <c:spPr>
              <a:solidFill>
                <a:schemeClr val="accent2"/>
              </a:solidFill>
              <a:ln>
                <a:noFill/>
              </a:ln>
              <a:effectLst/>
            </c:spPr>
          </c:dPt>
          <c:dPt>
            <c:idx val="24"/>
            <c:spPr>
              <a:solidFill>
                <a:schemeClr val="accent2"/>
              </a:solidFill>
              <a:ln>
                <a:noFill/>
              </a:ln>
              <a:effectLst/>
            </c:spPr>
          </c:dPt>
          <c:dPt>
            <c:idx val="25"/>
            <c:spPr>
              <a:solidFill>
                <a:schemeClr val="accent2"/>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'2.2.1'!$B$3:$AA$3</c:f>
              <c:strCache>
                <c:ptCount val="26"/>
                <c:pt idx="0">
                  <c:v>1986</c:v>
                </c:pt>
                <c:pt idx="1">
                  <c:v>1990</c:v>
                </c:pt>
                <c:pt idx="2">
                  <c:v>1991</c:v>
                </c:pt>
                <c:pt idx="3">
                  <c:v>1992</c:v>
                </c:pt>
                <c:pt idx="4">
                  <c:v>1993</c:v>
                </c:pt>
                <c:pt idx="5">
                  <c:v>1994</c:v>
                </c:pt>
                <c:pt idx="6">
                  <c:v>1995</c:v>
                </c:pt>
                <c:pt idx="7">
                  <c:v>1996</c:v>
                </c:pt>
                <c:pt idx="8">
                  <c:v>1997</c:v>
                </c:pt>
                <c:pt idx="9">
                  <c:v>1998</c:v>
                </c:pt>
                <c:pt idx="10">
                  <c:v>1999</c:v>
                </c:pt>
                <c:pt idx="11">
                  <c:v>2000</c:v>
                </c:pt>
                <c:pt idx="12">
                  <c:v>2001</c:v>
                </c:pt>
                <c:pt idx="13">
                  <c:v>2002</c:v>
                </c:pt>
                <c:pt idx="14">
                  <c:v>2003</c:v>
                </c:pt>
                <c:pt idx="15">
                  <c:v>2004</c:v>
                </c:pt>
                <c:pt idx="16">
                  <c:v>2005</c:v>
                </c:pt>
                <c:pt idx="17">
                  <c:v>2006</c:v>
                </c:pt>
                <c:pt idx="18">
                  <c:v>2007</c:v>
                </c:pt>
                <c:pt idx="19">
                  <c:v>2011</c:v>
                </c:pt>
                <c:pt idx="20">
                  <c:v>2012</c:v>
                </c:pt>
                <c:pt idx="21">
                  <c:v>2013</c:v>
                </c:pt>
                <c:pt idx="22">
                  <c:v>2014 (Base)</c:v>
                </c:pt>
                <c:pt idx="23">
                  <c:v>2020 (T)</c:v>
                </c:pt>
                <c:pt idx="24">
                  <c:v>2025 (T)</c:v>
                </c:pt>
                <c:pt idx="25">
                  <c:v>2030 (Target)</c:v>
                </c:pt>
              </c:strCache>
            </c:strRef>
          </c:cat>
          <c:val>
            <c:numRef>
              <c:f>'2.2.1'!$B$4:$AA$4</c:f>
              <c:numCache>
                <c:formatCode>General</c:formatCode>
                <c:ptCount val="26"/>
                <c:pt idx="0">
                  <c:v>70.900000000000006</c:v>
                </c:pt>
                <c:pt idx="1">
                  <c:v>63.4</c:v>
                </c:pt>
                <c:pt idx="2">
                  <c:v>73.599999999999994</c:v>
                </c:pt>
                <c:pt idx="3">
                  <c:v>71.5</c:v>
                </c:pt>
                <c:pt idx="4">
                  <c:v>69.2</c:v>
                </c:pt>
                <c:pt idx="5">
                  <c:v>67.3</c:v>
                </c:pt>
                <c:pt idx="6">
                  <c:v>65.8</c:v>
                </c:pt>
                <c:pt idx="7">
                  <c:v>63.8</c:v>
                </c:pt>
                <c:pt idx="8">
                  <c:v>59.7</c:v>
                </c:pt>
                <c:pt idx="9">
                  <c:v>59.3</c:v>
                </c:pt>
                <c:pt idx="10">
                  <c:v>59.9</c:v>
                </c:pt>
                <c:pt idx="11">
                  <c:v>50.8</c:v>
                </c:pt>
                <c:pt idx="12">
                  <c:v>53.2</c:v>
                </c:pt>
                <c:pt idx="13">
                  <c:v>51.4</c:v>
                </c:pt>
                <c:pt idx="14">
                  <c:v>47.8</c:v>
                </c:pt>
                <c:pt idx="15">
                  <c:v>50.6</c:v>
                </c:pt>
                <c:pt idx="16">
                  <c:v>45.9</c:v>
                </c:pt>
                <c:pt idx="17">
                  <c:v>45.1</c:v>
                </c:pt>
                <c:pt idx="18">
                  <c:v>43.2</c:v>
                </c:pt>
                <c:pt idx="19">
                  <c:v>41.3</c:v>
                </c:pt>
                <c:pt idx="20">
                  <c:v>42</c:v>
                </c:pt>
                <c:pt idx="21">
                  <c:v>38.700000000000003</c:v>
                </c:pt>
                <c:pt idx="22">
                  <c:v>36.1</c:v>
                </c:pt>
                <c:pt idx="23">
                  <c:v>25</c:v>
                </c:pt>
                <c:pt idx="24">
                  <c:v>16.8</c:v>
                </c:pt>
                <c:pt idx="25">
                  <c:v>12</c:v>
                </c:pt>
              </c:numCache>
            </c:numRef>
          </c:val>
        </c:ser>
        <c:axId val="61819136"/>
        <c:axId val="61829120"/>
      </c:barChart>
      <c:catAx>
        <c:axId val="61819136"/>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61829120"/>
        <c:crosses val="autoZero"/>
        <c:auto val="1"/>
        <c:lblAlgn val="ctr"/>
        <c:lblOffset val="100"/>
      </c:catAx>
      <c:valAx>
        <c:axId val="61829120"/>
        <c:scaling>
          <c:orientation val="minMax"/>
        </c:scaling>
        <c:axPos val="l"/>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819136"/>
        <c:crosses val="autoZero"/>
        <c:crossBetween val="between"/>
      </c:valAx>
      <c:spPr>
        <a:noFill/>
        <a:ln>
          <a:noFill/>
        </a:ln>
        <a:effectLst/>
      </c:spPr>
    </c:plotArea>
    <c:plotVisOnly val="1"/>
    <c:dispBlanksAs val="gap"/>
  </c:chart>
  <c:spPr>
    <a:noFill/>
    <a:ln>
      <a:noFill/>
    </a:ln>
    <a:effectLst/>
  </c:spPr>
  <c:txPr>
    <a:bodyPr/>
    <a:lstStyle/>
    <a:p>
      <a:pPr>
        <a:defRPr/>
      </a:pPr>
      <a:endParaRPr lang="en-US"/>
    </a:p>
  </c:txPr>
  <c:externalData r:id="rId1"/>
</c:chartSpace>
</file>

<file path=ppt/charts/chart9.xml><?xml version="1.0" encoding="utf-8"?>
<c:chartSpace xmlns:c="http://schemas.openxmlformats.org/drawingml/2006/chart" xmlns:a="http://schemas.openxmlformats.org/drawingml/2006/main" xmlns:r="http://schemas.openxmlformats.org/officeDocument/2006/relationships">
  <c:date1904 val="1"/>
  <c:lang val="en-US"/>
  <c:chart>
    <c:title>
      <c:tx>
        <c:rich>
          <a:bodyPr rot="0" spcFirstLastPara="1" vertOverflow="ellipsis" vert="horz" wrap="square" anchor="ctr" anchorCtr="1"/>
          <a:lstStyle/>
          <a:p>
            <a:pPr>
              <a:defRPr sz="3600" b="1" i="0" u="none" strike="noStrike" kern="1200" spc="0" baseline="0">
                <a:solidFill>
                  <a:schemeClr val="tx1">
                    <a:lumMod val="65000"/>
                    <a:lumOff val="35000"/>
                  </a:schemeClr>
                </a:solidFill>
                <a:latin typeface="+mn-lt"/>
                <a:ea typeface="+mn-ea"/>
                <a:cs typeface="+mn-cs"/>
              </a:defRPr>
            </a:pPr>
            <a:r>
              <a:rPr lang="en-US" sz="3600" b="1" dirty="0">
                <a:solidFill>
                  <a:schemeClr val="accent2"/>
                </a:solidFill>
              </a:rPr>
              <a:t>Proportion of wasted children under the age of 5 years, %</a:t>
            </a:r>
          </a:p>
        </c:rich>
      </c:tx>
      <c:spPr>
        <a:noFill/>
        <a:ln>
          <a:noFill/>
        </a:ln>
        <a:effectLst/>
      </c:spPr>
    </c:title>
    <c:plotArea>
      <c:layout/>
      <c:barChart>
        <c:barDir val="col"/>
        <c:grouping val="clustered"/>
        <c:ser>
          <c:idx val="0"/>
          <c:order val="0"/>
          <c:spPr>
            <a:solidFill>
              <a:schemeClr val="accent1"/>
            </a:solidFill>
            <a:ln>
              <a:noFill/>
            </a:ln>
            <a:effectLst/>
          </c:spPr>
          <c:dPt>
            <c:idx val="23"/>
            <c:spPr>
              <a:solidFill>
                <a:schemeClr val="accent2"/>
              </a:solidFill>
              <a:ln>
                <a:noFill/>
              </a:ln>
              <a:effectLst/>
            </c:spPr>
          </c:dPt>
          <c:dPt>
            <c:idx val="24"/>
            <c:spPr>
              <a:solidFill>
                <a:schemeClr val="accent2"/>
              </a:solidFill>
              <a:ln>
                <a:noFill/>
              </a:ln>
              <a:effectLst/>
            </c:spPr>
          </c:dPt>
          <c:dPt>
            <c:idx val="25"/>
            <c:spPr>
              <a:solidFill>
                <a:schemeClr val="accent2"/>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'2.2.2'!$B$3:$AA$3</c:f>
              <c:strCache>
                <c:ptCount val="26"/>
                <c:pt idx="0">
                  <c:v>1986</c:v>
                </c:pt>
                <c:pt idx="1">
                  <c:v>1990</c:v>
                </c:pt>
                <c:pt idx="2">
                  <c:v>1991</c:v>
                </c:pt>
                <c:pt idx="3">
                  <c:v>1992</c:v>
                </c:pt>
                <c:pt idx="4">
                  <c:v>1993</c:v>
                </c:pt>
                <c:pt idx="5">
                  <c:v>1994</c:v>
                </c:pt>
                <c:pt idx="6">
                  <c:v>1995</c:v>
                </c:pt>
                <c:pt idx="7">
                  <c:v>1996</c:v>
                </c:pt>
                <c:pt idx="8">
                  <c:v>1997</c:v>
                </c:pt>
                <c:pt idx="9">
                  <c:v>1998</c:v>
                </c:pt>
                <c:pt idx="10">
                  <c:v>1999</c:v>
                </c:pt>
                <c:pt idx="11">
                  <c:v>2000</c:v>
                </c:pt>
                <c:pt idx="12">
                  <c:v>2001</c:v>
                </c:pt>
                <c:pt idx="13">
                  <c:v>2002</c:v>
                </c:pt>
                <c:pt idx="14">
                  <c:v>2003</c:v>
                </c:pt>
                <c:pt idx="15">
                  <c:v>2004</c:v>
                </c:pt>
                <c:pt idx="16">
                  <c:v>2005</c:v>
                </c:pt>
                <c:pt idx="17">
                  <c:v>2006</c:v>
                </c:pt>
                <c:pt idx="18">
                  <c:v>2007</c:v>
                </c:pt>
                <c:pt idx="19">
                  <c:v>2011</c:v>
                </c:pt>
                <c:pt idx="20">
                  <c:v>2012</c:v>
                </c:pt>
                <c:pt idx="21">
                  <c:v>2013</c:v>
                </c:pt>
                <c:pt idx="22">
                  <c:v>2014 (Base)</c:v>
                </c:pt>
                <c:pt idx="23">
                  <c:v>2020 (T)</c:v>
                </c:pt>
                <c:pt idx="24">
                  <c:v>2025 (T)</c:v>
                </c:pt>
                <c:pt idx="25">
                  <c:v>2030 (Target)</c:v>
                </c:pt>
              </c:strCache>
            </c:strRef>
          </c:cat>
          <c:val>
            <c:numRef>
              <c:f>'2.2.2'!$B$4:$AA$4</c:f>
              <c:numCache>
                <c:formatCode>General</c:formatCode>
                <c:ptCount val="26"/>
                <c:pt idx="0">
                  <c:v>17.3</c:v>
                </c:pt>
                <c:pt idx="1">
                  <c:v>17.5</c:v>
                </c:pt>
                <c:pt idx="2">
                  <c:v>15.2</c:v>
                </c:pt>
                <c:pt idx="3">
                  <c:v>16.100000000000001</c:v>
                </c:pt>
                <c:pt idx="4">
                  <c:v>14</c:v>
                </c:pt>
                <c:pt idx="5">
                  <c:v>16.7</c:v>
                </c:pt>
                <c:pt idx="6">
                  <c:v>15.1</c:v>
                </c:pt>
                <c:pt idx="7">
                  <c:v>15.5</c:v>
                </c:pt>
                <c:pt idx="8">
                  <c:v>20.6</c:v>
                </c:pt>
                <c:pt idx="9">
                  <c:v>15</c:v>
                </c:pt>
                <c:pt idx="10">
                  <c:v>13.7</c:v>
                </c:pt>
                <c:pt idx="11">
                  <c:v>12.5</c:v>
                </c:pt>
                <c:pt idx="12">
                  <c:v>12.7</c:v>
                </c:pt>
                <c:pt idx="13">
                  <c:v>12.4</c:v>
                </c:pt>
                <c:pt idx="14">
                  <c:v>12.5</c:v>
                </c:pt>
                <c:pt idx="15">
                  <c:v>14.5</c:v>
                </c:pt>
                <c:pt idx="16">
                  <c:v>11.8</c:v>
                </c:pt>
                <c:pt idx="17">
                  <c:v>11.9</c:v>
                </c:pt>
                <c:pt idx="18">
                  <c:v>17.399999999999999</c:v>
                </c:pt>
                <c:pt idx="19">
                  <c:v>15.6</c:v>
                </c:pt>
                <c:pt idx="20">
                  <c:v>9.6</c:v>
                </c:pt>
                <c:pt idx="21">
                  <c:v>18.100000000000001</c:v>
                </c:pt>
                <c:pt idx="22">
                  <c:v>14.3</c:v>
                </c:pt>
                <c:pt idx="23">
                  <c:v>12</c:v>
                </c:pt>
                <c:pt idx="24">
                  <c:v>10</c:v>
                </c:pt>
                <c:pt idx="25">
                  <c:v>5</c:v>
                </c:pt>
              </c:numCache>
            </c:numRef>
          </c:val>
        </c:ser>
        <c:gapWidth val="219"/>
        <c:overlap val="-27"/>
        <c:axId val="61411712"/>
        <c:axId val="61413248"/>
      </c:barChart>
      <c:catAx>
        <c:axId val="61411712"/>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crossAx val="61413248"/>
        <c:crosses val="autoZero"/>
        <c:auto val="1"/>
        <c:lblAlgn val="ctr"/>
        <c:lblOffset val="100"/>
      </c:catAx>
      <c:valAx>
        <c:axId val="61413248"/>
        <c:scaling>
          <c:orientation val="minMax"/>
        </c:scaling>
        <c:axPos val="l"/>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411712"/>
        <c:crosses val="autoZero"/>
        <c:crossBetween val="between"/>
      </c:valAx>
      <c:spPr>
        <a:noFill/>
        <a:ln>
          <a:noFill/>
        </a:ln>
        <a:effectLst/>
      </c:spPr>
    </c:plotArea>
    <c:plotVisOnly val="1"/>
    <c:dispBlanksAs val="gap"/>
  </c:chart>
  <c:spPr>
    <a:noFill/>
    <a:ln>
      <a:noFill/>
    </a:ln>
    <a:effectLst/>
  </c:spPr>
  <c:txPr>
    <a:bodyPr/>
    <a:lstStyle/>
    <a:p>
      <a:pPr>
        <a:defRPr/>
      </a:pPr>
      <a:endParaRPr lang="en-US"/>
    </a:p>
  </c:txPr>
  <c:externalData r:id="rId1"/>
</c:chartSpace>
</file>

<file path=ppt/charts/chart10.xml><?xml version="1.0" encoding="utf-8"?>
<c:chartSpace xmlns:c="http://schemas.openxmlformats.org/drawingml/2006/chart" xmlns:a="http://schemas.openxmlformats.org/drawingml/2006/main" xmlns:r="http://schemas.openxmlformats.org/officeDocument/2006/relationships">
  <c:date1904 val="1"/>
  <c:lang val="en-US"/>
  <c:chart>
    <c:autoTitleDeleted val="1"/>
    <c:plotArea>
      <c:layout/>
      <c:barChart>
        <c:barDir val="col"/>
        <c:grouping val="clustered"/>
        <c:ser>
          <c:idx val="0"/>
          <c:order val="0"/>
          <c:tx>
            <c:strRef>
              <c:f>'3.1.1'!$C$49</c:f>
              <c:strCache>
                <c:ptCount val="1"/>
                <c:pt idx="0">
                  <c:v>National </c:v>
                </c:pt>
              </c:strCache>
            </c:strRef>
          </c:tx>
          <c:spPr>
            <a:solidFill>
              <a:schemeClr val="accent1"/>
            </a:solidFill>
            <a:ln>
              <a:noFill/>
            </a:ln>
            <a:effectLst/>
          </c:spPr>
          <c:dPt>
            <c:idx val="8"/>
            <c:spPr>
              <a:solidFill>
                <a:schemeClr val="accent2"/>
              </a:solidFill>
              <a:ln>
                <a:noFill/>
              </a:ln>
              <a:effectLst/>
            </c:spPr>
          </c:dPt>
          <c:dPt>
            <c:idx val="9"/>
            <c:spPr>
              <a:solidFill>
                <a:schemeClr val="accent2"/>
              </a:solidFill>
              <a:ln>
                <a:noFill/>
              </a:ln>
              <a:effectLst/>
            </c:spPr>
          </c:dPt>
          <c:dPt>
            <c:idx val="10"/>
            <c:spPr>
              <a:solidFill>
                <a:schemeClr val="accent2"/>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'3.1.1'!$B$50:$B$60</c:f>
              <c:strCache>
                <c:ptCount val="11"/>
                <c:pt idx="0">
                  <c:v>1986</c:v>
                </c:pt>
                <c:pt idx="1">
                  <c:v>1988</c:v>
                </c:pt>
                <c:pt idx="2">
                  <c:v>1990</c:v>
                </c:pt>
                <c:pt idx="3">
                  <c:v>1995</c:v>
                </c:pt>
                <c:pt idx="4">
                  <c:v>2000</c:v>
                </c:pt>
                <c:pt idx="5">
                  <c:v>2005</c:v>
                </c:pt>
                <c:pt idx="6">
                  <c:v>2010</c:v>
                </c:pt>
                <c:pt idx="7">
                  <c:v>2015</c:v>
                </c:pt>
                <c:pt idx="8">
                  <c:v>2020 (T)</c:v>
                </c:pt>
                <c:pt idx="9">
                  <c:v>2025 (T)</c:v>
                </c:pt>
                <c:pt idx="10">
                  <c:v>2030 (Target)</c:v>
                </c:pt>
              </c:strCache>
            </c:strRef>
          </c:cat>
          <c:val>
            <c:numRef>
              <c:f>'3.1.1'!$C$50:$C$60</c:f>
              <c:numCache>
                <c:formatCode>General</c:formatCode>
                <c:ptCount val="11"/>
                <c:pt idx="0">
                  <c:v>648</c:v>
                </c:pt>
                <c:pt idx="1">
                  <c:v>572</c:v>
                </c:pt>
                <c:pt idx="2">
                  <c:v>478</c:v>
                </c:pt>
                <c:pt idx="3">
                  <c:v>447</c:v>
                </c:pt>
                <c:pt idx="4">
                  <c:v>318</c:v>
                </c:pt>
                <c:pt idx="5">
                  <c:v>348</c:v>
                </c:pt>
                <c:pt idx="6">
                  <c:v>216</c:v>
                </c:pt>
                <c:pt idx="7">
                  <c:v>181</c:v>
                </c:pt>
                <c:pt idx="8">
                  <c:v>105</c:v>
                </c:pt>
                <c:pt idx="9">
                  <c:v>85</c:v>
                </c:pt>
                <c:pt idx="10">
                  <c:v>70</c:v>
                </c:pt>
              </c:numCache>
            </c:numRef>
          </c:val>
        </c:ser>
        <c:gapWidth val="219"/>
        <c:overlap val="-27"/>
        <c:axId val="61456768"/>
        <c:axId val="61458304"/>
      </c:barChart>
      <c:catAx>
        <c:axId val="61456768"/>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61458304"/>
        <c:crosses val="autoZero"/>
        <c:auto val="1"/>
        <c:lblAlgn val="ctr"/>
        <c:lblOffset val="100"/>
      </c:catAx>
      <c:valAx>
        <c:axId val="61458304"/>
        <c:scaling>
          <c:orientation val="minMax"/>
        </c:scaling>
        <c:axPos val="l"/>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456768"/>
        <c:crosses val="autoZero"/>
        <c:crossBetween val="between"/>
      </c:valAx>
      <c:spPr>
        <a:noFill/>
        <a:ln>
          <a:noFill/>
        </a:ln>
        <a:effectLst/>
      </c:spPr>
    </c:plotArea>
    <c:plotVisOnly val="1"/>
    <c:dispBlanksAs val="gap"/>
  </c:chart>
  <c:spPr>
    <a:noFill/>
    <a:ln>
      <a:noFill/>
    </a:ln>
    <a:effectLst/>
  </c:spPr>
  <c:txPr>
    <a:bodyPr/>
    <a:lstStyle/>
    <a:p>
      <a:pPr>
        <a:defRPr/>
      </a:pPr>
      <a:endParaRPr lang="en-US"/>
    </a:p>
  </c:txPr>
  <c:externalData r:id="rId1"/>
</c:chartSpace>
</file>

<file path=ppt/charts/chart11.xml><?xml version="1.0" encoding="utf-8"?>
<c:chartSpace xmlns:c="http://schemas.openxmlformats.org/drawingml/2006/chart" xmlns:a="http://schemas.openxmlformats.org/drawingml/2006/main" xmlns:r="http://schemas.openxmlformats.org/officeDocument/2006/relationships">
  <c:date1904 val="1"/>
  <c:lang val="en-US"/>
  <c:chart>
    <c:autoTitleDeleted val="1"/>
    <c:plotArea>
      <c:layout/>
      <c:barChart>
        <c:barDir val="col"/>
        <c:grouping val="clustered"/>
        <c:ser>
          <c:idx val="0"/>
          <c:order val="0"/>
          <c:spPr>
            <a:solidFill>
              <a:schemeClr val="accent1"/>
            </a:solidFill>
            <a:ln>
              <a:noFill/>
            </a:ln>
            <a:effectLst/>
          </c:spPr>
          <c:dPt>
            <c:idx val="12"/>
            <c:spPr>
              <a:solidFill>
                <a:schemeClr val="accent2"/>
              </a:solidFill>
              <a:ln>
                <a:noFill/>
              </a:ln>
              <a:effectLst/>
            </c:spPr>
          </c:dPt>
          <c:dPt>
            <c:idx val="13"/>
            <c:spPr>
              <a:solidFill>
                <a:schemeClr val="accent2"/>
              </a:solidFill>
              <a:ln>
                <a:noFill/>
              </a:ln>
              <a:effectLst/>
            </c:spPr>
          </c:dPt>
          <c:dPt>
            <c:idx val="14"/>
            <c:spPr>
              <a:solidFill>
                <a:schemeClr val="accent2"/>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'3.1.2'!$C$2:$Q$2</c:f>
              <c:strCache>
                <c:ptCount val="15"/>
                <c:pt idx="0">
                  <c:v>1991</c:v>
                </c:pt>
                <c:pt idx="1">
                  <c:v>1994</c:v>
                </c:pt>
                <c:pt idx="2">
                  <c:v>2000</c:v>
                </c:pt>
                <c:pt idx="3">
                  <c:v>2001</c:v>
                </c:pt>
                <c:pt idx="4">
                  <c:v>2004</c:v>
                </c:pt>
                <c:pt idx="5">
                  <c:v>2006</c:v>
                </c:pt>
                <c:pt idx="6">
                  <c:v>2007</c:v>
                </c:pt>
                <c:pt idx="7">
                  <c:v>2009</c:v>
                </c:pt>
                <c:pt idx="8">
                  <c:v>2010</c:v>
                </c:pt>
                <c:pt idx="9">
                  <c:v>2011</c:v>
                </c:pt>
                <c:pt idx="10">
                  <c:v>2013</c:v>
                </c:pt>
                <c:pt idx="11">
                  <c:v>2014</c:v>
                </c:pt>
                <c:pt idx="12">
                  <c:v>2020 (T)</c:v>
                </c:pt>
                <c:pt idx="13">
                  <c:v>2025(T)</c:v>
                </c:pt>
                <c:pt idx="14">
                  <c:v>2030 (Target)</c:v>
                </c:pt>
              </c:strCache>
            </c:strRef>
          </c:cat>
          <c:val>
            <c:numRef>
              <c:f>'3.1.2'!$C$3:$Q$3</c:f>
              <c:numCache>
                <c:formatCode>General</c:formatCode>
                <c:ptCount val="15"/>
                <c:pt idx="0">
                  <c:v>5</c:v>
                </c:pt>
                <c:pt idx="1">
                  <c:v>9.5</c:v>
                </c:pt>
                <c:pt idx="2">
                  <c:v>13.9</c:v>
                </c:pt>
                <c:pt idx="3">
                  <c:v>11.6</c:v>
                </c:pt>
                <c:pt idx="4">
                  <c:v>15.6</c:v>
                </c:pt>
                <c:pt idx="5">
                  <c:v>20.100000000000001</c:v>
                </c:pt>
                <c:pt idx="6">
                  <c:v>20.9</c:v>
                </c:pt>
                <c:pt idx="7">
                  <c:v>24.4</c:v>
                </c:pt>
                <c:pt idx="8">
                  <c:v>26.5</c:v>
                </c:pt>
                <c:pt idx="9">
                  <c:v>31.7</c:v>
                </c:pt>
                <c:pt idx="10">
                  <c:v>43.5</c:v>
                </c:pt>
                <c:pt idx="11">
                  <c:v>42.1</c:v>
                </c:pt>
                <c:pt idx="12">
                  <c:v>65</c:v>
                </c:pt>
                <c:pt idx="13">
                  <c:v>72</c:v>
                </c:pt>
                <c:pt idx="14">
                  <c:v>80</c:v>
                </c:pt>
              </c:numCache>
            </c:numRef>
          </c:val>
        </c:ser>
        <c:gapWidth val="219"/>
        <c:overlap val="-27"/>
        <c:axId val="61897728"/>
        <c:axId val="61920000"/>
      </c:barChart>
      <c:catAx>
        <c:axId val="61897728"/>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61920000"/>
        <c:crosses val="autoZero"/>
        <c:auto val="1"/>
        <c:lblAlgn val="ctr"/>
        <c:lblOffset val="100"/>
      </c:catAx>
      <c:valAx>
        <c:axId val="61920000"/>
        <c:scaling>
          <c:orientation val="minMax"/>
        </c:scaling>
        <c:axPos val="l"/>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61897728"/>
        <c:crosses val="autoZero"/>
        <c:crossBetween val="between"/>
      </c:valAx>
      <c:spPr>
        <a:noFill/>
        <a:ln>
          <a:noFill/>
        </a:ln>
        <a:effectLst/>
      </c:spPr>
    </c:plotArea>
    <c:plotVisOnly val="1"/>
    <c:dispBlanksAs val="gap"/>
  </c:chart>
  <c:spPr>
    <a:noFill/>
    <a:ln>
      <a:noFill/>
    </a:ln>
    <a:effectLst/>
  </c:spPr>
  <c:txPr>
    <a:bodyPr/>
    <a:lstStyle/>
    <a:p>
      <a:pPr>
        <a:defRPr/>
      </a:pPr>
      <a:endParaRPr lang="en-US"/>
    </a:p>
  </c:txPr>
  <c:externalData r:id="rId1"/>
</c:chartSpace>
</file>

<file path=ppt/charts/chart12.xml><?xml version="1.0" encoding="utf-8"?>
<c:chartSpace xmlns:c="http://schemas.openxmlformats.org/drawingml/2006/chart" xmlns:a="http://schemas.openxmlformats.org/drawingml/2006/main" xmlns:r="http://schemas.openxmlformats.org/officeDocument/2006/relationships">
  <c:date1904 val="1"/>
  <c:lang val="en-US"/>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NMR/1000</a:t>
            </a:r>
            <a:r>
              <a:rPr lang="en-US" baseline="0"/>
              <a:t> LB</a:t>
            </a:r>
            <a:endParaRPr lang="en-US"/>
          </a:p>
        </c:rich>
      </c:tx>
      <c:spPr>
        <a:noFill/>
        <a:ln>
          <a:noFill/>
        </a:ln>
        <a:effectLst/>
      </c:spPr>
    </c:title>
    <c:plotArea>
      <c:layout/>
      <c:barChart>
        <c:barDir val="col"/>
        <c:grouping val="clustered"/>
        <c:ser>
          <c:idx val="0"/>
          <c:order val="0"/>
          <c:tx>
            <c:strRef>
              <c:f>'3.2.2'!$C$48</c:f>
              <c:strCache>
                <c:ptCount val="1"/>
                <c:pt idx="0">
                  <c:v>National </c:v>
                </c:pt>
              </c:strCache>
            </c:strRef>
          </c:tx>
          <c:spPr>
            <a:solidFill>
              <a:schemeClr val="accent1"/>
            </a:solidFill>
            <a:ln>
              <a:noFill/>
            </a:ln>
            <a:effectLst/>
          </c:spPr>
          <c:dPt>
            <c:idx val="8"/>
            <c:spPr>
              <a:solidFill>
                <a:schemeClr val="accent2"/>
              </a:solidFill>
              <a:ln>
                <a:noFill/>
              </a:ln>
              <a:effectLst/>
            </c:spPr>
          </c:dPt>
          <c:dPt>
            <c:idx val="9"/>
            <c:spPr>
              <a:solidFill>
                <a:schemeClr val="accent2"/>
              </a:solidFill>
              <a:ln>
                <a:noFill/>
              </a:ln>
              <a:effectLst/>
            </c:spPr>
          </c:dPt>
          <c:dPt>
            <c:idx val="10"/>
            <c:spPr>
              <a:solidFill>
                <a:schemeClr val="accent2"/>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'3.2.2'!$B$49:$B$59</c:f>
              <c:strCache>
                <c:ptCount val="11"/>
                <c:pt idx="0">
                  <c:v>1981</c:v>
                </c:pt>
                <c:pt idx="1">
                  <c:v>1985</c:v>
                </c:pt>
                <c:pt idx="2">
                  <c:v>1990</c:v>
                </c:pt>
                <c:pt idx="3">
                  <c:v>1995</c:v>
                </c:pt>
                <c:pt idx="4">
                  <c:v>2000</c:v>
                </c:pt>
                <c:pt idx="5">
                  <c:v>2005</c:v>
                </c:pt>
                <c:pt idx="6">
                  <c:v>2010</c:v>
                </c:pt>
                <c:pt idx="7">
                  <c:v>2015 (Base)</c:v>
                </c:pt>
                <c:pt idx="8">
                  <c:v>2020 (T)</c:v>
                </c:pt>
                <c:pt idx="9">
                  <c:v>2025 (T)</c:v>
                </c:pt>
                <c:pt idx="10">
                  <c:v>2030 (Target)</c:v>
                </c:pt>
              </c:strCache>
            </c:strRef>
          </c:cat>
          <c:val>
            <c:numRef>
              <c:f>'3.2.2'!$C$49:$C$59</c:f>
              <c:numCache>
                <c:formatCode>General</c:formatCode>
                <c:ptCount val="11"/>
                <c:pt idx="0">
                  <c:v>81</c:v>
                </c:pt>
                <c:pt idx="1">
                  <c:v>64</c:v>
                </c:pt>
                <c:pt idx="2">
                  <c:v>67</c:v>
                </c:pt>
                <c:pt idx="3">
                  <c:v>52</c:v>
                </c:pt>
                <c:pt idx="4">
                  <c:v>39</c:v>
                </c:pt>
                <c:pt idx="5">
                  <c:v>33</c:v>
                </c:pt>
                <c:pt idx="6">
                  <c:v>26</c:v>
                </c:pt>
                <c:pt idx="7">
                  <c:v>20</c:v>
                </c:pt>
                <c:pt idx="8">
                  <c:v>18</c:v>
                </c:pt>
                <c:pt idx="9">
                  <c:v>16</c:v>
                </c:pt>
                <c:pt idx="10">
                  <c:v>12</c:v>
                </c:pt>
              </c:numCache>
            </c:numRef>
          </c:val>
        </c:ser>
        <c:gapWidth val="219"/>
        <c:overlap val="-27"/>
        <c:axId val="61978496"/>
        <c:axId val="61980032"/>
      </c:barChart>
      <c:catAx>
        <c:axId val="61978496"/>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61980032"/>
        <c:crosses val="autoZero"/>
        <c:auto val="1"/>
        <c:lblAlgn val="ctr"/>
        <c:lblOffset val="100"/>
      </c:catAx>
      <c:valAx>
        <c:axId val="61980032"/>
        <c:scaling>
          <c:orientation val="minMax"/>
        </c:scaling>
        <c:axPos val="l"/>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978496"/>
        <c:crosses val="autoZero"/>
        <c:crossBetween val="between"/>
      </c:valAx>
      <c:spPr>
        <a:noFill/>
        <a:ln>
          <a:noFill/>
        </a:ln>
        <a:effectLst/>
      </c:spPr>
    </c:plotArea>
    <c:plotVisOnly val="1"/>
    <c:dispBlanksAs val="gap"/>
  </c:chart>
  <c:spPr>
    <a:noFill/>
    <a:ln>
      <a:noFill/>
    </a:ln>
    <a:effectLst/>
  </c:spPr>
  <c:txPr>
    <a:bodyPr/>
    <a:lstStyle/>
    <a:p>
      <a:pPr>
        <a:defRPr/>
      </a:pPr>
      <a:endParaRPr lang="en-US"/>
    </a:p>
  </c:txPr>
  <c:externalData r:id="rId1"/>
</c:chartSpace>
</file>

<file path=ppt/charts/chart13.xml><?xml version="1.0" encoding="utf-8"?>
<c:chartSpace xmlns:c="http://schemas.openxmlformats.org/drawingml/2006/chart" xmlns:a="http://schemas.openxmlformats.org/drawingml/2006/main" xmlns:r="http://schemas.openxmlformats.org/officeDocument/2006/relationships">
  <c:date1904 val="1"/>
  <c:lang val="en-US"/>
  <c:chart>
    <c:autoTitleDeleted val="1"/>
    <c:plotArea>
      <c:layout/>
      <c:barChart>
        <c:barDir val="col"/>
        <c:grouping val="clustered"/>
        <c:ser>
          <c:idx val="0"/>
          <c:order val="0"/>
          <c:tx>
            <c:strRef>
              <c:f>'3.3.1'!$C$33</c:f>
              <c:strCache>
                <c:ptCount val="1"/>
                <c:pt idx="0">
                  <c:v>Female</c:v>
                </c:pt>
              </c:strCache>
            </c:strRef>
          </c:tx>
          <c:spPr>
            <a:solidFill>
              <a:schemeClr val="accent1"/>
            </a:solidFill>
            <a:ln>
              <a:noFill/>
            </a:ln>
            <a:effectLst/>
          </c:spPr>
          <c:cat>
            <c:strRef>
              <c:f>'3.3.1'!$D$32:$J$32</c:f>
              <c:strCache>
                <c:ptCount val="7"/>
                <c:pt idx="0">
                  <c:v>2000</c:v>
                </c:pt>
                <c:pt idx="1">
                  <c:v>2005</c:v>
                </c:pt>
                <c:pt idx="2">
                  <c:v>2010</c:v>
                </c:pt>
                <c:pt idx="3">
                  <c:v>2015</c:v>
                </c:pt>
                <c:pt idx="4">
                  <c:v>2020(T)</c:v>
                </c:pt>
                <c:pt idx="5">
                  <c:v>2025(T)</c:v>
                </c:pt>
                <c:pt idx="6">
                  <c:v>2030 (Target)</c:v>
                </c:pt>
              </c:strCache>
            </c:strRef>
          </c:cat>
          <c:val>
            <c:numRef>
              <c:f>'3.3.1'!$D$33:$J$33</c:f>
              <c:numCache>
                <c:formatCode>General</c:formatCode>
                <c:ptCount val="7"/>
                <c:pt idx="0">
                  <c:v>0</c:v>
                </c:pt>
                <c:pt idx="1">
                  <c:v>0</c:v>
                </c:pt>
                <c:pt idx="2">
                  <c:v>1.0000000000000005E-2</c:v>
                </c:pt>
                <c:pt idx="3">
                  <c:v>0</c:v>
                </c:pt>
                <c:pt idx="4">
                  <c:v>0</c:v>
                </c:pt>
                <c:pt idx="5">
                  <c:v>0</c:v>
                </c:pt>
                <c:pt idx="6">
                  <c:v>0</c:v>
                </c:pt>
              </c:numCache>
            </c:numRef>
          </c:val>
        </c:ser>
        <c:ser>
          <c:idx val="1"/>
          <c:order val="1"/>
          <c:tx>
            <c:strRef>
              <c:f>'3.3.1'!$C$34</c:f>
              <c:strCache>
                <c:ptCount val="1"/>
                <c:pt idx="0">
                  <c:v>Male</c:v>
                </c:pt>
              </c:strCache>
            </c:strRef>
          </c:tx>
          <c:spPr>
            <a:solidFill>
              <a:schemeClr val="accent2"/>
            </a:solidFill>
            <a:ln>
              <a:noFill/>
            </a:ln>
            <a:effectLst/>
          </c:spP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Base"/>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'3.3.1'!$D$32:$J$32</c:f>
              <c:strCache>
                <c:ptCount val="7"/>
                <c:pt idx="0">
                  <c:v>2000</c:v>
                </c:pt>
                <c:pt idx="1">
                  <c:v>2005</c:v>
                </c:pt>
                <c:pt idx="2">
                  <c:v>2010</c:v>
                </c:pt>
                <c:pt idx="3">
                  <c:v>2015</c:v>
                </c:pt>
                <c:pt idx="4">
                  <c:v>2020(T)</c:v>
                </c:pt>
                <c:pt idx="5">
                  <c:v>2025(T)</c:v>
                </c:pt>
                <c:pt idx="6">
                  <c:v>2030 (Target)</c:v>
                </c:pt>
              </c:strCache>
            </c:strRef>
          </c:cat>
          <c:val>
            <c:numRef>
              <c:f>'3.3.1'!$D$34:$J$34</c:f>
              <c:numCache>
                <c:formatCode>General</c:formatCode>
                <c:ptCount val="7"/>
                <c:pt idx="0">
                  <c:v>0</c:v>
                </c:pt>
                <c:pt idx="1">
                  <c:v>1.0000000000000005E-2</c:v>
                </c:pt>
                <c:pt idx="2">
                  <c:v>1.0000000000000005E-2</c:v>
                </c:pt>
                <c:pt idx="3">
                  <c:v>1.0000000000000005E-2</c:v>
                </c:pt>
                <c:pt idx="4">
                  <c:v>1.0000000000000005E-2</c:v>
                </c:pt>
                <c:pt idx="5">
                  <c:v>2.0000000000000018E-3</c:v>
                </c:pt>
                <c:pt idx="6">
                  <c:v>1.0000000000000009E-3</c:v>
                </c:pt>
              </c:numCache>
            </c:numRef>
          </c:val>
        </c:ser>
        <c:ser>
          <c:idx val="2"/>
          <c:order val="2"/>
          <c:tx>
            <c:strRef>
              <c:f>'3.3.1'!$C$35</c:f>
              <c:strCache>
                <c:ptCount val="1"/>
                <c:pt idx="0">
                  <c:v>Total</c:v>
                </c:pt>
              </c:strCache>
            </c:strRef>
          </c:tx>
          <c:spPr>
            <a:solidFill>
              <a:schemeClr val="accent3"/>
            </a:solidFill>
            <a:ln>
              <a:noFill/>
            </a:ln>
            <a:effectLst/>
          </c:spP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'3.3.1'!$D$32:$J$32</c:f>
              <c:strCache>
                <c:ptCount val="7"/>
                <c:pt idx="0">
                  <c:v>2000</c:v>
                </c:pt>
                <c:pt idx="1">
                  <c:v>2005</c:v>
                </c:pt>
                <c:pt idx="2">
                  <c:v>2010</c:v>
                </c:pt>
                <c:pt idx="3">
                  <c:v>2015</c:v>
                </c:pt>
                <c:pt idx="4">
                  <c:v>2020(T)</c:v>
                </c:pt>
                <c:pt idx="5">
                  <c:v>2025(T)</c:v>
                </c:pt>
                <c:pt idx="6">
                  <c:v>2030 (Target)</c:v>
                </c:pt>
              </c:strCache>
            </c:strRef>
          </c:cat>
          <c:val>
            <c:numRef>
              <c:f>'3.3.1'!$D$35:$J$35</c:f>
              <c:numCache>
                <c:formatCode>General</c:formatCode>
                <c:ptCount val="7"/>
                <c:pt idx="0">
                  <c:v>0</c:v>
                </c:pt>
                <c:pt idx="1">
                  <c:v>1.0000000000000005E-2</c:v>
                </c:pt>
                <c:pt idx="2">
                  <c:v>1.0000000000000005E-2</c:v>
                </c:pt>
                <c:pt idx="3">
                  <c:v>1.0000000000000005E-2</c:v>
                </c:pt>
                <c:pt idx="4">
                  <c:v>1.0000000000000005E-2</c:v>
                </c:pt>
                <c:pt idx="5">
                  <c:v>2.0000000000000018E-3</c:v>
                </c:pt>
                <c:pt idx="6">
                  <c:v>1.0000000000000009E-3</c:v>
                </c:pt>
              </c:numCache>
            </c:numRef>
          </c:val>
        </c:ser>
        <c:gapWidth val="219"/>
        <c:overlap val="-27"/>
        <c:axId val="62031744"/>
        <c:axId val="62033280"/>
      </c:barChart>
      <c:catAx>
        <c:axId val="62031744"/>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62033280"/>
        <c:crosses val="autoZero"/>
        <c:auto val="1"/>
        <c:lblAlgn val="ctr"/>
        <c:lblOffset val="100"/>
      </c:catAx>
      <c:valAx>
        <c:axId val="62033280"/>
        <c:scaling>
          <c:orientation val="minMax"/>
        </c:scaling>
        <c:axPos val="l"/>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62031744"/>
        <c:crosses val="autoZero"/>
        <c:crossBetween val="between"/>
        <c:majorUnit val="1.0000000000000011E-3"/>
      </c:valAx>
      <c:spPr>
        <a:noFill/>
        <a:ln>
          <a:noFill/>
        </a:ln>
        <a:effectLst/>
      </c:spPr>
    </c:plotArea>
    <c:legend>
      <c:legendPos val="b"/>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chart>
  <c:spPr>
    <a:noFill/>
    <a:ln>
      <a:noFill/>
    </a:ln>
    <a:effectLst/>
  </c:spPr>
  <c:txPr>
    <a:bodyPr/>
    <a:lstStyle/>
    <a:p>
      <a:pPr>
        <a:defRPr/>
      </a:pPr>
      <a:endParaRPr lang="en-US"/>
    </a:p>
  </c:txPr>
  <c:externalData r:id="rId1"/>
</c:chartSpace>
</file>

<file path=ppt/charts/chart14.xml><?xml version="1.0" encoding="utf-8"?>
<c:chartSpace xmlns:c="http://schemas.openxmlformats.org/drawingml/2006/chart" xmlns:a="http://schemas.openxmlformats.org/drawingml/2006/main" xmlns:r="http://schemas.openxmlformats.org/officeDocument/2006/relationships">
  <c:date1904 val="1"/>
  <c:lang val="en-US"/>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a:t>Tuberculosis incidence per 100,000 population</a:t>
            </a:r>
          </a:p>
        </c:rich>
      </c:tx>
      <c:spPr>
        <a:noFill/>
        <a:ln>
          <a:noFill/>
        </a:ln>
        <a:effectLst/>
      </c:spPr>
    </c:title>
    <c:plotArea>
      <c:layout/>
      <c:barChart>
        <c:barDir val="col"/>
        <c:grouping val="clustered"/>
        <c:ser>
          <c:idx val="0"/>
          <c:order val="0"/>
          <c:spPr>
            <a:solidFill>
              <a:schemeClr val="accent1"/>
            </a:solidFill>
            <a:ln>
              <a:noFill/>
            </a:ln>
            <a:effectLst/>
          </c:spPr>
          <c:dPt>
            <c:idx val="15"/>
            <c:spPr>
              <a:solidFill>
                <a:schemeClr val="accent2"/>
              </a:solidFill>
              <a:ln>
                <a:noFill/>
              </a:ln>
              <a:effectLst/>
            </c:spPr>
          </c:dPt>
          <c:dPt>
            <c:idx val="16"/>
            <c:spPr>
              <a:solidFill>
                <a:schemeClr val="accent2"/>
              </a:solidFill>
              <a:ln>
                <a:noFill/>
              </a:ln>
              <a:effectLst/>
            </c:spPr>
          </c:dPt>
          <c:dPt>
            <c:idx val="17"/>
            <c:spPr>
              <a:solidFill>
                <a:schemeClr val="accent2"/>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'3.3.2'!$C$3:$T$3</c:f>
              <c:strCache>
                <c:ptCount val="18"/>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2020 (T)</c:v>
                </c:pt>
                <c:pt idx="16">
                  <c:v>2025 (T)</c:v>
                </c:pt>
                <c:pt idx="17">
                  <c:v>2030 (Target)</c:v>
                </c:pt>
              </c:strCache>
            </c:strRef>
          </c:cat>
          <c:val>
            <c:numRef>
              <c:f>'3.3.2'!$C$4:$T$4</c:f>
              <c:numCache>
                <c:formatCode>General</c:formatCode>
                <c:ptCount val="18"/>
                <c:pt idx="0">
                  <c:v>225</c:v>
                </c:pt>
                <c:pt idx="1">
                  <c:v>225</c:v>
                </c:pt>
                <c:pt idx="2">
                  <c:v>225</c:v>
                </c:pt>
                <c:pt idx="3">
                  <c:v>225</c:v>
                </c:pt>
                <c:pt idx="4">
                  <c:v>225</c:v>
                </c:pt>
                <c:pt idx="5">
                  <c:v>225</c:v>
                </c:pt>
                <c:pt idx="6">
                  <c:v>225</c:v>
                </c:pt>
                <c:pt idx="7">
                  <c:v>225</c:v>
                </c:pt>
                <c:pt idx="8">
                  <c:v>225</c:v>
                </c:pt>
                <c:pt idx="9">
                  <c:v>225</c:v>
                </c:pt>
                <c:pt idx="10">
                  <c:v>225</c:v>
                </c:pt>
                <c:pt idx="11">
                  <c:v>225</c:v>
                </c:pt>
                <c:pt idx="12">
                  <c:v>225</c:v>
                </c:pt>
                <c:pt idx="13">
                  <c:v>224</c:v>
                </c:pt>
                <c:pt idx="14">
                  <c:v>227</c:v>
                </c:pt>
                <c:pt idx="15">
                  <c:v>220</c:v>
                </c:pt>
                <c:pt idx="16" formatCode="0">
                  <c:v>200</c:v>
                </c:pt>
                <c:pt idx="17">
                  <c:v>150</c:v>
                </c:pt>
              </c:numCache>
            </c:numRef>
          </c:val>
        </c:ser>
        <c:axId val="62166144"/>
        <c:axId val="62167680"/>
      </c:barChart>
      <c:catAx>
        <c:axId val="62166144"/>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62167680"/>
        <c:crosses val="autoZero"/>
        <c:auto val="1"/>
        <c:lblAlgn val="ctr"/>
        <c:lblOffset val="100"/>
      </c:catAx>
      <c:valAx>
        <c:axId val="62167680"/>
        <c:scaling>
          <c:orientation val="minMax"/>
        </c:scaling>
        <c:axPos val="l"/>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166144"/>
        <c:crosses val="autoZero"/>
        <c:crossBetween val="between"/>
      </c:valAx>
      <c:spPr>
        <a:noFill/>
        <a:ln>
          <a:noFill/>
        </a:ln>
        <a:effectLst/>
      </c:spPr>
    </c:plotArea>
    <c:plotVisOnly val="1"/>
    <c:dispBlanksAs val="gap"/>
  </c:chart>
  <c:spPr>
    <a:noFill/>
    <a:ln>
      <a:noFill/>
    </a:ln>
    <a:effectLst/>
  </c:spPr>
  <c:txPr>
    <a:bodyPr/>
    <a:lstStyle/>
    <a:p>
      <a:pPr>
        <a:defRPr/>
      </a:pPr>
      <a:endParaRPr lang="en-US"/>
    </a:p>
  </c:txPr>
  <c:externalData r:id="rId1"/>
</c:chartSpace>
</file>

<file path=ppt/charts/chart15.xml><?xml version="1.0" encoding="utf-8"?>
<c:chartSpace xmlns:c="http://schemas.openxmlformats.org/drawingml/2006/chart" xmlns:a="http://schemas.openxmlformats.org/drawingml/2006/main" xmlns:r="http://schemas.openxmlformats.org/officeDocument/2006/relationships">
  <c:date1904 val="1"/>
  <c:lang val="en-US"/>
  <c:chart>
    <c:autoTitleDeleted val="1"/>
    <c:plotArea>
      <c:layout/>
      <c:barChart>
        <c:barDir val="col"/>
        <c:grouping val="clustered"/>
        <c:ser>
          <c:idx val="0"/>
          <c:order val="0"/>
          <c:spPr>
            <a:solidFill>
              <a:schemeClr val="accent1"/>
            </a:solidFill>
            <a:ln>
              <a:noFill/>
            </a:ln>
            <a:effectLst/>
          </c:spPr>
          <c:dPt>
            <c:idx val="3"/>
            <c:spPr>
              <a:solidFill>
                <a:schemeClr val="accent2"/>
              </a:solidFill>
              <a:ln>
                <a:noFill/>
              </a:ln>
              <a:effectLst/>
            </c:spPr>
          </c:dPt>
          <c:dPt>
            <c:idx val="4"/>
            <c:spPr>
              <a:solidFill>
                <a:schemeClr val="accent2"/>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'3.3.3'!$B$3:$G$3</c:f>
              <c:strCache>
                <c:ptCount val="6"/>
                <c:pt idx="0">
                  <c:v>2000</c:v>
                </c:pt>
                <c:pt idx="1">
                  <c:v>2005</c:v>
                </c:pt>
                <c:pt idx="2">
                  <c:v>2014</c:v>
                </c:pt>
                <c:pt idx="3">
                  <c:v>2020 (T)</c:v>
                </c:pt>
                <c:pt idx="4">
                  <c:v>2025 (T)</c:v>
                </c:pt>
                <c:pt idx="5">
                  <c:v>2030 (Target)</c:v>
                </c:pt>
              </c:strCache>
            </c:strRef>
          </c:cat>
          <c:val>
            <c:numRef>
              <c:f>'3.3.3'!$B$4:$G$4</c:f>
              <c:numCache>
                <c:formatCode>General</c:formatCode>
                <c:ptCount val="6"/>
                <c:pt idx="0">
                  <c:v>4.4000000000000004</c:v>
                </c:pt>
                <c:pt idx="1">
                  <c:v>4.4000000000000004</c:v>
                </c:pt>
                <c:pt idx="2">
                  <c:v>4.3</c:v>
                </c:pt>
                <c:pt idx="3" formatCode="0.0">
                  <c:v>3</c:v>
                </c:pt>
                <c:pt idx="4">
                  <c:v>1.5</c:v>
                </c:pt>
                <c:pt idx="5" formatCode="0.0">
                  <c:v>0</c:v>
                </c:pt>
              </c:numCache>
            </c:numRef>
          </c:val>
        </c:ser>
        <c:gapWidth val="219"/>
        <c:overlap val="-27"/>
        <c:axId val="62074880"/>
        <c:axId val="62076416"/>
      </c:barChart>
      <c:catAx>
        <c:axId val="62074880"/>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62076416"/>
        <c:crosses val="autoZero"/>
        <c:auto val="1"/>
        <c:lblAlgn val="ctr"/>
        <c:lblOffset val="100"/>
      </c:catAx>
      <c:valAx>
        <c:axId val="62076416"/>
        <c:scaling>
          <c:orientation val="minMax"/>
        </c:scaling>
        <c:axPos val="l"/>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62074880"/>
        <c:crosses val="autoZero"/>
        <c:crossBetween val="between"/>
      </c:valAx>
      <c:spPr>
        <a:noFill/>
        <a:ln>
          <a:noFill/>
        </a:ln>
        <a:effectLst/>
      </c:spPr>
    </c:plotArea>
    <c:plotVisOnly val="1"/>
    <c:dispBlanksAs val="gap"/>
  </c:chart>
  <c:spPr>
    <a:noFill/>
    <a:ln>
      <a:noFill/>
    </a:ln>
    <a:effectLst/>
  </c:spPr>
  <c:txPr>
    <a:bodyPr/>
    <a:lstStyle/>
    <a:p>
      <a:pPr>
        <a:defRPr/>
      </a:pPr>
      <a:endParaRPr lang="en-US"/>
    </a:p>
  </c:txPr>
  <c:externalData r:id="rId1"/>
</c:chartSpace>
</file>

<file path=ppt/charts/chart16.xml><?xml version="1.0" encoding="utf-8"?>
<c:chartSpace xmlns:c="http://schemas.openxmlformats.org/drawingml/2006/chart" xmlns:a="http://schemas.openxmlformats.org/drawingml/2006/main" xmlns:r="http://schemas.openxmlformats.org/officeDocument/2006/relationships">
  <c:date1904 val="1"/>
  <c:lang val="en-US"/>
  <c:chart>
    <c:autoTitleDeleted val="1"/>
    <c:plotArea>
      <c:layout/>
      <c:barChart>
        <c:barDir val="col"/>
        <c:grouping val="clustered"/>
        <c:ser>
          <c:idx val="0"/>
          <c:order val="0"/>
          <c:spPr>
            <a:solidFill>
              <a:schemeClr val="accent1"/>
            </a:solidFill>
            <a:ln>
              <a:noFill/>
            </a:ln>
            <a:effectLst/>
          </c:spPr>
          <c:dPt>
            <c:idx val="1"/>
            <c:spPr>
              <a:solidFill>
                <a:schemeClr val="accent2"/>
              </a:solidFill>
              <a:ln>
                <a:noFill/>
              </a:ln>
              <a:effectLst/>
            </c:spPr>
          </c:dPt>
          <c:dPt>
            <c:idx val="2"/>
            <c:spPr>
              <a:solidFill>
                <a:schemeClr val="accent2"/>
              </a:solidFill>
              <a:ln>
                <a:noFill/>
              </a:ln>
              <a:effectLst/>
            </c:spPr>
          </c:dPt>
          <c:dPt>
            <c:idx val="3"/>
            <c:spPr>
              <a:solidFill>
                <a:schemeClr val="accent2"/>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'3.3.4'!$F$3:$I$3</c:f>
              <c:strCache>
                <c:ptCount val="4"/>
                <c:pt idx="0">
                  <c:v>2014</c:v>
                </c:pt>
                <c:pt idx="1">
                  <c:v>2020 (T)</c:v>
                </c:pt>
                <c:pt idx="2">
                  <c:v>2025 (T)</c:v>
                </c:pt>
                <c:pt idx="3">
                  <c:v>2030 (Target)</c:v>
                </c:pt>
              </c:strCache>
            </c:strRef>
          </c:cat>
          <c:val>
            <c:numRef>
              <c:f>'3.3.4'!$F$4:$I$4</c:f>
              <c:numCache>
                <c:formatCode>General</c:formatCode>
                <c:ptCount val="4"/>
                <c:pt idx="0">
                  <c:v>546</c:v>
                </c:pt>
                <c:pt idx="1">
                  <c:v>450</c:v>
                </c:pt>
                <c:pt idx="2">
                  <c:v>350</c:v>
                </c:pt>
                <c:pt idx="3">
                  <c:v>250</c:v>
                </c:pt>
              </c:numCache>
            </c:numRef>
          </c:val>
        </c:ser>
        <c:gapWidth val="219"/>
        <c:overlap val="-27"/>
        <c:axId val="62122624"/>
        <c:axId val="62124416"/>
      </c:barChart>
      <c:catAx>
        <c:axId val="62122624"/>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62124416"/>
        <c:crosses val="autoZero"/>
        <c:auto val="1"/>
        <c:lblAlgn val="ctr"/>
        <c:lblOffset val="100"/>
      </c:catAx>
      <c:valAx>
        <c:axId val="62124416"/>
        <c:scaling>
          <c:orientation val="minMax"/>
        </c:scaling>
        <c:axPos val="l"/>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62122624"/>
        <c:crosses val="autoZero"/>
        <c:crossBetween val="between"/>
      </c:valAx>
      <c:spPr>
        <a:noFill/>
        <a:ln>
          <a:noFill/>
        </a:ln>
        <a:effectLst/>
      </c:spPr>
    </c:plotArea>
    <c:plotVisOnly val="1"/>
    <c:dispBlanksAs val="gap"/>
  </c:chart>
  <c:spPr>
    <a:noFill/>
    <a:ln>
      <a:noFill/>
    </a:ln>
    <a:effectLst/>
  </c:spPr>
  <c:txPr>
    <a:bodyPr/>
    <a:lstStyle/>
    <a:p>
      <a:pPr>
        <a:defRPr/>
      </a:pPr>
      <a:endParaRPr lang="en-US"/>
    </a:p>
  </c:txPr>
  <c:externalData r:id="rId1"/>
</c:chartSpace>
</file>

<file path=ppt/charts/chart17.xml><?xml version="1.0" encoding="utf-8"?>
<c:chartSpace xmlns:c="http://schemas.openxmlformats.org/drawingml/2006/chart" xmlns:a="http://schemas.openxmlformats.org/drawingml/2006/main" xmlns:r="http://schemas.openxmlformats.org/officeDocument/2006/relationships">
  <c:date1904 val="1"/>
  <c:lang val="en-US"/>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a:t>Number of people requiring interventions against neglected tropical diseases</a:t>
            </a:r>
          </a:p>
        </c:rich>
      </c:tx>
      <c:spPr>
        <a:noFill/>
        <a:ln>
          <a:noFill/>
        </a:ln>
        <a:effectLst/>
      </c:spPr>
    </c:title>
    <c:plotArea>
      <c:layout/>
      <c:barChart>
        <c:barDir val="col"/>
        <c:grouping val="clustered"/>
        <c:ser>
          <c:idx val="0"/>
          <c:order val="0"/>
          <c:spPr>
            <a:solidFill>
              <a:schemeClr val="accent1"/>
            </a:solidFill>
            <a:ln>
              <a:noFill/>
            </a:ln>
            <a:effectLst/>
          </c:spPr>
          <c:dPt>
            <c:idx val="1"/>
            <c:spPr>
              <a:solidFill>
                <a:schemeClr val="accent2"/>
              </a:solidFill>
              <a:ln>
                <a:noFill/>
              </a:ln>
              <a:effectLst/>
            </c:spPr>
          </c:dPt>
          <c:dPt>
            <c:idx val="2"/>
            <c:spPr>
              <a:solidFill>
                <a:schemeClr val="accent2"/>
              </a:solidFill>
              <a:ln>
                <a:noFill/>
              </a:ln>
              <a:effectLst/>
            </c:spPr>
          </c:dPt>
          <c:dPt>
            <c:idx val="3"/>
            <c:spPr>
              <a:solidFill>
                <a:schemeClr val="accent2"/>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'3.3.5'!$D$4:$G$4</c:f>
              <c:strCache>
                <c:ptCount val="4"/>
                <c:pt idx="0">
                  <c:v>2014</c:v>
                </c:pt>
                <c:pt idx="1">
                  <c:v>2020 (T)</c:v>
                </c:pt>
                <c:pt idx="2">
                  <c:v>2025 (T)</c:v>
                </c:pt>
                <c:pt idx="3">
                  <c:v>2030 (Target)</c:v>
                </c:pt>
              </c:strCache>
            </c:strRef>
          </c:cat>
          <c:val>
            <c:numRef>
              <c:f>'3.3.5'!$D$5:$G$5</c:f>
              <c:numCache>
                <c:formatCode>_(* #,##0_);_(* \(#,##0\);_(* "-"??_);_(@_)</c:formatCode>
                <c:ptCount val="4"/>
                <c:pt idx="0">
                  <c:v>49873889</c:v>
                </c:pt>
                <c:pt idx="1">
                  <c:v>45000000</c:v>
                </c:pt>
                <c:pt idx="2">
                  <c:v>40000000</c:v>
                </c:pt>
                <c:pt idx="3">
                  <c:v>35000000</c:v>
                </c:pt>
              </c:numCache>
            </c:numRef>
          </c:val>
        </c:ser>
        <c:gapWidth val="219"/>
        <c:overlap val="-27"/>
        <c:axId val="62256640"/>
        <c:axId val="62258176"/>
        <c:extLst>
          <c:ext xmlns:c15="http://schemas.microsoft.com/office/drawing/2012/chart" uri="{02D57815-91ED-43cb-92C2-25804820EDAC}">
            <c15:filteredBarSeries>
              <c15:ser>
                <c:idx val="1"/>
                <c:order val="1"/>
                <c:spPr>
                  <a:solidFill>
                    <a:schemeClr val="accent2"/>
                  </a:solidFill>
                  <a:ln>
                    <a:noFill/>
                  </a:ln>
                  <a:effectLst/>
                </c:spPr>
                <c:invertIfNegative val="0"/>
                <c:cat>
                  <c:strRef>
                    <c:extLst>
                      <c:ext uri="{02D57815-91ED-43cb-92C2-25804820EDAC}">
                        <c15:formulaRef>
                          <c15:sqref>'3.3.5'!$D$4:$G$4</c15:sqref>
                        </c15:formulaRef>
                      </c:ext>
                    </c:extLst>
                    <c:strCache>
                      <c:ptCount val="4"/>
                      <c:pt idx="0">
                        <c:v>2014</c:v>
                      </c:pt>
                      <c:pt idx="1">
                        <c:v>2020 (T)</c:v>
                      </c:pt>
                      <c:pt idx="2">
                        <c:v>2025 (T)</c:v>
                      </c:pt>
                      <c:pt idx="3">
                        <c:v>2030 (Target)</c:v>
                      </c:pt>
                    </c:strCache>
                  </c:strRef>
                </c:cat>
                <c:val>
                  <c:numRef>
                    <c:extLst>
                      <c:ext uri="{02D57815-91ED-43cb-92C2-25804820EDAC}">
                        <c15:formulaRef>
                          <c15:sqref>'3.3.5'!$D$6:$G$6</c15:sqref>
                        </c15:formulaRef>
                      </c:ext>
                    </c:extLst>
                    <c:numCache>
                      <c:formatCode>General</c:formatCode>
                      <c:ptCount val="4"/>
                    </c:numCache>
                  </c:numRef>
                </c:val>
              </c15:ser>
            </c15:filteredBarSeries>
          </c:ext>
        </c:extLst>
      </c:barChart>
      <c:catAx>
        <c:axId val="62256640"/>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62258176"/>
        <c:crosses val="autoZero"/>
        <c:auto val="1"/>
        <c:lblAlgn val="ctr"/>
        <c:lblOffset val="100"/>
      </c:catAx>
      <c:valAx>
        <c:axId val="62258176"/>
        <c:scaling>
          <c:orientation val="minMax"/>
        </c:scaling>
        <c:axPos val="l"/>
        <c:majorGridlines>
          <c:spPr>
            <a:ln w="9525" cap="flat" cmpd="sng" algn="ctr">
              <a:solidFill>
                <a:schemeClr val="tx1">
                  <a:lumMod val="15000"/>
                  <a:lumOff val="85000"/>
                </a:schemeClr>
              </a:solidFill>
              <a:round/>
            </a:ln>
            <a:effectLst/>
          </c:spPr>
        </c:majorGridlines>
        <c:numFmt formatCode="_(* #,##0_);_(* \(#,##0\);_(* &quot;-&quot;??_);_(@_)" sourceLinked="1"/>
        <c:maj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256640"/>
        <c:crosses val="autoZero"/>
        <c:crossBetween val="between"/>
      </c:valAx>
      <c:spPr>
        <a:noFill/>
        <a:ln>
          <a:noFill/>
        </a:ln>
        <a:effectLst/>
      </c:spPr>
    </c:plotArea>
    <c:plotVisOnly val="1"/>
    <c:dispBlanksAs val="gap"/>
  </c:chart>
  <c:spPr>
    <a:noFill/>
    <a:ln>
      <a:noFill/>
    </a:ln>
    <a:effectLst/>
  </c:spPr>
  <c:txPr>
    <a:bodyPr/>
    <a:lstStyle/>
    <a:p>
      <a:pPr>
        <a:defRPr/>
      </a:pPr>
      <a:endParaRPr lang="en-US"/>
    </a:p>
  </c:txPr>
  <c:externalData r:id="rId1"/>
</c:chartSpace>
</file>

<file path=ppt/charts/chart18.xml><?xml version="1.0" encoding="utf-8"?>
<c:chartSpace xmlns:c="http://schemas.openxmlformats.org/drawingml/2006/chart" xmlns:a="http://schemas.openxmlformats.org/drawingml/2006/main" xmlns:r="http://schemas.openxmlformats.org/officeDocument/2006/relationships">
  <c:date1904 val="1"/>
  <c:lang val="en-US"/>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a:t>Mortality between 30 and 70 years of age from cardiovascular disease, cancer, diabetes or chronic respiratory disease (%)</a:t>
            </a:r>
          </a:p>
        </c:rich>
      </c:tx>
      <c:spPr>
        <a:noFill/>
        <a:ln>
          <a:noFill/>
        </a:ln>
        <a:effectLst/>
      </c:spPr>
    </c:title>
    <c:plotArea>
      <c:layout/>
      <c:barChart>
        <c:barDir val="col"/>
        <c:grouping val="clustered"/>
        <c:ser>
          <c:idx val="0"/>
          <c:order val="0"/>
          <c:spPr>
            <a:solidFill>
              <a:schemeClr val="accent1"/>
            </a:solidFill>
            <a:ln>
              <a:noFill/>
            </a:ln>
            <a:effectLst/>
          </c:spPr>
          <c:dPt>
            <c:idx val="3"/>
            <c:spPr>
              <a:solidFill>
                <a:schemeClr val="accent2"/>
              </a:solidFill>
              <a:ln>
                <a:noFill/>
              </a:ln>
              <a:effectLst/>
            </c:spPr>
          </c:dPt>
          <c:dPt>
            <c:idx val="4"/>
            <c:spPr>
              <a:solidFill>
                <a:schemeClr val="accent2"/>
              </a:solidFill>
              <a:ln>
                <a:noFill/>
              </a:ln>
              <a:effectLst/>
            </c:spPr>
          </c:dPt>
          <c:dPt>
            <c:idx val="5"/>
            <c:spPr>
              <a:solidFill>
                <a:schemeClr val="accent2"/>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'3.4.1'!$B$4:$G$4</c:f>
              <c:strCache>
                <c:ptCount val="6"/>
                <c:pt idx="0">
                  <c:v>2000</c:v>
                </c:pt>
                <c:pt idx="1">
                  <c:v>2012</c:v>
                </c:pt>
                <c:pt idx="2">
                  <c:v>2014</c:v>
                </c:pt>
                <c:pt idx="3">
                  <c:v>2020 (T)</c:v>
                </c:pt>
                <c:pt idx="4">
                  <c:v>2025 (T)</c:v>
                </c:pt>
                <c:pt idx="5">
                  <c:v>2030 (T)</c:v>
                </c:pt>
              </c:strCache>
            </c:strRef>
          </c:cat>
          <c:val>
            <c:numRef>
              <c:f>'3.4.1'!$B$5:$G$5</c:f>
              <c:numCache>
                <c:formatCode>General</c:formatCode>
                <c:ptCount val="6"/>
                <c:pt idx="0">
                  <c:v>18.68</c:v>
                </c:pt>
                <c:pt idx="1">
                  <c:v>17.52</c:v>
                </c:pt>
                <c:pt idx="2">
                  <c:v>18</c:v>
                </c:pt>
                <c:pt idx="3">
                  <c:v>15</c:v>
                </c:pt>
                <c:pt idx="4">
                  <c:v>10</c:v>
                </c:pt>
                <c:pt idx="5">
                  <c:v>6</c:v>
                </c:pt>
              </c:numCache>
            </c:numRef>
          </c:val>
        </c:ser>
        <c:gapWidth val="219"/>
        <c:overlap val="-27"/>
        <c:axId val="62313216"/>
        <c:axId val="62314752"/>
      </c:barChart>
      <c:catAx>
        <c:axId val="62313216"/>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62314752"/>
        <c:crosses val="autoZero"/>
        <c:auto val="1"/>
        <c:lblAlgn val="ctr"/>
        <c:lblOffset val="100"/>
      </c:catAx>
      <c:valAx>
        <c:axId val="62314752"/>
        <c:scaling>
          <c:orientation val="minMax"/>
        </c:scaling>
        <c:axPos val="l"/>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313216"/>
        <c:crosses val="autoZero"/>
        <c:crossBetween val="between"/>
      </c:valAx>
      <c:spPr>
        <a:noFill/>
        <a:ln>
          <a:noFill/>
        </a:ln>
        <a:effectLst/>
      </c:spPr>
    </c:plotArea>
    <c:plotVisOnly val="1"/>
    <c:dispBlanksAs val="gap"/>
  </c:chart>
  <c:spPr>
    <a:noFill/>
    <a:ln>
      <a:noFill/>
    </a:ln>
    <a:effectLst/>
  </c:spPr>
  <c:txPr>
    <a:bodyPr/>
    <a:lstStyle/>
    <a:p>
      <a:pPr>
        <a:defRPr/>
      </a:pPr>
      <a:endParaRPr lang="en-US"/>
    </a:p>
  </c:txPr>
  <c:externalData r:id="rId1"/>
</c:chartSpace>
</file>

<file path=ppt/charts/chart19.xml><?xml version="1.0" encoding="utf-8"?>
<c:chartSpace xmlns:c="http://schemas.openxmlformats.org/drawingml/2006/chart" xmlns:a="http://schemas.openxmlformats.org/drawingml/2006/main" xmlns:r="http://schemas.openxmlformats.org/officeDocument/2006/relationships">
  <c:date1904 val="1"/>
  <c:lang val="en-US"/>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Suicide mortality rate (per 100,000 population)</a:t>
            </a:r>
          </a:p>
        </c:rich>
      </c:tx>
      <c:spPr>
        <a:noFill/>
        <a:ln>
          <a:noFill/>
        </a:ln>
        <a:effectLst/>
      </c:spPr>
    </c:title>
    <c:plotArea>
      <c:layout/>
      <c:barChart>
        <c:barDir val="col"/>
        <c:grouping val="clustered"/>
        <c:ser>
          <c:idx val="2"/>
          <c:order val="0"/>
          <c:tx>
            <c:strRef>
              <c:f>'3.4.2'!$C$6</c:f>
              <c:strCache>
                <c:ptCount val="1"/>
                <c:pt idx="0">
                  <c:v>Total</c:v>
                </c:pt>
              </c:strCache>
            </c:strRef>
          </c:tx>
          <c:spPr>
            <a:solidFill>
              <a:schemeClr val="accent3"/>
            </a:solidFill>
            <a:ln>
              <a:noFill/>
            </a:ln>
            <a:effectLst/>
          </c:spPr>
          <c:dPt>
            <c:idx val="8"/>
            <c:spPr>
              <a:solidFill>
                <a:schemeClr val="accent2"/>
              </a:solidFill>
              <a:ln>
                <a:noFill/>
              </a:ln>
              <a:effectLst/>
            </c:spPr>
          </c:dPt>
          <c:dPt>
            <c:idx val="9"/>
            <c:spPr>
              <a:solidFill>
                <a:schemeClr val="accent2"/>
              </a:solidFill>
              <a:ln>
                <a:noFill/>
              </a:ln>
              <a:effectLst/>
            </c:spPr>
          </c:dPt>
          <c:dPt>
            <c:idx val="10"/>
            <c:spPr>
              <a:solidFill>
                <a:schemeClr val="accent2"/>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'3.4.2'!$D$3:$N$3</c:f>
              <c:strCache>
                <c:ptCount val="11"/>
                <c:pt idx="0">
                  <c:v>2000</c:v>
                </c:pt>
                <c:pt idx="1">
                  <c:v>2010</c:v>
                </c:pt>
                <c:pt idx="2">
                  <c:v>2011</c:v>
                </c:pt>
                <c:pt idx="3">
                  <c:v>2012</c:v>
                </c:pt>
                <c:pt idx="4">
                  <c:v>2013</c:v>
                </c:pt>
                <c:pt idx="5">
                  <c:v>2014</c:v>
                </c:pt>
                <c:pt idx="6">
                  <c:v>2015 (Base)</c:v>
                </c:pt>
                <c:pt idx="7">
                  <c:v>2016</c:v>
                </c:pt>
                <c:pt idx="8">
                  <c:v>2020 (T)</c:v>
                </c:pt>
                <c:pt idx="9">
                  <c:v>2025 (T)</c:v>
                </c:pt>
                <c:pt idx="10">
                  <c:v>2030 (Target)</c:v>
                </c:pt>
              </c:strCache>
            </c:strRef>
          </c:cat>
          <c:val>
            <c:numRef>
              <c:f>'3.4.2'!$D$6:$N$6</c:f>
              <c:numCache>
                <c:formatCode>0.0</c:formatCode>
                <c:ptCount val="11"/>
                <c:pt idx="0">
                  <c:v>6.1099999999999985</c:v>
                </c:pt>
                <c:pt idx="1">
                  <c:v>6.84</c:v>
                </c:pt>
                <c:pt idx="2">
                  <c:v>6.7</c:v>
                </c:pt>
                <c:pt idx="3">
                  <c:v>6.8599999999999985</c:v>
                </c:pt>
                <c:pt idx="4">
                  <c:v>7</c:v>
                </c:pt>
                <c:pt idx="5">
                  <c:v>6.96</c:v>
                </c:pt>
                <c:pt idx="6">
                  <c:v>7.08</c:v>
                </c:pt>
                <c:pt idx="7">
                  <c:v>7.21</c:v>
                </c:pt>
                <c:pt idx="8" formatCode="General">
                  <c:v>5.5</c:v>
                </c:pt>
                <c:pt idx="9" formatCode="General">
                  <c:v>3.5</c:v>
                </c:pt>
                <c:pt idx="10">
                  <c:v>2.36</c:v>
                </c:pt>
              </c:numCache>
            </c:numRef>
          </c:val>
        </c:ser>
        <c:gapWidth val="219"/>
        <c:overlap val="-27"/>
        <c:axId val="62382080"/>
        <c:axId val="62383616"/>
        <c:extLst>
          <c:ext xmlns:c15="http://schemas.microsoft.com/office/drawing/2012/chart" uri="{02D57815-91ED-43cb-92C2-25804820EDAC}">
            <c15:filteredBarSeries>
              <c15:ser>
                <c:idx val="0"/>
                <c:order val="0"/>
                <c:tx>
                  <c:strRef>
                    <c:extLst>
                      <c:ext uri="{02D57815-91ED-43cb-92C2-25804820EDAC}">
                        <c15:formulaRef>
                          <c15:sqref>'3.4.2'!$C$4</c15:sqref>
                        </c15:formulaRef>
                      </c:ext>
                    </c:extLst>
                    <c:strCache>
                      <c:ptCount val="1"/>
                      <c:pt idx="0">
                        <c:v>Female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'3.4.2'!$D$3:$N$3</c15:sqref>
                        </c15:formulaRef>
                      </c:ext>
                    </c:extLst>
                    <c:strCache>
                      <c:ptCount val="11"/>
                      <c:pt idx="0">
                        <c:v>2000</c:v>
                      </c:pt>
                      <c:pt idx="1">
                        <c:v>2010</c:v>
                      </c:pt>
                      <c:pt idx="2">
                        <c:v>2011</c:v>
                      </c:pt>
                      <c:pt idx="3">
                        <c:v>2012</c:v>
                      </c:pt>
                      <c:pt idx="4">
                        <c:v>2013</c:v>
                      </c:pt>
                      <c:pt idx="5">
                        <c:v>2014</c:v>
                      </c:pt>
                      <c:pt idx="6">
                        <c:v>2015 (Base)</c:v>
                      </c:pt>
                      <c:pt idx="7">
                        <c:v>2016</c:v>
                      </c:pt>
                      <c:pt idx="8">
                        <c:v>2020 (T)</c:v>
                      </c:pt>
                      <c:pt idx="9">
                        <c:v>2025 (T)</c:v>
                      </c:pt>
                      <c:pt idx="10">
                        <c:v>2030 (Target)</c:v>
                      </c:pt>
                    </c:strCache>
                  </c:strRef>
                </c:cat>
                <c:val>
                  <c:numRef>
                    <c:extLst>
                      <c:ext uri="{02D57815-91ED-43cb-92C2-25804820EDAC}">
                        <c15:formulaRef>
                          <c15:sqref>'3.4.2'!$D$4:$N$4</c15:sqref>
                        </c15:formulaRef>
                      </c:ext>
                    </c:extLst>
                    <c:numCache>
                      <c:formatCode>General</c:formatCode>
                      <c:ptCount val="11"/>
                      <c:pt idx="0" formatCode="0.0">
                        <c:v>6.76</c:v>
                      </c:pt>
                      <c:pt idx="8">
                        <c:v>5</c:v>
                      </c:pt>
                      <c:pt idx="9">
                        <c:v>3</c:v>
                      </c:pt>
                      <c:pt idx="10" formatCode="0.0">
                        <c:v>2.52</c:v>
                      </c:pt>
                    </c:numCache>
                  </c:numRef>
                </c:val>
              </c15:ser>
            </c15:filteredBarSeries>
            <c15:filteredBarSeries>
              <c15:ser>
                <c:idx val="1"/>
                <c:order val="1"/>
                <c:tx>
                  <c:strRef>
                    <c:extLst xmlns:c15="http://schemas.microsoft.com/office/drawing/2012/chart">
                      <c:ext xmlns:c15="http://schemas.microsoft.com/office/drawing/2012/chart" uri="{02D57815-91ED-43cb-92C2-25804820EDAC}">
                        <c15:formulaRef>
                          <c15:sqref>'3.4.2'!$C$5</c15:sqref>
                        </c15:formulaRef>
                      </c:ext>
                    </c:extLst>
                    <c:strCache>
                      <c:ptCount val="1"/>
                      <c:pt idx="0">
                        <c:v>Male</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xmlns:c15="http://schemas.microsoft.com/office/drawing/2012/chart">
                      <c:ext xmlns:c15="http://schemas.microsoft.com/office/drawing/2012/chart" uri="{02D57815-91ED-43cb-92C2-25804820EDAC}">
                        <c15:formulaRef>
                          <c15:sqref>'3.4.2'!$D$3:$N$3</c15:sqref>
                        </c15:formulaRef>
                      </c:ext>
                    </c:extLst>
                    <c:strCache>
                      <c:ptCount val="11"/>
                      <c:pt idx="0">
                        <c:v>2000</c:v>
                      </c:pt>
                      <c:pt idx="1">
                        <c:v>2010</c:v>
                      </c:pt>
                      <c:pt idx="2">
                        <c:v>2011</c:v>
                      </c:pt>
                      <c:pt idx="3">
                        <c:v>2012</c:v>
                      </c:pt>
                      <c:pt idx="4">
                        <c:v>2013</c:v>
                      </c:pt>
                      <c:pt idx="5">
                        <c:v>2014</c:v>
                      </c:pt>
                      <c:pt idx="6">
                        <c:v>2015 (Base)</c:v>
                      </c:pt>
                      <c:pt idx="7">
                        <c:v>2016</c:v>
                      </c:pt>
                      <c:pt idx="8">
                        <c:v>2020 (T)</c:v>
                      </c:pt>
                      <c:pt idx="9">
                        <c:v>2025 (T)</c:v>
                      </c:pt>
                      <c:pt idx="10">
                        <c:v>2030 (Target)</c:v>
                      </c:pt>
                    </c:strCache>
                  </c:strRef>
                </c:cat>
                <c:val>
                  <c:numRef>
                    <c:extLst xmlns:c15="http://schemas.microsoft.com/office/drawing/2012/chart">
                      <c:ext xmlns:c15="http://schemas.microsoft.com/office/drawing/2012/chart" uri="{02D57815-91ED-43cb-92C2-25804820EDAC}">
                        <c15:formulaRef>
                          <c15:sqref>'3.4.2'!$D$5:$N$5</c15:sqref>
                        </c15:formulaRef>
                      </c:ext>
                    </c:extLst>
                    <c:numCache>
                      <c:formatCode>General</c:formatCode>
                      <c:ptCount val="11"/>
                      <c:pt idx="0" formatCode="0.0">
                        <c:v>5.5</c:v>
                      </c:pt>
                      <c:pt idx="8">
                        <c:v>4</c:v>
                      </c:pt>
                      <c:pt idx="9">
                        <c:v>2</c:v>
                      </c:pt>
                      <c:pt idx="10" formatCode="0.0">
                        <c:v>1.87</c:v>
                      </c:pt>
                    </c:numCache>
                  </c:numRef>
                </c:val>
              </c15:ser>
            </c15:filteredBarSeries>
          </c:ext>
        </c:extLst>
      </c:barChart>
      <c:catAx>
        <c:axId val="62382080"/>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383616"/>
        <c:crosses val="autoZero"/>
        <c:auto val="1"/>
        <c:lblAlgn val="ctr"/>
        <c:lblOffset val="100"/>
      </c:catAx>
      <c:valAx>
        <c:axId val="62383616"/>
        <c:scaling>
          <c:orientation val="minMax"/>
        </c:scaling>
        <c:axPos val="l"/>
        <c:majorGridlines>
          <c:spPr>
            <a:ln w="9525" cap="flat" cmpd="sng" algn="ctr">
              <a:solidFill>
                <a:schemeClr val="tx1">
                  <a:lumMod val="15000"/>
                  <a:lumOff val="85000"/>
                </a:schemeClr>
              </a:solidFill>
              <a:round/>
            </a:ln>
            <a:effectLst/>
          </c:spPr>
        </c:majorGridlines>
        <c:numFmt formatCode="0.0" sourceLinked="1"/>
        <c:maj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382080"/>
        <c:crosses val="autoZero"/>
        <c:crossBetween val="between"/>
      </c:valAx>
      <c:spPr>
        <a:noFill/>
        <a:ln>
          <a:noFill/>
        </a:ln>
        <a:effectLst/>
      </c:spPr>
    </c:plotArea>
    <c:legend>
      <c:legendPos val="b"/>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chart>
  <c:spPr>
    <a:noFill/>
    <a:ln>
      <a:noFill/>
    </a:ln>
    <a:effectLst/>
  </c:spPr>
  <c:txPr>
    <a:bodyPr/>
    <a:lstStyle/>
    <a:p>
      <a:pPr>
        <a:defRPr/>
      </a:pPr>
      <a:endParaRPr lang="en-US"/>
    </a:p>
  </c:txPr>
  <c:externalData r:id="rId1"/>
</c:chartSpace>
</file>

<file path=ppt/charts/chart20.xml><?xml version="1.0" encoding="utf-8"?>
<c:chartSpace xmlns:c="http://schemas.openxmlformats.org/drawingml/2006/chart" xmlns:a="http://schemas.openxmlformats.org/drawingml/2006/main" xmlns:r="http://schemas.openxmlformats.org/officeDocument/2006/relationships">
  <c:date1904 val="1"/>
  <c:lang val="en-US"/>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n-US" sz="1600"/>
              <a:t>Total alcohol per capita (age 15+ years) consumption, Litres</a:t>
            </a:r>
          </a:p>
        </c:rich>
      </c:tx>
      <c:spPr>
        <a:noFill/>
        <a:ln>
          <a:noFill/>
        </a:ln>
        <a:effectLst/>
      </c:spPr>
    </c:title>
    <c:plotArea>
      <c:layout/>
      <c:barChart>
        <c:barDir val="col"/>
        <c:grouping val="clustered"/>
        <c:ser>
          <c:idx val="0"/>
          <c:order val="0"/>
          <c:spPr>
            <a:solidFill>
              <a:schemeClr val="accent1"/>
            </a:solidFill>
            <a:ln>
              <a:noFill/>
            </a:ln>
            <a:effectLst/>
          </c:spPr>
          <c:dPt>
            <c:idx val="3"/>
            <c:spPr>
              <a:solidFill>
                <a:schemeClr val="accent2"/>
              </a:solidFill>
              <a:ln>
                <a:noFill/>
              </a:ln>
              <a:effectLst/>
            </c:spPr>
          </c:dPt>
          <c:dPt>
            <c:idx val="4"/>
            <c:spPr>
              <a:solidFill>
                <a:schemeClr val="accent2"/>
              </a:solidFill>
              <a:ln>
                <a:noFill/>
              </a:ln>
              <a:effectLst/>
            </c:spPr>
          </c:dPt>
          <c:dPt>
            <c:idx val="5"/>
            <c:spPr>
              <a:solidFill>
                <a:schemeClr val="accent2"/>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'3.5.2'!$C$4:$H$4</c:f>
              <c:strCache>
                <c:ptCount val="6"/>
                <c:pt idx="0">
                  <c:v>2005</c:v>
                </c:pt>
                <c:pt idx="1">
                  <c:v>2010</c:v>
                </c:pt>
                <c:pt idx="2">
                  <c:v>2015</c:v>
                </c:pt>
                <c:pt idx="3">
                  <c:v>2020 (T)</c:v>
                </c:pt>
                <c:pt idx="4">
                  <c:v>2025 (T)</c:v>
                </c:pt>
                <c:pt idx="5">
                  <c:v>2030 (Target)</c:v>
                </c:pt>
              </c:strCache>
            </c:strRef>
          </c:cat>
          <c:val>
            <c:numRef>
              <c:f>'3.5.2'!$C$5:$H$5</c:f>
              <c:numCache>
                <c:formatCode>General</c:formatCode>
                <c:ptCount val="6"/>
                <c:pt idx="0">
                  <c:v>0.2</c:v>
                </c:pt>
                <c:pt idx="1">
                  <c:v>0.2</c:v>
                </c:pt>
                <c:pt idx="2">
                  <c:v>0.2</c:v>
                </c:pt>
                <c:pt idx="3">
                  <c:v>0.2</c:v>
                </c:pt>
                <c:pt idx="4">
                  <c:v>0.15000000000000011</c:v>
                </c:pt>
                <c:pt idx="5">
                  <c:v>0.1</c:v>
                </c:pt>
              </c:numCache>
            </c:numRef>
          </c:val>
        </c:ser>
        <c:gapWidth val="219"/>
        <c:overlap val="-27"/>
        <c:axId val="62431232"/>
        <c:axId val="62432768"/>
      </c:barChart>
      <c:catAx>
        <c:axId val="62431232"/>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62432768"/>
        <c:crosses val="autoZero"/>
        <c:auto val="1"/>
        <c:lblAlgn val="ctr"/>
        <c:lblOffset val="100"/>
      </c:catAx>
      <c:valAx>
        <c:axId val="62432768"/>
        <c:scaling>
          <c:orientation val="minMax"/>
        </c:scaling>
        <c:axPos val="l"/>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62431232"/>
        <c:crosses val="autoZero"/>
        <c:crossBetween val="between"/>
      </c:valAx>
      <c:spPr>
        <a:noFill/>
        <a:ln>
          <a:noFill/>
        </a:ln>
        <a:effectLst/>
      </c:spPr>
    </c:plotArea>
    <c:plotVisOnly val="1"/>
    <c:dispBlanksAs val="gap"/>
  </c:chart>
  <c:spPr>
    <a:noFill/>
    <a:ln>
      <a:noFill/>
    </a:ln>
    <a:effectLst/>
  </c:spPr>
  <c:txPr>
    <a:bodyPr/>
    <a:lstStyle/>
    <a:p>
      <a:pPr>
        <a:defRPr/>
      </a:pPr>
      <a:endParaRPr lang="en-US"/>
    </a:p>
  </c:txPr>
  <c:externalData r:id="rId1"/>
</c:chartSpace>
</file>

<file path=ppt/charts/chart21.xml><?xml version="1.0" encoding="utf-8"?>
<c:chartSpace xmlns:c="http://schemas.openxmlformats.org/drawingml/2006/chart" xmlns:a="http://schemas.openxmlformats.org/drawingml/2006/main" xmlns:r="http://schemas.openxmlformats.org/officeDocument/2006/relationships">
  <c:date1904 val="1"/>
  <c:lang val="en-US"/>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a:t>Mortality rate from road traffic injuries (per 100000 population)</a:t>
            </a:r>
          </a:p>
        </c:rich>
      </c:tx>
      <c:spPr>
        <a:noFill/>
        <a:ln>
          <a:noFill/>
        </a:ln>
        <a:effectLst/>
      </c:spPr>
    </c:title>
    <c:plotArea>
      <c:layout/>
      <c:barChart>
        <c:barDir val="col"/>
        <c:grouping val="clustered"/>
        <c:ser>
          <c:idx val="0"/>
          <c:order val="0"/>
          <c:spPr>
            <a:solidFill>
              <a:schemeClr val="accent1"/>
            </a:solidFill>
            <a:ln>
              <a:noFill/>
            </a:ln>
            <a:effectLst/>
          </c:spPr>
          <c:dPt>
            <c:idx val="15"/>
            <c:spPr>
              <a:solidFill>
                <a:schemeClr val="accent2"/>
              </a:solidFill>
              <a:ln>
                <a:noFill/>
              </a:ln>
              <a:effectLst/>
            </c:spPr>
          </c:dPt>
          <c:dPt>
            <c:idx val="16"/>
            <c:spPr>
              <a:solidFill>
                <a:schemeClr val="accent2"/>
              </a:solidFill>
              <a:ln>
                <a:noFill/>
              </a:ln>
              <a:effectLst/>
            </c:spPr>
          </c:dPt>
          <c:dPt>
            <c:idx val="17"/>
            <c:spPr>
              <a:solidFill>
                <a:schemeClr val="accent2"/>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'3.6.1'!$B$6:$S$6</c:f>
              <c:strCache>
                <c:ptCount val="18"/>
                <c:pt idx="0">
                  <c:v>2000</c:v>
                </c:pt>
                <c:pt idx="1">
                  <c:v>2001</c:v>
                </c:pt>
                <c:pt idx="2">
                  <c:v>2002</c:v>
                </c:pt>
                <c:pt idx="3">
                  <c:v>2003</c:v>
                </c:pt>
                <c:pt idx="4">
                  <c:v>2004</c:v>
                </c:pt>
                <c:pt idx="5">
                  <c:v>2005</c:v>
                </c:pt>
                <c:pt idx="6">
                  <c:v>2006</c:v>
                </c:pt>
                <c:pt idx="7">
                  <c:v>2007</c:v>
                </c:pt>
                <c:pt idx="8">
                  <c:v>2010</c:v>
                </c:pt>
                <c:pt idx="9">
                  <c:v>2011</c:v>
                </c:pt>
                <c:pt idx="10">
                  <c:v>2012</c:v>
                </c:pt>
                <c:pt idx="11">
                  <c:v>2013</c:v>
                </c:pt>
                <c:pt idx="12">
                  <c:v>2014</c:v>
                </c:pt>
                <c:pt idx="13">
                  <c:v>2015 (Base)</c:v>
                </c:pt>
                <c:pt idx="14">
                  <c:v>2016</c:v>
                </c:pt>
                <c:pt idx="15">
                  <c:v>2020 (T)</c:v>
                </c:pt>
                <c:pt idx="16">
                  <c:v>2025 (T)</c:v>
                </c:pt>
                <c:pt idx="17">
                  <c:v>2030 (Target)</c:v>
                </c:pt>
              </c:strCache>
            </c:strRef>
          </c:cat>
          <c:val>
            <c:numRef>
              <c:f>'3.6.1'!$B$7:$S$7</c:f>
              <c:numCache>
                <c:formatCode>General</c:formatCode>
                <c:ptCount val="18"/>
                <c:pt idx="0">
                  <c:v>14.3</c:v>
                </c:pt>
                <c:pt idx="1">
                  <c:v>14.2</c:v>
                </c:pt>
                <c:pt idx="2">
                  <c:v>14.2</c:v>
                </c:pt>
                <c:pt idx="3">
                  <c:v>14</c:v>
                </c:pt>
                <c:pt idx="4">
                  <c:v>14.4</c:v>
                </c:pt>
                <c:pt idx="5">
                  <c:v>14.4</c:v>
                </c:pt>
                <c:pt idx="6">
                  <c:v>14.3</c:v>
                </c:pt>
                <c:pt idx="7">
                  <c:v>14.4</c:v>
                </c:pt>
                <c:pt idx="8">
                  <c:v>2.12</c:v>
                </c:pt>
                <c:pt idx="9">
                  <c:v>2.2000000000000002</c:v>
                </c:pt>
                <c:pt idx="10">
                  <c:v>2.2400000000000002</c:v>
                </c:pt>
                <c:pt idx="11">
                  <c:v>1.81</c:v>
                </c:pt>
                <c:pt idx="12">
                  <c:v>2.11</c:v>
                </c:pt>
                <c:pt idx="13">
                  <c:v>2.29</c:v>
                </c:pt>
                <c:pt idx="14">
                  <c:v>2.44</c:v>
                </c:pt>
                <c:pt idx="15">
                  <c:v>2</c:v>
                </c:pt>
                <c:pt idx="16">
                  <c:v>1.5</c:v>
                </c:pt>
                <c:pt idx="17">
                  <c:v>1.2</c:v>
                </c:pt>
              </c:numCache>
            </c:numRef>
          </c:val>
        </c:ser>
        <c:axId val="62454784"/>
        <c:axId val="62636800"/>
      </c:barChart>
      <c:catAx>
        <c:axId val="62454784"/>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crossAx val="62636800"/>
        <c:crosses val="autoZero"/>
        <c:auto val="1"/>
        <c:lblAlgn val="ctr"/>
        <c:lblOffset val="100"/>
      </c:catAx>
      <c:valAx>
        <c:axId val="62636800"/>
        <c:scaling>
          <c:orientation val="minMax"/>
        </c:scaling>
        <c:axPos val="l"/>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454784"/>
        <c:crosses val="autoZero"/>
        <c:crossBetween val="between"/>
      </c:valAx>
      <c:spPr>
        <a:noFill/>
        <a:ln>
          <a:noFill/>
        </a:ln>
        <a:effectLst/>
      </c:spPr>
    </c:plotArea>
    <c:plotVisOnly val="1"/>
    <c:dispBlanksAs val="gap"/>
  </c:chart>
  <c:spPr>
    <a:noFill/>
    <a:ln>
      <a:noFill/>
    </a:ln>
    <a:effectLst/>
  </c:spPr>
  <c:txPr>
    <a:bodyPr/>
    <a:lstStyle/>
    <a:p>
      <a:pPr>
        <a:defRPr/>
      </a:pPr>
      <a:endParaRPr lang="en-US"/>
    </a:p>
  </c:txPr>
  <c:externalData r:id="rId1"/>
</c:chartSpace>
</file>

<file path=ppt/charts/chart22.xml><?xml version="1.0" encoding="utf-8"?>
<c:chartSpace xmlns:c="http://schemas.openxmlformats.org/drawingml/2006/chart" xmlns:a="http://schemas.openxmlformats.org/drawingml/2006/main" xmlns:r="http://schemas.openxmlformats.org/officeDocument/2006/relationships">
  <c:date1904 val="1"/>
  <c:lang val="en-US"/>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a:t>Demand for family planning satisfied with modern methods (%)</a:t>
            </a:r>
          </a:p>
        </c:rich>
      </c:tx>
      <c:spPr>
        <a:noFill/>
        <a:ln>
          <a:noFill/>
        </a:ln>
        <a:effectLst/>
      </c:spPr>
    </c:title>
    <c:plotArea>
      <c:layout/>
      <c:barChart>
        <c:barDir val="col"/>
        <c:grouping val="clustered"/>
        <c:ser>
          <c:idx val="0"/>
          <c:order val="0"/>
          <c:spPr>
            <a:solidFill>
              <a:schemeClr val="accent1"/>
            </a:solidFill>
            <a:ln>
              <a:noFill/>
            </a:ln>
            <a:effectLst/>
          </c:spPr>
          <c:dPt>
            <c:idx val="6"/>
            <c:spPr>
              <a:solidFill>
                <a:schemeClr val="accent2"/>
              </a:solidFill>
              <a:ln>
                <a:noFill/>
              </a:ln>
              <a:effectLst/>
            </c:spPr>
          </c:dPt>
          <c:dPt>
            <c:idx val="7"/>
            <c:spPr>
              <a:solidFill>
                <a:schemeClr val="accent2"/>
              </a:solidFill>
              <a:ln>
                <a:noFill/>
              </a:ln>
              <a:effectLst/>
            </c:spPr>
          </c:dPt>
          <c:dPt>
            <c:idx val="8"/>
            <c:spPr>
              <a:solidFill>
                <a:schemeClr val="accent2"/>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'3.7.1'!$C$7:$K$7</c:f>
              <c:strCache>
                <c:ptCount val="9"/>
                <c:pt idx="0">
                  <c:v>2000</c:v>
                </c:pt>
                <c:pt idx="1">
                  <c:v>2004</c:v>
                </c:pt>
                <c:pt idx="2">
                  <c:v>2007</c:v>
                </c:pt>
                <c:pt idx="3">
                  <c:v>2011</c:v>
                </c:pt>
                <c:pt idx="4">
                  <c:v>2013</c:v>
                </c:pt>
                <c:pt idx="5">
                  <c:v>2014</c:v>
                </c:pt>
                <c:pt idx="6">
                  <c:v>2020 (T)</c:v>
                </c:pt>
                <c:pt idx="7">
                  <c:v>2025 (T)</c:v>
                </c:pt>
                <c:pt idx="8">
                  <c:v>2030 (Target)</c:v>
                </c:pt>
              </c:strCache>
            </c:strRef>
          </c:cat>
          <c:val>
            <c:numRef>
              <c:f>'3.7.1'!$C$8:$K$8</c:f>
              <c:numCache>
                <c:formatCode>General</c:formatCode>
                <c:ptCount val="9"/>
                <c:pt idx="0">
                  <c:v>60.7</c:v>
                </c:pt>
                <c:pt idx="1">
                  <c:v>64.8</c:v>
                </c:pt>
                <c:pt idx="2">
                  <c:v>65.400000000000006</c:v>
                </c:pt>
                <c:pt idx="3">
                  <c:v>69.7</c:v>
                </c:pt>
                <c:pt idx="4">
                  <c:v>78.3</c:v>
                </c:pt>
                <c:pt idx="5">
                  <c:v>72.599999999999994</c:v>
                </c:pt>
                <c:pt idx="6">
                  <c:v>75</c:v>
                </c:pt>
                <c:pt idx="7">
                  <c:v>80</c:v>
                </c:pt>
                <c:pt idx="8">
                  <c:v>100</c:v>
                </c:pt>
              </c:numCache>
            </c:numRef>
          </c:val>
        </c:ser>
        <c:gapWidth val="219"/>
        <c:overlap val="-27"/>
        <c:axId val="62671104"/>
        <c:axId val="62676992"/>
      </c:barChart>
      <c:catAx>
        <c:axId val="62671104"/>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62676992"/>
        <c:crosses val="autoZero"/>
        <c:auto val="1"/>
        <c:lblAlgn val="ctr"/>
        <c:lblOffset val="100"/>
      </c:catAx>
      <c:valAx>
        <c:axId val="62676992"/>
        <c:scaling>
          <c:orientation val="minMax"/>
        </c:scaling>
        <c:axPos val="l"/>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671104"/>
        <c:crosses val="autoZero"/>
        <c:crossBetween val="between"/>
      </c:valAx>
      <c:spPr>
        <a:noFill/>
        <a:ln>
          <a:noFill/>
        </a:ln>
        <a:effectLst/>
      </c:spPr>
    </c:plotArea>
    <c:plotVisOnly val="1"/>
    <c:dispBlanksAs val="gap"/>
  </c:chart>
  <c:spPr>
    <a:noFill/>
    <a:ln>
      <a:noFill/>
    </a:ln>
    <a:effectLst/>
  </c:spPr>
  <c:txPr>
    <a:bodyPr/>
    <a:lstStyle/>
    <a:p>
      <a:pPr>
        <a:defRPr/>
      </a:pPr>
      <a:endParaRPr lang="en-US"/>
    </a:p>
  </c:txPr>
  <c:externalData r:id="rId1"/>
</c:chartSpace>
</file>

<file path=ppt/charts/chart23.xml><?xml version="1.0" encoding="utf-8"?>
<c:chartSpace xmlns:c="http://schemas.openxmlformats.org/drawingml/2006/chart" xmlns:a="http://schemas.openxmlformats.org/drawingml/2006/main" xmlns:r="http://schemas.openxmlformats.org/officeDocument/2006/relationships">
  <c:date1904 val="1"/>
  <c:lang val="en-US"/>
  <c:chart>
    <c:title>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plotArea>
      <c:layout/>
      <c:barChart>
        <c:barDir val="col"/>
        <c:grouping val="clustered"/>
        <c:ser>
          <c:idx val="0"/>
          <c:order val="0"/>
          <c:tx>
            <c:strRef>
              <c:f>'3.7.2'!$J$42</c:f>
              <c:strCache>
                <c:ptCount val="1"/>
                <c:pt idx="0">
                  <c:v>AFR (Na)</c:v>
                </c:pt>
              </c:strCache>
            </c:strRef>
          </c:tx>
          <c:spPr>
            <a:solidFill>
              <a:schemeClr val="accent1"/>
            </a:solidFill>
            <a:ln>
              <a:noFill/>
            </a:ln>
            <a:effectLst/>
          </c:spPr>
          <c:dPt>
            <c:idx val="8"/>
            <c:spPr>
              <a:solidFill>
                <a:schemeClr val="accent2"/>
              </a:solidFill>
              <a:ln>
                <a:noFill/>
              </a:ln>
              <a:effectLst/>
            </c:spPr>
          </c:dPt>
          <c:dPt>
            <c:idx val="9"/>
            <c:spPr>
              <a:solidFill>
                <a:schemeClr val="accent2"/>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'3.7.2'!$I$43:$I$53</c:f>
              <c:strCache>
                <c:ptCount val="11"/>
                <c:pt idx="0">
                  <c:v>1981</c:v>
                </c:pt>
                <c:pt idx="1">
                  <c:v>1985</c:v>
                </c:pt>
                <c:pt idx="2">
                  <c:v>1990</c:v>
                </c:pt>
                <c:pt idx="3">
                  <c:v>1995</c:v>
                </c:pt>
                <c:pt idx="4">
                  <c:v>2000</c:v>
                </c:pt>
                <c:pt idx="5">
                  <c:v>2005</c:v>
                </c:pt>
                <c:pt idx="6">
                  <c:v>2010</c:v>
                </c:pt>
                <c:pt idx="7">
                  <c:v>2015 (Base)</c:v>
                </c:pt>
                <c:pt idx="8">
                  <c:v>2020 (T)</c:v>
                </c:pt>
                <c:pt idx="9">
                  <c:v>2025 (T)</c:v>
                </c:pt>
                <c:pt idx="10">
                  <c:v>2030 (Target)</c:v>
                </c:pt>
              </c:strCache>
            </c:strRef>
          </c:cat>
          <c:val>
            <c:numRef>
              <c:f>'3.7.2'!$J$43:$J$53</c:f>
              <c:numCache>
                <c:formatCode>General</c:formatCode>
                <c:ptCount val="11"/>
                <c:pt idx="0">
                  <c:v>133</c:v>
                </c:pt>
                <c:pt idx="1">
                  <c:v>89</c:v>
                </c:pt>
                <c:pt idx="2">
                  <c:v>79</c:v>
                </c:pt>
                <c:pt idx="3">
                  <c:v>55</c:v>
                </c:pt>
                <c:pt idx="4">
                  <c:v>39</c:v>
                </c:pt>
                <c:pt idx="5">
                  <c:v>57</c:v>
                </c:pt>
                <c:pt idx="6">
                  <c:v>59</c:v>
                </c:pt>
                <c:pt idx="7">
                  <c:v>75</c:v>
                </c:pt>
                <c:pt idx="8">
                  <c:v>60</c:v>
                </c:pt>
                <c:pt idx="9">
                  <c:v>50</c:v>
                </c:pt>
                <c:pt idx="10">
                  <c:v>40</c:v>
                </c:pt>
              </c:numCache>
            </c:numRef>
          </c:val>
        </c:ser>
        <c:gapWidth val="219"/>
        <c:overlap val="-27"/>
        <c:axId val="62788736"/>
        <c:axId val="62790272"/>
      </c:barChart>
      <c:catAx>
        <c:axId val="62788736"/>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62790272"/>
        <c:crosses val="autoZero"/>
        <c:auto val="1"/>
        <c:lblAlgn val="ctr"/>
        <c:lblOffset val="100"/>
      </c:catAx>
      <c:valAx>
        <c:axId val="62790272"/>
        <c:scaling>
          <c:orientation val="minMax"/>
        </c:scaling>
        <c:axPos val="l"/>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788736"/>
        <c:crosses val="autoZero"/>
        <c:crossBetween val="between"/>
      </c:valAx>
      <c:spPr>
        <a:noFill/>
        <a:ln>
          <a:noFill/>
        </a:ln>
        <a:effectLst/>
      </c:spPr>
    </c:plotArea>
    <c:plotVisOnly val="1"/>
    <c:dispBlanksAs val="gap"/>
  </c:chart>
  <c:spPr>
    <a:noFill/>
    <a:ln>
      <a:noFill/>
    </a:ln>
    <a:effectLst/>
  </c:spPr>
  <c:txPr>
    <a:bodyPr/>
    <a:lstStyle/>
    <a:p>
      <a:pPr>
        <a:defRPr/>
      </a:pPr>
      <a:endParaRPr lang="en-US"/>
    </a:p>
  </c:txPr>
  <c:externalData r:id="rId1"/>
</c:chartSpace>
</file>

<file path=ppt/charts/chart24.xml><?xml version="1.0" encoding="utf-8"?>
<c:chartSpace xmlns:c="http://schemas.openxmlformats.org/drawingml/2006/chart" xmlns:a="http://schemas.openxmlformats.org/drawingml/2006/main" xmlns:r="http://schemas.openxmlformats.org/officeDocument/2006/relationships">
  <c:date1904 val="1"/>
  <c:lang val="en-US"/>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a:t>UHC Serive Coverage Index </a:t>
            </a:r>
          </a:p>
        </c:rich>
      </c:tx>
      <c:spPr>
        <a:noFill/>
        <a:ln>
          <a:noFill/>
        </a:ln>
        <a:effectLst/>
      </c:spPr>
    </c:title>
    <c:plotArea>
      <c:layout/>
      <c:barChart>
        <c:barDir val="col"/>
        <c:grouping val="clustered"/>
        <c:ser>
          <c:idx val="0"/>
          <c:order val="0"/>
          <c:tx>
            <c:strRef>
              <c:f>'3.8.1'!$B$5</c:f>
              <c:strCache>
                <c:ptCount val="1"/>
                <c:pt idx="0">
                  <c:v>UHC Service Coverage Index </c:v>
                </c:pt>
              </c:strCache>
            </c:strRef>
          </c:tx>
          <c:spPr>
            <a:solidFill>
              <a:schemeClr val="accent1"/>
            </a:solidFill>
            <a:ln>
              <a:noFill/>
            </a:ln>
            <a:effectLst/>
          </c:spPr>
          <c:dPt>
            <c:idx val="1"/>
            <c:spPr>
              <a:solidFill>
                <a:schemeClr val="accent2"/>
              </a:solidFill>
              <a:ln>
                <a:noFill/>
              </a:ln>
              <a:effectLst/>
            </c:spPr>
          </c:dPt>
          <c:dPt>
            <c:idx val="2"/>
            <c:spPr>
              <a:solidFill>
                <a:schemeClr val="accent2"/>
              </a:solidFill>
              <a:ln>
                <a:noFill/>
              </a:ln>
              <a:effectLst/>
            </c:spPr>
          </c:dPt>
          <c:dPt>
            <c:idx val="3"/>
            <c:spPr>
              <a:solidFill>
                <a:schemeClr val="accent2"/>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'3.8.1'!$C$4:$F$4</c:f>
              <c:strCache>
                <c:ptCount val="4"/>
                <c:pt idx="0">
                  <c:v>2015</c:v>
                </c:pt>
                <c:pt idx="1">
                  <c:v>2020 (T)</c:v>
                </c:pt>
                <c:pt idx="2">
                  <c:v>2025 (T)</c:v>
                </c:pt>
                <c:pt idx="3">
                  <c:v>2030 (Target)</c:v>
                </c:pt>
              </c:strCache>
            </c:strRef>
          </c:cat>
          <c:val>
            <c:numRef>
              <c:f>'3.8.1'!$C$5:$F$5</c:f>
              <c:numCache>
                <c:formatCode>General</c:formatCode>
                <c:ptCount val="4"/>
                <c:pt idx="0">
                  <c:v>52</c:v>
                </c:pt>
                <c:pt idx="1">
                  <c:v>65</c:v>
                </c:pt>
                <c:pt idx="2">
                  <c:v>80</c:v>
                </c:pt>
                <c:pt idx="3">
                  <c:v>100</c:v>
                </c:pt>
              </c:numCache>
            </c:numRef>
          </c:val>
        </c:ser>
        <c:gapWidth val="219"/>
        <c:overlap val="-27"/>
        <c:axId val="62722432"/>
        <c:axId val="62723968"/>
      </c:barChart>
      <c:catAx>
        <c:axId val="62722432"/>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62723968"/>
        <c:crosses val="autoZero"/>
        <c:auto val="1"/>
        <c:lblAlgn val="ctr"/>
        <c:lblOffset val="100"/>
      </c:catAx>
      <c:valAx>
        <c:axId val="62723968"/>
        <c:scaling>
          <c:orientation val="minMax"/>
          <c:max val="100"/>
        </c:scaling>
        <c:axPos val="l"/>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62722432"/>
        <c:crosses val="autoZero"/>
        <c:crossBetween val="between"/>
      </c:valAx>
      <c:spPr>
        <a:noFill/>
        <a:ln>
          <a:noFill/>
        </a:ln>
        <a:effectLst/>
      </c:spPr>
    </c:plotArea>
    <c:plotVisOnly val="1"/>
    <c:dispBlanksAs val="gap"/>
  </c:chart>
  <c:spPr>
    <a:noFill/>
    <a:ln>
      <a:noFill/>
    </a:ln>
    <a:effectLst/>
  </c:spPr>
  <c:txPr>
    <a:bodyPr/>
    <a:lstStyle/>
    <a:p>
      <a:pPr>
        <a:defRPr/>
      </a:pPr>
      <a:endParaRPr lang="en-US"/>
    </a:p>
  </c:txPr>
  <c:externalData r:id="rId1"/>
</c:chartSpace>
</file>

<file path=ppt/charts/chart25.xml><?xml version="1.0" encoding="utf-8"?>
<c:chartSpace xmlns:c="http://schemas.openxmlformats.org/drawingml/2006/chart" xmlns:a="http://schemas.openxmlformats.org/drawingml/2006/main" xmlns:r="http://schemas.openxmlformats.org/officeDocument/2006/relationships">
  <c:date1904 val="1"/>
  <c:lang val="en-US"/>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n-US" sz="1600" b="1" dirty="0"/>
              <a:t>O</a:t>
            </a:r>
            <a:r>
              <a:rPr lang="en-US" sz="1600" b="1" dirty="0" smtClean="0"/>
              <a:t>ut</a:t>
            </a:r>
            <a:r>
              <a:rPr lang="en-US" sz="1600" b="1" baseline="0" dirty="0" smtClean="0"/>
              <a:t> </a:t>
            </a:r>
            <a:r>
              <a:rPr lang="en-US" sz="1600" b="1" baseline="0" dirty="0"/>
              <a:t>of pocket expenditure, as % of the health expenditure </a:t>
            </a:r>
            <a:endParaRPr lang="en-US" sz="1600" b="1" dirty="0"/>
          </a:p>
        </c:rich>
      </c:tx>
      <c:spPr>
        <a:noFill/>
        <a:ln>
          <a:noFill/>
        </a:ln>
        <a:effectLst/>
      </c:spPr>
    </c:title>
    <c:plotArea>
      <c:layout/>
      <c:pieChart>
        <c:varyColors val="1"/>
        <c:ser>
          <c:idx val="0"/>
          <c:order val="0"/>
          <c:dPt>
            <c:idx val="0"/>
            <c:spPr>
              <a:solidFill>
                <a:schemeClr val="accent1"/>
              </a:solidFill>
              <a:ln w="19050">
                <a:solidFill>
                  <a:schemeClr val="lt1"/>
                </a:solidFill>
              </a:ln>
              <a:effectLst/>
            </c:spPr>
          </c:dPt>
          <c:dPt>
            <c:idx val="1"/>
            <c:spPr>
              <a:solidFill>
                <a:schemeClr val="accent2"/>
              </a:solidFill>
              <a:ln w="19050">
                <a:solidFill>
                  <a:schemeClr val="lt1"/>
                </a:solidFill>
              </a:ln>
              <a:effectLst/>
            </c:spPr>
          </c:dPt>
          <c:dLbls>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tx1">
                        <a:lumMod val="75000"/>
                        <a:lumOff val="25000"/>
                      </a:schemeClr>
                    </a:solidFill>
                    <a:latin typeface="+mn-lt"/>
                    <a:ea typeface="+mn-ea"/>
                    <a:cs typeface="+mn-cs"/>
                  </a:defRPr>
                </a:pPr>
                <a:endParaRPr lang="en-US"/>
              </a:p>
            </c:txPr>
            <c:showVal val="1"/>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'3.8.2'!$C$13:$C$14</c:f>
              <c:strCache>
                <c:ptCount val="2"/>
                <c:pt idx="0">
                  <c:v>Out of Pocket expenditure, as % of the health expenditure </c:v>
                </c:pt>
                <c:pt idx="1">
                  <c:v>Public health expenditure, as % of the health expenditure </c:v>
                </c:pt>
              </c:strCache>
            </c:strRef>
          </c:cat>
          <c:val>
            <c:numRef>
              <c:f>'3.8.2'!$D$13:$D$14</c:f>
              <c:numCache>
                <c:formatCode>0%</c:formatCode>
                <c:ptCount val="2"/>
                <c:pt idx="0">
                  <c:v>0.67000000000000071</c:v>
                </c:pt>
                <c:pt idx="1">
                  <c:v>0.33000000000000035</c:v>
                </c:pt>
              </c:numCache>
            </c:numRef>
          </c:val>
        </c:ser>
        <c:firstSliceAng val="0"/>
      </c:pieChart>
      <c:spPr>
        <a:noFill/>
        <a:ln>
          <a:noFill/>
        </a:ln>
        <a:effectLst/>
      </c:spPr>
    </c:plotArea>
    <c:legend>
      <c:legendPos val="b"/>
      <c:layout>
        <c:manualLayout>
          <c:xMode val="edge"/>
          <c:yMode val="edge"/>
          <c:x val="6.3457801304187919E-2"/>
          <c:y val="0.76345555908044593"/>
          <c:w val="0.8840426547146305"/>
          <c:h val="0.22107822273262095"/>
        </c:manualLayout>
      </c:layout>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chart>
  <c:spPr>
    <a:noFill/>
    <a:ln>
      <a:noFill/>
    </a:ln>
    <a:effectLst/>
  </c:spPr>
  <c:txPr>
    <a:bodyPr/>
    <a:lstStyle/>
    <a:p>
      <a:pPr>
        <a:defRPr/>
      </a:pPr>
      <a:endParaRPr lang="en-US"/>
    </a:p>
  </c:txPr>
  <c:externalData r:id="rId1"/>
</c:chartSpace>
</file>

<file path=ppt/charts/chart26.xml><?xml version="1.0" encoding="utf-8"?>
<c:chartSpace xmlns:c="http://schemas.openxmlformats.org/drawingml/2006/chart" xmlns:a="http://schemas.openxmlformats.org/drawingml/2006/main" xmlns:r="http://schemas.openxmlformats.org/officeDocument/2006/relationships">
  <c:date1904 val="1"/>
  <c:lang val="en-US"/>
  <c:chart>
    <c:title>
      <c:tx>
        <c:rich>
          <a:bodyPr rot="0" spcFirstLastPara="1" vertOverflow="ellipsis" vert="horz" wrap="square" anchor="ctr" anchorCtr="1"/>
          <a:lstStyle/>
          <a:p>
            <a:pPr>
              <a:defRPr sz="2400" b="1" i="0" u="none" strike="noStrike" kern="1200" spc="0" baseline="0">
                <a:solidFill>
                  <a:schemeClr val="tx1">
                    <a:lumMod val="65000"/>
                    <a:lumOff val="35000"/>
                  </a:schemeClr>
                </a:solidFill>
                <a:latin typeface="+mn-lt"/>
                <a:ea typeface="+mn-ea"/>
                <a:cs typeface="+mn-cs"/>
              </a:defRPr>
            </a:pPr>
            <a:r>
              <a:rPr lang="en-US" sz="2400" b="1"/>
              <a:t>Public spending on health </a:t>
            </a:r>
          </a:p>
        </c:rich>
      </c:tx>
      <c:spPr>
        <a:noFill/>
        <a:ln>
          <a:noFill/>
        </a:ln>
        <a:effectLst/>
      </c:spPr>
    </c:title>
    <c:plotArea>
      <c:layout/>
      <c:barChart>
        <c:barDir val="col"/>
        <c:grouping val="clustered"/>
        <c:ser>
          <c:idx val="2"/>
          <c:order val="0"/>
          <c:spPr>
            <a:solidFill>
              <a:schemeClr val="accent3"/>
            </a:solidFill>
            <a:ln>
              <a:noFill/>
            </a:ln>
            <a:effectLst/>
          </c:spPr>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'3.8.2'!$C$28</c:f>
              <c:strCache>
                <c:ptCount val="1"/>
                <c:pt idx="0">
                  <c:v>Public spending on health </c:v>
                </c:pt>
              </c:strCache>
            </c:strRef>
          </c:cat>
          <c:val>
            <c:numRef>
              <c:f>'3.8.2'!$F$28</c:f>
              <c:numCache>
                <c:formatCode>0.00%</c:formatCode>
                <c:ptCount val="1"/>
                <c:pt idx="0">
                  <c:v>5.7000000000000023E-2</c:v>
                </c:pt>
              </c:numCache>
            </c:numRef>
          </c:val>
        </c:ser>
        <c:gapWidth val="219"/>
        <c:overlap val="-27"/>
        <c:axId val="62866944"/>
        <c:axId val="62868480"/>
        <c:extLst>
          <c:ext xmlns:c15="http://schemas.microsoft.com/office/drawing/2012/chart" uri="{02D57815-91ED-43cb-92C2-25804820EDAC}">
            <c15:filteredBarSeries>
              <c15:ser>
                <c:idx val="0"/>
                <c:order val="0"/>
                <c:spPr>
                  <a:solidFill>
                    <a:schemeClr val="accent1"/>
                  </a:solidFill>
                  <a:ln>
                    <a:noFill/>
                  </a:ln>
                  <a:effectLst/>
                </c:spPr>
                <c:invertIfNegative val="0"/>
                <c:cat>
                  <c:strRef>
                    <c:extLst>
                      <c:ext uri="{02D57815-91ED-43cb-92C2-25804820EDAC}">
                        <c15:formulaRef>
                          <c15:sqref>'3.8.2'!$C$28</c15:sqref>
                        </c15:formulaRef>
                      </c:ext>
                    </c:extLst>
                    <c:strCache>
                      <c:ptCount val="1"/>
                      <c:pt idx="0">
                        <c:v>Public spending on health </c:v>
                      </c:pt>
                    </c:strCache>
                  </c:strRef>
                </c:cat>
                <c:val>
                  <c:numRef>
                    <c:extLst>
                      <c:ext uri="{02D57815-91ED-43cb-92C2-25804820EDAC}">
                        <c15:formulaRef>
                          <c15:sqref>'3.8.2'!$D$28</c15:sqref>
                        </c15:formulaRef>
                      </c:ext>
                    </c:extLst>
                    <c:numCache>
                      <c:formatCode>General</c:formatCode>
                      <c:ptCount val="1"/>
                    </c:numCache>
                  </c:numRef>
                </c:val>
              </c15:ser>
            </c15:filteredBarSeries>
            <c15:filteredBarSeries>
              <c15:ser>
                <c:idx val="1"/>
                <c:order val="1"/>
                <c:spPr>
                  <a:solidFill>
                    <a:schemeClr val="accent2"/>
                  </a:solidFill>
                  <a:ln>
                    <a:noFill/>
                  </a:ln>
                  <a:effectLst/>
                </c:spPr>
                <c:invertIfNegative val="0"/>
                <c:cat>
                  <c:strRef>
                    <c:extLst xmlns:c15="http://schemas.microsoft.com/office/drawing/2012/chart">
                      <c:ext xmlns:c15="http://schemas.microsoft.com/office/drawing/2012/chart" uri="{02D57815-91ED-43cb-92C2-25804820EDAC}">
                        <c15:formulaRef>
                          <c15:sqref>'3.8.2'!$C$28</c15:sqref>
                        </c15:formulaRef>
                      </c:ext>
                    </c:extLst>
                    <c:strCache>
                      <c:ptCount val="1"/>
                      <c:pt idx="0">
                        <c:v>Public spending on health </c:v>
                      </c:pt>
                    </c:strCache>
                  </c:strRef>
                </c:cat>
                <c:val>
                  <c:numRef>
                    <c:extLst xmlns:c15="http://schemas.microsoft.com/office/drawing/2012/chart">
                      <c:ext xmlns:c15="http://schemas.microsoft.com/office/drawing/2012/chart" uri="{02D57815-91ED-43cb-92C2-25804820EDAC}">
                        <c15:formulaRef>
                          <c15:sqref>'3.8.2'!$E$28</c15:sqref>
                        </c15:formulaRef>
                      </c:ext>
                    </c:extLst>
                    <c:numCache>
                      <c:formatCode>General</c:formatCode>
                      <c:ptCount val="1"/>
                    </c:numCache>
                  </c:numRef>
                </c:val>
              </c15:ser>
            </c15:filteredBarSeries>
          </c:ext>
        </c:extLst>
      </c:barChart>
      <c:catAx>
        <c:axId val="62866944"/>
        <c:scaling>
          <c:orientation val="minMax"/>
        </c:scaling>
        <c:delete val="1"/>
        <c:axPos val="b"/>
        <c:numFmt formatCode="General" sourceLinked="1"/>
        <c:majorTickMark val="none"/>
        <c:tickLblPos val="nextTo"/>
        <c:crossAx val="62868480"/>
        <c:crosses val="autoZero"/>
        <c:auto val="1"/>
        <c:lblAlgn val="ctr"/>
        <c:lblOffset val="100"/>
      </c:catAx>
      <c:valAx>
        <c:axId val="62868480"/>
        <c:scaling>
          <c:orientation val="minMax"/>
        </c:scaling>
        <c:axPos val="l"/>
        <c:majorGridlines>
          <c:spPr>
            <a:ln w="9525" cap="flat" cmpd="sng" algn="ctr">
              <a:solidFill>
                <a:schemeClr val="tx1">
                  <a:lumMod val="15000"/>
                  <a:lumOff val="85000"/>
                </a:schemeClr>
              </a:solidFill>
              <a:round/>
            </a:ln>
            <a:effectLst/>
          </c:spPr>
        </c:majorGridlines>
        <c:numFmt formatCode="0.00%" sourceLinked="1"/>
        <c:maj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62866944"/>
        <c:crosses val="autoZero"/>
        <c:crossBetween val="between"/>
      </c:valAx>
      <c:spPr>
        <a:noFill/>
        <a:ln>
          <a:noFill/>
        </a:ln>
        <a:effectLst/>
      </c:spPr>
    </c:plotArea>
    <c:plotVisOnly val="1"/>
    <c:dispBlanksAs val="gap"/>
  </c:chart>
  <c:spPr>
    <a:noFill/>
    <a:ln>
      <a:noFill/>
    </a:ln>
    <a:effectLst/>
  </c:spPr>
  <c:txPr>
    <a:bodyPr/>
    <a:lstStyle/>
    <a:p>
      <a:pPr>
        <a:defRPr/>
      </a:pPr>
      <a:endParaRPr lang="en-US"/>
    </a:p>
  </c:txPr>
  <c:externalData r:id="rId1"/>
</c:chartSpace>
</file>

<file path=ppt/charts/chart27.xml><?xml version="1.0" encoding="utf-8"?>
<c:chartSpace xmlns:c="http://schemas.openxmlformats.org/drawingml/2006/chart" xmlns:a="http://schemas.openxmlformats.org/drawingml/2006/main" xmlns:r="http://schemas.openxmlformats.org/officeDocument/2006/relationships">
  <c:date1904 val="1"/>
  <c:lang val="en-US"/>
  <c:chart>
    <c:autoTitleDeleted val="1"/>
    <c:plotArea>
      <c:layout/>
      <c:barChart>
        <c:barDir val="col"/>
        <c:grouping val="clustered"/>
        <c:ser>
          <c:idx val="0"/>
          <c:order val="0"/>
          <c:spPr>
            <a:solidFill>
              <a:schemeClr val="accent1"/>
            </a:solidFill>
            <a:ln>
              <a:noFill/>
            </a:ln>
            <a:effectLst/>
          </c:spPr>
          <c:dPt>
            <c:idx val="1"/>
            <c:spPr>
              <a:solidFill>
                <a:schemeClr val="accent2"/>
              </a:solidFill>
              <a:ln>
                <a:noFill/>
              </a:ln>
              <a:effectLst/>
            </c:spPr>
          </c:dPt>
          <c:dPt>
            <c:idx val="2"/>
            <c:spPr>
              <a:solidFill>
                <a:schemeClr val="accent2"/>
              </a:solidFill>
              <a:ln>
                <a:noFill/>
              </a:ln>
              <a:effectLst/>
            </c:spPr>
          </c:dPt>
          <c:dPt>
            <c:idx val="3"/>
            <c:spPr>
              <a:solidFill>
                <a:schemeClr val="accent2"/>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'3.9.1'!$C$5:$F$5</c:f>
              <c:strCache>
                <c:ptCount val="4"/>
                <c:pt idx="0">
                  <c:v>2012</c:v>
                </c:pt>
                <c:pt idx="1">
                  <c:v>2020 (T)</c:v>
                </c:pt>
                <c:pt idx="2">
                  <c:v>2025 (T)</c:v>
                </c:pt>
                <c:pt idx="3">
                  <c:v>2030 (Target)</c:v>
                </c:pt>
              </c:strCache>
            </c:strRef>
          </c:cat>
          <c:val>
            <c:numRef>
              <c:f>'3.9.1'!$C$6:$F$6</c:f>
              <c:numCache>
                <c:formatCode>General</c:formatCode>
                <c:ptCount val="4"/>
                <c:pt idx="0">
                  <c:v>68</c:v>
                </c:pt>
                <c:pt idx="1">
                  <c:v>65</c:v>
                </c:pt>
                <c:pt idx="2">
                  <c:v>60</c:v>
                </c:pt>
                <c:pt idx="3">
                  <c:v>55</c:v>
                </c:pt>
              </c:numCache>
            </c:numRef>
          </c:val>
        </c:ser>
        <c:gapWidth val="219"/>
        <c:overlap val="-27"/>
        <c:axId val="62919424"/>
        <c:axId val="62920960"/>
      </c:barChart>
      <c:catAx>
        <c:axId val="62919424"/>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62920960"/>
        <c:crosses val="autoZero"/>
        <c:auto val="1"/>
        <c:lblAlgn val="ctr"/>
        <c:lblOffset val="100"/>
      </c:catAx>
      <c:valAx>
        <c:axId val="62920960"/>
        <c:scaling>
          <c:orientation val="minMax"/>
        </c:scaling>
        <c:axPos val="l"/>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62919424"/>
        <c:crosses val="autoZero"/>
        <c:crossBetween val="between"/>
      </c:valAx>
      <c:spPr>
        <a:noFill/>
        <a:ln>
          <a:noFill/>
        </a:ln>
        <a:effectLst/>
      </c:spPr>
    </c:plotArea>
    <c:plotVisOnly val="1"/>
    <c:dispBlanksAs val="gap"/>
  </c:chart>
  <c:spPr>
    <a:noFill/>
    <a:ln>
      <a:noFill/>
    </a:ln>
    <a:effectLst/>
  </c:spPr>
  <c:txPr>
    <a:bodyPr/>
    <a:lstStyle/>
    <a:p>
      <a:pPr>
        <a:defRPr/>
      </a:pPr>
      <a:endParaRPr lang="en-US"/>
    </a:p>
  </c:txPr>
  <c:externalData r:id="rId1"/>
</c:chartSpace>
</file>

<file path=ppt/charts/chart28.xml><?xml version="1.0" encoding="utf-8"?>
<c:chartSpace xmlns:c="http://schemas.openxmlformats.org/drawingml/2006/chart" xmlns:a="http://schemas.openxmlformats.org/drawingml/2006/main" xmlns:r="http://schemas.openxmlformats.org/officeDocument/2006/relationships">
  <c:date1904 val="1"/>
  <c:lang val="en-US"/>
  <c:chart>
    <c:autoTitleDeleted val="1"/>
    <c:plotArea>
      <c:layout/>
      <c:barChart>
        <c:barDir val="col"/>
        <c:grouping val="clustered"/>
        <c:ser>
          <c:idx val="0"/>
          <c:order val="0"/>
          <c:spPr>
            <a:solidFill>
              <a:schemeClr val="accent1"/>
            </a:solidFill>
            <a:ln>
              <a:noFill/>
            </a:ln>
            <a:effectLst/>
          </c:spPr>
          <c:dPt>
            <c:idx val="1"/>
            <c:spPr>
              <a:solidFill>
                <a:schemeClr val="accent2"/>
              </a:solidFill>
              <a:ln>
                <a:noFill/>
              </a:ln>
              <a:effectLst/>
            </c:spPr>
          </c:dPt>
          <c:dPt>
            <c:idx val="2"/>
            <c:spPr>
              <a:solidFill>
                <a:schemeClr val="accent2"/>
              </a:solidFill>
              <a:ln>
                <a:solidFill>
                  <a:schemeClr val="accent2"/>
                </a:solidFill>
              </a:ln>
              <a:effectLst/>
            </c:spPr>
          </c:dPt>
          <c:dPt>
            <c:idx val="3"/>
            <c:spPr>
              <a:solidFill>
                <a:schemeClr val="accent2"/>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'3.9.2'!$C$3:$F$3</c:f>
              <c:strCache>
                <c:ptCount val="4"/>
                <c:pt idx="0">
                  <c:v>2012</c:v>
                </c:pt>
                <c:pt idx="1">
                  <c:v>2020 (T)</c:v>
                </c:pt>
                <c:pt idx="2">
                  <c:v>2025 (T)</c:v>
                </c:pt>
                <c:pt idx="3">
                  <c:v>2030 (Target)</c:v>
                </c:pt>
              </c:strCache>
            </c:strRef>
          </c:cat>
          <c:val>
            <c:numRef>
              <c:f>'3.9.2'!$C$4:$F$4</c:f>
              <c:numCache>
                <c:formatCode>General</c:formatCode>
                <c:ptCount val="4"/>
                <c:pt idx="0">
                  <c:v>5.96</c:v>
                </c:pt>
                <c:pt idx="1">
                  <c:v>5.5</c:v>
                </c:pt>
                <c:pt idx="2" formatCode="0.0">
                  <c:v>5</c:v>
                </c:pt>
                <c:pt idx="3">
                  <c:v>4.5</c:v>
                </c:pt>
              </c:numCache>
            </c:numRef>
          </c:val>
        </c:ser>
        <c:gapWidth val="219"/>
        <c:overlap val="-27"/>
        <c:axId val="62975360"/>
        <c:axId val="62977152"/>
      </c:barChart>
      <c:catAx>
        <c:axId val="62975360"/>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62977152"/>
        <c:crosses val="autoZero"/>
        <c:auto val="1"/>
        <c:lblAlgn val="ctr"/>
        <c:lblOffset val="100"/>
      </c:catAx>
      <c:valAx>
        <c:axId val="62977152"/>
        <c:scaling>
          <c:orientation val="minMax"/>
        </c:scaling>
        <c:axPos val="l"/>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62975360"/>
        <c:crosses val="autoZero"/>
        <c:crossBetween val="between"/>
      </c:valAx>
      <c:spPr>
        <a:noFill/>
        <a:ln>
          <a:noFill/>
        </a:ln>
        <a:effectLst/>
      </c:spPr>
    </c:plotArea>
    <c:plotVisOnly val="1"/>
    <c:dispBlanksAs val="gap"/>
  </c:chart>
  <c:spPr>
    <a:noFill/>
    <a:ln>
      <a:noFill/>
    </a:ln>
    <a:effectLst/>
  </c:spPr>
  <c:txPr>
    <a:bodyPr/>
    <a:lstStyle/>
    <a:p>
      <a:pPr>
        <a:defRPr/>
      </a:pPr>
      <a:endParaRPr lang="en-US"/>
    </a:p>
  </c:txPr>
  <c:externalData r:id="rId1"/>
</c:chartSpace>
</file>

<file path=ppt/charts/chart29.xml><?xml version="1.0" encoding="utf-8"?>
<c:chartSpace xmlns:c="http://schemas.openxmlformats.org/drawingml/2006/chart" xmlns:a="http://schemas.openxmlformats.org/drawingml/2006/main" xmlns:r="http://schemas.openxmlformats.org/officeDocument/2006/relationships">
  <c:date1904 val="1"/>
  <c:lang val="en-US"/>
  <c:chart>
    <c:autoTitleDeleted val="1"/>
    <c:plotArea>
      <c:layout/>
      <c:barChart>
        <c:barDir val="col"/>
        <c:grouping val="clustered"/>
        <c:ser>
          <c:idx val="0"/>
          <c:order val="0"/>
          <c:spPr>
            <a:solidFill>
              <a:schemeClr val="accent1"/>
            </a:solidFill>
            <a:ln>
              <a:noFill/>
            </a:ln>
            <a:effectLst/>
          </c:spPr>
          <c:dPt>
            <c:idx val="1"/>
            <c:spPr>
              <a:solidFill>
                <a:schemeClr val="accent2"/>
              </a:solidFill>
              <a:ln>
                <a:noFill/>
              </a:ln>
              <a:effectLst/>
            </c:spPr>
          </c:dPt>
          <c:dPt>
            <c:idx val="2"/>
            <c:spPr>
              <a:solidFill>
                <a:schemeClr val="accent2"/>
              </a:solidFill>
              <a:ln>
                <a:noFill/>
              </a:ln>
              <a:effectLst/>
            </c:spPr>
          </c:dPt>
          <c:dPt>
            <c:idx val="3"/>
            <c:spPr>
              <a:solidFill>
                <a:schemeClr val="accent2"/>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'3.9.3'!$C$4:$F$4</c:f>
              <c:strCache>
                <c:ptCount val="4"/>
                <c:pt idx="0">
                  <c:v>2012</c:v>
                </c:pt>
                <c:pt idx="1">
                  <c:v>2020 (T)</c:v>
                </c:pt>
                <c:pt idx="2">
                  <c:v>2025 (T)</c:v>
                </c:pt>
                <c:pt idx="3">
                  <c:v>2030 (Target)</c:v>
                </c:pt>
              </c:strCache>
            </c:strRef>
          </c:cat>
          <c:val>
            <c:numRef>
              <c:f>'3.9.3'!$C$5:$F$5</c:f>
              <c:numCache>
                <c:formatCode>0.0</c:formatCode>
                <c:ptCount val="4"/>
                <c:pt idx="0" formatCode="General">
                  <c:v>5.72</c:v>
                </c:pt>
                <c:pt idx="1">
                  <c:v>5</c:v>
                </c:pt>
                <c:pt idx="2" formatCode="General">
                  <c:v>4.5</c:v>
                </c:pt>
                <c:pt idx="3">
                  <c:v>4</c:v>
                </c:pt>
              </c:numCache>
            </c:numRef>
          </c:val>
        </c:ser>
        <c:gapWidth val="219"/>
        <c:overlap val="-27"/>
        <c:axId val="63035648"/>
        <c:axId val="63045632"/>
      </c:barChart>
      <c:catAx>
        <c:axId val="63035648"/>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63045632"/>
        <c:crosses val="autoZero"/>
        <c:auto val="1"/>
        <c:lblAlgn val="ctr"/>
        <c:lblOffset val="100"/>
      </c:catAx>
      <c:valAx>
        <c:axId val="63045632"/>
        <c:scaling>
          <c:orientation val="minMax"/>
        </c:scaling>
        <c:axPos val="l"/>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63035648"/>
        <c:crosses val="autoZero"/>
        <c:crossBetween val="between"/>
      </c:valAx>
      <c:spPr>
        <a:noFill/>
        <a:ln>
          <a:noFill/>
        </a:ln>
        <a:effectLst/>
      </c:spPr>
    </c:plotArea>
    <c:plotVisOnly val="1"/>
    <c:dispBlanksAs val="gap"/>
  </c:chart>
  <c:spPr>
    <a:noFill/>
    <a:ln>
      <a:noFill/>
    </a:ln>
    <a:effectLst/>
  </c:spPr>
  <c:txPr>
    <a:bodyPr/>
    <a:lstStyle/>
    <a:p>
      <a:pPr>
        <a:defRPr/>
      </a:pPr>
      <a:endParaRPr lang="en-US"/>
    </a:p>
  </c:txPr>
  <c:externalData r:id="rId1"/>
</c:chartSpace>
</file>

<file path=ppt/charts/chart30.xml><?xml version="1.0" encoding="utf-8"?>
<c:chartSpace xmlns:c="http://schemas.openxmlformats.org/drawingml/2006/chart" xmlns:a="http://schemas.openxmlformats.org/drawingml/2006/main" xmlns:r="http://schemas.openxmlformats.org/officeDocument/2006/relationships">
  <c:date1904 val="1"/>
  <c:lang val="en-US"/>
  <c:chart>
    <c:autoTitleDeleted val="1"/>
    <c:plotArea>
      <c:layout/>
      <c:barChart>
        <c:barDir val="col"/>
        <c:grouping val="clustered"/>
        <c:ser>
          <c:idx val="0"/>
          <c:order val="0"/>
          <c:spPr>
            <a:solidFill>
              <a:schemeClr val="accent1"/>
            </a:solidFill>
            <a:ln>
              <a:noFill/>
            </a:ln>
            <a:effectLst/>
          </c:spPr>
          <c:dPt>
            <c:idx val="1"/>
            <c:spPr>
              <a:solidFill>
                <a:schemeClr val="accent2"/>
              </a:solidFill>
              <a:ln>
                <a:noFill/>
              </a:ln>
              <a:effectLst/>
            </c:spPr>
          </c:dPt>
          <c:dPt>
            <c:idx val="2"/>
            <c:spPr>
              <a:solidFill>
                <a:schemeClr val="accent2"/>
              </a:solidFill>
              <a:ln>
                <a:solidFill>
                  <a:schemeClr val="accent2"/>
                </a:solidFill>
              </a:ln>
              <a:effectLst/>
            </c:spPr>
          </c:dPt>
          <c:dPt>
            <c:idx val="3"/>
            <c:spPr>
              <a:solidFill>
                <a:schemeClr val="accent2"/>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'3.a.1'!$C$5:$F$5</c:f>
              <c:strCache>
                <c:ptCount val="4"/>
                <c:pt idx="0">
                  <c:v>2009</c:v>
                </c:pt>
                <c:pt idx="1">
                  <c:v>2020 (T)</c:v>
                </c:pt>
                <c:pt idx="2">
                  <c:v>2025 (T)</c:v>
                </c:pt>
                <c:pt idx="3">
                  <c:v>2030 (Target)</c:v>
                </c:pt>
              </c:strCache>
            </c:strRef>
          </c:cat>
          <c:val>
            <c:numRef>
              <c:f>'3.a.1'!$C$6:$F$6</c:f>
              <c:numCache>
                <c:formatCode>0%</c:formatCode>
                <c:ptCount val="4"/>
                <c:pt idx="0" formatCode="0.00%">
                  <c:v>0.43300000000000022</c:v>
                </c:pt>
                <c:pt idx="1">
                  <c:v>0.3500000000000002</c:v>
                </c:pt>
                <c:pt idx="2">
                  <c:v>0.30000000000000021</c:v>
                </c:pt>
                <c:pt idx="3">
                  <c:v>0.25</c:v>
                </c:pt>
              </c:numCache>
            </c:numRef>
          </c:val>
        </c:ser>
        <c:gapWidth val="219"/>
        <c:overlap val="-27"/>
        <c:axId val="63095936"/>
        <c:axId val="63097472"/>
      </c:barChart>
      <c:catAx>
        <c:axId val="63095936"/>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63097472"/>
        <c:crosses val="autoZero"/>
        <c:auto val="1"/>
        <c:lblAlgn val="ctr"/>
        <c:lblOffset val="100"/>
      </c:catAx>
      <c:valAx>
        <c:axId val="63097472"/>
        <c:scaling>
          <c:orientation val="minMax"/>
        </c:scaling>
        <c:axPos val="l"/>
        <c:majorGridlines>
          <c:spPr>
            <a:ln w="9525" cap="flat" cmpd="sng" algn="ctr">
              <a:solidFill>
                <a:schemeClr val="tx1">
                  <a:lumMod val="15000"/>
                  <a:lumOff val="85000"/>
                </a:schemeClr>
              </a:solidFill>
              <a:round/>
            </a:ln>
            <a:effectLst/>
          </c:spPr>
        </c:majorGridlines>
        <c:numFmt formatCode="0.00%" sourceLinked="1"/>
        <c:maj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63095936"/>
        <c:crosses val="autoZero"/>
        <c:crossBetween val="between"/>
      </c:valAx>
      <c:spPr>
        <a:noFill/>
        <a:ln>
          <a:noFill/>
        </a:ln>
        <a:effectLst/>
      </c:spPr>
    </c:plotArea>
    <c:plotVisOnly val="1"/>
    <c:dispBlanksAs val="gap"/>
  </c:chart>
  <c:spPr>
    <a:noFill/>
    <a:ln>
      <a:noFill/>
    </a:ln>
    <a:effectLst/>
  </c:spPr>
  <c:txPr>
    <a:bodyPr/>
    <a:lstStyle/>
    <a:p>
      <a:pPr>
        <a:defRPr/>
      </a:pPr>
      <a:endParaRPr lang="en-US"/>
    </a:p>
  </c:txPr>
  <c:externalData r:id="rId1"/>
</c:chartSpace>
</file>

<file path=ppt/charts/chart31.xml><?xml version="1.0" encoding="utf-8"?>
<c:chartSpace xmlns:c="http://schemas.openxmlformats.org/drawingml/2006/chart" xmlns:a="http://schemas.openxmlformats.org/drawingml/2006/main" xmlns:r="http://schemas.openxmlformats.org/officeDocument/2006/relationships">
  <c:lang val="en-US"/>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US" sz="1800"/>
              <a:t>Proportion of the population with access to vaccines on a sustainable basis, %</a:t>
            </a:r>
          </a:p>
        </c:rich>
      </c:tx>
      <c:spPr>
        <a:noFill/>
        <a:ln>
          <a:noFill/>
        </a:ln>
        <a:effectLst/>
      </c:spPr>
    </c:title>
    <c:plotArea>
      <c:layout/>
      <c:barChart>
        <c:barDir val="col"/>
        <c:grouping val="clustered"/>
        <c:ser>
          <c:idx val="0"/>
          <c:order val="0"/>
          <c:spPr>
            <a:solidFill>
              <a:schemeClr val="accent1"/>
            </a:solidFill>
            <a:ln>
              <a:noFill/>
            </a:ln>
            <a:effectLst/>
          </c:spPr>
          <c:dPt>
            <c:idx val="7"/>
            <c:spPr>
              <a:solidFill>
                <a:schemeClr val="accent2"/>
              </a:solidFill>
              <a:ln>
                <a:noFill/>
              </a:ln>
              <a:effectLst/>
            </c:spPr>
          </c:dPt>
          <c:dPt>
            <c:idx val="8"/>
            <c:spPr>
              <a:solidFill>
                <a:schemeClr val="accent2"/>
              </a:solidFill>
              <a:ln>
                <a:noFill/>
              </a:ln>
              <a:effectLst/>
            </c:spPr>
          </c:dPt>
          <c:dPt>
            <c:idx val="9"/>
            <c:spPr>
              <a:solidFill>
                <a:schemeClr val="accent2"/>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'3.b.1'!$B$8:$K$8</c:f>
              <c:strCache>
                <c:ptCount val="10"/>
                <c:pt idx="0">
                  <c:v>1993-94</c:v>
                </c:pt>
                <c:pt idx="1">
                  <c:v>1996-97</c:v>
                </c:pt>
                <c:pt idx="2">
                  <c:v>1999-00</c:v>
                </c:pt>
                <c:pt idx="3">
                  <c:v>2004</c:v>
                </c:pt>
                <c:pt idx="4">
                  <c:v>2007</c:v>
                </c:pt>
                <c:pt idx="5">
                  <c:v>2011</c:v>
                </c:pt>
                <c:pt idx="6">
                  <c:v>2014</c:v>
                </c:pt>
                <c:pt idx="7">
                  <c:v>2020 (T)</c:v>
                </c:pt>
                <c:pt idx="8">
                  <c:v>2025 (T)</c:v>
                </c:pt>
                <c:pt idx="9">
                  <c:v>2030 (Target)</c:v>
                </c:pt>
              </c:strCache>
            </c:strRef>
          </c:cat>
          <c:val>
            <c:numRef>
              <c:f>'3.b.1'!$B$9:$K$9</c:f>
              <c:numCache>
                <c:formatCode>General</c:formatCode>
                <c:ptCount val="10"/>
                <c:pt idx="0">
                  <c:v>46.2</c:v>
                </c:pt>
                <c:pt idx="1">
                  <c:v>46.9</c:v>
                </c:pt>
                <c:pt idx="2">
                  <c:v>52.8</c:v>
                </c:pt>
                <c:pt idx="3">
                  <c:v>68.400000000000006</c:v>
                </c:pt>
                <c:pt idx="4">
                  <c:v>76</c:v>
                </c:pt>
                <c:pt idx="5">
                  <c:v>82.6</c:v>
                </c:pt>
                <c:pt idx="6">
                  <c:v>78</c:v>
                </c:pt>
                <c:pt idx="7">
                  <c:v>95</c:v>
                </c:pt>
                <c:pt idx="8">
                  <c:v>98</c:v>
                </c:pt>
                <c:pt idx="9">
                  <c:v>100</c:v>
                </c:pt>
              </c:numCache>
            </c:numRef>
          </c:val>
        </c:ser>
        <c:gapWidth val="219"/>
        <c:overlap val="-27"/>
        <c:axId val="63193088"/>
        <c:axId val="63194624"/>
      </c:barChart>
      <c:catAx>
        <c:axId val="63193088"/>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63194624"/>
        <c:crosses val="autoZero"/>
        <c:auto val="1"/>
        <c:lblAlgn val="ctr"/>
        <c:lblOffset val="100"/>
      </c:catAx>
      <c:valAx>
        <c:axId val="63194624"/>
        <c:scaling>
          <c:orientation val="minMax"/>
        </c:scaling>
        <c:axPos val="l"/>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63193088"/>
        <c:crosses val="autoZero"/>
        <c:crossBetween val="between"/>
      </c:valAx>
      <c:spPr>
        <a:noFill/>
        <a:ln>
          <a:noFill/>
        </a:ln>
        <a:effectLst/>
      </c:spPr>
    </c:plotArea>
    <c:plotVisOnly val="1"/>
    <c:dispBlanksAs val="gap"/>
  </c:chart>
  <c:spPr>
    <a:noFill/>
    <a:ln>
      <a:noFill/>
    </a:ln>
    <a:effectLst/>
  </c:spPr>
  <c:txPr>
    <a:bodyPr/>
    <a:lstStyle/>
    <a:p>
      <a:pPr>
        <a:defRPr/>
      </a:pPr>
      <a:endParaRPr lang="en-US"/>
    </a:p>
  </c:txPr>
  <c:externalData r:id="rId1"/>
</c:chartSpace>
</file>

<file path=ppt/charts/chart32.xml><?xml version="1.0" encoding="utf-8"?>
<c:chartSpace xmlns:c="http://schemas.openxmlformats.org/drawingml/2006/chart" xmlns:a="http://schemas.openxmlformats.org/drawingml/2006/main" xmlns:r="http://schemas.openxmlformats.org/officeDocument/2006/relationships">
  <c:date1904 val="1"/>
  <c:lang val="en-US"/>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1" i="0" u="none" strike="noStrike" baseline="0">
                <a:effectLst/>
              </a:rPr>
              <a:t>Total ODA to medical research and basic health sectors, US$ Million</a:t>
            </a:r>
            <a:endParaRPr lang="en-US"/>
          </a:p>
        </c:rich>
      </c:tx>
      <c:spPr>
        <a:noFill/>
        <a:ln>
          <a:noFill/>
        </a:ln>
        <a:effectLst/>
      </c:spPr>
    </c:title>
    <c:plotArea>
      <c:layout/>
      <c:barChart>
        <c:barDir val="col"/>
        <c:grouping val="clustered"/>
        <c:ser>
          <c:idx val="0"/>
          <c:order val="0"/>
          <c:tx>
            <c:strRef>
              <c:f>'3.b.2'!$F$24</c:f>
              <c:strCache>
                <c:ptCount val="1"/>
                <c:pt idx="0">
                  <c:v>US$M</c:v>
                </c:pt>
              </c:strCache>
            </c:strRef>
          </c:tx>
          <c:spPr>
            <a:solidFill>
              <a:schemeClr val="accent1"/>
            </a:solidFill>
            <a:ln>
              <a:noFill/>
            </a:ln>
            <a:effectLst/>
          </c:spPr>
          <c:dPt>
            <c:idx val="10"/>
            <c:spPr>
              <a:solidFill>
                <a:schemeClr val="accent2"/>
              </a:solidFill>
              <a:ln>
                <a:noFill/>
              </a:ln>
              <a:effectLst/>
            </c:spPr>
          </c:dPt>
          <c:dPt>
            <c:idx val="11"/>
            <c:spPr>
              <a:solidFill>
                <a:schemeClr val="accent2"/>
              </a:solidFill>
              <a:ln>
                <a:noFill/>
              </a:ln>
              <a:effectLst/>
            </c:spPr>
          </c:dPt>
          <c:dPt>
            <c:idx val="12"/>
            <c:spPr>
              <a:solidFill>
                <a:schemeClr val="accent2"/>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'3.b.2'!$G$23:$S$23</c:f>
              <c:strCache>
                <c:ptCount val="13"/>
                <c:pt idx="0">
                  <c:v>FY 07</c:v>
                </c:pt>
                <c:pt idx="1">
                  <c:v>FY 08</c:v>
                </c:pt>
                <c:pt idx="2">
                  <c:v>FY 09</c:v>
                </c:pt>
                <c:pt idx="3">
                  <c:v>FY 10</c:v>
                </c:pt>
                <c:pt idx="4">
                  <c:v>FY 11</c:v>
                </c:pt>
                <c:pt idx="5">
                  <c:v>FY 12</c:v>
                </c:pt>
                <c:pt idx="6">
                  <c:v>FY 13</c:v>
                </c:pt>
                <c:pt idx="7">
                  <c:v>FY 14</c:v>
                </c:pt>
                <c:pt idx="8">
                  <c:v>FY 15 (Base)</c:v>
                </c:pt>
                <c:pt idx="9">
                  <c:v>FY 16</c:v>
                </c:pt>
                <c:pt idx="10">
                  <c:v>FY 20 (T)</c:v>
                </c:pt>
                <c:pt idx="11">
                  <c:v>FY 25 (T)</c:v>
                </c:pt>
                <c:pt idx="12">
                  <c:v>FY 30 (Target)</c:v>
                </c:pt>
              </c:strCache>
            </c:strRef>
          </c:cat>
          <c:val>
            <c:numRef>
              <c:f>'3.b.2'!$G$24:$S$24</c:f>
              <c:numCache>
                <c:formatCode>General</c:formatCode>
                <c:ptCount val="13"/>
                <c:pt idx="0">
                  <c:v>249.5</c:v>
                </c:pt>
                <c:pt idx="1">
                  <c:v>193.9</c:v>
                </c:pt>
                <c:pt idx="2">
                  <c:v>172.9</c:v>
                </c:pt>
                <c:pt idx="3">
                  <c:v>176.2</c:v>
                </c:pt>
                <c:pt idx="4">
                  <c:v>224.5</c:v>
                </c:pt>
                <c:pt idx="5">
                  <c:v>274.10000000000002</c:v>
                </c:pt>
                <c:pt idx="6">
                  <c:v>224.1</c:v>
                </c:pt>
                <c:pt idx="7">
                  <c:v>242.7</c:v>
                </c:pt>
                <c:pt idx="8">
                  <c:v>177.4</c:v>
                </c:pt>
                <c:pt idx="9">
                  <c:v>206.2</c:v>
                </c:pt>
                <c:pt idx="10">
                  <c:v>300</c:v>
                </c:pt>
                <c:pt idx="11">
                  <c:v>400</c:v>
                </c:pt>
                <c:pt idx="12">
                  <c:v>500</c:v>
                </c:pt>
              </c:numCache>
            </c:numRef>
          </c:val>
        </c:ser>
        <c:gapWidth val="219"/>
        <c:overlap val="-27"/>
        <c:axId val="63269888"/>
        <c:axId val="63275776"/>
      </c:barChart>
      <c:catAx>
        <c:axId val="63269888"/>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63275776"/>
        <c:crosses val="autoZero"/>
        <c:auto val="1"/>
        <c:lblAlgn val="ctr"/>
        <c:lblOffset val="100"/>
      </c:catAx>
      <c:valAx>
        <c:axId val="63275776"/>
        <c:scaling>
          <c:orientation val="minMax"/>
        </c:scaling>
        <c:axPos val="l"/>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3269888"/>
        <c:crosses val="autoZero"/>
        <c:crossBetween val="between"/>
      </c:valAx>
      <c:spPr>
        <a:noFill/>
        <a:ln>
          <a:noFill/>
        </a:ln>
        <a:effectLst/>
      </c:spPr>
    </c:plotArea>
    <c:plotVisOnly val="1"/>
    <c:dispBlanksAs val="gap"/>
  </c:chart>
  <c:spPr>
    <a:noFill/>
    <a:ln>
      <a:noFill/>
    </a:ln>
    <a:effectLst/>
  </c:spPr>
  <c:txPr>
    <a:bodyPr/>
    <a:lstStyle/>
    <a:p>
      <a:pPr>
        <a:defRPr/>
      </a:pPr>
      <a:endParaRPr lang="en-US"/>
    </a:p>
  </c:txPr>
  <c:externalData r:id="rId1"/>
</c:chartSpace>
</file>

<file path=ppt/charts/chart33.xml><?xml version="1.0" encoding="utf-8"?>
<c:chartSpace xmlns:c="http://schemas.openxmlformats.org/drawingml/2006/chart" xmlns:a="http://schemas.openxmlformats.org/drawingml/2006/main" xmlns:r="http://schemas.openxmlformats.org/officeDocument/2006/relationships">
  <c:date1904 val="1"/>
  <c:lang val="en-US"/>
  <c:chart>
    <c:autoTitleDeleted val="1"/>
    <c:plotArea>
      <c:layout/>
      <c:barChart>
        <c:barDir val="col"/>
        <c:grouping val="clustered"/>
        <c:ser>
          <c:idx val="0"/>
          <c:order val="0"/>
          <c:spPr>
            <a:solidFill>
              <a:schemeClr val="accent1"/>
            </a:solidFill>
            <a:ln>
              <a:noFill/>
            </a:ln>
            <a:effectLst/>
          </c:spPr>
          <c:dPt>
            <c:idx val="7"/>
            <c:spPr>
              <a:solidFill>
                <a:schemeClr val="accent2"/>
              </a:solidFill>
              <a:ln>
                <a:noFill/>
              </a:ln>
              <a:effectLst/>
            </c:spPr>
          </c:dPt>
          <c:dPt>
            <c:idx val="8"/>
            <c:spPr>
              <a:solidFill>
                <a:schemeClr val="accent2"/>
              </a:solidFill>
              <a:ln>
                <a:noFill/>
              </a:ln>
              <a:effectLst/>
            </c:spPr>
          </c:dPt>
          <c:dPt>
            <c:idx val="9"/>
            <c:spPr>
              <a:solidFill>
                <a:schemeClr val="accent2"/>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'3.c.1'!$C$5:$L$5</c:f>
              <c:strCache>
                <c:ptCount val="10"/>
                <c:pt idx="0">
                  <c:v>2003</c:v>
                </c:pt>
                <c:pt idx="1">
                  <c:v>2004</c:v>
                </c:pt>
                <c:pt idx="2">
                  <c:v>2005</c:v>
                </c:pt>
                <c:pt idx="3">
                  <c:v>2006</c:v>
                </c:pt>
                <c:pt idx="4">
                  <c:v>2007</c:v>
                </c:pt>
                <c:pt idx="5">
                  <c:v>2011</c:v>
                </c:pt>
                <c:pt idx="6">
                  <c:v>2016</c:v>
                </c:pt>
                <c:pt idx="7">
                  <c:v>2020 (T)</c:v>
                </c:pt>
                <c:pt idx="8">
                  <c:v>2025 (T)</c:v>
                </c:pt>
                <c:pt idx="9">
                  <c:v>2030 (Target)</c:v>
                </c:pt>
              </c:strCache>
            </c:strRef>
          </c:cat>
          <c:val>
            <c:numRef>
              <c:f>'3.c.1'!$C$6:$L$6</c:f>
              <c:numCache>
                <c:formatCode>General</c:formatCode>
                <c:ptCount val="10"/>
                <c:pt idx="0" formatCode="0.0">
                  <c:v>5</c:v>
                </c:pt>
                <c:pt idx="1">
                  <c:v>5.7</c:v>
                </c:pt>
                <c:pt idx="2">
                  <c:v>5.8</c:v>
                </c:pt>
                <c:pt idx="3">
                  <c:v>5.9</c:v>
                </c:pt>
                <c:pt idx="4">
                  <c:v>5.7</c:v>
                </c:pt>
                <c:pt idx="5">
                  <c:v>5.7</c:v>
                </c:pt>
                <c:pt idx="6">
                  <c:v>7.4</c:v>
                </c:pt>
                <c:pt idx="7">
                  <c:v>7.5</c:v>
                </c:pt>
                <c:pt idx="8" formatCode="0.0">
                  <c:v>8</c:v>
                </c:pt>
                <c:pt idx="9" formatCode="0.0">
                  <c:v>10</c:v>
                </c:pt>
              </c:numCache>
            </c:numRef>
          </c:val>
        </c:ser>
        <c:gapWidth val="219"/>
        <c:overlap val="-27"/>
        <c:axId val="63113472"/>
        <c:axId val="63127552"/>
      </c:barChart>
      <c:catAx>
        <c:axId val="63113472"/>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63127552"/>
        <c:crosses val="autoZero"/>
        <c:auto val="1"/>
        <c:lblAlgn val="ctr"/>
        <c:lblOffset val="100"/>
      </c:catAx>
      <c:valAx>
        <c:axId val="63127552"/>
        <c:scaling>
          <c:orientation val="minMax"/>
        </c:scaling>
        <c:axPos val="l"/>
        <c:majorGridlines>
          <c:spPr>
            <a:ln w="9525" cap="flat" cmpd="sng" algn="ctr">
              <a:solidFill>
                <a:schemeClr val="tx1">
                  <a:lumMod val="15000"/>
                  <a:lumOff val="85000"/>
                </a:schemeClr>
              </a:solidFill>
              <a:round/>
            </a:ln>
            <a:effectLst/>
          </c:spPr>
        </c:majorGridlines>
        <c:numFmt formatCode="0.0" sourceLinked="1"/>
        <c:maj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63113472"/>
        <c:crosses val="autoZero"/>
        <c:crossBetween val="between"/>
      </c:valAx>
      <c:spPr>
        <a:noFill/>
        <a:ln>
          <a:noFill/>
        </a:ln>
        <a:effectLst/>
      </c:spPr>
    </c:plotArea>
    <c:plotVisOnly val="1"/>
    <c:dispBlanksAs val="gap"/>
  </c:chart>
  <c:spPr>
    <a:noFill/>
    <a:ln>
      <a:noFill/>
    </a:ln>
    <a:effectLst/>
  </c:spPr>
  <c:txPr>
    <a:bodyPr/>
    <a:lstStyle/>
    <a:p>
      <a:pPr>
        <a:defRPr/>
      </a:pPr>
      <a:endParaRPr lang="en-US"/>
    </a:p>
  </c:txPr>
  <c:externalData r:id="rId1"/>
</c:chartSpace>
</file>

<file path=ppt/charts/chart34.xml><?xml version="1.0" encoding="utf-8"?>
<c:chartSpace xmlns:c="http://schemas.openxmlformats.org/drawingml/2006/chart" xmlns:a="http://schemas.openxmlformats.org/drawingml/2006/main" xmlns:r="http://schemas.openxmlformats.org/officeDocument/2006/relationships">
  <c:date1904 val="1"/>
  <c:lang val="en-US"/>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n-US" sz="1600" b="1"/>
              <a:t>International Health Regulations Core Capacity Index </a:t>
            </a:r>
          </a:p>
        </c:rich>
      </c:tx>
      <c:spPr>
        <a:noFill/>
        <a:ln>
          <a:noFill/>
        </a:ln>
        <a:effectLst/>
      </c:spPr>
    </c:title>
    <c:plotArea>
      <c:layout/>
      <c:barChart>
        <c:barDir val="col"/>
        <c:grouping val="clustered"/>
        <c:ser>
          <c:idx val="0"/>
          <c:order val="0"/>
          <c:spPr>
            <a:solidFill>
              <a:schemeClr val="accent1"/>
            </a:solidFill>
            <a:ln>
              <a:noFill/>
            </a:ln>
            <a:effectLst/>
          </c:spPr>
          <c:dPt>
            <c:idx val="6"/>
            <c:spPr>
              <a:solidFill>
                <a:schemeClr val="accent2"/>
              </a:solidFill>
              <a:ln>
                <a:noFill/>
              </a:ln>
              <a:effectLst/>
            </c:spPr>
          </c:dPt>
          <c:dPt>
            <c:idx val="7"/>
            <c:spPr>
              <a:solidFill>
                <a:schemeClr val="accent2"/>
              </a:solidFill>
              <a:ln>
                <a:noFill/>
              </a:ln>
              <a:effectLst/>
            </c:spPr>
          </c:dPt>
          <c:dPt>
            <c:idx val="8"/>
            <c:spPr>
              <a:solidFill>
                <a:schemeClr val="accent2"/>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US"/>
              </a:p>
            </c:txPr>
            <c:showVal val="1"/>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'3.d.1'!$C$5:$K$5</c:f>
              <c:strCache>
                <c:ptCount val="9"/>
                <c:pt idx="0">
                  <c:v>2010</c:v>
                </c:pt>
                <c:pt idx="1">
                  <c:v>2011</c:v>
                </c:pt>
                <c:pt idx="2">
                  <c:v>2012</c:v>
                </c:pt>
                <c:pt idx="3">
                  <c:v>2013</c:v>
                </c:pt>
                <c:pt idx="4">
                  <c:v>2014</c:v>
                </c:pt>
                <c:pt idx="5">
                  <c:v>2015</c:v>
                </c:pt>
                <c:pt idx="6">
                  <c:v>2020 (T)</c:v>
                </c:pt>
                <c:pt idx="7">
                  <c:v>2025 (T)</c:v>
                </c:pt>
                <c:pt idx="8">
                  <c:v>2030 (Target)</c:v>
                </c:pt>
              </c:strCache>
            </c:strRef>
          </c:cat>
          <c:val>
            <c:numRef>
              <c:f>'3.d.1'!$C$6:$K$6</c:f>
              <c:numCache>
                <c:formatCode>General</c:formatCode>
                <c:ptCount val="9"/>
                <c:pt idx="0">
                  <c:v>67.5</c:v>
                </c:pt>
                <c:pt idx="1">
                  <c:v>59.9</c:v>
                </c:pt>
                <c:pt idx="2">
                  <c:v>67.099999999999994</c:v>
                </c:pt>
                <c:pt idx="3">
                  <c:v>77.3</c:v>
                </c:pt>
                <c:pt idx="4">
                  <c:v>81.599999999999994</c:v>
                </c:pt>
                <c:pt idx="5">
                  <c:v>87.5</c:v>
                </c:pt>
                <c:pt idx="6" formatCode="0.0">
                  <c:v>90</c:v>
                </c:pt>
                <c:pt idx="7" formatCode="0.0">
                  <c:v>95</c:v>
                </c:pt>
                <c:pt idx="8" formatCode="0.0">
                  <c:v>100</c:v>
                </c:pt>
              </c:numCache>
            </c:numRef>
          </c:val>
        </c:ser>
        <c:gapWidth val="219"/>
        <c:overlap val="-27"/>
        <c:axId val="63317120"/>
        <c:axId val="63318656"/>
      </c:barChart>
      <c:catAx>
        <c:axId val="63317120"/>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63318656"/>
        <c:crosses val="autoZero"/>
        <c:auto val="1"/>
        <c:lblAlgn val="ctr"/>
        <c:lblOffset val="100"/>
      </c:catAx>
      <c:valAx>
        <c:axId val="63318656"/>
        <c:scaling>
          <c:orientation val="minMax"/>
        </c:scaling>
        <c:axPos val="l"/>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63317120"/>
        <c:crosses val="autoZero"/>
        <c:crossBetween val="between"/>
      </c:valAx>
      <c:spPr>
        <a:noFill/>
        <a:ln>
          <a:noFill/>
        </a:ln>
        <a:effectLst/>
      </c:spPr>
    </c:plotArea>
    <c:plotVisOnly val="1"/>
    <c:dispBlanksAs val="gap"/>
  </c:chart>
  <c:spPr>
    <a:noFill/>
    <a:ln>
      <a:noFill/>
    </a:ln>
    <a:effectLst/>
  </c:spPr>
  <c:txPr>
    <a:bodyPr/>
    <a:lstStyle/>
    <a:p>
      <a:pPr>
        <a:defRPr/>
      </a:pPr>
      <a:endParaRPr lang="en-US"/>
    </a:p>
  </c:txPr>
  <c:externalData r:id="rId1"/>
</c:chartSpac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09E0EE-1E53-46F4-8A47-BE7B879599BD}" type="doc">
      <dgm:prSet loTypeId="urn:microsoft.com/office/officeart/2005/8/layout/venn2" loCatId="relationship" qsTypeId="urn:microsoft.com/office/officeart/2005/8/quickstyle/simple1" qsCatId="simple" csTypeId="urn:microsoft.com/office/officeart/2005/8/colors/accent1_2" csCatId="accent1" phldr="1"/>
      <dgm:spPr/>
      <dgm:t>
        <a:bodyPr/>
        <a:lstStyle/>
        <a:p>
          <a:endParaRPr lang="en-US"/>
        </a:p>
      </dgm:t>
    </dgm:pt>
    <dgm:pt modelId="{1D909882-2001-42F1-A382-4325B398BCF4}">
      <dgm:prSet phldrT="[Text]" custT="1"/>
      <dgm:spPr>
        <a:solidFill>
          <a:schemeClr val="accent4">
            <a:lumMod val="60000"/>
            <a:lumOff val="40000"/>
          </a:schemeClr>
        </a:solidFill>
      </dgm:spPr>
      <dgm:t>
        <a:bodyPr/>
        <a:lstStyle/>
        <a:p>
          <a:r>
            <a:rPr lang="en-US" sz="1800" b="1" dirty="0" smtClean="0"/>
            <a:t>232 indicators</a:t>
          </a:r>
          <a:endParaRPr lang="en-US" sz="1800" b="1" dirty="0"/>
        </a:p>
      </dgm:t>
    </dgm:pt>
    <dgm:pt modelId="{07CAE7B9-5A1B-44DC-9539-0D5906046724}" type="parTrans" cxnId="{79DCD4D2-6CBA-48E3-96ED-97B43028B068}">
      <dgm:prSet/>
      <dgm:spPr/>
      <dgm:t>
        <a:bodyPr/>
        <a:lstStyle/>
        <a:p>
          <a:endParaRPr lang="en-US"/>
        </a:p>
      </dgm:t>
    </dgm:pt>
    <dgm:pt modelId="{6A82D291-D340-4D5C-B49A-4DE4FBF7F7A0}" type="sibTrans" cxnId="{79DCD4D2-6CBA-48E3-96ED-97B43028B068}">
      <dgm:prSet/>
      <dgm:spPr/>
      <dgm:t>
        <a:bodyPr/>
        <a:lstStyle/>
        <a:p>
          <a:endParaRPr lang="en-US"/>
        </a:p>
      </dgm:t>
    </dgm:pt>
    <dgm:pt modelId="{CD6D12DF-74B7-4E68-BCF0-7FCBBE793078}">
      <dgm:prSet phldrT="[Text]"/>
      <dgm:spPr>
        <a:solidFill>
          <a:schemeClr val="accent3">
            <a:lumMod val="75000"/>
          </a:schemeClr>
        </a:solidFill>
      </dgm:spPr>
      <dgm:t>
        <a:bodyPr/>
        <a:lstStyle/>
        <a:p>
          <a:r>
            <a:rPr lang="en-US" dirty="0" smtClean="0"/>
            <a:t>169 targets</a:t>
          </a:r>
          <a:endParaRPr lang="en-US" dirty="0"/>
        </a:p>
      </dgm:t>
    </dgm:pt>
    <dgm:pt modelId="{44057372-4CFF-42EA-A226-4D89CC438F91}" type="parTrans" cxnId="{908413B6-06EA-47FC-BB15-C5CC8815C934}">
      <dgm:prSet/>
      <dgm:spPr/>
      <dgm:t>
        <a:bodyPr/>
        <a:lstStyle/>
        <a:p>
          <a:endParaRPr lang="en-US"/>
        </a:p>
      </dgm:t>
    </dgm:pt>
    <dgm:pt modelId="{7845E702-4E40-4093-920A-8745AB05FD8E}" type="sibTrans" cxnId="{908413B6-06EA-47FC-BB15-C5CC8815C934}">
      <dgm:prSet/>
      <dgm:spPr/>
      <dgm:t>
        <a:bodyPr/>
        <a:lstStyle/>
        <a:p>
          <a:endParaRPr lang="en-US"/>
        </a:p>
      </dgm:t>
    </dgm:pt>
    <dgm:pt modelId="{8C9D427F-1350-4AA0-9268-8D75AFD36DC9}">
      <dgm:prSet phldrT="[Text]"/>
      <dgm:spPr/>
      <dgm:t>
        <a:bodyPr/>
        <a:lstStyle/>
        <a:p>
          <a:r>
            <a:rPr lang="en-US" dirty="0" smtClean="0"/>
            <a:t>17 goals</a:t>
          </a:r>
          <a:endParaRPr lang="en-US" dirty="0"/>
        </a:p>
      </dgm:t>
    </dgm:pt>
    <dgm:pt modelId="{B361BE21-4CDF-4032-99C1-274F0BC63F0F}" type="parTrans" cxnId="{0AD8DE23-A23B-4AD3-97DF-5D818B786694}">
      <dgm:prSet/>
      <dgm:spPr/>
      <dgm:t>
        <a:bodyPr/>
        <a:lstStyle/>
        <a:p>
          <a:endParaRPr lang="en-US"/>
        </a:p>
      </dgm:t>
    </dgm:pt>
    <dgm:pt modelId="{E12C91BE-C2CA-4F86-A7CD-762A9E0E4997}" type="sibTrans" cxnId="{0AD8DE23-A23B-4AD3-97DF-5D818B786694}">
      <dgm:prSet/>
      <dgm:spPr/>
      <dgm:t>
        <a:bodyPr/>
        <a:lstStyle/>
        <a:p>
          <a:endParaRPr lang="en-US"/>
        </a:p>
      </dgm:t>
    </dgm:pt>
    <dgm:pt modelId="{9598A443-127B-4D22-9DC0-26D6174D5316}">
      <dgm:prSet phldrT="[Text]"/>
      <dgm:spPr>
        <a:solidFill>
          <a:schemeClr val="accent2">
            <a:lumMod val="60000"/>
            <a:lumOff val="40000"/>
          </a:schemeClr>
        </a:solidFill>
      </dgm:spPr>
      <dgm:t>
        <a:bodyPr/>
        <a:lstStyle/>
        <a:p>
          <a:r>
            <a:rPr lang="en-US" dirty="0" smtClean="0"/>
            <a:t>SDGs</a:t>
          </a:r>
          <a:endParaRPr lang="en-US" dirty="0"/>
        </a:p>
      </dgm:t>
    </dgm:pt>
    <dgm:pt modelId="{9A50221F-1E78-4593-9FE2-10E2A5A560FD}" type="parTrans" cxnId="{EF35572B-CF9A-4245-999A-835F611985B8}">
      <dgm:prSet/>
      <dgm:spPr/>
      <dgm:t>
        <a:bodyPr/>
        <a:lstStyle/>
        <a:p>
          <a:endParaRPr lang="en-US"/>
        </a:p>
      </dgm:t>
    </dgm:pt>
    <dgm:pt modelId="{A4E369AA-F08F-494D-BD0A-68093AB54D55}" type="sibTrans" cxnId="{EF35572B-CF9A-4245-999A-835F611985B8}">
      <dgm:prSet/>
      <dgm:spPr/>
      <dgm:t>
        <a:bodyPr/>
        <a:lstStyle/>
        <a:p>
          <a:endParaRPr lang="en-US"/>
        </a:p>
      </dgm:t>
    </dgm:pt>
    <dgm:pt modelId="{4E0C8B62-4380-4A32-89BE-C86C072F2939}" type="pres">
      <dgm:prSet presAssocID="{0609E0EE-1E53-46F4-8A47-BE7B879599BD}" presName="Name0" presStyleCnt="0">
        <dgm:presLayoutVars>
          <dgm:chMax val="7"/>
          <dgm:resizeHandles val="exact"/>
        </dgm:presLayoutVars>
      </dgm:prSet>
      <dgm:spPr/>
      <dgm:t>
        <a:bodyPr/>
        <a:lstStyle/>
        <a:p>
          <a:endParaRPr lang="en-US"/>
        </a:p>
      </dgm:t>
    </dgm:pt>
    <dgm:pt modelId="{79F9CE7B-0F21-43C7-BE4D-61137017E47E}" type="pres">
      <dgm:prSet presAssocID="{0609E0EE-1E53-46F4-8A47-BE7B879599BD}" presName="comp1" presStyleCnt="0"/>
      <dgm:spPr/>
    </dgm:pt>
    <dgm:pt modelId="{F5A83A2E-A04B-4CF0-93F1-D4ED97C38F8B}" type="pres">
      <dgm:prSet presAssocID="{0609E0EE-1E53-46F4-8A47-BE7B879599BD}" presName="circle1" presStyleLbl="node1" presStyleIdx="0" presStyleCnt="4"/>
      <dgm:spPr/>
      <dgm:t>
        <a:bodyPr/>
        <a:lstStyle/>
        <a:p>
          <a:endParaRPr lang="en-US"/>
        </a:p>
      </dgm:t>
    </dgm:pt>
    <dgm:pt modelId="{448F4FA5-C92E-4512-AA4E-396CF59D78D9}" type="pres">
      <dgm:prSet presAssocID="{0609E0EE-1E53-46F4-8A47-BE7B879599BD}" presName="c1text" presStyleLbl="node1" presStyleIdx="0" presStyleCnt="4">
        <dgm:presLayoutVars>
          <dgm:bulletEnabled val="1"/>
        </dgm:presLayoutVars>
      </dgm:prSet>
      <dgm:spPr/>
      <dgm:t>
        <a:bodyPr/>
        <a:lstStyle/>
        <a:p>
          <a:endParaRPr lang="en-US"/>
        </a:p>
      </dgm:t>
    </dgm:pt>
    <dgm:pt modelId="{C06E0B7D-6DEC-49DA-92AE-195E320592F7}" type="pres">
      <dgm:prSet presAssocID="{0609E0EE-1E53-46F4-8A47-BE7B879599BD}" presName="comp2" presStyleCnt="0"/>
      <dgm:spPr/>
    </dgm:pt>
    <dgm:pt modelId="{066F6108-DD37-4679-A0E6-C7F308D82DE4}" type="pres">
      <dgm:prSet presAssocID="{0609E0EE-1E53-46F4-8A47-BE7B879599BD}" presName="circle2" presStyleLbl="node1" presStyleIdx="1" presStyleCnt="4"/>
      <dgm:spPr/>
      <dgm:t>
        <a:bodyPr/>
        <a:lstStyle/>
        <a:p>
          <a:endParaRPr lang="en-US"/>
        </a:p>
      </dgm:t>
    </dgm:pt>
    <dgm:pt modelId="{7678362E-0B94-4E60-A3AE-23385318D294}" type="pres">
      <dgm:prSet presAssocID="{0609E0EE-1E53-46F4-8A47-BE7B879599BD}" presName="c2text" presStyleLbl="node1" presStyleIdx="1" presStyleCnt="4">
        <dgm:presLayoutVars>
          <dgm:bulletEnabled val="1"/>
        </dgm:presLayoutVars>
      </dgm:prSet>
      <dgm:spPr/>
      <dgm:t>
        <a:bodyPr/>
        <a:lstStyle/>
        <a:p>
          <a:endParaRPr lang="en-US"/>
        </a:p>
      </dgm:t>
    </dgm:pt>
    <dgm:pt modelId="{1C11F0E2-5293-4C81-AAEC-8B66B4DAFBB6}" type="pres">
      <dgm:prSet presAssocID="{0609E0EE-1E53-46F4-8A47-BE7B879599BD}" presName="comp3" presStyleCnt="0"/>
      <dgm:spPr/>
    </dgm:pt>
    <dgm:pt modelId="{A88987F3-507F-461B-A40B-19AB629090EA}" type="pres">
      <dgm:prSet presAssocID="{0609E0EE-1E53-46F4-8A47-BE7B879599BD}" presName="circle3" presStyleLbl="node1" presStyleIdx="2" presStyleCnt="4"/>
      <dgm:spPr/>
      <dgm:t>
        <a:bodyPr/>
        <a:lstStyle/>
        <a:p>
          <a:endParaRPr lang="en-US"/>
        </a:p>
      </dgm:t>
    </dgm:pt>
    <dgm:pt modelId="{4C9E2F33-BFB7-4804-8A20-0324A25EFC5E}" type="pres">
      <dgm:prSet presAssocID="{0609E0EE-1E53-46F4-8A47-BE7B879599BD}" presName="c3text" presStyleLbl="node1" presStyleIdx="2" presStyleCnt="4">
        <dgm:presLayoutVars>
          <dgm:bulletEnabled val="1"/>
        </dgm:presLayoutVars>
      </dgm:prSet>
      <dgm:spPr/>
      <dgm:t>
        <a:bodyPr/>
        <a:lstStyle/>
        <a:p>
          <a:endParaRPr lang="en-US"/>
        </a:p>
      </dgm:t>
    </dgm:pt>
    <dgm:pt modelId="{28363C67-A620-4DC3-815A-BED06D822313}" type="pres">
      <dgm:prSet presAssocID="{0609E0EE-1E53-46F4-8A47-BE7B879599BD}" presName="comp4" presStyleCnt="0"/>
      <dgm:spPr/>
    </dgm:pt>
    <dgm:pt modelId="{88BBFF29-218E-4A3C-AADE-F6D3CCA70B92}" type="pres">
      <dgm:prSet presAssocID="{0609E0EE-1E53-46F4-8A47-BE7B879599BD}" presName="circle4" presStyleLbl="node1" presStyleIdx="3" presStyleCnt="4"/>
      <dgm:spPr/>
      <dgm:t>
        <a:bodyPr/>
        <a:lstStyle/>
        <a:p>
          <a:endParaRPr lang="en-US"/>
        </a:p>
      </dgm:t>
    </dgm:pt>
    <dgm:pt modelId="{A254932F-E8A4-49BD-921C-57AA2FFB34F9}" type="pres">
      <dgm:prSet presAssocID="{0609E0EE-1E53-46F4-8A47-BE7B879599BD}" presName="c4text" presStyleLbl="node1" presStyleIdx="3" presStyleCnt="4">
        <dgm:presLayoutVars>
          <dgm:bulletEnabled val="1"/>
        </dgm:presLayoutVars>
      </dgm:prSet>
      <dgm:spPr/>
      <dgm:t>
        <a:bodyPr/>
        <a:lstStyle/>
        <a:p>
          <a:endParaRPr lang="en-US"/>
        </a:p>
      </dgm:t>
    </dgm:pt>
  </dgm:ptLst>
  <dgm:cxnLst>
    <dgm:cxn modelId="{25A2B3FA-67DA-4A92-AE08-6B8447EDC4C8}" type="presOf" srcId="{9598A443-127B-4D22-9DC0-26D6174D5316}" destId="{88BBFF29-218E-4A3C-AADE-F6D3CCA70B92}" srcOrd="0" destOrd="0" presId="urn:microsoft.com/office/officeart/2005/8/layout/venn2"/>
    <dgm:cxn modelId="{908413B6-06EA-47FC-BB15-C5CC8815C934}" srcId="{0609E0EE-1E53-46F4-8A47-BE7B879599BD}" destId="{CD6D12DF-74B7-4E68-BCF0-7FCBBE793078}" srcOrd="1" destOrd="0" parTransId="{44057372-4CFF-42EA-A226-4D89CC438F91}" sibTransId="{7845E702-4E40-4093-920A-8745AB05FD8E}"/>
    <dgm:cxn modelId="{A3458847-6052-4473-9DE5-C7573FC7D0D1}" type="presOf" srcId="{8C9D427F-1350-4AA0-9268-8D75AFD36DC9}" destId="{A88987F3-507F-461B-A40B-19AB629090EA}" srcOrd="0" destOrd="0" presId="urn:microsoft.com/office/officeart/2005/8/layout/venn2"/>
    <dgm:cxn modelId="{8A63830A-529B-499D-B554-9B34E6B28984}" type="presOf" srcId="{0609E0EE-1E53-46F4-8A47-BE7B879599BD}" destId="{4E0C8B62-4380-4A32-89BE-C86C072F2939}" srcOrd="0" destOrd="0" presId="urn:microsoft.com/office/officeart/2005/8/layout/venn2"/>
    <dgm:cxn modelId="{CFEB9A21-1FF6-4E28-92C6-5C864A8D4B5C}" type="presOf" srcId="{1D909882-2001-42F1-A382-4325B398BCF4}" destId="{F5A83A2E-A04B-4CF0-93F1-D4ED97C38F8B}" srcOrd="0" destOrd="0" presId="urn:microsoft.com/office/officeart/2005/8/layout/venn2"/>
    <dgm:cxn modelId="{7D8F653D-013B-4525-9036-1B8CCDDB71F6}" type="presOf" srcId="{9598A443-127B-4D22-9DC0-26D6174D5316}" destId="{A254932F-E8A4-49BD-921C-57AA2FFB34F9}" srcOrd="1" destOrd="0" presId="urn:microsoft.com/office/officeart/2005/8/layout/venn2"/>
    <dgm:cxn modelId="{EF35572B-CF9A-4245-999A-835F611985B8}" srcId="{0609E0EE-1E53-46F4-8A47-BE7B879599BD}" destId="{9598A443-127B-4D22-9DC0-26D6174D5316}" srcOrd="3" destOrd="0" parTransId="{9A50221F-1E78-4593-9FE2-10E2A5A560FD}" sibTransId="{A4E369AA-F08F-494D-BD0A-68093AB54D55}"/>
    <dgm:cxn modelId="{43AE40AC-237D-4F13-BE31-764D35BD0BEF}" type="presOf" srcId="{CD6D12DF-74B7-4E68-BCF0-7FCBBE793078}" destId="{066F6108-DD37-4679-A0E6-C7F308D82DE4}" srcOrd="0" destOrd="0" presId="urn:microsoft.com/office/officeart/2005/8/layout/venn2"/>
    <dgm:cxn modelId="{63ED2291-F4D2-4052-8D76-1A081681A55F}" type="presOf" srcId="{8C9D427F-1350-4AA0-9268-8D75AFD36DC9}" destId="{4C9E2F33-BFB7-4804-8A20-0324A25EFC5E}" srcOrd="1" destOrd="0" presId="urn:microsoft.com/office/officeart/2005/8/layout/venn2"/>
    <dgm:cxn modelId="{0AD8DE23-A23B-4AD3-97DF-5D818B786694}" srcId="{0609E0EE-1E53-46F4-8A47-BE7B879599BD}" destId="{8C9D427F-1350-4AA0-9268-8D75AFD36DC9}" srcOrd="2" destOrd="0" parTransId="{B361BE21-4CDF-4032-99C1-274F0BC63F0F}" sibTransId="{E12C91BE-C2CA-4F86-A7CD-762A9E0E4997}"/>
    <dgm:cxn modelId="{054BAB08-A7B6-4F7B-A833-1BF73DA5C8A3}" type="presOf" srcId="{1D909882-2001-42F1-A382-4325B398BCF4}" destId="{448F4FA5-C92E-4512-AA4E-396CF59D78D9}" srcOrd="1" destOrd="0" presId="urn:microsoft.com/office/officeart/2005/8/layout/venn2"/>
    <dgm:cxn modelId="{21DDDA90-3208-4B57-BD4F-F5E0BF94F8B1}" type="presOf" srcId="{CD6D12DF-74B7-4E68-BCF0-7FCBBE793078}" destId="{7678362E-0B94-4E60-A3AE-23385318D294}" srcOrd="1" destOrd="0" presId="urn:microsoft.com/office/officeart/2005/8/layout/venn2"/>
    <dgm:cxn modelId="{79DCD4D2-6CBA-48E3-96ED-97B43028B068}" srcId="{0609E0EE-1E53-46F4-8A47-BE7B879599BD}" destId="{1D909882-2001-42F1-A382-4325B398BCF4}" srcOrd="0" destOrd="0" parTransId="{07CAE7B9-5A1B-44DC-9539-0D5906046724}" sibTransId="{6A82D291-D340-4D5C-B49A-4DE4FBF7F7A0}"/>
    <dgm:cxn modelId="{75B54EFD-97A7-483F-997D-1539CA34DE63}" type="presParOf" srcId="{4E0C8B62-4380-4A32-89BE-C86C072F2939}" destId="{79F9CE7B-0F21-43C7-BE4D-61137017E47E}" srcOrd="0" destOrd="0" presId="urn:microsoft.com/office/officeart/2005/8/layout/venn2"/>
    <dgm:cxn modelId="{4FF6EBC0-FD0C-4A02-9D2C-9528A6856A7C}" type="presParOf" srcId="{79F9CE7B-0F21-43C7-BE4D-61137017E47E}" destId="{F5A83A2E-A04B-4CF0-93F1-D4ED97C38F8B}" srcOrd="0" destOrd="0" presId="urn:microsoft.com/office/officeart/2005/8/layout/venn2"/>
    <dgm:cxn modelId="{F555AAD4-EC44-43DD-A2B8-D32D29828782}" type="presParOf" srcId="{79F9CE7B-0F21-43C7-BE4D-61137017E47E}" destId="{448F4FA5-C92E-4512-AA4E-396CF59D78D9}" srcOrd="1" destOrd="0" presId="urn:microsoft.com/office/officeart/2005/8/layout/venn2"/>
    <dgm:cxn modelId="{3D5184FB-6751-44B4-A21B-B52E404E1B51}" type="presParOf" srcId="{4E0C8B62-4380-4A32-89BE-C86C072F2939}" destId="{C06E0B7D-6DEC-49DA-92AE-195E320592F7}" srcOrd="1" destOrd="0" presId="urn:microsoft.com/office/officeart/2005/8/layout/venn2"/>
    <dgm:cxn modelId="{28FDC7DB-1175-43D8-B3E5-AEF3F0521AE5}" type="presParOf" srcId="{C06E0B7D-6DEC-49DA-92AE-195E320592F7}" destId="{066F6108-DD37-4679-A0E6-C7F308D82DE4}" srcOrd="0" destOrd="0" presId="urn:microsoft.com/office/officeart/2005/8/layout/venn2"/>
    <dgm:cxn modelId="{0528243B-8C0B-4A20-9204-0FE7C964B186}" type="presParOf" srcId="{C06E0B7D-6DEC-49DA-92AE-195E320592F7}" destId="{7678362E-0B94-4E60-A3AE-23385318D294}" srcOrd="1" destOrd="0" presId="urn:microsoft.com/office/officeart/2005/8/layout/venn2"/>
    <dgm:cxn modelId="{6AF5F4A3-2E2F-484C-BB9C-C86A40043C00}" type="presParOf" srcId="{4E0C8B62-4380-4A32-89BE-C86C072F2939}" destId="{1C11F0E2-5293-4C81-AAEC-8B66B4DAFBB6}" srcOrd="2" destOrd="0" presId="urn:microsoft.com/office/officeart/2005/8/layout/venn2"/>
    <dgm:cxn modelId="{8769CC07-8C5E-4FF9-921D-80114642E801}" type="presParOf" srcId="{1C11F0E2-5293-4C81-AAEC-8B66B4DAFBB6}" destId="{A88987F3-507F-461B-A40B-19AB629090EA}" srcOrd="0" destOrd="0" presId="urn:microsoft.com/office/officeart/2005/8/layout/venn2"/>
    <dgm:cxn modelId="{5AB2A5BD-27E1-4080-81A2-9DB0B78219DF}" type="presParOf" srcId="{1C11F0E2-5293-4C81-AAEC-8B66B4DAFBB6}" destId="{4C9E2F33-BFB7-4804-8A20-0324A25EFC5E}" srcOrd="1" destOrd="0" presId="urn:microsoft.com/office/officeart/2005/8/layout/venn2"/>
    <dgm:cxn modelId="{69293FAE-5F05-47E3-93A9-FA9605783144}" type="presParOf" srcId="{4E0C8B62-4380-4A32-89BE-C86C072F2939}" destId="{28363C67-A620-4DC3-815A-BED06D822313}" srcOrd="3" destOrd="0" presId="urn:microsoft.com/office/officeart/2005/8/layout/venn2"/>
    <dgm:cxn modelId="{A85C077E-10BD-4905-BDF0-978BB0ABA5D5}" type="presParOf" srcId="{28363C67-A620-4DC3-815A-BED06D822313}" destId="{88BBFF29-218E-4A3C-AADE-F6D3CCA70B92}" srcOrd="0" destOrd="0" presId="urn:microsoft.com/office/officeart/2005/8/layout/venn2"/>
    <dgm:cxn modelId="{7CC14C41-5D06-4270-805A-690EEB2DD5C6}" type="presParOf" srcId="{28363C67-A620-4DC3-815A-BED06D822313}" destId="{A254932F-E8A4-49BD-921C-57AA2FFB34F9}" srcOrd="1" destOrd="0" presId="urn:microsoft.com/office/officeart/2005/8/layout/venn2"/>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A83A2E-A04B-4CF0-93F1-D4ED97C38F8B}">
      <dsp:nvSpPr>
        <dsp:cNvPr id="0" name=""/>
        <dsp:cNvSpPr/>
      </dsp:nvSpPr>
      <dsp:spPr>
        <a:xfrm>
          <a:off x="254688" y="0"/>
          <a:ext cx="5423337" cy="5423337"/>
        </a:xfrm>
        <a:prstGeom prst="ellipse">
          <a:avLst/>
        </a:prstGeom>
        <a:solidFill>
          <a:schemeClr val="accent4">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en-US" sz="1800" b="1" kern="1200" dirty="0" smtClean="0"/>
            <a:t>232 indicators</a:t>
          </a:r>
          <a:endParaRPr lang="en-US" sz="1800" b="1" kern="1200" dirty="0"/>
        </a:p>
      </dsp:txBody>
      <dsp:txXfrm>
        <a:off x="2208174" y="271166"/>
        <a:ext cx="1516365" cy="813500"/>
      </dsp:txXfrm>
    </dsp:sp>
    <dsp:sp modelId="{066F6108-DD37-4679-A0E6-C7F308D82DE4}">
      <dsp:nvSpPr>
        <dsp:cNvPr id="0" name=""/>
        <dsp:cNvSpPr/>
      </dsp:nvSpPr>
      <dsp:spPr>
        <a:xfrm>
          <a:off x="797022" y="1084667"/>
          <a:ext cx="4338669" cy="4338669"/>
        </a:xfrm>
        <a:prstGeom prst="ellipse">
          <a:avLst/>
        </a:prstGeom>
        <a:solidFill>
          <a:schemeClr val="accent3">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lvl="0" algn="ctr" defTabSz="933450">
            <a:lnSpc>
              <a:spcPct val="90000"/>
            </a:lnSpc>
            <a:spcBef>
              <a:spcPct val="0"/>
            </a:spcBef>
            <a:spcAft>
              <a:spcPct val="35000"/>
            </a:spcAft>
          </a:pPr>
          <a:r>
            <a:rPr lang="en-US" sz="2100" kern="1200" dirty="0" smtClean="0"/>
            <a:t>169 targets</a:t>
          </a:r>
          <a:endParaRPr lang="en-US" sz="2100" kern="1200" dirty="0"/>
        </a:p>
      </dsp:txBody>
      <dsp:txXfrm>
        <a:off x="2208174" y="1344987"/>
        <a:ext cx="1516365" cy="780960"/>
      </dsp:txXfrm>
    </dsp:sp>
    <dsp:sp modelId="{A88987F3-507F-461B-A40B-19AB629090EA}">
      <dsp:nvSpPr>
        <dsp:cNvPr id="0" name=""/>
        <dsp:cNvSpPr/>
      </dsp:nvSpPr>
      <dsp:spPr>
        <a:xfrm>
          <a:off x="1339355" y="2169334"/>
          <a:ext cx="3254002" cy="325400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lvl="0" algn="ctr" defTabSz="933450">
            <a:lnSpc>
              <a:spcPct val="90000"/>
            </a:lnSpc>
            <a:spcBef>
              <a:spcPct val="0"/>
            </a:spcBef>
            <a:spcAft>
              <a:spcPct val="35000"/>
            </a:spcAft>
          </a:pPr>
          <a:r>
            <a:rPr lang="en-US" sz="2100" kern="1200" dirty="0" smtClean="0"/>
            <a:t>17 goals</a:t>
          </a:r>
          <a:endParaRPr lang="en-US" sz="2100" kern="1200" dirty="0"/>
        </a:p>
      </dsp:txBody>
      <dsp:txXfrm>
        <a:off x="2208174" y="2413384"/>
        <a:ext cx="1516365" cy="732150"/>
      </dsp:txXfrm>
    </dsp:sp>
    <dsp:sp modelId="{88BBFF29-218E-4A3C-AADE-F6D3CCA70B92}">
      <dsp:nvSpPr>
        <dsp:cNvPr id="0" name=""/>
        <dsp:cNvSpPr/>
      </dsp:nvSpPr>
      <dsp:spPr>
        <a:xfrm>
          <a:off x="1881689" y="3254002"/>
          <a:ext cx="2169334" cy="2169334"/>
        </a:xfrm>
        <a:prstGeom prst="ellipse">
          <a:avLst/>
        </a:prstGeom>
        <a:solidFill>
          <a:schemeClr val="accent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lvl="0" algn="ctr" defTabSz="933450">
            <a:lnSpc>
              <a:spcPct val="90000"/>
            </a:lnSpc>
            <a:spcBef>
              <a:spcPct val="0"/>
            </a:spcBef>
            <a:spcAft>
              <a:spcPct val="35000"/>
            </a:spcAft>
          </a:pPr>
          <a:r>
            <a:rPr lang="en-US" sz="2100" kern="1200" dirty="0" smtClean="0"/>
            <a:t>SDGs</a:t>
          </a:r>
          <a:endParaRPr lang="en-US" sz="2100" kern="1200" dirty="0"/>
        </a:p>
      </dsp:txBody>
      <dsp:txXfrm>
        <a:off x="2199381" y="3796335"/>
        <a:ext cx="1533951" cy="1084667"/>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650B44-DFFA-4990-AE61-E36826D43EDD}" type="datetimeFigureOut">
              <a:rPr lang="en-US" smtClean="0"/>
              <a:pPr/>
              <a:t>5/13/2018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4DB236-AB09-490C-89BF-AEC87EE7296E}" type="slidenum">
              <a:rPr lang="en-US" smtClean="0"/>
              <a:pPr/>
              <a:t>‹#›</a:t>
            </a:fld>
            <a:endParaRPr lang="en-US"/>
          </a:p>
        </p:txBody>
      </p:sp>
    </p:spTree>
    <p:extLst>
      <p:ext uri="{BB962C8B-B14F-4D97-AF65-F5344CB8AC3E}">
        <p14:creationId xmlns="" xmlns:p14="http://schemas.microsoft.com/office/powerpoint/2010/main" val="3784556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p:txBody>
          <a:bodyPr/>
          <a:lstStyle/>
          <a:p>
            <a:pPr>
              <a:defRPr/>
            </a:pPr>
            <a:fld id="{EC5E4052-76FA-4BCE-B7EF-C1A8AD43C6D5}" type="slidenum">
              <a:rPr lang="fr-CA"/>
              <a:pPr>
                <a:defRPr/>
              </a:pPr>
              <a:t>2</a:t>
            </a:fld>
            <a:endParaRPr lang="fr-CA"/>
          </a:p>
        </p:txBody>
      </p:sp>
      <p:sp>
        <p:nvSpPr>
          <p:cNvPr id="40963" name="Rectangle 2"/>
          <p:cNvSpPr>
            <a:spLocks noGrp="1" noRot="1" noChangeAspect="1" noChangeArrowheads="1" noTextEdit="1"/>
          </p:cNvSpPr>
          <p:nvPr>
            <p:ph type="sldImg"/>
          </p:nvPr>
        </p:nvSpPr>
        <p:spPr bwMode="auto">
          <a:xfrm>
            <a:off x="112713" y="742950"/>
            <a:ext cx="6577012" cy="3700463"/>
          </a:xfrm>
          <a:noFill/>
          <a:ln>
            <a:solidFill>
              <a:srgbClr val="000000"/>
            </a:solidFill>
            <a:miter lim="800000"/>
            <a:headEnd/>
            <a:tailEnd/>
          </a:ln>
        </p:spPr>
      </p:sp>
      <p:sp>
        <p:nvSpPr>
          <p:cNvPr id="40964" name="Rectangle 3"/>
          <p:cNvSpPr>
            <a:spLocks noGrp="1" noChangeArrowheads="1"/>
          </p:cNvSpPr>
          <p:nvPr>
            <p:ph type="body" idx="1"/>
          </p:nvPr>
        </p:nvSpPr>
        <p:spPr bwMode="auto">
          <a:xfrm>
            <a:off x="906465" y="4690824"/>
            <a:ext cx="4984750" cy="4439781"/>
          </a:xfrm>
          <a:noFill/>
        </p:spPr>
        <p:txBody>
          <a:bodyPr/>
          <a:lstStyle/>
          <a:p>
            <a:pPr eaLnBrk="1" hangingPunct="1"/>
            <a:endParaRPr lang="fr-CA" smtClean="0"/>
          </a:p>
        </p:txBody>
      </p:sp>
    </p:spTree>
    <p:extLst>
      <p:ext uri="{BB962C8B-B14F-4D97-AF65-F5344CB8AC3E}">
        <p14:creationId xmlns="" xmlns:p14="http://schemas.microsoft.com/office/powerpoint/2010/main" val="2633121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2"/>
          <p:cNvSpPr>
            <a:spLocks noGrp="1"/>
          </p:cNvSpPr>
          <p:nvPr>
            <p:ph type="dt" sz="quarter" idx="1"/>
          </p:nvPr>
        </p:nvSpPr>
        <p:spPr/>
        <p:txBody>
          <a:bodyPr/>
          <a:lstStyle/>
          <a:p>
            <a:pPr>
              <a:defRPr/>
            </a:pPr>
            <a:fld id="{57FADB97-7EF9-48E3-BF06-A4DE6755AAB8}" type="datetime1">
              <a:rPr lang="en-US" smtClean="0"/>
              <a:pPr>
                <a:defRPr/>
              </a:pPr>
              <a:t>5/13/2018</a:t>
            </a:fld>
            <a:endParaRPr lang="en-US"/>
          </a:p>
        </p:txBody>
      </p:sp>
      <p:sp>
        <p:nvSpPr>
          <p:cNvPr id="43011" name="Footer Placeholder 5"/>
          <p:cNvSpPr>
            <a:spLocks noGrp="1"/>
          </p:cNvSpPr>
          <p:nvPr>
            <p:ph type="ftr" sz="quarter" idx="4"/>
          </p:nvPr>
        </p:nvSpPr>
        <p:spPr bwMode="auto">
          <a:noFill/>
          <a:ln>
            <a:miter lim="800000"/>
            <a:headEnd/>
            <a:tailEnd/>
          </a:ln>
        </p:spPr>
        <p:txBody>
          <a:bodyPr/>
          <a:lstStyle/>
          <a:p>
            <a:r>
              <a:rPr lang="en-US" smtClean="0"/>
              <a:t>GED, Planning Commission</a:t>
            </a:r>
          </a:p>
        </p:txBody>
      </p:sp>
      <p:sp>
        <p:nvSpPr>
          <p:cNvPr id="43012" name="Slide Image Placeholder 1"/>
          <p:cNvSpPr>
            <a:spLocks noGrp="1" noRot="1" noChangeAspect="1" noTextEdit="1"/>
          </p:cNvSpPr>
          <p:nvPr>
            <p:ph type="sldImg"/>
          </p:nvPr>
        </p:nvSpPr>
        <p:spPr bwMode="auto">
          <a:noFill/>
          <a:ln>
            <a:solidFill>
              <a:srgbClr val="000000"/>
            </a:solidFill>
            <a:miter lim="800000"/>
            <a:headEnd/>
            <a:tailEnd/>
          </a:ln>
        </p:spPr>
      </p:sp>
      <p:sp>
        <p:nvSpPr>
          <p:cNvPr id="43013" name="Notes Placeholder 2"/>
          <p:cNvSpPr>
            <a:spLocks noGrp="1"/>
          </p:cNvSpPr>
          <p:nvPr>
            <p:ph type="body" idx="1"/>
          </p:nvPr>
        </p:nvSpPr>
        <p:spPr bwMode="auto">
          <a:noFill/>
        </p:spPr>
        <p:txBody>
          <a:bodyPr/>
          <a:lstStyle/>
          <a:p>
            <a:pPr eaLnBrk="1" hangingPunct="1">
              <a:spcBef>
                <a:spcPct val="0"/>
              </a:spcBef>
            </a:pPr>
            <a:r>
              <a:rPr lang="en-GB" dirty="0" smtClean="0"/>
              <a:t>Poverty gap ratio is the mean distance separating the population from the poverty line (with the non-poor being given a distance of zero), expressed as a %age of the poverty line. Poverty gap estimates how far below the poverty line the poor are on average as a proportion of the value of that line. The poverty gap ratio is an indicator that measures the depth of poverty. It is the aggregate income deficit of the poor relative to the poverty line, and gives an idea of the resources needed to raise the poor above the poverty line. </a:t>
            </a:r>
            <a:endParaRPr lang="en-US" dirty="0" smtClean="0"/>
          </a:p>
        </p:txBody>
      </p:sp>
      <p:sp>
        <p:nvSpPr>
          <p:cNvPr id="43014" name="Slide Number Placeholder 3"/>
          <p:cNvSpPr txBox="1">
            <a:spLocks noGrp="1"/>
          </p:cNvSpPr>
          <p:nvPr/>
        </p:nvSpPr>
        <p:spPr bwMode="auto">
          <a:xfrm>
            <a:off x="3849689" y="9378486"/>
            <a:ext cx="2946400" cy="494187"/>
          </a:xfrm>
          <a:prstGeom prst="rect">
            <a:avLst/>
          </a:prstGeom>
          <a:noFill/>
          <a:ln w="9525">
            <a:noFill/>
            <a:miter lim="800000"/>
            <a:headEnd/>
            <a:tailEnd/>
          </a:ln>
        </p:spPr>
        <p:txBody>
          <a:bodyPr lIns="90955" tIns="45478" rIns="90955" bIns="45478" anchor="b"/>
          <a:lstStyle/>
          <a:p>
            <a:pPr algn="r" eaLnBrk="0" hangingPunct="0"/>
            <a:fld id="{74F0A20A-E3B3-44C9-BB16-A358CA0CCF93}" type="slidenum">
              <a:rPr lang="en-US" sz="1200" b="0">
                <a:latin typeface="Verdana" pitchFamily="34" charset="0"/>
              </a:rPr>
              <a:pPr algn="r" eaLnBrk="0" hangingPunct="0"/>
              <a:t>5</a:t>
            </a:fld>
            <a:endParaRPr lang="en-US" sz="1200" b="0">
              <a:latin typeface="Verdana" pitchFamily="34" charset="0"/>
            </a:endParaRPr>
          </a:p>
        </p:txBody>
      </p:sp>
    </p:spTree>
    <p:extLst>
      <p:ext uri="{BB962C8B-B14F-4D97-AF65-F5344CB8AC3E}">
        <p14:creationId xmlns="" xmlns:p14="http://schemas.microsoft.com/office/powerpoint/2010/main" val="5318829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pPr>
              <a:defRPr/>
            </a:pPr>
            <a:fld id="{04D19896-C403-4569-9B49-71D5ADCD76EC}" type="datetime1">
              <a:rPr lang="en-US" smtClean="0"/>
              <a:pPr>
                <a:defRPr/>
              </a:pPr>
              <a:t>5/13/2018</a:t>
            </a:fld>
            <a:endParaRPr lang="en-US"/>
          </a:p>
        </p:txBody>
      </p:sp>
      <p:sp>
        <p:nvSpPr>
          <p:cNvPr id="5" name="Footer Placeholder 4"/>
          <p:cNvSpPr>
            <a:spLocks noGrp="1"/>
          </p:cNvSpPr>
          <p:nvPr>
            <p:ph type="ftr" sz="quarter" idx="11"/>
          </p:nvPr>
        </p:nvSpPr>
        <p:spPr/>
        <p:txBody>
          <a:bodyPr/>
          <a:lstStyle/>
          <a:p>
            <a:pPr>
              <a:defRPr/>
            </a:pPr>
            <a:r>
              <a:rPr lang="en-US" smtClean="0"/>
              <a:t>GED, Planning Commission</a:t>
            </a:r>
            <a:endParaRPr lang="en-US"/>
          </a:p>
        </p:txBody>
      </p:sp>
      <p:sp>
        <p:nvSpPr>
          <p:cNvPr id="6" name="Slide Number Placeholder 5"/>
          <p:cNvSpPr>
            <a:spLocks noGrp="1"/>
          </p:cNvSpPr>
          <p:nvPr>
            <p:ph type="sldNum" sz="quarter" idx="12"/>
          </p:nvPr>
        </p:nvSpPr>
        <p:spPr/>
        <p:txBody>
          <a:bodyPr/>
          <a:lstStyle/>
          <a:p>
            <a:pPr>
              <a:defRPr/>
            </a:pPr>
            <a:fld id="{62F78301-14AE-4377-9D42-EF5544A21457}" type="slidenum">
              <a:rPr lang="en-US" smtClean="0"/>
              <a:pPr>
                <a:defRPr/>
              </a:pPr>
              <a:t>12</a:t>
            </a:fld>
            <a:endParaRPr lang="en-US"/>
          </a:p>
        </p:txBody>
      </p:sp>
    </p:spTree>
    <p:extLst>
      <p:ext uri="{BB962C8B-B14F-4D97-AF65-F5344CB8AC3E}">
        <p14:creationId xmlns="" xmlns:p14="http://schemas.microsoft.com/office/powerpoint/2010/main" val="30923278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521264F0-3A34-42B4-A6BA-49F9711A7067}" type="slidenum">
              <a:rPr lang="fr-FR" smtClean="0">
                <a:solidFill>
                  <a:prstClr val="black"/>
                </a:solidFill>
              </a:rPr>
              <a:pPr/>
              <a:t>17</a:t>
            </a:fld>
            <a:endParaRPr lang="fr-FR" dirty="0">
              <a:solidFill>
                <a:prstClr val="black"/>
              </a:solidFill>
            </a:endParaRPr>
          </a:p>
        </p:txBody>
      </p:sp>
    </p:spTree>
    <p:extLst>
      <p:ext uri="{BB962C8B-B14F-4D97-AF65-F5344CB8AC3E}">
        <p14:creationId xmlns="" xmlns:p14="http://schemas.microsoft.com/office/powerpoint/2010/main" val="15867867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54D1538-A622-4A38-B469-4F5E81620869}" type="slidenum">
              <a:rPr lang="en-US" smtClean="0"/>
              <a:pPr/>
              <a:t>40</a:t>
            </a:fld>
            <a:endParaRPr lang="en-US"/>
          </a:p>
        </p:txBody>
      </p:sp>
    </p:spTree>
    <p:extLst>
      <p:ext uri="{BB962C8B-B14F-4D97-AF65-F5344CB8AC3E}">
        <p14:creationId xmlns="" xmlns:p14="http://schemas.microsoft.com/office/powerpoint/2010/main" val="2594808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21264F0-3A34-42B4-A6BA-49F9711A7067}" type="slidenum">
              <a:rPr lang="fr-FR" smtClean="0"/>
              <a:pPr/>
              <a:t>43</a:t>
            </a:fld>
            <a:endParaRPr lang="fr-FR" dirty="0"/>
          </a:p>
        </p:txBody>
      </p:sp>
    </p:spTree>
    <p:extLst>
      <p:ext uri="{BB962C8B-B14F-4D97-AF65-F5344CB8AC3E}">
        <p14:creationId xmlns="" xmlns:p14="http://schemas.microsoft.com/office/powerpoint/2010/main" val="2738663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21264F0-3A34-42B4-A6BA-49F9711A7067}" type="slidenum">
              <a:rPr lang="fr-FR" smtClean="0"/>
              <a:pPr/>
              <a:t>44</a:t>
            </a:fld>
            <a:endParaRPr lang="fr-FR" dirty="0"/>
          </a:p>
        </p:txBody>
      </p:sp>
    </p:spTree>
    <p:extLst>
      <p:ext uri="{BB962C8B-B14F-4D97-AF65-F5344CB8AC3E}">
        <p14:creationId xmlns="" xmlns:p14="http://schemas.microsoft.com/office/powerpoint/2010/main" val="624191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21264F0-3A34-42B4-A6BA-49F9711A7067}" type="slidenum">
              <a:rPr lang="fr-FR" smtClean="0"/>
              <a:pPr/>
              <a:t>45</a:t>
            </a:fld>
            <a:endParaRPr lang="fr-FR" dirty="0"/>
          </a:p>
        </p:txBody>
      </p:sp>
      <p:sp>
        <p:nvSpPr>
          <p:cNvPr id="5" name="Date Placeholder 4"/>
          <p:cNvSpPr>
            <a:spLocks noGrp="1"/>
          </p:cNvSpPr>
          <p:nvPr>
            <p:ph type="dt" idx="11"/>
          </p:nvPr>
        </p:nvSpPr>
        <p:spPr/>
        <p:txBody>
          <a:bodyPr/>
          <a:lstStyle/>
          <a:p>
            <a:fld id="{EBA981AB-DC9E-43CF-BD2D-38BBD1D8D6FC}" type="datetime1">
              <a:rPr lang="en-GB" smtClean="0"/>
              <a:pPr/>
              <a:t>13/05/2018</a:t>
            </a:fld>
            <a:endParaRPr lang="fr-FR" dirty="0"/>
          </a:p>
        </p:txBody>
      </p:sp>
      <p:sp>
        <p:nvSpPr>
          <p:cNvPr id="6" name="Footer Placeholder 5"/>
          <p:cNvSpPr>
            <a:spLocks noGrp="1"/>
          </p:cNvSpPr>
          <p:nvPr>
            <p:ph type="ftr" sz="quarter" idx="12"/>
          </p:nvPr>
        </p:nvSpPr>
        <p:spPr/>
        <p:txBody>
          <a:bodyPr/>
          <a:lstStyle/>
          <a:p>
            <a:r>
              <a:rPr lang="fr-FR"/>
              <a:t>GED, Planning Commission</a:t>
            </a:r>
            <a:endParaRPr lang="fr-FR" dirty="0"/>
          </a:p>
        </p:txBody>
      </p:sp>
      <p:sp>
        <p:nvSpPr>
          <p:cNvPr id="7" name="Header Placeholder 6"/>
          <p:cNvSpPr>
            <a:spLocks noGrp="1"/>
          </p:cNvSpPr>
          <p:nvPr>
            <p:ph type="hdr" sz="quarter" idx="13"/>
          </p:nvPr>
        </p:nvSpPr>
        <p:spPr/>
        <p:txBody>
          <a:bodyPr/>
          <a:lstStyle/>
          <a:p>
            <a:r>
              <a:rPr lang="en-US"/>
              <a:t>Meeting of Prinicipal Secretary, PMO</a:t>
            </a:r>
            <a:endParaRPr lang="fr-FR" dirty="0"/>
          </a:p>
        </p:txBody>
      </p:sp>
    </p:spTree>
    <p:extLst>
      <p:ext uri="{BB962C8B-B14F-4D97-AF65-F5344CB8AC3E}">
        <p14:creationId xmlns="" xmlns:p14="http://schemas.microsoft.com/office/powerpoint/2010/main" val="2516318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6F290CF-7702-4BEB-80AD-56C9CF6F4BBA}" type="datetimeFigureOut">
              <a:rPr lang="en-US" smtClean="0"/>
              <a:pPr/>
              <a:t>5/13/2018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74A828-C459-4F5D-906B-49022D795B12}" type="slidenum">
              <a:rPr lang="en-US" smtClean="0"/>
              <a:pPr/>
              <a:t>‹#›</a:t>
            </a:fld>
            <a:endParaRPr lang="en-US"/>
          </a:p>
        </p:txBody>
      </p:sp>
    </p:spTree>
    <p:extLst>
      <p:ext uri="{BB962C8B-B14F-4D97-AF65-F5344CB8AC3E}">
        <p14:creationId xmlns="" xmlns:p14="http://schemas.microsoft.com/office/powerpoint/2010/main" val="2409827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6F290CF-7702-4BEB-80AD-56C9CF6F4BBA}" type="datetimeFigureOut">
              <a:rPr lang="en-US" smtClean="0"/>
              <a:pPr/>
              <a:t>5/13/2018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74A828-C459-4F5D-906B-49022D795B12}" type="slidenum">
              <a:rPr lang="en-US" smtClean="0"/>
              <a:pPr/>
              <a:t>‹#›</a:t>
            </a:fld>
            <a:endParaRPr lang="en-US"/>
          </a:p>
        </p:txBody>
      </p:sp>
    </p:spTree>
    <p:extLst>
      <p:ext uri="{BB962C8B-B14F-4D97-AF65-F5344CB8AC3E}">
        <p14:creationId xmlns="" xmlns:p14="http://schemas.microsoft.com/office/powerpoint/2010/main" val="4201798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6F290CF-7702-4BEB-80AD-56C9CF6F4BBA}" type="datetimeFigureOut">
              <a:rPr lang="en-US" smtClean="0"/>
              <a:pPr/>
              <a:t>5/13/2018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74A828-C459-4F5D-906B-49022D795B12}" type="slidenum">
              <a:rPr lang="en-US" smtClean="0"/>
              <a:pPr/>
              <a:t>‹#›</a:t>
            </a:fld>
            <a:endParaRPr lang="en-US"/>
          </a:p>
        </p:txBody>
      </p:sp>
    </p:spTree>
    <p:extLst>
      <p:ext uri="{BB962C8B-B14F-4D97-AF65-F5344CB8AC3E}">
        <p14:creationId xmlns="" xmlns:p14="http://schemas.microsoft.com/office/powerpoint/2010/main" val="691021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6F290CF-7702-4BEB-80AD-56C9CF6F4BBA}" type="datetimeFigureOut">
              <a:rPr lang="en-US" smtClean="0"/>
              <a:pPr/>
              <a:t>5/13/2018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74A828-C459-4F5D-906B-49022D795B12}" type="slidenum">
              <a:rPr lang="en-US" smtClean="0"/>
              <a:pPr/>
              <a:t>‹#›</a:t>
            </a:fld>
            <a:endParaRPr lang="en-US"/>
          </a:p>
        </p:txBody>
      </p:sp>
    </p:spTree>
    <p:extLst>
      <p:ext uri="{BB962C8B-B14F-4D97-AF65-F5344CB8AC3E}">
        <p14:creationId xmlns="" xmlns:p14="http://schemas.microsoft.com/office/powerpoint/2010/main" val="7896991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6F290CF-7702-4BEB-80AD-56C9CF6F4BBA}" type="datetimeFigureOut">
              <a:rPr lang="en-US" smtClean="0"/>
              <a:pPr/>
              <a:t>5/13/2018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D74A828-C459-4F5D-906B-49022D795B12}" type="slidenum">
              <a:rPr lang="en-US" smtClean="0"/>
              <a:pPr/>
              <a:t>‹#›</a:t>
            </a:fld>
            <a:endParaRPr lang="en-US"/>
          </a:p>
        </p:txBody>
      </p:sp>
    </p:spTree>
    <p:extLst>
      <p:ext uri="{BB962C8B-B14F-4D97-AF65-F5344CB8AC3E}">
        <p14:creationId xmlns="" xmlns:p14="http://schemas.microsoft.com/office/powerpoint/2010/main" val="9653035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6F290CF-7702-4BEB-80AD-56C9CF6F4BBA}" type="datetimeFigureOut">
              <a:rPr lang="en-US" smtClean="0"/>
              <a:pPr/>
              <a:t>5/13/2018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D74A828-C459-4F5D-906B-49022D795B12}" type="slidenum">
              <a:rPr lang="en-US" smtClean="0"/>
              <a:pPr/>
              <a:t>‹#›</a:t>
            </a:fld>
            <a:endParaRPr lang="en-US"/>
          </a:p>
        </p:txBody>
      </p:sp>
    </p:spTree>
    <p:extLst>
      <p:ext uri="{BB962C8B-B14F-4D97-AF65-F5344CB8AC3E}">
        <p14:creationId xmlns="" xmlns:p14="http://schemas.microsoft.com/office/powerpoint/2010/main" val="3497193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F290CF-7702-4BEB-80AD-56C9CF6F4BBA}" type="datetimeFigureOut">
              <a:rPr lang="en-US" smtClean="0"/>
              <a:pPr/>
              <a:t>5/13/2018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D74A828-C459-4F5D-906B-49022D795B12}" type="slidenum">
              <a:rPr lang="en-US" smtClean="0"/>
              <a:pPr/>
              <a:t>‹#›</a:t>
            </a:fld>
            <a:endParaRPr lang="en-US"/>
          </a:p>
        </p:txBody>
      </p:sp>
    </p:spTree>
    <p:extLst>
      <p:ext uri="{BB962C8B-B14F-4D97-AF65-F5344CB8AC3E}">
        <p14:creationId xmlns="" xmlns:p14="http://schemas.microsoft.com/office/powerpoint/2010/main" val="1398969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6F290CF-7702-4BEB-80AD-56C9CF6F4BBA}" type="datetimeFigureOut">
              <a:rPr lang="en-US" smtClean="0"/>
              <a:pPr/>
              <a:t>5/13/2018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74A828-C459-4F5D-906B-49022D795B12}" type="slidenum">
              <a:rPr lang="en-US" smtClean="0"/>
              <a:pPr/>
              <a:t>‹#›</a:t>
            </a:fld>
            <a:endParaRPr lang="en-US"/>
          </a:p>
        </p:txBody>
      </p:sp>
    </p:spTree>
    <p:extLst>
      <p:ext uri="{BB962C8B-B14F-4D97-AF65-F5344CB8AC3E}">
        <p14:creationId xmlns="" xmlns:p14="http://schemas.microsoft.com/office/powerpoint/2010/main" val="1799464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6F290CF-7702-4BEB-80AD-56C9CF6F4BBA}" type="datetimeFigureOut">
              <a:rPr lang="en-US" smtClean="0"/>
              <a:pPr/>
              <a:t>5/13/2018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74A828-C459-4F5D-906B-49022D795B12}" type="slidenum">
              <a:rPr lang="en-US" smtClean="0"/>
              <a:pPr/>
              <a:t>‹#›</a:t>
            </a:fld>
            <a:endParaRPr lang="en-US"/>
          </a:p>
        </p:txBody>
      </p:sp>
    </p:spTree>
    <p:extLst>
      <p:ext uri="{BB962C8B-B14F-4D97-AF65-F5344CB8AC3E}">
        <p14:creationId xmlns="" xmlns:p14="http://schemas.microsoft.com/office/powerpoint/2010/main" val="4260129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6F290CF-7702-4BEB-80AD-56C9CF6F4BBA}" type="datetimeFigureOut">
              <a:rPr lang="en-US" smtClean="0"/>
              <a:pPr/>
              <a:t>5/13/2018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74A828-C459-4F5D-906B-49022D795B12}" type="slidenum">
              <a:rPr lang="en-US" smtClean="0"/>
              <a:pPr/>
              <a:t>‹#›</a:t>
            </a:fld>
            <a:endParaRPr lang="en-US"/>
          </a:p>
        </p:txBody>
      </p:sp>
    </p:spTree>
    <p:extLst>
      <p:ext uri="{BB962C8B-B14F-4D97-AF65-F5344CB8AC3E}">
        <p14:creationId xmlns="" xmlns:p14="http://schemas.microsoft.com/office/powerpoint/2010/main" val="1612563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6F290CF-7702-4BEB-80AD-56C9CF6F4BBA}" type="datetimeFigureOut">
              <a:rPr lang="en-US" smtClean="0"/>
              <a:pPr/>
              <a:t>5/13/2018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74A828-C459-4F5D-906B-49022D795B12}" type="slidenum">
              <a:rPr lang="en-US" smtClean="0"/>
              <a:pPr/>
              <a:t>‹#›</a:t>
            </a:fld>
            <a:endParaRPr lang="en-US"/>
          </a:p>
        </p:txBody>
      </p:sp>
    </p:spTree>
    <p:extLst>
      <p:ext uri="{BB962C8B-B14F-4D97-AF65-F5344CB8AC3E}">
        <p14:creationId xmlns="" xmlns:p14="http://schemas.microsoft.com/office/powerpoint/2010/main" val="32752760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F290CF-7702-4BEB-80AD-56C9CF6F4BBA}" type="datetimeFigureOut">
              <a:rPr lang="en-US" smtClean="0"/>
              <a:pPr/>
              <a:t>5/13/2018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74A828-C459-4F5D-906B-49022D795B12}" type="slidenum">
              <a:rPr lang="en-US" smtClean="0"/>
              <a:pPr/>
              <a:t>‹#›</a:t>
            </a:fld>
            <a:endParaRPr lang="en-US"/>
          </a:p>
        </p:txBody>
      </p:sp>
    </p:spTree>
    <p:extLst>
      <p:ext uri="{BB962C8B-B14F-4D97-AF65-F5344CB8AC3E}">
        <p14:creationId xmlns="" xmlns:p14="http://schemas.microsoft.com/office/powerpoint/2010/main" val="2745889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12.jpeg"/><Relationship Id="rId18" Type="http://schemas.openxmlformats.org/officeDocument/2006/relationships/image" Target="../media/image17.jpeg"/><Relationship Id="rId26" Type="http://schemas.openxmlformats.org/officeDocument/2006/relationships/image" Target="../media/image25.jpeg"/><Relationship Id="rId3" Type="http://schemas.openxmlformats.org/officeDocument/2006/relationships/image" Target="../media/image2.jpeg"/><Relationship Id="rId21" Type="http://schemas.openxmlformats.org/officeDocument/2006/relationships/image" Target="../media/image20.jpeg"/><Relationship Id="rId7" Type="http://schemas.openxmlformats.org/officeDocument/2006/relationships/image" Target="../media/image6.jpeg"/><Relationship Id="rId12" Type="http://schemas.openxmlformats.org/officeDocument/2006/relationships/image" Target="../media/image11.jpeg"/><Relationship Id="rId17" Type="http://schemas.openxmlformats.org/officeDocument/2006/relationships/image" Target="../media/image16.jpeg"/><Relationship Id="rId25" Type="http://schemas.openxmlformats.org/officeDocument/2006/relationships/image" Target="../media/image24.jpeg"/><Relationship Id="rId2" Type="http://schemas.openxmlformats.org/officeDocument/2006/relationships/image" Target="../media/image1.jpeg"/><Relationship Id="rId16" Type="http://schemas.openxmlformats.org/officeDocument/2006/relationships/image" Target="../media/image15.jpeg"/><Relationship Id="rId20" Type="http://schemas.openxmlformats.org/officeDocument/2006/relationships/image" Target="../media/image19.jpeg"/><Relationship Id="rId1" Type="http://schemas.openxmlformats.org/officeDocument/2006/relationships/slideLayout" Target="../slideLayouts/slideLayout1.xml"/><Relationship Id="rId6" Type="http://schemas.openxmlformats.org/officeDocument/2006/relationships/image" Target="../media/image5.jpeg"/><Relationship Id="rId11" Type="http://schemas.openxmlformats.org/officeDocument/2006/relationships/image" Target="../media/image10.jpeg"/><Relationship Id="rId24" Type="http://schemas.openxmlformats.org/officeDocument/2006/relationships/image" Target="../media/image23.jpeg"/><Relationship Id="rId5" Type="http://schemas.openxmlformats.org/officeDocument/2006/relationships/image" Target="../media/image4.jpeg"/><Relationship Id="rId15" Type="http://schemas.openxmlformats.org/officeDocument/2006/relationships/image" Target="../media/image14.jpeg"/><Relationship Id="rId23" Type="http://schemas.openxmlformats.org/officeDocument/2006/relationships/image" Target="../media/image22.jpeg"/><Relationship Id="rId10" Type="http://schemas.openxmlformats.org/officeDocument/2006/relationships/image" Target="../media/image9.jpeg"/><Relationship Id="rId19" Type="http://schemas.openxmlformats.org/officeDocument/2006/relationships/image" Target="../media/image18.jpeg"/><Relationship Id="rId4" Type="http://schemas.openxmlformats.org/officeDocument/2006/relationships/image" Target="../media/image3.jpeg"/><Relationship Id="rId9" Type="http://schemas.openxmlformats.org/officeDocument/2006/relationships/image" Target="../media/image8.jpeg"/><Relationship Id="rId14" Type="http://schemas.openxmlformats.org/officeDocument/2006/relationships/image" Target="../media/image13.jpeg"/><Relationship Id="rId22" Type="http://schemas.openxmlformats.org/officeDocument/2006/relationships/image" Target="../media/image21.jpeg"/><Relationship Id="rId27" Type="http://schemas.openxmlformats.org/officeDocument/2006/relationships/image" Target="../media/image26.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vmlDrawing" Target="../drawings/vmlDrawing1.vml"/><Relationship Id="rId5" Type="http://schemas.openxmlformats.org/officeDocument/2006/relationships/oleObject" Target="../embeddings/oleObject1.bin"/><Relationship Id="rId4"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4.png"/><Relationship Id="rId1" Type="http://schemas.openxmlformats.org/officeDocument/2006/relationships/slideLayout" Target="../slideLayouts/slideLayout4.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chart" Target="../charts/chart3.xml"/><Relationship Id="rId1" Type="http://schemas.openxmlformats.org/officeDocument/2006/relationships/slideLayout" Target="../slideLayouts/slideLayout4.xml"/><Relationship Id="rId4" Type="http://schemas.openxmlformats.org/officeDocument/2006/relationships/chart" Target="../charts/chart4.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6.png"/><Relationship Id="rId17" Type="http://schemas.openxmlformats.org/officeDocument/2006/relationships/image" Target="../media/image51.png"/><Relationship Id="rId2" Type="http://schemas.openxmlformats.org/officeDocument/2006/relationships/image" Target="../media/image26.png"/><Relationship Id="rId16" Type="http://schemas.openxmlformats.org/officeDocument/2006/relationships/image" Target="../media/image50.png"/><Relationship Id="rId1" Type="http://schemas.openxmlformats.org/officeDocument/2006/relationships/slideLayout" Target="../slideLayouts/slideLayout7.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5" Type="http://schemas.openxmlformats.org/officeDocument/2006/relationships/image" Target="../media/image49.png"/><Relationship Id="rId10" Type="http://schemas.openxmlformats.org/officeDocument/2006/relationships/image" Target="../media/image44.png"/><Relationship Id="rId19" Type="http://schemas.openxmlformats.org/officeDocument/2006/relationships/image" Target="../media/image53.png"/><Relationship Id="rId4" Type="http://schemas.openxmlformats.org/officeDocument/2006/relationships/image" Target="../media/image38.png"/><Relationship Id="rId9" Type="http://schemas.openxmlformats.org/officeDocument/2006/relationships/image" Target="../media/image43.png"/><Relationship Id="rId14" Type="http://schemas.openxmlformats.org/officeDocument/2006/relationships/image" Target="../media/image48.png"/></Relationships>
</file>

<file path=ppt/slides/_rels/slide20.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jpeg"/><Relationship Id="rId7" Type="http://schemas.openxmlformats.org/officeDocument/2006/relationships/image" Target="../media/image58.png"/><Relationship Id="rId2" Type="http://schemas.openxmlformats.org/officeDocument/2006/relationships/image" Target="../media/image9.jpeg"/><Relationship Id="rId1" Type="http://schemas.openxmlformats.org/officeDocument/2006/relationships/slideLayout" Target="../slideLayouts/slideLayout6.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21.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jpeg"/><Relationship Id="rId7" Type="http://schemas.openxmlformats.org/officeDocument/2006/relationships/image" Target="../media/image64.png"/><Relationship Id="rId2" Type="http://schemas.openxmlformats.org/officeDocument/2006/relationships/image" Target="../media/image10.jpeg"/><Relationship Id="rId1" Type="http://schemas.openxmlformats.org/officeDocument/2006/relationships/slideLayout" Target="../slideLayouts/slideLayout6.xml"/><Relationship Id="rId6" Type="http://schemas.openxmlformats.org/officeDocument/2006/relationships/image" Target="../media/image63.jpeg"/><Relationship Id="rId5" Type="http://schemas.openxmlformats.org/officeDocument/2006/relationships/image" Target="../media/image62.png"/><Relationship Id="rId4" Type="http://schemas.openxmlformats.org/officeDocument/2006/relationships/image" Target="../media/image61.png"/></Relationships>
</file>

<file path=ppt/slides/_rels/slide22.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image" Target="../media/image11.jpeg"/><Relationship Id="rId1" Type="http://schemas.openxmlformats.org/officeDocument/2006/relationships/slideLayout" Target="../slideLayouts/slideLayout6.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 Id="rId9" Type="http://schemas.openxmlformats.org/officeDocument/2006/relationships/image" Target="../media/image72.jpeg"/></Relationships>
</file>

<file path=ppt/slides/_rels/slide23.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image" Target="../media/image12.jpeg"/><Relationship Id="rId1" Type="http://schemas.openxmlformats.org/officeDocument/2006/relationships/slideLayout" Target="../slideLayouts/slideLayout6.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image" Target="../media/image13.jpeg"/><Relationship Id="rId1" Type="http://schemas.openxmlformats.org/officeDocument/2006/relationships/slideLayout" Target="../slideLayouts/slideLayout6.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25.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5.jpeg"/><Relationship Id="rId7" Type="http://schemas.openxmlformats.org/officeDocument/2006/relationships/image" Target="../media/image89.png"/><Relationship Id="rId2" Type="http://schemas.openxmlformats.org/officeDocument/2006/relationships/image" Target="../media/image14.jpeg"/><Relationship Id="rId1" Type="http://schemas.openxmlformats.org/officeDocument/2006/relationships/slideLayout" Target="../slideLayouts/slideLayout6.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jpeg"/></Relationships>
</file>

<file path=ppt/slides/_rels/slide26.xml.rels><?xml version="1.0" encoding="UTF-8" standalone="yes"?>
<Relationships xmlns="http://schemas.openxmlformats.org/package/2006/relationships"><Relationship Id="rId3" Type="http://schemas.openxmlformats.org/officeDocument/2006/relationships/image" Target="../media/image91.jpeg"/><Relationship Id="rId7" Type="http://schemas.openxmlformats.org/officeDocument/2006/relationships/image" Target="../media/image95.png"/><Relationship Id="rId2" Type="http://schemas.openxmlformats.org/officeDocument/2006/relationships/image" Target="../media/image15.jpeg"/><Relationship Id="rId1" Type="http://schemas.openxmlformats.org/officeDocument/2006/relationships/slideLayout" Target="../slideLayouts/slideLayout6.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s>
</file>

<file path=ppt/slides/_rels/slide27.xml.rels><?xml version="1.0" encoding="UTF-8" standalone="yes"?>
<Relationships xmlns="http://schemas.openxmlformats.org/package/2006/relationships"><Relationship Id="rId8" Type="http://schemas.openxmlformats.org/officeDocument/2006/relationships/image" Target="../media/image101.png"/><Relationship Id="rId3" Type="http://schemas.openxmlformats.org/officeDocument/2006/relationships/image" Target="../media/image96.jpeg"/><Relationship Id="rId7" Type="http://schemas.openxmlformats.org/officeDocument/2006/relationships/image" Target="../media/image100.png"/><Relationship Id="rId2" Type="http://schemas.openxmlformats.org/officeDocument/2006/relationships/image" Target="../media/image16.jpeg"/><Relationship Id="rId1" Type="http://schemas.openxmlformats.org/officeDocument/2006/relationships/slideLayout" Target="../slideLayouts/slideLayout6.xml"/><Relationship Id="rId6" Type="http://schemas.openxmlformats.org/officeDocument/2006/relationships/image" Target="../media/image99.png"/><Relationship Id="rId5" Type="http://schemas.openxmlformats.org/officeDocument/2006/relationships/image" Target="../media/image98.jpeg"/><Relationship Id="rId4" Type="http://schemas.openxmlformats.org/officeDocument/2006/relationships/image" Target="../media/image97.png"/></Relationships>
</file>

<file path=ppt/slides/_rels/slide28.xml.rels><?xml version="1.0" encoding="UTF-8" standalone="yes"?>
<Relationships xmlns="http://schemas.openxmlformats.org/package/2006/relationships"><Relationship Id="rId8" Type="http://schemas.openxmlformats.org/officeDocument/2006/relationships/image" Target="../media/image107.jpeg"/><Relationship Id="rId3" Type="http://schemas.openxmlformats.org/officeDocument/2006/relationships/image" Target="../media/image102.png"/><Relationship Id="rId7" Type="http://schemas.openxmlformats.org/officeDocument/2006/relationships/image" Target="../media/image106.jpeg"/><Relationship Id="rId2" Type="http://schemas.openxmlformats.org/officeDocument/2006/relationships/image" Target="../media/image17.jpeg"/><Relationship Id="rId1" Type="http://schemas.openxmlformats.org/officeDocument/2006/relationships/slideLayout" Target="../slideLayouts/slideLayout6.xml"/><Relationship Id="rId6" Type="http://schemas.openxmlformats.org/officeDocument/2006/relationships/image" Target="../media/image105.png"/><Relationship Id="rId5" Type="http://schemas.openxmlformats.org/officeDocument/2006/relationships/image" Target="../media/image104.png"/><Relationship Id="rId4" Type="http://schemas.openxmlformats.org/officeDocument/2006/relationships/image" Target="../media/image103.png"/></Relationships>
</file>

<file path=ppt/slides/_rels/slide29.xml.rels><?xml version="1.0" encoding="UTF-8" standalone="yes"?>
<Relationships xmlns="http://schemas.openxmlformats.org/package/2006/relationships"><Relationship Id="rId8" Type="http://schemas.openxmlformats.org/officeDocument/2006/relationships/image" Target="../media/image113.jpeg"/><Relationship Id="rId3" Type="http://schemas.openxmlformats.org/officeDocument/2006/relationships/image" Target="../media/image108.jpeg"/><Relationship Id="rId7" Type="http://schemas.openxmlformats.org/officeDocument/2006/relationships/image" Target="../media/image112.png"/><Relationship Id="rId2" Type="http://schemas.openxmlformats.org/officeDocument/2006/relationships/image" Target="../media/image18.jpeg"/><Relationship Id="rId1" Type="http://schemas.openxmlformats.org/officeDocument/2006/relationships/slideLayout" Target="../slideLayouts/slideLayout6.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9.png"/></Relationships>
</file>

<file path=ppt/slides/_rels/slide30.xml.rels><?xml version="1.0" encoding="UTF-8" standalone="yes"?>
<Relationships xmlns="http://schemas.openxmlformats.org/package/2006/relationships"><Relationship Id="rId8" Type="http://schemas.openxmlformats.org/officeDocument/2006/relationships/image" Target="../media/image119.png"/><Relationship Id="rId3" Type="http://schemas.openxmlformats.org/officeDocument/2006/relationships/image" Target="../media/image114.png"/><Relationship Id="rId7" Type="http://schemas.openxmlformats.org/officeDocument/2006/relationships/image" Target="../media/image118.png"/><Relationship Id="rId2" Type="http://schemas.openxmlformats.org/officeDocument/2006/relationships/image" Target="../media/image19.jpeg"/><Relationship Id="rId1" Type="http://schemas.openxmlformats.org/officeDocument/2006/relationships/slideLayout" Target="../slideLayouts/slideLayout6.xml"/><Relationship Id="rId6" Type="http://schemas.openxmlformats.org/officeDocument/2006/relationships/image" Target="../media/image117.png"/><Relationship Id="rId5" Type="http://schemas.openxmlformats.org/officeDocument/2006/relationships/image" Target="../media/image116.png"/><Relationship Id="rId4" Type="http://schemas.openxmlformats.org/officeDocument/2006/relationships/image" Target="../media/image115.jpeg"/></Relationships>
</file>

<file path=ppt/slides/_rels/slide31.xml.rels><?xml version="1.0" encoding="UTF-8" standalone="yes"?>
<Relationships xmlns="http://schemas.openxmlformats.org/package/2006/relationships"><Relationship Id="rId3" Type="http://schemas.openxmlformats.org/officeDocument/2006/relationships/image" Target="../media/image120.jpeg"/><Relationship Id="rId7" Type="http://schemas.openxmlformats.org/officeDocument/2006/relationships/image" Target="../media/image124.png"/><Relationship Id="rId2" Type="http://schemas.openxmlformats.org/officeDocument/2006/relationships/image" Target="../media/image20.jpeg"/><Relationship Id="rId1" Type="http://schemas.openxmlformats.org/officeDocument/2006/relationships/slideLayout" Target="../slideLayouts/slideLayout6.xml"/><Relationship Id="rId6" Type="http://schemas.openxmlformats.org/officeDocument/2006/relationships/image" Target="../media/image123.png"/><Relationship Id="rId5" Type="http://schemas.openxmlformats.org/officeDocument/2006/relationships/image" Target="../media/image122.png"/><Relationship Id="rId4" Type="http://schemas.openxmlformats.org/officeDocument/2006/relationships/image" Target="../media/image121.jpeg"/></Relationships>
</file>

<file path=ppt/slides/_rels/slide32.xml.rels><?xml version="1.0" encoding="UTF-8" standalone="yes"?>
<Relationships xmlns="http://schemas.openxmlformats.org/package/2006/relationships"><Relationship Id="rId3" Type="http://schemas.openxmlformats.org/officeDocument/2006/relationships/image" Target="../media/image125.jpeg"/><Relationship Id="rId7" Type="http://schemas.openxmlformats.org/officeDocument/2006/relationships/image" Target="../media/image129.png"/><Relationship Id="rId2" Type="http://schemas.openxmlformats.org/officeDocument/2006/relationships/image" Target="../media/image21.jpeg"/><Relationship Id="rId1" Type="http://schemas.openxmlformats.org/officeDocument/2006/relationships/slideLayout" Target="../slideLayouts/slideLayout6.xml"/><Relationship Id="rId6" Type="http://schemas.openxmlformats.org/officeDocument/2006/relationships/image" Target="../media/image128.png"/><Relationship Id="rId5" Type="http://schemas.openxmlformats.org/officeDocument/2006/relationships/image" Target="../media/image127.png"/><Relationship Id="rId4" Type="http://schemas.openxmlformats.org/officeDocument/2006/relationships/image" Target="../media/image126.png"/></Relationships>
</file>

<file path=ppt/slides/_rels/slide33.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image" Target="../media/image22.jpeg"/><Relationship Id="rId1" Type="http://schemas.openxmlformats.org/officeDocument/2006/relationships/slideLayout" Target="../slideLayouts/slideLayout6.xml"/><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131.png"/></Relationships>
</file>

<file path=ppt/slides/_rels/slide34.xml.rels><?xml version="1.0" encoding="UTF-8" standalone="yes"?>
<Relationships xmlns="http://schemas.openxmlformats.org/package/2006/relationships"><Relationship Id="rId8" Type="http://schemas.openxmlformats.org/officeDocument/2006/relationships/image" Target="../media/image139.png"/><Relationship Id="rId3" Type="http://schemas.openxmlformats.org/officeDocument/2006/relationships/image" Target="../media/image134.jpeg"/><Relationship Id="rId7" Type="http://schemas.openxmlformats.org/officeDocument/2006/relationships/image" Target="../media/image138.png"/><Relationship Id="rId2" Type="http://schemas.openxmlformats.org/officeDocument/2006/relationships/image" Target="../media/image23.jpeg"/><Relationship Id="rId1" Type="http://schemas.openxmlformats.org/officeDocument/2006/relationships/slideLayout" Target="../slideLayouts/slideLayout6.xml"/><Relationship Id="rId6" Type="http://schemas.openxmlformats.org/officeDocument/2006/relationships/image" Target="../media/image137.png"/><Relationship Id="rId5" Type="http://schemas.openxmlformats.org/officeDocument/2006/relationships/image" Target="../media/image136.jpeg"/><Relationship Id="rId4" Type="http://schemas.openxmlformats.org/officeDocument/2006/relationships/image" Target="../media/image135.png"/></Relationships>
</file>

<file path=ppt/slides/_rels/slide35.xml.rels><?xml version="1.0" encoding="UTF-8" standalone="yes"?>
<Relationships xmlns="http://schemas.openxmlformats.org/package/2006/relationships"><Relationship Id="rId8" Type="http://schemas.openxmlformats.org/officeDocument/2006/relationships/image" Target="../media/image145.png"/><Relationship Id="rId3" Type="http://schemas.openxmlformats.org/officeDocument/2006/relationships/image" Target="../media/image140.png"/><Relationship Id="rId7" Type="http://schemas.openxmlformats.org/officeDocument/2006/relationships/image" Target="../media/image144.png"/><Relationship Id="rId2" Type="http://schemas.openxmlformats.org/officeDocument/2006/relationships/image" Target="../media/image24.jpeg"/><Relationship Id="rId1" Type="http://schemas.openxmlformats.org/officeDocument/2006/relationships/slideLayout" Target="../slideLayouts/slideLayout6.xml"/><Relationship Id="rId6" Type="http://schemas.openxmlformats.org/officeDocument/2006/relationships/image" Target="../media/image143.png"/><Relationship Id="rId5" Type="http://schemas.openxmlformats.org/officeDocument/2006/relationships/image" Target="../media/image142.png"/><Relationship Id="rId4" Type="http://schemas.openxmlformats.org/officeDocument/2006/relationships/image" Target="../media/image141.png"/><Relationship Id="rId9" Type="http://schemas.openxmlformats.org/officeDocument/2006/relationships/image" Target="../media/image146.png"/></Relationships>
</file>

<file path=ppt/slides/_rels/slide36.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image" Target="../media/image25.jpeg"/><Relationship Id="rId1" Type="http://schemas.openxmlformats.org/officeDocument/2006/relationships/slideLayout" Target="../slideLayouts/slideLayout6.xml"/><Relationship Id="rId6" Type="http://schemas.openxmlformats.org/officeDocument/2006/relationships/image" Target="../media/image150.png"/><Relationship Id="rId5" Type="http://schemas.openxmlformats.org/officeDocument/2006/relationships/image" Target="../media/image149.png"/><Relationship Id="rId4" Type="http://schemas.openxmlformats.org/officeDocument/2006/relationships/image" Target="../media/image148.jpeg"/></Relationships>
</file>

<file path=ppt/slides/_rels/slide37.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151.png"/><Relationship Id="rId1" Type="http://schemas.openxmlformats.org/officeDocument/2006/relationships/slideLayout" Target="../slideLayouts/slideLayout7.xml"/><Relationship Id="rId5" Type="http://schemas.openxmlformats.org/officeDocument/2006/relationships/image" Target="../media/image154.png"/><Relationship Id="rId4" Type="http://schemas.openxmlformats.org/officeDocument/2006/relationships/image" Target="../media/image153.png"/></Relationships>
</file>

<file path=ppt/slides/_rels/slide38.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151.png"/><Relationship Id="rId1" Type="http://schemas.openxmlformats.org/officeDocument/2006/relationships/slideLayout" Target="../slideLayouts/slideLayout7.xml"/><Relationship Id="rId4" Type="http://schemas.openxmlformats.org/officeDocument/2006/relationships/image" Target="../media/image153.png"/></Relationships>
</file>

<file path=ppt/slides/_rels/slide39.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image" Target="../media/image157.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image" Target="../media/image161.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chart" Target="../charts/chart23.xm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chart" Target="../charts/chart24.xm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image" Target="../media/image11.jpeg"/><Relationship Id="rId1" Type="http://schemas.openxmlformats.org/officeDocument/2006/relationships/slideLayout" Target="../slideLayouts/slideLayout4.xml"/><Relationship Id="rId4" Type="http://schemas.openxmlformats.org/officeDocument/2006/relationships/chart" Target="../charts/chart26.xml"/></Relationships>
</file>

<file path=ppt/slides/_rels/slide71.xml.rels><?xml version="1.0" encoding="UTF-8" standalone="yes"?>
<Relationships xmlns="http://schemas.openxmlformats.org/package/2006/relationships"><Relationship Id="rId3" Type="http://schemas.openxmlformats.org/officeDocument/2006/relationships/chart" Target="../charts/chart27.xm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chart" Target="../charts/chart28.xm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chart" Target="../charts/chart29.xm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chart" Target="../charts/chart30.xm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chart" Target="../charts/chart31.xm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chart" Target="../charts/chart32.xm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chart" Target="../charts/chart33.xm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chart" Target="../charts/chart34.xm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65.jpeg"/><Relationship Id="rId2" Type="http://schemas.openxmlformats.org/officeDocument/2006/relationships/image" Target="../media/image16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081825"/>
            <a:ext cx="12191999" cy="1596981"/>
          </a:xfrm>
          <a:solidFill>
            <a:schemeClr val="accent2"/>
          </a:solidFill>
        </p:spPr>
        <p:txBody>
          <a:bodyPr>
            <a:normAutofit fontScale="90000"/>
          </a:bodyPr>
          <a:lstStyle/>
          <a:p>
            <a:r>
              <a:rPr lang="en-US" b="1" dirty="0" smtClean="0"/>
              <a:t>Achievement of MDGs and Adaptation of SDGs: Context Bangladesh </a:t>
            </a:r>
            <a:endParaRPr lang="en-US" b="1" dirty="0"/>
          </a:p>
        </p:txBody>
      </p:sp>
      <p:sp>
        <p:nvSpPr>
          <p:cNvPr id="3" name="Subtitle 2"/>
          <p:cNvSpPr>
            <a:spLocks noGrp="1"/>
          </p:cNvSpPr>
          <p:nvPr>
            <p:ph type="subTitle" idx="1"/>
          </p:nvPr>
        </p:nvSpPr>
        <p:spPr>
          <a:xfrm>
            <a:off x="-1" y="4638029"/>
            <a:ext cx="12192000" cy="2234486"/>
          </a:xfrm>
          <a:solidFill>
            <a:schemeClr val="accent5"/>
          </a:solidFill>
        </p:spPr>
        <p:txBody>
          <a:bodyPr>
            <a:noAutofit/>
          </a:bodyPr>
          <a:lstStyle/>
          <a:p>
            <a:pPr>
              <a:spcBef>
                <a:spcPts val="600"/>
              </a:spcBef>
            </a:pPr>
            <a:r>
              <a:rPr lang="en-US" sz="2800" b="1" dirty="0" smtClean="0"/>
              <a:t>Dr. </a:t>
            </a:r>
            <a:r>
              <a:rPr lang="en-US" sz="2800" b="1" dirty="0" err="1" smtClean="0"/>
              <a:t>Arafatur</a:t>
            </a:r>
            <a:r>
              <a:rPr lang="en-US" sz="2800" b="1" dirty="0" smtClean="0"/>
              <a:t> </a:t>
            </a:r>
            <a:r>
              <a:rPr lang="en-US" sz="2800" b="1" dirty="0" err="1" smtClean="0"/>
              <a:t>Rahman</a:t>
            </a:r>
            <a:endParaRPr lang="en-US" sz="2800" b="1" dirty="0" smtClean="0"/>
          </a:p>
          <a:p>
            <a:pPr>
              <a:spcBef>
                <a:spcPts val="600"/>
              </a:spcBef>
            </a:pPr>
            <a:r>
              <a:rPr lang="en-US" sz="2800" b="1" dirty="0" smtClean="0"/>
              <a:t>Deputy Program Manager, DGHS</a:t>
            </a:r>
          </a:p>
          <a:p>
            <a:pPr>
              <a:spcBef>
                <a:spcPts val="600"/>
              </a:spcBef>
            </a:pPr>
            <a:r>
              <a:rPr lang="en-US" sz="2800" b="1" dirty="0" smtClean="0"/>
              <a:t>Ph: 01717862078 </a:t>
            </a:r>
            <a:endParaRPr lang="en-US" sz="2800" b="1" dirty="0"/>
          </a:p>
        </p:txBody>
      </p:sp>
      <p:pic>
        <p:nvPicPr>
          <p:cNvPr id="4" name="Picture 3" descr="C:\Documents and Settings\Mahbub_GED\Desktop\thumbnailCANEU9IU.jpg"/>
          <p:cNvPicPr>
            <a:picLocks noChangeAspect="1" noChangeArrowheads="1"/>
          </p:cNvPicPr>
          <p:nvPr/>
        </p:nvPicPr>
        <p:blipFill>
          <a:blip r:embed="rId2"/>
          <a:srcRect/>
          <a:stretch>
            <a:fillRect/>
          </a:stretch>
        </p:blipFill>
        <p:spPr bwMode="auto">
          <a:xfrm>
            <a:off x="0" y="0"/>
            <a:ext cx="1519707" cy="1094704"/>
          </a:xfrm>
          <a:prstGeom prst="rect">
            <a:avLst/>
          </a:prstGeom>
          <a:solidFill>
            <a:srgbClr val="EBE591"/>
          </a:solidFill>
          <a:ln w="9525">
            <a:noFill/>
            <a:miter lim="800000"/>
            <a:headEnd/>
            <a:tailEnd/>
          </a:ln>
        </p:spPr>
      </p:pic>
      <p:pic>
        <p:nvPicPr>
          <p:cNvPr id="5" name="Picture 7" descr="C:\Documents and Settings\Mahbub_GED\Desktop\thumbnailCAUKA1Q8.jpg"/>
          <p:cNvPicPr>
            <a:picLocks noChangeAspect="1" noChangeArrowheads="1"/>
          </p:cNvPicPr>
          <p:nvPr/>
        </p:nvPicPr>
        <p:blipFill>
          <a:blip r:embed="rId3"/>
          <a:srcRect/>
          <a:stretch>
            <a:fillRect/>
          </a:stretch>
        </p:blipFill>
        <p:spPr bwMode="auto">
          <a:xfrm>
            <a:off x="1519707" y="0"/>
            <a:ext cx="1402637" cy="1094704"/>
          </a:xfrm>
          <a:prstGeom prst="rect">
            <a:avLst/>
          </a:prstGeom>
          <a:noFill/>
          <a:ln w="9525">
            <a:noFill/>
            <a:miter lim="800000"/>
            <a:headEnd/>
            <a:tailEnd/>
          </a:ln>
        </p:spPr>
      </p:pic>
      <p:pic>
        <p:nvPicPr>
          <p:cNvPr id="6" name="Picture 8" descr="C:\Documents and Settings\Mahbub_GED\Desktop\thumbnailCAXZMWFI.jpg"/>
          <p:cNvPicPr>
            <a:picLocks noChangeAspect="1" noChangeArrowheads="1"/>
          </p:cNvPicPr>
          <p:nvPr/>
        </p:nvPicPr>
        <p:blipFill>
          <a:blip r:embed="rId4"/>
          <a:srcRect/>
          <a:stretch>
            <a:fillRect/>
          </a:stretch>
        </p:blipFill>
        <p:spPr bwMode="auto">
          <a:xfrm>
            <a:off x="2914401" y="0"/>
            <a:ext cx="1412899" cy="1094704"/>
          </a:xfrm>
          <a:prstGeom prst="rect">
            <a:avLst/>
          </a:prstGeom>
          <a:noFill/>
          <a:ln w="9525">
            <a:noFill/>
            <a:miter lim="800000"/>
            <a:headEnd/>
            <a:tailEnd/>
          </a:ln>
        </p:spPr>
      </p:pic>
      <p:pic>
        <p:nvPicPr>
          <p:cNvPr id="7" name="Picture 9" descr="C:\Documents and Settings\Mahbub_GED\Desktop\thumbnailCAZTFEOT.jpg"/>
          <p:cNvPicPr>
            <a:picLocks noChangeAspect="1" noChangeArrowheads="1"/>
          </p:cNvPicPr>
          <p:nvPr/>
        </p:nvPicPr>
        <p:blipFill>
          <a:blip r:embed="rId5"/>
          <a:srcRect/>
          <a:stretch>
            <a:fillRect/>
          </a:stretch>
        </p:blipFill>
        <p:spPr bwMode="auto">
          <a:xfrm>
            <a:off x="4327300" y="-1"/>
            <a:ext cx="1394694" cy="1081825"/>
          </a:xfrm>
          <a:prstGeom prst="rect">
            <a:avLst/>
          </a:prstGeom>
          <a:noFill/>
          <a:ln w="9525">
            <a:noFill/>
            <a:miter lim="800000"/>
            <a:headEnd/>
            <a:tailEnd/>
          </a:ln>
        </p:spPr>
      </p:pic>
      <p:pic>
        <p:nvPicPr>
          <p:cNvPr id="8" name="Picture 13" descr="C:\Documents and Settings\Mahbub_GED\Desktop\thumbnailCA3X891M.jpg"/>
          <p:cNvPicPr>
            <a:picLocks noChangeAspect="1" noChangeArrowheads="1"/>
          </p:cNvPicPr>
          <p:nvPr/>
        </p:nvPicPr>
        <p:blipFill>
          <a:blip r:embed="rId6"/>
          <a:srcRect/>
          <a:stretch>
            <a:fillRect/>
          </a:stretch>
        </p:blipFill>
        <p:spPr bwMode="auto">
          <a:xfrm>
            <a:off x="5721994" y="0"/>
            <a:ext cx="1404956" cy="1081824"/>
          </a:xfrm>
          <a:prstGeom prst="rect">
            <a:avLst/>
          </a:prstGeom>
          <a:noFill/>
          <a:ln w="9525">
            <a:noFill/>
            <a:miter lim="800000"/>
            <a:headEnd/>
            <a:tailEnd/>
          </a:ln>
        </p:spPr>
      </p:pic>
      <p:pic>
        <p:nvPicPr>
          <p:cNvPr id="9" name="Picture 11" descr="C:\Documents and Settings\Mahbub_GED\Desktop\thumbnailCASLT5K4.jpg"/>
          <p:cNvPicPr>
            <a:picLocks noChangeAspect="1" noChangeArrowheads="1"/>
          </p:cNvPicPr>
          <p:nvPr/>
        </p:nvPicPr>
        <p:blipFill>
          <a:blip r:embed="rId7"/>
          <a:srcRect/>
          <a:stretch>
            <a:fillRect/>
          </a:stretch>
        </p:blipFill>
        <p:spPr bwMode="auto">
          <a:xfrm>
            <a:off x="7126949" y="-2"/>
            <a:ext cx="1566289" cy="1081826"/>
          </a:xfrm>
          <a:prstGeom prst="rect">
            <a:avLst/>
          </a:prstGeom>
          <a:solidFill>
            <a:srgbClr val="E95155"/>
          </a:solidFill>
          <a:ln w="9525">
            <a:noFill/>
            <a:miter lim="800000"/>
            <a:headEnd/>
            <a:tailEnd/>
          </a:ln>
        </p:spPr>
      </p:pic>
      <p:pic>
        <p:nvPicPr>
          <p:cNvPr id="10" name="Picture 12" descr="C:\Documents and Settings\Mahbub_GED\Desktop\thumbnailCA259FV7.jpg"/>
          <p:cNvPicPr>
            <a:picLocks noChangeAspect="1" noChangeArrowheads="1"/>
          </p:cNvPicPr>
          <p:nvPr/>
        </p:nvPicPr>
        <p:blipFill>
          <a:blip r:embed="rId8"/>
          <a:srcRect/>
          <a:stretch>
            <a:fillRect/>
          </a:stretch>
        </p:blipFill>
        <p:spPr bwMode="auto">
          <a:xfrm>
            <a:off x="8677456" y="0"/>
            <a:ext cx="1664279" cy="1098495"/>
          </a:xfrm>
          <a:prstGeom prst="rect">
            <a:avLst/>
          </a:prstGeom>
          <a:noFill/>
          <a:ln w="9525">
            <a:noFill/>
            <a:miter lim="800000"/>
            <a:headEnd/>
            <a:tailEnd/>
          </a:ln>
        </p:spPr>
      </p:pic>
      <p:pic>
        <p:nvPicPr>
          <p:cNvPr id="11" name="Picture 10" descr="C:\Documents and Settings\Mahbub_GED\Desktop\thumbnailCASTUZ21.jpg"/>
          <p:cNvPicPr>
            <a:picLocks noChangeAspect="1" noChangeArrowheads="1"/>
          </p:cNvPicPr>
          <p:nvPr/>
        </p:nvPicPr>
        <p:blipFill>
          <a:blip r:embed="rId9"/>
          <a:srcRect/>
          <a:stretch>
            <a:fillRect/>
          </a:stretch>
        </p:blipFill>
        <p:spPr bwMode="auto">
          <a:xfrm>
            <a:off x="10341735" y="0"/>
            <a:ext cx="1850264" cy="1081824"/>
          </a:xfrm>
          <a:prstGeom prst="rect">
            <a:avLst/>
          </a:prstGeom>
          <a:noFill/>
          <a:ln w="9525">
            <a:noFill/>
            <a:miter lim="800000"/>
            <a:headEnd/>
            <a:tailEnd/>
          </a:ln>
        </p:spPr>
      </p:pic>
      <p:pic>
        <p:nvPicPr>
          <p:cNvPr id="12" name="Picture 11" descr="http://unstats.un.org/sdgs/assets/img/sliders/goal1_menu_icon.jpg"/>
          <p:cNvPicPr/>
          <p:nvPr/>
        </p:nvPicPr>
        <p:blipFill>
          <a:blip r:embed="rId10">
            <a:extLst>
              <a:ext uri="{28A0092B-C50C-407E-A947-70E740481C1C}">
                <a14:useLocalDpi xmlns="" xmlns:a14="http://schemas.microsoft.com/office/drawing/2010/main" val="0"/>
              </a:ext>
            </a:extLst>
          </a:blip>
          <a:srcRect/>
          <a:stretch>
            <a:fillRect/>
          </a:stretch>
        </p:blipFill>
        <p:spPr bwMode="auto">
          <a:xfrm>
            <a:off x="1" y="2678806"/>
            <a:ext cx="1210614" cy="862885"/>
          </a:xfrm>
          <a:prstGeom prst="rect">
            <a:avLst/>
          </a:prstGeom>
          <a:noFill/>
          <a:extLst/>
        </p:spPr>
      </p:pic>
      <p:pic>
        <p:nvPicPr>
          <p:cNvPr id="13" name="Picture 12"/>
          <p:cNvPicPr/>
          <p:nvPr/>
        </p:nvPicPr>
        <p:blipFill>
          <a:blip r:embed="rId11">
            <a:extLst>
              <a:ext uri="{28A0092B-C50C-407E-A947-70E740481C1C}">
                <a14:useLocalDpi xmlns="" xmlns:a14="http://schemas.microsoft.com/office/drawing/2010/main" val="0"/>
              </a:ext>
            </a:extLst>
          </a:blip>
          <a:stretch>
            <a:fillRect/>
          </a:stretch>
        </p:blipFill>
        <p:spPr>
          <a:xfrm>
            <a:off x="1210615" y="2678806"/>
            <a:ext cx="1229360" cy="862885"/>
          </a:xfrm>
          <a:prstGeom prst="rect">
            <a:avLst/>
          </a:prstGeom>
        </p:spPr>
      </p:pic>
      <p:pic>
        <p:nvPicPr>
          <p:cNvPr id="14" name="Picture 13"/>
          <p:cNvPicPr/>
          <p:nvPr/>
        </p:nvPicPr>
        <p:blipFill>
          <a:blip r:embed="rId12">
            <a:extLst>
              <a:ext uri="{28A0092B-C50C-407E-A947-70E740481C1C}">
                <a14:useLocalDpi xmlns="" xmlns:a14="http://schemas.microsoft.com/office/drawing/2010/main" val="0"/>
              </a:ext>
            </a:extLst>
          </a:blip>
          <a:stretch>
            <a:fillRect/>
          </a:stretch>
        </p:blipFill>
        <p:spPr>
          <a:xfrm>
            <a:off x="2439975" y="2678806"/>
            <a:ext cx="1285875" cy="862885"/>
          </a:xfrm>
          <a:prstGeom prst="rect">
            <a:avLst/>
          </a:prstGeom>
        </p:spPr>
      </p:pic>
      <p:pic>
        <p:nvPicPr>
          <p:cNvPr id="15" name="Picture 14"/>
          <p:cNvPicPr/>
          <p:nvPr/>
        </p:nvPicPr>
        <p:blipFill>
          <a:blip r:embed="rId13">
            <a:extLst>
              <a:ext uri="{28A0092B-C50C-407E-A947-70E740481C1C}">
                <a14:useLocalDpi xmlns="" xmlns:a14="http://schemas.microsoft.com/office/drawing/2010/main" val="0"/>
              </a:ext>
            </a:extLst>
          </a:blip>
          <a:stretch>
            <a:fillRect/>
          </a:stretch>
        </p:blipFill>
        <p:spPr>
          <a:xfrm>
            <a:off x="3725850" y="2678806"/>
            <a:ext cx="1425699" cy="862885"/>
          </a:xfrm>
          <a:prstGeom prst="rect">
            <a:avLst/>
          </a:prstGeom>
        </p:spPr>
      </p:pic>
      <p:pic>
        <p:nvPicPr>
          <p:cNvPr id="16" name="Picture 15"/>
          <p:cNvPicPr/>
          <p:nvPr/>
        </p:nvPicPr>
        <p:blipFill>
          <a:blip r:embed="rId14">
            <a:extLst>
              <a:ext uri="{28A0092B-C50C-407E-A947-70E740481C1C}">
                <a14:useLocalDpi xmlns="" xmlns:a14="http://schemas.microsoft.com/office/drawing/2010/main" val="0"/>
              </a:ext>
            </a:extLst>
          </a:blip>
          <a:stretch>
            <a:fillRect/>
          </a:stretch>
        </p:blipFill>
        <p:spPr>
          <a:xfrm>
            <a:off x="5151549" y="2678806"/>
            <a:ext cx="1450340" cy="862885"/>
          </a:xfrm>
          <a:prstGeom prst="rect">
            <a:avLst/>
          </a:prstGeom>
        </p:spPr>
      </p:pic>
      <p:pic>
        <p:nvPicPr>
          <p:cNvPr id="17" name="Picture 16"/>
          <p:cNvPicPr/>
          <p:nvPr/>
        </p:nvPicPr>
        <p:blipFill>
          <a:blip r:embed="rId15">
            <a:extLst>
              <a:ext uri="{28A0092B-C50C-407E-A947-70E740481C1C}">
                <a14:useLocalDpi xmlns="" xmlns:a14="http://schemas.microsoft.com/office/drawing/2010/main" val="0"/>
              </a:ext>
            </a:extLst>
          </a:blip>
          <a:stretch>
            <a:fillRect/>
          </a:stretch>
        </p:blipFill>
        <p:spPr>
          <a:xfrm>
            <a:off x="6601889" y="2663724"/>
            <a:ext cx="1183640" cy="877967"/>
          </a:xfrm>
          <a:prstGeom prst="rect">
            <a:avLst/>
          </a:prstGeom>
        </p:spPr>
      </p:pic>
      <p:pic>
        <p:nvPicPr>
          <p:cNvPr id="18" name="Picture 17"/>
          <p:cNvPicPr/>
          <p:nvPr/>
        </p:nvPicPr>
        <p:blipFill>
          <a:blip r:embed="rId16">
            <a:extLst>
              <a:ext uri="{28A0092B-C50C-407E-A947-70E740481C1C}">
                <a14:useLocalDpi xmlns="" xmlns:a14="http://schemas.microsoft.com/office/drawing/2010/main" val="0"/>
              </a:ext>
            </a:extLst>
          </a:blip>
          <a:stretch>
            <a:fillRect/>
          </a:stretch>
        </p:blipFill>
        <p:spPr>
          <a:xfrm>
            <a:off x="7785529" y="2663726"/>
            <a:ext cx="1285875" cy="877966"/>
          </a:xfrm>
          <a:prstGeom prst="rect">
            <a:avLst/>
          </a:prstGeom>
        </p:spPr>
      </p:pic>
      <p:pic>
        <p:nvPicPr>
          <p:cNvPr id="19" name="Picture 18"/>
          <p:cNvPicPr/>
          <p:nvPr/>
        </p:nvPicPr>
        <p:blipFill>
          <a:blip r:embed="rId17">
            <a:extLst>
              <a:ext uri="{28A0092B-C50C-407E-A947-70E740481C1C}">
                <a14:useLocalDpi xmlns="" xmlns:a14="http://schemas.microsoft.com/office/drawing/2010/main" val="0"/>
              </a:ext>
            </a:extLst>
          </a:blip>
          <a:stretch>
            <a:fillRect/>
          </a:stretch>
        </p:blipFill>
        <p:spPr>
          <a:xfrm>
            <a:off x="9085497" y="2663726"/>
            <a:ext cx="1590163" cy="877965"/>
          </a:xfrm>
          <a:prstGeom prst="rect">
            <a:avLst/>
          </a:prstGeom>
        </p:spPr>
      </p:pic>
      <p:pic>
        <p:nvPicPr>
          <p:cNvPr id="20" name="Picture 19"/>
          <p:cNvPicPr/>
          <p:nvPr/>
        </p:nvPicPr>
        <p:blipFill>
          <a:blip r:embed="rId18">
            <a:extLst>
              <a:ext uri="{28A0092B-C50C-407E-A947-70E740481C1C}">
                <a14:useLocalDpi xmlns="" xmlns:a14="http://schemas.microsoft.com/office/drawing/2010/main" val="0"/>
              </a:ext>
            </a:extLst>
          </a:blip>
          <a:stretch>
            <a:fillRect/>
          </a:stretch>
        </p:blipFill>
        <p:spPr>
          <a:xfrm>
            <a:off x="10675661" y="2663727"/>
            <a:ext cx="1530431" cy="877964"/>
          </a:xfrm>
          <a:prstGeom prst="rect">
            <a:avLst/>
          </a:prstGeom>
        </p:spPr>
      </p:pic>
      <p:pic>
        <p:nvPicPr>
          <p:cNvPr id="21" name="Picture 20"/>
          <p:cNvPicPr/>
          <p:nvPr/>
        </p:nvPicPr>
        <p:blipFill>
          <a:blip r:embed="rId19">
            <a:extLst>
              <a:ext uri="{28A0092B-C50C-407E-A947-70E740481C1C}">
                <a14:useLocalDpi xmlns="" xmlns:a14="http://schemas.microsoft.com/office/drawing/2010/main" val="0"/>
              </a:ext>
            </a:extLst>
          </a:blip>
          <a:stretch>
            <a:fillRect/>
          </a:stretch>
        </p:blipFill>
        <p:spPr>
          <a:xfrm>
            <a:off x="-1" y="3541691"/>
            <a:ext cx="1210616" cy="1081824"/>
          </a:xfrm>
          <a:prstGeom prst="rect">
            <a:avLst/>
          </a:prstGeom>
        </p:spPr>
      </p:pic>
      <p:pic>
        <p:nvPicPr>
          <p:cNvPr id="22" name="Picture 21"/>
          <p:cNvPicPr/>
          <p:nvPr/>
        </p:nvPicPr>
        <p:blipFill>
          <a:blip r:embed="rId20">
            <a:extLst>
              <a:ext uri="{28A0092B-C50C-407E-A947-70E740481C1C}">
                <a14:useLocalDpi xmlns="" xmlns:a14="http://schemas.microsoft.com/office/drawing/2010/main" val="0"/>
              </a:ext>
            </a:extLst>
          </a:blip>
          <a:stretch>
            <a:fillRect/>
          </a:stretch>
        </p:blipFill>
        <p:spPr>
          <a:xfrm>
            <a:off x="1206550" y="3541691"/>
            <a:ext cx="1233425" cy="1081824"/>
          </a:xfrm>
          <a:prstGeom prst="rect">
            <a:avLst/>
          </a:prstGeom>
        </p:spPr>
      </p:pic>
      <p:pic>
        <p:nvPicPr>
          <p:cNvPr id="23" name="Picture 22"/>
          <p:cNvPicPr/>
          <p:nvPr/>
        </p:nvPicPr>
        <p:blipFill>
          <a:blip r:embed="rId21">
            <a:extLst>
              <a:ext uri="{28A0092B-C50C-407E-A947-70E740481C1C}">
                <a14:useLocalDpi xmlns="" xmlns:a14="http://schemas.microsoft.com/office/drawing/2010/main" val="0"/>
              </a:ext>
            </a:extLst>
          </a:blip>
          <a:stretch>
            <a:fillRect/>
          </a:stretch>
        </p:blipFill>
        <p:spPr>
          <a:xfrm>
            <a:off x="2436412" y="3541691"/>
            <a:ext cx="1303532" cy="1081824"/>
          </a:xfrm>
          <a:prstGeom prst="rect">
            <a:avLst/>
          </a:prstGeom>
        </p:spPr>
      </p:pic>
      <p:pic>
        <p:nvPicPr>
          <p:cNvPr id="24" name="Picture 23"/>
          <p:cNvPicPr/>
          <p:nvPr/>
        </p:nvPicPr>
        <p:blipFill>
          <a:blip r:embed="rId22">
            <a:extLst>
              <a:ext uri="{28A0092B-C50C-407E-A947-70E740481C1C}">
                <a14:useLocalDpi xmlns="" xmlns:a14="http://schemas.microsoft.com/office/drawing/2010/main" val="0"/>
              </a:ext>
            </a:extLst>
          </a:blip>
          <a:stretch>
            <a:fillRect/>
          </a:stretch>
        </p:blipFill>
        <p:spPr>
          <a:xfrm>
            <a:off x="3727692" y="3541691"/>
            <a:ext cx="1423857" cy="1081823"/>
          </a:xfrm>
          <a:prstGeom prst="rect">
            <a:avLst/>
          </a:prstGeom>
        </p:spPr>
      </p:pic>
      <p:pic>
        <p:nvPicPr>
          <p:cNvPr id="25" name="Picture 24"/>
          <p:cNvPicPr/>
          <p:nvPr/>
        </p:nvPicPr>
        <p:blipFill>
          <a:blip r:embed="rId23">
            <a:extLst>
              <a:ext uri="{28A0092B-C50C-407E-A947-70E740481C1C}">
                <a14:useLocalDpi xmlns="" xmlns:a14="http://schemas.microsoft.com/office/drawing/2010/main" val="0"/>
              </a:ext>
            </a:extLst>
          </a:blip>
          <a:stretch>
            <a:fillRect/>
          </a:stretch>
        </p:blipFill>
        <p:spPr>
          <a:xfrm>
            <a:off x="5137455" y="3528808"/>
            <a:ext cx="1450339" cy="1094706"/>
          </a:xfrm>
          <a:prstGeom prst="rect">
            <a:avLst/>
          </a:prstGeom>
        </p:spPr>
      </p:pic>
      <p:pic>
        <p:nvPicPr>
          <p:cNvPr id="26" name="Picture 25"/>
          <p:cNvPicPr/>
          <p:nvPr/>
        </p:nvPicPr>
        <p:blipFill>
          <a:blip r:embed="rId24">
            <a:extLst>
              <a:ext uri="{28A0092B-C50C-407E-A947-70E740481C1C}">
                <a14:useLocalDpi xmlns="" xmlns:a14="http://schemas.microsoft.com/office/drawing/2010/main" val="0"/>
              </a:ext>
            </a:extLst>
          </a:blip>
          <a:stretch>
            <a:fillRect/>
          </a:stretch>
        </p:blipFill>
        <p:spPr>
          <a:xfrm>
            <a:off x="6587794" y="3541690"/>
            <a:ext cx="1197735" cy="1081823"/>
          </a:xfrm>
          <a:prstGeom prst="rect">
            <a:avLst/>
          </a:prstGeom>
        </p:spPr>
      </p:pic>
      <p:pic>
        <p:nvPicPr>
          <p:cNvPr id="27" name="Picture 26"/>
          <p:cNvPicPr/>
          <p:nvPr/>
        </p:nvPicPr>
        <p:blipFill>
          <a:blip r:embed="rId25">
            <a:extLst>
              <a:ext uri="{28A0092B-C50C-407E-A947-70E740481C1C}">
                <a14:useLocalDpi xmlns="" xmlns:a14="http://schemas.microsoft.com/office/drawing/2010/main" val="0"/>
              </a:ext>
            </a:extLst>
          </a:blip>
          <a:stretch>
            <a:fillRect/>
          </a:stretch>
        </p:blipFill>
        <p:spPr>
          <a:xfrm>
            <a:off x="7785529" y="3541691"/>
            <a:ext cx="1299966" cy="1081822"/>
          </a:xfrm>
          <a:prstGeom prst="rect">
            <a:avLst/>
          </a:prstGeom>
        </p:spPr>
      </p:pic>
      <p:pic>
        <p:nvPicPr>
          <p:cNvPr id="28" name="Picture 27"/>
          <p:cNvPicPr/>
          <p:nvPr/>
        </p:nvPicPr>
        <p:blipFill>
          <a:blip r:embed="rId26">
            <a:extLst>
              <a:ext uri="{28A0092B-C50C-407E-A947-70E740481C1C}">
                <a14:useLocalDpi xmlns="" xmlns:a14="http://schemas.microsoft.com/office/drawing/2010/main" val="0"/>
              </a:ext>
            </a:extLst>
          </a:blip>
          <a:stretch>
            <a:fillRect/>
          </a:stretch>
        </p:blipFill>
        <p:spPr>
          <a:xfrm>
            <a:off x="9085496" y="3541690"/>
            <a:ext cx="1590163" cy="1081823"/>
          </a:xfrm>
          <a:prstGeom prst="rect">
            <a:avLst/>
          </a:prstGeom>
        </p:spPr>
      </p:pic>
      <p:pic>
        <p:nvPicPr>
          <p:cNvPr id="30" name="Picture 29"/>
          <p:cNvPicPr/>
          <p:nvPr/>
        </p:nvPicPr>
        <p:blipFill>
          <a:blip r:embed="rId27"/>
          <a:stretch>
            <a:fillRect/>
          </a:stretch>
        </p:blipFill>
        <p:spPr>
          <a:xfrm>
            <a:off x="10823656" y="3541690"/>
            <a:ext cx="1234440" cy="1081823"/>
          </a:xfrm>
          <a:prstGeom prst="rect">
            <a:avLst/>
          </a:prstGeom>
        </p:spPr>
      </p:pic>
    </p:spTree>
    <p:extLst>
      <p:ext uri="{BB962C8B-B14F-4D97-AF65-F5344CB8AC3E}">
        <p14:creationId xmlns="" xmlns:p14="http://schemas.microsoft.com/office/powerpoint/2010/main" val="40712028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21858" name="Picture 2" descr="unlog_bl"/>
          <p:cNvPicPr>
            <a:picLocks noChangeAspect="1" noChangeArrowheads="1"/>
          </p:cNvPicPr>
          <p:nvPr/>
        </p:nvPicPr>
        <p:blipFill>
          <a:blip r:embed="rId4"/>
          <a:srcRect/>
          <a:stretch>
            <a:fillRect/>
          </a:stretch>
        </p:blipFill>
        <p:spPr bwMode="auto">
          <a:xfrm>
            <a:off x="2895168" y="1356053"/>
            <a:ext cx="6207325" cy="4838317"/>
          </a:xfrm>
          <a:prstGeom prst="rect">
            <a:avLst/>
          </a:prstGeom>
          <a:noFill/>
          <a:ln w="9525">
            <a:noFill/>
            <a:miter lim="800000"/>
            <a:headEnd/>
            <a:tailEnd/>
          </a:ln>
        </p:spPr>
      </p:pic>
      <p:sp>
        <p:nvSpPr>
          <p:cNvPr id="121859" name="Rectangle 3"/>
          <p:cNvSpPr>
            <a:spLocks noGrp="1" noRot="1" noChangeArrowheads="1"/>
          </p:cNvSpPr>
          <p:nvPr>
            <p:ph type="title"/>
          </p:nvPr>
        </p:nvSpPr>
        <p:spPr>
          <a:xfrm>
            <a:off x="0" y="0"/>
            <a:ext cx="12192000" cy="847894"/>
          </a:xfrm>
          <a:solidFill>
            <a:schemeClr val="accent5"/>
          </a:solidFill>
        </p:spPr>
        <p:txBody>
          <a:bodyPr/>
          <a:lstStyle/>
          <a:p>
            <a:r>
              <a:rPr lang="en-US" sz="3990" b="1" dirty="0">
                <a:latin typeface="Times New Roman" panose="02020603050405020304" pitchFamily="18" charset="0"/>
                <a:cs typeface="Times New Roman" panose="02020603050405020304" pitchFamily="18" charset="0"/>
              </a:rPr>
              <a:t>Eight Millennium Development Goals </a:t>
            </a:r>
          </a:p>
        </p:txBody>
      </p:sp>
      <p:sp>
        <p:nvSpPr>
          <p:cNvPr id="121860" name="Text Box 4"/>
          <p:cNvSpPr txBox="1">
            <a:spLocks noChangeArrowheads="1"/>
          </p:cNvSpPr>
          <p:nvPr/>
        </p:nvSpPr>
        <p:spPr bwMode="auto">
          <a:xfrm>
            <a:off x="1698905" y="1239450"/>
            <a:ext cx="2421317" cy="848883"/>
          </a:xfrm>
          <a:prstGeom prst="rect">
            <a:avLst/>
          </a:prstGeom>
          <a:solidFill>
            <a:srgbClr val="FF2E29"/>
          </a:solidFill>
          <a:ln w="9525">
            <a:noFill/>
            <a:miter lim="800000"/>
            <a:headEnd/>
            <a:tailEnd/>
          </a:ln>
          <a:effectLst/>
          <a:scene3d>
            <a:camera prst="legacyPerspectiveBottomRight"/>
            <a:lightRig rig="legacyFlat4" dir="b"/>
          </a:scene3d>
          <a:sp3d extrusionH="121893000" prstMaterial="legacyMatte">
            <a:bevelT w="13500" h="13500" prst="angle"/>
            <a:bevelB w="13500" h="13500" prst="angle"/>
            <a:extrusionClr>
              <a:srgbClr val="FF2E29"/>
            </a:extrusionClr>
          </a:sp3d>
        </p:spPr>
        <p:txBody>
          <a:bodyPr lIns="94548" tIns="47274" rIns="94548" bIns="47274">
            <a:spAutoFit/>
            <a:flatTx/>
          </a:bodyPr>
          <a:lstStyle/>
          <a:p>
            <a:pPr algn="ctr" eaLnBrk="0" hangingPunct="0">
              <a:spcBef>
                <a:spcPct val="50000"/>
              </a:spcBef>
              <a:defRPr/>
            </a:pPr>
            <a:r>
              <a:rPr lang="en-US" sz="2448" dirty="0">
                <a:solidFill>
                  <a:srgbClr val="FAFF39"/>
                </a:solidFill>
                <a:effectLst>
                  <a:outerShdw blurRad="38100" dist="38100" dir="2700000" algn="tl">
                    <a:srgbClr val="000000"/>
                  </a:outerShdw>
                </a:effectLst>
              </a:rPr>
              <a:t>(1) Poverty and Hunger</a:t>
            </a:r>
          </a:p>
        </p:txBody>
      </p:sp>
      <p:sp>
        <p:nvSpPr>
          <p:cNvPr id="121861" name="Text Box 5"/>
          <p:cNvSpPr txBox="1">
            <a:spLocks noChangeArrowheads="1"/>
          </p:cNvSpPr>
          <p:nvPr/>
        </p:nvSpPr>
        <p:spPr bwMode="auto">
          <a:xfrm>
            <a:off x="4838557" y="1033595"/>
            <a:ext cx="2424196" cy="848883"/>
          </a:xfrm>
          <a:prstGeom prst="rect">
            <a:avLst/>
          </a:prstGeom>
          <a:solidFill>
            <a:srgbClr val="FF2E29"/>
          </a:solidFill>
          <a:ln w="9525">
            <a:noFill/>
            <a:miter lim="800000"/>
            <a:headEnd/>
            <a:tailEnd/>
          </a:ln>
          <a:effectLst/>
          <a:scene3d>
            <a:camera prst="legacyPerspectiveBottom"/>
            <a:lightRig rig="legacyFlat3" dir="t"/>
          </a:scene3d>
          <a:sp3d extrusionH="121893000" prstMaterial="legacyMatte">
            <a:bevelT w="13500" h="13500" prst="angle"/>
            <a:bevelB w="13500" h="13500" prst="angle"/>
            <a:extrusionClr>
              <a:srgbClr val="FF2E29"/>
            </a:extrusionClr>
          </a:sp3d>
        </p:spPr>
        <p:txBody>
          <a:bodyPr lIns="94548" tIns="47274" rIns="94548" bIns="47274">
            <a:spAutoFit/>
            <a:flatTx/>
          </a:bodyPr>
          <a:lstStyle/>
          <a:p>
            <a:pPr algn="ctr" eaLnBrk="0" hangingPunct="0">
              <a:spcBef>
                <a:spcPct val="50000"/>
              </a:spcBef>
              <a:defRPr/>
            </a:pPr>
            <a:r>
              <a:rPr lang="en-US" sz="2448" dirty="0">
                <a:solidFill>
                  <a:srgbClr val="FFFF00"/>
                </a:solidFill>
                <a:effectLst>
                  <a:outerShdw blurRad="38100" dist="38100" dir="2700000" algn="tl">
                    <a:srgbClr val="000000"/>
                  </a:outerShdw>
                </a:effectLst>
              </a:rPr>
              <a:t>(2) Primary Education</a:t>
            </a:r>
          </a:p>
        </p:txBody>
      </p:sp>
      <p:sp>
        <p:nvSpPr>
          <p:cNvPr id="121862" name="Text Box 6"/>
          <p:cNvSpPr txBox="1">
            <a:spLocks noChangeArrowheads="1"/>
          </p:cNvSpPr>
          <p:nvPr/>
        </p:nvSpPr>
        <p:spPr bwMode="auto">
          <a:xfrm>
            <a:off x="1572225" y="3083509"/>
            <a:ext cx="2422757" cy="848883"/>
          </a:xfrm>
          <a:prstGeom prst="rect">
            <a:avLst/>
          </a:prstGeom>
          <a:solidFill>
            <a:srgbClr val="FF2E29"/>
          </a:solidFill>
          <a:ln w="9525">
            <a:noFill/>
            <a:miter lim="800000"/>
            <a:headEnd/>
            <a:tailEnd/>
          </a:ln>
          <a:effectLst/>
          <a:scene3d>
            <a:camera prst="legacyPerspectiveRight"/>
            <a:lightRig rig="legacyFlat3" dir="r"/>
          </a:scene3d>
          <a:sp3d extrusionH="121893000" prstMaterial="legacyMatte">
            <a:bevelT w="13500" h="13500" prst="angle"/>
            <a:bevelB w="13500" h="13500" prst="angle"/>
            <a:extrusionClr>
              <a:srgbClr val="FF2E29"/>
            </a:extrusionClr>
          </a:sp3d>
        </p:spPr>
        <p:txBody>
          <a:bodyPr lIns="94548" tIns="47274" rIns="94548" bIns="47274">
            <a:spAutoFit/>
            <a:flatTx/>
          </a:bodyPr>
          <a:lstStyle/>
          <a:p>
            <a:pPr algn="ctr" eaLnBrk="0" hangingPunct="0">
              <a:spcBef>
                <a:spcPct val="50000"/>
              </a:spcBef>
              <a:defRPr/>
            </a:pPr>
            <a:r>
              <a:rPr lang="en-US" sz="2448" dirty="0">
                <a:solidFill>
                  <a:srgbClr val="FFFF00"/>
                </a:solidFill>
                <a:effectLst>
                  <a:outerShdw blurRad="38100" dist="38100" dir="2700000" algn="tl">
                    <a:srgbClr val="000000"/>
                  </a:outerShdw>
                </a:effectLst>
              </a:rPr>
              <a:t>(4) Child  Mortality </a:t>
            </a:r>
          </a:p>
        </p:txBody>
      </p:sp>
      <p:sp>
        <p:nvSpPr>
          <p:cNvPr id="121863" name="Text Box 7"/>
          <p:cNvSpPr txBox="1">
            <a:spLocks noChangeArrowheads="1"/>
          </p:cNvSpPr>
          <p:nvPr/>
        </p:nvSpPr>
        <p:spPr bwMode="auto">
          <a:xfrm>
            <a:off x="8034350" y="3221705"/>
            <a:ext cx="2422756" cy="848883"/>
          </a:xfrm>
          <a:prstGeom prst="rect">
            <a:avLst/>
          </a:prstGeom>
          <a:solidFill>
            <a:srgbClr val="FF2E29"/>
          </a:solidFill>
          <a:ln w="9525">
            <a:noFill/>
            <a:miter lim="800000"/>
            <a:headEnd/>
            <a:tailEnd/>
          </a:ln>
          <a:effectLst/>
          <a:scene3d>
            <a:camera prst="legacyPerspectiveLeft"/>
            <a:lightRig rig="legacyFlat3" dir="r"/>
          </a:scene3d>
          <a:sp3d extrusionH="121893000" prstMaterial="legacyMatte">
            <a:bevelT w="13500" h="13500" prst="angle"/>
            <a:bevelB w="13500" h="13500" prst="angle"/>
            <a:extrusionClr>
              <a:srgbClr val="FF2E29"/>
            </a:extrusionClr>
          </a:sp3d>
        </p:spPr>
        <p:txBody>
          <a:bodyPr lIns="94548" tIns="47274" rIns="94548" bIns="47274">
            <a:spAutoFit/>
            <a:flatTx/>
          </a:bodyPr>
          <a:lstStyle/>
          <a:p>
            <a:pPr algn="ctr" eaLnBrk="0" hangingPunct="0">
              <a:spcBef>
                <a:spcPct val="50000"/>
              </a:spcBef>
              <a:defRPr/>
            </a:pPr>
            <a:r>
              <a:rPr lang="en-US" sz="2448" dirty="0">
                <a:solidFill>
                  <a:srgbClr val="FFFF00"/>
                </a:solidFill>
                <a:effectLst>
                  <a:outerShdw blurRad="38100" dist="38100" dir="2700000" algn="tl">
                    <a:srgbClr val="000000"/>
                  </a:outerShdw>
                </a:effectLst>
              </a:rPr>
              <a:t>(5) Maternal Health</a:t>
            </a:r>
          </a:p>
        </p:txBody>
      </p:sp>
      <p:sp>
        <p:nvSpPr>
          <p:cNvPr id="121864" name="Text Box 8"/>
          <p:cNvSpPr txBox="1">
            <a:spLocks noChangeArrowheads="1"/>
          </p:cNvSpPr>
          <p:nvPr/>
        </p:nvSpPr>
        <p:spPr bwMode="auto">
          <a:xfrm>
            <a:off x="8005559" y="5156456"/>
            <a:ext cx="2421317" cy="848883"/>
          </a:xfrm>
          <a:prstGeom prst="rect">
            <a:avLst/>
          </a:prstGeom>
          <a:solidFill>
            <a:srgbClr val="FF2E29"/>
          </a:solidFill>
          <a:ln w="9525">
            <a:noFill/>
            <a:miter lim="800000"/>
            <a:headEnd/>
            <a:tailEnd/>
          </a:ln>
          <a:effectLst/>
          <a:scene3d>
            <a:camera prst="legacyPerspectiveTopLeft"/>
            <a:lightRig rig="legacyFlat3" dir="r"/>
          </a:scene3d>
          <a:sp3d extrusionH="121893000" prstMaterial="legacyMatte">
            <a:bevelT w="13500" h="13500" prst="angle"/>
            <a:bevelB w="13500" h="13500" prst="angle"/>
            <a:extrusionClr>
              <a:srgbClr val="FF2E29"/>
            </a:extrusionClr>
          </a:sp3d>
        </p:spPr>
        <p:txBody>
          <a:bodyPr lIns="94548" tIns="47274" rIns="94548" bIns="47274">
            <a:spAutoFit/>
            <a:flatTx/>
          </a:bodyPr>
          <a:lstStyle/>
          <a:p>
            <a:pPr algn="ctr" eaLnBrk="0" hangingPunct="0">
              <a:spcBef>
                <a:spcPct val="50000"/>
              </a:spcBef>
              <a:defRPr/>
            </a:pPr>
            <a:r>
              <a:rPr lang="en-US" sz="2448" dirty="0">
                <a:solidFill>
                  <a:srgbClr val="FFFF00"/>
                </a:solidFill>
                <a:effectLst>
                  <a:outerShdw blurRad="38100" dist="38100" dir="2700000" algn="tl">
                    <a:srgbClr val="000000"/>
                  </a:outerShdw>
                </a:effectLst>
              </a:rPr>
              <a:t>(8) Partnership for Development</a:t>
            </a:r>
          </a:p>
        </p:txBody>
      </p:sp>
      <p:sp>
        <p:nvSpPr>
          <p:cNvPr id="121865" name="Text Box 9"/>
          <p:cNvSpPr txBox="1">
            <a:spLocks noChangeArrowheads="1"/>
          </p:cNvSpPr>
          <p:nvPr/>
        </p:nvSpPr>
        <p:spPr bwMode="auto">
          <a:xfrm>
            <a:off x="1837102" y="4741867"/>
            <a:ext cx="2422757" cy="848883"/>
          </a:xfrm>
          <a:prstGeom prst="rect">
            <a:avLst/>
          </a:prstGeom>
          <a:solidFill>
            <a:srgbClr val="FF2E29"/>
          </a:solidFill>
          <a:ln w="9525">
            <a:noFill/>
            <a:miter lim="800000"/>
            <a:headEnd/>
            <a:tailEnd/>
          </a:ln>
          <a:effectLst/>
          <a:scene3d>
            <a:camera prst="legacyPerspectiveTopRight"/>
            <a:lightRig rig="legacyFlat3" dir="r"/>
          </a:scene3d>
          <a:sp3d extrusionH="121893000" prstMaterial="legacyMatte">
            <a:bevelT w="13500" h="13500" prst="angle"/>
            <a:bevelB w="13500" h="13500" prst="angle"/>
            <a:extrusionClr>
              <a:srgbClr val="FF2E29"/>
            </a:extrusionClr>
          </a:sp3d>
        </p:spPr>
        <p:txBody>
          <a:bodyPr lIns="94548" tIns="47274" rIns="94548" bIns="47274">
            <a:spAutoFit/>
            <a:flatTx/>
          </a:bodyPr>
          <a:lstStyle/>
          <a:p>
            <a:pPr algn="ctr" eaLnBrk="0" hangingPunct="0">
              <a:spcBef>
                <a:spcPct val="50000"/>
              </a:spcBef>
              <a:defRPr/>
            </a:pPr>
            <a:r>
              <a:rPr lang="en-US" sz="2448" dirty="0">
                <a:solidFill>
                  <a:srgbClr val="FFFF00"/>
                </a:solidFill>
                <a:effectLst>
                  <a:outerShdw blurRad="38100" dist="38100" dir="2700000" algn="tl">
                    <a:srgbClr val="000000"/>
                  </a:outerShdw>
                </a:effectLst>
              </a:rPr>
              <a:t>(6) HIV/AIDS and other Diseases</a:t>
            </a:r>
            <a:endParaRPr lang="en-US" sz="2176" dirty="0">
              <a:solidFill>
                <a:srgbClr val="FFFF00"/>
              </a:solidFill>
              <a:effectLst>
                <a:outerShdw blurRad="38100" dist="38100" dir="2700000" algn="tl">
                  <a:srgbClr val="000000"/>
                </a:outerShdw>
              </a:effectLst>
            </a:endParaRPr>
          </a:p>
        </p:txBody>
      </p:sp>
      <p:sp>
        <p:nvSpPr>
          <p:cNvPr id="121866" name="Text Box 10"/>
          <p:cNvSpPr txBox="1">
            <a:spLocks noChangeArrowheads="1"/>
          </p:cNvSpPr>
          <p:nvPr/>
        </p:nvSpPr>
        <p:spPr bwMode="auto">
          <a:xfrm>
            <a:off x="7932142" y="1337339"/>
            <a:ext cx="2422757" cy="848883"/>
          </a:xfrm>
          <a:prstGeom prst="rect">
            <a:avLst/>
          </a:prstGeom>
          <a:solidFill>
            <a:srgbClr val="FF2E29"/>
          </a:solidFill>
          <a:ln w="9525">
            <a:noFill/>
            <a:miter lim="800000"/>
            <a:headEnd/>
            <a:tailEnd/>
          </a:ln>
          <a:effectLst/>
          <a:scene3d>
            <a:camera prst="legacyPerspectiveBottomLeft"/>
            <a:lightRig rig="legacyFlat4" dir="b"/>
          </a:scene3d>
          <a:sp3d extrusionH="121893000" prstMaterial="legacyMatte">
            <a:bevelT w="13500" h="13500" prst="angle"/>
            <a:bevelB w="13500" h="13500" prst="angle"/>
            <a:extrusionClr>
              <a:srgbClr val="FF2E29"/>
            </a:extrusionClr>
          </a:sp3d>
        </p:spPr>
        <p:txBody>
          <a:bodyPr lIns="94548" tIns="47274" rIns="94548" bIns="47274">
            <a:spAutoFit/>
            <a:flatTx/>
          </a:bodyPr>
          <a:lstStyle/>
          <a:p>
            <a:pPr algn="ctr" eaLnBrk="0" hangingPunct="0">
              <a:spcBef>
                <a:spcPct val="50000"/>
              </a:spcBef>
              <a:defRPr/>
            </a:pPr>
            <a:r>
              <a:rPr lang="en-US" sz="2448" dirty="0">
                <a:solidFill>
                  <a:srgbClr val="FFFF00"/>
                </a:solidFill>
                <a:effectLst>
                  <a:outerShdw blurRad="38100" dist="38100" dir="2700000" algn="tl">
                    <a:srgbClr val="000000"/>
                  </a:outerShdw>
                </a:effectLst>
              </a:rPr>
              <a:t>(3) Empower Women</a:t>
            </a:r>
          </a:p>
        </p:txBody>
      </p:sp>
      <p:sp>
        <p:nvSpPr>
          <p:cNvPr id="121867" name="Text Box 11"/>
          <p:cNvSpPr txBox="1">
            <a:spLocks noChangeArrowheads="1"/>
          </p:cNvSpPr>
          <p:nvPr/>
        </p:nvSpPr>
        <p:spPr bwMode="auto">
          <a:xfrm>
            <a:off x="4914852" y="5501948"/>
            <a:ext cx="2421317" cy="765142"/>
          </a:xfrm>
          <a:prstGeom prst="rect">
            <a:avLst/>
          </a:prstGeom>
          <a:solidFill>
            <a:srgbClr val="FF2E29"/>
          </a:solidFill>
          <a:ln w="9525">
            <a:noFill/>
            <a:miter lim="800000"/>
            <a:headEnd/>
            <a:tailEnd/>
          </a:ln>
          <a:effectLst/>
          <a:scene3d>
            <a:camera prst="legacyPerspectiveTop"/>
            <a:lightRig rig="legacyFlat3" dir="r"/>
          </a:scene3d>
          <a:sp3d extrusionH="121893000" prstMaterial="legacyMatte">
            <a:bevelT w="13500" h="13500" prst="angle"/>
            <a:bevelB w="13500" h="13500" prst="angle"/>
            <a:extrusionClr>
              <a:srgbClr val="FF2E29"/>
            </a:extrusionClr>
          </a:sp3d>
        </p:spPr>
        <p:txBody>
          <a:bodyPr lIns="94548" tIns="47274" rIns="94548" bIns="47274">
            <a:spAutoFit/>
            <a:flatTx/>
          </a:bodyPr>
          <a:lstStyle/>
          <a:p>
            <a:pPr algn="ctr" eaLnBrk="0" hangingPunct="0">
              <a:spcBef>
                <a:spcPct val="50000"/>
              </a:spcBef>
              <a:defRPr/>
            </a:pPr>
            <a:r>
              <a:rPr lang="en-US" sz="2176" dirty="0">
                <a:solidFill>
                  <a:srgbClr val="FFFF00"/>
                </a:solidFill>
                <a:effectLst>
                  <a:outerShdw blurRad="38100" dist="38100" dir="2700000" algn="tl">
                    <a:srgbClr val="000000"/>
                  </a:outerShdw>
                </a:effectLst>
              </a:rPr>
              <a:t>(7) Environmental Sustainability</a:t>
            </a:r>
          </a:p>
        </p:txBody>
      </p:sp>
      <p:graphicFrame>
        <p:nvGraphicFramePr>
          <p:cNvPr id="121868" name="Object 3"/>
          <p:cNvGraphicFramePr>
            <a:graphicFrameLocks noChangeAspect="1"/>
          </p:cNvGraphicFramePr>
          <p:nvPr/>
        </p:nvGraphicFramePr>
        <p:xfrm>
          <a:off x="4357748" y="2134849"/>
          <a:ext cx="3369978" cy="3158365"/>
        </p:xfrm>
        <a:graphic>
          <a:graphicData uri="http://schemas.openxmlformats.org/presentationml/2006/ole">
            <p:oleObj spid="_x0000_s1112" name="Clip" r:id="rId5" imgW="21116934" imgH="20974109" progId="">
              <p:embed/>
            </p:oleObj>
          </a:graphicData>
        </a:graphic>
      </p:graphicFrame>
      <p:sp>
        <p:nvSpPr>
          <p:cNvPr id="121869" name="Text Box 13"/>
          <p:cNvSpPr txBox="1">
            <a:spLocks noChangeArrowheads="1"/>
          </p:cNvSpPr>
          <p:nvPr/>
        </p:nvSpPr>
        <p:spPr bwMode="auto">
          <a:xfrm>
            <a:off x="4914852" y="2615657"/>
            <a:ext cx="2179474" cy="2461119"/>
          </a:xfrm>
          <a:prstGeom prst="rect">
            <a:avLst/>
          </a:prstGeom>
          <a:noFill/>
          <a:ln w="9525">
            <a:noFill/>
            <a:miter lim="800000"/>
            <a:headEnd/>
            <a:tailEnd/>
          </a:ln>
          <a:effectLst/>
        </p:spPr>
        <p:txBody>
          <a:bodyPr lIns="94548" tIns="47274" rIns="94548" bIns="47274">
            <a:spAutoFit/>
          </a:bodyPr>
          <a:lstStyle/>
          <a:p>
            <a:pPr algn="ctr" eaLnBrk="0" hangingPunct="0">
              <a:lnSpc>
                <a:spcPct val="75000"/>
              </a:lnSpc>
              <a:spcBef>
                <a:spcPct val="25000"/>
              </a:spcBef>
              <a:defRPr/>
            </a:pPr>
            <a:r>
              <a:rPr lang="en-US" sz="2811" dirty="0">
                <a:solidFill>
                  <a:srgbClr val="0000FF"/>
                </a:solidFill>
                <a:effectLst>
                  <a:outerShdw blurRad="38100" dist="38100" dir="2700000" algn="tl">
                    <a:srgbClr val="000000"/>
                  </a:outerShdw>
                </a:effectLst>
              </a:rPr>
              <a:t>By</a:t>
            </a:r>
          </a:p>
          <a:p>
            <a:pPr algn="ctr" eaLnBrk="0" hangingPunct="0">
              <a:lnSpc>
                <a:spcPct val="75000"/>
              </a:lnSpc>
              <a:spcBef>
                <a:spcPct val="25000"/>
              </a:spcBef>
              <a:defRPr/>
            </a:pPr>
            <a:r>
              <a:rPr lang="en-US" sz="4534" dirty="0">
                <a:solidFill>
                  <a:srgbClr val="0000FF"/>
                </a:solidFill>
                <a:effectLst>
                  <a:outerShdw blurRad="38100" dist="38100" dir="2700000" algn="tl">
                    <a:srgbClr val="000000"/>
                  </a:outerShdw>
                </a:effectLst>
              </a:rPr>
              <a:t>2015</a:t>
            </a:r>
          </a:p>
          <a:p>
            <a:pPr algn="ctr" eaLnBrk="0" hangingPunct="0">
              <a:lnSpc>
                <a:spcPct val="75000"/>
              </a:lnSpc>
              <a:spcBef>
                <a:spcPct val="50000"/>
              </a:spcBef>
              <a:defRPr/>
            </a:pPr>
            <a:r>
              <a:rPr lang="en-US" sz="3174" dirty="0">
                <a:solidFill>
                  <a:srgbClr val="0000FF"/>
                </a:solidFill>
                <a:effectLst>
                  <a:outerShdw blurRad="38100" dist="38100" dir="2700000" algn="tl">
                    <a:srgbClr val="000000"/>
                  </a:outerShdw>
                </a:effectLst>
              </a:rPr>
              <a:t>193 Member States</a:t>
            </a:r>
          </a:p>
        </p:txBody>
      </p:sp>
    </p:spTree>
    <p:extLst>
      <p:ext uri="{BB962C8B-B14F-4D97-AF65-F5344CB8AC3E}">
        <p14:creationId xmlns="" xmlns:p14="http://schemas.microsoft.com/office/powerpoint/2010/main" val="3524185995"/>
      </p:ext>
    </p:extLst>
  </p:cSld>
  <p:clrMapOvr>
    <a:masterClrMapping/>
  </p:clrMapOvr>
  <p:transition advTm="50352"/>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Subtitle 4"/>
          <p:cNvSpPr>
            <a:spLocks noGrp="1"/>
          </p:cNvSpPr>
          <p:nvPr>
            <p:ph type="subTitle" idx="4294967295"/>
          </p:nvPr>
        </p:nvSpPr>
        <p:spPr>
          <a:xfrm>
            <a:off x="0" y="567508"/>
            <a:ext cx="12192000" cy="5999088"/>
          </a:xfrm>
          <a:solidFill>
            <a:schemeClr val="bg2"/>
          </a:solidFill>
        </p:spPr>
        <p:txBody>
          <a:bodyPr vert="horz" lIns="94568" tIns="47284" rIns="94568" bIns="47284" rtlCol="0">
            <a:noAutofit/>
          </a:bodyPr>
          <a:lstStyle/>
          <a:p>
            <a:pPr marL="210174" indent="-210174" algn="justLow">
              <a:lnSpc>
                <a:spcPct val="110000"/>
              </a:lnSpc>
              <a:spcBef>
                <a:spcPts val="544"/>
              </a:spcBef>
              <a:buClr>
                <a:schemeClr val="tx2"/>
              </a:buClr>
              <a:buFont typeface="Wingdings" pitchFamily="2" charset="2"/>
              <a:buChar char="§"/>
            </a:pPr>
            <a:r>
              <a:rPr lang="en-GB" sz="2200" dirty="0" err="1">
                <a:latin typeface="Times New Roman" pitchFamily="18" charset="0"/>
                <a:cs typeface="Times New Roman" pitchFamily="18" charset="0"/>
              </a:rPr>
              <a:t>Hon’ble</a:t>
            </a:r>
            <a:r>
              <a:rPr lang="en-GB" sz="2200" dirty="0">
                <a:latin typeface="Times New Roman" pitchFamily="18" charset="0"/>
                <a:cs typeface="Times New Roman" pitchFamily="18" charset="0"/>
              </a:rPr>
              <a:t> Prime Minister of Bangladesh was awarded with </a:t>
            </a:r>
            <a:r>
              <a:rPr lang="en-GB" sz="2200" b="1" dirty="0">
                <a:latin typeface="Times New Roman" pitchFamily="18" charset="0"/>
                <a:cs typeface="Times New Roman" pitchFamily="18" charset="0"/>
              </a:rPr>
              <a:t>‘UN MDG Awards 2010’ </a:t>
            </a:r>
            <a:r>
              <a:rPr lang="en-GB" sz="2200" dirty="0">
                <a:latin typeface="Times New Roman" pitchFamily="18" charset="0"/>
                <a:cs typeface="Times New Roman" pitchFamily="18" charset="0"/>
              </a:rPr>
              <a:t>for reducing under five child mortality rate (MDG-4). </a:t>
            </a:r>
          </a:p>
          <a:p>
            <a:pPr marL="210174" indent="-210174" algn="justLow">
              <a:lnSpc>
                <a:spcPct val="110000"/>
              </a:lnSpc>
              <a:spcBef>
                <a:spcPts val="544"/>
              </a:spcBef>
              <a:buClr>
                <a:schemeClr val="tx2"/>
              </a:buClr>
              <a:buFont typeface="Wingdings" pitchFamily="2" charset="2"/>
              <a:buChar char="§"/>
            </a:pPr>
            <a:r>
              <a:rPr lang="en-GB" sz="2200" dirty="0">
                <a:latin typeface="Times New Roman" pitchFamily="18" charset="0"/>
                <a:cs typeface="Times New Roman" pitchFamily="18" charset="0"/>
              </a:rPr>
              <a:t>Bangladesh received </a:t>
            </a:r>
            <a:r>
              <a:rPr lang="en-GB" sz="2200" b="1" dirty="0">
                <a:latin typeface="Times New Roman" pitchFamily="18" charset="0"/>
                <a:cs typeface="Times New Roman" pitchFamily="18" charset="0"/>
              </a:rPr>
              <a:t>South-South Award </a:t>
            </a:r>
            <a:r>
              <a:rPr lang="en-GB" sz="2200" i="1" dirty="0">
                <a:latin typeface="Times New Roman" pitchFamily="18" charset="0"/>
                <a:cs typeface="Times New Roman" pitchFamily="18" charset="0"/>
              </a:rPr>
              <a:t>'Digital Health For Digital Development'</a:t>
            </a:r>
            <a:r>
              <a:rPr lang="en-GB" sz="2200" b="1" dirty="0">
                <a:latin typeface="Times New Roman" pitchFamily="18" charset="0"/>
                <a:cs typeface="Times New Roman" pitchFamily="18" charset="0"/>
              </a:rPr>
              <a:t> </a:t>
            </a:r>
            <a:r>
              <a:rPr lang="en-GB" sz="2200" dirty="0">
                <a:latin typeface="Times New Roman" pitchFamily="18" charset="0"/>
                <a:cs typeface="Times New Roman" pitchFamily="18" charset="0"/>
              </a:rPr>
              <a:t>for success on attainment of MDG- 4 &amp; MDG-5. </a:t>
            </a:r>
          </a:p>
          <a:p>
            <a:pPr marL="210174" indent="-210174" algn="justLow">
              <a:lnSpc>
                <a:spcPct val="110000"/>
              </a:lnSpc>
              <a:spcBef>
                <a:spcPts val="544"/>
              </a:spcBef>
              <a:buClr>
                <a:schemeClr val="tx2"/>
              </a:buClr>
              <a:buFont typeface="Wingdings" pitchFamily="2" charset="2"/>
              <a:buChar char="§"/>
            </a:pPr>
            <a:r>
              <a:rPr lang="en-GB" sz="2200" dirty="0">
                <a:latin typeface="Times New Roman" pitchFamily="18" charset="0"/>
                <a:cs typeface="Times New Roman" pitchFamily="18" charset="0"/>
              </a:rPr>
              <a:t>Bangladesh received </a:t>
            </a:r>
            <a:r>
              <a:rPr lang="en-US" sz="2200" b="1" dirty="0">
                <a:latin typeface="Times New Roman" pitchFamily="18" charset="0"/>
                <a:cs typeface="Times New Roman" pitchFamily="18" charset="0"/>
              </a:rPr>
              <a:t>‘Diploma Award’</a:t>
            </a:r>
            <a:r>
              <a:rPr lang="en-US" sz="2200" dirty="0">
                <a:latin typeface="Times New Roman" pitchFamily="18" charset="0"/>
                <a:cs typeface="Times New Roman" pitchFamily="18" charset="0"/>
              </a:rPr>
              <a:t> from Food and Agriculture Organization (FAO) </a:t>
            </a:r>
            <a:r>
              <a:rPr lang="en-GB" sz="2200" dirty="0">
                <a:latin typeface="Times New Roman" panose="02020603050405020304" pitchFamily="18" charset="0"/>
              </a:rPr>
              <a:t>for achieving the MDG-1</a:t>
            </a:r>
            <a:r>
              <a:rPr lang="en-US" sz="2200" dirty="0">
                <a:latin typeface="Times New Roman" pitchFamily="18" charset="0"/>
                <a:cs typeface="Times New Roman" pitchFamily="18" charset="0"/>
              </a:rPr>
              <a:t>. </a:t>
            </a:r>
          </a:p>
          <a:p>
            <a:pPr marL="210174" indent="-210174" algn="justLow">
              <a:lnSpc>
                <a:spcPct val="110000"/>
              </a:lnSpc>
              <a:spcBef>
                <a:spcPts val="544"/>
              </a:spcBef>
              <a:buClr>
                <a:schemeClr val="tx2"/>
              </a:buClr>
              <a:buFont typeface="Wingdings" pitchFamily="2" charset="2"/>
              <a:buChar char="§"/>
            </a:pPr>
            <a:r>
              <a:rPr lang="en-GB" sz="2200" dirty="0">
                <a:latin typeface="Times New Roman" panose="02020603050405020304" pitchFamily="18" charset="0"/>
              </a:rPr>
              <a:t>Bangladesh was honoured with the </a:t>
            </a:r>
            <a:r>
              <a:rPr lang="en-GB" sz="2200" b="1" dirty="0">
                <a:latin typeface="Times New Roman" panose="02020603050405020304" pitchFamily="18" charset="0"/>
              </a:rPr>
              <a:t>‘special recognition’ </a:t>
            </a:r>
            <a:r>
              <a:rPr lang="en-GB" sz="2200" dirty="0">
                <a:latin typeface="Times New Roman" panose="02020603050405020304" pitchFamily="18" charset="0"/>
              </a:rPr>
              <a:t>for outstanding progress in fighting hunger and poverty</a:t>
            </a:r>
            <a:r>
              <a:rPr lang="en-GB" sz="2200" dirty="0" smtClean="0">
                <a:latin typeface="Times New Roman" panose="02020603050405020304" pitchFamily="18" charset="0"/>
              </a:rPr>
              <a:t>.</a:t>
            </a:r>
            <a:endParaRPr lang="en-GB" sz="2200" dirty="0">
              <a:latin typeface="Times New Roman" panose="02020603050405020304" pitchFamily="18" charset="0"/>
            </a:endParaRPr>
          </a:p>
          <a:p>
            <a:pPr marL="210174" indent="-210174" algn="justLow">
              <a:lnSpc>
                <a:spcPct val="110000"/>
              </a:lnSpc>
              <a:spcBef>
                <a:spcPts val="544"/>
              </a:spcBef>
              <a:buClr>
                <a:schemeClr val="tx2"/>
              </a:buClr>
              <a:buFont typeface="Wingdings" pitchFamily="2" charset="2"/>
              <a:buChar char="§"/>
            </a:pPr>
            <a:r>
              <a:rPr lang="en-GB" sz="2200" dirty="0" err="1">
                <a:latin typeface="Times New Roman" panose="02020603050405020304" pitchFamily="18" charset="0"/>
              </a:rPr>
              <a:t>Hon’ble</a:t>
            </a:r>
            <a:r>
              <a:rPr lang="en-GB" sz="2200" dirty="0">
                <a:latin typeface="Times New Roman" panose="02020603050405020304" pitchFamily="18" charset="0"/>
              </a:rPr>
              <a:t> Prime Minister was awarded </a:t>
            </a:r>
            <a:r>
              <a:rPr lang="en-GB" sz="2200" b="1" dirty="0">
                <a:latin typeface="Times New Roman" panose="02020603050405020304" pitchFamily="18" charset="0"/>
              </a:rPr>
              <a:t>‘UNESCO Peace Tree Award’ </a:t>
            </a:r>
            <a:r>
              <a:rPr lang="en-GB" sz="2200" dirty="0">
                <a:latin typeface="Times New Roman" panose="02020603050405020304" pitchFamily="18" charset="0"/>
              </a:rPr>
              <a:t>for her commitment to women’s empowerment and girls’ education.</a:t>
            </a:r>
            <a:endParaRPr lang="en-US" sz="2200" dirty="0">
              <a:latin typeface="Times New Roman" panose="02020603050405020304" pitchFamily="18" charset="0"/>
            </a:endParaRPr>
          </a:p>
          <a:p>
            <a:pPr marL="210174" indent="-210174" algn="justLow">
              <a:lnSpc>
                <a:spcPct val="110000"/>
              </a:lnSpc>
              <a:spcBef>
                <a:spcPts val="544"/>
              </a:spcBef>
              <a:buClr>
                <a:schemeClr val="tx2"/>
              </a:buClr>
              <a:buFont typeface="Wingdings" pitchFamily="2" charset="2"/>
              <a:buChar char="§"/>
            </a:pPr>
            <a:r>
              <a:rPr lang="en-GB" sz="2200" dirty="0">
                <a:latin typeface="Times New Roman" pitchFamily="18" charset="0"/>
                <a:cs typeface="Times New Roman" pitchFamily="18" charset="0"/>
              </a:rPr>
              <a:t>Bangladesh received</a:t>
            </a:r>
            <a:r>
              <a:rPr lang="en-GB" sz="2200" dirty="0">
                <a:latin typeface="Times New Roman" panose="02020603050405020304" pitchFamily="18" charset="0"/>
              </a:rPr>
              <a:t> ‘</a:t>
            </a:r>
            <a:r>
              <a:rPr lang="en-GB" sz="2200" b="1" dirty="0">
                <a:latin typeface="Times New Roman" panose="02020603050405020304" pitchFamily="18" charset="0"/>
              </a:rPr>
              <a:t>Women in Parliaments Global Forum Award’</a:t>
            </a:r>
            <a:r>
              <a:rPr lang="en-GB" sz="2200" dirty="0">
                <a:latin typeface="Times New Roman" panose="02020603050405020304" pitchFamily="18" charset="0"/>
              </a:rPr>
              <a:t>, as Bangladesh ranked 10</a:t>
            </a:r>
            <a:r>
              <a:rPr lang="en-GB" sz="2200" baseline="30000" dirty="0">
                <a:latin typeface="Times New Roman" panose="02020603050405020304" pitchFamily="18" charset="0"/>
              </a:rPr>
              <a:t>th</a:t>
            </a:r>
            <a:r>
              <a:rPr lang="en-GB" sz="2200" dirty="0">
                <a:latin typeface="Times New Roman" panose="02020603050405020304" pitchFamily="18" charset="0"/>
              </a:rPr>
              <a:t> out of 142 countries in the political sphere.</a:t>
            </a:r>
          </a:p>
          <a:p>
            <a:pPr marL="210174" indent="-210174" algn="justLow">
              <a:lnSpc>
                <a:spcPct val="110000"/>
              </a:lnSpc>
              <a:spcBef>
                <a:spcPts val="544"/>
              </a:spcBef>
              <a:buClr>
                <a:schemeClr val="tx2"/>
              </a:buClr>
              <a:buFont typeface="Wingdings" pitchFamily="2" charset="2"/>
              <a:buChar char="§"/>
            </a:pPr>
            <a:r>
              <a:rPr lang="en-US" sz="2200" dirty="0" err="1">
                <a:latin typeface="Times New Roman" panose="02020603050405020304" pitchFamily="18" charset="0"/>
              </a:rPr>
              <a:t>Hon’ble</a:t>
            </a:r>
            <a:r>
              <a:rPr lang="en-US" sz="2200" dirty="0">
                <a:latin typeface="Times New Roman" panose="02020603050405020304" pitchFamily="18" charset="0"/>
              </a:rPr>
              <a:t> Prime Minister was awarded “</a:t>
            </a:r>
            <a:r>
              <a:rPr lang="en-US" sz="2200" b="1" dirty="0">
                <a:latin typeface="Times New Roman" panose="02020603050405020304" pitchFamily="18" charset="0"/>
              </a:rPr>
              <a:t>Champions of the Earth</a:t>
            </a:r>
            <a:r>
              <a:rPr lang="en-US" sz="2200" dirty="0">
                <a:latin typeface="Times New Roman" panose="02020603050405020304" pitchFamily="18" charset="0"/>
              </a:rPr>
              <a:t>” by UNEP for </a:t>
            </a:r>
            <a:r>
              <a:rPr lang="en-US" sz="2200" i="1" dirty="0">
                <a:latin typeface="Times New Roman" panose="02020603050405020304" pitchFamily="18" charset="0"/>
              </a:rPr>
              <a:t>Policy Leadership</a:t>
            </a:r>
            <a:r>
              <a:rPr lang="en-US" sz="2200" dirty="0">
                <a:latin typeface="Times New Roman" panose="02020603050405020304" pitchFamily="18" charset="0"/>
              </a:rPr>
              <a:t>.</a:t>
            </a:r>
          </a:p>
          <a:p>
            <a:pPr marL="210174" indent="-210174" algn="justLow">
              <a:lnSpc>
                <a:spcPct val="110000"/>
              </a:lnSpc>
              <a:spcBef>
                <a:spcPts val="544"/>
              </a:spcBef>
              <a:buClr>
                <a:schemeClr val="tx2"/>
              </a:buClr>
              <a:buFont typeface="Wingdings" pitchFamily="2" charset="2"/>
              <a:buChar char="§"/>
            </a:pPr>
            <a:r>
              <a:rPr lang="en-GB" sz="2200" dirty="0">
                <a:latin typeface="Times New Roman" panose="02020603050405020304" pitchFamily="18" charset="0"/>
              </a:rPr>
              <a:t>The UN-Women recognised our </a:t>
            </a:r>
            <a:r>
              <a:rPr lang="en-GB" sz="2200" dirty="0" err="1">
                <a:latin typeface="Times New Roman" panose="02020603050405020304" pitchFamily="18" charset="0"/>
              </a:rPr>
              <a:t>Hon’ble</a:t>
            </a:r>
            <a:r>
              <a:rPr lang="en-GB" sz="2200" dirty="0">
                <a:latin typeface="Times New Roman" panose="02020603050405020304" pitchFamily="18" charset="0"/>
              </a:rPr>
              <a:t> Prime Minister as </a:t>
            </a:r>
            <a:r>
              <a:rPr lang="en-GB" sz="2200" b="1" dirty="0">
                <a:latin typeface="Times New Roman" panose="02020603050405020304" pitchFamily="18" charset="0"/>
              </a:rPr>
              <a:t>"Planet 50-50 Champion" </a:t>
            </a:r>
          </a:p>
          <a:p>
            <a:pPr marL="210174" indent="-210174" algn="justLow">
              <a:lnSpc>
                <a:spcPct val="110000"/>
              </a:lnSpc>
              <a:spcBef>
                <a:spcPts val="544"/>
              </a:spcBef>
              <a:buClr>
                <a:schemeClr val="tx2"/>
              </a:buClr>
              <a:buFont typeface="Wingdings" pitchFamily="2" charset="2"/>
              <a:buChar char="§"/>
            </a:pPr>
            <a:r>
              <a:rPr lang="en-GB" sz="2200" dirty="0">
                <a:latin typeface="Times New Roman" panose="02020603050405020304" pitchFamily="18" charset="0"/>
              </a:rPr>
              <a:t>The Global Partnership Forum </a:t>
            </a:r>
            <a:r>
              <a:rPr lang="en-US" sz="2200" dirty="0">
                <a:latin typeface="Times New Roman" panose="02020603050405020304" pitchFamily="18" charset="0"/>
              </a:rPr>
              <a:t>awarded </a:t>
            </a:r>
            <a:r>
              <a:rPr lang="en-GB" sz="2200" dirty="0" err="1">
                <a:latin typeface="Times New Roman" panose="02020603050405020304" pitchFamily="18" charset="0"/>
              </a:rPr>
              <a:t>Hon’ble</a:t>
            </a:r>
            <a:r>
              <a:rPr lang="en-GB" sz="2200" dirty="0">
                <a:latin typeface="Times New Roman" panose="02020603050405020304" pitchFamily="18" charset="0"/>
              </a:rPr>
              <a:t> Prime Minister </a:t>
            </a:r>
            <a:r>
              <a:rPr lang="en-GB" sz="2200" b="1" dirty="0">
                <a:latin typeface="Times New Roman" panose="02020603050405020304" pitchFamily="18" charset="0"/>
              </a:rPr>
              <a:t>"Agent of Change Award" </a:t>
            </a:r>
            <a:r>
              <a:rPr lang="en-GB" sz="2200" dirty="0">
                <a:latin typeface="Times New Roman" panose="02020603050405020304" pitchFamily="18" charset="0"/>
              </a:rPr>
              <a:t>for her outstanding contributions to women empowerment.</a:t>
            </a:r>
            <a:endParaRPr lang="en-US" sz="2200" dirty="0">
              <a:latin typeface="Times New Roman" panose="02020603050405020304" pitchFamily="18" charset="0"/>
            </a:endParaRPr>
          </a:p>
        </p:txBody>
      </p:sp>
      <p:sp>
        <p:nvSpPr>
          <p:cNvPr id="7173" name="Rectangle 2"/>
          <p:cNvSpPr txBox="1">
            <a:spLocks noChangeArrowheads="1"/>
          </p:cNvSpPr>
          <p:nvPr/>
        </p:nvSpPr>
        <p:spPr bwMode="auto">
          <a:xfrm>
            <a:off x="0" y="0"/>
            <a:ext cx="12192000" cy="711200"/>
          </a:xfrm>
          <a:prstGeom prst="rect">
            <a:avLst/>
          </a:prstGeom>
          <a:solidFill>
            <a:schemeClr val="accent5"/>
          </a:solidFill>
          <a:ln w="9525">
            <a:noFill/>
            <a:miter lim="800000"/>
            <a:headEnd/>
            <a:tailEnd/>
          </a:ln>
        </p:spPr>
        <p:txBody>
          <a:bodyPr lIns="94568" tIns="47284" rIns="94568" bIns="47284" anchor="ctr"/>
          <a:lstStyle/>
          <a:p>
            <a:r>
              <a:rPr lang="en-GB" sz="3600" dirty="0"/>
              <a:t>Bangladesh MDGs </a:t>
            </a:r>
            <a:r>
              <a:rPr lang="en-GB" sz="3600" dirty="0" smtClean="0"/>
              <a:t>achievements: </a:t>
            </a:r>
            <a:r>
              <a:rPr lang="en-US" sz="3600" dirty="0" smtClean="0"/>
              <a:t>International </a:t>
            </a:r>
            <a:r>
              <a:rPr lang="en-US" sz="3600" dirty="0"/>
              <a:t>recognition</a:t>
            </a:r>
            <a:endParaRPr lang="en-US" sz="1632" dirty="0"/>
          </a:p>
        </p:txBody>
      </p:sp>
    </p:spTree>
    <p:extLst>
      <p:ext uri="{BB962C8B-B14F-4D97-AF65-F5344CB8AC3E}">
        <p14:creationId xmlns="" xmlns:p14="http://schemas.microsoft.com/office/powerpoint/2010/main" val="250083499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a:xfrm>
            <a:off x="8610600" y="6504709"/>
            <a:ext cx="2743200" cy="216766"/>
          </a:xfrm>
        </p:spPr>
        <p:txBody>
          <a:bodyPr/>
          <a:lstStyle/>
          <a:p>
            <a:pPr>
              <a:defRPr/>
            </a:pPr>
            <a:fld id="{C308967C-B5C0-4FCC-9AF0-D818750DEC4D}" type="slidenum">
              <a:rPr lang="en-US"/>
              <a:pPr>
                <a:defRPr/>
              </a:pPr>
              <a:t>4</a:t>
            </a:fld>
            <a:endParaRPr lang="en-US" dirty="0"/>
          </a:p>
        </p:txBody>
      </p:sp>
      <p:pic>
        <p:nvPicPr>
          <p:cNvPr id="6150" name="Picture 15" descr="2011-09-21__front03"/>
          <p:cNvPicPr>
            <a:picLocks noChangeAspect="1" noChangeArrowheads="1"/>
          </p:cNvPicPr>
          <p:nvPr/>
        </p:nvPicPr>
        <p:blipFill>
          <a:blip r:embed="rId2"/>
          <a:srcRect/>
          <a:stretch>
            <a:fillRect/>
          </a:stretch>
        </p:blipFill>
        <p:spPr bwMode="auto">
          <a:xfrm>
            <a:off x="8038228" y="3768123"/>
            <a:ext cx="3684833" cy="2515969"/>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2" name="Picture 1"/>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7626927" y="342900"/>
            <a:ext cx="4347845" cy="267151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5123" name="Picture 3"/>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249381" y="3735147"/>
            <a:ext cx="4698875" cy="2621204"/>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 xmlns:a14="http://schemas.microsoft.com/office/drawing/2010/main">
                <a:solidFill>
                  <a:schemeClr val="accent1"/>
                </a:solidFill>
              </a14:hiddenFill>
            </a:ext>
          </a:extLst>
        </p:spPr>
      </p:pic>
      <p:pic>
        <p:nvPicPr>
          <p:cNvPr id="5124" name="Picture 4"/>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249381" y="342900"/>
            <a:ext cx="4509655" cy="2464215"/>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 xmlns:a14="http://schemas.microsoft.com/office/drawing/2010/main">
                <a:solidFill>
                  <a:schemeClr val="accent1"/>
                </a:solidFill>
              </a14:hiddenFill>
            </a:ext>
          </a:extLst>
        </p:spPr>
      </p:pic>
      <p:pic>
        <p:nvPicPr>
          <p:cNvPr id="5122" name="Picture 2"/>
          <p:cNvPicPr>
            <a:picLocks noChangeAspect="1" noChangeArrowheads="1"/>
          </p:cNvPicPr>
          <p:nvPr/>
        </p:nvPicPr>
        <p:blipFill>
          <a:blip r:embed="rId6" cstate="print">
            <a:extLst>
              <a:ext uri="{28A0092B-C50C-407E-A947-70E740481C1C}">
                <a14:useLocalDpi xmlns="" xmlns:a14="http://schemas.microsoft.com/office/drawing/2010/main" val="0"/>
              </a:ext>
            </a:extLst>
          </a:blip>
          <a:srcRect/>
          <a:stretch>
            <a:fillRect/>
          </a:stretch>
        </p:blipFill>
        <p:spPr bwMode="auto">
          <a:xfrm>
            <a:off x="4730587" y="1432707"/>
            <a:ext cx="3040322" cy="2861749"/>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 xmlns:a14="http://schemas.microsoft.com/office/drawing/2010/main">
                <a:solidFill>
                  <a:schemeClr val="accent1"/>
                </a:solidFill>
              </a14:hiddenFill>
            </a:ext>
          </a:extLst>
        </p:spPr>
      </p:pic>
    </p:spTree>
    <p:extLst>
      <p:ext uri="{BB962C8B-B14F-4D97-AF65-F5344CB8AC3E}">
        <p14:creationId xmlns="" xmlns:p14="http://schemas.microsoft.com/office/powerpoint/2010/main" val="30758260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a:xfrm>
            <a:off x="11909778" y="6356350"/>
            <a:ext cx="282222" cy="365125"/>
          </a:xfrm>
        </p:spPr>
        <p:txBody>
          <a:bodyPr/>
          <a:lstStyle/>
          <a:p>
            <a:pPr>
              <a:defRPr/>
            </a:pPr>
            <a:fld id="{D81E1FE4-E4AA-49AB-8AA4-AC006BC56417}" type="slidenum">
              <a:rPr lang="en-US"/>
              <a:pPr>
                <a:defRPr/>
              </a:pPr>
              <a:t>5</a:t>
            </a:fld>
            <a:endParaRPr lang="en-US"/>
          </a:p>
        </p:txBody>
      </p:sp>
      <p:pic>
        <p:nvPicPr>
          <p:cNvPr id="9220" name="Picture 3" descr="C:\Documents and Settings\Mahbub_GED\Desktop\thumbnailCANEU9IU.jpg"/>
          <p:cNvPicPr>
            <a:picLocks noChangeAspect="1" noChangeArrowheads="1"/>
          </p:cNvPicPr>
          <p:nvPr/>
        </p:nvPicPr>
        <p:blipFill>
          <a:blip r:embed="rId3"/>
          <a:srcRect/>
          <a:stretch>
            <a:fillRect/>
          </a:stretch>
        </p:blipFill>
        <p:spPr bwMode="auto">
          <a:xfrm>
            <a:off x="0" y="0"/>
            <a:ext cx="1796554" cy="764193"/>
          </a:xfrm>
          <a:prstGeom prst="rect">
            <a:avLst/>
          </a:prstGeom>
          <a:solidFill>
            <a:srgbClr val="EBE591"/>
          </a:solidFill>
          <a:ln w="9525">
            <a:noFill/>
            <a:miter lim="800000"/>
            <a:headEnd/>
            <a:tailEnd/>
          </a:ln>
        </p:spPr>
      </p:pic>
      <p:sp>
        <p:nvSpPr>
          <p:cNvPr id="9221" name="Rectangle 2"/>
          <p:cNvSpPr>
            <a:spLocks noGrp="1" noChangeArrowheads="1"/>
          </p:cNvSpPr>
          <p:nvPr>
            <p:ph type="title" idx="4294967295"/>
          </p:nvPr>
        </p:nvSpPr>
        <p:spPr>
          <a:xfrm>
            <a:off x="1796554" y="1"/>
            <a:ext cx="10395446" cy="764192"/>
          </a:xfrm>
          <a:solidFill>
            <a:schemeClr val="accent5"/>
          </a:solidFill>
        </p:spPr>
        <p:txBody>
          <a:bodyPr vert="horz" lIns="94568" tIns="47284" rIns="94568" bIns="47284" rtlCol="0" anchor="ctr">
            <a:normAutofit/>
          </a:bodyPr>
          <a:lstStyle/>
          <a:p>
            <a:pPr eaLnBrk="1" hangingPunct="1"/>
            <a:r>
              <a:rPr lang="en-US" sz="3264" b="1" dirty="0">
                <a:latin typeface="Times New Roman" pitchFamily="18" charset="0"/>
                <a:cs typeface="Times New Roman" pitchFamily="18" charset="0"/>
              </a:rPr>
              <a:t>Goal 1: Eradicate Extreme Poverty &amp; Hunger</a:t>
            </a:r>
          </a:p>
        </p:txBody>
      </p:sp>
      <p:graphicFrame>
        <p:nvGraphicFramePr>
          <p:cNvPr id="10301" name="Group 61"/>
          <p:cNvGraphicFramePr>
            <a:graphicFrameLocks noGrp="1"/>
          </p:cNvGraphicFramePr>
          <p:nvPr>
            <p:extLst>
              <p:ext uri="{D42A27DB-BD31-4B8C-83A1-F6EECF244321}">
                <p14:modId xmlns="" xmlns:p14="http://schemas.microsoft.com/office/powerpoint/2010/main" val="1266908608"/>
              </p:ext>
            </p:extLst>
          </p:nvPr>
        </p:nvGraphicFramePr>
        <p:xfrm>
          <a:off x="4696180" y="764193"/>
          <a:ext cx="7495820" cy="5533375"/>
        </p:xfrm>
        <a:graphic>
          <a:graphicData uri="http://schemas.openxmlformats.org/drawingml/2006/table">
            <a:tbl>
              <a:tblPr/>
              <a:tblGrid>
                <a:gridCol w="3654213"/>
                <a:gridCol w="1037205"/>
                <a:gridCol w="1090415"/>
                <a:gridCol w="777011"/>
                <a:gridCol w="936976"/>
              </a:tblGrid>
              <a:tr h="946239">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defRPr/>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Targets Achieved</a:t>
                      </a:r>
                    </a:p>
                  </a:txBody>
                  <a:tcPr marL="96924" marR="96924" marT="45722" marB="4572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D74F"/>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Base Year</a:t>
                      </a:r>
                    </a:p>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1990-91</a:t>
                      </a:r>
                    </a:p>
                  </a:txBody>
                  <a:tcPr marL="96924" marR="96924"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D74F"/>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Current Status </a:t>
                      </a:r>
                    </a:p>
                  </a:txBody>
                  <a:tcPr marL="96924" marR="96924"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D74F"/>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Target 2015</a:t>
                      </a:r>
                    </a:p>
                  </a:txBody>
                  <a:tcPr marL="96924" marR="96924"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D74F"/>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Status</a:t>
                      </a:r>
                    </a:p>
                  </a:txBody>
                  <a:tcPr marL="96924" marR="96924" marT="45722" marB="4572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D74F"/>
                    </a:solidFill>
                  </a:tcPr>
                </a:tc>
              </a:tr>
              <a:tr h="1312009">
                <a:tc>
                  <a:txBody>
                    <a:bodyPr/>
                    <a:lstStyle/>
                    <a:p>
                      <a:pPr marL="0" marR="0" lvl="0" indent="0" algn="l" defTabSz="914400" rtl="0" eaLnBrk="1" fontAlgn="base" latinLnBrk="0" hangingPunct="1">
                        <a:lnSpc>
                          <a:spcPct val="100000"/>
                        </a:lnSpc>
                        <a:spcBef>
                          <a:spcPts val="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Proportion of people below national upper poverty line  (%) </a:t>
                      </a:r>
                    </a:p>
                    <a:p>
                      <a:pPr marL="0" marR="0" lvl="0" indent="0" algn="l" defTabSz="914400" rtl="0" eaLnBrk="1" fontAlgn="base" latinLnBrk="0" hangingPunct="1">
                        <a:lnSpc>
                          <a:spcPct val="100000"/>
                        </a:lnSpc>
                        <a:spcBef>
                          <a:spcPts val="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(Cost of Basic Need=</a:t>
                      </a:r>
                      <a:r>
                        <a:rPr kumimoji="0" lang="en-US" sz="1800" b="0" i="0" u="none" strike="noStrike" cap="none" normalizeH="0" baseline="0" dirty="0" err="1" smtClean="0">
                          <a:ln>
                            <a:noFill/>
                          </a:ln>
                          <a:solidFill>
                            <a:schemeClr val="tx1"/>
                          </a:solidFill>
                          <a:effectLst/>
                          <a:latin typeface="Times New Roman" pitchFamily="18" charset="0"/>
                          <a:cs typeface="Times New Roman" pitchFamily="18" charset="0"/>
                        </a:rPr>
                        <a:t>CBN</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 method)</a:t>
                      </a:r>
                    </a:p>
                  </a:txBody>
                  <a:tcPr marL="96924" marR="96924" marT="45722" marB="4572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56.7</a:t>
                      </a:r>
                    </a:p>
                  </a:txBody>
                  <a:tcPr marL="96924" marR="96924"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lang="en-GB" sz="1800" b="1" kern="1200" dirty="0" smtClean="0">
                          <a:solidFill>
                            <a:schemeClr val="tx1"/>
                          </a:solidFill>
                          <a:effectLst/>
                          <a:latin typeface="+mn-lt"/>
                          <a:ea typeface="+mn-ea"/>
                          <a:cs typeface="+mn-cs"/>
                        </a:rPr>
                        <a:t>24.8</a:t>
                      </a:r>
                      <a:r>
                        <a:rPr lang="en-GB" sz="1800" kern="1200" dirty="0" smtClean="0">
                          <a:solidFill>
                            <a:schemeClr val="tx1"/>
                          </a:solidFill>
                          <a:effectLst/>
                          <a:latin typeface="+mn-lt"/>
                          <a:ea typeface="+mn-ea"/>
                          <a:cs typeface="+mn-cs"/>
                        </a:rPr>
                        <a:t> </a:t>
                      </a:r>
                    </a:p>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lang="en-GB" sz="1100" kern="1200" dirty="0" smtClean="0">
                          <a:solidFill>
                            <a:schemeClr val="tx1"/>
                          </a:solidFill>
                          <a:effectLst/>
                          <a:latin typeface="+mn-lt"/>
                          <a:ea typeface="+mn-ea"/>
                          <a:cs typeface="+mn-cs"/>
                        </a:rPr>
                        <a:t>(</a:t>
                      </a:r>
                      <a:r>
                        <a:rPr lang="en-GB" sz="1100" kern="1200" dirty="0" err="1" smtClean="0">
                          <a:solidFill>
                            <a:schemeClr val="tx1"/>
                          </a:solidFill>
                          <a:effectLst/>
                          <a:latin typeface="+mn-lt"/>
                          <a:ea typeface="+mn-ea"/>
                          <a:cs typeface="+mn-cs"/>
                        </a:rPr>
                        <a:t>GED</a:t>
                      </a:r>
                      <a:r>
                        <a:rPr lang="en-GB" sz="1100" kern="1200" dirty="0" smtClean="0">
                          <a:solidFill>
                            <a:schemeClr val="tx1"/>
                          </a:solidFill>
                          <a:effectLst/>
                          <a:latin typeface="+mn-lt"/>
                          <a:ea typeface="+mn-ea"/>
                          <a:cs typeface="+mn-cs"/>
                        </a:rPr>
                        <a:t> 2015)</a:t>
                      </a:r>
                      <a:endParaRPr kumimoji="0" lang="en-US" sz="18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96924" marR="96924"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29.0</a:t>
                      </a:r>
                    </a:p>
                  </a:txBody>
                  <a:tcPr marL="96924" marR="96924"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lang="en-US" sz="1800" b="1" dirty="0" smtClean="0">
                          <a:solidFill>
                            <a:srgbClr val="0033CC"/>
                          </a:solidFill>
                          <a:sym typeface="Symbol" pitchFamily="18" charset="2"/>
                        </a:rPr>
                        <a:t>Goal met</a:t>
                      </a:r>
                      <a:endParaRPr kumimoji="0" lang="en-US" sz="2400" b="1" i="0" u="none" strike="noStrike" cap="none" normalizeH="0" baseline="0" dirty="0" smtClean="0">
                        <a:ln>
                          <a:noFill/>
                        </a:ln>
                        <a:solidFill>
                          <a:schemeClr val="tx1"/>
                        </a:solidFill>
                        <a:effectLst/>
                        <a:latin typeface="Times New Roman" pitchFamily="18" charset="0"/>
                        <a:cs typeface="Times New Roman" pitchFamily="18" charset="0"/>
                      </a:endParaRPr>
                    </a:p>
                  </a:txBody>
                  <a:tcPr marL="96924" marR="96924" marT="45722" marB="4572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solidFill>
                  </a:tcPr>
                </a:tc>
              </a:tr>
              <a:tr h="898530">
                <a:tc>
                  <a:txBody>
                    <a:bodyPr/>
                    <a:lstStyle/>
                    <a:p>
                      <a:pPr marL="0" marR="0" lvl="0" indent="0" algn="l" defTabSz="914400" rtl="0" eaLnBrk="1" fontAlgn="base" latinLnBrk="0" hangingPunct="1">
                        <a:lnSpc>
                          <a:spcPct val="100000"/>
                        </a:lnSpc>
                        <a:spcBef>
                          <a:spcPts val="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Poverty gap ratio (%)</a:t>
                      </a:r>
                    </a:p>
                  </a:txBody>
                  <a:tcPr marL="96924" marR="96924" marT="45722" marB="4572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D74F"/>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17.0</a:t>
                      </a:r>
                    </a:p>
                  </a:txBody>
                  <a:tcPr marL="96924" marR="96924"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D74F"/>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6.5 </a:t>
                      </a:r>
                    </a:p>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lang="en-GB" sz="1400" kern="1200" dirty="0" smtClean="0">
                          <a:solidFill>
                            <a:schemeClr val="tx1"/>
                          </a:solidFill>
                          <a:effectLst/>
                          <a:latin typeface="+mn-lt"/>
                          <a:ea typeface="+mn-ea"/>
                          <a:cs typeface="+mn-cs"/>
                        </a:rPr>
                        <a:t>(</a:t>
                      </a:r>
                      <a:r>
                        <a:rPr lang="en-GB" sz="1400" kern="1200" dirty="0" err="1" smtClean="0">
                          <a:solidFill>
                            <a:schemeClr val="tx1"/>
                          </a:solidFill>
                          <a:effectLst/>
                          <a:latin typeface="+mn-lt"/>
                          <a:ea typeface="+mn-ea"/>
                          <a:cs typeface="+mn-cs"/>
                        </a:rPr>
                        <a:t>HIES</a:t>
                      </a:r>
                      <a:r>
                        <a:rPr lang="en-GB" sz="1400" kern="1200" dirty="0" smtClean="0">
                          <a:solidFill>
                            <a:schemeClr val="tx1"/>
                          </a:solidFill>
                          <a:effectLst/>
                          <a:latin typeface="+mn-lt"/>
                          <a:ea typeface="+mn-ea"/>
                          <a:cs typeface="+mn-cs"/>
                        </a:rPr>
                        <a:t> 2010)</a:t>
                      </a:r>
                      <a:endParaRPr kumimoji="0" lang="en-US" sz="18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96924" marR="96924"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D74F"/>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8.0</a:t>
                      </a:r>
                    </a:p>
                  </a:txBody>
                  <a:tcPr marL="96924" marR="96924"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D74F"/>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lang="en-US" sz="1800" b="1" dirty="0" smtClean="0">
                          <a:solidFill>
                            <a:srgbClr val="0033CC"/>
                          </a:solidFill>
                          <a:sym typeface="Symbol" pitchFamily="18" charset="2"/>
                        </a:rPr>
                        <a:t>Goal met</a:t>
                      </a:r>
                      <a:endParaRPr kumimoji="0" lang="en-US" sz="2400" b="1" i="0" u="none" strike="noStrike" cap="none" normalizeH="0" baseline="0" dirty="0" smtClean="0">
                        <a:ln>
                          <a:noFill/>
                        </a:ln>
                        <a:solidFill>
                          <a:schemeClr val="tx1"/>
                        </a:solidFill>
                        <a:effectLst/>
                        <a:latin typeface="Times New Roman" pitchFamily="18" charset="0"/>
                        <a:cs typeface="Times New Roman" pitchFamily="18" charset="0"/>
                      </a:endParaRPr>
                    </a:p>
                  </a:txBody>
                  <a:tcPr marL="96924" marR="96924" marT="45722" marB="4572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D74F"/>
                    </a:solidFill>
                  </a:tcPr>
                </a:tc>
              </a:tr>
              <a:tr h="1013827">
                <a:tc>
                  <a:txBody>
                    <a:bodyPr/>
                    <a:lstStyle/>
                    <a:p>
                      <a:pPr marL="0" marR="0" lvl="0" indent="0" algn="l" defTabSz="914400" rtl="0" eaLnBrk="1" fontAlgn="base" latinLnBrk="0" hangingPunct="1">
                        <a:lnSpc>
                          <a:spcPct val="100000"/>
                        </a:lnSpc>
                        <a:spcBef>
                          <a:spcPts val="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Prevalence of underweight children  under –five years of age  (6-59 months), (%)</a:t>
                      </a:r>
                    </a:p>
                  </a:txBody>
                  <a:tcPr marL="96924" marR="96924" marT="45722" marB="4572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66.0</a:t>
                      </a:r>
                    </a:p>
                  </a:txBody>
                  <a:tcPr marL="96924" marR="96924"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p>
                      <a:pPr algn="ctr"/>
                      <a:r>
                        <a:rPr lang="en-GB" sz="1800" b="1" kern="1200" dirty="0" smtClean="0">
                          <a:solidFill>
                            <a:schemeClr val="tx1"/>
                          </a:solidFill>
                          <a:effectLst/>
                          <a:latin typeface="+mn-lt"/>
                          <a:ea typeface="+mn-ea"/>
                          <a:cs typeface="+mn-cs"/>
                        </a:rPr>
                        <a:t>32.6</a:t>
                      </a:r>
                    </a:p>
                    <a:p>
                      <a:pPr algn="ctr"/>
                      <a:r>
                        <a:rPr lang="en-GB" sz="1400" kern="1200" dirty="0" smtClean="0">
                          <a:solidFill>
                            <a:schemeClr val="tx1"/>
                          </a:solidFill>
                          <a:effectLst/>
                          <a:latin typeface="+mn-lt"/>
                          <a:ea typeface="+mn-ea"/>
                          <a:cs typeface="+mn-cs"/>
                        </a:rPr>
                        <a:t>(</a:t>
                      </a:r>
                      <a:r>
                        <a:rPr lang="en-GB" sz="1400" kern="1200" dirty="0" err="1" smtClean="0">
                          <a:solidFill>
                            <a:schemeClr val="tx1"/>
                          </a:solidFill>
                          <a:effectLst/>
                          <a:latin typeface="+mn-lt"/>
                          <a:ea typeface="+mn-ea"/>
                          <a:cs typeface="+mn-cs"/>
                        </a:rPr>
                        <a:t>BDHS2014</a:t>
                      </a:r>
                      <a:r>
                        <a:rPr lang="en-GB" sz="1400" kern="1200" dirty="0" smtClean="0">
                          <a:solidFill>
                            <a:schemeClr val="tx1"/>
                          </a:solidFill>
                          <a:effectLst/>
                          <a:latin typeface="+mn-lt"/>
                          <a:ea typeface="+mn-ea"/>
                          <a:cs typeface="+mn-cs"/>
                        </a:rPr>
                        <a:t>)</a:t>
                      </a:r>
                      <a:endParaRPr lang="en-US" sz="1400" kern="1200" dirty="0">
                        <a:solidFill>
                          <a:schemeClr val="tx1"/>
                        </a:solidFill>
                        <a:effectLst/>
                        <a:latin typeface="+mn-lt"/>
                        <a:ea typeface="+mn-ea"/>
                        <a:cs typeface="+mn-cs"/>
                      </a:endParaRPr>
                    </a:p>
                  </a:txBody>
                  <a:tcPr marL="96924" marR="96924"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33.0</a:t>
                      </a:r>
                    </a:p>
                  </a:txBody>
                  <a:tcPr marL="96924" marR="96924"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lang="en-US" sz="1800" b="1" dirty="0" smtClean="0">
                          <a:solidFill>
                            <a:srgbClr val="0033CC"/>
                          </a:solidFill>
                          <a:sym typeface="Symbol" pitchFamily="18" charset="2"/>
                        </a:rPr>
                        <a:t>Goal met</a:t>
                      </a:r>
                      <a:endParaRPr kumimoji="0" lang="en-US" sz="2400" b="1" i="0" u="none" strike="noStrike" cap="none" normalizeH="0" baseline="0" dirty="0" smtClean="0">
                        <a:ln>
                          <a:noFill/>
                        </a:ln>
                        <a:solidFill>
                          <a:schemeClr val="tx1"/>
                        </a:solidFill>
                        <a:effectLst/>
                        <a:latin typeface="Times New Roman" pitchFamily="18" charset="0"/>
                        <a:cs typeface="Times New Roman" pitchFamily="18" charset="0"/>
                      </a:endParaRPr>
                    </a:p>
                  </a:txBody>
                  <a:tcPr marL="96924" marR="96924" marT="45722" marB="4572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r>
              <a:tr h="1362770">
                <a:tc>
                  <a:txBody>
                    <a:bodyPr/>
                    <a:lstStyle/>
                    <a:p>
                      <a:pPr marL="0" marR="0" lvl="0" indent="0" algn="l" defTabSz="914400" rtl="0" eaLnBrk="1" fontAlgn="base" latinLnBrk="0" hangingPunct="1">
                        <a:lnSpc>
                          <a:spcPct val="100000"/>
                        </a:lnSpc>
                        <a:spcBef>
                          <a:spcPts val="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 of people below minimum level of dietary energy consumption (1805 kcal/day) </a:t>
                      </a:r>
                    </a:p>
                    <a:p>
                      <a:pPr marL="0" marR="0" lvl="0" indent="0" algn="l" defTabSz="914400" rtl="0" eaLnBrk="1" fontAlgn="base" latinLnBrk="0" hangingPunct="1">
                        <a:lnSpc>
                          <a:spcPct val="100000"/>
                        </a:lnSpc>
                        <a:spcBef>
                          <a:spcPts val="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(Direct Calorie Intake = DCI)</a:t>
                      </a:r>
                    </a:p>
                  </a:txBody>
                  <a:tcPr marL="96924" marR="96924" marT="45722" marB="4572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28.0</a:t>
                      </a:r>
                    </a:p>
                  </a:txBody>
                  <a:tcPr marL="96924" marR="96924"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lang="en-GB" sz="1800" b="1" kern="1200" dirty="0" smtClean="0">
                          <a:solidFill>
                            <a:schemeClr val="tx1"/>
                          </a:solidFill>
                          <a:effectLst/>
                          <a:latin typeface="+mn-lt"/>
                          <a:ea typeface="+mn-ea"/>
                          <a:cs typeface="+mn-cs"/>
                        </a:rPr>
                        <a:t>16.4</a:t>
                      </a:r>
                      <a:r>
                        <a:rPr lang="en-GB" sz="1800" kern="1200" dirty="0" smtClean="0">
                          <a:solidFill>
                            <a:schemeClr val="tx1"/>
                          </a:solidFill>
                          <a:effectLst/>
                          <a:latin typeface="+mn-lt"/>
                          <a:ea typeface="+mn-ea"/>
                          <a:cs typeface="+mn-cs"/>
                        </a:rPr>
                        <a:t> </a:t>
                      </a:r>
                      <a:r>
                        <a:rPr lang="en-GB" sz="1400" kern="1200" dirty="0" smtClean="0">
                          <a:solidFill>
                            <a:schemeClr val="tx1"/>
                          </a:solidFill>
                          <a:effectLst/>
                          <a:latin typeface="+mn-lt"/>
                          <a:ea typeface="+mn-ea"/>
                          <a:cs typeface="+mn-cs"/>
                        </a:rPr>
                        <a:t>(Estimate for 2015 by </a:t>
                      </a:r>
                      <a:r>
                        <a:rPr lang="en-GB" sz="1400" kern="1200" dirty="0" err="1" smtClean="0">
                          <a:solidFill>
                            <a:schemeClr val="tx1"/>
                          </a:solidFill>
                          <a:effectLst/>
                          <a:latin typeface="+mn-lt"/>
                          <a:ea typeface="+mn-ea"/>
                          <a:cs typeface="+mn-cs"/>
                        </a:rPr>
                        <a:t>UNSD</a:t>
                      </a:r>
                      <a:r>
                        <a:rPr lang="en-GB" sz="1400" kern="1200" dirty="0" smtClean="0">
                          <a:solidFill>
                            <a:schemeClr val="tx1"/>
                          </a:solidFill>
                          <a:effectLst/>
                          <a:latin typeface="+mn-lt"/>
                          <a:ea typeface="+mn-ea"/>
                          <a:cs typeface="+mn-cs"/>
                        </a:rPr>
                        <a:t>)</a:t>
                      </a:r>
                      <a:endParaRPr kumimoji="0" lang="en-US" sz="18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96924" marR="96924"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14.0</a:t>
                      </a:r>
                    </a:p>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18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96924" marR="96924"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lang="en-US" sz="1800" b="1" dirty="0" smtClean="0">
                          <a:solidFill>
                            <a:srgbClr val="0033CC"/>
                          </a:solidFill>
                          <a:sym typeface="Symbol" pitchFamily="18" charset="2"/>
                        </a:rPr>
                        <a:t>On Track</a:t>
                      </a:r>
                      <a:endParaRPr kumimoji="0" lang="en-US" sz="2400" b="1" i="0" u="none" strike="noStrike" cap="none" normalizeH="0" baseline="0" dirty="0" smtClean="0">
                        <a:ln>
                          <a:noFill/>
                        </a:ln>
                        <a:solidFill>
                          <a:schemeClr val="tx1"/>
                        </a:solidFill>
                        <a:effectLst/>
                        <a:latin typeface="Times New Roman" pitchFamily="18" charset="0"/>
                        <a:cs typeface="Times New Roman" pitchFamily="18" charset="0"/>
                      </a:endParaRPr>
                    </a:p>
                  </a:txBody>
                  <a:tcPr marL="96924" marR="96924" marT="45722" marB="4572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r>
            </a:tbl>
          </a:graphicData>
        </a:graphic>
      </p:graphicFrame>
      <p:sp>
        <p:nvSpPr>
          <p:cNvPr id="2" name="Rectangle 1"/>
          <p:cNvSpPr/>
          <p:nvPr/>
        </p:nvSpPr>
        <p:spPr>
          <a:xfrm>
            <a:off x="1" y="787358"/>
            <a:ext cx="4696178" cy="5570756"/>
          </a:xfrm>
          <a:prstGeom prst="rect">
            <a:avLst/>
          </a:prstGeom>
          <a:solidFill>
            <a:schemeClr val="bg2"/>
          </a:solidFill>
        </p:spPr>
        <p:txBody>
          <a:bodyPr wrap="square">
            <a:spAutoFit/>
          </a:bodyPr>
          <a:lstStyle/>
          <a:p>
            <a:pPr marL="310942" indent="-310942">
              <a:spcBef>
                <a:spcPts val="600"/>
              </a:spcBef>
              <a:spcAft>
                <a:spcPts val="600"/>
              </a:spcAft>
              <a:buFont typeface="Wingdings" pitchFamily="2" charset="2"/>
              <a:buChar char="§"/>
            </a:pPr>
            <a:r>
              <a:rPr lang="en-GB" sz="2400" dirty="0"/>
              <a:t>With sustained GDP growth rate of over </a:t>
            </a:r>
            <a:r>
              <a:rPr lang="en-GB" sz="2400" dirty="0" smtClean="0"/>
              <a:t>6%, </a:t>
            </a:r>
            <a:r>
              <a:rPr lang="en-GB" sz="2400" dirty="0"/>
              <a:t>the MDG target of halving the population living under the poverty line (from 56.7% to 29%) was achieved by </a:t>
            </a:r>
            <a:r>
              <a:rPr lang="en-GB" sz="2400" dirty="0" smtClean="0"/>
              <a:t>2012, </a:t>
            </a:r>
            <a:r>
              <a:rPr lang="en-GB" sz="2400" dirty="0"/>
              <a:t>three years ahead of the target date.</a:t>
            </a:r>
          </a:p>
          <a:p>
            <a:pPr marL="310942" indent="-310942">
              <a:spcBef>
                <a:spcPts val="600"/>
              </a:spcBef>
              <a:spcAft>
                <a:spcPts val="600"/>
              </a:spcAft>
              <a:buFont typeface="Wingdings" pitchFamily="2" charset="2"/>
              <a:buChar char="§"/>
            </a:pPr>
            <a:r>
              <a:rPr lang="en-GB" sz="2400" dirty="0"/>
              <a:t>The social protection allocation was increased from 1.98% of GDP in FY 09 to 2.30% in FY 15. </a:t>
            </a:r>
            <a:endParaRPr lang="en-US" sz="2400" dirty="0"/>
          </a:p>
          <a:p>
            <a:pPr marL="310942" indent="-310942">
              <a:spcBef>
                <a:spcPts val="600"/>
              </a:spcBef>
              <a:spcAft>
                <a:spcPts val="600"/>
              </a:spcAft>
              <a:buFont typeface="Wingdings" pitchFamily="2" charset="2"/>
              <a:buChar char="§"/>
            </a:pPr>
            <a:r>
              <a:rPr lang="en-GB" sz="2400" dirty="0"/>
              <a:t>Half of the total budget expenditure has been related to poverty reduction for the last seven years.</a:t>
            </a:r>
            <a:endParaRPr lang="en-US" sz="2400" dirty="0"/>
          </a:p>
        </p:txBody>
      </p:sp>
    </p:spTree>
    <p:extLst>
      <p:ext uri="{BB962C8B-B14F-4D97-AF65-F5344CB8AC3E}">
        <p14:creationId xmlns="" xmlns:p14="http://schemas.microsoft.com/office/powerpoint/2010/main" val="32434672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pPr>
              <a:defRPr/>
            </a:pPr>
            <a:fld id="{B8160AB6-41C4-48CD-86F7-3E40BE970E2C}" type="slidenum">
              <a:rPr lang="en-US"/>
              <a:pPr>
                <a:defRPr/>
              </a:pPr>
              <a:t>6</a:t>
            </a:fld>
            <a:endParaRPr lang="en-US"/>
          </a:p>
        </p:txBody>
      </p:sp>
      <p:sp>
        <p:nvSpPr>
          <p:cNvPr id="14340" name="Rectangle 2"/>
          <p:cNvSpPr>
            <a:spLocks noGrp="1" noChangeArrowheads="1"/>
          </p:cNvSpPr>
          <p:nvPr>
            <p:ph type="title" idx="4294967295"/>
          </p:nvPr>
        </p:nvSpPr>
        <p:spPr>
          <a:xfrm>
            <a:off x="1831638" y="0"/>
            <a:ext cx="10360362" cy="1069146"/>
          </a:xfrm>
          <a:solidFill>
            <a:schemeClr val="accent5"/>
          </a:solidFill>
        </p:spPr>
        <p:txBody>
          <a:bodyPr vert="horz" lIns="94568" tIns="47284" rIns="94568" bIns="47284" rtlCol="0" anchor="ctr">
            <a:normAutofit/>
          </a:bodyPr>
          <a:lstStyle/>
          <a:p>
            <a:pPr eaLnBrk="1" hangingPunct="1"/>
            <a:r>
              <a:rPr lang="en-US" sz="3264" b="1" dirty="0">
                <a:latin typeface="Times New Roman" pitchFamily="18" charset="0"/>
                <a:cs typeface="Times New Roman" pitchFamily="18" charset="0"/>
              </a:rPr>
              <a:t>Goal 2: Achieve Universal Primary Education</a:t>
            </a:r>
          </a:p>
        </p:txBody>
      </p:sp>
      <p:graphicFrame>
        <p:nvGraphicFramePr>
          <p:cNvPr id="81960" name="Group 40"/>
          <p:cNvGraphicFramePr>
            <a:graphicFrameLocks noGrp="1"/>
          </p:cNvGraphicFramePr>
          <p:nvPr>
            <p:extLst>
              <p:ext uri="{D42A27DB-BD31-4B8C-83A1-F6EECF244321}">
                <p14:modId xmlns="" xmlns:p14="http://schemas.microsoft.com/office/powerpoint/2010/main" val="2343834774"/>
              </p:ext>
            </p:extLst>
          </p:nvPr>
        </p:nvGraphicFramePr>
        <p:xfrm>
          <a:off x="4955821" y="1069145"/>
          <a:ext cx="7236178" cy="5287204"/>
        </p:xfrm>
        <a:graphic>
          <a:graphicData uri="http://schemas.openxmlformats.org/drawingml/2006/table">
            <a:tbl>
              <a:tblPr/>
              <a:tblGrid>
                <a:gridCol w="2839512"/>
                <a:gridCol w="915972"/>
                <a:gridCol w="1390790"/>
                <a:gridCol w="1082334"/>
                <a:gridCol w="1007570"/>
              </a:tblGrid>
              <a:tr h="1120496">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defRPr/>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Targets Achieved</a:t>
                      </a:r>
                    </a:p>
                  </a:txBody>
                  <a:tcPr marL="96924" marR="9692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FE210"/>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Base Year</a:t>
                      </a: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FE210"/>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Current Status</a:t>
                      </a: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FE210"/>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Target 2015</a:t>
                      </a: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FE210"/>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Status</a:t>
                      </a:r>
                    </a:p>
                  </a:txBody>
                  <a:tcPr marL="96924" marR="9692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FE210"/>
                    </a:solidFill>
                  </a:tcPr>
                </a:tc>
              </a:tr>
              <a:tr h="1361649">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Net Enrolment Ratio in Primary Education (%)</a:t>
                      </a:r>
                    </a:p>
                  </a:txBody>
                  <a:tcPr marL="96924" marR="9692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60.5</a:t>
                      </a: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lang="en-GB" sz="1800" b="1" kern="1200" dirty="0" smtClean="0">
                          <a:solidFill>
                            <a:schemeClr val="tx1"/>
                          </a:solidFill>
                          <a:effectLst/>
                          <a:latin typeface="+mn-lt"/>
                          <a:ea typeface="+mn-ea"/>
                          <a:cs typeface="+mn-cs"/>
                        </a:rPr>
                        <a:t>98</a:t>
                      </a:r>
                      <a:r>
                        <a:rPr lang="en-GB" sz="1800" kern="1200" dirty="0" smtClean="0">
                          <a:solidFill>
                            <a:schemeClr val="tx1"/>
                          </a:solidFill>
                          <a:effectLst/>
                          <a:latin typeface="+mn-lt"/>
                          <a:ea typeface="+mn-ea"/>
                          <a:cs typeface="+mn-cs"/>
                        </a:rPr>
                        <a:t> </a:t>
                      </a:r>
                    </a:p>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lang="en-GB" sz="1800" kern="1200" dirty="0" smtClean="0">
                          <a:solidFill>
                            <a:schemeClr val="tx1"/>
                          </a:solidFill>
                          <a:effectLst/>
                          <a:latin typeface="+mn-lt"/>
                          <a:ea typeface="+mn-ea"/>
                          <a:cs typeface="+mn-cs"/>
                        </a:rPr>
                        <a:t>(2015, DPE)</a:t>
                      </a:r>
                      <a:endParaRPr kumimoji="0" lang="en-US" sz="2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100.0</a:t>
                      </a: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lang="en-US" sz="1800" b="1" dirty="0" smtClean="0">
                          <a:solidFill>
                            <a:srgbClr val="0033CC"/>
                          </a:solidFill>
                          <a:sym typeface="Symbol" pitchFamily="18" charset="2"/>
                        </a:rPr>
                        <a:t>Goal met</a:t>
                      </a:r>
                      <a:endParaRPr kumimoji="0" lang="en-US" sz="2400" b="1" i="0" u="none" strike="noStrike" cap="none" normalizeH="0" baseline="0" dirty="0" smtClean="0">
                        <a:ln>
                          <a:noFill/>
                        </a:ln>
                        <a:solidFill>
                          <a:schemeClr val="tx1"/>
                        </a:solidFill>
                        <a:effectLst/>
                        <a:latin typeface="Times New Roman" pitchFamily="18" charset="0"/>
                        <a:cs typeface="Times New Roman" pitchFamily="18" charset="0"/>
                      </a:endParaRPr>
                    </a:p>
                  </a:txBody>
                  <a:tcPr marL="96924" marR="9692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r>
              <a:tr h="1443410">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Proportion of pupils starting grade 1 who reach grade 5 (%) </a:t>
                      </a:r>
                    </a:p>
                  </a:txBody>
                  <a:tcPr marL="96924" marR="969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43.0</a:t>
                      </a:r>
                    </a:p>
                  </a:txBody>
                  <a:tcPr marL="96924" marR="969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lang="en-GB" sz="1800" b="1" kern="1200" dirty="0" smtClean="0">
                          <a:solidFill>
                            <a:schemeClr val="tx1"/>
                          </a:solidFill>
                          <a:effectLst/>
                          <a:latin typeface="+mn-lt"/>
                          <a:ea typeface="+mn-ea"/>
                          <a:cs typeface="+mn-cs"/>
                        </a:rPr>
                        <a:t>81.3 </a:t>
                      </a:r>
                    </a:p>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lang="en-GB" sz="1800" kern="1200" dirty="0" smtClean="0">
                          <a:solidFill>
                            <a:schemeClr val="tx1"/>
                          </a:solidFill>
                          <a:effectLst/>
                          <a:latin typeface="+mn-lt"/>
                          <a:ea typeface="+mn-ea"/>
                          <a:cs typeface="+mn-cs"/>
                        </a:rPr>
                        <a:t>(2015, DPE)</a:t>
                      </a:r>
                      <a:endParaRPr kumimoji="0" lang="en-US" sz="28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96924" marR="969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100.0</a:t>
                      </a:r>
                    </a:p>
                  </a:txBody>
                  <a:tcPr marL="96924" marR="969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600" b="1" i="0" u="none" strike="noStrike" cap="none" normalizeH="0" baseline="0" dirty="0" smtClean="0">
                          <a:ln>
                            <a:noFill/>
                          </a:ln>
                          <a:solidFill>
                            <a:srgbClr val="0033CC"/>
                          </a:solidFill>
                          <a:effectLst/>
                          <a:latin typeface="Times New Roman" pitchFamily="18" charset="0"/>
                          <a:cs typeface="Times New Roman" pitchFamily="18" charset="0"/>
                          <a:sym typeface="Symbol" pitchFamily="18" charset="2"/>
                        </a:rPr>
                        <a:t>Substantial Achievement</a:t>
                      </a:r>
                      <a:endParaRPr kumimoji="0" lang="en-US" sz="2000" b="1" i="0" u="none" strike="noStrike" cap="none" normalizeH="0" baseline="0" dirty="0" smtClean="0">
                        <a:ln>
                          <a:noFill/>
                        </a:ln>
                        <a:solidFill>
                          <a:schemeClr val="tx1"/>
                        </a:solidFill>
                        <a:effectLst/>
                        <a:latin typeface="Times New Roman" pitchFamily="18" charset="0"/>
                        <a:cs typeface="Times New Roman" pitchFamily="18" charset="0"/>
                      </a:endParaRPr>
                    </a:p>
                  </a:txBody>
                  <a:tcPr marL="96924" marR="9692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r>
              <a:tr h="1361649">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lang="en-GB" sz="2000" kern="1200" dirty="0" smtClean="0">
                          <a:solidFill>
                            <a:schemeClr val="tx1"/>
                          </a:solidFill>
                          <a:effectLst/>
                          <a:latin typeface="Times New Roman" panose="02020603050405020304" pitchFamily="18" charset="0"/>
                          <a:ea typeface="+mn-ea"/>
                          <a:cs typeface="+mn-cs"/>
                        </a:rPr>
                        <a:t>Literacy rate of 15-24 year olds, women and men, %</a:t>
                      </a:r>
                      <a:endParaRPr kumimoji="0" lang="en-US" sz="2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96924" marR="969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a:t>
                      </a:r>
                    </a:p>
                  </a:txBody>
                  <a:tcPr marL="96924" marR="969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lang="en-GB" sz="1800" b="1" kern="1200" dirty="0" smtClean="0">
                          <a:solidFill>
                            <a:schemeClr val="tx1"/>
                          </a:solidFill>
                          <a:effectLst/>
                          <a:latin typeface="+mn-lt"/>
                          <a:ea typeface="+mn-ea"/>
                          <a:cs typeface="+mn-cs"/>
                        </a:rPr>
                        <a:t>75.4</a:t>
                      </a:r>
                      <a:r>
                        <a:rPr lang="en-GB" sz="1800" kern="1200" dirty="0" smtClean="0">
                          <a:solidFill>
                            <a:schemeClr val="tx1"/>
                          </a:solidFill>
                          <a:effectLst/>
                          <a:latin typeface="+mn-lt"/>
                          <a:ea typeface="+mn-ea"/>
                          <a:cs typeface="+mn-cs"/>
                        </a:rPr>
                        <a:t> (Pop. </a:t>
                      </a:r>
                      <a:r>
                        <a:rPr lang="en-GB" sz="1800" kern="1200" dirty="0" err="1" smtClean="0">
                          <a:solidFill>
                            <a:schemeClr val="tx1"/>
                          </a:solidFill>
                          <a:effectLst/>
                          <a:latin typeface="+mn-lt"/>
                          <a:ea typeface="+mn-ea"/>
                          <a:cs typeface="+mn-cs"/>
                        </a:rPr>
                        <a:t>Cens</a:t>
                      </a:r>
                      <a:r>
                        <a:rPr lang="en-GB" sz="1800" kern="1200" dirty="0" smtClean="0">
                          <a:solidFill>
                            <a:schemeClr val="tx1"/>
                          </a:solidFill>
                          <a:effectLst/>
                          <a:latin typeface="+mn-lt"/>
                          <a:ea typeface="+mn-ea"/>
                          <a:cs typeface="+mn-cs"/>
                        </a:rPr>
                        <a:t>., BBS 2011)</a:t>
                      </a:r>
                      <a:endParaRPr kumimoji="0" lang="en-US" sz="28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96924" marR="969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100.0</a:t>
                      </a:r>
                    </a:p>
                  </a:txBody>
                  <a:tcPr marL="96924" marR="969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lang="en-US" sz="1800" b="1" dirty="0" smtClean="0">
                          <a:solidFill>
                            <a:srgbClr val="0033CC"/>
                          </a:solidFill>
                          <a:sym typeface="Symbol" pitchFamily="18" charset="2"/>
                        </a:rPr>
                        <a:t>On Track</a:t>
                      </a:r>
                      <a:endParaRPr kumimoji="0" lang="en-US" sz="2400" b="1" i="0" u="none" strike="noStrike" cap="none" normalizeH="0" baseline="0" dirty="0" smtClean="0">
                        <a:ln>
                          <a:noFill/>
                        </a:ln>
                        <a:solidFill>
                          <a:schemeClr val="tx1"/>
                        </a:solidFill>
                        <a:effectLst/>
                        <a:latin typeface="Times New Roman" pitchFamily="18" charset="0"/>
                        <a:cs typeface="Times New Roman" pitchFamily="18" charset="0"/>
                      </a:endParaRPr>
                    </a:p>
                  </a:txBody>
                  <a:tcPr marL="96924" marR="9692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r>
            </a:tbl>
          </a:graphicData>
        </a:graphic>
      </p:graphicFrame>
      <p:pic>
        <p:nvPicPr>
          <p:cNvPr id="14373" name="Picture 7" descr="C:\Documents and Settings\Mahbub_GED\Desktop\thumbnailCAUKA1Q8.jpg"/>
          <p:cNvPicPr>
            <a:picLocks noChangeAspect="1" noChangeArrowheads="1"/>
          </p:cNvPicPr>
          <p:nvPr/>
        </p:nvPicPr>
        <p:blipFill>
          <a:blip r:embed="rId2"/>
          <a:srcRect/>
          <a:stretch>
            <a:fillRect/>
          </a:stretch>
        </p:blipFill>
        <p:spPr bwMode="auto">
          <a:xfrm>
            <a:off x="82146" y="24893"/>
            <a:ext cx="1749492" cy="1044253"/>
          </a:xfrm>
          <a:prstGeom prst="rect">
            <a:avLst/>
          </a:prstGeom>
          <a:noFill/>
          <a:ln w="9525">
            <a:noFill/>
            <a:miter lim="800000"/>
            <a:headEnd/>
            <a:tailEnd/>
          </a:ln>
        </p:spPr>
      </p:pic>
      <p:sp>
        <p:nvSpPr>
          <p:cNvPr id="3" name="TextBox 2"/>
          <p:cNvSpPr txBox="1"/>
          <p:nvPr/>
        </p:nvSpPr>
        <p:spPr>
          <a:xfrm>
            <a:off x="1" y="1145239"/>
            <a:ext cx="4906850" cy="5156476"/>
          </a:xfrm>
          <a:prstGeom prst="rect">
            <a:avLst/>
          </a:prstGeom>
          <a:solidFill>
            <a:schemeClr val="bg2"/>
          </a:solidFill>
        </p:spPr>
        <p:txBody>
          <a:bodyPr wrap="square" rtlCol="0">
            <a:spAutoFit/>
          </a:bodyPr>
          <a:lstStyle/>
          <a:p>
            <a:pPr marL="204415" indent="-204415" algn="just">
              <a:lnSpc>
                <a:spcPct val="110000"/>
              </a:lnSpc>
              <a:spcBef>
                <a:spcPts val="1200"/>
              </a:spcBef>
              <a:spcAft>
                <a:spcPts val="1200"/>
              </a:spcAft>
              <a:buFont typeface="Wingdings" pitchFamily="2" charset="2"/>
              <a:buChar char="§"/>
            </a:pPr>
            <a:r>
              <a:rPr lang="en-US" sz="2400" i="1" dirty="0"/>
              <a:t>Net Enrolment Ratio</a:t>
            </a:r>
            <a:r>
              <a:rPr lang="en-US" sz="2400" dirty="0"/>
              <a:t>: Bangladesh was well ahead than the regional neighbors, except India and Nepal</a:t>
            </a:r>
          </a:p>
          <a:p>
            <a:pPr marL="204415" indent="-204415" algn="just">
              <a:lnSpc>
                <a:spcPct val="110000"/>
              </a:lnSpc>
              <a:spcBef>
                <a:spcPts val="1200"/>
              </a:spcBef>
              <a:spcAft>
                <a:spcPts val="1200"/>
              </a:spcAft>
              <a:buFont typeface="Wingdings" pitchFamily="2" charset="2"/>
              <a:buChar char="§"/>
            </a:pPr>
            <a:r>
              <a:rPr lang="en-US" sz="2400" i="1" dirty="0"/>
              <a:t>Literacy rate</a:t>
            </a:r>
            <a:r>
              <a:rPr lang="en-US" sz="2400" dirty="0"/>
              <a:t>: Bangladesh is better than  India and Pakistan along with other South Asian counterparts except Maldives and Sri Lanka.</a:t>
            </a:r>
          </a:p>
          <a:p>
            <a:pPr marL="204415" indent="-204415" algn="just">
              <a:lnSpc>
                <a:spcPct val="110000"/>
              </a:lnSpc>
              <a:spcBef>
                <a:spcPts val="1200"/>
              </a:spcBef>
              <a:spcAft>
                <a:spcPts val="1200"/>
              </a:spcAft>
              <a:buFont typeface="Wingdings" pitchFamily="2" charset="2"/>
              <a:buChar char="§"/>
            </a:pPr>
            <a:r>
              <a:rPr lang="en-US" sz="2400" dirty="0"/>
              <a:t>A major milestone in the education sector is the adoption of National Education Policy 2010, which the government is implementing.</a:t>
            </a:r>
          </a:p>
        </p:txBody>
      </p:sp>
    </p:spTree>
    <p:extLst>
      <p:ext uri="{BB962C8B-B14F-4D97-AF65-F5344CB8AC3E}">
        <p14:creationId xmlns="" xmlns:p14="http://schemas.microsoft.com/office/powerpoint/2010/main" val="211179765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a:xfrm>
            <a:off x="11458222" y="6356350"/>
            <a:ext cx="564445" cy="365125"/>
          </a:xfrm>
        </p:spPr>
        <p:txBody>
          <a:bodyPr/>
          <a:lstStyle/>
          <a:p>
            <a:pPr>
              <a:defRPr/>
            </a:pPr>
            <a:fld id="{C7750B4D-579C-4BA1-83F8-EC09BE9C8615}" type="slidenum">
              <a:rPr lang="en-US"/>
              <a:pPr>
                <a:defRPr/>
              </a:pPr>
              <a:t>7</a:t>
            </a:fld>
            <a:endParaRPr lang="en-US" dirty="0"/>
          </a:p>
        </p:txBody>
      </p:sp>
      <p:pic>
        <p:nvPicPr>
          <p:cNvPr id="17412" name="Picture 8" descr="C:\Documents and Settings\Mahbub_GED\Desktop\thumbnailCAXZMWFI.jpg"/>
          <p:cNvPicPr>
            <a:picLocks noChangeAspect="1" noChangeArrowheads="1"/>
          </p:cNvPicPr>
          <p:nvPr/>
        </p:nvPicPr>
        <p:blipFill>
          <a:blip r:embed="rId2"/>
          <a:srcRect/>
          <a:stretch>
            <a:fillRect/>
          </a:stretch>
        </p:blipFill>
        <p:spPr bwMode="auto">
          <a:xfrm>
            <a:off x="0" y="1"/>
            <a:ext cx="1945049" cy="925688"/>
          </a:xfrm>
          <a:prstGeom prst="rect">
            <a:avLst/>
          </a:prstGeom>
          <a:noFill/>
          <a:ln w="9525">
            <a:noFill/>
            <a:miter lim="800000"/>
            <a:headEnd/>
            <a:tailEnd/>
          </a:ln>
        </p:spPr>
      </p:pic>
      <p:sp>
        <p:nvSpPr>
          <p:cNvPr id="17413" name="Rectangle 2"/>
          <p:cNvSpPr>
            <a:spLocks noGrp="1" noChangeArrowheads="1"/>
          </p:cNvSpPr>
          <p:nvPr>
            <p:ph type="title" idx="4294967295"/>
          </p:nvPr>
        </p:nvSpPr>
        <p:spPr>
          <a:xfrm>
            <a:off x="1945049" y="1"/>
            <a:ext cx="10246951" cy="925688"/>
          </a:xfrm>
          <a:solidFill>
            <a:schemeClr val="accent5"/>
          </a:solidFill>
        </p:spPr>
        <p:txBody>
          <a:bodyPr vert="horz" lIns="94568" tIns="47284" rIns="94568" bIns="47284" rtlCol="0" anchor="ctr">
            <a:normAutofit/>
          </a:bodyPr>
          <a:lstStyle/>
          <a:p>
            <a:pPr marL="787432" indent="-787432"/>
            <a:r>
              <a:rPr lang="en-US" sz="3000" b="1" dirty="0">
                <a:latin typeface="Times New Roman" pitchFamily="18" charset="0"/>
                <a:cs typeface="Times New Roman" pitchFamily="18" charset="0"/>
              </a:rPr>
              <a:t>Goal 3: Promote Gender Equality </a:t>
            </a:r>
            <a:r>
              <a:rPr lang="en-US" sz="3000" b="1" dirty="0" smtClean="0">
                <a:latin typeface="Times New Roman" pitchFamily="18" charset="0"/>
                <a:cs typeface="Times New Roman" pitchFamily="18" charset="0"/>
              </a:rPr>
              <a:t>and Empower Women</a:t>
            </a:r>
            <a:endParaRPr lang="en-US" sz="3000" b="1" dirty="0">
              <a:latin typeface="Times New Roman" pitchFamily="18" charset="0"/>
              <a:cs typeface="Times New Roman" pitchFamily="18" charset="0"/>
            </a:endParaRPr>
          </a:p>
        </p:txBody>
      </p:sp>
      <p:graphicFrame>
        <p:nvGraphicFramePr>
          <p:cNvPr id="83000" name="Group 56"/>
          <p:cNvGraphicFramePr>
            <a:graphicFrameLocks noGrp="1"/>
          </p:cNvGraphicFramePr>
          <p:nvPr>
            <p:extLst>
              <p:ext uri="{D42A27DB-BD31-4B8C-83A1-F6EECF244321}">
                <p14:modId xmlns="" xmlns:p14="http://schemas.microsoft.com/office/powerpoint/2010/main" val="2512269955"/>
              </p:ext>
            </p:extLst>
          </p:nvPr>
        </p:nvGraphicFramePr>
        <p:xfrm>
          <a:off x="4447822" y="942706"/>
          <a:ext cx="7665156" cy="5413643"/>
        </p:xfrm>
        <a:graphic>
          <a:graphicData uri="http://schemas.openxmlformats.org/drawingml/2006/table">
            <a:tbl>
              <a:tblPr/>
              <a:tblGrid>
                <a:gridCol w="3571266"/>
                <a:gridCol w="871041"/>
                <a:gridCol w="1219455"/>
                <a:gridCol w="950443"/>
                <a:gridCol w="1052951"/>
              </a:tblGrid>
              <a:tr h="124502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defRPr/>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Targets Achieved</a:t>
                      </a:r>
                    </a:p>
                  </a:txBody>
                  <a:tcPr marL="96924" marR="9692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500" b="1" i="0" u="none" strike="noStrike" cap="none" normalizeH="0" baseline="0" dirty="0" smtClean="0">
                          <a:ln>
                            <a:noFill/>
                          </a:ln>
                          <a:solidFill>
                            <a:schemeClr val="tx1"/>
                          </a:solidFill>
                          <a:effectLst/>
                          <a:latin typeface="Times New Roman" pitchFamily="18" charset="0"/>
                          <a:cs typeface="Times New Roman" pitchFamily="18" charset="0"/>
                        </a:rPr>
                        <a:t>Base Year</a:t>
                      </a: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500" b="1" i="0" u="none" strike="noStrike" cap="none" normalizeH="0" baseline="0" dirty="0" smtClean="0">
                          <a:ln>
                            <a:noFill/>
                          </a:ln>
                          <a:solidFill>
                            <a:schemeClr val="tx1"/>
                          </a:solidFill>
                          <a:effectLst/>
                          <a:latin typeface="Times New Roman" pitchFamily="18" charset="0"/>
                          <a:cs typeface="Times New Roman" pitchFamily="18" charset="0"/>
                        </a:rPr>
                        <a:t>Current  </a:t>
                      </a:r>
                    </a:p>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500" b="1" i="0" u="none" strike="noStrike" cap="none" normalizeH="0" baseline="0" dirty="0" smtClean="0">
                          <a:ln>
                            <a:noFill/>
                          </a:ln>
                          <a:solidFill>
                            <a:schemeClr val="tx1"/>
                          </a:solidFill>
                          <a:effectLst/>
                          <a:latin typeface="Times New Roman" pitchFamily="18" charset="0"/>
                          <a:cs typeface="Times New Roman" pitchFamily="18" charset="0"/>
                        </a:rPr>
                        <a:t>Status </a:t>
                      </a: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500" b="1" i="0" u="none" strike="noStrike" cap="none" normalizeH="0" baseline="0" dirty="0" smtClean="0">
                          <a:ln>
                            <a:noFill/>
                          </a:ln>
                          <a:solidFill>
                            <a:schemeClr val="tx1"/>
                          </a:solidFill>
                          <a:effectLst/>
                          <a:latin typeface="Times New Roman" pitchFamily="18" charset="0"/>
                          <a:cs typeface="Times New Roman" pitchFamily="18" charset="0"/>
                        </a:rPr>
                        <a:t>Target 2015</a:t>
                      </a: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500" b="1" i="0" u="none" strike="noStrike" cap="none" normalizeH="0" baseline="0" dirty="0" smtClean="0">
                          <a:ln>
                            <a:noFill/>
                          </a:ln>
                          <a:solidFill>
                            <a:schemeClr val="tx1"/>
                          </a:solidFill>
                          <a:effectLst/>
                          <a:latin typeface="Times New Roman" pitchFamily="18" charset="0"/>
                          <a:cs typeface="Times New Roman" pitchFamily="18" charset="0"/>
                        </a:rPr>
                        <a:t>Status</a:t>
                      </a:r>
                    </a:p>
                  </a:txBody>
                  <a:tcPr marL="96924" marR="9692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r>
              <a:tr h="1389541">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600" b="0" i="0" u="none" strike="noStrike" cap="none" normalizeH="0" baseline="0" dirty="0" smtClean="0">
                          <a:ln>
                            <a:noFill/>
                          </a:ln>
                          <a:solidFill>
                            <a:schemeClr val="tx1"/>
                          </a:solidFill>
                          <a:effectLst/>
                          <a:latin typeface="Times New Roman" pitchFamily="18" charset="0"/>
                          <a:cs typeface="Times New Roman" pitchFamily="18" charset="0"/>
                        </a:rPr>
                        <a:t>Ratio of girls to boys in Primary education (Gender Parity Index, GPI=Girls/Boys) </a:t>
                      </a:r>
                    </a:p>
                  </a:txBody>
                  <a:tcPr marL="96924" marR="9692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600" b="0" i="0" u="none" strike="noStrike" cap="none" normalizeH="0" baseline="0" dirty="0" smtClean="0">
                          <a:ln>
                            <a:noFill/>
                          </a:ln>
                          <a:solidFill>
                            <a:schemeClr val="tx1"/>
                          </a:solidFill>
                          <a:effectLst/>
                          <a:latin typeface="Times New Roman" pitchFamily="18" charset="0"/>
                          <a:cs typeface="Times New Roman" pitchFamily="18" charset="0"/>
                        </a:rPr>
                        <a:t>0.83</a:t>
                      </a: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algn="ctr"/>
                      <a:r>
                        <a:rPr lang="en-GB" sz="1600" b="1" kern="1200" dirty="0" smtClean="0">
                          <a:solidFill>
                            <a:schemeClr val="tx1"/>
                          </a:solidFill>
                          <a:effectLst/>
                          <a:latin typeface="+mn-lt"/>
                          <a:ea typeface="+mn-ea"/>
                          <a:cs typeface="+mn-cs"/>
                        </a:rPr>
                        <a:t>1.04</a:t>
                      </a:r>
                      <a:r>
                        <a:rPr lang="en-GB" sz="1600" kern="1200" dirty="0" smtClean="0">
                          <a:solidFill>
                            <a:schemeClr val="tx1"/>
                          </a:solidFill>
                          <a:effectLst/>
                          <a:latin typeface="+mn-lt"/>
                          <a:ea typeface="+mn-ea"/>
                          <a:cs typeface="+mn-cs"/>
                        </a:rPr>
                        <a:t> </a:t>
                      </a:r>
                    </a:p>
                    <a:p>
                      <a:pPr algn="ctr"/>
                      <a:r>
                        <a:rPr lang="en-GB" sz="1300" kern="1200" dirty="0" smtClean="0">
                          <a:solidFill>
                            <a:schemeClr val="tx1"/>
                          </a:solidFill>
                          <a:effectLst/>
                          <a:latin typeface="+mn-lt"/>
                          <a:ea typeface="+mn-ea"/>
                          <a:cs typeface="+mn-cs"/>
                        </a:rPr>
                        <a:t>(DPE 2015)</a:t>
                      </a:r>
                      <a:endParaRPr lang="en-US" sz="1600" kern="1200" dirty="0">
                        <a:solidFill>
                          <a:schemeClr val="tx1"/>
                        </a:solidFill>
                        <a:effectLst/>
                        <a:latin typeface="+mn-lt"/>
                        <a:ea typeface="+mn-ea"/>
                        <a:cs typeface="+mn-cs"/>
                      </a:endParaRP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600" b="0" i="0" u="none" strike="noStrike" cap="none" normalizeH="0" baseline="0" dirty="0" smtClean="0">
                          <a:ln>
                            <a:noFill/>
                          </a:ln>
                          <a:solidFill>
                            <a:schemeClr val="tx1"/>
                          </a:solidFill>
                          <a:effectLst/>
                          <a:latin typeface="Times New Roman" pitchFamily="18" charset="0"/>
                          <a:cs typeface="Times New Roman" pitchFamily="18" charset="0"/>
                        </a:rPr>
                        <a:t>1.0</a:t>
                      </a: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lang="en-US" sz="1600" b="1" dirty="0" smtClean="0">
                          <a:solidFill>
                            <a:srgbClr val="0033CC"/>
                          </a:solidFill>
                          <a:sym typeface="Symbol" pitchFamily="18" charset="2"/>
                        </a:rPr>
                        <a:t>Goal met</a:t>
                      </a:r>
                      <a:endParaRPr kumimoji="0" lang="en-US" sz="1600" b="1" i="0" u="none" strike="noStrike" cap="none" normalizeH="0" baseline="0" dirty="0" smtClean="0">
                        <a:ln>
                          <a:noFill/>
                        </a:ln>
                        <a:solidFill>
                          <a:srgbClr val="0000FF"/>
                        </a:solidFill>
                        <a:effectLst/>
                        <a:latin typeface="Times New Roman" pitchFamily="18" charset="0"/>
                        <a:cs typeface="Times New Roman" pitchFamily="18" charset="0"/>
                      </a:endParaRP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r>
              <a:tr h="1389541">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600" b="0" i="0" u="none" strike="noStrike" cap="none" normalizeH="0" baseline="0" dirty="0" smtClean="0">
                          <a:ln>
                            <a:noFill/>
                          </a:ln>
                          <a:solidFill>
                            <a:schemeClr val="tx1"/>
                          </a:solidFill>
                          <a:effectLst/>
                          <a:latin typeface="Times New Roman" pitchFamily="18" charset="0"/>
                          <a:cs typeface="Times New Roman" pitchFamily="18" charset="0"/>
                        </a:rPr>
                        <a:t>Ratio of girls to boys in  Secondary education  (Gender Parity Index, GPI=Girls/Boys) </a:t>
                      </a:r>
                    </a:p>
                  </a:txBody>
                  <a:tcPr marL="96924" marR="9692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600" b="0" i="0" u="none" strike="noStrike" cap="none" normalizeH="0" baseline="0" dirty="0" smtClean="0">
                          <a:ln>
                            <a:noFill/>
                          </a:ln>
                          <a:solidFill>
                            <a:schemeClr val="tx1"/>
                          </a:solidFill>
                          <a:effectLst/>
                          <a:latin typeface="Times New Roman" pitchFamily="18" charset="0"/>
                          <a:cs typeface="Times New Roman" pitchFamily="18" charset="0"/>
                        </a:rPr>
                        <a:t>0.52</a:t>
                      </a: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tc>
                  <a:txBody>
                    <a:bodyPr/>
                    <a:lstStyle/>
                    <a:p>
                      <a:pPr algn="ctr"/>
                      <a:r>
                        <a:rPr lang="en-GB" sz="1600" b="1" kern="1200" dirty="0" smtClean="0">
                          <a:solidFill>
                            <a:schemeClr val="tx1"/>
                          </a:solidFill>
                          <a:effectLst/>
                          <a:latin typeface="+mn-lt"/>
                          <a:ea typeface="+mn-ea"/>
                          <a:cs typeface="+mn-cs"/>
                        </a:rPr>
                        <a:t>1.14</a:t>
                      </a:r>
                      <a:r>
                        <a:rPr lang="en-GB" sz="1600" kern="1200" dirty="0" smtClean="0">
                          <a:solidFill>
                            <a:schemeClr val="tx1"/>
                          </a:solidFill>
                          <a:effectLst/>
                          <a:latin typeface="+mn-lt"/>
                          <a:ea typeface="+mn-ea"/>
                          <a:cs typeface="+mn-cs"/>
                        </a:rPr>
                        <a:t> </a:t>
                      </a:r>
                    </a:p>
                    <a:p>
                      <a:pPr algn="ctr"/>
                      <a:r>
                        <a:rPr lang="en-GB" sz="1300" kern="1200" dirty="0" smtClean="0">
                          <a:solidFill>
                            <a:schemeClr val="tx1"/>
                          </a:solidFill>
                          <a:effectLst/>
                          <a:latin typeface="+mn-lt"/>
                          <a:ea typeface="+mn-ea"/>
                          <a:cs typeface="+mn-cs"/>
                        </a:rPr>
                        <a:t>(BANBEIS</a:t>
                      </a:r>
                      <a:r>
                        <a:rPr lang="en-GB" sz="1300" kern="1200" baseline="0" dirty="0" smtClean="0">
                          <a:solidFill>
                            <a:schemeClr val="tx1"/>
                          </a:solidFill>
                          <a:effectLst/>
                          <a:latin typeface="+mn-lt"/>
                          <a:ea typeface="+mn-ea"/>
                          <a:cs typeface="+mn-cs"/>
                        </a:rPr>
                        <a:t> </a:t>
                      </a:r>
                      <a:r>
                        <a:rPr lang="en-GB" sz="1300" kern="1200" dirty="0" smtClean="0">
                          <a:solidFill>
                            <a:schemeClr val="tx1"/>
                          </a:solidFill>
                          <a:effectLst/>
                          <a:latin typeface="+mn-lt"/>
                          <a:ea typeface="+mn-ea"/>
                          <a:cs typeface="+mn-cs"/>
                        </a:rPr>
                        <a:t>2015)</a:t>
                      </a:r>
                      <a:endParaRPr lang="en-US" sz="1600" kern="1200" dirty="0">
                        <a:solidFill>
                          <a:schemeClr val="tx1"/>
                        </a:solidFill>
                        <a:effectLst/>
                        <a:latin typeface="+mn-lt"/>
                        <a:ea typeface="+mn-ea"/>
                        <a:cs typeface="+mn-cs"/>
                      </a:endParaRP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600" b="0" i="0" u="none" strike="noStrike" cap="none" normalizeH="0" baseline="0" dirty="0" smtClean="0">
                          <a:ln>
                            <a:noFill/>
                          </a:ln>
                          <a:solidFill>
                            <a:schemeClr val="tx1"/>
                          </a:solidFill>
                          <a:effectLst/>
                          <a:latin typeface="Times New Roman" pitchFamily="18" charset="0"/>
                          <a:cs typeface="Times New Roman" pitchFamily="18" charset="0"/>
                        </a:rPr>
                        <a:t>1.0</a:t>
                      </a: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defRPr/>
                      </a:pPr>
                      <a:r>
                        <a:rPr lang="en-US" sz="1600" b="1" dirty="0" smtClean="0">
                          <a:solidFill>
                            <a:srgbClr val="0033CC"/>
                          </a:solidFill>
                          <a:sym typeface="Symbol" pitchFamily="18" charset="2"/>
                        </a:rPr>
                        <a:t>Goal met</a:t>
                      </a:r>
                      <a:endParaRPr kumimoji="0" lang="en-US" sz="1600" b="1" i="0" u="none" strike="noStrike" cap="none" normalizeH="0" baseline="0" dirty="0" smtClean="0">
                        <a:ln>
                          <a:noFill/>
                        </a:ln>
                        <a:solidFill>
                          <a:srgbClr val="0000FF"/>
                        </a:solidFill>
                        <a:effectLst/>
                        <a:latin typeface="Times New Roman" pitchFamily="18" charset="0"/>
                        <a:cs typeface="Times New Roman" pitchFamily="18" charset="0"/>
                      </a:endParaRP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tr>
              <a:tr h="1389541">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600" b="0" i="0" u="none" strike="noStrike" cap="none" normalizeH="0" baseline="0" dirty="0" smtClean="0">
                          <a:ln>
                            <a:noFill/>
                          </a:ln>
                          <a:solidFill>
                            <a:schemeClr val="tx1"/>
                          </a:solidFill>
                          <a:effectLst/>
                          <a:latin typeface="Times New Roman" pitchFamily="18" charset="0"/>
                          <a:cs typeface="Times New Roman" pitchFamily="18" charset="0"/>
                        </a:rPr>
                        <a:t>Ratio of girls to boys in Tertiary education  (Gender Parity Index, GPI=Girls/Boys) </a:t>
                      </a:r>
                    </a:p>
                  </a:txBody>
                  <a:tcPr marL="96924" marR="9692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600" b="0" i="0" u="none" strike="noStrike" cap="none" normalizeH="0" baseline="0" dirty="0" smtClean="0">
                          <a:ln>
                            <a:noFill/>
                          </a:ln>
                          <a:solidFill>
                            <a:schemeClr val="tx1"/>
                          </a:solidFill>
                          <a:effectLst/>
                          <a:latin typeface="Times New Roman" pitchFamily="18" charset="0"/>
                          <a:cs typeface="Times New Roman" pitchFamily="18" charset="0"/>
                        </a:rPr>
                        <a:t>0.37</a:t>
                      </a: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indent="0" algn="ctr" defTabSz="1042873" rtl="0" eaLnBrk="1" fontAlgn="auto" latinLnBrk="0" hangingPunct="1">
                        <a:lnSpc>
                          <a:spcPct val="100000"/>
                        </a:lnSpc>
                        <a:spcBef>
                          <a:spcPts val="0"/>
                        </a:spcBef>
                        <a:spcAft>
                          <a:spcPts val="0"/>
                        </a:spcAft>
                        <a:buClrTx/>
                        <a:buSzTx/>
                        <a:buFontTx/>
                        <a:buNone/>
                        <a:tabLst/>
                        <a:defRPr/>
                      </a:pPr>
                      <a:r>
                        <a:rPr lang="en-GB" sz="1600" b="1" kern="1200" dirty="0" smtClean="0">
                          <a:solidFill>
                            <a:schemeClr val="tx1"/>
                          </a:solidFill>
                          <a:effectLst/>
                          <a:latin typeface="+mn-lt"/>
                          <a:ea typeface="+mn-ea"/>
                          <a:cs typeface="+mn-cs"/>
                        </a:rPr>
                        <a:t>0.65</a:t>
                      </a:r>
                      <a:r>
                        <a:rPr lang="en-GB" sz="1600" b="0" kern="1200" baseline="0" dirty="0" smtClean="0">
                          <a:solidFill>
                            <a:schemeClr val="tx1"/>
                          </a:solidFill>
                          <a:effectLst/>
                          <a:latin typeface="+mn-lt"/>
                          <a:ea typeface="+mn-ea"/>
                          <a:cs typeface="+mn-cs"/>
                        </a:rPr>
                        <a:t> </a:t>
                      </a:r>
                    </a:p>
                    <a:p>
                      <a:pPr marL="0" marR="0" indent="0" algn="ctr" defTabSz="1042873" rtl="0" eaLnBrk="1" fontAlgn="auto" latinLnBrk="0" hangingPunct="1">
                        <a:lnSpc>
                          <a:spcPct val="100000"/>
                        </a:lnSpc>
                        <a:spcBef>
                          <a:spcPts val="0"/>
                        </a:spcBef>
                        <a:spcAft>
                          <a:spcPts val="0"/>
                        </a:spcAft>
                        <a:buClrTx/>
                        <a:buSzTx/>
                        <a:buFontTx/>
                        <a:buNone/>
                        <a:tabLst/>
                        <a:defRPr/>
                      </a:pPr>
                      <a:r>
                        <a:rPr lang="en-GB" sz="1300" kern="1200" dirty="0" smtClean="0">
                          <a:solidFill>
                            <a:schemeClr val="tx1"/>
                          </a:solidFill>
                          <a:effectLst/>
                          <a:latin typeface="+mn-lt"/>
                          <a:ea typeface="+mn-ea"/>
                          <a:cs typeface="+mn-cs"/>
                        </a:rPr>
                        <a:t>(BANBEIS</a:t>
                      </a:r>
                      <a:r>
                        <a:rPr lang="en-GB" sz="1300" kern="1200" baseline="0" dirty="0" smtClean="0">
                          <a:solidFill>
                            <a:schemeClr val="tx1"/>
                          </a:solidFill>
                          <a:effectLst/>
                          <a:latin typeface="+mn-lt"/>
                          <a:ea typeface="+mn-ea"/>
                          <a:cs typeface="+mn-cs"/>
                        </a:rPr>
                        <a:t> </a:t>
                      </a:r>
                      <a:r>
                        <a:rPr lang="en-GB" sz="1300" kern="1200" dirty="0" smtClean="0">
                          <a:solidFill>
                            <a:schemeClr val="tx1"/>
                          </a:solidFill>
                          <a:effectLst/>
                          <a:latin typeface="+mn-lt"/>
                          <a:ea typeface="+mn-ea"/>
                          <a:cs typeface="+mn-cs"/>
                        </a:rPr>
                        <a:t>2015)</a:t>
                      </a:r>
                      <a:endParaRPr lang="en-US" sz="2500" kern="1200" dirty="0" smtClean="0">
                        <a:solidFill>
                          <a:schemeClr val="tx1"/>
                        </a:solidFill>
                        <a:effectLst/>
                        <a:latin typeface="+mn-lt"/>
                        <a:ea typeface="+mn-ea"/>
                        <a:cs typeface="+mn-cs"/>
                      </a:endParaRP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600" b="0" i="0" u="none" strike="noStrike" cap="none" normalizeH="0" baseline="0" dirty="0" smtClean="0">
                          <a:ln>
                            <a:noFill/>
                          </a:ln>
                          <a:solidFill>
                            <a:schemeClr val="tx1"/>
                          </a:solidFill>
                          <a:effectLst/>
                          <a:latin typeface="Times New Roman" pitchFamily="18" charset="0"/>
                          <a:cs typeface="Times New Roman" pitchFamily="18" charset="0"/>
                        </a:rPr>
                        <a:t>1.0</a:t>
                      </a: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500" b="1" i="0" u="none" strike="noStrike" cap="none" normalizeH="0" baseline="0" dirty="0" smtClean="0">
                          <a:ln>
                            <a:noFill/>
                          </a:ln>
                          <a:solidFill>
                            <a:srgbClr val="0033CC"/>
                          </a:solidFill>
                          <a:effectLst/>
                          <a:latin typeface="Times New Roman" pitchFamily="18" charset="0"/>
                          <a:cs typeface="Times New Roman" pitchFamily="18" charset="0"/>
                          <a:sym typeface="Symbol" pitchFamily="18" charset="2"/>
                        </a:rPr>
                        <a:t>Substantial Achievement</a:t>
                      </a:r>
                      <a:endParaRPr kumimoji="0" lang="en-US" sz="1800" b="1" i="0" u="none" strike="noStrike" cap="none" normalizeH="0" baseline="0" dirty="0" smtClean="0">
                        <a:ln>
                          <a:noFill/>
                        </a:ln>
                        <a:solidFill>
                          <a:schemeClr val="tx1"/>
                        </a:solidFill>
                        <a:effectLst/>
                        <a:latin typeface="Times New Roman" pitchFamily="18" charset="0"/>
                        <a:cs typeface="Times New Roman" pitchFamily="18" charset="0"/>
                      </a:endParaRP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r>
            </a:tbl>
          </a:graphicData>
        </a:graphic>
      </p:graphicFrame>
      <p:sp>
        <p:nvSpPr>
          <p:cNvPr id="8" name="TextBox 7"/>
          <p:cNvSpPr txBox="1"/>
          <p:nvPr/>
        </p:nvSpPr>
        <p:spPr>
          <a:xfrm>
            <a:off x="1" y="942705"/>
            <a:ext cx="4334932" cy="5914440"/>
          </a:xfrm>
          <a:prstGeom prst="rect">
            <a:avLst/>
          </a:prstGeom>
          <a:solidFill>
            <a:schemeClr val="bg2"/>
          </a:solidFill>
        </p:spPr>
        <p:txBody>
          <a:bodyPr wrap="square" rtlCol="0">
            <a:spAutoFit/>
          </a:bodyPr>
          <a:lstStyle/>
          <a:p>
            <a:pPr marL="310942" indent="-310942">
              <a:spcAft>
                <a:spcPts val="1088"/>
              </a:spcAft>
              <a:buFont typeface="Wingdings" pitchFamily="2" charset="2"/>
              <a:buChar char="§"/>
            </a:pPr>
            <a:r>
              <a:rPr lang="en-GB" sz="2400" dirty="0"/>
              <a:t>Bangladesh has been maintaining gender parity at secondary education level during the last 15 years.</a:t>
            </a:r>
            <a:endParaRPr lang="en-US" sz="2400" dirty="0"/>
          </a:p>
          <a:p>
            <a:pPr marL="310942" indent="-310942">
              <a:spcAft>
                <a:spcPts val="1088"/>
              </a:spcAft>
              <a:buFont typeface="Wingdings" pitchFamily="2" charset="2"/>
              <a:buChar char="§"/>
            </a:pPr>
            <a:r>
              <a:rPr lang="en-GB" sz="2400" dirty="0"/>
              <a:t>Gender parity at the secondary level is highest in Bangladesh, followed by Maldives, Bhutan, Sri Lanka and Nepal.</a:t>
            </a:r>
            <a:endParaRPr lang="en-US" sz="2400" dirty="0"/>
          </a:p>
          <a:p>
            <a:pPr marL="310942" indent="-310942">
              <a:spcAft>
                <a:spcPts val="1088"/>
              </a:spcAft>
              <a:buFont typeface="Wingdings" pitchFamily="2" charset="2"/>
              <a:buChar char="§"/>
            </a:pPr>
            <a:r>
              <a:rPr lang="en-GB" sz="2400" dirty="0"/>
              <a:t>With respect to </a:t>
            </a:r>
            <a:r>
              <a:rPr lang="en-GB" sz="2400" i="1" dirty="0"/>
              <a:t>share of women in wage employment in the non-agriculture sector</a:t>
            </a:r>
            <a:r>
              <a:rPr lang="en-GB" sz="2400" dirty="0"/>
              <a:t>, Bangladesh outperformed India, Pakistan, Nepal, Afghanistan and Bhutan.</a:t>
            </a:r>
            <a:endParaRPr lang="en-US" sz="2400" dirty="0"/>
          </a:p>
        </p:txBody>
      </p:sp>
    </p:spTree>
    <p:extLst>
      <p:ext uri="{BB962C8B-B14F-4D97-AF65-F5344CB8AC3E}">
        <p14:creationId xmlns="" xmlns:p14="http://schemas.microsoft.com/office/powerpoint/2010/main" val="94228895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p:cNvSpPr>
            <a:spLocks noGrp="1" noChangeArrowheads="1"/>
          </p:cNvSpPr>
          <p:nvPr>
            <p:ph type="title" idx="4294967295"/>
          </p:nvPr>
        </p:nvSpPr>
        <p:spPr>
          <a:xfrm>
            <a:off x="1859966" y="-1"/>
            <a:ext cx="10332033" cy="1309512"/>
          </a:xfrm>
          <a:solidFill>
            <a:schemeClr val="accent5"/>
          </a:solidFill>
        </p:spPr>
        <p:txBody>
          <a:bodyPr vert="horz" lIns="94568" tIns="47284" rIns="94568" bIns="47284" rtlCol="0" anchor="ctr">
            <a:normAutofit/>
          </a:bodyPr>
          <a:lstStyle/>
          <a:p>
            <a:pPr eaLnBrk="1" hangingPunct="1"/>
            <a:r>
              <a:rPr lang="en-US" sz="3264" b="1" dirty="0">
                <a:latin typeface="Times New Roman" pitchFamily="18" charset="0"/>
                <a:cs typeface="Times New Roman" pitchFamily="18" charset="0"/>
              </a:rPr>
              <a:t>Goal 4: Reduce Child Mortality</a:t>
            </a:r>
          </a:p>
        </p:txBody>
      </p:sp>
      <p:graphicFrame>
        <p:nvGraphicFramePr>
          <p:cNvPr id="84005" name="Group 37"/>
          <p:cNvGraphicFramePr>
            <a:graphicFrameLocks noGrp="1"/>
          </p:cNvGraphicFramePr>
          <p:nvPr>
            <p:extLst>
              <p:ext uri="{D42A27DB-BD31-4B8C-83A1-F6EECF244321}">
                <p14:modId xmlns="" xmlns:p14="http://schemas.microsoft.com/office/powerpoint/2010/main" val="3476813194"/>
              </p:ext>
            </p:extLst>
          </p:nvPr>
        </p:nvGraphicFramePr>
        <p:xfrm>
          <a:off x="4741333" y="1309512"/>
          <a:ext cx="7450667" cy="5548487"/>
        </p:xfrm>
        <a:graphic>
          <a:graphicData uri="http://schemas.openxmlformats.org/drawingml/2006/table">
            <a:tbl>
              <a:tblPr/>
              <a:tblGrid>
                <a:gridCol w="2956030"/>
                <a:gridCol w="953559"/>
                <a:gridCol w="1334982"/>
                <a:gridCol w="1030345"/>
                <a:gridCol w="1175751"/>
              </a:tblGrid>
              <a:tr h="13573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defRPr/>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Targets Achieved</a:t>
                      </a:r>
                    </a:p>
                  </a:txBody>
                  <a:tcPr marL="96924" marR="9692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Base Year</a:t>
                      </a: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Current Status</a:t>
                      </a: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Target 2015</a:t>
                      </a: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Status</a:t>
                      </a:r>
                    </a:p>
                  </a:txBody>
                  <a:tcPr marL="96924" marR="9692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13573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Under-five (6-59 months) Mortality Rate  (per 1000 live births) </a:t>
                      </a:r>
                    </a:p>
                  </a:txBody>
                  <a:tcPr marL="96924" marR="9692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146</a:t>
                      </a: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lang="en-GB" sz="2000" b="1" kern="1200" dirty="0" smtClean="0">
                          <a:solidFill>
                            <a:schemeClr val="tx1"/>
                          </a:solidFill>
                          <a:effectLst/>
                          <a:latin typeface="+mn-lt"/>
                          <a:ea typeface="+mn-ea"/>
                          <a:cs typeface="+mn-cs"/>
                        </a:rPr>
                        <a:t>36</a:t>
                      </a:r>
                    </a:p>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lang="en-GB" sz="1800" kern="1200" dirty="0" smtClean="0">
                          <a:solidFill>
                            <a:schemeClr val="tx1"/>
                          </a:solidFill>
                          <a:effectLst/>
                          <a:latin typeface="+mn-lt"/>
                          <a:ea typeface="+mn-ea"/>
                          <a:cs typeface="+mn-cs"/>
                        </a:rPr>
                        <a:t>(SVRS 2015)</a:t>
                      </a:r>
                      <a:endParaRPr kumimoji="0" lang="en-US" sz="2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48</a:t>
                      </a: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defRPr/>
                      </a:pPr>
                      <a:r>
                        <a:rPr lang="en-US" sz="1800" b="1" dirty="0" smtClean="0">
                          <a:solidFill>
                            <a:srgbClr val="0033CC"/>
                          </a:solidFill>
                          <a:sym typeface="Symbol" pitchFamily="18" charset="2"/>
                        </a:rPr>
                        <a:t>Goal met</a:t>
                      </a:r>
                      <a:endParaRPr kumimoji="0" lang="en-US" sz="1800" b="1" i="0" u="none" strike="noStrike" cap="none" normalizeH="0" baseline="0" dirty="0" smtClean="0">
                        <a:ln>
                          <a:noFill/>
                        </a:ln>
                        <a:solidFill>
                          <a:srgbClr val="0000FF"/>
                        </a:solidFill>
                        <a:effectLst/>
                        <a:latin typeface="Times New Roman" pitchFamily="18" charset="0"/>
                        <a:cs typeface="Times New Roman" pitchFamily="18" charset="0"/>
                      </a:endParaRPr>
                    </a:p>
                  </a:txBody>
                  <a:tcPr marL="96924" marR="9692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r>
              <a:tr h="1476587">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Infant (0-1 year) Mortality Rate </a:t>
                      </a: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(per 1000 live births)</a:t>
                      </a:r>
                    </a:p>
                  </a:txBody>
                  <a:tcPr marL="96924" marR="9692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92</a:t>
                      </a: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tc>
                  <a:txBody>
                    <a:bodyPr/>
                    <a:lstStyle/>
                    <a:p>
                      <a:pPr algn="ctr"/>
                      <a:r>
                        <a:rPr lang="en-GB" sz="2000" b="1" kern="1200" dirty="0" smtClean="0">
                          <a:solidFill>
                            <a:schemeClr val="tx1"/>
                          </a:solidFill>
                          <a:effectLst/>
                          <a:latin typeface="+mn-lt"/>
                          <a:ea typeface="+mn-ea"/>
                          <a:cs typeface="+mn-cs"/>
                        </a:rPr>
                        <a:t>29</a:t>
                      </a:r>
                      <a:r>
                        <a:rPr lang="en-GB" sz="2000" kern="1200" dirty="0" smtClean="0">
                          <a:solidFill>
                            <a:schemeClr val="tx1"/>
                          </a:solidFill>
                          <a:effectLst/>
                          <a:latin typeface="+mn-lt"/>
                          <a:ea typeface="+mn-ea"/>
                          <a:cs typeface="+mn-cs"/>
                        </a:rPr>
                        <a:t> </a:t>
                      </a:r>
                    </a:p>
                    <a:p>
                      <a:pPr algn="ctr"/>
                      <a:r>
                        <a:rPr lang="en-GB" sz="1800" kern="1200" dirty="0" smtClean="0">
                          <a:solidFill>
                            <a:schemeClr val="tx1"/>
                          </a:solidFill>
                          <a:effectLst/>
                          <a:latin typeface="+mn-lt"/>
                          <a:ea typeface="+mn-ea"/>
                          <a:cs typeface="+mn-cs"/>
                        </a:rPr>
                        <a:t>(SVRS 2015)</a:t>
                      </a:r>
                      <a:endParaRPr lang="en-US" sz="2000" kern="1200" dirty="0">
                        <a:solidFill>
                          <a:schemeClr val="tx1"/>
                        </a:solidFill>
                        <a:effectLst/>
                        <a:latin typeface="+mn-lt"/>
                        <a:ea typeface="+mn-ea"/>
                        <a:cs typeface="+mn-cs"/>
                      </a:endParaRP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31</a:t>
                      </a: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defRPr/>
                      </a:pPr>
                      <a:r>
                        <a:rPr lang="en-US" sz="1800" b="1" dirty="0" smtClean="0">
                          <a:solidFill>
                            <a:srgbClr val="0033CC"/>
                          </a:solidFill>
                          <a:sym typeface="Symbol" pitchFamily="18" charset="2"/>
                        </a:rPr>
                        <a:t>Goal met</a:t>
                      </a:r>
                      <a:endParaRPr kumimoji="0" lang="en-US" sz="1800" b="1" i="0" u="none" strike="noStrike" cap="none" normalizeH="0" baseline="0" dirty="0" smtClean="0">
                        <a:ln>
                          <a:noFill/>
                        </a:ln>
                        <a:solidFill>
                          <a:srgbClr val="0000FF"/>
                        </a:solidFill>
                        <a:effectLst/>
                        <a:latin typeface="Times New Roman" pitchFamily="18" charset="0"/>
                        <a:cs typeface="Times New Roman" pitchFamily="18" charset="0"/>
                      </a:endParaRPr>
                    </a:p>
                  </a:txBody>
                  <a:tcPr marL="96924" marR="9692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tr>
              <a:tr h="13573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Proportion of 1 year-old children immunized against measles (%) </a:t>
                      </a:r>
                    </a:p>
                  </a:txBody>
                  <a:tcPr marL="96924" marR="9692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54</a:t>
                      </a: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algn="ctr"/>
                      <a:r>
                        <a:rPr lang="en-GB" sz="2000" b="1" kern="1200" dirty="0" smtClean="0">
                          <a:solidFill>
                            <a:schemeClr val="tx1"/>
                          </a:solidFill>
                          <a:effectLst/>
                          <a:latin typeface="+mn-lt"/>
                          <a:ea typeface="+mn-ea"/>
                          <a:cs typeface="+mn-cs"/>
                        </a:rPr>
                        <a:t>80 </a:t>
                      </a:r>
                    </a:p>
                    <a:p>
                      <a:pPr algn="ctr"/>
                      <a:r>
                        <a:rPr lang="en-GB" sz="1800" kern="1200" dirty="0" smtClean="0">
                          <a:solidFill>
                            <a:schemeClr val="tx1"/>
                          </a:solidFill>
                          <a:effectLst/>
                          <a:latin typeface="+mn-lt"/>
                          <a:ea typeface="+mn-ea"/>
                          <a:cs typeface="+mn-cs"/>
                        </a:rPr>
                        <a:t>(</a:t>
                      </a:r>
                      <a:r>
                        <a:rPr lang="en-GB" sz="1800" kern="1200" dirty="0" err="1" smtClean="0">
                          <a:solidFill>
                            <a:schemeClr val="tx1"/>
                          </a:solidFill>
                          <a:effectLst/>
                          <a:latin typeface="+mn-lt"/>
                          <a:ea typeface="+mn-ea"/>
                          <a:cs typeface="+mn-cs"/>
                        </a:rPr>
                        <a:t>BDHS</a:t>
                      </a:r>
                      <a:r>
                        <a:rPr lang="en-GB" sz="1800" kern="1200" dirty="0" smtClean="0">
                          <a:solidFill>
                            <a:schemeClr val="tx1"/>
                          </a:solidFill>
                          <a:effectLst/>
                          <a:latin typeface="+mn-lt"/>
                          <a:ea typeface="+mn-ea"/>
                          <a:cs typeface="+mn-cs"/>
                        </a:rPr>
                        <a:t> 2014)</a:t>
                      </a:r>
                      <a:endParaRPr lang="en-US" sz="1800" kern="1200" dirty="0">
                        <a:solidFill>
                          <a:schemeClr val="tx1"/>
                        </a:solidFill>
                        <a:effectLst/>
                        <a:latin typeface="+mn-lt"/>
                        <a:ea typeface="+mn-ea"/>
                        <a:cs typeface="+mn-cs"/>
                      </a:endParaRP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100</a:t>
                      </a: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200" b="1" i="0" u="none" strike="noStrike" cap="none" normalizeH="0" baseline="0" dirty="0" smtClean="0">
                          <a:ln>
                            <a:noFill/>
                          </a:ln>
                          <a:solidFill>
                            <a:srgbClr val="0033CC"/>
                          </a:solidFill>
                          <a:effectLst/>
                          <a:latin typeface="Times New Roman" pitchFamily="18" charset="0"/>
                          <a:cs typeface="Times New Roman" pitchFamily="18" charset="0"/>
                          <a:sym typeface="Symbol" pitchFamily="18" charset="2"/>
                        </a:rPr>
                        <a:t>Substantial Achievement</a:t>
                      </a:r>
                      <a:endParaRPr kumimoji="0" lang="en-US" sz="1600" b="1" i="0" u="none" strike="noStrike" cap="none" normalizeH="0" baseline="0" dirty="0" smtClean="0">
                        <a:ln>
                          <a:noFill/>
                        </a:ln>
                        <a:solidFill>
                          <a:schemeClr val="tx1"/>
                        </a:solidFill>
                        <a:effectLst/>
                        <a:latin typeface="Times New Roman" pitchFamily="18" charset="0"/>
                        <a:cs typeface="Times New Roman" pitchFamily="18" charset="0"/>
                      </a:endParaRPr>
                    </a:p>
                  </a:txBody>
                  <a:tcPr marL="96924" marR="9692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r>
            </a:tbl>
          </a:graphicData>
        </a:graphic>
      </p:graphicFrame>
      <p:pic>
        <p:nvPicPr>
          <p:cNvPr id="20518" name="Picture 9" descr="C:\Documents and Settings\Mahbub_GED\Desktop\thumbnailCAZTFEOT.jpg"/>
          <p:cNvPicPr>
            <a:picLocks noChangeAspect="1" noChangeArrowheads="1"/>
          </p:cNvPicPr>
          <p:nvPr/>
        </p:nvPicPr>
        <p:blipFill>
          <a:blip r:embed="rId2"/>
          <a:srcRect/>
          <a:stretch>
            <a:fillRect/>
          </a:stretch>
        </p:blipFill>
        <p:spPr bwMode="auto">
          <a:xfrm>
            <a:off x="0" y="-25912"/>
            <a:ext cx="1859966" cy="1335423"/>
          </a:xfrm>
          <a:prstGeom prst="rect">
            <a:avLst/>
          </a:prstGeom>
          <a:noFill/>
          <a:ln w="9525">
            <a:noFill/>
            <a:miter lim="800000"/>
            <a:headEnd/>
            <a:tailEnd/>
          </a:ln>
        </p:spPr>
      </p:pic>
      <p:sp>
        <p:nvSpPr>
          <p:cNvPr id="8" name="TextBox 7"/>
          <p:cNvSpPr txBox="1"/>
          <p:nvPr/>
        </p:nvSpPr>
        <p:spPr>
          <a:xfrm>
            <a:off x="0" y="1344354"/>
            <a:ext cx="4741333" cy="5545108"/>
          </a:xfrm>
          <a:prstGeom prst="rect">
            <a:avLst/>
          </a:prstGeom>
          <a:solidFill>
            <a:schemeClr val="tx2">
              <a:lumMod val="20000"/>
              <a:lumOff val="80000"/>
            </a:schemeClr>
          </a:solidFill>
        </p:spPr>
        <p:txBody>
          <a:bodyPr wrap="square" rtlCol="0">
            <a:spAutoFit/>
          </a:bodyPr>
          <a:lstStyle/>
          <a:p>
            <a:pPr marL="204415" indent="-204415">
              <a:spcBef>
                <a:spcPts val="1088"/>
              </a:spcBef>
              <a:buFont typeface="Wingdings" pitchFamily="2" charset="2"/>
              <a:buChar char="§"/>
            </a:pPr>
            <a:r>
              <a:rPr lang="en-GB" sz="2400" dirty="0"/>
              <a:t>In order to strengthen primary healthcare facilities, the government has launched 13,126 community clinics during the 6th FYP period.</a:t>
            </a:r>
          </a:p>
          <a:p>
            <a:pPr marL="204415" indent="-204415">
              <a:spcBef>
                <a:spcPts val="1088"/>
              </a:spcBef>
              <a:buFont typeface="Wingdings" pitchFamily="2" charset="2"/>
              <a:buChar char="§"/>
            </a:pPr>
            <a:r>
              <a:rPr lang="en-GB" sz="2400" dirty="0"/>
              <a:t>The under-five mortality rate per 1000 live births in Bangladesh is lower than that of India and Pakistan.</a:t>
            </a:r>
          </a:p>
          <a:p>
            <a:pPr marL="204415" indent="-204415">
              <a:spcBef>
                <a:spcPts val="1088"/>
              </a:spcBef>
              <a:buFont typeface="Wingdings" pitchFamily="2" charset="2"/>
              <a:buChar char="§"/>
            </a:pPr>
            <a:r>
              <a:rPr lang="en-GB" sz="2400" dirty="0"/>
              <a:t>Bangladesh also performed better than India and Pakistan in case of infant mortality and children 1 year old immunized against measles.</a:t>
            </a:r>
          </a:p>
        </p:txBody>
      </p:sp>
    </p:spTree>
    <p:extLst>
      <p:ext uri="{BB962C8B-B14F-4D97-AF65-F5344CB8AC3E}">
        <p14:creationId xmlns="" xmlns:p14="http://schemas.microsoft.com/office/powerpoint/2010/main" val="8310949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1764" y="-1"/>
            <a:ext cx="10550236" cy="1083733"/>
          </a:xfrm>
          <a:solidFill>
            <a:schemeClr val="accent5"/>
          </a:solidFill>
        </p:spPr>
        <p:txBody>
          <a:bodyPr>
            <a:normAutofit fontScale="90000"/>
          </a:bodyPr>
          <a:lstStyle/>
          <a:p>
            <a:r>
              <a:rPr lang="en-US" b="1" dirty="0" smtClean="0"/>
              <a:t>Long term IMR and U5MR of Bangladesh  </a:t>
            </a:r>
            <a:endParaRPr lang="en-US" b="1" dirty="0"/>
          </a:p>
        </p:txBody>
      </p:sp>
      <p:pic>
        <p:nvPicPr>
          <p:cNvPr id="5" name="Picture 4"/>
          <p:cNvPicPr>
            <a:picLocks noChangeAspect="1"/>
          </p:cNvPicPr>
          <p:nvPr/>
        </p:nvPicPr>
        <p:blipFill>
          <a:blip r:embed="rId2"/>
          <a:stretch>
            <a:fillRect/>
          </a:stretch>
        </p:blipFill>
        <p:spPr>
          <a:xfrm>
            <a:off x="9740" y="1"/>
            <a:ext cx="1632024" cy="1083732"/>
          </a:xfrm>
          <a:prstGeom prst="rect">
            <a:avLst/>
          </a:prstGeom>
        </p:spPr>
      </p:pic>
      <p:graphicFrame>
        <p:nvGraphicFramePr>
          <p:cNvPr id="6" name="Content Placeholder 5"/>
          <p:cNvGraphicFramePr>
            <a:graphicFrameLocks noGrp="1"/>
          </p:cNvGraphicFramePr>
          <p:nvPr>
            <p:ph sz="half" idx="1"/>
            <p:extLst>
              <p:ext uri="{D42A27DB-BD31-4B8C-83A1-F6EECF244321}">
                <p14:modId xmlns="" xmlns:p14="http://schemas.microsoft.com/office/powerpoint/2010/main" val="3511582172"/>
              </p:ext>
            </p:extLst>
          </p:nvPr>
        </p:nvGraphicFramePr>
        <p:xfrm>
          <a:off x="9740" y="1083732"/>
          <a:ext cx="6010060" cy="563918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ontent Placeholder 6"/>
          <p:cNvGraphicFramePr>
            <a:graphicFrameLocks noGrp="1"/>
          </p:cNvGraphicFramePr>
          <p:nvPr>
            <p:ph sz="half" idx="2"/>
            <p:extLst>
              <p:ext uri="{D42A27DB-BD31-4B8C-83A1-F6EECF244321}">
                <p14:modId xmlns="" xmlns:p14="http://schemas.microsoft.com/office/powerpoint/2010/main" val="4098928876"/>
              </p:ext>
            </p:extLst>
          </p:nvPr>
        </p:nvGraphicFramePr>
        <p:xfrm>
          <a:off x="6172200" y="1083732"/>
          <a:ext cx="6019800" cy="567035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 xmlns:p14="http://schemas.microsoft.com/office/powerpoint/2010/main" val="39470943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p:cNvSpPr>
            <a:spLocks noGrp="1" noChangeArrowheads="1"/>
          </p:cNvSpPr>
          <p:nvPr>
            <p:ph type="title" idx="4294967295"/>
          </p:nvPr>
        </p:nvSpPr>
        <p:spPr>
          <a:xfrm>
            <a:off x="1818961" y="0"/>
            <a:ext cx="10373039" cy="1241777"/>
          </a:xfrm>
          <a:solidFill>
            <a:schemeClr val="accent5"/>
          </a:solidFill>
        </p:spPr>
        <p:txBody>
          <a:bodyPr vert="horz" lIns="94568" tIns="47284" rIns="94568" bIns="47284" rtlCol="0" anchor="ctr">
            <a:normAutofit/>
          </a:bodyPr>
          <a:lstStyle/>
          <a:p>
            <a:pPr eaLnBrk="1" hangingPunct="1"/>
            <a:r>
              <a:rPr lang="en-US" sz="3264" b="1" dirty="0">
                <a:latin typeface="Times New Roman" pitchFamily="18" charset="0"/>
                <a:cs typeface="Times New Roman" pitchFamily="18" charset="0"/>
              </a:rPr>
              <a:t>Goal 5: Improve Maternal Health</a:t>
            </a:r>
          </a:p>
        </p:txBody>
      </p:sp>
      <p:graphicFrame>
        <p:nvGraphicFramePr>
          <p:cNvPr id="85054" name="Group 62"/>
          <p:cNvGraphicFramePr>
            <a:graphicFrameLocks noGrp="1"/>
          </p:cNvGraphicFramePr>
          <p:nvPr>
            <p:extLst>
              <p:ext uri="{D42A27DB-BD31-4B8C-83A1-F6EECF244321}">
                <p14:modId xmlns="" xmlns:p14="http://schemas.microsoft.com/office/powerpoint/2010/main" val="3335178832"/>
              </p:ext>
            </p:extLst>
          </p:nvPr>
        </p:nvGraphicFramePr>
        <p:xfrm>
          <a:off x="5023554" y="1297868"/>
          <a:ext cx="7168445" cy="5262980"/>
        </p:xfrm>
        <a:graphic>
          <a:graphicData uri="http://schemas.openxmlformats.org/drawingml/2006/table">
            <a:tbl>
              <a:tblPr/>
              <a:tblGrid>
                <a:gridCol w="3119293"/>
                <a:gridCol w="825695"/>
                <a:gridCol w="1192670"/>
                <a:gridCol w="1009183"/>
                <a:gridCol w="1021604"/>
              </a:tblGrid>
              <a:tr h="68126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defRPr/>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Targets Achieved</a:t>
                      </a:r>
                    </a:p>
                  </a:txBody>
                  <a:tcPr marL="96924" marR="96924"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EBBF3"/>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Base Year</a:t>
                      </a: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EBBF3"/>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Current Status</a:t>
                      </a: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EBBF3"/>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Target 2015</a:t>
                      </a: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EBBF3"/>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Status</a:t>
                      </a:r>
                    </a:p>
                  </a:txBody>
                  <a:tcPr marL="96924" marR="96924" marT="45723" marB="4572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EBBF3"/>
                    </a:solidFill>
                  </a:tcPr>
                </a:tc>
              </a:tr>
              <a:tr h="965181">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Maternal Mortality Ratio </a:t>
                      </a: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 per 100,000 live births) </a:t>
                      </a:r>
                    </a:p>
                  </a:txBody>
                  <a:tcPr marL="96924" marR="96924"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smtClean="0">
                          <a:ln>
                            <a:noFill/>
                          </a:ln>
                          <a:solidFill>
                            <a:schemeClr val="tx1"/>
                          </a:solidFill>
                          <a:effectLst/>
                          <a:latin typeface="Times New Roman" pitchFamily="18" charset="0"/>
                          <a:cs typeface="Times New Roman" pitchFamily="18" charset="0"/>
                        </a:rPr>
                        <a:t>574</a:t>
                      </a:r>
                      <a:endParaRPr kumimoji="0" lang="en-US" sz="2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algn="ctr">
                        <a:lnSpc>
                          <a:spcPct val="100000"/>
                        </a:lnSpc>
                      </a:pPr>
                      <a:r>
                        <a:rPr lang="en-GB" sz="1800" b="1" kern="1200" dirty="0" smtClean="0">
                          <a:solidFill>
                            <a:schemeClr val="tx1"/>
                          </a:solidFill>
                          <a:effectLst/>
                          <a:latin typeface="+mn-lt"/>
                          <a:ea typeface="+mn-ea"/>
                          <a:cs typeface="+mn-cs"/>
                        </a:rPr>
                        <a:t>176 </a:t>
                      </a:r>
                    </a:p>
                    <a:p>
                      <a:pPr algn="ctr">
                        <a:lnSpc>
                          <a:spcPct val="100000"/>
                        </a:lnSpc>
                      </a:pPr>
                      <a:r>
                        <a:rPr lang="en-GB" sz="1400" kern="1200" dirty="0" smtClean="0">
                          <a:solidFill>
                            <a:schemeClr val="tx1"/>
                          </a:solidFill>
                          <a:effectLst/>
                          <a:latin typeface="+mn-lt"/>
                          <a:ea typeface="+mn-ea"/>
                          <a:cs typeface="+mn-cs"/>
                        </a:rPr>
                        <a:t>(MMEIG 2015)</a:t>
                      </a:r>
                      <a:endParaRPr lang="en-US" sz="1400" kern="1200" dirty="0">
                        <a:solidFill>
                          <a:schemeClr val="tx1"/>
                        </a:solidFill>
                        <a:effectLst/>
                        <a:latin typeface="+mn-lt"/>
                        <a:ea typeface="+mn-ea"/>
                        <a:cs typeface="+mn-cs"/>
                      </a:endParaRP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143</a:t>
                      </a: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600" b="1" i="0" u="none" strike="noStrike" cap="none" normalizeH="0" baseline="0" dirty="0" smtClean="0">
                          <a:ln>
                            <a:noFill/>
                          </a:ln>
                          <a:solidFill>
                            <a:srgbClr val="0033CC"/>
                          </a:solidFill>
                          <a:effectLst/>
                          <a:latin typeface="Times New Roman" pitchFamily="18" charset="0"/>
                          <a:cs typeface="Times New Roman" pitchFamily="18" charset="0"/>
                          <a:sym typeface="Symbol" pitchFamily="18" charset="2"/>
                        </a:rPr>
                        <a:t>Substantial Progress</a:t>
                      </a:r>
                      <a:endParaRPr kumimoji="0" lang="en-US" sz="2000" b="1" i="0" u="none" strike="noStrike" cap="none" normalizeH="0" baseline="0" dirty="0" smtClean="0">
                        <a:ln>
                          <a:noFill/>
                        </a:ln>
                        <a:solidFill>
                          <a:schemeClr val="tx1"/>
                        </a:solidFill>
                        <a:effectLst/>
                        <a:latin typeface="Times New Roman" pitchFamily="18" charset="0"/>
                        <a:cs typeface="Times New Roman" pitchFamily="18" charset="0"/>
                      </a:endParaRPr>
                    </a:p>
                  </a:txBody>
                  <a:tcPr marL="96924" marR="96924" marT="45723" marB="4572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r>
              <a:tr h="10705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Proportion of births attended by Skill Health Personnel (%)</a:t>
                      </a:r>
                    </a:p>
                  </a:txBody>
                  <a:tcPr marL="96924" marR="96924"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5.0</a:t>
                      </a: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algn="ctr">
                        <a:lnSpc>
                          <a:spcPct val="100000"/>
                        </a:lnSpc>
                      </a:pPr>
                      <a:r>
                        <a:rPr lang="en-GB" sz="1800" b="1" kern="1200" dirty="0" smtClean="0">
                          <a:solidFill>
                            <a:schemeClr val="tx1"/>
                          </a:solidFill>
                          <a:effectLst/>
                          <a:latin typeface="+mn-lt"/>
                          <a:ea typeface="+mn-ea"/>
                          <a:cs typeface="+mn-cs"/>
                        </a:rPr>
                        <a:t>42.1</a:t>
                      </a:r>
                      <a:r>
                        <a:rPr lang="en-GB" sz="1800" b="1" kern="1200" baseline="0" dirty="0" smtClean="0">
                          <a:solidFill>
                            <a:schemeClr val="tx1"/>
                          </a:solidFill>
                          <a:effectLst/>
                          <a:latin typeface="+mn-lt"/>
                          <a:ea typeface="+mn-ea"/>
                          <a:cs typeface="+mn-cs"/>
                        </a:rPr>
                        <a:t> </a:t>
                      </a:r>
                    </a:p>
                    <a:p>
                      <a:pPr algn="ctr">
                        <a:lnSpc>
                          <a:spcPct val="100000"/>
                        </a:lnSpc>
                      </a:pPr>
                      <a:r>
                        <a:rPr lang="en-GB" sz="1400" kern="1200" dirty="0" smtClean="0">
                          <a:solidFill>
                            <a:schemeClr val="tx1"/>
                          </a:solidFill>
                          <a:effectLst/>
                          <a:latin typeface="+mn-lt"/>
                          <a:ea typeface="+mn-ea"/>
                          <a:cs typeface="+mn-cs"/>
                        </a:rPr>
                        <a:t>(</a:t>
                      </a:r>
                      <a:r>
                        <a:rPr lang="en-GB" sz="1400" kern="1200" dirty="0" err="1" smtClean="0">
                          <a:solidFill>
                            <a:schemeClr val="tx1"/>
                          </a:solidFill>
                          <a:effectLst/>
                          <a:latin typeface="+mn-lt"/>
                          <a:ea typeface="+mn-ea"/>
                          <a:cs typeface="+mn-cs"/>
                        </a:rPr>
                        <a:t>BDHS</a:t>
                      </a:r>
                      <a:r>
                        <a:rPr lang="en-GB" sz="1400" kern="1200" dirty="0" smtClean="0">
                          <a:solidFill>
                            <a:schemeClr val="tx1"/>
                          </a:solidFill>
                          <a:effectLst/>
                          <a:latin typeface="+mn-lt"/>
                          <a:ea typeface="+mn-ea"/>
                          <a:cs typeface="+mn-cs"/>
                        </a:rPr>
                        <a:t> 2014)</a:t>
                      </a:r>
                      <a:endParaRPr lang="en-US" sz="1400" kern="1200" dirty="0">
                        <a:solidFill>
                          <a:schemeClr val="tx1"/>
                        </a:solidFill>
                        <a:effectLst/>
                        <a:latin typeface="+mn-lt"/>
                        <a:ea typeface="+mn-ea"/>
                        <a:cs typeface="+mn-cs"/>
                      </a:endParaRP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50.0</a:t>
                      </a: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600" b="1" i="0" u="none" strike="noStrike" cap="none" normalizeH="0" baseline="0" dirty="0" smtClean="0">
                          <a:ln>
                            <a:noFill/>
                          </a:ln>
                          <a:solidFill>
                            <a:srgbClr val="0033CC"/>
                          </a:solidFill>
                          <a:effectLst/>
                          <a:latin typeface="Times New Roman" pitchFamily="18" charset="0"/>
                          <a:cs typeface="Times New Roman" pitchFamily="18" charset="0"/>
                          <a:sym typeface="Symbol" pitchFamily="18" charset="2"/>
                        </a:rPr>
                        <a:t>Ditto</a:t>
                      </a:r>
                      <a:endParaRPr kumimoji="0" lang="en-US" sz="2000" b="1" i="0" u="none" strike="noStrike" cap="none" normalizeH="0" baseline="0" dirty="0" smtClean="0">
                        <a:ln>
                          <a:noFill/>
                        </a:ln>
                        <a:solidFill>
                          <a:schemeClr val="tx1"/>
                        </a:solidFill>
                        <a:effectLst/>
                        <a:latin typeface="Times New Roman" pitchFamily="18" charset="0"/>
                        <a:cs typeface="Times New Roman" pitchFamily="18" charset="0"/>
                      </a:endParaRPr>
                    </a:p>
                  </a:txBody>
                  <a:tcPr marL="96924" marR="96924" marT="45723" marB="4572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r>
              <a:tr h="765365">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Contraceptive Prevalence Rate (%) </a:t>
                      </a:r>
                    </a:p>
                  </a:txBody>
                  <a:tcPr marL="96924" marR="96924"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39.7</a:t>
                      </a: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lang="en-GB" sz="1800" b="1" kern="1200" dirty="0" smtClean="0">
                          <a:solidFill>
                            <a:schemeClr val="tx1"/>
                          </a:solidFill>
                          <a:effectLst/>
                          <a:latin typeface="+mn-lt"/>
                          <a:ea typeface="+mn-ea"/>
                          <a:cs typeface="+mn-cs"/>
                        </a:rPr>
                        <a:t>62.1 </a:t>
                      </a:r>
                    </a:p>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lang="en-GB" sz="1400" kern="1200" dirty="0" smtClean="0">
                          <a:solidFill>
                            <a:schemeClr val="tx1"/>
                          </a:solidFill>
                          <a:effectLst/>
                          <a:latin typeface="+mn-lt"/>
                          <a:ea typeface="+mn-ea"/>
                          <a:cs typeface="+mn-cs"/>
                        </a:rPr>
                        <a:t>(SVRS 2015)</a:t>
                      </a:r>
                      <a:endParaRPr kumimoji="0" lang="en-US" sz="14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72</a:t>
                      </a: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defRPr/>
                      </a:pPr>
                      <a:r>
                        <a:rPr kumimoji="0" lang="en-US" sz="1600" b="1" i="0" u="none" strike="noStrike" cap="none" normalizeH="0" baseline="0" dirty="0" smtClean="0">
                          <a:ln>
                            <a:noFill/>
                          </a:ln>
                          <a:solidFill>
                            <a:srgbClr val="0033CC"/>
                          </a:solidFill>
                          <a:effectLst/>
                          <a:latin typeface="Times New Roman" pitchFamily="18" charset="0"/>
                          <a:cs typeface="Times New Roman" pitchFamily="18" charset="0"/>
                          <a:sym typeface="Symbol" pitchFamily="18" charset="2"/>
                        </a:rPr>
                        <a:t>On Track</a:t>
                      </a:r>
                      <a:endParaRPr kumimoji="0" lang="en-US" sz="2400" b="1" i="0" u="none" strike="noStrike" cap="none" normalizeH="0" baseline="0" dirty="0" smtClean="0">
                        <a:ln>
                          <a:noFill/>
                        </a:ln>
                        <a:solidFill>
                          <a:srgbClr val="0000FF"/>
                        </a:solidFill>
                        <a:effectLst/>
                        <a:latin typeface="Times New Roman" pitchFamily="18" charset="0"/>
                        <a:cs typeface="Times New Roman" pitchFamily="18" charset="0"/>
                      </a:endParaRPr>
                    </a:p>
                  </a:txBody>
                  <a:tcPr marL="96924" marR="96924" marT="45723" marB="4572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r>
              <a:tr h="951582">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Antenatal Care  coverage (at least 1 visit) %</a:t>
                      </a:r>
                    </a:p>
                  </a:txBody>
                  <a:tcPr marL="96924" marR="96924"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27.5</a:t>
                      </a: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algn="ctr">
                        <a:lnSpc>
                          <a:spcPct val="100000"/>
                        </a:lnSpc>
                      </a:pPr>
                      <a:r>
                        <a:rPr lang="en-GB" sz="1800" b="1" kern="1200" dirty="0" smtClean="0">
                          <a:solidFill>
                            <a:schemeClr val="tx1"/>
                          </a:solidFill>
                          <a:effectLst/>
                          <a:latin typeface="+mn-lt"/>
                          <a:ea typeface="+mn-ea"/>
                          <a:cs typeface="+mn-cs"/>
                        </a:rPr>
                        <a:t>75 </a:t>
                      </a:r>
                    </a:p>
                    <a:p>
                      <a:pPr algn="ctr">
                        <a:lnSpc>
                          <a:spcPct val="100000"/>
                        </a:lnSpc>
                      </a:pPr>
                      <a:r>
                        <a:rPr lang="en-GB" sz="1400" kern="1200" dirty="0" smtClean="0">
                          <a:solidFill>
                            <a:schemeClr val="tx1"/>
                          </a:solidFill>
                          <a:effectLst/>
                          <a:latin typeface="+mn-lt"/>
                          <a:ea typeface="+mn-ea"/>
                          <a:cs typeface="+mn-cs"/>
                        </a:rPr>
                        <a:t>(SVRS 2015)</a:t>
                      </a:r>
                      <a:endParaRPr kumimoji="0" lang="en-US" sz="14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100</a:t>
                      </a: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600" b="1" i="0" u="none" strike="noStrike" cap="none" normalizeH="0" baseline="0" dirty="0" smtClean="0">
                          <a:ln>
                            <a:noFill/>
                          </a:ln>
                          <a:solidFill>
                            <a:srgbClr val="0033CC"/>
                          </a:solidFill>
                          <a:effectLst/>
                          <a:latin typeface="Times New Roman" pitchFamily="18" charset="0"/>
                          <a:cs typeface="Times New Roman" pitchFamily="18" charset="0"/>
                          <a:sym typeface="Symbol" pitchFamily="18" charset="2"/>
                        </a:rPr>
                        <a:t>Substantial Progress</a:t>
                      </a:r>
                      <a:endParaRPr kumimoji="0" lang="en-US" sz="2000" b="1" i="0" u="none" strike="noStrike" cap="none" normalizeH="0" baseline="0" dirty="0" smtClean="0">
                        <a:ln>
                          <a:noFill/>
                        </a:ln>
                        <a:solidFill>
                          <a:schemeClr val="tx1"/>
                        </a:solidFill>
                        <a:effectLst/>
                        <a:latin typeface="Times New Roman" pitchFamily="18" charset="0"/>
                        <a:cs typeface="Times New Roman" pitchFamily="18" charset="0"/>
                      </a:endParaRPr>
                    </a:p>
                  </a:txBody>
                  <a:tcPr marL="96924" marR="96924" marT="45723" marB="4572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r>
              <a:tr h="829041">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Antenatal Care coverage (at least 4 visits) %</a:t>
                      </a:r>
                    </a:p>
                  </a:txBody>
                  <a:tcPr marL="96924" marR="96924"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5.5</a:t>
                      </a: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75000"/>
                      </a:schemeClr>
                    </a:solidFill>
                  </a:tcPr>
                </a:tc>
                <a:tc>
                  <a:txBody>
                    <a:bodyPr/>
                    <a:lstStyle/>
                    <a:p>
                      <a:pPr algn="ctr">
                        <a:lnSpc>
                          <a:spcPct val="100000"/>
                        </a:lnSpc>
                      </a:pPr>
                      <a:r>
                        <a:rPr lang="en-GB" sz="1800" b="1" kern="1200" dirty="0" smtClean="0">
                          <a:solidFill>
                            <a:schemeClr val="tx1"/>
                          </a:solidFill>
                          <a:effectLst/>
                          <a:latin typeface="+mn-lt"/>
                          <a:ea typeface="+mn-ea"/>
                          <a:cs typeface="+mn-cs"/>
                        </a:rPr>
                        <a:t>31.2 </a:t>
                      </a:r>
                    </a:p>
                    <a:p>
                      <a:pPr algn="ctr">
                        <a:lnSpc>
                          <a:spcPct val="100000"/>
                        </a:lnSpc>
                      </a:pPr>
                      <a:r>
                        <a:rPr lang="en-GB" sz="1400" kern="1200" dirty="0" smtClean="0">
                          <a:solidFill>
                            <a:schemeClr val="tx1"/>
                          </a:solidFill>
                          <a:effectLst/>
                          <a:latin typeface="+mn-lt"/>
                          <a:ea typeface="+mn-ea"/>
                          <a:cs typeface="+mn-cs"/>
                        </a:rPr>
                        <a:t>(</a:t>
                      </a:r>
                      <a:r>
                        <a:rPr lang="en-GB" sz="1400" kern="1200" dirty="0" err="1" smtClean="0">
                          <a:solidFill>
                            <a:schemeClr val="tx1"/>
                          </a:solidFill>
                          <a:effectLst/>
                          <a:latin typeface="+mn-lt"/>
                          <a:ea typeface="+mn-ea"/>
                          <a:cs typeface="+mn-cs"/>
                        </a:rPr>
                        <a:t>BDHS</a:t>
                      </a:r>
                      <a:r>
                        <a:rPr lang="en-GB" sz="1400" kern="1200" dirty="0" smtClean="0">
                          <a:solidFill>
                            <a:schemeClr val="tx1"/>
                          </a:solidFill>
                          <a:effectLst/>
                          <a:latin typeface="+mn-lt"/>
                          <a:ea typeface="+mn-ea"/>
                          <a:cs typeface="+mn-cs"/>
                        </a:rPr>
                        <a:t> 2014)</a:t>
                      </a:r>
                      <a:endParaRPr kumimoji="0" lang="en-US" sz="14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50</a:t>
                      </a: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600" b="1" i="0" u="none" strike="noStrike" cap="none" normalizeH="0" baseline="0" dirty="0" smtClean="0">
                          <a:ln>
                            <a:noFill/>
                          </a:ln>
                          <a:solidFill>
                            <a:srgbClr val="0033CC"/>
                          </a:solidFill>
                          <a:effectLst/>
                          <a:latin typeface="Times New Roman" pitchFamily="18" charset="0"/>
                          <a:cs typeface="Times New Roman" pitchFamily="18" charset="0"/>
                          <a:sym typeface="Symbol" pitchFamily="18" charset="2"/>
                        </a:rPr>
                        <a:t>Ditto</a:t>
                      </a:r>
                      <a:endParaRPr kumimoji="0" lang="en-US" sz="2000" b="1" i="0" u="none" strike="noStrike" cap="none" normalizeH="0" baseline="0" dirty="0" smtClean="0">
                        <a:ln>
                          <a:noFill/>
                        </a:ln>
                        <a:solidFill>
                          <a:schemeClr val="tx1"/>
                        </a:solidFill>
                        <a:effectLst/>
                        <a:latin typeface="Times New Roman" pitchFamily="18" charset="0"/>
                        <a:cs typeface="Times New Roman" pitchFamily="18" charset="0"/>
                      </a:endParaRPr>
                    </a:p>
                  </a:txBody>
                  <a:tcPr marL="96924" marR="96924" marT="45723" marB="4572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75000"/>
                      </a:schemeClr>
                    </a:solidFill>
                  </a:tcPr>
                </a:tc>
              </a:tr>
            </a:tbl>
          </a:graphicData>
        </a:graphic>
      </p:graphicFrame>
      <p:pic>
        <p:nvPicPr>
          <p:cNvPr id="22584" name="Picture 13" descr="C:\Documents and Settings\Mahbub_GED\Desktop\thumbnailCA3X891M.jpg"/>
          <p:cNvPicPr>
            <a:picLocks noChangeAspect="1" noChangeArrowheads="1"/>
          </p:cNvPicPr>
          <p:nvPr/>
        </p:nvPicPr>
        <p:blipFill>
          <a:blip r:embed="rId2"/>
          <a:srcRect/>
          <a:stretch>
            <a:fillRect/>
          </a:stretch>
        </p:blipFill>
        <p:spPr bwMode="auto">
          <a:xfrm>
            <a:off x="0" y="-25912"/>
            <a:ext cx="1818961" cy="1267689"/>
          </a:xfrm>
          <a:prstGeom prst="rect">
            <a:avLst/>
          </a:prstGeom>
          <a:noFill/>
          <a:ln w="9525">
            <a:noFill/>
            <a:miter lim="800000"/>
            <a:headEnd/>
            <a:tailEnd/>
          </a:ln>
        </p:spPr>
      </p:pic>
      <p:sp>
        <p:nvSpPr>
          <p:cNvPr id="8" name="TextBox 7"/>
          <p:cNvSpPr txBox="1"/>
          <p:nvPr/>
        </p:nvSpPr>
        <p:spPr>
          <a:xfrm>
            <a:off x="82148" y="1297869"/>
            <a:ext cx="4862385" cy="5262979"/>
          </a:xfrm>
          <a:prstGeom prst="rect">
            <a:avLst/>
          </a:prstGeom>
          <a:solidFill>
            <a:schemeClr val="bg2"/>
          </a:solidFill>
        </p:spPr>
        <p:txBody>
          <a:bodyPr wrap="square" rtlCol="0">
            <a:spAutoFit/>
          </a:bodyPr>
          <a:lstStyle/>
          <a:p>
            <a:pPr marL="310942" indent="-310942">
              <a:buFont typeface="Wingdings" pitchFamily="2" charset="2"/>
              <a:buChar char="§"/>
            </a:pPr>
            <a:r>
              <a:rPr lang="en-US" sz="2400" i="1" dirty="0"/>
              <a:t>Contraceptive Prevalence Rate &amp; Maternal Mortality Ratio</a:t>
            </a:r>
            <a:r>
              <a:rPr lang="en-US" sz="2400" dirty="0"/>
              <a:t>: Other than Maldives and Sri Lanka, Bangladesh’s achievement is impressive than other South Asian countries.</a:t>
            </a:r>
          </a:p>
          <a:p>
            <a:pPr marL="310942" indent="-310942">
              <a:buFont typeface="Wingdings" pitchFamily="2" charset="2"/>
              <a:buChar char="§"/>
            </a:pPr>
            <a:r>
              <a:rPr lang="en-GB" sz="2400" dirty="0"/>
              <a:t>Health and Population Sector Programme (HPSP), followed by Health Population and Nutrition Sector Development Program (HPNSDP) sought to improve the state of health of the people of the country with focus on women, child and the poor.</a:t>
            </a:r>
          </a:p>
        </p:txBody>
      </p:sp>
    </p:spTree>
    <p:extLst>
      <p:ext uri="{BB962C8B-B14F-4D97-AF65-F5344CB8AC3E}">
        <p14:creationId xmlns="" xmlns:p14="http://schemas.microsoft.com/office/powerpoint/2010/main" val="29405582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86597" y="24729"/>
            <a:ext cx="10405403" cy="934827"/>
          </a:xfrm>
          <a:solidFill>
            <a:schemeClr val="accent5"/>
          </a:solidFill>
        </p:spPr>
        <p:txBody>
          <a:bodyPr>
            <a:normAutofit/>
          </a:bodyPr>
          <a:lstStyle/>
          <a:p>
            <a:r>
              <a:rPr lang="en-US" b="1" dirty="0" smtClean="0"/>
              <a:t>MMR and Birth attended by Skilled HP</a:t>
            </a:r>
            <a:endParaRPr lang="en-US" b="1" dirty="0"/>
          </a:p>
        </p:txBody>
      </p:sp>
      <p:graphicFrame>
        <p:nvGraphicFramePr>
          <p:cNvPr id="5" name="Content Placeholder 4"/>
          <p:cNvGraphicFramePr>
            <a:graphicFrameLocks noGrp="1"/>
          </p:cNvGraphicFramePr>
          <p:nvPr>
            <p:ph sz="half" idx="1"/>
            <p:extLst>
              <p:ext uri="{D42A27DB-BD31-4B8C-83A1-F6EECF244321}">
                <p14:modId xmlns="" xmlns:p14="http://schemas.microsoft.com/office/powerpoint/2010/main" val="2255371992"/>
              </p:ext>
            </p:extLst>
          </p:nvPr>
        </p:nvGraphicFramePr>
        <p:xfrm>
          <a:off x="1" y="959557"/>
          <a:ext cx="6019800" cy="5763362"/>
        </p:xfrm>
        <a:graphic>
          <a:graphicData uri="http://schemas.openxmlformats.org/drawingml/2006/chart">
            <c:chart xmlns:c="http://schemas.openxmlformats.org/drawingml/2006/chart" xmlns:r="http://schemas.openxmlformats.org/officeDocument/2006/relationships" r:id="rId2"/>
          </a:graphicData>
        </a:graphic>
      </p:graphicFrame>
      <p:pic>
        <p:nvPicPr>
          <p:cNvPr id="6" name="Picture 5"/>
          <p:cNvPicPr>
            <a:picLocks noChangeAspect="1"/>
          </p:cNvPicPr>
          <p:nvPr/>
        </p:nvPicPr>
        <p:blipFill>
          <a:blip r:embed="rId3"/>
          <a:stretch>
            <a:fillRect/>
          </a:stretch>
        </p:blipFill>
        <p:spPr>
          <a:xfrm>
            <a:off x="21400" y="24729"/>
            <a:ext cx="1765197" cy="934827"/>
          </a:xfrm>
          <a:prstGeom prst="rect">
            <a:avLst/>
          </a:prstGeom>
        </p:spPr>
      </p:pic>
      <p:graphicFrame>
        <p:nvGraphicFramePr>
          <p:cNvPr id="7" name="Content Placeholder 6"/>
          <p:cNvGraphicFramePr>
            <a:graphicFrameLocks noGrp="1"/>
          </p:cNvGraphicFramePr>
          <p:nvPr>
            <p:ph sz="half" idx="2"/>
            <p:extLst>
              <p:ext uri="{D42A27DB-BD31-4B8C-83A1-F6EECF244321}">
                <p14:modId xmlns="" xmlns:p14="http://schemas.microsoft.com/office/powerpoint/2010/main" val="2123797336"/>
              </p:ext>
            </p:extLst>
          </p:nvPr>
        </p:nvGraphicFramePr>
        <p:xfrm>
          <a:off x="6172199" y="959556"/>
          <a:ext cx="6019801" cy="572179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 xmlns:p14="http://schemas.microsoft.com/office/powerpoint/2010/main" val="9709992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
          <p:cNvSpPr>
            <a:spLocks noGrp="1" noChangeArrowheads="1"/>
          </p:cNvSpPr>
          <p:nvPr>
            <p:ph type="title" idx="4294967295"/>
          </p:nvPr>
        </p:nvSpPr>
        <p:spPr>
          <a:xfrm>
            <a:off x="1847817" y="0"/>
            <a:ext cx="10344183" cy="942535"/>
          </a:xfrm>
          <a:solidFill>
            <a:schemeClr val="accent5"/>
          </a:solidFill>
        </p:spPr>
        <p:txBody>
          <a:bodyPr vert="horz" lIns="94568" tIns="47284" rIns="94568" bIns="47284" rtlCol="0" anchor="ctr">
            <a:normAutofit/>
          </a:bodyPr>
          <a:lstStyle/>
          <a:p>
            <a:pPr marL="787432" indent="-787432"/>
            <a:r>
              <a:rPr lang="en-US" sz="3000" b="1" dirty="0">
                <a:latin typeface="Times New Roman" pitchFamily="18" charset="0"/>
                <a:cs typeface="Times New Roman" pitchFamily="18" charset="0"/>
              </a:rPr>
              <a:t>Goal 6: Combat HIV/AIDS, Malaria and Other Diseases</a:t>
            </a:r>
          </a:p>
        </p:txBody>
      </p:sp>
      <p:graphicFrame>
        <p:nvGraphicFramePr>
          <p:cNvPr id="86098" name="Group 82"/>
          <p:cNvGraphicFramePr>
            <a:graphicFrameLocks noGrp="1"/>
          </p:cNvGraphicFramePr>
          <p:nvPr>
            <p:extLst>
              <p:ext uri="{D42A27DB-BD31-4B8C-83A1-F6EECF244321}">
                <p14:modId xmlns="" xmlns:p14="http://schemas.microsoft.com/office/powerpoint/2010/main" val="2484073992"/>
              </p:ext>
            </p:extLst>
          </p:nvPr>
        </p:nvGraphicFramePr>
        <p:xfrm>
          <a:off x="4143021" y="970845"/>
          <a:ext cx="8048978" cy="5887153"/>
        </p:xfrm>
        <a:graphic>
          <a:graphicData uri="http://schemas.openxmlformats.org/drawingml/2006/table">
            <a:tbl>
              <a:tblPr/>
              <a:tblGrid>
                <a:gridCol w="3320916"/>
                <a:gridCol w="1105245"/>
                <a:gridCol w="1358660"/>
                <a:gridCol w="1071261"/>
                <a:gridCol w="1192896"/>
              </a:tblGrid>
              <a:tr h="870569">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defRPr/>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Targets Achieved</a:t>
                      </a:r>
                    </a:p>
                  </a:txBody>
                  <a:tcPr marL="96924" marR="96924"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6767"/>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Base Year</a:t>
                      </a: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6767"/>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Current Status </a:t>
                      </a: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6767"/>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Target 2015</a:t>
                      </a: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6767"/>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Status</a:t>
                      </a:r>
                    </a:p>
                  </a:txBody>
                  <a:tcPr marL="96924" marR="96924" marT="45723" marB="4572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F6767"/>
                    </a:solidFill>
                  </a:tcPr>
                </a:tc>
              </a:tr>
              <a:tr h="710773">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HIV prevalence  among  population (%)</a:t>
                      </a:r>
                    </a:p>
                  </a:txBody>
                  <a:tcPr marL="96924" marR="96924"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0.005</a:t>
                      </a: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p>
                      <a:pPr marL="0" marR="0" algn="ctr">
                        <a:lnSpc>
                          <a:spcPct val="95000"/>
                        </a:lnSpc>
                        <a:spcBef>
                          <a:spcPts val="0"/>
                        </a:spcBef>
                        <a:spcAft>
                          <a:spcPts val="0"/>
                        </a:spcAft>
                        <a:tabLst>
                          <a:tab pos="5360670" algn="l"/>
                        </a:tabLst>
                      </a:pPr>
                      <a:r>
                        <a:rPr lang="en-GB" sz="16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&lt;0.1</a:t>
                      </a:r>
                      <a:r>
                        <a:rPr lang="en-GB"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GB" sz="1100" dirty="0" smtClean="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r>
                        <a:rPr lang="en-GB" sz="1100" dirty="0" err="1" smtClean="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UNAIDS</a:t>
                      </a:r>
                      <a:r>
                        <a:rPr lang="en-GB" sz="1100" dirty="0" smtClean="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2013</a:t>
                      </a:r>
                      <a:r>
                        <a:rPr lang="en-GB"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2188" marR="621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600" b="0" i="0" u="none" strike="noStrike" cap="none" normalizeH="0" baseline="0" dirty="0" smtClean="0">
                          <a:ln>
                            <a:noFill/>
                          </a:ln>
                          <a:solidFill>
                            <a:schemeClr val="tx1"/>
                          </a:solidFill>
                          <a:effectLst/>
                          <a:latin typeface="Times New Roman" pitchFamily="18" charset="0"/>
                          <a:cs typeface="Times New Roman" pitchFamily="18" charset="0"/>
                        </a:rPr>
                        <a:t>Halting</a:t>
                      </a: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defRPr/>
                      </a:pPr>
                      <a:r>
                        <a:rPr kumimoji="0" lang="en-US" sz="1600" b="1" i="0" u="none" strike="noStrike" cap="none" normalizeH="0" baseline="0" dirty="0" smtClean="0">
                          <a:ln>
                            <a:noFill/>
                          </a:ln>
                          <a:solidFill>
                            <a:srgbClr val="0033CC"/>
                          </a:solidFill>
                          <a:effectLst/>
                          <a:latin typeface="+mn-lt"/>
                          <a:cs typeface="+mn-cs"/>
                          <a:sym typeface="Symbol" pitchFamily="18" charset="2"/>
                        </a:rPr>
                        <a:t>On Track</a:t>
                      </a:r>
                      <a:endParaRPr kumimoji="0" lang="en-US" sz="2400" b="1" i="0" u="none" strike="noStrike" cap="none" normalizeH="0" baseline="0" dirty="0" smtClean="0">
                        <a:ln>
                          <a:noFill/>
                        </a:ln>
                        <a:solidFill>
                          <a:srgbClr val="0000FF"/>
                        </a:solidFill>
                        <a:effectLst/>
                        <a:latin typeface="Times New Roman" pitchFamily="18" charset="0"/>
                        <a:cs typeface="Times New Roman" pitchFamily="18" charset="0"/>
                      </a:endParaRPr>
                    </a:p>
                  </a:txBody>
                  <a:tcPr marL="96924" marR="96924" marT="45723" marB="4572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r>
              <a:tr h="870413">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Prevalence of Malaria per 100,000 </a:t>
                      </a:r>
                      <a:r>
                        <a:rPr kumimoji="0" lang="en-US" sz="1800" b="0" i="0" u="none" strike="noStrike" cap="none" normalizeH="0" baseline="0" dirty="0" err="1" smtClean="0">
                          <a:ln>
                            <a:noFill/>
                          </a:ln>
                          <a:solidFill>
                            <a:schemeClr val="tx1"/>
                          </a:solidFill>
                          <a:effectLst/>
                          <a:latin typeface="Times New Roman" pitchFamily="18" charset="0"/>
                          <a:cs typeface="Times New Roman" pitchFamily="18" charset="0"/>
                        </a:rPr>
                        <a:t>Pop</a:t>
                      </a:r>
                      <a:r>
                        <a:rPr kumimoji="0" lang="en-US" sz="1800" b="0" i="0" u="none" strike="noStrike" cap="none" normalizeH="0" baseline="30000" dirty="0" err="1" smtClean="0">
                          <a:ln>
                            <a:noFill/>
                          </a:ln>
                          <a:solidFill>
                            <a:schemeClr val="tx1"/>
                          </a:solidFill>
                          <a:effectLst/>
                          <a:latin typeface="Times New Roman" pitchFamily="18" charset="0"/>
                          <a:cs typeface="Times New Roman" pitchFamily="18" charset="0"/>
                        </a:rPr>
                        <a:t>n</a:t>
                      </a:r>
                      <a:endParaRPr kumimoji="0" lang="en-US" sz="1800" b="0" i="0" u="none" strike="noStrike" cap="none" normalizeH="0" baseline="30000" dirty="0" smtClean="0">
                        <a:ln>
                          <a:noFill/>
                        </a:ln>
                        <a:solidFill>
                          <a:schemeClr val="tx1"/>
                        </a:solidFill>
                        <a:effectLst/>
                        <a:latin typeface="Times New Roman" pitchFamily="18" charset="0"/>
                        <a:cs typeface="Times New Roman" pitchFamily="18" charset="0"/>
                      </a:endParaRPr>
                    </a:p>
                  </a:txBody>
                  <a:tcPr marL="96924" marR="96924"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776.9</a:t>
                      </a: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tc>
                  <a:txBody>
                    <a:bodyPr/>
                    <a:lstStyle/>
                    <a:p>
                      <a:pPr marL="0" marR="0" algn="ctr">
                        <a:lnSpc>
                          <a:spcPct val="95000"/>
                        </a:lnSpc>
                        <a:spcBef>
                          <a:spcPts val="0"/>
                        </a:spcBef>
                        <a:spcAft>
                          <a:spcPts val="0"/>
                        </a:spcAft>
                        <a:tabLst>
                          <a:tab pos="5360670" algn="l"/>
                        </a:tabLst>
                      </a:pPr>
                      <a:r>
                        <a:rPr lang="en-GB" sz="1800" b="1" dirty="0" smtClean="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434</a:t>
                      </a:r>
                      <a:r>
                        <a:rPr lang="en-GB" sz="1800" b="1" baseline="0" dirty="0" smtClean="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p>
                    <a:p>
                      <a:pPr marL="0" marR="0" algn="ctr">
                        <a:lnSpc>
                          <a:spcPct val="95000"/>
                        </a:lnSpc>
                        <a:spcBef>
                          <a:spcPts val="0"/>
                        </a:spcBef>
                        <a:spcAft>
                          <a:spcPts val="0"/>
                        </a:spcAft>
                        <a:tabLst>
                          <a:tab pos="5360670" algn="l"/>
                        </a:tabLst>
                      </a:pPr>
                      <a:r>
                        <a:rPr lang="en-GB" sz="1100" dirty="0" smtClean="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(NMCP 2014</a:t>
                      </a:r>
                      <a:r>
                        <a:rPr lang="en-GB"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2188" marR="621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310.8 </a:t>
                      </a: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600" b="1" i="0" u="none" strike="noStrike" cap="none" normalizeH="0" baseline="0" dirty="0" smtClean="0">
                          <a:ln>
                            <a:noFill/>
                          </a:ln>
                          <a:solidFill>
                            <a:srgbClr val="0033CC"/>
                          </a:solidFill>
                          <a:effectLst/>
                          <a:latin typeface="Times New Roman" pitchFamily="18" charset="0"/>
                          <a:cs typeface="Times New Roman" pitchFamily="18" charset="0"/>
                          <a:sym typeface="Symbol" pitchFamily="18" charset="2"/>
                        </a:rPr>
                        <a:t>Substantial Progress</a:t>
                      </a:r>
                      <a:endParaRPr kumimoji="0" lang="en-US" sz="2000" b="1" i="0" u="none" strike="noStrike" cap="none" normalizeH="0" baseline="0" dirty="0" smtClean="0">
                        <a:ln>
                          <a:noFill/>
                        </a:ln>
                        <a:solidFill>
                          <a:schemeClr val="tx1"/>
                        </a:solidFill>
                        <a:effectLst/>
                        <a:latin typeface="Times New Roman" pitchFamily="18" charset="0"/>
                        <a:cs typeface="Times New Roman" pitchFamily="18" charset="0"/>
                      </a:endParaRPr>
                    </a:p>
                  </a:txBody>
                  <a:tcPr marL="96924" marR="96924" marT="45723" marB="4572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tr>
              <a:tr h="710773">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Deaths of  Malaria per 100,000 </a:t>
                      </a:r>
                      <a:r>
                        <a:rPr kumimoji="0" lang="en-US" sz="1800" b="0" i="0" u="none" strike="noStrike" cap="none" normalizeH="0" baseline="0" dirty="0" err="1" smtClean="0">
                          <a:ln>
                            <a:noFill/>
                          </a:ln>
                          <a:solidFill>
                            <a:schemeClr val="tx1"/>
                          </a:solidFill>
                          <a:effectLst/>
                          <a:latin typeface="Times New Roman" pitchFamily="18" charset="0"/>
                          <a:cs typeface="Times New Roman" pitchFamily="18" charset="0"/>
                        </a:rPr>
                        <a:t>Pop</a:t>
                      </a:r>
                      <a:r>
                        <a:rPr kumimoji="0" lang="en-US" sz="1800" b="0" i="0" u="none" strike="noStrike" cap="none" normalizeH="0" baseline="30000" dirty="0" err="1" smtClean="0">
                          <a:ln>
                            <a:noFill/>
                          </a:ln>
                          <a:solidFill>
                            <a:schemeClr val="tx1"/>
                          </a:solidFill>
                          <a:effectLst/>
                          <a:latin typeface="Times New Roman" pitchFamily="18" charset="0"/>
                          <a:cs typeface="Times New Roman" pitchFamily="18" charset="0"/>
                        </a:rPr>
                        <a:t>n</a:t>
                      </a:r>
                      <a:endParaRPr kumimoji="0" lang="en-US" sz="1800" b="0" i="0" u="none" strike="noStrike" cap="none" normalizeH="0" baseline="30000" dirty="0" smtClean="0">
                        <a:ln>
                          <a:noFill/>
                        </a:ln>
                        <a:solidFill>
                          <a:schemeClr val="tx1"/>
                        </a:solidFill>
                        <a:effectLst/>
                        <a:latin typeface="Times New Roman" pitchFamily="18" charset="0"/>
                        <a:cs typeface="Times New Roman" pitchFamily="18" charset="0"/>
                      </a:endParaRPr>
                    </a:p>
                  </a:txBody>
                  <a:tcPr marL="96924" marR="96924"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1.4</a:t>
                      </a: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algn="ctr">
                        <a:lnSpc>
                          <a:spcPct val="95000"/>
                        </a:lnSpc>
                        <a:spcBef>
                          <a:spcPts val="0"/>
                        </a:spcBef>
                        <a:spcAft>
                          <a:spcPts val="0"/>
                        </a:spcAft>
                        <a:tabLst>
                          <a:tab pos="5360670" algn="l"/>
                        </a:tabLst>
                      </a:pPr>
                      <a:r>
                        <a:rPr lang="en-GB" sz="16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0.34 </a:t>
                      </a:r>
                      <a:endParaRPr lang="en-GB" sz="1600" b="1" dirty="0" smtClean="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95000"/>
                        </a:lnSpc>
                        <a:spcBef>
                          <a:spcPts val="0"/>
                        </a:spcBef>
                        <a:spcAft>
                          <a:spcPts val="0"/>
                        </a:spcAft>
                        <a:tabLst>
                          <a:tab pos="5360670" algn="l"/>
                        </a:tabLst>
                      </a:pPr>
                      <a:r>
                        <a:rPr lang="en-GB" sz="1100" dirty="0" smtClean="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(NMCP 2014</a:t>
                      </a:r>
                      <a:r>
                        <a:rPr lang="en-GB"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2188" marR="621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0.6 </a:t>
                      </a: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defRPr/>
                      </a:pPr>
                      <a:r>
                        <a:rPr lang="en-US" sz="1600" b="1" dirty="0" smtClean="0">
                          <a:solidFill>
                            <a:srgbClr val="0033CC"/>
                          </a:solidFill>
                          <a:sym typeface="Symbol" pitchFamily="18" charset="2"/>
                        </a:rPr>
                        <a:t>Goal met</a:t>
                      </a:r>
                      <a:endParaRPr kumimoji="0" lang="en-US" sz="1600" b="1" i="0" u="none" strike="noStrike" cap="none" normalizeH="0" baseline="0" dirty="0" smtClean="0">
                        <a:ln>
                          <a:noFill/>
                        </a:ln>
                        <a:solidFill>
                          <a:srgbClr val="0000FF"/>
                        </a:solidFill>
                        <a:effectLst/>
                        <a:latin typeface="Times New Roman" pitchFamily="18" charset="0"/>
                        <a:cs typeface="Times New Roman" pitchFamily="18" charset="0"/>
                      </a:endParaRPr>
                    </a:p>
                  </a:txBody>
                  <a:tcPr marL="96924" marR="9692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r>
              <a:tr h="1006926">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Proportion of children U5 sleeping  under insecticide treated bed nets (%)</a:t>
                      </a:r>
                    </a:p>
                  </a:txBody>
                  <a:tcPr marL="96924" marR="96924"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81</a:t>
                      </a: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algn="ctr">
                        <a:lnSpc>
                          <a:spcPct val="95000"/>
                        </a:lnSpc>
                        <a:spcBef>
                          <a:spcPts val="0"/>
                        </a:spcBef>
                        <a:spcAft>
                          <a:spcPts val="0"/>
                        </a:spcAft>
                        <a:tabLst>
                          <a:tab pos="5360670" algn="l"/>
                        </a:tabLst>
                      </a:pPr>
                      <a:r>
                        <a:rPr lang="en-GB" sz="1800" b="1" dirty="0" smtClean="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92.2 </a:t>
                      </a:r>
                      <a:r>
                        <a:rPr lang="en-GB" sz="1100" dirty="0" smtClean="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(NMCP 2014</a:t>
                      </a:r>
                      <a:r>
                        <a:rPr lang="en-GB"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2188" marR="621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90</a:t>
                      </a: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defRPr/>
                      </a:pPr>
                      <a:r>
                        <a:rPr lang="en-US" sz="1600" b="1" dirty="0" smtClean="0">
                          <a:solidFill>
                            <a:srgbClr val="0033CC"/>
                          </a:solidFill>
                          <a:sym typeface="Symbol" pitchFamily="18" charset="2"/>
                        </a:rPr>
                        <a:t>Goal met</a:t>
                      </a:r>
                      <a:endParaRPr kumimoji="0" lang="en-US" sz="1600" b="1" i="0" u="none" strike="noStrike" cap="none" normalizeH="0" baseline="0" dirty="0" smtClean="0">
                        <a:ln>
                          <a:noFill/>
                        </a:ln>
                        <a:solidFill>
                          <a:srgbClr val="0000FF"/>
                        </a:solidFill>
                        <a:effectLst/>
                        <a:latin typeface="Times New Roman" pitchFamily="18" charset="0"/>
                        <a:cs typeface="Times New Roman" pitchFamily="18" charset="0"/>
                      </a:endParaRPr>
                    </a:p>
                  </a:txBody>
                  <a:tcPr marL="96924" marR="9692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r>
              <a:tr h="1006926">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lang="en-GB" sz="1800" kern="1200" dirty="0" smtClean="0">
                          <a:solidFill>
                            <a:schemeClr val="tx1"/>
                          </a:solidFill>
                          <a:effectLst/>
                          <a:latin typeface="Times New Roman" panose="02020603050405020304" pitchFamily="18" charset="0"/>
                          <a:ea typeface="+mn-ea"/>
                          <a:cs typeface="+mn-cs"/>
                        </a:rPr>
                        <a:t>TB Case Notification rate (all forms) per 100,000 population per year </a:t>
                      </a:r>
                      <a:endParaRPr kumimoji="0" lang="en-US" sz="18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96924" marR="96924"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59</a:t>
                      </a: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algn="ctr">
                        <a:lnSpc>
                          <a:spcPct val="95000"/>
                        </a:lnSpc>
                        <a:spcBef>
                          <a:spcPts val="0"/>
                        </a:spcBef>
                        <a:spcAft>
                          <a:spcPts val="0"/>
                        </a:spcAft>
                        <a:tabLst>
                          <a:tab pos="5360670" algn="l"/>
                        </a:tabLst>
                      </a:pPr>
                      <a:r>
                        <a:rPr lang="en-GB" sz="1800" b="1" dirty="0" smtClean="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53 </a:t>
                      </a:r>
                    </a:p>
                    <a:p>
                      <a:pPr marL="0" marR="0" algn="ctr">
                        <a:lnSpc>
                          <a:spcPct val="95000"/>
                        </a:lnSpc>
                        <a:spcBef>
                          <a:spcPts val="0"/>
                        </a:spcBef>
                        <a:spcAft>
                          <a:spcPts val="0"/>
                        </a:spcAft>
                        <a:tabLst>
                          <a:tab pos="5360670" algn="l"/>
                        </a:tabLst>
                      </a:pPr>
                      <a:r>
                        <a:rPr lang="en-GB" sz="1100" dirty="0" smtClean="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(WHO 2014</a:t>
                      </a:r>
                      <a:r>
                        <a:rPr lang="en-GB"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2188" marR="621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120</a:t>
                      </a: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defRPr/>
                      </a:pPr>
                      <a:r>
                        <a:rPr lang="en-US" sz="1600" b="1" dirty="0" smtClean="0">
                          <a:solidFill>
                            <a:srgbClr val="0033CC"/>
                          </a:solidFill>
                          <a:sym typeface="Symbol" pitchFamily="18" charset="2"/>
                        </a:rPr>
                        <a:t>Goal met</a:t>
                      </a:r>
                      <a:endParaRPr kumimoji="0" lang="en-US" sz="1600" b="1" i="0" u="none" strike="noStrike" cap="none" normalizeH="0" baseline="0" dirty="0" smtClean="0">
                        <a:ln>
                          <a:noFill/>
                        </a:ln>
                        <a:solidFill>
                          <a:srgbClr val="0000FF"/>
                        </a:solidFill>
                        <a:effectLst/>
                        <a:latin typeface="Times New Roman" pitchFamily="18" charset="0"/>
                        <a:cs typeface="Times New Roman" pitchFamily="18" charset="0"/>
                      </a:endParaRPr>
                    </a:p>
                  </a:txBody>
                  <a:tcPr marL="96924" marR="96924" marT="45723" marB="4572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r>
              <a:tr h="710773">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Cure Rate of  TB under DOTS  (%)</a:t>
                      </a:r>
                    </a:p>
                  </a:txBody>
                  <a:tcPr marL="96924" marR="96924"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F6767"/>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73</a:t>
                      </a: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F6767"/>
                    </a:solidFill>
                  </a:tcPr>
                </a:tc>
                <a:tc>
                  <a:txBody>
                    <a:bodyPr/>
                    <a:lstStyle/>
                    <a:p>
                      <a:pPr marL="0" marR="0" algn="ctr">
                        <a:lnSpc>
                          <a:spcPct val="95000"/>
                        </a:lnSpc>
                        <a:spcBef>
                          <a:spcPts val="0"/>
                        </a:spcBef>
                        <a:spcAft>
                          <a:spcPts val="0"/>
                        </a:spcAft>
                        <a:tabLst>
                          <a:tab pos="5360670" algn="l"/>
                        </a:tabLst>
                      </a:pPr>
                      <a:r>
                        <a:rPr lang="en-GB" sz="1800" b="1" dirty="0" smtClean="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92 </a:t>
                      </a:r>
                    </a:p>
                    <a:p>
                      <a:pPr marL="0" marR="0" algn="ctr">
                        <a:lnSpc>
                          <a:spcPct val="95000"/>
                        </a:lnSpc>
                        <a:spcBef>
                          <a:spcPts val="0"/>
                        </a:spcBef>
                        <a:spcAft>
                          <a:spcPts val="0"/>
                        </a:spcAft>
                        <a:tabLst>
                          <a:tab pos="5360670" algn="l"/>
                        </a:tabLst>
                      </a:pPr>
                      <a:r>
                        <a:rPr lang="en-GB" sz="1100" dirty="0" smtClean="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(WHO 2014</a:t>
                      </a:r>
                      <a:r>
                        <a:rPr lang="en-GB"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2188" marR="621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F6767"/>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&gt; 90</a:t>
                      </a: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F6767"/>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defRPr/>
                      </a:pPr>
                      <a:r>
                        <a:rPr lang="en-US" sz="1600" b="1" dirty="0" smtClean="0">
                          <a:solidFill>
                            <a:srgbClr val="0033CC"/>
                          </a:solidFill>
                          <a:sym typeface="Symbol" pitchFamily="18" charset="2"/>
                        </a:rPr>
                        <a:t>Goal met</a:t>
                      </a:r>
                      <a:endParaRPr kumimoji="0" lang="en-US" sz="1600" b="1" i="0" u="none" strike="noStrike" cap="none" normalizeH="0" baseline="0" dirty="0" smtClean="0">
                        <a:ln>
                          <a:noFill/>
                        </a:ln>
                        <a:solidFill>
                          <a:srgbClr val="0000FF"/>
                        </a:solidFill>
                        <a:effectLst/>
                        <a:latin typeface="Times New Roman" pitchFamily="18" charset="0"/>
                        <a:cs typeface="Times New Roman" pitchFamily="18" charset="0"/>
                      </a:endParaRPr>
                    </a:p>
                  </a:txBody>
                  <a:tcPr marL="96924" marR="96924" marT="45723" marB="4572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F6767"/>
                    </a:solidFill>
                  </a:tcPr>
                </a:tc>
              </a:tr>
            </a:tbl>
          </a:graphicData>
        </a:graphic>
      </p:graphicFrame>
      <p:pic>
        <p:nvPicPr>
          <p:cNvPr id="24650" name="Picture 11" descr="C:\Documents and Settings\Mahbub_GED\Desktop\thumbnailCASLT5K4.jpg"/>
          <p:cNvPicPr>
            <a:picLocks noChangeAspect="1" noChangeArrowheads="1"/>
          </p:cNvPicPr>
          <p:nvPr/>
        </p:nvPicPr>
        <p:blipFill>
          <a:blip r:embed="rId3"/>
          <a:srcRect/>
          <a:stretch>
            <a:fillRect/>
          </a:stretch>
        </p:blipFill>
        <p:spPr bwMode="auto">
          <a:xfrm>
            <a:off x="0" y="0"/>
            <a:ext cx="1847817" cy="942535"/>
          </a:xfrm>
          <a:prstGeom prst="rect">
            <a:avLst/>
          </a:prstGeom>
          <a:solidFill>
            <a:srgbClr val="E95155"/>
          </a:solidFill>
          <a:ln w="9525">
            <a:noFill/>
            <a:miter lim="800000"/>
            <a:headEnd/>
            <a:tailEnd/>
          </a:ln>
        </p:spPr>
      </p:pic>
      <p:sp>
        <p:nvSpPr>
          <p:cNvPr id="9" name="TextBox 8"/>
          <p:cNvSpPr txBox="1"/>
          <p:nvPr/>
        </p:nvSpPr>
        <p:spPr>
          <a:xfrm>
            <a:off x="1" y="952621"/>
            <a:ext cx="4143022" cy="5974328"/>
          </a:xfrm>
          <a:prstGeom prst="rect">
            <a:avLst/>
          </a:prstGeom>
          <a:solidFill>
            <a:schemeClr val="bg2"/>
          </a:solidFill>
        </p:spPr>
        <p:txBody>
          <a:bodyPr wrap="square" rtlCol="0">
            <a:spAutoFit/>
          </a:bodyPr>
          <a:lstStyle/>
          <a:p>
            <a:pPr marL="310942" indent="-310942">
              <a:lnSpc>
                <a:spcPct val="110000"/>
              </a:lnSpc>
              <a:spcBef>
                <a:spcPts val="600"/>
              </a:spcBef>
              <a:buFont typeface="Wingdings" pitchFamily="2" charset="2"/>
              <a:buChar char="§"/>
            </a:pPr>
            <a:r>
              <a:rPr lang="en-US" sz="2800" dirty="0"/>
              <a:t>Bangladesh’s performance in </a:t>
            </a:r>
            <a:r>
              <a:rPr lang="en-US" sz="2800" i="1" dirty="0"/>
              <a:t>Halting HIV/AIDS</a:t>
            </a:r>
            <a:r>
              <a:rPr lang="en-US" sz="2800" dirty="0"/>
              <a:t> is inspiring compared to the South Asian neighbors.</a:t>
            </a:r>
          </a:p>
          <a:p>
            <a:pPr marL="310942" indent="-310942">
              <a:lnSpc>
                <a:spcPct val="110000"/>
              </a:lnSpc>
              <a:buFont typeface="Wingdings" pitchFamily="2" charset="2"/>
              <a:buChar char="§"/>
            </a:pPr>
            <a:r>
              <a:rPr lang="en-GB" sz="2800" dirty="0"/>
              <a:t>Notwithstanding the success in containing Tuberculosis, TB prevalence rate is still highest in Bangladesh among the regional countries</a:t>
            </a:r>
            <a:endParaRPr lang="en-US" sz="2800" dirty="0"/>
          </a:p>
        </p:txBody>
      </p:sp>
    </p:spTree>
    <p:extLst>
      <p:ext uri="{BB962C8B-B14F-4D97-AF65-F5344CB8AC3E}">
        <p14:creationId xmlns="" xmlns:p14="http://schemas.microsoft.com/office/powerpoint/2010/main" val="177138587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2"/>
          <p:cNvSpPr>
            <a:spLocks noGrp="1" noChangeArrowheads="1"/>
          </p:cNvSpPr>
          <p:nvPr>
            <p:ph type="title" idx="4294967295"/>
          </p:nvPr>
        </p:nvSpPr>
        <p:spPr>
          <a:xfrm>
            <a:off x="1971943" y="-25911"/>
            <a:ext cx="10220057" cy="1207597"/>
          </a:xfrm>
          <a:solidFill>
            <a:schemeClr val="accent5"/>
          </a:solidFill>
        </p:spPr>
        <p:txBody>
          <a:bodyPr vert="horz" lIns="94568" tIns="47284" rIns="94568" bIns="47284" rtlCol="0" anchor="ctr">
            <a:normAutofit/>
          </a:bodyPr>
          <a:lstStyle/>
          <a:p>
            <a:pPr eaLnBrk="1" hangingPunct="1"/>
            <a:r>
              <a:rPr lang="en-US" sz="3264" b="1" dirty="0">
                <a:solidFill>
                  <a:schemeClr val="accent3">
                    <a:lumMod val="50000"/>
                  </a:schemeClr>
                </a:solidFill>
                <a:latin typeface="Times New Roman" pitchFamily="18" charset="0"/>
                <a:cs typeface="Times New Roman" pitchFamily="18" charset="0"/>
              </a:rPr>
              <a:t>Goal 7: Ensure Environmental Sustainability</a:t>
            </a:r>
          </a:p>
        </p:txBody>
      </p:sp>
      <p:pic>
        <p:nvPicPr>
          <p:cNvPr id="25649" name="Picture 12" descr="C:\Documents and Settings\Mahbub_GED\Desktop\thumbnailCA259FV7.jpg"/>
          <p:cNvPicPr>
            <a:picLocks noChangeAspect="1" noChangeArrowheads="1"/>
          </p:cNvPicPr>
          <p:nvPr/>
        </p:nvPicPr>
        <p:blipFill>
          <a:blip r:embed="rId2"/>
          <a:srcRect/>
          <a:stretch>
            <a:fillRect/>
          </a:stretch>
        </p:blipFill>
        <p:spPr bwMode="auto">
          <a:xfrm>
            <a:off x="0" y="1"/>
            <a:ext cx="1971943" cy="1181685"/>
          </a:xfrm>
          <a:prstGeom prst="rect">
            <a:avLst/>
          </a:prstGeom>
          <a:noFill/>
          <a:ln w="9525">
            <a:noFill/>
            <a:miter lim="800000"/>
            <a:headEnd/>
            <a:tailEnd/>
          </a:ln>
        </p:spPr>
      </p:pic>
      <p:sp>
        <p:nvSpPr>
          <p:cNvPr id="9" name="TextBox 8"/>
          <p:cNvSpPr txBox="1"/>
          <p:nvPr/>
        </p:nvSpPr>
        <p:spPr>
          <a:xfrm>
            <a:off x="0" y="1212098"/>
            <a:ext cx="4131733" cy="5509200"/>
          </a:xfrm>
          <a:prstGeom prst="rect">
            <a:avLst/>
          </a:prstGeom>
          <a:solidFill>
            <a:schemeClr val="bg2"/>
          </a:solidFill>
        </p:spPr>
        <p:txBody>
          <a:bodyPr wrap="square" rtlCol="0">
            <a:spAutoFit/>
          </a:bodyPr>
          <a:lstStyle/>
          <a:p>
            <a:pPr marL="182880" indent="-204415">
              <a:buFont typeface="Wingdings" pitchFamily="2" charset="2"/>
              <a:buChar char="§"/>
            </a:pPr>
            <a:r>
              <a:rPr lang="en-US" sz="2200" dirty="0"/>
              <a:t>In case of </a:t>
            </a:r>
            <a:r>
              <a:rPr lang="en-US" sz="2200" i="1" dirty="0"/>
              <a:t>Using Improved Drinking Water Sources </a:t>
            </a:r>
            <a:r>
              <a:rPr lang="en-US" sz="2200" dirty="0"/>
              <a:t>Bangladesh’s performance is impressive comparing to India and Pakistan.</a:t>
            </a:r>
          </a:p>
          <a:p>
            <a:pPr marL="182880" indent="-204415">
              <a:buFont typeface="Wingdings" pitchFamily="2" charset="2"/>
              <a:buChar char="§"/>
            </a:pPr>
            <a:r>
              <a:rPr lang="en-GB" sz="2200" dirty="0"/>
              <a:t>In case of access to improved sanitation, Bangladesh has been doing better than Afghanistan, India, Nepal, Bhutan and Cambodia. </a:t>
            </a:r>
          </a:p>
          <a:p>
            <a:pPr marL="182880" indent="-204415">
              <a:buFont typeface="Wingdings" pitchFamily="2" charset="2"/>
              <a:buChar char="§"/>
            </a:pPr>
            <a:r>
              <a:rPr lang="en-GB" sz="2200" dirty="0"/>
              <a:t>Despite positive picture in afforestation, extensive clearing of forests for agriculture, homestead and other non-forest purpose thwart attaining of</a:t>
            </a:r>
            <a:r>
              <a:rPr lang="en-US" sz="2200" dirty="0"/>
              <a:t> </a:t>
            </a:r>
            <a:r>
              <a:rPr lang="en-GB" sz="2200" dirty="0"/>
              <a:t>the target</a:t>
            </a:r>
            <a:endParaRPr lang="en-US" sz="2200" dirty="0"/>
          </a:p>
        </p:txBody>
      </p:sp>
      <p:graphicFrame>
        <p:nvGraphicFramePr>
          <p:cNvPr id="3" name="Table 2"/>
          <p:cNvGraphicFramePr>
            <a:graphicFrameLocks noGrp="1"/>
          </p:cNvGraphicFramePr>
          <p:nvPr>
            <p:extLst>
              <p:ext uri="{D42A27DB-BD31-4B8C-83A1-F6EECF244321}">
                <p14:modId xmlns="" xmlns:p14="http://schemas.microsoft.com/office/powerpoint/2010/main" val="2862130892"/>
              </p:ext>
            </p:extLst>
          </p:nvPr>
        </p:nvGraphicFramePr>
        <p:xfrm>
          <a:off x="4131735" y="1212097"/>
          <a:ext cx="8060266" cy="5418448"/>
        </p:xfrm>
        <a:graphic>
          <a:graphicData uri="http://schemas.openxmlformats.org/drawingml/2006/table">
            <a:tbl>
              <a:tblPr>
                <a:tableStyleId>{5C22544A-7EE6-4342-B048-85BDC9FD1C3A}</a:tableStyleId>
              </a:tblPr>
              <a:tblGrid>
                <a:gridCol w="3162889"/>
                <a:gridCol w="918259"/>
                <a:gridCol w="1428402"/>
                <a:gridCol w="1207339"/>
                <a:gridCol w="1343377"/>
              </a:tblGrid>
              <a:tr h="740907">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defRPr/>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Targets Achieved</a:t>
                      </a:r>
                    </a:p>
                  </a:txBody>
                  <a:tcPr marL="96924" marR="96924"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FB153"/>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Base </a:t>
                      </a:r>
                    </a:p>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Year</a:t>
                      </a:r>
                    </a:p>
                  </a:txBody>
                  <a:tcPr marL="96924" marR="96924"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FB153"/>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Current Status </a:t>
                      </a:r>
                    </a:p>
                  </a:txBody>
                  <a:tcPr marL="96924" marR="96924"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FB153"/>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Target 2015</a:t>
                      </a:r>
                    </a:p>
                  </a:txBody>
                  <a:tcPr marL="96924" marR="96924"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FB153"/>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Status</a:t>
                      </a:r>
                    </a:p>
                  </a:txBody>
                  <a:tcPr marL="96924" marR="96924"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FB153"/>
                    </a:solidFill>
                  </a:tcPr>
                </a:tc>
              </a:tr>
              <a:tr h="936468">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Proportion of  land area covered  by forest (%)</a:t>
                      </a:r>
                    </a:p>
                  </a:txBody>
                  <a:tcPr marL="96924" marR="96924"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9.0</a:t>
                      </a:r>
                    </a:p>
                  </a:txBody>
                  <a:tcPr marL="96924" marR="96924"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13.40  (TD&gt;=30%)</a:t>
                      </a:r>
                    </a:p>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a:t>
                      </a:r>
                      <a:r>
                        <a:rPr kumimoji="0" lang="en-US" sz="1800" b="0" i="0" u="none" strike="noStrike" cap="none" normalizeH="0" baseline="0" dirty="0" err="1" smtClean="0">
                          <a:ln>
                            <a:noFill/>
                          </a:ln>
                          <a:solidFill>
                            <a:schemeClr val="tx1"/>
                          </a:solidFill>
                          <a:effectLst/>
                          <a:latin typeface="Times New Roman" pitchFamily="18" charset="0"/>
                          <a:cs typeface="Times New Roman" pitchFamily="18" charset="0"/>
                        </a:rPr>
                        <a:t>DoF</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a:t>
                      </a:r>
                    </a:p>
                  </a:txBody>
                  <a:tcPr marL="96924" marR="96924"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20.0</a:t>
                      </a:r>
                    </a:p>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(TD&gt;=70%)</a:t>
                      </a:r>
                      <a:endParaRPr kumimoji="0" lang="en-US" sz="18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96924" marR="96924"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1" i="0" u="none" strike="noStrike" kern="1200" cap="none" normalizeH="0" baseline="0" dirty="0" smtClean="0">
                          <a:ln>
                            <a:noFill/>
                          </a:ln>
                          <a:solidFill>
                            <a:srgbClr val="0033CC"/>
                          </a:solidFill>
                          <a:effectLst/>
                          <a:latin typeface="Times New Roman" pitchFamily="18" charset="0"/>
                          <a:ea typeface="+mn-ea"/>
                          <a:cs typeface="Times New Roman" pitchFamily="18" charset="0"/>
                          <a:sym typeface="Symbol" pitchFamily="18" charset="2"/>
                        </a:rPr>
                        <a:t>Substantial Progress</a:t>
                      </a:r>
                      <a:endParaRPr kumimoji="0" lang="en-US" sz="1800" b="1" i="0" u="none" strike="noStrike" kern="1200" cap="none" normalizeH="0" baseline="0" dirty="0" smtClean="0">
                        <a:ln>
                          <a:noFill/>
                        </a:ln>
                        <a:solidFill>
                          <a:srgbClr val="0033CC"/>
                        </a:solidFill>
                        <a:effectLst/>
                        <a:latin typeface="Times New Roman" pitchFamily="18" charset="0"/>
                        <a:ea typeface="+mn-ea"/>
                        <a:cs typeface="Times New Roman" pitchFamily="18" charset="0"/>
                      </a:endParaRP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r>
              <a:tr h="1214549">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Consumption of  ozone –depleting substance in </a:t>
                      </a:r>
                      <a:r>
                        <a:rPr lang="en-US" sz="1800" dirty="0" smtClean="0">
                          <a:latin typeface="Times New Roman" pitchFamily="18" charset="0"/>
                          <a:cs typeface="Times New Roman" pitchFamily="18" charset="0"/>
                        </a:rPr>
                        <a:t>Ozone Depletion Potential (</a:t>
                      </a:r>
                      <a:r>
                        <a:rPr kumimoji="0" lang="en-US" sz="1800" b="0" i="0" u="none" strike="noStrike" cap="none" normalizeH="0" baseline="0" dirty="0" err="1" smtClean="0">
                          <a:ln>
                            <a:noFill/>
                          </a:ln>
                          <a:solidFill>
                            <a:schemeClr val="tx1"/>
                          </a:solidFill>
                          <a:effectLst/>
                          <a:latin typeface="Times New Roman" pitchFamily="18" charset="0"/>
                          <a:cs typeface="Times New Roman" pitchFamily="18" charset="0"/>
                        </a:rPr>
                        <a:t>ODP</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Times New Roman" pitchFamily="18" charset="0"/>
                          <a:cs typeface="Times New Roman" pitchFamily="18" charset="0"/>
                        </a:rPr>
                        <a:t>tonnes</a:t>
                      </a:r>
                      <a:endParaRPr kumimoji="0" lang="en-US" sz="18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96924" marR="96924"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72.6</a:t>
                      </a:r>
                    </a:p>
                  </a:txBody>
                  <a:tcPr marL="96924" marR="96924"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64.9</a:t>
                      </a:r>
                    </a:p>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lang="en-GB" sz="1800" kern="1200" dirty="0" smtClean="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(DoE, 2013)</a:t>
                      </a:r>
                      <a:endParaRPr lang="en-US" sz="1800" kern="1200" dirty="0" smtClean="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6924" marR="96924"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65.39</a:t>
                      </a:r>
                    </a:p>
                  </a:txBody>
                  <a:tcPr marL="96924" marR="96924"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defRPr/>
                      </a:pPr>
                      <a:r>
                        <a:rPr lang="en-US" sz="1800" b="1" dirty="0" smtClean="0">
                          <a:solidFill>
                            <a:srgbClr val="0033CC"/>
                          </a:solidFill>
                          <a:sym typeface="Symbol" pitchFamily="18" charset="2"/>
                        </a:rPr>
                        <a:t>Goal met</a:t>
                      </a:r>
                      <a:endParaRPr kumimoji="0" lang="en-US" sz="1800" b="1" i="0" u="none" strike="noStrike" cap="none" normalizeH="0" baseline="0" dirty="0" smtClean="0">
                        <a:ln>
                          <a:noFill/>
                        </a:ln>
                        <a:solidFill>
                          <a:srgbClr val="0000FF"/>
                        </a:solidFill>
                        <a:effectLst/>
                        <a:latin typeface="Times New Roman" pitchFamily="18" charset="0"/>
                        <a:cs typeface="Times New Roman" pitchFamily="18" charset="0"/>
                      </a:endParaRPr>
                    </a:p>
                  </a:txBody>
                  <a:tcPr marL="96924" marR="969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r>
              <a:tr h="1214549">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Proportion of people using an improved  Drinking Water Sources</a:t>
                      </a:r>
                    </a:p>
                  </a:txBody>
                  <a:tcPr marL="96924" marR="96924"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78</a:t>
                      </a:r>
                    </a:p>
                  </a:txBody>
                  <a:tcPr marL="96924" marR="96924"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algn="ctr">
                        <a:lnSpc>
                          <a:spcPct val="90000"/>
                        </a:lnSpc>
                        <a:spcBef>
                          <a:spcPts val="0"/>
                        </a:spcBef>
                        <a:spcAft>
                          <a:spcPts val="0"/>
                        </a:spcAft>
                        <a:tabLst>
                          <a:tab pos="5120640" algn="l"/>
                        </a:tabLst>
                      </a:pPr>
                      <a:r>
                        <a:rPr lang="en-GB" sz="1800" b="1" dirty="0" smtClean="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97.9</a:t>
                      </a:r>
                      <a:r>
                        <a:rPr lang="en-GB" sz="1800" dirty="0" smtClean="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p>
                    <a:p>
                      <a:pPr marL="0" marR="0" algn="ctr">
                        <a:lnSpc>
                          <a:spcPct val="90000"/>
                        </a:lnSpc>
                        <a:spcBef>
                          <a:spcPts val="0"/>
                        </a:spcBef>
                        <a:spcAft>
                          <a:spcPts val="0"/>
                        </a:spcAft>
                        <a:tabLst>
                          <a:tab pos="5120640" algn="l"/>
                        </a:tabLst>
                      </a:pPr>
                      <a:r>
                        <a:rPr lang="en-GB" sz="1800" dirty="0" smtClean="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(SVRS 2015)</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2188" marR="621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100</a:t>
                      </a:r>
                    </a:p>
                  </a:txBody>
                  <a:tcPr marL="96924" marR="96924"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defRPr/>
                      </a:pPr>
                      <a:r>
                        <a:rPr lang="en-US" sz="1800" b="1" dirty="0" smtClean="0">
                          <a:solidFill>
                            <a:srgbClr val="0033CC"/>
                          </a:solidFill>
                          <a:sym typeface="Symbol" pitchFamily="18" charset="2"/>
                        </a:rPr>
                        <a:t>Goal met</a:t>
                      </a:r>
                      <a:endParaRPr kumimoji="0" lang="en-US" sz="1800" b="1" i="0" u="none" strike="noStrike" cap="none" normalizeH="0" baseline="0" dirty="0" smtClean="0">
                        <a:ln>
                          <a:noFill/>
                        </a:ln>
                        <a:solidFill>
                          <a:srgbClr val="0000FF"/>
                        </a:solidFill>
                        <a:effectLst/>
                        <a:latin typeface="Times New Roman" pitchFamily="18" charset="0"/>
                        <a:cs typeface="Times New Roman" pitchFamily="18" charset="0"/>
                      </a:endParaRPr>
                    </a:p>
                  </a:txBody>
                  <a:tcPr marL="96924" marR="96924"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1279177">
                <a:tc>
                  <a:txBody>
                    <a:bodyPr/>
                    <a:lstStyle/>
                    <a:p>
                      <a:pPr marL="0" marR="0">
                        <a:lnSpc>
                          <a:spcPct val="115000"/>
                        </a:lnSpc>
                        <a:spcBef>
                          <a:spcPts val="0"/>
                        </a:spcBef>
                        <a:spcAft>
                          <a:spcPts val="0"/>
                        </a:spcAft>
                        <a:tabLst>
                          <a:tab pos="5360670" algn="l"/>
                        </a:tabLst>
                      </a:pPr>
                      <a:r>
                        <a:rPr kumimoji="0" lang="en-GB" sz="1800" b="0" i="0" u="none" strike="noStrike" kern="1200" cap="none" normalizeH="0" baseline="0" dirty="0">
                          <a:ln>
                            <a:noFill/>
                          </a:ln>
                          <a:solidFill>
                            <a:schemeClr val="tx1"/>
                          </a:solidFill>
                          <a:effectLst/>
                          <a:latin typeface="Times New Roman" pitchFamily="18" charset="0"/>
                          <a:ea typeface="+mn-ea"/>
                          <a:cs typeface="Times New Roman" pitchFamily="18" charset="0"/>
                        </a:rPr>
                        <a:t>7.9:  Proportion of population using an improved sanitation facility</a:t>
                      </a:r>
                      <a:endParaRPr kumimoji="0" lang="en-US" sz="18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marL="62188" marR="621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algn="ctr">
                        <a:lnSpc>
                          <a:spcPct val="115000"/>
                        </a:lnSpc>
                        <a:spcBef>
                          <a:spcPts val="0"/>
                        </a:spcBef>
                        <a:spcAft>
                          <a:spcPts val="0"/>
                        </a:spcAft>
                        <a:tabLst>
                          <a:tab pos="5120640" algn="l"/>
                        </a:tabLst>
                      </a:pPr>
                      <a:r>
                        <a:rPr kumimoji="0" lang="en-GB" sz="1800" b="0" i="0" u="none" strike="noStrike" kern="1200" cap="none" normalizeH="0" baseline="0" dirty="0">
                          <a:ln>
                            <a:noFill/>
                          </a:ln>
                          <a:solidFill>
                            <a:schemeClr val="tx1"/>
                          </a:solidFill>
                          <a:effectLst/>
                          <a:latin typeface="Times New Roman" pitchFamily="18" charset="0"/>
                          <a:ea typeface="+mn-ea"/>
                          <a:cs typeface="Times New Roman" pitchFamily="18" charset="0"/>
                        </a:rPr>
                        <a:t>34 </a:t>
                      </a:r>
                      <a:endParaRPr kumimoji="0" lang="en-US" sz="18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marL="62188" marR="621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algn="ctr">
                        <a:lnSpc>
                          <a:spcPct val="115000"/>
                        </a:lnSpc>
                        <a:spcBef>
                          <a:spcPts val="0"/>
                        </a:spcBef>
                        <a:spcAft>
                          <a:spcPts val="0"/>
                        </a:spcAft>
                        <a:tabLst>
                          <a:tab pos="5120640" algn="l"/>
                        </a:tabLst>
                      </a:pPr>
                      <a:r>
                        <a:rPr lang="en-GB" sz="1800" dirty="0" smtClean="0">
                          <a:effectLst/>
                          <a:latin typeface="Garamond"/>
                          <a:ea typeface="Times New Roman"/>
                          <a:cs typeface="Vrinda"/>
                        </a:rPr>
                        <a:t>73.5</a:t>
                      </a:r>
                      <a:endParaRPr lang="en-US" sz="1800" dirty="0" smtClean="0">
                        <a:effectLst/>
                        <a:latin typeface="+mn-lt"/>
                        <a:ea typeface="Times New Roman"/>
                        <a:cs typeface="Vrinda"/>
                      </a:endParaRPr>
                    </a:p>
                    <a:p>
                      <a:pPr marL="0" marR="0" algn="ctr">
                        <a:lnSpc>
                          <a:spcPct val="115000"/>
                        </a:lnSpc>
                        <a:spcBef>
                          <a:spcPts val="0"/>
                        </a:spcBef>
                        <a:spcAft>
                          <a:spcPts val="0"/>
                        </a:spcAft>
                        <a:tabLst>
                          <a:tab pos="5120640" algn="l"/>
                        </a:tabLst>
                      </a:pPr>
                      <a:r>
                        <a:rPr lang="en-GB" sz="1800" dirty="0" smtClean="0">
                          <a:effectLst/>
                          <a:latin typeface="Garamond"/>
                          <a:ea typeface="Times New Roman"/>
                          <a:cs typeface="Vrinda"/>
                        </a:rPr>
                        <a:t>(</a:t>
                      </a:r>
                      <a:r>
                        <a:rPr lang="en-GB" sz="1800" kern="1200" dirty="0" smtClean="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SVRS, 2015)</a:t>
                      </a:r>
                      <a:endParaRPr lang="en-US" sz="1800" kern="12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2188" marR="621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100</a:t>
                      </a:r>
                    </a:p>
                  </a:txBody>
                  <a:tcPr marL="62188" marR="621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1800" b="1" i="0" u="none" strike="noStrike" cap="none" normalizeH="0" baseline="0" dirty="0" smtClean="0">
                          <a:ln>
                            <a:noFill/>
                          </a:ln>
                          <a:solidFill>
                            <a:srgbClr val="0033CC"/>
                          </a:solidFill>
                          <a:effectLst/>
                          <a:latin typeface="Times New Roman" pitchFamily="18" charset="0"/>
                          <a:cs typeface="Times New Roman" pitchFamily="18" charset="0"/>
                          <a:sym typeface="Symbol" pitchFamily="18" charset="2"/>
                        </a:rPr>
                        <a:t>Substantial Progress</a:t>
                      </a:r>
                      <a:endParaRPr kumimoji="0" lang="en-US" sz="1800" b="1" i="0" u="none" strike="noStrike" cap="none" normalizeH="0" baseline="0" dirty="0" smtClean="0">
                        <a:ln>
                          <a:noFill/>
                        </a:ln>
                        <a:solidFill>
                          <a:schemeClr val="tx1"/>
                        </a:solidFill>
                        <a:effectLst/>
                        <a:latin typeface="Times New Roman" pitchFamily="18" charset="0"/>
                        <a:cs typeface="Times New Roman" pitchFamily="18" charset="0"/>
                      </a:endParaRPr>
                    </a:p>
                  </a:txBody>
                  <a:tcPr marL="62188" marR="621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r>
            </a:tbl>
          </a:graphicData>
        </a:graphic>
      </p:graphicFrame>
    </p:spTree>
    <p:extLst>
      <p:ext uri="{BB962C8B-B14F-4D97-AF65-F5344CB8AC3E}">
        <p14:creationId xmlns="" xmlns:p14="http://schemas.microsoft.com/office/powerpoint/2010/main" val="292282537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4"/>
          <p:cNvSpPr>
            <a:spLocks noGrp="1"/>
          </p:cNvSpPr>
          <p:nvPr>
            <p:ph type="ftr" sz="quarter" idx="11"/>
          </p:nvPr>
        </p:nvSpPr>
        <p:spPr>
          <a:xfrm>
            <a:off x="4284331" y="6331126"/>
            <a:ext cx="3539126" cy="364206"/>
          </a:xfrm>
          <a:noFill/>
        </p:spPr>
        <p:txBody>
          <a:bodyPr/>
          <a:lstStyle/>
          <a:p>
            <a:r>
              <a:rPr lang="en-US" smtClean="0"/>
              <a:t>GED, Bangladesh Planning Commission</a:t>
            </a:r>
          </a:p>
        </p:txBody>
      </p:sp>
      <p:sp>
        <p:nvSpPr>
          <p:cNvPr id="8" name="Slide Number Placeholder 5"/>
          <p:cNvSpPr>
            <a:spLocks noGrp="1"/>
          </p:cNvSpPr>
          <p:nvPr>
            <p:ph type="sldNum" sz="quarter" idx="12"/>
          </p:nvPr>
        </p:nvSpPr>
        <p:spPr>
          <a:xfrm>
            <a:off x="11469510" y="6356350"/>
            <a:ext cx="722489" cy="365125"/>
          </a:xfrm>
        </p:spPr>
        <p:txBody>
          <a:bodyPr/>
          <a:lstStyle/>
          <a:p>
            <a:pPr>
              <a:defRPr/>
            </a:pPr>
            <a:fld id="{8CDD7129-C293-4BC8-A6B2-EF746DCD9449}" type="slidenum">
              <a:rPr lang="en-US"/>
              <a:pPr>
                <a:defRPr/>
              </a:pPr>
              <a:t>14</a:t>
            </a:fld>
            <a:endParaRPr lang="en-US"/>
          </a:p>
        </p:txBody>
      </p:sp>
      <p:sp>
        <p:nvSpPr>
          <p:cNvPr id="26628" name="Rectangle 2"/>
          <p:cNvSpPr>
            <a:spLocks noGrp="1" noChangeArrowheads="1"/>
          </p:cNvSpPr>
          <p:nvPr>
            <p:ph type="title" idx="4294967295"/>
          </p:nvPr>
        </p:nvSpPr>
        <p:spPr>
          <a:xfrm>
            <a:off x="1998133" y="1"/>
            <a:ext cx="10193867" cy="998810"/>
          </a:xfrm>
          <a:solidFill>
            <a:schemeClr val="accent5"/>
          </a:solidFill>
        </p:spPr>
        <p:txBody>
          <a:bodyPr vert="horz" lIns="94568" tIns="47284" rIns="94568" bIns="47284" rtlCol="0" anchor="ctr">
            <a:normAutofit/>
          </a:bodyPr>
          <a:lstStyle/>
          <a:p>
            <a:pPr eaLnBrk="1" hangingPunct="1"/>
            <a:r>
              <a:rPr lang="en-US" sz="3264" b="1" dirty="0">
                <a:latin typeface="Times New Roman" pitchFamily="18" charset="0"/>
                <a:cs typeface="Times New Roman" pitchFamily="18" charset="0"/>
              </a:rPr>
              <a:t>Goal 8: Develop a Global Partnership for Development</a:t>
            </a:r>
          </a:p>
        </p:txBody>
      </p:sp>
      <p:graphicFrame>
        <p:nvGraphicFramePr>
          <p:cNvPr id="88128" name="Group 64"/>
          <p:cNvGraphicFramePr>
            <a:graphicFrameLocks noGrp="1"/>
          </p:cNvGraphicFramePr>
          <p:nvPr>
            <p:extLst>
              <p:ext uri="{D42A27DB-BD31-4B8C-83A1-F6EECF244321}">
                <p14:modId xmlns="" xmlns:p14="http://schemas.microsoft.com/office/powerpoint/2010/main" val="3058999419"/>
              </p:ext>
            </p:extLst>
          </p:nvPr>
        </p:nvGraphicFramePr>
        <p:xfrm>
          <a:off x="4177145" y="998811"/>
          <a:ext cx="8014855" cy="5853670"/>
        </p:xfrm>
        <a:graphic>
          <a:graphicData uri="http://schemas.openxmlformats.org/drawingml/2006/table">
            <a:tbl>
              <a:tblPr/>
              <a:tblGrid>
                <a:gridCol w="3646087"/>
                <a:gridCol w="1114083"/>
                <a:gridCol w="1589932"/>
                <a:gridCol w="1664753"/>
              </a:tblGrid>
              <a:tr h="716163">
                <a:tc>
                  <a:txBody>
                    <a:bodyPr/>
                    <a:lstStyle/>
                    <a:p>
                      <a:pPr marL="0" marR="0" lvl="0" indent="0" algn="ctr" defTabSz="914400" rtl="0" eaLnBrk="1" fontAlgn="base" latinLnBrk="0" hangingPunct="1">
                        <a:lnSpc>
                          <a:spcPct val="95000"/>
                        </a:lnSpc>
                        <a:spcBef>
                          <a:spcPct val="20000"/>
                        </a:spcBef>
                        <a:spcAft>
                          <a:spcPct val="0"/>
                        </a:spcAft>
                        <a:buClr>
                          <a:schemeClr val="hlink"/>
                        </a:buClr>
                        <a:buSzPct val="60000"/>
                        <a:buFont typeface="Wingdings" pitchFamily="2" charset="2"/>
                        <a:buNone/>
                        <a:tabLst/>
                        <a:defRPr/>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Indicators</a:t>
                      </a:r>
                    </a:p>
                  </a:txBody>
                  <a:tcPr marL="96924" marR="96924" marT="45725" marB="4572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73A8E3"/>
                    </a:solidFill>
                  </a:tcPr>
                </a:tc>
                <a:tc>
                  <a:txBody>
                    <a:bodyPr/>
                    <a:lstStyle/>
                    <a:p>
                      <a:pPr marL="0" marR="0" lvl="0" indent="0" algn="ctr" defTabSz="914400" rtl="0" eaLnBrk="1" fontAlgn="base" latinLnBrk="0" hangingPunct="1">
                        <a:lnSpc>
                          <a:spcPct val="95000"/>
                        </a:lnSpc>
                        <a:spcBef>
                          <a:spcPct val="20000"/>
                        </a:spcBef>
                        <a:spcAft>
                          <a:spcPct val="0"/>
                        </a:spcAft>
                        <a:buClr>
                          <a:schemeClr val="hlink"/>
                        </a:buClr>
                        <a:buSzPct val="60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Base </a:t>
                      </a:r>
                    </a:p>
                    <a:p>
                      <a:pPr marL="0" marR="0" lvl="0" indent="0" algn="ctr" defTabSz="914400" rtl="0" eaLnBrk="1" fontAlgn="base" latinLnBrk="0" hangingPunct="1">
                        <a:lnSpc>
                          <a:spcPct val="95000"/>
                        </a:lnSpc>
                        <a:spcBef>
                          <a:spcPct val="20000"/>
                        </a:spcBef>
                        <a:spcAft>
                          <a:spcPct val="0"/>
                        </a:spcAft>
                        <a:buClr>
                          <a:schemeClr val="hlink"/>
                        </a:buClr>
                        <a:buSzPct val="60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Year</a:t>
                      </a:r>
                    </a:p>
                  </a:txBody>
                  <a:tcPr marL="96924" marR="96924"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73A8E3"/>
                    </a:solidFill>
                  </a:tcPr>
                </a:tc>
                <a:tc>
                  <a:txBody>
                    <a:bodyPr/>
                    <a:lstStyle/>
                    <a:p>
                      <a:pPr marL="0" marR="0" lvl="0" indent="0" algn="ctr" defTabSz="914400" rtl="0" eaLnBrk="1" fontAlgn="base" latinLnBrk="0" hangingPunct="1">
                        <a:lnSpc>
                          <a:spcPct val="95000"/>
                        </a:lnSpc>
                        <a:spcBef>
                          <a:spcPct val="20000"/>
                        </a:spcBef>
                        <a:spcAft>
                          <a:spcPct val="0"/>
                        </a:spcAft>
                        <a:buClr>
                          <a:schemeClr val="hlink"/>
                        </a:buClr>
                        <a:buSzPct val="60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Current Status</a:t>
                      </a:r>
                    </a:p>
                  </a:txBody>
                  <a:tcPr marL="96924" marR="96924"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73A8E3"/>
                    </a:solidFill>
                  </a:tcPr>
                </a:tc>
                <a:tc>
                  <a:txBody>
                    <a:bodyPr/>
                    <a:lstStyle/>
                    <a:p>
                      <a:pPr marL="0" marR="0" lvl="0" indent="0" algn="ctr" defTabSz="914400" rtl="0" eaLnBrk="1" fontAlgn="base" latinLnBrk="0" hangingPunct="1">
                        <a:lnSpc>
                          <a:spcPct val="95000"/>
                        </a:lnSpc>
                        <a:spcBef>
                          <a:spcPct val="20000"/>
                        </a:spcBef>
                        <a:spcAft>
                          <a:spcPct val="0"/>
                        </a:spcAft>
                        <a:buClr>
                          <a:schemeClr val="hlink"/>
                        </a:buClr>
                        <a:buSzPct val="60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Status</a:t>
                      </a:r>
                    </a:p>
                  </a:txBody>
                  <a:tcPr marL="96924" marR="96924" marT="45725" marB="4572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73A8E3"/>
                    </a:solidFill>
                  </a:tcPr>
                </a:tc>
              </a:tr>
              <a:tr h="1226767">
                <a:tc>
                  <a:txBody>
                    <a:bodyPr/>
                    <a:lstStyle/>
                    <a:p>
                      <a:pPr marL="0" marR="0" lvl="0" indent="0" algn="l" defTabSz="914400" rtl="0" eaLnBrk="1" fontAlgn="base" latinLnBrk="0" hangingPunct="1">
                        <a:lnSpc>
                          <a:spcPct val="95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Net ODA received by BD in billion US$</a:t>
                      </a:r>
                    </a:p>
                  </a:txBody>
                  <a:tcPr marL="96924" marR="96924" marT="45725" marB="4572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95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1.73</a:t>
                      </a:r>
                    </a:p>
                  </a:txBody>
                  <a:tcPr marL="96924" marR="96924"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95000"/>
                        </a:lnSpc>
                        <a:spcBef>
                          <a:spcPct val="20000"/>
                        </a:spcBef>
                        <a:spcAft>
                          <a:spcPct val="0"/>
                        </a:spcAft>
                        <a:buClr>
                          <a:schemeClr val="hlink"/>
                        </a:buClr>
                        <a:buSzPct val="60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1.79  </a:t>
                      </a:r>
                    </a:p>
                    <a:p>
                      <a:pPr marL="0" marR="0" lvl="0" indent="0" algn="ctr" defTabSz="914400" rtl="0" eaLnBrk="1" fontAlgn="base" latinLnBrk="0" hangingPunct="1">
                        <a:lnSpc>
                          <a:spcPct val="95000"/>
                        </a:lnSpc>
                        <a:spcBef>
                          <a:spcPct val="20000"/>
                        </a:spcBef>
                        <a:spcAft>
                          <a:spcPct val="0"/>
                        </a:spcAft>
                        <a:buClr>
                          <a:schemeClr val="hlink"/>
                        </a:buClr>
                        <a:buSzPct val="60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(Ave. FY91 to FY15; </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GED, 2015)</a:t>
                      </a:r>
                    </a:p>
                  </a:txBody>
                  <a:tcPr marL="96924" marR="96924"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95000"/>
                        </a:lnSpc>
                        <a:spcBef>
                          <a:spcPct val="20000"/>
                        </a:spcBef>
                        <a:spcAft>
                          <a:spcPct val="0"/>
                        </a:spcAft>
                        <a:buClr>
                          <a:schemeClr val="hlink"/>
                        </a:buClr>
                        <a:buSzPct val="60000"/>
                        <a:buFont typeface="Wingdings" pitchFamily="2" charset="2"/>
                        <a:buNone/>
                        <a:tabLst/>
                      </a:pPr>
                      <a:r>
                        <a:rPr kumimoji="0" lang="en-US" sz="1800" b="1" i="0" u="none" strike="noStrike" cap="none" normalizeH="0" baseline="0" dirty="0" smtClean="0">
                          <a:ln>
                            <a:noFill/>
                          </a:ln>
                          <a:solidFill>
                            <a:srgbClr val="0000FF"/>
                          </a:solidFill>
                          <a:effectLst/>
                          <a:latin typeface="Times New Roman" pitchFamily="18" charset="0"/>
                          <a:cs typeface="Times New Roman" pitchFamily="18" charset="0"/>
                        </a:rPr>
                        <a:t>-</a:t>
                      </a:r>
                    </a:p>
                  </a:txBody>
                  <a:tcPr marL="96924" marR="96924" marT="45725" marB="4572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r>
              <a:tr h="998938">
                <a:tc>
                  <a:txBody>
                    <a:bodyPr/>
                    <a:lstStyle/>
                    <a:p>
                      <a:pPr marL="0" marR="0" lvl="0" indent="0" algn="l" defTabSz="914400" rtl="0" eaLnBrk="1" fontAlgn="base" latinLnBrk="0" hangingPunct="1">
                        <a:lnSpc>
                          <a:spcPct val="95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Net </a:t>
                      </a:r>
                      <a:r>
                        <a:rPr kumimoji="0" lang="en-US" sz="1800" b="0" i="0" u="none" strike="noStrike" cap="none" normalizeH="0" baseline="0" dirty="0" err="1" smtClean="0">
                          <a:ln>
                            <a:noFill/>
                          </a:ln>
                          <a:solidFill>
                            <a:schemeClr val="tx1"/>
                          </a:solidFill>
                          <a:effectLst/>
                          <a:latin typeface="Times New Roman" pitchFamily="18" charset="0"/>
                          <a:cs typeface="Times New Roman" pitchFamily="18" charset="0"/>
                        </a:rPr>
                        <a:t>ODA</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 received by BD as % of OECD/DAC donors’ GNI (FY: 14)</a:t>
                      </a:r>
                    </a:p>
                  </a:txBody>
                  <a:tcPr marL="96924" marR="96924" marT="45725" marB="4572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95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a:t>
                      </a:r>
                    </a:p>
                  </a:txBody>
                  <a:tcPr marL="96924" marR="96924"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95000"/>
                        </a:lnSpc>
                        <a:spcBef>
                          <a:spcPct val="20000"/>
                        </a:spcBef>
                        <a:spcAft>
                          <a:spcPct val="0"/>
                        </a:spcAft>
                        <a:buClr>
                          <a:schemeClr val="hlink"/>
                        </a:buClr>
                        <a:buSzPct val="60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0.002 </a:t>
                      </a:r>
                    </a:p>
                    <a:p>
                      <a:pPr marL="0" marR="0" lvl="0" indent="0" algn="ctr" defTabSz="914400" rtl="0" eaLnBrk="1" fontAlgn="base" latinLnBrk="0" hangingPunct="1">
                        <a:lnSpc>
                          <a:spcPct val="95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a:t>
                      </a:r>
                      <a:r>
                        <a:rPr kumimoji="0" lang="en-US" sz="1800" b="0" i="0" u="none" strike="noStrike" cap="none" normalizeH="0" baseline="0" dirty="0" err="1" smtClean="0">
                          <a:ln>
                            <a:noFill/>
                          </a:ln>
                          <a:solidFill>
                            <a:schemeClr val="tx1"/>
                          </a:solidFill>
                          <a:effectLst/>
                          <a:latin typeface="Times New Roman" pitchFamily="18" charset="0"/>
                          <a:cs typeface="Times New Roman" pitchFamily="18" charset="0"/>
                        </a:rPr>
                        <a:t>ERD</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Times New Roman" pitchFamily="18" charset="0"/>
                          <a:cs typeface="Times New Roman" pitchFamily="18" charset="0"/>
                        </a:rPr>
                        <a:t>FY14</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a:t>
                      </a:r>
                    </a:p>
                  </a:txBody>
                  <a:tcPr marL="96924" marR="96924"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95000"/>
                        </a:lnSpc>
                        <a:spcBef>
                          <a:spcPct val="20000"/>
                        </a:spcBef>
                        <a:spcAft>
                          <a:spcPct val="0"/>
                        </a:spcAft>
                        <a:buClr>
                          <a:schemeClr val="hlink"/>
                        </a:buClr>
                        <a:buSzPct val="60000"/>
                        <a:buFont typeface="Wingdings" pitchFamily="2" charset="2"/>
                        <a:buNone/>
                        <a:tabLst/>
                      </a:pPr>
                      <a:r>
                        <a:rPr kumimoji="0" lang="en-US" sz="1800" b="1" i="0" u="none" strike="noStrike" cap="none" normalizeH="0" baseline="0" dirty="0" smtClean="0">
                          <a:ln>
                            <a:noFill/>
                          </a:ln>
                          <a:solidFill>
                            <a:srgbClr val="0000FF"/>
                          </a:solidFill>
                          <a:effectLst/>
                          <a:latin typeface="Times New Roman" pitchFamily="18" charset="0"/>
                          <a:cs typeface="Times New Roman" pitchFamily="18" charset="0"/>
                        </a:rPr>
                        <a:t>-</a:t>
                      </a:r>
                    </a:p>
                  </a:txBody>
                  <a:tcPr marL="96924" marR="96924" marT="45725" marB="4572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1167501">
                <a:tc>
                  <a:txBody>
                    <a:bodyPr/>
                    <a:lstStyle/>
                    <a:p>
                      <a:pPr marL="0" marR="0" lvl="0" indent="0" algn="l" defTabSz="914400" rtl="0" eaLnBrk="1" fontAlgn="base" latinLnBrk="0" hangingPunct="1">
                        <a:lnSpc>
                          <a:spcPct val="95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Average tariff imposed by developed countries on agricultural products, textile &amp; clothing (%)</a:t>
                      </a:r>
                    </a:p>
                  </a:txBody>
                  <a:tcPr marL="96924" marR="96924" marT="45725" marB="4572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95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12</a:t>
                      </a:r>
                    </a:p>
                  </a:txBody>
                  <a:tcPr marL="96924" marR="96924"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95000"/>
                        </a:lnSpc>
                        <a:spcBef>
                          <a:spcPct val="20000"/>
                        </a:spcBef>
                        <a:spcAft>
                          <a:spcPct val="0"/>
                        </a:spcAft>
                        <a:buClr>
                          <a:schemeClr val="hlink"/>
                        </a:buClr>
                        <a:buSzPct val="60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0-9</a:t>
                      </a:r>
                    </a:p>
                    <a:p>
                      <a:pPr marL="0" marR="0" lvl="0" indent="0" algn="ctr" defTabSz="914400" rtl="0" eaLnBrk="1" fontAlgn="base" latinLnBrk="0" hangingPunct="1">
                        <a:lnSpc>
                          <a:spcPct val="95000"/>
                        </a:lnSpc>
                        <a:spcBef>
                          <a:spcPct val="20000"/>
                        </a:spcBef>
                        <a:spcAft>
                          <a:spcPct val="0"/>
                        </a:spcAft>
                        <a:buClr>
                          <a:schemeClr val="hlink"/>
                        </a:buClr>
                        <a:buSzPct val="60000"/>
                        <a:buFont typeface="Wingdings" pitchFamily="2" charset="2"/>
                        <a:buNone/>
                        <a:tabLst/>
                      </a:pPr>
                      <a:r>
                        <a:rPr kumimoji="0" lang="en-GB" sz="1800" b="0" i="0" u="none" strike="noStrike" kern="1200" cap="none" normalizeH="0" baseline="0" dirty="0" smtClean="0">
                          <a:ln>
                            <a:noFill/>
                          </a:ln>
                          <a:solidFill>
                            <a:schemeClr val="tx1"/>
                          </a:solidFill>
                          <a:effectLst/>
                          <a:latin typeface="Times New Roman" pitchFamily="18" charset="0"/>
                          <a:ea typeface="+mn-ea"/>
                          <a:cs typeface="Times New Roman" pitchFamily="18" charset="0"/>
                        </a:rPr>
                        <a:t>(BTC,2011)</a:t>
                      </a:r>
                      <a:endParaRPr kumimoji="0" lang="en-US" sz="1800" b="0" i="0" u="none" strike="noStrike" kern="1200" cap="none" normalizeH="0" baseline="0" dirty="0" smtClean="0">
                        <a:ln>
                          <a:noFill/>
                        </a:ln>
                        <a:solidFill>
                          <a:schemeClr val="tx1"/>
                        </a:solidFill>
                        <a:effectLst/>
                        <a:latin typeface="Times New Roman" pitchFamily="18" charset="0"/>
                        <a:ea typeface="+mn-ea"/>
                        <a:cs typeface="Times New Roman" pitchFamily="18" charset="0"/>
                      </a:endParaRPr>
                    </a:p>
                  </a:txBody>
                  <a:tcPr marL="96924" marR="96924"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95000"/>
                        </a:lnSpc>
                        <a:spcBef>
                          <a:spcPct val="20000"/>
                        </a:spcBef>
                        <a:spcAft>
                          <a:spcPct val="0"/>
                        </a:spcAft>
                        <a:buClr>
                          <a:schemeClr val="hlink"/>
                        </a:buClr>
                        <a:buSzPct val="60000"/>
                        <a:buFont typeface="Wingdings" pitchFamily="2" charset="2"/>
                        <a:buNone/>
                        <a:tabLst/>
                      </a:pPr>
                      <a:r>
                        <a:rPr kumimoji="0" lang="en-US" sz="1800" b="1" i="0" u="none" strike="noStrike" cap="none" normalizeH="0" baseline="0" dirty="0" smtClean="0">
                          <a:ln>
                            <a:noFill/>
                          </a:ln>
                          <a:solidFill>
                            <a:srgbClr val="0000FF"/>
                          </a:solidFill>
                          <a:effectLst/>
                          <a:latin typeface="Times New Roman" pitchFamily="18" charset="0"/>
                          <a:cs typeface="Times New Roman" pitchFamily="18" charset="0"/>
                        </a:rPr>
                        <a:t>-</a:t>
                      </a:r>
                    </a:p>
                  </a:txBody>
                  <a:tcPr marL="96924" marR="96924" marT="45725" marB="4572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r>
              <a:tr h="786477">
                <a:tc>
                  <a:txBody>
                    <a:bodyPr/>
                    <a:lstStyle/>
                    <a:p>
                      <a:pPr marL="0" marR="0" lvl="0" indent="0" algn="l" defTabSz="914400" rtl="0" eaLnBrk="1" fontAlgn="base" latinLnBrk="0" hangingPunct="1">
                        <a:lnSpc>
                          <a:spcPct val="95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Debt Service as % of exports of goods &amp; services (%)</a:t>
                      </a:r>
                    </a:p>
                  </a:txBody>
                  <a:tcPr marL="96924" marR="96924" marT="45725" marB="4572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50000"/>
                      </a:schemeClr>
                    </a:solidFill>
                  </a:tcPr>
                </a:tc>
                <a:tc>
                  <a:txBody>
                    <a:bodyPr/>
                    <a:lstStyle/>
                    <a:p>
                      <a:pPr marL="0" marR="0" lvl="0" indent="0" algn="ctr" defTabSz="914400" rtl="0" eaLnBrk="1" fontAlgn="base" latinLnBrk="0" hangingPunct="1">
                        <a:lnSpc>
                          <a:spcPct val="95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20.9</a:t>
                      </a:r>
                    </a:p>
                  </a:txBody>
                  <a:tcPr marL="96924" marR="96924"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50000"/>
                      </a:schemeClr>
                    </a:solidFill>
                  </a:tcPr>
                </a:tc>
                <a:tc>
                  <a:txBody>
                    <a:bodyPr/>
                    <a:lstStyle/>
                    <a:p>
                      <a:pPr marL="0" marR="0" lvl="0" indent="0" algn="ctr" defTabSz="914400" rtl="0" eaLnBrk="1" fontAlgn="base" latinLnBrk="0" hangingPunct="1">
                        <a:lnSpc>
                          <a:spcPct val="95000"/>
                        </a:lnSpc>
                        <a:spcBef>
                          <a:spcPct val="20000"/>
                        </a:spcBef>
                        <a:spcAft>
                          <a:spcPct val="0"/>
                        </a:spcAft>
                        <a:buClr>
                          <a:schemeClr val="hlink"/>
                        </a:buClr>
                        <a:buSzPct val="60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5.1</a:t>
                      </a:r>
                    </a:p>
                    <a:p>
                      <a:pPr marL="0" marR="0" lvl="0" indent="0" algn="ctr" defTabSz="914400" rtl="0" eaLnBrk="1" fontAlgn="base" latinLnBrk="0" hangingPunct="1">
                        <a:lnSpc>
                          <a:spcPct val="95000"/>
                        </a:lnSpc>
                        <a:spcBef>
                          <a:spcPct val="20000"/>
                        </a:spcBef>
                        <a:spcAft>
                          <a:spcPct val="0"/>
                        </a:spcAft>
                        <a:buClr>
                          <a:schemeClr val="hlink"/>
                        </a:buClr>
                        <a:buSzPct val="60000"/>
                        <a:buFont typeface="Wingdings" pitchFamily="2" charset="2"/>
                        <a:buNone/>
                        <a:tabLst/>
                        <a:defRPr/>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(ERD, FY15)</a:t>
                      </a:r>
                    </a:p>
                  </a:txBody>
                  <a:tcPr marL="96924" marR="96924"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50000"/>
                      </a:schemeClr>
                    </a:solidFill>
                  </a:tcPr>
                </a:tc>
                <a:tc>
                  <a:txBody>
                    <a:bodyPr/>
                    <a:lstStyle/>
                    <a:p>
                      <a:pPr marL="0" marR="0" lvl="0" indent="0" algn="ctr" defTabSz="914400" rtl="0" eaLnBrk="1" fontAlgn="base" latinLnBrk="0" hangingPunct="1">
                        <a:lnSpc>
                          <a:spcPct val="95000"/>
                        </a:lnSpc>
                        <a:spcBef>
                          <a:spcPct val="20000"/>
                        </a:spcBef>
                        <a:spcAft>
                          <a:spcPct val="0"/>
                        </a:spcAft>
                        <a:buClr>
                          <a:schemeClr val="hlink"/>
                        </a:buClr>
                        <a:buSzPct val="60000"/>
                        <a:buFont typeface="Wingdings" pitchFamily="2" charset="2"/>
                        <a:buNone/>
                        <a:tabLst/>
                        <a:defRPr/>
                      </a:pPr>
                      <a:r>
                        <a:rPr kumimoji="0" lang="en-US" sz="1800" b="1" i="0" u="none" strike="noStrike" cap="none" normalizeH="0" baseline="0" dirty="0" smtClean="0">
                          <a:ln>
                            <a:noFill/>
                          </a:ln>
                          <a:solidFill>
                            <a:srgbClr val="0000FF"/>
                          </a:solidFill>
                          <a:effectLst/>
                          <a:latin typeface="Times New Roman" pitchFamily="18" charset="0"/>
                          <a:cs typeface="Times New Roman" pitchFamily="18" charset="0"/>
                        </a:rPr>
                        <a:t>Highly Impressive</a:t>
                      </a:r>
                    </a:p>
                  </a:txBody>
                  <a:tcPr marL="96924" marR="96924" marT="45725" marB="4572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50000"/>
                      </a:schemeClr>
                    </a:solidFill>
                  </a:tcPr>
                </a:tc>
              </a:tr>
              <a:tr h="957824">
                <a:tc>
                  <a:txBody>
                    <a:bodyPr/>
                    <a:lstStyle/>
                    <a:p>
                      <a:pPr marL="0" marR="0" lvl="0" indent="0" algn="l" defTabSz="914400" rtl="0" eaLnBrk="1" fontAlgn="base" latinLnBrk="0" hangingPunct="1">
                        <a:lnSpc>
                          <a:spcPct val="95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Cellular subscribers per 100 population</a:t>
                      </a:r>
                    </a:p>
                  </a:txBody>
                  <a:tcPr marL="96924" marR="96924" marT="45725" marB="4572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73A8E3"/>
                    </a:solidFill>
                  </a:tcPr>
                </a:tc>
                <a:tc>
                  <a:txBody>
                    <a:bodyPr/>
                    <a:lstStyle/>
                    <a:p>
                      <a:pPr marL="0" marR="0" lvl="0" indent="0" algn="ctr" defTabSz="914400" rtl="0" eaLnBrk="1" fontAlgn="base" latinLnBrk="0" hangingPunct="1">
                        <a:lnSpc>
                          <a:spcPct val="95000"/>
                        </a:lnSpc>
                        <a:spcBef>
                          <a:spcPct val="20000"/>
                        </a:spcBef>
                        <a:spcAft>
                          <a:spcPct val="0"/>
                        </a:spcAft>
                        <a:buClr>
                          <a:schemeClr va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a:t>
                      </a:r>
                    </a:p>
                  </a:txBody>
                  <a:tcPr marL="96924" marR="96924"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73A8E3"/>
                    </a:solidFill>
                  </a:tcPr>
                </a:tc>
                <a:tc>
                  <a:txBody>
                    <a:bodyPr/>
                    <a:lstStyle/>
                    <a:p>
                      <a:pPr marL="0" marR="0" lvl="0" indent="0" algn="ctr" defTabSz="914400" rtl="0" eaLnBrk="1" fontAlgn="base" latinLnBrk="0" hangingPunct="1">
                        <a:lnSpc>
                          <a:spcPct val="95000"/>
                        </a:lnSpc>
                        <a:spcBef>
                          <a:spcPct val="20000"/>
                        </a:spcBef>
                        <a:spcAft>
                          <a:spcPct val="0"/>
                        </a:spcAft>
                        <a:buClr>
                          <a:schemeClr val="hlink"/>
                        </a:buClr>
                        <a:buSzPct val="60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80</a:t>
                      </a:r>
                    </a:p>
                    <a:p>
                      <a:pPr marL="0" marR="0" lvl="0" indent="0" algn="ctr" defTabSz="914400" rtl="0" eaLnBrk="1" fontAlgn="base" latinLnBrk="0" hangingPunct="1">
                        <a:lnSpc>
                          <a:spcPct val="95000"/>
                        </a:lnSpc>
                        <a:spcBef>
                          <a:spcPct val="20000"/>
                        </a:spcBef>
                        <a:spcAft>
                          <a:spcPct val="0"/>
                        </a:spcAft>
                        <a:buClr>
                          <a:schemeClr val="hlink"/>
                        </a:buClr>
                        <a:buSzPct val="60000"/>
                        <a:buFont typeface="Wingdings" pitchFamily="2" charset="2"/>
                        <a:buNone/>
                        <a:tabLst/>
                      </a:pPr>
                      <a:r>
                        <a:rPr kumimoji="0" lang="en-GB" sz="1800" b="0" i="0" u="none" strike="noStrike" kern="1200" cap="none" normalizeH="0" baseline="0" dirty="0" smtClean="0">
                          <a:ln>
                            <a:noFill/>
                          </a:ln>
                          <a:solidFill>
                            <a:schemeClr val="tx1"/>
                          </a:solidFill>
                          <a:effectLst/>
                          <a:latin typeface="Times New Roman" pitchFamily="18" charset="0"/>
                          <a:ea typeface="+mn-ea"/>
                          <a:cs typeface="Times New Roman" pitchFamily="18" charset="0"/>
                        </a:rPr>
                        <a:t>(BTRC, June 2015)</a:t>
                      </a:r>
                      <a:endParaRPr kumimoji="0" lang="en-US" sz="1800" b="0" i="0" u="none" strike="noStrike" kern="1200" cap="none" normalizeH="0" baseline="0" dirty="0" smtClean="0">
                        <a:ln>
                          <a:noFill/>
                        </a:ln>
                        <a:solidFill>
                          <a:schemeClr val="tx1"/>
                        </a:solidFill>
                        <a:effectLst/>
                        <a:latin typeface="Times New Roman" pitchFamily="18" charset="0"/>
                        <a:ea typeface="+mn-ea"/>
                        <a:cs typeface="Times New Roman" pitchFamily="18" charset="0"/>
                      </a:endParaRPr>
                    </a:p>
                  </a:txBody>
                  <a:tcPr marL="96924" marR="96924"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73A8E3"/>
                    </a:solidFill>
                  </a:tcPr>
                </a:tc>
                <a:tc>
                  <a:txBody>
                    <a:bodyPr/>
                    <a:lstStyle/>
                    <a:p>
                      <a:pPr marL="0" marR="0" lvl="0" indent="0" algn="ctr" defTabSz="914400" rtl="0" eaLnBrk="1" fontAlgn="base" latinLnBrk="0" hangingPunct="1">
                        <a:lnSpc>
                          <a:spcPct val="95000"/>
                        </a:lnSpc>
                        <a:spcBef>
                          <a:spcPct val="20000"/>
                        </a:spcBef>
                        <a:spcAft>
                          <a:spcPct val="0"/>
                        </a:spcAft>
                        <a:buClr>
                          <a:schemeClr val="hlink"/>
                        </a:buClr>
                        <a:buSzPct val="60000"/>
                        <a:buFont typeface="Wingdings" pitchFamily="2" charset="2"/>
                        <a:buNone/>
                        <a:tabLst/>
                        <a:defRPr/>
                      </a:pPr>
                      <a:r>
                        <a:rPr kumimoji="0" lang="en-US" sz="1800" b="1" i="0" u="none" strike="noStrike" cap="none" normalizeH="0" baseline="0" dirty="0" smtClean="0">
                          <a:ln>
                            <a:noFill/>
                          </a:ln>
                          <a:solidFill>
                            <a:srgbClr val="0000FF"/>
                          </a:solidFill>
                          <a:effectLst/>
                          <a:latin typeface="Times New Roman" pitchFamily="18" charset="0"/>
                          <a:cs typeface="Times New Roman" pitchFamily="18" charset="0"/>
                        </a:rPr>
                        <a:t>Highly Impressive</a:t>
                      </a:r>
                    </a:p>
                  </a:txBody>
                  <a:tcPr marL="96924" marR="96924" marT="45725" marB="4572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73A8E3"/>
                    </a:solidFill>
                  </a:tcPr>
                </a:tc>
              </a:tr>
            </a:tbl>
          </a:graphicData>
        </a:graphic>
      </p:graphicFrame>
      <p:pic>
        <p:nvPicPr>
          <p:cNvPr id="26683" name="Picture 10" descr="C:\Documents and Settings\Mahbub_GED\Desktop\thumbnailCASTUZ21.jpg"/>
          <p:cNvPicPr>
            <a:picLocks noChangeAspect="1" noChangeArrowheads="1"/>
          </p:cNvPicPr>
          <p:nvPr/>
        </p:nvPicPr>
        <p:blipFill>
          <a:blip r:embed="rId2"/>
          <a:srcRect/>
          <a:stretch>
            <a:fillRect/>
          </a:stretch>
        </p:blipFill>
        <p:spPr bwMode="auto">
          <a:xfrm>
            <a:off x="0" y="0"/>
            <a:ext cx="1998133" cy="998811"/>
          </a:xfrm>
          <a:prstGeom prst="rect">
            <a:avLst/>
          </a:prstGeom>
          <a:noFill/>
          <a:ln w="9525">
            <a:noFill/>
            <a:miter lim="800000"/>
            <a:headEnd/>
            <a:tailEnd/>
          </a:ln>
        </p:spPr>
      </p:pic>
      <p:sp>
        <p:nvSpPr>
          <p:cNvPr id="9" name="TextBox 8"/>
          <p:cNvSpPr txBox="1"/>
          <p:nvPr/>
        </p:nvSpPr>
        <p:spPr>
          <a:xfrm>
            <a:off x="0" y="940607"/>
            <a:ext cx="4177145" cy="5911875"/>
          </a:xfrm>
          <a:prstGeom prst="rect">
            <a:avLst/>
          </a:prstGeom>
          <a:solidFill>
            <a:schemeClr val="bg2"/>
          </a:solidFill>
        </p:spPr>
        <p:txBody>
          <a:bodyPr wrap="square" rtlCol="0">
            <a:spAutoFit/>
          </a:bodyPr>
          <a:lstStyle/>
          <a:p>
            <a:pPr marL="274320" indent="-310942">
              <a:buFont typeface="Wingdings" pitchFamily="2" charset="2"/>
              <a:buChar char="§"/>
            </a:pPr>
            <a:r>
              <a:rPr lang="en-GB" sz="2800" dirty="0"/>
              <a:t>Between 1990-91 and 2014-15, the disbursement of ODA as a proportion of Bangladesh’s GDP has fallen from 5.59 per cent to 1.56 per cent.</a:t>
            </a:r>
          </a:p>
          <a:p>
            <a:pPr marL="274320" indent="-310942">
              <a:buFont typeface="Wingdings" pitchFamily="2" charset="2"/>
              <a:buChar char="§"/>
            </a:pPr>
            <a:r>
              <a:rPr lang="en-US" sz="2800" dirty="0"/>
              <a:t>Developing and least developed countries did not get promised financial assistance from most of the OECD/DAC countries.</a:t>
            </a:r>
          </a:p>
        </p:txBody>
      </p:sp>
    </p:spTree>
    <p:extLst>
      <p:ext uri="{BB962C8B-B14F-4D97-AF65-F5344CB8AC3E}">
        <p14:creationId xmlns="" xmlns:p14="http://schemas.microsoft.com/office/powerpoint/2010/main" val="235022114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12192000" cy="833772"/>
          </a:xfrm>
          <a:solidFill>
            <a:schemeClr val="accent5"/>
          </a:solidFill>
        </p:spPr>
        <p:txBody>
          <a:bodyPr/>
          <a:lstStyle/>
          <a:p>
            <a:r>
              <a:rPr lang="en-US" sz="2902" b="1" dirty="0">
                <a:solidFill>
                  <a:schemeClr val="accent3">
                    <a:lumMod val="50000"/>
                  </a:schemeClr>
                </a:solidFill>
                <a:latin typeface="Times New Roman" pitchFamily="18" charset="0"/>
                <a:ea typeface="+mn-ea"/>
                <a:cs typeface="Times New Roman" pitchFamily="18" charset="0"/>
              </a:rPr>
              <a:t>Area of Attention Required for Fulfilling the unfinished MDGs</a:t>
            </a:r>
          </a:p>
        </p:txBody>
      </p:sp>
      <p:sp>
        <p:nvSpPr>
          <p:cNvPr id="3" name="Content Placeholder 2"/>
          <p:cNvSpPr>
            <a:spLocks noGrp="1"/>
          </p:cNvSpPr>
          <p:nvPr>
            <p:ph idx="1"/>
          </p:nvPr>
        </p:nvSpPr>
        <p:spPr>
          <a:xfrm>
            <a:off x="1" y="833772"/>
            <a:ext cx="12191999" cy="6024228"/>
          </a:xfrm>
        </p:spPr>
        <p:txBody>
          <a:bodyPr>
            <a:noAutofit/>
          </a:bodyPr>
          <a:lstStyle/>
          <a:p>
            <a:pPr marL="249375" indent="-249375">
              <a:lnSpc>
                <a:spcPct val="100000"/>
              </a:lnSpc>
              <a:spcBef>
                <a:spcPts val="0"/>
              </a:spcBef>
              <a:buClr>
                <a:srgbClr val="516529"/>
              </a:buClr>
              <a:buFont typeface="Wingdings" panose="05000000000000000000" pitchFamily="2" charset="2"/>
              <a:buChar char="§"/>
            </a:pPr>
            <a:r>
              <a:rPr lang="en-GB" sz="2400" dirty="0">
                <a:solidFill>
                  <a:schemeClr val="accent2"/>
                </a:solidFill>
                <a:latin typeface="Times New Roman" pitchFamily="18" charset="0"/>
                <a:ea typeface="Calibri" panose="020F0502020204030204" pitchFamily="34" charset="0"/>
                <a:cs typeface="Times New Roman" pitchFamily="18" charset="0"/>
              </a:rPr>
              <a:t>Unemployment </a:t>
            </a:r>
            <a:r>
              <a:rPr lang="en-GB" sz="2400" dirty="0" smtClean="0">
                <a:solidFill>
                  <a:schemeClr val="accent2"/>
                </a:solidFill>
                <a:latin typeface="Times New Roman" pitchFamily="18" charset="0"/>
                <a:ea typeface="Calibri" panose="020F0502020204030204" pitchFamily="34" charset="0"/>
                <a:cs typeface="Times New Roman" pitchFamily="18" charset="0"/>
              </a:rPr>
              <a:t>and underemployment </a:t>
            </a:r>
            <a:r>
              <a:rPr lang="en-GB" sz="2400" dirty="0">
                <a:latin typeface="Times New Roman" pitchFamily="18" charset="0"/>
                <a:ea typeface="Calibri" panose="020F0502020204030204" pitchFamily="34" charset="0"/>
                <a:cs typeface="Times New Roman" pitchFamily="18" charset="0"/>
              </a:rPr>
              <a:t>is still persistent especially among the young people between 15 to 24 years of age.</a:t>
            </a:r>
          </a:p>
          <a:p>
            <a:pPr marL="249375" indent="-249375">
              <a:lnSpc>
                <a:spcPct val="100000"/>
              </a:lnSpc>
              <a:spcBef>
                <a:spcPts val="0"/>
              </a:spcBef>
              <a:buClr>
                <a:srgbClr val="516529"/>
              </a:buClr>
              <a:buFont typeface="Wingdings" panose="05000000000000000000" pitchFamily="2" charset="2"/>
              <a:buChar char="§"/>
            </a:pPr>
            <a:r>
              <a:rPr lang="en-GB" sz="2400" dirty="0" smtClean="0">
                <a:latin typeface="Times New Roman" pitchFamily="18" charset="0"/>
                <a:ea typeface="Calibri" panose="020F0502020204030204" pitchFamily="34" charset="0"/>
                <a:cs typeface="Times New Roman" pitchFamily="18" charset="0"/>
              </a:rPr>
              <a:t>Addressing </a:t>
            </a:r>
            <a:r>
              <a:rPr lang="en-GB" sz="2400" dirty="0">
                <a:solidFill>
                  <a:schemeClr val="accent2"/>
                </a:solidFill>
                <a:latin typeface="Times New Roman" pitchFamily="18" charset="0"/>
                <a:ea typeface="Calibri" panose="020F0502020204030204" pitchFamily="34" charset="0"/>
                <a:cs typeface="Times New Roman" pitchFamily="18" charset="0"/>
              </a:rPr>
              <a:t>stunting and wasting </a:t>
            </a:r>
            <a:r>
              <a:rPr lang="en-GB" sz="2400" dirty="0">
                <a:latin typeface="Times New Roman" pitchFamily="18" charset="0"/>
                <a:ea typeface="Calibri" panose="020F0502020204030204" pitchFamily="34" charset="0"/>
                <a:cs typeface="Times New Roman" pitchFamily="18" charset="0"/>
              </a:rPr>
              <a:t>will be a major concern to improve nutritional </a:t>
            </a:r>
            <a:r>
              <a:rPr lang="en-GB" sz="2400" dirty="0" smtClean="0">
                <a:latin typeface="Times New Roman" pitchFamily="18" charset="0"/>
                <a:ea typeface="Calibri" panose="020F0502020204030204" pitchFamily="34" charset="0"/>
                <a:cs typeface="Times New Roman" pitchFamily="18" charset="0"/>
              </a:rPr>
              <a:t>wellbeing.  </a:t>
            </a:r>
            <a:endParaRPr lang="en-GB" sz="2400" dirty="0">
              <a:latin typeface="Times New Roman" pitchFamily="18" charset="0"/>
              <a:ea typeface="Calibri" panose="020F0502020204030204" pitchFamily="34" charset="0"/>
              <a:cs typeface="Times New Roman" pitchFamily="18" charset="0"/>
            </a:endParaRPr>
          </a:p>
          <a:p>
            <a:pPr marL="249375" indent="-249375">
              <a:lnSpc>
                <a:spcPct val="100000"/>
              </a:lnSpc>
              <a:spcBef>
                <a:spcPts val="0"/>
              </a:spcBef>
              <a:buClr>
                <a:srgbClr val="516529"/>
              </a:buClr>
              <a:buFont typeface="Wingdings" panose="05000000000000000000" pitchFamily="2" charset="2"/>
              <a:buChar char="§"/>
            </a:pPr>
            <a:r>
              <a:rPr lang="en-GB" sz="2400" dirty="0">
                <a:solidFill>
                  <a:schemeClr val="accent2"/>
                </a:solidFill>
                <a:latin typeface="Times New Roman" pitchFamily="18" charset="0"/>
                <a:ea typeface="Calibri" panose="020F0502020204030204" pitchFamily="34" charset="0"/>
                <a:cs typeface="Times New Roman" pitchFamily="18" charset="0"/>
              </a:rPr>
              <a:t>R</a:t>
            </a:r>
            <a:r>
              <a:rPr lang="en-GB" sz="2400" dirty="0" smtClean="0">
                <a:solidFill>
                  <a:schemeClr val="accent2"/>
                </a:solidFill>
                <a:latin typeface="Times New Roman" pitchFamily="18" charset="0"/>
                <a:ea typeface="Calibri" panose="020F0502020204030204" pitchFamily="34" charset="0"/>
                <a:cs typeface="Times New Roman" pitchFamily="18" charset="0"/>
              </a:rPr>
              <a:t>educing </a:t>
            </a:r>
            <a:r>
              <a:rPr lang="en-GB" sz="2400" dirty="0">
                <a:solidFill>
                  <a:schemeClr val="accent2"/>
                </a:solidFill>
                <a:latin typeface="Times New Roman" pitchFamily="18" charset="0"/>
                <a:ea typeface="Calibri" panose="020F0502020204030204" pitchFamily="34" charset="0"/>
                <a:cs typeface="Times New Roman" pitchFamily="18" charset="0"/>
              </a:rPr>
              <a:t>income inequality </a:t>
            </a:r>
            <a:r>
              <a:rPr lang="en-GB" sz="2400" dirty="0">
                <a:latin typeface="Times New Roman" pitchFamily="18" charset="0"/>
                <a:ea typeface="Calibri" panose="020F0502020204030204" pitchFamily="34" charset="0"/>
                <a:cs typeface="Times New Roman" pitchFamily="18" charset="0"/>
              </a:rPr>
              <a:t>and the low economic participation of </a:t>
            </a:r>
            <a:r>
              <a:rPr lang="en-GB" sz="2400" dirty="0" smtClean="0">
                <a:latin typeface="Times New Roman" pitchFamily="18" charset="0"/>
                <a:ea typeface="Calibri" panose="020F0502020204030204" pitchFamily="34" charset="0"/>
                <a:cs typeface="Times New Roman" pitchFamily="18" charset="0"/>
              </a:rPr>
              <a:t>women </a:t>
            </a:r>
            <a:r>
              <a:rPr lang="en-GB" sz="2400" dirty="0">
                <a:latin typeface="Times New Roman" pitchFamily="18" charset="0"/>
                <a:ea typeface="Calibri" panose="020F0502020204030204" pitchFamily="34" charset="0"/>
                <a:cs typeface="Times New Roman" pitchFamily="18" charset="0"/>
              </a:rPr>
              <a:t>remain as matter of concerns.</a:t>
            </a:r>
          </a:p>
          <a:p>
            <a:pPr marL="249375" indent="-249375">
              <a:lnSpc>
                <a:spcPct val="100000"/>
              </a:lnSpc>
              <a:spcBef>
                <a:spcPts val="0"/>
              </a:spcBef>
              <a:buClr>
                <a:srgbClr val="516529"/>
              </a:buClr>
              <a:buFont typeface="Wingdings" panose="05000000000000000000" pitchFamily="2" charset="2"/>
              <a:buChar char="§"/>
            </a:pPr>
            <a:r>
              <a:rPr lang="en-GB" sz="2400" dirty="0">
                <a:latin typeface="Times New Roman" pitchFamily="18" charset="0"/>
                <a:ea typeface="Calibri" panose="020F0502020204030204" pitchFamily="34" charset="0"/>
                <a:cs typeface="Times New Roman" pitchFamily="18" charset="0"/>
              </a:rPr>
              <a:t>P</a:t>
            </a:r>
            <a:r>
              <a:rPr lang="en-GB" sz="2400" dirty="0" smtClean="0">
                <a:latin typeface="Times New Roman" pitchFamily="18" charset="0"/>
                <a:ea typeface="Calibri" panose="020F0502020204030204" pitchFamily="34" charset="0"/>
                <a:cs typeface="Times New Roman" pitchFamily="18" charset="0"/>
              </a:rPr>
              <a:t>rimary </a:t>
            </a:r>
            <a:r>
              <a:rPr lang="en-GB" sz="2400" dirty="0">
                <a:latin typeface="Times New Roman" pitchFamily="18" charset="0"/>
                <a:ea typeface="Calibri" panose="020F0502020204030204" pitchFamily="34" charset="0"/>
                <a:cs typeface="Times New Roman" pitchFamily="18" charset="0"/>
              </a:rPr>
              <a:t>education </a:t>
            </a:r>
            <a:r>
              <a:rPr lang="en-GB" sz="2400" dirty="0">
                <a:solidFill>
                  <a:schemeClr val="accent2"/>
                </a:solidFill>
                <a:latin typeface="Times New Roman" pitchFamily="18" charset="0"/>
                <a:ea typeface="Calibri" panose="020F0502020204030204" pitchFamily="34" charset="0"/>
                <a:cs typeface="Times New Roman" pitchFamily="18" charset="0"/>
              </a:rPr>
              <a:t>completion rate </a:t>
            </a:r>
            <a:r>
              <a:rPr lang="en-GB" sz="2400" dirty="0">
                <a:latin typeface="Times New Roman" pitchFamily="18" charset="0"/>
                <a:ea typeface="Calibri" panose="020F0502020204030204" pitchFamily="34" charset="0"/>
                <a:cs typeface="Times New Roman" pitchFamily="18" charset="0"/>
              </a:rPr>
              <a:t>and the adult literacy rate are yet to obtain. </a:t>
            </a:r>
          </a:p>
          <a:p>
            <a:pPr marL="249375" indent="-249375">
              <a:lnSpc>
                <a:spcPct val="100000"/>
              </a:lnSpc>
              <a:spcBef>
                <a:spcPts val="0"/>
              </a:spcBef>
              <a:buClr>
                <a:srgbClr val="516529"/>
              </a:buClr>
              <a:buFont typeface="Wingdings" panose="05000000000000000000" pitchFamily="2" charset="2"/>
              <a:buChar char="§"/>
            </a:pPr>
            <a:r>
              <a:rPr lang="en-GB" sz="2400" dirty="0">
                <a:solidFill>
                  <a:schemeClr val="accent2"/>
                </a:solidFill>
                <a:latin typeface="Times New Roman" pitchFamily="18" charset="0"/>
                <a:ea typeface="Calibri" panose="020F0502020204030204" pitchFamily="34" charset="0"/>
                <a:cs typeface="Times New Roman" pitchFamily="18" charset="0"/>
              </a:rPr>
              <a:t>Q</a:t>
            </a:r>
            <a:r>
              <a:rPr lang="en-GB" sz="2400" dirty="0" smtClean="0">
                <a:solidFill>
                  <a:schemeClr val="accent2"/>
                </a:solidFill>
                <a:latin typeface="Times New Roman" pitchFamily="18" charset="0"/>
                <a:ea typeface="Calibri" panose="020F0502020204030204" pitchFamily="34" charset="0"/>
                <a:cs typeface="Times New Roman" pitchFamily="18" charset="0"/>
              </a:rPr>
              <a:t>uality </a:t>
            </a:r>
            <a:r>
              <a:rPr lang="en-GB" sz="2400" dirty="0">
                <a:solidFill>
                  <a:schemeClr val="accent2"/>
                </a:solidFill>
                <a:latin typeface="Times New Roman" pitchFamily="18" charset="0"/>
                <a:ea typeface="Calibri" panose="020F0502020204030204" pitchFamily="34" charset="0"/>
                <a:cs typeface="Times New Roman" pitchFamily="18" charset="0"/>
              </a:rPr>
              <a:t>of education </a:t>
            </a:r>
            <a:r>
              <a:rPr lang="en-GB" sz="2400" dirty="0">
                <a:latin typeface="Times New Roman" pitchFamily="18" charset="0"/>
                <a:ea typeface="Calibri" panose="020F0502020204030204" pitchFamily="34" charset="0"/>
                <a:cs typeface="Times New Roman" pitchFamily="18" charset="0"/>
              </a:rPr>
              <a:t>is </a:t>
            </a:r>
            <a:r>
              <a:rPr lang="en-GB" sz="2400" dirty="0" smtClean="0">
                <a:latin typeface="Times New Roman" pitchFamily="18" charset="0"/>
                <a:ea typeface="Calibri" panose="020F0502020204030204" pitchFamily="34" charset="0"/>
                <a:cs typeface="Times New Roman" pitchFamily="18" charset="0"/>
              </a:rPr>
              <a:t>a </a:t>
            </a:r>
            <a:r>
              <a:rPr lang="en-GB" sz="2400" dirty="0">
                <a:latin typeface="Times New Roman" pitchFamily="18" charset="0"/>
                <a:ea typeface="Calibri" panose="020F0502020204030204" pitchFamily="34" charset="0"/>
                <a:cs typeface="Times New Roman" pitchFamily="18" charset="0"/>
              </a:rPr>
              <a:t>challenge at the primary and higher secondary </a:t>
            </a:r>
            <a:r>
              <a:rPr lang="en-GB" sz="2400" dirty="0" smtClean="0">
                <a:latin typeface="Times New Roman" pitchFamily="18" charset="0"/>
                <a:ea typeface="Calibri" panose="020F0502020204030204" pitchFamily="34" charset="0"/>
                <a:cs typeface="Times New Roman" pitchFamily="18" charset="0"/>
              </a:rPr>
              <a:t>levels. </a:t>
            </a:r>
          </a:p>
          <a:p>
            <a:pPr marL="249375" indent="-249375">
              <a:lnSpc>
                <a:spcPct val="114000"/>
              </a:lnSpc>
              <a:spcBef>
                <a:spcPts val="0"/>
              </a:spcBef>
              <a:buClr>
                <a:srgbClr val="516529"/>
              </a:buClr>
              <a:buFont typeface="Wingdings" panose="05000000000000000000" pitchFamily="2" charset="2"/>
              <a:buChar char="§"/>
            </a:pPr>
            <a:r>
              <a:rPr lang="en-GB" sz="2400" dirty="0" smtClean="0">
                <a:latin typeface="Times New Roman" pitchFamily="18" charset="0"/>
                <a:ea typeface="Calibri" panose="020F0502020204030204" pitchFamily="34" charset="0"/>
                <a:cs typeface="Times New Roman" pitchFamily="18" charset="0"/>
              </a:rPr>
              <a:t>Inequalities </a:t>
            </a:r>
            <a:r>
              <a:rPr lang="en-GB" sz="2400" dirty="0">
                <a:latin typeface="Times New Roman" pitchFamily="18" charset="0"/>
                <a:ea typeface="Calibri" panose="020F0502020204030204" pitchFamily="34" charset="0"/>
                <a:cs typeface="Times New Roman" pitchFamily="18" charset="0"/>
              </a:rPr>
              <a:t>remain in maternal </a:t>
            </a:r>
            <a:r>
              <a:rPr lang="en-GB" sz="2400" dirty="0" smtClean="0">
                <a:latin typeface="Times New Roman" pitchFamily="18" charset="0"/>
                <a:ea typeface="Calibri" panose="020F0502020204030204" pitchFamily="34" charset="0"/>
                <a:cs typeface="Times New Roman" pitchFamily="18" charset="0"/>
              </a:rPr>
              <a:t>health.</a:t>
            </a:r>
            <a:endParaRPr lang="en-GB" sz="2400" dirty="0">
              <a:latin typeface="Times New Roman" pitchFamily="18" charset="0"/>
              <a:ea typeface="Calibri" panose="020F0502020204030204" pitchFamily="34" charset="0"/>
              <a:cs typeface="Times New Roman" pitchFamily="18" charset="0"/>
            </a:endParaRPr>
          </a:p>
          <a:p>
            <a:pPr marL="249375" indent="-249375">
              <a:lnSpc>
                <a:spcPct val="114000"/>
              </a:lnSpc>
              <a:spcBef>
                <a:spcPts val="0"/>
              </a:spcBef>
              <a:buClr>
                <a:srgbClr val="516529"/>
              </a:buClr>
              <a:buFont typeface="Wingdings" panose="05000000000000000000" pitchFamily="2" charset="2"/>
              <a:buChar char="§"/>
            </a:pPr>
            <a:r>
              <a:rPr lang="en-GB" sz="2400" dirty="0">
                <a:solidFill>
                  <a:schemeClr val="accent2"/>
                </a:solidFill>
                <a:latin typeface="Times New Roman" pitchFamily="18" charset="0"/>
                <a:ea typeface="Calibri" panose="020F0502020204030204" pitchFamily="34" charset="0"/>
                <a:cs typeface="Times New Roman" pitchFamily="18" charset="0"/>
              </a:rPr>
              <a:t>Prevalence of malaria </a:t>
            </a:r>
            <a:r>
              <a:rPr lang="en-GB" sz="2400" dirty="0">
                <a:latin typeface="Times New Roman" pitchFamily="18" charset="0"/>
                <a:ea typeface="Calibri" panose="020F0502020204030204" pitchFamily="34" charset="0"/>
                <a:cs typeface="Times New Roman" pitchFamily="18" charset="0"/>
              </a:rPr>
              <a:t>is still high even though death incidences are reduced.</a:t>
            </a:r>
          </a:p>
          <a:p>
            <a:pPr marL="249375" indent="-249375">
              <a:lnSpc>
                <a:spcPct val="114000"/>
              </a:lnSpc>
              <a:spcBef>
                <a:spcPts val="0"/>
              </a:spcBef>
              <a:buClr>
                <a:srgbClr val="516529"/>
              </a:buClr>
              <a:buFont typeface="Wingdings" panose="05000000000000000000" pitchFamily="2" charset="2"/>
              <a:buChar char="§"/>
            </a:pPr>
            <a:r>
              <a:rPr lang="en-GB" sz="2400" dirty="0">
                <a:solidFill>
                  <a:schemeClr val="accent2"/>
                </a:solidFill>
                <a:latin typeface="Times New Roman" pitchFamily="18" charset="0"/>
                <a:cs typeface="Times New Roman" pitchFamily="18" charset="0"/>
              </a:rPr>
              <a:t>Prevalence of TB </a:t>
            </a:r>
            <a:r>
              <a:rPr lang="en-GB" sz="2400" dirty="0">
                <a:latin typeface="Times New Roman" pitchFamily="18" charset="0"/>
                <a:cs typeface="Times New Roman" pitchFamily="18" charset="0"/>
              </a:rPr>
              <a:t>and TB mortality targets are yet to be achieved. </a:t>
            </a:r>
            <a:r>
              <a:rPr lang="en-GB" sz="2400" dirty="0">
                <a:latin typeface="Times New Roman" pitchFamily="18" charset="0"/>
                <a:ea typeface="Calibri" panose="020F0502020204030204" pitchFamily="34" charset="0"/>
                <a:cs typeface="Times New Roman" pitchFamily="18" charset="0"/>
              </a:rPr>
              <a:t> </a:t>
            </a:r>
          </a:p>
          <a:p>
            <a:pPr marL="249375" indent="-249375">
              <a:lnSpc>
                <a:spcPct val="114000"/>
              </a:lnSpc>
              <a:spcBef>
                <a:spcPts val="0"/>
              </a:spcBef>
              <a:buClr>
                <a:srgbClr val="516529"/>
              </a:buClr>
              <a:buFont typeface="Wingdings" panose="05000000000000000000" pitchFamily="2" charset="2"/>
              <a:buChar char="§"/>
            </a:pPr>
            <a:r>
              <a:rPr lang="en-GB" sz="2400" dirty="0" smtClean="0">
                <a:solidFill>
                  <a:schemeClr val="accent2"/>
                </a:solidFill>
                <a:latin typeface="Times New Roman" pitchFamily="18" charset="0"/>
                <a:ea typeface="Calibri" panose="020F0502020204030204" pitchFamily="34" charset="0"/>
                <a:cs typeface="Times New Roman" pitchFamily="18" charset="0"/>
              </a:rPr>
              <a:t>Tree </a:t>
            </a:r>
            <a:r>
              <a:rPr lang="en-GB" sz="2400" dirty="0">
                <a:solidFill>
                  <a:schemeClr val="accent2"/>
                </a:solidFill>
                <a:latin typeface="Times New Roman" pitchFamily="18" charset="0"/>
                <a:ea typeface="Calibri" panose="020F0502020204030204" pitchFamily="34" charset="0"/>
                <a:cs typeface="Times New Roman" pitchFamily="18" charset="0"/>
              </a:rPr>
              <a:t>coverage </a:t>
            </a:r>
            <a:r>
              <a:rPr lang="en-GB" sz="2400" dirty="0" smtClean="0">
                <a:latin typeface="Times New Roman" pitchFamily="18" charset="0"/>
                <a:ea typeface="Calibri" panose="020F0502020204030204" pitchFamily="34" charset="0"/>
                <a:cs typeface="Times New Roman" pitchFamily="18" charset="0"/>
              </a:rPr>
              <a:t>and proportion </a:t>
            </a:r>
            <a:r>
              <a:rPr lang="en-GB" sz="2400" dirty="0">
                <a:latin typeface="Times New Roman" pitchFamily="18" charset="0"/>
                <a:ea typeface="Calibri" panose="020F0502020204030204" pitchFamily="34" charset="0"/>
                <a:cs typeface="Times New Roman" pitchFamily="18" charset="0"/>
              </a:rPr>
              <a:t>of protected terrestrial and marine areas is much </a:t>
            </a:r>
            <a:r>
              <a:rPr lang="en-GB" sz="2400" dirty="0" smtClean="0">
                <a:latin typeface="Times New Roman" pitchFamily="18" charset="0"/>
                <a:ea typeface="Calibri" panose="020F0502020204030204" pitchFamily="34" charset="0"/>
                <a:cs typeface="Times New Roman" pitchFamily="18" charset="0"/>
              </a:rPr>
              <a:t>less.  </a:t>
            </a:r>
            <a:endParaRPr lang="en-GB" sz="2400" dirty="0">
              <a:latin typeface="Times New Roman" pitchFamily="18" charset="0"/>
              <a:ea typeface="Calibri" panose="020F0502020204030204" pitchFamily="34" charset="0"/>
              <a:cs typeface="Times New Roman" pitchFamily="18" charset="0"/>
            </a:endParaRPr>
          </a:p>
          <a:p>
            <a:pPr marL="249375" indent="-249375">
              <a:lnSpc>
                <a:spcPct val="114000"/>
              </a:lnSpc>
              <a:spcBef>
                <a:spcPts val="0"/>
              </a:spcBef>
              <a:buClr>
                <a:srgbClr val="516529"/>
              </a:buClr>
              <a:buFont typeface="Wingdings" panose="05000000000000000000" pitchFamily="2" charset="2"/>
              <a:buChar char="§"/>
            </a:pPr>
            <a:r>
              <a:rPr lang="en-GB" sz="2400" dirty="0">
                <a:latin typeface="Times New Roman" pitchFamily="18" charset="0"/>
                <a:ea typeface="Calibri" panose="020F0502020204030204" pitchFamily="34" charset="0"/>
                <a:cs typeface="Times New Roman" pitchFamily="18" charset="0"/>
              </a:rPr>
              <a:t>Access to </a:t>
            </a:r>
            <a:r>
              <a:rPr lang="en-GB" sz="2400" dirty="0">
                <a:solidFill>
                  <a:schemeClr val="accent2"/>
                </a:solidFill>
                <a:latin typeface="Times New Roman" pitchFamily="18" charset="0"/>
                <a:ea typeface="Calibri" panose="020F0502020204030204" pitchFamily="34" charset="0"/>
                <a:cs typeface="Times New Roman" pitchFamily="18" charset="0"/>
              </a:rPr>
              <a:t>safe water </a:t>
            </a:r>
            <a:r>
              <a:rPr lang="en-GB" sz="2400" dirty="0">
                <a:latin typeface="Times New Roman" pitchFamily="18" charset="0"/>
                <a:ea typeface="Calibri" panose="020F0502020204030204" pitchFamily="34" charset="0"/>
                <a:cs typeface="Times New Roman" pitchFamily="18" charset="0"/>
              </a:rPr>
              <a:t>for all is still a </a:t>
            </a:r>
            <a:r>
              <a:rPr lang="en-GB" sz="2400" dirty="0" smtClean="0">
                <a:latin typeface="Times New Roman" pitchFamily="18" charset="0"/>
                <a:ea typeface="Calibri" panose="020F0502020204030204" pitchFamily="34" charset="0"/>
                <a:cs typeface="Times New Roman" pitchFamily="18" charset="0"/>
              </a:rPr>
              <a:t>challenge. </a:t>
            </a:r>
            <a:endParaRPr lang="en-GB" sz="2400" dirty="0">
              <a:latin typeface="Times New Roman" pitchFamily="18" charset="0"/>
              <a:ea typeface="Calibri" panose="020F0502020204030204" pitchFamily="34" charset="0"/>
              <a:cs typeface="Times New Roman" pitchFamily="18" charset="0"/>
            </a:endParaRPr>
          </a:p>
          <a:p>
            <a:pPr marL="249375" indent="-249375">
              <a:lnSpc>
                <a:spcPct val="114000"/>
              </a:lnSpc>
              <a:spcBef>
                <a:spcPts val="0"/>
              </a:spcBef>
              <a:buClr>
                <a:srgbClr val="516529"/>
              </a:buClr>
              <a:buFont typeface="Wingdings" panose="05000000000000000000" pitchFamily="2" charset="2"/>
              <a:buChar char="§"/>
            </a:pPr>
            <a:r>
              <a:rPr lang="en-GB" sz="2400" dirty="0">
                <a:latin typeface="Times New Roman" pitchFamily="18" charset="0"/>
                <a:ea typeface="Calibri" panose="020F0502020204030204" pitchFamily="34" charset="0"/>
                <a:cs typeface="Times New Roman" pitchFamily="18" charset="0"/>
              </a:rPr>
              <a:t>One-third population are not using </a:t>
            </a:r>
            <a:r>
              <a:rPr lang="en-GB" sz="2400" dirty="0">
                <a:solidFill>
                  <a:schemeClr val="accent2"/>
                </a:solidFill>
                <a:latin typeface="Times New Roman" pitchFamily="18" charset="0"/>
                <a:ea typeface="Calibri" panose="020F0502020204030204" pitchFamily="34" charset="0"/>
                <a:cs typeface="Times New Roman" pitchFamily="18" charset="0"/>
              </a:rPr>
              <a:t>improved sanitation</a:t>
            </a:r>
            <a:r>
              <a:rPr lang="en-GB" sz="2400" dirty="0">
                <a:latin typeface="Times New Roman" pitchFamily="18" charset="0"/>
                <a:ea typeface="Calibri" panose="020F0502020204030204" pitchFamily="34" charset="0"/>
                <a:cs typeface="Times New Roman" pitchFamily="18" charset="0"/>
              </a:rPr>
              <a:t>.</a:t>
            </a:r>
          </a:p>
          <a:p>
            <a:pPr marL="249375" indent="-249375">
              <a:lnSpc>
                <a:spcPct val="114000"/>
              </a:lnSpc>
              <a:spcBef>
                <a:spcPts val="0"/>
              </a:spcBef>
              <a:buClr>
                <a:srgbClr val="516529"/>
              </a:buClr>
              <a:buFont typeface="Wingdings" panose="05000000000000000000" pitchFamily="2" charset="2"/>
              <a:buChar char="§"/>
            </a:pPr>
            <a:r>
              <a:rPr lang="en-GB" sz="2400" dirty="0" smtClean="0">
                <a:latin typeface="Times New Roman" pitchFamily="18" charset="0"/>
                <a:ea typeface="Calibri" panose="020F0502020204030204" pitchFamily="34" charset="0"/>
                <a:cs typeface="Times New Roman" pitchFamily="18" charset="0"/>
              </a:rPr>
              <a:t>Capacity </a:t>
            </a:r>
            <a:r>
              <a:rPr lang="en-GB" sz="2400" dirty="0">
                <a:latin typeface="Times New Roman" pitchFamily="18" charset="0"/>
                <a:ea typeface="Calibri" panose="020F0502020204030204" pitchFamily="34" charset="0"/>
                <a:cs typeface="Times New Roman" pitchFamily="18" charset="0"/>
              </a:rPr>
              <a:t>to raise public resources </a:t>
            </a:r>
            <a:r>
              <a:rPr lang="en-GB" sz="2400" dirty="0" smtClean="0">
                <a:latin typeface="Times New Roman" pitchFamily="18" charset="0"/>
                <a:ea typeface="Calibri" panose="020F0502020204030204" pitchFamily="34" charset="0"/>
                <a:cs typeface="Times New Roman" pitchFamily="18" charset="0"/>
              </a:rPr>
              <a:t>domestically is limited. </a:t>
            </a:r>
            <a:endParaRPr lang="en-GB" sz="2400" dirty="0">
              <a:latin typeface="Times New Roman" pitchFamily="18" charset="0"/>
              <a:ea typeface="Calibri" panose="020F0502020204030204" pitchFamily="34" charset="0"/>
              <a:cs typeface="Times New Roman" pitchFamily="18" charset="0"/>
            </a:endParaRPr>
          </a:p>
        </p:txBody>
      </p:sp>
    </p:spTree>
    <p:extLst>
      <p:ext uri="{BB962C8B-B14F-4D97-AF65-F5344CB8AC3E}">
        <p14:creationId xmlns="" xmlns:p14="http://schemas.microsoft.com/office/powerpoint/2010/main" val="92755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 calcmode="lin" valueType="num">
                                      <p:cBhvr additive="base">
                                        <p:cTn id="1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 calcmode="lin" valueType="num">
                                      <p:cBhvr additive="base">
                                        <p:cTn id="24"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 calcmode="lin" valueType="num">
                                      <p:cBhvr additive="base">
                                        <p:cTn id="30"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blinds(horizontal)">
                                      <p:cBhvr>
                                        <p:cTn id="36" dur="500"/>
                                        <p:tgtEl>
                                          <p:spTgt spid="3">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blinds(horizontal)">
                                      <p:cBhvr>
                                        <p:cTn id="41" dur="500"/>
                                        <p:tgtEl>
                                          <p:spTgt spid="3">
                                            <p:txEl>
                                              <p:pRg st="6" end="6"/>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3">
                                            <p:txEl>
                                              <p:pRg st="7" end="7"/>
                                            </p:txEl>
                                          </p:spTgt>
                                        </p:tgtEl>
                                        <p:attrNameLst>
                                          <p:attrName>style.visibility</p:attrName>
                                        </p:attrNameLst>
                                      </p:cBhvr>
                                      <p:to>
                                        <p:strVal val="visible"/>
                                      </p:to>
                                    </p:set>
                                    <p:anim calcmode="lin" valueType="num">
                                      <p:cBhvr additive="base">
                                        <p:cTn id="46"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blinds(horizontal)">
                                      <p:cBhvr>
                                        <p:cTn id="52" dur="500"/>
                                        <p:tgtEl>
                                          <p:spTgt spid="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Effect transition="in" filter="blinds(horizontal)">
                                      <p:cBhvr>
                                        <p:cTn id="57" dur="500"/>
                                        <p:tgtEl>
                                          <p:spTgt spid="3">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3">
                                            <p:txEl>
                                              <p:pRg st="10" end="10"/>
                                            </p:txEl>
                                          </p:spTgt>
                                        </p:tgtEl>
                                        <p:attrNameLst>
                                          <p:attrName>style.visibility</p:attrName>
                                        </p:attrNameLst>
                                      </p:cBhvr>
                                      <p:to>
                                        <p:strVal val="visible"/>
                                      </p:to>
                                    </p:set>
                                    <p:animEffect transition="in" filter="blinds(horizontal)">
                                      <p:cBhvr>
                                        <p:cTn id="62" dur="500"/>
                                        <p:tgtEl>
                                          <p:spTgt spid="3">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3">
                                            <p:txEl>
                                              <p:pRg st="11" end="11"/>
                                            </p:txEl>
                                          </p:spTgt>
                                        </p:tgtEl>
                                        <p:attrNameLst>
                                          <p:attrName>style.visibility</p:attrName>
                                        </p:attrNameLst>
                                      </p:cBhvr>
                                      <p:to>
                                        <p:strVal val="visible"/>
                                      </p:to>
                                    </p:set>
                                    <p:animEffect transition="in" filter="blinds(horizontal)">
                                      <p:cBhvr>
                                        <p:cTn id="67"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12192000" cy="914401"/>
          </a:xfrm>
          <a:solidFill>
            <a:schemeClr val="accent1"/>
          </a:solidFill>
        </p:spPr>
        <p:txBody>
          <a:bodyPr>
            <a:normAutofit/>
          </a:bodyPr>
          <a:lstStyle/>
          <a:p>
            <a:r>
              <a:rPr lang="en-US" sz="3627" b="1" dirty="0">
                <a:latin typeface="Times New Roman" pitchFamily="18" charset="0"/>
                <a:cs typeface="Times New Roman" pitchFamily="18" charset="0"/>
              </a:rPr>
              <a:t>The SDGs are …</a:t>
            </a:r>
          </a:p>
        </p:txBody>
      </p:sp>
      <p:sp>
        <p:nvSpPr>
          <p:cNvPr id="3" name="Content Placeholder 2"/>
          <p:cNvSpPr>
            <a:spLocks noGrp="1"/>
          </p:cNvSpPr>
          <p:nvPr>
            <p:ph idx="1"/>
          </p:nvPr>
        </p:nvSpPr>
        <p:spPr>
          <a:xfrm>
            <a:off x="224627" y="1055077"/>
            <a:ext cx="5458721" cy="5626278"/>
          </a:xfrm>
        </p:spPr>
        <p:txBody>
          <a:bodyPr>
            <a:noAutofit/>
          </a:bodyPr>
          <a:lstStyle/>
          <a:p>
            <a:pPr marL="290938" indent="-290938" algn="just">
              <a:spcBef>
                <a:spcPts val="600"/>
              </a:spcBef>
              <a:buClr>
                <a:srgbClr val="516529"/>
              </a:buClr>
              <a:buSzPct val="100000"/>
              <a:buFont typeface="Wingdings" pitchFamily="2" charset="2"/>
              <a:buChar char="§"/>
              <a:defRPr/>
            </a:pPr>
            <a:r>
              <a:rPr lang="en-US" sz="2400" dirty="0">
                <a:latin typeface="Times New Roman" pitchFamily="18" charset="0"/>
                <a:cs typeface="Times New Roman" pitchFamily="18" charset="0"/>
              </a:rPr>
              <a:t>A set of 17 goals for the world’s future, through 2030</a:t>
            </a:r>
          </a:p>
          <a:p>
            <a:pPr marL="290938" indent="-290938" algn="just">
              <a:spcBef>
                <a:spcPts val="600"/>
              </a:spcBef>
              <a:buClr>
                <a:srgbClr val="516529"/>
              </a:buClr>
              <a:buSzPct val="100000"/>
              <a:buFont typeface="Wingdings" pitchFamily="2" charset="2"/>
              <a:buChar char="§"/>
              <a:defRPr/>
            </a:pPr>
            <a:r>
              <a:rPr lang="en-US" sz="2400" dirty="0">
                <a:latin typeface="Times New Roman" pitchFamily="18" charset="0"/>
                <a:cs typeface="Times New Roman" pitchFamily="18" charset="0"/>
              </a:rPr>
              <a:t>Backed up by a set of 169 detailed Targets</a:t>
            </a:r>
          </a:p>
          <a:p>
            <a:pPr marL="290938" indent="-290938" algn="just">
              <a:spcBef>
                <a:spcPts val="600"/>
              </a:spcBef>
              <a:buClr>
                <a:srgbClr val="516529"/>
              </a:buClr>
              <a:buSzPct val="100000"/>
              <a:buFont typeface="Wingdings" pitchFamily="2" charset="2"/>
              <a:buChar char="§"/>
              <a:defRPr/>
            </a:pPr>
            <a:r>
              <a:rPr lang="en-US" sz="2400" dirty="0">
                <a:latin typeface="Times New Roman" pitchFamily="18" charset="0"/>
                <a:cs typeface="Times New Roman" pitchFamily="18" charset="0"/>
              </a:rPr>
              <a:t>Emerged from the most inclusive process in the UN’s history, with the involvement of approximately </a:t>
            </a:r>
            <a:r>
              <a:rPr lang="en-US" sz="2400" dirty="0">
                <a:solidFill>
                  <a:srgbClr val="FF0000"/>
                </a:solidFill>
                <a:latin typeface="Times New Roman" pitchFamily="18" charset="0"/>
                <a:cs typeface="Times New Roman" pitchFamily="18" charset="0"/>
              </a:rPr>
              <a:t>8.5 million people or </a:t>
            </a:r>
            <a:r>
              <a:rPr lang="en-US" sz="2400" dirty="0" smtClean="0">
                <a:solidFill>
                  <a:srgbClr val="FF0000"/>
                </a:solidFill>
                <a:latin typeface="Times New Roman" pitchFamily="18" charset="0"/>
                <a:cs typeface="Times New Roman" pitchFamily="18" charset="0"/>
              </a:rPr>
              <a:t>organizations </a:t>
            </a:r>
            <a:r>
              <a:rPr lang="en-US" sz="2400" dirty="0" smtClean="0">
                <a:latin typeface="Times New Roman" pitchFamily="18" charset="0"/>
                <a:cs typeface="Times New Roman" pitchFamily="18" charset="0"/>
              </a:rPr>
              <a:t>(GOB proposed: 11 Goals, 58 Targets &amp; 241 Indicators)</a:t>
            </a:r>
            <a:endParaRPr lang="en-US" sz="2400" dirty="0">
              <a:latin typeface="Times New Roman" pitchFamily="18" charset="0"/>
              <a:cs typeface="Times New Roman" pitchFamily="18" charset="0"/>
            </a:endParaRPr>
          </a:p>
          <a:p>
            <a:pPr marL="290938" indent="-290938" algn="just">
              <a:spcBef>
                <a:spcPts val="600"/>
              </a:spcBef>
              <a:buClr>
                <a:srgbClr val="516529"/>
              </a:buClr>
              <a:buSzPct val="100000"/>
              <a:buFont typeface="Wingdings" pitchFamily="2" charset="2"/>
              <a:buChar char="§"/>
              <a:defRPr/>
            </a:pPr>
            <a:r>
              <a:rPr lang="en-US" sz="2400" dirty="0">
                <a:latin typeface="Times New Roman" pitchFamily="18" charset="0"/>
                <a:cs typeface="Times New Roman" pitchFamily="18" charset="0"/>
              </a:rPr>
              <a:t>Negotiated over a two-year period at the United Nations (March 2013 to August 2015)</a:t>
            </a:r>
          </a:p>
          <a:p>
            <a:pPr marL="290938" indent="-290938" algn="just">
              <a:spcBef>
                <a:spcPts val="600"/>
              </a:spcBef>
              <a:buClr>
                <a:srgbClr val="516529"/>
              </a:buClr>
              <a:buSzPct val="100000"/>
              <a:buFont typeface="Wingdings" pitchFamily="2" charset="2"/>
              <a:buChar char="§"/>
              <a:defRPr/>
            </a:pPr>
            <a:r>
              <a:rPr lang="en-US" sz="2400" dirty="0" smtClean="0">
                <a:latin typeface="Times New Roman" pitchFamily="18" charset="0"/>
                <a:cs typeface="Times New Roman" pitchFamily="18" charset="0"/>
              </a:rPr>
              <a:t>136 Heads of State or Government was present (25</a:t>
            </a:r>
            <a:r>
              <a:rPr lang="en-US" sz="2400" baseline="30000" dirty="0" smtClean="0">
                <a:latin typeface="Times New Roman" pitchFamily="18" charset="0"/>
                <a:cs typeface="Times New Roman" pitchFamily="18" charset="0"/>
              </a:rPr>
              <a:t>th</a:t>
            </a:r>
            <a:r>
              <a:rPr lang="en-US" sz="2400" dirty="0" smtClean="0">
                <a:latin typeface="Times New Roman" pitchFamily="18" charset="0"/>
                <a:cs typeface="Times New Roman" pitchFamily="18" charset="0"/>
              </a:rPr>
              <a:t> September 2015). </a:t>
            </a:r>
          </a:p>
          <a:p>
            <a:pPr marL="290938" indent="-290938" algn="just">
              <a:lnSpc>
                <a:spcPct val="150000"/>
              </a:lnSpc>
              <a:spcBef>
                <a:spcPts val="1088"/>
              </a:spcBef>
              <a:spcAft>
                <a:spcPts val="544"/>
              </a:spcAft>
              <a:buClr>
                <a:srgbClr val="516529"/>
              </a:buClr>
              <a:buSzPct val="60000"/>
              <a:buFont typeface="Wingdings" pitchFamily="2" charset="2"/>
              <a:buChar char="§"/>
              <a:defRPr/>
            </a:pPr>
            <a:endParaRPr lang="en-US" sz="1995" dirty="0">
              <a:latin typeface="Times New Roman" pitchFamily="18" charset="0"/>
              <a:cs typeface="Times New Roman" pitchFamily="18" charset="0"/>
            </a:endParaRPr>
          </a:p>
        </p:txBody>
      </p:sp>
      <p:graphicFrame>
        <p:nvGraphicFramePr>
          <p:cNvPr id="4" name="Diagram 3"/>
          <p:cNvGraphicFramePr/>
          <p:nvPr>
            <p:extLst/>
          </p:nvPr>
        </p:nvGraphicFramePr>
        <p:xfrm>
          <a:off x="6085115" y="930166"/>
          <a:ext cx="5932714" cy="5423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2" name="Slide Number Placeholder 5"/>
          <p:cNvSpPr>
            <a:spLocks noGrp="1"/>
          </p:cNvSpPr>
          <p:nvPr>
            <p:ph type="sldNum" sz="quarter" idx="12"/>
          </p:nvPr>
        </p:nvSpPr>
        <p:spPr>
          <a:xfrm>
            <a:off x="11212286" y="6519706"/>
            <a:ext cx="838200" cy="364206"/>
          </a:xfrm>
        </p:spPr>
        <p:txBody>
          <a:bodyPr/>
          <a:lstStyle/>
          <a:p>
            <a:pPr>
              <a:defRPr/>
            </a:pPr>
            <a:fld id="{91DDCDD9-36BD-4E6B-8629-954F44B7354A}" type="slidenum">
              <a:rPr lang="en-US" smtClean="0"/>
              <a:pPr>
                <a:defRPr/>
              </a:pPr>
              <a:t>16</a:t>
            </a:fld>
            <a:endParaRPr lang="en-US" dirty="0"/>
          </a:p>
        </p:txBody>
      </p:sp>
    </p:spTree>
    <p:extLst>
      <p:ext uri="{BB962C8B-B14F-4D97-AF65-F5344CB8AC3E}">
        <p14:creationId xmlns="" xmlns:p14="http://schemas.microsoft.com/office/powerpoint/2010/main" val="69480667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0" y="0"/>
            <a:ext cx="12192000" cy="911399"/>
          </a:xfrm>
          <a:prstGeom prst="rect">
            <a:avLst/>
          </a:prstGeom>
          <a:solidFill>
            <a:schemeClr val="accent1"/>
          </a:solidFill>
          <a:ln w="12600">
            <a:noFill/>
          </a:ln>
        </p:spPr>
        <p:style>
          <a:lnRef idx="0">
            <a:scrgbClr r="0" g="0" b="0"/>
          </a:lnRef>
          <a:fillRef idx="0">
            <a:scrgbClr r="0" g="0" b="0"/>
          </a:fillRef>
          <a:effectRef idx="0">
            <a:scrgbClr r="0" g="0" b="0"/>
          </a:effectRef>
          <a:fontRef idx="minor"/>
        </p:style>
        <p:txBody>
          <a:bodyPr lIns="35693" tIns="35693" rIns="35693" bIns="35693" anchor="ctr"/>
          <a:lstStyle/>
          <a:p>
            <a:pPr algn="ctr" defTabSz="643006"/>
            <a:r>
              <a:rPr lang="en-CA" sz="3200" b="1" dirty="0" smtClean="0">
                <a:latin typeface="Lato" pitchFamily="34" charset="0"/>
                <a:ea typeface="Helvetica Light"/>
                <a:cs typeface="Lato" pitchFamily="34" charset="0"/>
              </a:rPr>
              <a:t>Transforming Our World: the 2030 Agenda for Sustainable Development</a:t>
            </a:r>
            <a:endParaRPr sz="1100" dirty="0">
              <a:latin typeface="Lato" pitchFamily="34" charset="0"/>
              <a:ea typeface="Lato" pitchFamily="34" charset="0"/>
              <a:cs typeface="Lato" pitchFamily="34" charset="0"/>
            </a:endParaRPr>
          </a:p>
        </p:txBody>
      </p:sp>
      <p:sp>
        <p:nvSpPr>
          <p:cNvPr id="2" name="Down Arrow 1"/>
          <p:cNvSpPr/>
          <p:nvPr/>
        </p:nvSpPr>
        <p:spPr>
          <a:xfrm rot="5400000" flipV="1">
            <a:off x="1952838" y="5370496"/>
            <a:ext cx="539453" cy="760458"/>
          </a:xfrm>
          <a:prstGeom prst="down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43006"/>
            <a:endParaRPr lang="fr-FR" sz="1266" dirty="0">
              <a:solidFill>
                <a:prstClr val="white"/>
              </a:solidFill>
            </a:endParaRPr>
          </a:p>
        </p:txBody>
      </p:sp>
      <p:sp>
        <p:nvSpPr>
          <p:cNvPr id="3" name="TextBox 2"/>
          <p:cNvSpPr txBox="1"/>
          <p:nvPr/>
        </p:nvSpPr>
        <p:spPr>
          <a:xfrm>
            <a:off x="1420208" y="4741731"/>
            <a:ext cx="2294658" cy="698396"/>
          </a:xfrm>
          <a:prstGeom prst="rect">
            <a:avLst/>
          </a:prstGeom>
          <a:noFill/>
        </p:spPr>
        <p:txBody>
          <a:bodyPr wrap="square" rtlCol="0">
            <a:spAutoFit/>
          </a:bodyPr>
          <a:lstStyle/>
          <a:p>
            <a:pPr defTabSz="643006"/>
            <a:r>
              <a:rPr lang="en-GB" sz="1969" b="1" dirty="0">
                <a:solidFill>
                  <a:srgbClr val="1A75BC"/>
                </a:solidFill>
                <a:latin typeface="Lato" panose="020F0502020204030203" pitchFamily="34" charset="0"/>
                <a:ea typeface="Lato" panose="020F0502020204030203" pitchFamily="34" charset="0"/>
                <a:cs typeface="Lato" panose="020F0502020204030203" pitchFamily="34" charset="0"/>
              </a:rPr>
              <a:t>Means of implementation</a:t>
            </a:r>
          </a:p>
        </p:txBody>
      </p:sp>
      <p:grpSp>
        <p:nvGrpSpPr>
          <p:cNvPr id="18" name="Group 16"/>
          <p:cNvGrpSpPr/>
          <p:nvPr/>
        </p:nvGrpSpPr>
        <p:grpSpPr>
          <a:xfrm rot="10800000">
            <a:off x="4362733" y="3762381"/>
            <a:ext cx="3291161" cy="2895478"/>
            <a:chOff x="3873499" y="4700608"/>
            <a:chExt cx="5957954" cy="1404938"/>
          </a:xfrm>
        </p:grpSpPr>
        <p:sp>
          <p:nvSpPr>
            <p:cNvPr id="19" name="Trapezoid 18"/>
            <p:cNvSpPr/>
            <p:nvPr/>
          </p:nvSpPr>
          <p:spPr>
            <a:xfrm>
              <a:off x="3873499" y="4700608"/>
              <a:ext cx="5957954" cy="1404938"/>
            </a:xfrm>
            <a:prstGeom prst="trapezoid">
              <a:avLst>
                <a:gd name="adj" fmla="val 59432"/>
              </a:avLst>
            </a:prstGeom>
            <a:solidFill>
              <a:srgbClr val="1A75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43006"/>
              <a:endParaRPr lang="en-US" sz="1266" dirty="0">
                <a:solidFill>
                  <a:prstClr val="white"/>
                </a:solidFill>
                <a:latin typeface="Lato" pitchFamily="34" charset="0"/>
                <a:ea typeface="Lato" pitchFamily="34" charset="0"/>
                <a:cs typeface="Lato" pitchFamily="34" charset="0"/>
              </a:endParaRPr>
            </a:p>
          </p:txBody>
        </p:sp>
        <p:sp>
          <p:nvSpPr>
            <p:cNvPr id="20" name="TextShape 2"/>
            <p:cNvSpPr txBox="1"/>
            <p:nvPr/>
          </p:nvSpPr>
          <p:spPr>
            <a:xfrm rot="10800000">
              <a:off x="4157468" y="5380640"/>
              <a:ext cx="5256001" cy="518207"/>
            </a:xfrm>
            <a:prstGeom prst="rect">
              <a:avLst/>
            </a:prstGeom>
            <a:noFill/>
            <a:ln>
              <a:noFill/>
            </a:ln>
          </p:spPr>
          <p:txBody>
            <a:bodyPr lIns="63285" tIns="31643" rIns="63285" bIns="31643" anchor="ctr"/>
            <a:lstStyle/>
            <a:p>
              <a:pPr algn="ctr" defTabSz="643006">
                <a:spcAft>
                  <a:spcPts val="422"/>
                </a:spcAft>
              </a:pPr>
              <a:r>
                <a:rPr lang="en-CA" sz="2250" b="1" dirty="0">
                  <a:solidFill>
                    <a:srgbClr val="FFFFFF"/>
                  </a:solidFill>
                  <a:latin typeface="Lato" pitchFamily="34" charset="0"/>
                  <a:ea typeface="Lato" pitchFamily="34" charset="0"/>
                  <a:cs typeface="Lato" pitchFamily="34" charset="0"/>
                </a:rPr>
                <a:t>RESULTS FRAMEWORK</a:t>
              </a:r>
              <a:endParaRPr sz="2250" dirty="0">
                <a:solidFill>
                  <a:prstClr val="black"/>
                </a:solidFill>
                <a:latin typeface="Lato" pitchFamily="34" charset="0"/>
                <a:ea typeface="Lato" pitchFamily="34" charset="0"/>
                <a:cs typeface="Lato" pitchFamily="34" charset="0"/>
              </a:endParaRPr>
            </a:p>
            <a:p>
              <a:pPr algn="ctr" defTabSz="643006"/>
              <a:r>
                <a:rPr lang="en-CA" sz="1688" i="1" dirty="0">
                  <a:solidFill>
                    <a:srgbClr val="FFFFFF"/>
                  </a:solidFill>
                  <a:latin typeface="Lato" pitchFamily="34" charset="0"/>
                  <a:ea typeface="Microsoft YaHei"/>
                  <a:cs typeface="Lato" pitchFamily="34" charset="0"/>
                </a:rPr>
                <a:t>Sustainable </a:t>
              </a:r>
            </a:p>
            <a:p>
              <a:pPr algn="ctr" defTabSz="643006"/>
              <a:r>
                <a:rPr lang="en-CA" sz="1688" i="1" dirty="0">
                  <a:solidFill>
                    <a:srgbClr val="FFFFFF"/>
                  </a:solidFill>
                  <a:latin typeface="Lato" pitchFamily="34" charset="0"/>
                  <a:ea typeface="Microsoft YaHei"/>
                  <a:cs typeface="Lato" pitchFamily="34" charset="0"/>
                </a:rPr>
                <a:t>Development </a:t>
              </a:r>
            </a:p>
            <a:p>
              <a:pPr algn="ctr" defTabSz="643006"/>
              <a:r>
                <a:rPr lang="en-CA" sz="1688" i="1" dirty="0">
                  <a:solidFill>
                    <a:srgbClr val="FFFFFF"/>
                  </a:solidFill>
                  <a:latin typeface="Lato" pitchFamily="34" charset="0"/>
                  <a:ea typeface="Microsoft YaHei"/>
                  <a:cs typeface="Lato" pitchFamily="34" charset="0"/>
                </a:rPr>
                <a:t>Goals</a:t>
              </a:r>
              <a:endParaRPr sz="1266" dirty="0">
                <a:solidFill>
                  <a:prstClr val="black"/>
                </a:solidFill>
                <a:latin typeface="Lato" pitchFamily="34" charset="0"/>
                <a:ea typeface="Lato" pitchFamily="34" charset="0"/>
                <a:cs typeface="Lato" pitchFamily="34" charset="0"/>
              </a:endParaRPr>
            </a:p>
          </p:txBody>
        </p:sp>
      </p:grpSp>
      <p:grpSp>
        <p:nvGrpSpPr>
          <p:cNvPr id="21" name="Group 20"/>
          <p:cNvGrpSpPr/>
          <p:nvPr/>
        </p:nvGrpSpPr>
        <p:grpSpPr>
          <a:xfrm>
            <a:off x="4365578" y="857269"/>
            <a:ext cx="3291162" cy="2911413"/>
            <a:chOff x="4767263" y="1740996"/>
            <a:chExt cx="3619501" cy="2923886"/>
          </a:xfrm>
        </p:grpSpPr>
        <p:sp>
          <p:nvSpPr>
            <p:cNvPr id="22" name="Isosceles Triangle 21"/>
            <p:cNvSpPr/>
            <p:nvPr/>
          </p:nvSpPr>
          <p:spPr>
            <a:xfrm>
              <a:off x="4767263" y="1740996"/>
              <a:ext cx="3619501" cy="2923886"/>
            </a:xfrm>
            <a:prstGeom prst="triangle">
              <a:avLst/>
            </a:prstGeom>
            <a:solidFill>
              <a:srgbClr val="00AD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43006"/>
              <a:endParaRPr lang="en-US" sz="1266" dirty="0">
                <a:solidFill>
                  <a:prstClr val="white"/>
                </a:solidFill>
                <a:latin typeface="Lato" pitchFamily="34" charset="0"/>
                <a:ea typeface="Lato" pitchFamily="34" charset="0"/>
                <a:cs typeface="Lato" pitchFamily="34" charset="0"/>
              </a:endParaRPr>
            </a:p>
          </p:txBody>
        </p:sp>
        <p:sp>
          <p:nvSpPr>
            <p:cNvPr id="23" name="TextShape 2"/>
            <p:cNvSpPr txBox="1"/>
            <p:nvPr/>
          </p:nvSpPr>
          <p:spPr>
            <a:xfrm>
              <a:off x="4833130" y="3005111"/>
              <a:ext cx="3456000" cy="1299946"/>
            </a:xfrm>
            <a:prstGeom prst="rect">
              <a:avLst/>
            </a:prstGeom>
            <a:noFill/>
            <a:ln>
              <a:noFill/>
            </a:ln>
          </p:spPr>
          <p:txBody>
            <a:bodyPr lIns="63285" tIns="31643" rIns="63285" bIns="31643"/>
            <a:lstStyle/>
            <a:p>
              <a:pPr algn="ctr" defTabSz="643006"/>
              <a:r>
                <a:rPr lang="en-CA" sz="2250" b="1" dirty="0">
                  <a:solidFill>
                    <a:srgbClr val="FFFFFF"/>
                  </a:solidFill>
                  <a:latin typeface="Lato" pitchFamily="34" charset="0"/>
                  <a:ea typeface="Lato" pitchFamily="34" charset="0"/>
                  <a:cs typeface="Lato" pitchFamily="34" charset="0"/>
                </a:rPr>
                <a:t>VISION</a:t>
              </a:r>
              <a:endParaRPr sz="2250" dirty="0">
                <a:solidFill>
                  <a:prstClr val="black"/>
                </a:solidFill>
                <a:latin typeface="Lato" pitchFamily="34" charset="0"/>
                <a:ea typeface="Lato" pitchFamily="34" charset="0"/>
                <a:cs typeface="Lato" pitchFamily="34" charset="0"/>
              </a:endParaRPr>
            </a:p>
            <a:p>
              <a:pPr algn="ctr" defTabSz="643006"/>
              <a:r>
                <a:rPr lang="en-CA" sz="2250" dirty="0">
                  <a:solidFill>
                    <a:srgbClr val="FFFFFF"/>
                  </a:solidFill>
                  <a:latin typeface="Lato" pitchFamily="34" charset="0"/>
                  <a:ea typeface="Lato" pitchFamily="34" charset="0"/>
                  <a:cs typeface="Lato" pitchFamily="34" charset="0"/>
                </a:rPr>
                <a:t>— &amp; —</a:t>
              </a:r>
              <a:endParaRPr sz="2250" dirty="0">
                <a:solidFill>
                  <a:prstClr val="black"/>
                </a:solidFill>
                <a:latin typeface="Lato" pitchFamily="34" charset="0"/>
                <a:ea typeface="Lato" pitchFamily="34" charset="0"/>
                <a:cs typeface="Lato" pitchFamily="34" charset="0"/>
              </a:endParaRPr>
            </a:p>
            <a:p>
              <a:pPr algn="ctr" defTabSz="643006">
                <a:spcAft>
                  <a:spcPts val="422"/>
                </a:spcAft>
              </a:pPr>
              <a:r>
                <a:rPr lang="en-CA" sz="2250" b="1" dirty="0">
                  <a:solidFill>
                    <a:srgbClr val="FFFFFF"/>
                  </a:solidFill>
                  <a:latin typeface="Lato" pitchFamily="34" charset="0"/>
                  <a:ea typeface="Lato" pitchFamily="34" charset="0"/>
                  <a:cs typeface="Lato" pitchFamily="34" charset="0"/>
                </a:rPr>
                <a:t>PRINCIPLES</a:t>
              </a:r>
              <a:endParaRPr sz="2250" dirty="0">
                <a:solidFill>
                  <a:prstClr val="black"/>
                </a:solidFill>
                <a:latin typeface="Lato" pitchFamily="34" charset="0"/>
                <a:ea typeface="Lato" pitchFamily="34" charset="0"/>
                <a:cs typeface="Lato" pitchFamily="34" charset="0"/>
              </a:endParaRPr>
            </a:p>
            <a:p>
              <a:pPr algn="ctr" defTabSz="643006"/>
              <a:r>
                <a:rPr lang="en-CA" sz="1406" i="1" dirty="0">
                  <a:solidFill>
                    <a:srgbClr val="FFFFFF"/>
                  </a:solidFill>
                  <a:latin typeface="Lato" pitchFamily="34" charset="0"/>
                  <a:ea typeface="Microsoft YaHei"/>
                  <a:cs typeface="Lato" pitchFamily="34" charset="0"/>
                </a:rPr>
                <a:t>Reflected in declaration</a:t>
              </a:r>
              <a:endParaRPr sz="1266" dirty="0">
                <a:solidFill>
                  <a:prstClr val="black"/>
                </a:solidFill>
                <a:latin typeface="Lato" pitchFamily="34" charset="0"/>
                <a:ea typeface="Lato" pitchFamily="34" charset="0"/>
                <a:cs typeface="Lato" pitchFamily="34" charset="0"/>
              </a:endParaRPr>
            </a:p>
          </p:txBody>
        </p:sp>
      </p:grpSp>
      <p:grpSp>
        <p:nvGrpSpPr>
          <p:cNvPr id="24" name="Group 23"/>
          <p:cNvGrpSpPr/>
          <p:nvPr/>
        </p:nvGrpSpPr>
        <p:grpSpPr>
          <a:xfrm>
            <a:off x="2725048" y="3762273"/>
            <a:ext cx="3291159" cy="3047298"/>
            <a:chOff x="2901208" y="6186529"/>
            <a:chExt cx="8334389" cy="1737198"/>
          </a:xfrm>
        </p:grpSpPr>
        <p:sp>
          <p:nvSpPr>
            <p:cNvPr id="25" name="Trapezoid 24"/>
            <p:cNvSpPr/>
            <p:nvPr/>
          </p:nvSpPr>
          <p:spPr>
            <a:xfrm>
              <a:off x="2901208" y="6186529"/>
              <a:ext cx="8334389" cy="1659731"/>
            </a:xfrm>
            <a:prstGeom prst="trapezoid">
              <a:avLst>
                <a:gd name="adj" fmla="val 59432"/>
              </a:avLst>
            </a:prstGeom>
            <a:solidFill>
              <a:srgbClr val="F792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43006"/>
              <a:endParaRPr lang="en-US" sz="1266" dirty="0">
                <a:solidFill>
                  <a:prstClr val="white"/>
                </a:solidFill>
                <a:latin typeface="Lato" pitchFamily="34" charset="0"/>
                <a:ea typeface="Lato" pitchFamily="34" charset="0"/>
                <a:cs typeface="Lato" pitchFamily="34" charset="0"/>
              </a:endParaRPr>
            </a:p>
          </p:txBody>
        </p:sp>
        <p:sp>
          <p:nvSpPr>
            <p:cNvPr id="26" name="TextShape 3"/>
            <p:cNvSpPr txBox="1"/>
            <p:nvPr/>
          </p:nvSpPr>
          <p:spPr>
            <a:xfrm>
              <a:off x="3346856" y="7042891"/>
              <a:ext cx="7372726" cy="880836"/>
            </a:xfrm>
            <a:prstGeom prst="rect">
              <a:avLst/>
            </a:prstGeom>
            <a:noFill/>
            <a:ln>
              <a:noFill/>
            </a:ln>
          </p:spPr>
          <p:txBody>
            <a:bodyPr lIns="63285" tIns="31643" rIns="63285" bIns="31643" anchor="ctr"/>
            <a:lstStyle/>
            <a:p>
              <a:pPr algn="ctr" defTabSz="643006">
                <a:spcAft>
                  <a:spcPts val="422"/>
                </a:spcAft>
              </a:pPr>
              <a:endParaRPr sz="1266" dirty="0">
                <a:solidFill>
                  <a:prstClr val="black"/>
                </a:solidFill>
                <a:latin typeface="Lato" pitchFamily="34" charset="0"/>
                <a:ea typeface="Lato" pitchFamily="34" charset="0"/>
                <a:cs typeface="Lato" pitchFamily="34" charset="0"/>
              </a:endParaRPr>
            </a:p>
            <a:p>
              <a:pPr algn="ctr" defTabSz="643006"/>
              <a:r>
                <a:rPr lang="en-CA" sz="1406" i="1" dirty="0">
                  <a:solidFill>
                    <a:srgbClr val="FFFFFF"/>
                  </a:solidFill>
                  <a:latin typeface="Lato" pitchFamily="34" charset="0"/>
                  <a:ea typeface="Microsoft YaHei"/>
                  <a:cs typeface="Lato" pitchFamily="34" charset="0"/>
                </a:rPr>
                <a:t>Global Partnership</a:t>
              </a:r>
              <a:endParaRPr sz="1266" dirty="0">
                <a:solidFill>
                  <a:prstClr val="black"/>
                </a:solidFill>
                <a:latin typeface="Lato" pitchFamily="34" charset="0"/>
                <a:ea typeface="Lato" pitchFamily="34" charset="0"/>
                <a:cs typeface="Lato" pitchFamily="34" charset="0"/>
              </a:endParaRPr>
            </a:p>
            <a:p>
              <a:pPr algn="ctr" defTabSz="643006"/>
              <a:r>
                <a:rPr lang="en-CA" sz="1406" i="1" dirty="0">
                  <a:solidFill>
                    <a:srgbClr val="FFFFFF"/>
                  </a:solidFill>
                  <a:latin typeface="Lato" pitchFamily="34" charset="0"/>
                  <a:ea typeface="Microsoft YaHei"/>
                  <a:cs typeface="Lato" pitchFamily="34" charset="0"/>
                </a:rPr>
                <a:t>Means of Implementation (MoIs)</a:t>
              </a:r>
            </a:p>
            <a:p>
              <a:pPr algn="ctr" defTabSz="643006"/>
              <a:r>
                <a:rPr lang="en-CA" sz="2250" b="1" dirty="0">
                  <a:solidFill>
                    <a:srgbClr val="FFFFFF"/>
                  </a:solidFill>
                  <a:latin typeface="Lato" pitchFamily="34" charset="0"/>
                  <a:ea typeface="Lato" pitchFamily="34" charset="0"/>
                  <a:cs typeface="Lato" pitchFamily="34" charset="0"/>
                </a:rPr>
                <a:t>IMPLEMENTATION</a:t>
              </a:r>
              <a:endParaRPr sz="2250" dirty="0">
                <a:solidFill>
                  <a:prstClr val="black"/>
                </a:solidFill>
                <a:latin typeface="Lato" pitchFamily="34" charset="0"/>
                <a:ea typeface="Lato" pitchFamily="34" charset="0"/>
                <a:cs typeface="Lato" pitchFamily="34" charset="0"/>
              </a:endParaRPr>
            </a:p>
          </p:txBody>
        </p:sp>
      </p:grpSp>
      <p:grpSp>
        <p:nvGrpSpPr>
          <p:cNvPr id="27" name="Group 26"/>
          <p:cNvGrpSpPr/>
          <p:nvPr/>
        </p:nvGrpSpPr>
        <p:grpSpPr>
          <a:xfrm>
            <a:off x="6002970" y="3757058"/>
            <a:ext cx="3293111" cy="3145597"/>
            <a:chOff x="2037110" y="7849772"/>
            <a:chExt cx="10092857" cy="1510710"/>
          </a:xfrm>
        </p:grpSpPr>
        <p:sp>
          <p:nvSpPr>
            <p:cNvPr id="28" name="Trapezoid 27"/>
            <p:cNvSpPr/>
            <p:nvPr/>
          </p:nvSpPr>
          <p:spPr>
            <a:xfrm>
              <a:off x="2037110" y="7849772"/>
              <a:ext cx="10092857" cy="1398244"/>
            </a:xfrm>
            <a:prstGeom prst="trapezoid">
              <a:avLst>
                <a:gd name="adj" fmla="val 62988"/>
              </a:avLst>
            </a:prstGeom>
            <a:solidFill>
              <a:srgbClr val="EF4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43006"/>
              <a:endParaRPr lang="en-US" sz="1266" dirty="0">
                <a:solidFill>
                  <a:prstClr val="white"/>
                </a:solidFill>
                <a:latin typeface="Lato" pitchFamily="34" charset="0"/>
                <a:ea typeface="Lato" pitchFamily="34" charset="0"/>
                <a:cs typeface="Lato" pitchFamily="34" charset="0"/>
              </a:endParaRPr>
            </a:p>
          </p:txBody>
        </p:sp>
        <p:sp>
          <p:nvSpPr>
            <p:cNvPr id="29" name="TextShape 4"/>
            <p:cNvSpPr txBox="1"/>
            <p:nvPr/>
          </p:nvSpPr>
          <p:spPr>
            <a:xfrm>
              <a:off x="3590246" y="8677715"/>
              <a:ext cx="6984001" cy="682767"/>
            </a:xfrm>
            <a:prstGeom prst="rect">
              <a:avLst/>
            </a:prstGeom>
            <a:noFill/>
            <a:ln>
              <a:noFill/>
            </a:ln>
          </p:spPr>
          <p:txBody>
            <a:bodyPr lIns="63285" tIns="31643" rIns="63285" bIns="31643" anchor="ctr"/>
            <a:lstStyle/>
            <a:p>
              <a:pPr algn="ctr" defTabSz="643006"/>
              <a:r>
                <a:rPr lang="en-CA" sz="2250" b="1" dirty="0">
                  <a:solidFill>
                    <a:srgbClr val="FFFFFF"/>
                  </a:solidFill>
                  <a:latin typeface="Lato" pitchFamily="34" charset="0"/>
                  <a:ea typeface="Microsoft YaHei"/>
                  <a:cs typeface="Lato" pitchFamily="34" charset="0"/>
                </a:rPr>
                <a:t>FOLLOW-UP &amp; REVIEW </a:t>
              </a:r>
              <a:endParaRPr sz="2250" b="1" dirty="0">
                <a:solidFill>
                  <a:srgbClr val="FFFFFF"/>
                </a:solidFill>
                <a:latin typeface="Lato" pitchFamily="34" charset="0"/>
                <a:ea typeface="Microsoft YaHei"/>
                <a:cs typeface="Lato" pitchFamily="34" charset="0"/>
              </a:endParaRPr>
            </a:p>
          </p:txBody>
        </p:sp>
      </p:grpSp>
      <p:sp>
        <p:nvSpPr>
          <p:cNvPr id="5" name="TextBox 4"/>
          <p:cNvSpPr txBox="1"/>
          <p:nvPr/>
        </p:nvSpPr>
        <p:spPr>
          <a:xfrm>
            <a:off x="8930640" y="1524000"/>
            <a:ext cx="2941320" cy="4708981"/>
          </a:xfrm>
          <a:prstGeom prst="rect">
            <a:avLst/>
          </a:prstGeom>
          <a:noFill/>
        </p:spPr>
        <p:txBody>
          <a:bodyPr wrap="square" rtlCol="0">
            <a:spAutoFit/>
          </a:bodyPr>
          <a:lstStyle/>
          <a:p>
            <a:r>
              <a:rPr lang="en-GB" sz="2000" dirty="0">
                <a:latin typeface="Times New Roman" panose="02020603050405020304" pitchFamily="18" charset="0"/>
                <a:cs typeface="Times New Roman" panose="02020603050405020304" pitchFamily="18" charset="0"/>
              </a:rPr>
              <a:t>‘</a:t>
            </a:r>
            <a:r>
              <a:rPr lang="en-GB" sz="2000" i="1" dirty="0">
                <a:solidFill>
                  <a:schemeClr val="accent6"/>
                </a:solidFill>
                <a:latin typeface="Times New Roman" panose="02020603050405020304" pitchFamily="18" charset="0"/>
                <a:cs typeface="Times New Roman" panose="02020603050405020304" pitchFamily="18" charset="0"/>
              </a:rPr>
              <a:t>Transforming Our World: the 2030 Agenda for Sustainable Development</a:t>
            </a:r>
            <a:r>
              <a:rPr lang="en-GB" sz="2000" dirty="0">
                <a:latin typeface="Times New Roman" panose="02020603050405020304" pitchFamily="18" charset="0"/>
                <a:cs typeface="Times New Roman" panose="02020603050405020304" pitchFamily="18" charset="0"/>
              </a:rPr>
              <a:t>’ was adopted on 25 September 2015. </a:t>
            </a:r>
            <a:endParaRPr lang="en-GB" sz="2000" dirty="0" smtClean="0">
              <a:latin typeface="Times New Roman" panose="02020603050405020304" pitchFamily="18" charset="0"/>
              <a:cs typeface="Times New Roman" panose="02020603050405020304" pitchFamily="18" charset="0"/>
            </a:endParaRPr>
          </a:p>
          <a:p>
            <a:r>
              <a:rPr lang="en-GB" sz="2000" dirty="0" smtClean="0">
                <a:latin typeface="Times New Roman" panose="02020603050405020304" pitchFamily="18" charset="0"/>
                <a:cs typeface="Times New Roman" panose="02020603050405020304" pitchFamily="18" charset="0"/>
              </a:rPr>
              <a:t>It </a:t>
            </a:r>
            <a:r>
              <a:rPr lang="en-GB" sz="2000" dirty="0">
                <a:latin typeface="Times New Roman" panose="02020603050405020304" pitchFamily="18" charset="0"/>
                <a:cs typeface="Times New Roman" panose="02020603050405020304" pitchFamily="18" charset="0"/>
              </a:rPr>
              <a:t>is composed </a:t>
            </a:r>
            <a:r>
              <a:rPr lang="en-GB" sz="2000" dirty="0" smtClean="0">
                <a:latin typeface="Times New Roman" panose="02020603050405020304" pitchFamily="18" charset="0"/>
                <a:cs typeface="Times New Roman" panose="02020603050405020304" pitchFamily="18" charset="0"/>
              </a:rPr>
              <a:t>of: </a:t>
            </a:r>
          </a:p>
          <a:p>
            <a:r>
              <a:rPr lang="en-GB" sz="2000" dirty="0" smtClean="0">
                <a:latin typeface="Times New Roman" panose="02020603050405020304" pitchFamily="18" charset="0"/>
                <a:cs typeface="Times New Roman" panose="02020603050405020304" pitchFamily="18" charset="0"/>
              </a:rPr>
              <a:t>-a </a:t>
            </a:r>
            <a:r>
              <a:rPr lang="en-GB" sz="2000" dirty="0">
                <a:solidFill>
                  <a:srgbClr val="7030A0"/>
                </a:solidFill>
                <a:latin typeface="Times New Roman" panose="02020603050405020304" pitchFamily="18" charset="0"/>
                <a:cs typeface="Times New Roman" panose="02020603050405020304" pitchFamily="18" charset="0"/>
              </a:rPr>
              <a:t>preamble</a:t>
            </a:r>
            <a:r>
              <a:rPr lang="en-GB" sz="2000" dirty="0" smtClean="0">
                <a:latin typeface="Times New Roman" panose="02020603050405020304" pitchFamily="18" charset="0"/>
                <a:cs typeface="Times New Roman" panose="02020603050405020304" pitchFamily="18" charset="0"/>
              </a:rPr>
              <a:t>,</a:t>
            </a:r>
          </a:p>
          <a:p>
            <a:r>
              <a:rPr lang="en-GB" sz="2000" dirty="0" smtClean="0">
                <a:latin typeface="Times New Roman" panose="02020603050405020304" pitchFamily="18" charset="0"/>
                <a:cs typeface="Times New Roman" panose="02020603050405020304" pitchFamily="18" charset="0"/>
              </a:rPr>
              <a:t>-a </a:t>
            </a:r>
            <a:r>
              <a:rPr lang="en-GB" sz="2000" dirty="0">
                <a:solidFill>
                  <a:srgbClr val="7030A0"/>
                </a:solidFill>
                <a:latin typeface="Times New Roman" panose="02020603050405020304" pitchFamily="18" charset="0"/>
                <a:cs typeface="Times New Roman" panose="02020603050405020304" pitchFamily="18" charset="0"/>
              </a:rPr>
              <a:t>declaration</a:t>
            </a:r>
            <a:r>
              <a:rPr lang="en-GB" sz="2000" dirty="0">
                <a:latin typeface="Times New Roman" panose="02020603050405020304" pitchFamily="18" charset="0"/>
                <a:cs typeface="Times New Roman" panose="02020603050405020304" pitchFamily="18" charset="0"/>
              </a:rPr>
              <a:t>, </a:t>
            </a:r>
            <a:endParaRPr lang="en-GB" sz="2000" dirty="0" smtClean="0">
              <a:latin typeface="Times New Roman" panose="02020603050405020304" pitchFamily="18" charset="0"/>
              <a:cs typeface="Times New Roman" panose="02020603050405020304" pitchFamily="18" charset="0"/>
            </a:endParaRPr>
          </a:p>
          <a:p>
            <a:r>
              <a:rPr lang="en-GB" sz="2000" dirty="0">
                <a:latin typeface="Times New Roman" panose="02020603050405020304" pitchFamily="18" charset="0"/>
                <a:cs typeface="Times New Roman" panose="02020603050405020304" pitchFamily="18" charset="0"/>
              </a:rPr>
              <a:t>-</a:t>
            </a:r>
            <a:r>
              <a:rPr lang="en-GB" sz="2000" dirty="0" smtClean="0">
                <a:latin typeface="Times New Roman" panose="02020603050405020304" pitchFamily="18" charset="0"/>
                <a:cs typeface="Times New Roman" panose="02020603050405020304" pitchFamily="18" charset="0"/>
              </a:rPr>
              <a:t>17 </a:t>
            </a:r>
            <a:r>
              <a:rPr lang="en-GB" sz="2000" dirty="0">
                <a:latin typeface="Times New Roman" panose="02020603050405020304" pitchFamily="18" charset="0"/>
                <a:cs typeface="Times New Roman" panose="02020603050405020304" pitchFamily="18" charset="0"/>
              </a:rPr>
              <a:t>SDGs </a:t>
            </a:r>
            <a:r>
              <a:rPr lang="en-GB" sz="2000" dirty="0" smtClean="0">
                <a:latin typeface="Times New Roman" panose="02020603050405020304" pitchFamily="18" charset="0"/>
                <a:cs typeface="Times New Roman" panose="02020603050405020304" pitchFamily="18" charset="0"/>
              </a:rPr>
              <a:t>&amp; </a:t>
            </a:r>
          </a:p>
          <a:p>
            <a:r>
              <a:rPr lang="en-GB" sz="2000" dirty="0">
                <a:latin typeface="Times New Roman" panose="02020603050405020304" pitchFamily="18" charset="0"/>
                <a:cs typeface="Times New Roman" panose="02020603050405020304" pitchFamily="18" charset="0"/>
              </a:rPr>
              <a:t>-</a:t>
            </a:r>
            <a:r>
              <a:rPr lang="en-GB" sz="2000" dirty="0" smtClean="0">
                <a:latin typeface="Times New Roman" panose="02020603050405020304" pitchFamily="18" charset="0"/>
                <a:cs typeface="Times New Roman" panose="02020603050405020304" pitchFamily="18" charset="0"/>
              </a:rPr>
              <a:t>169 </a:t>
            </a:r>
            <a:r>
              <a:rPr lang="en-GB" sz="2000" dirty="0">
                <a:latin typeface="Times New Roman" panose="02020603050405020304" pitchFamily="18" charset="0"/>
                <a:cs typeface="Times New Roman" panose="02020603050405020304" pitchFamily="18" charset="0"/>
              </a:rPr>
              <a:t>supporting targets, </a:t>
            </a:r>
            <a:endParaRPr lang="en-GB" sz="2000" dirty="0" smtClean="0">
              <a:latin typeface="Times New Roman" panose="02020603050405020304" pitchFamily="18" charset="0"/>
              <a:cs typeface="Times New Roman" panose="02020603050405020304" pitchFamily="18" charset="0"/>
            </a:endParaRPr>
          </a:p>
          <a:p>
            <a:r>
              <a:rPr lang="en-GB" sz="2000" dirty="0" smtClean="0">
                <a:latin typeface="Times New Roman" panose="02020603050405020304" pitchFamily="18" charset="0"/>
                <a:cs typeface="Times New Roman" panose="02020603050405020304" pitchFamily="18" charset="0"/>
              </a:rPr>
              <a:t>-</a:t>
            </a:r>
            <a:r>
              <a:rPr lang="en-GB" sz="2000" dirty="0" smtClean="0">
                <a:solidFill>
                  <a:srgbClr val="7030A0"/>
                </a:solidFill>
                <a:latin typeface="Times New Roman" panose="02020603050405020304" pitchFamily="18" charset="0"/>
                <a:cs typeface="Times New Roman" panose="02020603050405020304" pitchFamily="18" charset="0"/>
              </a:rPr>
              <a:t>MOI</a:t>
            </a:r>
            <a:r>
              <a:rPr lang="en-GB" sz="2000" dirty="0" smtClean="0">
                <a:latin typeface="Times New Roman" panose="02020603050405020304" pitchFamily="18" charset="0"/>
                <a:cs typeface="Times New Roman" panose="02020603050405020304" pitchFamily="18" charset="0"/>
              </a:rPr>
              <a:t> </a:t>
            </a:r>
            <a:r>
              <a:rPr lang="en-GB" sz="2000" dirty="0">
                <a:latin typeface="Times New Roman" panose="02020603050405020304" pitchFamily="18" charset="0"/>
                <a:cs typeface="Times New Roman" panose="02020603050405020304" pitchFamily="18" charset="0"/>
              </a:rPr>
              <a:t>and </a:t>
            </a:r>
            <a:endParaRPr lang="en-GB" sz="2000" dirty="0" smtClean="0">
              <a:latin typeface="Times New Roman" panose="02020603050405020304" pitchFamily="18" charset="0"/>
              <a:cs typeface="Times New Roman" panose="02020603050405020304" pitchFamily="18" charset="0"/>
            </a:endParaRPr>
          </a:p>
          <a:p>
            <a:r>
              <a:rPr lang="en-GB" sz="2000" dirty="0">
                <a:latin typeface="Times New Roman" panose="02020603050405020304" pitchFamily="18" charset="0"/>
                <a:cs typeface="Times New Roman" panose="02020603050405020304" pitchFamily="18" charset="0"/>
              </a:rPr>
              <a:t>-</a:t>
            </a:r>
            <a:r>
              <a:rPr lang="en-GB" sz="2000" dirty="0" smtClean="0">
                <a:latin typeface="Times New Roman" panose="02020603050405020304" pitchFamily="18" charset="0"/>
                <a:cs typeface="Times New Roman" panose="02020603050405020304" pitchFamily="18" charset="0"/>
              </a:rPr>
              <a:t>the </a:t>
            </a:r>
            <a:r>
              <a:rPr lang="en-GB" sz="2000" dirty="0">
                <a:solidFill>
                  <a:srgbClr val="7030A0"/>
                </a:solidFill>
                <a:latin typeface="Times New Roman" panose="02020603050405020304" pitchFamily="18" charset="0"/>
                <a:cs typeface="Times New Roman" panose="02020603050405020304" pitchFamily="18" charset="0"/>
              </a:rPr>
              <a:t>Global Partnership</a:t>
            </a:r>
            <a:r>
              <a:rPr lang="en-GB" sz="2000" dirty="0">
                <a:latin typeface="Times New Roman" panose="02020603050405020304" pitchFamily="18" charset="0"/>
                <a:cs typeface="Times New Roman" panose="02020603050405020304" pitchFamily="18" charset="0"/>
              </a:rPr>
              <a:t>, </a:t>
            </a:r>
          </a:p>
          <a:p>
            <a:r>
              <a:rPr lang="en-GB" sz="2000" dirty="0">
                <a:latin typeface="Times New Roman" panose="02020603050405020304" pitchFamily="18" charset="0"/>
                <a:cs typeface="Times New Roman" panose="02020603050405020304" pitchFamily="18" charset="0"/>
              </a:rPr>
              <a:t>-</a:t>
            </a:r>
            <a:r>
              <a:rPr lang="en-GB" sz="2000" dirty="0" smtClean="0">
                <a:latin typeface="Times New Roman" panose="02020603050405020304" pitchFamily="18" charset="0"/>
                <a:cs typeface="Times New Roman" panose="02020603050405020304" pitchFamily="18" charset="0"/>
              </a:rPr>
              <a:t>a </a:t>
            </a:r>
            <a:r>
              <a:rPr lang="en-GB" sz="2000" dirty="0">
                <a:latin typeface="Times New Roman" panose="02020603050405020304" pitchFamily="18" charset="0"/>
                <a:cs typeface="Times New Roman" panose="02020603050405020304" pitchFamily="18" charset="0"/>
              </a:rPr>
              <a:t>framework for follow-up and </a:t>
            </a:r>
            <a:r>
              <a:rPr lang="en-GB" sz="2000" dirty="0">
                <a:solidFill>
                  <a:srgbClr val="7030A0"/>
                </a:solidFill>
                <a:latin typeface="Times New Roman" panose="02020603050405020304" pitchFamily="18" charset="0"/>
                <a:cs typeface="Times New Roman" panose="02020603050405020304" pitchFamily="18" charset="0"/>
              </a:rPr>
              <a:t>review of implementation</a:t>
            </a:r>
            <a:r>
              <a:rPr lang="en-GB" sz="2000"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pic>
        <p:nvPicPr>
          <p:cNvPr id="30" name="Picture 29"/>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0" y="911399"/>
            <a:ext cx="3714866" cy="3789461"/>
          </a:xfrm>
          <a:prstGeom prst="rect">
            <a:avLst/>
          </a:prstGeom>
        </p:spPr>
      </p:pic>
    </p:spTree>
    <p:extLst>
      <p:ext uri="{BB962C8B-B14F-4D97-AF65-F5344CB8AC3E}">
        <p14:creationId xmlns="" xmlns:p14="http://schemas.microsoft.com/office/powerpoint/2010/main" val="3764728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0-#ppt_w/2"/>
                                          </p:val>
                                        </p:tav>
                                        <p:tav tm="100000">
                                          <p:val>
                                            <p:strVal val="#ppt_x"/>
                                          </p:val>
                                        </p:tav>
                                      </p:tavLst>
                                    </p:anim>
                                    <p:anim calcmode="lin" valueType="num">
                                      <p:cBhvr additive="base">
                                        <p:cTn id="24" dur="500" fill="hold"/>
                                        <p:tgtEl>
                                          <p:spTgt spid="2"/>
                                        </p:tgtEl>
                                        <p:attrNameLst>
                                          <p:attrName>ppt_y</p:attrName>
                                        </p:attrNameLst>
                                      </p:cBhvr>
                                      <p:tavLst>
                                        <p:tav tm="0">
                                          <p:val>
                                            <p:strVal val="#ppt_y"/>
                                          </p:val>
                                        </p:tav>
                                        <p:tav tm="100000">
                                          <p:val>
                                            <p:strVal val="#ppt_y"/>
                                          </p:val>
                                        </p:tav>
                                      </p:tavLst>
                                    </p:anim>
                                  </p:childTnLst>
                                </p:cTn>
                              </p:par>
                              <p:par>
                                <p:cTn id="25" presetID="1" presetClass="entr" presetSubtype="0"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1999" cy="721218"/>
          </a:xfrm>
          <a:solidFill>
            <a:schemeClr val="accent1"/>
          </a:solidFill>
        </p:spPr>
        <p:txBody>
          <a:bodyPr>
            <a:normAutofit/>
          </a:bodyPr>
          <a:lstStyle/>
          <a:p>
            <a:pPr algn="ctr"/>
            <a:r>
              <a:rPr lang="en-US" b="1" dirty="0" smtClean="0"/>
              <a:t>MDGs </a:t>
            </a:r>
            <a:r>
              <a:rPr lang="en-US" b="1" dirty="0"/>
              <a:t>v</a:t>
            </a:r>
            <a:r>
              <a:rPr lang="en-US" b="1" dirty="0" smtClean="0"/>
              <a:t>ersus SDGs</a:t>
            </a:r>
            <a:endParaRPr lang="en-US" b="1" dirty="0"/>
          </a:p>
        </p:txBody>
      </p:sp>
      <p:sp>
        <p:nvSpPr>
          <p:cNvPr id="3" name="Content Placeholder 2"/>
          <p:cNvSpPr>
            <a:spLocks noGrp="1"/>
          </p:cNvSpPr>
          <p:nvPr>
            <p:ph idx="1"/>
          </p:nvPr>
        </p:nvSpPr>
        <p:spPr>
          <a:xfrm>
            <a:off x="128789" y="862884"/>
            <a:ext cx="11912957" cy="5995115"/>
          </a:xfrm>
        </p:spPr>
        <p:txBody>
          <a:bodyPr>
            <a:normAutofit fontScale="85000" lnSpcReduction="20000"/>
          </a:bodyPr>
          <a:lstStyle/>
          <a:p>
            <a:pPr lvl="0" algn="just">
              <a:spcBef>
                <a:spcPts val="600"/>
              </a:spcBef>
              <a:spcAft>
                <a:spcPts val="200"/>
              </a:spcAft>
            </a:pPr>
            <a:r>
              <a:rPr lang="en-US" b="1" dirty="0"/>
              <a:t>MDGs was based on UN Millennium Declaration (2000) and SDGs are based on UNCSD (Rio+20 declaration, 2012). </a:t>
            </a:r>
            <a:endParaRPr lang="en-US" b="1" dirty="0" smtClean="0"/>
          </a:p>
          <a:p>
            <a:pPr lvl="0" algn="just">
              <a:spcBef>
                <a:spcPts val="600"/>
              </a:spcBef>
              <a:spcAft>
                <a:spcPts val="200"/>
              </a:spcAft>
            </a:pPr>
            <a:r>
              <a:rPr lang="en-US" b="1" dirty="0" smtClean="0"/>
              <a:t>In </a:t>
            </a:r>
            <a:r>
              <a:rPr lang="en-US" b="1" dirty="0"/>
              <a:t>the SDGs, unfinished agenda of MDGs are carried forward along with inclusion of human rights, peace, access to justice, energy, growth &amp; employment, innovation &amp; industrialization, urbanization &amp; climate change issues.  </a:t>
            </a:r>
          </a:p>
          <a:p>
            <a:pPr lvl="0" algn="just">
              <a:spcBef>
                <a:spcPts val="600"/>
              </a:spcBef>
              <a:spcAft>
                <a:spcPts val="200"/>
              </a:spcAft>
            </a:pPr>
            <a:r>
              <a:rPr lang="en-US" b="1" dirty="0"/>
              <a:t>The MDG period was 2001-2015 and the SDG period is 2016 to 2030. </a:t>
            </a:r>
            <a:endParaRPr lang="en-US" b="1" dirty="0" smtClean="0"/>
          </a:p>
          <a:p>
            <a:pPr lvl="0" algn="just">
              <a:spcBef>
                <a:spcPts val="600"/>
              </a:spcBef>
              <a:spcAft>
                <a:spcPts val="200"/>
              </a:spcAft>
            </a:pPr>
            <a:r>
              <a:rPr lang="en-US" b="1" dirty="0" smtClean="0"/>
              <a:t>MDG </a:t>
            </a:r>
            <a:r>
              <a:rPr lang="en-US" b="1" dirty="0"/>
              <a:t>started with 8 goals, 18 targets and 48 </a:t>
            </a:r>
            <a:r>
              <a:rPr lang="en-US" b="1" dirty="0" smtClean="0"/>
              <a:t>indicators (later 20 </a:t>
            </a:r>
            <a:r>
              <a:rPr lang="en-US" b="1" dirty="0"/>
              <a:t>targets </a:t>
            </a:r>
            <a:r>
              <a:rPr lang="en-US" b="1" dirty="0" smtClean="0"/>
              <a:t>&amp; 60 indicators). </a:t>
            </a:r>
            <a:r>
              <a:rPr lang="en-US" b="1" dirty="0"/>
              <a:t>SDGs starts with 17 goals, 169 targets and </a:t>
            </a:r>
            <a:r>
              <a:rPr lang="en-US" b="1" dirty="0" smtClean="0"/>
              <a:t>232 </a:t>
            </a:r>
            <a:r>
              <a:rPr lang="en-US" b="1" dirty="0"/>
              <a:t>indicators. </a:t>
            </a:r>
            <a:r>
              <a:rPr lang="en-US" b="1" dirty="0" smtClean="0"/>
              <a:t>(</a:t>
            </a:r>
            <a:r>
              <a:rPr lang="en-US" b="1" dirty="0" smtClean="0">
                <a:solidFill>
                  <a:schemeClr val="accent6"/>
                </a:solidFill>
              </a:rPr>
              <a:t>6 indicators used twice; 3 indicators thrice</a:t>
            </a:r>
            <a:r>
              <a:rPr lang="en-US" b="1" dirty="0" smtClean="0"/>
              <a:t>)</a:t>
            </a:r>
            <a:endParaRPr lang="en-US" b="1" dirty="0"/>
          </a:p>
          <a:p>
            <a:pPr lvl="0" algn="just">
              <a:spcBef>
                <a:spcPts val="600"/>
              </a:spcBef>
              <a:spcAft>
                <a:spcPts val="200"/>
              </a:spcAft>
            </a:pPr>
            <a:r>
              <a:rPr lang="en-US" b="1" dirty="0"/>
              <a:t>MDGs were built on top down approach, but SDGs are built on bottom up </a:t>
            </a:r>
            <a:r>
              <a:rPr lang="en-US" b="1" dirty="0" smtClean="0"/>
              <a:t>approach.  </a:t>
            </a:r>
            <a:endParaRPr lang="en-US" b="1" dirty="0"/>
          </a:p>
          <a:p>
            <a:pPr lvl="0" algn="just">
              <a:spcBef>
                <a:spcPts val="600"/>
              </a:spcBef>
              <a:spcAft>
                <a:spcPts val="200"/>
              </a:spcAft>
            </a:pPr>
            <a:r>
              <a:rPr lang="en-US" b="1" dirty="0"/>
              <a:t>MDGs were mainly focused for the LDCs but SDGs are universal. </a:t>
            </a:r>
            <a:r>
              <a:rPr lang="en-US" b="1" dirty="0">
                <a:solidFill>
                  <a:schemeClr val="accent1">
                    <a:lumMod val="75000"/>
                  </a:schemeClr>
                </a:solidFill>
              </a:rPr>
              <a:t>UNIVERSALITY</a:t>
            </a:r>
          </a:p>
          <a:p>
            <a:pPr lvl="0" algn="just">
              <a:spcBef>
                <a:spcPts val="600"/>
              </a:spcBef>
              <a:spcAft>
                <a:spcPts val="200"/>
              </a:spcAft>
            </a:pPr>
            <a:r>
              <a:rPr lang="en-US" b="1" dirty="0" smtClean="0"/>
              <a:t>Goal </a:t>
            </a:r>
            <a:r>
              <a:rPr lang="en-US" b="1" dirty="0"/>
              <a:t>to goal linkages were missing in MDGs but well inter-linkages among the goals are there is SDGs. </a:t>
            </a:r>
            <a:r>
              <a:rPr lang="en-US" b="1" dirty="0" smtClean="0">
                <a:solidFill>
                  <a:schemeClr val="accent1">
                    <a:lumMod val="75000"/>
                  </a:schemeClr>
                </a:solidFill>
              </a:rPr>
              <a:t>INTEGRATION</a:t>
            </a:r>
            <a:endParaRPr lang="en-US" b="1" dirty="0">
              <a:solidFill>
                <a:schemeClr val="accent1">
                  <a:lumMod val="75000"/>
                </a:schemeClr>
              </a:solidFill>
            </a:endParaRPr>
          </a:p>
          <a:p>
            <a:pPr lvl="0" algn="just">
              <a:spcBef>
                <a:spcPts val="600"/>
              </a:spcBef>
              <a:spcAft>
                <a:spcPts val="200"/>
              </a:spcAft>
            </a:pPr>
            <a:r>
              <a:rPr lang="en-US" b="1" dirty="0"/>
              <a:t>MDGs focused on National level only quantitative </a:t>
            </a:r>
            <a:r>
              <a:rPr lang="en-US" b="1" dirty="0" smtClean="0"/>
              <a:t>data. But </a:t>
            </a:r>
            <a:r>
              <a:rPr lang="en-US" b="1" dirty="0"/>
              <a:t>SDGs focuses on quantitative and qualitative disaggregated </a:t>
            </a:r>
            <a:r>
              <a:rPr lang="en-US" b="1" dirty="0" smtClean="0"/>
              <a:t>data.  </a:t>
            </a:r>
            <a:r>
              <a:rPr lang="en-US" b="1" dirty="0" smtClean="0">
                <a:solidFill>
                  <a:schemeClr val="accent1">
                    <a:lumMod val="75000"/>
                  </a:schemeClr>
                </a:solidFill>
              </a:rPr>
              <a:t>TRANSFORMATION</a:t>
            </a:r>
            <a:endParaRPr lang="en-US" b="1" dirty="0">
              <a:solidFill>
                <a:schemeClr val="accent1">
                  <a:lumMod val="75000"/>
                </a:schemeClr>
              </a:solidFill>
            </a:endParaRPr>
          </a:p>
          <a:p>
            <a:pPr lvl="0" algn="just">
              <a:spcBef>
                <a:spcPts val="600"/>
              </a:spcBef>
              <a:spcAft>
                <a:spcPts val="200"/>
              </a:spcAft>
            </a:pPr>
            <a:r>
              <a:rPr lang="en-US" b="1" dirty="0" smtClean="0"/>
              <a:t>Hunger </a:t>
            </a:r>
            <a:r>
              <a:rPr lang="en-US" b="1" dirty="0"/>
              <a:t>was treated as part of poverty in MDGs but hunger is now treated as part of food security and nutrition in the SDGs. </a:t>
            </a:r>
          </a:p>
          <a:p>
            <a:pPr lvl="0" algn="just">
              <a:spcBef>
                <a:spcPts val="600"/>
              </a:spcBef>
              <a:spcAft>
                <a:spcPts val="200"/>
              </a:spcAft>
            </a:pPr>
            <a:r>
              <a:rPr lang="en-US" b="1" dirty="0" smtClean="0"/>
              <a:t>Private </a:t>
            </a:r>
            <a:r>
              <a:rPr lang="en-US" b="1" dirty="0"/>
              <a:t>sector was not involved in the MDGs implementation, but in SDGs they are </a:t>
            </a:r>
            <a:r>
              <a:rPr lang="en-US" b="1" dirty="0" smtClean="0"/>
              <a:t>treated </a:t>
            </a:r>
            <a:r>
              <a:rPr lang="en-US" b="1" dirty="0"/>
              <a:t>as important players. </a:t>
            </a:r>
          </a:p>
        </p:txBody>
      </p:sp>
    </p:spTree>
    <p:extLst>
      <p:ext uri="{BB962C8B-B14F-4D97-AF65-F5344CB8AC3E}">
        <p14:creationId xmlns="" xmlns:p14="http://schemas.microsoft.com/office/powerpoint/2010/main" val="3328558477"/>
      </p:ext>
    </p:extLst>
  </p:cSld>
  <p:clrMapOvr>
    <a:masterClrMapping/>
  </p:clrMapOvr>
  <mc:AlternateContent xmlns:mc="http://schemas.openxmlformats.org/markup-compatibility/2006">
    <mc:Choice xmlns=""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 calcmode="lin" valueType="num">
                                      <p:cBhvr additive="base">
                                        <p:cTn id="1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 calcmode="lin" valueType="num">
                                      <p:cBhvr additive="base">
                                        <p:cTn id="24"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 calcmode="lin" valueType="num">
                                      <p:cBhvr additive="base">
                                        <p:cTn id="30"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 calcmode="lin" valueType="num">
                                      <p:cBhvr additive="base">
                                        <p:cTn id="36"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 calcmode="lin" valueType="num">
                                      <p:cBhvr additive="base">
                                        <p:cTn id="42"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3">
                                            <p:txEl>
                                              <p:pRg st="7" end="7"/>
                                            </p:txEl>
                                          </p:spTgt>
                                        </p:tgtEl>
                                        <p:attrNameLst>
                                          <p:attrName>style.visibility</p:attrName>
                                        </p:attrNameLst>
                                      </p:cBhvr>
                                      <p:to>
                                        <p:strVal val="visible"/>
                                      </p:to>
                                    </p:set>
                                    <p:anim calcmode="lin" valueType="num">
                                      <p:cBhvr additive="base">
                                        <p:cTn id="48"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3">
                                            <p:txEl>
                                              <p:pRg st="8" end="8"/>
                                            </p:txEl>
                                          </p:spTgt>
                                        </p:tgtEl>
                                        <p:attrNameLst>
                                          <p:attrName>style.visibility</p:attrName>
                                        </p:attrNameLst>
                                      </p:cBhvr>
                                      <p:to>
                                        <p:strVal val="visible"/>
                                      </p:to>
                                    </p:set>
                                    <p:anim calcmode="lin" valueType="num">
                                      <p:cBhvr additive="base">
                                        <p:cTn id="54"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nodeType="clickEffect">
                                  <p:stCondLst>
                                    <p:cond delay="0"/>
                                  </p:stCondLst>
                                  <p:childTnLst>
                                    <p:set>
                                      <p:cBhvr>
                                        <p:cTn id="59" dur="1" fill="hold">
                                          <p:stCondLst>
                                            <p:cond delay="0"/>
                                          </p:stCondLst>
                                        </p:cTn>
                                        <p:tgtEl>
                                          <p:spTgt spid="3">
                                            <p:txEl>
                                              <p:pRg st="9" end="9"/>
                                            </p:txEl>
                                          </p:spTgt>
                                        </p:tgtEl>
                                        <p:attrNameLst>
                                          <p:attrName>style.visibility</p:attrName>
                                        </p:attrNameLst>
                                      </p:cBhvr>
                                      <p:to>
                                        <p:strVal val="visible"/>
                                      </p:to>
                                    </p:set>
                                    <p:anim calcmode="lin" valueType="num">
                                      <p:cBhvr additive="base">
                                        <p:cTn id="60"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403625" y="1637283"/>
            <a:ext cx="5405520" cy="3563979"/>
          </a:xfrm>
          <a:prstGeom prst="rect">
            <a:avLst/>
          </a:prstGeom>
        </p:spPr>
      </p:pic>
      <p:pic>
        <p:nvPicPr>
          <p:cNvPr id="3" name="Picture 2"/>
          <p:cNvPicPr>
            <a:picLocks noChangeAspect="1"/>
          </p:cNvPicPr>
          <p:nvPr/>
        </p:nvPicPr>
        <p:blipFill>
          <a:blip r:embed="rId3"/>
          <a:stretch>
            <a:fillRect/>
          </a:stretch>
        </p:blipFill>
        <p:spPr>
          <a:xfrm>
            <a:off x="1986952" y="17374"/>
            <a:ext cx="1416674" cy="1619910"/>
          </a:xfrm>
          <a:prstGeom prst="rect">
            <a:avLst/>
          </a:prstGeom>
        </p:spPr>
      </p:pic>
      <p:pic>
        <p:nvPicPr>
          <p:cNvPr id="4" name="Picture 3"/>
          <p:cNvPicPr>
            <a:picLocks noChangeAspect="1"/>
          </p:cNvPicPr>
          <p:nvPr/>
        </p:nvPicPr>
        <p:blipFill>
          <a:blip r:embed="rId4"/>
          <a:stretch>
            <a:fillRect/>
          </a:stretch>
        </p:blipFill>
        <p:spPr>
          <a:xfrm>
            <a:off x="3403626" y="17375"/>
            <a:ext cx="1531486" cy="1619907"/>
          </a:xfrm>
          <a:prstGeom prst="rect">
            <a:avLst/>
          </a:prstGeom>
        </p:spPr>
      </p:pic>
      <p:pic>
        <p:nvPicPr>
          <p:cNvPr id="5" name="Picture 4"/>
          <p:cNvPicPr>
            <a:picLocks noChangeAspect="1"/>
          </p:cNvPicPr>
          <p:nvPr/>
        </p:nvPicPr>
        <p:blipFill>
          <a:blip r:embed="rId5"/>
          <a:stretch>
            <a:fillRect/>
          </a:stretch>
        </p:blipFill>
        <p:spPr>
          <a:xfrm>
            <a:off x="4914090" y="17376"/>
            <a:ext cx="1216254" cy="1619906"/>
          </a:xfrm>
          <a:prstGeom prst="rect">
            <a:avLst/>
          </a:prstGeom>
        </p:spPr>
      </p:pic>
      <p:pic>
        <p:nvPicPr>
          <p:cNvPr id="6" name="Picture 5"/>
          <p:cNvPicPr>
            <a:picLocks noChangeAspect="1"/>
          </p:cNvPicPr>
          <p:nvPr/>
        </p:nvPicPr>
        <p:blipFill>
          <a:blip r:embed="rId6"/>
          <a:stretch>
            <a:fillRect/>
          </a:stretch>
        </p:blipFill>
        <p:spPr>
          <a:xfrm>
            <a:off x="6130344" y="17379"/>
            <a:ext cx="1327884" cy="1619903"/>
          </a:xfrm>
          <a:prstGeom prst="rect">
            <a:avLst/>
          </a:prstGeom>
        </p:spPr>
      </p:pic>
      <p:pic>
        <p:nvPicPr>
          <p:cNvPr id="7" name="Picture 6"/>
          <p:cNvPicPr>
            <a:picLocks noChangeAspect="1"/>
          </p:cNvPicPr>
          <p:nvPr/>
        </p:nvPicPr>
        <p:blipFill>
          <a:blip r:embed="rId7"/>
          <a:stretch>
            <a:fillRect/>
          </a:stretch>
        </p:blipFill>
        <p:spPr>
          <a:xfrm>
            <a:off x="7458228" y="17374"/>
            <a:ext cx="1350921" cy="1637287"/>
          </a:xfrm>
          <a:prstGeom prst="rect">
            <a:avLst/>
          </a:prstGeom>
        </p:spPr>
      </p:pic>
      <p:pic>
        <p:nvPicPr>
          <p:cNvPr id="8" name="Picture 7"/>
          <p:cNvPicPr>
            <a:picLocks noChangeAspect="1"/>
          </p:cNvPicPr>
          <p:nvPr/>
        </p:nvPicPr>
        <p:blipFill>
          <a:blip r:embed="rId8"/>
          <a:stretch>
            <a:fillRect/>
          </a:stretch>
        </p:blipFill>
        <p:spPr>
          <a:xfrm>
            <a:off x="8809150" y="17374"/>
            <a:ext cx="1327884" cy="1637285"/>
          </a:xfrm>
          <a:prstGeom prst="rect">
            <a:avLst/>
          </a:prstGeom>
        </p:spPr>
      </p:pic>
      <p:pic>
        <p:nvPicPr>
          <p:cNvPr id="9" name="Picture 8"/>
          <p:cNvPicPr>
            <a:picLocks noChangeAspect="1"/>
          </p:cNvPicPr>
          <p:nvPr/>
        </p:nvPicPr>
        <p:blipFill>
          <a:blip r:embed="rId9"/>
          <a:stretch>
            <a:fillRect/>
          </a:stretch>
        </p:blipFill>
        <p:spPr>
          <a:xfrm>
            <a:off x="8809149" y="1654661"/>
            <a:ext cx="1327884" cy="1008547"/>
          </a:xfrm>
          <a:prstGeom prst="rect">
            <a:avLst/>
          </a:prstGeom>
        </p:spPr>
      </p:pic>
      <p:pic>
        <p:nvPicPr>
          <p:cNvPr id="10" name="Picture 9"/>
          <p:cNvPicPr>
            <a:picLocks noChangeAspect="1"/>
          </p:cNvPicPr>
          <p:nvPr/>
        </p:nvPicPr>
        <p:blipFill>
          <a:blip r:embed="rId10"/>
          <a:stretch>
            <a:fillRect/>
          </a:stretch>
        </p:blipFill>
        <p:spPr>
          <a:xfrm>
            <a:off x="8809148" y="2663208"/>
            <a:ext cx="1327886" cy="1223593"/>
          </a:xfrm>
          <a:prstGeom prst="rect">
            <a:avLst/>
          </a:prstGeom>
        </p:spPr>
      </p:pic>
      <p:pic>
        <p:nvPicPr>
          <p:cNvPr id="11" name="Picture 10"/>
          <p:cNvPicPr>
            <a:picLocks noChangeAspect="1"/>
          </p:cNvPicPr>
          <p:nvPr/>
        </p:nvPicPr>
        <p:blipFill>
          <a:blip r:embed="rId11"/>
          <a:stretch>
            <a:fillRect/>
          </a:stretch>
        </p:blipFill>
        <p:spPr>
          <a:xfrm>
            <a:off x="8809147" y="3886801"/>
            <a:ext cx="1327888" cy="1331842"/>
          </a:xfrm>
          <a:prstGeom prst="rect">
            <a:avLst/>
          </a:prstGeom>
        </p:spPr>
      </p:pic>
      <p:pic>
        <p:nvPicPr>
          <p:cNvPr id="12" name="Picture 11"/>
          <p:cNvPicPr>
            <a:picLocks noChangeAspect="1"/>
          </p:cNvPicPr>
          <p:nvPr/>
        </p:nvPicPr>
        <p:blipFill>
          <a:blip r:embed="rId12"/>
          <a:stretch>
            <a:fillRect/>
          </a:stretch>
        </p:blipFill>
        <p:spPr>
          <a:xfrm>
            <a:off x="8809146" y="5218644"/>
            <a:ext cx="1327890" cy="1602526"/>
          </a:xfrm>
          <a:prstGeom prst="rect">
            <a:avLst/>
          </a:prstGeom>
        </p:spPr>
      </p:pic>
      <p:pic>
        <p:nvPicPr>
          <p:cNvPr id="13" name="Picture 12"/>
          <p:cNvPicPr>
            <a:picLocks noChangeAspect="1"/>
          </p:cNvPicPr>
          <p:nvPr/>
        </p:nvPicPr>
        <p:blipFill>
          <a:blip r:embed="rId13"/>
          <a:stretch>
            <a:fillRect/>
          </a:stretch>
        </p:blipFill>
        <p:spPr>
          <a:xfrm>
            <a:off x="7518409" y="5218643"/>
            <a:ext cx="1290736" cy="1602527"/>
          </a:xfrm>
          <a:prstGeom prst="rect">
            <a:avLst/>
          </a:prstGeom>
        </p:spPr>
      </p:pic>
      <p:pic>
        <p:nvPicPr>
          <p:cNvPr id="14" name="Picture 13"/>
          <p:cNvPicPr>
            <a:picLocks noChangeAspect="1"/>
          </p:cNvPicPr>
          <p:nvPr/>
        </p:nvPicPr>
        <p:blipFill>
          <a:blip r:embed="rId14"/>
          <a:stretch>
            <a:fillRect/>
          </a:stretch>
        </p:blipFill>
        <p:spPr>
          <a:xfrm>
            <a:off x="6263862" y="5218642"/>
            <a:ext cx="1254546" cy="1602528"/>
          </a:xfrm>
          <a:prstGeom prst="rect">
            <a:avLst/>
          </a:prstGeom>
        </p:spPr>
      </p:pic>
      <p:pic>
        <p:nvPicPr>
          <p:cNvPr id="15" name="Picture 14"/>
          <p:cNvPicPr>
            <a:picLocks noChangeAspect="1"/>
          </p:cNvPicPr>
          <p:nvPr/>
        </p:nvPicPr>
        <p:blipFill>
          <a:blip r:embed="rId15"/>
          <a:stretch>
            <a:fillRect/>
          </a:stretch>
        </p:blipFill>
        <p:spPr>
          <a:xfrm>
            <a:off x="4793420" y="5218642"/>
            <a:ext cx="1470442" cy="1602528"/>
          </a:xfrm>
          <a:prstGeom prst="rect">
            <a:avLst/>
          </a:prstGeom>
        </p:spPr>
      </p:pic>
      <p:pic>
        <p:nvPicPr>
          <p:cNvPr id="16" name="Picture 15"/>
          <p:cNvPicPr>
            <a:picLocks noChangeAspect="1"/>
          </p:cNvPicPr>
          <p:nvPr/>
        </p:nvPicPr>
        <p:blipFill>
          <a:blip r:embed="rId16"/>
          <a:stretch>
            <a:fillRect/>
          </a:stretch>
        </p:blipFill>
        <p:spPr>
          <a:xfrm>
            <a:off x="3403627" y="5218641"/>
            <a:ext cx="1416676" cy="1602529"/>
          </a:xfrm>
          <a:prstGeom prst="rect">
            <a:avLst/>
          </a:prstGeom>
        </p:spPr>
      </p:pic>
      <p:pic>
        <p:nvPicPr>
          <p:cNvPr id="17" name="Picture 16"/>
          <p:cNvPicPr>
            <a:picLocks noChangeAspect="1"/>
          </p:cNvPicPr>
          <p:nvPr/>
        </p:nvPicPr>
        <p:blipFill>
          <a:blip r:embed="rId17"/>
          <a:stretch>
            <a:fillRect/>
          </a:stretch>
        </p:blipFill>
        <p:spPr>
          <a:xfrm>
            <a:off x="1986951" y="5218643"/>
            <a:ext cx="1416675" cy="1602528"/>
          </a:xfrm>
          <a:prstGeom prst="rect">
            <a:avLst/>
          </a:prstGeom>
        </p:spPr>
      </p:pic>
      <p:pic>
        <p:nvPicPr>
          <p:cNvPr id="18" name="Picture 17"/>
          <p:cNvPicPr>
            <a:picLocks noChangeAspect="1"/>
          </p:cNvPicPr>
          <p:nvPr/>
        </p:nvPicPr>
        <p:blipFill>
          <a:blip r:embed="rId18"/>
          <a:stretch>
            <a:fillRect/>
          </a:stretch>
        </p:blipFill>
        <p:spPr>
          <a:xfrm>
            <a:off x="1969848" y="3477296"/>
            <a:ext cx="1433777" cy="1741346"/>
          </a:xfrm>
          <a:prstGeom prst="rect">
            <a:avLst/>
          </a:prstGeom>
        </p:spPr>
      </p:pic>
      <p:pic>
        <p:nvPicPr>
          <p:cNvPr id="19" name="Picture 18"/>
          <p:cNvPicPr>
            <a:picLocks noChangeAspect="1"/>
          </p:cNvPicPr>
          <p:nvPr/>
        </p:nvPicPr>
        <p:blipFill>
          <a:blip r:embed="rId19"/>
          <a:stretch>
            <a:fillRect/>
          </a:stretch>
        </p:blipFill>
        <p:spPr>
          <a:xfrm>
            <a:off x="1969848" y="1654659"/>
            <a:ext cx="1433777" cy="1822637"/>
          </a:xfrm>
          <a:prstGeom prst="rect">
            <a:avLst/>
          </a:prstGeom>
        </p:spPr>
      </p:pic>
    </p:spTree>
    <p:extLst>
      <p:ext uri="{BB962C8B-B14F-4D97-AF65-F5344CB8AC3E}">
        <p14:creationId xmlns="" xmlns:p14="http://schemas.microsoft.com/office/powerpoint/2010/main" val="1089671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75640" y="0"/>
            <a:ext cx="10016360" cy="1844566"/>
          </a:xfrm>
          <a:solidFill>
            <a:schemeClr val="accent1"/>
          </a:solidFill>
        </p:spPr>
        <p:txBody>
          <a:bodyPr>
            <a:normAutofit/>
          </a:bodyPr>
          <a:lstStyle/>
          <a:p>
            <a:r>
              <a:rPr lang="en-US" sz="4000" b="1" dirty="0" smtClean="0">
                <a:latin typeface="Avenir Next Condensed" charset="0"/>
                <a:ea typeface="Avenir Next Condensed" charset="0"/>
                <a:cs typeface="Avenir Next Condensed" charset="0"/>
              </a:rPr>
              <a:t>SDG # 1: End poverty in all its forms everywhere</a:t>
            </a:r>
            <a:endParaRPr lang="en-US" sz="4000" dirty="0"/>
          </a:p>
        </p:txBody>
      </p:sp>
      <p:pic>
        <p:nvPicPr>
          <p:cNvPr id="3" name="Picture 2" descr="http://unstats.un.org/sdgs/assets/img/sliders/goal1_menu_icon.jpg"/>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 y="0"/>
            <a:ext cx="2175641" cy="1844566"/>
          </a:xfrm>
          <a:prstGeom prst="rect">
            <a:avLst/>
          </a:prstGeom>
          <a:noFill/>
          <a:extLst>
            <a:ext uri="{909E8E84-426E-40DD-AFC4-6F175D3DCCD1}">
              <a14:hiddenFill xmlns="" xmlns:a14="http://schemas.microsoft.com/office/drawing/2010/main">
                <a:solidFill>
                  <a:srgbClr val="FFFFFF"/>
                </a:solidFill>
              </a14:hiddenFill>
            </a:ext>
          </a:extLst>
        </p:spPr>
      </p:pic>
      <p:pic>
        <p:nvPicPr>
          <p:cNvPr id="4" name="Picture 3"/>
          <p:cNvPicPr>
            <a:picLocks noChangeAspect="1"/>
          </p:cNvPicPr>
          <p:nvPr/>
        </p:nvPicPr>
        <p:blipFill rotWithShape="1">
          <a:blip r:embed="rId3" cstate="screen">
            <a:extLst>
              <a:ext uri="{28A0092B-C50C-407E-A947-70E740481C1C}">
                <a14:useLocalDpi xmlns="" xmlns:a14="http://schemas.microsoft.com/office/drawing/2010/main"/>
              </a:ext>
            </a:extLst>
          </a:blip>
          <a:srcRect/>
          <a:stretch/>
        </p:blipFill>
        <p:spPr>
          <a:xfrm>
            <a:off x="-1" y="4220308"/>
            <a:ext cx="4220308" cy="2637692"/>
          </a:xfrm>
          <a:prstGeom prst="rect">
            <a:avLst/>
          </a:prstGeom>
        </p:spPr>
      </p:pic>
      <p:pic>
        <p:nvPicPr>
          <p:cNvPr id="7" name="Picture 6"/>
          <p:cNvPicPr>
            <a:picLocks noChangeAspect="1"/>
          </p:cNvPicPr>
          <p:nvPr/>
        </p:nvPicPr>
        <p:blipFill>
          <a:blip r:embed="rId4"/>
          <a:stretch>
            <a:fillRect/>
          </a:stretch>
        </p:blipFill>
        <p:spPr>
          <a:xfrm>
            <a:off x="8693834" y="1844566"/>
            <a:ext cx="3498166" cy="2375742"/>
          </a:xfrm>
          <a:prstGeom prst="rect">
            <a:avLst/>
          </a:prstGeom>
        </p:spPr>
      </p:pic>
      <p:pic>
        <p:nvPicPr>
          <p:cNvPr id="8" name="Picture 7"/>
          <p:cNvPicPr>
            <a:picLocks noChangeAspect="1"/>
          </p:cNvPicPr>
          <p:nvPr/>
        </p:nvPicPr>
        <p:blipFill>
          <a:blip r:embed="rId5"/>
          <a:stretch>
            <a:fillRect/>
          </a:stretch>
        </p:blipFill>
        <p:spPr>
          <a:xfrm>
            <a:off x="4220307" y="4220309"/>
            <a:ext cx="4473527" cy="2637692"/>
          </a:xfrm>
          <a:prstGeom prst="rect">
            <a:avLst/>
          </a:prstGeom>
        </p:spPr>
      </p:pic>
      <p:pic>
        <p:nvPicPr>
          <p:cNvPr id="9" name="Picture 8"/>
          <p:cNvPicPr>
            <a:picLocks noChangeAspect="1"/>
          </p:cNvPicPr>
          <p:nvPr/>
        </p:nvPicPr>
        <p:blipFill>
          <a:blip r:embed="rId6"/>
          <a:stretch>
            <a:fillRect/>
          </a:stretch>
        </p:blipFill>
        <p:spPr>
          <a:xfrm>
            <a:off x="8693834" y="4220308"/>
            <a:ext cx="3498166" cy="2637692"/>
          </a:xfrm>
          <a:prstGeom prst="rect">
            <a:avLst/>
          </a:prstGeom>
        </p:spPr>
      </p:pic>
      <p:pic>
        <p:nvPicPr>
          <p:cNvPr id="10" name="Picture 9"/>
          <p:cNvPicPr>
            <a:picLocks noChangeAspect="1"/>
          </p:cNvPicPr>
          <p:nvPr/>
        </p:nvPicPr>
        <p:blipFill>
          <a:blip r:embed="rId7"/>
          <a:stretch>
            <a:fillRect/>
          </a:stretch>
        </p:blipFill>
        <p:spPr>
          <a:xfrm>
            <a:off x="-14068" y="1844566"/>
            <a:ext cx="4234375" cy="2375741"/>
          </a:xfrm>
          <a:prstGeom prst="rect">
            <a:avLst/>
          </a:prstGeom>
        </p:spPr>
      </p:pic>
      <p:pic>
        <p:nvPicPr>
          <p:cNvPr id="11" name="Picture 10"/>
          <p:cNvPicPr>
            <a:picLocks noChangeAspect="1"/>
          </p:cNvPicPr>
          <p:nvPr/>
        </p:nvPicPr>
        <p:blipFill>
          <a:blip r:embed="rId8"/>
          <a:stretch>
            <a:fillRect/>
          </a:stretch>
        </p:blipFill>
        <p:spPr>
          <a:xfrm>
            <a:off x="4220307" y="1844565"/>
            <a:ext cx="4473527" cy="2375742"/>
          </a:xfrm>
          <a:prstGeom prst="rect">
            <a:avLst/>
          </a:prstGeom>
        </p:spPr>
      </p:pic>
    </p:spTree>
    <p:extLst>
      <p:ext uri="{BB962C8B-B14F-4D97-AF65-F5344CB8AC3E}">
        <p14:creationId xmlns="" xmlns:p14="http://schemas.microsoft.com/office/powerpoint/2010/main" val="57921976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1620" y="0"/>
            <a:ext cx="10050379" cy="1885071"/>
          </a:xfrm>
          <a:solidFill>
            <a:schemeClr val="accent1"/>
          </a:solidFill>
        </p:spPr>
        <p:txBody>
          <a:bodyPr>
            <a:normAutofit fontScale="90000"/>
          </a:bodyPr>
          <a:lstStyle/>
          <a:p>
            <a:r>
              <a:rPr lang="en-US" b="1" dirty="0" smtClean="0">
                <a:latin typeface="Avenir Next Condensed" charset="0"/>
                <a:ea typeface="Avenir Next Condensed" charset="0"/>
                <a:cs typeface="Avenir Next Condensed" charset="0"/>
              </a:rPr>
              <a:t/>
            </a:r>
            <a:br>
              <a:rPr lang="en-US" b="1" dirty="0" smtClean="0">
                <a:latin typeface="Avenir Next Condensed" charset="0"/>
                <a:ea typeface="Avenir Next Condensed" charset="0"/>
                <a:cs typeface="Avenir Next Condensed" charset="0"/>
              </a:rPr>
            </a:br>
            <a:r>
              <a:rPr lang="en-US" b="1" dirty="0" smtClean="0">
                <a:latin typeface="Avenir Next Condensed" charset="0"/>
                <a:ea typeface="Avenir Next Condensed" charset="0"/>
                <a:cs typeface="Avenir Next Condensed" charset="0"/>
              </a:rPr>
              <a:t>SDG # 2: End hunger, achieve food security and improved nutrition </a:t>
            </a:r>
            <a:br>
              <a:rPr lang="en-US" b="1" dirty="0" smtClean="0">
                <a:latin typeface="Avenir Next Condensed" charset="0"/>
                <a:ea typeface="Avenir Next Condensed" charset="0"/>
                <a:cs typeface="Avenir Next Condensed" charset="0"/>
              </a:rPr>
            </a:br>
            <a:r>
              <a:rPr lang="en-US" b="1" dirty="0" smtClean="0">
                <a:latin typeface="Avenir Next Condensed" charset="0"/>
                <a:ea typeface="Avenir Next Condensed" charset="0"/>
                <a:cs typeface="Avenir Next Condensed" charset="0"/>
              </a:rPr>
              <a:t>and promote sustainable agriculture</a:t>
            </a:r>
            <a:br>
              <a:rPr lang="en-US" b="1" dirty="0" smtClean="0">
                <a:latin typeface="Avenir Next Condensed" charset="0"/>
                <a:ea typeface="Avenir Next Condensed" charset="0"/>
                <a:cs typeface="Avenir Next Condensed" charset="0"/>
              </a:rPr>
            </a:br>
            <a:endParaRPr lang="en-US" dirty="0"/>
          </a:p>
        </p:txBody>
      </p:sp>
      <p:pic>
        <p:nvPicPr>
          <p:cNvPr id="3" name="Picture 2"/>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1" y="0"/>
            <a:ext cx="2141619" cy="1885071"/>
          </a:xfrm>
          <a:prstGeom prst="rect">
            <a:avLst/>
          </a:prstGeom>
        </p:spPr>
      </p:pic>
      <p:pic>
        <p:nvPicPr>
          <p:cNvPr id="5" name="Picture 4"/>
          <p:cNvPicPr>
            <a:picLocks noChangeAspect="1"/>
          </p:cNvPicPr>
          <p:nvPr/>
        </p:nvPicPr>
        <p:blipFill>
          <a:blip r:embed="rId3" cstate="print"/>
          <a:stretch>
            <a:fillRect/>
          </a:stretch>
        </p:blipFill>
        <p:spPr>
          <a:xfrm>
            <a:off x="0" y="1885071"/>
            <a:ext cx="3581078" cy="2566612"/>
          </a:xfrm>
          <a:prstGeom prst="rect">
            <a:avLst/>
          </a:prstGeom>
        </p:spPr>
      </p:pic>
      <p:pic>
        <p:nvPicPr>
          <p:cNvPr id="6" name="Picture 5"/>
          <p:cNvPicPr>
            <a:picLocks noChangeAspect="1"/>
          </p:cNvPicPr>
          <p:nvPr/>
        </p:nvPicPr>
        <p:blipFill>
          <a:blip r:embed="rId4"/>
          <a:stretch>
            <a:fillRect/>
          </a:stretch>
        </p:blipFill>
        <p:spPr>
          <a:xfrm>
            <a:off x="3581078" y="1885070"/>
            <a:ext cx="4472564" cy="2566613"/>
          </a:xfrm>
          <a:prstGeom prst="rect">
            <a:avLst/>
          </a:prstGeom>
        </p:spPr>
      </p:pic>
      <p:pic>
        <p:nvPicPr>
          <p:cNvPr id="7" name="Picture 6"/>
          <p:cNvPicPr>
            <a:picLocks noChangeAspect="1"/>
          </p:cNvPicPr>
          <p:nvPr/>
        </p:nvPicPr>
        <p:blipFill>
          <a:blip r:embed="rId5"/>
          <a:stretch>
            <a:fillRect/>
          </a:stretch>
        </p:blipFill>
        <p:spPr>
          <a:xfrm>
            <a:off x="8006602" y="1885069"/>
            <a:ext cx="4185398" cy="2566614"/>
          </a:xfrm>
          <a:prstGeom prst="rect">
            <a:avLst/>
          </a:prstGeom>
        </p:spPr>
      </p:pic>
      <p:pic>
        <p:nvPicPr>
          <p:cNvPr id="8" name="Picture 7"/>
          <p:cNvPicPr>
            <a:picLocks noChangeAspect="1"/>
          </p:cNvPicPr>
          <p:nvPr/>
        </p:nvPicPr>
        <p:blipFill>
          <a:blip r:embed="rId6" cstate="print"/>
          <a:stretch>
            <a:fillRect/>
          </a:stretch>
        </p:blipFill>
        <p:spPr>
          <a:xfrm>
            <a:off x="3581078" y="4451683"/>
            <a:ext cx="4425524" cy="2406317"/>
          </a:xfrm>
          <a:prstGeom prst="rect">
            <a:avLst/>
          </a:prstGeom>
        </p:spPr>
      </p:pic>
      <p:pic>
        <p:nvPicPr>
          <p:cNvPr id="9" name="Picture 8"/>
          <p:cNvPicPr>
            <a:picLocks noChangeAspect="1"/>
          </p:cNvPicPr>
          <p:nvPr/>
        </p:nvPicPr>
        <p:blipFill>
          <a:blip r:embed="rId7"/>
          <a:stretch>
            <a:fillRect/>
          </a:stretch>
        </p:blipFill>
        <p:spPr>
          <a:xfrm>
            <a:off x="8006602" y="4451682"/>
            <a:ext cx="4185398" cy="2406317"/>
          </a:xfrm>
          <a:prstGeom prst="rect">
            <a:avLst/>
          </a:prstGeom>
        </p:spPr>
      </p:pic>
      <p:pic>
        <p:nvPicPr>
          <p:cNvPr id="10" name="Picture 9"/>
          <p:cNvPicPr>
            <a:picLocks noChangeAspect="1"/>
          </p:cNvPicPr>
          <p:nvPr/>
        </p:nvPicPr>
        <p:blipFill>
          <a:blip r:embed="rId8"/>
          <a:stretch>
            <a:fillRect/>
          </a:stretch>
        </p:blipFill>
        <p:spPr>
          <a:xfrm>
            <a:off x="0" y="4451682"/>
            <a:ext cx="3581078" cy="2406317"/>
          </a:xfrm>
          <a:prstGeom prst="rect">
            <a:avLst/>
          </a:prstGeom>
        </p:spPr>
      </p:pic>
    </p:spTree>
    <p:extLst>
      <p:ext uri="{BB962C8B-B14F-4D97-AF65-F5344CB8AC3E}">
        <p14:creationId xmlns="" xmlns:p14="http://schemas.microsoft.com/office/powerpoint/2010/main" val="244529249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54442" y="1"/>
            <a:ext cx="9737558" cy="1690688"/>
          </a:xfrm>
          <a:solidFill>
            <a:schemeClr val="accent1"/>
          </a:solidFill>
        </p:spPr>
        <p:txBody>
          <a:bodyPr>
            <a:normAutofit fontScale="90000"/>
          </a:bodyPr>
          <a:lstStyle/>
          <a:p>
            <a:r>
              <a:rPr lang="en-US" b="1" dirty="0" smtClean="0">
                <a:latin typeface="Avenir Next Condensed" charset="0"/>
                <a:ea typeface="Avenir Next Condensed" charset="0"/>
                <a:cs typeface="Avenir Next Condensed" charset="0"/>
              </a:rPr>
              <a:t/>
            </a:r>
            <a:br>
              <a:rPr lang="en-US" b="1" dirty="0" smtClean="0">
                <a:latin typeface="Avenir Next Condensed" charset="0"/>
                <a:ea typeface="Avenir Next Condensed" charset="0"/>
                <a:cs typeface="Avenir Next Condensed" charset="0"/>
              </a:rPr>
            </a:br>
            <a:r>
              <a:rPr lang="en-US" b="1" dirty="0" smtClean="0">
                <a:latin typeface="Avenir Next Condensed" charset="0"/>
                <a:ea typeface="Avenir Next Condensed" charset="0"/>
                <a:cs typeface="Avenir Next Condensed" charset="0"/>
              </a:rPr>
              <a:t>SDG # 3: Ensure healthy lives and promote well-being for all at all ages</a:t>
            </a:r>
            <a:br>
              <a:rPr lang="en-US" b="1" dirty="0" smtClean="0">
                <a:latin typeface="Avenir Next Condensed" charset="0"/>
                <a:ea typeface="Avenir Next Condensed" charset="0"/>
                <a:cs typeface="Avenir Next Condensed" charset="0"/>
              </a:rPr>
            </a:br>
            <a:endParaRPr lang="en-US" dirty="0"/>
          </a:p>
        </p:txBody>
      </p:sp>
      <p:pic>
        <p:nvPicPr>
          <p:cNvPr id="3" name="Picture 2"/>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0" y="-1"/>
            <a:ext cx="2454442" cy="1690689"/>
          </a:xfrm>
          <a:prstGeom prst="rect">
            <a:avLst/>
          </a:prstGeom>
        </p:spPr>
      </p:pic>
      <p:pic>
        <p:nvPicPr>
          <p:cNvPr id="4" name="Picture 3"/>
          <p:cNvPicPr>
            <a:picLocks noChangeAspect="1"/>
          </p:cNvPicPr>
          <p:nvPr/>
        </p:nvPicPr>
        <p:blipFill>
          <a:blip r:embed="rId3"/>
          <a:stretch>
            <a:fillRect/>
          </a:stretch>
        </p:blipFill>
        <p:spPr>
          <a:xfrm>
            <a:off x="0" y="1690688"/>
            <a:ext cx="3633537" cy="2324100"/>
          </a:xfrm>
          <a:prstGeom prst="rect">
            <a:avLst/>
          </a:prstGeom>
        </p:spPr>
      </p:pic>
      <p:pic>
        <p:nvPicPr>
          <p:cNvPr id="5" name="Picture 4"/>
          <p:cNvPicPr>
            <a:picLocks noChangeAspect="1"/>
          </p:cNvPicPr>
          <p:nvPr/>
        </p:nvPicPr>
        <p:blipFill>
          <a:blip r:embed="rId4"/>
          <a:stretch>
            <a:fillRect/>
          </a:stretch>
        </p:blipFill>
        <p:spPr>
          <a:xfrm>
            <a:off x="3633537" y="1690688"/>
            <a:ext cx="4475747" cy="2324100"/>
          </a:xfrm>
          <a:prstGeom prst="rect">
            <a:avLst/>
          </a:prstGeom>
        </p:spPr>
      </p:pic>
      <p:pic>
        <p:nvPicPr>
          <p:cNvPr id="7" name="Picture 6"/>
          <p:cNvPicPr>
            <a:picLocks noChangeAspect="1"/>
          </p:cNvPicPr>
          <p:nvPr/>
        </p:nvPicPr>
        <p:blipFill>
          <a:blip r:embed="rId5"/>
          <a:stretch>
            <a:fillRect/>
          </a:stretch>
        </p:blipFill>
        <p:spPr>
          <a:xfrm>
            <a:off x="0" y="4014788"/>
            <a:ext cx="3633536" cy="2843212"/>
          </a:xfrm>
          <a:prstGeom prst="rect">
            <a:avLst/>
          </a:prstGeom>
        </p:spPr>
      </p:pic>
      <p:pic>
        <p:nvPicPr>
          <p:cNvPr id="8" name="Picture 7"/>
          <p:cNvPicPr>
            <a:picLocks noChangeAspect="1"/>
          </p:cNvPicPr>
          <p:nvPr/>
        </p:nvPicPr>
        <p:blipFill>
          <a:blip r:embed="rId6"/>
          <a:stretch>
            <a:fillRect/>
          </a:stretch>
        </p:blipFill>
        <p:spPr>
          <a:xfrm>
            <a:off x="3633536" y="4014788"/>
            <a:ext cx="2857500" cy="2843211"/>
          </a:xfrm>
          <a:prstGeom prst="rect">
            <a:avLst/>
          </a:prstGeom>
        </p:spPr>
      </p:pic>
      <p:pic>
        <p:nvPicPr>
          <p:cNvPr id="9" name="Picture 8"/>
          <p:cNvPicPr>
            <a:picLocks noChangeAspect="1"/>
          </p:cNvPicPr>
          <p:nvPr/>
        </p:nvPicPr>
        <p:blipFill>
          <a:blip r:embed="rId7"/>
          <a:stretch>
            <a:fillRect/>
          </a:stretch>
        </p:blipFill>
        <p:spPr>
          <a:xfrm>
            <a:off x="6491036" y="4014787"/>
            <a:ext cx="2619375" cy="2843213"/>
          </a:xfrm>
          <a:prstGeom prst="rect">
            <a:avLst/>
          </a:prstGeom>
        </p:spPr>
      </p:pic>
      <p:pic>
        <p:nvPicPr>
          <p:cNvPr id="10" name="Picture 9"/>
          <p:cNvPicPr>
            <a:picLocks noChangeAspect="1"/>
          </p:cNvPicPr>
          <p:nvPr/>
        </p:nvPicPr>
        <p:blipFill>
          <a:blip r:embed="rId8"/>
          <a:stretch>
            <a:fillRect/>
          </a:stretch>
        </p:blipFill>
        <p:spPr>
          <a:xfrm>
            <a:off x="9110411" y="3914024"/>
            <a:ext cx="3081589" cy="2943975"/>
          </a:xfrm>
          <a:prstGeom prst="rect">
            <a:avLst/>
          </a:prstGeom>
        </p:spPr>
      </p:pic>
      <p:pic>
        <p:nvPicPr>
          <p:cNvPr id="11" name="Picture 2" descr="3: Ensure healthy lives and promote"/>
          <p:cNvPicPr preferRelativeResize="0">
            <a:picLocks noChangeArrowheads="1"/>
          </p:cNvPicPr>
          <p:nvPr/>
        </p:nvPicPr>
        <p:blipFill rotWithShape="1">
          <a:blip r:embed="rId9" cstate="screen">
            <a:extLst>
              <a:ext uri="{28A0092B-C50C-407E-A947-70E740481C1C}">
                <a14:useLocalDpi xmlns="" xmlns:a14="http://schemas.microsoft.com/office/drawing/2010/main"/>
              </a:ext>
            </a:extLst>
          </a:blip>
          <a:srcRect/>
          <a:stretch/>
        </p:blipFill>
        <p:spPr bwMode="auto">
          <a:xfrm>
            <a:off x="8109285" y="1690687"/>
            <a:ext cx="4082715" cy="2324099"/>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97796773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0694" y="1"/>
            <a:ext cx="9641305" cy="1690688"/>
          </a:xfrm>
          <a:solidFill>
            <a:schemeClr val="accent1"/>
          </a:solidFill>
        </p:spPr>
        <p:txBody>
          <a:bodyPr>
            <a:normAutofit fontScale="90000"/>
          </a:bodyPr>
          <a:lstStyle/>
          <a:p>
            <a:r>
              <a:rPr lang="en-US" b="1" dirty="0" smtClean="0">
                <a:latin typeface="Avenir Next Condensed" charset="0"/>
                <a:ea typeface="Avenir Next Condensed" charset="0"/>
                <a:cs typeface="Avenir Next Condensed" charset="0"/>
              </a:rPr>
              <a:t/>
            </a:r>
            <a:br>
              <a:rPr lang="en-US" b="1" dirty="0" smtClean="0">
                <a:latin typeface="Avenir Next Condensed" charset="0"/>
                <a:ea typeface="Avenir Next Condensed" charset="0"/>
                <a:cs typeface="Avenir Next Condensed" charset="0"/>
              </a:rPr>
            </a:br>
            <a:r>
              <a:rPr lang="en-US" sz="4000" b="1" dirty="0" smtClean="0">
                <a:latin typeface="Avenir Next Condensed" charset="0"/>
                <a:ea typeface="Avenir Next Condensed" charset="0"/>
                <a:cs typeface="Avenir Next Condensed" charset="0"/>
              </a:rPr>
              <a:t>SDG # 4: Ensure inclusive and equitable quality education and promote lifelong learning opportunities for all</a:t>
            </a:r>
            <a:r>
              <a:rPr lang="en-US" b="1" dirty="0" smtClean="0">
                <a:latin typeface="Avenir Next Condensed" charset="0"/>
                <a:ea typeface="Avenir Next Condensed" charset="0"/>
                <a:cs typeface="Avenir Next Condensed" charset="0"/>
              </a:rPr>
              <a:t/>
            </a:r>
            <a:br>
              <a:rPr lang="en-US" b="1" dirty="0" smtClean="0">
                <a:latin typeface="Avenir Next Condensed" charset="0"/>
                <a:ea typeface="Avenir Next Condensed" charset="0"/>
                <a:cs typeface="Avenir Next Condensed" charset="0"/>
              </a:rPr>
            </a:br>
            <a:endParaRPr lang="en-US" dirty="0"/>
          </a:p>
        </p:txBody>
      </p:sp>
      <p:pic>
        <p:nvPicPr>
          <p:cNvPr id="3" name="Picture 2"/>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0" y="0"/>
            <a:ext cx="2550694" cy="1690688"/>
          </a:xfrm>
          <a:prstGeom prst="rect">
            <a:avLst/>
          </a:prstGeom>
        </p:spPr>
      </p:pic>
      <p:pic>
        <p:nvPicPr>
          <p:cNvPr id="4" name="Picture 3"/>
          <p:cNvPicPr>
            <a:picLocks noChangeAspect="1"/>
          </p:cNvPicPr>
          <p:nvPr/>
        </p:nvPicPr>
        <p:blipFill>
          <a:blip r:embed="rId3"/>
          <a:stretch>
            <a:fillRect/>
          </a:stretch>
        </p:blipFill>
        <p:spPr>
          <a:xfrm>
            <a:off x="0" y="1690688"/>
            <a:ext cx="3922295" cy="2478505"/>
          </a:xfrm>
          <a:prstGeom prst="rect">
            <a:avLst/>
          </a:prstGeom>
        </p:spPr>
      </p:pic>
      <p:pic>
        <p:nvPicPr>
          <p:cNvPr id="5" name="Picture 4"/>
          <p:cNvPicPr>
            <a:picLocks noChangeAspect="1"/>
          </p:cNvPicPr>
          <p:nvPr/>
        </p:nvPicPr>
        <p:blipFill>
          <a:blip r:embed="rId4"/>
          <a:stretch>
            <a:fillRect/>
          </a:stretch>
        </p:blipFill>
        <p:spPr>
          <a:xfrm>
            <a:off x="3922295" y="1690688"/>
            <a:ext cx="4134852" cy="2478505"/>
          </a:xfrm>
          <a:prstGeom prst="rect">
            <a:avLst/>
          </a:prstGeom>
        </p:spPr>
      </p:pic>
      <p:pic>
        <p:nvPicPr>
          <p:cNvPr id="6" name="Picture 5"/>
          <p:cNvPicPr>
            <a:picLocks noChangeAspect="1"/>
          </p:cNvPicPr>
          <p:nvPr/>
        </p:nvPicPr>
        <p:blipFill>
          <a:blip r:embed="rId5"/>
          <a:stretch>
            <a:fillRect/>
          </a:stretch>
        </p:blipFill>
        <p:spPr>
          <a:xfrm>
            <a:off x="8057148" y="1690687"/>
            <a:ext cx="4134852" cy="2478506"/>
          </a:xfrm>
          <a:prstGeom prst="rect">
            <a:avLst/>
          </a:prstGeom>
        </p:spPr>
      </p:pic>
      <p:pic>
        <p:nvPicPr>
          <p:cNvPr id="7" name="Picture 6"/>
          <p:cNvPicPr>
            <a:picLocks noChangeAspect="1"/>
          </p:cNvPicPr>
          <p:nvPr/>
        </p:nvPicPr>
        <p:blipFill>
          <a:blip r:embed="rId6"/>
          <a:stretch>
            <a:fillRect/>
          </a:stretch>
        </p:blipFill>
        <p:spPr>
          <a:xfrm>
            <a:off x="0" y="4169193"/>
            <a:ext cx="3922294" cy="2688807"/>
          </a:xfrm>
          <a:prstGeom prst="rect">
            <a:avLst/>
          </a:prstGeom>
        </p:spPr>
      </p:pic>
      <p:pic>
        <p:nvPicPr>
          <p:cNvPr id="8" name="Picture 7"/>
          <p:cNvPicPr>
            <a:picLocks noChangeAspect="1"/>
          </p:cNvPicPr>
          <p:nvPr/>
        </p:nvPicPr>
        <p:blipFill>
          <a:blip r:embed="rId7"/>
          <a:stretch>
            <a:fillRect/>
          </a:stretch>
        </p:blipFill>
        <p:spPr>
          <a:xfrm>
            <a:off x="3922294" y="4169193"/>
            <a:ext cx="4134853" cy="2688807"/>
          </a:xfrm>
          <a:prstGeom prst="rect">
            <a:avLst/>
          </a:prstGeom>
        </p:spPr>
      </p:pic>
      <p:pic>
        <p:nvPicPr>
          <p:cNvPr id="9" name="Picture 8"/>
          <p:cNvPicPr>
            <a:picLocks noChangeAspect="1"/>
          </p:cNvPicPr>
          <p:nvPr/>
        </p:nvPicPr>
        <p:blipFill>
          <a:blip r:embed="rId8"/>
          <a:stretch>
            <a:fillRect/>
          </a:stretch>
        </p:blipFill>
        <p:spPr>
          <a:xfrm>
            <a:off x="8057147" y="4169193"/>
            <a:ext cx="4134853" cy="2688807"/>
          </a:xfrm>
          <a:prstGeom prst="rect">
            <a:avLst/>
          </a:prstGeom>
        </p:spPr>
      </p:pic>
    </p:spTree>
    <p:extLst>
      <p:ext uri="{BB962C8B-B14F-4D97-AF65-F5344CB8AC3E}">
        <p14:creationId xmlns="" xmlns:p14="http://schemas.microsoft.com/office/powerpoint/2010/main" val="107179536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9136" y="1"/>
            <a:ext cx="9472863" cy="1750856"/>
          </a:xfrm>
          <a:solidFill>
            <a:schemeClr val="accent1"/>
          </a:solidFill>
        </p:spPr>
        <p:txBody>
          <a:bodyPr>
            <a:normAutofit fontScale="90000"/>
          </a:bodyPr>
          <a:lstStyle/>
          <a:p>
            <a:r>
              <a:rPr lang="en-US" b="1" dirty="0" smtClean="0">
                <a:latin typeface="Avenir Next Condensed" charset="0"/>
                <a:ea typeface="Avenir Next Condensed" charset="0"/>
                <a:cs typeface="Avenir Next Condensed" charset="0"/>
              </a:rPr>
              <a:t/>
            </a:r>
            <a:br>
              <a:rPr lang="en-US" b="1" dirty="0" smtClean="0">
                <a:latin typeface="Avenir Next Condensed" charset="0"/>
                <a:ea typeface="Avenir Next Condensed" charset="0"/>
                <a:cs typeface="Avenir Next Condensed" charset="0"/>
              </a:rPr>
            </a:br>
            <a:r>
              <a:rPr lang="en-US" b="1" dirty="0" smtClean="0">
                <a:latin typeface="Avenir Next Condensed" charset="0"/>
                <a:ea typeface="Avenir Next Condensed" charset="0"/>
                <a:cs typeface="Avenir Next Condensed" charset="0"/>
              </a:rPr>
              <a:t>SDG # 5: Achieve gender equality and empower all women and girls</a:t>
            </a:r>
            <a:br>
              <a:rPr lang="en-US" b="1" dirty="0" smtClean="0">
                <a:latin typeface="Avenir Next Condensed" charset="0"/>
                <a:ea typeface="Avenir Next Condensed" charset="0"/>
                <a:cs typeface="Avenir Next Condensed" charset="0"/>
              </a:rPr>
            </a:br>
            <a:endParaRPr lang="en-US" dirty="0"/>
          </a:p>
        </p:txBody>
      </p:sp>
      <p:pic>
        <p:nvPicPr>
          <p:cNvPr id="3" name="Picture 2"/>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0" y="0"/>
            <a:ext cx="2719136" cy="1750857"/>
          </a:xfrm>
          <a:prstGeom prst="rect">
            <a:avLst/>
          </a:prstGeom>
        </p:spPr>
      </p:pic>
      <p:pic>
        <p:nvPicPr>
          <p:cNvPr id="6" name="Picture 5"/>
          <p:cNvPicPr>
            <a:picLocks noChangeAspect="1"/>
          </p:cNvPicPr>
          <p:nvPr/>
        </p:nvPicPr>
        <p:blipFill>
          <a:blip r:embed="rId3"/>
          <a:stretch>
            <a:fillRect/>
          </a:stretch>
        </p:blipFill>
        <p:spPr>
          <a:xfrm>
            <a:off x="0" y="1750857"/>
            <a:ext cx="4307305" cy="2027059"/>
          </a:xfrm>
          <a:prstGeom prst="rect">
            <a:avLst/>
          </a:prstGeom>
        </p:spPr>
      </p:pic>
      <p:pic>
        <p:nvPicPr>
          <p:cNvPr id="7" name="Picture 6"/>
          <p:cNvPicPr>
            <a:picLocks noChangeAspect="1"/>
          </p:cNvPicPr>
          <p:nvPr/>
        </p:nvPicPr>
        <p:blipFill>
          <a:blip r:embed="rId4"/>
          <a:stretch>
            <a:fillRect/>
          </a:stretch>
        </p:blipFill>
        <p:spPr>
          <a:xfrm>
            <a:off x="4315325" y="1750857"/>
            <a:ext cx="4058654" cy="2027059"/>
          </a:xfrm>
          <a:prstGeom prst="rect">
            <a:avLst/>
          </a:prstGeom>
        </p:spPr>
      </p:pic>
      <p:pic>
        <p:nvPicPr>
          <p:cNvPr id="8" name="Picture 7"/>
          <p:cNvPicPr>
            <a:picLocks noChangeAspect="1"/>
          </p:cNvPicPr>
          <p:nvPr/>
        </p:nvPicPr>
        <p:blipFill>
          <a:blip r:embed="rId5"/>
          <a:stretch>
            <a:fillRect/>
          </a:stretch>
        </p:blipFill>
        <p:spPr>
          <a:xfrm>
            <a:off x="8373979" y="1750857"/>
            <a:ext cx="3826040" cy="2027059"/>
          </a:xfrm>
          <a:prstGeom prst="rect">
            <a:avLst/>
          </a:prstGeom>
        </p:spPr>
      </p:pic>
      <p:pic>
        <p:nvPicPr>
          <p:cNvPr id="9" name="Picture 8"/>
          <p:cNvPicPr>
            <a:picLocks noChangeAspect="1"/>
          </p:cNvPicPr>
          <p:nvPr/>
        </p:nvPicPr>
        <p:blipFill>
          <a:blip r:embed="rId6"/>
          <a:stretch>
            <a:fillRect/>
          </a:stretch>
        </p:blipFill>
        <p:spPr>
          <a:xfrm>
            <a:off x="0" y="3777916"/>
            <a:ext cx="4315325" cy="3080084"/>
          </a:xfrm>
          <a:prstGeom prst="rect">
            <a:avLst/>
          </a:prstGeom>
        </p:spPr>
      </p:pic>
      <p:pic>
        <p:nvPicPr>
          <p:cNvPr id="10" name="Picture 9"/>
          <p:cNvPicPr>
            <a:picLocks noChangeAspect="1"/>
          </p:cNvPicPr>
          <p:nvPr/>
        </p:nvPicPr>
        <p:blipFill>
          <a:blip r:embed="rId7"/>
          <a:stretch>
            <a:fillRect/>
          </a:stretch>
        </p:blipFill>
        <p:spPr>
          <a:xfrm>
            <a:off x="4307305" y="3777917"/>
            <a:ext cx="4058654" cy="3080084"/>
          </a:xfrm>
          <a:prstGeom prst="rect">
            <a:avLst/>
          </a:prstGeom>
        </p:spPr>
      </p:pic>
      <p:pic>
        <p:nvPicPr>
          <p:cNvPr id="11" name="Picture 10"/>
          <p:cNvPicPr>
            <a:picLocks noChangeAspect="1"/>
          </p:cNvPicPr>
          <p:nvPr/>
        </p:nvPicPr>
        <p:blipFill>
          <a:blip r:embed="rId8"/>
          <a:stretch>
            <a:fillRect/>
          </a:stretch>
        </p:blipFill>
        <p:spPr>
          <a:xfrm>
            <a:off x="8381998" y="3777916"/>
            <a:ext cx="3810001" cy="3080083"/>
          </a:xfrm>
          <a:prstGeom prst="rect">
            <a:avLst/>
          </a:prstGeom>
        </p:spPr>
      </p:pic>
    </p:spTree>
    <p:extLst>
      <p:ext uri="{BB962C8B-B14F-4D97-AF65-F5344CB8AC3E}">
        <p14:creationId xmlns="" xmlns:p14="http://schemas.microsoft.com/office/powerpoint/2010/main" val="18749724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8504" y="1"/>
            <a:ext cx="9713495" cy="1690688"/>
          </a:xfrm>
          <a:solidFill>
            <a:schemeClr val="accent1"/>
          </a:solidFill>
        </p:spPr>
        <p:txBody>
          <a:bodyPr>
            <a:normAutofit fontScale="90000"/>
          </a:bodyPr>
          <a:lstStyle/>
          <a:p>
            <a:r>
              <a:rPr lang="en-US" b="1" dirty="0" smtClean="0">
                <a:latin typeface="Avenir Next Condensed" charset="0"/>
                <a:ea typeface="Avenir Next Condensed" charset="0"/>
                <a:cs typeface="Avenir Next Condensed" charset="0"/>
              </a:rPr>
              <a:t/>
            </a:r>
            <a:br>
              <a:rPr lang="en-US" b="1" dirty="0" smtClean="0">
                <a:latin typeface="Avenir Next Condensed" charset="0"/>
                <a:ea typeface="Avenir Next Condensed" charset="0"/>
                <a:cs typeface="Avenir Next Condensed" charset="0"/>
              </a:rPr>
            </a:br>
            <a:r>
              <a:rPr lang="en-US" b="1" dirty="0" smtClean="0">
                <a:latin typeface="Avenir Next Condensed" charset="0"/>
                <a:ea typeface="Avenir Next Condensed" charset="0"/>
                <a:cs typeface="Avenir Next Condensed" charset="0"/>
              </a:rPr>
              <a:t>SDG # 6: Ensure availability and Sustainable management of water and sanitation for all</a:t>
            </a:r>
            <a:br>
              <a:rPr lang="en-US" b="1" dirty="0" smtClean="0">
                <a:latin typeface="Avenir Next Condensed" charset="0"/>
                <a:ea typeface="Avenir Next Condensed" charset="0"/>
                <a:cs typeface="Avenir Next Condensed" charset="0"/>
              </a:rPr>
            </a:br>
            <a:endParaRPr lang="en-US" dirty="0"/>
          </a:p>
        </p:txBody>
      </p:sp>
      <p:pic>
        <p:nvPicPr>
          <p:cNvPr id="3" name="Picture 2"/>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2" y="0"/>
            <a:ext cx="2478505" cy="1690689"/>
          </a:xfrm>
          <a:prstGeom prst="rect">
            <a:avLst/>
          </a:prstGeom>
        </p:spPr>
      </p:pic>
      <p:pic>
        <p:nvPicPr>
          <p:cNvPr id="4" name="Picture 3"/>
          <p:cNvPicPr>
            <a:picLocks noChangeAspect="1"/>
          </p:cNvPicPr>
          <p:nvPr/>
        </p:nvPicPr>
        <p:blipFill rotWithShape="1">
          <a:blip r:embed="rId3" cstate="screen">
            <a:extLst>
              <a:ext uri="{28A0092B-C50C-407E-A947-70E740481C1C}">
                <a14:useLocalDpi xmlns="" xmlns:a14="http://schemas.microsoft.com/office/drawing/2010/main"/>
              </a:ext>
            </a:extLst>
          </a:blip>
          <a:srcRect/>
          <a:stretch/>
        </p:blipFill>
        <p:spPr>
          <a:xfrm>
            <a:off x="0" y="1690689"/>
            <a:ext cx="3874168" cy="2255669"/>
          </a:xfrm>
          <a:prstGeom prst="rect">
            <a:avLst/>
          </a:prstGeom>
        </p:spPr>
      </p:pic>
      <p:pic>
        <p:nvPicPr>
          <p:cNvPr id="5" name="Picture 4"/>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3874168" y="1690689"/>
            <a:ext cx="3946359" cy="2255669"/>
          </a:xfrm>
          <a:prstGeom prst="rect">
            <a:avLst/>
          </a:prstGeom>
        </p:spPr>
      </p:pic>
      <p:pic>
        <p:nvPicPr>
          <p:cNvPr id="6" name="Picture 5"/>
          <p:cNvPicPr>
            <a:picLocks noChangeAspect="1"/>
          </p:cNvPicPr>
          <p:nvPr/>
        </p:nvPicPr>
        <p:blipFill>
          <a:blip r:embed="rId5"/>
          <a:stretch>
            <a:fillRect/>
          </a:stretch>
        </p:blipFill>
        <p:spPr>
          <a:xfrm>
            <a:off x="7820527" y="1690689"/>
            <a:ext cx="4371472" cy="2255669"/>
          </a:xfrm>
          <a:prstGeom prst="rect">
            <a:avLst/>
          </a:prstGeom>
        </p:spPr>
      </p:pic>
      <p:pic>
        <p:nvPicPr>
          <p:cNvPr id="7" name="Picture 6"/>
          <p:cNvPicPr>
            <a:picLocks noChangeAspect="1"/>
          </p:cNvPicPr>
          <p:nvPr/>
        </p:nvPicPr>
        <p:blipFill>
          <a:blip r:embed="rId6"/>
          <a:stretch>
            <a:fillRect/>
          </a:stretch>
        </p:blipFill>
        <p:spPr>
          <a:xfrm>
            <a:off x="1" y="3946358"/>
            <a:ext cx="3874168" cy="2911642"/>
          </a:xfrm>
          <a:prstGeom prst="rect">
            <a:avLst/>
          </a:prstGeom>
        </p:spPr>
      </p:pic>
      <p:pic>
        <p:nvPicPr>
          <p:cNvPr id="8" name="Picture 7"/>
          <p:cNvPicPr>
            <a:picLocks noChangeAspect="1"/>
          </p:cNvPicPr>
          <p:nvPr/>
        </p:nvPicPr>
        <p:blipFill>
          <a:blip r:embed="rId7"/>
          <a:stretch>
            <a:fillRect/>
          </a:stretch>
        </p:blipFill>
        <p:spPr>
          <a:xfrm>
            <a:off x="3874168" y="3946358"/>
            <a:ext cx="3946359" cy="2911642"/>
          </a:xfrm>
          <a:prstGeom prst="rect">
            <a:avLst/>
          </a:prstGeom>
        </p:spPr>
      </p:pic>
      <p:pic>
        <p:nvPicPr>
          <p:cNvPr id="9" name="Picture 8"/>
          <p:cNvPicPr>
            <a:picLocks noChangeAspect="1"/>
          </p:cNvPicPr>
          <p:nvPr/>
        </p:nvPicPr>
        <p:blipFill>
          <a:blip r:embed="rId8"/>
          <a:stretch>
            <a:fillRect/>
          </a:stretch>
        </p:blipFill>
        <p:spPr>
          <a:xfrm>
            <a:off x="7820525" y="3946358"/>
            <a:ext cx="4371473" cy="2911641"/>
          </a:xfrm>
          <a:prstGeom prst="rect">
            <a:avLst/>
          </a:prstGeom>
        </p:spPr>
      </p:pic>
    </p:spTree>
    <p:extLst>
      <p:ext uri="{BB962C8B-B14F-4D97-AF65-F5344CB8AC3E}">
        <p14:creationId xmlns="" xmlns:p14="http://schemas.microsoft.com/office/powerpoint/2010/main" val="184412680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0378" y="1"/>
            <a:ext cx="9761621" cy="2140002"/>
          </a:xfrm>
          <a:solidFill>
            <a:schemeClr val="accent1"/>
          </a:solidFill>
        </p:spPr>
        <p:txBody>
          <a:bodyPr>
            <a:normAutofit/>
          </a:bodyPr>
          <a:lstStyle/>
          <a:p>
            <a:r>
              <a:rPr lang="en-US" b="1" dirty="0" smtClean="0">
                <a:latin typeface="Avenir Next Condensed" charset="0"/>
                <a:ea typeface="Avenir Next Condensed" charset="0"/>
                <a:cs typeface="Avenir Next Condensed" charset="0"/>
              </a:rPr>
              <a:t>SDG # 7: Ensure access to affordable, reliable, sustainable and modern energy for all</a:t>
            </a:r>
            <a:endParaRPr lang="en-US" dirty="0"/>
          </a:p>
        </p:txBody>
      </p:sp>
      <p:pic>
        <p:nvPicPr>
          <p:cNvPr id="3" name="Picture 2"/>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0" y="0"/>
            <a:ext cx="2430378" cy="2140003"/>
          </a:xfrm>
          <a:prstGeom prst="rect">
            <a:avLst/>
          </a:prstGeom>
        </p:spPr>
      </p:pic>
      <p:pic>
        <p:nvPicPr>
          <p:cNvPr id="4" name="Picture 3"/>
          <p:cNvPicPr>
            <a:picLocks noChangeAspect="1"/>
          </p:cNvPicPr>
          <p:nvPr/>
        </p:nvPicPr>
        <p:blipFill rotWithShape="1">
          <a:blip r:embed="rId3" cstate="screen">
            <a:extLst>
              <a:ext uri="{28A0092B-C50C-407E-A947-70E740481C1C}">
                <a14:useLocalDpi xmlns="" xmlns:a14="http://schemas.microsoft.com/office/drawing/2010/main"/>
              </a:ext>
            </a:extLst>
          </a:blip>
          <a:srcRect/>
          <a:stretch/>
        </p:blipFill>
        <p:spPr>
          <a:xfrm>
            <a:off x="-1" y="2140003"/>
            <a:ext cx="3657601" cy="2066722"/>
          </a:xfrm>
          <a:prstGeom prst="rect">
            <a:avLst/>
          </a:prstGeom>
        </p:spPr>
      </p:pic>
      <p:pic>
        <p:nvPicPr>
          <p:cNvPr id="7" name="Picture 6"/>
          <p:cNvPicPr>
            <a:picLocks noChangeAspect="1"/>
          </p:cNvPicPr>
          <p:nvPr/>
        </p:nvPicPr>
        <p:blipFill>
          <a:blip r:embed="rId4"/>
          <a:stretch>
            <a:fillRect/>
          </a:stretch>
        </p:blipFill>
        <p:spPr>
          <a:xfrm>
            <a:off x="0" y="4211052"/>
            <a:ext cx="6087979" cy="2646947"/>
          </a:xfrm>
          <a:prstGeom prst="rect">
            <a:avLst/>
          </a:prstGeom>
        </p:spPr>
      </p:pic>
      <p:pic>
        <p:nvPicPr>
          <p:cNvPr id="8" name="Picture 7"/>
          <p:cNvPicPr>
            <a:picLocks noChangeAspect="1"/>
          </p:cNvPicPr>
          <p:nvPr/>
        </p:nvPicPr>
        <p:blipFill>
          <a:blip r:embed="rId5"/>
          <a:stretch>
            <a:fillRect/>
          </a:stretch>
        </p:blipFill>
        <p:spPr>
          <a:xfrm>
            <a:off x="6087979" y="4206725"/>
            <a:ext cx="6104020" cy="2651274"/>
          </a:xfrm>
          <a:prstGeom prst="rect">
            <a:avLst/>
          </a:prstGeom>
        </p:spPr>
      </p:pic>
      <p:pic>
        <p:nvPicPr>
          <p:cNvPr id="9" name="Picture 8"/>
          <p:cNvPicPr>
            <a:picLocks noChangeAspect="1"/>
          </p:cNvPicPr>
          <p:nvPr/>
        </p:nvPicPr>
        <p:blipFill>
          <a:blip r:embed="rId6"/>
          <a:stretch>
            <a:fillRect/>
          </a:stretch>
        </p:blipFill>
        <p:spPr>
          <a:xfrm>
            <a:off x="7796462" y="2140002"/>
            <a:ext cx="4379495" cy="2066723"/>
          </a:xfrm>
          <a:prstGeom prst="rect">
            <a:avLst/>
          </a:prstGeom>
        </p:spPr>
      </p:pic>
      <p:pic>
        <p:nvPicPr>
          <p:cNvPr id="10" name="Picture 9"/>
          <p:cNvPicPr>
            <a:picLocks noChangeAspect="1"/>
          </p:cNvPicPr>
          <p:nvPr/>
        </p:nvPicPr>
        <p:blipFill>
          <a:blip r:embed="rId7"/>
          <a:stretch>
            <a:fillRect/>
          </a:stretch>
        </p:blipFill>
        <p:spPr>
          <a:xfrm>
            <a:off x="3657600" y="2185987"/>
            <a:ext cx="4138862" cy="2020737"/>
          </a:xfrm>
          <a:prstGeom prst="rect">
            <a:avLst/>
          </a:prstGeom>
        </p:spPr>
      </p:pic>
    </p:spTree>
    <p:extLst>
      <p:ext uri="{BB962C8B-B14F-4D97-AF65-F5344CB8AC3E}">
        <p14:creationId xmlns="" xmlns:p14="http://schemas.microsoft.com/office/powerpoint/2010/main" val="181479265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2806" y="0"/>
            <a:ext cx="9769194" cy="2358189"/>
          </a:xfrm>
          <a:solidFill>
            <a:schemeClr val="accent1"/>
          </a:solidFill>
        </p:spPr>
        <p:txBody>
          <a:bodyPr>
            <a:normAutofit fontScale="90000"/>
          </a:bodyPr>
          <a:lstStyle/>
          <a:p>
            <a:r>
              <a:rPr lang="en-US" b="1" dirty="0" smtClean="0">
                <a:latin typeface="Avenir Next Condensed" charset="0"/>
                <a:ea typeface="Avenir Next Condensed" charset="0"/>
                <a:cs typeface="Avenir Next Condensed" charset="0"/>
              </a:rPr>
              <a:t/>
            </a:r>
            <a:br>
              <a:rPr lang="en-US" b="1" dirty="0" smtClean="0">
                <a:latin typeface="Avenir Next Condensed" charset="0"/>
                <a:ea typeface="Avenir Next Condensed" charset="0"/>
                <a:cs typeface="Avenir Next Condensed" charset="0"/>
              </a:rPr>
            </a:br>
            <a:r>
              <a:rPr lang="en-US" b="1" dirty="0" smtClean="0">
                <a:latin typeface="Avenir Next Condensed" charset="0"/>
                <a:ea typeface="Avenir Next Condensed" charset="0"/>
                <a:cs typeface="Avenir Next Condensed" charset="0"/>
              </a:rPr>
              <a:t>SDG # 8: Promote sustained, inclusive and sustainable economic growth, full and productive employment and decent work for all</a:t>
            </a:r>
            <a:br>
              <a:rPr lang="en-US" b="1" dirty="0" smtClean="0">
                <a:latin typeface="Avenir Next Condensed" charset="0"/>
                <a:ea typeface="Avenir Next Condensed" charset="0"/>
                <a:cs typeface="Avenir Next Condensed" charset="0"/>
              </a:rPr>
            </a:br>
            <a:endParaRPr lang="en-US" dirty="0"/>
          </a:p>
        </p:txBody>
      </p:sp>
      <p:pic>
        <p:nvPicPr>
          <p:cNvPr id="3" name="Picture 2"/>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0" y="-1"/>
            <a:ext cx="2422807" cy="2358189"/>
          </a:xfrm>
          <a:prstGeom prst="rect">
            <a:avLst/>
          </a:prstGeom>
        </p:spPr>
      </p:pic>
      <p:pic>
        <p:nvPicPr>
          <p:cNvPr id="4" name="Picture 3"/>
          <p:cNvPicPr>
            <a:picLocks noChangeAspect="1"/>
          </p:cNvPicPr>
          <p:nvPr/>
        </p:nvPicPr>
        <p:blipFill>
          <a:blip r:embed="rId3"/>
          <a:stretch>
            <a:fillRect/>
          </a:stretch>
        </p:blipFill>
        <p:spPr>
          <a:xfrm>
            <a:off x="1" y="4523874"/>
            <a:ext cx="4355432" cy="2334125"/>
          </a:xfrm>
          <a:prstGeom prst="rect">
            <a:avLst/>
          </a:prstGeom>
        </p:spPr>
      </p:pic>
      <p:pic>
        <p:nvPicPr>
          <p:cNvPr id="5" name="Picture 4"/>
          <p:cNvPicPr>
            <a:picLocks noChangeAspect="1"/>
          </p:cNvPicPr>
          <p:nvPr/>
        </p:nvPicPr>
        <p:blipFill>
          <a:blip r:embed="rId4"/>
          <a:stretch>
            <a:fillRect/>
          </a:stretch>
        </p:blipFill>
        <p:spPr>
          <a:xfrm>
            <a:off x="0" y="2358188"/>
            <a:ext cx="4355433" cy="2165685"/>
          </a:xfrm>
          <a:prstGeom prst="rect">
            <a:avLst/>
          </a:prstGeom>
        </p:spPr>
      </p:pic>
      <p:pic>
        <p:nvPicPr>
          <p:cNvPr id="6" name="Picture 5"/>
          <p:cNvPicPr>
            <a:picLocks noChangeAspect="1"/>
          </p:cNvPicPr>
          <p:nvPr/>
        </p:nvPicPr>
        <p:blipFill>
          <a:blip r:embed="rId5" cstate="print"/>
          <a:stretch>
            <a:fillRect/>
          </a:stretch>
        </p:blipFill>
        <p:spPr>
          <a:xfrm>
            <a:off x="4355434" y="2358188"/>
            <a:ext cx="3970420" cy="2165686"/>
          </a:xfrm>
          <a:prstGeom prst="rect">
            <a:avLst/>
          </a:prstGeom>
        </p:spPr>
      </p:pic>
      <p:pic>
        <p:nvPicPr>
          <p:cNvPr id="7" name="Picture 6"/>
          <p:cNvPicPr>
            <a:picLocks noChangeAspect="1"/>
          </p:cNvPicPr>
          <p:nvPr/>
        </p:nvPicPr>
        <p:blipFill>
          <a:blip r:embed="rId6"/>
          <a:stretch>
            <a:fillRect/>
          </a:stretch>
        </p:blipFill>
        <p:spPr>
          <a:xfrm>
            <a:off x="8325854" y="2358187"/>
            <a:ext cx="3866145" cy="2165686"/>
          </a:xfrm>
          <a:prstGeom prst="rect">
            <a:avLst/>
          </a:prstGeom>
        </p:spPr>
      </p:pic>
      <p:pic>
        <p:nvPicPr>
          <p:cNvPr id="8" name="Picture 7"/>
          <p:cNvPicPr>
            <a:picLocks noChangeAspect="1"/>
          </p:cNvPicPr>
          <p:nvPr/>
        </p:nvPicPr>
        <p:blipFill>
          <a:blip r:embed="rId7"/>
          <a:stretch>
            <a:fillRect/>
          </a:stretch>
        </p:blipFill>
        <p:spPr>
          <a:xfrm>
            <a:off x="4355433" y="4523873"/>
            <a:ext cx="3970419" cy="2334127"/>
          </a:xfrm>
          <a:prstGeom prst="rect">
            <a:avLst/>
          </a:prstGeom>
        </p:spPr>
      </p:pic>
      <p:pic>
        <p:nvPicPr>
          <p:cNvPr id="9" name="Picture 8"/>
          <p:cNvPicPr>
            <a:picLocks noChangeAspect="1"/>
          </p:cNvPicPr>
          <p:nvPr/>
        </p:nvPicPr>
        <p:blipFill>
          <a:blip r:embed="rId8"/>
          <a:stretch>
            <a:fillRect/>
          </a:stretch>
        </p:blipFill>
        <p:spPr>
          <a:xfrm>
            <a:off x="8325853" y="4523872"/>
            <a:ext cx="3866146" cy="2334128"/>
          </a:xfrm>
          <a:prstGeom prst="rect">
            <a:avLst/>
          </a:prstGeom>
        </p:spPr>
      </p:pic>
    </p:spTree>
    <p:extLst>
      <p:ext uri="{BB962C8B-B14F-4D97-AF65-F5344CB8AC3E}">
        <p14:creationId xmlns="" xmlns:p14="http://schemas.microsoft.com/office/powerpoint/2010/main" val="216619356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20236" y="1"/>
            <a:ext cx="9971763" cy="1847088"/>
          </a:xfrm>
          <a:solidFill>
            <a:schemeClr val="accent1"/>
          </a:solidFill>
        </p:spPr>
        <p:txBody>
          <a:bodyPr>
            <a:normAutofit fontScale="90000"/>
          </a:bodyPr>
          <a:lstStyle/>
          <a:p>
            <a:r>
              <a:rPr lang="en-US" b="1" dirty="0" smtClean="0">
                <a:latin typeface="Avenir Next Condensed" charset="0"/>
                <a:ea typeface="Avenir Next Condensed" charset="0"/>
                <a:cs typeface="Avenir Next Condensed" charset="0"/>
              </a:rPr>
              <a:t/>
            </a:r>
            <a:br>
              <a:rPr lang="en-US" b="1" dirty="0" smtClean="0">
                <a:latin typeface="Avenir Next Condensed" charset="0"/>
                <a:ea typeface="Avenir Next Condensed" charset="0"/>
                <a:cs typeface="Avenir Next Condensed" charset="0"/>
              </a:rPr>
            </a:br>
            <a:r>
              <a:rPr lang="en-US" b="1" dirty="0" smtClean="0">
                <a:latin typeface="Avenir Next Condensed" charset="0"/>
                <a:ea typeface="Avenir Next Condensed" charset="0"/>
                <a:cs typeface="Avenir Next Condensed" charset="0"/>
              </a:rPr>
              <a:t>SDG # 9: Build resilient infrastructure, promote inclusive and sustainable industrialization and foster innovation</a:t>
            </a:r>
            <a:br>
              <a:rPr lang="en-US" b="1" dirty="0" smtClean="0">
                <a:latin typeface="Avenir Next Condensed" charset="0"/>
                <a:ea typeface="Avenir Next Condensed" charset="0"/>
                <a:cs typeface="Avenir Next Condensed" charset="0"/>
              </a:rPr>
            </a:br>
            <a:endParaRPr lang="en-US" dirty="0"/>
          </a:p>
        </p:txBody>
      </p:sp>
      <p:pic>
        <p:nvPicPr>
          <p:cNvPr id="3" name="Picture 2"/>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1" y="0"/>
            <a:ext cx="2220236" cy="1847088"/>
          </a:xfrm>
          <a:prstGeom prst="rect">
            <a:avLst/>
          </a:prstGeom>
        </p:spPr>
      </p:pic>
      <p:pic>
        <p:nvPicPr>
          <p:cNvPr id="5" name="Picture 4"/>
          <p:cNvPicPr>
            <a:picLocks noChangeAspect="1"/>
          </p:cNvPicPr>
          <p:nvPr/>
        </p:nvPicPr>
        <p:blipFill>
          <a:blip r:embed="rId3"/>
          <a:stretch>
            <a:fillRect/>
          </a:stretch>
        </p:blipFill>
        <p:spPr>
          <a:xfrm>
            <a:off x="8109284" y="1847088"/>
            <a:ext cx="4082715" cy="2269156"/>
          </a:xfrm>
          <a:prstGeom prst="rect">
            <a:avLst/>
          </a:prstGeom>
        </p:spPr>
      </p:pic>
      <p:pic>
        <p:nvPicPr>
          <p:cNvPr id="6" name="Picture 5"/>
          <p:cNvPicPr>
            <a:picLocks noChangeAspect="1"/>
          </p:cNvPicPr>
          <p:nvPr/>
        </p:nvPicPr>
        <p:blipFill>
          <a:blip r:embed="rId4"/>
          <a:stretch>
            <a:fillRect/>
          </a:stretch>
        </p:blipFill>
        <p:spPr>
          <a:xfrm>
            <a:off x="0" y="4116244"/>
            <a:ext cx="3609474" cy="2741755"/>
          </a:xfrm>
          <a:prstGeom prst="rect">
            <a:avLst/>
          </a:prstGeom>
        </p:spPr>
      </p:pic>
      <p:pic>
        <p:nvPicPr>
          <p:cNvPr id="7" name="Picture 6"/>
          <p:cNvPicPr>
            <a:picLocks noChangeAspect="1"/>
          </p:cNvPicPr>
          <p:nvPr/>
        </p:nvPicPr>
        <p:blipFill>
          <a:blip r:embed="rId5"/>
          <a:stretch>
            <a:fillRect/>
          </a:stretch>
        </p:blipFill>
        <p:spPr>
          <a:xfrm>
            <a:off x="3609475" y="4116244"/>
            <a:ext cx="4499810" cy="2741756"/>
          </a:xfrm>
          <a:prstGeom prst="rect">
            <a:avLst/>
          </a:prstGeom>
        </p:spPr>
      </p:pic>
      <p:pic>
        <p:nvPicPr>
          <p:cNvPr id="8" name="Picture 7"/>
          <p:cNvPicPr>
            <a:picLocks noChangeAspect="1"/>
          </p:cNvPicPr>
          <p:nvPr/>
        </p:nvPicPr>
        <p:blipFill>
          <a:blip r:embed="rId6"/>
          <a:stretch>
            <a:fillRect/>
          </a:stretch>
        </p:blipFill>
        <p:spPr>
          <a:xfrm>
            <a:off x="8109285" y="4116244"/>
            <a:ext cx="4082715" cy="2741755"/>
          </a:xfrm>
          <a:prstGeom prst="rect">
            <a:avLst/>
          </a:prstGeom>
        </p:spPr>
      </p:pic>
      <p:pic>
        <p:nvPicPr>
          <p:cNvPr id="9" name="Picture 8"/>
          <p:cNvPicPr>
            <a:picLocks noChangeAspect="1"/>
          </p:cNvPicPr>
          <p:nvPr/>
        </p:nvPicPr>
        <p:blipFill>
          <a:blip r:embed="rId7">
            <a:extLst>
              <a:ext uri="{28A0092B-C50C-407E-A947-70E740481C1C}">
                <a14:useLocalDpi xmlns="" xmlns:a14="http://schemas.microsoft.com/office/drawing/2010/main" val="0"/>
              </a:ext>
            </a:extLst>
          </a:blip>
          <a:stretch>
            <a:fillRect/>
          </a:stretch>
        </p:blipFill>
        <p:spPr>
          <a:xfrm>
            <a:off x="3609474" y="1847088"/>
            <a:ext cx="4499809" cy="2269156"/>
          </a:xfrm>
          <a:prstGeom prst="rect">
            <a:avLst/>
          </a:prstGeom>
        </p:spPr>
      </p:pic>
      <p:pic>
        <p:nvPicPr>
          <p:cNvPr id="10" name="Picture 9"/>
          <p:cNvPicPr>
            <a:picLocks noChangeAspect="1"/>
          </p:cNvPicPr>
          <p:nvPr/>
        </p:nvPicPr>
        <p:blipFill>
          <a:blip r:embed="rId8">
            <a:extLst>
              <a:ext uri="{28A0092B-C50C-407E-A947-70E740481C1C}">
                <a14:useLocalDpi xmlns="" xmlns:a14="http://schemas.microsoft.com/office/drawing/2010/main" val="0"/>
              </a:ext>
            </a:extLst>
          </a:blip>
          <a:stretch>
            <a:fillRect/>
          </a:stretch>
        </p:blipFill>
        <p:spPr>
          <a:xfrm>
            <a:off x="0" y="1847088"/>
            <a:ext cx="3609473" cy="2269155"/>
          </a:xfrm>
          <a:prstGeom prst="rect">
            <a:avLst/>
          </a:prstGeom>
        </p:spPr>
      </p:pic>
    </p:spTree>
    <p:extLst>
      <p:ext uri="{BB962C8B-B14F-4D97-AF65-F5344CB8AC3E}">
        <p14:creationId xmlns="" xmlns:p14="http://schemas.microsoft.com/office/powerpoint/2010/main" val="236756446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95074" y="1"/>
            <a:ext cx="9496926" cy="1847088"/>
          </a:xfrm>
          <a:solidFill>
            <a:schemeClr val="accent1"/>
          </a:solidFill>
        </p:spPr>
        <p:txBody>
          <a:bodyPr>
            <a:normAutofit fontScale="90000"/>
          </a:bodyPr>
          <a:lstStyle/>
          <a:p>
            <a:r>
              <a:rPr lang="en-US" b="1" dirty="0" smtClean="0">
                <a:latin typeface="Avenir Next Condensed" charset="0"/>
                <a:ea typeface="Avenir Next Condensed" charset="0"/>
                <a:cs typeface="Avenir Next Condensed" charset="0"/>
              </a:rPr>
              <a:t/>
            </a:r>
            <a:br>
              <a:rPr lang="en-US" b="1" dirty="0" smtClean="0">
                <a:latin typeface="Avenir Next Condensed" charset="0"/>
                <a:ea typeface="Avenir Next Condensed" charset="0"/>
                <a:cs typeface="Avenir Next Condensed" charset="0"/>
              </a:rPr>
            </a:br>
            <a:r>
              <a:rPr lang="en-US" b="1" dirty="0" smtClean="0">
                <a:latin typeface="Avenir Next Condensed" charset="0"/>
                <a:ea typeface="Avenir Next Condensed" charset="0"/>
                <a:cs typeface="Avenir Next Condensed" charset="0"/>
              </a:rPr>
              <a:t>SDG # 10: Reduce inequality within and among countries</a:t>
            </a:r>
            <a:br>
              <a:rPr lang="en-US" b="1" dirty="0" smtClean="0">
                <a:latin typeface="Avenir Next Condensed" charset="0"/>
                <a:ea typeface="Avenir Next Condensed" charset="0"/>
                <a:cs typeface="Avenir Next Condensed" charset="0"/>
              </a:rPr>
            </a:br>
            <a:endParaRPr lang="en-US" dirty="0"/>
          </a:p>
        </p:txBody>
      </p:sp>
      <p:pic>
        <p:nvPicPr>
          <p:cNvPr id="3" name="Picture 2"/>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1" y="1"/>
            <a:ext cx="2695073" cy="1847088"/>
          </a:xfrm>
          <a:prstGeom prst="rect">
            <a:avLst/>
          </a:prstGeom>
        </p:spPr>
      </p:pic>
      <p:pic>
        <p:nvPicPr>
          <p:cNvPr id="4" name="Picture 2" descr="10: Reduce inequality within and am"/>
          <p:cNvPicPr>
            <a:picLocks noChangeAspect="1" noChangeArrowheads="1"/>
          </p:cNvPicPr>
          <p:nvPr/>
        </p:nvPicPr>
        <p:blipFill rotWithShape="1">
          <a:blip r:embed="rId3" cstate="screen">
            <a:extLst>
              <a:ext uri="{28A0092B-C50C-407E-A947-70E740481C1C}">
                <a14:useLocalDpi xmlns="" xmlns:a14="http://schemas.microsoft.com/office/drawing/2010/main"/>
              </a:ext>
            </a:extLst>
          </a:blip>
          <a:srcRect r="-121"/>
          <a:stretch/>
        </p:blipFill>
        <p:spPr bwMode="auto">
          <a:xfrm>
            <a:off x="1" y="1847089"/>
            <a:ext cx="3753852" cy="2310063"/>
          </a:xfrm>
          <a:prstGeom prst="rect">
            <a:avLst/>
          </a:prstGeom>
          <a:noFill/>
          <a:extLst>
            <a:ext uri="{909E8E84-426E-40DD-AFC4-6F175D3DCCD1}">
              <a14:hiddenFill xmlns=""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3753854" y="1817252"/>
            <a:ext cx="4403558" cy="2339900"/>
          </a:xfrm>
          <a:prstGeom prst="rect">
            <a:avLst/>
          </a:prstGeom>
        </p:spPr>
      </p:pic>
      <p:pic>
        <p:nvPicPr>
          <p:cNvPr id="6" name="Picture 5"/>
          <p:cNvPicPr>
            <a:picLocks noChangeAspect="1"/>
          </p:cNvPicPr>
          <p:nvPr/>
        </p:nvPicPr>
        <p:blipFill>
          <a:blip r:embed="rId5"/>
          <a:stretch>
            <a:fillRect/>
          </a:stretch>
        </p:blipFill>
        <p:spPr>
          <a:xfrm>
            <a:off x="8157412" y="1847089"/>
            <a:ext cx="4034588" cy="2310063"/>
          </a:xfrm>
          <a:prstGeom prst="rect">
            <a:avLst/>
          </a:prstGeom>
        </p:spPr>
      </p:pic>
      <p:pic>
        <p:nvPicPr>
          <p:cNvPr id="7" name="Picture 6"/>
          <p:cNvPicPr>
            <a:picLocks noChangeAspect="1"/>
          </p:cNvPicPr>
          <p:nvPr/>
        </p:nvPicPr>
        <p:blipFill>
          <a:blip r:embed="rId6"/>
          <a:stretch>
            <a:fillRect/>
          </a:stretch>
        </p:blipFill>
        <p:spPr>
          <a:xfrm>
            <a:off x="0" y="4157152"/>
            <a:ext cx="3753853" cy="2700848"/>
          </a:xfrm>
          <a:prstGeom prst="rect">
            <a:avLst/>
          </a:prstGeom>
        </p:spPr>
      </p:pic>
      <p:pic>
        <p:nvPicPr>
          <p:cNvPr id="8" name="Picture 7"/>
          <p:cNvPicPr>
            <a:picLocks noChangeAspect="1"/>
          </p:cNvPicPr>
          <p:nvPr/>
        </p:nvPicPr>
        <p:blipFill>
          <a:blip r:embed="rId7"/>
          <a:stretch>
            <a:fillRect/>
          </a:stretch>
        </p:blipFill>
        <p:spPr>
          <a:xfrm>
            <a:off x="3753853" y="4157153"/>
            <a:ext cx="4403559" cy="2700848"/>
          </a:xfrm>
          <a:prstGeom prst="rect">
            <a:avLst/>
          </a:prstGeom>
        </p:spPr>
      </p:pic>
      <p:pic>
        <p:nvPicPr>
          <p:cNvPr id="9" name="Picture 8"/>
          <p:cNvPicPr>
            <a:picLocks noChangeAspect="1"/>
          </p:cNvPicPr>
          <p:nvPr/>
        </p:nvPicPr>
        <p:blipFill>
          <a:blip r:embed="rId8" cstate="print"/>
          <a:stretch>
            <a:fillRect/>
          </a:stretch>
        </p:blipFill>
        <p:spPr>
          <a:xfrm>
            <a:off x="8157412" y="4157152"/>
            <a:ext cx="4034587" cy="2700848"/>
          </a:xfrm>
          <a:prstGeom prst="rect">
            <a:avLst/>
          </a:prstGeom>
        </p:spPr>
      </p:pic>
    </p:spTree>
    <p:extLst>
      <p:ext uri="{BB962C8B-B14F-4D97-AF65-F5344CB8AC3E}">
        <p14:creationId xmlns="" xmlns:p14="http://schemas.microsoft.com/office/powerpoint/2010/main" val="343239948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400" y="14748"/>
            <a:ext cx="8991600" cy="1847087"/>
          </a:xfrm>
          <a:solidFill>
            <a:schemeClr val="accent1"/>
          </a:solidFill>
        </p:spPr>
        <p:txBody>
          <a:bodyPr>
            <a:normAutofit fontScale="90000"/>
          </a:bodyPr>
          <a:lstStyle/>
          <a:p>
            <a:r>
              <a:rPr lang="en-US" b="1" dirty="0" smtClean="0">
                <a:latin typeface="Avenir Next Condensed" charset="0"/>
                <a:ea typeface="Avenir Next Condensed" charset="0"/>
                <a:cs typeface="Avenir Next Condensed" charset="0"/>
              </a:rPr>
              <a:t/>
            </a:r>
            <a:br>
              <a:rPr lang="en-US" b="1" dirty="0" smtClean="0">
                <a:latin typeface="Avenir Next Condensed" charset="0"/>
                <a:ea typeface="Avenir Next Condensed" charset="0"/>
                <a:cs typeface="Avenir Next Condensed" charset="0"/>
              </a:rPr>
            </a:br>
            <a:r>
              <a:rPr lang="en-US" b="1" dirty="0" smtClean="0">
                <a:latin typeface="Avenir Next Condensed" charset="0"/>
                <a:ea typeface="Avenir Next Condensed" charset="0"/>
                <a:cs typeface="Avenir Next Condensed" charset="0"/>
              </a:rPr>
              <a:t>SDG # 11: Make cities and human settlements  inclusive, safe, resilient and sustainable</a:t>
            </a:r>
            <a:br>
              <a:rPr lang="en-US" b="1" dirty="0" smtClean="0">
                <a:latin typeface="Avenir Next Condensed" charset="0"/>
                <a:ea typeface="Avenir Next Condensed" charset="0"/>
                <a:cs typeface="Avenir Next Condensed" charset="0"/>
              </a:rPr>
            </a:br>
            <a:endParaRPr lang="en-US" dirty="0"/>
          </a:p>
        </p:txBody>
      </p:sp>
      <p:pic>
        <p:nvPicPr>
          <p:cNvPr id="3" name="Picture 2"/>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2" y="14748"/>
            <a:ext cx="3200402" cy="1847088"/>
          </a:xfrm>
          <a:prstGeom prst="rect">
            <a:avLst/>
          </a:prstGeom>
        </p:spPr>
      </p:pic>
      <p:pic>
        <p:nvPicPr>
          <p:cNvPr id="4" name="Picture 3"/>
          <p:cNvPicPr>
            <a:picLocks noChangeAspect="1"/>
          </p:cNvPicPr>
          <p:nvPr/>
        </p:nvPicPr>
        <p:blipFill>
          <a:blip r:embed="rId3"/>
          <a:stretch>
            <a:fillRect/>
          </a:stretch>
        </p:blipFill>
        <p:spPr>
          <a:xfrm>
            <a:off x="-1" y="1846744"/>
            <a:ext cx="4066676" cy="2123677"/>
          </a:xfrm>
          <a:prstGeom prst="rect">
            <a:avLst/>
          </a:prstGeom>
        </p:spPr>
      </p:pic>
      <p:pic>
        <p:nvPicPr>
          <p:cNvPr id="5" name="Picture 4"/>
          <p:cNvPicPr>
            <a:picLocks noChangeAspect="1"/>
          </p:cNvPicPr>
          <p:nvPr/>
        </p:nvPicPr>
        <p:blipFill>
          <a:blip r:embed="rId4" cstate="print"/>
          <a:stretch>
            <a:fillRect/>
          </a:stretch>
        </p:blipFill>
        <p:spPr>
          <a:xfrm>
            <a:off x="4066675" y="1846744"/>
            <a:ext cx="3801977" cy="2123677"/>
          </a:xfrm>
          <a:prstGeom prst="rect">
            <a:avLst/>
          </a:prstGeom>
        </p:spPr>
      </p:pic>
      <p:pic>
        <p:nvPicPr>
          <p:cNvPr id="6" name="Content Placeholder 3"/>
          <p:cNvPicPr>
            <a:picLocks noChangeAspect="1"/>
          </p:cNvPicPr>
          <p:nvPr/>
        </p:nvPicPr>
        <p:blipFill>
          <a:blip r:embed="rId5"/>
          <a:stretch>
            <a:fillRect/>
          </a:stretch>
        </p:blipFill>
        <p:spPr>
          <a:xfrm>
            <a:off x="7868653" y="1846744"/>
            <a:ext cx="4323348" cy="2123677"/>
          </a:xfrm>
          <a:prstGeom prst="rect">
            <a:avLst/>
          </a:prstGeom>
        </p:spPr>
      </p:pic>
      <p:pic>
        <p:nvPicPr>
          <p:cNvPr id="7" name="Picture 6"/>
          <p:cNvPicPr>
            <a:picLocks noChangeAspect="1"/>
          </p:cNvPicPr>
          <p:nvPr/>
        </p:nvPicPr>
        <p:blipFill>
          <a:blip r:embed="rId6"/>
          <a:stretch>
            <a:fillRect/>
          </a:stretch>
        </p:blipFill>
        <p:spPr>
          <a:xfrm>
            <a:off x="0" y="3970421"/>
            <a:ext cx="4066675" cy="2887579"/>
          </a:xfrm>
          <a:prstGeom prst="rect">
            <a:avLst/>
          </a:prstGeom>
        </p:spPr>
      </p:pic>
      <p:pic>
        <p:nvPicPr>
          <p:cNvPr id="8" name="Picture 7"/>
          <p:cNvPicPr>
            <a:picLocks noChangeAspect="1"/>
          </p:cNvPicPr>
          <p:nvPr/>
        </p:nvPicPr>
        <p:blipFill>
          <a:blip r:embed="rId7"/>
          <a:stretch>
            <a:fillRect/>
          </a:stretch>
        </p:blipFill>
        <p:spPr>
          <a:xfrm>
            <a:off x="4066675" y="3994484"/>
            <a:ext cx="3886198" cy="2863516"/>
          </a:xfrm>
          <a:prstGeom prst="rect">
            <a:avLst/>
          </a:prstGeom>
        </p:spPr>
      </p:pic>
      <p:pic>
        <p:nvPicPr>
          <p:cNvPr id="9" name="Picture 8"/>
          <p:cNvPicPr>
            <a:picLocks noChangeAspect="1"/>
          </p:cNvPicPr>
          <p:nvPr/>
        </p:nvPicPr>
        <p:blipFill>
          <a:blip r:embed="rId8"/>
          <a:stretch>
            <a:fillRect/>
          </a:stretch>
        </p:blipFill>
        <p:spPr>
          <a:xfrm>
            <a:off x="7868652" y="3994484"/>
            <a:ext cx="4323348" cy="2863516"/>
          </a:xfrm>
          <a:prstGeom prst="rect">
            <a:avLst/>
          </a:prstGeom>
        </p:spPr>
      </p:pic>
    </p:spTree>
    <p:extLst>
      <p:ext uri="{BB962C8B-B14F-4D97-AF65-F5344CB8AC3E}">
        <p14:creationId xmlns="" xmlns:p14="http://schemas.microsoft.com/office/powerpoint/2010/main" val="170732411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95074" y="1"/>
            <a:ext cx="9496926" cy="1847086"/>
          </a:xfrm>
          <a:solidFill>
            <a:schemeClr val="accent1"/>
          </a:solidFill>
        </p:spPr>
        <p:txBody>
          <a:bodyPr>
            <a:normAutofit fontScale="90000"/>
          </a:bodyPr>
          <a:lstStyle/>
          <a:p>
            <a:r>
              <a:rPr lang="en-US" b="1" dirty="0" smtClean="0">
                <a:latin typeface="Avenir Next Condensed" charset="0"/>
                <a:ea typeface="Avenir Next Condensed" charset="0"/>
                <a:cs typeface="Avenir Next Condensed" charset="0"/>
              </a:rPr>
              <a:t/>
            </a:r>
            <a:br>
              <a:rPr lang="en-US" b="1" dirty="0" smtClean="0">
                <a:latin typeface="Avenir Next Condensed" charset="0"/>
                <a:ea typeface="Avenir Next Condensed" charset="0"/>
                <a:cs typeface="Avenir Next Condensed" charset="0"/>
              </a:rPr>
            </a:br>
            <a:r>
              <a:rPr lang="en-US" b="1" dirty="0" smtClean="0">
                <a:latin typeface="Avenir Next Condensed" charset="0"/>
                <a:ea typeface="Avenir Next Condensed" charset="0"/>
                <a:cs typeface="Avenir Next Condensed" charset="0"/>
              </a:rPr>
              <a:t>SDG # 12: Ensure sustainable consumption and production patterns</a:t>
            </a:r>
            <a:br>
              <a:rPr lang="en-US" b="1" dirty="0" smtClean="0">
                <a:latin typeface="Avenir Next Condensed" charset="0"/>
                <a:ea typeface="Avenir Next Condensed" charset="0"/>
                <a:cs typeface="Avenir Next Condensed" charset="0"/>
              </a:rPr>
            </a:br>
            <a:endParaRPr lang="en-US" dirty="0"/>
          </a:p>
        </p:txBody>
      </p:sp>
      <p:pic>
        <p:nvPicPr>
          <p:cNvPr id="3" name="Picture 2"/>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2" y="-1"/>
            <a:ext cx="2695075" cy="1847088"/>
          </a:xfrm>
          <a:prstGeom prst="rect">
            <a:avLst/>
          </a:prstGeom>
        </p:spPr>
      </p:pic>
      <p:pic>
        <p:nvPicPr>
          <p:cNvPr id="4" name="Picture 3"/>
          <p:cNvPicPr>
            <a:picLocks noChangeAspect="1"/>
          </p:cNvPicPr>
          <p:nvPr/>
        </p:nvPicPr>
        <p:blipFill rotWithShape="1">
          <a:blip r:embed="rId3" cstate="screen">
            <a:extLst>
              <a:ext uri="{28A0092B-C50C-407E-A947-70E740481C1C}">
                <a14:useLocalDpi xmlns="" xmlns:a14="http://schemas.microsoft.com/office/drawing/2010/main"/>
              </a:ext>
            </a:extLst>
          </a:blip>
          <a:srcRect/>
          <a:stretch/>
        </p:blipFill>
        <p:spPr>
          <a:xfrm>
            <a:off x="-3" y="1847087"/>
            <a:ext cx="5654843" cy="2406316"/>
          </a:xfrm>
          <a:prstGeom prst="rect">
            <a:avLst/>
          </a:prstGeom>
        </p:spPr>
      </p:pic>
      <p:pic>
        <p:nvPicPr>
          <p:cNvPr id="5" name="Picture 4"/>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5654842" y="1847087"/>
            <a:ext cx="6537158" cy="2406316"/>
          </a:xfrm>
          <a:prstGeom prst="rect">
            <a:avLst/>
          </a:prstGeom>
        </p:spPr>
      </p:pic>
      <p:pic>
        <p:nvPicPr>
          <p:cNvPr id="6" name="Picture 5"/>
          <p:cNvPicPr>
            <a:picLocks noChangeAspect="1"/>
          </p:cNvPicPr>
          <p:nvPr/>
        </p:nvPicPr>
        <p:blipFill>
          <a:blip r:embed="rId5"/>
          <a:stretch>
            <a:fillRect/>
          </a:stretch>
        </p:blipFill>
        <p:spPr>
          <a:xfrm>
            <a:off x="-3" y="4253403"/>
            <a:ext cx="4066677" cy="2604597"/>
          </a:xfrm>
          <a:prstGeom prst="rect">
            <a:avLst/>
          </a:prstGeom>
        </p:spPr>
      </p:pic>
      <p:pic>
        <p:nvPicPr>
          <p:cNvPr id="7" name="Picture 6"/>
          <p:cNvPicPr>
            <a:picLocks noChangeAspect="1"/>
          </p:cNvPicPr>
          <p:nvPr/>
        </p:nvPicPr>
        <p:blipFill>
          <a:blip r:embed="rId6"/>
          <a:stretch>
            <a:fillRect/>
          </a:stretch>
        </p:blipFill>
        <p:spPr>
          <a:xfrm>
            <a:off x="4066675" y="4253403"/>
            <a:ext cx="4114800" cy="2604597"/>
          </a:xfrm>
          <a:prstGeom prst="rect">
            <a:avLst/>
          </a:prstGeom>
        </p:spPr>
      </p:pic>
      <p:pic>
        <p:nvPicPr>
          <p:cNvPr id="8" name="Picture 7"/>
          <p:cNvPicPr>
            <a:picLocks noChangeAspect="1"/>
          </p:cNvPicPr>
          <p:nvPr/>
        </p:nvPicPr>
        <p:blipFill>
          <a:blip r:embed="rId7"/>
          <a:stretch>
            <a:fillRect/>
          </a:stretch>
        </p:blipFill>
        <p:spPr>
          <a:xfrm>
            <a:off x="8181475" y="4253403"/>
            <a:ext cx="4010524" cy="2604597"/>
          </a:xfrm>
          <a:prstGeom prst="rect">
            <a:avLst/>
          </a:prstGeom>
        </p:spPr>
      </p:pic>
    </p:spTree>
    <p:extLst>
      <p:ext uri="{BB962C8B-B14F-4D97-AF65-F5344CB8AC3E}">
        <p14:creationId xmlns="" xmlns:p14="http://schemas.microsoft.com/office/powerpoint/2010/main" val="191641405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22884" y="1"/>
            <a:ext cx="9569116" cy="1847086"/>
          </a:xfrm>
          <a:solidFill>
            <a:schemeClr val="accent1"/>
          </a:solidFill>
        </p:spPr>
        <p:txBody>
          <a:bodyPr>
            <a:normAutofit fontScale="90000"/>
          </a:bodyPr>
          <a:lstStyle/>
          <a:p>
            <a:r>
              <a:rPr lang="en-US" b="1" dirty="0" smtClean="0">
                <a:latin typeface="Avenir Next Condensed" charset="0"/>
                <a:ea typeface="Avenir Next Condensed" charset="0"/>
                <a:cs typeface="Avenir Next Condensed" charset="0"/>
              </a:rPr>
              <a:t/>
            </a:r>
            <a:br>
              <a:rPr lang="en-US" b="1" dirty="0" smtClean="0">
                <a:latin typeface="Avenir Next Condensed" charset="0"/>
                <a:ea typeface="Avenir Next Condensed" charset="0"/>
                <a:cs typeface="Avenir Next Condensed" charset="0"/>
              </a:rPr>
            </a:br>
            <a:r>
              <a:rPr lang="en-US" b="1" dirty="0" smtClean="0">
                <a:latin typeface="Avenir Next Condensed" charset="0"/>
                <a:ea typeface="Avenir Next Condensed" charset="0"/>
                <a:cs typeface="Avenir Next Condensed" charset="0"/>
              </a:rPr>
              <a:t>SDG # 13: Take urgent action to combat climate change and its impacts</a:t>
            </a:r>
            <a:br>
              <a:rPr lang="en-US" b="1" dirty="0" smtClean="0">
                <a:latin typeface="Avenir Next Condensed" charset="0"/>
                <a:ea typeface="Avenir Next Condensed" charset="0"/>
                <a:cs typeface="Avenir Next Condensed" charset="0"/>
              </a:rPr>
            </a:br>
            <a:endParaRPr lang="en-US" dirty="0"/>
          </a:p>
        </p:txBody>
      </p:sp>
      <p:pic>
        <p:nvPicPr>
          <p:cNvPr id="3" name="Picture 2"/>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0" y="-1"/>
            <a:ext cx="2622884" cy="1847088"/>
          </a:xfrm>
          <a:prstGeom prst="rect">
            <a:avLst/>
          </a:prstGeom>
        </p:spPr>
      </p:pic>
      <p:pic>
        <p:nvPicPr>
          <p:cNvPr id="4" name="Picture 2" descr="13: Take urgent action to combat cl"/>
          <p:cNvPicPr>
            <a:picLocks noChangeAspect="1" noChangeArrowheads="1"/>
          </p:cNvPicPr>
          <p:nvPr/>
        </p:nvPicPr>
        <p:blipFill rotWithShape="1">
          <a:blip r:embed="rId3" cstate="screen">
            <a:extLst>
              <a:ext uri="{28A0092B-C50C-407E-A947-70E740481C1C}">
                <a14:useLocalDpi xmlns="" xmlns:a14="http://schemas.microsoft.com/office/drawing/2010/main"/>
              </a:ext>
            </a:extLst>
          </a:blip>
          <a:srcRect/>
          <a:stretch/>
        </p:blipFill>
        <p:spPr bwMode="auto">
          <a:xfrm>
            <a:off x="-1" y="1847087"/>
            <a:ext cx="6161313" cy="2382253"/>
          </a:xfrm>
          <a:prstGeom prst="rect">
            <a:avLst/>
          </a:prstGeom>
          <a:noFill/>
          <a:extLst>
            <a:ext uri="{909E8E84-426E-40DD-AFC4-6F175D3DCCD1}">
              <a14:hiddenFill xmlns=""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6161314" y="1847087"/>
            <a:ext cx="6030686" cy="2382253"/>
          </a:xfrm>
          <a:prstGeom prst="rect">
            <a:avLst/>
          </a:prstGeom>
        </p:spPr>
      </p:pic>
      <p:pic>
        <p:nvPicPr>
          <p:cNvPr id="6" name="Picture 5"/>
          <p:cNvPicPr>
            <a:picLocks noChangeAspect="1"/>
          </p:cNvPicPr>
          <p:nvPr/>
        </p:nvPicPr>
        <p:blipFill>
          <a:blip r:embed="rId5"/>
          <a:stretch>
            <a:fillRect/>
          </a:stretch>
        </p:blipFill>
        <p:spPr>
          <a:xfrm>
            <a:off x="0" y="4229341"/>
            <a:ext cx="4648200" cy="2628660"/>
          </a:xfrm>
          <a:prstGeom prst="rect">
            <a:avLst/>
          </a:prstGeom>
        </p:spPr>
      </p:pic>
      <p:pic>
        <p:nvPicPr>
          <p:cNvPr id="7" name="Picture 6"/>
          <p:cNvPicPr>
            <a:picLocks noChangeAspect="1"/>
          </p:cNvPicPr>
          <p:nvPr/>
        </p:nvPicPr>
        <p:blipFill>
          <a:blip r:embed="rId6"/>
          <a:stretch>
            <a:fillRect/>
          </a:stretch>
        </p:blipFill>
        <p:spPr>
          <a:xfrm>
            <a:off x="4648200" y="4229340"/>
            <a:ext cx="3679371" cy="2628660"/>
          </a:xfrm>
          <a:prstGeom prst="rect">
            <a:avLst/>
          </a:prstGeom>
        </p:spPr>
      </p:pic>
      <p:pic>
        <p:nvPicPr>
          <p:cNvPr id="8" name="Picture 7"/>
          <p:cNvPicPr>
            <a:picLocks noChangeAspect="1"/>
          </p:cNvPicPr>
          <p:nvPr/>
        </p:nvPicPr>
        <p:blipFill>
          <a:blip r:embed="rId7"/>
          <a:stretch>
            <a:fillRect/>
          </a:stretch>
        </p:blipFill>
        <p:spPr>
          <a:xfrm>
            <a:off x="8327570" y="4229339"/>
            <a:ext cx="3864429" cy="2628661"/>
          </a:xfrm>
          <a:prstGeom prst="rect">
            <a:avLst/>
          </a:prstGeom>
        </p:spPr>
      </p:pic>
    </p:spTree>
    <p:extLst>
      <p:ext uri="{BB962C8B-B14F-4D97-AF65-F5344CB8AC3E}">
        <p14:creationId xmlns="" xmlns:p14="http://schemas.microsoft.com/office/powerpoint/2010/main" val="171400022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1578" y="0"/>
            <a:ext cx="9530422" cy="1847087"/>
          </a:xfrm>
          <a:solidFill>
            <a:schemeClr val="accent1"/>
          </a:solidFill>
        </p:spPr>
        <p:txBody>
          <a:bodyPr>
            <a:noAutofit/>
          </a:bodyPr>
          <a:lstStyle/>
          <a:p>
            <a:r>
              <a:rPr lang="en-US" sz="3600" b="1" dirty="0" smtClean="0">
                <a:latin typeface="Avenir Next Condensed" charset="0"/>
                <a:ea typeface="Avenir Next Condensed" charset="0"/>
                <a:cs typeface="Avenir Next Condensed" charset="0"/>
              </a:rPr>
              <a:t/>
            </a:r>
            <a:br>
              <a:rPr lang="en-US" sz="3600" b="1" dirty="0" smtClean="0">
                <a:latin typeface="Avenir Next Condensed" charset="0"/>
                <a:ea typeface="Avenir Next Condensed" charset="0"/>
                <a:cs typeface="Avenir Next Condensed" charset="0"/>
              </a:rPr>
            </a:br>
            <a:r>
              <a:rPr lang="en-US" sz="3600" b="1" dirty="0" smtClean="0">
                <a:latin typeface="Avenir Next Condensed" charset="0"/>
                <a:ea typeface="Avenir Next Condensed" charset="0"/>
                <a:cs typeface="Avenir Next Condensed" charset="0"/>
              </a:rPr>
              <a:t>SDG # 14: Conserve and sustainably use the oceans, seas and marine resources for sustainable development </a:t>
            </a:r>
            <a:br>
              <a:rPr lang="en-US" sz="3600" b="1" dirty="0" smtClean="0">
                <a:latin typeface="Avenir Next Condensed" charset="0"/>
                <a:ea typeface="Avenir Next Condensed" charset="0"/>
                <a:cs typeface="Avenir Next Condensed" charset="0"/>
              </a:rPr>
            </a:br>
            <a:endParaRPr lang="en-US" sz="3600" dirty="0"/>
          </a:p>
        </p:txBody>
      </p:sp>
      <p:pic>
        <p:nvPicPr>
          <p:cNvPr id="3" name="Picture 2"/>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0" y="0"/>
            <a:ext cx="2661579" cy="1847088"/>
          </a:xfrm>
          <a:prstGeom prst="rect">
            <a:avLst/>
          </a:prstGeom>
        </p:spPr>
      </p:pic>
      <p:pic>
        <p:nvPicPr>
          <p:cNvPr id="4" name="Picture 2" descr="14: Conserve and sustainably use th"/>
          <p:cNvPicPr>
            <a:picLocks noChangeAspect="1" noChangeArrowheads="1"/>
          </p:cNvPicPr>
          <p:nvPr/>
        </p:nvPicPr>
        <p:blipFill rotWithShape="1">
          <a:blip r:embed="rId3" cstate="screen">
            <a:extLst>
              <a:ext uri="{28A0092B-C50C-407E-A947-70E740481C1C}">
                <a14:useLocalDpi xmlns="" xmlns:a14="http://schemas.microsoft.com/office/drawing/2010/main"/>
              </a:ext>
            </a:extLst>
          </a:blip>
          <a:srcRect/>
          <a:stretch/>
        </p:blipFill>
        <p:spPr bwMode="auto">
          <a:xfrm>
            <a:off x="0" y="1847088"/>
            <a:ext cx="5558589" cy="2460218"/>
          </a:xfrm>
          <a:prstGeom prst="rect">
            <a:avLst/>
          </a:prstGeom>
          <a:noFill/>
          <a:extLst>
            <a:ext uri="{909E8E84-426E-40DD-AFC4-6F175D3DCCD1}">
              <a14:hiddenFill xmlns=""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5558589" y="1847087"/>
            <a:ext cx="6633411" cy="2460219"/>
          </a:xfrm>
          <a:prstGeom prst="rect">
            <a:avLst/>
          </a:prstGeom>
        </p:spPr>
      </p:pic>
      <p:pic>
        <p:nvPicPr>
          <p:cNvPr id="6" name="Picture 5"/>
          <p:cNvPicPr>
            <a:picLocks noChangeAspect="1"/>
          </p:cNvPicPr>
          <p:nvPr/>
        </p:nvPicPr>
        <p:blipFill>
          <a:blip r:embed="rId5"/>
          <a:stretch>
            <a:fillRect/>
          </a:stretch>
        </p:blipFill>
        <p:spPr>
          <a:xfrm>
            <a:off x="0" y="4307307"/>
            <a:ext cx="5558589" cy="2550694"/>
          </a:xfrm>
          <a:prstGeom prst="rect">
            <a:avLst/>
          </a:prstGeom>
        </p:spPr>
      </p:pic>
      <p:pic>
        <p:nvPicPr>
          <p:cNvPr id="7" name="Picture 6"/>
          <p:cNvPicPr>
            <a:picLocks noChangeAspect="1"/>
          </p:cNvPicPr>
          <p:nvPr/>
        </p:nvPicPr>
        <p:blipFill>
          <a:blip r:embed="rId6"/>
          <a:stretch>
            <a:fillRect/>
          </a:stretch>
        </p:blipFill>
        <p:spPr>
          <a:xfrm>
            <a:off x="5558589" y="4307306"/>
            <a:ext cx="6633411" cy="2550694"/>
          </a:xfrm>
          <a:prstGeom prst="rect">
            <a:avLst/>
          </a:prstGeom>
        </p:spPr>
      </p:pic>
    </p:spTree>
    <p:extLst>
      <p:ext uri="{BB962C8B-B14F-4D97-AF65-F5344CB8AC3E}">
        <p14:creationId xmlns="" xmlns:p14="http://schemas.microsoft.com/office/powerpoint/2010/main" val="125901400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39453" y="14747"/>
            <a:ext cx="9352546" cy="2680327"/>
          </a:xfrm>
          <a:solidFill>
            <a:schemeClr val="accent1"/>
          </a:solidFill>
        </p:spPr>
        <p:txBody>
          <a:bodyPr>
            <a:normAutofit fontScale="90000"/>
          </a:bodyPr>
          <a:lstStyle/>
          <a:p>
            <a:r>
              <a:rPr lang="en-US" sz="4000" b="1" dirty="0" smtClean="0">
                <a:latin typeface="Avenir Next Condensed" charset="0"/>
                <a:ea typeface="Avenir Next Condensed" charset="0"/>
                <a:cs typeface="Avenir Next Condensed" charset="0"/>
              </a:rPr>
              <a:t/>
            </a:r>
            <a:br>
              <a:rPr lang="en-US" sz="4000" b="1" dirty="0" smtClean="0">
                <a:latin typeface="Avenir Next Condensed" charset="0"/>
                <a:ea typeface="Avenir Next Condensed" charset="0"/>
                <a:cs typeface="Avenir Next Condensed" charset="0"/>
              </a:rPr>
            </a:br>
            <a:r>
              <a:rPr lang="en-US" sz="4000" b="1" dirty="0" smtClean="0">
                <a:latin typeface="Avenir Next Condensed" charset="0"/>
                <a:ea typeface="Avenir Next Condensed" charset="0"/>
                <a:cs typeface="Avenir Next Condensed" charset="0"/>
              </a:rPr>
              <a:t>SDG # 15: </a:t>
            </a:r>
            <a:r>
              <a:rPr lang="en-US" sz="4000" b="1" dirty="0">
                <a:latin typeface="Avenir Next Condensed" charset="0"/>
                <a:ea typeface="Avenir Next Condensed" charset="0"/>
                <a:cs typeface="Avenir Next Condensed" charset="0"/>
              </a:rPr>
              <a:t>Protect, restore and promote sustainable use of terrestrial ecosystems, sustainably manage forests, combat desertification, and halt and reverse land degradation, </a:t>
            </a:r>
            <a:r>
              <a:rPr lang="en-US" sz="4000" b="1" dirty="0" smtClean="0">
                <a:latin typeface="Avenir Next Condensed" charset="0"/>
                <a:ea typeface="Avenir Next Condensed" charset="0"/>
                <a:cs typeface="Avenir Next Condensed" charset="0"/>
              </a:rPr>
              <a:t>and </a:t>
            </a:r>
            <a:r>
              <a:rPr lang="en-US" sz="4000" b="1" dirty="0">
                <a:latin typeface="Avenir Next Condensed" charset="0"/>
                <a:ea typeface="Avenir Next Condensed" charset="0"/>
                <a:cs typeface="Avenir Next Condensed" charset="0"/>
              </a:rPr>
              <a:t>halt biodiversity loss</a:t>
            </a:r>
            <a:r>
              <a:rPr lang="en-US" sz="4000" b="1" dirty="0">
                <a:solidFill>
                  <a:schemeClr val="accent2"/>
                </a:solidFill>
                <a:latin typeface="Avenir Next Condensed" charset="0"/>
                <a:ea typeface="Avenir Next Condensed" charset="0"/>
                <a:cs typeface="Avenir Next Condensed" charset="0"/>
              </a:rPr>
              <a:t/>
            </a:r>
            <a:br>
              <a:rPr lang="en-US" sz="4000" b="1" dirty="0">
                <a:solidFill>
                  <a:schemeClr val="accent2"/>
                </a:solidFill>
                <a:latin typeface="Avenir Next Condensed" charset="0"/>
                <a:ea typeface="Avenir Next Condensed" charset="0"/>
                <a:cs typeface="Avenir Next Condensed" charset="0"/>
              </a:rPr>
            </a:br>
            <a:r>
              <a:rPr lang="en-US" sz="4000" b="1" dirty="0" smtClean="0">
                <a:latin typeface="Avenir Next Condensed" charset="0"/>
                <a:ea typeface="Avenir Next Condensed" charset="0"/>
                <a:cs typeface="Avenir Next Condensed" charset="0"/>
              </a:rPr>
              <a:t> </a:t>
            </a:r>
            <a:endParaRPr lang="en-US" sz="4000" dirty="0"/>
          </a:p>
        </p:txBody>
      </p:sp>
      <p:pic>
        <p:nvPicPr>
          <p:cNvPr id="3" name="Picture 2"/>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1" y="14747"/>
            <a:ext cx="2839454" cy="2680328"/>
          </a:xfrm>
          <a:prstGeom prst="rect">
            <a:avLst/>
          </a:prstGeom>
        </p:spPr>
      </p:pic>
      <p:pic>
        <p:nvPicPr>
          <p:cNvPr id="4" name="Picture 2" descr="15: Sustainably manage forests, com"/>
          <p:cNvPicPr>
            <a:picLocks noChangeAspect="1" noChangeArrowheads="1"/>
          </p:cNvPicPr>
          <p:nvPr/>
        </p:nvPicPr>
        <p:blipFill rotWithShape="1">
          <a:blip r:embed="rId3" cstate="screen">
            <a:extLst>
              <a:ext uri="{28A0092B-C50C-407E-A947-70E740481C1C}">
                <a14:useLocalDpi xmlns="" xmlns:a14="http://schemas.microsoft.com/office/drawing/2010/main"/>
              </a:ext>
            </a:extLst>
          </a:blip>
          <a:srcRect/>
          <a:stretch/>
        </p:blipFill>
        <p:spPr bwMode="auto">
          <a:xfrm>
            <a:off x="0" y="2695074"/>
            <a:ext cx="4248150" cy="1915026"/>
          </a:xfrm>
          <a:prstGeom prst="rect">
            <a:avLst/>
          </a:prstGeom>
          <a:noFill/>
          <a:extLst>
            <a:ext uri="{909E8E84-426E-40DD-AFC4-6F175D3DCCD1}">
              <a14:hiddenFill xmlns=""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4248151" y="2695075"/>
            <a:ext cx="4114800" cy="1915026"/>
          </a:xfrm>
          <a:prstGeom prst="rect">
            <a:avLst/>
          </a:prstGeom>
        </p:spPr>
      </p:pic>
      <p:pic>
        <p:nvPicPr>
          <p:cNvPr id="6" name="Picture 5"/>
          <p:cNvPicPr>
            <a:picLocks noChangeAspect="1"/>
          </p:cNvPicPr>
          <p:nvPr/>
        </p:nvPicPr>
        <p:blipFill>
          <a:blip r:embed="rId5" cstate="print"/>
          <a:stretch>
            <a:fillRect/>
          </a:stretch>
        </p:blipFill>
        <p:spPr>
          <a:xfrm>
            <a:off x="8362951" y="2695075"/>
            <a:ext cx="3829049" cy="1915026"/>
          </a:xfrm>
          <a:prstGeom prst="rect">
            <a:avLst/>
          </a:prstGeom>
        </p:spPr>
      </p:pic>
      <p:pic>
        <p:nvPicPr>
          <p:cNvPr id="7" name="Picture 6"/>
          <p:cNvPicPr>
            <a:picLocks noChangeAspect="1"/>
          </p:cNvPicPr>
          <p:nvPr/>
        </p:nvPicPr>
        <p:blipFill>
          <a:blip r:embed="rId6"/>
          <a:stretch>
            <a:fillRect/>
          </a:stretch>
        </p:blipFill>
        <p:spPr>
          <a:xfrm>
            <a:off x="0" y="4610100"/>
            <a:ext cx="4248150" cy="2247900"/>
          </a:xfrm>
          <a:prstGeom prst="rect">
            <a:avLst/>
          </a:prstGeom>
        </p:spPr>
      </p:pic>
      <p:pic>
        <p:nvPicPr>
          <p:cNvPr id="8" name="Picture 7"/>
          <p:cNvPicPr>
            <a:picLocks noChangeAspect="1"/>
          </p:cNvPicPr>
          <p:nvPr/>
        </p:nvPicPr>
        <p:blipFill>
          <a:blip r:embed="rId7"/>
          <a:stretch>
            <a:fillRect/>
          </a:stretch>
        </p:blipFill>
        <p:spPr>
          <a:xfrm>
            <a:off x="8362950" y="4610100"/>
            <a:ext cx="3829050" cy="2247899"/>
          </a:xfrm>
          <a:prstGeom prst="rect">
            <a:avLst/>
          </a:prstGeom>
        </p:spPr>
      </p:pic>
      <p:pic>
        <p:nvPicPr>
          <p:cNvPr id="9" name="Picture 8"/>
          <p:cNvPicPr>
            <a:picLocks noChangeAspect="1"/>
          </p:cNvPicPr>
          <p:nvPr/>
        </p:nvPicPr>
        <p:blipFill>
          <a:blip r:embed="rId8"/>
          <a:stretch>
            <a:fillRect/>
          </a:stretch>
        </p:blipFill>
        <p:spPr>
          <a:xfrm>
            <a:off x="4248150" y="4610101"/>
            <a:ext cx="4114799" cy="2247899"/>
          </a:xfrm>
          <a:prstGeom prst="rect">
            <a:avLst/>
          </a:prstGeom>
        </p:spPr>
      </p:pic>
    </p:spTree>
    <p:extLst>
      <p:ext uri="{BB962C8B-B14F-4D97-AF65-F5344CB8AC3E}">
        <p14:creationId xmlns="" xmlns:p14="http://schemas.microsoft.com/office/powerpoint/2010/main" val="372626365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2" y="1"/>
            <a:ext cx="9665368" cy="2935704"/>
          </a:xfrm>
          <a:solidFill>
            <a:schemeClr val="accent1"/>
          </a:solidFill>
        </p:spPr>
        <p:txBody>
          <a:bodyPr>
            <a:normAutofit/>
          </a:bodyPr>
          <a:lstStyle/>
          <a:p>
            <a:r>
              <a:rPr lang="en-US" sz="4000" b="1" dirty="0" smtClean="0">
                <a:latin typeface="Avenir Next Condensed" charset="0"/>
                <a:ea typeface="Avenir Next Condensed" charset="0"/>
                <a:cs typeface="Avenir Next Condensed" charset="0"/>
              </a:rPr>
              <a:t>SDG # 16: Promote peaceful and inclusive societies for sustainable development, provide access to justice for all and build effective, accountable and inclusive institutions at all levels</a:t>
            </a:r>
            <a:endParaRPr lang="en-US" dirty="0"/>
          </a:p>
        </p:txBody>
      </p:sp>
      <p:pic>
        <p:nvPicPr>
          <p:cNvPr id="3" name="Picture 2"/>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2" y="-1"/>
            <a:ext cx="2526633" cy="2935705"/>
          </a:xfrm>
          <a:prstGeom prst="rect">
            <a:avLst/>
          </a:prstGeom>
        </p:spPr>
      </p:pic>
      <p:pic>
        <p:nvPicPr>
          <p:cNvPr id="4" name="Picture 3"/>
          <p:cNvPicPr>
            <a:picLocks noChangeAspect="1"/>
          </p:cNvPicPr>
          <p:nvPr/>
        </p:nvPicPr>
        <p:blipFill>
          <a:blip r:embed="rId3"/>
          <a:stretch>
            <a:fillRect/>
          </a:stretch>
        </p:blipFill>
        <p:spPr>
          <a:xfrm>
            <a:off x="-3" y="2935704"/>
            <a:ext cx="3681666" cy="1828801"/>
          </a:xfrm>
          <a:prstGeom prst="rect">
            <a:avLst/>
          </a:prstGeom>
        </p:spPr>
      </p:pic>
      <p:pic>
        <p:nvPicPr>
          <p:cNvPr id="5" name="Picture 4"/>
          <p:cNvPicPr>
            <a:picLocks noChangeAspect="1"/>
          </p:cNvPicPr>
          <p:nvPr/>
        </p:nvPicPr>
        <p:blipFill>
          <a:blip r:embed="rId4"/>
          <a:stretch>
            <a:fillRect/>
          </a:stretch>
        </p:blipFill>
        <p:spPr>
          <a:xfrm>
            <a:off x="0" y="4764505"/>
            <a:ext cx="3681663" cy="2093494"/>
          </a:xfrm>
          <a:prstGeom prst="rect">
            <a:avLst/>
          </a:prstGeom>
        </p:spPr>
      </p:pic>
      <p:pic>
        <p:nvPicPr>
          <p:cNvPr id="6" name="Picture 5"/>
          <p:cNvPicPr>
            <a:picLocks noChangeAspect="1"/>
          </p:cNvPicPr>
          <p:nvPr/>
        </p:nvPicPr>
        <p:blipFill>
          <a:blip r:embed="rId5"/>
          <a:stretch>
            <a:fillRect/>
          </a:stretch>
        </p:blipFill>
        <p:spPr>
          <a:xfrm>
            <a:off x="3681663" y="2935704"/>
            <a:ext cx="3657600" cy="1828801"/>
          </a:xfrm>
          <a:prstGeom prst="rect">
            <a:avLst/>
          </a:prstGeom>
        </p:spPr>
      </p:pic>
      <p:pic>
        <p:nvPicPr>
          <p:cNvPr id="7" name="Picture 6"/>
          <p:cNvPicPr>
            <a:picLocks noChangeAspect="1"/>
          </p:cNvPicPr>
          <p:nvPr/>
        </p:nvPicPr>
        <p:blipFill>
          <a:blip r:embed="rId6"/>
          <a:stretch>
            <a:fillRect/>
          </a:stretch>
        </p:blipFill>
        <p:spPr>
          <a:xfrm>
            <a:off x="7339263" y="2935704"/>
            <a:ext cx="2213811" cy="1828801"/>
          </a:xfrm>
          <a:prstGeom prst="rect">
            <a:avLst/>
          </a:prstGeom>
        </p:spPr>
      </p:pic>
      <p:pic>
        <p:nvPicPr>
          <p:cNvPr id="8" name="Picture 7"/>
          <p:cNvPicPr>
            <a:picLocks noChangeAspect="1"/>
          </p:cNvPicPr>
          <p:nvPr/>
        </p:nvPicPr>
        <p:blipFill>
          <a:blip r:embed="rId7"/>
          <a:stretch>
            <a:fillRect/>
          </a:stretch>
        </p:blipFill>
        <p:spPr>
          <a:xfrm>
            <a:off x="3822032" y="4764505"/>
            <a:ext cx="3537284" cy="2093495"/>
          </a:xfrm>
          <a:prstGeom prst="rect">
            <a:avLst/>
          </a:prstGeom>
        </p:spPr>
      </p:pic>
      <p:pic>
        <p:nvPicPr>
          <p:cNvPr id="9" name="Picture 8"/>
          <p:cNvPicPr>
            <a:picLocks noChangeAspect="1"/>
          </p:cNvPicPr>
          <p:nvPr/>
        </p:nvPicPr>
        <p:blipFill>
          <a:blip r:embed="rId8"/>
          <a:stretch>
            <a:fillRect/>
          </a:stretch>
        </p:blipFill>
        <p:spPr>
          <a:xfrm>
            <a:off x="7359317" y="4764505"/>
            <a:ext cx="4832684" cy="2093494"/>
          </a:xfrm>
          <a:prstGeom prst="rect">
            <a:avLst/>
          </a:prstGeom>
        </p:spPr>
      </p:pic>
      <p:pic>
        <p:nvPicPr>
          <p:cNvPr id="10" name="Picture 9"/>
          <p:cNvPicPr>
            <a:picLocks noChangeAspect="1"/>
          </p:cNvPicPr>
          <p:nvPr/>
        </p:nvPicPr>
        <p:blipFill>
          <a:blip r:embed="rId9"/>
          <a:stretch>
            <a:fillRect/>
          </a:stretch>
        </p:blipFill>
        <p:spPr>
          <a:xfrm>
            <a:off x="9553075" y="2935704"/>
            <a:ext cx="2638926" cy="1828801"/>
          </a:xfrm>
          <a:prstGeom prst="rect">
            <a:avLst/>
          </a:prstGeom>
        </p:spPr>
      </p:pic>
    </p:spTree>
    <p:extLst>
      <p:ext uri="{BB962C8B-B14F-4D97-AF65-F5344CB8AC3E}">
        <p14:creationId xmlns="" xmlns:p14="http://schemas.microsoft.com/office/powerpoint/2010/main" val="347851623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76336" y="0"/>
            <a:ext cx="9015663" cy="2502567"/>
          </a:xfrm>
          <a:solidFill>
            <a:schemeClr val="accent1"/>
          </a:solidFill>
        </p:spPr>
        <p:txBody>
          <a:bodyPr>
            <a:normAutofit fontScale="90000"/>
          </a:bodyPr>
          <a:lstStyle/>
          <a:p>
            <a:r>
              <a:rPr lang="en-US" b="1" dirty="0" smtClean="0">
                <a:latin typeface="Avenir Next Condensed" charset="0"/>
                <a:ea typeface="Avenir Next Condensed" charset="0"/>
                <a:cs typeface="Avenir Next Condensed" charset="0"/>
              </a:rPr>
              <a:t/>
            </a:r>
            <a:br>
              <a:rPr lang="en-US" b="1" dirty="0" smtClean="0">
                <a:latin typeface="Avenir Next Condensed" charset="0"/>
                <a:ea typeface="Avenir Next Condensed" charset="0"/>
                <a:cs typeface="Avenir Next Condensed" charset="0"/>
              </a:rPr>
            </a:br>
            <a:r>
              <a:rPr lang="en-US" b="1" dirty="0" smtClean="0">
                <a:latin typeface="Avenir Next Condensed" charset="0"/>
                <a:ea typeface="Avenir Next Condensed" charset="0"/>
                <a:cs typeface="Avenir Next Condensed" charset="0"/>
              </a:rPr>
              <a:t>SDG # 17: Strengthen the means of implementation and revitalize the global partnership for sustainable development</a:t>
            </a:r>
            <a:br>
              <a:rPr lang="en-US" b="1" dirty="0" smtClean="0">
                <a:latin typeface="Avenir Next Condensed" charset="0"/>
                <a:ea typeface="Avenir Next Condensed" charset="0"/>
                <a:cs typeface="Avenir Next Condensed" charset="0"/>
              </a:rPr>
            </a:br>
            <a:endParaRPr lang="en-US" dirty="0"/>
          </a:p>
        </p:txBody>
      </p:sp>
      <p:pic>
        <p:nvPicPr>
          <p:cNvPr id="3" name="Picture 2"/>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0" y="-1"/>
            <a:ext cx="3176337" cy="2502567"/>
          </a:xfrm>
          <a:prstGeom prst="rect">
            <a:avLst/>
          </a:prstGeom>
        </p:spPr>
      </p:pic>
      <p:pic>
        <p:nvPicPr>
          <p:cNvPr id="4" name="Picture 2" descr="17: Revitalize the global partnersh"/>
          <p:cNvPicPr>
            <a:picLocks noChangeAspect="1" noChangeArrowheads="1"/>
          </p:cNvPicPr>
          <p:nvPr/>
        </p:nvPicPr>
        <p:blipFill rotWithShape="1">
          <a:blip r:embed="rId3" cstate="screen">
            <a:extLst>
              <a:ext uri="{28A0092B-C50C-407E-A947-70E740481C1C}">
                <a14:useLocalDpi xmlns="" xmlns:a14="http://schemas.microsoft.com/office/drawing/2010/main"/>
              </a:ext>
            </a:extLst>
          </a:blip>
          <a:srcRect/>
          <a:stretch/>
        </p:blipFill>
        <p:spPr bwMode="auto">
          <a:xfrm>
            <a:off x="0" y="2502566"/>
            <a:ext cx="4138863" cy="4355434"/>
          </a:xfrm>
          <a:prstGeom prst="rect">
            <a:avLst/>
          </a:prstGeom>
          <a:noFill/>
          <a:extLst>
            <a:ext uri="{909E8E84-426E-40DD-AFC4-6F175D3DCCD1}">
              <a14:hiddenFill xmlns="" xmlns:a14="http://schemas.microsoft.com/office/drawing/2010/main">
                <a:solidFill>
                  <a:srgbClr val="FFFFFF"/>
                </a:solidFill>
              </a14:hiddenFill>
            </a:ext>
          </a:extLst>
        </p:spPr>
      </p:pic>
      <p:pic>
        <p:nvPicPr>
          <p:cNvPr id="5" name="Picture 4"/>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a:off x="8120743" y="4644186"/>
            <a:ext cx="4071258" cy="2213814"/>
          </a:xfrm>
          <a:prstGeom prst="rect">
            <a:avLst/>
          </a:prstGeom>
        </p:spPr>
      </p:pic>
      <p:pic>
        <p:nvPicPr>
          <p:cNvPr id="7" name="Picture 6"/>
          <p:cNvPicPr>
            <a:picLocks noChangeAspect="1"/>
          </p:cNvPicPr>
          <p:nvPr/>
        </p:nvPicPr>
        <p:blipFill>
          <a:blip r:embed="rId5"/>
          <a:stretch>
            <a:fillRect/>
          </a:stretch>
        </p:blipFill>
        <p:spPr>
          <a:xfrm>
            <a:off x="8120744" y="2502564"/>
            <a:ext cx="4071256" cy="2177719"/>
          </a:xfrm>
          <a:prstGeom prst="rect">
            <a:avLst/>
          </a:prstGeom>
        </p:spPr>
      </p:pic>
      <p:pic>
        <p:nvPicPr>
          <p:cNvPr id="8" name="Picture 7"/>
          <p:cNvPicPr>
            <a:picLocks noChangeAspect="1"/>
          </p:cNvPicPr>
          <p:nvPr/>
        </p:nvPicPr>
        <p:blipFill>
          <a:blip r:embed="rId6"/>
          <a:stretch>
            <a:fillRect/>
          </a:stretch>
        </p:blipFill>
        <p:spPr>
          <a:xfrm>
            <a:off x="4138862" y="2502565"/>
            <a:ext cx="3981881" cy="4355436"/>
          </a:xfrm>
          <a:prstGeom prst="rect">
            <a:avLst/>
          </a:prstGeom>
        </p:spPr>
      </p:pic>
    </p:spTree>
    <p:extLst>
      <p:ext uri="{BB962C8B-B14F-4D97-AF65-F5344CB8AC3E}">
        <p14:creationId xmlns="" xmlns:p14="http://schemas.microsoft.com/office/powerpoint/2010/main" val="205041410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3369236" y="0"/>
            <a:ext cx="5165164" cy="6858000"/>
            <a:chOff x="-1" y="0"/>
            <a:chExt cx="5446629" cy="7231713"/>
          </a:xfrm>
        </p:grpSpPr>
        <p:pic>
          <p:nvPicPr>
            <p:cNvPr id="2" name="Picture 1"/>
            <p:cNvPicPr>
              <a:picLocks noChangeAspect="1"/>
            </p:cNvPicPr>
            <p:nvPr/>
          </p:nvPicPr>
          <p:blipFill>
            <a:blip r:embed="rId2" cstate="screen">
              <a:extLst>
                <a:ext uri="{28A0092B-C50C-407E-A947-70E740481C1C}">
                  <a14:useLocalDpi xmlns="" xmlns:a14="http://schemas.microsoft.com/office/drawing/2010/main"/>
                </a:ext>
              </a:extLst>
            </a:blip>
            <a:stretch>
              <a:fillRect/>
            </a:stretch>
          </p:blipFill>
          <p:spPr>
            <a:xfrm>
              <a:off x="0" y="0"/>
              <a:ext cx="5445855" cy="2408990"/>
            </a:xfrm>
            <a:prstGeom prst="rect">
              <a:avLst/>
            </a:prstGeom>
          </p:spPr>
        </p:pic>
        <p:pic>
          <p:nvPicPr>
            <p:cNvPr id="3" name="Picture 2"/>
            <p:cNvPicPr>
              <a:picLocks noChangeAspect="1"/>
            </p:cNvPicPr>
            <p:nvPr/>
          </p:nvPicPr>
          <p:blipFill>
            <a:blip r:embed="rId3" cstate="screen">
              <a:extLst>
                <a:ext uri="{28A0092B-C50C-407E-A947-70E740481C1C}">
                  <a14:useLocalDpi xmlns="" xmlns:a14="http://schemas.microsoft.com/office/drawing/2010/main"/>
                </a:ext>
              </a:extLst>
            </a:blip>
            <a:stretch>
              <a:fillRect/>
            </a:stretch>
          </p:blipFill>
          <p:spPr>
            <a:xfrm>
              <a:off x="-1" y="2408991"/>
              <a:ext cx="5445855" cy="2411370"/>
            </a:xfrm>
            <a:prstGeom prst="rect">
              <a:avLst/>
            </a:prstGeom>
          </p:spPr>
        </p:pic>
        <p:pic>
          <p:nvPicPr>
            <p:cNvPr id="4" name="Picture 3"/>
            <p:cNvPicPr>
              <a:picLocks noChangeAspect="1"/>
            </p:cNvPicPr>
            <p:nvPr/>
          </p:nvPicPr>
          <p:blipFill>
            <a:blip r:embed="rId4" cstate="screen">
              <a:extLst>
                <a:ext uri="{28A0092B-C50C-407E-A947-70E740481C1C}">
                  <a14:useLocalDpi xmlns="" xmlns:a14="http://schemas.microsoft.com/office/drawing/2010/main"/>
                </a:ext>
              </a:extLst>
            </a:blip>
            <a:stretch>
              <a:fillRect/>
            </a:stretch>
          </p:blipFill>
          <p:spPr>
            <a:xfrm>
              <a:off x="0" y="4819513"/>
              <a:ext cx="5446628" cy="2412200"/>
            </a:xfrm>
            <a:prstGeom prst="rect">
              <a:avLst/>
            </a:prstGeom>
          </p:spPr>
        </p:pic>
      </p:grpSp>
      <p:pic>
        <p:nvPicPr>
          <p:cNvPr id="6" name="Picture 5"/>
          <p:cNvPicPr>
            <a:picLocks noChangeAspect="1"/>
          </p:cNvPicPr>
          <p:nvPr/>
        </p:nvPicPr>
        <p:blipFill>
          <a:blip r:embed="rId5" cstate="screen">
            <a:extLst>
              <a:ext uri="{28A0092B-C50C-407E-A947-70E740481C1C}">
                <a14:useLocalDpi xmlns="" xmlns:a14="http://schemas.microsoft.com/office/drawing/2010/main"/>
              </a:ext>
            </a:extLst>
          </a:blip>
          <a:stretch>
            <a:fillRect/>
          </a:stretch>
        </p:blipFill>
        <p:spPr>
          <a:xfrm>
            <a:off x="5065427" y="5722008"/>
            <a:ext cx="1737394" cy="1135205"/>
          </a:xfrm>
          <a:prstGeom prst="rect">
            <a:avLst/>
          </a:prstGeom>
        </p:spPr>
      </p:pic>
      <p:sp>
        <p:nvSpPr>
          <p:cNvPr id="9" name="Rectangle 8"/>
          <p:cNvSpPr/>
          <p:nvPr/>
        </p:nvSpPr>
        <p:spPr>
          <a:xfrm>
            <a:off x="566057" y="576827"/>
            <a:ext cx="2242458" cy="1569660"/>
          </a:xfrm>
          <a:prstGeom prst="rect">
            <a:avLst/>
          </a:prstGeom>
          <a:solidFill>
            <a:schemeClr val="accent1">
              <a:lumMod val="50000"/>
            </a:schemeClr>
          </a:solidFill>
        </p:spPr>
        <p:txBody>
          <a:bodyPr wrap="square">
            <a:spAutoFit/>
          </a:bodyPr>
          <a:lstStyle/>
          <a:p>
            <a:pPr algn="ctr"/>
            <a:r>
              <a:rPr lang="en-US" sz="3200" b="1" dirty="0" smtClean="0">
                <a:solidFill>
                  <a:schemeClr val="bg1"/>
                </a:solidFill>
                <a:latin typeface="Avenir Next Condensed" charset="0"/>
                <a:ea typeface="Avenir Next Condensed" charset="0"/>
                <a:cs typeface="Avenir Next Condensed" charset="0"/>
              </a:rPr>
              <a:t>Each goal is</a:t>
            </a:r>
          </a:p>
          <a:p>
            <a:pPr algn="ctr"/>
            <a:r>
              <a:rPr lang="en-US" sz="3200" b="1" dirty="0">
                <a:solidFill>
                  <a:schemeClr val="bg1"/>
                </a:solidFill>
                <a:latin typeface="Avenir Next Condensed" charset="0"/>
                <a:ea typeface="Avenir Next Condensed" charset="0"/>
                <a:cs typeface="Avenir Next Condensed" charset="0"/>
              </a:rPr>
              <a:t>i</a:t>
            </a:r>
            <a:r>
              <a:rPr lang="en-US" sz="3200" b="1" dirty="0" smtClean="0">
                <a:solidFill>
                  <a:schemeClr val="bg1"/>
                </a:solidFill>
                <a:latin typeface="Avenir Next Condensed" charset="0"/>
                <a:ea typeface="Avenir Next Condensed" charset="0"/>
                <a:cs typeface="Avenir Next Condensed" charset="0"/>
              </a:rPr>
              <a:t>mportant</a:t>
            </a:r>
          </a:p>
          <a:p>
            <a:pPr algn="ctr"/>
            <a:r>
              <a:rPr lang="en-US" sz="3200" b="1" dirty="0">
                <a:solidFill>
                  <a:schemeClr val="bg1"/>
                </a:solidFill>
                <a:latin typeface="Avenir Next Condensed" charset="0"/>
                <a:ea typeface="Avenir Next Condensed" charset="0"/>
                <a:cs typeface="Avenir Next Condensed" charset="0"/>
              </a:rPr>
              <a:t>i</a:t>
            </a:r>
            <a:r>
              <a:rPr lang="en-US" sz="3200" b="1" dirty="0" smtClean="0">
                <a:solidFill>
                  <a:schemeClr val="bg1"/>
                </a:solidFill>
                <a:latin typeface="Avenir Next Condensed" charset="0"/>
                <a:ea typeface="Avenir Next Condensed" charset="0"/>
                <a:cs typeface="Avenir Next Condensed" charset="0"/>
              </a:rPr>
              <a:t>n itself …</a:t>
            </a:r>
            <a:endParaRPr lang="en-US" sz="3200" b="1" dirty="0">
              <a:solidFill>
                <a:schemeClr val="bg1"/>
              </a:solidFill>
              <a:latin typeface="Avenir Next Condensed" charset="0"/>
              <a:ea typeface="Avenir Next Condensed" charset="0"/>
              <a:cs typeface="Avenir Next Condensed" charset="0"/>
            </a:endParaRPr>
          </a:p>
        </p:txBody>
      </p:sp>
    </p:spTree>
    <p:extLst>
      <p:ext uri="{BB962C8B-B14F-4D97-AF65-F5344CB8AC3E}">
        <p14:creationId xmlns="" xmlns:p14="http://schemas.microsoft.com/office/powerpoint/2010/main" val="1337089229"/>
      </p:ext>
    </p:extLst>
  </p:cSld>
  <p:clrMapOvr>
    <a:masterClrMapping/>
  </p:clrMapOvr>
  <mc:AlternateContent xmlns:mc="http://schemas.openxmlformats.org/markup-compatibility/2006">
    <mc:Choice xmlns="" xmlns:p14="http://schemas.microsoft.com/office/powerpoint/2010/main" Requires="p14">
      <p:transition p14:dur="0"/>
    </mc:Choice>
    <mc:Fallback>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3369236" y="0"/>
            <a:ext cx="5165164" cy="6858000"/>
            <a:chOff x="-1" y="0"/>
            <a:chExt cx="5446629" cy="7231713"/>
          </a:xfrm>
        </p:grpSpPr>
        <p:pic>
          <p:nvPicPr>
            <p:cNvPr id="2" name="Picture 1"/>
            <p:cNvPicPr>
              <a:picLocks noChangeAspect="1"/>
            </p:cNvPicPr>
            <p:nvPr/>
          </p:nvPicPr>
          <p:blipFill>
            <a:blip r:embed="rId2" cstate="screen">
              <a:extLst>
                <a:ext uri="{28A0092B-C50C-407E-A947-70E740481C1C}">
                  <a14:useLocalDpi xmlns="" xmlns:a14="http://schemas.microsoft.com/office/drawing/2010/main"/>
                </a:ext>
              </a:extLst>
            </a:blip>
            <a:stretch>
              <a:fillRect/>
            </a:stretch>
          </p:blipFill>
          <p:spPr>
            <a:xfrm>
              <a:off x="0" y="0"/>
              <a:ext cx="5445855" cy="2408990"/>
            </a:xfrm>
            <a:prstGeom prst="rect">
              <a:avLst/>
            </a:prstGeom>
          </p:spPr>
        </p:pic>
        <p:pic>
          <p:nvPicPr>
            <p:cNvPr id="3" name="Picture 2"/>
            <p:cNvPicPr>
              <a:picLocks noChangeAspect="1"/>
            </p:cNvPicPr>
            <p:nvPr/>
          </p:nvPicPr>
          <p:blipFill>
            <a:blip r:embed="rId3" cstate="screen">
              <a:extLst>
                <a:ext uri="{28A0092B-C50C-407E-A947-70E740481C1C}">
                  <a14:useLocalDpi xmlns="" xmlns:a14="http://schemas.microsoft.com/office/drawing/2010/main"/>
                </a:ext>
              </a:extLst>
            </a:blip>
            <a:stretch>
              <a:fillRect/>
            </a:stretch>
          </p:blipFill>
          <p:spPr>
            <a:xfrm>
              <a:off x="-1" y="2408991"/>
              <a:ext cx="5445855" cy="2411370"/>
            </a:xfrm>
            <a:prstGeom prst="rect">
              <a:avLst/>
            </a:prstGeom>
          </p:spPr>
        </p:pic>
        <p:pic>
          <p:nvPicPr>
            <p:cNvPr id="4" name="Picture 3"/>
            <p:cNvPicPr>
              <a:picLocks noChangeAspect="1"/>
            </p:cNvPicPr>
            <p:nvPr/>
          </p:nvPicPr>
          <p:blipFill>
            <a:blip r:embed="rId4" cstate="screen">
              <a:extLst>
                <a:ext uri="{28A0092B-C50C-407E-A947-70E740481C1C}">
                  <a14:useLocalDpi xmlns="" xmlns:a14="http://schemas.microsoft.com/office/drawing/2010/main"/>
                </a:ext>
              </a:extLst>
            </a:blip>
            <a:stretch>
              <a:fillRect/>
            </a:stretch>
          </p:blipFill>
          <p:spPr>
            <a:xfrm>
              <a:off x="0" y="4819513"/>
              <a:ext cx="5446628" cy="2412200"/>
            </a:xfrm>
            <a:prstGeom prst="rect">
              <a:avLst/>
            </a:prstGeom>
          </p:spPr>
        </p:pic>
      </p:grpSp>
      <p:cxnSp>
        <p:nvCxnSpPr>
          <p:cNvPr id="8" name="Curved Connector 7"/>
          <p:cNvCxnSpPr/>
          <p:nvPr/>
        </p:nvCxnSpPr>
        <p:spPr>
          <a:xfrm rot="16200000" flipH="1">
            <a:off x="4671798" y="1897994"/>
            <a:ext cx="4277036" cy="1867394"/>
          </a:xfrm>
          <a:prstGeom prst="curvedConnector3">
            <a:avLst/>
          </a:prstGeom>
          <a:ln w="571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Curved Connector 10"/>
          <p:cNvCxnSpPr/>
          <p:nvPr/>
        </p:nvCxnSpPr>
        <p:spPr>
          <a:xfrm rot="10800000" flipV="1">
            <a:off x="4438650" y="1674900"/>
            <a:ext cx="2914650" cy="1163549"/>
          </a:xfrm>
          <a:prstGeom prst="curvedConnector3">
            <a:avLst/>
          </a:prstGeom>
          <a:ln w="571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Curved Connector 16"/>
          <p:cNvCxnSpPr/>
          <p:nvPr/>
        </p:nvCxnSpPr>
        <p:spPr>
          <a:xfrm>
            <a:off x="4438650" y="3981450"/>
            <a:ext cx="1437969" cy="988759"/>
          </a:xfrm>
          <a:prstGeom prst="curvedConnector3">
            <a:avLst/>
          </a:prstGeom>
          <a:ln w="571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Curved Connector 18"/>
          <p:cNvCxnSpPr/>
          <p:nvPr/>
        </p:nvCxnSpPr>
        <p:spPr>
          <a:xfrm rot="5400000">
            <a:off x="4230351" y="3062449"/>
            <a:ext cx="3429760" cy="3051874"/>
          </a:xfrm>
          <a:prstGeom prst="curvedConnector3">
            <a:avLst/>
          </a:prstGeom>
          <a:ln w="571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Curved Connector 20"/>
          <p:cNvCxnSpPr/>
          <p:nvPr/>
        </p:nvCxnSpPr>
        <p:spPr>
          <a:xfrm rot="5400000">
            <a:off x="3415837" y="1186320"/>
            <a:ext cx="4541246" cy="4115106"/>
          </a:xfrm>
          <a:prstGeom prst="curvedConnector3">
            <a:avLst>
              <a:gd name="adj1" fmla="val 50000"/>
            </a:avLst>
          </a:prstGeom>
          <a:ln w="571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Curved Connector 28"/>
          <p:cNvCxnSpPr/>
          <p:nvPr/>
        </p:nvCxnSpPr>
        <p:spPr>
          <a:xfrm rot="10800000">
            <a:off x="4574086" y="1562690"/>
            <a:ext cx="2897083" cy="2418761"/>
          </a:xfrm>
          <a:prstGeom prst="curvedConnector3">
            <a:avLst/>
          </a:prstGeom>
          <a:ln w="571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 name="Curved Connector 30"/>
          <p:cNvCxnSpPr/>
          <p:nvPr/>
        </p:nvCxnSpPr>
        <p:spPr>
          <a:xfrm rot="10800000">
            <a:off x="4146449" y="5475420"/>
            <a:ext cx="3438384" cy="850437"/>
          </a:xfrm>
          <a:prstGeom prst="curvedConnector3">
            <a:avLst/>
          </a:prstGeom>
          <a:ln w="571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4" name="Curved Connector 33"/>
          <p:cNvCxnSpPr/>
          <p:nvPr/>
        </p:nvCxnSpPr>
        <p:spPr>
          <a:xfrm rot="16200000" flipH="1">
            <a:off x="4014253" y="2309240"/>
            <a:ext cx="2950903" cy="393516"/>
          </a:xfrm>
          <a:prstGeom prst="curvedConnector3">
            <a:avLst/>
          </a:prstGeom>
          <a:ln w="571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566057" y="576827"/>
            <a:ext cx="2242458" cy="1569660"/>
          </a:xfrm>
          <a:prstGeom prst="rect">
            <a:avLst/>
          </a:prstGeom>
          <a:solidFill>
            <a:schemeClr val="accent1">
              <a:lumMod val="50000"/>
            </a:schemeClr>
          </a:solidFill>
        </p:spPr>
        <p:txBody>
          <a:bodyPr wrap="square">
            <a:spAutoFit/>
          </a:bodyPr>
          <a:lstStyle/>
          <a:p>
            <a:pPr algn="ctr"/>
            <a:r>
              <a:rPr lang="en-US" sz="3200" b="1" dirty="0" smtClean="0">
                <a:solidFill>
                  <a:schemeClr val="bg1"/>
                </a:solidFill>
                <a:latin typeface="Avenir Next Condensed" charset="0"/>
                <a:ea typeface="Avenir Next Condensed" charset="0"/>
                <a:cs typeface="Avenir Next Condensed" charset="0"/>
              </a:rPr>
              <a:t>Each goal is</a:t>
            </a:r>
          </a:p>
          <a:p>
            <a:pPr algn="ctr"/>
            <a:r>
              <a:rPr lang="en-US" sz="3200" b="1" dirty="0">
                <a:solidFill>
                  <a:schemeClr val="bg1"/>
                </a:solidFill>
                <a:latin typeface="Avenir Next Condensed" charset="0"/>
                <a:ea typeface="Avenir Next Condensed" charset="0"/>
                <a:cs typeface="Avenir Next Condensed" charset="0"/>
              </a:rPr>
              <a:t>i</a:t>
            </a:r>
            <a:r>
              <a:rPr lang="en-US" sz="3200" b="1" dirty="0" smtClean="0">
                <a:solidFill>
                  <a:schemeClr val="bg1"/>
                </a:solidFill>
                <a:latin typeface="Avenir Next Condensed" charset="0"/>
                <a:ea typeface="Avenir Next Condensed" charset="0"/>
                <a:cs typeface="Avenir Next Condensed" charset="0"/>
              </a:rPr>
              <a:t>mportant</a:t>
            </a:r>
          </a:p>
          <a:p>
            <a:pPr algn="ctr"/>
            <a:r>
              <a:rPr lang="en-US" sz="3200" b="1" dirty="0">
                <a:solidFill>
                  <a:schemeClr val="bg1"/>
                </a:solidFill>
                <a:latin typeface="Avenir Next Condensed" charset="0"/>
                <a:ea typeface="Avenir Next Condensed" charset="0"/>
                <a:cs typeface="Avenir Next Condensed" charset="0"/>
              </a:rPr>
              <a:t>i</a:t>
            </a:r>
            <a:r>
              <a:rPr lang="en-US" sz="3200" b="1" dirty="0" smtClean="0">
                <a:solidFill>
                  <a:schemeClr val="bg1"/>
                </a:solidFill>
                <a:latin typeface="Avenir Next Condensed" charset="0"/>
                <a:ea typeface="Avenir Next Condensed" charset="0"/>
                <a:cs typeface="Avenir Next Condensed" charset="0"/>
              </a:rPr>
              <a:t>n itself …</a:t>
            </a:r>
            <a:endParaRPr lang="en-US" sz="3200" b="1" dirty="0">
              <a:solidFill>
                <a:schemeClr val="bg1"/>
              </a:solidFill>
              <a:latin typeface="Avenir Next Condensed" charset="0"/>
              <a:ea typeface="Avenir Next Condensed" charset="0"/>
              <a:cs typeface="Avenir Next Condensed" charset="0"/>
            </a:endParaRPr>
          </a:p>
        </p:txBody>
      </p:sp>
      <p:sp>
        <p:nvSpPr>
          <p:cNvPr id="18" name="Rectangle 17"/>
          <p:cNvSpPr/>
          <p:nvPr/>
        </p:nvSpPr>
        <p:spPr>
          <a:xfrm>
            <a:off x="9156437" y="568071"/>
            <a:ext cx="2242458" cy="1569660"/>
          </a:xfrm>
          <a:prstGeom prst="rect">
            <a:avLst/>
          </a:prstGeom>
          <a:solidFill>
            <a:schemeClr val="accent1">
              <a:lumMod val="50000"/>
            </a:schemeClr>
          </a:solidFill>
        </p:spPr>
        <p:txBody>
          <a:bodyPr wrap="square">
            <a:spAutoFit/>
          </a:bodyPr>
          <a:lstStyle/>
          <a:p>
            <a:pPr algn="ctr"/>
            <a:r>
              <a:rPr lang="en-US" sz="3200" b="1" dirty="0" smtClean="0">
                <a:solidFill>
                  <a:schemeClr val="bg1"/>
                </a:solidFill>
                <a:latin typeface="Avenir Next Condensed" charset="0"/>
                <a:ea typeface="Avenir Next Condensed" charset="0"/>
                <a:cs typeface="Avenir Next Condensed" charset="0"/>
              </a:rPr>
              <a:t>And they</a:t>
            </a:r>
          </a:p>
          <a:p>
            <a:pPr algn="ctr"/>
            <a:r>
              <a:rPr lang="en-US" sz="3200" b="1" dirty="0">
                <a:solidFill>
                  <a:schemeClr val="bg1"/>
                </a:solidFill>
                <a:latin typeface="Avenir Next Condensed" charset="0"/>
                <a:ea typeface="Avenir Next Condensed" charset="0"/>
                <a:cs typeface="Avenir Next Condensed" charset="0"/>
              </a:rPr>
              <a:t>a</a:t>
            </a:r>
            <a:r>
              <a:rPr lang="en-US" sz="3200" b="1" dirty="0" smtClean="0">
                <a:solidFill>
                  <a:schemeClr val="bg1"/>
                </a:solidFill>
                <a:latin typeface="Avenir Next Condensed" charset="0"/>
                <a:ea typeface="Avenir Next Condensed" charset="0"/>
                <a:cs typeface="Avenir Next Condensed" charset="0"/>
              </a:rPr>
              <a:t>re all </a:t>
            </a:r>
          </a:p>
          <a:p>
            <a:pPr algn="ctr"/>
            <a:r>
              <a:rPr lang="en-US" sz="3200" b="1" dirty="0" smtClean="0">
                <a:solidFill>
                  <a:schemeClr val="bg1"/>
                </a:solidFill>
                <a:latin typeface="Avenir Next Condensed" charset="0"/>
                <a:ea typeface="Avenir Next Condensed" charset="0"/>
                <a:cs typeface="Avenir Next Condensed" charset="0"/>
              </a:rPr>
              <a:t>connected</a:t>
            </a:r>
            <a:endParaRPr lang="en-US" sz="3200" b="1" dirty="0">
              <a:solidFill>
                <a:schemeClr val="bg1"/>
              </a:solidFill>
              <a:latin typeface="Avenir Next Condensed" charset="0"/>
              <a:ea typeface="Avenir Next Condensed" charset="0"/>
              <a:cs typeface="Avenir Next Condensed" charset="0"/>
            </a:endParaRPr>
          </a:p>
        </p:txBody>
      </p:sp>
    </p:spTree>
    <p:extLst>
      <p:ext uri="{BB962C8B-B14F-4D97-AF65-F5344CB8AC3E}">
        <p14:creationId xmlns="" xmlns:p14="http://schemas.microsoft.com/office/powerpoint/2010/main" val="2277037292"/>
      </p:ext>
    </p:extLst>
  </p:cSld>
  <p:clrMapOvr>
    <a:masterClrMapping/>
  </p:clrMapOvr>
  <mc:AlternateContent xmlns:mc="http://schemas.openxmlformats.org/markup-compatibility/2006">
    <mc:Choice xmlns="" xmlns:p14="http://schemas.microsoft.com/office/powerpoint/2010/main" Requires="p14">
      <p:transition p14:dur="0"/>
    </mc:Choice>
    <mc:Fallback>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810491"/>
          </a:xfrm>
          <a:solidFill>
            <a:schemeClr val="accent1"/>
          </a:solidFill>
        </p:spPr>
        <p:txBody>
          <a:bodyPr>
            <a:normAutofit fontScale="90000"/>
          </a:bodyPr>
          <a:lstStyle/>
          <a:p>
            <a:pPr algn="ctr"/>
            <a:r>
              <a:rPr lang="en-US" sz="4000" b="1" dirty="0"/>
              <a:t>SDGs as a Network of Targets</a:t>
            </a:r>
            <a:r>
              <a:rPr lang="en-US" sz="2813" dirty="0"/>
              <a:t/>
            </a:r>
            <a:br>
              <a:rPr lang="en-US" sz="2813" dirty="0"/>
            </a:br>
            <a:endParaRPr lang="en-US" sz="2813" dirty="0"/>
          </a:p>
        </p:txBody>
      </p:sp>
      <p:pic>
        <p:nvPicPr>
          <p:cNvPr id="4" name="Picture 3"/>
          <p:cNvPicPr/>
          <p:nvPr/>
        </p:nvPicPr>
        <p:blipFill>
          <a:blip r:embed="rId2">
            <a:extLst>
              <a:ext uri="{28A0092B-C50C-407E-A947-70E740481C1C}">
                <a14:useLocalDpi xmlns="" xmlns:a14="http://schemas.microsoft.com/office/drawing/2010/main" val="0"/>
              </a:ext>
            </a:extLst>
          </a:blip>
          <a:stretch>
            <a:fillRect/>
          </a:stretch>
        </p:blipFill>
        <p:spPr>
          <a:xfrm rot="5400000">
            <a:off x="3133628" y="-2236570"/>
            <a:ext cx="5924746" cy="12192001"/>
          </a:xfrm>
          <a:prstGeom prst="rect">
            <a:avLst/>
          </a:prstGeom>
        </p:spPr>
      </p:pic>
    </p:spTree>
    <p:extLst>
      <p:ext uri="{BB962C8B-B14F-4D97-AF65-F5344CB8AC3E}">
        <p14:creationId xmlns="" xmlns:p14="http://schemas.microsoft.com/office/powerpoint/2010/main" val="176477492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94558" y="1"/>
            <a:ext cx="9997442" cy="1075969"/>
          </a:xfrm>
          <a:solidFill>
            <a:schemeClr val="accent1"/>
          </a:solidFill>
        </p:spPr>
        <p:txBody>
          <a:bodyPr>
            <a:normAutofit/>
          </a:bodyPr>
          <a:lstStyle/>
          <a:p>
            <a:r>
              <a:rPr lang="en-US" sz="4000" b="1" dirty="0" smtClean="0">
                <a:latin typeface="Avenir Next Condensed" charset="0"/>
                <a:ea typeface="Avenir Next Condensed" charset="0"/>
                <a:cs typeface="Avenir Next Condensed" charset="0"/>
              </a:rPr>
              <a:t>SDG # 3: Targets (13 including 4 </a:t>
            </a:r>
            <a:r>
              <a:rPr lang="en-US" sz="4000" b="1" dirty="0" err="1" smtClean="0">
                <a:latin typeface="Avenir Next Condensed" charset="0"/>
                <a:ea typeface="Avenir Next Condensed" charset="0"/>
                <a:cs typeface="Avenir Next Condensed" charset="0"/>
              </a:rPr>
              <a:t>MoI</a:t>
            </a:r>
            <a:r>
              <a:rPr lang="en-US" sz="4000" b="1" dirty="0" smtClean="0">
                <a:latin typeface="Avenir Next Condensed" charset="0"/>
                <a:ea typeface="Avenir Next Condensed" charset="0"/>
                <a:cs typeface="Avenir Next Condensed" charset="0"/>
              </a:rPr>
              <a:t>)</a:t>
            </a:r>
            <a:endParaRPr lang="en-US" sz="4000" dirty="0"/>
          </a:p>
        </p:txBody>
      </p:sp>
      <p:sp>
        <p:nvSpPr>
          <p:cNvPr id="4" name="Content Placeholder 3"/>
          <p:cNvSpPr>
            <a:spLocks noGrp="1"/>
          </p:cNvSpPr>
          <p:nvPr>
            <p:ph idx="1"/>
          </p:nvPr>
        </p:nvSpPr>
        <p:spPr>
          <a:xfrm>
            <a:off x="0" y="1075970"/>
            <a:ext cx="12192000" cy="5782029"/>
          </a:xfrm>
        </p:spPr>
        <p:txBody>
          <a:bodyPr/>
          <a:lstStyle/>
          <a:p>
            <a:pPr marL="0" indent="0">
              <a:buNone/>
            </a:pPr>
            <a:endParaRPr lang="en-US" b="1" dirty="0"/>
          </a:p>
        </p:txBody>
      </p:sp>
      <p:sp>
        <p:nvSpPr>
          <p:cNvPr id="5" name="TextBox 4"/>
          <p:cNvSpPr txBox="1"/>
          <p:nvPr/>
        </p:nvSpPr>
        <p:spPr>
          <a:xfrm>
            <a:off x="35354" y="1112215"/>
            <a:ext cx="6425515" cy="307777"/>
          </a:xfrm>
          <a:prstGeom prst="rect">
            <a:avLst/>
          </a:prstGeom>
          <a:solidFill>
            <a:schemeClr val="bg2"/>
          </a:solidFill>
        </p:spPr>
        <p:txBody>
          <a:bodyPr wrap="square" rtlCol="0">
            <a:spAutoFit/>
          </a:bodyPr>
          <a:lstStyle/>
          <a:p>
            <a:r>
              <a:rPr lang="en-GB" sz="1400" dirty="0"/>
              <a:t>Target 3.1: By 2030, reduce the global </a:t>
            </a:r>
            <a:r>
              <a:rPr lang="en-GB" sz="1400" u="sng" dirty="0" smtClean="0"/>
              <a:t>MMR</a:t>
            </a:r>
            <a:r>
              <a:rPr lang="en-GB" sz="1400" dirty="0" smtClean="0"/>
              <a:t> </a:t>
            </a:r>
            <a:r>
              <a:rPr lang="en-GB" sz="1400" dirty="0"/>
              <a:t>to less than 70 per 100,000 live births</a:t>
            </a:r>
            <a:endParaRPr lang="en-US" sz="1400" dirty="0"/>
          </a:p>
        </p:txBody>
      </p:sp>
      <p:sp>
        <p:nvSpPr>
          <p:cNvPr id="6" name="TextBox 5"/>
          <p:cNvSpPr txBox="1"/>
          <p:nvPr/>
        </p:nvSpPr>
        <p:spPr>
          <a:xfrm>
            <a:off x="35355" y="1435260"/>
            <a:ext cx="6425514" cy="830997"/>
          </a:xfrm>
          <a:prstGeom prst="rect">
            <a:avLst/>
          </a:prstGeom>
          <a:solidFill>
            <a:schemeClr val="accent2">
              <a:lumMod val="40000"/>
              <a:lumOff val="60000"/>
            </a:schemeClr>
          </a:solidFill>
        </p:spPr>
        <p:txBody>
          <a:bodyPr wrap="square" rtlCol="0">
            <a:spAutoFit/>
          </a:bodyPr>
          <a:lstStyle/>
          <a:p>
            <a:r>
              <a:rPr lang="en-GB" sz="1600" dirty="0"/>
              <a:t>Target 3.2: By 2030, end preventable deaths of </a:t>
            </a:r>
            <a:r>
              <a:rPr lang="en-GB" sz="1600" u="sng" dirty="0"/>
              <a:t>new-borns and children under 5 years</a:t>
            </a:r>
            <a:r>
              <a:rPr lang="en-GB" sz="1600" dirty="0"/>
              <a:t> of age, with all countries aiming to reduce </a:t>
            </a:r>
            <a:r>
              <a:rPr lang="en-GB" sz="1600" dirty="0" smtClean="0"/>
              <a:t>NMR to </a:t>
            </a:r>
            <a:r>
              <a:rPr lang="en-GB" sz="1600" dirty="0"/>
              <a:t>at least as low as 12 per 1,000 </a:t>
            </a:r>
            <a:r>
              <a:rPr lang="en-GB" sz="1600" dirty="0" smtClean="0"/>
              <a:t>LB </a:t>
            </a:r>
            <a:r>
              <a:rPr lang="en-GB" sz="1600" dirty="0"/>
              <a:t>and </a:t>
            </a:r>
            <a:r>
              <a:rPr lang="en-GB" sz="1600" dirty="0" smtClean="0"/>
              <a:t>U5MR </a:t>
            </a:r>
            <a:r>
              <a:rPr lang="en-GB" sz="1600" dirty="0"/>
              <a:t>to at least as low as 25 per 1,000 </a:t>
            </a:r>
            <a:r>
              <a:rPr lang="en-GB" sz="1600" dirty="0" smtClean="0"/>
              <a:t>LB</a:t>
            </a:r>
            <a:endParaRPr lang="en-US" sz="1600" dirty="0"/>
          </a:p>
        </p:txBody>
      </p:sp>
      <p:sp>
        <p:nvSpPr>
          <p:cNvPr id="7" name="TextBox 6"/>
          <p:cNvSpPr txBox="1"/>
          <p:nvPr/>
        </p:nvSpPr>
        <p:spPr>
          <a:xfrm>
            <a:off x="35356" y="2291491"/>
            <a:ext cx="6425514" cy="830997"/>
          </a:xfrm>
          <a:prstGeom prst="rect">
            <a:avLst/>
          </a:prstGeom>
          <a:solidFill>
            <a:schemeClr val="accent1"/>
          </a:solidFill>
        </p:spPr>
        <p:txBody>
          <a:bodyPr wrap="square" rtlCol="0">
            <a:spAutoFit/>
          </a:bodyPr>
          <a:lstStyle/>
          <a:p>
            <a:r>
              <a:rPr lang="en-GB" sz="1600" dirty="0"/>
              <a:t>Target 3.3: By 2030, end the epidemics of </a:t>
            </a:r>
            <a:r>
              <a:rPr lang="en-GB" sz="1600" u="sng" dirty="0"/>
              <a:t>AIDS, tuberculosis, malaria </a:t>
            </a:r>
            <a:r>
              <a:rPr lang="en-GB" sz="1600" dirty="0"/>
              <a:t>and neglected tropical diseases and combat hepatitis, water-borne diseases and other communicable </a:t>
            </a:r>
            <a:r>
              <a:rPr lang="en-GB" sz="1600" dirty="0" smtClean="0"/>
              <a:t>diseases</a:t>
            </a:r>
            <a:endParaRPr lang="en-US" dirty="0"/>
          </a:p>
        </p:txBody>
      </p:sp>
      <p:sp>
        <p:nvSpPr>
          <p:cNvPr id="8" name="TextBox 7"/>
          <p:cNvSpPr txBox="1"/>
          <p:nvPr/>
        </p:nvSpPr>
        <p:spPr>
          <a:xfrm rot="10800000" flipV="1">
            <a:off x="35355" y="3138356"/>
            <a:ext cx="6425514" cy="830997"/>
          </a:xfrm>
          <a:prstGeom prst="rect">
            <a:avLst/>
          </a:prstGeom>
          <a:solidFill>
            <a:schemeClr val="accent2"/>
          </a:solidFill>
        </p:spPr>
        <p:txBody>
          <a:bodyPr wrap="square" rtlCol="0">
            <a:spAutoFit/>
          </a:bodyPr>
          <a:lstStyle/>
          <a:p>
            <a:r>
              <a:rPr lang="en-GB" sz="1600" dirty="0"/>
              <a:t>Target 3.4: By 2030, reduce by </a:t>
            </a:r>
            <a:r>
              <a:rPr lang="en-GB" sz="1600" u="sng" dirty="0"/>
              <a:t>one third premature mortality from </a:t>
            </a:r>
            <a:r>
              <a:rPr lang="en-GB" sz="1600" u="sng" dirty="0" smtClean="0"/>
              <a:t>NCD </a:t>
            </a:r>
            <a:r>
              <a:rPr lang="en-GB" sz="1600" dirty="0"/>
              <a:t>through prevention and treatment and promote mental health and </a:t>
            </a:r>
            <a:r>
              <a:rPr lang="en-GB" sz="1600" dirty="0" smtClean="0"/>
              <a:t>well-being</a:t>
            </a:r>
            <a:endParaRPr lang="en-US" sz="1600" dirty="0"/>
          </a:p>
        </p:txBody>
      </p:sp>
      <p:sp>
        <p:nvSpPr>
          <p:cNvPr id="9" name="TextBox 8"/>
          <p:cNvSpPr txBox="1"/>
          <p:nvPr/>
        </p:nvSpPr>
        <p:spPr>
          <a:xfrm>
            <a:off x="35355" y="4002231"/>
            <a:ext cx="6425509" cy="584775"/>
          </a:xfrm>
          <a:prstGeom prst="rect">
            <a:avLst/>
          </a:prstGeom>
          <a:solidFill>
            <a:schemeClr val="accent3"/>
          </a:solidFill>
        </p:spPr>
        <p:txBody>
          <a:bodyPr wrap="square" rtlCol="0">
            <a:spAutoFit/>
          </a:bodyPr>
          <a:lstStyle/>
          <a:p>
            <a:r>
              <a:rPr lang="en-GB" sz="1600" dirty="0"/>
              <a:t>Target 3.5: Strengthen the prevention and treatment of substance abuse, including </a:t>
            </a:r>
            <a:r>
              <a:rPr lang="en-GB" sz="1600" u="sng" dirty="0"/>
              <a:t>narcotic drug abuse and harmful use of alcohol</a:t>
            </a:r>
            <a:endParaRPr lang="en-US" sz="1600" u="sng" dirty="0"/>
          </a:p>
        </p:txBody>
      </p:sp>
      <p:sp>
        <p:nvSpPr>
          <p:cNvPr id="10" name="TextBox 9"/>
          <p:cNvSpPr txBox="1"/>
          <p:nvPr/>
        </p:nvSpPr>
        <p:spPr>
          <a:xfrm>
            <a:off x="35354" y="4615889"/>
            <a:ext cx="6425510" cy="584775"/>
          </a:xfrm>
          <a:prstGeom prst="rect">
            <a:avLst/>
          </a:prstGeom>
          <a:solidFill>
            <a:schemeClr val="accent4"/>
          </a:solidFill>
        </p:spPr>
        <p:txBody>
          <a:bodyPr wrap="square" rtlCol="0">
            <a:spAutoFit/>
          </a:bodyPr>
          <a:lstStyle/>
          <a:p>
            <a:r>
              <a:rPr lang="en-GB" sz="1600" dirty="0"/>
              <a:t>Target 3.6: By 2020, </a:t>
            </a:r>
            <a:r>
              <a:rPr lang="en-GB" sz="1600" u="sng" dirty="0"/>
              <a:t>halve the number of global deaths and injuries </a:t>
            </a:r>
            <a:r>
              <a:rPr lang="en-GB" sz="1600" dirty="0"/>
              <a:t>from road traffic accidents</a:t>
            </a:r>
            <a:endParaRPr lang="en-US" sz="1600" dirty="0"/>
          </a:p>
        </p:txBody>
      </p:sp>
      <p:sp>
        <p:nvSpPr>
          <p:cNvPr id="11" name="TextBox 10"/>
          <p:cNvSpPr txBox="1"/>
          <p:nvPr/>
        </p:nvSpPr>
        <p:spPr>
          <a:xfrm>
            <a:off x="35355" y="5235220"/>
            <a:ext cx="6425510" cy="830997"/>
          </a:xfrm>
          <a:prstGeom prst="rect">
            <a:avLst/>
          </a:prstGeom>
          <a:solidFill>
            <a:schemeClr val="accent5"/>
          </a:solidFill>
        </p:spPr>
        <p:txBody>
          <a:bodyPr wrap="square" rtlCol="0">
            <a:spAutoFit/>
          </a:bodyPr>
          <a:lstStyle/>
          <a:p>
            <a:r>
              <a:rPr lang="en-GB" sz="1600" dirty="0"/>
              <a:t>Target 3.7: By 2030, ensure universal </a:t>
            </a:r>
            <a:r>
              <a:rPr lang="en-GB" sz="1600" u="sng" dirty="0"/>
              <a:t>access to </a:t>
            </a:r>
            <a:r>
              <a:rPr lang="en-GB" sz="1600" u="sng" dirty="0" smtClean="0"/>
              <a:t>SRH-care </a:t>
            </a:r>
            <a:r>
              <a:rPr lang="en-GB" sz="1600" u="sng" dirty="0"/>
              <a:t>services</a:t>
            </a:r>
            <a:r>
              <a:rPr lang="en-GB" sz="1600" dirty="0"/>
              <a:t>, including for </a:t>
            </a:r>
            <a:r>
              <a:rPr lang="en-GB" sz="1600" dirty="0" smtClean="0"/>
              <a:t>FP, </a:t>
            </a:r>
            <a:r>
              <a:rPr lang="en-GB" sz="1600" dirty="0"/>
              <a:t>information and education, and the integration of </a:t>
            </a:r>
            <a:r>
              <a:rPr lang="en-GB" sz="1600" dirty="0" smtClean="0"/>
              <a:t>RH </a:t>
            </a:r>
            <a:r>
              <a:rPr lang="en-GB" sz="1600" dirty="0"/>
              <a:t>into national strategies and programmes</a:t>
            </a:r>
            <a:endParaRPr lang="en-US" sz="1600" dirty="0"/>
          </a:p>
        </p:txBody>
      </p:sp>
      <p:sp>
        <p:nvSpPr>
          <p:cNvPr id="12" name="TextBox 11"/>
          <p:cNvSpPr txBox="1"/>
          <p:nvPr/>
        </p:nvSpPr>
        <p:spPr>
          <a:xfrm>
            <a:off x="35349" y="6052126"/>
            <a:ext cx="6425515" cy="830997"/>
          </a:xfrm>
          <a:prstGeom prst="rect">
            <a:avLst/>
          </a:prstGeom>
          <a:solidFill>
            <a:schemeClr val="accent4"/>
          </a:solidFill>
        </p:spPr>
        <p:txBody>
          <a:bodyPr wrap="square" rtlCol="0">
            <a:spAutoFit/>
          </a:bodyPr>
          <a:lstStyle/>
          <a:p>
            <a:r>
              <a:rPr lang="en-GB" sz="1600" dirty="0"/>
              <a:t>Target 3.8: </a:t>
            </a:r>
            <a:r>
              <a:rPr lang="en-GB" sz="1600" u="sng" dirty="0"/>
              <a:t>Achieve </a:t>
            </a:r>
            <a:r>
              <a:rPr lang="en-GB" sz="1600" u="sng" dirty="0" smtClean="0"/>
              <a:t>UHC</a:t>
            </a:r>
            <a:r>
              <a:rPr lang="en-GB" sz="1600" dirty="0" smtClean="0"/>
              <a:t>, </a:t>
            </a:r>
            <a:r>
              <a:rPr lang="en-GB" sz="1600" dirty="0"/>
              <a:t>including financial risk protection, access to quality essential health-care services and access to safe, effective, quality and affordable essential medicines and vaccines for all</a:t>
            </a:r>
            <a:r>
              <a:rPr lang="en-US" sz="1600" dirty="0" smtClean="0"/>
              <a:t> </a:t>
            </a:r>
            <a:endParaRPr lang="en-US" sz="1600" dirty="0"/>
          </a:p>
        </p:txBody>
      </p:sp>
      <p:sp>
        <p:nvSpPr>
          <p:cNvPr id="13" name="TextBox 12"/>
          <p:cNvSpPr txBox="1"/>
          <p:nvPr/>
        </p:nvSpPr>
        <p:spPr>
          <a:xfrm>
            <a:off x="6496223" y="1135470"/>
            <a:ext cx="5695774" cy="830997"/>
          </a:xfrm>
          <a:prstGeom prst="rect">
            <a:avLst/>
          </a:prstGeom>
          <a:solidFill>
            <a:schemeClr val="accent2">
              <a:lumMod val="75000"/>
            </a:schemeClr>
          </a:solidFill>
        </p:spPr>
        <p:txBody>
          <a:bodyPr wrap="square" rtlCol="0">
            <a:spAutoFit/>
          </a:bodyPr>
          <a:lstStyle/>
          <a:p>
            <a:r>
              <a:rPr lang="en-GB" sz="1600" dirty="0"/>
              <a:t>Target 3.9: By 2030, substantially reduce the number of deaths and illnesses from </a:t>
            </a:r>
            <a:r>
              <a:rPr lang="en-GB" sz="1600" u="sng" dirty="0"/>
              <a:t>hazardous chemicals and air, water and soil pollution</a:t>
            </a:r>
            <a:r>
              <a:rPr lang="en-GB" sz="1600" dirty="0"/>
              <a:t> and contamination</a:t>
            </a:r>
            <a:endParaRPr lang="en-US" sz="1600" dirty="0"/>
          </a:p>
        </p:txBody>
      </p:sp>
      <p:sp>
        <p:nvSpPr>
          <p:cNvPr id="14" name="TextBox 13"/>
          <p:cNvSpPr txBox="1"/>
          <p:nvPr/>
        </p:nvSpPr>
        <p:spPr>
          <a:xfrm>
            <a:off x="6531579" y="1993404"/>
            <a:ext cx="5660417" cy="584775"/>
          </a:xfrm>
          <a:prstGeom prst="rect">
            <a:avLst/>
          </a:prstGeom>
          <a:solidFill>
            <a:schemeClr val="accent6"/>
          </a:solidFill>
        </p:spPr>
        <p:txBody>
          <a:bodyPr wrap="square" rtlCol="0">
            <a:spAutoFit/>
          </a:bodyPr>
          <a:lstStyle/>
          <a:p>
            <a:r>
              <a:rPr lang="en-GB" sz="1600" dirty="0"/>
              <a:t>Target 3.a: Strengthen the implementation of the </a:t>
            </a:r>
            <a:r>
              <a:rPr lang="en-GB" sz="1600" u="sng" dirty="0" smtClean="0"/>
              <a:t>WHO FCTC  </a:t>
            </a:r>
            <a:r>
              <a:rPr lang="en-GB" sz="1600" dirty="0" smtClean="0"/>
              <a:t>in </a:t>
            </a:r>
            <a:r>
              <a:rPr lang="en-GB" sz="1600" dirty="0"/>
              <a:t>all countries, as appropriate</a:t>
            </a:r>
            <a:endParaRPr lang="en-US" sz="1600" dirty="0"/>
          </a:p>
        </p:txBody>
      </p:sp>
      <p:sp>
        <p:nvSpPr>
          <p:cNvPr id="15" name="TextBox 14"/>
          <p:cNvSpPr txBox="1"/>
          <p:nvPr/>
        </p:nvSpPr>
        <p:spPr>
          <a:xfrm>
            <a:off x="6460869" y="2638628"/>
            <a:ext cx="5731126" cy="2062103"/>
          </a:xfrm>
          <a:prstGeom prst="rect">
            <a:avLst/>
          </a:prstGeom>
          <a:solidFill>
            <a:schemeClr val="accent6"/>
          </a:solidFill>
        </p:spPr>
        <p:txBody>
          <a:bodyPr wrap="square" rtlCol="0">
            <a:spAutoFit/>
          </a:bodyPr>
          <a:lstStyle/>
          <a:p>
            <a:pPr algn="just"/>
            <a:r>
              <a:rPr lang="en-GB" sz="1600" dirty="0"/>
              <a:t>Target 3.b: Support the </a:t>
            </a:r>
            <a:r>
              <a:rPr lang="en-GB" sz="1600" u="sng" dirty="0" smtClean="0"/>
              <a:t>R&amp;D </a:t>
            </a:r>
            <a:r>
              <a:rPr lang="en-GB" sz="1600" u="sng" dirty="0"/>
              <a:t>of vaccines and medicines </a:t>
            </a:r>
            <a:r>
              <a:rPr lang="en-GB" sz="1600" dirty="0"/>
              <a:t>for the communicable and </a:t>
            </a:r>
            <a:r>
              <a:rPr lang="en-GB" sz="1600" dirty="0" smtClean="0"/>
              <a:t>NCD </a:t>
            </a:r>
            <a:r>
              <a:rPr lang="en-GB" sz="1600" dirty="0"/>
              <a:t>that primarily affect developing countries, provide access to affordable essential medicines and vaccines, in accordance with the Doha Declaration on the TRIPS Agreement and </a:t>
            </a:r>
            <a:r>
              <a:rPr lang="en-GB" sz="1600" dirty="0" smtClean="0"/>
              <a:t>PH, </a:t>
            </a:r>
            <a:r>
              <a:rPr lang="en-GB" sz="1600" dirty="0"/>
              <a:t>which affirms the right of developing countries to use to the full the provisions in the Agreement on Trade Related Aspects of </a:t>
            </a:r>
            <a:r>
              <a:rPr lang="en-GB" sz="1600" dirty="0" smtClean="0"/>
              <a:t>IPRs </a:t>
            </a:r>
            <a:r>
              <a:rPr lang="en-GB" sz="1600" dirty="0"/>
              <a:t>regarding flexibilities to protect </a:t>
            </a:r>
            <a:r>
              <a:rPr lang="en-GB" sz="1600" dirty="0" smtClean="0"/>
              <a:t>PH, </a:t>
            </a:r>
            <a:r>
              <a:rPr lang="en-GB" sz="1600" dirty="0"/>
              <a:t>and, in  particular, provide access to medicines for all</a:t>
            </a:r>
            <a:endParaRPr lang="en-US" sz="1600" dirty="0"/>
          </a:p>
        </p:txBody>
      </p:sp>
      <p:sp>
        <p:nvSpPr>
          <p:cNvPr id="16" name="TextBox 15"/>
          <p:cNvSpPr txBox="1"/>
          <p:nvPr/>
        </p:nvSpPr>
        <p:spPr>
          <a:xfrm>
            <a:off x="6496223" y="4736243"/>
            <a:ext cx="5695772" cy="954107"/>
          </a:xfrm>
          <a:prstGeom prst="rect">
            <a:avLst/>
          </a:prstGeom>
          <a:solidFill>
            <a:schemeClr val="accent6"/>
          </a:solidFill>
        </p:spPr>
        <p:txBody>
          <a:bodyPr wrap="square" rtlCol="0">
            <a:spAutoFit/>
          </a:bodyPr>
          <a:lstStyle/>
          <a:p>
            <a:r>
              <a:rPr lang="en-GB" sz="1400" dirty="0"/>
              <a:t>Target 3.c: Substantially increase </a:t>
            </a:r>
            <a:r>
              <a:rPr lang="en-GB" sz="1400" u="sng" dirty="0"/>
              <a:t>health financing and the recruitment</a:t>
            </a:r>
            <a:r>
              <a:rPr lang="en-GB" sz="1400" dirty="0"/>
              <a:t>, development, training and retention of the health  workforce in developing countries, especially in least developed countries and small island developing States</a:t>
            </a:r>
            <a:endParaRPr lang="en-US" sz="1400" dirty="0"/>
          </a:p>
        </p:txBody>
      </p:sp>
      <p:pic>
        <p:nvPicPr>
          <p:cNvPr id="18" name="Picture 17"/>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0" y="-1"/>
            <a:ext cx="2194558" cy="1075971"/>
          </a:xfrm>
          <a:prstGeom prst="rect">
            <a:avLst/>
          </a:prstGeom>
        </p:spPr>
      </p:pic>
      <p:sp>
        <p:nvSpPr>
          <p:cNvPr id="3" name="TextBox 2"/>
          <p:cNvSpPr txBox="1"/>
          <p:nvPr/>
        </p:nvSpPr>
        <p:spPr>
          <a:xfrm>
            <a:off x="6496213" y="5711483"/>
            <a:ext cx="5695782" cy="1200329"/>
          </a:xfrm>
          <a:prstGeom prst="rect">
            <a:avLst/>
          </a:prstGeom>
          <a:solidFill>
            <a:schemeClr val="accent6"/>
          </a:solidFill>
        </p:spPr>
        <p:txBody>
          <a:bodyPr wrap="square" rtlCol="0">
            <a:spAutoFit/>
          </a:bodyPr>
          <a:lstStyle/>
          <a:p>
            <a:pPr algn="just"/>
            <a:r>
              <a:rPr lang="en-GB" dirty="0"/>
              <a:t>Target 3.d: </a:t>
            </a:r>
            <a:r>
              <a:rPr lang="en-GB" u="sng" dirty="0"/>
              <a:t>Strengthen the capacity </a:t>
            </a:r>
            <a:r>
              <a:rPr lang="en-GB" dirty="0"/>
              <a:t>of all countries, in particular developing countries, for early warning, risk reduction and management of national and global health risks</a:t>
            </a:r>
            <a:endParaRPr lang="en-US" dirty="0"/>
          </a:p>
        </p:txBody>
      </p:sp>
    </p:spTree>
    <p:extLst>
      <p:ext uri="{BB962C8B-B14F-4D97-AF65-F5344CB8AC3E}">
        <p14:creationId xmlns="" xmlns:p14="http://schemas.microsoft.com/office/powerpoint/2010/main" val="422037066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60620" y="2009104"/>
            <a:ext cx="914400" cy="238001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smtClean="0"/>
              <a:t>Social = People</a:t>
            </a:r>
            <a:endParaRPr lang="en-US" dirty="0"/>
          </a:p>
        </p:txBody>
      </p:sp>
      <p:sp>
        <p:nvSpPr>
          <p:cNvPr id="5" name="Rectangle 4"/>
          <p:cNvSpPr/>
          <p:nvPr/>
        </p:nvSpPr>
        <p:spPr>
          <a:xfrm>
            <a:off x="3291840" y="2009104"/>
            <a:ext cx="1005840" cy="2380016"/>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smtClean="0"/>
              <a:t>Economic = Prosperity  </a:t>
            </a:r>
            <a:endParaRPr lang="en-US" dirty="0"/>
          </a:p>
        </p:txBody>
      </p:sp>
      <p:sp>
        <p:nvSpPr>
          <p:cNvPr id="6" name="Rectangle 5"/>
          <p:cNvSpPr/>
          <p:nvPr/>
        </p:nvSpPr>
        <p:spPr>
          <a:xfrm>
            <a:off x="4543865" y="2009104"/>
            <a:ext cx="914400" cy="2380016"/>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smtClean="0"/>
              <a:t>Environmental  = Planet </a:t>
            </a:r>
            <a:endParaRPr lang="en-US" dirty="0"/>
          </a:p>
        </p:txBody>
      </p:sp>
      <p:sp>
        <p:nvSpPr>
          <p:cNvPr id="15" name="Isosceles Triangle 14"/>
          <p:cNvSpPr/>
          <p:nvPr/>
        </p:nvSpPr>
        <p:spPr>
          <a:xfrm>
            <a:off x="2060620" y="528034"/>
            <a:ext cx="3397645" cy="148107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Sustainable Development Goals  </a:t>
            </a:r>
            <a:endParaRPr lang="en-US" dirty="0"/>
          </a:p>
        </p:txBody>
      </p:sp>
      <p:sp>
        <p:nvSpPr>
          <p:cNvPr id="16" name="Rectangle 15"/>
          <p:cNvSpPr/>
          <p:nvPr/>
        </p:nvSpPr>
        <p:spPr>
          <a:xfrm>
            <a:off x="2060618" y="4389120"/>
            <a:ext cx="3397646" cy="534572"/>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Peace </a:t>
            </a:r>
            <a:endParaRPr lang="en-US" dirty="0"/>
          </a:p>
        </p:txBody>
      </p:sp>
      <p:sp>
        <p:nvSpPr>
          <p:cNvPr id="18" name="Rectangle 17"/>
          <p:cNvSpPr/>
          <p:nvPr/>
        </p:nvSpPr>
        <p:spPr>
          <a:xfrm>
            <a:off x="2060618" y="4923692"/>
            <a:ext cx="3397646" cy="464234"/>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Partnership </a:t>
            </a:r>
            <a:endParaRPr lang="en-US" dirty="0"/>
          </a:p>
        </p:txBody>
      </p:sp>
      <p:pic>
        <p:nvPicPr>
          <p:cNvPr id="12" name="Picture 11"/>
          <p:cNvPicPr>
            <a:picLocks noChangeAspect="1"/>
          </p:cNvPicPr>
          <p:nvPr/>
        </p:nvPicPr>
        <p:blipFill rotWithShape="1">
          <a:blip r:embed="rId2">
            <a:extLst>
              <a:ext uri="{28A0092B-C50C-407E-A947-70E740481C1C}">
                <a14:useLocalDpi xmlns="" xmlns:a14="http://schemas.microsoft.com/office/drawing/2010/main" val="0"/>
              </a:ext>
            </a:extLst>
          </a:blip>
          <a:srcRect l="2405" t="2859" r="3186" b="3824"/>
          <a:stretch/>
        </p:blipFill>
        <p:spPr>
          <a:xfrm>
            <a:off x="5872766" y="763019"/>
            <a:ext cx="6319234" cy="4142190"/>
          </a:xfrm>
          <a:prstGeom prst="rect">
            <a:avLst/>
          </a:prstGeom>
          <a:solidFill>
            <a:srgbClr val="FFFFFF"/>
          </a:solidFill>
        </p:spPr>
      </p:pic>
      <p:sp>
        <p:nvSpPr>
          <p:cNvPr id="2" name="TextBox 1"/>
          <p:cNvSpPr txBox="1"/>
          <p:nvPr/>
        </p:nvSpPr>
        <p:spPr>
          <a:xfrm>
            <a:off x="7997780" y="206062"/>
            <a:ext cx="4194220" cy="523220"/>
          </a:xfrm>
          <a:prstGeom prst="rect">
            <a:avLst/>
          </a:prstGeom>
          <a:solidFill>
            <a:schemeClr val="accent2"/>
          </a:solidFill>
        </p:spPr>
        <p:txBody>
          <a:bodyPr wrap="square" rtlCol="0">
            <a:spAutoFit/>
          </a:bodyPr>
          <a:lstStyle/>
          <a:p>
            <a:r>
              <a:rPr lang="en-US" sz="2800" b="1" dirty="0" smtClean="0"/>
              <a:t>17 Goals in 5Ps</a:t>
            </a:r>
            <a:r>
              <a:rPr lang="en-US" sz="2800" dirty="0" smtClean="0"/>
              <a:t> </a:t>
            </a:r>
            <a:endParaRPr lang="en-US" sz="2800" dirty="0"/>
          </a:p>
        </p:txBody>
      </p:sp>
      <p:sp>
        <p:nvSpPr>
          <p:cNvPr id="3" name="TextBox 2"/>
          <p:cNvSpPr txBox="1"/>
          <p:nvPr/>
        </p:nvSpPr>
        <p:spPr>
          <a:xfrm>
            <a:off x="5872767" y="5106566"/>
            <a:ext cx="6319234" cy="1200329"/>
          </a:xfrm>
          <a:prstGeom prst="rect">
            <a:avLst/>
          </a:prstGeom>
          <a:solidFill>
            <a:schemeClr val="accent1"/>
          </a:solidFill>
        </p:spPr>
        <p:txBody>
          <a:bodyPr wrap="square" rtlCol="0">
            <a:spAutoFit/>
          </a:bodyPr>
          <a:lstStyle/>
          <a:p>
            <a:r>
              <a:rPr lang="en-US" b="1" dirty="0"/>
              <a:t>“The new agenda is a promise by leaders to all people everywhere. It is an agenda for people, to end poverty in all its forms—an agenda for the planet,” Ban Ki-moon, UN Secretary-General in 70</a:t>
            </a:r>
            <a:r>
              <a:rPr lang="en-US" b="1" baseline="30000" dirty="0"/>
              <a:t>th</a:t>
            </a:r>
            <a:r>
              <a:rPr lang="en-US" b="1" dirty="0"/>
              <a:t> </a:t>
            </a:r>
            <a:r>
              <a:rPr lang="en-US" b="1" dirty="0" smtClean="0"/>
              <a:t>UNGA</a:t>
            </a:r>
            <a:endParaRPr lang="en-US" b="1" dirty="0"/>
          </a:p>
        </p:txBody>
      </p:sp>
      <p:sp>
        <p:nvSpPr>
          <p:cNvPr id="7" name="TextBox 6"/>
          <p:cNvSpPr txBox="1"/>
          <p:nvPr/>
        </p:nvSpPr>
        <p:spPr>
          <a:xfrm>
            <a:off x="0" y="1927261"/>
            <a:ext cx="1941342" cy="369332"/>
          </a:xfrm>
          <a:prstGeom prst="rect">
            <a:avLst/>
          </a:prstGeom>
          <a:solidFill>
            <a:srgbClr val="FF0000"/>
          </a:solidFill>
        </p:spPr>
        <p:txBody>
          <a:bodyPr wrap="square" rtlCol="0">
            <a:spAutoFit/>
          </a:bodyPr>
          <a:lstStyle/>
          <a:p>
            <a:r>
              <a:rPr lang="en-US" b="1" dirty="0" smtClean="0"/>
              <a:t>AMBITION</a:t>
            </a:r>
            <a:endParaRPr lang="en-US" b="1" dirty="0"/>
          </a:p>
        </p:txBody>
      </p:sp>
      <p:sp>
        <p:nvSpPr>
          <p:cNvPr id="8" name="TextBox 7"/>
          <p:cNvSpPr txBox="1"/>
          <p:nvPr/>
        </p:nvSpPr>
        <p:spPr>
          <a:xfrm>
            <a:off x="1" y="2321152"/>
            <a:ext cx="1941342" cy="4524315"/>
          </a:xfrm>
          <a:prstGeom prst="rect">
            <a:avLst/>
          </a:prstGeom>
          <a:solidFill>
            <a:schemeClr val="accent3"/>
          </a:solidFill>
        </p:spPr>
        <p:txBody>
          <a:bodyPr wrap="square" rtlCol="0">
            <a:spAutoFit/>
          </a:bodyPr>
          <a:lstStyle/>
          <a:p>
            <a:r>
              <a:rPr lang="en-US" b="1" dirty="0"/>
              <a:t>Leave no one behind &amp; reach furthest behind first</a:t>
            </a:r>
          </a:p>
          <a:p>
            <a:pPr marL="274320" indent="-274320">
              <a:buFont typeface="Wingdings" panose="05000000000000000000" pitchFamily="2" charset="2"/>
              <a:buChar char="§"/>
            </a:pPr>
            <a:r>
              <a:rPr lang="en-US" dirty="0" smtClean="0"/>
              <a:t>Requires </a:t>
            </a:r>
            <a:r>
              <a:rPr lang="en-US" dirty="0"/>
              <a:t>going ‘the last mile’, addressing economic, social, and political factors of exclusion</a:t>
            </a:r>
          </a:p>
          <a:p>
            <a:pPr marL="274320" indent="-274320">
              <a:buFont typeface="Wingdings" panose="05000000000000000000" pitchFamily="2" charset="2"/>
              <a:buChar char="§"/>
            </a:pPr>
            <a:r>
              <a:rPr lang="en-US" dirty="0"/>
              <a:t>Implies risk-informed planning, strengthening </a:t>
            </a:r>
            <a:r>
              <a:rPr lang="en-US" dirty="0" smtClean="0"/>
              <a:t>resilience</a:t>
            </a:r>
            <a:endParaRPr lang="en-US" dirty="0"/>
          </a:p>
        </p:txBody>
      </p:sp>
    </p:spTree>
    <p:extLst>
      <p:ext uri="{BB962C8B-B14F-4D97-AF65-F5344CB8AC3E}">
        <p14:creationId xmlns="" xmlns:p14="http://schemas.microsoft.com/office/powerpoint/2010/main" val="1177928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anim calcmode="lin" valueType="num">
                                      <p:cBhvr>
                                        <p:cTn id="19" dur="1000" fill="hold"/>
                                        <p:tgtEl>
                                          <p:spTgt spid="5"/>
                                        </p:tgtEl>
                                        <p:attrNameLst>
                                          <p:attrName>ppt_x</p:attrName>
                                        </p:attrNameLst>
                                      </p:cBhvr>
                                      <p:tavLst>
                                        <p:tav tm="0">
                                          <p:val>
                                            <p:strVal val="#ppt_x"/>
                                          </p:val>
                                        </p:tav>
                                        <p:tav tm="100000">
                                          <p:val>
                                            <p:strVal val="#ppt_x"/>
                                          </p:val>
                                        </p:tav>
                                      </p:tavLst>
                                    </p:anim>
                                    <p:anim calcmode="lin" valueType="num">
                                      <p:cBhvr>
                                        <p:cTn id="20"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arn(inVertical)">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down)">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circle(in)">
                                      <p:cBhvr>
                                        <p:cTn id="35"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5" grpId="0" animBg="1"/>
      <p:bldP spid="16" grpId="0" animBg="1"/>
      <p:bldP spid="1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0" y="0"/>
            <a:ext cx="12192000" cy="6858000"/>
          </a:xfrm>
          <a:prstGeom prst="rect">
            <a:avLst/>
          </a:prstGeom>
        </p:spPr>
      </p:pic>
      <p:sp>
        <p:nvSpPr>
          <p:cNvPr id="5" name="CustomShape 2"/>
          <p:cNvSpPr/>
          <p:nvPr/>
        </p:nvSpPr>
        <p:spPr>
          <a:xfrm>
            <a:off x="1120461" y="115909"/>
            <a:ext cx="7778839" cy="2730320"/>
          </a:xfrm>
          <a:prstGeom prst="rect">
            <a:avLst/>
          </a:prstGeom>
          <a:noFill/>
          <a:ln w="12600">
            <a:noFill/>
          </a:ln>
        </p:spPr>
        <p:style>
          <a:lnRef idx="0">
            <a:scrgbClr r="0" g="0" b="0"/>
          </a:lnRef>
          <a:fillRef idx="0">
            <a:scrgbClr r="0" g="0" b="0"/>
          </a:fillRef>
          <a:effectRef idx="0">
            <a:scrgbClr r="0" g="0" b="0"/>
          </a:effectRef>
          <a:fontRef idx="minor"/>
        </p:style>
        <p:txBody>
          <a:bodyPr lIns="40697" tIns="40697" rIns="40697" bIns="40697" anchor="ctr"/>
          <a:lstStyle/>
          <a:p>
            <a:pPr>
              <a:lnSpc>
                <a:spcPct val="100000"/>
              </a:lnSpc>
            </a:pPr>
            <a:r>
              <a:rPr lang="en-GB" sz="4400" b="1" dirty="0" smtClean="0">
                <a:latin typeface="Times New Roman" pitchFamily="18" charset="0"/>
                <a:ea typeface="Avenir Book"/>
                <a:cs typeface="Times New Roman" pitchFamily="18" charset="0"/>
              </a:rPr>
              <a:t>Initiatives of GOB in  mainstreaming the Agenda 2030 (SDGs) Implementation</a:t>
            </a:r>
            <a:endParaRPr sz="4400" b="1" dirty="0">
              <a:latin typeface="Times New Roman" pitchFamily="18" charset="0"/>
              <a:ea typeface="Avenir Book"/>
              <a:cs typeface="Times New Roman" pitchFamily="18" charset="0"/>
            </a:endParaRPr>
          </a:p>
        </p:txBody>
      </p:sp>
      <p:pic>
        <p:nvPicPr>
          <p:cNvPr id="4" name="Picture 3"/>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0" y="3291840"/>
            <a:ext cx="2727960" cy="3566160"/>
          </a:xfrm>
          <a:prstGeom prst="rect">
            <a:avLst/>
          </a:prstGeom>
        </p:spPr>
      </p:pic>
    </p:spTree>
    <p:extLst>
      <p:ext uri="{BB962C8B-B14F-4D97-AF65-F5344CB8AC3E}">
        <p14:creationId xmlns="" xmlns:p14="http://schemas.microsoft.com/office/powerpoint/2010/main" val="85911981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nvPr>
        </p:nvGraphicFramePr>
        <p:xfrm>
          <a:off x="361952" y="2020285"/>
          <a:ext cx="11336064" cy="4326341"/>
        </p:xfrm>
        <a:graphic>
          <a:graphicData uri="http://schemas.openxmlformats.org/drawingml/2006/table">
            <a:tbl>
              <a:tblPr firstRow="1" bandRow="1">
                <a:tableStyleId>{5C22544A-7EE6-4342-B048-85BDC9FD1C3A}</a:tableStyleId>
              </a:tblPr>
              <a:tblGrid>
                <a:gridCol w="3629759"/>
                <a:gridCol w="7706305"/>
              </a:tblGrid>
              <a:tr h="4326341">
                <a:tc>
                  <a:txBody>
                    <a:bodyPr/>
                    <a:lstStyle/>
                    <a:p>
                      <a:pPr marL="342900" marR="0" indent="-342900" defTabSz="914400" eaLnBrk="1" fontAlgn="auto" latinLnBrk="0" hangingPunct="1">
                        <a:lnSpc>
                          <a:spcPct val="114000"/>
                        </a:lnSpc>
                        <a:spcBef>
                          <a:spcPts val="0"/>
                        </a:spcBef>
                        <a:spcAft>
                          <a:spcPts val="0"/>
                        </a:spcAft>
                        <a:buClrTx/>
                        <a:buSzTx/>
                        <a:buFont typeface="Arial" panose="020B0604020202020204" pitchFamily="34" charset="0"/>
                        <a:buChar char="•"/>
                        <a:tabLst/>
                        <a:defRPr/>
                      </a:pPr>
                      <a:r>
                        <a:rPr lang="en-US" sz="2400" b="1" dirty="0" smtClean="0">
                          <a:solidFill>
                            <a:srgbClr val="516529"/>
                          </a:solidFill>
                          <a:latin typeface="Times New Roman" pitchFamily="18" charset="0"/>
                          <a:ea typeface="+mn-ea"/>
                          <a:cs typeface="Times New Roman" pitchFamily="18" charset="0"/>
                        </a:rPr>
                        <a:t>A total of 14 goals (82%) are found to be thematically fully aligned with the plan document</a:t>
                      </a:r>
                    </a:p>
                    <a:p>
                      <a:pPr marL="342900" marR="0" indent="-342900" defTabSz="914400" eaLnBrk="1" fontAlgn="auto" latinLnBrk="0" hangingPunct="1">
                        <a:lnSpc>
                          <a:spcPct val="114000"/>
                        </a:lnSpc>
                        <a:spcBef>
                          <a:spcPts val="0"/>
                        </a:spcBef>
                        <a:spcAft>
                          <a:spcPts val="0"/>
                        </a:spcAft>
                        <a:buClrTx/>
                        <a:buSzTx/>
                        <a:buFont typeface="Arial" panose="020B0604020202020204" pitchFamily="34" charset="0"/>
                        <a:buChar char="•"/>
                        <a:tabLst/>
                        <a:defRPr/>
                      </a:pPr>
                      <a:r>
                        <a:rPr lang="en-US" sz="2400" b="1" dirty="0" smtClean="0">
                          <a:solidFill>
                            <a:srgbClr val="516529"/>
                          </a:solidFill>
                          <a:latin typeface="Times New Roman" pitchFamily="18" charset="0"/>
                          <a:ea typeface="+mn-ea"/>
                          <a:cs typeface="Times New Roman" pitchFamily="18" charset="0"/>
                        </a:rPr>
                        <a:t>3 Goals -Goal 14, Goal 16 and Goal 17 (18%) are partially aligned.</a:t>
                      </a:r>
                      <a:endParaRPr lang="en-US" altLang="en-US" sz="2800" b="1" i="1" dirty="0" smtClean="0">
                        <a:solidFill>
                          <a:srgbClr val="516529"/>
                        </a:solidFill>
                        <a:latin typeface="Times New Roman" pitchFamily="18" charset="0"/>
                        <a:cs typeface="Times New Roman" pitchFamily="18" charset="0"/>
                      </a:endParaRPr>
                    </a:p>
                    <a:p>
                      <a:pPr marL="342900" indent="-342900">
                        <a:buFont typeface="Arial" panose="020B0604020202020204" pitchFamily="34" charset="0"/>
                        <a:buChar char="•"/>
                      </a:pPr>
                      <a:endParaRPr lang="en-US" sz="2500" dirty="0">
                        <a:solidFill>
                          <a:srgbClr val="516529"/>
                        </a:solidFill>
                        <a:latin typeface="Times New Roman" pitchFamily="18" charset="0"/>
                        <a:cs typeface="Times New Roman" pitchFamily="18" charset="0"/>
                      </a:endParaRPr>
                    </a:p>
                  </a:txBody>
                  <a:tcPr marL="68159" marR="68159" marT="32152" marB="32152">
                    <a:noFill/>
                  </a:tcPr>
                </a:tc>
                <a:tc>
                  <a:txBody>
                    <a:bodyPr/>
                    <a:lstStyle/>
                    <a:p>
                      <a:pPr algn="ctr">
                        <a:spcBef>
                          <a:spcPts val="1496"/>
                        </a:spcBef>
                      </a:pPr>
                      <a:r>
                        <a:rPr lang="en-US" sz="1700" b="1" dirty="0" smtClean="0">
                          <a:solidFill>
                            <a:srgbClr val="C00000"/>
                          </a:solidFill>
                          <a:latin typeface="Times New Roman" pitchFamily="18" charset="0"/>
                          <a:ea typeface="+mn-ea"/>
                          <a:cs typeface="Times New Roman" pitchFamily="18" charset="0"/>
                        </a:rPr>
                        <a:t>Alignment of SDGs (Goals only) with the 7</a:t>
                      </a:r>
                      <a:r>
                        <a:rPr lang="en-US" sz="1700" b="1" baseline="30000" dirty="0" smtClean="0">
                          <a:solidFill>
                            <a:srgbClr val="C00000"/>
                          </a:solidFill>
                          <a:latin typeface="Times New Roman" pitchFamily="18" charset="0"/>
                          <a:ea typeface="+mn-ea"/>
                          <a:cs typeface="Times New Roman" pitchFamily="18" charset="0"/>
                        </a:rPr>
                        <a:t>th </a:t>
                      </a:r>
                      <a:r>
                        <a:rPr lang="en-US" sz="1700" b="1" dirty="0" smtClean="0">
                          <a:solidFill>
                            <a:srgbClr val="C00000"/>
                          </a:solidFill>
                          <a:latin typeface="Times New Roman" pitchFamily="18" charset="0"/>
                          <a:ea typeface="+mn-ea"/>
                          <a:cs typeface="Times New Roman" pitchFamily="18" charset="0"/>
                        </a:rPr>
                        <a:t>Five Year Plan</a:t>
                      </a:r>
                      <a:endParaRPr lang="en-US" altLang="en-US" sz="2300" b="0" dirty="0" smtClean="0">
                        <a:solidFill>
                          <a:srgbClr val="C00000"/>
                        </a:solidFill>
                        <a:latin typeface="Times New Roman" pitchFamily="18" charset="0"/>
                        <a:cs typeface="Times New Roman" pitchFamily="18" charset="0"/>
                      </a:endParaRPr>
                    </a:p>
                  </a:txBody>
                  <a:tcPr marL="68159" marR="68159" marT="32152" marB="32152">
                    <a:noFill/>
                  </a:tcPr>
                </a:tc>
              </a:tr>
            </a:tbl>
          </a:graphicData>
        </a:graphic>
      </p:graphicFrame>
      <p:sp>
        <p:nvSpPr>
          <p:cNvPr id="17410" name="Title 1"/>
          <p:cNvSpPr>
            <a:spLocks noGrp="1"/>
          </p:cNvSpPr>
          <p:nvPr>
            <p:ph type="title"/>
          </p:nvPr>
        </p:nvSpPr>
        <p:spPr>
          <a:xfrm>
            <a:off x="0" y="0"/>
            <a:ext cx="12191999" cy="964005"/>
          </a:xfrm>
          <a:solidFill>
            <a:schemeClr val="accent1"/>
          </a:solidFill>
        </p:spPr>
        <p:txBody>
          <a:bodyPr/>
          <a:lstStyle/>
          <a:p>
            <a:pPr algn="ctr"/>
            <a:r>
              <a:rPr lang="en-US" altLang="en-US" sz="2902" b="1" dirty="0">
                <a:solidFill>
                  <a:srgbClr val="516529"/>
                </a:solidFill>
                <a:latin typeface="Times New Roman" pitchFamily="18" charset="0"/>
                <a:ea typeface="Helvetica Light"/>
                <a:cs typeface="Times New Roman" pitchFamily="18" charset="0"/>
              </a:rPr>
              <a:t>Alignment of SDGs with 7</a:t>
            </a:r>
            <a:r>
              <a:rPr lang="en-US" altLang="en-US" sz="2902" b="1" baseline="30000" dirty="0">
                <a:solidFill>
                  <a:srgbClr val="516529"/>
                </a:solidFill>
                <a:latin typeface="Times New Roman" pitchFamily="18" charset="0"/>
                <a:ea typeface="Helvetica Light"/>
                <a:cs typeface="Times New Roman" pitchFamily="18" charset="0"/>
              </a:rPr>
              <a:t>th</a:t>
            </a:r>
            <a:r>
              <a:rPr lang="en-US" altLang="en-US" sz="2902" b="1" dirty="0">
                <a:solidFill>
                  <a:srgbClr val="516529"/>
                </a:solidFill>
                <a:latin typeface="Times New Roman" pitchFamily="18" charset="0"/>
                <a:ea typeface="Helvetica Light"/>
                <a:cs typeface="Times New Roman" pitchFamily="18" charset="0"/>
              </a:rPr>
              <a:t> FYP</a:t>
            </a:r>
          </a:p>
        </p:txBody>
      </p:sp>
      <p:pic>
        <p:nvPicPr>
          <p:cNvPr id="4" name="Picture 3"/>
          <p:cNvPicPr/>
          <p:nvPr/>
        </p:nvPicPr>
        <p:blipFill>
          <a:blip r:embed="rId3" cstate="screen">
            <a:extLst>
              <a:ext uri="{28A0092B-C50C-407E-A947-70E740481C1C}">
                <a14:useLocalDpi xmlns="" xmlns:a14="http://schemas.microsoft.com/office/drawing/2010/main"/>
              </a:ext>
            </a:extLst>
          </a:blip>
          <a:srcRect/>
          <a:stretch>
            <a:fillRect/>
          </a:stretch>
        </p:blipFill>
        <p:spPr bwMode="auto">
          <a:xfrm>
            <a:off x="4230348" y="2392526"/>
            <a:ext cx="7231183" cy="3800403"/>
          </a:xfrm>
          <a:prstGeom prst="rect">
            <a:avLst/>
          </a:prstGeom>
          <a:noFill/>
        </p:spPr>
      </p:pic>
      <p:sp>
        <p:nvSpPr>
          <p:cNvPr id="2" name="Rectangle 1"/>
          <p:cNvSpPr/>
          <p:nvPr/>
        </p:nvSpPr>
        <p:spPr>
          <a:xfrm>
            <a:off x="361951" y="1142011"/>
            <a:ext cx="11336064" cy="706347"/>
          </a:xfrm>
          <a:prstGeom prst="rect">
            <a:avLst/>
          </a:prstGeom>
          <a:solidFill>
            <a:schemeClr val="accent4"/>
          </a:solidFill>
        </p:spPr>
        <p:txBody>
          <a:bodyPr wrap="square">
            <a:spAutoFit/>
          </a:bodyPr>
          <a:lstStyle/>
          <a:p>
            <a:pPr marL="338274" indent="-338274" algn="just">
              <a:spcBef>
                <a:spcPts val="1088"/>
              </a:spcBef>
              <a:spcAft>
                <a:spcPts val="1088"/>
              </a:spcAft>
              <a:buClr>
                <a:srgbClr val="516529"/>
              </a:buClr>
              <a:buFont typeface="Wingdings" pitchFamily="2" charset="2"/>
              <a:buChar char="§"/>
              <a:defRPr/>
            </a:pPr>
            <a:r>
              <a:rPr lang="en-US" sz="1995" dirty="0"/>
              <a:t>As an ‘early starter’ country to implement Agenda 2030, Bangladesh  emphasized SDGs while setting up the priority areas for 7</a:t>
            </a:r>
            <a:r>
              <a:rPr lang="en-US" sz="1995" baseline="30000" dirty="0"/>
              <a:t>th</a:t>
            </a:r>
            <a:r>
              <a:rPr lang="en-US" sz="1995" dirty="0"/>
              <a:t> Five Year Plan (2016-20). </a:t>
            </a:r>
          </a:p>
        </p:txBody>
      </p:sp>
      <p:sp>
        <p:nvSpPr>
          <p:cNvPr id="45" name="Slide Number Placeholder 5"/>
          <p:cNvSpPr>
            <a:spLocks noGrp="1"/>
          </p:cNvSpPr>
          <p:nvPr>
            <p:ph type="sldNum" sz="quarter" idx="12"/>
          </p:nvPr>
        </p:nvSpPr>
        <p:spPr>
          <a:xfrm>
            <a:off x="11461531" y="6568440"/>
            <a:ext cx="730468" cy="315472"/>
          </a:xfrm>
        </p:spPr>
        <p:txBody>
          <a:bodyPr/>
          <a:lstStyle/>
          <a:p>
            <a:pPr>
              <a:defRPr/>
            </a:pPr>
            <a:fld id="{91DDCDD9-36BD-4E6B-8629-954F44B7354A}" type="slidenum">
              <a:rPr lang="en-US" smtClean="0"/>
              <a:pPr>
                <a:defRPr/>
              </a:pPr>
              <a:t>43</a:t>
            </a:fld>
            <a:endParaRPr lang="en-US" dirty="0"/>
          </a:p>
        </p:txBody>
      </p:sp>
    </p:spTree>
    <p:extLst>
      <p:ext uri="{BB962C8B-B14F-4D97-AF65-F5344CB8AC3E}">
        <p14:creationId xmlns="" xmlns:p14="http://schemas.microsoft.com/office/powerpoint/2010/main" val="314254898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nvPr>
        </p:nvGraphicFramePr>
        <p:xfrm>
          <a:off x="137159" y="1234440"/>
          <a:ext cx="12054839" cy="5471160"/>
        </p:xfrm>
        <a:graphic>
          <a:graphicData uri="http://schemas.openxmlformats.org/drawingml/2006/table">
            <a:tbl>
              <a:tblPr firstRow="1" bandRow="1">
                <a:tableStyleId>{5C22544A-7EE6-4342-B048-85BDC9FD1C3A}</a:tableStyleId>
              </a:tblPr>
              <a:tblGrid>
                <a:gridCol w="3859908">
                  <a:extLst>
                    <a:ext uri="{9D8B030D-6E8A-4147-A177-3AD203B41FA5}">
                      <a16:colId xmlns="" xmlns:a16="http://schemas.microsoft.com/office/drawing/2014/main" val="20000"/>
                    </a:ext>
                  </a:extLst>
                </a:gridCol>
                <a:gridCol w="8194931">
                  <a:extLst>
                    <a:ext uri="{9D8B030D-6E8A-4147-A177-3AD203B41FA5}">
                      <a16:colId xmlns="" xmlns:a16="http://schemas.microsoft.com/office/drawing/2014/main" val="20001"/>
                    </a:ext>
                  </a:extLst>
                </a:gridCol>
              </a:tblGrid>
              <a:tr h="5471160">
                <a:tc>
                  <a:txBody>
                    <a:bodyPr/>
                    <a:lstStyle/>
                    <a:p>
                      <a:pPr marL="0" marR="0" indent="0" defTabSz="914400" eaLnBrk="1" fontAlgn="auto" latinLnBrk="0" hangingPunct="1">
                        <a:lnSpc>
                          <a:spcPct val="114000"/>
                        </a:lnSpc>
                        <a:spcBef>
                          <a:spcPts val="0"/>
                        </a:spcBef>
                        <a:spcAft>
                          <a:spcPts val="0"/>
                        </a:spcAft>
                        <a:buClrTx/>
                        <a:buSzTx/>
                        <a:buFontTx/>
                        <a:buNone/>
                        <a:tabLst/>
                        <a:defRPr/>
                      </a:pPr>
                      <a:endParaRPr lang="en-US" sz="2200" b="1" dirty="0">
                        <a:solidFill>
                          <a:srgbClr val="516529"/>
                        </a:solidFill>
                        <a:latin typeface="Times New Roman" pitchFamily="18" charset="0"/>
                        <a:ea typeface="+mn-ea"/>
                        <a:cs typeface="Times New Roman" pitchFamily="18" charset="0"/>
                      </a:endParaRPr>
                    </a:p>
                    <a:p>
                      <a:pPr marL="342900" indent="-342900" algn="just">
                        <a:buFont typeface="Wingdings" panose="05000000000000000000" pitchFamily="2" charset="2"/>
                        <a:buChar char="§"/>
                      </a:pPr>
                      <a:r>
                        <a:rPr lang="en-US" sz="2400" b="0" kern="1200" dirty="0">
                          <a:solidFill>
                            <a:schemeClr val="tx1"/>
                          </a:solidFill>
                          <a:latin typeface="Times New Roman" pitchFamily="18" charset="0"/>
                          <a:ea typeface="+mn-ea"/>
                          <a:cs typeface="Times New Roman" pitchFamily="18" charset="0"/>
                        </a:rPr>
                        <a:t>A total of </a:t>
                      </a:r>
                      <a:r>
                        <a:rPr lang="en-US" sz="2400" b="0" kern="1200" dirty="0" smtClean="0">
                          <a:solidFill>
                            <a:schemeClr val="tx1"/>
                          </a:solidFill>
                          <a:latin typeface="Times New Roman" pitchFamily="18" charset="0"/>
                          <a:ea typeface="+mn-ea"/>
                          <a:cs typeface="Times New Roman" pitchFamily="18" charset="0"/>
                        </a:rPr>
                        <a:t>58 </a:t>
                      </a:r>
                      <a:r>
                        <a:rPr lang="en-US" sz="2400" b="0" kern="1200" dirty="0">
                          <a:solidFill>
                            <a:schemeClr val="tx1"/>
                          </a:solidFill>
                          <a:latin typeface="Times New Roman" pitchFamily="18" charset="0"/>
                          <a:ea typeface="+mn-ea"/>
                          <a:cs typeface="Times New Roman" pitchFamily="18" charset="0"/>
                        </a:rPr>
                        <a:t>(</a:t>
                      </a:r>
                      <a:r>
                        <a:rPr lang="en-US" sz="2400" b="0" kern="1200" dirty="0" smtClean="0">
                          <a:solidFill>
                            <a:schemeClr val="tx1"/>
                          </a:solidFill>
                          <a:latin typeface="Times New Roman" pitchFamily="18" charset="0"/>
                          <a:ea typeface="+mn-ea"/>
                          <a:cs typeface="Times New Roman" pitchFamily="18" charset="0"/>
                        </a:rPr>
                        <a:t>34.3%) </a:t>
                      </a:r>
                      <a:r>
                        <a:rPr lang="en-US" sz="2400" b="0" kern="1200" dirty="0">
                          <a:solidFill>
                            <a:schemeClr val="tx1"/>
                          </a:solidFill>
                          <a:latin typeface="Times New Roman" pitchFamily="18" charset="0"/>
                          <a:ea typeface="+mn-ea"/>
                          <a:cs typeface="Times New Roman" pitchFamily="18" charset="0"/>
                        </a:rPr>
                        <a:t>SDGs targets are found to be aligned with </a:t>
                      </a:r>
                      <a:r>
                        <a:rPr lang="en-US" sz="2400" b="0" kern="1200" dirty="0" smtClean="0">
                          <a:solidFill>
                            <a:schemeClr val="tx1"/>
                          </a:solidFill>
                          <a:latin typeface="Times New Roman" pitchFamily="18" charset="0"/>
                          <a:ea typeface="+mn-ea"/>
                          <a:cs typeface="Times New Roman" pitchFamily="18" charset="0"/>
                        </a:rPr>
                        <a:t>7</a:t>
                      </a:r>
                      <a:r>
                        <a:rPr lang="en-US" sz="2400" b="0" kern="1200" baseline="30000" dirty="0" smtClean="0">
                          <a:solidFill>
                            <a:schemeClr val="tx1"/>
                          </a:solidFill>
                          <a:latin typeface="Times New Roman" pitchFamily="18" charset="0"/>
                          <a:ea typeface="+mn-ea"/>
                          <a:cs typeface="Times New Roman" pitchFamily="18" charset="0"/>
                        </a:rPr>
                        <a:t>th </a:t>
                      </a:r>
                      <a:r>
                        <a:rPr lang="en-US" sz="2400" b="0" kern="1200" dirty="0" smtClean="0">
                          <a:solidFill>
                            <a:schemeClr val="tx1"/>
                          </a:solidFill>
                          <a:latin typeface="Times New Roman" pitchFamily="18" charset="0"/>
                          <a:ea typeface="+mn-ea"/>
                          <a:cs typeface="Times New Roman" pitchFamily="18" charset="0"/>
                        </a:rPr>
                        <a:t>FYP</a:t>
                      </a:r>
                    </a:p>
                    <a:p>
                      <a:pPr marL="342900" indent="-342900" algn="just">
                        <a:buFont typeface="Wingdings" panose="05000000000000000000" pitchFamily="2" charset="2"/>
                        <a:buChar char="§"/>
                      </a:pPr>
                      <a:r>
                        <a:rPr lang="en-US" sz="2400" b="0" kern="1200" dirty="0" smtClean="0">
                          <a:solidFill>
                            <a:schemeClr val="tx1"/>
                          </a:solidFill>
                          <a:latin typeface="Times New Roman" pitchFamily="18" charset="0"/>
                          <a:ea typeface="+mn-ea"/>
                          <a:cs typeface="Times New Roman" pitchFamily="18" charset="0"/>
                        </a:rPr>
                        <a:t>38 </a:t>
                      </a:r>
                      <a:r>
                        <a:rPr lang="en-US" sz="2400" b="0" kern="1200" dirty="0">
                          <a:solidFill>
                            <a:schemeClr val="tx1"/>
                          </a:solidFill>
                          <a:latin typeface="Times New Roman" pitchFamily="18" charset="0"/>
                          <a:ea typeface="+mn-ea"/>
                          <a:cs typeface="Times New Roman" pitchFamily="18" charset="0"/>
                        </a:rPr>
                        <a:t>(</a:t>
                      </a:r>
                      <a:r>
                        <a:rPr lang="en-US" sz="2400" b="0" kern="1200" dirty="0" smtClean="0">
                          <a:solidFill>
                            <a:schemeClr val="tx1"/>
                          </a:solidFill>
                          <a:latin typeface="Times New Roman" pitchFamily="18" charset="0"/>
                          <a:ea typeface="+mn-ea"/>
                          <a:cs typeface="Times New Roman" pitchFamily="18" charset="0"/>
                        </a:rPr>
                        <a:t>22.5%) targets</a:t>
                      </a:r>
                      <a:r>
                        <a:rPr lang="en-US" sz="2400" b="0" kern="1200" baseline="0" dirty="0" smtClean="0">
                          <a:solidFill>
                            <a:schemeClr val="tx1"/>
                          </a:solidFill>
                          <a:latin typeface="Times New Roman" pitchFamily="18" charset="0"/>
                          <a:ea typeface="+mn-ea"/>
                          <a:cs typeface="Times New Roman" pitchFamily="18" charset="0"/>
                        </a:rPr>
                        <a:t> </a:t>
                      </a:r>
                      <a:r>
                        <a:rPr lang="en-US" sz="2400" b="0" kern="1200" dirty="0" smtClean="0">
                          <a:solidFill>
                            <a:schemeClr val="tx1"/>
                          </a:solidFill>
                          <a:latin typeface="Times New Roman" pitchFamily="18" charset="0"/>
                          <a:ea typeface="+mn-ea"/>
                          <a:cs typeface="Times New Roman" pitchFamily="18" charset="0"/>
                        </a:rPr>
                        <a:t>are </a:t>
                      </a:r>
                      <a:r>
                        <a:rPr lang="en-US" sz="2400" b="0" kern="1200" dirty="0">
                          <a:solidFill>
                            <a:schemeClr val="tx1"/>
                          </a:solidFill>
                          <a:latin typeface="Times New Roman" pitchFamily="18" charset="0"/>
                          <a:ea typeface="+mn-ea"/>
                          <a:cs typeface="Times New Roman" pitchFamily="18" charset="0"/>
                        </a:rPr>
                        <a:t>partially </a:t>
                      </a:r>
                      <a:r>
                        <a:rPr lang="en-US" sz="2400" b="0" kern="1200" dirty="0" smtClean="0">
                          <a:solidFill>
                            <a:schemeClr val="tx1"/>
                          </a:solidFill>
                          <a:latin typeface="Times New Roman" pitchFamily="18" charset="0"/>
                          <a:ea typeface="+mn-ea"/>
                          <a:cs typeface="Times New Roman" pitchFamily="18" charset="0"/>
                        </a:rPr>
                        <a:t>aligned</a:t>
                      </a:r>
                    </a:p>
                    <a:p>
                      <a:pPr marL="342900" indent="-342900" algn="just">
                        <a:buFont typeface="Wingdings" panose="05000000000000000000" pitchFamily="2" charset="2"/>
                        <a:buChar char="§"/>
                      </a:pPr>
                      <a:r>
                        <a:rPr lang="en-US" sz="2400" b="0" kern="1200" dirty="0" smtClean="0">
                          <a:solidFill>
                            <a:schemeClr val="tx1"/>
                          </a:solidFill>
                          <a:latin typeface="Times New Roman" pitchFamily="18" charset="0"/>
                          <a:ea typeface="+mn-ea"/>
                          <a:cs typeface="Times New Roman" pitchFamily="18" charset="0"/>
                        </a:rPr>
                        <a:t>73 (43.2%) targets</a:t>
                      </a:r>
                      <a:r>
                        <a:rPr lang="en-US" sz="2400" b="0" kern="1200" baseline="0" dirty="0" smtClean="0">
                          <a:solidFill>
                            <a:schemeClr val="tx1"/>
                          </a:solidFill>
                          <a:latin typeface="Times New Roman" pitchFamily="18" charset="0"/>
                          <a:ea typeface="+mn-ea"/>
                          <a:cs typeface="Times New Roman" pitchFamily="18" charset="0"/>
                        </a:rPr>
                        <a:t> </a:t>
                      </a:r>
                      <a:r>
                        <a:rPr lang="en-US" sz="2400" b="0" kern="1200" dirty="0" smtClean="0">
                          <a:solidFill>
                            <a:schemeClr val="tx1"/>
                          </a:solidFill>
                          <a:latin typeface="Times New Roman" pitchFamily="18" charset="0"/>
                          <a:ea typeface="+mn-ea"/>
                          <a:cs typeface="Times New Roman" pitchFamily="18" charset="0"/>
                        </a:rPr>
                        <a:t>are </a:t>
                      </a:r>
                      <a:r>
                        <a:rPr lang="en-US" sz="2400" b="0" kern="1200" dirty="0">
                          <a:solidFill>
                            <a:schemeClr val="tx1"/>
                          </a:solidFill>
                          <a:latin typeface="Times New Roman" pitchFamily="18" charset="0"/>
                          <a:ea typeface="+mn-ea"/>
                          <a:cs typeface="Times New Roman" pitchFamily="18" charset="0"/>
                        </a:rPr>
                        <a:t>not </a:t>
                      </a:r>
                      <a:r>
                        <a:rPr lang="en-US" sz="2400" b="0" kern="1200" dirty="0" smtClean="0">
                          <a:solidFill>
                            <a:schemeClr val="tx1"/>
                          </a:solidFill>
                          <a:latin typeface="Times New Roman" pitchFamily="18" charset="0"/>
                          <a:ea typeface="+mn-ea"/>
                          <a:cs typeface="Times New Roman" pitchFamily="18" charset="0"/>
                        </a:rPr>
                        <a:t>aligned. </a:t>
                      </a:r>
                      <a:endParaRPr lang="en-US" sz="2400" b="0" kern="1200" dirty="0">
                        <a:solidFill>
                          <a:schemeClr val="tx1"/>
                        </a:solidFill>
                        <a:latin typeface="Times New Roman" pitchFamily="18" charset="0"/>
                        <a:ea typeface="+mn-ea"/>
                        <a:cs typeface="Times New Roman" pitchFamily="18" charset="0"/>
                      </a:endParaRPr>
                    </a:p>
                  </a:txBody>
                  <a:tcPr marL="68159" marR="68159" marT="32152" marB="32152">
                    <a:noFill/>
                  </a:tcPr>
                </a:tc>
                <a:tc>
                  <a:txBody>
                    <a:bodyPr/>
                    <a:lstStyle/>
                    <a:p>
                      <a:pPr algn="ctr">
                        <a:spcBef>
                          <a:spcPts val="0"/>
                        </a:spcBef>
                      </a:pPr>
                      <a:r>
                        <a:rPr lang="en-US" sz="2200" b="1" dirty="0">
                          <a:solidFill>
                            <a:srgbClr val="C00000"/>
                          </a:solidFill>
                          <a:latin typeface="Times New Roman" pitchFamily="18" charset="0"/>
                          <a:ea typeface="+mn-ea"/>
                          <a:cs typeface="Times New Roman" pitchFamily="18" charset="0"/>
                        </a:rPr>
                        <a:t>Alignment of SDGs (Targets) with</a:t>
                      </a:r>
                    </a:p>
                    <a:p>
                      <a:pPr algn="ctr">
                        <a:spcBef>
                          <a:spcPts val="0"/>
                        </a:spcBef>
                      </a:pPr>
                      <a:r>
                        <a:rPr lang="en-US" sz="2200" b="1" dirty="0">
                          <a:solidFill>
                            <a:srgbClr val="C00000"/>
                          </a:solidFill>
                          <a:latin typeface="Times New Roman" pitchFamily="18" charset="0"/>
                          <a:ea typeface="+mn-ea"/>
                          <a:cs typeface="Times New Roman" pitchFamily="18" charset="0"/>
                        </a:rPr>
                        <a:t> the 7</a:t>
                      </a:r>
                      <a:r>
                        <a:rPr lang="en-US" sz="2200" b="1" baseline="30000" dirty="0">
                          <a:solidFill>
                            <a:srgbClr val="C00000"/>
                          </a:solidFill>
                          <a:latin typeface="Times New Roman" pitchFamily="18" charset="0"/>
                          <a:ea typeface="+mn-ea"/>
                          <a:cs typeface="Times New Roman" pitchFamily="18" charset="0"/>
                        </a:rPr>
                        <a:t>th </a:t>
                      </a:r>
                      <a:r>
                        <a:rPr lang="en-US" sz="2200" b="1" dirty="0">
                          <a:solidFill>
                            <a:srgbClr val="C00000"/>
                          </a:solidFill>
                          <a:latin typeface="Times New Roman" pitchFamily="18" charset="0"/>
                          <a:ea typeface="+mn-ea"/>
                          <a:cs typeface="Times New Roman" pitchFamily="18" charset="0"/>
                        </a:rPr>
                        <a:t>Five Year Plan</a:t>
                      </a:r>
                      <a:endParaRPr lang="en-US" altLang="en-US" sz="2200" b="0" dirty="0">
                        <a:solidFill>
                          <a:srgbClr val="C00000"/>
                        </a:solidFill>
                        <a:latin typeface="Times New Roman" pitchFamily="18" charset="0"/>
                        <a:cs typeface="Times New Roman" pitchFamily="18" charset="0"/>
                      </a:endParaRPr>
                    </a:p>
                  </a:txBody>
                  <a:tcPr marL="68159" marR="68159" marT="32152" marB="32152">
                    <a:noFill/>
                  </a:tcPr>
                </a:tc>
                <a:extLst>
                  <a:ext uri="{0D108BD9-81ED-4DB2-BD59-A6C34878D82A}">
                    <a16:rowId xmlns="" xmlns:a16="http://schemas.microsoft.com/office/drawing/2014/main" val="10000"/>
                  </a:ext>
                </a:extLst>
              </a:tr>
            </a:tbl>
          </a:graphicData>
        </a:graphic>
      </p:graphicFrame>
      <p:sp>
        <p:nvSpPr>
          <p:cNvPr id="17410" name="Title 1"/>
          <p:cNvSpPr>
            <a:spLocks noGrp="1"/>
          </p:cNvSpPr>
          <p:nvPr>
            <p:ph type="title"/>
          </p:nvPr>
        </p:nvSpPr>
        <p:spPr>
          <a:xfrm>
            <a:off x="0" y="0"/>
            <a:ext cx="12191999" cy="964005"/>
          </a:xfrm>
          <a:solidFill>
            <a:schemeClr val="accent1"/>
          </a:solidFill>
        </p:spPr>
        <p:txBody>
          <a:bodyPr>
            <a:normAutofit/>
          </a:bodyPr>
          <a:lstStyle/>
          <a:p>
            <a:pPr algn="ctr"/>
            <a:r>
              <a:rPr lang="en-US" altLang="en-US" sz="2902" b="1" dirty="0">
                <a:solidFill>
                  <a:srgbClr val="516529"/>
                </a:solidFill>
                <a:latin typeface="Times New Roman" pitchFamily="18" charset="0"/>
                <a:ea typeface="Helvetica Light"/>
                <a:cs typeface="Times New Roman" pitchFamily="18" charset="0"/>
              </a:rPr>
              <a:t>Alignment of SDGs with 7</a:t>
            </a:r>
            <a:r>
              <a:rPr lang="en-US" altLang="en-US" sz="2902" b="1" baseline="30000" dirty="0">
                <a:solidFill>
                  <a:srgbClr val="516529"/>
                </a:solidFill>
                <a:latin typeface="Times New Roman" pitchFamily="18" charset="0"/>
                <a:ea typeface="Helvetica Light"/>
                <a:cs typeface="Times New Roman" pitchFamily="18" charset="0"/>
              </a:rPr>
              <a:t>th</a:t>
            </a:r>
            <a:r>
              <a:rPr lang="en-US" altLang="en-US" sz="2902" b="1" dirty="0">
                <a:solidFill>
                  <a:srgbClr val="516529"/>
                </a:solidFill>
                <a:latin typeface="Times New Roman" pitchFamily="18" charset="0"/>
                <a:ea typeface="Helvetica Light"/>
                <a:cs typeface="Times New Roman" pitchFamily="18" charset="0"/>
              </a:rPr>
              <a:t> </a:t>
            </a:r>
            <a:r>
              <a:rPr lang="en-US" altLang="en-US" sz="2902" b="1" dirty="0" smtClean="0">
                <a:solidFill>
                  <a:srgbClr val="516529"/>
                </a:solidFill>
                <a:latin typeface="Times New Roman" pitchFamily="18" charset="0"/>
                <a:ea typeface="Helvetica Light"/>
                <a:cs typeface="Times New Roman" pitchFamily="18" charset="0"/>
              </a:rPr>
              <a:t>FYP (</a:t>
            </a:r>
            <a:r>
              <a:rPr lang="en-US" altLang="en-US" sz="2902" b="1" dirty="0" err="1" smtClean="0">
                <a:solidFill>
                  <a:srgbClr val="516529"/>
                </a:solidFill>
                <a:latin typeface="Times New Roman" pitchFamily="18" charset="0"/>
                <a:ea typeface="Helvetica Light"/>
                <a:cs typeface="Times New Roman" pitchFamily="18" charset="0"/>
              </a:rPr>
              <a:t>contd</a:t>
            </a:r>
            <a:r>
              <a:rPr lang="en-US" altLang="en-US" sz="2902" b="1" dirty="0" smtClean="0">
                <a:solidFill>
                  <a:srgbClr val="516529"/>
                </a:solidFill>
                <a:latin typeface="Times New Roman" pitchFamily="18" charset="0"/>
                <a:ea typeface="Helvetica Light"/>
                <a:cs typeface="Times New Roman" pitchFamily="18" charset="0"/>
              </a:rPr>
              <a:t>)</a:t>
            </a:r>
            <a:endParaRPr lang="en-US" altLang="en-US" sz="2902" b="1" dirty="0">
              <a:solidFill>
                <a:srgbClr val="516529"/>
              </a:solidFill>
              <a:latin typeface="Times New Roman" pitchFamily="18" charset="0"/>
              <a:ea typeface="Helvetica Light"/>
              <a:cs typeface="Times New Roman" pitchFamily="18" charset="0"/>
            </a:endParaRPr>
          </a:p>
        </p:txBody>
      </p:sp>
      <p:pic>
        <p:nvPicPr>
          <p:cNvPr id="47" name="Picture 46"/>
          <p:cNvPicPr/>
          <p:nvPr/>
        </p:nvPicPr>
        <p:blipFill>
          <a:blip r:embed="rId3" cstate="screen">
            <a:extLst>
              <a:ext uri="{28A0092B-C50C-407E-A947-70E740481C1C}">
                <a14:useLocalDpi xmlns="" xmlns:a14="http://schemas.microsoft.com/office/drawing/2010/main"/>
              </a:ext>
            </a:extLst>
          </a:blip>
          <a:srcRect/>
          <a:stretch>
            <a:fillRect/>
          </a:stretch>
        </p:blipFill>
        <p:spPr bwMode="auto">
          <a:xfrm>
            <a:off x="3947160" y="2011680"/>
            <a:ext cx="8061960" cy="4420979"/>
          </a:xfrm>
          <a:prstGeom prst="rect">
            <a:avLst/>
          </a:prstGeom>
          <a:noFill/>
        </p:spPr>
      </p:pic>
      <p:sp>
        <p:nvSpPr>
          <p:cNvPr id="3" name="TextBox 2"/>
          <p:cNvSpPr txBox="1"/>
          <p:nvPr/>
        </p:nvSpPr>
        <p:spPr>
          <a:xfrm>
            <a:off x="487680" y="4495800"/>
            <a:ext cx="3124200" cy="1323439"/>
          </a:xfrm>
          <a:prstGeom prst="rect">
            <a:avLst/>
          </a:prstGeom>
          <a:solidFill>
            <a:schemeClr val="accent1"/>
          </a:solidFill>
        </p:spPr>
        <p:txBody>
          <a:bodyPr wrap="square" rtlCol="0">
            <a:spAutoFit/>
          </a:bodyPr>
          <a:lstStyle/>
          <a:p>
            <a:pPr algn="just"/>
            <a:r>
              <a:rPr lang="en-US" sz="2000" dirty="0" smtClean="0"/>
              <a:t>Challenges remain in Indicators as around 20% Indicators of SDGs are incorporated in the 7</a:t>
            </a:r>
            <a:r>
              <a:rPr lang="en-US" sz="2000" baseline="30000" dirty="0" smtClean="0"/>
              <a:t>th</a:t>
            </a:r>
            <a:r>
              <a:rPr lang="en-US" sz="2000" dirty="0" smtClean="0"/>
              <a:t> FYP</a:t>
            </a:r>
            <a:endParaRPr lang="en-US" sz="2000" dirty="0"/>
          </a:p>
        </p:txBody>
      </p:sp>
    </p:spTree>
    <p:extLst>
      <p:ext uri="{BB962C8B-B14F-4D97-AF65-F5344CB8AC3E}">
        <p14:creationId xmlns="" xmlns:p14="http://schemas.microsoft.com/office/powerpoint/2010/main" val="214690095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0" y="0"/>
            <a:ext cx="12192000" cy="891823"/>
          </a:xfrm>
          <a:solidFill>
            <a:schemeClr val="accent1"/>
          </a:solidFill>
          <a:ln w="9525">
            <a:noFill/>
            <a:miter lim="800000"/>
            <a:headEnd/>
            <a:tailEnd/>
          </a:ln>
        </p:spPr>
        <p:txBody>
          <a:bodyPr vert="horz" lIns="94554" tIns="47277" rIns="94554" bIns="47277" rtlCol="0" anchor="ctr">
            <a:normAutofit/>
          </a:bodyPr>
          <a:lstStyle/>
          <a:p>
            <a:pPr algn="ctr" rtl="0" fontAlgn="base">
              <a:spcBef>
                <a:spcPct val="0"/>
              </a:spcBef>
              <a:spcAft>
                <a:spcPct val="0"/>
              </a:spcAft>
            </a:pPr>
            <a:r>
              <a:rPr lang="en-US" altLang="en-US" sz="2720" b="1" dirty="0">
                <a:latin typeface="Times New Roman" pitchFamily="18" charset="0"/>
                <a:ea typeface="+mn-ea"/>
                <a:cs typeface="Times New Roman" pitchFamily="18" charset="0"/>
              </a:rPr>
              <a:t>Sustainable Development Goals (SDGs): Roadmap for Bangladesh for Implementing Agenda 2030</a:t>
            </a:r>
            <a:endParaRPr lang="en-US" sz="2720" b="1" dirty="0">
              <a:latin typeface="Times New Roman" pitchFamily="18" charset="0"/>
              <a:ea typeface="+mn-ea"/>
              <a:cs typeface="Times New Roman" pitchFamily="18" charset="0"/>
            </a:endParaRPr>
          </a:p>
        </p:txBody>
      </p:sp>
      <p:sp>
        <p:nvSpPr>
          <p:cNvPr id="5" name="Content Placeholder 2"/>
          <p:cNvSpPr txBox="1">
            <a:spLocks/>
          </p:cNvSpPr>
          <p:nvPr/>
        </p:nvSpPr>
        <p:spPr>
          <a:xfrm>
            <a:off x="0" y="891823"/>
            <a:ext cx="12192000" cy="5966177"/>
          </a:xfrm>
          <a:prstGeom prst="rect">
            <a:avLst/>
          </a:prstGeom>
        </p:spPr>
        <p:txBody>
          <a:bodyPr lIns="82905" tIns="41453" rIns="82905" bIns="41453"/>
          <a:lstStyle>
            <a:defPPr>
              <a:defRPr lang="en-US"/>
            </a:defPPr>
            <a:lvl1pPr lvl="0">
              <a:defRPr sz="3200">
                <a:latin typeface="Lato" pitchFamily="34" charset="0"/>
              </a:defRPr>
            </a:lvl1pPr>
            <a:lvl2pPr>
              <a:defRPr>
                <a:latin typeface="Lato" pitchFamily="34" charset="0"/>
              </a:defRPr>
            </a:lvl2pPr>
            <a:lvl3pPr>
              <a:defRPr>
                <a:latin typeface="Lato" pitchFamily="34" charset="0"/>
              </a:defRPr>
            </a:lvl3pPr>
            <a:lvl4pPr>
              <a:defRPr>
                <a:latin typeface="Lato" pitchFamily="34" charset="0"/>
              </a:defRPr>
            </a:lvl4pPr>
            <a:lvl5pPr>
              <a:defRPr>
                <a:latin typeface="Lato" pitchFamily="34" charset="0"/>
              </a:defRPr>
            </a:lvl5pPr>
            <a:lvl6pPr>
              <a:defRPr>
                <a:latin typeface="Lato" pitchFamily="34" charset="0"/>
              </a:defRPr>
            </a:lvl6pPr>
            <a:lvl7pPr>
              <a:defRPr>
                <a:latin typeface="Lato" pitchFamily="34" charset="0"/>
              </a:defRPr>
            </a:lvl7pPr>
          </a:lstStyle>
          <a:p>
            <a:pPr marL="338274" indent="-338274" algn="just">
              <a:spcBef>
                <a:spcPts val="600"/>
              </a:spcBef>
              <a:buClr>
                <a:srgbClr val="516529"/>
              </a:buClr>
              <a:buFont typeface="Wingdings" pitchFamily="2" charset="2"/>
              <a:buChar char="§"/>
              <a:defRPr/>
            </a:pPr>
            <a:r>
              <a:rPr lang="en-GB" sz="2000" dirty="0" smtClean="0">
                <a:latin typeface="Times New Roman" panose="02020603050405020304" pitchFamily="18" charset="0"/>
              </a:rPr>
              <a:t>PMO has </a:t>
            </a:r>
            <a:r>
              <a:rPr lang="en-GB" sz="2000" dirty="0">
                <a:latin typeface="Times New Roman" panose="02020603050405020304" pitchFamily="18" charset="0"/>
              </a:rPr>
              <a:t>created an inter-ministerial committee, “</a:t>
            </a:r>
            <a:r>
              <a:rPr lang="en-GB" sz="2000" dirty="0" smtClean="0">
                <a:solidFill>
                  <a:schemeClr val="accent2"/>
                </a:solidFill>
                <a:latin typeface="Times New Roman" panose="02020603050405020304" pitchFamily="18" charset="0"/>
              </a:rPr>
              <a:t>SDGs Implementation  </a:t>
            </a:r>
            <a:r>
              <a:rPr lang="en-GB" sz="2000" dirty="0">
                <a:solidFill>
                  <a:schemeClr val="accent2"/>
                </a:solidFill>
                <a:latin typeface="Times New Roman" panose="02020603050405020304" pitchFamily="18" charset="0"/>
              </a:rPr>
              <a:t>and </a:t>
            </a:r>
            <a:r>
              <a:rPr lang="en-GB" sz="2000" dirty="0" smtClean="0">
                <a:solidFill>
                  <a:schemeClr val="accent2"/>
                </a:solidFill>
                <a:latin typeface="Times New Roman" panose="02020603050405020304" pitchFamily="18" charset="0"/>
              </a:rPr>
              <a:t>Monitoring Committee</a:t>
            </a:r>
            <a:r>
              <a:rPr lang="en-GB" sz="2000" dirty="0">
                <a:latin typeface="Times New Roman" panose="02020603050405020304" pitchFamily="18" charset="0"/>
              </a:rPr>
              <a:t>” which includes </a:t>
            </a:r>
            <a:r>
              <a:rPr lang="en-GB" sz="2000" dirty="0" smtClean="0">
                <a:latin typeface="Times New Roman" panose="02020603050405020304" pitchFamily="18" charset="0"/>
              </a:rPr>
              <a:t>20 </a:t>
            </a:r>
            <a:r>
              <a:rPr lang="en-GB" sz="2000" dirty="0">
                <a:latin typeface="Times New Roman" panose="02020603050405020304" pitchFamily="18" charset="0"/>
              </a:rPr>
              <a:t>Senior Secretaries/ Secretaries from different ministries/ divisions. </a:t>
            </a:r>
          </a:p>
          <a:p>
            <a:pPr marL="338274" indent="-338274" algn="just">
              <a:spcBef>
                <a:spcPts val="600"/>
              </a:spcBef>
              <a:buClr>
                <a:srgbClr val="516529"/>
              </a:buClr>
              <a:buFont typeface="Wingdings" pitchFamily="2" charset="2"/>
              <a:buChar char="§"/>
              <a:defRPr/>
            </a:pPr>
            <a:r>
              <a:rPr lang="en-GB" sz="2000" dirty="0">
                <a:solidFill>
                  <a:schemeClr val="accent2"/>
                </a:solidFill>
                <a:latin typeface="Times New Roman" panose="02020603050405020304" pitchFamily="18" charset="0"/>
              </a:rPr>
              <a:t>GED is the secretariat </a:t>
            </a:r>
            <a:r>
              <a:rPr lang="en-GB" sz="2000" dirty="0">
                <a:latin typeface="Times New Roman" panose="02020603050405020304" pitchFamily="18" charset="0"/>
              </a:rPr>
              <a:t>for the committee to coordinate the implementation at policy level along with monitoring and reporting SDG attainment status of Bangladesh.</a:t>
            </a:r>
          </a:p>
          <a:p>
            <a:pPr marL="338274" indent="-338274" algn="just">
              <a:spcBef>
                <a:spcPts val="600"/>
              </a:spcBef>
              <a:buClr>
                <a:srgbClr val="516529"/>
              </a:buClr>
              <a:buFont typeface="Wingdings" pitchFamily="2" charset="2"/>
              <a:buChar char="§"/>
              <a:defRPr/>
            </a:pPr>
            <a:r>
              <a:rPr lang="en-GB" sz="2000" dirty="0">
                <a:latin typeface="Times New Roman" panose="02020603050405020304" pitchFamily="18" charset="0"/>
              </a:rPr>
              <a:t>On top an office of </a:t>
            </a:r>
            <a:r>
              <a:rPr lang="en-GB" sz="2000" dirty="0">
                <a:solidFill>
                  <a:schemeClr val="accent2"/>
                </a:solidFill>
                <a:latin typeface="Times New Roman" panose="02020603050405020304" pitchFamily="18" charset="0"/>
              </a:rPr>
              <a:t>Principal Coordinator for </a:t>
            </a:r>
            <a:r>
              <a:rPr lang="en-GB" sz="2000" dirty="0" smtClean="0">
                <a:solidFill>
                  <a:schemeClr val="accent2"/>
                </a:solidFill>
                <a:latin typeface="Times New Roman" panose="02020603050405020304" pitchFamily="18" charset="0"/>
              </a:rPr>
              <a:t>SDGs </a:t>
            </a:r>
            <a:r>
              <a:rPr lang="en-GB" sz="2000" dirty="0">
                <a:solidFill>
                  <a:schemeClr val="accent2"/>
                </a:solidFill>
                <a:latin typeface="Times New Roman" panose="02020603050405020304" pitchFamily="18" charset="0"/>
              </a:rPr>
              <a:t>Affairs </a:t>
            </a:r>
            <a:r>
              <a:rPr lang="en-GB" sz="2000" dirty="0">
                <a:latin typeface="Times New Roman" panose="02020603050405020304" pitchFamily="18" charset="0"/>
              </a:rPr>
              <a:t>has been established in PMO to coordinate and facilitate overall implementation and monitoring of SDGs. </a:t>
            </a:r>
            <a:endParaRPr lang="en-GB" sz="2000" dirty="0" smtClean="0">
              <a:latin typeface="Times New Roman" panose="02020603050405020304" pitchFamily="18" charset="0"/>
            </a:endParaRPr>
          </a:p>
          <a:p>
            <a:pPr marL="338274" indent="-338274" algn="just">
              <a:spcBef>
                <a:spcPts val="600"/>
              </a:spcBef>
              <a:buClr>
                <a:srgbClr val="516529"/>
              </a:buClr>
              <a:buFont typeface="Wingdings" pitchFamily="2" charset="2"/>
              <a:buChar char="§"/>
              <a:defRPr/>
            </a:pPr>
            <a:r>
              <a:rPr lang="en-GB" sz="2000" dirty="0" smtClean="0">
                <a:latin typeface="Times New Roman" panose="02020603050405020304" pitchFamily="18" charset="0"/>
              </a:rPr>
              <a:t>SDGs are </a:t>
            </a:r>
            <a:r>
              <a:rPr lang="en-GB" sz="2000" dirty="0" smtClean="0">
                <a:solidFill>
                  <a:schemeClr val="accent2"/>
                </a:solidFill>
                <a:latin typeface="Times New Roman" panose="02020603050405020304" pitchFamily="18" charset="0"/>
              </a:rPr>
              <a:t>aligned in the 7</a:t>
            </a:r>
            <a:r>
              <a:rPr lang="en-GB" sz="2000" baseline="30000" dirty="0" smtClean="0">
                <a:solidFill>
                  <a:schemeClr val="accent2"/>
                </a:solidFill>
                <a:latin typeface="Times New Roman" panose="02020603050405020304" pitchFamily="18" charset="0"/>
              </a:rPr>
              <a:t>th</a:t>
            </a:r>
            <a:r>
              <a:rPr lang="en-GB" sz="2000" dirty="0" smtClean="0">
                <a:solidFill>
                  <a:schemeClr val="accent2"/>
                </a:solidFill>
                <a:latin typeface="Times New Roman" panose="02020603050405020304" pitchFamily="18" charset="0"/>
              </a:rPr>
              <a:t> FYP</a:t>
            </a:r>
            <a:r>
              <a:rPr lang="en-GB" sz="2000" dirty="0" smtClean="0">
                <a:latin typeface="Times New Roman" panose="02020603050405020304" pitchFamily="18" charset="0"/>
              </a:rPr>
              <a:t>, the National Developmental Plan of Bangladesh. </a:t>
            </a:r>
          </a:p>
          <a:p>
            <a:pPr marL="338274" indent="-338274" algn="just">
              <a:spcBef>
                <a:spcPts val="600"/>
              </a:spcBef>
              <a:buClr>
                <a:srgbClr val="516529"/>
              </a:buClr>
              <a:buFont typeface="Wingdings" pitchFamily="2" charset="2"/>
              <a:buChar char="§"/>
              <a:defRPr/>
            </a:pPr>
            <a:r>
              <a:rPr lang="en-GB" sz="2000" dirty="0" smtClean="0">
                <a:solidFill>
                  <a:schemeClr val="accent2"/>
                </a:solidFill>
                <a:latin typeface="Times New Roman" panose="02020603050405020304" pitchFamily="18" charset="0"/>
              </a:rPr>
              <a:t>SDGs Mapping </a:t>
            </a:r>
            <a:r>
              <a:rPr lang="en-GB" sz="2000" dirty="0" smtClean="0">
                <a:latin typeface="Times New Roman" panose="02020603050405020304" pitchFamily="18" charset="0"/>
              </a:rPr>
              <a:t>among the Ministries/Divisions have been finalized and published.</a:t>
            </a:r>
          </a:p>
          <a:p>
            <a:pPr marL="338274" indent="-338274" algn="just">
              <a:spcBef>
                <a:spcPts val="600"/>
              </a:spcBef>
              <a:buClr>
                <a:srgbClr val="516529"/>
              </a:buClr>
              <a:buFont typeface="Wingdings" pitchFamily="2" charset="2"/>
              <a:buChar char="§"/>
              <a:defRPr/>
            </a:pPr>
            <a:r>
              <a:rPr lang="en-GB" sz="2000" dirty="0" smtClean="0">
                <a:solidFill>
                  <a:schemeClr val="accent2"/>
                </a:solidFill>
                <a:latin typeface="Times New Roman" panose="02020603050405020304" pitchFamily="18" charset="0"/>
              </a:rPr>
              <a:t>SDG Data Gap </a:t>
            </a:r>
            <a:r>
              <a:rPr lang="en-GB" sz="2000" dirty="0" smtClean="0">
                <a:latin typeface="Times New Roman" panose="02020603050405020304" pitchFamily="18" charset="0"/>
              </a:rPr>
              <a:t>Analysis has been finalized and published.    </a:t>
            </a:r>
          </a:p>
          <a:p>
            <a:pPr marL="338274" indent="-338274" algn="just">
              <a:spcBef>
                <a:spcPts val="600"/>
              </a:spcBef>
              <a:buClr>
                <a:srgbClr val="516529"/>
              </a:buClr>
              <a:buFont typeface="Wingdings" pitchFamily="2" charset="2"/>
              <a:buChar char="§"/>
              <a:defRPr/>
            </a:pPr>
            <a:r>
              <a:rPr lang="en-GB" sz="2000" dirty="0" smtClean="0">
                <a:solidFill>
                  <a:schemeClr val="accent2"/>
                </a:solidFill>
                <a:latin typeface="Times New Roman" panose="02020603050405020304" pitchFamily="18" charset="0"/>
              </a:rPr>
              <a:t>National Monitoring and Evaluation (M&amp;E) Framework </a:t>
            </a:r>
            <a:r>
              <a:rPr lang="en-GB" sz="2000" dirty="0" smtClean="0">
                <a:latin typeface="Times New Roman" panose="02020603050405020304" pitchFamily="18" charset="0"/>
              </a:rPr>
              <a:t>for SDGs is in the process of finalization. </a:t>
            </a:r>
          </a:p>
          <a:p>
            <a:pPr marL="338274" indent="-338274" algn="just">
              <a:spcBef>
                <a:spcPts val="600"/>
              </a:spcBef>
              <a:buClr>
                <a:srgbClr val="516529"/>
              </a:buClr>
              <a:buFont typeface="Wingdings" pitchFamily="2" charset="2"/>
              <a:buChar char="§"/>
              <a:defRPr/>
            </a:pPr>
            <a:r>
              <a:rPr lang="en-GB" sz="2000" dirty="0" smtClean="0">
                <a:solidFill>
                  <a:schemeClr val="accent2"/>
                </a:solidFill>
                <a:latin typeface="Times New Roman" panose="02020603050405020304" pitchFamily="18" charset="0"/>
              </a:rPr>
              <a:t>SDGs Action Plan </a:t>
            </a:r>
            <a:r>
              <a:rPr lang="en-GB" sz="2000" dirty="0" smtClean="0">
                <a:latin typeface="Times New Roman" panose="02020603050405020304" pitchFamily="18" charset="0"/>
              </a:rPr>
              <a:t>are in the process of preparation.  </a:t>
            </a:r>
          </a:p>
          <a:p>
            <a:pPr marL="338274" indent="-338274" algn="just">
              <a:spcBef>
                <a:spcPts val="600"/>
              </a:spcBef>
              <a:buClr>
                <a:srgbClr val="516529"/>
              </a:buClr>
              <a:buFont typeface="Wingdings" pitchFamily="2" charset="2"/>
              <a:buChar char="§"/>
              <a:defRPr/>
            </a:pPr>
            <a:r>
              <a:rPr lang="en-GB" sz="2000" dirty="0" smtClean="0">
                <a:latin typeface="Times New Roman" panose="02020603050405020304" pitchFamily="18" charset="0"/>
              </a:rPr>
              <a:t>A study on </a:t>
            </a:r>
            <a:r>
              <a:rPr lang="en-GB" sz="2000" dirty="0" smtClean="0">
                <a:solidFill>
                  <a:schemeClr val="accent2"/>
                </a:solidFill>
                <a:latin typeface="Times New Roman" panose="02020603050405020304" pitchFamily="18" charset="0"/>
              </a:rPr>
              <a:t>SDGs Need Assessment and Financing </a:t>
            </a:r>
            <a:r>
              <a:rPr lang="en-GB" sz="2000" dirty="0" smtClean="0">
                <a:latin typeface="Times New Roman" panose="02020603050405020304" pitchFamily="18" charset="0"/>
              </a:rPr>
              <a:t>is being done.  </a:t>
            </a:r>
          </a:p>
          <a:p>
            <a:pPr marL="338274" indent="-338274" algn="just">
              <a:spcBef>
                <a:spcPts val="600"/>
              </a:spcBef>
              <a:buClr>
                <a:srgbClr val="516529"/>
              </a:buClr>
              <a:buFont typeface="Wingdings" pitchFamily="2" charset="2"/>
              <a:buChar char="§"/>
              <a:defRPr/>
            </a:pPr>
            <a:r>
              <a:rPr lang="en-GB" sz="2000" dirty="0" smtClean="0">
                <a:latin typeface="Times New Roman" panose="02020603050405020304" pitchFamily="18" charset="0"/>
              </a:rPr>
              <a:t>An </a:t>
            </a:r>
            <a:r>
              <a:rPr lang="en-GB" sz="2000" dirty="0" smtClean="0">
                <a:solidFill>
                  <a:schemeClr val="accent2"/>
                </a:solidFill>
                <a:latin typeface="Times New Roman" panose="02020603050405020304" pitchFamily="18" charset="0"/>
              </a:rPr>
              <a:t>on-line SDGs Data Repository </a:t>
            </a:r>
            <a:r>
              <a:rPr lang="en-GB" sz="2000" dirty="0" smtClean="0">
                <a:latin typeface="Times New Roman" panose="02020603050405020304" pitchFamily="18" charset="0"/>
              </a:rPr>
              <a:t>system is in the process preparation.  </a:t>
            </a:r>
          </a:p>
          <a:p>
            <a:pPr marL="338274" indent="-338274" algn="just">
              <a:spcBef>
                <a:spcPts val="600"/>
              </a:spcBef>
              <a:buClr>
                <a:srgbClr val="516529"/>
              </a:buClr>
              <a:buFont typeface="Wingdings" pitchFamily="2" charset="2"/>
              <a:buChar char="§"/>
              <a:defRPr/>
            </a:pPr>
            <a:r>
              <a:rPr lang="en-GB" sz="2000" dirty="0" smtClean="0">
                <a:latin typeface="Times New Roman" panose="02020603050405020304" pitchFamily="18" charset="0"/>
              </a:rPr>
              <a:t>Instruction has been given to include SDGs issues in the </a:t>
            </a:r>
            <a:r>
              <a:rPr lang="en-GB" sz="2000" dirty="0" smtClean="0">
                <a:solidFill>
                  <a:schemeClr val="accent2"/>
                </a:solidFill>
                <a:latin typeface="Times New Roman" panose="02020603050405020304" pitchFamily="18" charset="0"/>
              </a:rPr>
              <a:t>APA</a:t>
            </a:r>
            <a:r>
              <a:rPr lang="en-GB" sz="2000" dirty="0" smtClean="0">
                <a:latin typeface="Times New Roman" panose="02020603050405020304" pitchFamily="18" charset="0"/>
              </a:rPr>
              <a:t>  of all Ministries/Divisions/Agencies.   </a:t>
            </a:r>
          </a:p>
          <a:p>
            <a:pPr marL="338274" indent="-338274" algn="just">
              <a:spcBef>
                <a:spcPts val="600"/>
              </a:spcBef>
              <a:buClr>
                <a:srgbClr val="516529"/>
              </a:buClr>
              <a:buFont typeface="Wingdings" pitchFamily="2" charset="2"/>
              <a:buChar char="§"/>
              <a:defRPr/>
            </a:pPr>
            <a:r>
              <a:rPr lang="en-GB" sz="2000" dirty="0" smtClean="0">
                <a:latin typeface="Times New Roman" panose="02020603050405020304" pitchFamily="18" charset="0"/>
              </a:rPr>
              <a:t>Instruction has been given to include SDGs issues in the different </a:t>
            </a:r>
            <a:r>
              <a:rPr lang="en-GB" sz="2000" dirty="0" smtClean="0">
                <a:solidFill>
                  <a:schemeClr val="accent2"/>
                </a:solidFill>
                <a:latin typeface="Times New Roman" panose="02020603050405020304" pitchFamily="18" charset="0"/>
              </a:rPr>
              <a:t>training institutions</a:t>
            </a:r>
            <a:r>
              <a:rPr lang="en-GB" sz="2000" dirty="0" smtClean="0">
                <a:latin typeface="Times New Roman" panose="02020603050405020304" pitchFamily="18" charset="0"/>
              </a:rPr>
              <a:t>.  </a:t>
            </a:r>
            <a:endParaRPr lang="en-GB" sz="2000" dirty="0">
              <a:latin typeface="Times New Roman" panose="02020603050405020304" pitchFamily="18" charset="0"/>
            </a:endParaRPr>
          </a:p>
        </p:txBody>
      </p:sp>
      <p:sp>
        <p:nvSpPr>
          <p:cNvPr id="45" name="Slide Number Placeholder 5"/>
          <p:cNvSpPr>
            <a:spLocks noGrp="1"/>
          </p:cNvSpPr>
          <p:nvPr>
            <p:ph type="sldNum" sz="quarter" idx="12"/>
          </p:nvPr>
        </p:nvSpPr>
        <p:spPr>
          <a:xfrm>
            <a:off x="11582399" y="6519706"/>
            <a:ext cx="519289" cy="364206"/>
          </a:xfrm>
        </p:spPr>
        <p:txBody>
          <a:bodyPr/>
          <a:lstStyle/>
          <a:p>
            <a:pPr>
              <a:defRPr/>
            </a:pPr>
            <a:fld id="{91DDCDD9-36BD-4E6B-8629-954F44B7354A}" type="slidenum">
              <a:rPr lang="en-US" smtClean="0"/>
              <a:pPr>
                <a:defRPr/>
              </a:pPr>
              <a:t>45</a:t>
            </a:fld>
            <a:endParaRPr lang="en-US" dirty="0"/>
          </a:p>
        </p:txBody>
      </p:sp>
    </p:spTree>
    <p:extLst>
      <p:ext uri="{BB962C8B-B14F-4D97-AF65-F5344CB8AC3E}">
        <p14:creationId xmlns="" xmlns:p14="http://schemas.microsoft.com/office/powerpoint/2010/main" val="1709616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Effect transition="in" filter="blinds(horizontal)">
                                      <p:cBhvr>
                                        <p:cTn id="19" dur="500"/>
                                        <p:tgtEl>
                                          <p:spTgt spid="5">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5">
                                            <p:txEl>
                                              <p:pRg st="3" end="3"/>
                                            </p:txEl>
                                          </p:spTgt>
                                        </p:tgtEl>
                                        <p:attrNameLst>
                                          <p:attrName>style.visibility</p:attrName>
                                        </p:attrNameLst>
                                      </p:cBhvr>
                                      <p:to>
                                        <p:strVal val="visible"/>
                                      </p:to>
                                    </p:set>
                                    <p:animEffect transition="in" filter="blinds(horizontal)">
                                      <p:cBhvr>
                                        <p:cTn id="24" dur="500"/>
                                        <p:tgtEl>
                                          <p:spTgt spid="5">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anim calcmode="lin" valueType="num">
                                      <p:cBhvr additive="base">
                                        <p:cTn id="2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5">
                                            <p:txEl>
                                              <p:pRg st="5" end="5"/>
                                            </p:txEl>
                                          </p:spTgt>
                                        </p:tgtEl>
                                        <p:attrNameLst>
                                          <p:attrName>style.visibility</p:attrName>
                                        </p:attrNameLst>
                                      </p:cBhvr>
                                      <p:to>
                                        <p:strVal val="visible"/>
                                      </p:to>
                                    </p:set>
                                    <p:animEffect transition="in" filter="blinds(horizontal)">
                                      <p:cBhvr>
                                        <p:cTn id="35" dur="500"/>
                                        <p:tgtEl>
                                          <p:spTgt spid="5">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5">
                                            <p:txEl>
                                              <p:pRg st="6" end="6"/>
                                            </p:txEl>
                                          </p:spTgt>
                                        </p:tgtEl>
                                        <p:attrNameLst>
                                          <p:attrName>style.visibility</p:attrName>
                                        </p:attrNameLst>
                                      </p:cBhvr>
                                      <p:to>
                                        <p:strVal val="visible"/>
                                      </p:to>
                                    </p:set>
                                    <p:animEffect transition="in" filter="blinds(horizontal)">
                                      <p:cBhvr>
                                        <p:cTn id="40" dur="500"/>
                                        <p:tgtEl>
                                          <p:spTgt spid="5">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5">
                                            <p:txEl>
                                              <p:pRg st="7" end="7"/>
                                            </p:txEl>
                                          </p:spTgt>
                                        </p:tgtEl>
                                        <p:attrNameLst>
                                          <p:attrName>style.visibility</p:attrName>
                                        </p:attrNameLst>
                                      </p:cBhvr>
                                      <p:to>
                                        <p:strVal val="visible"/>
                                      </p:to>
                                    </p:set>
                                    <p:anim calcmode="lin" valueType="num">
                                      <p:cBhvr additive="base">
                                        <p:cTn id="45"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5">
                                            <p:txEl>
                                              <p:pRg st="8" end="8"/>
                                            </p:txEl>
                                          </p:spTgt>
                                        </p:tgtEl>
                                        <p:attrNameLst>
                                          <p:attrName>style.visibility</p:attrName>
                                        </p:attrNameLst>
                                      </p:cBhvr>
                                      <p:to>
                                        <p:strVal val="visible"/>
                                      </p:to>
                                    </p:set>
                                    <p:anim calcmode="lin" valueType="num">
                                      <p:cBhvr additive="base">
                                        <p:cTn id="51"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5">
                                            <p:txEl>
                                              <p:pRg st="9" end="9"/>
                                            </p:txEl>
                                          </p:spTgt>
                                        </p:tgtEl>
                                        <p:attrNameLst>
                                          <p:attrName>style.visibility</p:attrName>
                                        </p:attrNameLst>
                                      </p:cBhvr>
                                      <p:to>
                                        <p:strVal val="visible"/>
                                      </p:to>
                                    </p:set>
                                    <p:anim calcmode="lin" valueType="num">
                                      <p:cBhvr additive="base">
                                        <p:cTn id="57"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5">
                                            <p:txEl>
                                              <p:pRg st="10" end="10"/>
                                            </p:txEl>
                                          </p:spTgt>
                                        </p:tgtEl>
                                        <p:attrNameLst>
                                          <p:attrName>style.visibility</p:attrName>
                                        </p:attrNameLst>
                                      </p:cBhvr>
                                      <p:to>
                                        <p:strVal val="visible"/>
                                      </p:to>
                                    </p:set>
                                    <p:anim calcmode="lin" valueType="num">
                                      <p:cBhvr additive="base">
                                        <p:cTn id="63"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5">
                                            <p:txEl>
                                              <p:pRg st="11" end="11"/>
                                            </p:txEl>
                                          </p:spTgt>
                                        </p:tgtEl>
                                        <p:attrNameLst>
                                          <p:attrName>style.visibility</p:attrName>
                                        </p:attrNameLst>
                                      </p:cBhvr>
                                      <p:to>
                                        <p:strVal val="visible"/>
                                      </p:to>
                                    </p:set>
                                    <p:anim calcmode="lin" valueType="num">
                                      <p:cBhvr additive="base">
                                        <p:cTn id="69"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1086" y="1"/>
            <a:ext cx="10580914" cy="1139555"/>
          </a:xfrm>
          <a:solidFill>
            <a:schemeClr val="accent1"/>
          </a:solidFill>
        </p:spPr>
        <p:txBody>
          <a:bodyPr>
            <a:normAutofit/>
          </a:bodyPr>
          <a:lstStyle/>
          <a:p>
            <a:r>
              <a:rPr lang="en-US" sz="4000" b="1" dirty="0" smtClean="0">
                <a:latin typeface="Avenir Next Condensed" charset="0"/>
                <a:ea typeface="Avenir Next Condensed" charset="0"/>
                <a:cs typeface="Avenir Next Condensed" charset="0"/>
              </a:rPr>
              <a:t>SDG # 3: Data Availability (27 indicators) </a:t>
            </a:r>
            <a:endParaRPr lang="en-US" sz="4000" dirty="0"/>
          </a:p>
        </p:txBody>
      </p:sp>
      <p:sp>
        <p:nvSpPr>
          <p:cNvPr id="4" name="Content Placeholder 3"/>
          <p:cNvSpPr>
            <a:spLocks noGrp="1"/>
          </p:cNvSpPr>
          <p:nvPr>
            <p:ph idx="1"/>
          </p:nvPr>
        </p:nvSpPr>
        <p:spPr>
          <a:xfrm>
            <a:off x="0" y="1139556"/>
            <a:ext cx="12192000" cy="5718443"/>
          </a:xfrm>
          <a:solidFill>
            <a:schemeClr val="accent2">
              <a:lumMod val="20000"/>
              <a:lumOff val="80000"/>
            </a:schemeClr>
          </a:solidFill>
        </p:spPr>
        <p:txBody>
          <a:bodyPr/>
          <a:lstStyle/>
          <a:p>
            <a:pPr marL="0" indent="0">
              <a:buNone/>
            </a:pPr>
            <a:endParaRPr lang="en-US" b="1" dirty="0"/>
          </a:p>
        </p:txBody>
      </p:sp>
      <p:sp>
        <p:nvSpPr>
          <p:cNvPr id="19" name="TextBox 18"/>
          <p:cNvSpPr txBox="1"/>
          <p:nvPr/>
        </p:nvSpPr>
        <p:spPr>
          <a:xfrm>
            <a:off x="173421" y="1223133"/>
            <a:ext cx="2969829" cy="369332"/>
          </a:xfrm>
          <a:prstGeom prst="rect">
            <a:avLst/>
          </a:prstGeom>
          <a:solidFill>
            <a:schemeClr val="accent1"/>
          </a:solidFill>
        </p:spPr>
        <p:txBody>
          <a:bodyPr wrap="square" rtlCol="0">
            <a:spAutoFit/>
          </a:bodyPr>
          <a:lstStyle/>
          <a:p>
            <a:pPr algn="ctr"/>
            <a:r>
              <a:rPr lang="en-US" b="1" dirty="0" smtClean="0"/>
              <a:t>Data Readily Available (12) </a:t>
            </a:r>
            <a:endParaRPr lang="en-US" b="1" dirty="0"/>
          </a:p>
        </p:txBody>
      </p:sp>
      <p:sp>
        <p:nvSpPr>
          <p:cNvPr id="20" name="TextBox 19"/>
          <p:cNvSpPr txBox="1"/>
          <p:nvPr/>
        </p:nvSpPr>
        <p:spPr>
          <a:xfrm>
            <a:off x="3486150" y="1181748"/>
            <a:ext cx="3067050" cy="369332"/>
          </a:xfrm>
          <a:prstGeom prst="rect">
            <a:avLst/>
          </a:prstGeom>
          <a:solidFill>
            <a:schemeClr val="accent2"/>
          </a:solidFill>
        </p:spPr>
        <p:txBody>
          <a:bodyPr wrap="square" rtlCol="0">
            <a:spAutoFit/>
          </a:bodyPr>
          <a:lstStyle/>
          <a:p>
            <a:pPr algn="ctr"/>
            <a:r>
              <a:rPr lang="en-US" b="1" dirty="0" smtClean="0"/>
              <a:t>Data Partially Available (10) </a:t>
            </a:r>
            <a:endParaRPr lang="en-US" b="1" dirty="0"/>
          </a:p>
        </p:txBody>
      </p:sp>
      <p:sp>
        <p:nvSpPr>
          <p:cNvPr id="21" name="TextBox 20"/>
          <p:cNvSpPr txBox="1"/>
          <p:nvPr/>
        </p:nvSpPr>
        <p:spPr>
          <a:xfrm>
            <a:off x="6629399" y="1180204"/>
            <a:ext cx="3331691" cy="369332"/>
          </a:xfrm>
          <a:prstGeom prst="rect">
            <a:avLst/>
          </a:prstGeom>
          <a:solidFill>
            <a:schemeClr val="accent4"/>
          </a:solidFill>
        </p:spPr>
        <p:txBody>
          <a:bodyPr wrap="square" rtlCol="0">
            <a:spAutoFit/>
          </a:bodyPr>
          <a:lstStyle/>
          <a:p>
            <a:pPr algn="ctr"/>
            <a:r>
              <a:rPr lang="en-US" b="1" dirty="0" smtClean="0"/>
              <a:t>Data Not Available (5) </a:t>
            </a:r>
            <a:endParaRPr lang="en-US" b="1" dirty="0"/>
          </a:p>
        </p:txBody>
      </p:sp>
      <p:sp>
        <p:nvSpPr>
          <p:cNvPr id="25" name="TextBox 24"/>
          <p:cNvSpPr txBox="1"/>
          <p:nvPr/>
        </p:nvSpPr>
        <p:spPr>
          <a:xfrm>
            <a:off x="10191750" y="1166082"/>
            <a:ext cx="1769591" cy="369332"/>
          </a:xfrm>
          <a:prstGeom prst="rect">
            <a:avLst/>
          </a:prstGeom>
          <a:solidFill>
            <a:srgbClr val="FF0000"/>
          </a:solidFill>
        </p:spPr>
        <p:txBody>
          <a:bodyPr wrap="square" rtlCol="0">
            <a:spAutoFit/>
          </a:bodyPr>
          <a:lstStyle/>
          <a:p>
            <a:pPr algn="ctr"/>
            <a:r>
              <a:rPr lang="en-US" b="1" dirty="0" smtClean="0"/>
              <a:t>Tier III (4)</a:t>
            </a:r>
            <a:endParaRPr lang="en-US" b="1" dirty="0"/>
          </a:p>
        </p:txBody>
      </p:sp>
      <p:sp>
        <p:nvSpPr>
          <p:cNvPr id="26" name="TextBox 25"/>
          <p:cNvSpPr txBox="1"/>
          <p:nvPr/>
        </p:nvSpPr>
        <p:spPr>
          <a:xfrm>
            <a:off x="10191750" y="1601660"/>
            <a:ext cx="1769591" cy="1477328"/>
          </a:xfrm>
          <a:prstGeom prst="rect">
            <a:avLst/>
          </a:prstGeom>
          <a:solidFill>
            <a:srgbClr val="FF0000"/>
          </a:solidFill>
        </p:spPr>
        <p:txBody>
          <a:bodyPr wrap="square" rtlCol="0">
            <a:spAutoFit/>
          </a:bodyPr>
          <a:lstStyle/>
          <a:p>
            <a:pPr algn="ctr"/>
            <a:r>
              <a:rPr lang="en-US" dirty="0" smtClean="0"/>
              <a:t>3.5.1</a:t>
            </a:r>
          </a:p>
          <a:p>
            <a:pPr algn="ctr"/>
            <a:r>
              <a:rPr lang="en-US" dirty="0" smtClean="0"/>
              <a:t>3.8.1</a:t>
            </a:r>
          </a:p>
          <a:p>
            <a:pPr algn="ctr"/>
            <a:r>
              <a:rPr lang="en-US" dirty="0" smtClean="0"/>
              <a:t>3.8.2</a:t>
            </a:r>
          </a:p>
          <a:p>
            <a:pPr algn="ctr"/>
            <a:r>
              <a:rPr lang="en-US" dirty="0" smtClean="0"/>
              <a:t>3.b.1</a:t>
            </a:r>
          </a:p>
          <a:p>
            <a:pPr algn="ctr"/>
            <a:r>
              <a:rPr lang="en-US" dirty="0" smtClean="0"/>
              <a:t>3.b.3</a:t>
            </a:r>
          </a:p>
        </p:txBody>
      </p:sp>
      <p:sp>
        <p:nvSpPr>
          <p:cNvPr id="23" name="TextBox 22"/>
          <p:cNvSpPr txBox="1"/>
          <p:nvPr/>
        </p:nvSpPr>
        <p:spPr>
          <a:xfrm>
            <a:off x="173421" y="1742997"/>
            <a:ext cx="2969829" cy="338554"/>
          </a:xfrm>
          <a:prstGeom prst="rect">
            <a:avLst/>
          </a:prstGeom>
          <a:solidFill>
            <a:schemeClr val="accent1"/>
          </a:solidFill>
        </p:spPr>
        <p:txBody>
          <a:bodyPr wrap="square" rtlCol="0">
            <a:spAutoFit/>
          </a:bodyPr>
          <a:lstStyle/>
          <a:p>
            <a:r>
              <a:rPr lang="en-GB" sz="1600" dirty="0" smtClean="0"/>
              <a:t>3.1.1: MMR</a:t>
            </a:r>
            <a:endParaRPr lang="en-US" sz="1600" dirty="0"/>
          </a:p>
        </p:txBody>
      </p:sp>
      <p:sp>
        <p:nvSpPr>
          <p:cNvPr id="24" name="TextBox 23"/>
          <p:cNvSpPr txBox="1"/>
          <p:nvPr/>
        </p:nvSpPr>
        <p:spPr>
          <a:xfrm>
            <a:off x="191143" y="2203228"/>
            <a:ext cx="2952107" cy="338554"/>
          </a:xfrm>
          <a:prstGeom prst="rect">
            <a:avLst/>
          </a:prstGeom>
          <a:solidFill>
            <a:schemeClr val="accent1"/>
          </a:solidFill>
        </p:spPr>
        <p:txBody>
          <a:bodyPr wrap="square" rtlCol="0">
            <a:spAutoFit/>
          </a:bodyPr>
          <a:lstStyle/>
          <a:p>
            <a:r>
              <a:rPr lang="en-US" sz="1600" dirty="0" smtClean="0"/>
              <a:t>3.1.2: Births AB SHP</a:t>
            </a:r>
            <a:endParaRPr lang="en-US" sz="1600" dirty="0"/>
          </a:p>
        </p:txBody>
      </p:sp>
      <p:sp>
        <p:nvSpPr>
          <p:cNvPr id="27" name="TextBox 26"/>
          <p:cNvSpPr txBox="1"/>
          <p:nvPr/>
        </p:nvSpPr>
        <p:spPr>
          <a:xfrm rot="10800000" flipV="1">
            <a:off x="191317" y="2640412"/>
            <a:ext cx="2951932" cy="338554"/>
          </a:xfrm>
          <a:prstGeom prst="rect">
            <a:avLst/>
          </a:prstGeom>
          <a:solidFill>
            <a:schemeClr val="accent1"/>
          </a:solidFill>
        </p:spPr>
        <p:txBody>
          <a:bodyPr wrap="square" rtlCol="0">
            <a:spAutoFit/>
          </a:bodyPr>
          <a:lstStyle/>
          <a:p>
            <a:r>
              <a:rPr lang="en-GB" sz="1600" dirty="0" smtClean="0"/>
              <a:t>3.2.1: U5 mortality </a:t>
            </a:r>
            <a:r>
              <a:rPr lang="en-GB" sz="1600" dirty="0"/>
              <a:t>rate </a:t>
            </a:r>
            <a:r>
              <a:rPr lang="en-US" sz="1600" dirty="0" smtClean="0"/>
              <a:t> </a:t>
            </a:r>
            <a:endParaRPr lang="en-US" sz="1600" dirty="0"/>
          </a:p>
        </p:txBody>
      </p:sp>
      <p:sp>
        <p:nvSpPr>
          <p:cNvPr id="28" name="TextBox 27"/>
          <p:cNvSpPr txBox="1"/>
          <p:nvPr/>
        </p:nvSpPr>
        <p:spPr>
          <a:xfrm>
            <a:off x="191144" y="3057320"/>
            <a:ext cx="2952106" cy="338554"/>
          </a:xfrm>
          <a:prstGeom prst="rect">
            <a:avLst/>
          </a:prstGeom>
          <a:solidFill>
            <a:schemeClr val="accent1"/>
          </a:solidFill>
        </p:spPr>
        <p:txBody>
          <a:bodyPr wrap="square" rtlCol="0">
            <a:spAutoFit/>
          </a:bodyPr>
          <a:lstStyle/>
          <a:p>
            <a:r>
              <a:rPr lang="en-US" sz="1600" dirty="0" smtClean="0"/>
              <a:t>3.2.2: Neonatal </a:t>
            </a:r>
            <a:r>
              <a:rPr lang="en-US" sz="1600" dirty="0"/>
              <a:t>mortality rate </a:t>
            </a:r>
            <a:r>
              <a:rPr lang="en-US" sz="1600" dirty="0" smtClean="0"/>
              <a:t> </a:t>
            </a:r>
            <a:endParaRPr lang="en-US" sz="1600" dirty="0"/>
          </a:p>
        </p:txBody>
      </p:sp>
      <p:sp>
        <p:nvSpPr>
          <p:cNvPr id="29" name="TextBox 28"/>
          <p:cNvSpPr txBox="1"/>
          <p:nvPr/>
        </p:nvSpPr>
        <p:spPr>
          <a:xfrm>
            <a:off x="207085" y="3489769"/>
            <a:ext cx="2936163" cy="338554"/>
          </a:xfrm>
          <a:prstGeom prst="rect">
            <a:avLst/>
          </a:prstGeom>
          <a:solidFill>
            <a:schemeClr val="accent1"/>
          </a:solidFill>
        </p:spPr>
        <p:txBody>
          <a:bodyPr wrap="square" rtlCol="0">
            <a:spAutoFit/>
          </a:bodyPr>
          <a:lstStyle/>
          <a:p>
            <a:r>
              <a:rPr lang="en-US" sz="1600" dirty="0" smtClean="0"/>
              <a:t>3.3.1: New </a:t>
            </a:r>
            <a:r>
              <a:rPr lang="en-US" sz="1600" dirty="0"/>
              <a:t>HIV infections </a:t>
            </a:r>
            <a:r>
              <a:rPr lang="en-US" sz="1600" dirty="0" smtClean="0"/>
              <a:t> </a:t>
            </a:r>
            <a:endParaRPr lang="en-US" sz="1600" dirty="0"/>
          </a:p>
        </p:txBody>
      </p:sp>
      <p:sp>
        <p:nvSpPr>
          <p:cNvPr id="30" name="TextBox 29"/>
          <p:cNvSpPr txBox="1"/>
          <p:nvPr/>
        </p:nvSpPr>
        <p:spPr>
          <a:xfrm>
            <a:off x="207077" y="3877328"/>
            <a:ext cx="2936171" cy="338554"/>
          </a:xfrm>
          <a:prstGeom prst="rect">
            <a:avLst/>
          </a:prstGeom>
          <a:solidFill>
            <a:schemeClr val="accent1"/>
          </a:solidFill>
        </p:spPr>
        <p:txBody>
          <a:bodyPr wrap="square" rtlCol="0">
            <a:spAutoFit/>
          </a:bodyPr>
          <a:lstStyle/>
          <a:p>
            <a:r>
              <a:rPr lang="en-US" sz="1600" dirty="0" smtClean="0"/>
              <a:t>3.3.2: Tuberculosis incidence</a:t>
            </a:r>
            <a:endParaRPr lang="en-US" sz="1600" dirty="0"/>
          </a:p>
        </p:txBody>
      </p:sp>
      <p:sp>
        <p:nvSpPr>
          <p:cNvPr id="31" name="TextBox 30"/>
          <p:cNvSpPr txBox="1"/>
          <p:nvPr/>
        </p:nvSpPr>
        <p:spPr>
          <a:xfrm>
            <a:off x="191142" y="4271676"/>
            <a:ext cx="2952106" cy="338554"/>
          </a:xfrm>
          <a:prstGeom prst="rect">
            <a:avLst/>
          </a:prstGeom>
          <a:solidFill>
            <a:schemeClr val="accent1"/>
          </a:solidFill>
        </p:spPr>
        <p:txBody>
          <a:bodyPr wrap="square" rtlCol="0">
            <a:spAutoFit/>
          </a:bodyPr>
          <a:lstStyle/>
          <a:p>
            <a:r>
              <a:rPr lang="en-US" sz="1600" dirty="0" smtClean="0"/>
              <a:t>3.3.3: Malaria incidence</a:t>
            </a:r>
            <a:endParaRPr lang="en-US" sz="1600" dirty="0"/>
          </a:p>
        </p:txBody>
      </p:sp>
      <p:sp>
        <p:nvSpPr>
          <p:cNvPr id="32" name="TextBox 31"/>
          <p:cNvSpPr txBox="1"/>
          <p:nvPr/>
        </p:nvSpPr>
        <p:spPr>
          <a:xfrm>
            <a:off x="191308" y="4666593"/>
            <a:ext cx="2961787" cy="338554"/>
          </a:xfrm>
          <a:prstGeom prst="rect">
            <a:avLst/>
          </a:prstGeom>
          <a:solidFill>
            <a:schemeClr val="accent1"/>
          </a:solidFill>
        </p:spPr>
        <p:txBody>
          <a:bodyPr wrap="square" rtlCol="0">
            <a:spAutoFit/>
          </a:bodyPr>
          <a:lstStyle/>
          <a:p>
            <a:r>
              <a:rPr lang="en-US" sz="1600" dirty="0" smtClean="0"/>
              <a:t>3.3.4: Hepatitis </a:t>
            </a:r>
            <a:r>
              <a:rPr lang="en-US" sz="1600" dirty="0"/>
              <a:t>B </a:t>
            </a:r>
            <a:r>
              <a:rPr lang="en-US" sz="1600" dirty="0" smtClean="0"/>
              <a:t>incidence</a:t>
            </a:r>
            <a:endParaRPr lang="en-US" sz="1600" dirty="0"/>
          </a:p>
        </p:txBody>
      </p:sp>
      <p:sp>
        <p:nvSpPr>
          <p:cNvPr id="33" name="TextBox 32"/>
          <p:cNvSpPr txBox="1"/>
          <p:nvPr/>
        </p:nvSpPr>
        <p:spPr>
          <a:xfrm>
            <a:off x="191306" y="5063505"/>
            <a:ext cx="2961789" cy="338554"/>
          </a:xfrm>
          <a:prstGeom prst="rect">
            <a:avLst/>
          </a:prstGeom>
          <a:solidFill>
            <a:schemeClr val="accent1"/>
          </a:solidFill>
        </p:spPr>
        <p:txBody>
          <a:bodyPr wrap="square" rtlCol="0">
            <a:spAutoFit/>
          </a:bodyPr>
          <a:lstStyle/>
          <a:p>
            <a:r>
              <a:rPr lang="en-US" sz="1600" dirty="0" smtClean="0"/>
              <a:t>3.3.5: Neglected </a:t>
            </a:r>
            <a:r>
              <a:rPr lang="en-US" sz="1600" dirty="0"/>
              <a:t>tropical diseases </a:t>
            </a:r>
            <a:r>
              <a:rPr lang="en-US" sz="1600" dirty="0" smtClean="0"/>
              <a:t> </a:t>
            </a:r>
            <a:endParaRPr lang="en-US" sz="1600" dirty="0"/>
          </a:p>
        </p:txBody>
      </p:sp>
      <p:sp>
        <p:nvSpPr>
          <p:cNvPr id="34" name="TextBox 33"/>
          <p:cNvSpPr txBox="1"/>
          <p:nvPr/>
        </p:nvSpPr>
        <p:spPr>
          <a:xfrm>
            <a:off x="3486151" y="1596661"/>
            <a:ext cx="3067050" cy="1077218"/>
          </a:xfrm>
          <a:prstGeom prst="rect">
            <a:avLst/>
          </a:prstGeom>
          <a:solidFill>
            <a:schemeClr val="accent2"/>
          </a:solidFill>
        </p:spPr>
        <p:txBody>
          <a:bodyPr wrap="square" rtlCol="0">
            <a:spAutoFit/>
          </a:bodyPr>
          <a:lstStyle/>
          <a:p>
            <a:r>
              <a:rPr lang="en-US" sz="1600" dirty="0" smtClean="0"/>
              <a:t>3.4.1: Mortality </a:t>
            </a:r>
            <a:r>
              <a:rPr lang="en-US" sz="1600" dirty="0"/>
              <a:t>rate attributed to cardiovascular disease, cancer, diabetes or chronic respiratory disease </a:t>
            </a:r>
            <a:r>
              <a:rPr lang="en-US" sz="1600" dirty="0" smtClean="0"/>
              <a:t> </a:t>
            </a:r>
            <a:endParaRPr lang="en-US" sz="1600" dirty="0"/>
          </a:p>
        </p:txBody>
      </p:sp>
      <p:sp>
        <p:nvSpPr>
          <p:cNvPr id="35" name="TextBox 34"/>
          <p:cNvSpPr txBox="1"/>
          <p:nvPr/>
        </p:nvSpPr>
        <p:spPr>
          <a:xfrm>
            <a:off x="3486151" y="2727415"/>
            <a:ext cx="3067050" cy="338554"/>
          </a:xfrm>
          <a:prstGeom prst="rect">
            <a:avLst/>
          </a:prstGeom>
          <a:solidFill>
            <a:schemeClr val="accent2"/>
          </a:solidFill>
        </p:spPr>
        <p:txBody>
          <a:bodyPr wrap="square" rtlCol="0">
            <a:spAutoFit/>
          </a:bodyPr>
          <a:lstStyle/>
          <a:p>
            <a:r>
              <a:rPr lang="en-US" sz="1600" dirty="0" smtClean="0"/>
              <a:t>3.4.2: Suicide </a:t>
            </a:r>
            <a:r>
              <a:rPr lang="en-US" sz="1600" dirty="0"/>
              <a:t>mortality rate </a:t>
            </a:r>
            <a:r>
              <a:rPr lang="en-US" sz="1600" dirty="0" smtClean="0"/>
              <a:t> </a:t>
            </a:r>
            <a:endParaRPr lang="en-US" sz="1600" dirty="0"/>
          </a:p>
        </p:txBody>
      </p:sp>
      <p:sp>
        <p:nvSpPr>
          <p:cNvPr id="36" name="TextBox 35"/>
          <p:cNvSpPr txBox="1"/>
          <p:nvPr/>
        </p:nvSpPr>
        <p:spPr>
          <a:xfrm>
            <a:off x="3486151" y="3101938"/>
            <a:ext cx="3067049" cy="584775"/>
          </a:xfrm>
          <a:prstGeom prst="rect">
            <a:avLst/>
          </a:prstGeom>
          <a:solidFill>
            <a:schemeClr val="accent2"/>
          </a:solidFill>
        </p:spPr>
        <p:txBody>
          <a:bodyPr wrap="square" rtlCol="0">
            <a:spAutoFit/>
          </a:bodyPr>
          <a:lstStyle/>
          <a:p>
            <a:r>
              <a:rPr lang="en-US" sz="1600" dirty="0" smtClean="0">
                <a:solidFill>
                  <a:srgbClr val="FF0000"/>
                </a:solidFill>
              </a:rPr>
              <a:t>3.5.1: Treatment </a:t>
            </a:r>
            <a:r>
              <a:rPr lang="en-US" sz="1600" dirty="0">
                <a:solidFill>
                  <a:srgbClr val="FF0000"/>
                </a:solidFill>
              </a:rPr>
              <a:t>interventions </a:t>
            </a:r>
            <a:r>
              <a:rPr lang="en-US" sz="1600" dirty="0" smtClean="0">
                <a:solidFill>
                  <a:srgbClr val="FF0000"/>
                </a:solidFill>
              </a:rPr>
              <a:t>for </a:t>
            </a:r>
            <a:r>
              <a:rPr lang="en-US" sz="1600" dirty="0">
                <a:solidFill>
                  <a:srgbClr val="FF0000"/>
                </a:solidFill>
              </a:rPr>
              <a:t>substance use disorders </a:t>
            </a:r>
          </a:p>
        </p:txBody>
      </p:sp>
      <p:sp>
        <p:nvSpPr>
          <p:cNvPr id="37" name="TextBox 36"/>
          <p:cNvSpPr txBox="1"/>
          <p:nvPr/>
        </p:nvSpPr>
        <p:spPr>
          <a:xfrm>
            <a:off x="6629399" y="1619602"/>
            <a:ext cx="3331692" cy="369332"/>
          </a:xfrm>
          <a:prstGeom prst="rect">
            <a:avLst/>
          </a:prstGeom>
          <a:solidFill>
            <a:schemeClr val="accent4"/>
          </a:solidFill>
        </p:spPr>
        <p:txBody>
          <a:bodyPr wrap="square" rtlCol="0">
            <a:spAutoFit/>
          </a:bodyPr>
          <a:lstStyle/>
          <a:p>
            <a:r>
              <a:rPr lang="en-US" dirty="0" smtClean="0"/>
              <a:t>3.5.2: Harmful </a:t>
            </a:r>
            <a:r>
              <a:rPr lang="en-US" dirty="0"/>
              <a:t>use of </a:t>
            </a:r>
            <a:r>
              <a:rPr lang="en-US" dirty="0" smtClean="0"/>
              <a:t>alcohol </a:t>
            </a:r>
            <a:endParaRPr lang="en-US" dirty="0"/>
          </a:p>
        </p:txBody>
      </p:sp>
      <p:sp>
        <p:nvSpPr>
          <p:cNvPr id="38" name="TextBox 37"/>
          <p:cNvSpPr txBox="1"/>
          <p:nvPr/>
        </p:nvSpPr>
        <p:spPr>
          <a:xfrm>
            <a:off x="3486151" y="3736120"/>
            <a:ext cx="3067050" cy="584775"/>
          </a:xfrm>
          <a:prstGeom prst="rect">
            <a:avLst/>
          </a:prstGeom>
          <a:solidFill>
            <a:schemeClr val="accent2"/>
          </a:solidFill>
        </p:spPr>
        <p:txBody>
          <a:bodyPr wrap="square" rtlCol="0">
            <a:spAutoFit/>
          </a:bodyPr>
          <a:lstStyle/>
          <a:p>
            <a:r>
              <a:rPr lang="en-US" sz="1600" dirty="0" smtClean="0"/>
              <a:t>3.6.1: Death </a:t>
            </a:r>
            <a:r>
              <a:rPr lang="en-US" sz="1600" dirty="0"/>
              <a:t>rate due to road traffic injuries </a:t>
            </a:r>
          </a:p>
        </p:txBody>
      </p:sp>
      <p:sp>
        <p:nvSpPr>
          <p:cNvPr id="39" name="TextBox 38"/>
          <p:cNvSpPr txBox="1"/>
          <p:nvPr/>
        </p:nvSpPr>
        <p:spPr>
          <a:xfrm>
            <a:off x="191309" y="5454049"/>
            <a:ext cx="2961786" cy="338554"/>
          </a:xfrm>
          <a:prstGeom prst="rect">
            <a:avLst/>
          </a:prstGeom>
          <a:solidFill>
            <a:schemeClr val="accent1"/>
          </a:solidFill>
        </p:spPr>
        <p:txBody>
          <a:bodyPr wrap="square" rtlCol="0">
            <a:spAutoFit/>
          </a:bodyPr>
          <a:lstStyle/>
          <a:p>
            <a:r>
              <a:rPr lang="en-US" sz="1600" dirty="0" smtClean="0"/>
              <a:t>3.7.1: Need </a:t>
            </a:r>
            <a:r>
              <a:rPr lang="en-US" sz="1600" dirty="0"/>
              <a:t>for </a:t>
            </a:r>
            <a:r>
              <a:rPr lang="en-US" sz="1600" dirty="0" smtClean="0"/>
              <a:t>FP satisfied</a:t>
            </a:r>
            <a:endParaRPr lang="en-US" sz="1600" dirty="0"/>
          </a:p>
        </p:txBody>
      </p:sp>
      <p:sp>
        <p:nvSpPr>
          <p:cNvPr id="40" name="TextBox 39"/>
          <p:cNvSpPr txBox="1"/>
          <p:nvPr/>
        </p:nvSpPr>
        <p:spPr>
          <a:xfrm>
            <a:off x="175538" y="5837123"/>
            <a:ext cx="2977558" cy="339628"/>
          </a:xfrm>
          <a:prstGeom prst="rect">
            <a:avLst/>
          </a:prstGeom>
          <a:solidFill>
            <a:schemeClr val="accent1"/>
          </a:solidFill>
        </p:spPr>
        <p:txBody>
          <a:bodyPr wrap="square" rtlCol="0">
            <a:spAutoFit/>
          </a:bodyPr>
          <a:lstStyle/>
          <a:p>
            <a:r>
              <a:rPr lang="en-US" sz="1600" dirty="0" smtClean="0"/>
              <a:t>3.7.2: Adolescent </a:t>
            </a:r>
            <a:r>
              <a:rPr lang="en-US" sz="1600" dirty="0"/>
              <a:t>birth </a:t>
            </a:r>
            <a:r>
              <a:rPr lang="en-US" sz="1600" dirty="0" smtClean="0"/>
              <a:t>rate</a:t>
            </a:r>
            <a:endParaRPr lang="en-US" sz="1600" dirty="0"/>
          </a:p>
        </p:txBody>
      </p:sp>
      <p:sp>
        <p:nvSpPr>
          <p:cNvPr id="41" name="TextBox 40"/>
          <p:cNvSpPr txBox="1"/>
          <p:nvPr/>
        </p:nvSpPr>
        <p:spPr>
          <a:xfrm>
            <a:off x="3486307" y="4372630"/>
            <a:ext cx="3066893" cy="338554"/>
          </a:xfrm>
          <a:prstGeom prst="rect">
            <a:avLst/>
          </a:prstGeom>
          <a:solidFill>
            <a:schemeClr val="accent2"/>
          </a:solidFill>
        </p:spPr>
        <p:txBody>
          <a:bodyPr wrap="square" rtlCol="0">
            <a:spAutoFit/>
          </a:bodyPr>
          <a:lstStyle/>
          <a:p>
            <a:r>
              <a:rPr lang="en-US" sz="1600" dirty="0" smtClean="0">
                <a:solidFill>
                  <a:srgbClr val="FF0000"/>
                </a:solidFill>
              </a:rPr>
              <a:t>3.8.1: Coverage </a:t>
            </a:r>
            <a:r>
              <a:rPr lang="en-US" sz="1600" dirty="0">
                <a:solidFill>
                  <a:srgbClr val="FF0000"/>
                </a:solidFill>
              </a:rPr>
              <a:t>of </a:t>
            </a:r>
            <a:r>
              <a:rPr lang="en-US" sz="1600" dirty="0" smtClean="0">
                <a:solidFill>
                  <a:srgbClr val="FF0000"/>
                </a:solidFill>
              </a:rPr>
              <a:t>EHS</a:t>
            </a:r>
            <a:endParaRPr lang="en-US" sz="1600" dirty="0">
              <a:solidFill>
                <a:srgbClr val="FF0000"/>
              </a:solidFill>
            </a:endParaRPr>
          </a:p>
        </p:txBody>
      </p:sp>
      <p:sp>
        <p:nvSpPr>
          <p:cNvPr id="42" name="TextBox 41"/>
          <p:cNvSpPr txBox="1"/>
          <p:nvPr/>
        </p:nvSpPr>
        <p:spPr>
          <a:xfrm>
            <a:off x="3486151" y="4762450"/>
            <a:ext cx="3067049" cy="584775"/>
          </a:xfrm>
          <a:prstGeom prst="rect">
            <a:avLst/>
          </a:prstGeom>
          <a:solidFill>
            <a:schemeClr val="accent2"/>
          </a:solidFill>
        </p:spPr>
        <p:txBody>
          <a:bodyPr wrap="square" rtlCol="0">
            <a:spAutoFit/>
          </a:bodyPr>
          <a:lstStyle/>
          <a:p>
            <a:r>
              <a:rPr lang="en-US" sz="1600" dirty="0" smtClean="0">
                <a:solidFill>
                  <a:srgbClr val="FF0000"/>
                </a:solidFill>
              </a:rPr>
              <a:t>3.8.2: people </a:t>
            </a:r>
            <a:r>
              <a:rPr lang="en-US" sz="1600" dirty="0">
                <a:solidFill>
                  <a:srgbClr val="FF0000"/>
                </a:solidFill>
              </a:rPr>
              <a:t>covered by health </a:t>
            </a:r>
            <a:r>
              <a:rPr lang="en-US" sz="1600" dirty="0" smtClean="0">
                <a:solidFill>
                  <a:srgbClr val="FF0000"/>
                </a:solidFill>
              </a:rPr>
              <a:t>insurance/ </a:t>
            </a:r>
            <a:r>
              <a:rPr lang="en-US" sz="1600" dirty="0">
                <a:solidFill>
                  <a:srgbClr val="FF0000"/>
                </a:solidFill>
              </a:rPr>
              <a:t>a public health </a:t>
            </a:r>
            <a:r>
              <a:rPr lang="en-US" sz="1600" dirty="0" smtClean="0">
                <a:solidFill>
                  <a:srgbClr val="FF0000"/>
                </a:solidFill>
              </a:rPr>
              <a:t>system</a:t>
            </a:r>
            <a:endParaRPr lang="en-US" sz="1600" dirty="0">
              <a:solidFill>
                <a:srgbClr val="FF0000"/>
              </a:solidFill>
            </a:endParaRPr>
          </a:p>
        </p:txBody>
      </p:sp>
      <p:sp>
        <p:nvSpPr>
          <p:cNvPr id="43" name="TextBox 42"/>
          <p:cNvSpPr txBox="1"/>
          <p:nvPr/>
        </p:nvSpPr>
        <p:spPr>
          <a:xfrm>
            <a:off x="6629399" y="2105516"/>
            <a:ext cx="3331692" cy="923330"/>
          </a:xfrm>
          <a:prstGeom prst="rect">
            <a:avLst/>
          </a:prstGeom>
          <a:solidFill>
            <a:schemeClr val="accent4"/>
          </a:solidFill>
        </p:spPr>
        <p:txBody>
          <a:bodyPr wrap="square" rtlCol="0">
            <a:spAutoFit/>
          </a:bodyPr>
          <a:lstStyle/>
          <a:p>
            <a:r>
              <a:rPr lang="en-US" dirty="0" smtClean="0"/>
              <a:t>3.9.1: Mortality </a:t>
            </a:r>
            <a:r>
              <a:rPr lang="en-US" dirty="0"/>
              <a:t>rate attributed to household and ambient air pollution </a:t>
            </a:r>
          </a:p>
        </p:txBody>
      </p:sp>
      <p:sp>
        <p:nvSpPr>
          <p:cNvPr id="44" name="TextBox 43"/>
          <p:cNvSpPr txBox="1"/>
          <p:nvPr/>
        </p:nvSpPr>
        <p:spPr>
          <a:xfrm>
            <a:off x="6629398" y="3193068"/>
            <a:ext cx="5331943" cy="646331"/>
          </a:xfrm>
          <a:prstGeom prst="rect">
            <a:avLst/>
          </a:prstGeom>
          <a:solidFill>
            <a:schemeClr val="accent4"/>
          </a:solidFill>
        </p:spPr>
        <p:txBody>
          <a:bodyPr wrap="square" rtlCol="0">
            <a:spAutoFit/>
          </a:bodyPr>
          <a:lstStyle/>
          <a:p>
            <a:r>
              <a:rPr lang="en-US" dirty="0" smtClean="0"/>
              <a:t>3.9.2: Mortality </a:t>
            </a:r>
            <a:r>
              <a:rPr lang="en-US" dirty="0"/>
              <a:t>rate attributed to unsafe water, unsafe sanitation and lack of hygiene </a:t>
            </a:r>
          </a:p>
        </p:txBody>
      </p:sp>
      <p:sp>
        <p:nvSpPr>
          <p:cNvPr id="45" name="TextBox 44"/>
          <p:cNvSpPr txBox="1"/>
          <p:nvPr/>
        </p:nvSpPr>
        <p:spPr>
          <a:xfrm>
            <a:off x="6629399" y="3917198"/>
            <a:ext cx="5331942" cy="646331"/>
          </a:xfrm>
          <a:prstGeom prst="rect">
            <a:avLst/>
          </a:prstGeom>
          <a:solidFill>
            <a:schemeClr val="accent4"/>
          </a:solidFill>
        </p:spPr>
        <p:txBody>
          <a:bodyPr wrap="square" rtlCol="0">
            <a:spAutoFit/>
          </a:bodyPr>
          <a:lstStyle/>
          <a:p>
            <a:r>
              <a:rPr lang="en-US" dirty="0" smtClean="0"/>
              <a:t>3.9.3: Mortality </a:t>
            </a:r>
            <a:r>
              <a:rPr lang="en-US" dirty="0"/>
              <a:t>rate attributed to unintentional poisoning </a:t>
            </a:r>
          </a:p>
        </p:txBody>
      </p:sp>
      <p:sp>
        <p:nvSpPr>
          <p:cNvPr id="46" name="TextBox 45"/>
          <p:cNvSpPr txBox="1"/>
          <p:nvPr/>
        </p:nvSpPr>
        <p:spPr>
          <a:xfrm>
            <a:off x="3486150" y="5370369"/>
            <a:ext cx="5768209" cy="338554"/>
          </a:xfrm>
          <a:prstGeom prst="rect">
            <a:avLst/>
          </a:prstGeom>
          <a:solidFill>
            <a:schemeClr val="accent2"/>
          </a:solidFill>
        </p:spPr>
        <p:txBody>
          <a:bodyPr wrap="square" rtlCol="0">
            <a:spAutoFit/>
          </a:bodyPr>
          <a:lstStyle/>
          <a:p>
            <a:r>
              <a:rPr lang="en-US" sz="1600" dirty="0" smtClean="0"/>
              <a:t>3.a.1: Prevalence of current tobacco use</a:t>
            </a:r>
            <a:endParaRPr lang="en-US" sz="1600" dirty="0"/>
          </a:p>
        </p:txBody>
      </p:sp>
      <p:sp>
        <p:nvSpPr>
          <p:cNvPr id="47" name="TextBox 46"/>
          <p:cNvSpPr txBox="1"/>
          <p:nvPr/>
        </p:nvSpPr>
        <p:spPr>
          <a:xfrm>
            <a:off x="3486151" y="5736715"/>
            <a:ext cx="5768208" cy="310686"/>
          </a:xfrm>
          <a:prstGeom prst="rect">
            <a:avLst/>
          </a:prstGeom>
          <a:solidFill>
            <a:schemeClr val="accent2"/>
          </a:solidFill>
        </p:spPr>
        <p:txBody>
          <a:bodyPr wrap="square" rtlCol="0">
            <a:spAutoFit/>
          </a:bodyPr>
          <a:lstStyle/>
          <a:p>
            <a:r>
              <a:rPr lang="en-US" sz="1400" dirty="0" smtClean="0">
                <a:solidFill>
                  <a:srgbClr val="FF0000"/>
                </a:solidFill>
              </a:rPr>
              <a:t>3.b.1: population covered by all vaccines </a:t>
            </a:r>
            <a:endParaRPr lang="en-US" sz="1400" dirty="0">
              <a:solidFill>
                <a:srgbClr val="FF0000"/>
              </a:solidFill>
            </a:endParaRPr>
          </a:p>
        </p:txBody>
      </p:sp>
      <p:sp>
        <p:nvSpPr>
          <p:cNvPr id="48" name="TextBox 47"/>
          <p:cNvSpPr txBox="1"/>
          <p:nvPr/>
        </p:nvSpPr>
        <p:spPr>
          <a:xfrm>
            <a:off x="3486150" y="6099313"/>
            <a:ext cx="5768209" cy="347095"/>
          </a:xfrm>
          <a:prstGeom prst="rect">
            <a:avLst/>
          </a:prstGeom>
          <a:solidFill>
            <a:schemeClr val="accent2"/>
          </a:solidFill>
        </p:spPr>
        <p:txBody>
          <a:bodyPr wrap="square" rtlCol="0">
            <a:spAutoFit/>
          </a:bodyPr>
          <a:lstStyle/>
          <a:p>
            <a:r>
              <a:rPr lang="en-US" sz="1600" dirty="0" smtClean="0"/>
              <a:t>3.b.2: Total </a:t>
            </a:r>
            <a:r>
              <a:rPr lang="en-US" sz="1600" dirty="0"/>
              <a:t>net </a:t>
            </a:r>
            <a:r>
              <a:rPr lang="en-US" sz="1600" dirty="0" smtClean="0"/>
              <a:t>ODA to </a:t>
            </a:r>
            <a:r>
              <a:rPr lang="en-US" sz="1600" dirty="0"/>
              <a:t>medical research and basic health sectors </a:t>
            </a:r>
          </a:p>
        </p:txBody>
      </p:sp>
      <p:sp>
        <p:nvSpPr>
          <p:cNvPr id="49" name="TextBox 48"/>
          <p:cNvSpPr txBox="1"/>
          <p:nvPr/>
        </p:nvSpPr>
        <p:spPr>
          <a:xfrm>
            <a:off x="191299" y="6240706"/>
            <a:ext cx="2961796" cy="646331"/>
          </a:xfrm>
          <a:prstGeom prst="rect">
            <a:avLst/>
          </a:prstGeom>
          <a:solidFill>
            <a:schemeClr val="accent1"/>
          </a:solidFill>
        </p:spPr>
        <p:txBody>
          <a:bodyPr wrap="square" rtlCol="0">
            <a:spAutoFit/>
          </a:bodyPr>
          <a:lstStyle/>
          <a:p>
            <a:r>
              <a:rPr lang="en-GB" dirty="0" smtClean="0"/>
              <a:t>3.c.1: Health </a:t>
            </a:r>
            <a:r>
              <a:rPr lang="en-GB" dirty="0"/>
              <a:t>worker density and distribution </a:t>
            </a:r>
            <a:endParaRPr lang="en-US" dirty="0"/>
          </a:p>
        </p:txBody>
      </p:sp>
      <p:sp>
        <p:nvSpPr>
          <p:cNvPr id="50" name="TextBox 49"/>
          <p:cNvSpPr txBox="1"/>
          <p:nvPr/>
        </p:nvSpPr>
        <p:spPr>
          <a:xfrm>
            <a:off x="3486150" y="6487057"/>
            <a:ext cx="5768209" cy="338554"/>
          </a:xfrm>
          <a:prstGeom prst="rect">
            <a:avLst/>
          </a:prstGeom>
          <a:solidFill>
            <a:schemeClr val="accent2"/>
          </a:solidFill>
        </p:spPr>
        <p:txBody>
          <a:bodyPr wrap="square" rtlCol="0">
            <a:spAutoFit/>
          </a:bodyPr>
          <a:lstStyle/>
          <a:p>
            <a:r>
              <a:rPr lang="en-US" sz="1600" dirty="0" smtClean="0"/>
              <a:t>3.d.1: IHR </a:t>
            </a:r>
            <a:r>
              <a:rPr lang="en-US" sz="1600" dirty="0"/>
              <a:t>capacity and health emergency preparedness </a:t>
            </a:r>
          </a:p>
        </p:txBody>
      </p:sp>
      <p:pic>
        <p:nvPicPr>
          <p:cNvPr id="51" name="Picture 50"/>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0" y="-1"/>
            <a:ext cx="1611086" cy="1181653"/>
          </a:xfrm>
          <a:prstGeom prst="rect">
            <a:avLst/>
          </a:prstGeom>
        </p:spPr>
      </p:pic>
      <p:sp>
        <p:nvSpPr>
          <p:cNvPr id="3" name="TextBox 2"/>
          <p:cNvSpPr txBox="1"/>
          <p:nvPr/>
        </p:nvSpPr>
        <p:spPr>
          <a:xfrm>
            <a:off x="6639247" y="4667250"/>
            <a:ext cx="5322094" cy="646331"/>
          </a:xfrm>
          <a:prstGeom prst="rect">
            <a:avLst/>
          </a:prstGeom>
          <a:solidFill>
            <a:schemeClr val="accent4"/>
          </a:solidFill>
        </p:spPr>
        <p:txBody>
          <a:bodyPr wrap="square" rtlCol="0">
            <a:spAutoFit/>
          </a:bodyPr>
          <a:lstStyle/>
          <a:p>
            <a:r>
              <a:rPr lang="en-US" dirty="0" smtClean="0"/>
              <a:t>3.b.3 Proportion of health facilities that have core set of essential medicine </a:t>
            </a:r>
            <a:endParaRPr lang="en-US" dirty="0"/>
          </a:p>
        </p:txBody>
      </p:sp>
    </p:spTree>
    <p:extLst>
      <p:ext uri="{BB962C8B-B14F-4D97-AF65-F5344CB8AC3E}">
        <p14:creationId xmlns="" xmlns:p14="http://schemas.microsoft.com/office/powerpoint/2010/main" val="230235106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670560"/>
          </a:xfrm>
          <a:solidFill>
            <a:schemeClr val="accent1"/>
          </a:solidFill>
        </p:spPr>
        <p:txBody>
          <a:bodyPr>
            <a:normAutofit/>
          </a:bodyPr>
          <a:lstStyle/>
          <a:p>
            <a:r>
              <a:rPr lang="en-US" sz="2532" b="1" dirty="0" smtClean="0">
                <a:solidFill>
                  <a:schemeClr val="bg1"/>
                </a:solidFill>
                <a:latin typeface="Times New Roman" pitchFamily="18" charset="0"/>
                <a:cs typeface="Times New Roman" pitchFamily="18" charset="0"/>
              </a:rPr>
              <a:t>Synergies, Trade off and </a:t>
            </a:r>
            <a:r>
              <a:rPr lang="en-GB" sz="2800" b="1" dirty="0" smtClean="0">
                <a:solidFill>
                  <a:schemeClr val="bg1"/>
                </a:solidFill>
                <a:latin typeface="Times New Roman" panose="02020603050405020304" pitchFamily="18" charset="0"/>
                <a:cs typeface="Times New Roman" panose="02020603050405020304" pitchFamily="18" charset="0"/>
              </a:rPr>
              <a:t>enablers among </a:t>
            </a:r>
            <a:r>
              <a:rPr lang="en-US" sz="2532" b="1" dirty="0" smtClean="0">
                <a:solidFill>
                  <a:schemeClr val="bg1"/>
                </a:solidFill>
                <a:latin typeface="Times New Roman" pitchFamily="18" charset="0"/>
                <a:cs typeface="Times New Roman" pitchFamily="18" charset="0"/>
              </a:rPr>
              <a:t>Targets </a:t>
            </a:r>
            <a:r>
              <a:rPr lang="en-US" sz="2532" b="1" dirty="0">
                <a:solidFill>
                  <a:schemeClr val="bg1"/>
                </a:solidFill>
                <a:latin typeface="Times New Roman" pitchFamily="18" charset="0"/>
                <a:cs typeface="Times New Roman" pitchFamily="18" charset="0"/>
              </a:rPr>
              <a:t>of </a:t>
            </a:r>
            <a:r>
              <a:rPr lang="en-US" sz="2532" b="1" dirty="0" smtClean="0">
                <a:solidFill>
                  <a:schemeClr val="bg1"/>
                </a:solidFill>
                <a:latin typeface="Times New Roman" pitchFamily="18" charset="0"/>
                <a:cs typeface="Times New Roman" pitchFamily="18" charset="0"/>
              </a:rPr>
              <a:t>SDGs </a:t>
            </a:r>
            <a:endParaRPr lang="en-US" sz="2532" b="1" dirty="0">
              <a:solidFill>
                <a:schemeClr val="bg1"/>
              </a:solidFill>
              <a:latin typeface="Times New Roman" pitchFamily="18" charset="0"/>
              <a:cs typeface="Times New Roman" pitchFamily="18" charset="0"/>
            </a:endParaRPr>
          </a:p>
        </p:txBody>
      </p:sp>
      <p:graphicFrame>
        <p:nvGraphicFramePr>
          <p:cNvPr id="42" name="Table 41"/>
          <p:cNvGraphicFramePr>
            <a:graphicFrameLocks noGrp="1"/>
          </p:cNvGraphicFramePr>
          <p:nvPr>
            <p:extLst/>
          </p:nvPr>
        </p:nvGraphicFramePr>
        <p:xfrm>
          <a:off x="2" y="670554"/>
          <a:ext cx="12191995" cy="4352754"/>
        </p:xfrm>
        <a:graphic>
          <a:graphicData uri="http://schemas.openxmlformats.org/drawingml/2006/table">
            <a:tbl>
              <a:tblPr/>
              <a:tblGrid>
                <a:gridCol w="676550"/>
                <a:gridCol w="676550"/>
                <a:gridCol w="676550"/>
                <a:gridCol w="679369"/>
                <a:gridCol w="676550"/>
                <a:gridCol w="676550"/>
                <a:gridCol w="676550"/>
                <a:gridCol w="679369"/>
                <a:gridCol w="676550"/>
                <a:gridCol w="676550"/>
                <a:gridCol w="679369"/>
                <a:gridCol w="676550"/>
                <a:gridCol w="676550"/>
                <a:gridCol w="676550"/>
                <a:gridCol w="679369"/>
                <a:gridCol w="676550"/>
                <a:gridCol w="676550"/>
                <a:gridCol w="679369"/>
              </a:tblGrid>
              <a:tr h="274216">
                <a:tc>
                  <a:txBody>
                    <a:bodyPr/>
                    <a:lstStyle/>
                    <a:p>
                      <a:pPr>
                        <a:lnSpc>
                          <a:spcPct val="107000"/>
                        </a:lnSpc>
                      </a:pPr>
                      <a:endParaRPr lang="en-US" sz="1400" dirty="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dirty="0">
                          <a:solidFill>
                            <a:srgbClr val="000000"/>
                          </a:solidFill>
                          <a:latin typeface="Calibri"/>
                          <a:ea typeface="Times New Roman"/>
                          <a:cs typeface="Times New Roman"/>
                        </a:rPr>
                        <a:t>G1</a:t>
                      </a:r>
                      <a:endParaRPr lang="en-US" sz="20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dirty="0">
                          <a:solidFill>
                            <a:srgbClr val="000000"/>
                          </a:solidFill>
                          <a:latin typeface="Calibri"/>
                          <a:ea typeface="Times New Roman"/>
                          <a:cs typeface="Times New Roman"/>
                        </a:rPr>
                        <a:t>G2</a:t>
                      </a:r>
                      <a:endParaRPr lang="en-US" sz="20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dirty="0">
                          <a:solidFill>
                            <a:srgbClr val="000000"/>
                          </a:solidFill>
                          <a:latin typeface="Calibri"/>
                          <a:ea typeface="Times New Roman"/>
                          <a:cs typeface="Times New Roman"/>
                        </a:rPr>
                        <a:t>G3</a:t>
                      </a:r>
                      <a:endParaRPr lang="en-US" sz="20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dirty="0">
                          <a:solidFill>
                            <a:srgbClr val="000000"/>
                          </a:solidFill>
                          <a:latin typeface="Calibri"/>
                          <a:ea typeface="Times New Roman"/>
                          <a:cs typeface="Times New Roman"/>
                        </a:rPr>
                        <a:t>G4</a:t>
                      </a:r>
                      <a:endParaRPr lang="en-US" sz="20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dirty="0">
                          <a:solidFill>
                            <a:srgbClr val="000000"/>
                          </a:solidFill>
                          <a:latin typeface="Calibri"/>
                          <a:ea typeface="Times New Roman"/>
                          <a:cs typeface="Times New Roman"/>
                        </a:rPr>
                        <a:t>G5</a:t>
                      </a:r>
                      <a:endParaRPr lang="en-US" sz="20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dirty="0">
                          <a:solidFill>
                            <a:srgbClr val="000000"/>
                          </a:solidFill>
                          <a:latin typeface="Calibri"/>
                          <a:ea typeface="Times New Roman"/>
                          <a:cs typeface="Times New Roman"/>
                        </a:rPr>
                        <a:t>G6</a:t>
                      </a:r>
                      <a:endParaRPr lang="en-US" sz="20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dirty="0">
                          <a:solidFill>
                            <a:srgbClr val="000000"/>
                          </a:solidFill>
                          <a:latin typeface="Calibri"/>
                          <a:ea typeface="Times New Roman"/>
                          <a:cs typeface="Times New Roman"/>
                        </a:rPr>
                        <a:t>G7</a:t>
                      </a:r>
                      <a:endParaRPr lang="en-US" sz="20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dirty="0">
                          <a:solidFill>
                            <a:srgbClr val="000000"/>
                          </a:solidFill>
                          <a:latin typeface="Calibri"/>
                          <a:ea typeface="Times New Roman"/>
                          <a:cs typeface="Times New Roman"/>
                        </a:rPr>
                        <a:t>G8</a:t>
                      </a:r>
                      <a:endParaRPr lang="en-US" sz="20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dirty="0">
                          <a:solidFill>
                            <a:srgbClr val="000000"/>
                          </a:solidFill>
                          <a:latin typeface="Calibri"/>
                          <a:ea typeface="Times New Roman"/>
                          <a:cs typeface="Times New Roman"/>
                        </a:rPr>
                        <a:t>G9</a:t>
                      </a:r>
                      <a:endParaRPr lang="en-US" sz="20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dirty="0">
                          <a:solidFill>
                            <a:srgbClr val="000000"/>
                          </a:solidFill>
                          <a:latin typeface="Calibri"/>
                          <a:ea typeface="Times New Roman"/>
                          <a:cs typeface="Times New Roman"/>
                        </a:rPr>
                        <a:t>G10</a:t>
                      </a:r>
                      <a:endParaRPr lang="en-US" sz="20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dirty="0">
                          <a:solidFill>
                            <a:srgbClr val="000000"/>
                          </a:solidFill>
                          <a:latin typeface="Calibri"/>
                          <a:ea typeface="Times New Roman"/>
                          <a:cs typeface="Times New Roman"/>
                        </a:rPr>
                        <a:t>G11</a:t>
                      </a:r>
                      <a:endParaRPr lang="en-US" sz="20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dirty="0">
                          <a:solidFill>
                            <a:srgbClr val="000000"/>
                          </a:solidFill>
                          <a:latin typeface="Calibri"/>
                          <a:ea typeface="Times New Roman"/>
                          <a:cs typeface="Times New Roman"/>
                        </a:rPr>
                        <a:t>G12</a:t>
                      </a:r>
                      <a:endParaRPr lang="en-US" sz="20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dirty="0">
                          <a:solidFill>
                            <a:srgbClr val="000000"/>
                          </a:solidFill>
                          <a:latin typeface="Calibri"/>
                          <a:ea typeface="Times New Roman"/>
                          <a:cs typeface="Times New Roman"/>
                        </a:rPr>
                        <a:t>G13</a:t>
                      </a:r>
                      <a:endParaRPr lang="en-US" sz="20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dirty="0">
                          <a:solidFill>
                            <a:srgbClr val="000000"/>
                          </a:solidFill>
                          <a:latin typeface="Calibri"/>
                          <a:ea typeface="Times New Roman"/>
                          <a:cs typeface="Times New Roman"/>
                        </a:rPr>
                        <a:t>G14</a:t>
                      </a:r>
                      <a:endParaRPr lang="en-US" sz="20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dirty="0">
                          <a:solidFill>
                            <a:srgbClr val="000000"/>
                          </a:solidFill>
                          <a:latin typeface="Calibri"/>
                          <a:ea typeface="Times New Roman"/>
                          <a:cs typeface="Times New Roman"/>
                        </a:rPr>
                        <a:t>G15</a:t>
                      </a:r>
                      <a:endParaRPr lang="en-US" sz="20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dirty="0">
                          <a:solidFill>
                            <a:srgbClr val="000000"/>
                          </a:solidFill>
                          <a:latin typeface="Calibri"/>
                          <a:ea typeface="Times New Roman"/>
                          <a:cs typeface="Times New Roman"/>
                        </a:rPr>
                        <a:t>G16</a:t>
                      </a:r>
                      <a:endParaRPr lang="en-US" sz="20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dirty="0">
                          <a:solidFill>
                            <a:srgbClr val="000000"/>
                          </a:solidFill>
                          <a:latin typeface="Calibri"/>
                          <a:ea typeface="Times New Roman"/>
                          <a:cs typeface="Times New Roman"/>
                        </a:rPr>
                        <a:t>G17</a:t>
                      </a:r>
                      <a:endParaRPr lang="en-US" sz="20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9914">
                <a:tc>
                  <a:txBody>
                    <a:bodyPr/>
                    <a:lstStyle/>
                    <a:p>
                      <a:pPr marL="0" marR="0" algn="ctr">
                        <a:lnSpc>
                          <a:spcPct val="107000"/>
                        </a:lnSpc>
                        <a:spcBef>
                          <a:spcPts val="0"/>
                        </a:spcBef>
                        <a:spcAft>
                          <a:spcPts val="0"/>
                        </a:spcAft>
                      </a:pPr>
                      <a:r>
                        <a:rPr lang="en-GB" sz="1400" dirty="0">
                          <a:solidFill>
                            <a:srgbClr val="000000"/>
                          </a:solidFill>
                          <a:latin typeface="Calibri"/>
                          <a:ea typeface="Times New Roman"/>
                          <a:cs typeface="Times New Roman"/>
                        </a:rPr>
                        <a:t>G1</a:t>
                      </a:r>
                      <a:endParaRPr lang="en-US" sz="14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dirty="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r>
              <a:tr h="239914">
                <a:tc>
                  <a:txBody>
                    <a:bodyPr/>
                    <a:lstStyle/>
                    <a:p>
                      <a:pPr marL="0" marR="0" algn="ctr">
                        <a:lnSpc>
                          <a:spcPct val="107000"/>
                        </a:lnSpc>
                        <a:spcBef>
                          <a:spcPts val="0"/>
                        </a:spcBef>
                        <a:spcAft>
                          <a:spcPts val="0"/>
                        </a:spcAft>
                      </a:pPr>
                      <a:r>
                        <a:rPr lang="en-GB" sz="1400" dirty="0">
                          <a:solidFill>
                            <a:srgbClr val="000000"/>
                          </a:solidFill>
                          <a:latin typeface="Calibri"/>
                          <a:ea typeface="Times New Roman"/>
                          <a:cs typeface="Times New Roman"/>
                        </a:rPr>
                        <a:t>G2</a:t>
                      </a:r>
                      <a:endParaRPr lang="en-US" sz="14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r>
              <a:tr h="239914">
                <a:tc>
                  <a:txBody>
                    <a:bodyPr/>
                    <a:lstStyle/>
                    <a:p>
                      <a:pPr marL="0" marR="0" algn="ctr">
                        <a:lnSpc>
                          <a:spcPct val="107000"/>
                        </a:lnSpc>
                        <a:spcBef>
                          <a:spcPts val="0"/>
                        </a:spcBef>
                        <a:spcAft>
                          <a:spcPts val="0"/>
                        </a:spcAft>
                      </a:pPr>
                      <a:r>
                        <a:rPr lang="en-GB" sz="1400" dirty="0">
                          <a:solidFill>
                            <a:srgbClr val="000000"/>
                          </a:solidFill>
                          <a:latin typeface="Calibri"/>
                          <a:ea typeface="Times New Roman"/>
                          <a:cs typeface="Times New Roman"/>
                        </a:rPr>
                        <a:t>G3</a:t>
                      </a:r>
                      <a:endParaRPr lang="en-US" sz="14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r>
              <a:tr h="239914">
                <a:tc>
                  <a:txBody>
                    <a:bodyPr/>
                    <a:lstStyle/>
                    <a:p>
                      <a:pPr marL="0" marR="0" algn="ctr">
                        <a:lnSpc>
                          <a:spcPct val="107000"/>
                        </a:lnSpc>
                        <a:spcBef>
                          <a:spcPts val="0"/>
                        </a:spcBef>
                        <a:spcAft>
                          <a:spcPts val="0"/>
                        </a:spcAft>
                      </a:pPr>
                      <a:r>
                        <a:rPr lang="en-GB" sz="1400" dirty="0">
                          <a:solidFill>
                            <a:srgbClr val="000000"/>
                          </a:solidFill>
                          <a:latin typeface="Calibri"/>
                          <a:ea typeface="Times New Roman"/>
                          <a:cs typeface="Times New Roman"/>
                        </a:rPr>
                        <a:t>G4</a:t>
                      </a:r>
                      <a:endParaRPr lang="en-US" sz="14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r>
              <a:tr h="239914">
                <a:tc>
                  <a:txBody>
                    <a:bodyPr/>
                    <a:lstStyle/>
                    <a:p>
                      <a:pPr marL="0" marR="0" algn="ctr">
                        <a:lnSpc>
                          <a:spcPct val="107000"/>
                        </a:lnSpc>
                        <a:spcBef>
                          <a:spcPts val="0"/>
                        </a:spcBef>
                        <a:spcAft>
                          <a:spcPts val="0"/>
                        </a:spcAft>
                      </a:pPr>
                      <a:r>
                        <a:rPr lang="en-GB" sz="1400" dirty="0">
                          <a:solidFill>
                            <a:srgbClr val="000000"/>
                          </a:solidFill>
                          <a:latin typeface="Calibri"/>
                          <a:ea typeface="Times New Roman"/>
                          <a:cs typeface="Times New Roman"/>
                        </a:rPr>
                        <a:t>G5</a:t>
                      </a:r>
                      <a:endParaRPr lang="en-US" sz="14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9914">
                <a:tc>
                  <a:txBody>
                    <a:bodyPr/>
                    <a:lstStyle/>
                    <a:p>
                      <a:pPr marL="0" marR="0" algn="ctr">
                        <a:lnSpc>
                          <a:spcPct val="107000"/>
                        </a:lnSpc>
                        <a:spcBef>
                          <a:spcPts val="0"/>
                        </a:spcBef>
                        <a:spcAft>
                          <a:spcPts val="0"/>
                        </a:spcAft>
                      </a:pPr>
                      <a:r>
                        <a:rPr lang="en-GB" sz="1400" dirty="0">
                          <a:solidFill>
                            <a:srgbClr val="000000"/>
                          </a:solidFill>
                          <a:latin typeface="Calibri"/>
                          <a:ea typeface="Times New Roman"/>
                          <a:cs typeface="Times New Roman"/>
                        </a:rPr>
                        <a:t>G6</a:t>
                      </a:r>
                      <a:endParaRPr lang="en-US" sz="14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r>
              <a:tr h="239914">
                <a:tc>
                  <a:txBody>
                    <a:bodyPr/>
                    <a:lstStyle/>
                    <a:p>
                      <a:pPr marL="0" marR="0" algn="ctr">
                        <a:lnSpc>
                          <a:spcPct val="107000"/>
                        </a:lnSpc>
                        <a:spcBef>
                          <a:spcPts val="0"/>
                        </a:spcBef>
                        <a:spcAft>
                          <a:spcPts val="0"/>
                        </a:spcAft>
                      </a:pPr>
                      <a:r>
                        <a:rPr lang="en-GB" sz="1400" dirty="0">
                          <a:solidFill>
                            <a:srgbClr val="000000"/>
                          </a:solidFill>
                          <a:latin typeface="Calibri"/>
                          <a:ea typeface="Times New Roman"/>
                          <a:cs typeface="Times New Roman"/>
                        </a:rPr>
                        <a:t>G7</a:t>
                      </a:r>
                      <a:endParaRPr lang="en-US" sz="14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r>
              <a:tr h="239914">
                <a:tc>
                  <a:txBody>
                    <a:bodyPr/>
                    <a:lstStyle/>
                    <a:p>
                      <a:pPr marL="0" marR="0" algn="ctr">
                        <a:lnSpc>
                          <a:spcPct val="107000"/>
                        </a:lnSpc>
                        <a:spcBef>
                          <a:spcPts val="0"/>
                        </a:spcBef>
                        <a:spcAft>
                          <a:spcPts val="0"/>
                        </a:spcAft>
                      </a:pPr>
                      <a:r>
                        <a:rPr lang="en-GB" sz="1400" dirty="0">
                          <a:solidFill>
                            <a:srgbClr val="000000"/>
                          </a:solidFill>
                          <a:latin typeface="Calibri"/>
                          <a:ea typeface="Times New Roman"/>
                          <a:cs typeface="Times New Roman"/>
                        </a:rPr>
                        <a:t>G8</a:t>
                      </a:r>
                      <a:endParaRPr lang="en-US" sz="14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r>
              <a:tr h="239914">
                <a:tc>
                  <a:txBody>
                    <a:bodyPr/>
                    <a:lstStyle/>
                    <a:p>
                      <a:pPr marL="0" marR="0" algn="ctr">
                        <a:lnSpc>
                          <a:spcPct val="107000"/>
                        </a:lnSpc>
                        <a:spcBef>
                          <a:spcPts val="0"/>
                        </a:spcBef>
                        <a:spcAft>
                          <a:spcPts val="0"/>
                        </a:spcAft>
                      </a:pPr>
                      <a:r>
                        <a:rPr lang="en-GB" sz="1400" dirty="0">
                          <a:solidFill>
                            <a:srgbClr val="000000"/>
                          </a:solidFill>
                          <a:latin typeface="Calibri"/>
                          <a:ea typeface="Times New Roman"/>
                          <a:cs typeface="Times New Roman"/>
                        </a:rPr>
                        <a:t>G9</a:t>
                      </a:r>
                      <a:endParaRPr lang="en-US" sz="14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r>
              <a:tr h="239914">
                <a:tc>
                  <a:txBody>
                    <a:bodyPr/>
                    <a:lstStyle/>
                    <a:p>
                      <a:pPr marL="0" marR="0" algn="ctr">
                        <a:lnSpc>
                          <a:spcPct val="107000"/>
                        </a:lnSpc>
                        <a:spcBef>
                          <a:spcPts val="0"/>
                        </a:spcBef>
                        <a:spcAft>
                          <a:spcPts val="0"/>
                        </a:spcAft>
                      </a:pPr>
                      <a:r>
                        <a:rPr lang="en-GB" sz="1400" dirty="0">
                          <a:solidFill>
                            <a:srgbClr val="000000"/>
                          </a:solidFill>
                          <a:latin typeface="Calibri"/>
                          <a:ea typeface="Times New Roman"/>
                          <a:cs typeface="Times New Roman"/>
                        </a:rPr>
                        <a:t>G10</a:t>
                      </a:r>
                      <a:endParaRPr lang="en-US" sz="14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9914">
                <a:tc>
                  <a:txBody>
                    <a:bodyPr/>
                    <a:lstStyle/>
                    <a:p>
                      <a:pPr marL="0" marR="0" algn="ctr">
                        <a:lnSpc>
                          <a:spcPct val="107000"/>
                        </a:lnSpc>
                        <a:spcBef>
                          <a:spcPts val="0"/>
                        </a:spcBef>
                        <a:spcAft>
                          <a:spcPts val="0"/>
                        </a:spcAft>
                      </a:pPr>
                      <a:r>
                        <a:rPr lang="en-GB" sz="1400" dirty="0">
                          <a:solidFill>
                            <a:srgbClr val="000000"/>
                          </a:solidFill>
                          <a:latin typeface="Calibri"/>
                          <a:ea typeface="Times New Roman"/>
                          <a:cs typeface="Times New Roman"/>
                        </a:rPr>
                        <a:t>G11</a:t>
                      </a:r>
                      <a:endParaRPr lang="en-US" sz="14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66"/>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66"/>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r>
              <a:tr h="239914">
                <a:tc>
                  <a:txBody>
                    <a:bodyPr/>
                    <a:lstStyle/>
                    <a:p>
                      <a:pPr marL="0" marR="0" algn="ctr">
                        <a:lnSpc>
                          <a:spcPct val="107000"/>
                        </a:lnSpc>
                        <a:spcBef>
                          <a:spcPts val="0"/>
                        </a:spcBef>
                        <a:spcAft>
                          <a:spcPts val="0"/>
                        </a:spcAft>
                      </a:pPr>
                      <a:r>
                        <a:rPr lang="en-GB" sz="1400" dirty="0">
                          <a:solidFill>
                            <a:srgbClr val="000000"/>
                          </a:solidFill>
                          <a:latin typeface="Calibri"/>
                          <a:ea typeface="Times New Roman"/>
                          <a:cs typeface="Times New Roman"/>
                        </a:rPr>
                        <a:t>G12</a:t>
                      </a:r>
                      <a:endParaRPr lang="en-US" sz="14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66"/>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r>
              <a:tr h="239914">
                <a:tc>
                  <a:txBody>
                    <a:bodyPr/>
                    <a:lstStyle/>
                    <a:p>
                      <a:pPr marL="0" marR="0" algn="ctr">
                        <a:lnSpc>
                          <a:spcPct val="107000"/>
                        </a:lnSpc>
                        <a:spcBef>
                          <a:spcPts val="0"/>
                        </a:spcBef>
                        <a:spcAft>
                          <a:spcPts val="0"/>
                        </a:spcAft>
                      </a:pPr>
                      <a:r>
                        <a:rPr lang="en-GB" sz="1400" dirty="0">
                          <a:solidFill>
                            <a:srgbClr val="000000"/>
                          </a:solidFill>
                          <a:latin typeface="Calibri"/>
                          <a:ea typeface="Times New Roman"/>
                          <a:cs typeface="Times New Roman"/>
                        </a:rPr>
                        <a:t>G13</a:t>
                      </a:r>
                      <a:endParaRPr lang="en-US" sz="14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66"/>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r>
              <a:tr h="239914">
                <a:tc>
                  <a:txBody>
                    <a:bodyPr/>
                    <a:lstStyle/>
                    <a:p>
                      <a:pPr marL="0" marR="0" algn="ctr">
                        <a:lnSpc>
                          <a:spcPct val="107000"/>
                        </a:lnSpc>
                        <a:spcBef>
                          <a:spcPts val="0"/>
                        </a:spcBef>
                        <a:spcAft>
                          <a:spcPts val="0"/>
                        </a:spcAft>
                      </a:pPr>
                      <a:r>
                        <a:rPr lang="en-GB" sz="1400" dirty="0">
                          <a:solidFill>
                            <a:srgbClr val="000000"/>
                          </a:solidFill>
                          <a:latin typeface="Calibri"/>
                          <a:ea typeface="Times New Roman"/>
                          <a:cs typeface="Times New Roman"/>
                        </a:rPr>
                        <a:t>G14</a:t>
                      </a:r>
                      <a:endParaRPr lang="en-US" sz="14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r>
              <a:tr h="239914">
                <a:tc>
                  <a:txBody>
                    <a:bodyPr/>
                    <a:lstStyle/>
                    <a:p>
                      <a:pPr marL="0" marR="0" algn="ctr">
                        <a:lnSpc>
                          <a:spcPct val="107000"/>
                        </a:lnSpc>
                        <a:spcBef>
                          <a:spcPts val="0"/>
                        </a:spcBef>
                        <a:spcAft>
                          <a:spcPts val="0"/>
                        </a:spcAft>
                      </a:pPr>
                      <a:r>
                        <a:rPr lang="en-GB" sz="1400" dirty="0">
                          <a:solidFill>
                            <a:srgbClr val="000000"/>
                          </a:solidFill>
                          <a:latin typeface="Calibri"/>
                          <a:ea typeface="Times New Roman"/>
                          <a:cs typeface="Times New Roman"/>
                        </a:rPr>
                        <a:t>G15</a:t>
                      </a:r>
                      <a:endParaRPr lang="en-US" sz="14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66"/>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r>
              <a:tr h="239914">
                <a:tc>
                  <a:txBody>
                    <a:bodyPr/>
                    <a:lstStyle/>
                    <a:p>
                      <a:pPr marL="0" marR="0" algn="ctr">
                        <a:lnSpc>
                          <a:spcPct val="107000"/>
                        </a:lnSpc>
                        <a:spcBef>
                          <a:spcPts val="0"/>
                        </a:spcBef>
                        <a:spcAft>
                          <a:spcPts val="0"/>
                        </a:spcAft>
                      </a:pPr>
                      <a:r>
                        <a:rPr lang="en-GB" sz="1400" dirty="0">
                          <a:solidFill>
                            <a:srgbClr val="000000"/>
                          </a:solidFill>
                          <a:latin typeface="Calibri"/>
                          <a:ea typeface="Times New Roman"/>
                          <a:cs typeface="Times New Roman"/>
                        </a:rPr>
                        <a:t>G16</a:t>
                      </a:r>
                      <a:endParaRPr lang="en-US" sz="14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6666"/>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9914">
                <a:tc>
                  <a:txBody>
                    <a:bodyPr/>
                    <a:lstStyle/>
                    <a:p>
                      <a:pPr marL="0" marR="0" algn="ctr">
                        <a:lnSpc>
                          <a:spcPct val="107000"/>
                        </a:lnSpc>
                        <a:spcBef>
                          <a:spcPts val="0"/>
                        </a:spcBef>
                        <a:spcAft>
                          <a:spcPts val="0"/>
                        </a:spcAft>
                      </a:pPr>
                      <a:r>
                        <a:rPr lang="en-GB" sz="1400" dirty="0">
                          <a:solidFill>
                            <a:srgbClr val="000000"/>
                          </a:solidFill>
                          <a:latin typeface="Calibri"/>
                          <a:ea typeface="Times New Roman"/>
                          <a:cs typeface="Times New Roman"/>
                        </a:rPr>
                        <a:t>G17</a:t>
                      </a:r>
                      <a:endParaRPr lang="en-US" sz="1400" dirty="0">
                        <a:latin typeface="Calibri"/>
                        <a:ea typeface="Calibri"/>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FF"/>
                    </a:solidFill>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US" sz="800" dirty="0">
                        <a:latin typeface="Calibri"/>
                        <a:ea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r>
            </a:tbl>
          </a:graphicData>
        </a:graphic>
      </p:graphicFrame>
      <p:sp>
        <p:nvSpPr>
          <p:cNvPr id="1025" name="Rectangle 1"/>
          <p:cNvSpPr>
            <a:spLocks noChangeArrowheads="1"/>
          </p:cNvSpPr>
          <p:nvPr/>
        </p:nvSpPr>
        <p:spPr bwMode="auto">
          <a:xfrm>
            <a:off x="160637" y="5023301"/>
            <a:ext cx="11788347" cy="1731478"/>
          </a:xfrm>
          <a:prstGeom prst="rect">
            <a:avLst/>
          </a:prstGeom>
          <a:noFill/>
          <a:ln w="9525">
            <a:noFill/>
            <a:miter lim="800000"/>
            <a:headEnd/>
            <a:tailEnd/>
          </a:ln>
          <a:effectLst/>
        </p:spPr>
        <p:txBody>
          <a:bodyPr vert="horz" wrap="square" lIns="64304" tIns="32152" rIns="64304" bIns="32152" numCol="1" anchor="ctr" anchorCtr="0" compatLnSpc="1">
            <a:prstTxWarp prst="textNoShape">
              <a:avLst/>
            </a:prstTxWarp>
            <a:spAutoFit/>
          </a:bodyPr>
          <a:lstStyle/>
          <a:p>
            <a:pPr marL="240011" indent="-240011" algn="just" defTabSz="643006" eaLnBrk="0" fontAlgn="base" hangingPunct="0">
              <a:spcBef>
                <a:spcPct val="0"/>
              </a:spcBef>
              <a:spcAft>
                <a:spcPct val="0"/>
              </a:spcAft>
              <a:buFont typeface="Wingdings" pitchFamily="2" charset="2"/>
              <a:buChar char="§"/>
            </a:pPr>
            <a:r>
              <a:rPr lang="en-GB" sz="1547" dirty="0">
                <a:solidFill>
                  <a:srgbClr val="000000"/>
                </a:solidFill>
                <a:latin typeface="Times New Roman" pitchFamily="18" charset="0"/>
                <a:ea typeface="Times New Roman" pitchFamily="18" charset="0"/>
                <a:cs typeface="Times New Roman" pitchFamily="18" charset="0"/>
              </a:rPr>
              <a:t>A blue cell indicates that an improvement in performance for the goal in a given column leads to an improvement in performance for the goal in the corresponding row (i.e. positive synergy).</a:t>
            </a:r>
            <a:endParaRPr lang="en-US" sz="1547" dirty="0">
              <a:latin typeface="Times New Roman" pitchFamily="18" charset="0"/>
              <a:cs typeface="Times New Roman" pitchFamily="18" charset="0"/>
            </a:endParaRPr>
          </a:p>
          <a:p>
            <a:pPr marL="240011" indent="-240011" algn="just" defTabSz="643006" eaLnBrk="0" fontAlgn="base" hangingPunct="0">
              <a:spcBef>
                <a:spcPct val="0"/>
              </a:spcBef>
              <a:spcAft>
                <a:spcPct val="0"/>
              </a:spcAft>
              <a:buFont typeface="Wingdings" pitchFamily="2" charset="2"/>
              <a:buChar char="§"/>
            </a:pPr>
            <a:r>
              <a:rPr lang="en-GB" sz="1547" dirty="0">
                <a:solidFill>
                  <a:srgbClr val="000000"/>
                </a:solidFill>
                <a:latin typeface="Times New Roman" pitchFamily="18" charset="0"/>
                <a:ea typeface="Times New Roman" pitchFamily="18" charset="0"/>
                <a:cs typeface="Times New Roman" pitchFamily="18" charset="0"/>
              </a:rPr>
              <a:t>Vice versa, a red cell indicates that an improvement in the performance for goal in a given column leads to a deterioration in performance for the goal in the corresponding row (i.e. negative synergy). </a:t>
            </a:r>
            <a:endParaRPr lang="en-US" sz="1547" dirty="0">
              <a:latin typeface="Times New Roman" pitchFamily="18" charset="0"/>
              <a:cs typeface="Times New Roman" pitchFamily="18" charset="0"/>
            </a:endParaRPr>
          </a:p>
          <a:p>
            <a:pPr marL="240011" indent="-240011" algn="just" defTabSz="643006" eaLnBrk="0" fontAlgn="base" hangingPunct="0">
              <a:spcBef>
                <a:spcPct val="0"/>
              </a:spcBef>
              <a:spcAft>
                <a:spcPct val="0"/>
              </a:spcAft>
              <a:buFont typeface="Wingdings" pitchFamily="2" charset="2"/>
              <a:buChar char="§"/>
            </a:pPr>
            <a:r>
              <a:rPr lang="en-GB" sz="1547" dirty="0">
                <a:solidFill>
                  <a:srgbClr val="000000"/>
                </a:solidFill>
                <a:latin typeface="Times New Roman" pitchFamily="18" charset="0"/>
                <a:ea typeface="Times New Roman" pitchFamily="18" charset="0"/>
                <a:cs typeface="Times New Roman" pitchFamily="18" charset="0"/>
              </a:rPr>
              <a:t>Synergies among goals can also change sign depending on the country’s context and the specific policy intervention adopted (cells highlighted in yellow for </a:t>
            </a:r>
            <a:r>
              <a:rPr lang="en-GB" sz="1547" dirty="0" err="1">
                <a:solidFill>
                  <a:srgbClr val="000000"/>
                </a:solidFill>
                <a:latin typeface="Times New Roman" pitchFamily="18" charset="0"/>
                <a:ea typeface="Times New Roman" pitchFamily="18" charset="0"/>
                <a:cs typeface="Times New Roman" pitchFamily="18" charset="0"/>
              </a:rPr>
              <a:t>G9</a:t>
            </a:r>
            <a:r>
              <a:rPr lang="en-GB" sz="1547" dirty="0">
                <a:solidFill>
                  <a:srgbClr val="000000"/>
                </a:solidFill>
                <a:latin typeface="Times New Roman" pitchFamily="18" charset="0"/>
                <a:ea typeface="Times New Roman" pitchFamily="18" charset="0"/>
                <a:cs typeface="Times New Roman" pitchFamily="18" charset="0"/>
              </a:rPr>
              <a:t> and </a:t>
            </a:r>
            <a:r>
              <a:rPr lang="en-GB" sz="1547" dirty="0" err="1">
                <a:solidFill>
                  <a:srgbClr val="000000"/>
                </a:solidFill>
                <a:latin typeface="Times New Roman" pitchFamily="18" charset="0"/>
                <a:ea typeface="Times New Roman" pitchFamily="18" charset="0"/>
                <a:cs typeface="Times New Roman" pitchFamily="18" charset="0"/>
              </a:rPr>
              <a:t>G15</a:t>
            </a:r>
            <a:r>
              <a:rPr lang="en-GB" sz="1547" dirty="0">
                <a:solidFill>
                  <a:srgbClr val="000000"/>
                </a:solidFill>
                <a:latin typeface="Times New Roman" pitchFamily="18" charset="0"/>
                <a:ea typeface="Times New Roman" pitchFamily="18" charset="0"/>
                <a:cs typeface="Times New Roman" pitchFamily="18" charset="0"/>
              </a:rPr>
              <a:t>). </a:t>
            </a:r>
            <a:endParaRPr lang="en-US" sz="1547" dirty="0">
              <a:latin typeface="Times New Roman" pitchFamily="18" charset="0"/>
              <a:cs typeface="Times New Roman" pitchFamily="18" charset="0"/>
            </a:endParaRPr>
          </a:p>
          <a:p>
            <a:pPr marL="240011" indent="-240011" algn="just" defTabSz="643006" fontAlgn="base">
              <a:spcBef>
                <a:spcPct val="0"/>
              </a:spcBef>
              <a:spcAft>
                <a:spcPct val="0"/>
              </a:spcAft>
              <a:buFont typeface="Wingdings" pitchFamily="2" charset="2"/>
              <a:buChar char="§"/>
            </a:pPr>
            <a:r>
              <a:rPr lang="en-GB" sz="1547" dirty="0">
                <a:solidFill>
                  <a:srgbClr val="000000"/>
                </a:solidFill>
                <a:latin typeface="Times New Roman" pitchFamily="18" charset="0"/>
                <a:ea typeface="Times New Roman" pitchFamily="18" charset="0"/>
                <a:cs typeface="Times New Roman" pitchFamily="18" charset="0"/>
              </a:rPr>
              <a:t>The matrix maps direct causal connections between goals (i.e. not through another goal). </a:t>
            </a:r>
            <a:endParaRPr lang="en-US" sz="1547" dirty="0">
              <a:latin typeface="Times New Roman" pitchFamily="18" charset="0"/>
              <a:cs typeface="Times New Roman" pitchFamily="18" charset="0"/>
            </a:endParaRPr>
          </a:p>
        </p:txBody>
      </p:sp>
    </p:spTree>
    <p:extLst>
      <p:ext uri="{BB962C8B-B14F-4D97-AF65-F5344CB8AC3E}">
        <p14:creationId xmlns="" xmlns:p14="http://schemas.microsoft.com/office/powerpoint/2010/main" val="279192728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12192000" cy="1223494"/>
          </a:xfrm>
          <a:solidFill>
            <a:schemeClr val="accent1"/>
          </a:solidFill>
        </p:spPr>
        <p:txBody>
          <a:bodyPr>
            <a:normAutofit/>
          </a:bodyPr>
          <a:lstStyle/>
          <a:p>
            <a:r>
              <a:rPr lang="en-GB" sz="4000" b="1" dirty="0">
                <a:latin typeface="Times New Roman" pitchFamily="18" charset="0"/>
                <a:cs typeface="Times New Roman" pitchFamily="18" charset="0"/>
              </a:rPr>
              <a:t>Mapping of Ministries/Divisions by SDG Targets</a:t>
            </a:r>
            <a:endParaRPr lang="en-US" sz="4000" dirty="0"/>
          </a:p>
        </p:txBody>
      </p:sp>
      <p:pic>
        <p:nvPicPr>
          <p:cNvPr id="7" name="Content Placeholder 6" descr="A Handbook Mapping of Ministries_ targets_ SDG_ 7 FYP_2016.pdf - Adobe Acrobat Reader DC"/>
          <p:cNvPicPr>
            <a:picLocks noGrp="1" noChangeAspect="1"/>
          </p:cNvPicPr>
          <p:nvPr>
            <p:ph sz="half" idx="2"/>
          </p:nvPr>
        </p:nvPicPr>
        <p:blipFill rotWithShape="1">
          <a:blip r:embed="rId2">
            <a:extLst>
              <a:ext uri="{28A0092B-C50C-407E-A947-70E740481C1C}">
                <a14:useLocalDpi xmlns="" xmlns:a14="http://schemas.microsoft.com/office/drawing/2010/main" val="0"/>
              </a:ext>
            </a:extLst>
          </a:blip>
          <a:srcRect l="11324" t="17344" r="28903"/>
          <a:stretch/>
        </p:blipFill>
        <p:spPr>
          <a:xfrm>
            <a:off x="6019800" y="1223494"/>
            <a:ext cx="6172200" cy="5634506"/>
          </a:xfrm>
          <a:prstGeom prst="rect">
            <a:avLst/>
          </a:prstGeom>
        </p:spPr>
      </p:pic>
      <p:pic>
        <p:nvPicPr>
          <p:cNvPr id="8" name="Content Placeholder 7"/>
          <p:cNvPicPr>
            <a:picLocks noGrp="1" noChangeAspect="1"/>
          </p:cNvPicPr>
          <p:nvPr>
            <p:ph sz="half" idx="1"/>
          </p:nvPr>
        </p:nvPicPr>
        <p:blipFill>
          <a:blip r:embed="rId3"/>
          <a:stretch>
            <a:fillRect/>
          </a:stretch>
        </p:blipFill>
        <p:spPr>
          <a:xfrm>
            <a:off x="0" y="1223494"/>
            <a:ext cx="6019800" cy="5634506"/>
          </a:xfrm>
          <a:prstGeom prst="rect">
            <a:avLst/>
          </a:prstGeom>
        </p:spPr>
      </p:pic>
    </p:spTree>
    <p:extLst>
      <p:ext uri="{BB962C8B-B14F-4D97-AF65-F5344CB8AC3E}">
        <p14:creationId xmlns="" xmlns:p14="http://schemas.microsoft.com/office/powerpoint/2010/main" val="150194615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768927"/>
          </a:xfrm>
          <a:solidFill>
            <a:schemeClr val="accent1"/>
          </a:solidFill>
        </p:spPr>
        <p:txBody>
          <a:bodyPr>
            <a:normAutofit/>
          </a:bodyPr>
          <a:lstStyle/>
          <a:p>
            <a:r>
              <a:rPr lang="en-US" b="1" dirty="0" smtClean="0">
                <a:latin typeface="Times New Roman" panose="02020603050405020304" pitchFamily="18" charset="0"/>
                <a:cs typeface="Times New Roman" panose="02020603050405020304" pitchFamily="18" charset="0"/>
              </a:rPr>
              <a:t>SDG Mapping (Who to do what)</a:t>
            </a:r>
            <a:endParaRPr lang="en-US" b="1" dirty="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nvPr>
        </p:nvGraphicFramePr>
        <p:xfrm>
          <a:off x="155865" y="976745"/>
          <a:ext cx="11762508" cy="563187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 xmlns:p14="http://schemas.microsoft.com/office/powerpoint/2010/main" val="162824356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1"/>
            <a:ext cx="12192000" cy="1103586"/>
          </a:xfrm>
          <a:solidFill>
            <a:schemeClr val="accent1"/>
          </a:solidFill>
        </p:spPr>
        <p:txBody>
          <a:bodyPr/>
          <a:lstStyle/>
          <a:p>
            <a:r>
              <a:rPr lang="en-US" b="1" dirty="0" smtClean="0">
                <a:latin typeface="Times New Roman" panose="02020603050405020304" pitchFamily="18" charset="0"/>
                <a:cs typeface="Times New Roman" panose="02020603050405020304" pitchFamily="18" charset="0"/>
              </a:rPr>
              <a:t>Lead Ministries/Divisions for Implementing SDGs</a:t>
            </a:r>
            <a:endParaRPr lang="en-US" b="1" dirty="0">
              <a:latin typeface="Times New Roman" panose="02020603050405020304" pitchFamily="18" charset="0"/>
              <a:cs typeface="Times New Roman" panose="02020603050405020304" pitchFamily="18" charset="0"/>
            </a:endParaRPr>
          </a:p>
        </p:txBody>
      </p:sp>
      <p:graphicFrame>
        <p:nvGraphicFramePr>
          <p:cNvPr id="5" name="Content Placeholder 4"/>
          <p:cNvGraphicFramePr>
            <a:graphicFrameLocks noGrp="1"/>
          </p:cNvGraphicFramePr>
          <p:nvPr>
            <p:ph idx="1"/>
            <p:extLst/>
          </p:nvPr>
        </p:nvGraphicFramePr>
        <p:xfrm>
          <a:off x="-1" y="1103586"/>
          <a:ext cx="12112979" cy="57544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 xmlns:p14="http://schemas.microsoft.com/office/powerpoint/2010/main" val="81929344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846160"/>
          </a:xfrm>
          <a:solidFill>
            <a:schemeClr val="accent1"/>
          </a:solidFill>
        </p:spPr>
        <p:txBody>
          <a:bodyPr>
            <a:normAutofit fontScale="90000"/>
          </a:bodyPr>
          <a:lstStyle/>
          <a:p>
            <a:r>
              <a:rPr lang="en-US" b="1" dirty="0" smtClean="0">
                <a:latin typeface="Times New Roman" panose="02020603050405020304" pitchFamily="18" charset="0"/>
                <a:cs typeface="Times New Roman" panose="02020603050405020304" pitchFamily="18" charset="0"/>
              </a:rPr>
              <a:t>Co-Lead Ministries/Divisions for Implementing SDGs</a:t>
            </a:r>
            <a:endParaRPr lang="en-US" dirty="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nvPr>
        </p:nvGraphicFramePr>
        <p:xfrm>
          <a:off x="0" y="846160"/>
          <a:ext cx="12192000" cy="601183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 xmlns:p14="http://schemas.microsoft.com/office/powerpoint/2010/main" val="30511823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1" y="0"/>
            <a:ext cx="12191999" cy="6858000"/>
          </a:xfrm>
          <a:prstGeom prst="rect">
            <a:avLst/>
          </a:prstGeom>
          <a:solidFill>
            <a:schemeClr val="accent4"/>
          </a:solidFill>
        </p:spPr>
      </p:pic>
      <p:sp>
        <p:nvSpPr>
          <p:cNvPr id="5" name="TextBox 4"/>
          <p:cNvSpPr txBox="1"/>
          <p:nvPr/>
        </p:nvSpPr>
        <p:spPr>
          <a:xfrm>
            <a:off x="4107976" y="5322631"/>
            <a:ext cx="7970293" cy="1200329"/>
          </a:xfrm>
          <a:prstGeom prst="rect">
            <a:avLst/>
          </a:prstGeom>
          <a:solidFill>
            <a:schemeClr val="accent2"/>
          </a:solidFill>
        </p:spPr>
        <p:txBody>
          <a:bodyPr wrap="square" rtlCol="0">
            <a:spAutoFit/>
          </a:bodyPr>
          <a:lstStyle/>
          <a:p>
            <a:r>
              <a:rPr lang="en-US" sz="3600" b="1" dirty="0" smtClean="0"/>
              <a:t>Draft Monitoring and Evaluation (M&amp;E) of Sustainable Development Goal-3 </a:t>
            </a:r>
            <a:endParaRPr lang="en-US" sz="1600" b="1" dirty="0"/>
          </a:p>
        </p:txBody>
      </p:sp>
    </p:spTree>
    <p:extLst>
      <p:ext uri="{BB962C8B-B14F-4D97-AF65-F5344CB8AC3E}">
        <p14:creationId xmlns="" xmlns:p14="http://schemas.microsoft.com/office/powerpoint/2010/main" val="155211785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15800" cy="951469"/>
          </a:xfrm>
          <a:solidFill>
            <a:schemeClr val="accent1"/>
          </a:solidFill>
        </p:spPr>
        <p:txBody>
          <a:bodyPr>
            <a:normAutofit fontScale="90000"/>
          </a:bodyPr>
          <a:lstStyle/>
          <a:p>
            <a:r>
              <a:rPr lang="en-US" b="1" dirty="0"/>
              <a:t>2.2.1 Prevalence of stunting among children under 5 years of age</a:t>
            </a:r>
          </a:p>
        </p:txBody>
      </p:sp>
      <p:graphicFrame>
        <p:nvGraphicFramePr>
          <p:cNvPr id="4" name="Content Placeholder 3"/>
          <p:cNvGraphicFramePr>
            <a:graphicFrameLocks noGrp="1"/>
          </p:cNvGraphicFramePr>
          <p:nvPr>
            <p:ph idx="1"/>
            <p:extLst>
              <p:ext uri="{D42A27DB-BD31-4B8C-83A1-F6EECF244321}">
                <p14:modId xmlns="" xmlns:p14="http://schemas.microsoft.com/office/powerpoint/2010/main" val="1119304061"/>
              </p:ext>
            </p:extLst>
          </p:nvPr>
        </p:nvGraphicFramePr>
        <p:xfrm>
          <a:off x="0" y="1226126"/>
          <a:ext cx="12192000" cy="563187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 xmlns:p14="http://schemas.microsoft.com/office/powerpoint/2010/main" val="180677544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 xmlns:p14="http://schemas.microsoft.com/office/powerpoint/2010/main" val="1376736484"/>
              </p:ext>
            </p:extLst>
          </p:nvPr>
        </p:nvGraphicFramePr>
        <p:xfrm>
          <a:off x="172995" y="0"/>
          <a:ext cx="12019005" cy="6858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 xmlns:p14="http://schemas.microsoft.com/office/powerpoint/2010/main" val="276954891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5243" y="1"/>
            <a:ext cx="10686757" cy="1390917"/>
          </a:xfrm>
          <a:solidFill>
            <a:schemeClr val="accent1"/>
          </a:solidFill>
        </p:spPr>
        <p:txBody>
          <a:bodyPr>
            <a:normAutofit/>
          </a:bodyPr>
          <a:lstStyle/>
          <a:p>
            <a:r>
              <a:rPr lang="en-US" sz="4000" dirty="0" smtClean="0"/>
              <a:t>3.1.1: Maternal mortality ratio (per 100,000 LB)</a:t>
            </a:r>
            <a:endParaRPr lang="en-US" dirty="0"/>
          </a:p>
        </p:txBody>
      </p:sp>
      <p:pic>
        <p:nvPicPr>
          <p:cNvPr id="5" name="Picture 4"/>
          <p:cNvPicPr/>
          <p:nvPr/>
        </p:nvPicPr>
        <p:blipFill>
          <a:blip r:embed="rId2">
            <a:extLst>
              <a:ext uri="{28A0092B-C50C-407E-A947-70E740481C1C}">
                <a14:useLocalDpi xmlns="" xmlns:a14="http://schemas.microsoft.com/office/drawing/2010/main" val="0"/>
              </a:ext>
            </a:extLst>
          </a:blip>
          <a:stretch>
            <a:fillRect/>
          </a:stretch>
        </p:blipFill>
        <p:spPr>
          <a:xfrm>
            <a:off x="0" y="1"/>
            <a:ext cx="1505243" cy="1390917"/>
          </a:xfrm>
          <a:prstGeom prst="rect">
            <a:avLst/>
          </a:prstGeom>
        </p:spPr>
      </p:pic>
      <p:graphicFrame>
        <p:nvGraphicFramePr>
          <p:cNvPr id="6" name="Content Placeholder 5"/>
          <p:cNvGraphicFramePr>
            <a:graphicFrameLocks noGrp="1"/>
          </p:cNvGraphicFramePr>
          <p:nvPr>
            <p:ph idx="1"/>
            <p:extLst>
              <p:ext uri="{D42A27DB-BD31-4B8C-83A1-F6EECF244321}">
                <p14:modId xmlns="" xmlns:p14="http://schemas.microsoft.com/office/powerpoint/2010/main" val="506355572"/>
              </p:ext>
            </p:extLst>
          </p:nvPr>
        </p:nvGraphicFramePr>
        <p:xfrm>
          <a:off x="0" y="1390918"/>
          <a:ext cx="12192000" cy="546708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 xmlns:p14="http://schemas.microsoft.com/office/powerpoint/2010/main" val="161131299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5243" y="1"/>
            <a:ext cx="10686757" cy="1390917"/>
          </a:xfrm>
          <a:solidFill>
            <a:schemeClr val="accent1"/>
          </a:solidFill>
        </p:spPr>
        <p:txBody>
          <a:bodyPr>
            <a:normAutofit/>
          </a:bodyPr>
          <a:lstStyle/>
          <a:p>
            <a:r>
              <a:rPr lang="en-US" sz="4000" dirty="0" smtClean="0"/>
              <a:t>3.1.2:Proportion of births attended by skilled health personnel </a:t>
            </a:r>
            <a:endParaRPr lang="en-US" dirty="0"/>
          </a:p>
        </p:txBody>
      </p:sp>
      <p:pic>
        <p:nvPicPr>
          <p:cNvPr id="5" name="Picture 4"/>
          <p:cNvPicPr/>
          <p:nvPr/>
        </p:nvPicPr>
        <p:blipFill>
          <a:blip r:embed="rId2">
            <a:extLst>
              <a:ext uri="{28A0092B-C50C-407E-A947-70E740481C1C}">
                <a14:useLocalDpi xmlns="" xmlns:a14="http://schemas.microsoft.com/office/drawing/2010/main" val="0"/>
              </a:ext>
            </a:extLst>
          </a:blip>
          <a:stretch>
            <a:fillRect/>
          </a:stretch>
        </p:blipFill>
        <p:spPr>
          <a:xfrm>
            <a:off x="0" y="1"/>
            <a:ext cx="1505243" cy="1390917"/>
          </a:xfrm>
          <a:prstGeom prst="rect">
            <a:avLst/>
          </a:prstGeom>
        </p:spPr>
      </p:pic>
      <p:graphicFrame>
        <p:nvGraphicFramePr>
          <p:cNvPr id="6" name="Content Placeholder 5"/>
          <p:cNvGraphicFramePr>
            <a:graphicFrameLocks noGrp="1"/>
          </p:cNvGraphicFramePr>
          <p:nvPr>
            <p:ph idx="1"/>
            <p:extLst/>
          </p:nvPr>
        </p:nvGraphicFramePr>
        <p:xfrm>
          <a:off x="193183" y="1558344"/>
          <a:ext cx="11822806" cy="511291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 xmlns:p14="http://schemas.microsoft.com/office/powerpoint/2010/main" val="288718268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5243" y="1"/>
            <a:ext cx="10686757" cy="1390917"/>
          </a:xfrm>
          <a:solidFill>
            <a:schemeClr val="accent1"/>
          </a:solidFill>
        </p:spPr>
        <p:txBody>
          <a:bodyPr>
            <a:normAutofit/>
          </a:bodyPr>
          <a:lstStyle/>
          <a:p>
            <a:r>
              <a:rPr lang="en-US" sz="4000" dirty="0" smtClean="0"/>
              <a:t>3.2.2: Neonatal mortality rate (per 1000 LB)</a:t>
            </a:r>
            <a:endParaRPr lang="en-US" dirty="0"/>
          </a:p>
        </p:txBody>
      </p:sp>
      <p:pic>
        <p:nvPicPr>
          <p:cNvPr id="5" name="Picture 4"/>
          <p:cNvPicPr/>
          <p:nvPr/>
        </p:nvPicPr>
        <p:blipFill>
          <a:blip r:embed="rId2">
            <a:extLst>
              <a:ext uri="{28A0092B-C50C-407E-A947-70E740481C1C}">
                <a14:useLocalDpi xmlns="" xmlns:a14="http://schemas.microsoft.com/office/drawing/2010/main" val="0"/>
              </a:ext>
            </a:extLst>
          </a:blip>
          <a:stretch>
            <a:fillRect/>
          </a:stretch>
        </p:blipFill>
        <p:spPr>
          <a:xfrm>
            <a:off x="0" y="1"/>
            <a:ext cx="1505243" cy="1390917"/>
          </a:xfrm>
          <a:prstGeom prst="rect">
            <a:avLst/>
          </a:prstGeom>
        </p:spPr>
      </p:pic>
      <p:graphicFrame>
        <p:nvGraphicFramePr>
          <p:cNvPr id="6" name="Content Placeholder 5"/>
          <p:cNvGraphicFramePr>
            <a:graphicFrameLocks noGrp="1"/>
          </p:cNvGraphicFramePr>
          <p:nvPr>
            <p:ph idx="1"/>
            <p:extLst>
              <p:ext uri="{D42A27DB-BD31-4B8C-83A1-F6EECF244321}">
                <p14:modId xmlns="" xmlns:p14="http://schemas.microsoft.com/office/powerpoint/2010/main" val="2085362047"/>
              </p:ext>
            </p:extLst>
          </p:nvPr>
        </p:nvGraphicFramePr>
        <p:xfrm>
          <a:off x="0" y="1390918"/>
          <a:ext cx="12192000" cy="546708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 xmlns:p14="http://schemas.microsoft.com/office/powerpoint/2010/main" val="132090158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5243" y="1"/>
            <a:ext cx="10686757" cy="1390917"/>
          </a:xfrm>
          <a:solidFill>
            <a:schemeClr val="accent1"/>
          </a:solidFill>
        </p:spPr>
        <p:txBody>
          <a:bodyPr>
            <a:normAutofit/>
          </a:bodyPr>
          <a:lstStyle/>
          <a:p>
            <a:r>
              <a:rPr lang="en-US" sz="4000" dirty="0" smtClean="0"/>
              <a:t>3.3.1: Number of new HIV infections per 1,000 uninfected population, by sex</a:t>
            </a:r>
            <a:endParaRPr lang="en-US" dirty="0"/>
          </a:p>
        </p:txBody>
      </p:sp>
      <p:pic>
        <p:nvPicPr>
          <p:cNvPr id="5" name="Picture 4"/>
          <p:cNvPicPr/>
          <p:nvPr/>
        </p:nvPicPr>
        <p:blipFill>
          <a:blip r:embed="rId2">
            <a:extLst>
              <a:ext uri="{28A0092B-C50C-407E-A947-70E740481C1C}">
                <a14:useLocalDpi xmlns="" xmlns:a14="http://schemas.microsoft.com/office/drawing/2010/main" val="0"/>
              </a:ext>
            </a:extLst>
          </a:blip>
          <a:stretch>
            <a:fillRect/>
          </a:stretch>
        </p:blipFill>
        <p:spPr>
          <a:xfrm>
            <a:off x="0" y="1"/>
            <a:ext cx="1505243" cy="1390917"/>
          </a:xfrm>
          <a:prstGeom prst="rect">
            <a:avLst/>
          </a:prstGeom>
        </p:spPr>
      </p:pic>
      <p:graphicFrame>
        <p:nvGraphicFramePr>
          <p:cNvPr id="6" name="Content Placeholder 5"/>
          <p:cNvGraphicFramePr>
            <a:graphicFrameLocks noGrp="1"/>
          </p:cNvGraphicFramePr>
          <p:nvPr>
            <p:ph idx="1"/>
            <p:extLst>
              <p:ext uri="{D42A27DB-BD31-4B8C-83A1-F6EECF244321}">
                <p14:modId xmlns="" xmlns:p14="http://schemas.microsoft.com/office/powerpoint/2010/main" val="2667578919"/>
              </p:ext>
            </p:extLst>
          </p:nvPr>
        </p:nvGraphicFramePr>
        <p:xfrm>
          <a:off x="180304" y="1390918"/>
          <a:ext cx="11887200" cy="533185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 xmlns:p14="http://schemas.microsoft.com/office/powerpoint/2010/main" val="364354214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5243" y="1"/>
            <a:ext cx="10686757" cy="1390917"/>
          </a:xfrm>
          <a:solidFill>
            <a:schemeClr val="accent1"/>
          </a:solidFill>
        </p:spPr>
        <p:txBody>
          <a:bodyPr>
            <a:normAutofit/>
          </a:bodyPr>
          <a:lstStyle/>
          <a:p>
            <a:r>
              <a:rPr lang="en-US" sz="4000" dirty="0" smtClean="0"/>
              <a:t>3.3.2: Tuberculosis incidence per 100,000 population</a:t>
            </a:r>
            <a:endParaRPr lang="en-US" dirty="0"/>
          </a:p>
        </p:txBody>
      </p:sp>
      <p:pic>
        <p:nvPicPr>
          <p:cNvPr id="5" name="Picture 4"/>
          <p:cNvPicPr/>
          <p:nvPr/>
        </p:nvPicPr>
        <p:blipFill>
          <a:blip r:embed="rId2">
            <a:extLst>
              <a:ext uri="{28A0092B-C50C-407E-A947-70E740481C1C}">
                <a14:useLocalDpi xmlns="" xmlns:a14="http://schemas.microsoft.com/office/drawing/2010/main" val="0"/>
              </a:ext>
            </a:extLst>
          </a:blip>
          <a:stretch>
            <a:fillRect/>
          </a:stretch>
        </p:blipFill>
        <p:spPr>
          <a:xfrm>
            <a:off x="0" y="1"/>
            <a:ext cx="1505243" cy="1390917"/>
          </a:xfrm>
          <a:prstGeom prst="rect">
            <a:avLst/>
          </a:prstGeom>
        </p:spPr>
      </p:pic>
      <p:graphicFrame>
        <p:nvGraphicFramePr>
          <p:cNvPr id="6" name="Content Placeholder 5"/>
          <p:cNvGraphicFramePr>
            <a:graphicFrameLocks noGrp="1"/>
          </p:cNvGraphicFramePr>
          <p:nvPr>
            <p:ph idx="1"/>
            <p:extLst>
              <p:ext uri="{D42A27DB-BD31-4B8C-83A1-F6EECF244321}">
                <p14:modId xmlns="" xmlns:p14="http://schemas.microsoft.com/office/powerpoint/2010/main" val="602975412"/>
              </p:ext>
            </p:extLst>
          </p:nvPr>
        </p:nvGraphicFramePr>
        <p:xfrm>
          <a:off x="0" y="1390918"/>
          <a:ext cx="12192000" cy="546708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 xmlns:p14="http://schemas.microsoft.com/office/powerpoint/2010/main" val="189961716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5243" y="1"/>
            <a:ext cx="10686757" cy="1390917"/>
          </a:xfrm>
          <a:solidFill>
            <a:schemeClr val="accent1"/>
          </a:solidFill>
        </p:spPr>
        <p:txBody>
          <a:bodyPr>
            <a:normAutofit/>
          </a:bodyPr>
          <a:lstStyle/>
          <a:p>
            <a:r>
              <a:rPr lang="en-US" sz="4000" dirty="0" smtClean="0"/>
              <a:t>3.3.3: Malaria incidence per 1,000 population</a:t>
            </a:r>
            <a:endParaRPr lang="en-US" dirty="0"/>
          </a:p>
        </p:txBody>
      </p:sp>
      <p:pic>
        <p:nvPicPr>
          <p:cNvPr id="5" name="Picture 4"/>
          <p:cNvPicPr/>
          <p:nvPr/>
        </p:nvPicPr>
        <p:blipFill>
          <a:blip r:embed="rId2">
            <a:extLst>
              <a:ext uri="{28A0092B-C50C-407E-A947-70E740481C1C}">
                <a14:useLocalDpi xmlns="" xmlns:a14="http://schemas.microsoft.com/office/drawing/2010/main" val="0"/>
              </a:ext>
            </a:extLst>
          </a:blip>
          <a:stretch>
            <a:fillRect/>
          </a:stretch>
        </p:blipFill>
        <p:spPr>
          <a:xfrm>
            <a:off x="0" y="1"/>
            <a:ext cx="1505243" cy="1390917"/>
          </a:xfrm>
          <a:prstGeom prst="rect">
            <a:avLst/>
          </a:prstGeom>
        </p:spPr>
      </p:pic>
      <p:graphicFrame>
        <p:nvGraphicFramePr>
          <p:cNvPr id="7" name="Content Placeholder 6"/>
          <p:cNvGraphicFramePr>
            <a:graphicFrameLocks noGrp="1"/>
          </p:cNvGraphicFramePr>
          <p:nvPr>
            <p:ph idx="1"/>
            <p:extLst/>
          </p:nvPr>
        </p:nvGraphicFramePr>
        <p:xfrm>
          <a:off x="206062" y="1532586"/>
          <a:ext cx="11797048" cy="519018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 xmlns:p14="http://schemas.microsoft.com/office/powerpoint/2010/main" val="257345640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5243" y="1"/>
            <a:ext cx="10686757" cy="1390917"/>
          </a:xfrm>
          <a:solidFill>
            <a:schemeClr val="accent1"/>
          </a:solidFill>
        </p:spPr>
        <p:txBody>
          <a:bodyPr>
            <a:normAutofit/>
          </a:bodyPr>
          <a:lstStyle/>
          <a:p>
            <a:r>
              <a:rPr lang="en-US" sz="4000" dirty="0" smtClean="0"/>
              <a:t>3.3.4: Hepatitis B incidence per 100,000 population</a:t>
            </a:r>
            <a:endParaRPr lang="en-US" dirty="0"/>
          </a:p>
        </p:txBody>
      </p:sp>
      <p:pic>
        <p:nvPicPr>
          <p:cNvPr id="5" name="Picture 4"/>
          <p:cNvPicPr/>
          <p:nvPr/>
        </p:nvPicPr>
        <p:blipFill>
          <a:blip r:embed="rId2">
            <a:extLst>
              <a:ext uri="{28A0092B-C50C-407E-A947-70E740481C1C}">
                <a14:useLocalDpi xmlns="" xmlns:a14="http://schemas.microsoft.com/office/drawing/2010/main" val="0"/>
              </a:ext>
            </a:extLst>
          </a:blip>
          <a:stretch>
            <a:fillRect/>
          </a:stretch>
        </p:blipFill>
        <p:spPr>
          <a:xfrm>
            <a:off x="0" y="1"/>
            <a:ext cx="1505243" cy="1390917"/>
          </a:xfrm>
          <a:prstGeom prst="rect">
            <a:avLst/>
          </a:prstGeom>
        </p:spPr>
      </p:pic>
      <p:graphicFrame>
        <p:nvGraphicFramePr>
          <p:cNvPr id="6" name="Content Placeholder 5"/>
          <p:cNvGraphicFramePr>
            <a:graphicFrameLocks noGrp="1"/>
          </p:cNvGraphicFramePr>
          <p:nvPr>
            <p:ph idx="1"/>
            <p:extLst/>
          </p:nvPr>
        </p:nvGraphicFramePr>
        <p:xfrm>
          <a:off x="141668" y="1596980"/>
          <a:ext cx="11809926" cy="507427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 xmlns:p14="http://schemas.microsoft.com/office/powerpoint/2010/main" val="314735065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5243" y="1"/>
            <a:ext cx="10686757" cy="1390917"/>
          </a:xfrm>
          <a:solidFill>
            <a:schemeClr val="accent1"/>
          </a:solidFill>
        </p:spPr>
        <p:txBody>
          <a:bodyPr>
            <a:normAutofit fontScale="90000"/>
          </a:bodyPr>
          <a:lstStyle/>
          <a:p>
            <a:r>
              <a:rPr lang="en-US" sz="4000" dirty="0" smtClean="0"/>
              <a:t>3.3.5: Number of people requiring interventions against neglected tropical diseases </a:t>
            </a:r>
            <a:endParaRPr lang="en-US" dirty="0"/>
          </a:p>
        </p:txBody>
      </p:sp>
      <p:pic>
        <p:nvPicPr>
          <p:cNvPr id="5" name="Picture 4"/>
          <p:cNvPicPr/>
          <p:nvPr/>
        </p:nvPicPr>
        <p:blipFill>
          <a:blip r:embed="rId2">
            <a:extLst>
              <a:ext uri="{28A0092B-C50C-407E-A947-70E740481C1C}">
                <a14:useLocalDpi xmlns="" xmlns:a14="http://schemas.microsoft.com/office/drawing/2010/main" val="0"/>
              </a:ext>
            </a:extLst>
          </a:blip>
          <a:stretch>
            <a:fillRect/>
          </a:stretch>
        </p:blipFill>
        <p:spPr>
          <a:xfrm>
            <a:off x="0" y="1"/>
            <a:ext cx="1505243" cy="1390917"/>
          </a:xfrm>
          <a:prstGeom prst="rect">
            <a:avLst/>
          </a:prstGeom>
        </p:spPr>
      </p:pic>
      <p:graphicFrame>
        <p:nvGraphicFramePr>
          <p:cNvPr id="6" name="Content Placeholder 5"/>
          <p:cNvGraphicFramePr>
            <a:graphicFrameLocks noGrp="1"/>
          </p:cNvGraphicFramePr>
          <p:nvPr>
            <p:ph idx="1"/>
            <p:extLst>
              <p:ext uri="{D42A27DB-BD31-4B8C-83A1-F6EECF244321}">
                <p14:modId xmlns="" xmlns:p14="http://schemas.microsoft.com/office/powerpoint/2010/main" val="39077279"/>
              </p:ext>
            </p:extLst>
          </p:nvPr>
        </p:nvGraphicFramePr>
        <p:xfrm>
          <a:off x="0" y="1481070"/>
          <a:ext cx="12192000" cy="537692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 xmlns:p14="http://schemas.microsoft.com/office/powerpoint/2010/main" val="316299828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5243" y="1"/>
            <a:ext cx="10686757" cy="1390917"/>
          </a:xfrm>
          <a:solidFill>
            <a:schemeClr val="accent1"/>
          </a:solidFill>
        </p:spPr>
        <p:txBody>
          <a:bodyPr>
            <a:normAutofit fontScale="90000"/>
          </a:bodyPr>
          <a:lstStyle/>
          <a:p>
            <a:r>
              <a:rPr lang="en-US" sz="4000" dirty="0" smtClean="0"/>
              <a:t>3.4.1: Mortality rate attributed to cardiovascular disease, cancer, diabetes or chronic respiratory disease</a:t>
            </a:r>
            <a:endParaRPr lang="en-US" dirty="0"/>
          </a:p>
        </p:txBody>
      </p:sp>
      <p:pic>
        <p:nvPicPr>
          <p:cNvPr id="5" name="Picture 4"/>
          <p:cNvPicPr/>
          <p:nvPr/>
        </p:nvPicPr>
        <p:blipFill>
          <a:blip r:embed="rId2">
            <a:extLst>
              <a:ext uri="{28A0092B-C50C-407E-A947-70E740481C1C}">
                <a14:useLocalDpi xmlns="" xmlns:a14="http://schemas.microsoft.com/office/drawing/2010/main" val="0"/>
              </a:ext>
            </a:extLst>
          </a:blip>
          <a:stretch>
            <a:fillRect/>
          </a:stretch>
        </p:blipFill>
        <p:spPr>
          <a:xfrm>
            <a:off x="0" y="1"/>
            <a:ext cx="1505243" cy="1390917"/>
          </a:xfrm>
          <a:prstGeom prst="rect">
            <a:avLst/>
          </a:prstGeom>
        </p:spPr>
      </p:pic>
      <p:graphicFrame>
        <p:nvGraphicFramePr>
          <p:cNvPr id="7" name="Content Placeholder 6"/>
          <p:cNvGraphicFramePr>
            <a:graphicFrameLocks noGrp="1"/>
          </p:cNvGraphicFramePr>
          <p:nvPr>
            <p:ph idx="1"/>
            <p:extLst>
              <p:ext uri="{D42A27DB-BD31-4B8C-83A1-F6EECF244321}">
                <p14:modId xmlns="" xmlns:p14="http://schemas.microsoft.com/office/powerpoint/2010/main" val="2362786510"/>
              </p:ext>
            </p:extLst>
          </p:nvPr>
        </p:nvGraphicFramePr>
        <p:xfrm>
          <a:off x="0" y="1390918"/>
          <a:ext cx="12192000" cy="546708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 xmlns:p14="http://schemas.microsoft.com/office/powerpoint/2010/main" val="68857569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5243" y="1"/>
            <a:ext cx="10686757" cy="1390917"/>
          </a:xfrm>
          <a:solidFill>
            <a:schemeClr val="accent1"/>
          </a:solidFill>
        </p:spPr>
        <p:txBody>
          <a:bodyPr>
            <a:normAutofit/>
          </a:bodyPr>
          <a:lstStyle/>
          <a:p>
            <a:r>
              <a:rPr lang="en-US" sz="4000" dirty="0" smtClean="0"/>
              <a:t>3.4.2: Suicide mortality rate (per 100,000 population)  </a:t>
            </a:r>
            <a:endParaRPr lang="en-US" dirty="0"/>
          </a:p>
        </p:txBody>
      </p:sp>
      <p:pic>
        <p:nvPicPr>
          <p:cNvPr id="5" name="Picture 4"/>
          <p:cNvPicPr/>
          <p:nvPr/>
        </p:nvPicPr>
        <p:blipFill>
          <a:blip r:embed="rId2">
            <a:extLst>
              <a:ext uri="{28A0092B-C50C-407E-A947-70E740481C1C}">
                <a14:useLocalDpi xmlns="" xmlns:a14="http://schemas.microsoft.com/office/drawing/2010/main" val="0"/>
              </a:ext>
            </a:extLst>
          </a:blip>
          <a:stretch>
            <a:fillRect/>
          </a:stretch>
        </p:blipFill>
        <p:spPr>
          <a:xfrm>
            <a:off x="0" y="1"/>
            <a:ext cx="1505243" cy="1390917"/>
          </a:xfrm>
          <a:prstGeom prst="rect">
            <a:avLst/>
          </a:prstGeom>
        </p:spPr>
      </p:pic>
      <p:graphicFrame>
        <p:nvGraphicFramePr>
          <p:cNvPr id="6" name="Content Placeholder 5"/>
          <p:cNvGraphicFramePr>
            <a:graphicFrameLocks noGrp="1"/>
          </p:cNvGraphicFramePr>
          <p:nvPr>
            <p:ph idx="1"/>
            <p:extLst>
              <p:ext uri="{D42A27DB-BD31-4B8C-83A1-F6EECF244321}">
                <p14:modId xmlns="" xmlns:p14="http://schemas.microsoft.com/office/powerpoint/2010/main" val="2223071688"/>
              </p:ext>
            </p:extLst>
          </p:nvPr>
        </p:nvGraphicFramePr>
        <p:xfrm>
          <a:off x="0" y="1390918"/>
          <a:ext cx="12192000" cy="546708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 xmlns:p14="http://schemas.microsoft.com/office/powerpoint/2010/main" val="162214968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5243" y="1"/>
            <a:ext cx="10686757" cy="1390917"/>
          </a:xfrm>
          <a:solidFill>
            <a:schemeClr val="accent1"/>
          </a:solidFill>
        </p:spPr>
        <p:txBody>
          <a:bodyPr>
            <a:normAutofit fontScale="90000"/>
          </a:bodyPr>
          <a:lstStyle/>
          <a:p>
            <a:r>
              <a:rPr lang="en-US" sz="3600" dirty="0" smtClean="0"/>
              <a:t>3.5.2: Harmful use of alcohol, defined according to the national context as alcohol per capita consumption (aged 15 years and older) within a calendar year in </a:t>
            </a:r>
            <a:r>
              <a:rPr lang="en-US" sz="3600" dirty="0" err="1" smtClean="0"/>
              <a:t>litres</a:t>
            </a:r>
            <a:r>
              <a:rPr lang="en-US" sz="3600" dirty="0" smtClean="0"/>
              <a:t> of pure alcohol</a:t>
            </a:r>
            <a:r>
              <a:rPr lang="en-US" sz="4000" dirty="0" smtClean="0"/>
              <a:t> </a:t>
            </a:r>
            <a:endParaRPr lang="en-US" dirty="0"/>
          </a:p>
        </p:txBody>
      </p:sp>
      <p:pic>
        <p:nvPicPr>
          <p:cNvPr id="5" name="Picture 4"/>
          <p:cNvPicPr/>
          <p:nvPr/>
        </p:nvPicPr>
        <p:blipFill>
          <a:blip r:embed="rId2">
            <a:extLst>
              <a:ext uri="{28A0092B-C50C-407E-A947-70E740481C1C}">
                <a14:useLocalDpi xmlns="" xmlns:a14="http://schemas.microsoft.com/office/drawing/2010/main" val="0"/>
              </a:ext>
            </a:extLst>
          </a:blip>
          <a:stretch>
            <a:fillRect/>
          </a:stretch>
        </p:blipFill>
        <p:spPr>
          <a:xfrm>
            <a:off x="0" y="1"/>
            <a:ext cx="1505243" cy="1390917"/>
          </a:xfrm>
          <a:prstGeom prst="rect">
            <a:avLst/>
          </a:prstGeom>
        </p:spPr>
      </p:pic>
      <p:graphicFrame>
        <p:nvGraphicFramePr>
          <p:cNvPr id="6" name="Content Placeholder 5"/>
          <p:cNvGraphicFramePr>
            <a:graphicFrameLocks noGrp="1"/>
          </p:cNvGraphicFramePr>
          <p:nvPr>
            <p:ph idx="1"/>
            <p:extLst/>
          </p:nvPr>
        </p:nvGraphicFramePr>
        <p:xfrm>
          <a:off x="168811" y="1547446"/>
          <a:ext cx="11844997" cy="517691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 xmlns:p14="http://schemas.microsoft.com/office/powerpoint/2010/main" val="115684660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5243" y="1"/>
            <a:ext cx="10686757" cy="1390917"/>
          </a:xfrm>
          <a:solidFill>
            <a:schemeClr val="accent1"/>
          </a:solidFill>
        </p:spPr>
        <p:txBody>
          <a:bodyPr>
            <a:normAutofit/>
          </a:bodyPr>
          <a:lstStyle/>
          <a:p>
            <a:r>
              <a:rPr lang="en-US" sz="3600" dirty="0" smtClean="0"/>
              <a:t>3.6.1: Death rate due to road traffic injuries</a:t>
            </a:r>
            <a:endParaRPr lang="en-US" dirty="0"/>
          </a:p>
        </p:txBody>
      </p:sp>
      <p:pic>
        <p:nvPicPr>
          <p:cNvPr id="5" name="Picture 4"/>
          <p:cNvPicPr/>
          <p:nvPr/>
        </p:nvPicPr>
        <p:blipFill>
          <a:blip r:embed="rId2">
            <a:extLst>
              <a:ext uri="{28A0092B-C50C-407E-A947-70E740481C1C}">
                <a14:useLocalDpi xmlns="" xmlns:a14="http://schemas.microsoft.com/office/drawing/2010/main" val="0"/>
              </a:ext>
            </a:extLst>
          </a:blip>
          <a:stretch>
            <a:fillRect/>
          </a:stretch>
        </p:blipFill>
        <p:spPr>
          <a:xfrm>
            <a:off x="0" y="1"/>
            <a:ext cx="1505243" cy="1390917"/>
          </a:xfrm>
          <a:prstGeom prst="rect">
            <a:avLst/>
          </a:prstGeom>
        </p:spPr>
      </p:pic>
      <p:graphicFrame>
        <p:nvGraphicFramePr>
          <p:cNvPr id="7" name="Content Placeholder 6"/>
          <p:cNvGraphicFramePr>
            <a:graphicFrameLocks noGrp="1"/>
          </p:cNvGraphicFramePr>
          <p:nvPr>
            <p:ph idx="1"/>
            <p:extLst>
              <p:ext uri="{D42A27DB-BD31-4B8C-83A1-F6EECF244321}">
                <p14:modId xmlns="" xmlns:p14="http://schemas.microsoft.com/office/powerpoint/2010/main" val="61893994"/>
              </p:ext>
            </p:extLst>
          </p:nvPr>
        </p:nvGraphicFramePr>
        <p:xfrm>
          <a:off x="0" y="1390918"/>
          <a:ext cx="12192000" cy="546708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 xmlns:p14="http://schemas.microsoft.com/office/powerpoint/2010/main" val="66831215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5243" y="1"/>
            <a:ext cx="10686757" cy="1390917"/>
          </a:xfrm>
          <a:solidFill>
            <a:schemeClr val="accent1"/>
          </a:solidFill>
        </p:spPr>
        <p:txBody>
          <a:bodyPr>
            <a:normAutofit fontScale="90000"/>
          </a:bodyPr>
          <a:lstStyle/>
          <a:p>
            <a:r>
              <a:rPr lang="en-US" sz="3600" dirty="0" smtClean="0"/>
              <a:t>3.7.1: Proportion of women of reproductive age (aged 15-49 years) who have their need for family planning satisfied with modern methods</a:t>
            </a:r>
            <a:endParaRPr lang="en-US" dirty="0"/>
          </a:p>
        </p:txBody>
      </p:sp>
      <p:pic>
        <p:nvPicPr>
          <p:cNvPr id="5" name="Picture 4"/>
          <p:cNvPicPr/>
          <p:nvPr/>
        </p:nvPicPr>
        <p:blipFill>
          <a:blip r:embed="rId2">
            <a:extLst>
              <a:ext uri="{28A0092B-C50C-407E-A947-70E740481C1C}">
                <a14:useLocalDpi xmlns="" xmlns:a14="http://schemas.microsoft.com/office/drawing/2010/main" val="0"/>
              </a:ext>
            </a:extLst>
          </a:blip>
          <a:stretch>
            <a:fillRect/>
          </a:stretch>
        </p:blipFill>
        <p:spPr>
          <a:xfrm>
            <a:off x="0" y="1"/>
            <a:ext cx="1505243" cy="1390917"/>
          </a:xfrm>
          <a:prstGeom prst="rect">
            <a:avLst/>
          </a:prstGeom>
        </p:spPr>
      </p:pic>
      <p:graphicFrame>
        <p:nvGraphicFramePr>
          <p:cNvPr id="7" name="Content Placeholder 6"/>
          <p:cNvGraphicFramePr>
            <a:graphicFrameLocks noGrp="1"/>
          </p:cNvGraphicFramePr>
          <p:nvPr>
            <p:ph idx="1"/>
            <p:extLst>
              <p:ext uri="{D42A27DB-BD31-4B8C-83A1-F6EECF244321}">
                <p14:modId xmlns="" xmlns:p14="http://schemas.microsoft.com/office/powerpoint/2010/main" val="1103674657"/>
              </p:ext>
            </p:extLst>
          </p:nvPr>
        </p:nvGraphicFramePr>
        <p:xfrm>
          <a:off x="0" y="1390918"/>
          <a:ext cx="12192000" cy="546708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 xmlns:p14="http://schemas.microsoft.com/office/powerpoint/2010/main" val="37525332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5243" y="1"/>
            <a:ext cx="10686757" cy="1390917"/>
          </a:xfrm>
          <a:solidFill>
            <a:schemeClr val="accent1"/>
          </a:solidFill>
        </p:spPr>
        <p:txBody>
          <a:bodyPr>
            <a:normAutofit fontScale="90000"/>
          </a:bodyPr>
          <a:lstStyle/>
          <a:p>
            <a:r>
              <a:rPr lang="en-US" sz="3600" dirty="0" smtClean="0"/>
              <a:t>3.7.2: Adolescent birth rate (aged 10-14 years; aged 15-19 years) per 1,000 women in that age group </a:t>
            </a:r>
            <a:endParaRPr lang="en-US" dirty="0"/>
          </a:p>
        </p:txBody>
      </p:sp>
      <p:pic>
        <p:nvPicPr>
          <p:cNvPr id="5" name="Picture 4"/>
          <p:cNvPicPr/>
          <p:nvPr/>
        </p:nvPicPr>
        <p:blipFill>
          <a:blip r:embed="rId2">
            <a:extLst>
              <a:ext uri="{28A0092B-C50C-407E-A947-70E740481C1C}">
                <a14:useLocalDpi xmlns="" xmlns:a14="http://schemas.microsoft.com/office/drawing/2010/main" val="0"/>
              </a:ext>
            </a:extLst>
          </a:blip>
          <a:stretch>
            <a:fillRect/>
          </a:stretch>
        </p:blipFill>
        <p:spPr>
          <a:xfrm>
            <a:off x="0" y="1"/>
            <a:ext cx="1505243" cy="1390917"/>
          </a:xfrm>
          <a:prstGeom prst="rect">
            <a:avLst/>
          </a:prstGeom>
        </p:spPr>
      </p:pic>
      <p:graphicFrame>
        <p:nvGraphicFramePr>
          <p:cNvPr id="7" name="Content Placeholder 6"/>
          <p:cNvGraphicFramePr>
            <a:graphicFrameLocks noGrp="1"/>
          </p:cNvGraphicFramePr>
          <p:nvPr>
            <p:ph idx="1"/>
            <p:extLst>
              <p:ext uri="{D42A27DB-BD31-4B8C-83A1-F6EECF244321}">
                <p14:modId xmlns="" xmlns:p14="http://schemas.microsoft.com/office/powerpoint/2010/main" val="1705983641"/>
              </p:ext>
            </p:extLst>
          </p:nvPr>
        </p:nvGraphicFramePr>
        <p:xfrm>
          <a:off x="0" y="1390918"/>
          <a:ext cx="12192000" cy="546708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 xmlns:p14="http://schemas.microsoft.com/office/powerpoint/2010/main" val="152849136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5243" y="1"/>
            <a:ext cx="10686757" cy="1390917"/>
          </a:xfrm>
          <a:solidFill>
            <a:schemeClr val="accent1"/>
          </a:solidFill>
        </p:spPr>
        <p:txBody>
          <a:bodyPr>
            <a:noAutofit/>
          </a:bodyPr>
          <a:lstStyle/>
          <a:p>
            <a:r>
              <a:rPr lang="en-US" sz="2000" dirty="0" smtClean="0"/>
              <a:t>3.8.1 Coverage of essential health services (defined as the average coverage of essential services based on tracer interventions that include reproductive, maternal, new-born and child health, infectious diseases, non-communicable diseases and service capacity and access, among the general and the most disadvantaged population)</a:t>
            </a:r>
            <a:endParaRPr lang="en-US" sz="2800" dirty="0"/>
          </a:p>
        </p:txBody>
      </p:sp>
      <p:pic>
        <p:nvPicPr>
          <p:cNvPr id="5" name="Picture 4"/>
          <p:cNvPicPr/>
          <p:nvPr/>
        </p:nvPicPr>
        <p:blipFill>
          <a:blip r:embed="rId2">
            <a:extLst>
              <a:ext uri="{28A0092B-C50C-407E-A947-70E740481C1C}">
                <a14:useLocalDpi xmlns="" xmlns:a14="http://schemas.microsoft.com/office/drawing/2010/main" val="0"/>
              </a:ext>
            </a:extLst>
          </a:blip>
          <a:stretch>
            <a:fillRect/>
          </a:stretch>
        </p:blipFill>
        <p:spPr>
          <a:xfrm>
            <a:off x="0" y="1"/>
            <a:ext cx="1505243" cy="1390917"/>
          </a:xfrm>
          <a:prstGeom prst="rect">
            <a:avLst/>
          </a:prstGeom>
        </p:spPr>
      </p:pic>
      <p:graphicFrame>
        <p:nvGraphicFramePr>
          <p:cNvPr id="6" name="Content Placeholder 5"/>
          <p:cNvGraphicFramePr>
            <a:graphicFrameLocks noGrp="1"/>
          </p:cNvGraphicFramePr>
          <p:nvPr>
            <p:ph idx="1"/>
            <p:extLst/>
          </p:nvPr>
        </p:nvGraphicFramePr>
        <p:xfrm>
          <a:off x="182880" y="1575582"/>
          <a:ext cx="11802794" cy="513470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 xmlns:p14="http://schemas.microsoft.com/office/powerpoint/2010/main" val="817281294"/>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5242" y="1"/>
            <a:ext cx="10686757" cy="1390917"/>
          </a:xfrm>
          <a:solidFill>
            <a:schemeClr val="accent1"/>
          </a:solidFill>
        </p:spPr>
        <p:txBody>
          <a:bodyPr>
            <a:noAutofit/>
          </a:bodyPr>
          <a:lstStyle/>
          <a:p>
            <a:r>
              <a:rPr lang="en-US" sz="3600" dirty="0" smtClean="0"/>
              <a:t>3.8.2: Number of people covered by health insurance or a public health system per 1,000 population </a:t>
            </a:r>
            <a:endParaRPr lang="en-US" dirty="0"/>
          </a:p>
        </p:txBody>
      </p:sp>
      <p:pic>
        <p:nvPicPr>
          <p:cNvPr id="5" name="Picture 4"/>
          <p:cNvPicPr/>
          <p:nvPr/>
        </p:nvPicPr>
        <p:blipFill>
          <a:blip r:embed="rId2">
            <a:extLst>
              <a:ext uri="{28A0092B-C50C-407E-A947-70E740481C1C}">
                <a14:useLocalDpi xmlns="" xmlns:a14="http://schemas.microsoft.com/office/drawing/2010/main" val="0"/>
              </a:ext>
            </a:extLst>
          </a:blip>
          <a:stretch>
            <a:fillRect/>
          </a:stretch>
        </p:blipFill>
        <p:spPr>
          <a:xfrm>
            <a:off x="0" y="1"/>
            <a:ext cx="1505243" cy="1390917"/>
          </a:xfrm>
          <a:prstGeom prst="rect">
            <a:avLst/>
          </a:prstGeom>
        </p:spPr>
      </p:pic>
      <p:graphicFrame>
        <p:nvGraphicFramePr>
          <p:cNvPr id="8" name="Content Placeholder 7"/>
          <p:cNvGraphicFramePr>
            <a:graphicFrameLocks noGrp="1"/>
          </p:cNvGraphicFramePr>
          <p:nvPr>
            <p:ph sz="half" idx="1"/>
            <p:extLst/>
          </p:nvPr>
        </p:nvGraphicFramePr>
        <p:xfrm>
          <a:off x="126609" y="1561514"/>
          <a:ext cx="5893191" cy="519097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ontent Placeholder 8"/>
          <p:cNvGraphicFramePr>
            <a:graphicFrameLocks noGrp="1"/>
          </p:cNvGraphicFramePr>
          <p:nvPr>
            <p:ph sz="half" idx="2"/>
            <p:extLst/>
          </p:nvPr>
        </p:nvGraphicFramePr>
        <p:xfrm>
          <a:off x="6172199" y="1631852"/>
          <a:ext cx="5855677" cy="507843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 xmlns:p14="http://schemas.microsoft.com/office/powerpoint/2010/main" val="326606779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5243" y="1"/>
            <a:ext cx="10686757" cy="1390917"/>
          </a:xfrm>
          <a:solidFill>
            <a:schemeClr val="accent1"/>
          </a:solidFill>
        </p:spPr>
        <p:txBody>
          <a:bodyPr>
            <a:noAutofit/>
          </a:bodyPr>
          <a:lstStyle/>
          <a:p>
            <a:r>
              <a:rPr lang="en-US" sz="3600" dirty="0" smtClean="0"/>
              <a:t>3.9.1: Mortality rate attributed to household and ambient air pollution (per 100000 population)</a:t>
            </a:r>
            <a:endParaRPr lang="en-US" sz="3600" dirty="0"/>
          </a:p>
        </p:txBody>
      </p:sp>
      <p:pic>
        <p:nvPicPr>
          <p:cNvPr id="5" name="Picture 4"/>
          <p:cNvPicPr/>
          <p:nvPr/>
        </p:nvPicPr>
        <p:blipFill>
          <a:blip r:embed="rId2">
            <a:extLst>
              <a:ext uri="{28A0092B-C50C-407E-A947-70E740481C1C}">
                <a14:useLocalDpi xmlns="" xmlns:a14="http://schemas.microsoft.com/office/drawing/2010/main" val="0"/>
              </a:ext>
            </a:extLst>
          </a:blip>
          <a:stretch>
            <a:fillRect/>
          </a:stretch>
        </p:blipFill>
        <p:spPr>
          <a:xfrm>
            <a:off x="0" y="1"/>
            <a:ext cx="1505243" cy="1390917"/>
          </a:xfrm>
          <a:prstGeom prst="rect">
            <a:avLst/>
          </a:prstGeom>
        </p:spPr>
      </p:pic>
      <p:graphicFrame>
        <p:nvGraphicFramePr>
          <p:cNvPr id="8" name="Content Placeholder 7"/>
          <p:cNvGraphicFramePr>
            <a:graphicFrameLocks noGrp="1"/>
          </p:cNvGraphicFramePr>
          <p:nvPr>
            <p:ph idx="1"/>
            <p:extLst/>
          </p:nvPr>
        </p:nvGraphicFramePr>
        <p:xfrm>
          <a:off x="126609" y="1589650"/>
          <a:ext cx="11873133" cy="506436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 xmlns:p14="http://schemas.microsoft.com/office/powerpoint/2010/main" val="167625412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5243" y="1"/>
            <a:ext cx="10686757" cy="1390917"/>
          </a:xfrm>
          <a:solidFill>
            <a:schemeClr val="accent1"/>
          </a:solidFill>
        </p:spPr>
        <p:txBody>
          <a:bodyPr>
            <a:noAutofit/>
          </a:bodyPr>
          <a:lstStyle/>
          <a:p>
            <a:r>
              <a:rPr lang="en-US" sz="3600" dirty="0" smtClean="0"/>
              <a:t>3.9.2: Mortality rate attributed to unsafe water, unsafe sanitation and lack of hygiene (per 100,000 population)</a:t>
            </a:r>
            <a:endParaRPr lang="en-US" sz="3600" dirty="0"/>
          </a:p>
        </p:txBody>
      </p:sp>
      <p:pic>
        <p:nvPicPr>
          <p:cNvPr id="5" name="Picture 4"/>
          <p:cNvPicPr/>
          <p:nvPr/>
        </p:nvPicPr>
        <p:blipFill>
          <a:blip r:embed="rId2">
            <a:extLst>
              <a:ext uri="{28A0092B-C50C-407E-A947-70E740481C1C}">
                <a14:useLocalDpi xmlns="" xmlns:a14="http://schemas.microsoft.com/office/drawing/2010/main" val="0"/>
              </a:ext>
            </a:extLst>
          </a:blip>
          <a:stretch>
            <a:fillRect/>
          </a:stretch>
        </p:blipFill>
        <p:spPr>
          <a:xfrm>
            <a:off x="0" y="1"/>
            <a:ext cx="1505243" cy="1390917"/>
          </a:xfrm>
          <a:prstGeom prst="rect">
            <a:avLst/>
          </a:prstGeom>
        </p:spPr>
      </p:pic>
      <p:graphicFrame>
        <p:nvGraphicFramePr>
          <p:cNvPr id="6" name="Content Placeholder 5"/>
          <p:cNvGraphicFramePr>
            <a:graphicFrameLocks noGrp="1"/>
          </p:cNvGraphicFramePr>
          <p:nvPr>
            <p:ph idx="1"/>
            <p:extLst/>
          </p:nvPr>
        </p:nvGraphicFramePr>
        <p:xfrm>
          <a:off x="154745" y="1603718"/>
          <a:ext cx="11859064" cy="507843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 xmlns:p14="http://schemas.microsoft.com/office/powerpoint/2010/main" val="249443105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5243" y="1"/>
            <a:ext cx="10686757" cy="1390917"/>
          </a:xfrm>
          <a:solidFill>
            <a:schemeClr val="accent1"/>
          </a:solidFill>
        </p:spPr>
        <p:txBody>
          <a:bodyPr>
            <a:noAutofit/>
          </a:bodyPr>
          <a:lstStyle/>
          <a:p>
            <a:r>
              <a:rPr lang="en-US" sz="3600" dirty="0" smtClean="0"/>
              <a:t>3.9.3:  Mortality rate attributed to unintentional poisoning (per 100,000 population)</a:t>
            </a:r>
            <a:endParaRPr lang="en-US" sz="3600" dirty="0"/>
          </a:p>
        </p:txBody>
      </p:sp>
      <p:pic>
        <p:nvPicPr>
          <p:cNvPr id="5" name="Picture 4"/>
          <p:cNvPicPr/>
          <p:nvPr/>
        </p:nvPicPr>
        <p:blipFill>
          <a:blip r:embed="rId2">
            <a:extLst>
              <a:ext uri="{28A0092B-C50C-407E-A947-70E740481C1C}">
                <a14:useLocalDpi xmlns="" xmlns:a14="http://schemas.microsoft.com/office/drawing/2010/main" val="0"/>
              </a:ext>
            </a:extLst>
          </a:blip>
          <a:stretch>
            <a:fillRect/>
          </a:stretch>
        </p:blipFill>
        <p:spPr>
          <a:xfrm>
            <a:off x="0" y="1"/>
            <a:ext cx="1505243" cy="1390917"/>
          </a:xfrm>
          <a:prstGeom prst="rect">
            <a:avLst/>
          </a:prstGeom>
        </p:spPr>
      </p:pic>
      <p:graphicFrame>
        <p:nvGraphicFramePr>
          <p:cNvPr id="7" name="Content Placeholder 6"/>
          <p:cNvGraphicFramePr>
            <a:graphicFrameLocks noGrp="1"/>
          </p:cNvGraphicFramePr>
          <p:nvPr>
            <p:ph idx="1"/>
            <p:extLst/>
          </p:nvPr>
        </p:nvGraphicFramePr>
        <p:xfrm>
          <a:off x="211015" y="1533378"/>
          <a:ext cx="11718388" cy="514877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 xmlns:p14="http://schemas.microsoft.com/office/powerpoint/2010/main" val="3875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5243" y="1"/>
            <a:ext cx="10686757" cy="1390917"/>
          </a:xfrm>
          <a:solidFill>
            <a:schemeClr val="accent1"/>
          </a:solidFill>
        </p:spPr>
        <p:txBody>
          <a:bodyPr>
            <a:noAutofit/>
          </a:bodyPr>
          <a:lstStyle/>
          <a:p>
            <a:r>
              <a:rPr lang="en-US" sz="3600" dirty="0" smtClean="0"/>
              <a:t>3.a.1: Age-standardized prevalence of current tobacco use among persons aged 15 years and older</a:t>
            </a:r>
            <a:endParaRPr lang="en-US" sz="3600" dirty="0"/>
          </a:p>
        </p:txBody>
      </p:sp>
      <p:pic>
        <p:nvPicPr>
          <p:cNvPr id="5" name="Picture 4"/>
          <p:cNvPicPr/>
          <p:nvPr/>
        </p:nvPicPr>
        <p:blipFill>
          <a:blip r:embed="rId2">
            <a:extLst>
              <a:ext uri="{28A0092B-C50C-407E-A947-70E740481C1C}">
                <a14:useLocalDpi xmlns="" xmlns:a14="http://schemas.microsoft.com/office/drawing/2010/main" val="0"/>
              </a:ext>
            </a:extLst>
          </a:blip>
          <a:stretch>
            <a:fillRect/>
          </a:stretch>
        </p:blipFill>
        <p:spPr>
          <a:xfrm>
            <a:off x="0" y="1"/>
            <a:ext cx="1505243" cy="1390917"/>
          </a:xfrm>
          <a:prstGeom prst="rect">
            <a:avLst/>
          </a:prstGeom>
        </p:spPr>
      </p:pic>
      <p:graphicFrame>
        <p:nvGraphicFramePr>
          <p:cNvPr id="6" name="Content Placeholder 5"/>
          <p:cNvGraphicFramePr>
            <a:graphicFrameLocks noGrp="1"/>
          </p:cNvGraphicFramePr>
          <p:nvPr>
            <p:ph idx="1"/>
            <p:extLst/>
          </p:nvPr>
        </p:nvGraphicFramePr>
        <p:xfrm>
          <a:off x="196947" y="1547446"/>
          <a:ext cx="11746523" cy="513470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 xmlns:p14="http://schemas.microsoft.com/office/powerpoint/2010/main" val="327691669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5243" y="1"/>
            <a:ext cx="10686757" cy="1390917"/>
          </a:xfrm>
          <a:solidFill>
            <a:schemeClr val="accent1"/>
          </a:solidFill>
        </p:spPr>
        <p:txBody>
          <a:bodyPr>
            <a:noAutofit/>
          </a:bodyPr>
          <a:lstStyle/>
          <a:p>
            <a:r>
              <a:rPr lang="en-US" sz="3600" dirty="0" smtClean="0"/>
              <a:t>3.b.1: Proportion of the population with access to affordable medicines and vaccines on a sustainable basis </a:t>
            </a:r>
            <a:endParaRPr lang="en-US" sz="3600" dirty="0"/>
          </a:p>
        </p:txBody>
      </p:sp>
      <p:pic>
        <p:nvPicPr>
          <p:cNvPr id="5" name="Picture 4"/>
          <p:cNvPicPr/>
          <p:nvPr/>
        </p:nvPicPr>
        <p:blipFill>
          <a:blip r:embed="rId2">
            <a:extLst>
              <a:ext uri="{28A0092B-C50C-407E-A947-70E740481C1C}">
                <a14:useLocalDpi xmlns="" xmlns:a14="http://schemas.microsoft.com/office/drawing/2010/main" val="0"/>
              </a:ext>
            </a:extLst>
          </a:blip>
          <a:stretch>
            <a:fillRect/>
          </a:stretch>
        </p:blipFill>
        <p:spPr>
          <a:xfrm>
            <a:off x="0" y="1"/>
            <a:ext cx="1505243" cy="1390917"/>
          </a:xfrm>
          <a:prstGeom prst="rect">
            <a:avLst/>
          </a:prstGeom>
        </p:spPr>
      </p:pic>
      <p:graphicFrame>
        <p:nvGraphicFramePr>
          <p:cNvPr id="6" name="Content Placeholder 5"/>
          <p:cNvGraphicFramePr>
            <a:graphicFrameLocks noGrp="1"/>
          </p:cNvGraphicFramePr>
          <p:nvPr>
            <p:ph idx="1"/>
            <p:extLst>
              <p:ext uri="{D42A27DB-BD31-4B8C-83A1-F6EECF244321}">
                <p14:modId xmlns="" xmlns:p14="http://schemas.microsoft.com/office/powerpoint/2010/main" val="2957085638"/>
              </p:ext>
            </p:extLst>
          </p:nvPr>
        </p:nvGraphicFramePr>
        <p:xfrm>
          <a:off x="0" y="1390918"/>
          <a:ext cx="12192000" cy="546708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 xmlns:p14="http://schemas.microsoft.com/office/powerpoint/2010/main" val="4066806950"/>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5243" y="1"/>
            <a:ext cx="10686757" cy="1390917"/>
          </a:xfrm>
          <a:solidFill>
            <a:schemeClr val="accent1"/>
          </a:solidFill>
        </p:spPr>
        <p:txBody>
          <a:bodyPr>
            <a:noAutofit/>
          </a:bodyPr>
          <a:lstStyle/>
          <a:p>
            <a:r>
              <a:rPr lang="en-US" sz="3600" dirty="0" smtClean="0"/>
              <a:t>3.b.2: Total net official development assistance to medical research and basic health sectors</a:t>
            </a:r>
            <a:endParaRPr lang="en-US" sz="3600" dirty="0"/>
          </a:p>
        </p:txBody>
      </p:sp>
      <p:pic>
        <p:nvPicPr>
          <p:cNvPr id="5" name="Picture 4"/>
          <p:cNvPicPr/>
          <p:nvPr/>
        </p:nvPicPr>
        <p:blipFill>
          <a:blip r:embed="rId2">
            <a:extLst>
              <a:ext uri="{28A0092B-C50C-407E-A947-70E740481C1C}">
                <a14:useLocalDpi xmlns="" xmlns:a14="http://schemas.microsoft.com/office/drawing/2010/main" val="0"/>
              </a:ext>
            </a:extLst>
          </a:blip>
          <a:stretch>
            <a:fillRect/>
          </a:stretch>
        </p:blipFill>
        <p:spPr>
          <a:xfrm>
            <a:off x="0" y="1"/>
            <a:ext cx="1505243" cy="1390917"/>
          </a:xfrm>
          <a:prstGeom prst="rect">
            <a:avLst/>
          </a:prstGeom>
        </p:spPr>
      </p:pic>
      <p:graphicFrame>
        <p:nvGraphicFramePr>
          <p:cNvPr id="6" name="Content Placeholder 5"/>
          <p:cNvGraphicFramePr>
            <a:graphicFrameLocks noGrp="1"/>
          </p:cNvGraphicFramePr>
          <p:nvPr>
            <p:ph idx="1"/>
            <p:extLst>
              <p:ext uri="{D42A27DB-BD31-4B8C-83A1-F6EECF244321}">
                <p14:modId xmlns="" xmlns:p14="http://schemas.microsoft.com/office/powerpoint/2010/main" val="2853987084"/>
              </p:ext>
            </p:extLst>
          </p:nvPr>
        </p:nvGraphicFramePr>
        <p:xfrm>
          <a:off x="0" y="1390918"/>
          <a:ext cx="12192000" cy="546708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 xmlns:p14="http://schemas.microsoft.com/office/powerpoint/2010/main" val="21658611"/>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5243" y="1"/>
            <a:ext cx="10686757" cy="1390917"/>
          </a:xfrm>
          <a:solidFill>
            <a:schemeClr val="accent1"/>
          </a:solidFill>
        </p:spPr>
        <p:txBody>
          <a:bodyPr>
            <a:noAutofit/>
          </a:bodyPr>
          <a:lstStyle/>
          <a:p>
            <a:r>
              <a:rPr lang="en-US" sz="3600" dirty="0" smtClean="0"/>
              <a:t>3.c.1: Health worker density and distribution (per 10,000 population)</a:t>
            </a:r>
            <a:endParaRPr lang="en-US" sz="3600" dirty="0"/>
          </a:p>
        </p:txBody>
      </p:sp>
      <p:pic>
        <p:nvPicPr>
          <p:cNvPr id="5" name="Picture 4"/>
          <p:cNvPicPr/>
          <p:nvPr/>
        </p:nvPicPr>
        <p:blipFill>
          <a:blip r:embed="rId2">
            <a:extLst>
              <a:ext uri="{28A0092B-C50C-407E-A947-70E740481C1C}">
                <a14:useLocalDpi xmlns="" xmlns:a14="http://schemas.microsoft.com/office/drawing/2010/main" val="0"/>
              </a:ext>
            </a:extLst>
          </a:blip>
          <a:stretch>
            <a:fillRect/>
          </a:stretch>
        </p:blipFill>
        <p:spPr>
          <a:xfrm>
            <a:off x="0" y="1"/>
            <a:ext cx="1505243" cy="1390917"/>
          </a:xfrm>
          <a:prstGeom prst="rect">
            <a:avLst/>
          </a:prstGeom>
        </p:spPr>
      </p:pic>
      <p:graphicFrame>
        <p:nvGraphicFramePr>
          <p:cNvPr id="6" name="Content Placeholder 5"/>
          <p:cNvGraphicFramePr>
            <a:graphicFrameLocks noGrp="1"/>
          </p:cNvGraphicFramePr>
          <p:nvPr>
            <p:ph idx="1"/>
            <p:extLst/>
          </p:nvPr>
        </p:nvGraphicFramePr>
        <p:xfrm>
          <a:off x="239151" y="1603718"/>
          <a:ext cx="11718387" cy="506436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 xmlns:p14="http://schemas.microsoft.com/office/powerpoint/2010/main" val="2994558141"/>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5243" y="1"/>
            <a:ext cx="10686757" cy="1390917"/>
          </a:xfrm>
          <a:solidFill>
            <a:schemeClr val="accent1"/>
          </a:solidFill>
        </p:spPr>
        <p:txBody>
          <a:bodyPr>
            <a:noAutofit/>
          </a:bodyPr>
          <a:lstStyle/>
          <a:p>
            <a:r>
              <a:rPr lang="en-US" sz="3600" dirty="0" smtClean="0"/>
              <a:t>3.d.1: International Health Regulations (IHR) capacity and health emergency preparedness</a:t>
            </a:r>
            <a:endParaRPr lang="en-US" sz="3600" dirty="0"/>
          </a:p>
        </p:txBody>
      </p:sp>
      <p:pic>
        <p:nvPicPr>
          <p:cNvPr id="5" name="Picture 4"/>
          <p:cNvPicPr/>
          <p:nvPr/>
        </p:nvPicPr>
        <p:blipFill>
          <a:blip r:embed="rId2">
            <a:extLst>
              <a:ext uri="{28A0092B-C50C-407E-A947-70E740481C1C}">
                <a14:useLocalDpi xmlns="" xmlns:a14="http://schemas.microsoft.com/office/drawing/2010/main" val="0"/>
              </a:ext>
            </a:extLst>
          </a:blip>
          <a:stretch>
            <a:fillRect/>
          </a:stretch>
        </p:blipFill>
        <p:spPr>
          <a:xfrm>
            <a:off x="0" y="1"/>
            <a:ext cx="1505243" cy="1390917"/>
          </a:xfrm>
          <a:prstGeom prst="rect">
            <a:avLst/>
          </a:prstGeom>
        </p:spPr>
      </p:pic>
      <p:graphicFrame>
        <p:nvGraphicFramePr>
          <p:cNvPr id="7" name="Content Placeholder 6"/>
          <p:cNvGraphicFramePr>
            <a:graphicFrameLocks noGrp="1"/>
          </p:cNvGraphicFramePr>
          <p:nvPr>
            <p:ph idx="1"/>
            <p:extLst/>
          </p:nvPr>
        </p:nvGraphicFramePr>
        <p:xfrm>
          <a:off x="140677" y="1603717"/>
          <a:ext cx="11859065" cy="510657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 xmlns:p14="http://schemas.microsoft.com/office/powerpoint/2010/main" val="3611209264"/>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2"/>
          <p:cNvSpPr>
            <a:spLocks noGrp="1"/>
          </p:cNvSpPr>
          <p:nvPr>
            <p:ph idx="1"/>
          </p:nvPr>
        </p:nvSpPr>
        <p:spPr>
          <a:xfrm>
            <a:off x="5357611" y="420915"/>
            <a:ext cx="6834389" cy="6226628"/>
          </a:xfrm>
          <a:solidFill>
            <a:schemeClr val="accent2"/>
          </a:solidFill>
        </p:spPr>
        <p:txBody>
          <a:bodyPr>
            <a:normAutofit/>
          </a:bodyPr>
          <a:lstStyle/>
          <a:p>
            <a:pPr algn="just" eaLnBrk="1" hangingPunct="1">
              <a:buNone/>
            </a:pPr>
            <a:r>
              <a:rPr lang="en-US" sz="2902" b="1" dirty="0">
                <a:solidFill>
                  <a:schemeClr val="accent3">
                    <a:lumMod val="50000"/>
                  </a:schemeClr>
                </a:solidFill>
              </a:rPr>
              <a:t>	"Let us together create a world that can eradicate poverty, hunger, war and human sufferings and achieve global peace and security for the well being of humanity."</a:t>
            </a:r>
          </a:p>
          <a:p>
            <a:pPr algn="r" eaLnBrk="1" hangingPunct="1">
              <a:buNone/>
            </a:pPr>
            <a:r>
              <a:rPr lang="en-US" sz="2902" b="1" i="1" dirty="0" err="1">
                <a:solidFill>
                  <a:srgbClr val="C00000"/>
                </a:solidFill>
              </a:rPr>
              <a:t>Bangabandhu</a:t>
            </a:r>
            <a:r>
              <a:rPr lang="en-US" sz="2902" b="1" i="1" dirty="0">
                <a:solidFill>
                  <a:srgbClr val="C00000"/>
                </a:solidFill>
              </a:rPr>
              <a:t> Sheikh </a:t>
            </a:r>
            <a:r>
              <a:rPr lang="en-US" sz="2902" b="1" i="1" dirty="0" err="1">
                <a:solidFill>
                  <a:srgbClr val="C00000"/>
                </a:solidFill>
              </a:rPr>
              <a:t>Mujibur</a:t>
            </a:r>
            <a:r>
              <a:rPr lang="en-US" sz="2902" b="1" i="1" dirty="0">
                <a:solidFill>
                  <a:srgbClr val="C00000"/>
                </a:solidFill>
              </a:rPr>
              <a:t> Rahman, </a:t>
            </a:r>
          </a:p>
          <a:p>
            <a:pPr marL="0" indent="0" algn="r">
              <a:buNone/>
            </a:pPr>
            <a:r>
              <a:rPr lang="en-US" sz="2902" b="1" i="1" dirty="0">
                <a:solidFill>
                  <a:srgbClr val="C00000"/>
                </a:solidFill>
              </a:rPr>
              <a:t>Founding Father of Bangladesh</a:t>
            </a:r>
          </a:p>
          <a:p>
            <a:pPr marL="0" indent="0" algn="ctr">
              <a:buNone/>
            </a:pPr>
            <a:endParaRPr lang="en-US" sz="1632" b="1" i="1" dirty="0">
              <a:solidFill>
                <a:srgbClr val="C00000"/>
              </a:solidFill>
            </a:endParaRPr>
          </a:p>
          <a:p>
            <a:pPr algn="ctr" eaLnBrk="1" hangingPunct="1">
              <a:buFont typeface="Arial" charset="0"/>
              <a:buNone/>
            </a:pPr>
            <a:endParaRPr lang="en-US" sz="2539" b="1" dirty="0">
              <a:solidFill>
                <a:schemeClr val="accent3">
                  <a:lumMod val="50000"/>
                </a:schemeClr>
              </a:solidFill>
            </a:endParaRPr>
          </a:p>
          <a:p>
            <a:pPr algn="ctr" eaLnBrk="1" hangingPunct="1">
              <a:buFont typeface="Arial" charset="0"/>
              <a:buNone/>
            </a:pPr>
            <a:endParaRPr lang="en-US" sz="2176" b="1" dirty="0">
              <a:solidFill>
                <a:schemeClr val="accent3">
                  <a:lumMod val="50000"/>
                </a:schemeClr>
              </a:solidFill>
            </a:endParaRPr>
          </a:p>
        </p:txBody>
      </p:sp>
      <p:sp>
        <p:nvSpPr>
          <p:cNvPr id="3" name="Slide Number Placeholder 2"/>
          <p:cNvSpPr>
            <a:spLocks noGrp="1"/>
          </p:cNvSpPr>
          <p:nvPr>
            <p:ph type="sldNum" sz="quarter" idx="12"/>
          </p:nvPr>
        </p:nvSpPr>
        <p:spPr/>
        <p:txBody>
          <a:bodyPr/>
          <a:lstStyle/>
          <a:p>
            <a:pPr>
              <a:defRPr/>
            </a:pPr>
            <a:fld id="{5D919D77-3D50-4BDD-B5A0-76D17DAAD287}" type="slidenum">
              <a:rPr lang="en-US" smtClean="0"/>
              <a:pPr>
                <a:defRPr/>
              </a:pPr>
              <a:t>79</a:t>
            </a:fld>
            <a:endParaRPr lang="en-US"/>
          </a:p>
        </p:txBody>
      </p:sp>
      <p:pic>
        <p:nvPicPr>
          <p:cNvPr id="4" name="Picture 3"/>
          <p:cNvPicPr>
            <a:picLocks noChangeAspect="1"/>
          </p:cNvPicPr>
          <p:nvPr/>
        </p:nvPicPr>
        <p:blipFill>
          <a:blip r:embed="rId2"/>
          <a:stretch>
            <a:fillRect/>
          </a:stretch>
        </p:blipFill>
        <p:spPr>
          <a:xfrm>
            <a:off x="0" y="1"/>
            <a:ext cx="5357611" cy="6857999"/>
          </a:xfrm>
          <a:prstGeom prst="rect">
            <a:avLst/>
          </a:prstGeom>
        </p:spPr>
      </p:pic>
      <p:pic>
        <p:nvPicPr>
          <p:cNvPr id="110595" name="Picture 3" descr="C:\Users\USER\Desktop\download.jpg"/>
          <p:cNvPicPr>
            <a:picLocks noChangeAspect="1" noChangeArrowheads="1"/>
          </p:cNvPicPr>
          <p:nvPr/>
        </p:nvPicPr>
        <p:blipFill>
          <a:blip r:embed="rId3"/>
          <a:srcRect/>
          <a:stretch>
            <a:fillRect/>
          </a:stretch>
        </p:blipFill>
        <p:spPr bwMode="auto">
          <a:xfrm>
            <a:off x="7707086" y="3730171"/>
            <a:ext cx="3541486" cy="2838450"/>
          </a:xfrm>
          <a:prstGeom prst="rect">
            <a:avLst/>
          </a:prstGeom>
          <a:noFill/>
        </p:spPr>
      </p:pic>
    </p:spTree>
    <p:extLst>
      <p:ext uri="{BB962C8B-B14F-4D97-AF65-F5344CB8AC3E}">
        <p14:creationId xmlns="" xmlns:p14="http://schemas.microsoft.com/office/powerpoint/2010/main" val="385208567"/>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3"/>
          <p:cNvPicPr>
            <a:picLocks noChangeAspect="1"/>
          </p:cNvPicPr>
          <p:nvPr/>
        </p:nvPicPr>
        <p:blipFill>
          <a:blip r:embed="rId2"/>
          <a:stretch>
            <a:fillRect/>
          </a:stretch>
        </p:blipFill>
        <p:spPr>
          <a:xfrm>
            <a:off x="290282" y="0"/>
            <a:ext cx="11428612" cy="6847914"/>
          </a:xfrm>
          <a:prstGeom prst="rect">
            <a:avLst/>
          </a:prstGeom>
        </p:spPr>
      </p:pic>
      <p:graphicFrame>
        <p:nvGraphicFramePr>
          <p:cNvPr id="8" name="Content Placeholder 7"/>
          <p:cNvGraphicFramePr>
            <a:graphicFrameLocks noGrp="1"/>
          </p:cNvGraphicFramePr>
          <p:nvPr>
            <p:ph idx="1"/>
          </p:nvPr>
        </p:nvGraphicFramePr>
        <p:xfrm>
          <a:off x="838200" y="1825625"/>
          <a:ext cx="10515600" cy="1798320"/>
        </p:xfrm>
        <a:graphic>
          <a:graphicData uri="http://schemas.openxmlformats.org/drawingml/2006/table">
            <a:tbl>
              <a:tblPr firstRow="1" bandRow="1">
                <a:tableStyleId>{2D5ABB26-0587-4C30-8999-92F81FD0307C}</a:tableStyleId>
              </a:tblPr>
              <a:tblGrid>
                <a:gridCol w="10515600"/>
              </a:tblGrid>
              <a:tr h="370840">
                <a:tc>
                  <a:txBody>
                    <a:bodyPr/>
                    <a:lstStyle/>
                    <a:p>
                      <a:r>
                        <a:rPr lang="en-US" sz="2800" kern="1200" dirty="0" smtClean="0">
                          <a:solidFill>
                            <a:schemeClr val="bg1"/>
                          </a:solidFill>
                        </a:rPr>
                        <a:t>The woods are lovely, dark and deep,</a:t>
                      </a:r>
                      <a:br>
                        <a:rPr lang="en-US" sz="2800" kern="1200" dirty="0" smtClean="0">
                          <a:solidFill>
                            <a:schemeClr val="bg1"/>
                          </a:solidFill>
                        </a:rPr>
                      </a:br>
                      <a:r>
                        <a:rPr lang="en-US" sz="2800" kern="1200" dirty="0" smtClean="0">
                          <a:solidFill>
                            <a:schemeClr val="bg1"/>
                          </a:solidFill>
                        </a:rPr>
                        <a:t>But I have promises to keep,</a:t>
                      </a:r>
                      <a:br>
                        <a:rPr lang="en-US" sz="2800" kern="1200" dirty="0" smtClean="0">
                          <a:solidFill>
                            <a:schemeClr val="bg1"/>
                          </a:solidFill>
                        </a:rPr>
                      </a:br>
                      <a:r>
                        <a:rPr lang="en-US" sz="2800" kern="1200" dirty="0" smtClean="0">
                          <a:solidFill>
                            <a:schemeClr val="bg1"/>
                          </a:solidFill>
                        </a:rPr>
                        <a:t>And miles to go before I sleep,</a:t>
                      </a:r>
                      <a:br>
                        <a:rPr lang="en-US" sz="2800" kern="1200" dirty="0" smtClean="0">
                          <a:solidFill>
                            <a:schemeClr val="bg1"/>
                          </a:solidFill>
                        </a:rPr>
                      </a:br>
                      <a:r>
                        <a:rPr lang="en-US" sz="2800" kern="1200" dirty="0" smtClean="0">
                          <a:solidFill>
                            <a:schemeClr val="bg1"/>
                          </a:solidFill>
                        </a:rPr>
                        <a:t>And miles to go before I sleep.</a:t>
                      </a:r>
                      <a:r>
                        <a:rPr lang="en-US" sz="2800" dirty="0" smtClean="0">
                          <a:solidFill>
                            <a:schemeClr val="bg1"/>
                          </a:solidFill>
                        </a:rPr>
                        <a:t> </a:t>
                      </a:r>
                      <a:endParaRPr lang="en-US" sz="2800" dirty="0">
                        <a:solidFill>
                          <a:schemeClr val="bg1"/>
                        </a:solidFill>
                      </a:endParaRPr>
                    </a:p>
                  </a:txBody>
                  <a:tcPr/>
                </a:tc>
              </a:tr>
            </a:tbl>
          </a:graphicData>
        </a:graphic>
      </p:graphicFrame>
      <p:sp>
        <p:nvSpPr>
          <p:cNvPr id="9" name="TextBox 8"/>
          <p:cNvSpPr txBox="1"/>
          <p:nvPr/>
        </p:nvSpPr>
        <p:spPr>
          <a:xfrm>
            <a:off x="4997631" y="4775200"/>
            <a:ext cx="4491385" cy="650499"/>
          </a:xfrm>
          <a:prstGeom prst="rect">
            <a:avLst/>
          </a:prstGeom>
          <a:noFill/>
        </p:spPr>
        <p:txBody>
          <a:bodyPr wrap="square" rtlCol="0">
            <a:spAutoFit/>
          </a:bodyPr>
          <a:lstStyle/>
          <a:p>
            <a:pPr algn="ctr"/>
            <a:r>
              <a:rPr lang="en-US" sz="3627" b="1" dirty="0">
                <a:solidFill>
                  <a:srgbClr val="FF0000"/>
                </a:solidFill>
              </a:rPr>
              <a:t>THANK YOU ALL</a:t>
            </a:r>
            <a:endParaRPr lang="en-US" sz="1632" b="1" dirty="0">
              <a:solidFill>
                <a:srgbClr val="FF0000"/>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3086</TotalTime>
  <Words>4273</Words>
  <Application>Microsoft Office PowerPoint</Application>
  <PresentationFormat>Custom</PresentationFormat>
  <Paragraphs>593</Paragraphs>
  <Slides>80</Slides>
  <Notes>8</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80</vt:i4>
      </vt:variant>
    </vt:vector>
  </HeadingPairs>
  <TitlesOfParts>
    <vt:vector size="82" baseType="lpstr">
      <vt:lpstr>Office Theme</vt:lpstr>
      <vt:lpstr>Clip</vt:lpstr>
      <vt:lpstr>Achievement of MDGs and Adaptation of SDGs: Context Bangladesh </vt:lpstr>
      <vt:lpstr>Eight Millennium Development Goals </vt:lpstr>
      <vt:lpstr>Slide 3</vt:lpstr>
      <vt:lpstr>Slide 4</vt:lpstr>
      <vt:lpstr>Goal 1: Eradicate Extreme Poverty &amp; Hunger</vt:lpstr>
      <vt:lpstr>Goal 2: Achieve Universal Primary Education</vt:lpstr>
      <vt:lpstr>Goal 3: Promote Gender Equality and Empower Women</vt:lpstr>
      <vt:lpstr>Goal 4: Reduce Child Mortality</vt:lpstr>
      <vt:lpstr>Long term IMR and U5MR of Bangladesh  </vt:lpstr>
      <vt:lpstr>Goal 5: Improve Maternal Health</vt:lpstr>
      <vt:lpstr>MMR and Birth attended by Skilled HP</vt:lpstr>
      <vt:lpstr>Goal 6: Combat HIV/AIDS, Malaria and Other Diseases</vt:lpstr>
      <vt:lpstr>Goal 7: Ensure Environmental Sustainability</vt:lpstr>
      <vt:lpstr>Goal 8: Develop a Global Partnership for Development</vt:lpstr>
      <vt:lpstr>Area of Attention Required for Fulfilling the unfinished MDGs</vt:lpstr>
      <vt:lpstr>The SDGs are …</vt:lpstr>
      <vt:lpstr>Slide 17</vt:lpstr>
      <vt:lpstr>MDGs versus SDGs</vt:lpstr>
      <vt:lpstr>Slide 19</vt:lpstr>
      <vt:lpstr>SDG # 1: End poverty in all its forms everywhere</vt:lpstr>
      <vt:lpstr> SDG # 2: End hunger, achieve food security and improved nutrition  and promote sustainable agriculture </vt:lpstr>
      <vt:lpstr> SDG # 3: Ensure healthy lives and promote well-being for all at all ages </vt:lpstr>
      <vt:lpstr> SDG # 4: Ensure inclusive and equitable quality education and promote lifelong learning opportunities for all </vt:lpstr>
      <vt:lpstr> SDG # 5: Achieve gender equality and empower all women and girls </vt:lpstr>
      <vt:lpstr> SDG # 6: Ensure availability and Sustainable management of water and sanitation for all </vt:lpstr>
      <vt:lpstr>SDG # 7: Ensure access to affordable, reliable, sustainable and modern energy for all</vt:lpstr>
      <vt:lpstr> SDG # 8: Promote sustained, inclusive and sustainable economic growth, full and productive employment and decent work for all </vt:lpstr>
      <vt:lpstr> SDG # 9: Build resilient infrastructure, promote inclusive and sustainable industrialization and foster innovation </vt:lpstr>
      <vt:lpstr> SDG # 10: Reduce inequality within and among countries </vt:lpstr>
      <vt:lpstr> SDG # 11: Make cities and human settlements  inclusive, safe, resilient and sustainable </vt:lpstr>
      <vt:lpstr> SDG # 12: Ensure sustainable consumption and production patterns </vt:lpstr>
      <vt:lpstr> SDG # 13: Take urgent action to combat climate change and its impacts </vt:lpstr>
      <vt:lpstr> SDG # 14: Conserve and sustainably use the oceans, seas and marine resources for sustainable development  </vt:lpstr>
      <vt:lpstr> SDG # 15: Protect, restore and promote sustainable use of terrestrial ecosystems, sustainably manage forests, combat desertification, and halt and reverse land degradation, and halt biodiversity loss  </vt:lpstr>
      <vt:lpstr>SDG # 16: Promote peaceful and inclusive societies for sustainable development, provide access to justice for all and build effective, accountable and inclusive institutions at all levels</vt:lpstr>
      <vt:lpstr> SDG # 17: Strengthen the means of implementation and revitalize the global partnership for sustainable development </vt:lpstr>
      <vt:lpstr>Slide 37</vt:lpstr>
      <vt:lpstr>Slide 38</vt:lpstr>
      <vt:lpstr>SDGs as a Network of Targets </vt:lpstr>
      <vt:lpstr>SDG # 3: Targets (13 including 4 MoI)</vt:lpstr>
      <vt:lpstr>Slide 41</vt:lpstr>
      <vt:lpstr>Slide 42</vt:lpstr>
      <vt:lpstr>Alignment of SDGs with 7th FYP</vt:lpstr>
      <vt:lpstr>Alignment of SDGs with 7th FYP (contd)</vt:lpstr>
      <vt:lpstr>Sustainable Development Goals (SDGs): Roadmap for Bangladesh for Implementing Agenda 2030</vt:lpstr>
      <vt:lpstr>SDG # 3: Data Availability (27 indicators) </vt:lpstr>
      <vt:lpstr>Synergies, Trade off and enablers among Targets of SDGs </vt:lpstr>
      <vt:lpstr>Mapping of Ministries/Divisions by SDG Targets</vt:lpstr>
      <vt:lpstr>SDG Mapping (Who to do what)</vt:lpstr>
      <vt:lpstr>Lead Ministries/Divisions for Implementing SDGs</vt:lpstr>
      <vt:lpstr>Co-Lead Ministries/Divisions for Implementing SDGs</vt:lpstr>
      <vt:lpstr>Slide 52</vt:lpstr>
      <vt:lpstr>2.2.1 Prevalence of stunting among children under 5 years of age</vt:lpstr>
      <vt:lpstr>Slide 54</vt:lpstr>
      <vt:lpstr>3.1.1: Maternal mortality ratio (per 100,000 LB)</vt:lpstr>
      <vt:lpstr>3.1.2:Proportion of births attended by skilled health personnel </vt:lpstr>
      <vt:lpstr>3.2.2: Neonatal mortality rate (per 1000 LB)</vt:lpstr>
      <vt:lpstr>3.3.1: Number of new HIV infections per 1,000 uninfected population, by sex</vt:lpstr>
      <vt:lpstr>3.3.2: Tuberculosis incidence per 100,000 population</vt:lpstr>
      <vt:lpstr>3.3.3: Malaria incidence per 1,000 population</vt:lpstr>
      <vt:lpstr>3.3.4: Hepatitis B incidence per 100,000 population</vt:lpstr>
      <vt:lpstr>3.3.5: Number of people requiring interventions against neglected tropical diseases </vt:lpstr>
      <vt:lpstr>3.4.1: Mortality rate attributed to cardiovascular disease, cancer, diabetes or chronic respiratory disease</vt:lpstr>
      <vt:lpstr>3.4.2: Suicide mortality rate (per 100,000 population)  </vt:lpstr>
      <vt:lpstr>3.5.2: Harmful use of alcohol, defined according to the national context as alcohol per capita consumption (aged 15 years and older) within a calendar year in litres of pure alcohol </vt:lpstr>
      <vt:lpstr>3.6.1: Death rate due to road traffic injuries</vt:lpstr>
      <vt:lpstr>3.7.1: Proportion of women of reproductive age (aged 15-49 years) who have their need for family planning satisfied with modern methods</vt:lpstr>
      <vt:lpstr>3.7.2: Adolescent birth rate (aged 10-14 years; aged 15-19 years) per 1,000 women in that age group </vt:lpstr>
      <vt:lpstr>3.8.1 Coverage of essential health services (defined as the average coverage of essential services based on tracer interventions that include reproductive, maternal, new-born and child health, infectious diseases, non-communicable diseases and service capacity and access, among the general and the most disadvantaged population)</vt:lpstr>
      <vt:lpstr>3.8.2: Number of people covered by health insurance or a public health system per 1,000 population </vt:lpstr>
      <vt:lpstr>3.9.1: Mortality rate attributed to household and ambient air pollution (per 100000 population)</vt:lpstr>
      <vt:lpstr>3.9.2: Mortality rate attributed to unsafe water, unsafe sanitation and lack of hygiene (per 100,000 population)</vt:lpstr>
      <vt:lpstr>3.9.3:  Mortality rate attributed to unintentional poisoning (per 100,000 population)</vt:lpstr>
      <vt:lpstr>3.a.1: Age-standardized prevalence of current tobacco use among persons aged 15 years and older</vt:lpstr>
      <vt:lpstr>3.b.1: Proportion of the population with access to affordable medicines and vaccines on a sustainable basis </vt:lpstr>
      <vt:lpstr>3.b.2: Total net official development assistance to medical research and basic health sectors</vt:lpstr>
      <vt:lpstr>3.c.1: Health worker density and distribution (per 10,000 population)</vt:lpstr>
      <vt:lpstr>3.d.1: International Health Regulations (IHR) capacity and health emergency preparedness</vt:lpstr>
      <vt:lpstr>Slide 79</vt:lpstr>
      <vt:lpstr>Slide 80</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Achievement of MDGs and Adaptation of SDGs: Context Bangladesh</dc:title>
  <dc:creator>User</dc:creator>
  <cp:lastModifiedBy>USER</cp:lastModifiedBy>
  <cp:revision>173</cp:revision>
  <dcterms:created xsi:type="dcterms:W3CDTF">2016-12-25T04:16:03Z</dcterms:created>
  <dcterms:modified xsi:type="dcterms:W3CDTF">2018-05-14T01:39:03Z</dcterms:modified>
</cp:coreProperties>
</file>