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5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6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  <p:sldMasterId id="2147484020" r:id="rId3"/>
    <p:sldMasterId id="2147484036" r:id="rId4"/>
    <p:sldMasterId id="2147484052" r:id="rId5"/>
    <p:sldMasterId id="2147484068" r:id="rId6"/>
    <p:sldMasterId id="2147484084" r:id="rId7"/>
  </p:sldMasterIdLst>
  <p:notesMasterIdLst>
    <p:notesMasterId r:id="rId72"/>
  </p:notesMasterIdLst>
  <p:sldIdLst>
    <p:sldId id="331" r:id="rId8"/>
    <p:sldId id="345" r:id="rId9"/>
    <p:sldId id="367" r:id="rId10"/>
    <p:sldId id="332" r:id="rId11"/>
    <p:sldId id="376" r:id="rId12"/>
    <p:sldId id="401" r:id="rId13"/>
    <p:sldId id="402" r:id="rId14"/>
    <p:sldId id="368" r:id="rId15"/>
    <p:sldId id="374" r:id="rId16"/>
    <p:sldId id="341" r:id="rId17"/>
    <p:sldId id="334" r:id="rId18"/>
    <p:sldId id="337" r:id="rId19"/>
    <p:sldId id="338" r:id="rId20"/>
    <p:sldId id="403" r:id="rId21"/>
    <p:sldId id="339" r:id="rId22"/>
    <p:sldId id="404" r:id="rId23"/>
    <p:sldId id="340" r:id="rId24"/>
    <p:sldId id="405" r:id="rId25"/>
    <p:sldId id="386" r:id="rId26"/>
    <p:sldId id="385" r:id="rId27"/>
    <p:sldId id="388" r:id="rId28"/>
    <p:sldId id="343" r:id="rId29"/>
    <p:sldId id="256" r:id="rId30"/>
    <p:sldId id="360" r:id="rId31"/>
    <p:sldId id="361" r:id="rId32"/>
    <p:sldId id="359" r:id="rId33"/>
    <p:sldId id="326" r:id="rId34"/>
    <p:sldId id="327" r:id="rId35"/>
    <p:sldId id="328" r:id="rId36"/>
    <p:sldId id="352" r:id="rId37"/>
    <p:sldId id="351" r:id="rId38"/>
    <p:sldId id="346" r:id="rId39"/>
    <p:sldId id="362" r:id="rId40"/>
    <p:sldId id="369" r:id="rId41"/>
    <p:sldId id="287" r:id="rId42"/>
    <p:sldId id="288" r:id="rId43"/>
    <p:sldId id="290" r:id="rId44"/>
    <p:sldId id="291" r:id="rId45"/>
    <p:sldId id="292" r:id="rId46"/>
    <p:sldId id="308" r:id="rId47"/>
    <p:sldId id="323" r:id="rId48"/>
    <p:sldId id="312" r:id="rId49"/>
    <p:sldId id="366" r:id="rId50"/>
    <p:sldId id="363" r:id="rId51"/>
    <p:sldId id="364" r:id="rId52"/>
    <p:sldId id="370" r:id="rId53"/>
    <p:sldId id="372" r:id="rId54"/>
    <p:sldId id="371" r:id="rId55"/>
    <p:sldId id="297" r:id="rId56"/>
    <p:sldId id="293" r:id="rId57"/>
    <p:sldId id="294" r:id="rId58"/>
    <p:sldId id="330" r:id="rId59"/>
    <p:sldId id="389" r:id="rId60"/>
    <p:sldId id="390" r:id="rId61"/>
    <p:sldId id="391" r:id="rId62"/>
    <p:sldId id="392" r:id="rId63"/>
    <p:sldId id="393" r:id="rId64"/>
    <p:sldId id="394" r:id="rId65"/>
    <p:sldId id="395" r:id="rId66"/>
    <p:sldId id="396" r:id="rId67"/>
    <p:sldId id="399" r:id="rId68"/>
    <p:sldId id="400" r:id="rId69"/>
    <p:sldId id="398" r:id="rId70"/>
    <p:sldId id="344" r:id="rId71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9" autoAdjust="0"/>
    <p:restoredTop sz="91815" autoAdjust="0"/>
  </p:normalViewPr>
  <p:slideViewPr>
    <p:cSldViewPr>
      <p:cViewPr>
        <p:scale>
          <a:sx n="70" d="100"/>
          <a:sy n="70" d="100"/>
        </p:scale>
        <p:origin x="-1614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76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slide" Target="slides/slide59.xml"/><Relationship Id="rId7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61" Type="http://schemas.openxmlformats.org/officeDocument/2006/relationships/slide" Target="slides/slide54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tableStyles" Target="tableStyle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8175232"/>
        <c:axId val="248295808"/>
      </c:barChart>
      <c:catAx>
        <c:axId val="2481752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48295808"/>
        <c:crosses val="autoZero"/>
        <c:auto val="1"/>
        <c:lblAlgn val="ctr"/>
        <c:lblOffset val="100"/>
        <c:noMultiLvlLbl val="0"/>
      </c:catAx>
      <c:valAx>
        <c:axId val="24829580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4817523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8626176"/>
        <c:axId val="248627968"/>
      </c:barChart>
      <c:catAx>
        <c:axId val="2486261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48627968"/>
        <c:crosses val="autoZero"/>
        <c:auto val="1"/>
        <c:lblAlgn val="ctr"/>
        <c:lblOffset val="100"/>
        <c:noMultiLvlLbl val="0"/>
      </c:catAx>
      <c:valAx>
        <c:axId val="24862796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4862617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0934240566213921"/>
          <c:y val="5.0614472425046991E-2"/>
          <c:w val="0.87051107128595528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923E-3"/>
                  <c:y val="-5.5772496453609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28E-3"/>
                  <c:y val="-4.439834707345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097E-3"/>
                  <c:y val="-4.2678193293723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229E-3"/>
                  <c:y val="-5.22004070639995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075E-3"/>
                  <c:y val="-3.4406776176476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  <c:pt idx="6">
                  <c:v>1578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248396416"/>
        <c:axId val="248402304"/>
        <c:axId val="0"/>
      </c:bar3DChart>
      <c:catAx>
        <c:axId val="2483964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48402304"/>
        <c:crosses val="autoZero"/>
        <c:auto val="1"/>
        <c:lblAlgn val="ctr"/>
        <c:lblOffset val="100"/>
        <c:noMultiLvlLbl val="0"/>
      </c:catAx>
      <c:valAx>
        <c:axId val="24840230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4839641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709</c:v>
                </c:pt>
                <c:pt idx="1">
                  <c:v>766</c:v>
                </c:pt>
                <c:pt idx="2">
                  <c:v>835</c:v>
                </c:pt>
                <c:pt idx="3">
                  <c:v>876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1127</c:v>
                </c:pt>
                <c:pt idx="1">
                  <c:v>923</c:v>
                </c:pt>
                <c:pt idx="2">
                  <c:v>1595</c:v>
                </c:pt>
                <c:pt idx="3">
                  <c:v>1493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848</c:v>
                </c:pt>
                <c:pt idx="1">
                  <c:v>806</c:v>
                </c:pt>
                <c:pt idx="2">
                  <c:v>1123</c:v>
                </c:pt>
                <c:pt idx="3">
                  <c:v>1297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Sheet1!$E$2:$E$5</c:f>
              <c:numCache>
                <c:formatCode>General</c:formatCode>
                <c:ptCount val="4"/>
                <c:pt idx="0">
                  <c:v>2684</c:v>
                </c:pt>
                <c:pt idx="1">
                  <c:v>2495</c:v>
                </c:pt>
                <c:pt idx="2">
                  <c:v>3553</c:v>
                </c:pt>
                <c:pt idx="3">
                  <c:v>3666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8369920"/>
        <c:axId val="248371456"/>
      </c:barChart>
      <c:catAx>
        <c:axId val="2483699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48371456"/>
        <c:crosses val="autoZero"/>
        <c:auto val="1"/>
        <c:lblAlgn val="ctr"/>
        <c:lblOffset val="100"/>
        <c:noMultiLvlLbl val="0"/>
      </c:catAx>
      <c:valAx>
        <c:axId val="24837145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4836992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314925161381854"/>
          <c:y val="0.34423591178275209"/>
          <c:w val="0.20784173937717243"/>
          <c:h val="0.46305371917534455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8486912"/>
        <c:axId val="248517376"/>
      </c:barChart>
      <c:catAx>
        <c:axId val="248486912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48517376"/>
        <c:crosses val="autoZero"/>
        <c:auto val="1"/>
        <c:lblAlgn val="ctr"/>
        <c:lblOffset val="100"/>
        <c:noMultiLvlLbl val="0"/>
      </c:catAx>
      <c:valAx>
        <c:axId val="2485173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4848691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Sheet1!$B$2:$B$4</c:f>
              <c:numCache>
                <c:formatCode>#,##0</c:formatCode>
                <c:ptCount val="3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48547584"/>
        <c:axId val="248995840"/>
        <c:axId val="0"/>
      </c:bar3DChart>
      <c:catAx>
        <c:axId val="2485475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48995840"/>
        <c:crosses val="autoZero"/>
        <c:auto val="1"/>
        <c:lblAlgn val="ctr"/>
        <c:lblOffset val="100"/>
        <c:noMultiLvlLbl val="0"/>
      </c:catAx>
      <c:valAx>
        <c:axId val="248995840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248547584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8/12/2018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0024" y="697230"/>
            <a:ext cx="4670354" cy="3484537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368612D-96C9-46AB-852D-A011AE381F4F}" type="slidenum">
              <a:rPr lang="en-US">
                <a:solidFill>
                  <a:prstClr val="black"/>
                </a:solidFill>
              </a:rPr>
              <a:pPr eaLnBrk="1" hangingPunct="1"/>
              <a:t>7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10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11</a:t>
            </a:fld>
            <a:endParaRPr lang="en-US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DB715A5-4E61-477B-B704-EE88266FC04A}" type="slidenum">
              <a:rPr lang="en-US">
                <a:solidFill>
                  <a:prstClr val="black"/>
                </a:solidFill>
              </a:rPr>
              <a:pPr eaLnBrk="1" hangingPunct="1"/>
              <a:t>14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0024" y="697230"/>
            <a:ext cx="4670354" cy="3484537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A4FD03C-E954-4298-9799-2404B990A5D5}" type="slidenum">
              <a:rPr lang="en-US" smtClean="0">
                <a:solidFill>
                  <a:srgbClr val="000000"/>
                </a:solidFill>
              </a:rPr>
              <a:pPr/>
              <a:t>15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5025" cy="34845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A57E1DA7-249B-46DE-8F30-D77A6589D084}" type="slidenum">
              <a:rPr lang="en-US">
                <a:solidFill>
                  <a:srgbClr val="000000"/>
                </a:solidFill>
              </a:rPr>
              <a:pPr eaLnBrk="1" hangingPunct="1"/>
              <a:t>16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0024" y="697230"/>
            <a:ext cx="4670354" cy="3484537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B394826D-A9C4-4BA0-A87A-E9ABADA5E2DC}" type="slidenum">
              <a:rPr lang="en-US">
                <a:solidFill>
                  <a:srgbClr val="000000"/>
                </a:solidFill>
              </a:rPr>
              <a:pPr eaLnBrk="1" hangingPunct="1"/>
              <a:t>18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5325"/>
            <a:ext cx="4648200" cy="348615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499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2E3C9E-3939-4A8F-BBFD-C7262509DA66}" type="slidenum">
              <a:rPr lang="en-US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21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365DA7-1AB3-4591-9A15-206B1C243C5B}" type="slidenum">
              <a:rPr lang="en-US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23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23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C9AF92-867A-466E-BC2E-768F9ED70BBF}" type="slidenum">
              <a:rPr lang="en-US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94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0024" y="697230"/>
            <a:ext cx="4670354" cy="3484537"/>
          </a:xfrm>
          <a:ln/>
        </p:spPr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33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52</a:t>
            </a:fld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64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 smtClean="0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2018/8/12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2018/8/12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2018/8/12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2018/8/12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2018/8/12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2018/8/12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2018/8/12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2018/8/12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 smtClean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2018/8/12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2018/8/12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2018/8/12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8/12/2018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8/12/2018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8/12/2018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8/12/2018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8/12/2018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8/12/2018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8/12/2018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8/12/2018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8/12/2018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8/12/2018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8/12/2018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0167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5317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1614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2117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4103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0295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4334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7354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4104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0349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7171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4900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0370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6692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5110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9329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7894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0380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5978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94685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23653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6194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9248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54874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8828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82383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19108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98269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69817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96528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6A3F1-EF86-44E9-81F6-A62E1C4C24E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78442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F727C-16E6-4F4E-956A-F96F4F070BC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90644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ED43A-835B-4492-A31D-D41EB4AF564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28283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BB3D6-0CB1-4A88-915A-1500123D3BC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15674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161EC-C45F-401A-86E6-6370C378017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7154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114C25-E776-484A-93AF-3BDE9E372EBE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9981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AF602-15AF-4BE3-8427-0771CD874DF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49690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22FEF-D821-40E8-891A-6F3297CBE87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988305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A833-17A2-464E-9C8A-A006BA5EEDD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50225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E8E34-AD64-48C5-B806-684B2685B0A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16398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87796-C39E-4D7F-AC3A-ECAA87DCE9A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99596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88955-7055-4548-BE6B-EBB131312AD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80475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31EEF-BB93-4B18-A267-73F4980A7A7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27879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424A4-FA87-4C6D-AD4F-E693B5E7665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09680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D1221-FDE0-48AD-A189-3A3A6EEF549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5072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9434DE-5D5F-40EF-A475-2C8A8435DCC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4149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4D03F0-2D78-4934-BB2D-7C19DE233CA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78288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75045-B0F9-4ADB-9E2A-0729109C7BF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09366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D049EB-5682-40BF-ADAA-C6F65144256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1645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F8F970-B86B-445C-B1A4-0091285E03F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21989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9F0CC-A0FD-4B55-BCD0-DDFD5A1F5F4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01274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96485-ED2D-4A8D-9056-080049D6ECF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62616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42230-4A56-41A5-98DD-C19772CD958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37245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B15A9-92DA-4585-A364-AC7029B14FE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771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46EC93-A0FE-44C2-B475-C69BD9081DC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28431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FA60B-CA96-4DD4-9A93-25F1AF0AE1E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8863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17EAA-B478-4C46-BA6C-C13AB81BBC2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06000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40C43-F592-470E-B2C4-9D0D94AC45D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20468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A6D0B-01F6-47CE-B557-9AF1994F5E7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438716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97B31A-D1D3-459B-9B51-C4900FC8903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44929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9434DE-5D5F-40EF-A475-2C8A8435DCC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40029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4D03F0-2D78-4934-BB2D-7C19DE233CA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68361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75045-B0F9-4ADB-9E2A-0729109C7BF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81447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D049EB-5682-40BF-ADAA-C6F65144256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62205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F8F970-B86B-445C-B1A4-0091285E03F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02820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9F0CC-A0FD-4B55-BCD0-DDFD5A1F5F4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08980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96485-ED2D-4A8D-9056-080049D6ECFA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212583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42230-4A56-41A5-98DD-C19772CD958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5983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B15A9-92DA-4585-A364-AC7029B14FE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98765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46EC93-A0FE-44C2-B475-C69BD9081DC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2525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FA60B-CA96-4DD4-9A93-25F1AF0AE1EB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52056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17EAA-B478-4C46-BA6C-C13AB81BBC2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19420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40C43-F592-470E-B2C4-9D0D94AC45D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22327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A6D0B-01F6-47CE-B557-9AF1994F5E7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06888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97B31A-D1D3-459B-9B51-C4900FC89038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905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2" Type="http://schemas.openxmlformats.org/officeDocument/2006/relationships/slideLayout" Target="../slideLayouts/slideLayout56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82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1.xml"/><Relationship Id="rId2" Type="http://schemas.openxmlformats.org/officeDocument/2006/relationships/slideLayout" Target="../slideLayouts/slideLayout71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8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6.xml"/><Relationship Id="rId16" Type="http://schemas.openxmlformats.org/officeDocument/2006/relationships/theme" Target="../theme/theme7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smtClean="0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2018/8/12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2018/8/12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547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  <p:sldLayoutId id="2147484033" r:id="rId13"/>
    <p:sldLayoutId id="2147484034" r:id="rId14"/>
    <p:sldLayoutId id="2147484035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920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4038" r:id="rId2"/>
    <p:sldLayoutId id="2147484039" r:id="rId3"/>
    <p:sldLayoutId id="2147484040" r:id="rId4"/>
    <p:sldLayoutId id="2147484041" r:id="rId5"/>
    <p:sldLayoutId id="2147484042" r:id="rId6"/>
    <p:sldLayoutId id="2147484043" r:id="rId7"/>
    <p:sldLayoutId id="2147484044" r:id="rId8"/>
    <p:sldLayoutId id="2147484045" r:id="rId9"/>
    <p:sldLayoutId id="2147484046" r:id="rId10"/>
    <p:sldLayoutId id="2147484047" r:id="rId11"/>
    <p:sldLayoutId id="2147484048" r:id="rId12"/>
    <p:sldLayoutId id="2147484049" r:id="rId13"/>
    <p:sldLayoutId id="2147484050" r:id="rId14"/>
    <p:sldLayoutId id="2147484051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8B838858-5706-44EB-AD72-80F8021061E0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871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  <p:sldLayoutId id="2147484054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  <p:sldLayoutId id="2147484064" r:id="rId12"/>
    <p:sldLayoutId id="2147484065" r:id="rId13"/>
    <p:sldLayoutId id="2147484066" r:id="rId14"/>
    <p:sldLayoutId id="2147484067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93B4484E-22E0-4EB5-B581-CC5F77E405F6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829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71" r:id="rId3"/>
    <p:sldLayoutId id="2147484072" r:id="rId4"/>
    <p:sldLayoutId id="2147484073" r:id="rId5"/>
    <p:sldLayoutId id="2147484074" r:id="rId6"/>
    <p:sldLayoutId id="2147484075" r:id="rId7"/>
    <p:sldLayoutId id="2147484076" r:id="rId8"/>
    <p:sldLayoutId id="2147484077" r:id="rId9"/>
    <p:sldLayoutId id="2147484078" r:id="rId10"/>
    <p:sldLayoutId id="2147484079" r:id="rId11"/>
    <p:sldLayoutId id="2147484080" r:id="rId12"/>
    <p:sldLayoutId id="2147484081" r:id="rId13"/>
    <p:sldLayoutId id="2147484082" r:id="rId14"/>
    <p:sldLayoutId id="2147484083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89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89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Arial" charset="0"/>
              </a:defRPr>
            </a:lvl1pPr>
          </a:lstStyle>
          <a:p>
            <a:pPr eaLnBrk="1" hangingPunct="1">
              <a:defRPr/>
            </a:pPr>
            <a:fld id="{93B4484E-22E0-4EB5-B581-CC5F77E405F6}" type="slidenum">
              <a:rPr lang="en-US">
                <a:solidFill>
                  <a:srgbClr val="000000"/>
                </a:solidFill>
              </a:rPr>
              <a:pPr eaLnBrk="1" hangingPunct="1"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288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5" r:id="rId1"/>
    <p:sldLayoutId id="2147484086" r:id="rId2"/>
    <p:sldLayoutId id="2147484087" r:id="rId3"/>
    <p:sldLayoutId id="2147484088" r:id="rId4"/>
    <p:sldLayoutId id="2147484089" r:id="rId5"/>
    <p:sldLayoutId id="2147484090" r:id="rId6"/>
    <p:sldLayoutId id="2147484091" r:id="rId7"/>
    <p:sldLayoutId id="2147484092" r:id="rId8"/>
    <p:sldLayoutId id="2147484093" r:id="rId9"/>
    <p:sldLayoutId id="2147484094" r:id="rId10"/>
    <p:sldLayoutId id="2147484095" r:id="rId11"/>
    <p:sldLayoutId id="2147484096" r:id="rId12"/>
    <p:sldLayoutId id="2147484097" r:id="rId13"/>
    <p:sldLayoutId id="2147484098" r:id="rId14"/>
    <p:sldLayoutId id="2147484099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jpeg"/><Relationship Id="rId7" Type="http://schemas.openxmlformats.org/officeDocument/2006/relationships/image" Target="../media/image43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0.jpeg"/><Relationship Id="rId5" Type="http://schemas.openxmlformats.org/officeDocument/2006/relationships/image" Target="../media/image49.jpeg"/><Relationship Id="rId4" Type="http://schemas.openxmlformats.org/officeDocument/2006/relationships/image" Target="../media/image4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66.png"/><Relationship Id="rId5" Type="http://schemas.openxmlformats.org/officeDocument/2006/relationships/image" Target="../media/image65.jpeg"/><Relationship Id="rId4" Type="http://schemas.openxmlformats.org/officeDocument/2006/relationships/image" Target="../media/image64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0.jpeg"/><Relationship Id="rId4" Type="http://schemas.openxmlformats.org/officeDocument/2006/relationships/image" Target="../media/image69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4.jpeg"/><Relationship Id="rId4" Type="http://schemas.openxmlformats.org/officeDocument/2006/relationships/image" Target="../media/image73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8.jpeg"/><Relationship Id="rId4" Type="http://schemas.openxmlformats.org/officeDocument/2006/relationships/image" Target="../media/image77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82.jpeg"/><Relationship Id="rId4" Type="http://schemas.openxmlformats.org/officeDocument/2006/relationships/image" Target="../media/image81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6.jpeg"/><Relationship Id="rId4" Type="http://schemas.openxmlformats.org/officeDocument/2006/relationships/image" Target="../media/image8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98.jpeg"/><Relationship Id="rId4" Type="http://schemas.openxmlformats.org/officeDocument/2006/relationships/image" Target="../media/image9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eg"/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02.jpeg"/><Relationship Id="rId4" Type="http://schemas.openxmlformats.org/officeDocument/2006/relationships/image" Target="../media/image10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eg"/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6.jpeg"/><Relationship Id="rId4" Type="http://schemas.openxmlformats.org/officeDocument/2006/relationships/image" Target="../media/image105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MgIps428Ic" TargetMode="External"/><Relationship Id="rId2" Type="http://schemas.openxmlformats.org/officeDocument/2006/relationships/hyperlink" Target="https://www.unicef.org/bangladesh/media_4795.htm" TargetMode="Externa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91947" y="990600"/>
            <a:ext cx="8686800" cy="1077218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UHC model &amp; Jhenaidah Sadar Hospital Development by local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2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Consultant (Obst &amp; Gynae)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Sadar Hospital Jhenaidah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17738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217738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107218"/>
              </p:ext>
            </p:extLst>
          </p:nvPr>
        </p:nvGraphicFramePr>
        <p:xfrm>
          <a:off x="148988" y="1105771"/>
          <a:ext cx="8894763" cy="506642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914400"/>
                <a:gridCol w="1981200"/>
                <a:gridCol w="2362200"/>
                <a:gridCol w="1905000"/>
                <a:gridCol w="1731963"/>
              </a:tblGrid>
              <a:tr h="8087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 2014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9536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25.5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4356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Japan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3733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22.9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7.3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20.4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44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4.7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2.2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Afghanistan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3.6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2015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:\G\Dr Emdad\Photo -Lohagara\ScreenShot_201605240637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5408" y="4289813"/>
            <a:ext cx="3620964" cy="2365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5" descr="G:\G\Dr Emdad\Photo -Lohagara\ScreenShot_2015120719482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529" y="1374776"/>
            <a:ext cx="360997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G:\G\Dr Emdad\Photo -Lohagara\ScreenShot_2015120721101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772" y="1374775"/>
            <a:ext cx="36576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7" descr="G:\G\Dr Emdad\Photo -Lohagara\ScreenShot_2015120720251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608" y="4263956"/>
            <a:ext cx="3571875" cy="235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02190" y="381000"/>
            <a:ext cx="8591426" cy="54042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 smtClean="0">
                <a:solidFill>
                  <a:srgbClr val="0070C0"/>
                </a:solidFill>
              </a:rPr>
              <a:t>Community Mobilization Meeting at Lohagara in </a:t>
            </a:r>
            <a:r>
              <a:rPr lang="en-US" sz="2400" b="1" dirty="0" smtClean="0">
                <a:solidFill>
                  <a:srgbClr val="0070C0"/>
                </a:solidFill>
                <a:latin typeface="Book Antiqua" pitchFamily="18" charset="0"/>
              </a:rPr>
              <a:t>1995</a:t>
            </a:r>
            <a:endParaRPr lang="en-US" sz="2400" b="1" dirty="0">
              <a:solidFill>
                <a:srgbClr val="0070C0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195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Sub-district level Women-Friendly 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sincerity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and </a:t>
            </a:r>
          </a:p>
          <a:p>
            <a:pPr algn="ctr" eaLnBrk="0" hangingPunct="0"/>
            <a:r>
              <a:rPr lang="en-US" sz="1600" b="1" dirty="0"/>
              <a:t>prompt 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system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&amp; Health </a:t>
            </a:r>
          </a:p>
          <a:p>
            <a:pPr algn="ctr" eaLnBrk="0" hangingPunct="0"/>
            <a:r>
              <a:rPr lang="en-US" sz="1600" b="1" dirty="0"/>
              <a:t>Management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144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2800" b="1" dirty="0" smtClean="0"/>
              <a:t>Background History of MCH services of </a:t>
            </a:r>
            <a:r>
              <a:rPr lang="en-US" sz="2800" b="1" dirty="0" err="1" smtClean="0"/>
              <a:t>Chowgacha</a:t>
            </a:r>
            <a:r>
              <a:rPr lang="en-US" sz="2800" b="1" dirty="0" smtClean="0"/>
              <a:t> Health Complex, </a:t>
            </a:r>
            <a:r>
              <a:rPr lang="en-US" sz="2800" b="1" dirty="0" err="1" smtClean="0"/>
              <a:t>Jessore</a:t>
            </a:r>
            <a:endParaRPr lang="en-US" sz="2800" b="1" dirty="0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4953000"/>
          </a:xfrm>
        </p:spPr>
        <p:txBody>
          <a:bodyPr/>
          <a:lstStyle/>
          <a:p>
            <a:pPr marL="0" indent="0"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1800" b="1" smtClean="0"/>
              <a:t>To reduce Maternal and Child Mortality and Mobility and to ensure the quality services to the mother and child, UHFPO opened 4 special activities headed by medical officers in Feb. 1996. And </a:t>
            </a:r>
            <a:r>
              <a:rPr lang="en-US" sz="1800" b="1" u="sng" smtClean="0"/>
              <a:t>from January 1995 to 1997 </a:t>
            </a:r>
            <a:r>
              <a:rPr lang="en-US" sz="1800" b="1" u="sng" smtClean="0">
                <a:solidFill>
                  <a:srgbClr val="0000FF"/>
                </a:solidFill>
              </a:rPr>
              <a:t>JICA</a:t>
            </a:r>
            <a:r>
              <a:rPr lang="en-US" sz="1800" b="1" u="sng" smtClean="0"/>
              <a:t> helped us by Frontline MCH Program to implement the program by giving technical and logistic supports. Since 1998 </a:t>
            </a:r>
            <a:r>
              <a:rPr lang="en-US" sz="1800" b="1" u="sng" smtClean="0">
                <a:solidFill>
                  <a:srgbClr val="0000FF"/>
                </a:solidFill>
              </a:rPr>
              <a:t>DGHS</a:t>
            </a:r>
            <a:r>
              <a:rPr lang="en-US" sz="1800" b="1" u="sng" smtClean="0"/>
              <a:t> &amp; </a:t>
            </a:r>
            <a:r>
              <a:rPr lang="en-US" sz="1800" b="1" u="sng" smtClean="0">
                <a:solidFill>
                  <a:srgbClr val="0000FF"/>
                </a:solidFill>
              </a:rPr>
              <a:t>UNICEF</a:t>
            </a:r>
            <a:r>
              <a:rPr lang="en-US" sz="1800" b="1" u="sng" smtClean="0"/>
              <a:t> have continued the </a:t>
            </a:r>
          </a:p>
          <a:p>
            <a:pPr marL="0" indent="0"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1800" b="1" u="sng" smtClean="0"/>
          </a:p>
          <a:p>
            <a:pPr marL="0" indent="0"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1800" b="1" u="sng" smtClean="0"/>
              <a:t>support.</a:t>
            </a:r>
            <a:endParaRPr lang="en-US" sz="1800" b="1" smtClean="0"/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1800" b="1" smtClean="0">
                <a:solidFill>
                  <a:srgbClr val="0000FF"/>
                </a:solidFill>
              </a:rPr>
              <a:t>&lt;4 Special activities&gt; 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1800" b="1" smtClean="0">
                <a:solidFill>
                  <a:srgbClr val="0000FF"/>
                </a:solidFill>
              </a:rPr>
              <a:t>ANC-Corner</a:t>
            </a:r>
            <a:r>
              <a:rPr lang="en-US" sz="1800" b="1" smtClean="0"/>
              <a:t> – leaded by female Medical Officer for pregnant mother for effective ANC services who receive TT immunization in the Health Complex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1800" b="1" smtClean="0">
                <a:solidFill>
                  <a:srgbClr val="0000FF"/>
                </a:solidFill>
              </a:rPr>
              <a:t>Basic EOC service</a:t>
            </a:r>
            <a:r>
              <a:rPr lang="en-US" sz="1800" b="1" smtClean="0"/>
              <a:t> by a Gyne &amp; Obs. trained MO 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1800" b="1" smtClean="0">
                <a:solidFill>
                  <a:srgbClr val="0000FF"/>
                </a:solidFill>
              </a:rPr>
              <a:t>Under 5 corner for under 5 children</a:t>
            </a:r>
            <a:r>
              <a:rPr lang="en-US" sz="1800" b="1" smtClean="0"/>
              <a:t> for their nutritional assessment and treatment by RMO.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1800" b="1" smtClean="0">
                <a:solidFill>
                  <a:srgbClr val="0000FF"/>
                </a:solidFill>
              </a:rPr>
              <a:t>Monthly birth and death record</a:t>
            </a:r>
            <a:r>
              <a:rPr lang="en-US" sz="1800" b="1" smtClean="0"/>
              <a:t> by specially developed format by health assistant throughout the Upazilla to asses the progress of maternal and child health status by health indicators supervised by UH&amp;FPO 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endParaRPr lang="en-US" sz="1800" b="1" smtClean="0"/>
          </a:p>
        </p:txBody>
      </p:sp>
    </p:spTree>
    <p:extLst>
      <p:ext uri="{BB962C8B-B14F-4D97-AF65-F5344CB8AC3E}">
        <p14:creationId xmlns:p14="http://schemas.microsoft.com/office/powerpoint/2010/main" val="4053855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6775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200" b="1" smtClean="0"/>
              <a:t>Contd.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From Dec. 1999 Reproductive Health Department of DGHS and UNICEF gave logistic supports and human resources development (like medical officer trained in anesthesia).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Form November 2000 started Comprehensive EOC program.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In 2004, 2005, 2006, 2007 , 2008, 2009, 2010,2011 &amp; 2012 the UHC was awarded by the Bangladesh Government and UNICEF for best performance on EOC Service. 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From August 2006 Safe Blood Transfusion unit established with the aid of UNICEF.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From April 2007 Demand Side Financing (DSF) program started.   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Women friendly Hospital declared in 2008.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Hospital is declared as model health complex on 20 June 2008 and upgraded to 50 bedded hospital by Secretary of Ministry of Health &amp; family welfare.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err="1" smtClean="0"/>
              <a:t>Chowgacha</a:t>
            </a:r>
            <a:r>
              <a:rPr lang="en-US" sz="1600" b="1" dirty="0" smtClean="0"/>
              <a:t> health complex Model is replicable through out the country. Declared by Dr. Margaret Chan, D.G. WHO on 8</a:t>
            </a:r>
            <a:r>
              <a:rPr lang="en-US" sz="1600" b="1" baseline="30000" dirty="0" smtClean="0"/>
              <a:t>th</a:t>
            </a:r>
            <a:r>
              <a:rPr lang="en-US" sz="1600" b="1" dirty="0" smtClean="0"/>
              <a:t> March 2010.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Major Killer Disease (diabetes, hypertension, cancer, RTA &amp; poisoning)  prevention program starts in  1</a:t>
            </a:r>
            <a:r>
              <a:rPr lang="en-US" sz="1600" b="1" baseline="30000" dirty="0" smtClean="0"/>
              <a:t>st</a:t>
            </a:r>
            <a:r>
              <a:rPr lang="en-US" sz="1600" b="1" dirty="0" smtClean="0"/>
              <a:t> January-2011.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1600" b="1" dirty="0" smtClean="0"/>
              <a:t>TQM activates starts in July 2011 by the support of JACA. </a:t>
            </a:r>
          </a:p>
        </p:txBody>
      </p:sp>
    </p:spTree>
    <p:extLst>
      <p:ext uri="{BB962C8B-B14F-4D97-AF65-F5344CB8AC3E}">
        <p14:creationId xmlns:p14="http://schemas.microsoft.com/office/powerpoint/2010/main" val="3734185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/>
        </p:nvSpPr>
        <p:spPr bwMode="auto">
          <a:xfrm>
            <a:off x="0" y="2810889"/>
            <a:ext cx="3733800" cy="69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l"/>
            <a:r>
              <a:rPr lang="en-US" sz="1800" dirty="0" smtClean="0">
                <a:latin typeface="Calibri" pitchFamily="34" charset="0"/>
              </a:rPr>
              <a:t>Blood donation program stared in 16 December, 1996 in Chowgacha UHC</a:t>
            </a:r>
            <a:endParaRPr lang="en-GB" sz="1800" dirty="0" smtClean="0">
              <a:latin typeface="Calibri" pitchFamily="34" charset="0"/>
            </a:endParaRPr>
          </a:p>
        </p:txBody>
      </p:sp>
      <p:pic>
        <p:nvPicPr>
          <p:cNvPr id="5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4191000" cy="276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0"/>
            <a:ext cx="43434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ubtitle 2"/>
          <p:cNvSpPr txBox="1">
            <a:spLocks/>
          </p:cNvSpPr>
          <p:nvPr/>
        </p:nvSpPr>
        <p:spPr bwMode="auto">
          <a:xfrm>
            <a:off x="4800600" y="2826261"/>
            <a:ext cx="4267200" cy="90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held on basic information system </a:t>
            </a:r>
            <a:r>
              <a:rPr lang="en-US" dirty="0" smtClean="0">
                <a:latin typeface="Calibri" pitchFamily="34" charset="0"/>
              </a:rPr>
              <a:t>at </a:t>
            </a:r>
            <a:r>
              <a:rPr lang="en-US" dirty="0">
                <a:latin typeface="Calibri" pitchFamily="34" charset="0"/>
              </a:rPr>
              <a:t>Chowgacha </a:t>
            </a:r>
            <a:r>
              <a:rPr lang="en-US" dirty="0" smtClean="0">
                <a:latin typeface="Calibri" pitchFamily="34" charset="0"/>
              </a:rPr>
              <a:t>Degree </a:t>
            </a:r>
            <a:r>
              <a:rPr lang="en-US" dirty="0">
                <a:latin typeface="Calibri" pitchFamily="34" charset="0"/>
              </a:rPr>
              <a:t>College </a:t>
            </a:r>
            <a:r>
              <a:rPr lang="en-US" dirty="0" smtClean="0">
                <a:latin typeface="Calibri" pitchFamily="34" charset="0"/>
              </a:rPr>
              <a:t>in </a:t>
            </a:r>
            <a:r>
              <a:rPr lang="en-US" dirty="0">
                <a:latin typeface="Calibri" pitchFamily="34" charset="0"/>
              </a:rPr>
              <a:t>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</a:t>
            </a:r>
            <a:r>
              <a:rPr lang="en-US" dirty="0" smtClean="0">
                <a:latin typeface="Calibri" pitchFamily="34" charset="0"/>
              </a:rPr>
              <a:t>guest . </a:t>
            </a:r>
            <a:endParaRPr lang="en-GB" dirty="0">
              <a:latin typeface="Calibri" pitchFamily="34" charset="0"/>
            </a:endParaRPr>
          </a:p>
        </p:txBody>
      </p:sp>
      <p:pic>
        <p:nvPicPr>
          <p:cNvPr id="8" name="Picture 4" descr="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0000">
            <a:off x="2062254" y="3684253"/>
            <a:ext cx="4257490" cy="313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07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SC018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050"/>
            <a:ext cx="4457700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DSC018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3517900"/>
            <a:ext cx="44704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 descr="DSC0175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3517900"/>
            <a:ext cx="44450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DSC0177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9525"/>
            <a:ext cx="4430712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7028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Chowgacha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From 1996 to 2012, took initiatives to develop </a:t>
            </a:r>
            <a:r>
              <a:rPr lang="en-US" sz="2400" b="1" dirty="0" smtClean="0"/>
              <a:t>Upazilla level standard services </a:t>
            </a:r>
            <a:r>
              <a:rPr lang="en-US" sz="2400" dirty="0" smtClean="0"/>
              <a:t>in Chowgacha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In 2010, Chowgacha Health Complex declared as the model upazilla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  <a:endParaRPr lang="en-US" sz="2400" dirty="0" smtClean="0">
              <a:latin typeface="Symbol" pitchFamily="18" charset="2"/>
            </a:endParaRP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>
                <a:cs typeface="Calibri" pitchFamily="34" charset="0"/>
              </a:rPr>
              <a:t> Mobilized 46 additional </a:t>
            </a:r>
            <a:r>
              <a:rPr lang="en-US" sz="2400" dirty="0" smtClean="0"/>
              <a:t>workers from community (26 </a:t>
            </a:r>
            <a:r>
              <a:rPr lang="en-US" sz="2400" dirty="0"/>
              <a:t>volunteer, 12 </a:t>
            </a:r>
            <a:r>
              <a:rPr lang="en-US" sz="2400" dirty="0" smtClean="0"/>
              <a:t>cleaners </a:t>
            </a:r>
            <a:r>
              <a:rPr lang="en-US" sz="2400" dirty="0"/>
              <a:t>and </a:t>
            </a:r>
            <a:r>
              <a:rPr lang="en-US" sz="2400" dirty="0" smtClean="0"/>
              <a:t>others </a:t>
            </a:r>
            <a:r>
              <a:rPr lang="en-US" sz="2400" dirty="0"/>
              <a:t>8</a:t>
            </a:r>
            <a:r>
              <a:rPr lang="en-US" sz="2400" dirty="0" smtClean="0"/>
              <a:t>).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 EOC Beds increased from 11 to 41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UHC  became the best EOC center  with 98.4% delivery rate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</a:t>
            </a:r>
            <a:r>
              <a:rPr lang="en-US" sz="2400" dirty="0"/>
              <a:t>UHC achieved </a:t>
            </a:r>
            <a:r>
              <a:rPr lang="en-US" sz="2400" dirty="0" smtClean="0"/>
              <a:t>MDG target in 2009</a:t>
            </a:r>
            <a:r>
              <a:rPr lang="en-US" sz="2400" dirty="0"/>
              <a:t>. </a:t>
            </a: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Health complex is awarded for best performance in EOC form 2005 to 2014.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4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60438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3600" dirty="0" smtClean="0">
              <a:solidFill>
                <a:srgbClr val="FF0066"/>
              </a:solidFill>
            </a:endParaRPr>
          </a:p>
          <a:p>
            <a:pPr algn="ctr" eaLnBrk="1" hangingPunct="1">
              <a:buFontTx/>
              <a:buNone/>
            </a:pPr>
            <a:endParaRPr lang="en-US" sz="3600" dirty="0" smtClean="0">
              <a:solidFill>
                <a:srgbClr val="FF0066"/>
              </a:solidFill>
            </a:endParaRPr>
          </a:p>
        </p:txBody>
      </p:sp>
      <p:graphicFrame>
        <p:nvGraphicFramePr>
          <p:cNvPr id="32772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72415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48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10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2415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5240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2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2000 - 2011 (Caesarian Section)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620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200" b="1" smtClean="0"/>
              <a:t>Upazila Health  Complex</a:t>
            </a:r>
            <a:br>
              <a:rPr lang="en-US" sz="3200" b="1" smtClean="0"/>
            </a:br>
            <a:r>
              <a:rPr lang="en-US" sz="2000" b="1" smtClean="0"/>
              <a:t>CHOWGACHA , JESSORE.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smtClean="0"/>
          </a:p>
          <a:p>
            <a:pPr algn="ctr" eaLnBrk="1" hangingPunct="1">
              <a:buFontTx/>
              <a:buNone/>
            </a:pPr>
            <a:endParaRPr lang="en-US" sz="2800" smtClean="0"/>
          </a:p>
        </p:txBody>
      </p:sp>
      <p:sp>
        <p:nvSpPr>
          <p:cNvPr id="181252" name="Rectangle 4"/>
          <p:cNvSpPr>
            <a:spLocks noChangeArrowheads="1"/>
          </p:cNvSpPr>
          <p:nvPr/>
        </p:nvSpPr>
        <p:spPr bwMode="auto">
          <a:xfrm>
            <a:off x="457200" y="1447800"/>
            <a:ext cx="8153400" cy="4699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defRPr/>
            </a:pPr>
            <a:r>
              <a:rPr lang="en-US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Progress Of EOC Activities based on UN Process Indicators</a:t>
            </a:r>
            <a:r>
              <a:rPr lang="en-US" sz="4400">
                <a:solidFill>
                  <a:srgbClr val="000000"/>
                </a:solidFill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441325" y="22463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endParaRPr lang="en-US" smtClean="0">
              <a:solidFill>
                <a:srgbClr val="000000"/>
              </a:solidFill>
            </a:endParaRPr>
          </a:p>
        </p:txBody>
      </p:sp>
      <p:graphicFrame>
        <p:nvGraphicFramePr>
          <p:cNvPr id="18708" name="Group 276"/>
          <p:cNvGraphicFramePr>
            <a:graphicFrameLocks noGrp="1"/>
          </p:cNvGraphicFramePr>
          <p:nvPr>
            <p:ph sz="half" idx="2"/>
          </p:nvPr>
        </p:nvGraphicFramePr>
        <p:xfrm>
          <a:off x="715963" y="1905000"/>
          <a:ext cx="8047037" cy="4075114"/>
        </p:xfrm>
        <a:graphic>
          <a:graphicData uri="http://schemas.openxmlformats.org/drawingml/2006/table">
            <a:tbl>
              <a:tblPr/>
              <a:tblGrid>
                <a:gridCol w="469900"/>
                <a:gridCol w="2349500"/>
                <a:gridCol w="914400"/>
                <a:gridCol w="609600"/>
                <a:gridCol w="685800"/>
                <a:gridCol w="762000"/>
                <a:gridCol w="774700"/>
                <a:gridCol w="801687"/>
                <a:gridCol w="679450"/>
              </a:tblGrid>
              <a:tr h="623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 No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Target of UN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 Pregnancy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5270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5489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5793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5595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5208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5264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 Hospital delivery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1293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1899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2682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3489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3755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4413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 Caesarian section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473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567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842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962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Maternal death in health Complex.</a:t>
                      </a: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% of birth in health Complex.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26.5%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38.1%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52.4%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72%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84.8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98.6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&gt;15%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Met-need for EmOC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92.1%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107%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175 %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232%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267%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263%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0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Caesarian section of all births</a:t>
                      </a: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6.3%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9.7%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17.3%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21.7%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22.5%</a:t>
                      </a: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669900"/>
                          </a:solidFill>
                          <a:effectLst/>
                          <a:latin typeface="Arial" charset="0"/>
                          <a:cs typeface="Arial" charset="0"/>
                        </a:rPr>
                        <a:t>*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5-15%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Case Fatality Rate</a:t>
                      </a:r>
                      <a:r>
                        <a:rPr kumimoji="0" 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0.44%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.13%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0.20%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0.0%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.0%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0.38%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&lt;1%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492" name="Text Box 108"/>
          <p:cNvSpPr txBox="1">
            <a:spLocks noChangeArrowheads="1"/>
          </p:cNvSpPr>
          <p:nvPr/>
        </p:nvSpPr>
        <p:spPr bwMode="auto">
          <a:xfrm>
            <a:off x="914400" y="5943600"/>
            <a:ext cx="7150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en-US" smtClean="0">
                <a:solidFill>
                  <a:srgbClr val="669900"/>
                </a:solidFill>
              </a:rPr>
              <a:t>*</a:t>
            </a:r>
            <a:r>
              <a:rPr lang="en-US" smtClean="0">
                <a:solidFill>
                  <a:srgbClr val="000000"/>
                </a:solidFill>
              </a:rPr>
              <a:t> </a:t>
            </a:r>
            <a:r>
              <a:rPr lang="en-US" sz="1400" smtClean="0">
                <a:solidFill>
                  <a:srgbClr val="000000"/>
                </a:solidFill>
              </a:rPr>
              <a:t> Among the total delivery of Chowgacha Upazilla, the CS rate is 12.8% but CS 9.7% is </a:t>
            </a:r>
          </a:p>
          <a:p>
            <a:r>
              <a:rPr lang="en-US" sz="1400" smtClean="0">
                <a:solidFill>
                  <a:srgbClr val="000000"/>
                </a:solidFill>
              </a:rPr>
              <a:t>increased due to complicated delivery from outside this upazilla.</a:t>
            </a:r>
          </a:p>
        </p:txBody>
      </p:sp>
    </p:spTree>
    <p:extLst>
      <p:ext uri="{BB962C8B-B14F-4D97-AF65-F5344CB8AC3E}">
        <p14:creationId xmlns:p14="http://schemas.microsoft.com/office/powerpoint/2010/main" val="37662916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95313"/>
            <a:ext cx="8229600" cy="1238250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36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62752733"/>
              </p:ext>
            </p:extLst>
          </p:nvPr>
        </p:nvGraphicFramePr>
        <p:xfrm>
          <a:off x="457200" y="3063874"/>
          <a:ext cx="8153400" cy="303212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60400"/>
                <a:gridCol w="2336800"/>
                <a:gridCol w="1117600"/>
                <a:gridCol w="1054100"/>
                <a:gridCol w="1041400"/>
                <a:gridCol w="952500"/>
                <a:gridCol w="990600"/>
              </a:tblGrid>
              <a:tr h="710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63777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86583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57200" y="1930400"/>
            <a:ext cx="8153400" cy="889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924800" y="4049713"/>
            <a:ext cx="381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896225" y="4443413"/>
            <a:ext cx="4191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</p:nvPr>
        </p:nvGraphicFramePr>
        <p:xfrm>
          <a:off x="457200" y="2590800"/>
          <a:ext cx="8153399" cy="3475039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787865"/>
                <a:gridCol w="3194870"/>
                <a:gridCol w="922497"/>
                <a:gridCol w="930031"/>
                <a:gridCol w="1136341"/>
                <a:gridCol w="1181795"/>
              </a:tblGrid>
              <a:tr h="71101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ANC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01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23981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640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3075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3715</a:t>
                      </a: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02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Jhenaidah</a:t>
                      </a: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600" b="1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Sadar</a:t>
                      </a: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15360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1839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1143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2997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03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13152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1778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2967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13" marB="45713" horzOverflow="overflow"/>
                </a:tc>
              </a:tr>
              <a:tr h="40883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04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18650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2163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759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2922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57915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05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6977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1455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1228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2683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13" marB="45713" horzOverflow="overflow"/>
                </a:tc>
              </a:tr>
              <a:tr h="5495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06</a:t>
                      </a:r>
                      <a:endParaRPr lang="en-US" sz="1800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r>
                        <a:rPr lang="en-GB" sz="1600" b="1" dirty="0" smtClean="0"/>
                        <a:t>250</a:t>
                      </a:r>
                      <a:r>
                        <a:rPr lang="en-GB" sz="1600" b="1" baseline="0" dirty="0" smtClean="0"/>
                        <a:t> Bedded Hospital, </a:t>
                      </a:r>
                      <a:r>
                        <a:rPr lang="en-GB" sz="1600" b="1" baseline="0" dirty="0" err="1" smtClean="0"/>
                        <a:t>Kushtia</a:t>
                      </a:r>
                      <a:endParaRPr lang="en-GB" sz="1600" b="1" dirty="0"/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4735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1595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/>
                        <a:t>919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baseline="0" dirty="0" smtClean="0"/>
                        <a:t>2514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13" marB="45713" horzOverflow="overflow"/>
                </a:tc>
              </a:tr>
            </a:tbl>
          </a:graphicData>
        </a:graphic>
      </p:graphicFrame>
      <p:sp>
        <p:nvSpPr>
          <p:cNvPr id="3282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990600"/>
          </a:xfrm>
          <a:solidFill>
            <a:srgbClr val="BBE0E3"/>
          </a:solidFill>
        </p:spPr>
        <p:txBody>
          <a:bodyPr/>
          <a:lstStyle/>
          <a:p>
            <a:pPr eaLnBrk="1" hangingPunct="1"/>
            <a:r>
              <a:rPr lang="en-US" sz="3200" b="1" smtClean="0">
                <a:solidFill>
                  <a:srgbClr val="000000"/>
                </a:solidFill>
              </a:rPr>
              <a:t>Upazila Health  Complex</a:t>
            </a:r>
            <a:br>
              <a:rPr lang="en-US" sz="3200" b="1" smtClean="0">
                <a:solidFill>
                  <a:srgbClr val="000000"/>
                </a:solidFill>
              </a:rPr>
            </a:br>
            <a:r>
              <a:rPr lang="en-US" sz="2000" b="1" smtClean="0">
                <a:solidFill>
                  <a:srgbClr val="000000"/>
                </a:solidFill>
              </a:rPr>
              <a:t>CHOWGACHA , JESSORE.</a:t>
            </a:r>
          </a:p>
        </p:txBody>
      </p:sp>
      <p:sp>
        <p:nvSpPr>
          <p:cNvPr id="32829" name="Rectangle 4"/>
          <p:cNvSpPr>
            <a:spLocks noChangeArrowheads="1"/>
          </p:cNvSpPr>
          <p:nvPr/>
        </p:nvSpPr>
        <p:spPr bwMode="auto">
          <a:xfrm>
            <a:off x="457200" y="14478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n-US" sz="2400" smtClean="0">
                <a:solidFill>
                  <a:srgbClr val="3333CC"/>
                </a:solidFill>
              </a:rPr>
              <a:t>Comparative Data of Delivery of best performing EOC center of Khulna Division in 2017</a:t>
            </a:r>
          </a:p>
        </p:txBody>
      </p:sp>
    </p:spTree>
    <p:extLst>
      <p:ext uri="{BB962C8B-B14F-4D97-AF65-F5344CB8AC3E}">
        <p14:creationId xmlns:p14="http://schemas.microsoft.com/office/powerpoint/2010/main" val="3441083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447800"/>
          </a:xfrm>
          <a:solidFill>
            <a:srgbClr val="0070C0"/>
          </a:solidFill>
        </p:spPr>
        <p:txBody>
          <a:bodyPr/>
          <a:lstStyle/>
          <a:p>
            <a:pPr eaLnBrk="1" hangingPunct="1"/>
            <a:r>
              <a:rPr lang="en-US" sz="2800" b="1" i="1" smtClean="0">
                <a:solidFill>
                  <a:schemeClr val="bg1"/>
                </a:solidFill>
                <a:latin typeface="Albertus Extra Bold" pitchFamily="34" charset="0"/>
              </a:rPr>
              <a:t>MDG 4 and 5 Achieved at Chowgacha in 2011 and SDG targets in 2030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idx="1"/>
          </p:nvPr>
        </p:nvSpPr>
        <p:spPr>
          <a:xfrm>
            <a:off x="419100" y="2133600"/>
            <a:ext cx="8305800" cy="3733800"/>
          </a:xfr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20000"/>
          </a:bodyPr>
          <a:lstStyle/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000" b="1" dirty="0" smtClean="0">
                <a:solidFill>
                  <a:srgbClr val="C00000"/>
                </a:solidFill>
              </a:rPr>
              <a:t>Per 1000 live Birth      </a:t>
            </a:r>
            <a:r>
              <a:rPr lang="en-US" sz="2000" b="1" dirty="0" err="1" smtClean="0">
                <a:solidFill>
                  <a:srgbClr val="C00000"/>
                </a:solidFill>
              </a:rPr>
              <a:t>Chowgacha</a:t>
            </a:r>
            <a:r>
              <a:rPr lang="en-US" sz="2000" b="1" dirty="0" smtClean="0">
                <a:solidFill>
                  <a:srgbClr val="C00000"/>
                </a:solidFill>
              </a:rPr>
              <a:t>          MDG Target      SDG Target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2000" b="1" dirty="0" smtClean="0">
              <a:solidFill>
                <a:schemeClr val="hlink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MMR:                                        </a:t>
            </a:r>
            <a:r>
              <a:rPr lang="en-US" sz="2400" b="1" dirty="0" smtClean="0">
                <a:solidFill>
                  <a:srgbClr val="669900"/>
                </a:solidFill>
              </a:rPr>
              <a:t>.68</a:t>
            </a:r>
            <a:r>
              <a:rPr lang="en-US" sz="1800" b="1" dirty="0" smtClean="0">
                <a:solidFill>
                  <a:srgbClr val="3366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1.47 </a:t>
            </a:r>
            <a:r>
              <a:rPr lang="en-US" sz="1800" b="1" dirty="0" smtClean="0">
                <a:solidFill>
                  <a:srgbClr val="CC0000"/>
                </a:solidFill>
              </a:rPr>
              <a:t>                      </a:t>
            </a:r>
            <a:r>
              <a:rPr lang="en-US" sz="1800" b="1" dirty="0" smtClean="0">
                <a:solidFill>
                  <a:srgbClr val="0000FF"/>
                </a:solidFill>
              </a:rPr>
              <a:t>.70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5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NNMR:			</a:t>
            </a:r>
            <a:r>
              <a:rPr lang="en-US" sz="2600" b="1" dirty="0" smtClean="0">
                <a:solidFill>
                  <a:srgbClr val="0000FF"/>
                </a:solidFill>
              </a:rPr>
              <a:t>   </a:t>
            </a:r>
            <a:r>
              <a:rPr lang="en-US" sz="2200" b="1" dirty="0" smtClean="0">
                <a:solidFill>
                  <a:srgbClr val="669900"/>
                </a:solidFill>
              </a:rPr>
              <a:t>18.2</a:t>
            </a:r>
            <a:r>
              <a:rPr lang="en-US" sz="2600" b="1" dirty="0" smtClean="0">
                <a:solidFill>
                  <a:srgbClr val="669900"/>
                </a:solidFill>
              </a:rPr>
              <a:t>		</a:t>
            </a:r>
            <a:r>
              <a:rPr lang="en-US" sz="2600" b="1" dirty="0" smtClean="0">
                <a:solidFill>
                  <a:srgbClr val="FF0000"/>
                </a:solidFill>
              </a:rPr>
              <a:t>  -       </a:t>
            </a:r>
            <a:r>
              <a:rPr lang="en-US" sz="2600" b="1" dirty="0" smtClean="0">
                <a:solidFill>
                  <a:srgbClr val="669900"/>
                </a:solidFill>
              </a:rPr>
              <a:t>		   </a:t>
            </a:r>
            <a:r>
              <a:rPr lang="en-US" sz="1700" b="1" dirty="0" smtClean="0">
                <a:solidFill>
                  <a:srgbClr val="0000FF"/>
                </a:solidFill>
              </a:rPr>
              <a:t>12</a:t>
            </a:r>
            <a:r>
              <a:rPr lang="en-US" sz="2600" b="1" dirty="0" smtClean="0">
                <a:solidFill>
                  <a:srgbClr val="669900"/>
                </a:solidFill>
              </a:rPr>
              <a:t>	</a:t>
            </a:r>
            <a:endParaRPr lang="en-US" sz="26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IMR:                                        </a:t>
            </a:r>
            <a:r>
              <a:rPr lang="en-US" sz="1800" b="1" dirty="0" smtClean="0">
                <a:solidFill>
                  <a:srgbClr val="669900"/>
                </a:solidFill>
              </a:rPr>
              <a:t>  </a:t>
            </a:r>
            <a:r>
              <a:rPr lang="en-US" sz="2400" b="1" dirty="0" smtClean="0">
                <a:solidFill>
                  <a:srgbClr val="669900"/>
                </a:solidFill>
              </a:rPr>
              <a:t>23.6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31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      -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&lt;5 MR:                                     </a:t>
            </a:r>
            <a:r>
              <a:rPr lang="en-US" sz="2400" b="1" dirty="0" smtClean="0">
                <a:solidFill>
                  <a:srgbClr val="0000FF"/>
                </a:solidFill>
              </a:rPr>
              <a:t> </a:t>
            </a:r>
            <a:r>
              <a:rPr lang="en-US" sz="2400" b="1" dirty="0" smtClean="0">
                <a:solidFill>
                  <a:srgbClr val="669900"/>
                </a:solidFill>
              </a:rPr>
              <a:t>25.7 </a:t>
            </a:r>
            <a:r>
              <a:rPr lang="en-US" sz="1800" b="1" dirty="0" smtClean="0">
                <a:solidFill>
                  <a:srgbClr val="669900"/>
                </a:solidFill>
              </a:rPr>
              <a:t>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</a:t>
            </a:r>
            <a:r>
              <a:rPr lang="en-US" sz="1800" b="1" dirty="0" smtClean="0">
                <a:solidFill>
                  <a:srgbClr val="FF0066"/>
                </a:solidFill>
              </a:rPr>
              <a:t>50    </a:t>
            </a:r>
            <a:r>
              <a:rPr lang="en-US" sz="1800" b="1" dirty="0" smtClean="0">
                <a:solidFill>
                  <a:srgbClr val="0000FF"/>
                </a:solidFill>
              </a:rPr>
              <a:t>                      25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843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29600" cy="133508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/>
              <a:t>Factors Responsible for Reduction of Maternal and Infant Mortality Rate in Chowgacha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382000" cy="4572000"/>
          </a:xfrm>
        </p:spPr>
        <p:txBody>
          <a:bodyPr/>
          <a:lstStyle/>
          <a:p>
            <a:pPr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1800" b="1" dirty="0">
                <a:solidFill>
                  <a:srgbClr val="0000FF"/>
                </a:solidFill>
              </a:rPr>
              <a:t>Special Activities initiated by Medical Officers in February 1996: </a:t>
            </a:r>
          </a:p>
          <a:p>
            <a:pPr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1800" b="1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800" b="1" dirty="0">
                <a:solidFill>
                  <a:srgbClr val="0000FF"/>
                </a:solidFill>
              </a:rPr>
              <a:t>Setting up </a:t>
            </a:r>
            <a:r>
              <a:rPr lang="en-US" sz="1800" b="1" dirty="0" smtClean="0">
                <a:solidFill>
                  <a:srgbClr val="0000FF"/>
                </a:solidFill>
              </a:rPr>
              <a:t> of ANC Corner &amp;final treatment should given by a  MO  initiated by a nurse or MA.</a:t>
            </a:r>
            <a:endParaRPr lang="en-US" sz="1800" b="1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1800" b="1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800" b="1" dirty="0" smtClean="0">
                <a:solidFill>
                  <a:srgbClr val="0000FF"/>
                </a:solidFill>
              </a:rPr>
              <a:t>24 hours  Com </a:t>
            </a:r>
            <a:r>
              <a:rPr lang="en-US" sz="1800" b="1" dirty="0">
                <a:solidFill>
                  <a:srgbClr val="0000FF"/>
                </a:solidFill>
              </a:rPr>
              <a:t>EOC Service</a:t>
            </a:r>
            <a:r>
              <a:rPr lang="en-US" sz="1800" b="1" dirty="0"/>
              <a:t> by a </a:t>
            </a:r>
            <a:r>
              <a:rPr lang="en-US" sz="1800" b="1" dirty="0" err="1"/>
              <a:t>Gyne</a:t>
            </a:r>
            <a:r>
              <a:rPr lang="en-US" sz="1800" b="1" dirty="0"/>
              <a:t> &amp; Obs. trained Medical officer;</a:t>
            </a: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1800" b="1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800" b="1" dirty="0">
                <a:solidFill>
                  <a:srgbClr val="0000FF"/>
                </a:solidFill>
              </a:rPr>
              <a:t>Establishment of Under 5 Corner for under 5 children</a:t>
            </a:r>
            <a:r>
              <a:rPr lang="en-US" sz="1800" b="1" dirty="0"/>
              <a:t> for their nutritional assessment and treatment by </a:t>
            </a:r>
            <a:r>
              <a:rPr lang="en-US" sz="1800" b="1" dirty="0" smtClean="0"/>
              <a:t>MO</a:t>
            </a:r>
            <a:r>
              <a:rPr lang="en-US" sz="1800" b="1" dirty="0"/>
              <a:t>.</a:t>
            </a: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1800" b="1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800" b="1" dirty="0">
                <a:solidFill>
                  <a:srgbClr val="0000FF"/>
                </a:solidFill>
              </a:rPr>
              <a:t>Record Keeping of Monthly Birth and Death</a:t>
            </a:r>
            <a:r>
              <a:rPr lang="en-US" sz="1800" b="1" dirty="0"/>
              <a:t> by specially developed format by health assistant throughout the </a:t>
            </a:r>
            <a:r>
              <a:rPr lang="en-US" sz="1800" b="1" dirty="0" err="1"/>
              <a:t>Upazilla</a:t>
            </a:r>
            <a:r>
              <a:rPr lang="en-US" sz="1800" b="1" dirty="0"/>
              <a:t> supervised by UH&amp;FPO;</a:t>
            </a: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1800" b="1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800" b="1" dirty="0" smtClean="0">
                <a:solidFill>
                  <a:srgbClr val="0000FF"/>
                </a:solidFill>
              </a:rPr>
              <a:t>Health Education by MO  as per roster</a:t>
            </a:r>
            <a:r>
              <a:rPr lang="en-US" sz="1800" b="1" dirty="0" smtClean="0"/>
              <a:t> </a:t>
            </a:r>
            <a:r>
              <a:rPr lang="en-US" sz="1800" b="1" dirty="0"/>
              <a:t>among women coming for antenatal care, pregnant women and general patients and their attendants at all </a:t>
            </a:r>
            <a:r>
              <a:rPr lang="en-US" sz="1800" b="1" dirty="0" smtClean="0"/>
              <a:t>corners/</a:t>
            </a:r>
            <a:endParaRPr lang="en-US" sz="1800" b="1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1800" b="1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1800" b="1" dirty="0" smtClean="0">
                <a:solidFill>
                  <a:srgbClr val="0000FF"/>
                </a:solidFill>
              </a:rPr>
              <a:t>Established </a:t>
            </a:r>
            <a:r>
              <a:rPr lang="en-US" sz="1800" b="1" dirty="0">
                <a:solidFill>
                  <a:srgbClr val="0000FF"/>
                </a:solidFill>
              </a:rPr>
              <a:t>Service Corner</a:t>
            </a:r>
            <a:r>
              <a:rPr lang="en-US" sz="1800" b="1" dirty="0"/>
              <a:t> </a:t>
            </a:r>
            <a:r>
              <a:rPr lang="en-US" sz="1800" b="1" dirty="0" smtClean="0"/>
              <a:t> </a:t>
            </a:r>
            <a:r>
              <a:rPr lang="en-US" sz="1800" b="1" dirty="0"/>
              <a:t>ANC </a:t>
            </a:r>
            <a:r>
              <a:rPr lang="en-US" sz="1800" b="1" dirty="0" err="1" smtClean="0"/>
              <a:t>corner,Under</a:t>
            </a:r>
            <a:r>
              <a:rPr lang="en-US" sz="1800" b="1" dirty="0" smtClean="0"/>
              <a:t> _5 corner, </a:t>
            </a:r>
            <a:r>
              <a:rPr lang="en-US" sz="1800" b="1" dirty="0" err="1" smtClean="0"/>
              <a:t>EPI&amp;Breast</a:t>
            </a:r>
            <a:r>
              <a:rPr lang="en-US" sz="1800" b="1" dirty="0" smtClean="0"/>
              <a:t> feeding corner, </a:t>
            </a:r>
            <a:r>
              <a:rPr lang="en-US" sz="1800" b="1" dirty="0"/>
              <a:t>ORT </a:t>
            </a:r>
            <a:r>
              <a:rPr lang="en-US" sz="1800" b="1" dirty="0" smtClean="0"/>
              <a:t>corner, Health education corner </a:t>
            </a:r>
            <a:endParaRPr lang="en-US" sz="1800" b="1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b="1" dirty="0"/>
          </a:p>
          <a:p>
            <a:pPr>
              <a:lnSpc>
                <a:spcPct val="80000"/>
              </a:lnSpc>
              <a:buClr>
                <a:schemeClr val="tx1"/>
              </a:buClr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903336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29600" cy="133508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/>
              <a:t>Factors Responsible for Reduction of Maternal and Infant Mortality Rate in Chowgacha-</a:t>
            </a:r>
            <a:r>
              <a:rPr lang="en-US" sz="2800" b="1" i="1"/>
              <a:t> Contd.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382000" cy="4572000"/>
          </a:xfrm>
        </p:spPr>
        <p:txBody>
          <a:bodyPr/>
          <a:lstStyle/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b="1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000" b="1" dirty="0">
                <a:solidFill>
                  <a:srgbClr val="0000FF"/>
                </a:solidFill>
              </a:rPr>
              <a:t>Maintaining all criteria for woman friendly hospital</a:t>
            </a:r>
            <a:r>
              <a:rPr lang="en-US" sz="2000" dirty="0"/>
              <a:t> .</a:t>
            </a: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b="1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000" b="1" dirty="0" smtClean="0">
                <a:solidFill>
                  <a:srgbClr val="0000FF"/>
                </a:solidFill>
              </a:rPr>
              <a:t>Separation of patient to  </a:t>
            </a:r>
            <a:r>
              <a:rPr lang="en-US" sz="2000" b="1" dirty="0">
                <a:solidFill>
                  <a:srgbClr val="0000FF"/>
                </a:solidFill>
              </a:rPr>
              <a:t>M</a:t>
            </a:r>
            <a:r>
              <a:rPr lang="en-US" sz="2000" b="1" dirty="0" smtClean="0">
                <a:solidFill>
                  <a:srgbClr val="0000FF"/>
                </a:solidFill>
              </a:rPr>
              <a:t>ale, Female, Under_5 &amp; EOC  and develop responsibility of </a:t>
            </a:r>
            <a:r>
              <a:rPr lang="en-US" sz="2000" b="1" dirty="0" err="1" smtClean="0">
                <a:solidFill>
                  <a:srgbClr val="0000FF"/>
                </a:solidFill>
              </a:rPr>
              <a:t>indivizuals</a:t>
            </a:r>
            <a:r>
              <a:rPr lang="en-US" sz="2000" b="1" dirty="0" smtClean="0">
                <a:solidFill>
                  <a:srgbClr val="0000FF"/>
                </a:solidFill>
              </a:rPr>
              <a:t>.</a:t>
            </a:r>
            <a:endParaRPr lang="en-US" b="1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000" b="1" dirty="0">
                <a:solidFill>
                  <a:srgbClr val="0000FF"/>
                </a:solidFill>
              </a:rPr>
              <a:t>Operating Blood Bank System</a:t>
            </a:r>
            <a:r>
              <a:rPr lang="en-US" sz="2000" dirty="0"/>
              <a:t> by registered about 600 donors addresses within 1 km. radius of the hospital; </a:t>
            </a: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000" b="1" dirty="0">
                <a:solidFill>
                  <a:srgbClr val="0000FF"/>
                </a:solidFill>
              </a:rPr>
              <a:t>Mobile phone in emergency, indoor, EOC</a:t>
            </a:r>
            <a:r>
              <a:rPr lang="en-US" sz="2000" dirty="0"/>
              <a:t> to provide telephonic health service facility and emergency ambulance service;</a:t>
            </a: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b="1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000" b="1" dirty="0">
                <a:solidFill>
                  <a:srgbClr val="0000FF"/>
                </a:solidFill>
              </a:rPr>
              <a:t>Well equipped Emergency </a:t>
            </a:r>
            <a:r>
              <a:rPr lang="en-US" sz="2000" b="1" dirty="0" err="1" smtClean="0">
                <a:solidFill>
                  <a:srgbClr val="0000FF"/>
                </a:solidFill>
              </a:rPr>
              <a:t>Department&amp;Primarily</a:t>
            </a:r>
            <a:r>
              <a:rPr lang="en-US" sz="2000" b="1" dirty="0" smtClean="0">
                <a:solidFill>
                  <a:srgbClr val="0000FF"/>
                </a:solidFill>
              </a:rPr>
              <a:t> managed by MA </a:t>
            </a:r>
            <a:r>
              <a:rPr lang="en-US" sz="2000" b="1" dirty="0" err="1" smtClean="0">
                <a:solidFill>
                  <a:srgbClr val="0000FF"/>
                </a:solidFill>
              </a:rPr>
              <a:t>andMO</a:t>
            </a:r>
            <a:r>
              <a:rPr lang="en-US" sz="2000" b="1" dirty="0" smtClean="0">
                <a:solidFill>
                  <a:srgbClr val="0000FF"/>
                </a:solidFill>
              </a:rPr>
              <a:t> on call.</a:t>
            </a:r>
            <a:endParaRPr lang="en-US" sz="2000" dirty="0"/>
          </a:p>
          <a:p>
            <a:pPr>
              <a:lnSpc>
                <a:spcPct val="80000"/>
              </a:lnSpc>
              <a:buFont typeface="Wingdings" pitchFamily="2" charset="2"/>
              <a:buChar char="v"/>
            </a:pPr>
            <a:endParaRPr lang="en-US" sz="20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itchFamily="2" charset="2"/>
              <a:buChar char="v"/>
            </a:pPr>
            <a:endParaRPr lang="en-US" sz="2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6502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               News of paper</a:t>
            </a: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800"/>
              <a:t>  </a:t>
            </a:r>
          </a:p>
          <a:p>
            <a:pPr>
              <a:buFontTx/>
              <a:buNone/>
            </a:pPr>
            <a:endParaRPr lang="en-US" sz="600"/>
          </a:p>
        </p:txBody>
      </p:sp>
      <p:pic>
        <p:nvPicPr>
          <p:cNvPr id="193540" name="Picture 4" descr="Untitled-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1701800"/>
            <a:ext cx="7924800" cy="4622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496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</a:t>
            </a:r>
            <a:r>
              <a:rPr lang="en-US" sz="4000" dirty="0" smtClean="0"/>
              <a:t>,Nutrition </a:t>
            </a:r>
            <a:r>
              <a:rPr lang="en-US" sz="4000" dirty="0"/>
              <a:t>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FYP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077397"/>
              </p:ext>
            </p:extLst>
          </p:nvPr>
        </p:nvGraphicFramePr>
        <p:xfrm>
          <a:off x="0" y="1295399"/>
          <a:ext cx="91440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4343400"/>
                <a:gridCol w="2514600"/>
                <a:gridCol w="1752600"/>
              </a:tblGrid>
              <a:tr h="101850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(Impact/Outcome)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Base year’s information(source with year)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baseline="0" dirty="0" smtClean="0"/>
                        <a:t> FYP target </a:t>
                      </a:r>
                    </a:p>
                    <a:p>
                      <a:r>
                        <a:rPr lang="en-US" baseline="0" dirty="0" smtClean="0"/>
                        <a:t>FY 2020</a:t>
                      </a:r>
                    </a:p>
                    <a:p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Life Expectancy at Birth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70.4 (SVRS 2013)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72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Under-five</a:t>
                      </a:r>
                      <a:r>
                        <a:rPr lang="en-US" baseline="0" dirty="0" smtClean="0"/>
                        <a:t> Mortality Rate (per 1,000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46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37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Infant </a:t>
                      </a:r>
                      <a:r>
                        <a:rPr lang="en-US" baseline="0" dirty="0" smtClean="0"/>
                        <a:t>Mortality Rate (per ,1000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38 (BDHS 2014)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Maternal </a:t>
                      </a:r>
                      <a:r>
                        <a:rPr lang="en-US" baseline="0" dirty="0" smtClean="0"/>
                        <a:t>Mortality Ratio(per 100,000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170 (MMEIG 2013)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105</a:t>
                      </a:r>
                      <a:endParaRPr lang="en-US" dirty="0"/>
                    </a:p>
                  </a:txBody>
                  <a:tcPr/>
                </a:tc>
              </a:tr>
              <a:tr h="621192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Under Weight among</a:t>
                      </a:r>
                      <a:r>
                        <a:rPr lang="en-US" baseline="0" dirty="0" smtClean="0"/>
                        <a:t> Under-five children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32.6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Proportion of stunting among</a:t>
                      </a:r>
                      <a:r>
                        <a:rPr lang="en-US" baseline="0" dirty="0" smtClean="0"/>
                        <a:t> Under-five children (%)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36.1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9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</a:t>
            </a:r>
            <a:r>
              <a:rPr lang="en-US" sz="4000" dirty="0" smtClean="0"/>
              <a:t>,Nutrition </a:t>
            </a:r>
            <a:r>
              <a:rPr lang="en-US" sz="4000" dirty="0"/>
              <a:t>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</a:t>
            </a:r>
            <a:r>
              <a:rPr lang="en-US" sz="4000" dirty="0" smtClean="0"/>
              <a:t>FYP</a:t>
            </a:r>
            <a:endParaRPr lang="en-US" sz="4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855438"/>
              </p:ext>
            </p:extLst>
          </p:nvPr>
        </p:nvGraphicFramePr>
        <p:xfrm>
          <a:off x="0" y="1295399"/>
          <a:ext cx="9144000" cy="5114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4343400"/>
                <a:gridCol w="2514600"/>
                <a:gridCol w="1752600"/>
              </a:tblGrid>
              <a:tr h="114092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(Impact/Outcome)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Base year’s information(source with year)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baseline="0" dirty="0" smtClean="0"/>
                        <a:t> FYP target </a:t>
                      </a:r>
                    </a:p>
                    <a:p>
                      <a:r>
                        <a:rPr lang="en-US" baseline="0" dirty="0" smtClean="0"/>
                        <a:t>FY 2020</a:t>
                      </a:r>
                    </a:p>
                    <a:p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410349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Total Fertility Rate (Children</a:t>
                      </a:r>
                      <a:r>
                        <a:rPr lang="en-US" baseline="0" dirty="0" smtClean="0"/>
                        <a:t> per Woman)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2.3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2.0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Contraceptive Prevalence</a:t>
                      </a:r>
                      <a:r>
                        <a:rPr lang="en-US" baseline="0" dirty="0" smtClean="0"/>
                        <a:t> Rate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62.4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Proportion of children fully vaccinated by 12 months </a:t>
                      </a:r>
                      <a:r>
                        <a:rPr lang="en-US" baseline="0" dirty="0" smtClean="0"/>
                        <a:t>(%)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78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95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</a:t>
                      </a:r>
                      <a:r>
                        <a:rPr lang="en-US" baseline="0" dirty="0" smtClean="0"/>
                        <a:t> of births attended medically trained provider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42.1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</a:tr>
              <a:tr h="877634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births</a:t>
                      </a:r>
                      <a:r>
                        <a:rPr lang="en-US" baseline="0" dirty="0" smtClean="0"/>
                        <a:t> in health facilities by wealth quintiles (Ratio of lowest and highest quantities)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15:69.5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1:3.5</a:t>
                      </a:r>
                      <a:endParaRPr lang="en-US" dirty="0"/>
                    </a:p>
                  </a:txBody>
                  <a:tcPr/>
                </a:tc>
              </a:tr>
              <a:tr h="681064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TB case detection rate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53 (GTR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2014 )                       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00600" y="6477000"/>
            <a:ext cx="4191000" cy="346841"/>
          </a:xfrm>
        </p:spPr>
        <p:txBody>
          <a:bodyPr/>
          <a:lstStyle/>
          <a:p>
            <a:pPr marL="0" indent="0">
              <a:buNone/>
            </a:pPr>
            <a:r>
              <a:rPr lang="en-US" sz="1600" b="1" i="1" dirty="0" smtClean="0"/>
              <a:t>Source: Ministry of Health and Family Welfare</a:t>
            </a:r>
            <a:endParaRPr lang="en-US" sz="1600" b="1" i="1" dirty="0"/>
          </a:p>
        </p:txBody>
      </p:sp>
    </p:spTree>
    <p:extLst>
      <p:ext uri="{BB962C8B-B14F-4D97-AF65-F5344CB8AC3E}">
        <p14:creationId xmlns:p14="http://schemas.microsoft.com/office/powerpoint/2010/main" val="261133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534400" cy="715962"/>
          </a:xfrm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8447" name="Group 7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538287"/>
              </p:ext>
            </p:extLst>
          </p:nvPr>
        </p:nvGraphicFramePr>
        <p:xfrm>
          <a:off x="152401" y="1524000"/>
          <a:ext cx="8686800" cy="5151966"/>
        </p:xfrm>
        <a:graphic>
          <a:graphicData uri="http://schemas.openxmlformats.org/drawingml/2006/table">
            <a:tbl>
              <a:tblPr/>
              <a:tblGrid>
                <a:gridCol w="1534936"/>
                <a:gridCol w="2808464"/>
                <a:gridCol w="2171700"/>
                <a:gridCol w="2171700"/>
              </a:tblGrid>
              <a:tr h="6247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Serial No.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Person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Post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Vacant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Doctor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Nurse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63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MLSS, Ward boy,  Ayah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04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Cleaner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05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Guard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Gardener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Electrician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Trolley man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 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09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Others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Total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151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31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228600" y="723792"/>
            <a:ext cx="85344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Important post of Human Resources</a:t>
            </a:r>
          </a:p>
        </p:txBody>
      </p:sp>
    </p:spTree>
    <p:extLst>
      <p:ext uri="{BB962C8B-B14F-4D97-AF65-F5344CB8AC3E}">
        <p14:creationId xmlns:p14="http://schemas.microsoft.com/office/powerpoint/2010/main" val="85345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2017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929509912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2017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90283279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2017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442999"/>
              </p:ext>
            </p:extLst>
          </p:nvPr>
        </p:nvGraphicFramePr>
        <p:xfrm>
          <a:off x="1143000" y="2057400"/>
          <a:ext cx="6934199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4558568"/>
              </p:ext>
            </p:extLst>
          </p:nvPr>
        </p:nvGraphicFramePr>
        <p:xfrm>
          <a:off x="381000" y="1528465"/>
          <a:ext cx="84582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457200" y="1066800"/>
            <a:ext cx="8305800" cy="461665"/>
          </a:xfrm>
          <a:prstGeom prst="rect">
            <a:avLst/>
          </a:prstGeom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2017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6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85172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from 2015 to 2017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290331"/>
              </p:ext>
            </p:extLst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847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53 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20, 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6, 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14 manpower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 supports 10 manpower and an intercom with a cost of nearly two lac taka. 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repaired the boundary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wall and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5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 and donation of a biochemistry analyzer at a cost of 1,15,000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Taka. </a:t>
            </a: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donated a generator for 24 hours OT service    with a cost of nearly 33 thousand taka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Former-chairman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Jhenidah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Pourosova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supports 2 manpower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town supports 17 man power.</a:t>
            </a:r>
            <a:endParaRPr lang="en-US" sz="260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83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</a:t>
            </a:r>
            <a:r>
              <a:rPr lang="en-US" sz="2000" b="1" dirty="0" smtClean="0">
                <a:solidFill>
                  <a:schemeClr val="bg1"/>
                </a:solidFill>
              </a:rPr>
              <a:t>Hospital and Introduction </a:t>
            </a:r>
            <a:r>
              <a:rPr lang="en-US" sz="2000" b="1" dirty="0">
                <a:solidFill>
                  <a:schemeClr val="bg1"/>
                </a:solidFill>
              </a:rPr>
              <a:t>of TQM </a:t>
            </a:r>
            <a:r>
              <a:rPr lang="en-US" sz="2000" b="1" dirty="0" smtClean="0">
                <a:solidFill>
                  <a:schemeClr val="bg1"/>
                </a:solidFill>
              </a:rPr>
              <a:t>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3" y="3814916"/>
            <a:ext cx="43037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27206"/>
            <a:ext cx="4303713" cy="29527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685801"/>
            <a:ext cx="4281094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886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3733800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8900" y="3733800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 txBox="1">
            <a:spLocks/>
          </p:cNvSpPr>
          <p:nvPr/>
        </p:nvSpPr>
        <p:spPr bwMode="auto">
          <a:xfrm>
            <a:off x="228600" y="152400"/>
            <a:ext cx="86868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smtClean="0">
                <a:solidFill>
                  <a:schemeClr val="bg1"/>
                </a:solidFill>
              </a:rPr>
              <a:t>Changes in Surgery &amp; Pediatric Word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7475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3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8846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 smtClean="0">
                <a:solidFill>
                  <a:srgbClr val="FFFFFF"/>
                </a:solidFill>
              </a:rPr>
              <a:t>Waste </a:t>
            </a:r>
            <a:r>
              <a:rPr lang="en-US" sz="2800" b="1" dirty="0">
                <a:solidFill>
                  <a:srgbClr val="FFFFFF"/>
                </a:solidFill>
              </a:rPr>
              <a:t>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134" name="Right Arrow 9"/>
          <p:cNvSpPr>
            <a:spLocks noChangeArrowheads="1"/>
          </p:cNvSpPr>
          <p:nvPr/>
        </p:nvSpPr>
        <p:spPr bwMode="auto">
          <a:xfrm>
            <a:off x="426720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856038"/>
            <a:ext cx="40132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Office and Hospital </a:t>
            </a:r>
            <a:r>
              <a:rPr lang="en-US" sz="2800" b="1" dirty="0">
                <a:solidFill>
                  <a:schemeClr val="bg1"/>
                </a:solidFill>
              </a:rPr>
              <a:t>I</a:t>
            </a:r>
            <a:r>
              <a:rPr lang="en-US" sz="2800" b="1" dirty="0" smtClean="0">
                <a:solidFill>
                  <a:schemeClr val="bg1"/>
                </a:solidFill>
              </a:rPr>
              <a:t>nternal </a:t>
            </a:r>
            <a:r>
              <a:rPr lang="en-US" sz="2800" b="1" dirty="0">
                <a:solidFill>
                  <a:schemeClr val="bg1"/>
                </a:solidFill>
              </a:rPr>
              <a:t>E</a:t>
            </a:r>
            <a:r>
              <a:rPr lang="en-US" sz="2800" b="1" dirty="0" smtClean="0">
                <a:solidFill>
                  <a:schemeClr val="bg1"/>
                </a:solidFill>
              </a:rPr>
              <a:t>nvironment</a:t>
            </a:r>
          </a:p>
        </p:txBody>
      </p:sp>
      <p:pic>
        <p:nvPicPr>
          <p:cNvPr id="23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832350" y="3781425"/>
            <a:ext cx="3994150" cy="29210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9156" name="Picture 1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88" y="838200"/>
            <a:ext cx="4021137" cy="2743200"/>
          </a:xfrm>
        </p:spPr>
      </p:pic>
      <p:pic>
        <p:nvPicPr>
          <p:cNvPr id="49157" name="Picture 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6638" y="889000"/>
            <a:ext cx="4297362" cy="2616200"/>
          </a:xfrm>
        </p:spPr>
      </p:pic>
      <p:pic>
        <p:nvPicPr>
          <p:cNvPr id="25" name="Content Placeholder 6"/>
          <p:cNvPicPr>
            <a:picLocks noGrp="1" noChangeAspect="1"/>
          </p:cNvPicPr>
          <p:nvPr>
            <p:ph sz="quarter" idx="4294967295"/>
          </p:nvPr>
        </p:nvPicPr>
        <p:blipFill>
          <a:blip r:embed="rId5"/>
          <a:stretch>
            <a:fillRect/>
          </a:stretch>
        </p:blipFill>
        <p:spPr>
          <a:xfrm>
            <a:off x="0" y="3778250"/>
            <a:ext cx="4038600" cy="29781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76200" y="97155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46638" y="1003300"/>
            <a:ext cx="67151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897438" y="3933825"/>
            <a:ext cx="671512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After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76200" y="3895725"/>
            <a:ext cx="903288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Before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5344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dirty="0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waste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3962400" cy="26035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148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809999"/>
            <a:ext cx="4038600" cy="2908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84162" y="669925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3927929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5" descr="DSC0249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10100" y="852487"/>
            <a:ext cx="4419600" cy="2705100"/>
          </a:xfrm>
          <a:prstGeom prst="rect">
            <a:avLst/>
          </a:prstGeom>
          <a:noFill/>
          <a:ln/>
        </p:spPr>
      </p:pic>
      <p:pic>
        <p:nvPicPr>
          <p:cNvPr id="5" name="Picture 4" descr="DSC0254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407" y="852487"/>
            <a:ext cx="4257675" cy="2705100"/>
          </a:xfrm>
          <a:prstGeom prst="rect">
            <a:avLst/>
          </a:prstGeom>
          <a:noFill/>
          <a:ln/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91407" y="152400"/>
            <a:ext cx="8838293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- 2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3886200"/>
            <a:ext cx="4257675" cy="278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22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10" y="3886200"/>
            <a:ext cx="4133973" cy="2590800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86" y="3886200"/>
            <a:ext cx="4127426" cy="2590800"/>
          </a:xfrm>
        </p:spPr>
      </p:pic>
      <p:pic>
        <p:nvPicPr>
          <p:cNvPr id="11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219200"/>
            <a:ext cx="4038599" cy="2514268"/>
          </a:xfrm>
          <a:prstGeom prst="rect">
            <a:avLst/>
          </a:prstGeom>
        </p:spPr>
      </p:pic>
      <p:pic>
        <p:nvPicPr>
          <p:cNvPr id="7" name="Content Placeholder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4" y="1219200"/>
            <a:ext cx="4114800" cy="2563359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 bwMode="auto">
          <a:xfrm>
            <a:off x="246184" y="464343"/>
            <a:ext cx="8593015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10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36" y="1066800"/>
            <a:ext cx="4342829" cy="2514599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990600"/>
            <a:ext cx="4041775" cy="2667000"/>
          </a:xfrm>
        </p:spPr>
      </p:pic>
      <p:pic>
        <p:nvPicPr>
          <p:cNvPr id="12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3886198"/>
            <a:ext cx="4041606" cy="2819401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04798" y="457200"/>
            <a:ext cx="8537491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- 4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Content Placeholder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71" y="3886198"/>
            <a:ext cx="4293029" cy="281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10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417671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8" y="914400"/>
            <a:ext cx="4532312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114800"/>
            <a:ext cx="4495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4800"/>
            <a:ext cx="4257675" cy="2743200"/>
          </a:xfr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- 5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31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847725"/>
            <a:ext cx="4652963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8200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3981451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3962400"/>
            <a:ext cx="4662489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dministrator &amp; Mayor in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98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69490" y="601354"/>
            <a:ext cx="4191000" cy="2827646"/>
          </a:xfr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81" y="3599597"/>
            <a:ext cx="4343401" cy="2846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69" y="609600"/>
            <a:ext cx="4183626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81400"/>
            <a:ext cx="4237232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district high officials in hospital activities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26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1837" y="3895725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900487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122237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QIC meeting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4637087" y="3930816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 Sadar Hospital, Jhenaidah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</a:t>
            </a:r>
            <a:r>
              <a:rPr lang="en-US" b="1" dirty="0" err="1" smtClean="0"/>
              <a:t>Bangldesh</a:t>
            </a:r>
            <a:r>
              <a:rPr lang="en-US" b="1" dirty="0" smtClean="0"/>
              <a:t>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 </a:t>
            </a:r>
            <a:r>
              <a:rPr lang="en-US" b="1" dirty="0"/>
              <a:t>p</a:t>
            </a:r>
            <a:r>
              <a:rPr lang="en-US" b="1" dirty="0" smtClean="0"/>
              <a:t>erformance  of all services specially Pediatric, </a:t>
            </a:r>
            <a:r>
              <a:rPr lang="en-US" b="1" dirty="0"/>
              <a:t>o</a:t>
            </a:r>
            <a:r>
              <a:rPr lang="en-US" b="1" dirty="0" smtClean="0"/>
              <a:t>bstetric, operation and outdoor service.</a:t>
            </a:r>
            <a:endParaRPr lang="en-US" b="1" dirty="0"/>
          </a:p>
          <a:p>
            <a:pPr marL="0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b="1" dirty="0"/>
              <a:t>. Improved Cleanliness and </a:t>
            </a:r>
            <a:r>
              <a:rPr lang="en-US" b="1" dirty="0" smtClean="0"/>
              <a:t>Beautification of 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 </a:t>
            </a:r>
            <a:r>
              <a:rPr lang="en-US" b="1" dirty="0"/>
              <a:t>Functioning </a:t>
            </a:r>
            <a:r>
              <a:rPr lang="en-US" b="1" dirty="0" smtClean="0"/>
              <a:t>of X-Ray service and starting of Biochemistry investigation by local initiatives.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Piloting of “Model  District Hospital” is running in Jhenaidah Sadar Hospital.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 smtClean="0"/>
              <a:t>8. </a:t>
            </a:r>
            <a:r>
              <a:rPr lang="en-US" b="1" dirty="0"/>
              <a:t>The hospital is </a:t>
            </a:r>
            <a:r>
              <a:rPr lang="en-US" b="1" dirty="0" smtClean="0"/>
              <a:t>awarded 5 </a:t>
            </a:r>
            <a:r>
              <a:rPr lang="en-US" b="1" dirty="0"/>
              <a:t>times from 2013 to </a:t>
            </a:r>
            <a:r>
              <a:rPr lang="en-US" b="1" dirty="0" smtClean="0"/>
              <a:t>2017. </a:t>
            </a:r>
            <a:r>
              <a:rPr lang="en-US" b="1" dirty="0"/>
              <a:t>Stood first award by 5S-KAIZEN-TQM among the 100 bedded district hospitals by defeating </a:t>
            </a:r>
            <a:r>
              <a:rPr lang="en-US" b="1" dirty="0" err="1" smtClean="0"/>
              <a:t>Norsindi</a:t>
            </a:r>
            <a:r>
              <a:rPr lang="en-US" b="1" dirty="0" smtClean="0"/>
              <a:t> </a:t>
            </a:r>
            <a:r>
              <a:rPr lang="en-US" b="1" dirty="0"/>
              <a:t>Sadar Hospital.</a:t>
            </a:r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sz="2800" dirty="0" smtClean="0"/>
              <a:t>Situation of the hospital in May 2012 -1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867400"/>
          </a:xfrm>
        </p:spPr>
        <p:txBody>
          <a:bodyPr/>
          <a:lstStyle/>
          <a:p>
            <a:pPr marL="457200" indent="-457200">
              <a:buFont typeface="Arial" charset="0"/>
              <a:buAutoNum type="arabicPeriod"/>
              <a:defRPr/>
            </a:pPr>
            <a:r>
              <a:rPr lang="en-US" sz="1800" dirty="0" smtClean="0"/>
              <a:t>Unprotected Campus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       	a. Addicted person moved here and there at day and night.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       	b. Campus unclean goats and cows moved everywhere in day.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r>
              <a:rPr lang="en-US" sz="1800" dirty="0" smtClean="0"/>
              <a:t>       	c. Front of the hospital was full of posters.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r>
              <a:rPr lang="en-US" sz="1800" dirty="0" smtClean="0"/>
              <a:t>       	d. Broken cycle stand and there was a shade of </a:t>
            </a:r>
            <a:r>
              <a:rPr lang="en-US" sz="1800" dirty="0" err="1" smtClean="0"/>
              <a:t>polithin</a:t>
            </a:r>
            <a:r>
              <a:rPr lang="en-US" sz="1800" dirty="0" smtClean="0"/>
              <a:t> in front of the cycle 	stand.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e. </a:t>
            </a:r>
            <a:r>
              <a:rPr lang="en-US" sz="1800" dirty="0" err="1" smtClean="0"/>
              <a:t>Vesoz</a:t>
            </a:r>
            <a:r>
              <a:rPr lang="en-US" sz="1800" dirty="0" smtClean="0"/>
              <a:t> Garden was unclean and full of hospital waste.</a:t>
            </a:r>
          </a:p>
          <a:p>
            <a:pPr marL="457200" indent="-457200">
              <a:buFont typeface="Arial" charset="0"/>
              <a:buAutoNum type="arabicPeriod" startAt="2"/>
              <a:defRPr/>
            </a:pPr>
            <a:r>
              <a:rPr lang="en-US" sz="1800" dirty="0" smtClean="0"/>
              <a:t>Emergency: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a. Full of broken lockers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b. Unhygienic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c. Used as a cycle store at night.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d. No boiling system. Infection control system was neglected.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	e. Addicted person worked in emergency department.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f. No trolley man.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	g. No slopping for trolley in front of the emergency department.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h. Privacy was neglected during stomach wash of the patient.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r>
              <a:rPr lang="en-US" sz="1800" dirty="0" smtClean="0"/>
              <a:t>i. Corruption was not prevented.</a:t>
            </a:r>
          </a:p>
          <a:p>
            <a:pPr marL="0" indent="0">
              <a:buFont typeface="Arial" charset="0"/>
              <a:buNone/>
              <a:defRPr/>
            </a:pPr>
            <a:endParaRPr lang="en-US" sz="1800" dirty="0" smtClean="0"/>
          </a:p>
          <a:p>
            <a:pPr marL="0" indent="0">
              <a:buFont typeface="Arial" charset="0"/>
              <a:buNone/>
              <a:defRPr/>
            </a:pP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59578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4572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sz="2400" dirty="0" smtClean="0"/>
              <a:t>Situation of the hospital in May 2012 -2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943600"/>
          </a:xfrm>
        </p:spPr>
        <p:txBody>
          <a:bodyPr/>
          <a:lstStyle/>
          <a:p>
            <a:pPr>
              <a:buFont typeface="Arial" charset="0"/>
              <a:buAutoNum type="arabicPeriod" startAt="6"/>
              <a:defRPr/>
            </a:pPr>
            <a:endParaRPr lang="en-US" sz="1800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3.      Outdoor: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	a. No patient separation. Male female and child treated in outdoor by every 	outdoor doctor.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b. No IMCI Corner.                        c. No  FP Unit.</a:t>
            </a:r>
          </a:p>
          <a:p>
            <a:pPr>
              <a:buFont typeface="Arial" charset="0"/>
              <a:buAutoNum type="arabicPeriod" startAt="4"/>
              <a:defRPr/>
            </a:pPr>
            <a:r>
              <a:rPr lang="en-US" sz="1800" dirty="0" smtClean="0"/>
              <a:t>Blood Bank: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       	a. No worker for 24 Hours blood bank support.</a:t>
            </a:r>
            <a:endParaRPr lang="en-US" sz="1800" dirty="0"/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5.    Indoor: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a. Unwanted items within the ward. Like broken patient bed.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b. Unhygienic environment.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c.  Patient in paying cabin and paying ward without govt. charge.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d. No table and chair in paying cabin.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e. Non Govt. worker would take charge from the patient and some of the 	govt. workers also involved in corruption.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6.     Dead body room: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a. Unclean.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b. Unused large telephone box for 10 years.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c. Workers would take heavy charge from the relatives of the dead person.</a:t>
            </a:r>
          </a:p>
          <a:p>
            <a:pPr marL="0" indent="0">
              <a:buFont typeface="Arial" charset="0"/>
              <a:buNone/>
              <a:defRPr/>
            </a:pP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3864389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sz="2800" dirty="0" smtClean="0"/>
              <a:t>Situation of the hospital in May 2012 -3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534400" cy="6096000"/>
          </a:xfrm>
        </p:spPr>
        <p:txBody>
          <a:bodyPr/>
          <a:lstStyle/>
          <a:p>
            <a:pPr>
              <a:buFont typeface="Arial" charset="0"/>
              <a:buAutoNum type="arabicPeriod" startAt="6"/>
              <a:defRPr/>
            </a:pPr>
            <a:r>
              <a:rPr lang="en-US" sz="1600" dirty="0" smtClean="0"/>
              <a:t>EOC ward: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a. Only 4 govt. bed and 4 extra. Total 8 beds.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b. The ward was unhygienic and foul smelling.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c.  Privacy was neglected.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d. ANC Corner system ineffective.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e. One washroom with broken door.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f.  No </a:t>
            </a:r>
            <a:r>
              <a:rPr lang="en-US" sz="1600" dirty="0" err="1" smtClean="0"/>
              <a:t>rexin</a:t>
            </a:r>
            <a:r>
              <a:rPr lang="en-US" sz="1600" dirty="0" smtClean="0"/>
              <a:t> sheet and unclean mattress of the beds.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g. Mal use of oxytocic drug. 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h. Weak infection control system.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i. Consultant reside outside the campus.	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j. No health education system.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k. No pre </a:t>
            </a:r>
            <a:r>
              <a:rPr lang="en-US" sz="1600" dirty="0" err="1" smtClean="0"/>
              <a:t>labour</a:t>
            </a:r>
            <a:r>
              <a:rPr lang="en-US" sz="1600" dirty="0" smtClean="0"/>
              <a:t> room.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sz="1600" dirty="0" smtClean="0"/>
              <a:t>	l. No night round of the consultant.</a:t>
            </a:r>
          </a:p>
          <a:p>
            <a:pPr>
              <a:buFont typeface="Arial" charset="0"/>
              <a:buAutoNum type="arabicPeriod" startAt="7"/>
              <a:defRPr/>
            </a:pPr>
            <a:r>
              <a:rPr lang="en-US" sz="1600" dirty="0" smtClean="0"/>
              <a:t>OT</a:t>
            </a:r>
            <a:r>
              <a:rPr lang="en-US" sz="1600" dirty="0"/>
              <a:t>:</a:t>
            </a:r>
            <a:endParaRPr lang="en-US" sz="1600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600" dirty="0"/>
              <a:t> </a:t>
            </a:r>
            <a:r>
              <a:rPr lang="en-US" sz="1600" dirty="0" smtClean="0"/>
              <a:t> 	a. Some of the none govt. workers would take charge from the patient.</a:t>
            </a:r>
          </a:p>
          <a:p>
            <a:pPr marL="228600" indent="-228600">
              <a:buFont typeface="Arial" charset="0"/>
              <a:buAutoNum type="arabicPeriod" startAt="9"/>
              <a:defRPr/>
            </a:pPr>
            <a:r>
              <a:rPr lang="en-US" sz="1600" dirty="0" smtClean="0"/>
              <a:t>     No round of superintendent of the hospital even one in a month.</a:t>
            </a:r>
          </a:p>
          <a:p>
            <a:pPr marL="228600" indent="-228600">
              <a:buFont typeface="Arial" charset="0"/>
              <a:buAutoNum type="arabicPeriod" startAt="9"/>
              <a:defRPr/>
            </a:pPr>
            <a:r>
              <a:rPr lang="en-US" sz="1600" dirty="0" smtClean="0"/>
              <a:t>    No RMO, in charge RMO worked for six years.</a:t>
            </a:r>
          </a:p>
          <a:p>
            <a:pPr marL="228600" indent="-228600">
              <a:buFont typeface="Arial" charset="0"/>
              <a:buAutoNum type="arabicPeriod" startAt="9"/>
              <a:defRPr/>
            </a:pPr>
            <a:r>
              <a:rPr lang="en-US" sz="1600" dirty="0" smtClean="0"/>
              <a:t>    Information display system was neglected.</a:t>
            </a:r>
          </a:p>
          <a:p>
            <a:pPr marL="228600" indent="-228600">
              <a:buFont typeface="Arial" charset="0"/>
              <a:buAutoNum type="arabicPeriod" startAt="9"/>
              <a:defRPr/>
            </a:pPr>
            <a:r>
              <a:rPr lang="en-US" sz="1600" dirty="0" smtClean="0"/>
              <a:t>    One super were charged by local MP and one super fled away.</a:t>
            </a:r>
          </a:p>
          <a:p>
            <a:pPr marL="228600" indent="-228600">
              <a:buFont typeface="Arial" charset="0"/>
              <a:buAutoNum type="arabicPeriod" startAt="9"/>
              <a:defRPr/>
            </a:pPr>
            <a:r>
              <a:rPr lang="en-US" sz="1600" dirty="0" smtClean="0"/>
              <a:t>    Frequently, Hospital stuffs faced physical and mental torture.</a:t>
            </a:r>
          </a:p>
          <a:p>
            <a:pPr marL="0" indent="0">
              <a:buFont typeface="Arial" charset="0"/>
              <a:buNone/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68424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/>
              <a:t>How we overcome the challenges</a:t>
            </a:r>
            <a:endParaRPr lang="en-US" sz="3200" dirty="0"/>
          </a:p>
        </p:txBody>
      </p:sp>
      <p:sp>
        <p:nvSpPr>
          <p:cNvPr id="64515" name="Rectangle 8"/>
          <p:cNvSpPr>
            <a:spLocks noChangeArrowheads="1"/>
          </p:cNvSpPr>
          <p:nvPr/>
        </p:nvSpPr>
        <p:spPr bwMode="auto">
          <a:xfrm>
            <a:off x="609600" y="914400"/>
            <a:ext cx="8077200" cy="677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</a:rPr>
              <a:t>1.                Situation analysis and prepare a baseline survey report in June 2012 and compared the    	progress with the baseline report of 1998.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a.   Problem identification. </a:t>
            </a:r>
            <a:r>
              <a:rPr lang="en-US" sz="1400" dirty="0" smtClean="0">
                <a:solidFill>
                  <a:srgbClr val="000000"/>
                </a:solidFill>
              </a:rPr>
              <a:t>*Problems of the hospital 1 &amp; 2 (Later)</a:t>
            </a:r>
            <a:endParaRPr lang="en-US" sz="1400" dirty="0">
              <a:solidFill>
                <a:srgbClr val="000000"/>
              </a:solidFill>
            </a:endParaRPr>
          </a:p>
          <a:p>
            <a:r>
              <a:rPr lang="en-US" sz="1400" dirty="0">
                <a:solidFill>
                  <a:srgbClr val="000000"/>
                </a:solidFill>
              </a:rPr>
              <a:t>	b.   Basic activities.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c.   Govt. resources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d.   Scope</a:t>
            </a:r>
          </a:p>
          <a:p>
            <a:r>
              <a:rPr lang="en-US" sz="1400" dirty="0">
                <a:solidFill>
                  <a:srgbClr val="000000"/>
                </a:solidFill>
              </a:rPr>
              <a:t>2.	Motivation of doctors, nurses and staff.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</a:rPr>
              <a:t>3.	Community motivation and social mobilization.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a.   Local administration </a:t>
            </a:r>
            <a:r>
              <a:rPr lang="en-US" sz="1400" dirty="0" smtClean="0">
                <a:solidFill>
                  <a:srgbClr val="000000"/>
                </a:solidFill>
              </a:rPr>
              <a:t>DC, </a:t>
            </a:r>
            <a:r>
              <a:rPr lang="en-US" sz="1400" dirty="0">
                <a:solidFill>
                  <a:srgbClr val="000000"/>
                </a:solidFill>
              </a:rPr>
              <a:t>ADC 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b.   District health improvement committee which is headed by 		      	      local MP.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c.   Local Govt. Mayor, district chairmen.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d.   Reporters and media personalities.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e.   Social workers, Human Rights Organizations, few NGO, 		      	      teachers, industrialists , </a:t>
            </a:r>
            <a:r>
              <a:rPr lang="en-US" sz="1400" dirty="0" smtClean="0">
                <a:solidFill>
                  <a:srgbClr val="000000"/>
                </a:solidFill>
              </a:rPr>
              <a:t>TIB .&amp; religious leaders</a:t>
            </a:r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r>
              <a:rPr lang="en-US" sz="1400" dirty="0">
                <a:solidFill>
                  <a:srgbClr val="000000"/>
                </a:solidFill>
              </a:rPr>
              <a:t>4.	Improved cleanliness and beautification of the outer environment.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a.   Involvement of Mayor. Ensure security of the campus and regular  	       	      removal of hospital wastes, cleanliness of the drainage system.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b.   Removal of all posters.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c.   Made a boundary wall.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d.   Starting for the beautification of the campus.</a:t>
            </a:r>
          </a:p>
          <a:p>
            <a:r>
              <a:rPr lang="en-US" sz="1400" dirty="0">
                <a:solidFill>
                  <a:srgbClr val="000000"/>
                </a:solidFill>
              </a:rPr>
              <a:t>	e.   Celebrate A Big Cleaning Day in 17th March, the birthday of the father of the nation.</a:t>
            </a: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726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/>
              <a:t>How we overcome the challenges -2</a:t>
            </a:r>
            <a:endParaRPr lang="en-US" sz="2800" dirty="0"/>
          </a:p>
        </p:txBody>
      </p:sp>
      <p:sp>
        <p:nvSpPr>
          <p:cNvPr id="62467" name="Rectangle 3"/>
          <p:cNvSpPr>
            <a:spLocks noChangeArrowheads="1"/>
          </p:cNvSpPr>
          <p:nvPr/>
        </p:nvSpPr>
        <p:spPr bwMode="auto">
          <a:xfrm>
            <a:off x="381000" y="990600"/>
            <a:ext cx="83820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</a:rPr>
              <a:t>5.	Reform of EOC program:</a:t>
            </a:r>
          </a:p>
          <a:p>
            <a:pPr marL="342900" indent="-342900" algn="just" eaLnBrk="1" hangingPunct="1">
              <a:defRPr/>
            </a:pPr>
            <a:endParaRPr lang="en-US" sz="16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algn="just" eaLnBrk="1" hangingPunct="1">
              <a:defRPr/>
            </a:pPr>
            <a:r>
              <a:rPr lang="en-US" sz="1600" dirty="0"/>
              <a:t>	-Introduce </a:t>
            </a:r>
            <a:r>
              <a:rPr lang="en-US" sz="1600" dirty="0" err="1"/>
              <a:t>Labour</a:t>
            </a:r>
            <a:r>
              <a:rPr lang="en-US" sz="1600" dirty="0"/>
              <a:t> Admission Register, </a:t>
            </a:r>
            <a:r>
              <a:rPr lang="en-US" sz="1600" dirty="0" err="1"/>
              <a:t>Labour</a:t>
            </a:r>
            <a:r>
              <a:rPr lang="en-US" sz="1600" dirty="0"/>
              <a:t> Ward Admission Form, Separate 	Discharge Form. </a:t>
            </a:r>
          </a:p>
          <a:p>
            <a:pPr lvl="1" algn="just" eaLnBrk="1" hangingPunct="1">
              <a:defRPr/>
            </a:pPr>
            <a:r>
              <a:rPr lang="en-US" sz="1600" dirty="0"/>
              <a:t>	-Starting of ANC &amp; PNC corner and Arrange a Room for Medical Officer.</a:t>
            </a:r>
          </a:p>
          <a:p>
            <a:pPr lvl="1" algn="just" eaLnBrk="1" hangingPunct="1">
              <a:defRPr/>
            </a:pPr>
            <a:r>
              <a:rPr lang="en-US" sz="1600" dirty="0"/>
              <a:t>	-NO. of EOC Bed increase from 10 to 21 though on EOC bed only 5.</a:t>
            </a:r>
          </a:p>
          <a:p>
            <a:pPr lvl="1" algn="just" eaLnBrk="1" hangingPunct="1">
              <a:defRPr/>
            </a:pPr>
            <a:r>
              <a:rPr lang="en-US" sz="1600" dirty="0"/>
              <a:t>	-Improve EOC Operation Theater. </a:t>
            </a:r>
          </a:p>
          <a:p>
            <a:pPr lvl="1" algn="just" eaLnBrk="1" hangingPunct="1">
              <a:defRPr/>
            </a:pPr>
            <a:r>
              <a:rPr lang="en-US" sz="1600" dirty="0"/>
              <a:t>	-Moral based environment with 12 (twelve) workers supported by community 	donors. </a:t>
            </a:r>
          </a:p>
          <a:p>
            <a:pPr lvl="1" algn="just" eaLnBrk="1" hangingPunct="1">
              <a:defRPr/>
            </a:pPr>
            <a:r>
              <a:rPr lang="en-US" sz="1600" dirty="0"/>
              <a:t>	-EOC Operation activities extended from 8 A.M. to 2 P.M to 8 P.M.</a:t>
            </a:r>
          </a:p>
          <a:p>
            <a:pPr lvl="1" algn="just" eaLnBrk="1" hangingPunct="1">
              <a:defRPr/>
            </a:pPr>
            <a:r>
              <a:rPr lang="en-US" sz="1600" dirty="0"/>
              <a:t>	-Ensuring Rational use of drugs in EOC ward. </a:t>
            </a:r>
          </a:p>
          <a:p>
            <a:pPr lvl="1" algn="just" eaLnBrk="1" hangingPunct="1">
              <a:defRPr/>
            </a:pPr>
            <a:r>
              <a:rPr lang="en-US" sz="1600" dirty="0"/>
              <a:t>	-Provision of Mobile Phone in EOC ward no. 01857935012.</a:t>
            </a:r>
          </a:p>
          <a:p>
            <a:pPr lvl="1" algn="just" eaLnBrk="1" hangingPunct="1">
              <a:defRPr/>
            </a:pPr>
            <a:r>
              <a:rPr lang="en-US" sz="1600" dirty="0"/>
              <a:t>	-Shoe-free environment for infection control.</a:t>
            </a:r>
          </a:p>
          <a:p>
            <a:pPr lvl="1" algn="just" eaLnBrk="1" hangingPunct="1">
              <a:defRPr/>
            </a:pPr>
            <a:r>
              <a:rPr lang="en-US" sz="1600" dirty="0"/>
              <a:t>	-The center is used as a effective training center for SBA, Nursing student, Mid-	</a:t>
            </a:r>
            <a:r>
              <a:rPr lang="en-US" sz="1600" dirty="0" err="1"/>
              <a:t>wifiry</a:t>
            </a:r>
            <a:r>
              <a:rPr lang="en-US" sz="1600" dirty="0"/>
              <a:t>.</a:t>
            </a:r>
          </a:p>
          <a:p>
            <a:pPr lvl="1" algn="just" eaLnBrk="1" hangingPunct="1"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3399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sz="1600" dirty="0" smtClean="0"/>
              <a:t>6. Changes in Emergency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a. Removal of all unnecessary items.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b. Improved infection control system.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c. Transfer the addicted person from emergency,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d. EMOS room is reformed. 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e. Arrange 3 trolley men.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f.  Tiles fitting of the walls of emergency department.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g. Ensure privacy.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h. Make a slope for easy carry of the patient.</a:t>
            </a:r>
          </a:p>
          <a:p>
            <a:pPr marL="0" indent="0">
              <a:buFontTx/>
              <a:buNone/>
              <a:defRPr/>
            </a:pPr>
            <a:r>
              <a:rPr lang="en-US" sz="1600" dirty="0" smtClean="0"/>
              <a:t>7. Changes in outdoor: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a. Separation of the outdoor patient. Male, Female, IMCI 	  	    	    corner. </a:t>
            </a:r>
            <a:r>
              <a:rPr lang="en-US" sz="1600" dirty="0"/>
              <a:t>	</a:t>
            </a:r>
            <a:endParaRPr lang="en-US" sz="1600" dirty="0" smtClean="0"/>
          </a:p>
          <a:p>
            <a:pPr marL="0" indent="0">
              <a:buFontTx/>
              <a:buNone/>
              <a:defRPr/>
            </a:pPr>
            <a:r>
              <a:rPr lang="en-US" sz="1600" dirty="0" smtClean="0"/>
              <a:t>	b. Opening of family planning section.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c. Opening of one step crisis service.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d. Opening of one cash counter and another delivery of report 	    	    system. </a:t>
            </a:r>
          </a:p>
          <a:p>
            <a:pPr>
              <a:buFontTx/>
              <a:buAutoNum type="arabicPeriod" startAt="8"/>
              <a:defRPr/>
            </a:pPr>
            <a:r>
              <a:rPr lang="en-US" sz="1600" dirty="0" smtClean="0"/>
              <a:t>Change in dead body room: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a. Removal of telephone box.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b. Ensure clean environment.   </a:t>
            </a:r>
          </a:p>
          <a:p>
            <a:pPr marL="0" indent="0">
              <a:buFontTx/>
              <a:buNone/>
              <a:defRPr/>
            </a:pPr>
            <a:r>
              <a:rPr lang="en-US" sz="1600" dirty="0"/>
              <a:t>	</a:t>
            </a:r>
            <a:r>
              <a:rPr lang="en-US" sz="1600" dirty="0" smtClean="0"/>
              <a:t>c. Prevention of corruption.     </a:t>
            </a:r>
            <a:endParaRPr lang="en-US" sz="16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2000" dirty="0" smtClean="0"/>
              <a:t>How we overcome the challenges -3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77156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Content Placeholder 3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1600" smtClean="0"/>
              <a:t>9. Changes in blood bank:</a:t>
            </a:r>
          </a:p>
          <a:p>
            <a:pPr marL="0" indent="0">
              <a:buFontTx/>
              <a:buNone/>
            </a:pPr>
            <a:r>
              <a:rPr lang="en-US" sz="1600" smtClean="0"/>
              <a:t>	a. 24 hours blood bank service by the support of blood bank rule.</a:t>
            </a:r>
          </a:p>
          <a:p>
            <a:pPr marL="0" indent="0">
              <a:buFontTx/>
              <a:buNone/>
            </a:pPr>
            <a:r>
              <a:rPr lang="en-US" sz="1600" smtClean="0"/>
              <a:t>10. Changes in G OT</a:t>
            </a:r>
          </a:p>
          <a:p>
            <a:pPr marL="0" indent="0">
              <a:buFontTx/>
              <a:buNone/>
            </a:pPr>
            <a:r>
              <a:rPr lang="en-US" sz="1600" smtClean="0"/>
              <a:t>	a. Arrange Generator.</a:t>
            </a:r>
          </a:p>
          <a:p>
            <a:pPr marL="0" indent="0">
              <a:buFontTx/>
              <a:buNone/>
            </a:pPr>
            <a:r>
              <a:rPr lang="en-US" sz="1600" smtClean="0"/>
              <a:t>	b. Prevent corruption.</a:t>
            </a:r>
          </a:p>
          <a:p>
            <a:pPr marL="0" indent="0">
              <a:buFontTx/>
              <a:buNone/>
            </a:pPr>
            <a:r>
              <a:rPr lang="en-US" sz="1600" smtClean="0"/>
              <a:t>	c. Beautiful OT environment.</a:t>
            </a:r>
          </a:p>
          <a:p>
            <a:pPr marL="0" indent="0">
              <a:buFontTx/>
              <a:buNone/>
            </a:pPr>
            <a:r>
              <a:rPr lang="en-US" sz="1600" smtClean="0"/>
              <a:t>11. Changes in indoor:</a:t>
            </a:r>
          </a:p>
          <a:p>
            <a:pPr marL="0" indent="0">
              <a:buFontTx/>
              <a:buNone/>
            </a:pPr>
            <a:r>
              <a:rPr lang="en-US" sz="1600" smtClean="0"/>
              <a:t>	a. Improve cleanliness.</a:t>
            </a:r>
          </a:p>
          <a:p>
            <a:pPr marL="0" indent="0">
              <a:buFontTx/>
              <a:buNone/>
            </a:pPr>
            <a:r>
              <a:rPr lang="en-US" sz="1600" smtClean="0"/>
              <a:t>	b. Arrange tiles at the wall of the female medicine indoor.</a:t>
            </a:r>
          </a:p>
          <a:p>
            <a:pPr marL="0" indent="0">
              <a:buFontTx/>
              <a:buNone/>
            </a:pPr>
            <a:r>
              <a:rPr lang="en-US" sz="1600" smtClean="0"/>
              <a:t>	c. Removal of unwanted items.</a:t>
            </a:r>
          </a:p>
          <a:p>
            <a:pPr marL="0" indent="0">
              <a:buFontTx/>
              <a:buNone/>
            </a:pPr>
            <a:r>
              <a:rPr lang="en-US" sz="1600" smtClean="0"/>
              <a:t>	d. Coloring of the patient beds, locker.</a:t>
            </a:r>
          </a:p>
          <a:p>
            <a:pPr marL="0" indent="0">
              <a:buFontTx/>
              <a:buNone/>
            </a:pPr>
            <a:r>
              <a:rPr lang="en-US" sz="1600" smtClean="0"/>
              <a:t>	e. Arrange 3 ayah and 3 cleaner in every ward.</a:t>
            </a:r>
          </a:p>
          <a:p>
            <a:pPr marL="0" indent="0">
              <a:buFontTx/>
              <a:buNone/>
            </a:pPr>
            <a:r>
              <a:rPr lang="en-US" sz="1600" smtClean="0"/>
              <a:t>	f. Table an chair supplies in every cabin for the patient.</a:t>
            </a:r>
          </a:p>
          <a:p>
            <a:pPr marL="0" indent="0">
              <a:buFontTx/>
              <a:buNone/>
            </a:pPr>
            <a:r>
              <a:rPr lang="en-US" sz="1600" smtClean="0"/>
              <a:t>	  </a:t>
            </a:r>
          </a:p>
          <a:p>
            <a:pPr marL="0" indent="0">
              <a:buFontTx/>
              <a:buNone/>
            </a:pPr>
            <a:r>
              <a:rPr lang="en-US" sz="1600" smtClean="0"/>
              <a:t>.    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2000" dirty="0" smtClean="0"/>
              <a:t>How we overcome the challenges -4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75074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457200" y="274638"/>
            <a:ext cx="8229600" cy="4111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r>
              <a:rPr lang="en-US" sz="2800" dirty="0" smtClean="0"/>
              <a:t>How we overcome the challenges -5</a:t>
            </a:r>
            <a:endParaRPr lang="en-US" sz="2800" dirty="0"/>
          </a:p>
        </p:txBody>
      </p:sp>
      <p:sp>
        <p:nvSpPr>
          <p:cNvPr id="68611" name="Content Placeholder 5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12.	Community support system.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a. Manpower, b. logistics, c. security system.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13.	Improved MIS and Display system.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14.	Improved supervisory authority.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a. District health development authority.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b. Ensure monthly meeting.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c. Formation of QIT and WIT team.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d. Idea sharing with Satkhira District Hospital visit.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e. Coordination with officials of DGHS, Ministry of Health and Family 	Welfare, BPATC Savar, Divisional Health Office, ICDDRB and JAICA.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endParaRPr lang="en-US" sz="1800" smtClean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15.	Achievements: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a. Active community participation.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b. High performance of EOC program.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c. Improved cleanliness and beautification.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d. Ensure security.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e. Improved revenue income.</a:t>
            </a:r>
          </a:p>
          <a:p>
            <a:pPr marL="0" indent="0">
              <a:spcBef>
                <a:spcPct val="0"/>
              </a:spcBef>
              <a:buFont typeface="Arial" charset="0"/>
              <a:buNone/>
            </a:pPr>
            <a:r>
              <a:rPr lang="en-US" sz="1800" smtClean="0">
                <a:solidFill>
                  <a:srgbClr val="000000"/>
                </a:solidFill>
                <a:latin typeface="Arial" charset="0"/>
                <a:cs typeface="Arial" charset="0"/>
              </a:rPr>
              <a:t>	f.  Achieve overall community satisfaction.</a:t>
            </a:r>
          </a:p>
          <a:p>
            <a:pPr marL="0" indent="0">
              <a:buFont typeface="Arial" charset="0"/>
              <a:buNone/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07128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76400" y="114300"/>
            <a:ext cx="6011863" cy="889000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3200" b="1" smtClean="0">
                <a:solidFill>
                  <a:schemeClr val="bg1"/>
                </a:solidFill>
              </a:rPr>
              <a:t>Problems</a:t>
            </a:r>
            <a:r>
              <a:rPr lang="en-US" sz="4000" b="1" smtClean="0">
                <a:solidFill>
                  <a:schemeClr val="bg1"/>
                </a:solidFill>
              </a:rPr>
              <a:t> </a:t>
            </a:r>
            <a:r>
              <a:rPr lang="en-US" sz="3200" b="1" smtClean="0">
                <a:solidFill>
                  <a:schemeClr val="bg1"/>
                </a:solidFill>
              </a:rPr>
              <a:t>of Sadar Hospital-1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68400"/>
            <a:ext cx="8229600" cy="52371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400" smtClean="0"/>
              <a:t>100 Beded Hospital running with 50 beded manpower since 1994.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There are 9 unit in hospital (wards 06, OT, Out door, Emergency) needs cleaners about 36 but there are only 7 cleaners. 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There is no post of Aya, Ward boy, Security guard in the Hospital. 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There is no post of indoor medical officer so hamper indoor service &amp; night rounds.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One (01) anesthesiologist working for surgery, gynae, Orthopedics, ENT, Eye, 24 hours EOC &amp; emergency service.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There is no effective waste management system.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Condemnation board is not working regularly due to administrative problems.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Many of the instruments and equipments are not functioning due to lack of bio-technologist &amp; funds for repair.  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There is no target for indoor-outdoor patient &amp; huge number of indoor &amp; out door patient creates a heavy loads for services providers . 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MIS system is weak and there is no hospital action plan.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No client satisfaction survey system. 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The number of nurses is very few.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Hospital health management committee &amp; monthly co-ordination committee meeting is not perform regularly. 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Female privacy is not properly maintained.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Insufficient in toilets &amp; safe drinking water supply. 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Influential person influence on tenders of drugs, free cabin &amp; paying ward.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Auditing &amp; accounting system is not corruption free.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Consultants &amp; MOs are also the teacher of NTC, MATS etc. which affect hospital services. </a:t>
            </a:r>
          </a:p>
          <a:p>
            <a:pPr algn="just">
              <a:lnSpc>
                <a:spcPct val="80000"/>
              </a:lnSpc>
            </a:pPr>
            <a:r>
              <a:rPr lang="en-US" sz="1400" smtClean="0"/>
              <a:t>Three doctors are illegally suspended. </a:t>
            </a:r>
          </a:p>
          <a:p>
            <a:pPr algn="just">
              <a:lnSpc>
                <a:spcPct val="80000"/>
              </a:lnSpc>
              <a:buFontTx/>
              <a:buNone/>
            </a:pPr>
            <a:endParaRPr lang="en-US" sz="1400" smtClean="0"/>
          </a:p>
        </p:txBody>
      </p:sp>
    </p:spTree>
    <p:extLst>
      <p:ext uri="{BB962C8B-B14F-4D97-AF65-F5344CB8AC3E}">
        <p14:creationId xmlns:p14="http://schemas.microsoft.com/office/powerpoint/2010/main" val="1784859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685800"/>
            <a:ext cx="5943600" cy="584200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Problems of </a:t>
            </a:r>
            <a:r>
              <a:rPr lang="en-US" sz="3200" b="1" dirty="0" err="1" smtClean="0">
                <a:solidFill>
                  <a:schemeClr val="bg1"/>
                </a:solidFill>
              </a:rPr>
              <a:t>Sadar</a:t>
            </a:r>
            <a:r>
              <a:rPr lang="en-US" sz="3200" b="1" dirty="0" smtClean="0">
                <a:solidFill>
                  <a:schemeClr val="bg1"/>
                </a:solidFill>
              </a:rPr>
              <a:t> Hospital-2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447800"/>
            <a:ext cx="82296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sz="1600" smtClean="0"/>
          </a:p>
          <a:p>
            <a:pPr>
              <a:lnSpc>
                <a:spcPct val="90000"/>
              </a:lnSpc>
              <a:buFontTx/>
              <a:buNone/>
            </a:pPr>
            <a:endParaRPr lang="en-US" sz="1600" smtClean="0"/>
          </a:p>
          <a:p>
            <a:pPr>
              <a:lnSpc>
                <a:spcPct val="90000"/>
              </a:lnSpc>
            </a:pPr>
            <a:r>
              <a:rPr lang="en-US" sz="1600" smtClean="0"/>
              <a:t>There is no visitor control system .</a:t>
            </a:r>
          </a:p>
          <a:p>
            <a:pPr>
              <a:lnSpc>
                <a:spcPct val="90000"/>
              </a:lnSpc>
            </a:pPr>
            <a:r>
              <a:rPr lang="en-US" sz="1600" smtClean="0"/>
              <a:t>EPI, ORT corner, DOTS corner, VIA centre  are running  with least or no defined health personnel.</a:t>
            </a:r>
          </a:p>
          <a:p>
            <a:pPr>
              <a:lnSpc>
                <a:spcPct val="90000"/>
              </a:lnSpc>
            </a:pPr>
            <a:r>
              <a:rPr lang="en-US" sz="1600" smtClean="0"/>
              <a:t>Health education systems is very poor .</a:t>
            </a:r>
          </a:p>
          <a:p>
            <a:pPr>
              <a:lnSpc>
                <a:spcPct val="90000"/>
              </a:lnSpc>
            </a:pPr>
            <a:r>
              <a:rPr lang="en-US" sz="1600" smtClean="0"/>
              <a:t>There is no pediatrician in this Hospital. </a:t>
            </a:r>
          </a:p>
          <a:p>
            <a:pPr>
              <a:lnSpc>
                <a:spcPct val="90000"/>
              </a:lnSpc>
            </a:pPr>
            <a:r>
              <a:rPr lang="en-US" sz="1600" smtClean="0"/>
              <a:t>There are 5 beds in EOC word, which is insufficient  for 40000  pregnant mother per year in Jhenidah District . </a:t>
            </a:r>
          </a:p>
          <a:p>
            <a:pPr>
              <a:lnSpc>
                <a:spcPct val="90000"/>
              </a:lnSpc>
            </a:pPr>
            <a:r>
              <a:rPr lang="en-US" sz="1600" smtClean="0"/>
              <a:t>There is no intercom system .</a:t>
            </a:r>
          </a:p>
          <a:p>
            <a:pPr>
              <a:lnSpc>
                <a:spcPct val="90000"/>
              </a:lnSpc>
            </a:pPr>
            <a:r>
              <a:rPr lang="en-US" sz="1600" smtClean="0"/>
              <a:t>There is no IMCI corner for under 5 children .</a:t>
            </a:r>
          </a:p>
          <a:p>
            <a:pPr>
              <a:lnSpc>
                <a:spcPct val="90000"/>
              </a:lnSpc>
            </a:pPr>
            <a:r>
              <a:rPr lang="en-US" sz="1600" smtClean="0"/>
              <a:t>Non health Issues  get less importance. </a:t>
            </a:r>
          </a:p>
          <a:p>
            <a:pPr>
              <a:lnSpc>
                <a:spcPct val="90000"/>
              </a:lnSpc>
            </a:pPr>
            <a:r>
              <a:rPr lang="en-US" sz="1600" smtClean="0"/>
              <a:t>Scarcity of blood in emergency need. </a:t>
            </a:r>
          </a:p>
          <a:p>
            <a:pPr>
              <a:lnSpc>
                <a:spcPct val="90000"/>
              </a:lnSpc>
            </a:pPr>
            <a:r>
              <a:rPr lang="en-US" sz="1600" smtClean="0"/>
              <a:t>There is no adolescence health corner.</a:t>
            </a:r>
          </a:p>
        </p:txBody>
      </p:sp>
    </p:spTree>
    <p:extLst>
      <p:ext uri="{BB962C8B-B14F-4D97-AF65-F5344CB8AC3E}">
        <p14:creationId xmlns:p14="http://schemas.microsoft.com/office/powerpoint/2010/main" val="2885611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b="1" dirty="0" smtClean="0"/>
              <a:t>Awards &amp; Appreciations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 smtClean="0"/>
              <a:t>           </a:t>
            </a:r>
            <a:r>
              <a:rPr lang="en-US" sz="1600" b="1" u="sng" dirty="0" smtClean="0"/>
              <a:t>Awards:</a:t>
            </a:r>
            <a:endParaRPr lang="en-US" sz="1600" dirty="0" smtClean="0"/>
          </a:p>
          <a:p>
            <a:pPr lvl="0"/>
            <a:r>
              <a:rPr lang="en-US" sz="1400" b="1" dirty="0" smtClean="0"/>
              <a:t>Community Service Award</a:t>
            </a:r>
            <a:r>
              <a:rPr lang="en-US" sz="1400" dirty="0" smtClean="0"/>
              <a:t> by OGSB in 2006. </a:t>
            </a:r>
          </a:p>
          <a:p>
            <a:pPr lvl="0"/>
            <a:r>
              <a:rPr lang="en-US" sz="1400" b="1" dirty="0" err="1" smtClean="0"/>
              <a:t>Besr</a:t>
            </a:r>
            <a:r>
              <a:rPr lang="en-US" sz="1400" b="1" dirty="0" smtClean="0"/>
              <a:t> performance Award</a:t>
            </a:r>
            <a:r>
              <a:rPr lang="en-US" sz="1400" dirty="0" smtClean="0"/>
              <a:t> by MOH &amp; FW and DGHS in 2008.</a:t>
            </a:r>
          </a:p>
          <a:p>
            <a:pPr lvl="0"/>
            <a:r>
              <a:rPr lang="en-US" sz="1400" b="1" dirty="0" smtClean="0"/>
              <a:t>Professor </a:t>
            </a:r>
            <a:r>
              <a:rPr lang="en-US" sz="1400" b="1" dirty="0" err="1" smtClean="0"/>
              <a:t>Muklechur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Rahman</a:t>
            </a:r>
            <a:r>
              <a:rPr lang="en-US" sz="1400" b="1" dirty="0" smtClean="0"/>
              <a:t> Award</a:t>
            </a:r>
            <a:r>
              <a:rPr lang="en-US" sz="1400" dirty="0" smtClean="0"/>
              <a:t> by OGSB in 2010. </a:t>
            </a:r>
          </a:p>
          <a:p>
            <a:pPr lvl="0"/>
            <a:r>
              <a:rPr lang="en-US" sz="1400" b="1" dirty="0" smtClean="0"/>
              <a:t>Kaizen Role Model Award </a:t>
            </a:r>
            <a:r>
              <a:rPr lang="en-US" sz="1400" dirty="0" smtClean="0"/>
              <a:t>by BPATC </a:t>
            </a:r>
            <a:r>
              <a:rPr lang="en-US" sz="1400" dirty="0" err="1" smtClean="0"/>
              <a:t>Savar</a:t>
            </a:r>
            <a:r>
              <a:rPr lang="en-US" sz="1400" dirty="0" smtClean="0"/>
              <a:t> in November 2013. </a:t>
            </a:r>
          </a:p>
          <a:p>
            <a:pPr lvl="0"/>
            <a:r>
              <a:rPr lang="en-US" sz="1400" b="1" dirty="0" smtClean="0"/>
              <a:t>Lifetime Award</a:t>
            </a:r>
            <a:r>
              <a:rPr lang="en-US" sz="1400" dirty="0" smtClean="0"/>
              <a:t> by OGSB in 2016.</a:t>
            </a:r>
          </a:p>
          <a:p>
            <a:pPr marL="0" indent="0">
              <a:buNone/>
            </a:pPr>
            <a:r>
              <a:rPr lang="en-US" sz="1400" dirty="0" smtClean="0"/>
              <a:t>           </a:t>
            </a:r>
            <a:r>
              <a:rPr lang="en-US" sz="1600" b="1" u="sng" dirty="0" smtClean="0"/>
              <a:t>Appreciations:</a:t>
            </a:r>
            <a:endParaRPr lang="en-US" sz="1600" dirty="0" smtClean="0"/>
          </a:p>
          <a:p>
            <a:pPr lvl="0"/>
            <a:r>
              <a:rPr lang="en-US" sz="1400" dirty="0" smtClean="0"/>
              <a:t>The Daily </a:t>
            </a:r>
            <a:r>
              <a:rPr lang="en-US" sz="1400" dirty="0" err="1" smtClean="0"/>
              <a:t>Prothom</a:t>
            </a:r>
            <a:r>
              <a:rPr lang="en-US" sz="1400" dirty="0" smtClean="0"/>
              <a:t> </a:t>
            </a:r>
            <a:r>
              <a:rPr lang="en-US" sz="1400" dirty="0" err="1" smtClean="0"/>
              <a:t>Alo</a:t>
            </a:r>
            <a:r>
              <a:rPr lang="en-US" sz="1400" dirty="0" smtClean="0"/>
              <a:t> – Special report in first page on 14 October 2005. </a:t>
            </a:r>
          </a:p>
          <a:p>
            <a:pPr lvl="0"/>
            <a:r>
              <a:rPr lang="en-US" sz="1400" dirty="0" err="1" smtClean="0"/>
              <a:t>Unisef</a:t>
            </a:r>
            <a:r>
              <a:rPr lang="en-US" sz="1400" dirty="0" smtClean="0"/>
              <a:t> Bangladesh report on saving mother’s life: dedication of a doctor. (Url: </a:t>
            </a:r>
            <a:r>
              <a:rPr lang="en-US" sz="1400" u="sng" dirty="0" smtClean="0">
                <a:hlinkClick r:id="rId2"/>
              </a:rPr>
              <a:t>https://www.unicef.org/bangladesh/media_4795.htm</a:t>
            </a:r>
            <a:r>
              <a:rPr lang="en-US" sz="1400" dirty="0" smtClean="0"/>
              <a:t>)</a:t>
            </a:r>
          </a:p>
          <a:p>
            <a:pPr lvl="0"/>
            <a:r>
              <a:rPr lang="en-US" sz="1400" dirty="0" smtClean="0"/>
              <a:t>Video on local </a:t>
            </a:r>
            <a:r>
              <a:rPr lang="en-US" sz="1400" dirty="0" err="1" smtClean="0"/>
              <a:t>innitiatives</a:t>
            </a:r>
            <a:r>
              <a:rPr lang="en-US" sz="1400" dirty="0" smtClean="0"/>
              <a:t> to improve service quality in a district hospital – </a:t>
            </a:r>
            <a:r>
              <a:rPr lang="en-US" sz="1400" dirty="0" err="1" smtClean="0"/>
              <a:t>Jhenaidah</a:t>
            </a:r>
            <a:r>
              <a:rPr lang="en-US" sz="1400" dirty="0" smtClean="0"/>
              <a:t> </a:t>
            </a:r>
            <a:r>
              <a:rPr lang="en-US" sz="1400" dirty="0" err="1" smtClean="0"/>
              <a:t>Sadar</a:t>
            </a:r>
            <a:r>
              <a:rPr lang="en-US" sz="1400" dirty="0" smtClean="0"/>
              <a:t> Hospital by Save The Children Bangladesh. </a:t>
            </a:r>
          </a:p>
          <a:p>
            <a:r>
              <a:rPr lang="en-US" sz="1400" dirty="0" smtClean="0"/>
              <a:t>(</a:t>
            </a:r>
            <a:r>
              <a:rPr lang="en-US" sz="1400" dirty="0" err="1" smtClean="0"/>
              <a:t>Videolink</a:t>
            </a:r>
            <a:r>
              <a:rPr lang="en-US" sz="1400" dirty="0" smtClean="0"/>
              <a:t>: </a:t>
            </a:r>
            <a:r>
              <a:rPr lang="en-US" sz="1400" u="sng" dirty="0" smtClean="0">
                <a:hlinkClick r:id="rId3"/>
              </a:rPr>
              <a:t>https://www.youtube.com/watch?v=wMgIps428Ic</a:t>
            </a:r>
            <a:r>
              <a:rPr lang="en-US" sz="1400" dirty="0" smtClean="0"/>
              <a:t> )</a:t>
            </a:r>
          </a:p>
          <a:p>
            <a:pPr lvl="0"/>
            <a:r>
              <a:rPr lang="en-US" sz="1400" dirty="0" smtClean="0"/>
              <a:t>Guest Lecturer of BPATC </a:t>
            </a:r>
            <a:r>
              <a:rPr lang="en-US" sz="1400" dirty="0" err="1" smtClean="0"/>
              <a:t>Savar</a:t>
            </a:r>
            <a:r>
              <a:rPr lang="en-US" sz="1400" dirty="0" smtClean="0"/>
              <a:t>.</a:t>
            </a:r>
          </a:p>
          <a:p>
            <a:pPr marL="0" indent="0">
              <a:buNone/>
            </a:pPr>
            <a:r>
              <a:rPr lang="en-US" sz="1600" b="1" dirty="0" smtClean="0"/>
              <a:t>         </a:t>
            </a:r>
            <a:r>
              <a:rPr lang="en-US" sz="1600" b="1" u="sng" dirty="0" smtClean="0"/>
              <a:t>Experience in foreign countries</a:t>
            </a:r>
            <a:endParaRPr lang="en-US" sz="1600" u="sng" dirty="0" smtClean="0"/>
          </a:p>
          <a:p>
            <a:pPr lvl="0"/>
            <a:r>
              <a:rPr lang="en-US" sz="1400" dirty="0" smtClean="0"/>
              <a:t>Indonesia</a:t>
            </a:r>
          </a:p>
          <a:p>
            <a:pPr lvl="0"/>
            <a:r>
              <a:rPr lang="en-US" sz="1400" dirty="0" err="1" smtClean="0"/>
              <a:t>Srilanka</a:t>
            </a:r>
            <a:endParaRPr lang="en-US" sz="1400" dirty="0" smtClean="0"/>
          </a:p>
          <a:p>
            <a:pPr lvl="0"/>
            <a:r>
              <a:rPr lang="en-US" sz="1400" dirty="0" smtClean="0"/>
              <a:t>Tanzania</a:t>
            </a:r>
          </a:p>
          <a:p>
            <a:pPr lvl="0"/>
            <a:r>
              <a:rPr lang="en-US" sz="1400" dirty="0" smtClean="0"/>
              <a:t>Malaysia</a:t>
            </a:r>
          </a:p>
          <a:p>
            <a:pPr lvl="0"/>
            <a:r>
              <a:rPr lang="en-US" sz="1400" dirty="0" smtClean="0"/>
              <a:t>Thailand</a:t>
            </a:r>
          </a:p>
          <a:p>
            <a:pPr lvl="0"/>
            <a:r>
              <a:rPr lang="en-US" sz="1400" dirty="0" smtClean="0"/>
              <a:t>Malaya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3228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2275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/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4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3593</TotalTime>
  <Words>2609</Words>
  <Application>Microsoft Office PowerPoint</Application>
  <PresentationFormat>On-screen Show (4:3)</PresentationFormat>
  <Paragraphs>763</Paragraphs>
  <Slides>64</Slides>
  <Notes>23</Notes>
  <HiddenSlides>0</HiddenSlides>
  <MMClips>0</MMClips>
  <ScaleCrop>false</ScaleCrop>
  <HeadingPairs>
    <vt:vector size="6" baseType="variant">
      <vt:variant>
        <vt:lpstr>Theme</vt:lpstr>
      </vt:variant>
      <vt:variant>
        <vt:i4>7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2" baseType="lpstr">
      <vt:lpstr>5_シック</vt:lpstr>
      <vt:lpstr>Office Theme</vt:lpstr>
      <vt:lpstr>Default Design</vt:lpstr>
      <vt:lpstr>1_Default Design</vt:lpstr>
      <vt:lpstr>2_Default Design</vt:lpstr>
      <vt:lpstr>3_Default Design</vt:lpstr>
      <vt:lpstr>4_Default Design</vt:lpstr>
      <vt:lpstr>Chart</vt:lpstr>
      <vt:lpstr>PowerPoint Presentation</vt:lpstr>
      <vt:lpstr>PowerPoint Presentation</vt:lpstr>
      <vt:lpstr>PowerPoint Presentation</vt:lpstr>
      <vt:lpstr>PowerPoint Presentation</vt:lpstr>
      <vt:lpstr>A Sub-district level Women-Friendly Hospital with a Vision …</vt:lpstr>
      <vt:lpstr>Background History of MCH services of Chowgacha Health Complex, Jessore</vt:lpstr>
      <vt:lpstr>Contd.</vt:lpstr>
      <vt:lpstr>PowerPoint Presentation</vt:lpstr>
      <vt:lpstr>PowerPoint Presentation</vt:lpstr>
      <vt:lpstr>PowerPoint Presentation</vt:lpstr>
      <vt:lpstr>Achievement of Chowgacha Health Complex</vt:lpstr>
      <vt:lpstr>Upazila Health  Complex CHOWGACHA , JESSORE.</vt:lpstr>
      <vt:lpstr>Upazila Health  Complex CHOWGACHA , JESSORE.</vt:lpstr>
      <vt:lpstr>Upazila Health  Complex CHOWGACHA , JESSORE.</vt:lpstr>
      <vt:lpstr>Upazila Health  Complex CHOWGACHA , JESSORE.</vt:lpstr>
      <vt:lpstr>Upazila Health  Complex CHOWGACHA , JESSORE.</vt:lpstr>
      <vt:lpstr>Upazilla Health  Complex CHOWGACHA , JESSORE.</vt:lpstr>
      <vt:lpstr>MDG 4 and 5 Achieved at Chowgacha in 2011 and SDG targets in 2030</vt:lpstr>
      <vt:lpstr>Factors Responsible for Reduction of Maternal and Infant Mortality Rate in Chowgacha</vt:lpstr>
      <vt:lpstr>Factors Responsible for Reduction of Maternal and Infant Mortality Rate in Chowgacha- Contd.</vt:lpstr>
      <vt:lpstr>                 News of paper</vt:lpstr>
      <vt:lpstr>PowerPoint Presentation</vt:lpstr>
      <vt:lpstr>100 kh¨v wewkó m`i nvmcvZvj, wSbvB`n</vt:lpstr>
      <vt:lpstr>Health ,Nutrition and population targets for the 7th FYP</vt:lpstr>
      <vt:lpstr>Health ,Nutrition and population targets for the 7th FYP</vt:lpstr>
      <vt:lpstr>Sadar Hospital, Jhenaidah</vt:lpstr>
      <vt:lpstr>PowerPoint Presentation</vt:lpstr>
      <vt:lpstr>Emergency &amp; Out Door, Indoor  Service 1998 to 2017</vt:lpstr>
      <vt:lpstr>Operation Service (Major) 2011 to 2017</vt:lpstr>
      <vt:lpstr>PowerPoint Presentation</vt:lpstr>
      <vt:lpstr>3 best performing EmOC Hospital in Khulna division - 2017</vt:lpstr>
      <vt:lpstr>  Comparative data of revenue income (in Taka) from 2015 to 2017 </vt:lpstr>
      <vt:lpstr>PowerPoint Presentation</vt:lpstr>
      <vt:lpstr>PowerPoint Presentation</vt:lpstr>
      <vt:lpstr>Changes in EOC Ward</vt:lpstr>
      <vt:lpstr>PowerPoint Presentation</vt:lpstr>
      <vt:lpstr>Changes in Gardens of The Hospital</vt:lpstr>
      <vt:lpstr>PowerPoint Presentation</vt:lpstr>
      <vt:lpstr>Changes in Office and Hospital Internal Environment</vt:lpstr>
      <vt:lpstr>Use of direction sign, labeling of rooms, clean latrine and waste segregation</vt:lpstr>
      <vt:lpstr>Use of color code, alignment of picture &amp; continuous big cleaning day</vt:lpstr>
      <vt:lpstr>Innovative activities of Jhenaidah Sadar Hospital - 1</vt:lpstr>
      <vt:lpstr>PowerPoint Presentation</vt:lpstr>
      <vt:lpstr>PowerPoint Presentation</vt:lpstr>
      <vt:lpstr>Innovative activities of Jhenaidah Sadar Hospital - 4</vt:lpstr>
      <vt:lpstr>Innovative activities of Jhenaidah Sadar Hospital - 5</vt:lpstr>
      <vt:lpstr>Involvement of MP, District Administrator &amp; Mayor in Sadar Hospital</vt:lpstr>
      <vt:lpstr>Involvement of district high officials in hospital activities </vt:lpstr>
      <vt:lpstr>Internal Monitoring System</vt:lpstr>
      <vt:lpstr>PowerPoint Presentation</vt:lpstr>
      <vt:lpstr>Hospital Environment</vt:lpstr>
      <vt:lpstr>PowerPoint Presentation</vt:lpstr>
      <vt:lpstr>Situation of the hospital in May 2012 -1</vt:lpstr>
      <vt:lpstr>Situation of the hospital in May 2012 -2</vt:lpstr>
      <vt:lpstr>Situation of the hospital in May 2012 -3</vt:lpstr>
      <vt:lpstr>How we overcome the challenges</vt:lpstr>
      <vt:lpstr>How we overcome the challenges -2</vt:lpstr>
      <vt:lpstr>How we overcome the challenges -3</vt:lpstr>
      <vt:lpstr>How we overcome the challenges -4</vt:lpstr>
      <vt:lpstr>PowerPoint Presentation</vt:lpstr>
      <vt:lpstr>Problems of Sadar Hospital-1</vt:lpstr>
      <vt:lpstr>Problems of Sadar Hospital-2 </vt:lpstr>
      <vt:lpstr>Awards &amp; Appreciations</vt:lpstr>
      <vt:lpstr>Thank You 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462</cp:revision>
  <cp:lastPrinted>2017-03-18T23:47:54Z</cp:lastPrinted>
  <dcterms:created xsi:type="dcterms:W3CDTF">2013-05-05T09:56:19Z</dcterms:created>
  <dcterms:modified xsi:type="dcterms:W3CDTF">2018-08-12T07:32:55Z</dcterms:modified>
</cp:coreProperties>
</file>