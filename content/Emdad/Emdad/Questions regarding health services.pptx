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0" d="100"/>
          <a:sy n="70" d="100"/>
        </p:scale>
        <p:origin x="-1386" y="-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1696722"/>
              </p:ext>
            </p:extLst>
          </p:nvPr>
        </p:nvGraphicFramePr>
        <p:xfrm>
          <a:off x="0" y="-162315"/>
          <a:ext cx="9144000" cy="741986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762000"/>
                <a:gridCol w="6400800"/>
                <a:gridCol w="457200"/>
                <a:gridCol w="457200"/>
                <a:gridCol w="1066800"/>
              </a:tblGrid>
              <a:tr h="561860">
                <a:tc gridSpan="5">
                  <a:txBody>
                    <a:bodyPr/>
                    <a:lstStyle/>
                    <a:p>
                      <a:pPr algn="ctr"/>
                      <a:r>
                        <a:rPr lang="bn-BD" sz="2000" dirty="0" smtClean="0"/>
                        <a:t>রোগী কেন্দ্রিক স্বাস্থ্যসেবা সংক্রান্ত প্রশ্নমালা</a:t>
                      </a:r>
                      <a:endParaRPr lang="en-US" sz="2000" dirty="0">
                        <a:latin typeface="SutonnyMJ" pitchFamily="2" charset="0"/>
                        <a:cs typeface="+mn-cs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545335">
                <a:tc>
                  <a:txBody>
                    <a:bodyPr/>
                    <a:lstStyle/>
                    <a:p>
                      <a:pPr algn="ctr"/>
                      <a:r>
                        <a:rPr lang="bn-BD" sz="1800" dirty="0" smtClean="0"/>
                        <a:t>ক্রমিক</a:t>
                      </a:r>
                      <a:endParaRPr lang="en-US" sz="1800" dirty="0">
                        <a:latin typeface="SutonnyMJ" pitchFamily="2" charset="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bn-BD" sz="1800" dirty="0" smtClean="0"/>
                        <a:t>প্রশ্ন</a:t>
                      </a:r>
                      <a:endParaRPr lang="en-US" sz="1800" dirty="0">
                        <a:latin typeface="SutonnyMJ" pitchFamily="2" charset="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bn-BD" sz="1800" dirty="0" smtClean="0"/>
                        <a:t>হ্</a:t>
                      </a:r>
                      <a:r>
                        <a:rPr lang="bn-BD" sz="1800" baseline="0" dirty="0" smtClean="0"/>
                        <a:t>যাঁ</a:t>
                      </a:r>
                      <a:endParaRPr lang="en-US" sz="1800" dirty="0">
                        <a:latin typeface="SutonnyMJ" pitchFamily="2" charset="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bn-BD" sz="1800" noProof="0" dirty="0" smtClean="0"/>
                        <a:t>না</a:t>
                      </a:r>
                      <a:endParaRPr lang="bn-BD" sz="1800" noProof="0" dirty="0">
                        <a:latin typeface="SutonnyMJ" pitchFamily="2" charset="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bn-BD" sz="1800" dirty="0" smtClean="0"/>
                        <a:t>মন্তব্য</a:t>
                      </a:r>
                      <a:endParaRPr lang="en-US" sz="1800" dirty="0">
                        <a:latin typeface="SutonnyMJ" pitchFamily="2" charset="0"/>
                        <a:cs typeface="+mn-cs"/>
                      </a:endParaRPr>
                    </a:p>
                  </a:txBody>
                  <a:tcPr/>
                </a:tc>
              </a:tr>
              <a:tr h="545335">
                <a:tc>
                  <a:txBody>
                    <a:bodyPr/>
                    <a:lstStyle/>
                    <a:p>
                      <a:pPr algn="ctr"/>
                      <a:r>
                        <a:rPr lang="bn-BD" sz="1800" dirty="0" smtClean="0"/>
                        <a:t>০১</a:t>
                      </a:r>
                      <a:endParaRPr lang="en-US" sz="1800" dirty="0">
                        <a:latin typeface="SutonnyMJ" pitchFamily="2" charset="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n-BD" sz="1800" dirty="0" smtClean="0"/>
                        <a:t>কর্তব্যরত নার্স/কর্মচারীরা কি সেবা প্রদানের সময় আপনার</a:t>
                      </a:r>
                      <a:r>
                        <a:rPr lang="bn-BD" sz="1800" baseline="0" dirty="0" smtClean="0"/>
                        <a:t> কথা শুনছেন এবং সম্মান দিচ্ছেন?</a:t>
                      </a:r>
                      <a:endParaRPr lang="en-US" sz="1800" dirty="0">
                        <a:latin typeface="SutonnyMJ" pitchFamily="2" charset="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>
                        <a:latin typeface="SutonnyMJ" pitchFamily="2" charset="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>
                        <a:latin typeface="SutonnyMJ" pitchFamily="2" charset="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dirty="0">
                        <a:latin typeface="SutonnyMJ" pitchFamily="2" charset="0"/>
                        <a:cs typeface="+mn-cs"/>
                      </a:endParaRPr>
                    </a:p>
                  </a:txBody>
                  <a:tcPr/>
                </a:tc>
              </a:tr>
              <a:tr h="545335">
                <a:tc>
                  <a:txBody>
                    <a:bodyPr/>
                    <a:lstStyle/>
                    <a:p>
                      <a:pPr algn="ctr"/>
                      <a:r>
                        <a:rPr lang="bn-BD" sz="1800" dirty="0" smtClean="0"/>
                        <a:t>০২</a:t>
                      </a:r>
                      <a:endParaRPr lang="en-US" sz="1800" dirty="0">
                        <a:latin typeface="SutonnyMJ" pitchFamily="2" charset="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bn-BD" sz="1800" dirty="0" smtClean="0"/>
                        <a:t>কর্তব্যরত ডাক্তাররা</a:t>
                      </a:r>
                      <a:r>
                        <a:rPr lang="bn-BD" sz="1800" baseline="0" dirty="0" smtClean="0"/>
                        <a:t> </a:t>
                      </a:r>
                      <a:r>
                        <a:rPr lang="bn-BD" sz="1800" dirty="0" smtClean="0"/>
                        <a:t>কি সেবা প্রদানের সময় আপনার</a:t>
                      </a:r>
                      <a:r>
                        <a:rPr lang="bn-BD" sz="1800" baseline="0" dirty="0" smtClean="0"/>
                        <a:t> কথা শুনছেন এবং সম্মান দিচ্ছেন?</a:t>
                      </a:r>
                      <a:endParaRPr lang="en-US" sz="1800" dirty="0" smtClean="0">
                        <a:latin typeface="SutonnyMJ" pitchFamily="2" charset="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dirty="0">
                        <a:latin typeface="SutonnyMJ" pitchFamily="2" charset="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>
                        <a:latin typeface="SutonnyMJ" pitchFamily="2" charset="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dirty="0">
                        <a:latin typeface="SutonnyMJ" pitchFamily="2" charset="0"/>
                        <a:cs typeface="+mn-cs"/>
                      </a:endParaRPr>
                    </a:p>
                  </a:txBody>
                  <a:tcPr/>
                </a:tc>
              </a:tr>
              <a:tr h="892366">
                <a:tc>
                  <a:txBody>
                    <a:bodyPr/>
                    <a:lstStyle/>
                    <a:p>
                      <a:pPr algn="ctr"/>
                      <a:r>
                        <a:rPr lang="bn-BD" sz="1800" dirty="0" smtClean="0"/>
                        <a:t>০৩</a:t>
                      </a:r>
                      <a:endParaRPr lang="en-US" sz="1800" dirty="0">
                        <a:latin typeface="SutonnyMJ" pitchFamily="2" charset="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n-BD" sz="1800" dirty="0" smtClean="0"/>
                        <a:t>কর্তব্যরত নার্স/কর্মচারীরা  কি ডিসচার্জ করার সময় বাড়ি যাবার</a:t>
                      </a:r>
                      <a:r>
                        <a:rPr lang="bn-BD" sz="1800" baseline="0" dirty="0" smtClean="0"/>
                        <a:t> পর আপনাকে চিকিৎসার ব্যাপারে (ঔষধ ও অন্যান্য চিকিৎসা বিষয়ক পরামর্শ) কি করতে হবে বলে দিয়েছেন?</a:t>
                      </a:r>
                      <a:endParaRPr lang="en-US" sz="1800" dirty="0">
                        <a:latin typeface="SutonnyMJ" pitchFamily="2" charset="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dirty="0">
                        <a:latin typeface="SutonnyMJ" pitchFamily="2" charset="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>
                        <a:latin typeface="SutonnyMJ" pitchFamily="2" charset="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dirty="0">
                        <a:latin typeface="SutonnyMJ" pitchFamily="2" charset="0"/>
                        <a:cs typeface="+mn-cs"/>
                      </a:endParaRPr>
                    </a:p>
                  </a:txBody>
                  <a:tcPr/>
                </a:tc>
              </a:tr>
              <a:tr h="892366">
                <a:tc>
                  <a:txBody>
                    <a:bodyPr/>
                    <a:lstStyle/>
                    <a:p>
                      <a:pPr algn="ctr"/>
                      <a:r>
                        <a:rPr lang="bn-BD" sz="1800" dirty="0" smtClean="0"/>
                        <a:t>০৪</a:t>
                      </a:r>
                      <a:endParaRPr lang="en-US" sz="1800" dirty="0">
                        <a:latin typeface="SutonnyMJ" pitchFamily="2" charset="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bn-BD" sz="1800" dirty="0" smtClean="0"/>
                        <a:t>সেবা প্রদানের সময় কর্তব্যরত ডাক্তাররা</a:t>
                      </a:r>
                      <a:r>
                        <a:rPr lang="bn-BD" sz="1800" baseline="0" dirty="0" smtClean="0"/>
                        <a:t> কি আপনার সাথে বন্ধুত্বপূর্ণ আচরন করেছেন? আপনার আচার প্রথা ও বিশ্বাসের </a:t>
                      </a:r>
                      <a:r>
                        <a:rPr lang="en-US" sz="1800" baseline="0" dirty="0" err="1" smtClean="0"/>
                        <a:t>প্রতি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সম্মান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প্রদর্শন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করেছেন</a:t>
                      </a:r>
                      <a:r>
                        <a:rPr lang="en-US" sz="1800" baseline="0" dirty="0" smtClean="0"/>
                        <a:t>?</a:t>
                      </a:r>
                      <a:r>
                        <a:rPr lang="bn-BD" sz="1800" baseline="0" dirty="0" smtClean="0"/>
                        <a:t> আপনার অভিজ্ঞতা বলুন</a:t>
                      </a:r>
                      <a:r>
                        <a:rPr lang="en-US" sz="1800" baseline="0" dirty="0" smtClean="0"/>
                        <a:t> |</a:t>
                      </a:r>
                      <a:endParaRPr lang="en-US" sz="1800" dirty="0" smtClean="0">
                        <a:latin typeface="SutonnyMJ" pitchFamily="2" charset="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dirty="0">
                        <a:latin typeface="SutonnyMJ" pitchFamily="2" charset="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dirty="0">
                        <a:latin typeface="SutonnyMJ" pitchFamily="2" charset="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dirty="0">
                        <a:latin typeface="SutonnyMJ" pitchFamily="2" charset="0"/>
                        <a:cs typeface="+mn-cs"/>
                      </a:endParaRPr>
                    </a:p>
                  </a:txBody>
                  <a:tcPr/>
                </a:tc>
              </a:tr>
              <a:tr h="892366">
                <a:tc>
                  <a:txBody>
                    <a:bodyPr/>
                    <a:lstStyle/>
                    <a:p>
                      <a:pPr algn="ctr"/>
                      <a:r>
                        <a:rPr lang="bn-BD" sz="1800" dirty="0" smtClean="0"/>
                        <a:t>০৫</a:t>
                      </a:r>
                      <a:endParaRPr lang="en-US" sz="1800" dirty="0">
                        <a:latin typeface="SutonnyMJ" pitchFamily="2" charset="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bn-BD" sz="1800" dirty="0" smtClean="0"/>
                        <a:t>সেবা প্রদানের সময় </a:t>
                      </a:r>
                      <a:r>
                        <a:rPr lang="en-US" sz="1800" noProof="0" dirty="0" err="1" smtClean="0"/>
                        <a:t>কর্তব্যরত</a:t>
                      </a:r>
                      <a:r>
                        <a:rPr lang="en-US" sz="1800" noProof="0" dirty="0" smtClean="0"/>
                        <a:t> </a:t>
                      </a:r>
                      <a:r>
                        <a:rPr lang="en-US" sz="1800" noProof="0" dirty="0" err="1" smtClean="0"/>
                        <a:t>নার্স</a:t>
                      </a:r>
                      <a:r>
                        <a:rPr lang="en-US" sz="1800" noProof="0" dirty="0" smtClean="0"/>
                        <a:t>/ </a:t>
                      </a:r>
                      <a:r>
                        <a:rPr lang="en-US" sz="1800" noProof="0" dirty="0" err="1" smtClean="0"/>
                        <a:t>কর্মচারীরা</a:t>
                      </a:r>
                      <a:r>
                        <a:rPr lang="bn-BD" sz="1800" dirty="0" smtClean="0"/>
                        <a:t> 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bn-BD" sz="1800" baseline="0" dirty="0" smtClean="0"/>
                        <a:t>কি আপনার সাথে বন্ধুত্বপূর্ণ আচরন করেছেন? আপনার আচার প্রথা ও বিশ্বাসের </a:t>
                      </a:r>
                      <a:r>
                        <a:rPr lang="en-US" sz="1800" baseline="0" dirty="0" err="1" smtClean="0"/>
                        <a:t>প্রতি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সম্মান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প্রদর্শন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করেছেন</a:t>
                      </a:r>
                      <a:r>
                        <a:rPr lang="en-US" sz="1800" baseline="0" dirty="0" smtClean="0"/>
                        <a:t>?</a:t>
                      </a:r>
                      <a:r>
                        <a:rPr lang="bn-BD" sz="1800" baseline="0" dirty="0" smtClean="0"/>
                        <a:t> আপনার অভিজ্ঞতা বলুন</a:t>
                      </a:r>
                      <a:r>
                        <a:rPr lang="en-US" sz="1800" baseline="0" dirty="0" smtClean="0"/>
                        <a:t> |</a:t>
                      </a:r>
                      <a:endParaRPr lang="en-US" sz="1800" dirty="0" smtClean="0">
                        <a:latin typeface="SutonnyMJ" pitchFamily="2" charset="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>
                        <a:latin typeface="SutonnyMJ" pitchFamily="2" charset="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dirty="0">
                        <a:latin typeface="SutonnyMJ" pitchFamily="2" charset="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dirty="0">
                        <a:latin typeface="SutonnyMJ" pitchFamily="2" charset="0"/>
                        <a:cs typeface="+mn-cs"/>
                      </a:endParaRPr>
                    </a:p>
                  </a:txBody>
                  <a:tcPr/>
                </a:tc>
              </a:tr>
              <a:tr h="545335">
                <a:tc>
                  <a:txBody>
                    <a:bodyPr/>
                    <a:lstStyle/>
                    <a:p>
                      <a:pPr algn="ctr"/>
                      <a:r>
                        <a:rPr lang="bn-BD" sz="1800" dirty="0" smtClean="0"/>
                        <a:t>০৬</a:t>
                      </a:r>
                      <a:endParaRPr lang="en-US" sz="1800" dirty="0">
                        <a:latin typeface="SutonnyMJ" pitchFamily="2" charset="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err="1" smtClean="0"/>
                        <a:t>ডাক্তার</a:t>
                      </a:r>
                      <a:r>
                        <a:rPr lang="en-US" sz="1800" dirty="0" smtClean="0"/>
                        <a:t> </a:t>
                      </a:r>
                      <a:r>
                        <a:rPr lang="en-US" sz="1800" dirty="0" err="1" smtClean="0"/>
                        <a:t>কি</a:t>
                      </a:r>
                      <a:r>
                        <a:rPr lang="en-US" sz="1800" dirty="0" smtClean="0"/>
                        <a:t> </a:t>
                      </a:r>
                      <a:r>
                        <a:rPr lang="en-US" sz="1800" dirty="0" err="1" smtClean="0"/>
                        <a:t>আপনার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বর্ণিত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শারীরিক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সমস্যা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অনুযায়ী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পরীক্ষা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করেছিলেন</a:t>
                      </a:r>
                      <a:r>
                        <a:rPr lang="en-US" sz="1800" baseline="0" dirty="0" smtClean="0"/>
                        <a:t>?</a:t>
                      </a:r>
                      <a:endParaRPr lang="en-US" sz="1800" dirty="0">
                        <a:latin typeface="SolaimanLipi" pitchFamily="65" charset="0"/>
                        <a:cs typeface="SolaimanLipi" pitchFamily="65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dirty="0">
                        <a:latin typeface="SutonnyMJ" pitchFamily="2" charset="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dirty="0">
                        <a:latin typeface="SutonnyMJ" pitchFamily="2" charset="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dirty="0">
                        <a:latin typeface="SutonnyMJ" pitchFamily="2" charset="0"/>
                        <a:cs typeface="+mn-cs"/>
                      </a:endParaRPr>
                    </a:p>
                  </a:txBody>
                  <a:tcPr/>
                </a:tc>
              </a:tr>
              <a:tr h="545335">
                <a:tc>
                  <a:txBody>
                    <a:bodyPr/>
                    <a:lstStyle/>
                    <a:p>
                      <a:pPr algn="ctr"/>
                      <a:r>
                        <a:rPr lang="bn-BD" sz="1800" dirty="0" smtClean="0"/>
                        <a:t>০৭</a:t>
                      </a:r>
                      <a:endParaRPr lang="en-US" sz="1800" dirty="0">
                        <a:latin typeface="SutonnyMJ" pitchFamily="2" charset="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err="1" smtClean="0"/>
                        <a:t>ডাক্তার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আপনাকে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যে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শারীরিক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অবস্থা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জানিয়েছেন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তা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বুঝতে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পেরেছেন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কি</a:t>
                      </a:r>
                      <a:r>
                        <a:rPr lang="en-US" sz="1800" baseline="0" dirty="0" smtClean="0"/>
                        <a:t>?</a:t>
                      </a:r>
                      <a:endParaRPr lang="en-US" sz="1800" dirty="0">
                        <a:latin typeface="SutonnyMJ" pitchFamily="2" charset="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dirty="0">
                        <a:latin typeface="SutonnyMJ" pitchFamily="2" charset="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>
                        <a:latin typeface="SutonnyMJ" pitchFamily="2" charset="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>
                        <a:latin typeface="SutonnyMJ" pitchFamily="2" charset="0"/>
                        <a:cs typeface="+mn-cs"/>
                      </a:endParaRPr>
                    </a:p>
                  </a:txBody>
                  <a:tcPr/>
                </a:tc>
              </a:tr>
              <a:tr h="752085">
                <a:tc>
                  <a:txBody>
                    <a:bodyPr/>
                    <a:lstStyle/>
                    <a:p>
                      <a:pPr algn="ctr"/>
                      <a:r>
                        <a:rPr lang="bn-BD" sz="1800" dirty="0" smtClean="0"/>
                        <a:t>০৮</a:t>
                      </a:r>
                      <a:endParaRPr lang="en-US" sz="1800" dirty="0">
                        <a:latin typeface="SutonnyMJ" pitchFamily="2" charset="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err="1" smtClean="0"/>
                        <a:t>আপনাকে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কি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চিকিৎসা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পরিকল্পনা</a:t>
                      </a:r>
                      <a:r>
                        <a:rPr lang="en-US" sz="1800" baseline="0" dirty="0" smtClean="0"/>
                        <a:t> (</a:t>
                      </a:r>
                      <a:r>
                        <a:rPr lang="en-US" sz="1800" baseline="0" dirty="0" err="1" smtClean="0"/>
                        <a:t>হাসপাতালে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অবস্থানকাল</a:t>
                      </a:r>
                      <a:r>
                        <a:rPr lang="en-US" sz="1800" baseline="0" dirty="0" smtClean="0"/>
                        <a:t>, </a:t>
                      </a:r>
                      <a:r>
                        <a:rPr lang="en-US" sz="1800" baseline="0" dirty="0" err="1" smtClean="0"/>
                        <a:t>চিকিৎসা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পরবর্তী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পদক্ষেপ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বিষয়ক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ইত্যাদি</a:t>
                      </a:r>
                      <a:r>
                        <a:rPr lang="en-US" sz="1800" baseline="0" dirty="0" smtClean="0"/>
                        <a:t> ) </a:t>
                      </a:r>
                      <a:r>
                        <a:rPr lang="en-US" sz="1800" baseline="0" dirty="0" err="1" smtClean="0"/>
                        <a:t>বিস্তারিত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পরিস্কারভাবে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বলা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হয়েছে</a:t>
                      </a:r>
                      <a:r>
                        <a:rPr lang="en-US" sz="1800" baseline="0" dirty="0" smtClean="0"/>
                        <a:t>?</a:t>
                      </a:r>
                      <a:endParaRPr lang="en-US" sz="1800" dirty="0">
                        <a:latin typeface="SutonnyMJ" pitchFamily="2" charset="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dirty="0">
                        <a:latin typeface="SutonnyMJ" pitchFamily="2" charset="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>
                        <a:latin typeface="SutonnyMJ" pitchFamily="2" charset="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dirty="0">
                        <a:latin typeface="SutonnyMJ" pitchFamily="2" charset="0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97097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8162212"/>
              </p:ext>
            </p:extLst>
          </p:nvPr>
        </p:nvGraphicFramePr>
        <p:xfrm>
          <a:off x="0" y="0"/>
          <a:ext cx="9144000" cy="7276011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762000"/>
                <a:gridCol w="6781800"/>
                <a:gridCol w="533400"/>
                <a:gridCol w="457200"/>
                <a:gridCol w="609600"/>
              </a:tblGrid>
              <a:tr h="387531">
                <a:tc gridSpan="5">
                  <a:txBody>
                    <a:bodyPr/>
                    <a:lstStyle/>
                    <a:p>
                      <a:pPr algn="ctr"/>
                      <a:r>
                        <a:rPr lang="bn-BD" sz="1800" dirty="0" smtClean="0"/>
                        <a:t>রোগী কেন্দ্রিক স্বাস্থ্যসেবা সংক্রান্ত প্রশ্নমালা</a:t>
                      </a:r>
                      <a:endParaRPr lang="en-US" sz="1800" dirty="0">
                        <a:latin typeface="SutonnyMJ" pitchFamily="2" charset="0"/>
                        <a:cs typeface="+mn-cs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55237">
                <a:tc>
                  <a:txBody>
                    <a:bodyPr/>
                    <a:lstStyle/>
                    <a:p>
                      <a:pPr algn="ctr"/>
                      <a:r>
                        <a:rPr lang="bn-BD" sz="1600" dirty="0" smtClean="0"/>
                        <a:t>ক্রমিক</a:t>
                      </a:r>
                      <a:endParaRPr lang="en-US" sz="1600" dirty="0">
                        <a:latin typeface="SutonnyMJ" pitchFamily="2" charset="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bn-BD" sz="1600" dirty="0" smtClean="0"/>
                        <a:t>প্রশ্ন</a:t>
                      </a:r>
                      <a:endParaRPr lang="en-US" sz="1600" dirty="0">
                        <a:latin typeface="SutonnyMJ" pitchFamily="2" charset="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bn-BD" sz="1600" dirty="0" smtClean="0"/>
                        <a:t>হ্</a:t>
                      </a:r>
                      <a:r>
                        <a:rPr lang="bn-BD" sz="1600" baseline="0" dirty="0" smtClean="0"/>
                        <a:t>যাঁ</a:t>
                      </a:r>
                      <a:endParaRPr lang="en-US" sz="1600" dirty="0">
                        <a:latin typeface="SutonnyMJ" pitchFamily="2" charset="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bn-BD" sz="1600" noProof="0" dirty="0" smtClean="0"/>
                        <a:t>না</a:t>
                      </a:r>
                      <a:endParaRPr lang="bn-BD" sz="1600" noProof="0" dirty="0">
                        <a:latin typeface="SutonnyMJ" pitchFamily="2" charset="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bn-BD" sz="1600" dirty="0" smtClean="0"/>
                        <a:t>মন্তব্য</a:t>
                      </a:r>
                      <a:endParaRPr lang="en-US" sz="1600" dirty="0">
                        <a:latin typeface="SutonnyMJ" pitchFamily="2" charset="0"/>
                        <a:cs typeface="+mn-cs"/>
                      </a:endParaRPr>
                    </a:p>
                  </a:txBody>
                  <a:tcPr/>
                </a:tc>
              </a:tr>
              <a:tr h="613591">
                <a:tc>
                  <a:txBody>
                    <a:bodyPr/>
                    <a:lstStyle/>
                    <a:p>
                      <a:pPr algn="ctr"/>
                      <a:r>
                        <a:rPr lang="bn-BD" sz="1800" dirty="0" smtClean="0"/>
                        <a:t>০৯</a:t>
                      </a:r>
                      <a:endParaRPr lang="en-US" sz="1800" dirty="0">
                        <a:latin typeface="SutonnyMJ" pitchFamily="2" charset="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err="1" smtClean="0"/>
                        <a:t>ডাক্তার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আপনাকে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যে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শারীরিক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অবস্থা</a:t>
                      </a:r>
                      <a:r>
                        <a:rPr lang="en-US" sz="1800" baseline="0" dirty="0" smtClean="0"/>
                        <a:t> ও </a:t>
                      </a:r>
                      <a:r>
                        <a:rPr lang="en-US" sz="1800" baseline="0" dirty="0" err="1" smtClean="0"/>
                        <a:t>চিকিৎসা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পরিস্থিতি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জানিয়েছেন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তা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বুঝতে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পেরেছেন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কি</a:t>
                      </a:r>
                      <a:r>
                        <a:rPr lang="en-US" sz="1800" baseline="0" dirty="0" smtClean="0"/>
                        <a:t>?</a:t>
                      </a:r>
                      <a:endParaRPr lang="en-US" sz="1800" dirty="0">
                        <a:latin typeface="SutonnyMJ" pitchFamily="2" charset="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>
                        <a:latin typeface="SutonnyMJ" pitchFamily="2" charset="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>
                        <a:latin typeface="SutonnyMJ" pitchFamily="2" charset="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>
                        <a:latin typeface="SutonnyMJ" pitchFamily="2" charset="0"/>
                        <a:cs typeface="+mn-cs"/>
                      </a:endParaRPr>
                    </a:p>
                  </a:txBody>
                  <a:tcPr/>
                </a:tc>
              </a:tr>
              <a:tr h="871946">
                <a:tc>
                  <a:txBody>
                    <a:bodyPr/>
                    <a:lstStyle/>
                    <a:p>
                      <a:pPr algn="ctr"/>
                      <a:r>
                        <a:rPr lang="bn-BD" sz="1800" dirty="0" smtClean="0"/>
                        <a:t>১০</a:t>
                      </a:r>
                      <a:endParaRPr lang="en-US" sz="1800" dirty="0">
                        <a:latin typeface="SutonnyMJ" pitchFamily="2" charset="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err="1" smtClean="0"/>
                        <a:t>আপনার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চিকিৎসার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জন্য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নার্সরা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যে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ঔষধ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দিয়েছিল</a:t>
                      </a:r>
                      <a:r>
                        <a:rPr lang="en-US" sz="1800" baseline="0" dirty="0" smtClean="0"/>
                        <a:t> , </a:t>
                      </a:r>
                      <a:r>
                        <a:rPr lang="en-US" sz="1800" baseline="0" dirty="0" err="1" smtClean="0"/>
                        <a:t>সেগুলির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সেবনসুচি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এবং</a:t>
                      </a:r>
                      <a:r>
                        <a:rPr lang="en-US" sz="1800" baseline="0" dirty="0" smtClean="0"/>
                        <a:t> এ </a:t>
                      </a:r>
                      <a:r>
                        <a:rPr lang="en-US" sz="1800" baseline="0" dirty="0" err="1" smtClean="0"/>
                        <a:t>সম্পর্কিত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পরামর্শ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সম্পর্কে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কি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আপনাকে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জানিয়েছেন</a:t>
                      </a:r>
                      <a:r>
                        <a:rPr lang="en-US" sz="1800" baseline="0" dirty="0" smtClean="0"/>
                        <a:t>।</a:t>
                      </a:r>
                      <a:endParaRPr lang="en-US" sz="1800" dirty="0">
                        <a:latin typeface="SutonnyMJ" pitchFamily="2" charset="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>
                        <a:latin typeface="SutonnyMJ" pitchFamily="2" charset="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>
                        <a:latin typeface="SutonnyMJ" pitchFamily="2" charset="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>
                        <a:latin typeface="SutonnyMJ" pitchFamily="2" charset="0"/>
                        <a:cs typeface="+mn-cs"/>
                      </a:endParaRPr>
                    </a:p>
                  </a:txBody>
                  <a:tcPr/>
                </a:tc>
              </a:tr>
              <a:tr h="613591">
                <a:tc>
                  <a:txBody>
                    <a:bodyPr/>
                    <a:lstStyle/>
                    <a:p>
                      <a:pPr algn="ctr"/>
                      <a:r>
                        <a:rPr lang="bn-BD" sz="1800" dirty="0" smtClean="0"/>
                        <a:t>১১</a:t>
                      </a:r>
                      <a:endParaRPr lang="en-US" sz="1800" dirty="0">
                        <a:latin typeface="SutonnyMJ" pitchFamily="2" charset="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err="1" smtClean="0"/>
                        <a:t>ডাক্তার</a:t>
                      </a:r>
                      <a:r>
                        <a:rPr lang="en-US" sz="1800" dirty="0" smtClean="0"/>
                        <a:t> </a:t>
                      </a:r>
                      <a:r>
                        <a:rPr lang="en-US" sz="1800" dirty="0" err="1" smtClean="0"/>
                        <a:t>আপনার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শারীরিক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পরীক্ষা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নিরীক্ষার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সময়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কি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আপনার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ব্যক্তিগত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গোপনীয়তার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বিষয়ে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নজর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রেখেছেন</a:t>
                      </a:r>
                      <a:r>
                        <a:rPr lang="en-US" sz="1800" baseline="0" dirty="0" smtClean="0"/>
                        <a:t>?</a:t>
                      </a:r>
                      <a:endParaRPr lang="en-US" sz="1800" dirty="0">
                        <a:latin typeface="SutonnyMJ" pitchFamily="2" charset="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>
                        <a:latin typeface="SutonnyMJ" pitchFamily="2" charset="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>
                        <a:latin typeface="SutonnyMJ" pitchFamily="2" charset="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>
                        <a:latin typeface="SutonnyMJ" pitchFamily="2" charset="0"/>
                        <a:cs typeface="+mn-cs"/>
                      </a:endParaRPr>
                    </a:p>
                  </a:txBody>
                  <a:tcPr/>
                </a:tc>
              </a:tr>
              <a:tr h="613591">
                <a:tc>
                  <a:txBody>
                    <a:bodyPr/>
                    <a:lstStyle/>
                    <a:p>
                      <a:pPr algn="ctr"/>
                      <a:r>
                        <a:rPr lang="bn-BD" sz="1800" dirty="0" smtClean="0"/>
                        <a:t>১২</a:t>
                      </a:r>
                      <a:endParaRPr lang="en-US" sz="1800" dirty="0">
                        <a:latin typeface="SutonnyMJ" pitchFamily="2" charset="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err="1" smtClean="0"/>
                        <a:t>আপনি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কি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প্রয়োজনের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সময়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ডাক্তার</a:t>
                      </a:r>
                      <a:r>
                        <a:rPr lang="en-US" sz="1800" baseline="0" dirty="0" smtClean="0"/>
                        <a:t> / </a:t>
                      </a:r>
                      <a:r>
                        <a:rPr lang="en-US" sz="1800" baseline="0" dirty="0" err="1" smtClean="0"/>
                        <a:t>নার্সদের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সহোযগীতা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পেয়েছিলেন</a:t>
                      </a:r>
                      <a:r>
                        <a:rPr lang="en-US" sz="1800" baseline="0" dirty="0" smtClean="0"/>
                        <a:t>?</a:t>
                      </a:r>
                      <a:endParaRPr lang="en-US" sz="1800" dirty="0">
                        <a:latin typeface="SutonnyMJ" pitchFamily="2" charset="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>
                        <a:latin typeface="SutonnyMJ" pitchFamily="2" charset="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>
                        <a:latin typeface="SutonnyMJ" pitchFamily="2" charset="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>
                        <a:latin typeface="SutonnyMJ" pitchFamily="2" charset="0"/>
                        <a:cs typeface="+mn-cs"/>
                      </a:endParaRPr>
                    </a:p>
                  </a:txBody>
                  <a:tcPr/>
                </a:tc>
              </a:tr>
              <a:tr h="613591">
                <a:tc>
                  <a:txBody>
                    <a:bodyPr/>
                    <a:lstStyle/>
                    <a:p>
                      <a:pPr algn="ctr"/>
                      <a:r>
                        <a:rPr lang="bn-BD" sz="1800" dirty="0" smtClean="0"/>
                        <a:t>১৩</a:t>
                      </a:r>
                      <a:endParaRPr lang="en-US" sz="1800" dirty="0">
                        <a:latin typeface="SutonnyMJ" pitchFamily="2" charset="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err="1" smtClean="0"/>
                        <a:t>আপনার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কোন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তথ্য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বা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সাহয্যের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প্রয়োজন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হলে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হাসপাতালের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অন্যান্য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কর্মচারীরা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কি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তা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যথাযথভাবে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দিয়েছিলেন</a:t>
                      </a:r>
                      <a:r>
                        <a:rPr lang="en-US" sz="1800" baseline="0" dirty="0" smtClean="0"/>
                        <a:t>?</a:t>
                      </a:r>
                      <a:endParaRPr lang="en-US" sz="1800" dirty="0">
                        <a:latin typeface="SutonnyMJ" pitchFamily="2" charset="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>
                        <a:latin typeface="SutonnyMJ" pitchFamily="2" charset="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>
                        <a:latin typeface="SutonnyMJ" pitchFamily="2" charset="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>
                        <a:latin typeface="SutonnyMJ" pitchFamily="2" charset="0"/>
                        <a:cs typeface="+mn-cs"/>
                      </a:endParaRPr>
                    </a:p>
                  </a:txBody>
                  <a:tcPr/>
                </a:tc>
              </a:tr>
              <a:tr h="613591">
                <a:tc>
                  <a:txBody>
                    <a:bodyPr/>
                    <a:lstStyle/>
                    <a:p>
                      <a:pPr algn="ctr"/>
                      <a:r>
                        <a:rPr lang="bn-BD" sz="1800" dirty="0" smtClean="0"/>
                        <a:t>১৪</a:t>
                      </a:r>
                      <a:endParaRPr lang="en-US" sz="1800" dirty="0">
                        <a:latin typeface="SutonnyMJ" pitchFamily="2" charset="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err="1" smtClean="0"/>
                        <a:t>আপনার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চিকিৎসা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সংক্রান্ত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সিদ্ধান্ত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গ্রহনের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সময়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ডাক্তার</a:t>
                      </a:r>
                      <a:r>
                        <a:rPr lang="en-US" sz="1800" baseline="0" dirty="0" smtClean="0"/>
                        <a:t>/</a:t>
                      </a:r>
                      <a:r>
                        <a:rPr lang="en-US" sz="1800" baseline="0" dirty="0" err="1" smtClean="0"/>
                        <a:t>নার্সরা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আপনার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পরিবারের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সদস্যদের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মতামত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নিয়েছিলেন</a:t>
                      </a:r>
                      <a:r>
                        <a:rPr lang="en-US" sz="1800" baseline="0" dirty="0" smtClean="0"/>
                        <a:t>?</a:t>
                      </a:r>
                      <a:endParaRPr lang="en-US" sz="1800" dirty="0">
                        <a:latin typeface="SutonnyMJ" pitchFamily="2" charset="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>
                        <a:latin typeface="SutonnyMJ" pitchFamily="2" charset="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>
                        <a:latin typeface="SutonnyMJ" pitchFamily="2" charset="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>
                        <a:latin typeface="SutonnyMJ" pitchFamily="2" charset="0"/>
                        <a:cs typeface="+mn-cs"/>
                      </a:endParaRPr>
                    </a:p>
                  </a:txBody>
                  <a:tcPr/>
                </a:tc>
              </a:tr>
              <a:tr h="871946">
                <a:tc>
                  <a:txBody>
                    <a:bodyPr/>
                    <a:lstStyle/>
                    <a:p>
                      <a:pPr algn="ctr"/>
                      <a:r>
                        <a:rPr lang="bn-BD" sz="1800" dirty="0" smtClean="0"/>
                        <a:t>১৫</a:t>
                      </a:r>
                      <a:endParaRPr lang="en-US" sz="1800" dirty="0">
                        <a:latin typeface="SutonnyMJ" pitchFamily="2" charset="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err="1" smtClean="0"/>
                        <a:t>আপনার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চিকিৎসা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পরবর্তী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ছুটি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দেওয়ার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সময়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আপনার</a:t>
                      </a:r>
                      <a:r>
                        <a:rPr lang="en-US" sz="1800" baseline="0" dirty="0" smtClean="0"/>
                        <a:t> ও </a:t>
                      </a:r>
                      <a:r>
                        <a:rPr lang="en-US" sz="1800" baseline="0" dirty="0" err="1" smtClean="0"/>
                        <a:t>আপনার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পরিবারের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সদস্যদের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মতামত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নেওয়া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হয়েছিল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কি</a:t>
                      </a:r>
                      <a:r>
                        <a:rPr lang="en-US" sz="1800" baseline="0" dirty="0" smtClean="0"/>
                        <a:t>? </a:t>
                      </a:r>
                      <a:r>
                        <a:rPr lang="en-US" sz="1800" baseline="0" dirty="0" err="1" smtClean="0"/>
                        <a:t>এবং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পরবর্তিতে</a:t>
                      </a:r>
                      <a:r>
                        <a:rPr lang="en-US" sz="1800" baseline="0" dirty="0" smtClean="0"/>
                        <a:t> এ </a:t>
                      </a:r>
                      <a:r>
                        <a:rPr lang="en-US" sz="1800" baseline="0" dirty="0" err="1" smtClean="0"/>
                        <a:t>বিষয়ে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প্রয়োজনীয়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পরামর্শ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দেওয়া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হয়েছিল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কি</a:t>
                      </a:r>
                      <a:r>
                        <a:rPr lang="en-US" sz="1800" baseline="0" dirty="0" smtClean="0"/>
                        <a:t>?</a:t>
                      </a:r>
                      <a:endParaRPr lang="en-US" sz="1800" dirty="0">
                        <a:latin typeface="SutonnyMJ" pitchFamily="2" charset="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>
                        <a:latin typeface="SutonnyMJ" pitchFamily="2" charset="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>
                        <a:latin typeface="SutonnyMJ" pitchFamily="2" charset="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>
                        <a:latin typeface="SutonnyMJ" pitchFamily="2" charset="0"/>
                        <a:cs typeface="+mn-cs"/>
                      </a:endParaRPr>
                    </a:p>
                  </a:txBody>
                  <a:tcPr/>
                </a:tc>
              </a:tr>
              <a:tr h="613591">
                <a:tc>
                  <a:txBody>
                    <a:bodyPr/>
                    <a:lstStyle/>
                    <a:p>
                      <a:pPr algn="ctr"/>
                      <a:r>
                        <a:rPr lang="bn-BD" sz="1800" dirty="0" smtClean="0"/>
                        <a:t>১৬</a:t>
                      </a:r>
                      <a:endParaRPr lang="en-US" sz="1800" dirty="0">
                        <a:latin typeface="SutonnyMJ" pitchFamily="2" charset="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err="1" smtClean="0"/>
                        <a:t>আপনার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চিকিৎসা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চলাকালীন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সময়ে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চিকিৎসা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বিষয়ে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পরিবারের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সদস্যদের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মতামত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সঠিকভাবে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নেওয়া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হয়েছিল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কি</a:t>
                      </a:r>
                      <a:r>
                        <a:rPr lang="en-US" sz="1800" baseline="0" dirty="0" smtClean="0"/>
                        <a:t>?</a:t>
                      </a:r>
                      <a:endParaRPr lang="en-US" sz="1800" dirty="0">
                        <a:latin typeface="SutonnyMJ" pitchFamily="2" charset="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>
                        <a:latin typeface="SutonnyMJ" pitchFamily="2" charset="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>
                        <a:latin typeface="SutonnyMJ" pitchFamily="2" charset="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>
                        <a:latin typeface="SutonnyMJ" pitchFamily="2" charset="0"/>
                        <a:cs typeface="+mn-cs"/>
                      </a:endParaRPr>
                    </a:p>
                  </a:txBody>
                  <a:tcPr/>
                </a:tc>
              </a:tr>
              <a:tr h="613591">
                <a:tc>
                  <a:txBody>
                    <a:bodyPr/>
                    <a:lstStyle/>
                    <a:p>
                      <a:pPr algn="ctr"/>
                      <a:r>
                        <a:rPr lang="bn-BD" sz="1800" dirty="0" smtClean="0"/>
                        <a:t>১৭</a:t>
                      </a:r>
                      <a:endParaRPr lang="en-US" sz="1800" dirty="0">
                        <a:latin typeface="SutonnyMJ" pitchFamily="2" charset="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err="1" smtClean="0"/>
                        <a:t>আপনার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ওয়েটিং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সময়কাল</a:t>
                      </a:r>
                      <a:r>
                        <a:rPr lang="en-US" sz="1800" baseline="0" dirty="0" smtClean="0"/>
                        <a:t> / </a:t>
                      </a:r>
                      <a:r>
                        <a:rPr lang="en-US" sz="1800" baseline="0" dirty="0" err="1" smtClean="0"/>
                        <a:t>হাসপাতালে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অবস্থানকালে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বসা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বা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থাকার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ব্যবস্থা</a:t>
                      </a:r>
                      <a:r>
                        <a:rPr lang="en-US" sz="1800" baseline="0" dirty="0" smtClean="0"/>
                        <a:t> ও </a:t>
                      </a:r>
                      <a:r>
                        <a:rPr lang="en-US" sz="1800" baseline="0" dirty="0" err="1" smtClean="0"/>
                        <a:t>অন্যান্য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সুবিধা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কি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যথাযথ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ছিল</a:t>
                      </a:r>
                      <a:r>
                        <a:rPr lang="en-US" sz="1800" baseline="0" dirty="0" smtClean="0"/>
                        <a:t>?</a:t>
                      </a:r>
                      <a:endParaRPr lang="en-US" sz="1800" dirty="0">
                        <a:latin typeface="SutonnyMJ" pitchFamily="2" charset="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>
                        <a:latin typeface="SutonnyMJ" pitchFamily="2" charset="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>
                        <a:latin typeface="SutonnyMJ" pitchFamily="2" charset="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>
                        <a:latin typeface="SutonnyMJ" pitchFamily="2" charset="0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93260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615</TotalTime>
  <Words>325</Words>
  <Application>Microsoft Office PowerPoint</Application>
  <PresentationFormat>On-screen Show (4:3)</PresentationFormat>
  <Paragraphs>46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রোগী কেন্দ্রিক স্বাস্থ্যসেবা সংক্রান্ত প্রশ্নমালা</dc:title>
  <dc:creator>Emdad</dc:creator>
  <cp:lastModifiedBy>Emdad</cp:lastModifiedBy>
  <cp:revision>32</cp:revision>
  <dcterms:created xsi:type="dcterms:W3CDTF">2006-08-16T00:00:00Z</dcterms:created>
  <dcterms:modified xsi:type="dcterms:W3CDTF">2018-08-12T07:33:08Z</dcterms:modified>
</cp:coreProperties>
</file>