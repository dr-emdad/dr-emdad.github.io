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72" r:id="rId4"/>
    <p:sldId id="418" r:id="rId5"/>
    <p:sldId id="419" r:id="rId6"/>
    <p:sldId id="424" r:id="rId7"/>
    <p:sldId id="427" r:id="rId8"/>
    <p:sldId id="428" r:id="rId9"/>
    <p:sldId id="420" r:id="rId10"/>
    <p:sldId id="421" r:id="rId11"/>
    <p:sldId id="422" r:id="rId12"/>
    <p:sldId id="423" r:id="rId13"/>
    <p:sldId id="425" r:id="rId14"/>
    <p:sldId id="429" r:id="rId15"/>
    <p:sldId id="42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1FAA1-7936-4FED-87FE-AAB96CE2781D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2A4C8-AAF9-4BB2-A698-D7564ACE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6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000" i="1"/>
              <a:t>Determinants of the speed of </a:t>
            </a:r>
            <a:br>
              <a:rPr lang="en-US" altLang="en-US" sz="1000" i="1"/>
            </a:br>
            <a:r>
              <a:rPr lang="en-US" altLang="en-US" sz="1000" i="1"/>
              <a:t>transition to UHC</a:t>
            </a:r>
          </a:p>
          <a:p>
            <a:r>
              <a:rPr lang="en-US" altLang="en-US"/>
              <a:t>Sustained economic growth</a:t>
            </a:r>
          </a:p>
          <a:p>
            <a:r>
              <a:rPr lang="en-US" altLang="en-US"/>
              <a:t>Amount of resources available</a:t>
            </a:r>
          </a:p>
          <a:p>
            <a:r>
              <a:rPr lang="en-US" altLang="en-US"/>
              <a:t>Growing formal sector</a:t>
            </a:r>
          </a:p>
          <a:p>
            <a:r>
              <a:rPr lang="en-US" altLang="en-US"/>
              <a:t>Government's stewardship and political will</a:t>
            </a:r>
          </a:p>
          <a:p>
            <a:r>
              <a:rPr lang="en-US" altLang="en-US"/>
              <a:t>Reform implementation capacity</a:t>
            </a:r>
          </a:p>
          <a:p>
            <a:r>
              <a:rPr lang="en-US" altLang="en-US"/>
              <a:t>Population's trust in Government</a:t>
            </a:r>
          </a:p>
          <a:p>
            <a:r>
              <a:rPr lang="en-US" altLang="en-US"/>
              <a:t>Degree of solidarity in society</a:t>
            </a:r>
          </a:p>
          <a:p>
            <a:endParaRPr lang="en-US" altLang="en-US" sz="1000" i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FAEA-9A9B-4E82-8A7C-39C58670F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A1206-7A96-4016-BAB1-D9A024386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D870-6371-4063-AD96-371001C4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AC84-9A59-43BE-B8CF-87E198B8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BBF2B-60FF-4CA5-97E0-F882F768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3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2BBF-9EC7-474F-BC1C-E8B84616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8523-C08A-4C4E-B259-273CBEF2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1EB78-41F8-486A-8D5D-B0475CAE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5BF64-4A32-4988-92EE-7FFBC67B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EC62-1EF7-4684-BAEE-9BA106CD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EC0D-0603-4916-8362-0D7DA3AF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1C62B-ECF3-468C-8968-7849406D5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87A92-7D68-4E16-88CD-3DC40ABB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02835-E66B-40E2-90CE-48A6FE88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EA73B-0930-4419-9251-0C858C9F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5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4D39-EB94-4157-B040-A716361A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5DE5-A94B-4FE2-8D3B-04833FA1D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04A84-A1B8-44FA-B696-BF9747102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4548B-4C85-40EB-973D-B9A61083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81AA0-841A-4056-B849-F7CB86E5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C05F7-FA7C-4E54-B621-BA351C46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3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4787-80D2-4E68-AAF0-3388954B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89422-09D1-4D7C-A79C-810B1AFBF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530C5-11FA-4A41-864F-C50587F04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2C68D-AEDA-4CAE-A3D6-FEF324436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F9DB5-362D-423E-8C72-67D9D2907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4F3C9-97D5-4176-BCF3-CFDD93D5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0FC1F-ADD6-40E4-80CE-DFFD53DB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FFC9A-882E-44F2-9999-84D99780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3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B2F1-2C55-4B80-AEB2-09380933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3E11-E7BA-4A39-93BE-5DBA8859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5F6-F371-458B-85C4-20296AD4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52A20-83CA-4D95-B600-5B92255B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6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97932-2727-481C-9C1B-0FDCB4F0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E51EA-9CDE-4348-8559-5D698888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2ADF-54F5-49E2-A04E-A7A0CE44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1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8840-A5A4-44F7-907F-28E81AE8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CFCEB-653E-4B9B-B581-90F5CD889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29CF-7444-49D6-A7ED-7A44CBBA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C580B-0AF0-4781-9152-58FFE6ED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F197B-D3C2-4877-85ED-A29FC60E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DB01E-F10E-41DF-81E3-2CE968A8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9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C003-D808-4416-9EBD-D997AC2B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7A570-AC35-4B36-A1F3-9FB0F6C69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1B1DB-AF1D-4AD0-9591-E651265CB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D957E-F78F-4A80-AE9D-90CD1376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98E1A-96D2-48F5-93B3-92D33D7A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CF851-C3AC-442E-AF61-B017ED53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4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6A49-0436-46DB-ADA6-60FCA667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EEB3C-3767-4AD8-B139-355EA673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E059E-A0E9-45C8-9487-90C2B84E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90838-50C8-4AC9-8B81-E6931EBB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D275-9143-41E2-8A61-D1F4F6A0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6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6D1CB-893A-49E9-A185-39C6FA8EF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FE54F-0DAF-4035-A15D-8EACC112A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0942-468C-491A-B33E-0021C0F6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4DD80-635F-44A5-9413-3D932558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4425C-1F09-48B2-AA53-F114A7D7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9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E72F-BC46-40B4-883F-2595B57E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583F-D3AA-4612-AC26-7659162CF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BD79C-3B18-4FE7-8846-32A2EC103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16C7-4340-411C-AB34-24CE33DCB473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ACEC-09BE-4334-83DA-0D1D90C6C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37A7F-1C0E-4CDC-BDAD-BDA0C3C0E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2BDA0-F036-42BC-98B3-B7ABE8639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0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D5B7-5CF4-451D-9D34-5759D3953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2730"/>
            <a:ext cx="9144000" cy="28672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People’s Participation for Universal Health Coverage: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/>
              <a:t>Bangladesh Looking Ahead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D2976-7832-4DD4-899F-F25216718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661" y="3602038"/>
            <a:ext cx="10243930" cy="261323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Dr M Mushtuq Husain</a:t>
            </a:r>
          </a:p>
          <a:p>
            <a:r>
              <a:rPr lang="en-US" dirty="0"/>
              <a:t>Coordinator (Independent Consultant)</a:t>
            </a:r>
          </a:p>
          <a:p>
            <a:r>
              <a:rPr lang="en-US" dirty="0"/>
              <a:t>Coordination and Support Centre</a:t>
            </a:r>
          </a:p>
          <a:p>
            <a:r>
              <a:rPr lang="en-US" dirty="0"/>
              <a:t>Directorate General of Health Services</a:t>
            </a:r>
          </a:p>
          <a:p>
            <a:r>
              <a:rPr lang="en-US" dirty="0"/>
              <a:t>Government of the People’s Republic of Bangladesh</a:t>
            </a:r>
          </a:p>
        </p:txBody>
      </p:sp>
    </p:spTree>
    <p:extLst>
      <p:ext uri="{BB962C8B-B14F-4D97-AF65-F5344CB8AC3E}">
        <p14:creationId xmlns:p14="http://schemas.microsoft.com/office/powerpoint/2010/main" val="419109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37F9-CEED-4FC6-9B0D-7687E78A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UHC in Bangladesh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92E7-3B17-44B9-B09D-EA0C88570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lvl="1" indent="-342900">
              <a:defRPr/>
            </a:pPr>
            <a:r>
              <a:rPr lang="en-GB" altLang="en-US" sz="3200" dirty="0"/>
              <a:t>UHC is defined as </a:t>
            </a:r>
            <a:r>
              <a:rPr lang="en-GB" altLang="en-US" sz="3200" u="sng" dirty="0">
                <a:solidFill>
                  <a:srgbClr val="FF0000"/>
                </a:solidFill>
              </a:rPr>
              <a:t>ALL people </a:t>
            </a:r>
            <a:r>
              <a:rPr lang="en-GB" altLang="en-US" sz="3200" dirty="0">
                <a:solidFill>
                  <a:srgbClr val="FF0000"/>
                </a:solidFill>
              </a:rPr>
              <a:t>will receive </a:t>
            </a:r>
            <a:r>
              <a:rPr lang="en-GB" altLang="en-US" sz="3200" u="sng" dirty="0">
                <a:solidFill>
                  <a:srgbClr val="FF0000"/>
                </a:solidFill>
              </a:rPr>
              <a:t>quality health care </a:t>
            </a:r>
            <a:r>
              <a:rPr lang="en-GB" altLang="en-US" sz="3200" dirty="0">
                <a:solidFill>
                  <a:srgbClr val="FF0000"/>
                </a:solidFill>
              </a:rPr>
              <a:t>they need </a:t>
            </a:r>
            <a:r>
              <a:rPr lang="en-GB" altLang="en-US" sz="3200" u="sng" dirty="0">
                <a:solidFill>
                  <a:srgbClr val="FF0000"/>
                </a:solidFill>
              </a:rPr>
              <a:t>without suffering financial hardship</a:t>
            </a:r>
            <a:endParaRPr lang="en-US" sz="3200" u="sng" dirty="0"/>
          </a:p>
          <a:p>
            <a:r>
              <a:rPr lang="en-US" sz="3200" dirty="0"/>
              <a:t>Bangladesh is committed to achieve UHC by 2032</a:t>
            </a:r>
          </a:p>
          <a:p>
            <a:r>
              <a:rPr lang="en-US" sz="3200" dirty="0"/>
              <a:t>Out of pocket expenditure around 64%</a:t>
            </a:r>
          </a:p>
          <a:p>
            <a:r>
              <a:rPr lang="en-US" sz="3200" dirty="0"/>
              <a:t>Health budget is around 5% of the total budget</a:t>
            </a:r>
          </a:p>
          <a:p>
            <a:r>
              <a:rPr lang="en-US" sz="3200" dirty="0"/>
              <a:t>Spending in health near to 1% of GDP</a:t>
            </a:r>
          </a:p>
        </p:txBody>
      </p:sp>
    </p:spTree>
    <p:extLst>
      <p:ext uri="{BB962C8B-B14F-4D97-AF65-F5344CB8AC3E}">
        <p14:creationId xmlns:p14="http://schemas.microsoft.com/office/powerpoint/2010/main" val="379122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98675" y="457201"/>
            <a:ext cx="8001000" cy="835025"/>
          </a:xfrm>
        </p:spPr>
        <p:txBody>
          <a:bodyPr anchor="ctr">
            <a:norm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Key Health Financing Challenges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>
              <a:spcBef>
                <a:spcPts val="0"/>
              </a:spcBef>
              <a:buClr>
                <a:srgbClr val="FD5C03"/>
              </a:buClr>
              <a:buSzPct val="80000"/>
              <a:buNone/>
              <a:defRPr/>
            </a:pPr>
            <a:endParaRPr lang="en-US" altLang="en-US" sz="1200" dirty="0"/>
          </a:p>
          <a:p>
            <a:pPr marL="914400">
              <a:lnSpc>
                <a:spcPct val="200000"/>
              </a:lnSpc>
              <a:buClr>
                <a:srgbClr val="FD5C03"/>
              </a:buClr>
              <a:buSzPct val="80000"/>
              <a:buFont typeface="Calibri" pitchFamily="34" charset="0"/>
              <a:buChar char="❶"/>
              <a:defRPr/>
            </a:pPr>
            <a:r>
              <a:rPr lang="en-US" altLang="en-US" sz="3600" dirty="0"/>
              <a:t>Inadequate financing for health</a:t>
            </a:r>
          </a:p>
          <a:p>
            <a:pPr marL="914400">
              <a:lnSpc>
                <a:spcPct val="200000"/>
              </a:lnSpc>
              <a:buClr>
                <a:srgbClr val="FD5C03"/>
              </a:buClr>
              <a:buSzPct val="80000"/>
              <a:buFont typeface="Calibri" pitchFamily="34" charset="0"/>
              <a:buChar char="❷"/>
              <a:defRPr/>
            </a:pPr>
            <a:r>
              <a:rPr lang="en-US" altLang="en-US" sz="3600" dirty="0"/>
              <a:t>Inequity in financing and utilization</a:t>
            </a:r>
          </a:p>
          <a:p>
            <a:pPr marL="914400">
              <a:lnSpc>
                <a:spcPct val="200000"/>
              </a:lnSpc>
              <a:buClr>
                <a:srgbClr val="FD5C03"/>
              </a:buClr>
              <a:buSzPct val="80000"/>
              <a:buFont typeface="Calibri" pitchFamily="34" charset="0"/>
              <a:buChar char="❸"/>
              <a:defRPr/>
            </a:pPr>
            <a:r>
              <a:rPr lang="en-US" altLang="en-US" sz="3600" dirty="0"/>
              <a:t>Inefficient use of resources</a:t>
            </a:r>
          </a:p>
        </p:txBody>
      </p:sp>
      <p:sp>
        <p:nvSpPr>
          <p:cNvPr id="20484" name="Slide Number Placeholder 3"/>
          <p:cNvSpPr txBox="1">
            <a:spLocks noGrp="1"/>
          </p:cNvSpPr>
          <p:nvPr/>
        </p:nvSpPr>
        <p:spPr bwMode="auto">
          <a:xfrm>
            <a:off x="9067800" y="6477000"/>
            <a:ext cx="1600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85C8CA4-0DE3-4793-863A-397D7BC03687}" type="slidenum">
              <a:rPr lang="en-US" altLang="en-US" sz="1400"/>
              <a:pPr algn="r"/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Moving towards the UHC Goal</a:t>
            </a:r>
          </a:p>
        </p:txBody>
      </p:sp>
      <p:sp>
        <p:nvSpPr>
          <p:cNvPr id="23" name="object 23"/>
          <p:cNvSpPr txBox="1">
            <a:spLocks noGrp="1" noChangeArrowheads="1"/>
          </p:cNvSpPr>
          <p:nvPr>
            <p:ph sz="quarter" idx="1"/>
          </p:nvPr>
        </p:nvSpPr>
        <p:spPr>
          <a:xfrm>
            <a:off x="1166191" y="1676400"/>
            <a:ext cx="10098157" cy="4876800"/>
          </a:xfrm>
        </p:spPr>
        <p:txBody>
          <a:bodyPr>
            <a:normAutofit/>
          </a:bodyPr>
          <a:lstStyle/>
          <a:p>
            <a:pPr marL="520700" indent="-341313" defTabSz="801688">
              <a:buClr>
                <a:schemeClr val="accent6">
                  <a:lumMod val="60000"/>
                  <a:lumOff val="40000"/>
                </a:schemeClr>
              </a:buClr>
              <a:buFont typeface="Calibri" pitchFamily="34" charset="0"/>
              <a:buChar char="❶"/>
              <a:tabLst>
                <a:tab pos="463550" algn="l"/>
              </a:tabLst>
              <a:defRPr/>
            </a:pPr>
            <a:r>
              <a:rPr lang="en-US" altLang="en-US" dirty="0">
                <a:solidFill>
                  <a:srgbClr val="FF0000"/>
                </a:solidFill>
              </a:rPr>
              <a:t> UHC is a continuous journey</a:t>
            </a:r>
          </a:p>
          <a:p>
            <a:pPr marL="520700" lvl="1" indent="-341313" defTabSz="801688">
              <a:buClr>
                <a:schemeClr val="accent6">
                  <a:lumMod val="60000"/>
                  <a:lumOff val="40000"/>
                </a:schemeClr>
              </a:buClr>
              <a:buFont typeface="Calibri" pitchFamily="34" charset="0"/>
              <a:buChar char="❶"/>
              <a:tabLst>
                <a:tab pos="463550" algn="l"/>
              </a:tabLst>
              <a:defRPr/>
            </a:pPr>
            <a:endParaRPr lang="en-US" altLang="en-US" sz="2800" dirty="0"/>
          </a:p>
          <a:p>
            <a:pPr marL="520700" indent="-341313" defTabSz="801688">
              <a:buClr>
                <a:schemeClr val="accent6">
                  <a:lumMod val="60000"/>
                  <a:lumOff val="40000"/>
                </a:schemeClr>
              </a:buClr>
              <a:buFont typeface="Calibri" pitchFamily="34" charset="0"/>
              <a:buChar char="❷"/>
              <a:tabLst>
                <a:tab pos="463550" algn="l"/>
              </a:tabLst>
              <a:defRPr/>
            </a:pPr>
            <a:r>
              <a:rPr lang="en-US" altLang="en-US" dirty="0"/>
              <a:t> No single model of universal coverage –     </a:t>
            </a:r>
          </a:p>
          <a:p>
            <a:pPr marL="520700" indent="-341313" defTabSz="801688"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None/>
              <a:tabLst>
                <a:tab pos="463550" algn="l"/>
              </a:tabLst>
              <a:defRPr/>
            </a:pPr>
            <a:r>
              <a:rPr lang="en-US" altLang="en-US" dirty="0"/>
              <a:t>     successful programs vary and the starting point   </a:t>
            </a:r>
          </a:p>
          <a:p>
            <a:pPr marL="520700" indent="-341313" defTabSz="801688"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None/>
              <a:tabLst>
                <a:tab pos="463550" algn="l"/>
              </a:tabLst>
              <a:defRPr/>
            </a:pPr>
            <a:r>
              <a:rPr lang="en-US" altLang="en-US" dirty="0"/>
              <a:t>     is the country context</a:t>
            </a:r>
          </a:p>
          <a:p>
            <a:pPr marL="520700" indent="-341313" defTabSz="801688">
              <a:buClr>
                <a:schemeClr val="accent6">
                  <a:lumMod val="60000"/>
                  <a:lumOff val="40000"/>
                </a:schemeClr>
              </a:buClr>
              <a:buFont typeface="Calibri" pitchFamily="34" charset="0"/>
              <a:buChar char="❶"/>
              <a:tabLst>
                <a:tab pos="463550" algn="l"/>
              </a:tabLst>
              <a:defRPr/>
            </a:pPr>
            <a:endParaRPr lang="en-US" altLang="en-US" dirty="0"/>
          </a:p>
          <a:p>
            <a:pPr marL="520700" indent="-341313" defTabSz="801688">
              <a:buClr>
                <a:schemeClr val="accent6">
                  <a:lumMod val="60000"/>
                  <a:lumOff val="40000"/>
                </a:schemeClr>
              </a:buClr>
              <a:buFont typeface="Calibri" pitchFamily="34" charset="0"/>
              <a:buChar char="❸"/>
              <a:tabLst>
                <a:tab pos="463550" algn="l"/>
              </a:tabLst>
              <a:defRPr/>
            </a:pPr>
            <a:r>
              <a:rPr lang="en-US" altLang="en-US" dirty="0"/>
              <a:t> But relevant to all (rich and poor) countries, </a:t>
            </a:r>
          </a:p>
          <a:p>
            <a:pPr marL="520700" indent="-341313" defTabSz="801688"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None/>
              <a:tabLst>
                <a:tab pos="463550" algn="l"/>
              </a:tabLst>
              <a:defRPr/>
            </a:pPr>
            <a:r>
              <a:rPr lang="en-US" altLang="en-US" dirty="0"/>
              <a:t>     because all want to</a:t>
            </a:r>
          </a:p>
          <a:p>
            <a:pPr marL="1373188" lvl="2" indent="-458788" defTabSz="801688">
              <a:buSzPct val="80000"/>
              <a:buFont typeface="Calibri" pitchFamily="34" charset="0"/>
              <a:buChar char="①"/>
              <a:tabLst>
                <a:tab pos="354013" algn="l"/>
              </a:tabLst>
              <a:defRPr/>
            </a:pPr>
            <a:r>
              <a:rPr lang="en-US" altLang="en-US" sz="2400" dirty="0"/>
              <a:t>Reduce the gap between need and utilization</a:t>
            </a:r>
          </a:p>
          <a:p>
            <a:pPr marL="1373188" lvl="2" indent="-458788" defTabSz="801688">
              <a:buSzPct val="80000"/>
              <a:buFont typeface="Calibri" pitchFamily="34" charset="0"/>
              <a:buChar char="②"/>
              <a:tabLst>
                <a:tab pos="354013" algn="l"/>
              </a:tabLst>
              <a:defRPr/>
            </a:pPr>
            <a:r>
              <a:rPr lang="en-US" altLang="en-US" sz="2400" dirty="0"/>
              <a:t>Improve quality</a:t>
            </a:r>
          </a:p>
          <a:p>
            <a:pPr marL="1373188" lvl="2" indent="-458788" defTabSz="801688">
              <a:buSzPct val="80000"/>
              <a:buFont typeface="Calibri" pitchFamily="34" charset="0"/>
              <a:buChar char="③"/>
              <a:tabLst>
                <a:tab pos="354013" algn="l"/>
              </a:tabLst>
              <a:defRPr/>
            </a:pPr>
            <a:r>
              <a:rPr lang="en-US" altLang="en-US" sz="2400" dirty="0"/>
              <a:t>Improve financial protection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502400" y="6215064"/>
            <a:ext cx="3403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100"/>
              <a:t>Source: Kutzin, J. (WHO) Presentation Kenya June 2013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046A54-81B2-467D-A9DA-420414B86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 Tale of Public Engagement in Health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5206C6-3A06-4556-9B84-D96F0A047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solidFill>
                  <a:srgbClr val="FF0000"/>
                </a:solidFill>
              </a:rPr>
              <a:t>Chowgacha-Jhenaidah</a:t>
            </a:r>
            <a:r>
              <a:rPr lang="en-US" sz="4800" dirty="0">
                <a:solidFill>
                  <a:srgbClr val="FF0000"/>
                </a:solidFill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01715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5812-7BF0-4C13-98CC-B807BE0C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285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How it came into being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8535B-E53F-4489-8515-6F93106B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5010772"/>
          </a:xfrm>
        </p:spPr>
        <p:txBody>
          <a:bodyPr>
            <a:normAutofit fontScale="92500"/>
          </a:bodyPr>
          <a:lstStyle/>
          <a:p>
            <a:r>
              <a:rPr lang="en-US" dirty="0"/>
              <a:t>The success of mass immunization campaign and operation of Community Clinic is a success story of people’s involvement in heath service delivery</a:t>
            </a:r>
          </a:p>
          <a:p>
            <a:r>
              <a:rPr lang="en-US" dirty="0"/>
              <a:t>Running </a:t>
            </a:r>
            <a:r>
              <a:rPr lang="en-US" dirty="0" err="1"/>
              <a:t>Chowgacha</a:t>
            </a:r>
            <a:r>
              <a:rPr lang="en-US" dirty="0"/>
              <a:t> </a:t>
            </a:r>
            <a:r>
              <a:rPr lang="en-US" dirty="0" err="1"/>
              <a:t>Upazilla</a:t>
            </a:r>
            <a:r>
              <a:rPr lang="en-US" dirty="0"/>
              <a:t> Health Complex (UHC) and </a:t>
            </a:r>
            <a:r>
              <a:rPr lang="en-US" dirty="0" err="1"/>
              <a:t>Jhenaidah</a:t>
            </a:r>
            <a:r>
              <a:rPr lang="en-US" dirty="0"/>
              <a:t> District Hospital involving people was an innovative task of a group of committed doctors led by Dr </a:t>
            </a:r>
            <a:r>
              <a:rPr lang="en-US" dirty="0" err="1"/>
              <a:t>Emdadul</a:t>
            </a:r>
            <a:r>
              <a:rPr lang="en-US" dirty="0"/>
              <a:t> </a:t>
            </a:r>
            <a:r>
              <a:rPr lang="en-US" dirty="0" err="1"/>
              <a:t>Haq</a:t>
            </a:r>
            <a:endParaRPr lang="en-US" dirty="0"/>
          </a:p>
          <a:p>
            <a:r>
              <a:rPr lang="en-US" dirty="0"/>
              <a:t>Maternal death due to excessive bleeding moved Dr </a:t>
            </a:r>
            <a:r>
              <a:rPr lang="en-US" dirty="0" err="1"/>
              <a:t>Emdad</a:t>
            </a:r>
            <a:r>
              <a:rPr lang="en-US" dirty="0"/>
              <a:t> and his colleagues at </a:t>
            </a:r>
            <a:r>
              <a:rPr lang="en-US" dirty="0" err="1"/>
              <a:t>Chowgacha</a:t>
            </a:r>
            <a:r>
              <a:rPr lang="en-US" dirty="0"/>
              <a:t> UHC</a:t>
            </a:r>
          </a:p>
          <a:p>
            <a:r>
              <a:rPr lang="en-US" dirty="0"/>
              <a:t>Local government and local Community came forward to improve UHC – </a:t>
            </a:r>
          </a:p>
          <a:p>
            <a:pPr lvl="1"/>
            <a:r>
              <a:rPr lang="en-US" dirty="0"/>
              <a:t>Transferred OPD from a tally shed to local Library building</a:t>
            </a:r>
          </a:p>
          <a:p>
            <a:pPr lvl="1"/>
            <a:r>
              <a:rPr lang="en-US" dirty="0"/>
              <a:t>Donated to engage extra cleaners, receptionists, cycle stand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JICA contributed to improve healthcare delivery</a:t>
            </a:r>
          </a:p>
          <a:p>
            <a:pPr lvl="1"/>
            <a:r>
              <a:rPr lang="en-US" dirty="0"/>
              <a:t>Other govt depts and officials contributed</a:t>
            </a:r>
          </a:p>
        </p:txBody>
      </p:sp>
    </p:spTree>
    <p:extLst>
      <p:ext uri="{BB962C8B-B14F-4D97-AF65-F5344CB8AC3E}">
        <p14:creationId xmlns:p14="http://schemas.microsoft.com/office/powerpoint/2010/main" val="394428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B45BB-E3D6-4C8D-8B55-25207E1B4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0"/>
            <a:ext cx="10515600" cy="5752893"/>
          </a:xfrm>
        </p:spPr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Jhenaidah</a:t>
            </a:r>
            <a:r>
              <a:rPr lang="en-US" dirty="0"/>
              <a:t>, Mayor of </a:t>
            </a:r>
            <a:r>
              <a:rPr lang="en-US" dirty="0" err="1"/>
              <a:t>Jhenaidah</a:t>
            </a:r>
            <a:r>
              <a:rPr lang="en-US" dirty="0"/>
              <a:t> municipality played a role of catalyst, other leaders joined the rank</a:t>
            </a:r>
          </a:p>
          <a:p>
            <a:pPr lvl="1"/>
            <a:r>
              <a:rPr lang="en-US" dirty="0"/>
              <a:t>Security situation improved</a:t>
            </a:r>
          </a:p>
          <a:p>
            <a:pPr lvl="1"/>
            <a:r>
              <a:rPr lang="en-US" dirty="0"/>
              <a:t>Revenue shot up significantly</a:t>
            </a:r>
          </a:p>
          <a:p>
            <a:r>
              <a:rPr lang="en-US" dirty="0"/>
              <a:t>For the last 15 years including current year, </a:t>
            </a:r>
            <a:r>
              <a:rPr lang="en-US" dirty="0" err="1"/>
              <a:t>Chowgacha</a:t>
            </a:r>
            <a:r>
              <a:rPr lang="en-US" dirty="0"/>
              <a:t> UHC won first prize of Health Minister among </a:t>
            </a:r>
            <a:r>
              <a:rPr lang="en-US" dirty="0" err="1"/>
              <a:t>Upazilla</a:t>
            </a:r>
            <a:r>
              <a:rPr lang="en-US" dirty="0"/>
              <a:t> group</a:t>
            </a:r>
          </a:p>
          <a:p>
            <a:r>
              <a:rPr lang="en-US" dirty="0"/>
              <a:t>Similarly for the last 6 years, </a:t>
            </a:r>
            <a:r>
              <a:rPr lang="en-US" dirty="0" err="1"/>
              <a:t>Jhenaidah</a:t>
            </a:r>
            <a:r>
              <a:rPr lang="en-US" dirty="0"/>
              <a:t> District Hospital won the first prize among District group</a:t>
            </a:r>
          </a:p>
          <a:p>
            <a:r>
              <a:rPr lang="en-US" dirty="0"/>
              <a:t>In this way, the foundation was built by </a:t>
            </a:r>
            <a:r>
              <a:rPr lang="en-US" dirty="0" err="1"/>
              <a:t>Chowgacha</a:t>
            </a:r>
            <a:r>
              <a:rPr lang="en-US" dirty="0"/>
              <a:t> UHC and </a:t>
            </a:r>
            <a:r>
              <a:rPr lang="en-US" dirty="0" err="1"/>
              <a:t>Jhenaidah</a:t>
            </a:r>
            <a:r>
              <a:rPr lang="en-US" dirty="0"/>
              <a:t> DH developing into a model</a:t>
            </a:r>
          </a:p>
          <a:p>
            <a:r>
              <a:rPr lang="en-US" dirty="0"/>
              <a:t>Became a learning </a:t>
            </a:r>
            <a:r>
              <a:rPr lang="en-US" dirty="0" err="1"/>
              <a:t>centre</a:t>
            </a:r>
            <a:r>
              <a:rPr lang="en-US" dirty="0"/>
              <a:t> for other UHCs and DHs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4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94BE-92AD-46B2-A1A3-9646D80F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Other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FEB4-EFDA-402D-81BB-564994BA2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Tangail </a:t>
            </a:r>
            <a:r>
              <a:rPr lang="en-US" dirty="0" err="1"/>
              <a:t>Sadar</a:t>
            </a:r>
            <a:r>
              <a:rPr lang="en-US" dirty="0"/>
              <a:t> Hospital</a:t>
            </a:r>
          </a:p>
          <a:p>
            <a:r>
              <a:rPr lang="en-US" dirty="0" err="1"/>
              <a:t>Narsingdi</a:t>
            </a:r>
            <a:r>
              <a:rPr lang="en-US" dirty="0"/>
              <a:t> 250-bed Hospital</a:t>
            </a:r>
          </a:p>
          <a:p>
            <a:r>
              <a:rPr lang="en-US" dirty="0" err="1"/>
              <a:t>Thakurgaon</a:t>
            </a:r>
            <a:r>
              <a:rPr lang="en-US" dirty="0"/>
              <a:t> </a:t>
            </a:r>
            <a:r>
              <a:rPr lang="en-US" dirty="0" err="1"/>
              <a:t>Sadar</a:t>
            </a:r>
            <a:r>
              <a:rPr lang="en-US" dirty="0"/>
              <a:t> Hospital</a:t>
            </a:r>
          </a:p>
          <a:p>
            <a:r>
              <a:rPr lang="en-US" dirty="0" err="1"/>
              <a:t>Monpura</a:t>
            </a:r>
            <a:r>
              <a:rPr lang="en-US" dirty="0"/>
              <a:t>, Bhola</a:t>
            </a:r>
          </a:p>
          <a:p>
            <a:r>
              <a:rPr lang="en-US" dirty="0" err="1"/>
              <a:t>Birganj</a:t>
            </a:r>
            <a:r>
              <a:rPr lang="en-US" dirty="0"/>
              <a:t>, Dinajpur</a:t>
            </a:r>
          </a:p>
          <a:p>
            <a:r>
              <a:rPr lang="en-US" dirty="0" err="1"/>
              <a:t>Chirirbandar</a:t>
            </a:r>
            <a:r>
              <a:rPr lang="en-US" dirty="0"/>
              <a:t>, Dinajpur</a:t>
            </a:r>
          </a:p>
          <a:p>
            <a:r>
              <a:rPr lang="en-US" dirty="0" err="1"/>
              <a:t>Melandoho</a:t>
            </a:r>
            <a:r>
              <a:rPr lang="en-US" dirty="0"/>
              <a:t>, Jamalpur</a:t>
            </a:r>
          </a:p>
          <a:p>
            <a:r>
              <a:rPr lang="en-US" dirty="0" err="1"/>
              <a:t>Jhikargacha</a:t>
            </a:r>
            <a:r>
              <a:rPr lang="en-US" dirty="0"/>
              <a:t>, </a:t>
            </a:r>
            <a:r>
              <a:rPr lang="en-US" dirty="0" err="1"/>
              <a:t>Jashore</a:t>
            </a:r>
            <a:endParaRPr lang="en-US" dirty="0"/>
          </a:p>
          <a:p>
            <a:r>
              <a:rPr lang="en-US" dirty="0" err="1"/>
              <a:t>Wazirpur</a:t>
            </a:r>
            <a:r>
              <a:rPr lang="en-US" dirty="0"/>
              <a:t>, Barisal</a:t>
            </a:r>
          </a:p>
        </p:txBody>
      </p:sp>
    </p:spTree>
    <p:extLst>
      <p:ext uri="{BB962C8B-B14F-4D97-AF65-F5344CB8AC3E}">
        <p14:creationId xmlns:p14="http://schemas.microsoft.com/office/powerpoint/2010/main" val="384408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E7F8-7E90-4485-97E9-1E051BEB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Characteristics of </a:t>
            </a:r>
            <a:r>
              <a:rPr lang="en-US" b="1" dirty="0" err="1">
                <a:solidFill>
                  <a:srgbClr val="FF0000"/>
                </a:solidFill>
              </a:rPr>
              <a:t>Chowgacha-Jhenaidah</a:t>
            </a:r>
            <a:r>
              <a:rPr lang="en-US" b="1" dirty="0">
                <a:solidFill>
                  <a:srgbClr val="FF0000"/>
                </a:solidFill>
              </a:rPr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C030-1C58-4D3A-8225-321F951DF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Capacity and skill development at personal and team level</a:t>
            </a:r>
          </a:p>
          <a:p>
            <a:pPr lvl="0"/>
            <a:r>
              <a:rPr lang="en-US" dirty="0"/>
              <a:t>Forming Community Support Group under the leadership of people’s representative</a:t>
            </a:r>
          </a:p>
          <a:p>
            <a:pPr lvl="0"/>
            <a:r>
              <a:rPr lang="en-US" dirty="0"/>
              <a:t>Effective coordination with public administration and other government agencies</a:t>
            </a:r>
          </a:p>
          <a:p>
            <a:pPr lvl="0"/>
            <a:r>
              <a:rPr lang="en-US" dirty="0"/>
              <a:t>Maternal and child healthcare</a:t>
            </a:r>
          </a:p>
          <a:p>
            <a:pPr lvl="0"/>
            <a:r>
              <a:rPr lang="en-US" dirty="0"/>
              <a:t>Healthcare corners based on medical disciplines, e.g., NCD, obstetrics, </a:t>
            </a:r>
            <a:r>
              <a:rPr lang="en-US" dirty="0" err="1"/>
              <a:t>paediatrics</a:t>
            </a:r>
            <a:r>
              <a:rPr lang="en-US" dirty="0"/>
              <a:t>, ORT </a:t>
            </a:r>
            <a:r>
              <a:rPr lang="en-US" dirty="0" err="1"/>
              <a:t>etc</a:t>
            </a:r>
            <a:endParaRPr lang="en-US" dirty="0"/>
          </a:p>
          <a:p>
            <a:pPr lvl="0"/>
            <a:r>
              <a:rPr lang="en-US" dirty="0"/>
              <a:t>Provision of safe blood transfusion in emergency</a:t>
            </a:r>
          </a:p>
        </p:txBody>
      </p:sp>
    </p:spTree>
    <p:extLst>
      <p:ext uri="{BB962C8B-B14F-4D97-AF65-F5344CB8AC3E}">
        <p14:creationId xmlns:p14="http://schemas.microsoft.com/office/powerpoint/2010/main" val="281229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EF68-1C2F-4779-87CA-E66168C5A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65444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Evaluation of health indicators by collection and analysis of birth and death data</a:t>
            </a:r>
          </a:p>
          <a:p>
            <a:pPr lvl="0"/>
            <a:r>
              <a:rPr lang="en-US" dirty="0"/>
              <a:t>Improvement of health informatics and ensuring its effective use</a:t>
            </a:r>
          </a:p>
          <a:p>
            <a:pPr lvl="0"/>
            <a:r>
              <a:rPr lang="en-US" dirty="0"/>
              <a:t>Providing health education in a effective way</a:t>
            </a:r>
          </a:p>
          <a:p>
            <a:pPr lvl="0"/>
            <a:r>
              <a:rPr lang="en-US" dirty="0"/>
              <a:t>Clean environment and beautification</a:t>
            </a:r>
          </a:p>
          <a:p>
            <a:pPr lvl="0"/>
            <a:r>
              <a:rPr lang="en-US" dirty="0"/>
              <a:t>Health awareness of the teachers of schools and colleges</a:t>
            </a:r>
          </a:p>
          <a:p>
            <a:pPr lvl="0"/>
            <a:r>
              <a:rPr lang="en-US" dirty="0"/>
              <a:t>Turning challenges in opportunity</a:t>
            </a:r>
          </a:p>
          <a:p>
            <a:pPr lvl="0"/>
            <a:r>
              <a:rPr lang="en-US" dirty="0"/>
              <a:t>Implementation of 5S Kaizen-total quality management (TQM) to improve healthcare</a:t>
            </a:r>
          </a:p>
        </p:txBody>
      </p:sp>
    </p:spTree>
    <p:extLst>
      <p:ext uri="{BB962C8B-B14F-4D97-AF65-F5344CB8AC3E}">
        <p14:creationId xmlns:p14="http://schemas.microsoft.com/office/powerpoint/2010/main" val="370257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042-11BF-4039-B933-D206BB19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Action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18BBD3-F30F-440F-A2A5-BDC0E64F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0"/>
            <a:ext cx="10515600" cy="4838493"/>
          </a:xfrm>
        </p:spPr>
        <p:txBody>
          <a:bodyPr/>
          <a:lstStyle/>
          <a:p>
            <a:r>
              <a:rPr lang="en-US" dirty="0"/>
              <a:t>Formation of National Technical Committee (NTC) – done</a:t>
            </a:r>
          </a:p>
          <a:p>
            <a:r>
              <a:rPr lang="en-US" dirty="0"/>
              <a:t>Involving founders of </a:t>
            </a:r>
            <a:r>
              <a:rPr lang="en-US" dirty="0" err="1"/>
              <a:t>Chowgacha-Jhenaidah</a:t>
            </a:r>
            <a:r>
              <a:rPr lang="en-US" dirty="0"/>
              <a:t> model in expanding it throughout Bangladesh</a:t>
            </a:r>
          </a:p>
          <a:p>
            <a:r>
              <a:rPr lang="en-US" dirty="0"/>
              <a:t>Baseline survey - done</a:t>
            </a:r>
          </a:p>
          <a:p>
            <a:r>
              <a:rPr lang="en-US" dirty="0"/>
              <a:t>Drafting strategy</a:t>
            </a:r>
          </a:p>
          <a:p>
            <a:r>
              <a:rPr lang="en-US" dirty="0"/>
              <a:t>Workshop for finalization of the strategy</a:t>
            </a:r>
          </a:p>
          <a:p>
            <a:r>
              <a:rPr lang="en-US" dirty="0"/>
              <a:t>Identifying the districts and </a:t>
            </a:r>
            <a:r>
              <a:rPr lang="en-US" dirty="0" err="1"/>
              <a:t>upazillas</a:t>
            </a:r>
            <a:r>
              <a:rPr lang="en-US" dirty="0"/>
              <a:t> of first phase – done</a:t>
            </a:r>
          </a:p>
          <a:p>
            <a:r>
              <a:rPr lang="en-US" dirty="0"/>
              <a:t>Visit the first phase hospitals to identify challenges</a:t>
            </a:r>
          </a:p>
          <a:p>
            <a:r>
              <a:rPr lang="en-US" dirty="0"/>
              <a:t>Meeting and regular review by NTC</a:t>
            </a:r>
          </a:p>
        </p:txBody>
      </p:sp>
    </p:spTree>
    <p:extLst>
      <p:ext uri="{BB962C8B-B14F-4D97-AF65-F5344CB8AC3E}">
        <p14:creationId xmlns:p14="http://schemas.microsoft.com/office/powerpoint/2010/main" val="78247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7489-3D33-40FB-9224-AE980F2F4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339"/>
            <a:ext cx="10515600" cy="5633624"/>
          </a:xfrm>
        </p:spPr>
        <p:txBody>
          <a:bodyPr/>
          <a:lstStyle/>
          <a:p>
            <a:r>
              <a:rPr lang="en-US" dirty="0"/>
              <a:t>Development of training manual and piloting</a:t>
            </a:r>
          </a:p>
          <a:p>
            <a:r>
              <a:rPr lang="en-US" dirty="0"/>
              <a:t>Motivational meeting at grassroots level involving all stakeholders and partners</a:t>
            </a:r>
          </a:p>
          <a:p>
            <a:r>
              <a:rPr lang="en-US" dirty="0"/>
              <a:t>Implementation at first phase districts and </a:t>
            </a:r>
            <a:r>
              <a:rPr lang="en-US" dirty="0" err="1"/>
              <a:t>upazillas</a:t>
            </a:r>
            <a:r>
              <a:rPr lang="en-US" dirty="0"/>
              <a:t>, from November 2018</a:t>
            </a:r>
          </a:p>
          <a:p>
            <a:r>
              <a:rPr lang="en-US" dirty="0"/>
              <a:t>Formation of technical groups for hands-on training</a:t>
            </a:r>
          </a:p>
          <a:p>
            <a:r>
              <a:rPr lang="en-US" dirty="0"/>
              <a:t>Formation of Community Support Group</a:t>
            </a:r>
          </a:p>
          <a:p>
            <a:r>
              <a:rPr lang="en-US" dirty="0"/>
              <a:t>Implementation at second phase districts and </a:t>
            </a:r>
            <a:r>
              <a:rPr lang="en-US" dirty="0" err="1"/>
              <a:t>upazillas</a:t>
            </a:r>
            <a:r>
              <a:rPr lang="en-US" dirty="0"/>
              <a:t>, from March 2019</a:t>
            </a:r>
          </a:p>
          <a:p>
            <a:r>
              <a:rPr lang="en-US" dirty="0"/>
              <a:t>Sustaining the quality of healthcare at </a:t>
            </a:r>
            <a:r>
              <a:rPr lang="en-US" dirty="0" err="1"/>
              <a:t>Chowgacha</a:t>
            </a:r>
            <a:r>
              <a:rPr lang="en-US" dirty="0"/>
              <a:t> UHC and </a:t>
            </a:r>
            <a:r>
              <a:rPr lang="en-US" dirty="0" err="1"/>
              <a:t>Jhenaidah</a:t>
            </a:r>
            <a:r>
              <a:rPr lang="en-US" dirty="0"/>
              <a:t> District hospital, to sustain the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7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6F27-5D39-4250-9037-0F8CD6E4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F4EC-C33C-41CE-8E02-82F8B9FA3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314"/>
            <a:ext cx="10515600" cy="48416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effect of C-J model was dramatic in those few hospitals where it is in practice</a:t>
            </a:r>
          </a:p>
          <a:p>
            <a:r>
              <a:rPr lang="en-US" dirty="0"/>
              <a:t>An environment of mutual trust, security, and confidence have been developed between health service receivers and providers</a:t>
            </a:r>
          </a:p>
          <a:p>
            <a:r>
              <a:rPr lang="en-US" dirty="0" err="1"/>
              <a:t>Mobilisation</a:t>
            </a:r>
            <a:r>
              <a:rPr lang="en-US" dirty="0"/>
              <a:t> of local resources was possible for improvement of quality and quantity of healthcare: an option for resource mobilization for UH Coverage </a:t>
            </a:r>
          </a:p>
          <a:p>
            <a:r>
              <a:rPr lang="en-US" dirty="0"/>
              <a:t>Quality and volume of healthcare improved significantly</a:t>
            </a:r>
          </a:p>
          <a:p>
            <a:r>
              <a:rPr lang="en-US" dirty="0"/>
              <a:t>Various form of corruption and irregularity could be controlled</a:t>
            </a:r>
          </a:p>
          <a:p>
            <a:r>
              <a:rPr lang="en-US" dirty="0"/>
              <a:t>Above all, example of good governance and people’s welfare-based public administration have been developed</a:t>
            </a:r>
          </a:p>
          <a:p>
            <a:r>
              <a:rPr lang="en-US" dirty="0"/>
              <a:t>To achieve UHC as well as SDG, expanding C-J model will be a </a:t>
            </a:r>
            <a:r>
              <a:rPr lang="en-US"/>
              <a:t>basic contribution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0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1051-528A-4CC1-A8E0-3CD46BF2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Acknowledgement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4BD8D-D37B-473D-A899-79885400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 </a:t>
            </a:r>
            <a:r>
              <a:rPr lang="en-US" dirty="0" err="1"/>
              <a:t>Emdadul</a:t>
            </a:r>
            <a:r>
              <a:rPr lang="en-US" dirty="0"/>
              <a:t> </a:t>
            </a:r>
            <a:r>
              <a:rPr lang="en-US" dirty="0" err="1"/>
              <a:t>Haq</a:t>
            </a:r>
            <a:r>
              <a:rPr lang="en-US" dirty="0"/>
              <a:t>, Senior Consultant (</a:t>
            </a:r>
            <a:r>
              <a:rPr lang="en-US" dirty="0" err="1"/>
              <a:t>Obs</a:t>
            </a:r>
            <a:r>
              <a:rPr lang="en-US" dirty="0"/>
              <a:t> &amp; Gynae) [on PRL], </a:t>
            </a:r>
            <a:r>
              <a:rPr lang="en-US" dirty="0" err="1"/>
              <a:t>Jhenaidah</a:t>
            </a:r>
            <a:r>
              <a:rPr lang="en-US" dirty="0"/>
              <a:t> </a:t>
            </a:r>
            <a:r>
              <a:rPr lang="en-US" dirty="0" err="1"/>
              <a:t>Sadar</a:t>
            </a:r>
            <a:r>
              <a:rPr lang="en-US" dirty="0"/>
              <a:t> Hospital</a:t>
            </a:r>
          </a:p>
          <a:p>
            <a:r>
              <a:rPr lang="en-US" dirty="0"/>
              <a:t>Expanding C-J Model National Technical Committee, DGHS, TB Gate, </a:t>
            </a:r>
            <a:r>
              <a:rPr lang="en-US" dirty="0" err="1"/>
              <a:t>Shasthyo</a:t>
            </a:r>
            <a:r>
              <a:rPr lang="en-US" dirty="0"/>
              <a:t> </a:t>
            </a:r>
            <a:r>
              <a:rPr lang="en-US" dirty="0" err="1"/>
              <a:t>Bhabvan</a:t>
            </a:r>
            <a:r>
              <a:rPr lang="en-US" dirty="0"/>
              <a:t>, Mohakhali, Dhaka</a:t>
            </a:r>
          </a:p>
          <a:p>
            <a:r>
              <a:rPr lang="en-US" dirty="0"/>
              <a:t>Health Economics Unit, Ministry of Health &amp; Family Welfare</a:t>
            </a:r>
          </a:p>
          <a:p>
            <a:r>
              <a:rPr lang="en-US" dirty="0"/>
              <a:t>UNICEF</a:t>
            </a:r>
          </a:p>
          <a:p>
            <a:r>
              <a:rPr lang="en-US" dirty="0"/>
              <a:t>Universal Health Coverage Program and SHARE project, </a:t>
            </a:r>
            <a:r>
              <a:rPr lang="en-US" dirty="0" err="1"/>
              <a:t>icddr.b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7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CD1C19-B59C-4D35-826F-0B84CD7D8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1"/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34D1935-5B97-4695-8E92-D09C5364B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1500" dirty="0" err="1">
                <a:solidFill>
                  <a:srgbClr val="FF000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ধন্যবাদ</a:t>
            </a:r>
            <a:endParaRPr lang="en-US" sz="11500" dirty="0">
              <a:solidFill>
                <a:srgbClr val="FF000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69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838</Words>
  <Application>Microsoft Office PowerPoint</Application>
  <PresentationFormat>Widescreen</PresentationFormat>
  <Paragraphs>113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SolaimanLipi</vt:lpstr>
      <vt:lpstr>Office Theme</vt:lpstr>
      <vt:lpstr>People’s Participation for Universal Health Coverage: Bangladesh Looking Ahead</vt:lpstr>
      <vt:lpstr>UHC in Bangladesh</vt:lpstr>
      <vt:lpstr>Key Health Financing Challenges</vt:lpstr>
      <vt:lpstr>Moving towards the UHC Goal</vt:lpstr>
      <vt:lpstr>A Tale of Public Engagement in Health</vt:lpstr>
      <vt:lpstr>How it came into being</vt:lpstr>
      <vt:lpstr>PowerPoint Presentation</vt:lpstr>
      <vt:lpstr>Other examples</vt:lpstr>
      <vt:lpstr>Characteristics of Chowgacha-Jhenaidah Model</vt:lpstr>
      <vt:lpstr>PowerPoint Presentation</vt:lpstr>
      <vt:lpstr>Action plan</vt:lpstr>
      <vt:lpstr>PowerPoint Presentation</vt:lpstr>
      <vt:lpstr>Conclusion</vt:lpstr>
      <vt:lpstr>Acknowledgement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People’s Participation for Universal Health Coverage: Bangladesh Looking Ahead</dc:title>
  <dc:creator>Dr. Mohammad Mushtuq</dc:creator>
  <cp:lastModifiedBy>Dr. Mohammad Mushtuq</cp:lastModifiedBy>
  <cp:revision>19</cp:revision>
  <dcterms:created xsi:type="dcterms:W3CDTF">2018-11-18T16:02:39Z</dcterms:created>
  <dcterms:modified xsi:type="dcterms:W3CDTF">2018-11-19T16:29:15Z</dcterms:modified>
</cp:coreProperties>
</file>