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  <p:sldMasterId id="2147484020" r:id="rId3"/>
  </p:sldMasterIdLst>
  <p:notesMasterIdLst>
    <p:notesMasterId r:id="rId59"/>
  </p:notesMasterIdLst>
  <p:sldIdLst>
    <p:sldId id="331" r:id="rId4"/>
    <p:sldId id="345" r:id="rId5"/>
    <p:sldId id="367" r:id="rId6"/>
    <p:sldId id="332" r:id="rId7"/>
    <p:sldId id="376" r:id="rId8"/>
    <p:sldId id="368" r:id="rId9"/>
    <p:sldId id="374" r:id="rId10"/>
    <p:sldId id="341" r:id="rId11"/>
    <p:sldId id="334" r:id="rId12"/>
    <p:sldId id="337" r:id="rId13"/>
    <p:sldId id="338" r:id="rId14"/>
    <p:sldId id="375" r:id="rId15"/>
    <p:sldId id="339" r:id="rId16"/>
    <p:sldId id="340" r:id="rId17"/>
    <p:sldId id="382" r:id="rId18"/>
    <p:sldId id="343" r:id="rId19"/>
    <p:sldId id="256" r:id="rId20"/>
    <p:sldId id="360" r:id="rId21"/>
    <p:sldId id="361" r:id="rId22"/>
    <p:sldId id="359" r:id="rId23"/>
    <p:sldId id="326" r:id="rId24"/>
    <p:sldId id="327" r:id="rId25"/>
    <p:sldId id="328" r:id="rId26"/>
    <p:sldId id="352" r:id="rId27"/>
    <p:sldId id="351" r:id="rId28"/>
    <p:sldId id="346" r:id="rId29"/>
    <p:sldId id="362" r:id="rId30"/>
    <p:sldId id="369" r:id="rId31"/>
    <p:sldId id="287" r:id="rId32"/>
    <p:sldId id="288" r:id="rId33"/>
    <p:sldId id="290" r:id="rId34"/>
    <p:sldId id="291" r:id="rId35"/>
    <p:sldId id="292" r:id="rId36"/>
    <p:sldId id="308" r:id="rId37"/>
    <p:sldId id="323" r:id="rId38"/>
    <p:sldId id="312" r:id="rId39"/>
    <p:sldId id="366" r:id="rId40"/>
    <p:sldId id="363" r:id="rId41"/>
    <p:sldId id="364" r:id="rId42"/>
    <p:sldId id="370" r:id="rId43"/>
    <p:sldId id="372" r:id="rId44"/>
    <p:sldId id="371" r:id="rId45"/>
    <p:sldId id="297" r:id="rId46"/>
    <p:sldId id="293" r:id="rId47"/>
    <p:sldId id="294" r:id="rId48"/>
    <p:sldId id="330" r:id="rId49"/>
    <p:sldId id="344" r:id="rId50"/>
    <p:sldId id="381" r:id="rId51"/>
    <p:sldId id="380" r:id="rId52"/>
    <p:sldId id="379" r:id="rId53"/>
    <p:sldId id="378" r:id="rId54"/>
    <p:sldId id="356" r:id="rId55"/>
    <p:sldId id="353" r:id="rId56"/>
    <p:sldId id="354" r:id="rId57"/>
    <p:sldId id="377" r:id="rId5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91815" autoAdjust="0"/>
  </p:normalViewPr>
  <p:slideViewPr>
    <p:cSldViewPr>
      <p:cViewPr varScale="1">
        <p:scale>
          <a:sx n="62" d="100"/>
          <a:sy n="62" d="100"/>
        </p:scale>
        <p:origin x="177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presProps" Target="pres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1D-4E47-AA3A-6B66FEE861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539584"/>
        <c:axId val="266843648"/>
      </c:barChart>
      <c:catAx>
        <c:axId val="155395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66843648"/>
        <c:crosses val="autoZero"/>
        <c:auto val="1"/>
        <c:lblAlgn val="ctr"/>
        <c:lblOffset val="100"/>
        <c:noMultiLvlLbl val="0"/>
      </c:catAx>
      <c:valAx>
        <c:axId val="26684364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5395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79-439E-B8A3-CE0B0C3DA4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79-439E-B8A3-CE0B0C3DA4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79373696"/>
        <c:axId val="279440384"/>
      </c:barChart>
      <c:catAx>
        <c:axId val="2793736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79440384"/>
        <c:crosses val="autoZero"/>
        <c:auto val="1"/>
        <c:lblAlgn val="ctr"/>
        <c:lblOffset val="100"/>
        <c:noMultiLvlLbl val="0"/>
      </c:catAx>
      <c:valAx>
        <c:axId val="27944038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7937369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0934240566213921"/>
          <c:y val="5.0614472425046991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5630-4D6F-851E-5CC46290FE1F}"/>
              </c:ext>
            </c:extLst>
          </c:dPt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630-4D6F-851E-5CC46290FE1F}"/>
                </c:ext>
              </c:extLst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630-4D6F-851E-5CC46290FE1F}"/>
                </c:ext>
              </c:extLst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630-4D6F-851E-5CC46290FE1F}"/>
                </c:ext>
              </c:extLst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630-4D6F-851E-5CC46290FE1F}"/>
                </c:ext>
              </c:extLst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630-4D6F-851E-5CC46290FE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630-4D6F-851E-5CC46290F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279926272"/>
        <c:axId val="279927808"/>
        <c:axId val="0"/>
      </c:bar3DChart>
      <c:catAx>
        <c:axId val="2799262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79927808"/>
        <c:crosses val="autoZero"/>
        <c:auto val="1"/>
        <c:lblAlgn val="ctr"/>
        <c:lblOffset val="100"/>
        <c:noMultiLvlLbl val="0"/>
      </c:catAx>
      <c:valAx>
        <c:axId val="2799278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7992627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  <c:pt idx="3">
                  <c:v>876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FD-4C66-96E3-9789168272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  <c:pt idx="3">
                  <c:v>1493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FD-4C66-96E3-97891682727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  <c:pt idx="3">
                  <c:v>1297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8FD-4C66-96E3-97891682727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  <c:pt idx="3">
                  <c:v>3666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8FD-4C66-96E3-9789168272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79988480"/>
        <c:axId val="42078208"/>
      </c:barChart>
      <c:catAx>
        <c:axId val="2799884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42078208"/>
        <c:crosses val="autoZero"/>
        <c:auto val="1"/>
        <c:lblAlgn val="ctr"/>
        <c:lblOffset val="100"/>
        <c:noMultiLvlLbl val="0"/>
      </c:catAx>
      <c:valAx>
        <c:axId val="420782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7998848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314925161381854"/>
          <c:y val="0.34423591178275209"/>
          <c:w val="0.20784173937717243"/>
          <c:h val="0.46305371917534455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CB5-4098-AEA8-9F6709DEFFC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B5-4098-AEA8-9F6709DEFF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CB5-4098-AEA8-9F6709DEFFCD}"/>
                </c:ext>
              </c:extLst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CB5-4098-AEA8-9F6709DEFFCD}"/>
                </c:ext>
              </c:extLst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CB5-4098-AEA8-9F6709DEFFC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CB5-4098-AEA8-9F6709DEFF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CB5-4098-AEA8-9F6709DEFFCD}"/>
                </c:ext>
              </c:extLst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CB5-4098-AEA8-9F6709DEFFCD}"/>
                </c:ext>
              </c:extLst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CB5-4098-AEA8-9F6709DEFFC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CB5-4098-AEA8-9F6709DEFFC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CB5-4098-AEA8-9F6709DEFFCD}"/>
                </c:ext>
              </c:extLst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CB5-4098-AEA8-9F6709DEFFCD}"/>
                </c:ext>
              </c:extLst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CCB5-4098-AEA8-9F6709DEFFC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CCB5-4098-AEA8-9F6709DEFF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2111744"/>
        <c:axId val="42113280"/>
      </c:barChart>
      <c:catAx>
        <c:axId val="421117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42113280"/>
        <c:crosses val="autoZero"/>
        <c:auto val="1"/>
        <c:lblAlgn val="ctr"/>
        <c:lblOffset val="100"/>
        <c:noMultiLvlLbl val="0"/>
      </c:catAx>
      <c:valAx>
        <c:axId val="4211328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4211174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4-4B8C-9454-36BCA5E45D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42169088"/>
        <c:axId val="42170624"/>
        <c:axId val="0"/>
      </c:bar3DChart>
      <c:catAx>
        <c:axId val="42169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42170624"/>
        <c:crosses val="autoZero"/>
        <c:auto val="1"/>
        <c:lblAlgn val="ctr"/>
        <c:lblOffset val="100"/>
        <c:noMultiLvlLbl val="0"/>
      </c:catAx>
      <c:valAx>
        <c:axId val="42170624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42169088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8/28/2022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8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13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F45A804-631B-4CB5-8E10-34AC32EA5C11}" type="slidenum">
              <a:rPr lang="en-US" smtClean="0">
                <a:solidFill>
                  <a:srgbClr val="000000"/>
                </a:solidFill>
              </a:rPr>
              <a:pPr eaLnBrk="1" hangingPunct="1"/>
              <a:t>15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5325"/>
            <a:ext cx="4648200" cy="348615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499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27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308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47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55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2022/8/28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2022/8/28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2022/8/28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2022/8/28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2022/8/28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2022/8/28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2022/8/28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2022/8/28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2022/8/28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2022/8/28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2022/8/28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8/28/2022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8/28/2022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3806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8/28/2022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830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8/28/2022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0018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8/28/2022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1316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8/28/2022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7031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8/28/2022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1759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8/28/2022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2355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8/28/2022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2597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8/28/2022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811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8/28/2022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2499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8/28/2022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7680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4265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67338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ja-JP" altLang="en-US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2022/8/28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2022/8/28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2022/8/28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07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jpeg"/><Relationship Id="rId7" Type="http://schemas.openxmlformats.org/officeDocument/2006/relationships/image" Target="../media/image42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5.png"/><Relationship Id="rId5" Type="http://schemas.openxmlformats.org/officeDocument/2006/relationships/image" Target="../media/image64.jpeg"/><Relationship Id="rId4" Type="http://schemas.openxmlformats.org/officeDocument/2006/relationships/image" Target="../media/image63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9.jpeg"/><Relationship Id="rId4" Type="http://schemas.openxmlformats.org/officeDocument/2006/relationships/image" Target="../media/image68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3.jpeg"/><Relationship Id="rId4" Type="http://schemas.openxmlformats.org/officeDocument/2006/relationships/image" Target="../media/image72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7.jpeg"/><Relationship Id="rId4" Type="http://schemas.openxmlformats.org/officeDocument/2006/relationships/image" Target="../media/image76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5.jpe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97.jpeg"/><Relationship Id="rId4" Type="http://schemas.openxmlformats.org/officeDocument/2006/relationships/image" Target="../media/image9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01.jpeg"/><Relationship Id="rId4" Type="http://schemas.openxmlformats.org/officeDocument/2006/relationships/image" Target="../media/image10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e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5.jpeg"/><Relationship Id="rId4" Type="http://schemas.openxmlformats.org/officeDocument/2006/relationships/image" Target="../media/image104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14.png"/><Relationship Id="rId4" Type="http://schemas.openxmlformats.org/officeDocument/2006/relationships/image" Target="../media/image113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228600" y="228600"/>
            <a:ext cx="8686800" cy="107721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UHC model &amp; Jhenaidah Sadar Hospital Development 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Consultant (Obst &amp; Gynae)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Sadar Hospital Jhenaidah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17738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814407"/>
              </p:ext>
            </p:extLst>
          </p:nvPr>
        </p:nvGraphicFramePr>
        <p:xfrm>
          <a:off x="152400" y="1371600"/>
          <a:ext cx="8894763" cy="488719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19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512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 2014 by  Govt.   ($)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2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9403 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24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98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3935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88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Japan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3703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23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114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456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33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127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19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75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kern="1200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40</a:t>
                      </a:r>
                      <a:endParaRPr kumimoji="0" lang="en-US" sz="2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4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36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09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3.6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2015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22860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:\G\Dr Emdad\Photo -Lohagara\ScreenShot_201605240637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5408" y="4289813"/>
            <a:ext cx="3620964" cy="236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5" descr="G:\G\Dr Emdad\Photo -Lohagara\ScreenShot_201512071948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529" y="1374776"/>
            <a:ext cx="36099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G:\G\Dr Emdad\Photo -Lohagara\ScreenShot_201512072110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72" y="1374775"/>
            <a:ext cx="36576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 descr="G:\G\Dr Emdad\Photo -Lohagara\ScreenShot_2015120720251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608" y="4263956"/>
            <a:ext cx="3571875" cy="235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02190" y="381000"/>
            <a:ext cx="8591426" cy="5404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rgbClr val="0070C0"/>
                </a:solidFill>
              </a:rPr>
              <a:t>Community Mobilization Meeting at Lohagara in </a:t>
            </a:r>
            <a:r>
              <a:rPr lang="en-US" sz="2400" b="1" dirty="0">
                <a:solidFill>
                  <a:srgbClr val="0070C0"/>
                </a:solidFill>
                <a:latin typeface="Book Antiqua" pitchFamily="18" charset="0"/>
              </a:rPr>
              <a:t>1995</a:t>
            </a:r>
          </a:p>
        </p:txBody>
      </p:sp>
    </p:spTree>
    <p:extLst>
      <p:ext uri="{BB962C8B-B14F-4D97-AF65-F5344CB8AC3E}">
        <p14:creationId xmlns:p14="http://schemas.microsoft.com/office/powerpoint/2010/main" val="1362195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Women-Friendly 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0" y="2810889"/>
            <a:ext cx="3733800" cy="69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1800" dirty="0">
                <a:latin typeface="Calibri" pitchFamily="34" charset="0"/>
              </a:rPr>
              <a:t>Blood donation program stared in 16 December, 1996 in Chowgacha UHC</a:t>
            </a:r>
            <a:endParaRPr lang="en-GB" sz="1800" dirty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4800600" y="2826261"/>
            <a:ext cx="4267200" cy="90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held on basic information system at Chowgacha Degree College in 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guest . 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8" name="Picture 4" descr="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2062254" y="3684253"/>
            <a:ext cx="4257490" cy="313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073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SC018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445770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DSC018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3517900"/>
            <a:ext cx="4470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DSC0175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3517900"/>
            <a:ext cx="44450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DSC0177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9525"/>
            <a:ext cx="4430712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7028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/>
              <a:t>From 1996 to 2012, took initiatives to develop </a:t>
            </a:r>
            <a:r>
              <a:rPr lang="en-US" sz="2400" b="1" dirty="0"/>
              <a:t>Upazilla level standard services </a:t>
            </a:r>
            <a:r>
              <a:rPr lang="en-US" sz="2400" dirty="0"/>
              <a:t>in Chowgacha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/>
              <a:t>In 2010, Chowgacha Health Complex declared as the model upazilla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>
                <a:cs typeface="Calibri" pitchFamily="34" charset="0"/>
              </a:rPr>
              <a:t> Mobilized 46 additional </a:t>
            </a:r>
            <a:r>
              <a:rPr lang="en-US" sz="2400" dirty="0"/>
              <a:t>workers from community (26 volunteer, 12 cleaners and others 8).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/>
              <a:t> EOC Beds increased from 11 to 41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/>
              <a:t>Chowgacha UHC  became the best EOC center  with 98.4% 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/>
              <a:t>Chowgacha UHC achieved MDG target in 2009. 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/>
              <a:t>Chowgacha Health complex is awarded for best performance in EOC form 2005 to 2014. 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8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dirty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dirty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2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Object 10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5275"/>
            <a:ext cx="8229600" cy="771525"/>
          </a:xfrm>
          <a:solidFill>
            <a:schemeClr val="accent1"/>
          </a:solidFill>
          <a:ln/>
        </p:spPr>
        <p:txBody>
          <a:bodyPr/>
          <a:lstStyle/>
          <a:p>
            <a:r>
              <a:rPr lang="en-US" sz="3200" b="1"/>
              <a:t>Upazila Health  Complex</a:t>
            </a:r>
            <a:br>
              <a:rPr lang="en-US" sz="3200" b="1"/>
            </a:br>
            <a:r>
              <a:rPr lang="en-US" sz="2000" b="1"/>
              <a:t>CHOWGACHA , JESSORE.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endParaRPr lang="en-US" sz="2800"/>
          </a:p>
          <a:p>
            <a:pPr algn="ctr">
              <a:buFontTx/>
              <a:buNone/>
            </a:pPr>
            <a:endParaRPr lang="en-US" sz="280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57200" y="1422400"/>
            <a:ext cx="8153400" cy="3810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ACTVITIES : ( Vision By The Year 2010) </a:t>
            </a:r>
          </a:p>
        </p:txBody>
      </p:sp>
      <p:graphicFrame>
        <p:nvGraphicFramePr>
          <p:cNvPr id="7" name="Group 5"/>
          <p:cNvGraphicFramePr>
            <a:graphicFrameLocks noGrp="1"/>
          </p:cNvGraphicFramePr>
          <p:nvPr>
            <p:ph sz="half" idx="4294967295"/>
          </p:nvPr>
        </p:nvGraphicFramePr>
        <p:xfrm>
          <a:off x="381000" y="2095500"/>
          <a:ext cx="8305800" cy="4218432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762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064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 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Achived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Target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1st   Visit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94.7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110.8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133.7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143.0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2nd  Visit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33.4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59.7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91.2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3rd Visit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49.6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59.6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PNC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9.9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13.5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20.11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39.3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Hospital Delivery Rate%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26.5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32.3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38.1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52.4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Caesarian Section Rate%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Maternal Mortality Ratio / 100000 Live birth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Neonatal Death Rate / 1000 live birth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42.4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026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5313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90146057"/>
              </p:ext>
            </p:extLst>
          </p:nvPr>
        </p:nvGraphicFramePr>
        <p:xfrm>
          <a:off x="457200" y="3063874"/>
          <a:ext cx="8153400" cy="30321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1628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777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58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b="1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b="1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b="1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b="1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889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/>
              <a:t>TOTAL</a:t>
            </a:r>
            <a:r>
              <a:rPr lang="en-US" dirty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/>
              <a:t>	</a:t>
            </a:r>
            <a:r>
              <a:rPr lang="en-US" sz="2000" dirty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447800"/>
          </a:xfrm>
          <a:solidFill>
            <a:srgbClr val="0070C0"/>
          </a:solidFill>
        </p:spPr>
        <p:txBody>
          <a:bodyPr/>
          <a:lstStyle/>
          <a:p>
            <a:pPr eaLnBrk="1" hangingPunct="1"/>
            <a:r>
              <a:rPr lang="en-US" sz="2800" b="1" i="1">
                <a:solidFill>
                  <a:schemeClr val="bg1"/>
                </a:solidFill>
                <a:latin typeface="Albertus Extra Bold" pitchFamily="34" charset="0"/>
              </a:rPr>
              <a:t>MDG 4 and 5 Achieved at Chowgacha in 2011 and SDG targets in 2030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419100" y="2133600"/>
            <a:ext cx="8305800" cy="3733800"/>
          </a:xfr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20000"/>
          </a:bodyPr>
          <a:lstStyle/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b="1" dirty="0">
                <a:solidFill>
                  <a:srgbClr val="C00000"/>
                </a:solidFill>
              </a:rPr>
              <a:t>Per 1000 live Birth      </a:t>
            </a:r>
            <a:r>
              <a:rPr lang="en-US" sz="2000" b="1" dirty="0" err="1">
                <a:solidFill>
                  <a:srgbClr val="C00000"/>
                </a:solidFill>
              </a:rPr>
              <a:t>Chowgacha</a:t>
            </a:r>
            <a:r>
              <a:rPr lang="en-US" sz="2000" b="1" dirty="0">
                <a:solidFill>
                  <a:srgbClr val="C00000"/>
                </a:solidFill>
              </a:rPr>
              <a:t>          MDG Target      SDG Target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000" b="1" dirty="0">
              <a:solidFill>
                <a:schemeClr val="hlink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>
                <a:solidFill>
                  <a:srgbClr val="0000FF"/>
                </a:solidFill>
              </a:rPr>
              <a:t>MMR:                                        </a:t>
            </a:r>
            <a:r>
              <a:rPr lang="en-US" sz="2400" b="1" dirty="0">
                <a:solidFill>
                  <a:srgbClr val="669900"/>
                </a:solidFill>
              </a:rPr>
              <a:t>.68</a:t>
            </a:r>
            <a:r>
              <a:rPr lang="en-US" sz="1800" b="1" dirty="0">
                <a:solidFill>
                  <a:srgbClr val="336600"/>
                </a:solidFill>
              </a:rPr>
              <a:t>                      </a:t>
            </a:r>
            <a:r>
              <a:rPr lang="en-US" sz="1800" b="1" dirty="0">
                <a:solidFill>
                  <a:srgbClr val="FF0066"/>
                </a:solidFill>
              </a:rPr>
              <a:t>1.47 </a:t>
            </a:r>
            <a:r>
              <a:rPr lang="en-US" sz="1800" b="1" dirty="0">
                <a:solidFill>
                  <a:srgbClr val="CC0000"/>
                </a:solidFill>
              </a:rPr>
              <a:t>                      </a:t>
            </a:r>
            <a:r>
              <a:rPr lang="en-US" sz="1800" b="1" dirty="0">
                <a:solidFill>
                  <a:srgbClr val="0000FF"/>
                </a:solidFill>
              </a:rPr>
              <a:t>.70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>
                <a:solidFill>
                  <a:srgbClr val="0000FF"/>
                </a:solidFill>
              </a:rPr>
              <a:t>(MDG 5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>
                <a:solidFill>
                  <a:srgbClr val="0000FF"/>
                </a:solidFill>
              </a:rPr>
              <a:t>NNRM:		            </a:t>
            </a:r>
            <a:r>
              <a:rPr lang="en-US" sz="2600" b="1" dirty="0">
                <a:solidFill>
                  <a:srgbClr val="0000FF"/>
                </a:solidFill>
              </a:rPr>
              <a:t> </a:t>
            </a:r>
            <a:r>
              <a:rPr lang="en-US" sz="2200" b="1" dirty="0">
                <a:solidFill>
                  <a:srgbClr val="669900"/>
                </a:solidFill>
              </a:rPr>
              <a:t>18.2</a:t>
            </a:r>
            <a:r>
              <a:rPr lang="en-US" sz="2600" b="1" dirty="0">
                <a:solidFill>
                  <a:srgbClr val="669900"/>
                </a:solidFill>
              </a:rPr>
              <a:t>                -                     </a:t>
            </a:r>
            <a:r>
              <a:rPr lang="en-US" sz="1700" b="1" dirty="0">
                <a:solidFill>
                  <a:srgbClr val="0000FF"/>
                </a:solidFill>
              </a:rPr>
              <a:t>12</a:t>
            </a:r>
            <a:r>
              <a:rPr lang="en-US" sz="2600" b="1" dirty="0">
                <a:solidFill>
                  <a:srgbClr val="669900"/>
                </a:solidFill>
              </a:rPr>
              <a:t>	</a:t>
            </a:r>
            <a:endParaRPr lang="en-US" sz="2600" b="1" dirty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>
                <a:solidFill>
                  <a:srgbClr val="0000FF"/>
                </a:solidFill>
              </a:rPr>
              <a:t>IMR:                                        </a:t>
            </a:r>
            <a:r>
              <a:rPr lang="en-US" sz="1800" b="1" dirty="0">
                <a:solidFill>
                  <a:srgbClr val="669900"/>
                </a:solidFill>
              </a:rPr>
              <a:t>  </a:t>
            </a:r>
            <a:r>
              <a:rPr lang="en-US" sz="2400" b="1" dirty="0">
                <a:solidFill>
                  <a:srgbClr val="669900"/>
                </a:solidFill>
              </a:rPr>
              <a:t>23.6 </a:t>
            </a:r>
            <a:r>
              <a:rPr lang="en-US" sz="1800" b="1" dirty="0">
                <a:solidFill>
                  <a:srgbClr val="669900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</a:rPr>
              <a:t>                   </a:t>
            </a:r>
            <a:r>
              <a:rPr lang="en-US" sz="1800" b="1" dirty="0">
                <a:solidFill>
                  <a:srgbClr val="FF0066"/>
                </a:solidFill>
              </a:rPr>
              <a:t>31  </a:t>
            </a:r>
            <a:r>
              <a:rPr lang="en-US" sz="1800" b="1" dirty="0">
                <a:solidFill>
                  <a:srgbClr val="0000FF"/>
                </a:solidFill>
              </a:rPr>
              <a:t>                         -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>
                <a:solidFill>
                  <a:srgbClr val="0000FF"/>
                </a:solidFill>
              </a:rPr>
              <a:t>&lt;5 MR:                                     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  <a:r>
              <a:rPr lang="en-US" sz="2400" b="1" dirty="0">
                <a:solidFill>
                  <a:srgbClr val="669900"/>
                </a:solidFill>
              </a:rPr>
              <a:t>25.7 </a:t>
            </a:r>
            <a:r>
              <a:rPr lang="en-US" sz="1800" b="1" dirty="0">
                <a:solidFill>
                  <a:srgbClr val="669900"/>
                </a:solidFill>
              </a:rPr>
              <a:t> </a:t>
            </a:r>
            <a:r>
              <a:rPr lang="en-US" sz="1800" b="1" dirty="0">
                <a:solidFill>
                  <a:srgbClr val="0000FF"/>
                </a:solidFill>
              </a:rPr>
              <a:t>                   </a:t>
            </a:r>
            <a:r>
              <a:rPr lang="en-US" sz="1800" b="1" dirty="0">
                <a:solidFill>
                  <a:srgbClr val="FF0066"/>
                </a:solidFill>
              </a:rPr>
              <a:t>50    </a:t>
            </a:r>
            <a:r>
              <a:rPr lang="en-US" sz="1800" b="1" dirty="0">
                <a:solidFill>
                  <a:srgbClr val="0000FF"/>
                </a:solidFill>
              </a:rPr>
              <a:t>                      25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dirty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127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,Nutrition 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FYP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077397"/>
              </p:ext>
            </p:extLst>
          </p:nvPr>
        </p:nvGraphicFramePr>
        <p:xfrm>
          <a:off x="0" y="1295399"/>
          <a:ext cx="9144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18504">
                <a:tc>
                  <a:txBody>
                    <a:bodyPr/>
                    <a:lstStyle/>
                    <a:p>
                      <a:r>
                        <a:rPr lang="en-US" dirty="0" err="1"/>
                        <a:t>Sr</a:t>
                      </a:r>
                      <a:r>
                        <a:rPr lang="en-US" dirty="0"/>
                        <a:t>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(Impact/Outcome)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 year’s information(source with 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r>
                        <a:rPr lang="en-US" baseline="30000" dirty="0"/>
                        <a:t>th</a:t>
                      </a:r>
                      <a:r>
                        <a:rPr lang="en-US" baseline="0" dirty="0"/>
                        <a:t> FYP target </a:t>
                      </a:r>
                    </a:p>
                    <a:p>
                      <a:r>
                        <a:rPr lang="en-US" baseline="0" dirty="0"/>
                        <a:t>FY 2020</a:t>
                      </a:r>
                    </a:p>
                    <a:p>
                      <a:endParaRPr lang="en-US" baseline="0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Life Expectancy at Birth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70.4 (SVRS 2013)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Under-five</a:t>
                      </a:r>
                      <a:r>
                        <a:rPr lang="en-US" baseline="0" dirty="0"/>
                        <a:t> Mortality Rate (per 1,000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46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Infant </a:t>
                      </a:r>
                      <a:r>
                        <a:rPr lang="en-US" baseline="0" dirty="0"/>
                        <a:t>Mortality Rate (per ,1000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Maternal </a:t>
                      </a:r>
                      <a:r>
                        <a:rPr lang="en-US" baseline="0" dirty="0"/>
                        <a:t>Mortality Ratio(per 100,000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170 (MMEIG 2013)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192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Proportion of Under Weight among</a:t>
                      </a:r>
                      <a:r>
                        <a:rPr lang="en-US" baseline="0" dirty="0"/>
                        <a:t> Under-five children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32.6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Proportion of stunting among</a:t>
                      </a:r>
                      <a:r>
                        <a:rPr lang="en-US" baseline="0" dirty="0"/>
                        <a:t> Under-five children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36.1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90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,Nutrition 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FYP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855438"/>
              </p:ext>
            </p:extLst>
          </p:nvPr>
        </p:nvGraphicFramePr>
        <p:xfrm>
          <a:off x="0" y="1295399"/>
          <a:ext cx="9144000" cy="5114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0924">
                <a:tc>
                  <a:txBody>
                    <a:bodyPr/>
                    <a:lstStyle/>
                    <a:p>
                      <a:r>
                        <a:rPr lang="en-US" dirty="0" err="1"/>
                        <a:t>Sr</a:t>
                      </a:r>
                      <a:r>
                        <a:rPr lang="en-US" dirty="0"/>
                        <a:t>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(Impact/Outcome)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 year’s information(source with 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r>
                        <a:rPr lang="en-US" baseline="30000" dirty="0"/>
                        <a:t>th</a:t>
                      </a:r>
                      <a:r>
                        <a:rPr lang="en-US" baseline="0" dirty="0"/>
                        <a:t> FYP target </a:t>
                      </a:r>
                    </a:p>
                    <a:p>
                      <a:r>
                        <a:rPr lang="en-US" baseline="0" dirty="0"/>
                        <a:t>FY 2020</a:t>
                      </a:r>
                    </a:p>
                    <a:p>
                      <a:endParaRPr lang="en-US" baseline="0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349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Fertility Rate (Children</a:t>
                      </a:r>
                      <a:r>
                        <a:rPr lang="en-US" baseline="0" dirty="0"/>
                        <a:t> per Woman)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2.3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Contraceptive Prevalence</a:t>
                      </a:r>
                      <a:r>
                        <a:rPr lang="en-US" baseline="0" dirty="0"/>
                        <a:t>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62.4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Proportion of children fully vaccinated by 12 months </a:t>
                      </a:r>
                      <a:r>
                        <a:rPr lang="en-US" baseline="0" dirty="0"/>
                        <a:t>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78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Proportion</a:t>
                      </a:r>
                      <a:r>
                        <a:rPr lang="en-US" baseline="0" dirty="0"/>
                        <a:t> of births attended medically trained provider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42.1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7634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Proportion of births</a:t>
                      </a:r>
                      <a:r>
                        <a:rPr lang="en-US" baseline="0" dirty="0"/>
                        <a:t> in health facilities by wealth quintiles (Ratio of lowest and highest quantities)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15:69.5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1:3.5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1064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TB case detection rate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 (GTR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2014 )                 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00600" y="6477000"/>
            <a:ext cx="4191000" cy="346841"/>
          </a:xfrm>
        </p:spPr>
        <p:txBody>
          <a:bodyPr/>
          <a:lstStyle/>
          <a:p>
            <a:pPr marL="0" indent="0">
              <a:buNone/>
            </a:pPr>
            <a:r>
              <a:rPr lang="en-US" sz="1600" b="1" i="1" dirty="0"/>
              <a:t>Source: Ministry of Health and Family Welfare</a:t>
            </a:r>
          </a:p>
        </p:txBody>
      </p:sp>
    </p:spTree>
    <p:extLst>
      <p:ext uri="{BB962C8B-B14F-4D97-AF65-F5344CB8AC3E}">
        <p14:creationId xmlns:p14="http://schemas.microsoft.com/office/powerpoint/2010/main" val="2611330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534400" cy="715962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538287"/>
              </p:ext>
            </p:extLst>
          </p:nvPr>
        </p:nvGraphicFramePr>
        <p:xfrm>
          <a:off x="152401" y="1524000"/>
          <a:ext cx="8686800" cy="5151966"/>
        </p:xfrm>
        <a:graphic>
          <a:graphicData uri="http://schemas.openxmlformats.org/drawingml/2006/table">
            <a:tbl>
              <a:tblPr/>
              <a:tblGrid>
                <a:gridCol w="153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47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63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MLSS, Ward boy,  Ayah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151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228600" y="723792"/>
            <a:ext cx="85344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853456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2017</a:t>
            </a: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929509912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FFFF"/>
                </a:solidFill>
              </a:rPr>
              <a:t>Operation Service (Major) 2011 to 2017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42999"/>
              </p:ext>
            </p:extLst>
          </p:nvPr>
        </p:nvGraphicFramePr>
        <p:xfrm>
          <a:off x="1143000" y="2057400"/>
          <a:ext cx="6934199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4558568"/>
              </p:ext>
            </p:extLst>
          </p:nvPr>
        </p:nvGraphicFramePr>
        <p:xfrm>
          <a:off x="381000" y="1528465"/>
          <a:ext cx="84582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57200" y="1066800"/>
            <a:ext cx="8305800" cy="461665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>
                <a:solidFill>
                  <a:srgbClr val="FFFFFF"/>
                </a:solidFill>
              </a:rPr>
              <a:t>Admitted Under 5 children in  indoor from 2014 to 2017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>
                <a:ea typeface="Calibri"/>
                <a:cs typeface="Vrinda"/>
              </a:rPr>
              <a:t>3 best performing </a:t>
            </a:r>
            <a:r>
              <a:rPr lang="en-US" sz="2800" b="1" dirty="0" err="1">
                <a:ea typeface="Calibri"/>
                <a:cs typeface="Vrinda"/>
              </a:rPr>
              <a:t>EmOC</a:t>
            </a:r>
            <a:r>
              <a:rPr lang="en-US" sz="2800" b="1" dirty="0">
                <a:ea typeface="Calibri"/>
                <a:cs typeface="Vrinda"/>
              </a:rPr>
              <a:t> Hospital in Khulna division - 2017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br>
              <a:rPr lang="en-US" sz="2400" b="1" dirty="0">
                <a:solidFill>
                  <a:schemeClr val="bg1"/>
                </a:solidFill>
              </a:rPr>
            </a:b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bg1"/>
                </a:solidFill>
              </a:rPr>
              <a:t>Comparative data of revenue income (in Taka) from 2015 to 2017</a:t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290331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53  manpower (Cleaner 20, Ayah &amp; ward boy 21, Guard 6, Volunteer 3, Trolley man 3 ) is supported 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support.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supports 10 manpower and an intercom with a cost of nearly two lac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Mayor of Jhenaidah Paurasava plays an important role in security , cleanliness, repaired the boundary wall and supports 5 man power and renovation of pediatric word and donation of a biochemistry analyzer at a cost of 1,15,000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Retired secretary donated a generator for 24 hours OT service    with a cost of nearly 33 thousand taka.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Former-chairman of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Pourosova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supports 2 manpower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17 man power.</a:t>
            </a:r>
            <a:endParaRPr lang="en-US" sz="2600" b="1" dirty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38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Hospital and Introduction of TQM 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3" y="3814916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7206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685801"/>
            <a:ext cx="4281094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>
                <a:solidFill>
                  <a:schemeClr val="bg1"/>
                </a:solidFill>
              </a:rPr>
              <a:t>Changes in Surgery &amp; Pediatric Word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Waste 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Office and Hospital Internal Environment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832350" y="3781425"/>
            <a:ext cx="3994150" cy="2921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156" name="Picture 1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8" y="838200"/>
            <a:ext cx="4021137" cy="2743200"/>
          </a:xfrm>
        </p:spPr>
      </p:pic>
      <p:pic>
        <p:nvPicPr>
          <p:cNvPr id="4915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6638" y="889000"/>
            <a:ext cx="4297362" cy="2616200"/>
          </a:xfrm>
        </p:spPr>
      </p:pic>
      <p:pic>
        <p:nvPicPr>
          <p:cNvPr id="25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5"/>
          <a:stretch>
            <a:fillRect/>
          </a:stretch>
        </p:blipFill>
        <p:spPr>
          <a:xfrm>
            <a:off x="0" y="3778250"/>
            <a:ext cx="4038600" cy="29781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6200" y="9715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638" y="1003300"/>
            <a:ext cx="6715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897438" y="3933825"/>
            <a:ext cx="671512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After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6200" y="3895725"/>
            <a:ext cx="903288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Before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- 1</a:t>
            </a: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5" descr="DSC024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10100" y="852487"/>
            <a:ext cx="4419600" cy="2705100"/>
          </a:xfrm>
          <a:prstGeom prst="rect">
            <a:avLst/>
          </a:prstGeom>
          <a:noFill/>
          <a:ln/>
        </p:spPr>
      </p:pic>
      <p:pic>
        <p:nvPicPr>
          <p:cNvPr id="5" name="Picture 4" descr="DSC0254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407" y="852487"/>
            <a:ext cx="4257675" cy="2705100"/>
          </a:xfrm>
          <a:prstGeom prst="rect">
            <a:avLst/>
          </a:prstGeom>
          <a:noFill/>
          <a:ln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1407" y="152400"/>
            <a:ext cx="8838293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- 2</a:t>
            </a: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10" y="3886200"/>
            <a:ext cx="4133973" cy="2590800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86" y="3886200"/>
            <a:ext cx="4127426" cy="2590800"/>
          </a:xfrm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219200"/>
            <a:ext cx="4038599" cy="2514268"/>
          </a:xfrm>
          <a:prstGeom prst="rect">
            <a:avLst/>
          </a:prstGeom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1219200"/>
            <a:ext cx="4114800" cy="2563359"/>
          </a:xfrm>
          <a:prstGeom prst="rect">
            <a:avLst/>
          </a:prstGeom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246184" y="464343"/>
            <a:ext cx="8593015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- 3</a:t>
            </a:r>
          </a:p>
        </p:txBody>
      </p:sp>
    </p:spTree>
    <p:extLst>
      <p:ext uri="{BB962C8B-B14F-4D97-AF65-F5344CB8AC3E}">
        <p14:creationId xmlns:p14="http://schemas.microsoft.com/office/powerpoint/2010/main" val="29831093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6" y="1066800"/>
            <a:ext cx="4342829" cy="2514599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990600"/>
            <a:ext cx="4041775" cy="2667000"/>
          </a:xfr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3886198"/>
            <a:ext cx="4041606" cy="2819401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04798" y="457200"/>
            <a:ext cx="8537491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- 4</a:t>
            </a:r>
          </a:p>
        </p:txBody>
      </p:sp>
      <p:pic>
        <p:nvPicPr>
          <p:cNvPr id="8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71" y="3886198"/>
            <a:ext cx="4293029" cy="281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914400"/>
            <a:ext cx="4532312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14800"/>
            <a:ext cx="4495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4800"/>
            <a:ext cx="4257675" cy="2743200"/>
          </a:xfr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- 5</a:t>
            </a:r>
          </a:p>
        </p:txBody>
      </p:sp>
    </p:spTree>
    <p:extLst>
      <p:ext uri="{BB962C8B-B14F-4D97-AF65-F5344CB8AC3E}">
        <p14:creationId xmlns:p14="http://schemas.microsoft.com/office/powerpoint/2010/main" val="23313101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Administrator &amp; Mayor in </a:t>
            </a:r>
            <a:r>
              <a:rPr lang="en-US" sz="2400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</a:t>
            </a:r>
          </a:p>
        </p:txBody>
      </p:sp>
    </p:spTree>
    <p:extLst>
      <p:ext uri="{BB962C8B-B14F-4D97-AF65-F5344CB8AC3E}">
        <p14:creationId xmlns:p14="http://schemas.microsoft.com/office/powerpoint/2010/main" val="41209862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9490" y="601354"/>
            <a:ext cx="4191000" cy="282764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1" y="3599597"/>
            <a:ext cx="4343401" cy="284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9" y="609600"/>
            <a:ext cx="4183626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423723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district high officials in hospital activities </a:t>
            </a:r>
          </a:p>
        </p:txBody>
      </p:sp>
    </p:spTree>
    <p:extLst>
      <p:ext uri="{BB962C8B-B14F-4D97-AF65-F5344CB8AC3E}">
        <p14:creationId xmlns:p14="http://schemas.microsoft.com/office/powerpoint/2010/main" val="2593268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/>
              <a:t>1. Active Community Participation in health service is an example in </a:t>
            </a:r>
            <a:r>
              <a:rPr lang="en-US" b="1" dirty="0" err="1"/>
              <a:t>Bangldesh</a:t>
            </a:r>
            <a:r>
              <a:rPr lang="en-US" b="1" dirty="0"/>
              <a:t>.</a:t>
            </a:r>
          </a:p>
          <a:p>
            <a:pPr marL="0" algn="just">
              <a:defRPr/>
            </a:pPr>
            <a:r>
              <a:rPr lang="en-US" dirty="0"/>
              <a:t> </a:t>
            </a:r>
          </a:p>
          <a:p>
            <a:pPr marL="0" algn="just">
              <a:defRPr/>
            </a:pPr>
            <a:r>
              <a:rPr lang="en-US" b="1" dirty="0"/>
              <a:t>2. Improved   performance  of all services specially Pediatric, obstetric, operation and outdoor service.</a:t>
            </a:r>
          </a:p>
          <a:p>
            <a:pPr marL="0">
              <a:defRPr/>
            </a:pPr>
            <a:endParaRPr lang="en-US" b="1" dirty="0"/>
          </a:p>
          <a:p>
            <a:pPr marL="0">
              <a:defRPr/>
            </a:pPr>
            <a:r>
              <a:rPr lang="en-US" b="1" dirty="0"/>
              <a:t>3. Improved Cleanliness and Beautification of Campus.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/>
              <a:t>4. Functioning of X-Ray service and starting of Biochemistry investigation by local initiatives.</a:t>
            </a:r>
            <a:endParaRPr lang="en-US" sz="900" dirty="0"/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/>
              <a:t>5. Improved Security.</a:t>
            </a:r>
            <a:endParaRPr lang="en-US" sz="900" dirty="0"/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/>
              <a:t>6. Improved Financial Management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/>
              <a:t>7.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/>
              <a:t>8. The hospital is awarded 5 times from 2013 to 2017. Stood first award by 5S-KAIZEN-TQM among the 100 bedded district hospitals by defeating </a:t>
            </a:r>
            <a:r>
              <a:rPr lang="en-US" b="1" dirty="0" err="1"/>
              <a:t>Norsindi</a:t>
            </a:r>
            <a:r>
              <a:rPr lang="en-US" b="1" dirty="0"/>
              <a:t> Sadar Hospital.</a:t>
            </a:r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2275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GB" sz="3600" dirty="0">
                <a:solidFill>
                  <a:srgbClr val="FF0000"/>
                </a:solidFill>
              </a:rPr>
              <a:t>Experience in </a:t>
            </a:r>
            <a:r>
              <a:rPr lang="en-GB" sz="3600" dirty="0" err="1">
                <a:solidFill>
                  <a:srgbClr val="FF0000"/>
                </a:solidFill>
              </a:rPr>
              <a:t>Srilanka</a:t>
            </a:r>
            <a:endParaRPr lang="en-GB" sz="3600" dirty="0">
              <a:solidFill>
                <a:srgbClr val="FF0000"/>
              </a:solidFill>
            </a:endParaRPr>
          </a:p>
        </p:txBody>
      </p:sp>
      <p:pic>
        <p:nvPicPr>
          <p:cNvPr id="3584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6800"/>
            <a:ext cx="4038600" cy="266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015" y="1143001"/>
            <a:ext cx="4572000" cy="26669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2" y="3962400"/>
            <a:ext cx="4038601" cy="2873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719" y="4038600"/>
            <a:ext cx="4572000" cy="2806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9429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GB" sz="3600" dirty="0">
                <a:solidFill>
                  <a:srgbClr val="FF0000"/>
                </a:solidFill>
              </a:rPr>
              <a:t>Experience in Tanzania</a:t>
            </a:r>
          </a:p>
        </p:txBody>
      </p:sp>
      <p:pic>
        <p:nvPicPr>
          <p:cNvPr id="3481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62400"/>
            <a:ext cx="4038600" cy="289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066800"/>
            <a:ext cx="4572000" cy="266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2" descr="DSC03544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472" y="989462"/>
            <a:ext cx="4038600" cy="27443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2430" y="3962400"/>
            <a:ext cx="4449170" cy="289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60258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9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667000"/>
            <a:ext cx="4038600" cy="3105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0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667000"/>
            <a:ext cx="4038600" cy="3028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 dirty="0">
                <a:solidFill>
                  <a:srgbClr val="FF0000"/>
                </a:solidFill>
              </a:rPr>
              <a:t>Experience in  Malaysia</a:t>
            </a:r>
          </a:p>
        </p:txBody>
      </p:sp>
    </p:spTree>
    <p:extLst>
      <p:ext uri="{BB962C8B-B14F-4D97-AF65-F5344CB8AC3E}">
        <p14:creationId xmlns:p14="http://schemas.microsoft.com/office/powerpoint/2010/main" val="9654351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057400"/>
            <a:ext cx="4278566" cy="3124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057400"/>
            <a:ext cx="4038600" cy="31743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>
                <a:solidFill>
                  <a:srgbClr val="FF0000"/>
                </a:solidFill>
              </a:rPr>
              <a:t>Experience in Thailand</a:t>
            </a:r>
            <a:endParaRPr lang="en-GB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5268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0" y="1219200"/>
            <a:ext cx="9126940" cy="56388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Post of consultants of eye, anesthesia should be fulfilled immediately.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The repairing and maintenance of hospital building authority should be shifted from HED to PWD.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Oxygen plant should be repaired immediately and a manpower should be engaged.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Separation of words where the number of consultants is more than one.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Condemnation of unwanted items should be done immediately.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The campus should be cleaned.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/>
              <a:t>Medical technologist lab should be appointed immediately in blood bank.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Problems of The Hospital</a:t>
            </a:r>
          </a:p>
        </p:txBody>
      </p:sp>
    </p:spTree>
    <p:extLst>
      <p:ext uri="{BB962C8B-B14F-4D97-AF65-F5344CB8AC3E}">
        <p14:creationId xmlns:p14="http://schemas.microsoft.com/office/powerpoint/2010/main" val="280464176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Activities 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59006"/>
            <a:ext cx="9144000" cy="5598994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Health education in three places with community response.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Established NCD corner 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Arrangement of effective pediatric outdoor.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Digital disease profiling  system in every word.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24 hours EOC service.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Effective post-natal care.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construction work of 250 bedded has started.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2467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0" y="1219200"/>
            <a:ext cx="9126940" cy="56388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>
              <a:buFont typeface="+mj-lt"/>
              <a:buAutoNum type="arabicPeriod" startAt="8"/>
            </a:pPr>
            <a:r>
              <a:rPr lang="en-US" dirty="0"/>
              <a:t>Improved infection control system.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dirty="0"/>
              <a:t>Emergency use of ECG, pulse-</a:t>
            </a:r>
            <a:r>
              <a:rPr lang="en-US" dirty="0" err="1"/>
              <a:t>oxymeter</a:t>
            </a:r>
            <a:r>
              <a:rPr lang="en-US" dirty="0"/>
              <a:t>, glucometer.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/>
              <a:t>Everyday ultrasonography service.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/>
              <a:t>Arrangement of effective training of MA by creating adaptable environment.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/>
              <a:t>Established representative control system.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/>
              <a:t>Established gate-pass system to control visitor.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/>
              <a:t>Removal of unnecessary bill boards and improved beautification.</a:t>
            </a:r>
          </a:p>
          <a:p>
            <a:pPr marL="0" indent="0" algn="just">
              <a:buNone/>
            </a:pPr>
            <a:endParaRPr lang="en-US" sz="28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Activities Done</a:t>
            </a:r>
          </a:p>
        </p:txBody>
      </p:sp>
    </p:spTree>
    <p:extLst>
      <p:ext uri="{BB962C8B-B14F-4D97-AF65-F5344CB8AC3E}">
        <p14:creationId xmlns:p14="http://schemas.microsoft.com/office/powerpoint/2010/main" val="36683565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73539543"/>
              </p:ext>
            </p:extLst>
          </p:nvPr>
        </p:nvGraphicFramePr>
        <p:xfrm>
          <a:off x="428768" y="1828800"/>
          <a:ext cx="8153399" cy="384970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87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4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0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63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1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ANC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01.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Jhenaidah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Sadar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Hospital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15360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1839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1143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2997</a:t>
                      </a: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13152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2000" b="1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2000" b="1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18650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2163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759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2922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6977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lt"/>
                        </a:rPr>
                        <a:t>1455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1228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2683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7773">
                <a:tc>
                  <a:txBody>
                    <a:bodyPr/>
                    <a:lstStyle/>
                    <a:p>
                      <a:r>
                        <a:rPr lang="en-GB" sz="1600" b="1" baseline="0" dirty="0"/>
                        <a:t>   </a:t>
                      </a:r>
                      <a:r>
                        <a:rPr lang="en-GB" sz="1800" b="1" baseline="0" dirty="0"/>
                        <a:t>05.</a:t>
                      </a:r>
                      <a:endParaRPr lang="en-GB" sz="1600" b="1" dirty="0"/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r>
                        <a:rPr lang="en-GB" sz="1600" b="1" dirty="0"/>
                        <a:t>250</a:t>
                      </a:r>
                      <a:r>
                        <a:rPr lang="en-GB" sz="1600" b="1" baseline="0" dirty="0"/>
                        <a:t> Bedded Hospital, </a:t>
                      </a:r>
                      <a:r>
                        <a:rPr lang="en-GB" sz="1600" b="1" baseline="0" dirty="0" err="1"/>
                        <a:t>Kushtia</a:t>
                      </a:r>
                      <a:endParaRPr lang="en-GB" sz="1600" b="1" dirty="0"/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+mn-lt"/>
                        </a:rPr>
                        <a:t>4735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+mn-lt"/>
                        </a:rPr>
                        <a:t>1595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+mn-lt"/>
                        </a:rPr>
                        <a:t>919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baseline="0" dirty="0">
                          <a:latin typeface="+mn-lt"/>
                        </a:rPr>
                        <a:t>2514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658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06.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28767" y="381000"/>
            <a:ext cx="8153400" cy="889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latin typeface="Arial" charset="0"/>
                <a:cs typeface="Arial" charset="0"/>
              </a:rPr>
              <a:t>Comparative Data of Delivery of best performing EOC center of Khulna Division in 2017</a:t>
            </a:r>
          </a:p>
        </p:txBody>
      </p:sp>
    </p:spTree>
    <p:extLst>
      <p:ext uri="{BB962C8B-B14F-4D97-AF65-F5344CB8AC3E}">
        <p14:creationId xmlns:p14="http://schemas.microsoft.com/office/powerpoint/2010/main" val="42091891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2932</TotalTime>
  <Words>1664</Words>
  <Application>Microsoft Office PowerPoint</Application>
  <PresentationFormat>On-screen Show (4:3)</PresentationFormat>
  <Paragraphs>538</Paragraphs>
  <Slides>55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70" baseType="lpstr">
      <vt:lpstr>Albertus Extra Bold</vt:lpstr>
      <vt:lpstr>Andalus</vt:lpstr>
      <vt:lpstr>Arial</vt:lpstr>
      <vt:lpstr>Book Antiqua</vt:lpstr>
      <vt:lpstr>Calibri</vt:lpstr>
      <vt:lpstr>SutonnyMJ</vt:lpstr>
      <vt:lpstr>Symbol</vt:lpstr>
      <vt:lpstr>Times New Roman</vt:lpstr>
      <vt:lpstr>Verdana</vt:lpstr>
      <vt:lpstr>Wingdings</vt:lpstr>
      <vt:lpstr>Wingdings 2</vt:lpstr>
      <vt:lpstr>5_シック</vt:lpstr>
      <vt:lpstr>Office Theme</vt:lpstr>
      <vt:lpstr>1_Office Theme</vt:lpstr>
      <vt:lpstr>Chart</vt:lpstr>
      <vt:lpstr>PowerPoint Presentation</vt:lpstr>
      <vt:lpstr>PowerPoint Presentation</vt:lpstr>
      <vt:lpstr>PowerPoint Presentation</vt:lpstr>
      <vt:lpstr>PowerPoint Presentation</vt:lpstr>
      <vt:lpstr>A Sub-district level Women-Friendly Hospital with a Vision …</vt:lpstr>
      <vt:lpstr>PowerPoint Presentation</vt:lpstr>
      <vt:lpstr>PowerPoint Presentation</vt:lpstr>
      <vt:lpstr>PowerPoint Presentation</vt:lpstr>
      <vt:lpstr>Achievement of Chowgacha Health Complex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Upazilla Health  Complex CHOWGACHA , JESSORE.</vt:lpstr>
      <vt:lpstr>MDG 4 and 5 Achieved at Chowgacha in 2011 and SDG targets in 2030</vt:lpstr>
      <vt:lpstr>PowerPoint Presentation</vt:lpstr>
      <vt:lpstr>100 kh¨v wewkó m`i nvmcvZvj, wSbvB`n</vt:lpstr>
      <vt:lpstr>Health ,Nutrition and population targets for the 7th FYP</vt:lpstr>
      <vt:lpstr>Health ,Nutrition and population targets for the 7th FYP</vt:lpstr>
      <vt:lpstr>Sadar Hospital, Jhenaidah</vt:lpstr>
      <vt:lpstr>PowerPoint Presentation</vt:lpstr>
      <vt:lpstr>Emergency &amp; Out Door, Indoor  Service 1998 to 2017</vt:lpstr>
      <vt:lpstr>Operation Service (Major) 2011 to 2017</vt:lpstr>
      <vt:lpstr>PowerPoint Presentation</vt:lpstr>
      <vt:lpstr>3 best performing EmOC Hospital in Khulna division - 2017</vt:lpstr>
      <vt:lpstr>  Comparative data of revenue income (in Taka) from 2015 to 2017 </vt:lpstr>
      <vt:lpstr>PowerPoint Presentation</vt:lpstr>
      <vt:lpstr>PowerPoint Presentation</vt:lpstr>
      <vt:lpstr>Changes in EOC Ward</vt:lpstr>
      <vt:lpstr>PowerPoint Presentation</vt:lpstr>
      <vt:lpstr>Changes in Gardens of The Hospital</vt:lpstr>
      <vt:lpstr>PowerPoint Presentation</vt:lpstr>
      <vt:lpstr>Changes in Office and Hospital Internal Environment</vt:lpstr>
      <vt:lpstr>Use of direction sign, labeling of rooms, clean latrine and waste segregation</vt:lpstr>
      <vt:lpstr>Use of color code, alignment of picture &amp; continuous big cleaning day</vt:lpstr>
      <vt:lpstr>Innovative activities of Jhenaidah Sadar Hospital - 1</vt:lpstr>
      <vt:lpstr>PowerPoint Presentation</vt:lpstr>
      <vt:lpstr>PowerPoint Presentation</vt:lpstr>
      <vt:lpstr>Innovative activities of Jhenaidah Sadar Hospital - 4</vt:lpstr>
      <vt:lpstr>Innovative activities of Jhenaidah Sadar Hospital - 5</vt:lpstr>
      <vt:lpstr>Involvement of MP, District Administrator &amp; Mayor in Sadar Hospital</vt:lpstr>
      <vt:lpstr>Involvement of district high officials in hospital activities </vt:lpstr>
      <vt:lpstr>Internal Monitoring System</vt:lpstr>
      <vt:lpstr>PowerPoint Presentation</vt:lpstr>
      <vt:lpstr>Hospital Environment</vt:lpstr>
      <vt:lpstr>PowerPoint Presentation</vt:lpstr>
      <vt:lpstr>PowerPoint Presentation</vt:lpstr>
      <vt:lpstr>Experience in Srilanka</vt:lpstr>
      <vt:lpstr>Experience in Tanzania</vt:lpstr>
      <vt:lpstr>PowerPoint Presentation</vt:lpstr>
      <vt:lpstr>PowerPoint Presentation</vt:lpstr>
      <vt:lpstr>Problems of The Hospital</vt:lpstr>
      <vt:lpstr>Activities Done</vt:lpstr>
      <vt:lpstr>Activities Done</vt:lpstr>
      <vt:lpstr>PowerPoint Presentation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Dell</cp:lastModifiedBy>
  <cp:revision>411</cp:revision>
  <cp:lastPrinted>2017-03-18T23:47:54Z</cp:lastPrinted>
  <dcterms:created xsi:type="dcterms:W3CDTF">2013-05-05T09:56:19Z</dcterms:created>
  <dcterms:modified xsi:type="dcterms:W3CDTF">2022-08-28T07:38:05Z</dcterms:modified>
</cp:coreProperties>
</file>