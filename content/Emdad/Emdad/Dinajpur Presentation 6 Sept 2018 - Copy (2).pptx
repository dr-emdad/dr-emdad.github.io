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9" r:id="rId1"/>
  </p:sldMasterIdLst>
  <p:notesMasterIdLst>
    <p:notesMasterId r:id="rId22"/>
  </p:notesMasterIdLst>
  <p:sldIdLst>
    <p:sldId id="424" r:id="rId2"/>
    <p:sldId id="364" r:id="rId3"/>
    <p:sldId id="426" r:id="rId4"/>
    <p:sldId id="415" r:id="rId5"/>
    <p:sldId id="498" r:id="rId6"/>
    <p:sldId id="326" r:id="rId7"/>
    <p:sldId id="327" r:id="rId8"/>
    <p:sldId id="351" r:id="rId9"/>
    <p:sldId id="482" r:id="rId10"/>
    <p:sldId id="487" r:id="rId11"/>
    <p:sldId id="421" r:id="rId12"/>
    <p:sldId id="422" r:id="rId13"/>
    <p:sldId id="291" r:id="rId14"/>
    <p:sldId id="412" r:id="rId15"/>
    <p:sldId id="293" r:id="rId16"/>
    <p:sldId id="324" r:id="rId17"/>
    <p:sldId id="330" r:id="rId18"/>
    <p:sldId id="510" r:id="rId19"/>
    <p:sldId id="511" r:id="rId20"/>
    <p:sldId id="413" r:id="rId21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Windows User" initials="WU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CC33"/>
    <a:srgbClr val="00FF99"/>
    <a:srgbClr val="CCFF99"/>
    <a:srgbClr val="0C7E17"/>
    <a:srgbClr val="3EE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29" autoAdjust="0"/>
    <p:restoredTop sz="91815" autoAdjust="0"/>
  </p:normalViewPr>
  <p:slideViewPr>
    <p:cSldViewPr>
      <p:cViewPr varScale="1">
        <p:scale>
          <a:sx n="62" d="100"/>
          <a:sy n="62" d="100"/>
        </p:scale>
        <p:origin x="1770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86" y="3934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39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3.xlsx"/><Relationship Id="rId1" Type="http://schemas.openxmlformats.org/officeDocument/2006/relationships/image" Target="../media/image4.jpeg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31"/>
    </mc:Choice>
    <mc:Fallback>
      <c:style val="31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Bed Occupacy Rate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Sheet1!$A$2:$A$7</c:f>
              <c:numCache>
                <c:formatCode>General</c:formatCode>
                <c:ptCount val="6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2015</c:v>
                </c:pt>
                <c:pt idx="4">
                  <c:v>2016</c:v>
                </c:pt>
                <c:pt idx="5">
                  <c:v>2017</c:v>
                </c:pt>
              </c:numCache>
            </c:numRef>
          </c:cat>
          <c:val>
            <c:numRef>
              <c:f>Sheet1!$B$2:$B$7</c:f>
              <c:numCache>
                <c:formatCode>0%</c:formatCode>
                <c:ptCount val="6"/>
                <c:pt idx="0">
                  <c:v>1.26</c:v>
                </c:pt>
                <c:pt idx="1">
                  <c:v>1.46</c:v>
                </c:pt>
                <c:pt idx="2">
                  <c:v>1.65</c:v>
                </c:pt>
                <c:pt idx="3">
                  <c:v>1.93</c:v>
                </c:pt>
                <c:pt idx="4">
                  <c:v>2.14</c:v>
                </c:pt>
                <c:pt idx="5">
                  <c:v>2.42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D7-487C-BCFE-47C390F887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8633728"/>
        <c:axId val="218635264"/>
      </c:barChart>
      <c:catAx>
        <c:axId val="218633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8635264"/>
        <c:crosses val="autoZero"/>
        <c:auto val="1"/>
        <c:lblAlgn val="ctr"/>
        <c:lblOffset val="100"/>
        <c:noMultiLvlLbl val="0"/>
      </c:catAx>
      <c:valAx>
        <c:axId val="21863526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218633728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141903990973091"/>
          <c:y val="4.4409667541557306E-2"/>
          <c:w val="0.65834289989452255"/>
          <c:h val="0.844752405949256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Emergency &amp; Outdoors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81796</c:v>
                </c:pt>
                <c:pt idx="1">
                  <c:v>170854</c:v>
                </c:pt>
                <c:pt idx="2">
                  <c:v>192791</c:v>
                </c:pt>
                <c:pt idx="3">
                  <c:v>233868</c:v>
                </c:pt>
                <c:pt idx="4">
                  <c:v>277301</c:v>
                </c:pt>
                <c:pt idx="5">
                  <c:v>296235</c:v>
                </c:pt>
                <c:pt idx="6">
                  <c:v>340932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E-4ECF-8139-BCBC614261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Indoor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Sheet1!$A$2:$A$8</c:f>
              <c:numCache>
                <c:formatCode>General</c:formatCode>
                <c:ptCount val="7"/>
                <c:pt idx="0">
                  <c:v>1998</c:v>
                </c:pt>
                <c:pt idx="1">
                  <c:v>2011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</c:numCache>
            </c:numRef>
          </c:cat>
          <c:val>
            <c:numRef>
              <c:f>Sheet1!$C$2:$C$8</c:f>
              <c:numCache>
                <c:formatCode>General</c:formatCode>
                <c:ptCount val="7"/>
                <c:pt idx="0">
                  <c:v>12973</c:v>
                </c:pt>
                <c:pt idx="1">
                  <c:v>22435</c:v>
                </c:pt>
                <c:pt idx="2">
                  <c:v>24643</c:v>
                </c:pt>
                <c:pt idx="3">
                  <c:v>27905</c:v>
                </c:pt>
                <c:pt idx="4">
                  <c:v>29562</c:v>
                </c:pt>
                <c:pt idx="5">
                  <c:v>32300</c:v>
                </c:pt>
                <c:pt idx="6">
                  <c:v>35569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CE-4ECF-8139-BCBC614261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9805568"/>
        <c:axId val="219807104"/>
      </c:barChart>
      <c:catAx>
        <c:axId val="2198055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19807104"/>
        <c:crosses val="autoZero"/>
        <c:auto val="1"/>
        <c:lblAlgn val="ctr"/>
        <c:lblOffset val="100"/>
        <c:noMultiLvlLbl val="0"/>
      </c:catAx>
      <c:valAx>
        <c:axId val="21980710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980556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8443483700051508"/>
          <c:y val="0.42290223097112861"/>
          <c:w val="0.20621936860696152"/>
          <c:h val="0.27641776027996501"/>
        </c:manualLayout>
      </c:layout>
      <c:overlay val="0"/>
    </c:legend>
    <c:plotVisOnly val="1"/>
    <c:dispBlanksAs val="gap"/>
    <c:showDLblsOverMax val="0"/>
  </c:chart>
  <c:txPr>
    <a:bodyPr/>
    <a:lstStyle/>
    <a:p>
      <a:pPr>
        <a:defRPr sz="1800" b="1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31265189073588"/>
          <c:y val="3.6443293946503759E-2"/>
          <c:w val="0.64635972586759993"/>
          <c:h val="0.781510586807713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ANC 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1.683619596536692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523-41C0-9B57-F782E9DE47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15360</c:v>
                </c:pt>
                <c:pt idx="1">
                  <c:v>12178</c:v>
                </c:pt>
                <c:pt idx="2">
                  <c:v>6977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523-41C0-9B57-F782E9DE47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 Section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7.716049382716049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523-41C0-9B57-F782E9DE478F}"/>
                </c:ext>
              </c:extLst>
            </c:dLbl>
            <c:dLbl>
              <c:idx val="1"/>
              <c:layout>
                <c:manualLayout>
                  <c:x val="1.3888888888888888E-2"/>
                  <c:y val="8.41809798268346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523-41C0-9B57-F782E9DE478F}"/>
                </c:ext>
              </c:extLst>
            </c:dLbl>
            <c:dLbl>
              <c:idx val="2"/>
              <c:layout>
                <c:manualLayout>
                  <c:x val="1.2345679012345678E-2"/>
                  <c:y val="5.61206532178897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523-41C0-9B57-F782E9DE47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1143</c:v>
                </c:pt>
                <c:pt idx="1">
                  <c:v>1778</c:v>
                </c:pt>
                <c:pt idx="2">
                  <c:v>1228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5523-41C0-9B57-F782E9DE478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NVD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0"/>
                  <c:y val="-2.52542939480503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5523-41C0-9B57-F782E9DE478F}"/>
                </c:ext>
              </c:extLst>
            </c:dLbl>
            <c:dLbl>
              <c:idx val="1"/>
              <c:layout>
                <c:manualLayout>
                  <c:x val="2.3148148148148206E-2"/>
                  <c:y val="-6.734478386146770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523-41C0-9B57-F782E9DE478F}"/>
                </c:ext>
              </c:extLst>
            </c:dLbl>
            <c:dLbl>
              <c:idx val="2"/>
              <c:layout>
                <c:manualLayout>
                  <c:x val="3.0864197530864196E-3"/>
                  <c:y val="-3.086635926983936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5523-41C0-9B57-F782E9DE47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1854</c:v>
                </c:pt>
                <c:pt idx="1">
                  <c:v>1189</c:v>
                </c:pt>
                <c:pt idx="2">
                  <c:v>1455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5523-41C0-9B57-F782E9DE478F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 Del</c:v>
                </c:pt>
              </c:strCache>
            </c:strRef>
          </c:tx>
          <c:invertIfNegative val="0"/>
          <c:dLbls>
            <c:dLbl>
              <c:idx val="0"/>
              <c:layout>
                <c:manualLayout>
                  <c:x val="3.0864197530864482E-3"/>
                  <c:y val="-1.964222862626141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523-41C0-9B57-F782E9DE478F}"/>
                </c:ext>
              </c:extLst>
            </c:dLbl>
            <c:dLbl>
              <c:idx val="1"/>
              <c:layout>
                <c:manualLayout>
                  <c:x val="1.8518397005929815E-2"/>
                  <c:y val="-3.64784245916283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523-41C0-9B57-F782E9DE478F}"/>
                </c:ext>
              </c:extLst>
            </c:dLbl>
            <c:dLbl>
              <c:idx val="2"/>
              <c:layout>
                <c:manualLayout>
                  <c:x val="0"/>
                  <c:y val="-2.806032660894488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5523-41C0-9B57-F782E9DE478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Jhenaidah Sadar Hospital</c:v>
                </c:pt>
                <c:pt idx="1">
                  <c:v>Jessore District Hospital</c:v>
                </c:pt>
                <c:pt idx="2">
                  <c:v>Khulna Medical College Hospital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2997</c:v>
                </c:pt>
                <c:pt idx="1">
                  <c:v>2967</c:v>
                </c:pt>
                <c:pt idx="2">
                  <c:v>2683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5523-41C0-9B57-F782E9DE478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854848"/>
        <c:axId val="209856384"/>
      </c:barChart>
      <c:catAx>
        <c:axId val="20985484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9856384"/>
        <c:crosses val="autoZero"/>
        <c:auto val="1"/>
        <c:lblAlgn val="ctr"/>
        <c:lblOffset val="100"/>
        <c:noMultiLvlLbl val="0"/>
      </c:catAx>
      <c:valAx>
        <c:axId val="20985638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209854848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74948624477495873"/>
          <c:y val="0.37195288604878124"/>
          <c:w val="0.14578327014678721"/>
          <c:h val="0.31152795548704221"/>
        </c:manualLayout>
      </c:layout>
      <c:overlay val="0"/>
      <c:txPr>
        <a:bodyPr/>
        <a:lstStyle/>
        <a:p>
          <a:pPr>
            <a:defRPr b="1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27"/>
    </mc:Choice>
    <mc:Fallback>
      <c:style val="27"/>
    </mc:Fallback>
  </mc:AlternateContent>
  <c:chart>
    <c:autoTitleDeleted val="1"/>
    <c:view3D>
      <c:rotX val="0"/>
      <c:rotY val="0"/>
      <c:depthPercent val="150"/>
      <c:rAngAx val="0"/>
      <c:perspective val="0"/>
    </c:view3D>
    <c:floor>
      <c:thickness val="0"/>
    </c:floor>
    <c:side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sideWall>
    <c:backWall>
      <c:thickness val="0"/>
      <c:spPr>
        <a:blipFill>
          <a:blip xmlns:r="http://schemas.openxmlformats.org/officeDocument/2006/relationships" r:embed="rId1"/>
          <a:tile tx="0" ty="0" sx="100000" sy="100000" flip="none" algn="tl"/>
        </a:blipFill>
      </c:spPr>
    </c:backWall>
    <c:plotArea>
      <c:layout>
        <c:manualLayout>
          <c:layoutTarget val="inner"/>
          <c:xMode val="edge"/>
          <c:yMode val="edge"/>
          <c:x val="0.10934240566213922"/>
          <c:y val="5.0614472425047033E-2"/>
          <c:w val="0.87051107128595528"/>
          <c:h val="0.83049790530628376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Major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51000"/>
                    <a:satMod val="130000"/>
                  </a:schemeClr>
                </a:gs>
                <a:gs pos="80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</a:schemeClr>
                </a:gs>
              </a:gsLst>
              <a:lin ang="16200000" scaled="0"/>
            </a:gra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dPt>
            <c:idx val="1"/>
            <c:invertIfNegative val="0"/>
            <c:bubble3D val="0"/>
            <c:spPr>
              <a:gradFill rotWithShape="1">
                <a:gsLst>
                  <a:gs pos="0">
                    <a:schemeClr val="accent1">
                      <a:shade val="51000"/>
                      <a:satMod val="130000"/>
                    </a:schemeClr>
                  </a:gs>
                  <a:gs pos="80000">
                    <a:schemeClr val="accent1">
                      <a:shade val="93000"/>
                      <a:satMod val="130000"/>
                    </a:schemeClr>
                  </a:gs>
                  <a:gs pos="100000">
                    <a:schemeClr val="accent1">
                      <a:shade val="94000"/>
                      <a:satMod val="135000"/>
                    </a:schemeClr>
                  </a:gs>
                </a:gsLst>
                <a:lin ang="16200000" scaled="0"/>
              </a:gradFill>
              <a:ln>
                <a:noFill/>
              </a:ln>
              <a:effectLst>
                <a:outerShdw blurRad="40000" dist="23000" dir="5400000" rotWithShape="0">
                  <a:srgbClr val="000000">
                    <a:alpha val="35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">
                  <a:rot lat="0" lon="0" rev="1200000"/>
                </a:lightRig>
              </a:scene3d>
              <a:sp3d>
                <a:bevelT w="63500" h="25400"/>
              </a:sp3d>
            </c:spPr>
            <c:extLst>
              <c:ext xmlns:c16="http://schemas.microsoft.com/office/drawing/2014/chart" uri="{C3380CC4-5D6E-409C-BE32-E72D297353CC}">
                <c16:uniqueId val="{00000001-5917-4EF9-A61B-12B0A883AFCA}"/>
              </c:ext>
            </c:extLst>
          </c:dPt>
          <c:dLbls>
            <c:dLbl>
              <c:idx val="0"/>
              <c:layout>
                <c:manualLayout>
                  <c:x val="4.4941168575518865E-3"/>
                  <c:y val="-5.57724964536098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917-4EF9-A61B-12B0A883AFCA}"/>
                </c:ext>
              </c:extLst>
            </c:dLbl>
            <c:dLbl>
              <c:idx val="1"/>
              <c:layout>
                <c:manualLayout>
                  <c:x val="1.9565363278453841E-3"/>
                  <c:y val="-4.43983470734565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917-4EF9-A61B-12B0A883AFCA}"/>
                </c:ext>
              </c:extLst>
            </c:dLbl>
            <c:dLbl>
              <c:idx val="2"/>
              <c:layout>
                <c:manualLayout>
                  <c:x val="-1.3819792412312101E-3"/>
                  <c:y val="-4.26781932937233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917-4EF9-A61B-12B0A883AFCA}"/>
                </c:ext>
              </c:extLst>
            </c:dLbl>
            <c:dLbl>
              <c:idx val="3"/>
              <c:layout>
                <c:manualLayout>
                  <c:x val="-4.5897458840372524E-3"/>
                  <c:y val="-5.220040706399949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917-4EF9-A61B-12B0A883AFCA}"/>
                </c:ext>
              </c:extLst>
            </c:dLbl>
            <c:dLbl>
              <c:idx val="4"/>
              <c:layout>
                <c:manualLayout>
                  <c:x val="2.7922557265569292E-3"/>
                  <c:y val="-3.44067761764768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917-4EF9-A61B-12B0A883AFC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2011</c:v>
                </c:pt>
                <c:pt idx="1">
                  <c:v>2012</c:v>
                </c:pt>
                <c:pt idx="2">
                  <c:v>2013</c:v>
                </c:pt>
                <c:pt idx="3">
                  <c:v>2014</c:v>
                </c:pt>
                <c:pt idx="4">
                  <c:v>2015</c:v>
                </c:pt>
                <c:pt idx="5">
                  <c:v>2016</c:v>
                </c:pt>
                <c:pt idx="6">
                  <c:v>2017</c:v>
                </c:pt>
                <c:pt idx="7">
                  <c:v>2018</c:v>
                </c:pt>
                <c:pt idx="8">
                  <c:v>2019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780</c:v>
                </c:pt>
                <c:pt idx="1">
                  <c:v>977</c:v>
                </c:pt>
                <c:pt idx="2">
                  <c:v>1294</c:v>
                </c:pt>
                <c:pt idx="3">
                  <c:v>1339</c:v>
                </c:pt>
                <c:pt idx="4">
                  <c:v>1582</c:v>
                </c:pt>
                <c:pt idx="5">
                  <c:v>1383</c:v>
                </c:pt>
                <c:pt idx="6">
                  <c:v>1578</c:v>
                </c:pt>
                <c:pt idx="7">
                  <c:v>1385</c:v>
                </c:pt>
                <c:pt idx="8">
                  <c:v>1496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917-4EF9-A61B-12B0A883AF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cylinder"/>
        <c:axId val="161315072"/>
        <c:axId val="161320960"/>
        <c:axId val="0"/>
      </c:bar3DChart>
      <c:catAx>
        <c:axId val="161315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1320960"/>
        <c:crosses val="autoZero"/>
        <c:auto val="1"/>
        <c:lblAlgn val="ctr"/>
        <c:lblOffset val="100"/>
        <c:noMultiLvlLbl val="0"/>
      </c:catAx>
      <c:valAx>
        <c:axId val="161320960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61315072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CB19E7A0-DBE5-4599-AA41-7EF8BE594351}" type="datetimeFigureOut">
              <a:rPr lang="en-US"/>
              <a:pPr>
                <a:defRPr/>
              </a:pPr>
              <a:t>12/27/2022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16425"/>
            <a:ext cx="5607050" cy="41830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5B36F5E-8ADC-4553-AFDF-0075743DECD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1381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8CCD7A0B-260A-444D-804C-C1BD38A39F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BEA9984D-4DDC-45FC-B715-D1631F625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4D1E62F2-D424-49A6-A97A-5E47F1EF36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8241D93-765E-4925-84ED-7540E91584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0434EFA0-EE6D-4CE6-9F9E-53C7C56F1D7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5C4FE33F-8D7C-4B4E-AEB9-CE2B74AEA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90005B86-5533-402D-BA49-C1AC2C357B9B}" type="slidenum">
              <a:rPr lang="en-US" smtClean="0">
                <a:solidFill>
                  <a:srgbClr val="000000"/>
                </a:solidFill>
              </a:rPr>
              <a:pPr/>
              <a:t>10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46630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itchFamily="34" charset="0"/>
              <a:cs typeface="Arial" pitchFamily="34" charset="0"/>
            </a:endParaRPr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fld id="{5F89CEDC-CC36-4240-A8E3-18CC66A39448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CA4533FE-FE24-4D2C-8102-5CE95F4F7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EB30EB0-ADA8-494A-8461-F3DC328D3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CA4533FE-FE24-4D2C-8102-5CE95F4F77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5EB30EB0-ADA8-494A-8461-F3DC328D3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6282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 txBox="1">
            <a:spLocks noGrp="1" noChangeArrowheads="1"/>
          </p:cNvSpPr>
          <p:nvPr/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r" eaLnBrk="1" hangingPunct="1"/>
            <a:fld id="{38240DB7-E1FF-45BD-8373-B35F370C8A8C}" type="slidenum">
              <a:rPr lang="en-US" sz="1200">
                <a:solidFill>
                  <a:srgbClr val="000000"/>
                </a:solidFill>
              </a:rPr>
              <a:pPr algn="r" eaLnBrk="1" hangingPunct="1"/>
              <a:t>20</a:t>
            </a:fld>
            <a:endParaRPr lang="en-US" sz="1200" dirty="0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C528EF-78D8-49A5-809B-2599B7DD834B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EFA2A5-5979-48A6-9408-4607D4934BE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0225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57163-4E2A-442A-AF52-8DCCF3E5F898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14CFB5-2CC1-45EB-A3F2-C919B0329890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0270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ADFD7-462D-4DC3-B03B-C216ECE8D47D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1B0A13-5CDD-4B02-825E-D5B70CB11E2D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73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CFF109-4CB5-4AAD-95FA-C87EB3E04025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13CE82-7117-4891-B558-D1CF2158FB3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3524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BA6665-6F14-4A40-AA68-DF2D49F6DD20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2395EA-16E2-485C-BE10-C0C30288CF78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0442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CFB527-45A3-4F1F-BC31-990A27D35CF4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52998-14DA-4294-9809-0671B108F665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92215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0C454-2AF4-4F56-B134-15CC2881F322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1FBE90-576A-469F-BB2C-57A27D47CF3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141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80C9C6-69CB-45B7-9979-6C3E38187D0A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BE9712-EA71-450B-AE72-6EC24D46A791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01818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E0AD57-2794-4A43-BC3A-6D6DEE633501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B9D0AA-CDC8-41BE-AFF7-7A9CB8C401D6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71350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4D3F-EDC6-440C-ABD2-54996654AEC4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68EAF-25D6-47A5-AF16-8E40A707229B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62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5DA01-3A8D-4832-86F7-58BF2CA1F9C1}" type="datetimeFigureOut">
              <a:rPr lang="en-US" altLang="en-US"/>
              <a:pPr>
                <a:defRPr/>
              </a:pPr>
              <a:t>12/27/2022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6CA87E-87C4-451A-AA13-2FDE2706BB27}" type="slidenum">
              <a:rPr lang="en-US" altLang="en-US"/>
              <a:pPr>
                <a:defRPr/>
              </a:pPr>
              <a:t>‹#›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735080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B2CD5-9D40-4DFB-8E5D-C6BF1A5B2BF1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56936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FDB412B-A1DC-4656-9B89-0FCB88F4F467}" type="datetimeFigureOut">
              <a:rPr lang="ja-JP" altLang="en-US"/>
              <a:pPr>
                <a:defRPr/>
              </a:pPr>
              <a:t>2022/12/27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B12BA74-9B39-49B3-8E8B-88E185DDBA06}" type="slidenum">
              <a:rPr lang="ja-JP" altLang="en-US"/>
              <a:pPr>
                <a:defRPr/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pn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ctrTitle"/>
          </p:nvPr>
        </p:nvSpPr>
        <p:spPr>
          <a:xfrm>
            <a:off x="228600" y="45204"/>
            <a:ext cx="8915400" cy="1326396"/>
          </a:xfrm>
          <a:solidFill>
            <a:srgbClr val="006600"/>
          </a:solidFill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 err="1">
                <a:solidFill>
                  <a:schemeClr val="bg1"/>
                </a:solidFill>
              </a:rPr>
              <a:t>Jhenaidah</a:t>
            </a:r>
            <a:r>
              <a:rPr lang="en-US" sz="3600" dirty="0">
                <a:solidFill>
                  <a:schemeClr val="bg1"/>
                </a:solidFill>
              </a:rPr>
              <a:t> Sadar Hospital Model </a:t>
            </a:r>
            <a:r>
              <a:rPr lang="en-US" sz="3600" dirty="0" err="1">
                <a:solidFill>
                  <a:schemeClr val="bg1"/>
                </a:solidFill>
              </a:rPr>
              <a:t>Devloped</a:t>
            </a:r>
            <a:r>
              <a:rPr lang="en-US" sz="3600" dirty="0">
                <a:solidFill>
                  <a:schemeClr val="bg1"/>
                </a:solidFill>
              </a:rPr>
              <a:t> by Local Initiative.</a:t>
            </a:r>
          </a:p>
        </p:txBody>
      </p:sp>
      <p:pic>
        <p:nvPicPr>
          <p:cNvPr id="57349" name="Picture 2" descr="G:\G\Dr Emdad\Photos- Jhenaidah\22-6-15\New folder\New folder\District hospital. Jhenaidah by GMB Akash (56)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606663"/>
            <a:ext cx="5545819" cy="36446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646384"/>
      </p:ext>
    </p:extLst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Jhenaidah District Map">
            <a:extLst>
              <a:ext uri="{FF2B5EF4-FFF2-40B4-BE49-F238E27FC236}">
                <a16:creationId xmlns:a16="http://schemas.microsoft.com/office/drawing/2014/main" id="{3C74B130-7FAA-4AD0-BA3C-CAD2F0938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063" y="295275"/>
            <a:ext cx="7467600" cy="592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016000"/>
          </a:xfrm>
          <a:solidFill>
            <a:schemeClr val="accent5">
              <a:lumMod val="40000"/>
              <a:lumOff val="60000"/>
            </a:schemeClr>
          </a:solidFill>
        </p:spPr>
        <p:txBody>
          <a:bodyPr/>
          <a:lstStyle/>
          <a:p>
            <a:r>
              <a:rPr lang="en-US" sz="3600" b="1" dirty="0"/>
              <a:t>A District level Women-Friendly Hospital with a Vision …</a:t>
            </a:r>
          </a:p>
        </p:txBody>
      </p:sp>
      <p:sp>
        <p:nvSpPr>
          <p:cNvPr id="5" name="Oval 3"/>
          <p:cNvSpPr>
            <a:spLocks noChangeArrowheads="1"/>
          </p:cNvSpPr>
          <p:nvPr/>
        </p:nvSpPr>
        <p:spPr bwMode="auto">
          <a:xfrm>
            <a:off x="4281487" y="2019300"/>
            <a:ext cx="3124200" cy="12954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sz="1600" b="1" dirty="0">
              <a:solidFill>
                <a:srgbClr val="FF0066"/>
              </a:solidFill>
            </a:endParaRPr>
          </a:p>
          <a:p>
            <a:pPr algn="ctr" eaLnBrk="0" hangingPunct="0"/>
            <a:r>
              <a:rPr lang="en-US" sz="1600" b="1" dirty="0"/>
              <a:t>Maximum utilization of Govt.</a:t>
            </a:r>
          </a:p>
          <a:p>
            <a:pPr algn="ctr" eaLnBrk="0" hangingPunct="0"/>
            <a:r>
              <a:rPr lang="en-US" sz="1600" b="1" dirty="0"/>
              <a:t>resources with </a:t>
            </a:r>
          </a:p>
          <a:p>
            <a:pPr algn="ctr" eaLnBrk="0" hangingPunct="0"/>
            <a:r>
              <a:rPr lang="en-US" sz="1600" b="1" dirty="0"/>
              <a:t>honesty and sincerity.</a:t>
            </a:r>
          </a:p>
          <a:p>
            <a:pPr algn="ctr" eaLnBrk="0" hangingPunct="0"/>
            <a:endParaRPr lang="en-US" sz="1600" b="1" dirty="0"/>
          </a:p>
        </p:txBody>
      </p:sp>
      <p:sp>
        <p:nvSpPr>
          <p:cNvPr id="6" name="Oval 4"/>
          <p:cNvSpPr>
            <a:spLocks noChangeArrowheads="1"/>
          </p:cNvSpPr>
          <p:nvPr/>
        </p:nvSpPr>
        <p:spPr bwMode="auto">
          <a:xfrm>
            <a:off x="4281487" y="51054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Providing Effective  services </a:t>
            </a:r>
          </a:p>
          <a:p>
            <a:pPr algn="ctr" eaLnBrk="0" hangingPunct="0"/>
            <a:r>
              <a:rPr lang="en-US" sz="1600" b="1" dirty="0"/>
              <a:t>through improved </a:t>
            </a:r>
          </a:p>
          <a:p>
            <a:pPr algn="ctr" eaLnBrk="0" hangingPunct="0"/>
            <a:r>
              <a:rPr lang="en-US" sz="1600" b="1" dirty="0"/>
              <a:t>management system.</a:t>
            </a:r>
          </a:p>
        </p:txBody>
      </p:sp>
      <p:sp>
        <p:nvSpPr>
          <p:cNvPr id="8" name="AutoShape 6"/>
          <p:cNvSpPr>
            <a:spLocks noChangeArrowheads="1"/>
          </p:cNvSpPr>
          <p:nvPr/>
        </p:nvSpPr>
        <p:spPr bwMode="auto">
          <a:xfrm>
            <a:off x="1447800" y="2438400"/>
            <a:ext cx="2514600" cy="457200"/>
          </a:xfrm>
          <a:prstGeom prst="notchedRightArrow">
            <a:avLst>
              <a:gd name="adj1" fmla="val 50000"/>
              <a:gd name="adj2" fmla="val 137500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9" name="AutoShape 7"/>
          <p:cNvSpPr>
            <a:spLocks noChangeArrowheads="1"/>
          </p:cNvSpPr>
          <p:nvPr/>
        </p:nvSpPr>
        <p:spPr bwMode="auto">
          <a:xfrm>
            <a:off x="1343025" y="54864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 dirty="0"/>
          </a:p>
        </p:txBody>
      </p:sp>
      <p:sp>
        <p:nvSpPr>
          <p:cNvPr id="11" name="Oval 9"/>
          <p:cNvSpPr>
            <a:spLocks noChangeArrowheads="1"/>
          </p:cNvSpPr>
          <p:nvPr/>
        </p:nvSpPr>
        <p:spPr bwMode="auto">
          <a:xfrm>
            <a:off x="4281487" y="3619500"/>
            <a:ext cx="3200400" cy="1219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en-US" sz="1600" b="1" dirty="0"/>
              <a:t>Integrated approach of </a:t>
            </a:r>
          </a:p>
          <a:p>
            <a:pPr algn="ctr" eaLnBrk="0" hangingPunct="0"/>
            <a:r>
              <a:rPr lang="en-US" sz="1600" b="1" dirty="0"/>
              <a:t>Administration, Community</a:t>
            </a:r>
          </a:p>
          <a:p>
            <a:pPr algn="ctr" eaLnBrk="0" hangingPunct="0"/>
            <a:r>
              <a:rPr lang="en-US" sz="1600" b="1" dirty="0"/>
              <a:t>Leaders .</a:t>
            </a:r>
          </a:p>
        </p:txBody>
      </p:sp>
      <p:sp>
        <p:nvSpPr>
          <p:cNvPr id="12" name="AutoShape 10"/>
          <p:cNvSpPr>
            <a:spLocks noChangeArrowheads="1"/>
          </p:cNvSpPr>
          <p:nvPr/>
        </p:nvSpPr>
        <p:spPr bwMode="auto">
          <a:xfrm>
            <a:off x="1328737" y="4000500"/>
            <a:ext cx="2438400" cy="457200"/>
          </a:xfrm>
          <a:prstGeom prst="notchedRightArrow">
            <a:avLst>
              <a:gd name="adj1" fmla="val 50000"/>
              <a:gd name="adj2" fmla="val 133333"/>
            </a:avLst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5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EB079F8D-AC2F-410E-9692-325962396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58775"/>
            <a:ext cx="8229600" cy="381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/>
              <a:t>Background History of Jhenaidah Sadar Hospital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8976D331-F00A-4045-89F9-208F101E0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863600"/>
            <a:ext cx="80772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609600" indent="-609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20000"/>
              </a:spcBef>
            </a:pPr>
            <a:endParaRPr lang="en-US" altLang="en-US" sz="1600" b="1">
              <a:solidFill>
                <a:srgbClr val="3333CC"/>
              </a:solidFill>
            </a:endParaRP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939CEDFC-5507-4BC6-B5CB-C914944AA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90600"/>
            <a:ext cx="8229600" cy="5638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/>
          <a:lstStyle/>
          <a:p>
            <a:pPr eaLnBrk="0" hangingPunct="0">
              <a:lnSpc>
                <a:spcPct val="200000"/>
              </a:lnSpc>
              <a:spcAft>
                <a:spcPts val="1200"/>
              </a:spcAft>
              <a:defRPr/>
            </a:pPr>
            <a:r>
              <a:rPr lang="en-US" sz="1600" b="1" dirty="0" err="1">
                <a:latin typeface="Arial" charset="0"/>
                <a:cs typeface="Arial" charset="0"/>
              </a:rPr>
              <a:t>Jhenaidah</a:t>
            </a:r>
            <a:r>
              <a:rPr lang="en-US" sz="1600" b="1" dirty="0">
                <a:latin typeface="Arial" charset="0"/>
                <a:cs typeface="Arial" charset="0"/>
              </a:rPr>
              <a:t> Sadar Hospital was established in 1968 as Sub-Division Hospital and            became functioning from December 1970. 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 - From February 1984 recognized as District Sadar Hospital.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-  In 1994 upgrade to 100 Bedded Hospital without manpower &amp; infrastructure.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-  In May 2005 infrastructure of 100 </a:t>
            </a:r>
            <a:r>
              <a:rPr lang="en-US" sz="1600" b="1" dirty="0" err="1">
                <a:latin typeface="Arial" charset="0"/>
                <a:cs typeface="Arial" charset="0"/>
              </a:rPr>
              <a:t>beded</a:t>
            </a:r>
            <a:r>
              <a:rPr lang="en-US" sz="1600" b="1" dirty="0">
                <a:latin typeface="Arial" charset="0"/>
                <a:cs typeface="Arial" charset="0"/>
              </a:rPr>
              <a:t> hospital completed. 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-  In 2008, Laparoscopic surgery was initiated in Hospital.</a:t>
            </a:r>
            <a:br>
              <a:rPr lang="en-US" sz="1600" b="1" dirty="0">
                <a:latin typeface="Arial" charset="0"/>
                <a:cs typeface="Arial" charset="0"/>
              </a:rPr>
            </a:br>
            <a:r>
              <a:rPr lang="en-US" sz="1600" b="1" dirty="0">
                <a:latin typeface="Arial" charset="0"/>
                <a:cs typeface="Arial" charset="0"/>
              </a:rPr>
              <a:t>-  In 2010 , this Hospital was awarded for EOC Activities, in Khulna Division.  </a:t>
            </a:r>
          </a:p>
          <a:p>
            <a:pPr eaLnBrk="0" hangingPunct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sz="1600" b="1" dirty="0">
                <a:latin typeface="Arial" charset="0"/>
                <a:cs typeface="Arial" charset="0"/>
              </a:rPr>
              <a:t>-  TQM activities started in January 2011 and effectively in May 2012.</a:t>
            </a:r>
          </a:p>
          <a:p>
            <a:pPr marL="285750" indent="-285750" eaLnBrk="0" hangingPunct="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r>
              <a:rPr lang="en-US" sz="1600" b="1" dirty="0">
                <a:latin typeface="Arial" charset="0"/>
                <a:cs typeface="Arial" charset="0"/>
              </a:rPr>
              <a:t>In 10’th October foundation stone for 250 bedded hospital is established by   Honorable Prime Minister of Peoples Republic of Bangladesh.</a:t>
            </a:r>
          </a:p>
          <a:p>
            <a:pPr eaLnBrk="0" hangingPunct="0">
              <a:lnSpc>
                <a:spcPct val="150000"/>
              </a:lnSpc>
              <a:spcAft>
                <a:spcPts val="1200"/>
              </a:spcAft>
              <a:defRPr/>
            </a:pPr>
            <a:r>
              <a:rPr lang="en-US" sz="1600" b="1" dirty="0">
                <a:latin typeface="Arial" charset="0"/>
                <a:cs typeface="Arial" charset="0"/>
              </a:rPr>
              <a:t>-   In 9 Feb, 2014, 5S KIZEN – TQM program started by DGHS &amp; SMPP JICA. </a:t>
            </a:r>
          </a:p>
          <a:p>
            <a:pPr eaLnBrk="0" hangingPunct="0">
              <a:lnSpc>
                <a:spcPct val="150000"/>
              </a:lnSpc>
              <a:spcAft>
                <a:spcPts val="1200"/>
              </a:spcAft>
              <a:defRPr/>
            </a:pPr>
            <a:endParaRPr lang="en-US" sz="1600" b="1" dirty="0">
              <a:latin typeface="Arial" charset="0"/>
              <a:cs typeface="Arial" charset="0"/>
            </a:endParaRPr>
          </a:p>
          <a:p>
            <a:pPr marL="285750" indent="-285750" eaLnBrk="0" hangingPunct="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endParaRPr lang="en-US" sz="1600" b="1" dirty="0">
              <a:latin typeface="Arial" charset="0"/>
              <a:cs typeface="Arial" charset="0"/>
            </a:endParaRPr>
          </a:p>
          <a:p>
            <a:pPr marL="285750" indent="-285750" eaLnBrk="0" hangingPunct="0">
              <a:lnSpc>
                <a:spcPct val="150000"/>
              </a:lnSpc>
              <a:spcAft>
                <a:spcPts val="1200"/>
              </a:spcAft>
              <a:buFontTx/>
              <a:buChar char="-"/>
              <a:defRPr/>
            </a:pPr>
            <a:endParaRPr lang="en-US" sz="1600" b="1" dirty="0"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A8EBBC2-460F-4B17-B487-803E01CCEF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72" y="152400"/>
            <a:ext cx="8229600" cy="504825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 eaLnBrk="0" hangingPunct="0">
              <a:defRPr/>
            </a:pPr>
            <a:r>
              <a:rPr lang="en-US" sz="28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Health Profile of Jhenaidah District- 2015</a:t>
            </a:r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2D2F1181-66FF-41DB-975E-1C38D7D57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685800"/>
            <a:ext cx="8839200" cy="60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Population</a:t>
            </a:r>
            <a:r>
              <a:rPr lang="en-US" b="1" dirty="0"/>
              <a:t> </a:t>
            </a:r>
            <a:r>
              <a:rPr lang="en-US" b="1" dirty="0">
                <a:solidFill>
                  <a:srgbClr val="3333CC"/>
                </a:solidFill>
              </a:rPr>
              <a:t>			: 1857149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Pregnant</a:t>
            </a:r>
            <a:r>
              <a:rPr lang="en-US" b="1" dirty="0"/>
              <a:t>  mothers</a:t>
            </a:r>
            <a:r>
              <a:rPr lang="en-US" b="1" dirty="0">
                <a:solidFill>
                  <a:srgbClr val="3333CC"/>
                </a:solidFill>
              </a:rPr>
              <a:t>		: 38074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/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Total Live birth</a:t>
            </a:r>
            <a:r>
              <a:rPr lang="en-US" b="1" dirty="0">
                <a:solidFill>
                  <a:srgbClr val="3333CC"/>
                </a:solidFill>
              </a:rPr>
              <a:t>		: 36465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/>
              <a:t>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U5 children</a:t>
            </a:r>
            <a:r>
              <a:rPr lang="en-US" b="1" dirty="0">
                <a:solidFill>
                  <a:srgbClr val="3333CC"/>
                </a:solidFill>
              </a:rPr>
              <a:t>			: 222120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No. of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Upazilla</a:t>
            </a:r>
            <a:r>
              <a:rPr lang="en-US" b="1" dirty="0"/>
              <a:t>	</a:t>
            </a:r>
            <a:r>
              <a:rPr lang="en-US" b="1" dirty="0">
                <a:solidFill>
                  <a:srgbClr val="3333CC"/>
                </a:solidFill>
              </a:rPr>
              <a:t>	: 06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Paurasava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>
                <a:solidFill>
                  <a:srgbClr val="3333CC"/>
                </a:solidFill>
              </a:rPr>
              <a:t>			: 06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Union 			</a:t>
            </a:r>
            <a:r>
              <a:rPr lang="en-US" b="1" dirty="0">
                <a:solidFill>
                  <a:srgbClr val="3333CC"/>
                </a:solidFill>
              </a:rPr>
              <a:t>: 67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Govt. Health Institutions </a:t>
            </a:r>
            <a:r>
              <a:rPr lang="en-US" b="1" dirty="0">
                <a:solidFill>
                  <a:srgbClr val="3333CC"/>
                </a:solidFill>
              </a:rPr>
              <a:t>	             : </a:t>
            </a:r>
            <a:r>
              <a:rPr lang="en-US" b="1" i="1" dirty="0">
                <a:solidFill>
                  <a:srgbClr val="00B050"/>
                </a:solidFill>
              </a:rPr>
              <a:t>253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a) Sadar Hospital		             : 01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b) Upazilla Health Complex            : 05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c) H&amp;FWC/ RD (57+13)	              : 70 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d) Community Clinic 	              : 171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e) NTC+IHT +MATS(1+1+1) 	: 03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f) Sishu Hospital (25 bed)    	: 01  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g)MCWC                                            :01</a:t>
            </a:r>
          </a:p>
          <a:p>
            <a:pPr eaLnBrk="0" hangingPunct="0"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9. Non-Govt. Health Institutio</a:t>
            </a:r>
            <a:r>
              <a:rPr lang="en-US" b="1" dirty="0"/>
              <a:t>n</a:t>
            </a:r>
            <a:r>
              <a:rPr lang="en-US" b="1" dirty="0">
                <a:solidFill>
                  <a:srgbClr val="3333CC"/>
                </a:solidFill>
              </a:rPr>
              <a:t>		: </a:t>
            </a:r>
            <a:r>
              <a:rPr lang="en-US" b="1" i="1" dirty="0">
                <a:solidFill>
                  <a:srgbClr val="00B050"/>
                </a:solidFill>
              </a:rPr>
              <a:t>116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</a:t>
            </a:r>
            <a:r>
              <a:rPr lang="en-US" b="1" dirty="0" err="1">
                <a:solidFill>
                  <a:srgbClr val="3333CC"/>
                </a:solidFill>
              </a:rPr>
              <a:t>i</a:t>
            </a:r>
            <a:r>
              <a:rPr lang="en-US" b="1" dirty="0">
                <a:solidFill>
                  <a:srgbClr val="3333CC"/>
                </a:solidFill>
              </a:rPr>
              <a:t>) Diabetic Hospital 		: 01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ii) Eye Hospital 			: 01</a:t>
            </a:r>
          </a:p>
          <a:p>
            <a:pPr eaLnBrk="0" hangingPunct="0">
              <a:defRPr/>
            </a:pPr>
            <a:r>
              <a:rPr lang="en-US" b="1" dirty="0">
                <a:solidFill>
                  <a:srgbClr val="3333CC"/>
                </a:solidFill>
              </a:rPr>
              <a:t>             iii) Private Clinic (Regd.)		:114 </a:t>
            </a:r>
          </a:p>
          <a:p>
            <a:pPr eaLnBrk="0" hangingPunct="0">
              <a:buFont typeface="Arial" pitchFamily="34" charset="0"/>
              <a:buAutoNum type="arabicPeriod"/>
              <a:defRPr/>
            </a:pPr>
            <a:endParaRPr lang="en-US" sz="2000" b="1" dirty="0">
              <a:solidFill>
                <a:srgbClr val="3333CC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77" name="Rectangle 57"/>
          <p:cNvSpPr>
            <a:spLocks noChangeArrowheads="1"/>
          </p:cNvSpPr>
          <p:nvPr/>
        </p:nvSpPr>
        <p:spPr bwMode="auto">
          <a:xfrm>
            <a:off x="462176" y="983206"/>
            <a:ext cx="8229600" cy="609601"/>
          </a:xfrm>
          <a:prstGeom prst="rect">
            <a:avLst/>
          </a:prstGeom>
          <a:ln>
            <a:headEnd/>
            <a:tailEnd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>
              <a:defRPr/>
            </a:pPr>
            <a:r>
              <a:rPr lang="en-US" sz="24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Bed Occupancy Rate from 1998 to 2017</a:t>
            </a:r>
          </a:p>
        </p:txBody>
      </p:sp>
      <p:pic>
        <p:nvPicPr>
          <p:cNvPr id="42015" name="Title 1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875" y="-28032"/>
            <a:ext cx="8339138" cy="131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452438" y="228600"/>
            <a:ext cx="8229600" cy="71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lnSpc>
                <a:spcPct val="90000"/>
              </a:lnSpc>
              <a:defRPr/>
            </a:pPr>
            <a:r>
              <a:rPr lang="en-US" sz="4300" b="1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itchFamily="34" charset="0"/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929509912"/>
              </p:ext>
            </p:extLst>
          </p:nvPr>
        </p:nvGraphicFramePr>
        <p:xfrm>
          <a:off x="1251744" y="1981200"/>
          <a:ext cx="5834856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7"/>
          <p:cNvSpPr>
            <a:spLocks noGrp="1" noChangeArrowheads="1"/>
          </p:cNvSpPr>
          <p:nvPr>
            <p:ph type="title"/>
          </p:nvPr>
        </p:nvSpPr>
        <p:spPr>
          <a:xfrm>
            <a:off x="228600" y="1143000"/>
            <a:ext cx="8534400" cy="503238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Emergency &amp; Out Door, Indoor  Service 1998 to 2017</a:t>
            </a:r>
          </a:p>
        </p:txBody>
      </p:sp>
      <p:sp>
        <p:nvSpPr>
          <p:cNvPr id="10" name="Title 1"/>
          <p:cNvSpPr txBox="1">
            <a:spLocks/>
          </p:cNvSpPr>
          <p:nvPr/>
        </p:nvSpPr>
        <p:spPr bwMode="auto">
          <a:xfrm>
            <a:off x="228600" y="228600"/>
            <a:ext cx="85344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  <p:graphicFrame>
        <p:nvGraphicFramePr>
          <p:cNvPr id="3" name="Chart 2"/>
          <p:cNvGraphicFramePr/>
          <p:nvPr>
            <p:extLst>
              <p:ext uri="{D42A27DB-BD31-4B8C-83A1-F6EECF244321}">
                <p14:modId xmlns:p14="http://schemas.microsoft.com/office/powerpoint/2010/main" val="1590283279"/>
              </p:ext>
            </p:extLst>
          </p:nvPr>
        </p:nvGraphicFramePr>
        <p:xfrm>
          <a:off x="609600" y="1981200"/>
          <a:ext cx="8153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44562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2800" b="1" dirty="0">
                <a:ea typeface="Calibri"/>
                <a:cs typeface="Vrinda"/>
              </a:rPr>
              <a:t>3 best performing </a:t>
            </a:r>
            <a:r>
              <a:rPr lang="en-US" sz="2800" b="1" dirty="0" err="1">
                <a:ea typeface="Calibri"/>
                <a:cs typeface="Vrinda"/>
              </a:rPr>
              <a:t>EmOC</a:t>
            </a:r>
            <a:r>
              <a:rPr lang="en-US" sz="2800" b="1" dirty="0">
                <a:ea typeface="Calibri"/>
                <a:cs typeface="Vrinda"/>
              </a:rPr>
              <a:t> Hospital in Khulna division - 2017</a:t>
            </a:r>
            <a:endParaRPr lang="en-US" sz="2800" dirty="0">
              <a:ea typeface="Calibri"/>
              <a:cs typeface="Vrinda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3851720"/>
              </p:ext>
            </p:extLst>
          </p:nvPr>
        </p:nvGraphicFramePr>
        <p:xfrm>
          <a:off x="457200" y="20574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 bwMode="auto">
          <a:xfrm>
            <a:off x="457200" y="762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</p:spTree>
    <p:extLst>
      <p:ext uri="{BB962C8B-B14F-4D97-AF65-F5344CB8AC3E}">
        <p14:creationId xmlns:p14="http://schemas.microsoft.com/office/powerpoint/2010/main" val="15794536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8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8305800" cy="609600"/>
          </a:xfr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rgbClr val="FFFFFF"/>
                </a:solidFill>
              </a:rPr>
              <a:t>Operation Service (Major) 2011 to 2019</a:t>
            </a:r>
          </a:p>
        </p:txBody>
      </p:sp>
      <p:graphicFrame>
        <p:nvGraphicFramePr>
          <p:cNvPr id="2" name="Content Placeholder 3"/>
          <p:cNvGraphicFramePr>
            <a:graphicFrameLocks noGrp="1"/>
          </p:cNvGraphicFramePr>
          <p:nvPr>
            <p:ph idx="1"/>
          </p:nvPr>
        </p:nvGraphicFramePr>
        <p:xfrm>
          <a:off x="3048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457200" y="228600"/>
            <a:ext cx="8305800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</a:t>
            </a:r>
            <a:r>
              <a:rPr lang="en-US" b="1" dirty="0" err="1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Hosital</a:t>
            </a: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, Jhenaidah</a:t>
            </a:r>
          </a:p>
        </p:txBody>
      </p:sp>
    </p:spTree>
    <p:extLst>
      <p:ext uri="{BB962C8B-B14F-4D97-AF65-F5344CB8AC3E}">
        <p14:creationId xmlns:p14="http://schemas.microsoft.com/office/powerpoint/2010/main" val="3342961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0"/>
            <a:ext cx="9144000" cy="762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200" b="1" dirty="0">
                <a:solidFill>
                  <a:prstClr val="white"/>
                </a:solidFill>
                <a:latin typeface="Arial" charset="0"/>
                <a:cs typeface="Arial" charset="0"/>
              </a:rPr>
              <a:t>Community Support System in Sadar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0" y="794698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Staff : 53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Cleaner:	20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 err="1">
                <a:solidFill>
                  <a:srgbClr val="1F497D">
                    <a:lumMod val="75000"/>
                  </a:srgbClr>
                </a:solidFill>
              </a:rPr>
              <a:t>Aya</a:t>
            </a: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 /Word boy:	21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Security guard:	6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Volunteer:	3</a:t>
            </a:r>
          </a:p>
          <a:p>
            <a:pPr marL="1109662" lvl="1" indent="-457200" algn="just">
              <a:buFont typeface="Courier New" pitchFamily="49" charset="0"/>
              <a:buChar char="o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Trolley man:	3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Generator.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Intercom.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Biochemical analyzer.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Reformation of medicine, surgery, pediatric word.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Boundary wall repair.</a:t>
            </a:r>
          </a:p>
          <a:p>
            <a:pPr marL="457200" indent="-457200" algn="just">
              <a:buFont typeface="Arial" pitchFamily="34" charset="0"/>
              <a:buChar char="•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Pic up car.</a:t>
            </a:r>
          </a:p>
        </p:txBody>
      </p:sp>
      <p:sp>
        <p:nvSpPr>
          <p:cNvPr id="5" name="Rectangle 31"/>
          <p:cNvSpPr txBox="1">
            <a:spLocks noChangeArrowheads="1"/>
          </p:cNvSpPr>
          <p:nvPr/>
        </p:nvSpPr>
        <p:spPr bwMode="auto">
          <a:xfrm>
            <a:off x="4572000" y="781050"/>
            <a:ext cx="4572000" cy="607695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r>
              <a:rPr lang="en-US" sz="2600" b="1" u="sng" dirty="0">
                <a:solidFill>
                  <a:srgbClr val="1F497D">
                    <a:lumMod val="75000"/>
                  </a:srgbClr>
                </a:solidFill>
              </a:rPr>
              <a:t>Donors: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MP.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srgbClr val="1F497D">
                    <a:lumMod val="75000"/>
                  </a:srgbClr>
                </a:solidFill>
              </a:rPr>
              <a:t>Mayor.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Zahedee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 Foundation.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Doctors.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Other donors</a:t>
            </a:r>
          </a:p>
          <a:p>
            <a:pPr marL="514350" indent="-514350" algn="just">
              <a:buFont typeface="+mj-lt"/>
              <a:buAutoNum type="arabicPeriod"/>
              <a:defRPr/>
            </a:pPr>
            <a:r>
              <a:rPr lang="en-US" sz="2600" dirty="0" err="1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Retd</a:t>
            </a:r>
            <a:r>
              <a:rPr lang="en-US" sz="2600" dirty="0">
                <a:solidFill>
                  <a:prstClr val="black"/>
                </a:solidFill>
                <a:latin typeface="Calibri" pitchFamily="34" charset="0"/>
                <a:cs typeface="Calibri" pitchFamily="34" charset="0"/>
              </a:rPr>
              <a:t>. Secretary .</a:t>
            </a: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  <a:p>
            <a:pPr marL="0" algn="just">
              <a:defRPr/>
            </a:pPr>
            <a:endParaRPr lang="en-US" sz="2600" dirty="0">
              <a:solidFill>
                <a:srgbClr val="1F497D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518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 sz="quarter"/>
          </p:nvPr>
        </p:nvSpPr>
        <p:spPr>
          <a:xfrm>
            <a:off x="228600" y="152400"/>
            <a:ext cx="86868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EOC Ward</a:t>
            </a:r>
          </a:p>
        </p:txBody>
      </p:sp>
      <p:pic>
        <p:nvPicPr>
          <p:cNvPr id="45059" name="Picture 19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762000"/>
            <a:ext cx="3886200" cy="2743200"/>
          </a:xfrm>
          <a:noFill/>
        </p:spPr>
      </p:pic>
      <p:pic>
        <p:nvPicPr>
          <p:cNvPr id="45060" name="Picture 20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78388" y="762000"/>
            <a:ext cx="4037012" cy="2630488"/>
          </a:xfrm>
          <a:noFill/>
        </p:spPr>
      </p:pic>
      <p:pic>
        <p:nvPicPr>
          <p:cNvPr id="45061" name="コンテンツ プレースホルダ 4" descr="②.jpg"/>
          <p:cNvPicPr>
            <a:picLocks noGrp="1" noChangeAspect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3657600"/>
            <a:ext cx="3886200" cy="3048000"/>
          </a:xfrm>
        </p:spPr>
      </p:pic>
      <p:pic>
        <p:nvPicPr>
          <p:cNvPr id="45062" name="Picture 16"/>
          <p:cNvPicPr>
            <a:picLocks noGrp="1" noChangeAspect="1" noChangeArrowheads="1"/>
          </p:cNvPicPr>
          <p:nvPr>
            <p:ph sz="quarter" idx="4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29200" y="3776663"/>
            <a:ext cx="3733800" cy="2860675"/>
          </a:xfrm>
          <a:noFill/>
        </p:spPr>
      </p:pic>
      <p:sp>
        <p:nvSpPr>
          <p:cNvPr id="45063" name="Right Arrow 2"/>
          <p:cNvSpPr>
            <a:spLocks noChangeArrowheads="1"/>
          </p:cNvSpPr>
          <p:nvPr/>
        </p:nvSpPr>
        <p:spPr bwMode="auto">
          <a:xfrm>
            <a:off x="4298950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4" name="Right Arrow 11"/>
          <p:cNvSpPr>
            <a:spLocks noChangeArrowheads="1"/>
          </p:cNvSpPr>
          <p:nvPr/>
        </p:nvSpPr>
        <p:spPr bwMode="auto">
          <a:xfrm>
            <a:off x="4298950" y="4821238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5065" name="Rectangle 8"/>
          <p:cNvSpPr>
            <a:spLocks noChangeArrowheads="1"/>
          </p:cNvSpPr>
          <p:nvPr/>
        </p:nvSpPr>
        <p:spPr bwMode="auto">
          <a:xfrm>
            <a:off x="4938713" y="3859213"/>
            <a:ext cx="723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6" name="Rectangle 7"/>
          <p:cNvSpPr>
            <a:spLocks noChangeArrowheads="1"/>
          </p:cNvSpPr>
          <p:nvPr/>
        </p:nvSpPr>
        <p:spPr bwMode="auto">
          <a:xfrm>
            <a:off x="304800" y="3657600"/>
            <a:ext cx="915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5067" name="Rectangle 1"/>
          <p:cNvSpPr>
            <a:spLocks noChangeArrowheads="1"/>
          </p:cNvSpPr>
          <p:nvPr/>
        </p:nvSpPr>
        <p:spPr bwMode="auto">
          <a:xfrm>
            <a:off x="333375" y="801688"/>
            <a:ext cx="9159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000000"/>
              </a:solidFill>
            </a:endParaRPr>
          </a:p>
        </p:txBody>
      </p:sp>
      <p:sp>
        <p:nvSpPr>
          <p:cNvPr id="45068" name="Rectangle 9"/>
          <p:cNvSpPr>
            <a:spLocks noChangeArrowheads="1"/>
          </p:cNvSpPr>
          <p:nvPr/>
        </p:nvSpPr>
        <p:spPr bwMode="auto">
          <a:xfrm>
            <a:off x="4930775" y="742950"/>
            <a:ext cx="7239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60164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 sz="quarter"/>
          </p:nvPr>
        </p:nvSpPr>
        <p:spPr>
          <a:xfrm>
            <a:off x="152400" y="152400"/>
            <a:ext cx="8763000" cy="457200"/>
          </a:xfrm>
          <a:solidFill>
            <a:srgbClr val="006600"/>
          </a:solidFill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2800" b="1" dirty="0">
                <a:solidFill>
                  <a:schemeClr val="bg1"/>
                </a:solidFill>
              </a:rPr>
              <a:t>Changes in Gardens of The Hospital</a:t>
            </a:r>
          </a:p>
        </p:txBody>
      </p:sp>
      <p:pic>
        <p:nvPicPr>
          <p:cNvPr id="47107" name="Picture 5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0" y="3811588"/>
            <a:ext cx="3886200" cy="2894012"/>
          </a:xfrm>
        </p:spPr>
      </p:pic>
      <p:pic>
        <p:nvPicPr>
          <p:cNvPr id="47108" name="Picture 4" descr="8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1138" y="703263"/>
            <a:ext cx="4033837" cy="2743200"/>
          </a:xfrm>
        </p:spPr>
      </p:pic>
      <p:pic>
        <p:nvPicPr>
          <p:cNvPr id="47109" name="Picture 2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0175" y="3740150"/>
            <a:ext cx="4114800" cy="2971800"/>
          </a:xfrm>
          <a:noFill/>
        </p:spPr>
      </p:pic>
      <p:pic>
        <p:nvPicPr>
          <p:cNvPr id="47110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696913"/>
            <a:ext cx="3883025" cy="2743200"/>
          </a:xfrm>
          <a:prstGeom prst="rect">
            <a:avLst/>
          </a:prstGeom>
          <a:blipFill dpi="0" rotWithShape="1">
            <a:blip r:embed="rId6"/>
            <a:srcRect/>
            <a:stretch>
              <a:fillRect/>
            </a:stretch>
          </a:blipFill>
          <a:ln w="9525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47111" name="Right Arrow 9"/>
          <p:cNvSpPr>
            <a:spLocks noChangeArrowheads="1"/>
          </p:cNvSpPr>
          <p:nvPr/>
        </p:nvSpPr>
        <p:spPr bwMode="auto">
          <a:xfrm>
            <a:off x="4473575" y="1981200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2" name="Right Arrow 10"/>
          <p:cNvSpPr>
            <a:spLocks noChangeArrowheads="1"/>
          </p:cNvSpPr>
          <p:nvPr/>
        </p:nvSpPr>
        <p:spPr bwMode="auto">
          <a:xfrm>
            <a:off x="4291013" y="488791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47113" name="Rectangle 11"/>
          <p:cNvSpPr>
            <a:spLocks noChangeArrowheads="1"/>
          </p:cNvSpPr>
          <p:nvPr/>
        </p:nvSpPr>
        <p:spPr bwMode="auto">
          <a:xfrm>
            <a:off x="250825" y="696913"/>
            <a:ext cx="9159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Before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47114" name="Rectangle 14"/>
          <p:cNvSpPr>
            <a:spLocks noChangeArrowheads="1"/>
          </p:cNvSpPr>
          <p:nvPr/>
        </p:nvSpPr>
        <p:spPr bwMode="auto">
          <a:xfrm>
            <a:off x="4953000" y="814388"/>
            <a:ext cx="723900" cy="3698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After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4956175" y="3811588"/>
            <a:ext cx="6731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" name="Rectangle 10"/>
          <p:cNvSpPr>
            <a:spLocks noChangeArrowheads="1"/>
          </p:cNvSpPr>
          <p:nvPr/>
        </p:nvSpPr>
        <p:spPr bwMode="auto">
          <a:xfrm>
            <a:off x="268288" y="3690938"/>
            <a:ext cx="10668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9413955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3505200"/>
            <a:ext cx="4576219" cy="3621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128362" y="3772089"/>
            <a:ext cx="4096757" cy="3006725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8133" name="Right Arrow 8"/>
          <p:cNvSpPr>
            <a:spLocks noChangeArrowheads="1"/>
          </p:cNvSpPr>
          <p:nvPr/>
        </p:nvSpPr>
        <p:spPr bwMode="auto">
          <a:xfrm>
            <a:off x="4396356" y="4782343"/>
            <a:ext cx="457200" cy="3810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C00000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393" name="Rectangle 10"/>
          <p:cNvSpPr>
            <a:spLocks noChangeArrowheads="1"/>
          </p:cNvSpPr>
          <p:nvPr/>
        </p:nvSpPr>
        <p:spPr bwMode="auto">
          <a:xfrm>
            <a:off x="257034" y="3899646"/>
            <a:ext cx="915987" cy="369888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Before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6396" name="Rectangle 13"/>
          <p:cNvSpPr>
            <a:spLocks noChangeArrowheads="1"/>
          </p:cNvSpPr>
          <p:nvPr/>
        </p:nvSpPr>
        <p:spPr bwMode="auto">
          <a:xfrm>
            <a:off x="5224746" y="3922214"/>
            <a:ext cx="723900" cy="369887"/>
          </a:xfrm>
          <a:prstGeom prst="rect">
            <a:avLst/>
          </a:prstGeom>
          <a:noFill/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After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63319" y="655614"/>
            <a:ext cx="3886200" cy="297180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Content Placeholder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23019" y="655614"/>
            <a:ext cx="4102100" cy="2952750"/>
          </a:xfrm>
          <a:prstGeom prst="rect">
            <a:avLst/>
          </a:prstGeom>
          <a:noFill/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482" y="1874814"/>
            <a:ext cx="476250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1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19" y="806427"/>
            <a:ext cx="1146175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244" y="550839"/>
            <a:ext cx="1146175" cy="560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Changes in </a:t>
            </a:r>
            <a:r>
              <a:rPr lang="en-US" sz="2000" b="1" dirty="0" err="1">
                <a:solidFill>
                  <a:schemeClr val="bg1"/>
                </a:solidFill>
              </a:rPr>
              <a:t>JhenaidahSadar</a:t>
            </a:r>
            <a:r>
              <a:rPr lang="en-US" sz="2000" b="1" dirty="0">
                <a:solidFill>
                  <a:schemeClr val="bg1"/>
                </a:solidFill>
              </a:rPr>
              <a:t> Hospital(</a:t>
            </a:r>
            <a:r>
              <a:rPr lang="en-US" sz="2000" b="1" dirty="0" err="1">
                <a:solidFill>
                  <a:schemeClr val="bg1"/>
                </a:solidFill>
              </a:rPr>
              <a:t>Padeatric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ward,Waste</a:t>
            </a:r>
            <a:r>
              <a:rPr lang="en-US" sz="2000" b="1" dirty="0">
                <a:solidFill>
                  <a:schemeClr val="bg1"/>
                </a:solidFill>
              </a:rPr>
              <a:t> Management)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8186" y="4035426"/>
            <a:ext cx="4114800" cy="2571750"/>
          </a:xfrm>
        </p:spPr>
      </p:pic>
      <p:pic>
        <p:nvPicPr>
          <p:cNvPr id="51205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3998913"/>
            <a:ext cx="4038600" cy="2625725"/>
          </a:xfrm>
          <a:noFill/>
        </p:spPr>
      </p:pic>
      <p:sp>
        <p:nvSpPr>
          <p:cNvPr id="51207" name="Rectangle 4"/>
          <p:cNvSpPr>
            <a:spLocks noChangeArrowheads="1"/>
          </p:cNvSpPr>
          <p:nvPr/>
        </p:nvSpPr>
        <p:spPr bwMode="auto">
          <a:xfrm>
            <a:off x="328186" y="4092576"/>
            <a:ext cx="2466975" cy="369888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0000"/>
                </a:solidFill>
              </a:rPr>
              <a:t>Use of direction sign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5" name="Rectangle 10"/>
          <p:cNvSpPr>
            <a:spLocks noChangeArrowheads="1"/>
          </p:cNvSpPr>
          <p:nvPr/>
        </p:nvSpPr>
        <p:spPr bwMode="auto">
          <a:xfrm>
            <a:off x="4800600" y="4035426"/>
            <a:ext cx="1981200" cy="36988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FF0000"/>
                </a:solidFill>
              </a:rPr>
              <a:t>waist segregation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2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4400" y="1030288"/>
            <a:ext cx="4191000" cy="2603500"/>
          </a:xfrm>
        </p:spPr>
      </p:pic>
      <p:pic>
        <p:nvPicPr>
          <p:cNvPr id="13" name="Content Placeholder 11"/>
          <p:cNvPicPr>
            <a:picLocks noGrp="1" noChangeAspect="1"/>
          </p:cNvPicPr>
          <p:nvPr>
            <p:ph sz="quarter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4800" y="1001714"/>
            <a:ext cx="4132263" cy="2608262"/>
          </a:xfrm>
        </p:spPr>
      </p:pic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304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4876800" y="1001713"/>
            <a:ext cx="1390650" cy="369887"/>
          </a:xfrm>
          <a:prstGeom prst="rect">
            <a:avLst/>
          </a:prstGeom>
          <a:noFill/>
          <a:ln w="28575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FFFF00"/>
                </a:solidFill>
              </a:rPr>
              <a:t>Color code</a:t>
            </a:r>
            <a:endParaRPr lang="en-US">
              <a:solidFill>
                <a:srgbClr val="FFFF00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0" y="0"/>
            <a:ext cx="9140825" cy="471488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KAIZEN  in </a:t>
            </a:r>
            <a:r>
              <a:rPr lang="en-US" sz="2000" b="1" dirty="0" err="1">
                <a:solidFill>
                  <a:schemeClr val="bg1"/>
                </a:solidFill>
              </a:rPr>
              <a:t>Jhenaidah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en-US" sz="2000" b="1" dirty="0" err="1">
                <a:solidFill>
                  <a:schemeClr val="bg1"/>
                </a:solidFill>
              </a:rPr>
              <a:t>Sadar</a:t>
            </a:r>
            <a:r>
              <a:rPr lang="en-US" sz="2000" b="1" dirty="0">
                <a:solidFill>
                  <a:schemeClr val="bg1"/>
                </a:solidFill>
              </a:rPr>
              <a:t>  Hospital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520757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58738" y="762000"/>
            <a:ext cx="4367212" cy="2762250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6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>
          <a:xfrm>
            <a:off x="5083175" y="3879850"/>
            <a:ext cx="3925888" cy="2909888"/>
          </a:xfr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6324" name="Title 1"/>
          <p:cNvSpPr txBox="1">
            <a:spLocks/>
          </p:cNvSpPr>
          <p:nvPr/>
        </p:nvSpPr>
        <p:spPr bwMode="auto">
          <a:xfrm>
            <a:off x="152400" y="152400"/>
            <a:ext cx="8839200" cy="457200"/>
          </a:xfrm>
          <a:prstGeom prst="rect">
            <a:avLst/>
          </a:prstGeom>
          <a:solidFill>
            <a:srgbClr val="00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algn="ctr"/>
            <a:r>
              <a:rPr lang="en-US" sz="2800">
                <a:solidFill>
                  <a:schemeClr val="bg1"/>
                </a:solidFill>
              </a:rPr>
              <a:t>Improved pediatric word by local initiative</a:t>
            </a:r>
            <a:endParaRPr lang="en-US" sz="2800" b="1">
              <a:solidFill>
                <a:schemeClr val="bg1"/>
              </a:solidFill>
            </a:endParaRPr>
          </a:p>
        </p:txBody>
      </p:sp>
      <p:pic>
        <p:nvPicPr>
          <p:cNvPr id="5632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609600"/>
            <a:ext cx="4675188" cy="327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152400" y="3732213"/>
            <a:ext cx="4267200" cy="305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EF310-4858-4750-843A-35209EC43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715962"/>
          </a:xfr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Sadar Hospital, Jhenaidah</a:t>
            </a:r>
          </a:p>
        </p:txBody>
      </p:sp>
      <p:graphicFrame>
        <p:nvGraphicFramePr>
          <p:cNvPr id="58447" name="Group 79">
            <a:extLst>
              <a:ext uri="{FF2B5EF4-FFF2-40B4-BE49-F238E27FC236}">
                <a16:creationId xmlns:a16="http://schemas.microsoft.com/office/drawing/2014/main" id="{1A0316DC-A292-4506-88CB-B4BCE4D6BEE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0850" y="1344613"/>
          <a:ext cx="8229600" cy="4892714"/>
        </p:xfrm>
        <a:graphic>
          <a:graphicData uri="http://schemas.openxmlformats.org/drawingml/2006/table">
            <a:tbl>
              <a:tblPr/>
              <a:tblGrid>
                <a:gridCol w="1454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0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46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Serial No.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Person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Post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Vacant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Doctor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21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02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Nurse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48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MLSS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04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Ward boy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05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Ayah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06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Cleaner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07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Guard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03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08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Gardener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09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Electrician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Trolley man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 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00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11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Others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---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567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Total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151</a:t>
                      </a: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cs typeface="Arial" charset="0"/>
                        </a:rPr>
                        <a:t>              31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Arial" charset="0"/>
                      </a:endParaRPr>
                    </a:p>
                  </a:txBody>
                  <a:tcPr marT="45678" marB="4567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Rectangle 57">
            <a:extLst>
              <a:ext uri="{FF2B5EF4-FFF2-40B4-BE49-F238E27FC236}">
                <a16:creationId xmlns:a16="http://schemas.microsoft.com/office/drawing/2014/main" id="{B17895D3-5DC8-4C49-BF25-F3C00AFE05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735013"/>
            <a:ext cx="8229600" cy="609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Important post of Human Resources</a:t>
            </a:r>
          </a:p>
        </p:txBody>
      </p:sp>
    </p:spTree>
    <p:extLst>
      <p:ext uri="{BB962C8B-B14F-4D97-AF65-F5344CB8AC3E}">
        <p14:creationId xmlns:p14="http://schemas.microsoft.com/office/powerpoint/2010/main" val="2781113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52316" y="-152400"/>
            <a:ext cx="9144000" cy="1524000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Aft>
                <a:spcPts val="0"/>
              </a:spcAft>
              <a:defRPr/>
            </a:pPr>
            <a:endParaRPr lang="en-US" altLang="ja-JP" sz="3200" b="1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Achievements of </a:t>
            </a:r>
            <a:r>
              <a:rPr lang="en-US" altLang="ja-JP" sz="4000" b="1" dirty="0" err="1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Jhenaidah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  <a:r>
              <a:rPr lang="en-US" altLang="ja-JP" sz="4000" b="1" dirty="0" err="1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Sadar</a:t>
            </a: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</a:t>
            </a:r>
          </a:p>
          <a:p>
            <a:pPr algn="ctr" fontAlgn="auto">
              <a:spcAft>
                <a:spcPts val="0"/>
              </a:spcAft>
              <a:defRPr/>
            </a:pPr>
            <a:r>
              <a:rPr lang="en-US" altLang="ja-JP" sz="40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 Hospital</a:t>
            </a:r>
          </a:p>
        </p:txBody>
      </p:sp>
      <p:sp>
        <p:nvSpPr>
          <p:cNvPr id="20" name="Rectangle 31"/>
          <p:cNvSpPr txBox="1">
            <a:spLocks noChangeArrowheads="1"/>
          </p:cNvSpPr>
          <p:nvPr/>
        </p:nvSpPr>
        <p:spPr bwMode="auto">
          <a:xfrm>
            <a:off x="52316" y="1524000"/>
            <a:ext cx="9144000" cy="5257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8100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90488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marL="0" algn="just">
              <a:defRPr/>
            </a:pPr>
            <a:r>
              <a:rPr lang="en-US" b="1" dirty="0"/>
              <a:t>1</a:t>
            </a:r>
            <a:r>
              <a:rPr lang="en-US" sz="2000" b="1" dirty="0"/>
              <a:t>. Active Community Participation  is an example in Bangladesh.</a:t>
            </a:r>
          </a:p>
          <a:p>
            <a:pPr marL="0" algn="just">
              <a:defRPr/>
            </a:pPr>
            <a:r>
              <a:rPr lang="en-US" sz="2000" dirty="0"/>
              <a:t> </a:t>
            </a:r>
          </a:p>
          <a:p>
            <a:pPr marL="0" algn="just">
              <a:defRPr/>
            </a:pPr>
            <a:r>
              <a:rPr lang="en-US" sz="2000" b="1" dirty="0"/>
              <a:t>2. Improved   performance  of all services.</a:t>
            </a:r>
          </a:p>
          <a:p>
            <a:pPr marL="0">
              <a:defRPr/>
            </a:pPr>
            <a:endParaRPr lang="en-US" sz="2000" b="1" dirty="0"/>
          </a:p>
          <a:p>
            <a:pPr marL="0">
              <a:defRPr/>
            </a:pPr>
            <a:r>
              <a:rPr lang="en-US" sz="2000" b="1" dirty="0"/>
              <a:t>3. Improved Cleanliness and Beautification of Campus.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4. Functioning of X-Ray service and Biochemistry investigation. .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5. Improved Security.</a:t>
            </a:r>
            <a:endParaRPr lang="en-US" sz="1000" dirty="0"/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6. Improved Financial Management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7. Piloting of “Model  District Hospital” is running in Jhenaidah Sadar Hospital.</a:t>
            </a:r>
          </a:p>
          <a:p>
            <a:pPr marL="0" algn="just">
              <a:defRPr/>
            </a:pPr>
            <a:endParaRPr lang="en-US" sz="2000" b="1" dirty="0"/>
          </a:p>
          <a:p>
            <a:pPr marL="0" algn="just">
              <a:defRPr/>
            </a:pPr>
            <a:r>
              <a:rPr lang="en-US" sz="2000" b="1" dirty="0"/>
              <a:t>8. The hospital is awarded 5 times from 2013 to 2017. </a:t>
            </a:r>
            <a:endParaRPr lang="en-US" sz="2000" b="1" dirty="0">
              <a:solidFill>
                <a:schemeClr val="tx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DF3427-92FE-4C7F-9AA2-0F92A135FFC3}"/>
              </a:ext>
            </a:extLst>
          </p:cNvPr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Challenges of the Hospital</a:t>
            </a:r>
          </a:p>
        </p:txBody>
      </p:sp>
      <p:sp>
        <p:nvSpPr>
          <p:cNvPr id="92165" name="Rectangle 2">
            <a:extLst>
              <a:ext uri="{FF2B5EF4-FFF2-40B4-BE49-F238E27FC236}">
                <a16:creationId xmlns:a16="http://schemas.microsoft.com/office/drawing/2014/main" id="{8F31233D-9364-422E-9C44-2BB411138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buFontTx/>
              <a:buAutoNum type="arabicPeriod"/>
            </a:pPr>
            <a:r>
              <a:rPr lang="en-US" altLang="en-US" sz="2000" dirty="0"/>
              <a:t>Many  post of doctors ,3</a:t>
            </a:r>
            <a:r>
              <a:rPr lang="en-US" altLang="en-US" sz="2000" baseline="30000" dirty="0"/>
              <a:t>rd  </a:t>
            </a:r>
            <a:r>
              <a:rPr lang="en-US" altLang="en-US" sz="2000" dirty="0"/>
              <a:t> and 4</a:t>
            </a:r>
            <a:r>
              <a:rPr lang="en-US" altLang="en-US" sz="2000" baseline="30000" dirty="0"/>
              <a:t>th</a:t>
            </a:r>
            <a:r>
              <a:rPr lang="en-US" altLang="en-US" sz="2000" dirty="0"/>
              <a:t> class employee are 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A accommodation  is a major problem</a:t>
            </a:r>
          </a:p>
          <a:p>
            <a:pPr algn="just">
              <a:buFontTx/>
              <a:buAutoNum type="arabicPeriod"/>
            </a:pPr>
            <a:endParaRPr lang="en-US" altLang="en-US" sz="24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1DF3427-92FE-4C7F-9AA2-0F92A135FFC3}"/>
              </a:ext>
            </a:extLst>
          </p:cNvPr>
          <p:cNvSpPr txBox="1">
            <a:spLocks/>
          </p:cNvSpPr>
          <p:nvPr/>
        </p:nvSpPr>
        <p:spPr bwMode="auto">
          <a:xfrm>
            <a:off x="152400" y="228600"/>
            <a:ext cx="8839199" cy="715962"/>
          </a:xfrm>
          <a:prstGeom prst="rect">
            <a:avLst/>
          </a:prstGeom>
          <a:gradFill rotWithShape="1">
            <a:gsLst>
              <a:gs pos="0">
                <a:srgbClr val="4BACC6">
                  <a:shade val="51000"/>
                  <a:satMod val="130000"/>
                </a:srgbClr>
              </a:gs>
              <a:gs pos="80000">
                <a:srgbClr val="4BACC6">
                  <a:shade val="93000"/>
                  <a:satMod val="130000"/>
                </a:srgbClr>
              </a:gs>
              <a:gs pos="100000">
                <a:srgbClr val="4BACC6">
                  <a:shade val="94000"/>
                  <a:satMod val="135000"/>
                </a:srgbClr>
              </a:gs>
            </a:gsLst>
            <a:lin ang="16200000" scaled="0"/>
          </a:gradFill>
          <a:ln>
            <a:noFill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p:spPr>
        <p:txBody>
          <a:bodyPr anchor="ctr">
            <a:normAutofit fontScale="97500" lnSpcReduction="1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Way Forward</a:t>
            </a:r>
          </a:p>
        </p:txBody>
      </p:sp>
      <p:sp>
        <p:nvSpPr>
          <p:cNvPr id="92165" name="Rectangle 2">
            <a:extLst>
              <a:ext uri="{FF2B5EF4-FFF2-40B4-BE49-F238E27FC236}">
                <a16:creationId xmlns:a16="http://schemas.microsoft.com/office/drawing/2014/main" id="{8F31233D-9364-422E-9C44-2BB411138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219200"/>
            <a:ext cx="88392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514350" indent="-5143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buFontTx/>
              <a:buAutoNum type="arabicPeriod"/>
            </a:pPr>
            <a:r>
              <a:rPr lang="en-US" altLang="en-US" sz="2000" dirty="0"/>
              <a:t>All vacant post of doctors and nurses to be filled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Ambulances to be replaced.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Improved X-Ray, Ultrasonogram and Pathological instruments.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Renovation and reconstruction of the hospital building is necessary. </a:t>
            </a:r>
          </a:p>
          <a:p>
            <a:pPr algn="just">
              <a:buFont typeface="Arial" panose="020B0604020202020204" pitchFamily="34" charset="0"/>
              <a:buAutoNum type="arabicPeriod"/>
            </a:pPr>
            <a:endParaRPr lang="en-US" altLang="en-US" sz="2000" dirty="0"/>
          </a:p>
          <a:p>
            <a:pPr algn="just">
              <a:buFontTx/>
              <a:buAutoNum type="arabicPeriod"/>
            </a:pPr>
            <a:r>
              <a:rPr lang="en-US" altLang="en-US" sz="2000" dirty="0"/>
              <a:t>The construction of 250 bedded hospital should be completed.</a:t>
            </a:r>
          </a:p>
          <a:p>
            <a:pPr algn="just">
              <a:buFontTx/>
              <a:buAutoNum type="arabicPeriod"/>
            </a:pPr>
            <a:endParaRPr lang="en-US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084078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 descr="Sunset"/>
          <p:cNvSpPr>
            <a:spLocks noGrp="1" noChangeArrowheads="1"/>
          </p:cNvSpPr>
          <p:nvPr>
            <p:ph type="body" idx="4294967295"/>
          </p:nvPr>
        </p:nvSpPr>
        <p:spPr>
          <a:xfrm>
            <a:off x="-32982" y="0"/>
            <a:ext cx="9144000" cy="6858000"/>
          </a:xfrm>
          <a:blipFill dpi="0" rotWithShape="1">
            <a:blip r:embed="rId3"/>
            <a:srcRect/>
            <a:stretch>
              <a:fillRect/>
            </a:stretch>
          </a:blip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  <a:p>
            <a:pPr marL="0" indent="0" algn="ctr" eaLnBrk="1" hangingPunct="1">
              <a:spcBef>
                <a:spcPct val="0"/>
              </a:spcBef>
              <a:buNone/>
              <a:defRPr/>
            </a:pPr>
            <a:r>
              <a:rPr lang="en-US" sz="44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  <a:latin typeface="Albertus Extra Bold"/>
              </a:rPr>
              <a:t>Thank You</a:t>
            </a:r>
          </a:p>
          <a:p>
            <a:endParaRPr lang="en-US" sz="4400" dirty="0"/>
          </a:p>
          <a:p>
            <a:pPr algn="ctr" eaLnBrk="1" hangingPunct="1">
              <a:buFontTx/>
              <a:buNone/>
              <a:defRPr/>
            </a:pPr>
            <a:endParaRPr lang="en-US" sz="44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  <a:latin typeface="Albertus Extra Bold"/>
            </a:endParaRPr>
          </a:p>
        </p:txBody>
      </p:sp>
    </p:spTree>
    <p:extLst>
      <p:ext uri="{BB962C8B-B14F-4D97-AF65-F5344CB8AC3E}">
        <p14:creationId xmlns:p14="http://schemas.microsoft.com/office/powerpoint/2010/main" val="28583004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Couture</Template>
  <TotalTime>4843</TotalTime>
  <Words>444</Words>
  <Application>Microsoft Office PowerPoint</Application>
  <PresentationFormat>On-screen Show (4:3)</PresentationFormat>
  <Paragraphs>193</Paragraphs>
  <Slides>20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Albertus Extra Bold</vt:lpstr>
      <vt:lpstr>Arial</vt:lpstr>
      <vt:lpstr>Calibri</vt:lpstr>
      <vt:lpstr>Courier New</vt:lpstr>
      <vt:lpstr>Times New Roman</vt:lpstr>
      <vt:lpstr>Office Theme</vt:lpstr>
      <vt:lpstr>Jhenaidah Sadar Hospital Model Devloped by Local Initiative.</vt:lpstr>
      <vt:lpstr>PowerPoint Presentation</vt:lpstr>
      <vt:lpstr>A District level Women-Friendly Hospital with a Vision …</vt:lpstr>
      <vt:lpstr>PowerPoint Presentation</vt:lpstr>
      <vt:lpstr>PowerPoint Presentation</vt:lpstr>
      <vt:lpstr>PowerPoint Presentation</vt:lpstr>
      <vt:lpstr>Emergency &amp; Out Door, Indoor  Service 1998 to 2017</vt:lpstr>
      <vt:lpstr>3 best performing EmOC Hospital in Khulna division - 2017</vt:lpstr>
      <vt:lpstr>Operation Service (Major) 2011 to 2019</vt:lpstr>
      <vt:lpstr>PowerPoint Presentation</vt:lpstr>
      <vt:lpstr>Changes in EOC Ward</vt:lpstr>
      <vt:lpstr>Changes in Gardens of The Hospital</vt:lpstr>
      <vt:lpstr>PowerPoint Presentation</vt:lpstr>
      <vt:lpstr>PowerPoint Presentation</vt:lpstr>
      <vt:lpstr>PowerPoint Presentation</vt:lpstr>
      <vt:lpstr>Sadar Hospital, Jhenaidah</vt:lpstr>
      <vt:lpstr>PowerPoint Presentation</vt:lpstr>
      <vt:lpstr>PowerPoint Presentation</vt:lpstr>
      <vt:lpstr>PowerPoint Presentation</vt:lpstr>
      <vt:lpstr>PowerPoint Presentation</vt:lpstr>
    </vt:vector>
  </TitlesOfParts>
  <Company>UNICEF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and good practice of Quality Improvement through 5S-CQI-TQM approach</dc:title>
  <dc:creator>Emdad</dc:creator>
  <cp:lastModifiedBy>MD EMDADUL HAQUE</cp:lastModifiedBy>
  <cp:revision>636</cp:revision>
  <cp:lastPrinted>2017-03-18T23:47:54Z</cp:lastPrinted>
  <dcterms:created xsi:type="dcterms:W3CDTF">2013-05-05T09:56:19Z</dcterms:created>
  <dcterms:modified xsi:type="dcterms:W3CDTF">2022-12-27T16:14:11Z</dcterms:modified>
</cp:coreProperties>
</file>