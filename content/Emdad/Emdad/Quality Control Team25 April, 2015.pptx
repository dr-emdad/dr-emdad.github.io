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4136" r:id="rId2"/>
    <p:sldMasterId id="2147484216" r:id="rId3"/>
    <p:sldMasterId id="2147484229" r:id="rId4"/>
    <p:sldMasterId id="2147484242" r:id="rId5"/>
  </p:sldMasterIdLst>
  <p:notesMasterIdLst>
    <p:notesMasterId r:id="rId42"/>
  </p:notesMasterIdLst>
  <p:handoutMasterIdLst>
    <p:handoutMasterId r:id="rId43"/>
  </p:handoutMasterIdLst>
  <p:sldIdLst>
    <p:sldId id="446" r:id="rId6"/>
    <p:sldId id="465" r:id="rId7"/>
    <p:sldId id="433" r:id="rId8"/>
    <p:sldId id="415" r:id="rId9"/>
    <p:sldId id="463" r:id="rId10"/>
    <p:sldId id="464" r:id="rId11"/>
    <p:sldId id="473" r:id="rId12"/>
    <p:sldId id="461" r:id="rId13"/>
    <p:sldId id="468" r:id="rId14"/>
    <p:sldId id="471" r:id="rId15"/>
    <p:sldId id="447" r:id="rId16"/>
    <p:sldId id="442" r:id="rId17"/>
    <p:sldId id="421" r:id="rId18"/>
    <p:sldId id="432" r:id="rId19"/>
    <p:sldId id="457" r:id="rId20"/>
    <p:sldId id="458" r:id="rId21"/>
    <p:sldId id="456" r:id="rId22"/>
    <p:sldId id="460" r:id="rId23"/>
    <p:sldId id="383" r:id="rId24"/>
    <p:sldId id="474" r:id="rId25"/>
    <p:sldId id="396" r:id="rId26"/>
    <p:sldId id="397" r:id="rId27"/>
    <p:sldId id="399" r:id="rId28"/>
    <p:sldId id="408" r:id="rId29"/>
    <p:sldId id="401" r:id="rId30"/>
    <p:sldId id="400" r:id="rId31"/>
    <p:sldId id="413" r:id="rId32"/>
    <p:sldId id="404" r:id="rId33"/>
    <p:sldId id="482" r:id="rId34"/>
    <p:sldId id="483" r:id="rId35"/>
    <p:sldId id="484" r:id="rId36"/>
    <p:sldId id="469" r:id="rId37"/>
    <p:sldId id="470" r:id="rId38"/>
    <p:sldId id="480" r:id="rId39"/>
    <p:sldId id="481" r:id="rId40"/>
    <p:sldId id="479" r:id="rId41"/>
  </p:sldIdLst>
  <p:sldSz cx="9144000" cy="6858000" type="screen4x3"/>
  <p:notesSz cx="7077075" cy="90281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65BF"/>
    <a:srgbClr val="99FF66"/>
    <a:srgbClr val="006600"/>
    <a:srgbClr val="FF99CC"/>
    <a:srgbClr val="99FF33"/>
    <a:srgbClr val="FF9966"/>
    <a:srgbClr val="FFFF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72" autoAdjust="0"/>
    <p:restoredTop sz="95332" autoAdjust="0"/>
  </p:normalViewPr>
  <p:slideViewPr>
    <p:cSldViewPr>
      <p:cViewPr>
        <p:scale>
          <a:sx n="69" d="100"/>
          <a:sy n="69" d="100"/>
        </p:scale>
        <p:origin x="-1386" y="-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03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1734" y="-78"/>
      </p:cViewPr>
      <p:guideLst>
        <p:guide orient="horz" pos="2843"/>
        <p:guide pos="222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Sheet1!$A$2:$A$3</c:f>
              <c:numCache>
                <c:formatCode>General</c:formatCode>
                <c:ptCount val="2"/>
                <c:pt idx="0">
                  <c:v>2013</c:v>
                </c:pt>
                <c:pt idx="1">
                  <c:v>2014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7467682.5</c:v>
                </c:pt>
                <c:pt idx="1">
                  <c:v>9179279.5</c:v>
                </c:pt>
              </c:numCache>
            </c:numRef>
          </c:val>
        </c:ser>
        <c:ser>
          <c:idx val="2"/>
          <c:order val="1"/>
          <c:tx>
            <c:strRef>
              <c:f>Sheet1!$D$1</c:f>
              <c:strCache>
                <c:ptCount val="1"/>
              </c:strCache>
            </c:strRef>
          </c:tx>
          <c:invertIfNegative val="0"/>
          <c:cat>
            <c:numRef>
              <c:f>Sheet1!$A$2:$A$3</c:f>
              <c:numCache>
                <c:formatCode>General</c:formatCode>
                <c:ptCount val="2"/>
                <c:pt idx="0">
                  <c:v>2013</c:v>
                </c:pt>
                <c:pt idx="1">
                  <c:v>2014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34723072"/>
        <c:axId val="134724608"/>
        <c:axId val="0"/>
      </c:bar3DChart>
      <c:catAx>
        <c:axId val="134723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34724608"/>
        <c:crosses val="autoZero"/>
        <c:auto val="1"/>
        <c:lblAlgn val="ctr"/>
        <c:lblOffset val="100"/>
        <c:noMultiLvlLbl val="0"/>
      </c:catAx>
      <c:valAx>
        <c:axId val="1347246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34723072"/>
        <c:crosses val="autoZero"/>
        <c:crossBetween val="between"/>
      </c:valAx>
      <c:spPr>
        <a:noFill/>
        <a:ln w="25392">
          <a:noFill/>
        </a:ln>
      </c:spPr>
    </c:plotArea>
    <c:plotVisOnly val="1"/>
    <c:dispBlanksAs val="gap"/>
    <c:showDLblsOverMax val="0"/>
  </c:chart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050" cy="4508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438" y="0"/>
            <a:ext cx="3067050" cy="4508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85B8E40-4BCF-49AC-BDC1-C77296EA0246}" type="datetimeFigureOut">
              <a:rPr lang="en-US"/>
              <a:pPr>
                <a:defRPr/>
              </a:pPr>
              <a:t>12/1/2018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575675"/>
            <a:ext cx="3067050" cy="4508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438" y="8575675"/>
            <a:ext cx="3067050" cy="4508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7FF0CE1-8FBD-4EDE-BA16-8BEA899EF8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933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67050" cy="45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08438" y="0"/>
            <a:ext cx="3067050" cy="45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81113" y="676275"/>
            <a:ext cx="4514850" cy="33861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287838"/>
            <a:ext cx="5661025" cy="406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575675"/>
            <a:ext cx="3067050" cy="45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08438" y="8575675"/>
            <a:ext cx="3067050" cy="45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51E431F-B535-487B-85B5-BFD3010F8B6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3037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1" lang="ja-JP" altLang="en-US" smtClean="0"/>
          </a:p>
        </p:txBody>
      </p:sp>
      <p:sp>
        <p:nvSpPr>
          <p:cNvPr id="75780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4B5F9258-A407-43B3-B837-7E21D403F8A2}" type="slidenum">
              <a:rPr lang="en-US" smtClean="0">
                <a:solidFill>
                  <a:srgbClr val="000000"/>
                </a:solidFill>
                <a:latin typeface="Calibri" pitchFamily="34" charset="0"/>
              </a:rPr>
              <a:pPr/>
              <a:t>9</a:t>
            </a:fld>
            <a:endParaRPr lang="en-US" smtClean="0">
              <a:solidFill>
                <a:srgbClr val="000000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1" lang="ja-JP" altLang="en-US" smtClean="0"/>
          </a:p>
        </p:txBody>
      </p:sp>
      <p:sp>
        <p:nvSpPr>
          <p:cNvPr id="76804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CC226746-45F1-4FA1-800C-19401C3D40E9}" type="slidenum">
              <a:rPr lang="en-US" smtClean="0">
                <a:solidFill>
                  <a:srgbClr val="000000"/>
                </a:solidFill>
                <a:latin typeface="Calibri" pitchFamily="34" charset="0"/>
              </a:rPr>
              <a:pPr/>
              <a:t>10</a:t>
            </a:fld>
            <a:endParaRPr lang="en-US" smtClean="0">
              <a:solidFill>
                <a:srgbClr val="000000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E3EBECA5-5317-463B-A435-B6BD4A217301}" type="slidenum">
              <a:rPr lang="en-US" smtClean="0">
                <a:solidFill>
                  <a:srgbClr val="000000"/>
                </a:solidFill>
              </a:rPr>
              <a:pPr/>
              <a:t>20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 txBox="1">
            <a:spLocks noGrp="1" noChangeArrowheads="1"/>
          </p:cNvSpPr>
          <p:nvPr/>
        </p:nvSpPr>
        <p:spPr bwMode="auto">
          <a:xfrm>
            <a:off x="4008438" y="8575675"/>
            <a:ext cx="30670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7D2F6527-8EB9-4497-A9D4-CE9218D33B17}" type="slidenum">
              <a:rPr lang="en-US" sz="1200"/>
              <a:pPr algn="r" eaLnBrk="1" hangingPunct="1"/>
              <a:t>28</a:t>
            </a:fld>
            <a:endParaRPr lang="en-US" sz="120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71A42A-2C6A-4354-AB06-96F15A4A699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972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76453B-D403-4EAC-BB60-D5CFC0DD4A5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95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9FA9C6-01E5-4FD9-956F-ECA190DEEB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48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46B1D7-3556-4D60-B127-060F85A79C9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46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85800C-5F82-4665-A61B-B9390C52CC8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990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47415-D555-49C0-A1EC-87556C5E9CE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552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0BAA9-1D5B-40F5-AA12-D7F31BA341B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697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92C372-7950-428D-9B4E-484FB3AC5D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05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5AA6F6-605B-4A71-B64F-1A81B403708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656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B9CB7-2135-466A-BC64-7D2769F5ED8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49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B61349-6B4E-4594-A05A-E2E1B3ED7A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049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062967-2E6D-4D88-A402-3F5788D216D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37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2E2C3278-6673-4E36-BCA0-95EC47CFE5FA}" type="datetimeFigureOut">
              <a:rPr lang="en-US"/>
              <a:pPr>
                <a:defRPr/>
              </a:pPr>
              <a:t>12/1/2018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893D107-7011-41C6-B0F3-19259E92DB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76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306F99C5-68E8-4924-8E1C-084ECCDC8EDF}" type="datetimeFigureOut">
              <a:rPr lang="en-US"/>
              <a:pPr>
                <a:defRPr/>
              </a:pPr>
              <a:t>12/1/2018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279C8F92-B712-43F1-AD6B-4B26F28860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938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A72F7D3-1829-4883-8F40-1B2C7BBE289F}" type="datetimeFigureOut">
              <a:rPr lang="en-US"/>
              <a:pPr>
                <a:defRPr/>
              </a:pPr>
              <a:t>12/1/2018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2C2B69D-B33B-4B45-AB33-C90142D25B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793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A8C64F39-FC9E-4BDC-95BF-0C202E5976EA}" type="datetimeFigureOut">
              <a:rPr lang="en-US"/>
              <a:pPr>
                <a:defRPr/>
              </a:pPr>
              <a:t>12/1/2018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90D7A93-A09C-44A1-93B4-5AC9C40B7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4267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6F2BA66-FDE0-4579-B745-AB29D283B3A8}" type="datetimeFigureOut">
              <a:rPr lang="en-US"/>
              <a:pPr>
                <a:defRPr/>
              </a:pPr>
              <a:t>12/1/2018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DB7B326-7313-44DE-90F7-BD2E35AA30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777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A2F92773-CCE7-49B5-ACEA-6F47828C76AE}" type="datetimeFigureOut">
              <a:rPr lang="en-US"/>
              <a:pPr>
                <a:defRPr/>
              </a:pPr>
              <a:t>12/1/2018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8F1B928-5872-45D5-9B05-6E2892F6FE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224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979FF644-58C0-4AF7-9105-4E740573A028}" type="datetimeFigureOut">
              <a:rPr lang="en-US"/>
              <a:pPr>
                <a:defRPr/>
              </a:pPr>
              <a:t>12/1/2018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9E53640-B6BD-477C-B823-92897B1C28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3442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5A0D2E1-2E2D-4170-B33C-13ECE10657C5}" type="datetimeFigureOut">
              <a:rPr lang="en-US"/>
              <a:pPr>
                <a:defRPr/>
              </a:pPr>
              <a:t>12/1/2018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530DEFCD-B50A-45D4-9707-2A658CC2A6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066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3E0D014D-9E23-4948-B108-77CE03550FDB}" type="datetimeFigureOut">
              <a:rPr lang="en-US"/>
              <a:pPr>
                <a:defRPr/>
              </a:pPr>
              <a:t>12/1/2018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945D010-ABEF-41C0-BB7F-9E14BC7D64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2501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F594BF1-7CFC-4DA8-A28C-B774F27F1669}" type="datetimeFigureOut">
              <a:rPr lang="en-US"/>
              <a:pPr>
                <a:defRPr/>
              </a:pPr>
              <a:t>12/1/2018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AD0B3458-DE17-4371-ACD9-9C4EA8FD46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9003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E1972FB-5EC5-4265-A104-108C5DA6E659}" type="datetimeFigureOut">
              <a:rPr lang="en-US"/>
              <a:pPr>
                <a:defRPr/>
              </a:pPr>
              <a:t>12/1/2018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7443D5C-42A5-4250-9533-2C477C2CF5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28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B986AE-5135-43AB-82A4-F346521C513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3228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3441B2-1E03-423B-B758-993B0748DDD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2145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AECC8B-CC2D-4556-A0B6-02C737C31D8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6132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88062B-D570-491E-AC04-7AB49585F43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3534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47214-25F2-4011-B71C-94E8CCA8717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2093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6096DA-5C4B-4BD5-A3F5-B279E15187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6745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7C51F7-0879-4480-972F-367DA049A8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0455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74805-CAB8-452A-BEC3-73573FA5FFA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1810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0B67F9-9A1E-4536-ADCC-ABDE6FB1FB1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0318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3E2580-103C-4CD9-84AF-DD0095876C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8278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F0CC1A-779E-4650-827B-E58EF64BE5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5785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DD8C1-6662-4327-9DB2-AED21B6C8E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2766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5C07C4-9D47-4DC2-A009-B9BE6B451A8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1819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58EE23-FB11-435F-BA21-8FC9B54CD2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7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D38060-85D3-45B6-97CA-5A72A36D87D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4959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5F9C0-3BAF-43AF-B7B7-0F730F1F1F8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2398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FB440-151F-4C2E-BA78-D80C4210DC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5561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76DD1-B56D-4288-8A73-DE8250D0809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6131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A7E681-FE89-4E64-A733-BBC907EDAC9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09338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E69CA2-0B55-4FD2-AC01-272CFB59C27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6742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984431-FD1A-454D-B9F2-76DD11F35E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7438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8FC238-7DDD-4A48-BEC2-E8BEDC3141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6439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213563-6FA8-4944-B107-E436FD976F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47296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E64862-B2B7-4DD6-8CC5-4CE741E0260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8553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2508B92-9F7E-42DC-AD07-8CBDE797C81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8469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D7AD61E-9A81-45DF-9EC4-89C0C859AE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51186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90E1DF3-544B-4F54-8327-6AEC1C561F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012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DD48FCA-D114-4A08-9738-AB44A0D5700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52325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A3BC224-3BE7-4D9F-A3A3-383D9F6315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82727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0FE4E5A-DDB9-4229-ADBB-73D14A059C7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30277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C5A8652-F9AD-4FBC-BA5F-AF05D199B9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2370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F749B5A-416C-4502-8BD5-1442D3F3835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06560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D08C117-E4A5-4D0D-8893-3E6E592CE7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27610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0987F3D-A30D-43A6-8CAE-FB9FBAC9575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4640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ED65E43-A72D-4131-8276-F74120887B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87343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9A82B8D-9C33-49E7-A6A4-68DC9D1C766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28341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2B3232E-584E-48BF-A5A2-9AE34F7C9F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3063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6837A3A-2585-49E1-A177-95C23C6F3E7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89096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BC70DF3A-9C5A-4B9C-9FA1-11F2215F7AA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8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1C4E4354-82E1-4C7C-9EB9-D8F8CE03E66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48" r:id="rId1"/>
    <p:sldLayoutId id="2147484549" r:id="rId2"/>
    <p:sldLayoutId id="2147484550" r:id="rId3"/>
    <p:sldLayoutId id="2147484551" r:id="rId4"/>
    <p:sldLayoutId id="2147484552" r:id="rId5"/>
    <p:sldLayoutId id="2147484553" r:id="rId6"/>
    <p:sldLayoutId id="2147484554" r:id="rId7"/>
    <p:sldLayoutId id="2147484555" r:id="rId8"/>
    <p:sldLayoutId id="2147484556" r:id="rId9"/>
    <p:sldLayoutId id="2147484557" r:id="rId10"/>
    <p:sldLayoutId id="2147484558" r:id="rId11"/>
    <p:sldLayoutId id="2147484559" r:id="rId1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fld id="{5DCA49F3-5EE5-4A2A-8588-49923A8878EA}" type="datetimeFigureOut">
              <a:rPr lang="en-US"/>
              <a:pPr>
                <a:defRPr/>
              </a:pPr>
              <a:t>12/1/2018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fld id="{9582FE6B-F1BD-475B-907C-2589CC9036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84" r:id="rId1"/>
    <p:sldLayoutId id="2147484585" r:id="rId2"/>
    <p:sldLayoutId id="2147484586" r:id="rId3"/>
    <p:sldLayoutId id="2147484587" r:id="rId4"/>
    <p:sldLayoutId id="2147484588" r:id="rId5"/>
    <p:sldLayoutId id="2147484589" r:id="rId6"/>
    <p:sldLayoutId id="2147484590" r:id="rId7"/>
    <p:sldLayoutId id="2147484591" r:id="rId8"/>
    <p:sldLayoutId id="2147484592" r:id="rId9"/>
    <p:sldLayoutId id="2147484593" r:id="rId10"/>
    <p:sldLayoutId id="214748459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7CF81088-82D2-4966-8512-F9AEF1111BE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60" r:id="rId1"/>
    <p:sldLayoutId id="2147484561" r:id="rId2"/>
    <p:sldLayoutId id="2147484562" r:id="rId3"/>
    <p:sldLayoutId id="2147484563" r:id="rId4"/>
    <p:sldLayoutId id="2147484564" r:id="rId5"/>
    <p:sldLayoutId id="2147484565" r:id="rId6"/>
    <p:sldLayoutId id="2147484566" r:id="rId7"/>
    <p:sldLayoutId id="2147484567" r:id="rId8"/>
    <p:sldLayoutId id="2147484568" r:id="rId9"/>
    <p:sldLayoutId id="2147484569" r:id="rId10"/>
    <p:sldLayoutId id="2147484570" r:id="rId11"/>
    <p:sldLayoutId id="214748457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62A43E20-8E08-4E06-8BA0-796D370F9C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72" r:id="rId1"/>
    <p:sldLayoutId id="2147484573" r:id="rId2"/>
    <p:sldLayoutId id="2147484574" r:id="rId3"/>
    <p:sldLayoutId id="2147484575" r:id="rId4"/>
    <p:sldLayoutId id="2147484576" r:id="rId5"/>
    <p:sldLayoutId id="2147484577" r:id="rId6"/>
    <p:sldLayoutId id="2147484578" r:id="rId7"/>
    <p:sldLayoutId id="2147484579" r:id="rId8"/>
    <p:sldLayoutId id="2147484580" r:id="rId9"/>
    <p:sldLayoutId id="2147484581" r:id="rId10"/>
    <p:sldLayoutId id="2147484582" r:id="rId11"/>
    <p:sldLayoutId id="2147484583" r:id="rId1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D5F37D76-C80D-4DD1-BBAC-885CC4C8A05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95" r:id="rId1"/>
    <p:sldLayoutId id="2147484596" r:id="rId2"/>
    <p:sldLayoutId id="2147484597" r:id="rId3"/>
    <p:sldLayoutId id="2147484598" r:id="rId4"/>
    <p:sldLayoutId id="2147484599" r:id="rId5"/>
    <p:sldLayoutId id="2147484600" r:id="rId6"/>
    <p:sldLayoutId id="2147484601" r:id="rId7"/>
    <p:sldLayoutId id="2147484602" r:id="rId8"/>
    <p:sldLayoutId id="2147484603" r:id="rId9"/>
    <p:sldLayoutId id="2147484604" r:id="rId10"/>
    <p:sldLayoutId id="2147484605" r:id="rId11"/>
    <p:sldLayoutId id="2147484606" r:id="rId12"/>
    <p:sldLayoutId id="2147484607" r:id="rId13"/>
    <p:sldLayoutId id="2147484608" r:id="rId14"/>
    <p:sldLayoutId id="2147484609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5" descr="DSC0230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14"/>
          <a:stretch>
            <a:fillRect/>
          </a:stretch>
        </p:blipFill>
        <p:spPr bwMode="auto">
          <a:xfrm>
            <a:off x="889000" y="1581150"/>
            <a:ext cx="7646988" cy="474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>
              <a:solidFill>
                <a:srgbClr val="CC00FF"/>
              </a:solidFill>
            </a:endParaRPr>
          </a:p>
        </p:txBody>
      </p:sp>
      <p:pic>
        <p:nvPicPr>
          <p:cNvPr id="32772" name="Picture 6" descr="D:\Design &amp; Format\Design\Logos\Image Files\Logo_GoB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7475" y="66675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3" name="Rectangle 2"/>
          <p:cNvSpPr>
            <a:spLocks noChangeArrowheads="1"/>
          </p:cNvSpPr>
          <p:nvPr/>
        </p:nvSpPr>
        <p:spPr bwMode="auto">
          <a:xfrm>
            <a:off x="-720725" y="1020763"/>
            <a:ext cx="1021080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3200" b="1">
                <a:solidFill>
                  <a:srgbClr val="006600"/>
                </a:solidFill>
              </a:rPr>
              <a:t>SADAR HOSPITAL, JHENAIDAH</a:t>
            </a:r>
            <a:r>
              <a:rPr lang="en-US" sz="4000" b="1">
                <a:solidFill>
                  <a:srgbClr val="CC00FF"/>
                </a:solidFill>
              </a:rPr>
              <a:t/>
            </a:r>
            <a:br>
              <a:rPr lang="en-US" sz="4000" b="1">
                <a:solidFill>
                  <a:srgbClr val="CC00FF"/>
                </a:solidFill>
              </a:rPr>
            </a:br>
            <a:endParaRPr lang="en-US" sz="4000" b="1">
              <a:solidFill>
                <a:srgbClr val="CC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Jhenaidah District Ma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63" y="295275"/>
            <a:ext cx="7467600" cy="592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/>
        </p:nvGraphicFramePr>
        <p:xfrm>
          <a:off x="66675" y="1295400"/>
          <a:ext cx="8894763" cy="4751386"/>
        </p:xfrm>
        <a:graphic>
          <a:graphicData uri="http://schemas.openxmlformats.org/drawingml/2006/table">
            <a:tbl>
              <a:tblPr/>
              <a:tblGrid>
                <a:gridCol w="1093788"/>
                <a:gridCol w="2101850"/>
                <a:gridCol w="1887537"/>
                <a:gridCol w="1876425"/>
                <a:gridCol w="1935163"/>
              </a:tblGrid>
              <a:tr h="8413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SL  NO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Country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Expenditure per year   by  Govt  </a:t>
                      </a: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Calibri" pitchFamily="34" charset="0"/>
                          <a:cs typeface="Times New Roman" pitchFamily="18" charset="0"/>
                        </a:rPr>
                        <a:t> ($)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Population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Population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604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USA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4437 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24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98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31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02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UK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2919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27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101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31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03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Japan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2644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21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31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04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Malaysia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356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33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31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05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Sri Lanka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66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31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06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India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39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31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07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Pakistan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23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26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08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Nepal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31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09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Bangladesh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34886" name="Rectangle 1"/>
          <p:cNvSpPr>
            <a:spLocks noChangeArrowheads="1"/>
          </p:cNvSpPr>
          <p:nvPr/>
        </p:nvSpPr>
        <p:spPr bwMode="auto">
          <a:xfrm>
            <a:off x="152400" y="171450"/>
            <a:ext cx="8820150" cy="10668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sz="3200" b="1">
                <a:solidFill>
                  <a:srgbClr val="006600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800" b="1">
                <a:solidFill>
                  <a:srgbClr val="006600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800">
              <a:solidFill>
                <a:srgbClr val="006600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"/>
          <p:cNvSpPr>
            <a:spLocks noChangeArrowheads="1"/>
          </p:cNvSpPr>
          <p:nvPr/>
        </p:nvSpPr>
        <p:spPr bwMode="auto">
          <a:xfrm>
            <a:off x="457200" y="228600"/>
            <a:ext cx="8229600" cy="5111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2500" b="1"/>
              <a:t>Background History of Jhenaidah Sadar Hospital</a:t>
            </a:r>
          </a:p>
        </p:txBody>
      </p:sp>
      <p:sp>
        <p:nvSpPr>
          <p:cNvPr id="35843" name="Rectangle 2"/>
          <p:cNvSpPr>
            <a:spLocks noChangeArrowheads="1"/>
          </p:cNvSpPr>
          <p:nvPr/>
        </p:nvSpPr>
        <p:spPr bwMode="auto">
          <a:xfrm>
            <a:off x="457200" y="863600"/>
            <a:ext cx="80772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>
              <a:spcBef>
                <a:spcPct val="20000"/>
              </a:spcBef>
            </a:pPr>
            <a:endParaRPr lang="en-US" sz="1600" b="1">
              <a:solidFill>
                <a:srgbClr val="3333CC"/>
              </a:solidFill>
            </a:endParaRPr>
          </a:p>
        </p:txBody>
      </p:sp>
      <p:sp>
        <p:nvSpPr>
          <p:cNvPr id="35844" name="Rectangle 6"/>
          <p:cNvSpPr>
            <a:spLocks noChangeArrowheads="1"/>
          </p:cNvSpPr>
          <p:nvPr/>
        </p:nvSpPr>
        <p:spPr bwMode="auto">
          <a:xfrm>
            <a:off x="457200" y="914400"/>
            <a:ext cx="8229600" cy="5283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742950" lvl="1" indent="-285750">
              <a:spcAft>
                <a:spcPts val="1200"/>
              </a:spcAft>
              <a:buFontTx/>
              <a:buChar char="•"/>
            </a:pPr>
            <a:r>
              <a:rPr lang="en-US" sz="2000" b="1"/>
              <a:t>Jhenaidah Sadar Hospital was established in 1968 as Sub-Division Hospital and became functioning from December 1970.</a:t>
            </a:r>
          </a:p>
          <a:p>
            <a:pPr marL="742950" lvl="1" indent="-285750">
              <a:spcAft>
                <a:spcPts val="1200"/>
              </a:spcAft>
              <a:buFontTx/>
              <a:buChar char="•"/>
            </a:pPr>
            <a:r>
              <a:rPr lang="en-US" sz="2000" b="1"/>
              <a:t> From February 1984 recognized as District Sadar Hospital.</a:t>
            </a:r>
          </a:p>
          <a:p>
            <a:pPr marL="742950" lvl="1" indent="-285750">
              <a:spcAft>
                <a:spcPts val="1200"/>
              </a:spcAft>
              <a:buFontTx/>
              <a:buChar char="•"/>
            </a:pPr>
            <a:r>
              <a:rPr lang="en-US" sz="2000" b="1"/>
              <a:t>In 1994 upgrade to 100 Bedded Hospital without manpower &amp; infrastructure.</a:t>
            </a:r>
          </a:p>
          <a:p>
            <a:pPr marL="742950" lvl="1" indent="-285750">
              <a:spcAft>
                <a:spcPts val="1200"/>
              </a:spcAft>
              <a:buFontTx/>
              <a:buChar char="•"/>
            </a:pPr>
            <a:r>
              <a:rPr lang="en-US" sz="2000" b="1"/>
              <a:t>In May 2005, Infrastructure of 100 Beded Hospital Completed </a:t>
            </a:r>
          </a:p>
          <a:p>
            <a:pPr marL="742950" lvl="1" indent="-285750">
              <a:spcAft>
                <a:spcPts val="1200"/>
              </a:spcAft>
              <a:buFontTx/>
              <a:buChar char="•"/>
            </a:pPr>
            <a:r>
              <a:rPr lang="en-US" sz="2000" b="1"/>
              <a:t>TQM activities started in January 2011 and effectively in May 2012.</a:t>
            </a:r>
          </a:p>
          <a:p>
            <a:pPr marL="742950" lvl="1" indent="-285750">
              <a:spcAft>
                <a:spcPts val="1200"/>
              </a:spcAft>
              <a:buFontTx/>
              <a:buChar char="•"/>
            </a:pPr>
            <a:r>
              <a:rPr lang="en-US" sz="2000" b="1"/>
              <a:t>In 9 February, 2014,  5S KIZEN – TQM program started by DGHS &amp; SMPP JICA.</a:t>
            </a:r>
          </a:p>
          <a:p>
            <a:pPr marL="742950" lvl="1" indent="-285750">
              <a:spcAft>
                <a:spcPts val="1200"/>
              </a:spcAft>
              <a:buFontTx/>
              <a:buChar char="•"/>
            </a:pPr>
            <a:r>
              <a:rPr lang="en-US" sz="2000" b="1"/>
              <a:t>In August 2014  post of hundred bedded manpower has been created but not posted yet.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2000" b="1"/>
              <a:t> </a:t>
            </a:r>
          </a:p>
          <a:p>
            <a:pPr>
              <a:lnSpc>
                <a:spcPct val="150000"/>
              </a:lnSpc>
              <a:spcAft>
                <a:spcPts val="1200"/>
              </a:spcAft>
              <a:buFontTx/>
              <a:buChar char="-"/>
            </a:pPr>
            <a:endParaRPr lang="en-US" sz="1600" b="1"/>
          </a:p>
          <a:p>
            <a:pPr>
              <a:lnSpc>
                <a:spcPct val="150000"/>
              </a:lnSpc>
              <a:spcAft>
                <a:spcPts val="1200"/>
              </a:spcAft>
              <a:buFontTx/>
              <a:buChar char="-"/>
            </a:pPr>
            <a:endParaRPr lang="en-US" sz="16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457200" y="381000"/>
            <a:ext cx="8229600" cy="8255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800" b="1">
                <a:solidFill>
                  <a:srgbClr val="000000"/>
                </a:solidFill>
              </a:rPr>
              <a:t>Sadar Hospital, Jhenidah</a:t>
            </a:r>
          </a:p>
        </p:txBody>
      </p:sp>
      <p:sp>
        <p:nvSpPr>
          <p:cNvPr id="112688" name="Rectangle 48"/>
          <p:cNvSpPr>
            <a:spLocks noChangeArrowheads="1"/>
          </p:cNvSpPr>
          <p:nvPr/>
        </p:nvSpPr>
        <p:spPr bwMode="auto">
          <a:xfrm>
            <a:off x="457200" y="14478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Health, </a:t>
            </a:r>
            <a:r>
              <a:rPr lang="en-US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populaton</a:t>
            </a:r>
            <a:r>
              <a: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and Nutrition Targets for the SFYP</a:t>
            </a:r>
            <a:r>
              <a:rPr 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-1</a:t>
            </a:r>
          </a:p>
        </p:txBody>
      </p:sp>
      <p:graphicFrame>
        <p:nvGraphicFramePr>
          <p:cNvPr id="26706" name="Group 82"/>
          <p:cNvGraphicFramePr>
            <a:graphicFrameLocks noGrp="1"/>
          </p:cNvGraphicFramePr>
          <p:nvPr>
            <p:ph idx="4294967295"/>
          </p:nvPr>
        </p:nvGraphicFramePr>
        <p:xfrm>
          <a:off x="457200" y="2590800"/>
          <a:ext cx="8229600" cy="3844932"/>
        </p:xfrm>
        <a:graphic>
          <a:graphicData uri="http://schemas.openxmlformats.org/drawingml/2006/table">
            <a:tbl>
              <a:tblPr/>
              <a:tblGrid>
                <a:gridCol w="609600"/>
                <a:gridCol w="4419600"/>
                <a:gridCol w="1905000"/>
                <a:gridCol w="1295400"/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 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Indicators 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Base value with year 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FY 2015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Impact / Outcome 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Life  Expectancy 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66.6 ( SVRS 2007) 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70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Population  Growth Rate 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1.40 ( SVRS 2007) 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1.3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Maternal mortality Ratio (MMR ) per 100000 live births 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194 ( BMMS2010) 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143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Neonatal Mortality Rate ( per 1000 live births) 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37 ( BDHS  2007 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27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5.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Infant Mortality Rate ( per 1000 live births ) 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52 ( BDHS  2007)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6.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Under 5 mortality Rate ( per 1000 live births) 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65( BDHS  2007)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7.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Malaria mortality ( per 100000 population ) 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4.4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8.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Maintain low prevalence of HIV 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&lt;1%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&lt;1%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9.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Prevalence of Night blindness among pregnant women 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2.90%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1%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10.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Underweight of Under 5 children 16-59 months ) 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41%( BDHS  2007)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33%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Stunting of under 5 children (16-59 months) 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43%( BDHS  2007)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25%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12.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 fertility rate ( TFR) 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2.7( BDHS  2007)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457200" y="152400"/>
            <a:ext cx="8229600" cy="8255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800" b="1">
                <a:solidFill>
                  <a:srgbClr val="000000"/>
                </a:solidFill>
              </a:rPr>
              <a:t>Sadar Hospital, Jhenidah</a:t>
            </a:r>
          </a:p>
        </p:txBody>
      </p:sp>
      <p:sp>
        <p:nvSpPr>
          <p:cNvPr id="112688" name="Rectangle 48"/>
          <p:cNvSpPr>
            <a:spLocks noChangeArrowheads="1"/>
          </p:cNvSpPr>
          <p:nvPr/>
        </p:nvSpPr>
        <p:spPr bwMode="auto">
          <a:xfrm>
            <a:off x="457200" y="10668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Health, populaton and Nutrition Targets for the SFYP</a:t>
            </a:r>
            <a:r>
              <a:rPr 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-2</a:t>
            </a:r>
          </a:p>
        </p:txBody>
      </p:sp>
      <p:graphicFrame>
        <p:nvGraphicFramePr>
          <p:cNvPr id="27760" name="Group 112"/>
          <p:cNvGraphicFramePr>
            <a:graphicFrameLocks noGrp="1"/>
          </p:cNvGraphicFramePr>
          <p:nvPr>
            <p:ph idx="4294967295"/>
          </p:nvPr>
        </p:nvGraphicFramePr>
        <p:xfrm>
          <a:off x="457200" y="1771650"/>
          <a:ext cx="8229600" cy="4949826"/>
        </p:xfrm>
        <a:graphic>
          <a:graphicData uri="http://schemas.openxmlformats.org/drawingml/2006/table">
            <a:tbl>
              <a:tblPr/>
              <a:tblGrid>
                <a:gridCol w="609600"/>
                <a:gridCol w="4419600"/>
                <a:gridCol w="1905000"/>
                <a:gridCol w="1295400"/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 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Indicators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Base value with year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FY 2015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Output 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13.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Contaceptive prevalence Rate ( CRP )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55% ( BDHS 2007)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74%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14.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Permanent &amp; Long acting FP ( of CPR )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7.3% ( BDHS 2007)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20%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15.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TB case detection rate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73% (NTP  2008)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75%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TB cure rate from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92% ( NTP  2008)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95%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17.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Births attended by skilled health personnel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26.5% ( UESD 2010)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50%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18.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Facility level delivery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15% ( BDHS 2007)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40%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19.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coverage ( 4 visits )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20.6% ( BDHS 2007)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50%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20.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PNC coverage ( Mother )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21.3( BDHS 2007)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50%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PNC coverage ( children )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21.9% ( BDHS 2007)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50%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22.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Met need for EOC services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22.43% ( BDHS 2007)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80%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23.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TT coverage ( Children Protected at birth from tetanus )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93%(CES 2008)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95%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24.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Valid coverage of full  immunized children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75.2% (CES 2008)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90%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25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Immunization of 1 year old children against Measles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83%(CES.2008)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90%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VAC coverage ( 6m -6y)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98%-100%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98%-100%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27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Postnatal VAC supplementation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29%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80%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28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Severe anemia ( Children )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64%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50%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29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Severe anemia ( Pregnant women )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46%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40%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30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Exclusive breast feeding of children ( less than 6 months)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42%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80%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457200" y="536575"/>
            <a:ext cx="8229600" cy="381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800" b="1">
                <a:solidFill>
                  <a:srgbClr val="000000"/>
                </a:solidFill>
              </a:rPr>
              <a:t>Health Profile of Jhenaidah District- 2014</a:t>
            </a:r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457200" y="1041400"/>
            <a:ext cx="80772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1200" b="1" dirty="0">
                <a:solidFill>
                  <a:srgbClr val="3333CC"/>
                </a:solidFill>
              </a:rPr>
              <a:t>        Total population	             	                     : 1857149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1200" b="1" dirty="0">
                <a:solidFill>
                  <a:srgbClr val="3333CC"/>
                </a:solidFill>
              </a:rPr>
              <a:t>        Total Pregnant	 		: 38074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1200" b="1" dirty="0">
                <a:solidFill>
                  <a:srgbClr val="3333CC"/>
                </a:solidFill>
              </a:rPr>
              <a:t>        Total Live birth			: 36465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1200" b="1" dirty="0">
                <a:solidFill>
                  <a:srgbClr val="3333CC"/>
                </a:solidFill>
              </a:rPr>
              <a:t>        Total Under five children		: 222120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en-US" sz="1200" b="1" dirty="0">
                <a:solidFill>
                  <a:srgbClr val="3333CC"/>
                </a:solidFill>
              </a:rPr>
              <a:t>Total </a:t>
            </a:r>
            <a:r>
              <a:rPr lang="en-US" sz="1200" b="1" dirty="0" err="1">
                <a:solidFill>
                  <a:srgbClr val="3333CC"/>
                </a:solidFill>
              </a:rPr>
              <a:t>Upazila</a:t>
            </a:r>
            <a:r>
              <a:rPr lang="en-US" sz="1200" b="1" dirty="0">
                <a:solidFill>
                  <a:srgbClr val="3333CC"/>
                </a:solidFill>
              </a:rPr>
              <a:t>			: 06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en-US" sz="1200" b="1" dirty="0">
                <a:solidFill>
                  <a:srgbClr val="3333CC"/>
                </a:solidFill>
              </a:rPr>
              <a:t>Total </a:t>
            </a:r>
            <a:r>
              <a:rPr lang="en-US" sz="1200" b="1" dirty="0" err="1">
                <a:solidFill>
                  <a:srgbClr val="3333CC"/>
                </a:solidFill>
              </a:rPr>
              <a:t>Paurasava</a:t>
            </a:r>
            <a:r>
              <a:rPr lang="en-US" sz="1200" b="1" dirty="0">
                <a:solidFill>
                  <a:srgbClr val="3333CC"/>
                </a:solidFill>
              </a:rPr>
              <a:t> 			: 06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en-US" sz="1200" b="1" dirty="0">
                <a:solidFill>
                  <a:srgbClr val="3333CC"/>
                </a:solidFill>
              </a:rPr>
              <a:t>Total Union 			: 67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en-US" sz="1200" b="1" dirty="0">
                <a:solidFill>
                  <a:srgbClr val="3333CC"/>
                </a:solidFill>
              </a:rPr>
              <a:t>Total Village			: 1271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en-US" sz="1400" b="1" dirty="0">
                <a:solidFill>
                  <a:srgbClr val="3333CC"/>
                </a:solidFill>
              </a:rPr>
              <a:t>Govt. Health Institution</a:t>
            </a:r>
            <a:r>
              <a:rPr lang="en-US" sz="1200" b="1" dirty="0">
                <a:solidFill>
                  <a:srgbClr val="3333CC"/>
                </a:solidFill>
              </a:rPr>
              <a:t> 		: 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en-US" sz="1200" b="1" dirty="0" err="1">
                <a:solidFill>
                  <a:srgbClr val="3333CC"/>
                </a:solidFill>
              </a:rPr>
              <a:t>Sadar</a:t>
            </a:r>
            <a:r>
              <a:rPr lang="en-US" sz="1200" b="1" dirty="0">
                <a:solidFill>
                  <a:srgbClr val="3333CC"/>
                </a:solidFill>
              </a:rPr>
              <a:t> Hospital			: 01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en-US" sz="1200" b="1" dirty="0">
                <a:solidFill>
                  <a:srgbClr val="3333CC"/>
                </a:solidFill>
              </a:rPr>
              <a:t>Total Health Complex 		: 05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en-US" sz="1200" b="1" dirty="0">
                <a:solidFill>
                  <a:srgbClr val="3333CC"/>
                </a:solidFill>
              </a:rPr>
              <a:t>Total H&amp;FWC/ RD                (57+13)	: 70 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en-US" sz="1200" b="1" dirty="0">
                <a:solidFill>
                  <a:srgbClr val="3333CC"/>
                </a:solidFill>
              </a:rPr>
              <a:t>Community Clinic 		: 167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en-US" sz="1200" b="1" dirty="0">
                <a:solidFill>
                  <a:srgbClr val="3333CC"/>
                </a:solidFill>
              </a:rPr>
              <a:t>NTC 			: 01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en-US" sz="1200" b="1" dirty="0">
                <a:solidFill>
                  <a:srgbClr val="3333CC"/>
                </a:solidFill>
              </a:rPr>
              <a:t>IHT 				: 01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en-US" sz="1200" b="1" dirty="0">
                <a:solidFill>
                  <a:srgbClr val="3333CC"/>
                </a:solidFill>
              </a:rPr>
              <a:t>MCWC			: 01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en-US" sz="1200" b="1" dirty="0">
                <a:solidFill>
                  <a:srgbClr val="3333CC"/>
                </a:solidFill>
              </a:rPr>
              <a:t>MATS 			: 01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en-US" sz="1200" b="1" dirty="0" err="1">
                <a:solidFill>
                  <a:srgbClr val="3333CC"/>
                </a:solidFill>
              </a:rPr>
              <a:t>Sishu</a:t>
            </a:r>
            <a:r>
              <a:rPr lang="en-US" sz="1200" b="1" dirty="0">
                <a:solidFill>
                  <a:srgbClr val="3333CC"/>
                </a:solidFill>
              </a:rPr>
              <a:t> Hospital 			: 01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en-US" sz="1200" b="1" dirty="0">
                <a:solidFill>
                  <a:srgbClr val="3333CC"/>
                </a:solidFill>
              </a:rPr>
              <a:t>ORS Preparation Plant 		: 01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en-US" sz="1400" b="1" dirty="0">
                <a:solidFill>
                  <a:srgbClr val="3333CC"/>
                </a:solidFill>
              </a:rPr>
              <a:t>Non-Govt. Health Institution</a:t>
            </a:r>
            <a:r>
              <a:rPr lang="en-US" sz="1100" b="1" dirty="0">
                <a:solidFill>
                  <a:srgbClr val="3333CC"/>
                </a:solidFill>
              </a:rPr>
              <a:t>	:</a:t>
            </a:r>
            <a:r>
              <a:rPr lang="en-US" sz="1200" b="1" dirty="0">
                <a:solidFill>
                  <a:srgbClr val="3333CC"/>
                </a:solidFill>
              </a:rPr>
              <a:t> 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en-US" sz="1200" b="1" dirty="0">
                <a:solidFill>
                  <a:srgbClr val="3333CC"/>
                </a:solidFill>
              </a:rPr>
              <a:t>Diabetic Hospital 		: 01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en-US" sz="1200" b="1" dirty="0">
                <a:solidFill>
                  <a:srgbClr val="3333CC"/>
                </a:solidFill>
              </a:rPr>
              <a:t>Eye Hospital 			: 01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en-US" sz="1400" b="1" dirty="0">
                <a:solidFill>
                  <a:srgbClr val="3333CC"/>
                </a:solidFill>
              </a:rPr>
              <a:t>Non-Govt. Clinic (</a:t>
            </a:r>
            <a:r>
              <a:rPr lang="en-US" sz="1400" b="1" dirty="0" err="1">
                <a:solidFill>
                  <a:srgbClr val="3333CC"/>
                </a:solidFill>
              </a:rPr>
              <a:t>Redg</a:t>
            </a:r>
            <a:r>
              <a:rPr lang="en-US" sz="1400" b="1" dirty="0">
                <a:solidFill>
                  <a:srgbClr val="3333CC"/>
                </a:solidFill>
              </a:rPr>
              <a:t>.)		: 114 </a:t>
            </a:r>
          </a:p>
          <a:p>
            <a:pPr marL="609600" indent="-609600">
              <a:spcBef>
                <a:spcPct val="20000"/>
              </a:spcBef>
              <a:defRPr/>
            </a:pPr>
            <a:endParaRPr lang="en-US" sz="1400" b="1" dirty="0">
              <a:solidFill>
                <a:srgbClr val="3333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 smtClean="0"/>
              <a:t>Sadar</a:t>
            </a:r>
            <a:r>
              <a:rPr lang="en-US" dirty="0" smtClean="0"/>
              <a:t> Hospital, </a:t>
            </a:r>
            <a:r>
              <a:rPr lang="en-US" dirty="0" err="1" smtClean="0"/>
              <a:t>Jhenaidah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0850" y="1344613"/>
          <a:ext cx="8229600" cy="5397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2971800"/>
                <a:gridCol w="2057400"/>
                <a:gridCol w="2057400"/>
              </a:tblGrid>
              <a:tr h="504294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Serial</a:t>
                      </a:r>
                      <a:r>
                        <a:rPr lang="en-US" sz="1800" baseline="0" dirty="0" smtClean="0"/>
                        <a:t> No.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Person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Post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Vacant</a:t>
                      </a:r>
                      <a:endParaRPr lang="en-US" sz="1800" dirty="0"/>
                    </a:p>
                  </a:txBody>
                  <a:tcPr marT="45713" marB="45713"/>
                </a:tc>
              </a:tr>
              <a:tr h="365743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01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Doctor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40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25</a:t>
                      </a:r>
                      <a:endParaRPr lang="en-US" sz="1800" dirty="0"/>
                    </a:p>
                  </a:txBody>
                  <a:tcPr marT="45713" marB="45713"/>
                </a:tc>
              </a:tr>
              <a:tr h="365743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02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Nurse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48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02</a:t>
                      </a:r>
                      <a:endParaRPr lang="en-US" sz="1800" dirty="0"/>
                    </a:p>
                  </a:txBody>
                  <a:tcPr marT="45713" marB="45713"/>
                </a:tc>
              </a:tr>
              <a:tr h="504294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Laboratory Technician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02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01</a:t>
                      </a:r>
                      <a:endParaRPr lang="en-US" sz="1800" dirty="0"/>
                    </a:p>
                  </a:txBody>
                  <a:tcPr marT="45713" marB="45713"/>
                </a:tc>
              </a:tr>
              <a:tr h="365743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04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MLSS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 marT="45713" marB="45713"/>
                </a:tc>
              </a:tr>
              <a:tr h="365743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05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Ward</a:t>
                      </a:r>
                      <a:r>
                        <a:rPr lang="en-US" sz="1800" baseline="0" dirty="0" smtClean="0"/>
                        <a:t> boy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T="45713" marB="45713"/>
                </a:tc>
              </a:tr>
              <a:tr h="365743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06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Ayah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T="45713" marB="45713"/>
                </a:tc>
              </a:tr>
              <a:tr h="365743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07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Cleaner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08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01</a:t>
                      </a:r>
                      <a:endParaRPr lang="en-US" sz="1800" dirty="0"/>
                    </a:p>
                  </a:txBody>
                  <a:tcPr marT="45713" marB="45713"/>
                </a:tc>
              </a:tr>
              <a:tr h="365743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08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Guard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T="45713" marB="45713"/>
                </a:tc>
              </a:tr>
              <a:tr h="365743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09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Gardener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01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01</a:t>
                      </a:r>
                      <a:endParaRPr lang="en-US" sz="1800" dirty="0"/>
                    </a:p>
                  </a:txBody>
                  <a:tcPr marT="45713" marB="45713"/>
                </a:tc>
              </a:tr>
              <a:tr h="365743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Electrician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01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01</a:t>
                      </a:r>
                      <a:endParaRPr lang="en-US" sz="1800" dirty="0"/>
                    </a:p>
                  </a:txBody>
                  <a:tcPr marT="45713" marB="45713"/>
                </a:tc>
              </a:tr>
              <a:tr h="365743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Trolley man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00 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00</a:t>
                      </a:r>
                      <a:endParaRPr lang="en-US" sz="1800" dirty="0"/>
                    </a:p>
                  </a:txBody>
                  <a:tcPr marT="45713" marB="45713"/>
                </a:tc>
              </a:tr>
              <a:tr h="365743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Others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T="45713" marB="45713"/>
                </a:tc>
              </a:tr>
              <a:tr h="365743">
                <a:tc>
                  <a:txBody>
                    <a:bodyPr/>
                    <a:lstStyle/>
                    <a:p>
                      <a:pPr algn="l"/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Total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             151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             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dirty="0" smtClean="0"/>
                        <a:t>50</a:t>
                      </a:r>
                      <a:endParaRPr lang="en-US" sz="1800" dirty="0"/>
                    </a:p>
                  </a:txBody>
                  <a:tcPr marT="45713" marB="45713"/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450850" y="735013"/>
            <a:ext cx="82296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kern="0" dirty="0">
                <a:solidFill>
                  <a:prstClr val="black"/>
                </a:solidFill>
              </a:rPr>
              <a:t>Important post of Human Resources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1"/>
          <p:cNvSpPr txBox="1">
            <a:spLocks noChangeArrowheads="1"/>
          </p:cNvSpPr>
          <p:nvPr/>
        </p:nvSpPr>
        <p:spPr bwMode="auto">
          <a:xfrm>
            <a:off x="152400" y="838200"/>
            <a:ext cx="4191000" cy="6019800"/>
          </a:xfrm>
          <a:prstGeom prst="rect">
            <a:avLst/>
          </a:prstGeom>
          <a:solidFill>
            <a:srgbClr val="FFFFFF"/>
          </a:solidFill>
          <a:ln w="38100">
            <a:solidFill>
              <a:srgbClr val="1365BF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spcBef>
                <a:spcPct val="20000"/>
              </a:spcBef>
              <a:defRPr/>
            </a:pPr>
            <a:r>
              <a:rPr lang="en-US" altLang="ja-JP" sz="2400" b="1" u="sng" dirty="0" smtClean="0">
                <a:solidFill>
                  <a:srgbClr val="2D2D8A">
                    <a:lumMod val="75000"/>
                  </a:srgbClr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Before Kaizen Situation </a:t>
            </a:r>
            <a:endParaRPr lang="en-US" altLang="ja-JP" sz="2400" b="1" dirty="0" smtClean="0">
              <a:solidFill>
                <a:srgbClr val="2D2D8A">
                  <a:lumMod val="75000"/>
                </a:srgbClr>
              </a:solidFill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  <a:p>
            <a:pPr marL="547688" indent="-457200">
              <a:buFontTx/>
              <a:buAutoNum type="arabicPeriod"/>
              <a:defRPr/>
            </a:pPr>
            <a:r>
              <a:rPr lang="en-US" sz="2000" dirty="0" smtClean="0">
                <a:solidFill>
                  <a:srgbClr val="2D2D8A">
                    <a:lumMod val="75000"/>
                  </a:srgbClr>
                </a:solidFill>
              </a:rPr>
              <a:t>Inadequate Documentation and Reporting System.</a:t>
            </a:r>
          </a:p>
          <a:p>
            <a:pPr marL="547688" indent="-457200">
              <a:buFontTx/>
              <a:buAutoNum type="arabicPeriod"/>
              <a:defRPr/>
            </a:pPr>
            <a:endParaRPr lang="en-US" sz="2000" dirty="0" smtClean="0">
              <a:solidFill>
                <a:srgbClr val="2D2D8A">
                  <a:lumMod val="75000"/>
                </a:srgbClr>
              </a:solidFill>
            </a:endParaRPr>
          </a:p>
          <a:p>
            <a:pPr>
              <a:defRPr/>
            </a:pPr>
            <a:r>
              <a:rPr lang="en-US" sz="2000" dirty="0" smtClean="0">
                <a:solidFill>
                  <a:srgbClr val="2D2D8A">
                    <a:lumMod val="75000"/>
                  </a:srgbClr>
                </a:solidFill>
              </a:rPr>
              <a:t>2. Inadequate EOC Services.</a:t>
            </a:r>
          </a:p>
          <a:p>
            <a:pPr>
              <a:defRPr/>
            </a:pPr>
            <a:endParaRPr lang="en-US" sz="2000" dirty="0" smtClean="0">
              <a:solidFill>
                <a:srgbClr val="2D2D8A">
                  <a:lumMod val="75000"/>
                </a:srgbClr>
              </a:solidFill>
            </a:endParaRPr>
          </a:p>
          <a:p>
            <a:pPr>
              <a:defRPr/>
            </a:pPr>
            <a:r>
              <a:rPr lang="en-US" sz="2000" dirty="0" smtClean="0">
                <a:solidFill>
                  <a:srgbClr val="2D2D8A">
                    <a:lumMod val="75000"/>
                  </a:srgbClr>
                </a:solidFill>
              </a:rPr>
              <a:t>3. Inadequate Overall Cleanliness.</a:t>
            </a:r>
          </a:p>
          <a:p>
            <a:pPr>
              <a:defRPr/>
            </a:pPr>
            <a:endParaRPr lang="en-US" sz="2000" dirty="0" smtClean="0">
              <a:solidFill>
                <a:srgbClr val="2D2D8A">
                  <a:lumMod val="75000"/>
                </a:srgbClr>
              </a:solidFill>
            </a:endParaRPr>
          </a:p>
          <a:p>
            <a:pPr>
              <a:defRPr/>
            </a:pPr>
            <a:r>
              <a:rPr lang="en-US" sz="2000" dirty="0" smtClean="0">
                <a:solidFill>
                  <a:srgbClr val="2D2D8A">
                    <a:lumMod val="75000"/>
                  </a:srgbClr>
                </a:solidFill>
              </a:rPr>
              <a:t>4. Less Community Participation and No initiative of Local Resource Mobilization for Hospital Improvements (No post of ayah, ward boy, guard, gardener, trolley man and electrician, cleaner is only 7).</a:t>
            </a:r>
          </a:p>
          <a:p>
            <a:pPr>
              <a:defRPr/>
            </a:pPr>
            <a:endParaRPr lang="en-US" sz="2000" dirty="0" smtClean="0">
              <a:solidFill>
                <a:srgbClr val="2D2D8A">
                  <a:lumMod val="75000"/>
                </a:srgbClr>
              </a:solidFill>
            </a:endParaRPr>
          </a:p>
          <a:p>
            <a:pPr>
              <a:defRPr/>
            </a:pPr>
            <a:r>
              <a:rPr lang="en-US" sz="2000" dirty="0" smtClean="0">
                <a:solidFill>
                  <a:srgbClr val="2D2D8A">
                    <a:lumMod val="75000"/>
                  </a:srgbClr>
                </a:solidFill>
              </a:rPr>
              <a:t>5. Less coordination with local administration and community leaders . </a:t>
            </a:r>
          </a:p>
          <a:p>
            <a:pPr>
              <a:defRPr/>
            </a:pPr>
            <a:r>
              <a:rPr lang="en-US" sz="2400" dirty="0" smtClean="0">
                <a:solidFill>
                  <a:srgbClr val="000000"/>
                </a:solidFill>
              </a:rPr>
              <a:t> </a:t>
            </a:r>
            <a:endParaRPr lang="en-US" altLang="ja-JP" sz="2400" b="1" dirty="0" smtClean="0">
              <a:solidFill>
                <a:srgbClr val="002060"/>
              </a:solidFill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5" name="Rectangle 33"/>
          <p:cNvSpPr>
            <a:spLocks noChangeArrowheads="1"/>
          </p:cNvSpPr>
          <p:nvPr/>
        </p:nvSpPr>
        <p:spPr bwMode="auto">
          <a:xfrm>
            <a:off x="4953000" y="838200"/>
            <a:ext cx="4035425" cy="601980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  <a:miter lim="800000"/>
            <a:headEnd/>
            <a:tailEnd/>
          </a:ln>
        </p:spPr>
        <p:txBody>
          <a:bodyPr/>
          <a:lstStyle/>
          <a:p>
            <a:pPr marL="90488" indent="-90488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altLang="ja-JP" sz="24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After Kaizen Situation </a:t>
            </a:r>
            <a:endParaRPr lang="en-US" altLang="ja-JP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en-US" sz="2000" dirty="0">
                <a:solidFill>
                  <a:srgbClr val="C00000"/>
                </a:solidFill>
              </a:rPr>
              <a:t>Improved Documentation and Reporting System</a:t>
            </a: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2. Improved EOC Services</a:t>
            </a: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3. Improved Overall Cleanliness</a:t>
            </a: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4. Significant Community Participation and Effective Local Resources Mobilization for Hospital Improvements (Arrange 51 manpower ayah, ward boy, guard, gardener, trolley man and electrician, cleaner).</a:t>
            </a: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5. Strong coordination with local administration and community leaders </a:t>
            </a:r>
            <a:r>
              <a:rPr lang="en-US" sz="16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40964" name="Line 35"/>
          <p:cNvSpPr>
            <a:spLocks noChangeShapeType="1"/>
          </p:cNvSpPr>
          <p:nvPr/>
        </p:nvSpPr>
        <p:spPr bwMode="auto">
          <a:xfrm>
            <a:off x="4443413" y="3657600"/>
            <a:ext cx="503237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5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altLang="ja-JP" sz="2800" b="1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Jhenaidah Sadar Hospital, Jhenaidah</a:t>
            </a:r>
          </a:p>
          <a:p>
            <a:pPr algn="ctr"/>
            <a:r>
              <a:rPr lang="en-US" altLang="ja-JP" sz="2800" b="1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KAIZEN Works 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1"/>
          <p:cNvSpPr txBox="1">
            <a:spLocks noChangeArrowheads="1"/>
          </p:cNvSpPr>
          <p:nvPr/>
        </p:nvSpPr>
        <p:spPr bwMode="auto">
          <a:xfrm>
            <a:off x="152400" y="914400"/>
            <a:ext cx="4191000" cy="5791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365BF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ja-JP" sz="2400" b="1" u="sng">
                <a:solidFill>
                  <a:srgbClr val="222268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Before Kaizen Situation </a:t>
            </a:r>
            <a:endParaRPr lang="en-US" altLang="ja-JP" sz="2400" b="1">
              <a:solidFill>
                <a:srgbClr val="222268"/>
              </a:solidFill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  <a:p>
            <a:r>
              <a:rPr lang="en-US" sz="1600">
                <a:solidFill>
                  <a:srgbClr val="222268"/>
                </a:solidFill>
                <a:ea typeface="ＭＳ Ｐゴシック" pitchFamily="34" charset="-128"/>
                <a:cs typeface="Times New Roman" pitchFamily="18" charset="0"/>
              </a:rPr>
              <a:t>. </a:t>
            </a:r>
          </a:p>
          <a:p>
            <a:r>
              <a:rPr lang="en-US" sz="2000">
                <a:solidFill>
                  <a:srgbClr val="222268"/>
                </a:solidFill>
                <a:ea typeface="ＭＳ Ｐゴシック" pitchFamily="34" charset="-128"/>
                <a:cs typeface="Times New Roman" pitchFamily="18" charset="0"/>
              </a:rPr>
              <a:t>6</a:t>
            </a:r>
            <a:r>
              <a:rPr lang="en-US" sz="2800">
                <a:solidFill>
                  <a:srgbClr val="222268"/>
                </a:solidFill>
                <a:ea typeface="ＭＳ Ｐゴシック" pitchFamily="34" charset="-128"/>
                <a:cs typeface="Times New Roman" pitchFamily="18" charset="0"/>
              </a:rPr>
              <a:t>. </a:t>
            </a:r>
            <a:r>
              <a:rPr lang="en-US" sz="2000">
                <a:solidFill>
                  <a:srgbClr val="222268"/>
                </a:solidFill>
                <a:ea typeface="ＭＳ Ｐゴシック" pitchFamily="34" charset="-128"/>
                <a:cs typeface="Times New Roman" pitchFamily="18" charset="0"/>
              </a:rPr>
              <a:t>Limited human resources specially cleaner , guard , gardener , ayah , ward boy , trolley man and electrician .</a:t>
            </a:r>
          </a:p>
          <a:p>
            <a:endParaRPr lang="en-US" sz="2000">
              <a:solidFill>
                <a:srgbClr val="222268"/>
              </a:solidFill>
              <a:ea typeface="ＭＳ Ｐゴシック" pitchFamily="34" charset="-128"/>
              <a:cs typeface="Times New Roman" pitchFamily="18" charset="0"/>
            </a:endParaRPr>
          </a:p>
          <a:p>
            <a:r>
              <a:rPr lang="en-US" sz="2000">
                <a:solidFill>
                  <a:srgbClr val="222268"/>
                </a:solidFill>
                <a:ea typeface="ＭＳ Ｐゴシック" pitchFamily="34" charset="-128"/>
                <a:cs typeface="Times New Roman" pitchFamily="18" charset="0"/>
              </a:rPr>
              <a:t>7. Demoralized environment , maximum 4</a:t>
            </a:r>
            <a:r>
              <a:rPr lang="en-US" sz="2000" baseline="30000">
                <a:solidFill>
                  <a:srgbClr val="222268"/>
                </a:solidFill>
                <a:ea typeface="ＭＳ Ｐゴシック" pitchFamily="34" charset="-128"/>
                <a:cs typeface="Times New Roman" pitchFamily="18" charset="0"/>
              </a:rPr>
              <a:t>th</a:t>
            </a:r>
            <a:r>
              <a:rPr lang="en-US" sz="2000">
                <a:solidFill>
                  <a:srgbClr val="222268"/>
                </a:solidFill>
                <a:ea typeface="ＭＳ Ｐゴシック" pitchFamily="34" charset="-128"/>
                <a:cs typeface="Times New Roman" pitchFamily="18" charset="0"/>
              </a:rPr>
              <a:t> class employees were involved in corruption .</a:t>
            </a:r>
          </a:p>
          <a:p>
            <a:endParaRPr lang="en-US" sz="2000">
              <a:solidFill>
                <a:srgbClr val="222268"/>
              </a:solidFill>
              <a:ea typeface="ＭＳ Ｐゴシック" pitchFamily="34" charset="-128"/>
              <a:cs typeface="Times New Roman" pitchFamily="18" charset="0"/>
            </a:endParaRPr>
          </a:p>
          <a:p>
            <a:r>
              <a:rPr lang="en-US" sz="2000">
                <a:solidFill>
                  <a:srgbClr val="222268"/>
                </a:solidFill>
                <a:ea typeface="ＭＳ Ｐゴシック" pitchFamily="34" charset="-128"/>
                <a:cs typeface="Times New Roman" pitchFamily="18" charset="0"/>
              </a:rPr>
              <a:t>8. Insequred hospital for the staff and hospital as a whole .</a:t>
            </a:r>
          </a:p>
          <a:p>
            <a:endParaRPr lang="en-US" sz="2000">
              <a:solidFill>
                <a:srgbClr val="222268"/>
              </a:solidFill>
              <a:ea typeface="ＭＳ Ｐゴシック" pitchFamily="34" charset="-128"/>
              <a:cs typeface="Times New Roman" pitchFamily="18" charset="0"/>
            </a:endParaRPr>
          </a:p>
          <a:p>
            <a:r>
              <a:rPr lang="en-US" sz="2000">
                <a:solidFill>
                  <a:srgbClr val="222268"/>
                </a:solidFill>
                <a:ea typeface="ＭＳ Ｐゴシック" pitchFamily="34" charset="-128"/>
                <a:cs typeface="Times New Roman" pitchFamily="18" charset="0"/>
              </a:rPr>
              <a:t>9. Weak management system .</a:t>
            </a:r>
          </a:p>
          <a:p>
            <a:endParaRPr lang="en-US" sz="2000">
              <a:solidFill>
                <a:srgbClr val="222268"/>
              </a:solidFill>
              <a:ea typeface="ＭＳ Ｐゴシック" pitchFamily="34" charset="-128"/>
              <a:cs typeface="Times New Roman" pitchFamily="18" charset="0"/>
            </a:endParaRPr>
          </a:p>
          <a:p>
            <a:r>
              <a:rPr lang="en-US" sz="2000">
                <a:solidFill>
                  <a:srgbClr val="222268"/>
                </a:solidFill>
                <a:ea typeface="ＭＳ Ｐゴシック" pitchFamily="34" charset="-128"/>
                <a:cs typeface="Times New Roman" pitchFamily="18" charset="0"/>
              </a:rPr>
              <a:t>10. Butification of the hospital was neglected .</a:t>
            </a:r>
          </a:p>
          <a:p>
            <a:r>
              <a:rPr lang="en-US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 </a:t>
            </a:r>
            <a:endParaRPr lang="en-US" altLang="ja-JP" b="1">
              <a:solidFill>
                <a:srgbClr val="002060"/>
              </a:solidFill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5" name="Rectangle 33"/>
          <p:cNvSpPr>
            <a:spLocks noChangeArrowheads="1"/>
          </p:cNvSpPr>
          <p:nvPr/>
        </p:nvSpPr>
        <p:spPr bwMode="auto">
          <a:xfrm>
            <a:off x="4946650" y="914400"/>
            <a:ext cx="4041775" cy="5791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  <a:miter lim="800000"/>
            <a:headEnd/>
            <a:tailEnd/>
          </a:ln>
        </p:spPr>
        <p:txBody>
          <a:bodyPr/>
          <a:lstStyle/>
          <a:p>
            <a:pPr marL="90488" indent="-90488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altLang="ja-JP" sz="20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After Kaizen Situation </a:t>
            </a:r>
            <a:endParaRPr lang="en-US" altLang="ja-JP" sz="2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6. 51 man power supported by the community .</a:t>
            </a: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7. Developed moralized environment. Revenue income is increased .</a:t>
            </a: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8. Security is insured by the involvement of local MP, Mayor, DC and SP .  </a:t>
            </a:r>
          </a:p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9. Improve management system .</a:t>
            </a:r>
          </a:p>
          <a:p>
            <a:pPr>
              <a:defRPr/>
            </a:pPr>
            <a:endParaRPr lang="en-US" sz="20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rgbClr val="C00000"/>
                </a:solidFill>
              </a:rPr>
              <a:t>10.Over all </a:t>
            </a:r>
            <a:r>
              <a:rPr lang="en-US" sz="2000" dirty="0" err="1">
                <a:solidFill>
                  <a:srgbClr val="C00000"/>
                </a:solidFill>
              </a:rPr>
              <a:t>butification</a:t>
            </a:r>
            <a:r>
              <a:rPr lang="en-US" sz="2000" dirty="0">
                <a:solidFill>
                  <a:srgbClr val="C00000"/>
                </a:solidFill>
              </a:rPr>
              <a:t> of the hospital improved . </a:t>
            </a:r>
            <a:endParaRPr lang="en-US" altLang="ja-JP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988" name="Line 35"/>
          <p:cNvSpPr>
            <a:spLocks noChangeShapeType="1"/>
          </p:cNvSpPr>
          <p:nvPr/>
        </p:nvSpPr>
        <p:spPr bwMode="auto">
          <a:xfrm>
            <a:off x="4443413" y="3657600"/>
            <a:ext cx="503237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89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altLang="ja-JP" sz="2800" b="1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Jhenaidah Sadar Hospital, Jhenaidah</a:t>
            </a:r>
          </a:p>
          <a:p>
            <a:pPr algn="ctr"/>
            <a:r>
              <a:rPr lang="en-US" altLang="ja-JP" sz="2800" b="1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KAIZEN Works Summary -2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533400"/>
            <a:ext cx="8229600" cy="698500"/>
          </a:xfrm>
          <a:solidFill>
            <a:schemeClr val="accent1"/>
          </a:solidFill>
        </p:spPr>
        <p:txBody>
          <a:bodyPr/>
          <a:lstStyle/>
          <a:p>
            <a:r>
              <a:rPr lang="en-US" b="1" smtClean="0"/>
              <a:t>Sadar Hospital, Jhenaidah</a:t>
            </a:r>
          </a:p>
        </p:txBody>
      </p:sp>
      <p:graphicFrame>
        <p:nvGraphicFramePr>
          <p:cNvPr id="128003" name="Group 3"/>
          <p:cNvGraphicFramePr>
            <a:graphicFrameLocks noGrp="1"/>
          </p:cNvGraphicFramePr>
          <p:nvPr/>
        </p:nvGraphicFramePr>
        <p:xfrm>
          <a:off x="481013" y="2590800"/>
          <a:ext cx="8205786" cy="3505200"/>
        </p:xfrm>
        <a:graphic>
          <a:graphicData uri="http://schemas.openxmlformats.org/drawingml/2006/table">
            <a:tbl>
              <a:tblPr/>
              <a:tblGrid>
                <a:gridCol w="622287"/>
                <a:gridCol w="987405"/>
                <a:gridCol w="1566995"/>
                <a:gridCol w="1371572"/>
                <a:gridCol w="1438082"/>
                <a:gridCol w="2219445"/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Year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Emergency Patients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Out door Service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indoor Service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Bed occupancy rate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1998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16733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65062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12973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126%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2011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28855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141999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22435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146%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2012 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30001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141069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22951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143%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2013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30281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162510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24643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165%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05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2014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35186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198682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27905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180%</a:t>
                      </a:r>
                    </a:p>
                  </a:txBody>
                  <a:tcPr marL="91438" marR="91438" marT="45725" marB="457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57200" y="1600200"/>
            <a:ext cx="8229600" cy="609600"/>
          </a:xfrm>
          <a:prstGeom prst="rect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Emergency, Out door &amp; Indoor  Service 1998 to 2014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Text Box 3"/>
          <p:cNvSpPr txBox="1">
            <a:spLocks noChangeArrowheads="1"/>
          </p:cNvSpPr>
          <p:nvPr/>
        </p:nvSpPr>
        <p:spPr bwMode="auto">
          <a:xfrm>
            <a:off x="768350" y="977900"/>
            <a:ext cx="79168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spcBef>
                <a:spcPct val="20000"/>
              </a:spcBef>
              <a:defRPr/>
            </a:pPr>
            <a:r>
              <a:rPr lang="en-US" b="1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Comparative Data of EOC services in April,2012, April 2013 &amp; April, 2014 at </a:t>
            </a:r>
            <a:r>
              <a:rPr lang="en-US" b="1" dirty="0" err="1" smtClean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Jhenaidah</a:t>
            </a:r>
            <a:r>
              <a:rPr lang="en-US" b="1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b="1" dirty="0" err="1" smtClean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Sadar</a:t>
            </a:r>
            <a:r>
              <a:rPr lang="en-US" b="1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Hospital</a:t>
            </a:r>
          </a:p>
        </p:txBody>
      </p:sp>
      <p:sp>
        <p:nvSpPr>
          <p:cNvPr id="44035" name="Rectangle 2"/>
          <p:cNvSpPr>
            <a:spLocks noChangeArrowheads="1"/>
          </p:cNvSpPr>
          <p:nvPr/>
        </p:nvSpPr>
        <p:spPr bwMode="auto">
          <a:xfrm>
            <a:off x="520700" y="236538"/>
            <a:ext cx="8229600" cy="7921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000" b="1">
                <a:solidFill>
                  <a:schemeClr val="tx2"/>
                </a:solidFill>
              </a:rPr>
              <a:t>Sadar Hospital, Jhenaidah</a:t>
            </a:r>
          </a:p>
        </p:txBody>
      </p:sp>
      <p:sp>
        <p:nvSpPr>
          <p:cNvPr id="44036" name="Text Box 10"/>
          <p:cNvSpPr txBox="1">
            <a:spLocks noChangeArrowheads="1"/>
          </p:cNvSpPr>
          <p:nvPr/>
        </p:nvSpPr>
        <p:spPr bwMode="auto">
          <a:xfrm>
            <a:off x="2273300" y="3975100"/>
            <a:ext cx="4794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 b="1"/>
              <a:t>437</a:t>
            </a:r>
          </a:p>
        </p:txBody>
      </p:sp>
      <p:sp>
        <p:nvSpPr>
          <p:cNvPr id="44037" name="Rectangle 25"/>
          <p:cNvSpPr>
            <a:spLocks noChangeArrowheads="1"/>
          </p:cNvSpPr>
          <p:nvPr/>
        </p:nvSpPr>
        <p:spPr bwMode="auto">
          <a:xfrm>
            <a:off x="2244725" y="2273300"/>
            <a:ext cx="5153025" cy="334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8" name="Freeform 94"/>
          <p:cNvSpPr>
            <a:spLocks/>
          </p:cNvSpPr>
          <p:nvPr/>
        </p:nvSpPr>
        <p:spPr bwMode="auto">
          <a:xfrm>
            <a:off x="1484313" y="6261100"/>
            <a:ext cx="6843712" cy="77788"/>
          </a:xfrm>
          <a:custGeom>
            <a:avLst/>
            <a:gdLst>
              <a:gd name="T0" fmla="*/ 0 w 2520"/>
              <a:gd name="T1" fmla="*/ 2147483647 h 36"/>
              <a:gd name="T2" fmla="*/ 2147483647 w 2520"/>
              <a:gd name="T3" fmla="*/ 0 h 36"/>
              <a:gd name="T4" fmla="*/ 2147483647 w 2520"/>
              <a:gd name="T5" fmla="*/ 0 h 36"/>
              <a:gd name="T6" fmla="*/ 2147483647 w 2520"/>
              <a:gd name="T7" fmla="*/ 2147483647 h 36"/>
              <a:gd name="T8" fmla="*/ 0 w 2520"/>
              <a:gd name="T9" fmla="*/ 2147483647 h 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520" h="36">
                <a:moveTo>
                  <a:pt x="0" y="36"/>
                </a:moveTo>
                <a:lnTo>
                  <a:pt x="48" y="0"/>
                </a:lnTo>
                <a:lnTo>
                  <a:pt x="2520" y="0"/>
                </a:lnTo>
                <a:lnTo>
                  <a:pt x="2472" y="36"/>
                </a:lnTo>
                <a:lnTo>
                  <a:pt x="0" y="36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9" name="Freeform 95"/>
          <p:cNvSpPr>
            <a:spLocks/>
          </p:cNvSpPr>
          <p:nvPr/>
        </p:nvSpPr>
        <p:spPr bwMode="auto">
          <a:xfrm>
            <a:off x="1484313" y="2106613"/>
            <a:ext cx="130175" cy="4232275"/>
          </a:xfrm>
          <a:custGeom>
            <a:avLst/>
            <a:gdLst>
              <a:gd name="T0" fmla="*/ 0 w 48"/>
              <a:gd name="T1" fmla="*/ 2147483647 h 1992"/>
              <a:gd name="T2" fmla="*/ 0 w 48"/>
              <a:gd name="T3" fmla="*/ 2147483647 h 1992"/>
              <a:gd name="T4" fmla="*/ 2147483647 w 48"/>
              <a:gd name="T5" fmla="*/ 0 h 1992"/>
              <a:gd name="T6" fmla="*/ 2147483647 w 48"/>
              <a:gd name="T7" fmla="*/ 2147483647 h 1992"/>
              <a:gd name="T8" fmla="*/ 0 w 48"/>
              <a:gd name="T9" fmla="*/ 2147483647 h 19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1992">
                <a:moveTo>
                  <a:pt x="0" y="1992"/>
                </a:moveTo>
                <a:lnTo>
                  <a:pt x="0" y="36"/>
                </a:lnTo>
                <a:lnTo>
                  <a:pt x="48" y="0"/>
                </a:lnTo>
                <a:lnTo>
                  <a:pt x="48" y="1956"/>
                </a:lnTo>
                <a:lnTo>
                  <a:pt x="0" y="1992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0" name="Rectangle 96"/>
          <p:cNvSpPr>
            <a:spLocks noChangeArrowheads="1"/>
          </p:cNvSpPr>
          <p:nvPr/>
        </p:nvSpPr>
        <p:spPr bwMode="auto">
          <a:xfrm>
            <a:off x="1614488" y="2106613"/>
            <a:ext cx="6713537" cy="415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1" name="Freeform 97"/>
          <p:cNvSpPr>
            <a:spLocks/>
          </p:cNvSpPr>
          <p:nvPr/>
        </p:nvSpPr>
        <p:spPr bwMode="auto">
          <a:xfrm>
            <a:off x="1484313" y="6261100"/>
            <a:ext cx="6843712" cy="77788"/>
          </a:xfrm>
          <a:custGeom>
            <a:avLst/>
            <a:gdLst>
              <a:gd name="T0" fmla="*/ 0 w 420"/>
              <a:gd name="T1" fmla="*/ 2147483647 h 6"/>
              <a:gd name="T2" fmla="*/ 2147483647 w 420"/>
              <a:gd name="T3" fmla="*/ 0 h 6"/>
              <a:gd name="T4" fmla="*/ 2147483647 w 420"/>
              <a:gd name="T5" fmla="*/ 0 h 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0" h="6">
                <a:moveTo>
                  <a:pt x="0" y="6"/>
                </a:moveTo>
                <a:lnTo>
                  <a:pt x="8" y="0"/>
                </a:lnTo>
                <a:lnTo>
                  <a:pt x="42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2" name="Freeform 98"/>
          <p:cNvSpPr>
            <a:spLocks/>
          </p:cNvSpPr>
          <p:nvPr/>
        </p:nvSpPr>
        <p:spPr bwMode="auto">
          <a:xfrm>
            <a:off x="1484313" y="5803900"/>
            <a:ext cx="6843712" cy="76200"/>
          </a:xfrm>
          <a:custGeom>
            <a:avLst/>
            <a:gdLst>
              <a:gd name="T0" fmla="*/ 0 w 420"/>
              <a:gd name="T1" fmla="*/ 2147483647 h 6"/>
              <a:gd name="T2" fmla="*/ 2147483647 w 420"/>
              <a:gd name="T3" fmla="*/ 0 h 6"/>
              <a:gd name="T4" fmla="*/ 2147483647 w 420"/>
              <a:gd name="T5" fmla="*/ 0 h 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0" h="6">
                <a:moveTo>
                  <a:pt x="0" y="6"/>
                </a:moveTo>
                <a:lnTo>
                  <a:pt x="8" y="0"/>
                </a:lnTo>
                <a:lnTo>
                  <a:pt x="42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3" name="Freeform 99"/>
          <p:cNvSpPr>
            <a:spLocks/>
          </p:cNvSpPr>
          <p:nvPr/>
        </p:nvSpPr>
        <p:spPr bwMode="auto">
          <a:xfrm>
            <a:off x="1484313" y="5345113"/>
            <a:ext cx="6843712" cy="76200"/>
          </a:xfrm>
          <a:custGeom>
            <a:avLst/>
            <a:gdLst>
              <a:gd name="T0" fmla="*/ 0 w 420"/>
              <a:gd name="T1" fmla="*/ 2147483647 h 6"/>
              <a:gd name="T2" fmla="*/ 2147483647 w 420"/>
              <a:gd name="T3" fmla="*/ 0 h 6"/>
              <a:gd name="T4" fmla="*/ 2147483647 w 420"/>
              <a:gd name="T5" fmla="*/ 0 h 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0" h="6">
                <a:moveTo>
                  <a:pt x="0" y="6"/>
                </a:moveTo>
                <a:lnTo>
                  <a:pt x="8" y="0"/>
                </a:lnTo>
                <a:lnTo>
                  <a:pt x="42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4" name="Freeform 100"/>
          <p:cNvSpPr>
            <a:spLocks/>
          </p:cNvSpPr>
          <p:nvPr/>
        </p:nvSpPr>
        <p:spPr bwMode="auto">
          <a:xfrm>
            <a:off x="1484313" y="4873625"/>
            <a:ext cx="6843712" cy="76200"/>
          </a:xfrm>
          <a:custGeom>
            <a:avLst/>
            <a:gdLst>
              <a:gd name="T0" fmla="*/ 0 w 420"/>
              <a:gd name="T1" fmla="*/ 2147483647 h 6"/>
              <a:gd name="T2" fmla="*/ 2147483647 w 420"/>
              <a:gd name="T3" fmla="*/ 0 h 6"/>
              <a:gd name="T4" fmla="*/ 2147483647 w 420"/>
              <a:gd name="T5" fmla="*/ 0 h 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0" h="6">
                <a:moveTo>
                  <a:pt x="0" y="6"/>
                </a:moveTo>
                <a:lnTo>
                  <a:pt x="8" y="0"/>
                </a:lnTo>
                <a:lnTo>
                  <a:pt x="42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5" name="Freeform 101"/>
          <p:cNvSpPr>
            <a:spLocks/>
          </p:cNvSpPr>
          <p:nvPr/>
        </p:nvSpPr>
        <p:spPr bwMode="auto">
          <a:xfrm>
            <a:off x="1484313" y="4413250"/>
            <a:ext cx="6843712" cy="76200"/>
          </a:xfrm>
          <a:custGeom>
            <a:avLst/>
            <a:gdLst>
              <a:gd name="T0" fmla="*/ 0 w 420"/>
              <a:gd name="T1" fmla="*/ 2147483647 h 6"/>
              <a:gd name="T2" fmla="*/ 2147483647 w 420"/>
              <a:gd name="T3" fmla="*/ 0 h 6"/>
              <a:gd name="T4" fmla="*/ 2147483647 w 420"/>
              <a:gd name="T5" fmla="*/ 0 h 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0" h="6">
                <a:moveTo>
                  <a:pt x="0" y="6"/>
                </a:moveTo>
                <a:lnTo>
                  <a:pt x="8" y="0"/>
                </a:lnTo>
                <a:lnTo>
                  <a:pt x="42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6" name="Freeform 102"/>
          <p:cNvSpPr>
            <a:spLocks/>
          </p:cNvSpPr>
          <p:nvPr/>
        </p:nvSpPr>
        <p:spPr bwMode="auto">
          <a:xfrm>
            <a:off x="1484313" y="3954463"/>
            <a:ext cx="6843712" cy="77787"/>
          </a:xfrm>
          <a:custGeom>
            <a:avLst/>
            <a:gdLst>
              <a:gd name="T0" fmla="*/ 0 w 420"/>
              <a:gd name="T1" fmla="*/ 2147483647 h 6"/>
              <a:gd name="T2" fmla="*/ 2147483647 w 420"/>
              <a:gd name="T3" fmla="*/ 0 h 6"/>
              <a:gd name="T4" fmla="*/ 2147483647 w 420"/>
              <a:gd name="T5" fmla="*/ 0 h 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0" h="6">
                <a:moveTo>
                  <a:pt x="0" y="6"/>
                </a:moveTo>
                <a:lnTo>
                  <a:pt x="8" y="0"/>
                </a:lnTo>
                <a:lnTo>
                  <a:pt x="42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7" name="Freeform 103"/>
          <p:cNvSpPr>
            <a:spLocks/>
          </p:cNvSpPr>
          <p:nvPr/>
        </p:nvSpPr>
        <p:spPr bwMode="auto">
          <a:xfrm>
            <a:off x="1484313" y="3497263"/>
            <a:ext cx="6843712" cy="74612"/>
          </a:xfrm>
          <a:custGeom>
            <a:avLst/>
            <a:gdLst>
              <a:gd name="T0" fmla="*/ 0 w 420"/>
              <a:gd name="T1" fmla="*/ 2147483647 h 6"/>
              <a:gd name="T2" fmla="*/ 2147483647 w 420"/>
              <a:gd name="T3" fmla="*/ 0 h 6"/>
              <a:gd name="T4" fmla="*/ 2147483647 w 420"/>
              <a:gd name="T5" fmla="*/ 0 h 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0" h="6">
                <a:moveTo>
                  <a:pt x="0" y="6"/>
                </a:moveTo>
                <a:lnTo>
                  <a:pt x="8" y="0"/>
                </a:lnTo>
                <a:lnTo>
                  <a:pt x="42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8" name="Freeform 104"/>
          <p:cNvSpPr>
            <a:spLocks/>
          </p:cNvSpPr>
          <p:nvPr/>
        </p:nvSpPr>
        <p:spPr bwMode="auto">
          <a:xfrm>
            <a:off x="1484313" y="3024188"/>
            <a:ext cx="6843712" cy="77787"/>
          </a:xfrm>
          <a:custGeom>
            <a:avLst/>
            <a:gdLst>
              <a:gd name="T0" fmla="*/ 0 w 420"/>
              <a:gd name="T1" fmla="*/ 2147483647 h 6"/>
              <a:gd name="T2" fmla="*/ 2147483647 w 420"/>
              <a:gd name="T3" fmla="*/ 0 h 6"/>
              <a:gd name="T4" fmla="*/ 2147483647 w 420"/>
              <a:gd name="T5" fmla="*/ 0 h 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0" h="6">
                <a:moveTo>
                  <a:pt x="0" y="6"/>
                </a:moveTo>
                <a:lnTo>
                  <a:pt x="8" y="0"/>
                </a:lnTo>
                <a:lnTo>
                  <a:pt x="42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9" name="Freeform 105"/>
          <p:cNvSpPr>
            <a:spLocks/>
          </p:cNvSpPr>
          <p:nvPr/>
        </p:nvSpPr>
        <p:spPr bwMode="auto">
          <a:xfrm>
            <a:off x="1484313" y="2566988"/>
            <a:ext cx="6843712" cy="74612"/>
          </a:xfrm>
          <a:custGeom>
            <a:avLst/>
            <a:gdLst>
              <a:gd name="T0" fmla="*/ 0 w 420"/>
              <a:gd name="T1" fmla="*/ 2147483647 h 6"/>
              <a:gd name="T2" fmla="*/ 2147483647 w 420"/>
              <a:gd name="T3" fmla="*/ 0 h 6"/>
              <a:gd name="T4" fmla="*/ 2147483647 w 420"/>
              <a:gd name="T5" fmla="*/ 0 h 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0" h="6">
                <a:moveTo>
                  <a:pt x="0" y="6"/>
                </a:moveTo>
                <a:lnTo>
                  <a:pt x="8" y="0"/>
                </a:lnTo>
                <a:lnTo>
                  <a:pt x="42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0" name="Freeform 106"/>
          <p:cNvSpPr>
            <a:spLocks/>
          </p:cNvSpPr>
          <p:nvPr/>
        </p:nvSpPr>
        <p:spPr bwMode="auto">
          <a:xfrm>
            <a:off x="1484313" y="2106613"/>
            <a:ext cx="6843712" cy="76200"/>
          </a:xfrm>
          <a:custGeom>
            <a:avLst/>
            <a:gdLst>
              <a:gd name="T0" fmla="*/ 0 w 420"/>
              <a:gd name="T1" fmla="*/ 2147483647 h 6"/>
              <a:gd name="T2" fmla="*/ 2147483647 w 420"/>
              <a:gd name="T3" fmla="*/ 0 h 6"/>
              <a:gd name="T4" fmla="*/ 2147483647 w 420"/>
              <a:gd name="T5" fmla="*/ 0 h 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0" h="6">
                <a:moveTo>
                  <a:pt x="0" y="6"/>
                </a:moveTo>
                <a:lnTo>
                  <a:pt x="8" y="0"/>
                </a:lnTo>
                <a:lnTo>
                  <a:pt x="42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1" name="Freeform 107"/>
          <p:cNvSpPr>
            <a:spLocks/>
          </p:cNvSpPr>
          <p:nvPr/>
        </p:nvSpPr>
        <p:spPr bwMode="auto">
          <a:xfrm>
            <a:off x="1484313" y="6261100"/>
            <a:ext cx="6843712" cy="77788"/>
          </a:xfrm>
          <a:custGeom>
            <a:avLst/>
            <a:gdLst>
              <a:gd name="T0" fmla="*/ 2147483647 w 2520"/>
              <a:gd name="T1" fmla="*/ 0 h 36"/>
              <a:gd name="T2" fmla="*/ 2147483647 w 2520"/>
              <a:gd name="T3" fmla="*/ 2147483647 h 36"/>
              <a:gd name="T4" fmla="*/ 0 w 2520"/>
              <a:gd name="T5" fmla="*/ 2147483647 h 36"/>
              <a:gd name="T6" fmla="*/ 2147483647 w 2520"/>
              <a:gd name="T7" fmla="*/ 0 h 36"/>
              <a:gd name="T8" fmla="*/ 2147483647 w 2520"/>
              <a:gd name="T9" fmla="*/ 0 h 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520" h="36">
                <a:moveTo>
                  <a:pt x="2520" y="0"/>
                </a:moveTo>
                <a:lnTo>
                  <a:pt x="2472" y="36"/>
                </a:lnTo>
                <a:lnTo>
                  <a:pt x="0" y="36"/>
                </a:lnTo>
                <a:lnTo>
                  <a:pt x="48" y="0"/>
                </a:lnTo>
                <a:lnTo>
                  <a:pt x="252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2" name="Freeform 108"/>
          <p:cNvSpPr>
            <a:spLocks/>
          </p:cNvSpPr>
          <p:nvPr/>
        </p:nvSpPr>
        <p:spPr bwMode="auto">
          <a:xfrm>
            <a:off x="1484313" y="2106613"/>
            <a:ext cx="130175" cy="4232275"/>
          </a:xfrm>
          <a:custGeom>
            <a:avLst/>
            <a:gdLst>
              <a:gd name="T0" fmla="*/ 0 w 48"/>
              <a:gd name="T1" fmla="*/ 2147483647 h 1992"/>
              <a:gd name="T2" fmla="*/ 0 w 48"/>
              <a:gd name="T3" fmla="*/ 2147483647 h 1992"/>
              <a:gd name="T4" fmla="*/ 2147483647 w 48"/>
              <a:gd name="T5" fmla="*/ 0 h 1992"/>
              <a:gd name="T6" fmla="*/ 2147483647 w 48"/>
              <a:gd name="T7" fmla="*/ 2147483647 h 1992"/>
              <a:gd name="T8" fmla="*/ 0 w 48"/>
              <a:gd name="T9" fmla="*/ 2147483647 h 19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1992">
                <a:moveTo>
                  <a:pt x="0" y="1992"/>
                </a:moveTo>
                <a:lnTo>
                  <a:pt x="0" y="36"/>
                </a:lnTo>
                <a:lnTo>
                  <a:pt x="48" y="0"/>
                </a:lnTo>
                <a:lnTo>
                  <a:pt x="48" y="1956"/>
                </a:lnTo>
                <a:lnTo>
                  <a:pt x="0" y="1992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3" name="Rectangle 109"/>
          <p:cNvSpPr>
            <a:spLocks noChangeArrowheads="1"/>
          </p:cNvSpPr>
          <p:nvPr/>
        </p:nvSpPr>
        <p:spPr bwMode="auto">
          <a:xfrm>
            <a:off x="1614488" y="1682750"/>
            <a:ext cx="6713537" cy="4578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4054" name="Group 198"/>
          <p:cNvGrpSpPr>
            <a:grpSpLocks/>
          </p:cNvGrpSpPr>
          <p:nvPr/>
        </p:nvGrpSpPr>
        <p:grpSpPr bwMode="auto">
          <a:xfrm>
            <a:off x="2214563" y="4208463"/>
            <a:ext cx="604837" cy="2039937"/>
            <a:chOff x="-1662" y="1888"/>
            <a:chExt cx="321" cy="1276"/>
          </a:xfrm>
        </p:grpSpPr>
        <p:sp>
          <p:nvSpPr>
            <p:cNvPr id="44134" name="Freeform 122"/>
            <p:cNvSpPr>
              <a:spLocks/>
            </p:cNvSpPr>
            <p:nvPr/>
          </p:nvSpPr>
          <p:spPr bwMode="auto">
            <a:xfrm>
              <a:off x="-1424" y="1888"/>
              <a:ext cx="83" cy="1276"/>
            </a:xfrm>
            <a:custGeom>
              <a:avLst/>
              <a:gdLst>
                <a:gd name="T0" fmla="*/ 0 w 48"/>
                <a:gd name="T1" fmla="*/ 1112308 h 876"/>
                <a:gd name="T2" fmla="*/ 0 w 48"/>
                <a:gd name="T3" fmla="*/ 45707 h 876"/>
                <a:gd name="T4" fmla="*/ 1591395 w 48"/>
                <a:gd name="T5" fmla="*/ 0 h 876"/>
                <a:gd name="T6" fmla="*/ 1591395 w 48"/>
                <a:gd name="T7" fmla="*/ 1066599 h 876"/>
                <a:gd name="T8" fmla="*/ 0 w 48"/>
                <a:gd name="T9" fmla="*/ 1112308 h 8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76">
                  <a:moveTo>
                    <a:pt x="0" y="876"/>
                  </a:moveTo>
                  <a:lnTo>
                    <a:pt x="0" y="36"/>
                  </a:lnTo>
                  <a:lnTo>
                    <a:pt x="48" y="0"/>
                  </a:lnTo>
                  <a:lnTo>
                    <a:pt x="48" y="840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1A1A4D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35" name="Rectangle 123"/>
            <p:cNvSpPr>
              <a:spLocks noChangeArrowheads="1"/>
            </p:cNvSpPr>
            <p:nvPr/>
          </p:nvSpPr>
          <p:spPr bwMode="auto">
            <a:xfrm>
              <a:off x="-1662" y="1940"/>
              <a:ext cx="238" cy="1224"/>
            </a:xfrm>
            <a:prstGeom prst="rect">
              <a:avLst/>
            </a:prstGeom>
            <a:solidFill>
              <a:srgbClr val="3333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36" name="Freeform 124"/>
            <p:cNvSpPr>
              <a:spLocks/>
            </p:cNvSpPr>
            <p:nvPr/>
          </p:nvSpPr>
          <p:spPr bwMode="auto">
            <a:xfrm>
              <a:off x="-1662" y="1888"/>
              <a:ext cx="321" cy="52"/>
            </a:xfrm>
            <a:custGeom>
              <a:avLst/>
              <a:gdLst>
                <a:gd name="T0" fmla="*/ 4391529 w 186"/>
                <a:gd name="T1" fmla="*/ 38669 h 36"/>
                <a:gd name="T2" fmla="*/ 5920885 w 186"/>
                <a:gd name="T3" fmla="*/ 0 h 36"/>
                <a:gd name="T4" fmla="*/ 1527437 w 186"/>
                <a:gd name="T5" fmla="*/ 0 h 36"/>
                <a:gd name="T6" fmla="*/ 0 w 186"/>
                <a:gd name="T7" fmla="*/ 38669 h 36"/>
                <a:gd name="T8" fmla="*/ 4391529 w 186"/>
                <a:gd name="T9" fmla="*/ 38669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" h="36">
                  <a:moveTo>
                    <a:pt x="138" y="36"/>
                  </a:moveTo>
                  <a:lnTo>
                    <a:pt x="186" y="0"/>
                  </a:lnTo>
                  <a:lnTo>
                    <a:pt x="48" y="0"/>
                  </a:lnTo>
                  <a:lnTo>
                    <a:pt x="0" y="36"/>
                  </a:lnTo>
                  <a:lnTo>
                    <a:pt x="138" y="36"/>
                  </a:lnTo>
                  <a:close/>
                </a:path>
              </a:pathLst>
            </a:custGeom>
            <a:solidFill>
              <a:srgbClr val="262673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055" name="Line 146"/>
          <p:cNvSpPr>
            <a:spLocks noChangeShapeType="1"/>
          </p:cNvSpPr>
          <p:nvPr/>
        </p:nvSpPr>
        <p:spPr bwMode="auto">
          <a:xfrm flipV="1">
            <a:off x="1484313" y="1719263"/>
            <a:ext cx="3175" cy="46196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6" name="Line 147"/>
          <p:cNvSpPr>
            <a:spLocks noChangeShapeType="1"/>
          </p:cNvSpPr>
          <p:nvPr/>
        </p:nvSpPr>
        <p:spPr bwMode="auto">
          <a:xfrm flipH="1">
            <a:off x="1401763" y="6338888"/>
            <a:ext cx="82550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7" name="Line 148"/>
          <p:cNvSpPr>
            <a:spLocks noChangeShapeType="1"/>
          </p:cNvSpPr>
          <p:nvPr/>
        </p:nvSpPr>
        <p:spPr bwMode="auto">
          <a:xfrm flipH="1">
            <a:off x="1401763" y="5880100"/>
            <a:ext cx="82550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8" name="Line 149"/>
          <p:cNvSpPr>
            <a:spLocks noChangeShapeType="1"/>
          </p:cNvSpPr>
          <p:nvPr/>
        </p:nvSpPr>
        <p:spPr bwMode="auto">
          <a:xfrm flipH="1">
            <a:off x="1401763" y="5421313"/>
            <a:ext cx="82550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9" name="Line 150"/>
          <p:cNvSpPr>
            <a:spLocks noChangeShapeType="1"/>
          </p:cNvSpPr>
          <p:nvPr/>
        </p:nvSpPr>
        <p:spPr bwMode="auto">
          <a:xfrm flipH="1">
            <a:off x="1401763" y="4949825"/>
            <a:ext cx="82550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0" name="Line 151"/>
          <p:cNvSpPr>
            <a:spLocks noChangeShapeType="1"/>
          </p:cNvSpPr>
          <p:nvPr/>
        </p:nvSpPr>
        <p:spPr bwMode="auto">
          <a:xfrm flipH="1">
            <a:off x="1401763" y="4489450"/>
            <a:ext cx="82550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1" name="Line 152"/>
          <p:cNvSpPr>
            <a:spLocks noChangeShapeType="1"/>
          </p:cNvSpPr>
          <p:nvPr/>
        </p:nvSpPr>
        <p:spPr bwMode="auto">
          <a:xfrm flipH="1">
            <a:off x="1401763" y="4032250"/>
            <a:ext cx="82550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2" name="Line 153"/>
          <p:cNvSpPr>
            <a:spLocks noChangeShapeType="1"/>
          </p:cNvSpPr>
          <p:nvPr/>
        </p:nvSpPr>
        <p:spPr bwMode="auto">
          <a:xfrm flipH="1">
            <a:off x="1401763" y="3571875"/>
            <a:ext cx="82550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3" name="Line 154"/>
          <p:cNvSpPr>
            <a:spLocks noChangeShapeType="1"/>
          </p:cNvSpPr>
          <p:nvPr/>
        </p:nvSpPr>
        <p:spPr bwMode="auto">
          <a:xfrm flipH="1">
            <a:off x="1401763" y="3101975"/>
            <a:ext cx="82550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4" name="Line 155"/>
          <p:cNvSpPr>
            <a:spLocks noChangeShapeType="1"/>
          </p:cNvSpPr>
          <p:nvPr/>
        </p:nvSpPr>
        <p:spPr bwMode="auto">
          <a:xfrm flipH="1">
            <a:off x="1401763" y="2641600"/>
            <a:ext cx="82550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5" name="Line 156"/>
          <p:cNvSpPr>
            <a:spLocks noChangeShapeType="1"/>
          </p:cNvSpPr>
          <p:nvPr/>
        </p:nvSpPr>
        <p:spPr bwMode="auto">
          <a:xfrm flipH="1">
            <a:off x="1401763" y="2182813"/>
            <a:ext cx="82550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6" name="Rectangle 157"/>
          <p:cNvSpPr>
            <a:spLocks noChangeArrowheads="1"/>
          </p:cNvSpPr>
          <p:nvPr/>
        </p:nvSpPr>
        <p:spPr bwMode="auto">
          <a:xfrm>
            <a:off x="1127125" y="6161088"/>
            <a:ext cx="127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0</a:t>
            </a:r>
            <a:endParaRPr lang="en-US"/>
          </a:p>
        </p:txBody>
      </p:sp>
      <p:sp>
        <p:nvSpPr>
          <p:cNvPr id="44067" name="Rectangle 158"/>
          <p:cNvSpPr>
            <a:spLocks noChangeArrowheads="1"/>
          </p:cNvSpPr>
          <p:nvPr/>
        </p:nvSpPr>
        <p:spPr bwMode="auto">
          <a:xfrm>
            <a:off x="914400" y="5702300"/>
            <a:ext cx="381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100</a:t>
            </a:r>
            <a:endParaRPr lang="en-US"/>
          </a:p>
        </p:txBody>
      </p:sp>
      <p:sp>
        <p:nvSpPr>
          <p:cNvPr id="44068" name="Rectangle 159"/>
          <p:cNvSpPr>
            <a:spLocks noChangeArrowheads="1"/>
          </p:cNvSpPr>
          <p:nvPr/>
        </p:nvSpPr>
        <p:spPr bwMode="auto">
          <a:xfrm>
            <a:off x="914400" y="5241925"/>
            <a:ext cx="381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200</a:t>
            </a:r>
            <a:endParaRPr lang="en-US"/>
          </a:p>
        </p:txBody>
      </p:sp>
      <p:sp>
        <p:nvSpPr>
          <p:cNvPr id="44069" name="Rectangle 160"/>
          <p:cNvSpPr>
            <a:spLocks noChangeArrowheads="1"/>
          </p:cNvSpPr>
          <p:nvPr/>
        </p:nvSpPr>
        <p:spPr bwMode="auto">
          <a:xfrm>
            <a:off x="914400" y="4772025"/>
            <a:ext cx="381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300</a:t>
            </a:r>
            <a:endParaRPr lang="en-US"/>
          </a:p>
        </p:txBody>
      </p:sp>
      <p:sp>
        <p:nvSpPr>
          <p:cNvPr id="44070" name="Rectangle 161"/>
          <p:cNvSpPr>
            <a:spLocks noChangeArrowheads="1"/>
          </p:cNvSpPr>
          <p:nvPr/>
        </p:nvSpPr>
        <p:spPr bwMode="auto">
          <a:xfrm>
            <a:off x="914400" y="4311650"/>
            <a:ext cx="381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400</a:t>
            </a:r>
            <a:endParaRPr lang="en-US"/>
          </a:p>
        </p:txBody>
      </p:sp>
      <p:sp>
        <p:nvSpPr>
          <p:cNvPr id="44071" name="Rectangle 162"/>
          <p:cNvSpPr>
            <a:spLocks noChangeArrowheads="1"/>
          </p:cNvSpPr>
          <p:nvPr/>
        </p:nvSpPr>
        <p:spPr bwMode="auto">
          <a:xfrm>
            <a:off x="914400" y="3852863"/>
            <a:ext cx="381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500</a:t>
            </a:r>
            <a:endParaRPr lang="en-US"/>
          </a:p>
        </p:txBody>
      </p:sp>
      <p:sp>
        <p:nvSpPr>
          <p:cNvPr id="44072" name="Rectangle 163"/>
          <p:cNvSpPr>
            <a:spLocks noChangeArrowheads="1"/>
          </p:cNvSpPr>
          <p:nvPr/>
        </p:nvSpPr>
        <p:spPr bwMode="auto">
          <a:xfrm>
            <a:off x="914400" y="3394075"/>
            <a:ext cx="381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600</a:t>
            </a:r>
            <a:endParaRPr lang="en-US"/>
          </a:p>
        </p:txBody>
      </p:sp>
      <p:sp>
        <p:nvSpPr>
          <p:cNvPr id="44073" name="Rectangle 164"/>
          <p:cNvSpPr>
            <a:spLocks noChangeArrowheads="1"/>
          </p:cNvSpPr>
          <p:nvPr/>
        </p:nvSpPr>
        <p:spPr bwMode="auto">
          <a:xfrm>
            <a:off x="914400" y="2922588"/>
            <a:ext cx="381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700</a:t>
            </a:r>
            <a:endParaRPr lang="en-US"/>
          </a:p>
        </p:txBody>
      </p:sp>
      <p:sp>
        <p:nvSpPr>
          <p:cNvPr id="44074" name="Rectangle 165"/>
          <p:cNvSpPr>
            <a:spLocks noChangeArrowheads="1"/>
          </p:cNvSpPr>
          <p:nvPr/>
        </p:nvSpPr>
        <p:spPr bwMode="auto">
          <a:xfrm>
            <a:off x="914400" y="2463800"/>
            <a:ext cx="381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800</a:t>
            </a:r>
            <a:endParaRPr lang="en-US"/>
          </a:p>
        </p:txBody>
      </p:sp>
      <p:sp>
        <p:nvSpPr>
          <p:cNvPr id="44075" name="Rectangle 166"/>
          <p:cNvSpPr>
            <a:spLocks noChangeArrowheads="1"/>
          </p:cNvSpPr>
          <p:nvPr/>
        </p:nvSpPr>
        <p:spPr bwMode="auto">
          <a:xfrm>
            <a:off x="914400" y="2005013"/>
            <a:ext cx="381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900</a:t>
            </a:r>
            <a:endParaRPr lang="en-US"/>
          </a:p>
        </p:txBody>
      </p:sp>
      <p:sp>
        <p:nvSpPr>
          <p:cNvPr id="44076" name="Line 167"/>
          <p:cNvSpPr>
            <a:spLocks noChangeShapeType="1"/>
          </p:cNvSpPr>
          <p:nvPr/>
        </p:nvSpPr>
        <p:spPr bwMode="auto">
          <a:xfrm>
            <a:off x="1484313" y="6338888"/>
            <a:ext cx="6713537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77" name="Rectangle 173"/>
          <p:cNvSpPr>
            <a:spLocks noChangeArrowheads="1"/>
          </p:cNvSpPr>
          <p:nvPr/>
        </p:nvSpPr>
        <p:spPr bwMode="auto">
          <a:xfrm>
            <a:off x="1887538" y="6402388"/>
            <a:ext cx="10382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b="1">
                <a:solidFill>
                  <a:srgbClr val="000000"/>
                </a:solidFill>
              </a:rPr>
              <a:t>Admission</a:t>
            </a:r>
            <a:endParaRPr lang="en-US" sz="1600"/>
          </a:p>
        </p:txBody>
      </p:sp>
      <p:sp>
        <p:nvSpPr>
          <p:cNvPr id="44078" name="Rectangle 174"/>
          <p:cNvSpPr>
            <a:spLocks noChangeArrowheads="1"/>
          </p:cNvSpPr>
          <p:nvPr/>
        </p:nvSpPr>
        <p:spPr bwMode="auto">
          <a:xfrm>
            <a:off x="3429000" y="6376988"/>
            <a:ext cx="12954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Total Delivery</a:t>
            </a:r>
            <a:endParaRPr lang="en-US" sz="1400"/>
          </a:p>
        </p:txBody>
      </p:sp>
      <p:sp>
        <p:nvSpPr>
          <p:cNvPr id="44079" name="Rectangle 175"/>
          <p:cNvSpPr>
            <a:spLocks noChangeArrowheads="1"/>
          </p:cNvSpPr>
          <p:nvPr/>
        </p:nvSpPr>
        <p:spPr bwMode="auto">
          <a:xfrm>
            <a:off x="5105400" y="6400800"/>
            <a:ext cx="12715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1600" b="1"/>
              <a:t>C. Section</a:t>
            </a:r>
          </a:p>
        </p:txBody>
      </p:sp>
      <p:sp>
        <p:nvSpPr>
          <p:cNvPr id="44080" name="Rectangle 176"/>
          <p:cNvSpPr>
            <a:spLocks noChangeArrowheads="1"/>
          </p:cNvSpPr>
          <p:nvPr/>
        </p:nvSpPr>
        <p:spPr bwMode="auto">
          <a:xfrm>
            <a:off x="7162800" y="6400800"/>
            <a:ext cx="438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b="1">
                <a:solidFill>
                  <a:srgbClr val="000000"/>
                </a:solidFill>
              </a:rPr>
              <a:t>ANC</a:t>
            </a:r>
            <a:endParaRPr lang="en-US" sz="1600"/>
          </a:p>
        </p:txBody>
      </p:sp>
      <p:sp>
        <p:nvSpPr>
          <p:cNvPr id="44081" name="Text Box 10"/>
          <p:cNvSpPr txBox="1">
            <a:spLocks noChangeArrowheads="1"/>
          </p:cNvSpPr>
          <p:nvPr/>
        </p:nvSpPr>
        <p:spPr bwMode="auto">
          <a:xfrm>
            <a:off x="2752725" y="3562350"/>
            <a:ext cx="481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 b="1"/>
              <a:t>517</a:t>
            </a:r>
          </a:p>
        </p:txBody>
      </p:sp>
      <p:sp>
        <p:nvSpPr>
          <p:cNvPr id="44082" name="Text Box 9"/>
          <p:cNvSpPr txBox="1">
            <a:spLocks noChangeArrowheads="1"/>
          </p:cNvSpPr>
          <p:nvPr/>
        </p:nvSpPr>
        <p:spPr bwMode="auto">
          <a:xfrm>
            <a:off x="3354388" y="5080000"/>
            <a:ext cx="4810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 b="1"/>
              <a:t>170</a:t>
            </a:r>
          </a:p>
        </p:txBody>
      </p:sp>
      <p:sp>
        <p:nvSpPr>
          <p:cNvPr id="44083" name="Text Box 9"/>
          <p:cNvSpPr txBox="1">
            <a:spLocks noChangeArrowheads="1"/>
          </p:cNvSpPr>
          <p:nvPr/>
        </p:nvSpPr>
        <p:spPr bwMode="auto">
          <a:xfrm>
            <a:off x="3808413" y="5008563"/>
            <a:ext cx="4794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 b="1"/>
              <a:t>201</a:t>
            </a:r>
          </a:p>
        </p:txBody>
      </p:sp>
      <p:sp>
        <p:nvSpPr>
          <p:cNvPr id="44084" name="Text Box 9"/>
          <p:cNvSpPr txBox="1">
            <a:spLocks noChangeArrowheads="1"/>
          </p:cNvSpPr>
          <p:nvPr/>
        </p:nvSpPr>
        <p:spPr bwMode="auto">
          <a:xfrm>
            <a:off x="4337050" y="4833938"/>
            <a:ext cx="4794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 b="1"/>
              <a:t>263</a:t>
            </a:r>
          </a:p>
        </p:txBody>
      </p:sp>
      <p:sp>
        <p:nvSpPr>
          <p:cNvPr id="44085" name="Text Box 9"/>
          <p:cNvSpPr txBox="1">
            <a:spLocks noChangeArrowheads="1"/>
          </p:cNvSpPr>
          <p:nvPr/>
        </p:nvSpPr>
        <p:spPr bwMode="auto">
          <a:xfrm>
            <a:off x="4941888" y="5776913"/>
            <a:ext cx="47942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 b="1"/>
              <a:t>34</a:t>
            </a:r>
          </a:p>
        </p:txBody>
      </p:sp>
      <p:sp>
        <p:nvSpPr>
          <p:cNvPr id="44086" name="Text Box 9"/>
          <p:cNvSpPr txBox="1">
            <a:spLocks noChangeArrowheads="1"/>
          </p:cNvSpPr>
          <p:nvPr/>
        </p:nvSpPr>
        <p:spPr bwMode="auto">
          <a:xfrm>
            <a:off x="5394325" y="5568950"/>
            <a:ext cx="481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 b="1"/>
              <a:t>84</a:t>
            </a:r>
          </a:p>
        </p:txBody>
      </p:sp>
      <p:sp>
        <p:nvSpPr>
          <p:cNvPr id="44087" name="Text Box 9"/>
          <p:cNvSpPr txBox="1">
            <a:spLocks noChangeArrowheads="1"/>
          </p:cNvSpPr>
          <p:nvPr/>
        </p:nvSpPr>
        <p:spPr bwMode="auto">
          <a:xfrm>
            <a:off x="5924550" y="5568950"/>
            <a:ext cx="4794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 b="1"/>
              <a:t>78</a:t>
            </a:r>
          </a:p>
        </p:txBody>
      </p:sp>
      <p:grpSp>
        <p:nvGrpSpPr>
          <p:cNvPr id="44088" name="Group 197"/>
          <p:cNvGrpSpPr>
            <a:grpSpLocks/>
          </p:cNvGrpSpPr>
          <p:nvPr/>
        </p:nvGrpSpPr>
        <p:grpSpPr bwMode="auto">
          <a:xfrm>
            <a:off x="1830388" y="5008563"/>
            <a:ext cx="466725" cy="1244600"/>
            <a:chOff x="1424" y="2732"/>
            <a:chExt cx="321" cy="901"/>
          </a:xfrm>
        </p:grpSpPr>
        <p:sp>
          <p:nvSpPr>
            <p:cNvPr id="44132" name="Rectangle 195"/>
            <p:cNvSpPr>
              <a:spLocks noChangeArrowheads="1"/>
            </p:cNvSpPr>
            <p:nvPr/>
          </p:nvSpPr>
          <p:spPr bwMode="auto">
            <a:xfrm>
              <a:off x="1445" y="2773"/>
              <a:ext cx="238" cy="860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33" name="Freeform 196"/>
            <p:cNvSpPr>
              <a:spLocks/>
            </p:cNvSpPr>
            <p:nvPr/>
          </p:nvSpPr>
          <p:spPr bwMode="auto">
            <a:xfrm>
              <a:off x="1424" y="2732"/>
              <a:ext cx="321" cy="53"/>
            </a:xfrm>
            <a:custGeom>
              <a:avLst/>
              <a:gdLst>
                <a:gd name="T0" fmla="*/ 4391529 w 186"/>
                <a:gd name="T1" fmla="*/ 55992 h 36"/>
                <a:gd name="T2" fmla="*/ 5920885 w 186"/>
                <a:gd name="T3" fmla="*/ 0 h 36"/>
                <a:gd name="T4" fmla="*/ 1527437 w 186"/>
                <a:gd name="T5" fmla="*/ 0 h 36"/>
                <a:gd name="T6" fmla="*/ 0 w 186"/>
                <a:gd name="T7" fmla="*/ 55992 h 36"/>
                <a:gd name="T8" fmla="*/ 4391529 w 186"/>
                <a:gd name="T9" fmla="*/ 5599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" h="36">
                  <a:moveTo>
                    <a:pt x="138" y="36"/>
                  </a:moveTo>
                  <a:lnTo>
                    <a:pt x="186" y="0"/>
                  </a:lnTo>
                  <a:lnTo>
                    <a:pt x="48" y="0"/>
                  </a:lnTo>
                  <a:lnTo>
                    <a:pt x="0" y="36"/>
                  </a:lnTo>
                  <a:lnTo>
                    <a:pt x="138" y="36"/>
                  </a:lnTo>
                  <a:close/>
                </a:path>
              </a:pathLst>
            </a:custGeom>
            <a:solidFill>
              <a:srgbClr val="8CA8AA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89" name="Group 199"/>
          <p:cNvGrpSpPr>
            <a:grpSpLocks/>
          </p:cNvGrpSpPr>
          <p:nvPr/>
        </p:nvGrpSpPr>
        <p:grpSpPr bwMode="auto">
          <a:xfrm>
            <a:off x="4281488" y="5102225"/>
            <a:ext cx="574675" cy="1177925"/>
            <a:chOff x="-2490" y="1344"/>
            <a:chExt cx="323" cy="1820"/>
          </a:xfrm>
        </p:grpSpPr>
        <p:sp>
          <p:nvSpPr>
            <p:cNvPr id="44129" name="Freeform 200"/>
            <p:cNvSpPr>
              <a:spLocks/>
            </p:cNvSpPr>
            <p:nvPr/>
          </p:nvSpPr>
          <p:spPr bwMode="auto">
            <a:xfrm>
              <a:off x="-2252" y="1348"/>
              <a:ext cx="83" cy="1816"/>
            </a:xfrm>
            <a:custGeom>
              <a:avLst/>
              <a:gdLst>
                <a:gd name="T0" fmla="*/ 0 w 48"/>
                <a:gd name="T1" fmla="*/ 47533415 h 1032"/>
                <a:gd name="T2" fmla="*/ 0 w 48"/>
                <a:gd name="T3" fmla="*/ 1649164 h 1032"/>
                <a:gd name="T4" fmla="*/ 1591395 w 48"/>
                <a:gd name="T5" fmla="*/ 0 h 1032"/>
                <a:gd name="T6" fmla="*/ 1591395 w 48"/>
                <a:gd name="T7" fmla="*/ 45884883 h 1032"/>
                <a:gd name="T8" fmla="*/ 0 w 48"/>
                <a:gd name="T9" fmla="*/ 47533415 h 10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1032">
                  <a:moveTo>
                    <a:pt x="0" y="1032"/>
                  </a:moveTo>
                  <a:lnTo>
                    <a:pt x="0" y="36"/>
                  </a:lnTo>
                  <a:lnTo>
                    <a:pt x="48" y="0"/>
                  </a:lnTo>
                  <a:lnTo>
                    <a:pt x="48" y="996"/>
                  </a:lnTo>
                  <a:lnTo>
                    <a:pt x="0" y="1032"/>
                  </a:lnTo>
                  <a:close/>
                </a:path>
              </a:pathLst>
            </a:custGeom>
            <a:solidFill>
              <a:srgbClr val="004D4D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30" name="Rectangle 201"/>
            <p:cNvSpPr>
              <a:spLocks noChangeArrowheads="1"/>
            </p:cNvSpPr>
            <p:nvPr/>
          </p:nvSpPr>
          <p:spPr bwMode="auto">
            <a:xfrm>
              <a:off x="-2490" y="1412"/>
              <a:ext cx="238" cy="1752"/>
            </a:xfrm>
            <a:prstGeom prst="rect">
              <a:avLst/>
            </a:prstGeom>
            <a:solidFill>
              <a:srgbClr val="0099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31" name="Freeform 202"/>
            <p:cNvSpPr>
              <a:spLocks/>
            </p:cNvSpPr>
            <p:nvPr/>
          </p:nvSpPr>
          <p:spPr bwMode="auto">
            <a:xfrm>
              <a:off x="-2488" y="1344"/>
              <a:ext cx="321" cy="64"/>
            </a:xfrm>
            <a:custGeom>
              <a:avLst/>
              <a:gdLst>
                <a:gd name="T0" fmla="*/ 4391529 w 186"/>
                <a:gd name="T1" fmla="*/ 2021060 h 36"/>
                <a:gd name="T2" fmla="*/ 5920885 w 186"/>
                <a:gd name="T3" fmla="*/ 0 h 36"/>
                <a:gd name="T4" fmla="*/ 1527437 w 186"/>
                <a:gd name="T5" fmla="*/ 0 h 36"/>
                <a:gd name="T6" fmla="*/ 0 w 186"/>
                <a:gd name="T7" fmla="*/ 2021060 h 36"/>
                <a:gd name="T8" fmla="*/ 4391529 w 186"/>
                <a:gd name="T9" fmla="*/ 202106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" h="36">
                  <a:moveTo>
                    <a:pt x="138" y="36"/>
                  </a:moveTo>
                  <a:lnTo>
                    <a:pt x="186" y="0"/>
                  </a:lnTo>
                  <a:lnTo>
                    <a:pt x="48" y="0"/>
                  </a:lnTo>
                  <a:lnTo>
                    <a:pt x="0" y="36"/>
                  </a:lnTo>
                  <a:lnTo>
                    <a:pt x="138" y="36"/>
                  </a:lnTo>
                  <a:close/>
                </a:path>
              </a:pathLst>
            </a:custGeom>
            <a:solidFill>
              <a:srgbClr val="007373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90" name="Group 203"/>
          <p:cNvGrpSpPr>
            <a:grpSpLocks/>
          </p:cNvGrpSpPr>
          <p:nvPr/>
        </p:nvGrpSpPr>
        <p:grpSpPr bwMode="auto">
          <a:xfrm>
            <a:off x="3789363" y="5307013"/>
            <a:ext cx="527050" cy="955675"/>
            <a:chOff x="-1662" y="1888"/>
            <a:chExt cx="321" cy="1276"/>
          </a:xfrm>
        </p:grpSpPr>
        <p:sp>
          <p:nvSpPr>
            <p:cNvPr id="44126" name="Freeform 204"/>
            <p:cNvSpPr>
              <a:spLocks/>
            </p:cNvSpPr>
            <p:nvPr/>
          </p:nvSpPr>
          <p:spPr bwMode="auto">
            <a:xfrm>
              <a:off x="-1424" y="1888"/>
              <a:ext cx="83" cy="1276"/>
            </a:xfrm>
            <a:custGeom>
              <a:avLst/>
              <a:gdLst>
                <a:gd name="T0" fmla="*/ 0 w 48"/>
                <a:gd name="T1" fmla="*/ 1112308 h 876"/>
                <a:gd name="T2" fmla="*/ 0 w 48"/>
                <a:gd name="T3" fmla="*/ 45707 h 876"/>
                <a:gd name="T4" fmla="*/ 1591395 w 48"/>
                <a:gd name="T5" fmla="*/ 0 h 876"/>
                <a:gd name="T6" fmla="*/ 1591395 w 48"/>
                <a:gd name="T7" fmla="*/ 1066599 h 876"/>
                <a:gd name="T8" fmla="*/ 0 w 48"/>
                <a:gd name="T9" fmla="*/ 1112308 h 8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76">
                  <a:moveTo>
                    <a:pt x="0" y="876"/>
                  </a:moveTo>
                  <a:lnTo>
                    <a:pt x="0" y="36"/>
                  </a:lnTo>
                  <a:lnTo>
                    <a:pt x="48" y="0"/>
                  </a:lnTo>
                  <a:lnTo>
                    <a:pt x="48" y="840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1A1A4D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27" name="Rectangle 205"/>
            <p:cNvSpPr>
              <a:spLocks noChangeArrowheads="1"/>
            </p:cNvSpPr>
            <p:nvPr/>
          </p:nvSpPr>
          <p:spPr bwMode="auto">
            <a:xfrm>
              <a:off x="-1662" y="1940"/>
              <a:ext cx="238" cy="1224"/>
            </a:xfrm>
            <a:prstGeom prst="rect">
              <a:avLst/>
            </a:prstGeom>
            <a:solidFill>
              <a:srgbClr val="3333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28" name="Freeform 206"/>
            <p:cNvSpPr>
              <a:spLocks/>
            </p:cNvSpPr>
            <p:nvPr/>
          </p:nvSpPr>
          <p:spPr bwMode="auto">
            <a:xfrm>
              <a:off x="-1662" y="1888"/>
              <a:ext cx="321" cy="52"/>
            </a:xfrm>
            <a:custGeom>
              <a:avLst/>
              <a:gdLst>
                <a:gd name="T0" fmla="*/ 4391529 w 186"/>
                <a:gd name="T1" fmla="*/ 38669 h 36"/>
                <a:gd name="T2" fmla="*/ 5920885 w 186"/>
                <a:gd name="T3" fmla="*/ 0 h 36"/>
                <a:gd name="T4" fmla="*/ 1527437 w 186"/>
                <a:gd name="T5" fmla="*/ 0 h 36"/>
                <a:gd name="T6" fmla="*/ 0 w 186"/>
                <a:gd name="T7" fmla="*/ 38669 h 36"/>
                <a:gd name="T8" fmla="*/ 4391529 w 186"/>
                <a:gd name="T9" fmla="*/ 38669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" h="36">
                  <a:moveTo>
                    <a:pt x="138" y="36"/>
                  </a:moveTo>
                  <a:lnTo>
                    <a:pt x="186" y="0"/>
                  </a:lnTo>
                  <a:lnTo>
                    <a:pt x="48" y="0"/>
                  </a:lnTo>
                  <a:lnTo>
                    <a:pt x="0" y="36"/>
                  </a:lnTo>
                  <a:lnTo>
                    <a:pt x="138" y="36"/>
                  </a:lnTo>
                  <a:close/>
                </a:path>
              </a:pathLst>
            </a:custGeom>
            <a:solidFill>
              <a:srgbClr val="262673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91" name="Group 207"/>
          <p:cNvGrpSpPr>
            <a:grpSpLocks/>
          </p:cNvGrpSpPr>
          <p:nvPr/>
        </p:nvGrpSpPr>
        <p:grpSpPr bwMode="auto">
          <a:xfrm>
            <a:off x="3444875" y="5470525"/>
            <a:ext cx="422275" cy="781050"/>
            <a:chOff x="1424" y="2732"/>
            <a:chExt cx="321" cy="901"/>
          </a:xfrm>
        </p:grpSpPr>
        <p:sp>
          <p:nvSpPr>
            <p:cNvPr id="44124" name="Rectangle 208"/>
            <p:cNvSpPr>
              <a:spLocks noChangeArrowheads="1"/>
            </p:cNvSpPr>
            <p:nvPr/>
          </p:nvSpPr>
          <p:spPr bwMode="auto">
            <a:xfrm>
              <a:off x="1445" y="2773"/>
              <a:ext cx="238" cy="860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25" name="Freeform 209"/>
            <p:cNvSpPr>
              <a:spLocks/>
            </p:cNvSpPr>
            <p:nvPr/>
          </p:nvSpPr>
          <p:spPr bwMode="auto">
            <a:xfrm>
              <a:off x="1424" y="2732"/>
              <a:ext cx="321" cy="53"/>
            </a:xfrm>
            <a:custGeom>
              <a:avLst/>
              <a:gdLst>
                <a:gd name="T0" fmla="*/ 4391529 w 186"/>
                <a:gd name="T1" fmla="*/ 55992 h 36"/>
                <a:gd name="T2" fmla="*/ 5920885 w 186"/>
                <a:gd name="T3" fmla="*/ 0 h 36"/>
                <a:gd name="T4" fmla="*/ 1527437 w 186"/>
                <a:gd name="T5" fmla="*/ 0 h 36"/>
                <a:gd name="T6" fmla="*/ 0 w 186"/>
                <a:gd name="T7" fmla="*/ 55992 h 36"/>
                <a:gd name="T8" fmla="*/ 4391529 w 186"/>
                <a:gd name="T9" fmla="*/ 5599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" h="36">
                  <a:moveTo>
                    <a:pt x="138" y="36"/>
                  </a:moveTo>
                  <a:lnTo>
                    <a:pt x="186" y="0"/>
                  </a:lnTo>
                  <a:lnTo>
                    <a:pt x="48" y="0"/>
                  </a:lnTo>
                  <a:lnTo>
                    <a:pt x="0" y="36"/>
                  </a:lnTo>
                  <a:lnTo>
                    <a:pt x="138" y="36"/>
                  </a:lnTo>
                  <a:close/>
                </a:path>
              </a:pathLst>
            </a:custGeom>
            <a:solidFill>
              <a:srgbClr val="8CA8AA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92" name="Group 210"/>
          <p:cNvGrpSpPr>
            <a:grpSpLocks/>
          </p:cNvGrpSpPr>
          <p:nvPr/>
        </p:nvGrpSpPr>
        <p:grpSpPr bwMode="auto">
          <a:xfrm>
            <a:off x="5922963" y="5919788"/>
            <a:ext cx="471487" cy="347662"/>
            <a:chOff x="-2490" y="1344"/>
            <a:chExt cx="323" cy="1820"/>
          </a:xfrm>
        </p:grpSpPr>
        <p:sp>
          <p:nvSpPr>
            <p:cNvPr id="44121" name="Freeform 211"/>
            <p:cNvSpPr>
              <a:spLocks/>
            </p:cNvSpPr>
            <p:nvPr/>
          </p:nvSpPr>
          <p:spPr bwMode="auto">
            <a:xfrm>
              <a:off x="-2252" y="1348"/>
              <a:ext cx="83" cy="1816"/>
            </a:xfrm>
            <a:custGeom>
              <a:avLst/>
              <a:gdLst>
                <a:gd name="T0" fmla="*/ 0 w 48"/>
                <a:gd name="T1" fmla="*/ 47533415 h 1032"/>
                <a:gd name="T2" fmla="*/ 0 w 48"/>
                <a:gd name="T3" fmla="*/ 1649164 h 1032"/>
                <a:gd name="T4" fmla="*/ 1591395 w 48"/>
                <a:gd name="T5" fmla="*/ 0 h 1032"/>
                <a:gd name="T6" fmla="*/ 1591395 w 48"/>
                <a:gd name="T7" fmla="*/ 45884883 h 1032"/>
                <a:gd name="T8" fmla="*/ 0 w 48"/>
                <a:gd name="T9" fmla="*/ 47533415 h 10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1032">
                  <a:moveTo>
                    <a:pt x="0" y="1032"/>
                  </a:moveTo>
                  <a:lnTo>
                    <a:pt x="0" y="36"/>
                  </a:lnTo>
                  <a:lnTo>
                    <a:pt x="48" y="0"/>
                  </a:lnTo>
                  <a:lnTo>
                    <a:pt x="48" y="996"/>
                  </a:lnTo>
                  <a:lnTo>
                    <a:pt x="0" y="1032"/>
                  </a:lnTo>
                  <a:close/>
                </a:path>
              </a:pathLst>
            </a:custGeom>
            <a:solidFill>
              <a:srgbClr val="004D4D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22" name="Rectangle 212"/>
            <p:cNvSpPr>
              <a:spLocks noChangeArrowheads="1"/>
            </p:cNvSpPr>
            <p:nvPr/>
          </p:nvSpPr>
          <p:spPr bwMode="auto">
            <a:xfrm>
              <a:off x="-2490" y="1412"/>
              <a:ext cx="238" cy="1752"/>
            </a:xfrm>
            <a:prstGeom prst="rect">
              <a:avLst/>
            </a:prstGeom>
            <a:solidFill>
              <a:srgbClr val="0099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23" name="Freeform 213"/>
            <p:cNvSpPr>
              <a:spLocks/>
            </p:cNvSpPr>
            <p:nvPr/>
          </p:nvSpPr>
          <p:spPr bwMode="auto">
            <a:xfrm>
              <a:off x="-2488" y="1344"/>
              <a:ext cx="321" cy="64"/>
            </a:xfrm>
            <a:custGeom>
              <a:avLst/>
              <a:gdLst>
                <a:gd name="T0" fmla="*/ 4391529 w 186"/>
                <a:gd name="T1" fmla="*/ 2021060 h 36"/>
                <a:gd name="T2" fmla="*/ 5920885 w 186"/>
                <a:gd name="T3" fmla="*/ 0 h 36"/>
                <a:gd name="T4" fmla="*/ 1527437 w 186"/>
                <a:gd name="T5" fmla="*/ 0 h 36"/>
                <a:gd name="T6" fmla="*/ 0 w 186"/>
                <a:gd name="T7" fmla="*/ 2021060 h 36"/>
                <a:gd name="T8" fmla="*/ 4391529 w 186"/>
                <a:gd name="T9" fmla="*/ 202106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" h="36">
                  <a:moveTo>
                    <a:pt x="138" y="36"/>
                  </a:moveTo>
                  <a:lnTo>
                    <a:pt x="186" y="0"/>
                  </a:lnTo>
                  <a:lnTo>
                    <a:pt x="48" y="0"/>
                  </a:lnTo>
                  <a:lnTo>
                    <a:pt x="0" y="36"/>
                  </a:lnTo>
                  <a:lnTo>
                    <a:pt x="138" y="36"/>
                  </a:lnTo>
                  <a:close/>
                </a:path>
              </a:pathLst>
            </a:custGeom>
            <a:solidFill>
              <a:srgbClr val="007373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93" name="Group 214"/>
          <p:cNvGrpSpPr>
            <a:grpSpLocks/>
          </p:cNvGrpSpPr>
          <p:nvPr/>
        </p:nvGrpSpPr>
        <p:grpSpPr bwMode="auto">
          <a:xfrm>
            <a:off x="5394325" y="5868988"/>
            <a:ext cx="541338" cy="393700"/>
            <a:chOff x="-1662" y="1888"/>
            <a:chExt cx="321" cy="1276"/>
          </a:xfrm>
        </p:grpSpPr>
        <p:sp>
          <p:nvSpPr>
            <p:cNvPr id="44118" name="Freeform 215"/>
            <p:cNvSpPr>
              <a:spLocks/>
            </p:cNvSpPr>
            <p:nvPr/>
          </p:nvSpPr>
          <p:spPr bwMode="auto">
            <a:xfrm>
              <a:off x="-1424" y="1888"/>
              <a:ext cx="83" cy="1276"/>
            </a:xfrm>
            <a:custGeom>
              <a:avLst/>
              <a:gdLst>
                <a:gd name="T0" fmla="*/ 0 w 48"/>
                <a:gd name="T1" fmla="*/ 1112308 h 876"/>
                <a:gd name="T2" fmla="*/ 0 w 48"/>
                <a:gd name="T3" fmla="*/ 45707 h 876"/>
                <a:gd name="T4" fmla="*/ 1591395 w 48"/>
                <a:gd name="T5" fmla="*/ 0 h 876"/>
                <a:gd name="T6" fmla="*/ 1591395 w 48"/>
                <a:gd name="T7" fmla="*/ 1066599 h 876"/>
                <a:gd name="T8" fmla="*/ 0 w 48"/>
                <a:gd name="T9" fmla="*/ 1112308 h 8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76">
                  <a:moveTo>
                    <a:pt x="0" y="876"/>
                  </a:moveTo>
                  <a:lnTo>
                    <a:pt x="0" y="36"/>
                  </a:lnTo>
                  <a:lnTo>
                    <a:pt x="48" y="0"/>
                  </a:lnTo>
                  <a:lnTo>
                    <a:pt x="48" y="840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1A1A4D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19" name="Rectangle 216"/>
            <p:cNvSpPr>
              <a:spLocks noChangeArrowheads="1"/>
            </p:cNvSpPr>
            <p:nvPr/>
          </p:nvSpPr>
          <p:spPr bwMode="auto">
            <a:xfrm>
              <a:off x="-1662" y="1940"/>
              <a:ext cx="238" cy="1224"/>
            </a:xfrm>
            <a:prstGeom prst="rect">
              <a:avLst/>
            </a:prstGeom>
            <a:solidFill>
              <a:srgbClr val="3333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20" name="Freeform 217"/>
            <p:cNvSpPr>
              <a:spLocks/>
            </p:cNvSpPr>
            <p:nvPr/>
          </p:nvSpPr>
          <p:spPr bwMode="auto">
            <a:xfrm>
              <a:off x="-1662" y="1888"/>
              <a:ext cx="321" cy="52"/>
            </a:xfrm>
            <a:custGeom>
              <a:avLst/>
              <a:gdLst>
                <a:gd name="T0" fmla="*/ 4391529 w 186"/>
                <a:gd name="T1" fmla="*/ 38669 h 36"/>
                <a:gd name="T2" fmla="*/ 5920885 w 186"/>
                <a:gd name="T3" fmla="*/ 0 h 36"/>
                <a:gd name="T4" fmla="*/ 1527437 w 186"/>
                <a:gd name="T5" fmla="*/ 0 h 36"/>
                <a:gd name="T6" fmla="*/ 0 w 186"/>
                <a:gd name="T7" fmla="*/ 38669 h 36"/>
                <a:gd name="T8" fmla="*/ 4391529 w 186"/>
                <a:gd name="T9" fmla="*/ 38669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" h="36">
                  <a:moveTo>
                    <a:pt x="138" y="36"/>
                  </a:moveTo>
                  <a:lnTo>
                    <a:pt x="186" y="0"/>
                  </a:lnTo>
                  <a:lnTo>
                    <a:pt x="48" y="0"/>
                  </a:lnTo>
                  <a:lnTo>
                    <a:pt x="0" y="36"/>
                  </a:lnTo>
                  <a:lnTo>
                    <a:pt x="138" y="36"/>
                  </a:lnTo>
                  <a:close/>
                </a:path>
              </a:pathLst>
            </a:custGeom>
            <a:solidFill>
              <a:srgbClr val="262673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94" name="Group 218"/>
          <p:cNvGrpSpPr>
            <a:grpSpLocks/>
          </p:cNvGrpSpPr>
          <p:nvPr/>
        </p:nvGrpSpPr>
        <p:grpSpPr bwMode="auto">
          <a:xfrm>
            <a:off x="4979988" y="6045200"/>
            <a:ext cx="541337" cy="220663"/>
            <a:chOff x="1424" y="2732"/>
            <a:chExt cx="321" cy="901"/>
          </a:xfrm>
        </p:grpSpPr>
        <p:sp>
          <p:nvSpPr>
            <p:cNvPr id="44116" name="Rectangle 219"/>
            <p:cNvSpPr>
              <a:spLocks noChangeArrowheads="1"/>
            </p:cNvSpPr>
            <p:nvPr/>
          </p:nvSpPr>
          <p:spPr bwMode="auto">
            <a:xfrm>
              <a:off x="1445" y="2773"/>
              <a:ext cx="238" cy="860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17" name="Freeform 220"/>
            <p:cNvSpPr>
              <a:spLocks/>
            </p:cNvSpPr>
            <p:nvPr/>
          </p:nvSpPr>
          <p:spPr bwMode="auto">
            <a:xfrm>
              <a:off x="1424" y="2732"/>
              <a:ext cx="321" cy="53"/>
            </a:xfrm>
            <a:custGeom>
              <a:avLst/>
              <a:gdLst>
                <a:gd name="T0" fmla="*/ 4391529 w 186"/>
                <a:gd name="T1" fmla="*/ 55992 h 36"/>
                <a:gd name="T2" fmla="*/ 5920885 w 186"/>
                <a:gd name="T3" fmla="*/ 0 h 36"/>
                <a:gd name="T4" fmla="*/ 1527437 w 186"/>
                <a:gd name="T5" fmla="*/ 0 h 36"/>
                <a:gd name="T6" fmla="*/ 0 w 186"/>
                <a:gd name="T7" fmla="*/ 55992 h 36"/>
                <a:gd name="T8" fmla="*/ 4391529 w 186"/>
                <a:gd name="T9" fmla="*/ 5599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" h="36">
                  <a:moveTo>
                    <a:pt x="138" y="36"/>
                  </a:moveTo>
                  <a:lnTo>
                    <a:pt x="186" y="0"/>
                  </a:lnTo>
                  <a:lnTo>
                    <a:pt x="48" y="0"/>
                  </a:lnTo>
                  <a:lnTo>
                    <a:pt x="0" y="36"/>
                  </a:lnTo>
                  <a:lnTo>
                    <a:pt x="138" y="36"/>
                  </a:lnTo>
                  <a:close/>
                </a:path>
              </a:pathLst>
            </a:custGeom>
            <a:solidFill>
              <a:srgbClr val="8CA8AA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95" name="Group 221"/>
          <p:cNvGrpSpPr>
            <a:grpSpLocks/>
          </p:cNvGrpSpPr>
          <p:nvPr/>
        </p:nvGrpSpPr>
        <p:grpSpPr bwMode="auto">
          <a:xfrm>
            <a:off x="7469188" y="1985963"/>
            <a:ext cx="531812" cy="4294187"/>
            <a:chOff x="-2490" y="1344"/>
            <a:chExt cx="323" cy="1820"/>
          </a:xfrm>
        </p:grpSpPr>
        <p:sp>
          <p:nvSpPr>
            <p:cNvPr id="44113" name="Freeform 222"/>
            <p:cNvSpPr>
              <a:spLocks/>
            </p:cNvSpPr>
            <p:nvPr/>
          </p:nvSpPr>
          <p:spPr bwMode="auto">
            <a:xfrm>
              <a:off x="-2252" y="1348"/>
              <a:ext cx="83" cy="1816"/>
            </a:xfrm>
            <a:custGeom>
              <a:avLst/>
              <a:gdLst>
                <a:gd name="T0" fmla="*/ 0 w 48"/>
                <a:gd name="T1" fmla="*/ 47533415 h 1032"/>
                <a:gd name="T2" fmla="*/ 0 w 48"/>
                <a:gd name="T3" fmla="*/ 1649164 h 1032"/>
                <a:gd name="T4" fmla="*/ 1591395 w 48"/>
                <a:gd name="T5" fmla="*/ 0 h 1032"/>
                <a:gd name="T6" fmla="*/ 1591395 w 48"/>
                <a:gd name="T7" fmla="*/ 45884883 h 1032"/>
                <a:gd name="T8" fmla="*/ 0 w 48"/>
                <a:gd name="T9" fmla="*/ 47533415 h 10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1032">
                  <a:moveTo>
                    <a:pt x="0" y="1032"/>
                  </a:moveTo>
                  <a:lnTo>
                    <a:pt x="0" y="36"/>
                  </a:lnTo>
                  <a:lnTo>
                    <a:pt x="48" y="0"/>
                  </a:lnTo>
                  <a:lnTo>
                    <a:pt x="48" y="996"/>
                  </a:lnTo>
                  <a:lnTo>
                    <a:pt x="0" y="1032"/>
                  </a:lnTo>
                  <a:close/>
                </a:path>
              </a:pathLst>
            </a:custGeom>
            <a:solidFill>
              <a:srgbClr val="004D4D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14" name="Rectangle 223"/>
            <p:cNvSpPr>
              <a:spLocks noChangeArrowheads="1"/>
            </p:cNvSpPr>
            <p:nvPr/>
          </p:nvSpPr>
          <p:spPr bwMode="auto">
            <a:xfrm>
              <a:off x="-2490" y="1412"/>
              <a:ext cx="238" cy="1752"/>
            </a:xfrm>
            <a:prstGeom prst="rect">
              <a:avLst/>
            </a:prstGeom>
            <a:solidFill>
              <a:srgbClr val="0099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15" name="Freeform 224"/>
            <p:cNvSpPr>
              <a:spLocks/>
            </p:cNvSpPr>
            <p:nvPr/>
          </p:nvSpPr>
          <p:spPr bwMode="auto">
            <a:xfrm>
              <a:off x="-2488" y="1344"/>
              <a:ext cx="321" cy="64"/>
            </a:xfrm>
            <a:custGeom>
              <a:avLst/>
              <a:gdLst>
                <a:gd name="T0" fmla="*/ 4391529 w 186"/>
                <a:gd name="T1" fmla="*/ 2021060 h 36"/>
                <a:gd name="T2" fmla="*/ 5920885 w 186"/>
                <a:gd name="T3" fmla="*/ 0 h 36"/>
                <a:gd name="T4" fmla="*/ 1527437 w 186"/>
                <a:gd name="T5" fmla="*/ 0 h 36"/>
                <a:gd name="T6" fmla="*/ 0 w 186"/>
                <a:gd name="T7" fmla="*/ 2021060 h 36"/>
                <a:gd name="T8" fmla="*/ 4391529 w 186"/>
                <a:gd name="T9" fmla="*/ 202106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" h="36">
                  <a:moveTo>
                    <a:pt x="138" y="36"/>
                  </a:moveTo>
                  <a:lnTo>
                    <a:pt x="186" y="0"/>
                  </a:lnTo>
                  <a:lnTo>
                    <a:pt x="48" y="0"/>
                  </a:lnTo>
                  <a:lnTo>
                    <a:pt x="0" y="36"/>
                  </a:lnTo>
                  <a:lnTo>
                    <a:pt x="138" y="36"/>
                  </a:lnTo>
                  <a:close/>
                </a:path>
              </a:pathLst>
            </a:custGeom>
            <a:solidFill>
              <a:srgbClr val="007373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96" name="Group 225"/>
          <p:cNvGrpSpPr>
            <a:grpSpLocks/>
          </p:cNvGrpSpPr>
          <p:nvPr/>
        </p:nvGrpSpPr>
        <p:grpSpPr bwMode="auto">
          <a:xfrm>
            <a:off x="6975475" y="3827463"/>
            <a:ext cx="511175" cy="2435225"/>
            <a:chOff x="-1662" y="1888"/>
            <a:chExt cx="321" cy="1276"/>
          </a:xfrm>
        </p:grpSpPr>
        <p:sp>
          <p:nvSpPr>
            <p:cNvPr id="44110" name="Freeform 226"/>
            <p:cNvSpPr>
              <a:spLocks/>
            </p:cNvSpPr>
            <p:nvPr/>
          </p:nvSpPr>
          <p:spPr bwMode="auto">
            <a:xfrm>
              <a:off x="-1424" y="1888"/>
              <a:ext cx="83" cy="1276"/>
            </a:xfrm>
            <a:custGeom>
              <a:avLst/>
              <a:gdLst>
                <a:gd name="T0" fmla="*/ 0 w 48"/>
                <a:gd name="T1" fmla="*/ 1112308 h 876"/>
                <a:gd name="T2" fmla="*/ 0 w 48"/>
                <a:gd name="T3" fmla="*/ 45707 h 876"/>
                <a:gd name="T4" fmla="*/ 1591395 w 48"/>
                <a:gd name="T5" fmla="*/ 0 h 876"/>
                <a:gd name="T6" fmla="*/ 1591395 w 48"/>
                <a:gd name="T7" fmla="*/ 1066599 h 876"/>
                <a:gd name="T8" fmla="*/ 0 w 48"/>
                <a:gd name="T9" fmla="*/ 1112308 h 8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76">
                  <a:moveTo>
                    <a:pt x="0" y="876"/>
                  </a:moveTo>
                  <a:lnTo>
                    <a:pt x="0" y="36"/>
                  </a:lnTo>
                  <a:lnTo>
                    <a:pt x="48" y="0"/>
                  </a:lnTo>
                  <a:lnTo>
                    <a:pt x="48" y="840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1A1A4D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11" name="Rectangle 227"/>
            <p:cNvSpPr>
              <a:spLocks noChangeArrowheads="1"/>
            </p:cNvSpPr>
            <p:nvPr/>
          </p:nvSpPr>
          <p:spPr bwMode="auto">
            <a:xfrm>
              <a:off x="-1662" y="1940"/>
              <a:ext cx="238" cy="1224"/>
            </a:xfrm>
            <a:prstGeom prst="rect">
              <a:avLst/>
            </a:prstGeom>
            <a:solidFill>
              <a:srgbClr val="3333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12" name="Freeform 228"/>
            <p:cNvSpPr>
              <a:spLocks/>
            </p:cNvSpPr>
            <p:nvPr/>
          </p:nvSpPr>
          <p:spPr bwMode="auto">
            <a:xfrm>
              <a:off x="-1662" y="1888"/>
              <a:ext cx="321" cy="52"/>
            </a:xfrm>
            <a:custGeom>
              <a:avLst/>
              <a:gdLst>
                <a:gd name="T0" fmla="*/ 4391529 w 186"/>
                <a:gd name="T1" fmla="*/ 38669 h 36"/>
                <a:gd name="T2" fmla="*/ 5920885 w 186"/>
                <a:gd name="T3" fmla="*/ 0 h 36"/>
                <a:gd name="T4" fmla="*/ 1527437 w 186"/>
                <a:gd name="T5" fmla="*/ 0 h 36"/>
                <a:gd name="T6" fmla="*/ 0 w 186"/>
                <a:gd name="T7" fmla="*/ 38669 h 36"/>
                <a:gd name="T8" fmla="*/ 4391529 w 186"/>
                <a:gd name="T9" fmla="*/ 38669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" h="36">
                  <a:moveTo>
                    <a:pt x="138" y="36"/>
                  </a:moveTo>
                  <a:lnTo>
                    <a:pt x="186" y="0"/>
                  </a:lnTo>
                  <a:lnTo>
                    <a:pt x="48" y="0"/>
                  </a:lnTo>
                  <a:lnTo>
                    <a:pt x="0" y="36"/>
                  </a:lnTo>
                  <a:lnTo>
                    <a:pt x="138" y="36"/>
                  </a:lnTo>
                  <a:close/>
                </a:path>
              </a:pathLst>
            </a:custGeom>
            <a:solidFill>
              <a:srgbClr val="262673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97" name="Group 229"/>
          <p:cNvGrpSpPr>
            <a:grpSpLocks/>
          </p:cNvGrpSpPr>
          <p:nvPr/>
        </p:nvGrpSpPr>
        <p:grpSpPr bwMode="auto">
          <a:xfrm>
            <a:off x="6575425" y="6013450"/>
            <a:ext cx="498475" cy="238125"/>
            <a:chOff x="1424" y="2732"/>
            <a:chExt cx="321" cy="901"/>
          </a:xfrm>
        </p:grpSpPr>
        <p:sp>
          <p:nvSpPr>
            <p:cNvPr id="44108" name="Rectangle 230"/>
            <p:cNvSpPr>
              <a:spLocks noChangeArrowheads="1"/>
            </p:cNvSpPr>
            <p:nvPr/>
          </p:nvSpPr>
          <p:spPr bwMode="auto">
            <a:xfrm>
              <a:off x="1445" y="2773"/>
              <a:ext cx="238" cy="860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09" name="Freeform 231"/>
            <p:cNvSpPr>
              <a:spLocks/>
            </p:cNvSpPr>
            <p:nvPr/>
          </p:nvSpPr>
          <p:spPr bwMode="auto">
            <a:xfrm>
              <a:off x="1424" y="2732"/>
              <a:ext cx="321" cy="53"/>
            </a:xfrm>
            <a:custGeom>
              <a:avLst/>
              <a:gdLst>
                <a:gd name="T0" fmla="*/ 4391529 w 186"/>
                <a:gd name="T1" fmla="*/ 55992 h 36"/>
                <a:gd name="T2" fmla="*/ 5920885 w 186"/>
                <a:gd name="T3" fmla="*/ 0 h 36"/>
                <a:gd name="T4" fmla="*/ 1527437 w 186"/>
                <a:gd name="T5" fmla="*/ 0 h 36"/>
                <a:gd name="T6" fmla="*/ 0 w 186"/>
                <a:gd name="T7" fmla="*/ 55992 h 36"/>
                <a:gd name="T8" fmla="*/ 4391529 w 186"/>
                <a:gd name="T9" fmla="*/ 5599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" h="36">
                  <a:moveTo>
                    <a:pt x="138" y="36"/>
                  </a:moveTo>
                  <a:lnTo>
                    <a:pt x="186" y="0"/>
                  </a:lnTo>
                  <a:lnTo>
                    <a:pt x="48" y="0"/>
                  </a:lnTo>
                  <a:lnTo>
                    <a:pt x="0" y="36"/>
                  </a:lnTo>
                  <a:lnTo>
                    <a:pt x="138" y="36"/>
                  </a:lnTo>
                  <a:close/>
                </a:path>
              </a:pathLst>
            </a:custGeom>
            <a:solidFill>
              <a:srgbClr val="8CA8AA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098" name="Text Box 9"/>
          <p:cNvSpPr txBox="1">
            <a:spLocks noChangeArrowheads="1"/>
          </p:cNvSpPr>
          <p:nvPr/>
        </p:nvSpPr>
        <p:spPr bwMode="auto">
          <a:xfrm>
            <a:off x="6572250" y="5741988"/>
            <a:ext cx="4794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 b="1"/>
              <a:t>55</a:t>
            </a:r>
          </a:p>
        </p:txBody>
      </p:sp>
      <p:sp>
        <p:nvSpPr>
          <p:cNvPr id="44099" name="Text Box 9"/>
          <p:cNvSpPr txBox="1">
            <a:spLocks noChangeArrowheads="1"/>
          </p:cNvSpPr>
          <p:nvPr/>
        </p:nvSpPr>
        <p:spPr bwMode="auto">
          <a:xfrm>
            <a:off x="7007225" y="3551238"/>
            <a:ext cx="4794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 b="1"/>
              <a:t>514</a:t>
            </a:r>
          </a:p>
        </p:txBody>
      </p:sp>
      <p:sp>
        <p:nvSpPr>
          <p:cNvPr id="44100" name="Text Box 9"/>
          <p:cNvSpPr txBox="1">
            <a:spLocks noChangeArrowheads="1"/>
          </p:cNvSpPr>
          <p:nvPr/>
        </p:nvSpPr>
        <p:spPr bwMode="auto">
          <a:xfrm>
            <a:off x="7556500" y="1674813"/>
            <a:ext cx="48101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 b="1"/>
              <a:t>909</a:t>
            </a:r>
          </a:p>
        </p:txBody>
      </p:sp>
      <p:sp>
        <p:nvSpPr>
          <p:cNvPr id="44101" name="Freeform 236"/>
          <p:cNvSpPr>
            <a:spLocks/>
          </p:cNvSpPr>
          <p:nvPr/>
        </p:nvSpPr>
        <p:spPr bwMode="auto">
          <a:xfrm>
            <a:off x="1484313" y="1684338"/>
            <a:ext cx="6843712" cy="93662"/>
          </a:xfrm>
          <a:custGeom>
            <a:avLst/>
            <a:gdLst>
              <a:gd name="T0" fmla="*/ 0 w 420"/>
              <a:gd name="T1" fmla="*/ 2147483647 h 6"/>
              <a:gd name="T2" fmla="*/ 2147483647 w 420"/>
              <a:gd name="T3" fmla="*/ 0 h 6"/>
              <a:gd name="T4" fmla="*/ 2147483647 w 420"/>
              <a:gd name="T5" fmla="*/ 0 h 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0" h="6">
                <a:moveTo>
                  <a:pt x="0" y="6"/>
                </a:moveTo>
                <a:lnTo>
                  <a:pt x="8" y="0"/>
                </a:lnTo>
                <a:lnTo>
                  <a:pt x="42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102" name="Rectangle 237"/>
          <p:cNvSpPr>
            <a:spLocks noChangeArrowheads="1"/>
          </p:cNvSpPr>
          <p:nvPr/>
        </p:nvSpPr>
        <p:spPr bwMode="auto">
          <a:xfrm>
            <a:off x="927100" y="1716088"/>
            <a:ext cx="508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1000</a:t>
            </a:r>
            <a:endParaRPr lang="en-US"/>
          </a:p>
        </p:txBody>
      </p:sp>
      <p:sp>
        <p:nvSpPr>
          <p:cNvPr id="44103" name="Text Box 10"/>
          <p:cNvSpPr txBox="1">
            <a:spLocks noChangeArrowheads="1"/>
          </p:cNvSpPr>
          <p:nvPr/>
        </p:nvSpPr>
        <p:spPr bwMode="auto">
          <a:xfrm>
            <a:off x="1817688" y="4783138"/>
            <a:ext cx="4810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 b="1"/>
              <a:t>275</a:t>
            </a:r>
          </a:p>
        </p:txBody>
      </p:sp>
      <p:grpSp>
        <p:nvGrpSpPr>
          <p:cNvPr id="44104" name="Group 193"/>
          <p:cNvGrpSpPr>
            <a:grpSpLocks/>
          </p:cNvGrpSpPr>
          <p:nvPr/>
        </p:nvGrpSpPr>
        <p:grpSpPr bwMode="auto">
          <a:xfrm>
            <a:off x="2767013" y="3819525"/>
            <a:ext cx="487362" cy="2460625"/>
            <a:chOff x="-2490" y="1344"/>
            <a:chExt cx="323" cy="1820"/>
          </a:xfrm>
        </p:grpSpPr>
        <p:sp>
          <p:nvSpPr>
            <p:cNvPr id="44105" name="Freeform 116"/>
            <p:cNvSpPr>
              <a:spLocks/>
            </p:cNvSpPr>
            <p:nvPr/>
          </p:nvSpPr>
          <p:spPr bwMode="auto">
            <a:xfrm>
              <a:off x="-2252" y="1348"/>
              <a:ext cx="83" cy="1816"/>
            </a:xfrm>
            <a:custGeom>
              <a:avLst/>
              <a:gdLst>
                <a:gd name="T0" fmla="*/ 0 w 48"/>
                <a:gd name="T1" fmla="*/ 47533415 h 1032"/>
                <a:gd name="T2" fmla="*/ 0 w 48"/>
                <a:gd name="T3" fmla="*/ 1649164 h 1032"/>
                <a:gd name="T4" fmla="*/ 1591395 w 48"/>
                <a:gd name="T5" fmla="*/ 0 h 1032"/>
                <a:gd name="T6" fmla="*/ 1591395 w 48"/>
                <a:gd name="T7" fmla="*/ 45884883 h 1032"/>
                <a:gd name="T8" fmla="*/ 0 w 48"/>
                <a:gd name="T9" fmla="*/ 47533415 h 10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1032">
                  <a:moveTo>
                    <a:pt x="0" y="1032"/>
                  </a:moveTo>
                  <a:lnTo>
                    <a:pt x="0" y="36"/>
                  </a:lnTo>
                  <a:lnTo>
                    <a:pt x="48" y="0"/>
                  </a:lnTo>
                  <a:lnTo>
                    <a:pt x="48" y="996"/>
                  </a:lnTo>
                  <a:lnTo>
                    <a:pt x="0" y="1032"/>
                  </a:lnTo>
                  <a:close/>
                </a:path>
              </a:pathLst>
            </a:custGeom>
            <a:solidFill>
              <a:srgbClr val="004D4D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06" name="Rectangle 117"/>
            <p:cNvSpPr>
              <a:spLocks noChangeArrowheads="1"/>
            </p:cNvSpPr>
            <p:nvPr/>
          </p:nvSpPr>
          <p:spPr bwMode="auto">
            <a:xfrm>
              <a:off x="-2490" y="1412"/>
              <a:ext cx="238" cy="1752"/>
            </a:xfrm>
            <a:prstGeom prst="rect">
              <a:avLst/>
            </a:prstGeom>
            <a:solidFill>
              <a:srgbClr val="0099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07" name="Freeform 118"/>
            <p:cNvSpPr>
              <a:spLocks/>
            </p:cNvSpPr>
            <p:nvPr/>
          </p:nvSpPr>
          <p:spPr bwMode="auto">
            <a:xfrm>
              <a:off x="-2488" y="1344"/>
              <a:ext cx="321" cy="64"/>
            </a:xfrm>
            <a:custGeom>
              <a:avLst/>
              <a:gdLst>
                <a:gd name="T0" fmla="*/ 4391529 w 186"/>
                <a:gd name="T1" fmla="*/ 2021060 h 36"/>
                <a:gd name="T2" fmla="*/ 5920885 w 186"/>
                <a:gd name="T3" fmla="*/ 0 h 36"/>
                <a:gd name="T4" fmla="*/ 1527437 w 186"/>
                <a:gd name="T5" fmla="*/ 0 h 36"/>
                <a:gd name="T6" fmla="*/ 0 w 186"/>
                <a:gd name="T7" fmla="*/ 2021060 h 36"/>
                <a:gd name="T8" fmla="*/ 4391529 w 186"/>
                <a:gd name="T9" fmla="*/ 202106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" h="36">
                  <a:moveTo>
                    <a:pt x="138" y="36"/>
                  </a:moveTo>
                  <a:lnTo>
                    <a:pt x="186" y="0"/>
                  </a:lnTo>
                  <a:lnTo>
                    <a:pt x="48" y="0"/>
                  </a:lnTo>
                  <a:lnTo>
                    <a:pt x="0" y="36"/>
                  </a:lnTo>
                  <a:lnTo>
                    <a:pt x="138" y="36"/>
                  </a:lnTo>
                  <a:close/>
                </a:path>
              </a:pathLst>
            </a:custGeom>
            <a:solidFill>
              <a:srgbClr val="007373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457200" y="304800"/>
            <a:ext cx="8229600" cy="8255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2"/>
                </a:solidFill>
              </a:rPr>
              <a:t>Sadar Hospital, Jhenaidah</a:t>
            </a:r>
          </a:p>
        </p:txBody>
      </p:sp>
      <p:graphicFrame>
        <p:nvGraphicFramePr>
          <p:cNvPr id="30813" name="Group 93"/>
          <p:cNvGraphicFramePr>
            <a:graphicFrameLocks noGrp="1"/>
          </p:cNvGraphicFramePr>
          <p:nvPr/>
        </p:nvGraphicFramePr>
        <p:xfrm>
          <a:off x="76200" y="2438400"/>
          <a:ext cx="8915400" cy="3714750"/>
        </p:xfrm>
        <a:graphic>
          <a:graphicData uri="http://schemas.openxmlformats.org/drawingml/2006/table">
            <a:tbl>
              <a:tblPr/>
              <a:tblGrid>
                <a:gridCol w="457200"/>
                <a:gridCol w="1981200"/>
                <a:gridCol w="1066800"/>
                <a:gridCol w="1066800"/>
                <a:gridCol w="1066800"/>
                <a:gridCol w="990600"/>
                <a:gridCol w="762000"/>
                <a:gridCol w="762000"/>
                <a:gridCol w="762000"/>
              </a:tblGrid>
              <a:tr h="45796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Sl</a:t>
                      </a: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 No</a:t>
                      </a:r>
                    </a:p>
                  </a:txBody>
                  <a:tcPr marT="45691" marB="456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Year</a:t>
                      </a:r>
                    </a:p>
                  </a:txBody>
                  <a:tcPr marT="45691" marB="456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ANC Services </a:t>
                      </a:r>
                    </a:p>
                  </a:txBody>
                  <a:tcPr marT="45691" marB="456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Admitted Patient </a:t>
                      </a:r>
                    </a:p>
                  </a:txBody>
                  <a:tcPr marT="45691" marB="456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Type of Delivery</a:t>
                      </a:r>
                    </a:p>
                  </a:txBody>
                  <a:tcPr marT="45691" marB="456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PNC</a:t>
                      </a:r>
                    </a:p>
                  </a:txBody>
                  <a:tcPr marT="45691" marB="456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84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NVD</a:t>
                      </a:r>
                    </a:p>
                  </a:txBody>
                  <a:tcPr marT="45691" marB="456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ASST DEL</a:t>
                      </a:r>
                    </a:p>
                  </a:txBody>
                  <a:tcPr marT="45691" marB="456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CS</a:t>
                      </a:r>
                    </a:p>
                  </a:txBody>
                  <a:tcPr marT="45691" marB="456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Total</a:t>
                      </a:r>
                    </a:p>
                  </a:txBody>
                  <a:tcPr marT="45691" marB="456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67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01</a:t>
                      </a:r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 bed Hospital,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Jessore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12482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6323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1659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32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1583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3274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2023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667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02</a:t>
                      </a:r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 bad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Jhenidah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Sador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Hospital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10811</a:t>
                      </a:r>
                      <a:endParaRPr lang="en-US" sz="2000" dirty="0"/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6095</a:t>
                      </a:r>
                      <a:endParaRPr lang="en-US" sz="2000" dirty="0"/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1924</a:t>
                      </a:r>
                      <a:endParaRPr lang="en-US" sz="2000" dirty="0"/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21</a:t>
                      </a:r>
                      <a:endParaRPr lang="en-US" sz="2000" dirty="0"/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941</a:t>
                      </a:r>
                      <a:endParaRPr lang="en-US" sz="2000" dirty="0"/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2886</a:t>
                      </a:r>
                      <a:endParaRPr lang="en-US" sz="2000" dirty="0"/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3729</a:t>
                      </a:r>
                      <a:endParaRPr lang="en-US" sz="2000" dirty="0"/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7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03</a:t>
                      </a:r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 bed Hospital,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Khustia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5029</a:t>
                      </a:r>
                      <a:endParaRPr lang="en-US" sz="2000" dirty="0"/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 smtClean="0"/>
                        <a:t>6323</a:t>
                      </a:r>
                      <a:endParaRPr lang="en-US" sz="2000" u="none" dirty="0"/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1585</a:t>
                      </a:r>
                      <a:endParaRPr lang="en-US" sz="2000" dirty="0"/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32</a:t>
                      </a:r>
                      <a:endParaRPr lang="en-US" sz="2000" dirty="0"/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907</a:t>
                      </a:r>
                      <a:endParaRPr lang="en-US" sz="2000" dirty="0"/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2524</a:t>
                      </a:r>
                      <a:endParaRPr lang="en-US" sz="2000" dirty="0"/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2728</a:t>
                      </a:r>
                      <a:endParaRPr lang="en-US" sz="2000" dirty="0"/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667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04</a:t>
                      </a:r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 bed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Sathkhira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Sadar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Hospital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3798</a:t>
                      </a:r>
                      <a:endParaRPr lang="en-US" sz="2000" dirty="0"/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 smtClean="0"/>
                        <a:t>3422</a:t>
                      </a:r>
                      <a:endParaRPr lang="en-US" sz="2000" u="none" dirty="0"/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993</a:t>
                      </a:r>
                      <a:endParaRPr lang="en-US" sz="2000" dirty="0"/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14</a:t>
                      </a:r>
                      <a:endParaRPr lang="en-US" sz="2000" dirty="0"/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910</a:t>
                      </a:r>
                      <a:endParaRPr lang="en-US" sz="2000" dirty="0"/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1917</a:t>
                      </a:r>
                      <a:endParaRPr lang="en-US" sz="2000" dirty="0"/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2427</a:t>
                      </a:r>
                      <a:endParaRPr lang="en-US" sz="2000" dirty="0"/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5123" name="Rectangle 3"/>
          <p:cNvSpPr>
            <a:spLocks noChangeArrowheads="1"/>
          </p:cNvSpPr>
          <p:nvPr/>
        </p:nvSpPr>
        <p:spPr bwMode="auto">
          <a:xfrm>
            <a:off x="457200" y="1206500"/>
            <a:ext cx="8229600" cy="6604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n-US" sz="2400">
                <a:solidFill>
                  <a:srgbClr val="3333CC"/>
                </a:solidFill>
              </a:rPr>
              <a:t>Comparative Data of EOC service of 4 best performing District Hospital of Khulna Division in 2014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457200" y="165100"/>
            <a:ext cx="8229600" cy="8255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800" b="1">
                <a:solidFill>
                  <a:schemeClr val="tx2"/>
                </a:solidFill>
              </a:rPr>
              <a:t>Sadar Hospital, Jhenaidah</a:t>
            </a:r>
          </a:p>
        </p:txBody>
      </p:sp>
      <p:sp>
        <p:nvSpPr>
          <p:cNvPr id="112688" name="Rectangle 48"/>
          <p:cNvSpPr>
            <a:spLocks noChangeArrowheads="1"/>
          </p:cNvSpPr>
          <p:nvPr/>
        </p:nvSpPr>
        <p:spPr bwMode="auto">
          <a:xfrm>
            <a:off x="457200" y="1028700"/>
            <a:ext cx="8153400" cy="419100"/>
          </a:xfrm>
          <a:prstGeom prst="rect">
            <a:avLst/>
          </a:prstGeom>
          <a:solidFill>
            <a:srgbClr val="66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Development in EOC Service in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Jhenaidah</a:t>
            </a: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</a:p>
        </p:txBody>
      </p:sp>
      <p:sp>
        <p:nvSpPr>
          <p:cNvPr id="2" name="Rectangle 48"/>
          <p:cNvSpPr>
            <a:spLocks noChangeArrowheads="1"/>
          </p:cNvSpPr>
          <p:nvPr/>
        </p:nvSpPr>
        <p:spPr bwMode="auto">
          <a:xfrm>
            <a:off x="457200" y="1657350"/>
            <a:ext cx="8153400" cy="48450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marL="342900" indent="-342900" algn="just" eaLnBrk="1" hangingPunct="1">
              <a:defRPr/>
            </a:pPr>
            <a:endParaRPr 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42900" indent="-342900" algn="just" eaLnBrk="1" hangingPunct="1">
              <a:buFontTx/>
              <a:buAutoNum type="arabicParenR"/>
              <a:defRPr/>
            </a:pP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Introduce </a:t>
            </a:r>
            <a:r>
              <a:rPr lang="en-US" sz="20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Labour</a:t>
            </a: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Admission Register, </a:t>
            </a:r>
            <a:r>
              <a:rPr lang="en-US" sz="20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Labour</a:t>
            </a: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Ward Admission Form, Separate Discharge Form. </a:t>
            </a:r>
          </a:p>
          <a:p>
            <a:pPr marL="342900" indent="-342900" algn="just" eaLnBrk="1" hangingPunct="1">
              <a:buFontTx/>
              <a:buAutoNum type="arabicParenR"/>
              <a:defRPr/>
            </a:pP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Starting of ANC &amp; PNC corner and Arrange a Room for Medical Officer.</a:t>
            </a:r>
          </a:p>
          <a:p>
            <a:pPr marL="342900" indent="-342900" algn="just" eaLnBrk="1" hangingPunct="1">
              <a:buFontTx/>
              <a:buAutoNum type="arabicParenR"/>
              <a:defRPr/>
            </a:pP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NO. of EOC Bed increase from 10 to 21 though on EOC bed only 5.</a:t>
            </a:r>
          </a:p>
          <a:p>
            <a:pPr marL="342900" indent="-342900" algn="just" eaLnBrk="1" hangingPunct="1">
              <a:buFontTx/>
              <a:buAutoNum type="arabicParenR"/>
              <a:defRPr/>
            </a:pP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Improve EOC Operation Theater. </a:t>
            </a:r>
          </a:p>
          <a:p>
            <a:pPr marL="342900" indent="-342900" algn="just" eaLnBrk="1" hangingPunct="1">
              <a:buFontTx/>
              <a:buAutoNum type="arabicParenR"/>
              <a:defRPr/>
            </a:pP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Moral based environment with 12 (twelve) workers supported by community donors. </a:t>
            </a:r>
          </a:p>
          <a:p>
            <a:pPr marL="342900" indent="-342900" algn="just" eaLnBrk="1" hangingPunct="1">
              <a:buFontTx/>
              <a:buAutoNum type="arabicParenR"/>
              <a:defRPr/>
            </a:pP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EOC Operation activities extended from 8 A.M. to 2 P.M to 8 P.M.</a:t>
            </a:r>
          </a:p>
          <a:p>
            <a:pPr marL="342900" indent="-342900" algn="just" eaLnBrk="1" hangingPunct="1">
              <a:buFontTx/>
              <a:buAutoNum type="arabicParenR"/>
              <a:defRPr/>
            </a:pP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Ensuring Rational use of drugs in EOC ward. </a:t>
            </a:r>
          </a:p>
          <a:p>
            <a:pPr marL="342900" indent="-342900" algn="just" eaLnBrk="1" hangingPunct="1">
              <a:buFontTx/>
              <a:buAutoNum type="arabicParenR"/>
              <a:defRPr/>
            </a:pP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Provision of Mobile Phone in EOC ward no. 01857935012.</a:t>
            </a:r>
          </a:p>
          <a:p>
            <a:pPr marL="342900" indent="-342900" algn="just" eaLnBrk="1" hangingPunct="1">
              <a:buFontTx/>
              <a:buAutoNum type="arabicParenR"/>
              <a:defRPr/>
            </a:pP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Shoe-free environment for infection control.</a:t>
            </a:r>
          </a:p>
          <a:p>
            <a:pPr marL="342900" indent="-342900" algn="just" eaLnBrk="1" hangingPunct="1">
              <a:buFontTx/>
              <a:buAutoNum type="arabicParenR"/>
              <a:defRPr/>
            </a:pP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The center is used as a effective training center for SBA, Nursing student, Mid-</a:t>
            </a:r>
            <a:r>
              <a:rPr lang="en-US" sz="20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wifiry</a:t>
            </a: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  <a:p>
            <a:pPr marL="342900" indent="-342900" algn="just" eaLnBrk="1" hangingPunct="1">
              <a:buFontTx/>
              <a:buAutoNum type="arabicParenR"/>
              <a:defRPr/>
            </a:pPr>
            <a:endParaRPr 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457200" y="304800"/>
            <a:ext cx="8229600" cy="8255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2"/>
                </a:solidFill>
              </a:rPr>
              <a:t>Sadar Hospital, Jhenidah</a:t>
            </a:r>
          </a:p>
        </p:txBody>
      </p:sp>
      <p:graphicFrame>
        <p:nvGraphicFramePr>
          <p:cNvPr id="30813" name="Group 93"/>
          <p:cNvGraphicFramePr>
            <a:graphicFrameLocks noGrp="1"/>
          </p:cNvGraphicFramePr>
          <p:nvPr/>
        </p:nvGraphicFramePr>
        <p:xfrm>
          <a:off x="457200" y="2606675"/>
          <a:ext cx="8280400" cy="2817813"/>
        </p:xfrm>
        <a:graphic>
          <a:graphicData uri="http://schemas.openxmlformats.org/drawingml/2006/table">
            <a:tbl>
              <a:tblPr/>
              <a:tblGrid>
                <a:gridCol w="439738"/>
                <a:gridCol w="792162"/>
                <a:gridCol w="836613"/>
                <a:gridCol w="917575"/>
                <a:gridCol w="757237"/>
                <a:gridCol w="755650"/>
                <a:gridCol w="757238"/>
                <a:gridCol w="755650"/>
                <a:gridCol w="755650"/>
                <a:gridCol w="652462"/>
                <a:gridCol w="860425"/>
              </a:tblGrid>
              <a:tr h="53267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Sl</a:t>
                      </a: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 No</a:t>
                      </a:r>
                    </a:p>
                  </a:txBody>
                  <a:tcPr marT="45649" marB="456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Year</a:t>
                      </a:r>
                    </a:p>
                  </a:txBody>
                  <a:tcPr marT="45649" marB="456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ANC Services </a:t>
                      </a:r>
                    </a:p>
                  </a:txBody>
                  <a:tcPr marT="45649" marB="456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Admitted Patient </a:t>
                      </a:r>
                    </a:p>
                  </a:txBody>
                  <a:tcPr marT="45649" marB="456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Complications </a:t>
                      </a:r>
                    </a:p>
                  </a:txBody>
                  <a:tcPr marT="45649" marB="456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Type of Delivery</a:t>
                      </a:r>
                    </a:p>
                  </a:txBody>
                  <a:tcPr marT="45649" marB="456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PNC</a:t>
                      </a:r>
                    </a:p>
                  </a:txBody>
                  <a:tcPr marT="45649" marB="456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Maternal Death</a:t>
                      </a:r>
                    </a:p>
                  </a:txBody>
                  <a:tcPr marT="45649" marB="456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0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NVD</a:t>
                      </a:r>
                    </a:p>
                  </a:txBody>
                  <a:tcPr marT="45649" marB="456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ASST DEL</a:t>
                      </a:r>
                    </a:p>
                  </a:txBody>
                  <a:tcPr marT="45649" marB="456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CS</a:t>
                      </a:r>
                    </a:p>
                  </a:txBody>
                  <a:tcPr marT="45649" marB="456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Total</a:t>
                      </a:r>
                    </a:p>
                  </a:txBody>
                  <a:tcPr marT="45649" marB="456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56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01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1998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257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1364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542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951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-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155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1106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-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18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02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2011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1354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3906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1191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1912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33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430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2375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2140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03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2012 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  <a:cs typeface="Arial" charset="0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2268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4261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1934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1784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44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551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2379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2467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3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04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2013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7096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5445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3153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1783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28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985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2796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3606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3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05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2014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10811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6095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3700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1924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21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941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2886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3729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  <a:cs typeface="Arial" charset="0"/>
                        </a:rPr>
                        <a:t>3</a:t>
                      </a: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2688" name="Rectangle 48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Service 1998 to 2014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533400"/>
            <a:ext cx="8153400" cy="69850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b="1" smtClean="0"/>
              <a:t>Sadar Hospital, Jhenidah</a:t>
            </a:r>
          </a:p>
        </p:txBody>
      </p:sp>
      <p:graphicFrame>
        <p:nvGraphicFramePr>
          <p:cNvPr id="32818" name="Group 50"/>
          <p:cNvGraphicFramePr>
            <a:graphicFrameLocks noGrp="1"/>
          </p:cNvGraphicFramePr>
          <p:nvPr/>
        </p:nvGraphicFramePr>
        <p:xfrm>
          <a:off x="457200" y="2438400"/>
          <a:ext cx="8153400" cy="3733800"/>
        </p:xfrm>
        <a:graphic>
          <a:graphicData uri="http://schemas.openxmlformats.org/drawingml/2006/table">
            <a:tbl>
              <a:tblPr/>
              <a:tblGrid>
                <a:gridCol w="1295400"/>
                <a:gridCol w="1714500"/>
                <a:gridCol w="1714500"/>
                <a:gridCol w="1714500"/>
                <a:gridCol w="171450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Sl. No.</a:t>
                      </a:r>
                    </a:p>
                  </a:txBody>
                  <a:tcPr marT="45707" marB="4570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Year</a:t>
                      </a:r>
                    </a:p>
                  </a:txBody>
                  <a:tcPr marT="45707" marB="4570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Major</a:t>
                      </a:r>
                    </a:p>
                  </a:txBody>
                  <a:tcPr marT="45707" marB="4570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Minor </a:t>
                      </a:r>
                    </a:p>
                  </a:txBody>
                  <a:tcPr marT="45707" marB="4570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</a:p>
                  </a:txBody>
                  <a:tcPr marT="45707" marB="4570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1998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marT="45707" marB="4570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marT="45707" marB="4570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1089</a:t>
                      </a:r>
                    </a:p>
                  </a:txBody>
                  <a:tcPr marT="45707" marB="4570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2011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780</a:t>
                      </a:r>
                    </a:p>
                  </a:txBody>
                  <a:tcPr marT="45707" marB="4570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4857</a:t>
                      </a:r>
                    </a:p>
                  </a:txBody>
                  <a:tcPr marT="45707" marB="4570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5629</a:t>
                      </a:r>
                    </a:p>
                  </a:txBody>
                  <a:tcPr marT="45707" marB="4570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2012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977</a:t>
                      </a:r>
                    </a:p>
                  </a:txBody>
                  <a:tcPr marT="45707" marB="4570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5433</a:t>
                      </a:r>
                    </a:p>
                  </a:txBody>
                  <a:tcPr marT="45707" marB="4570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6410</a:t>
                      </a:r>
                    </a:p>
                  </a:txBody>
                  <a:tcPr marT="45707" marB="4570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2013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1294</a:t>
                      </a:r>
                    </a:p>
                  </a:txBody>
                  <a:tcPr marT="45707" marB="4570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4923</a:t>
                      </a:r>
                    </a:p>
                  </a:txBody>
                  <a:tcPr marT="45707" marB="4570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6217</a:t>
                      </a:r>
                    </a:p>
                  </a:txBody>
                  <a:tcPr marT="45707" marB="4570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05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2014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1339</a:t>
                      </a:r>
                    </a:p>
                  </a:txBody>
                  <a:tcPr marT="45707" marB="4570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4512</a:t>
                      </a:r>
                    </a:p>
                  </a:txBody>
                  <a:tcPr marT="45707" marB="4570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5851</a:t>
                      </a:r>
                    </a:p>
                  </a:txBody>
                  <a:tcPr marT="45707" marB="4570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8175" name="Rectangle 48"/>
          <p:cNvSpPr>
            <a:spLocks noChangeArrowheads="1"/>
          </p:cNvSpPr>
          <p:nvPr/>
        </p:nvSpPr>
        <p:spPr bwMode="auto">
          <a:xfrm>
            <a:off x="457200" y="1503363"/>
            <a:ext cx="8153400" cy="6096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2800" b="1">
                <a:solidFill>
                  <a:schemeClr val="bg1"/>
                </a:solidFill>
              </a:rPr>
              <a:t>Operation Service 1998 to 2014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solidFill>
            <a:srgbClr val="006600"/>
          </a:solidFill>
        </p:spPr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Comparative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of revenue income in August 2013 &amp; August 2014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33400" y="2514600"/>
          <a:ext cx="8229600" cy="3902075"/>
        </p:xfrm>
        <a:graphic>
          <a:graphicData uri="http://schemas.openxmlformats.org/drawingml/2006/table">
            <a:tbl>
              <a:tblPr firstRow="1" firstCol="1" bandRow="1"/>
              <a:tblGrid>
                <a:gridCol w="1005352"/>
                <a:gridCol w="3508659"/>
                <a:gridCol w="1895335"/>
                <a:gridCol w="1820254"/>
              </a:tblGrid>
              <a:tr h="4572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 err="1">
                          <a:effectLst/>
                          <a:latin typeface="Calibri"/>
                          <a:ea typeface="Times New Roman"/>
                          <a:cs typeface="Calibri"/>
                        </a:rPr>
                        <a:t>Sl</a:t>
                      </a:r>
                      <a:r>
                        <a:rPr lang="en-US" sz="2000" dirty="0">
                          <a:effectLst/>
                          <a:latin typeface="Calibri"/>
                          <a:ea typeface="Times New Roman"/>
                          <a:cs typeface="Calibri"/>
                        </a:rPr>
                        <a:t> No.</a:t>
                      </a:r>
                      <a:endParaRPr lang="en-US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Calibri"/>
                        </a:rPr>
                        <a:t>Source Of Income</a:t>
                      </a:r>
                      <a:endParaRPr lang="en-US" sz="1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Calibri"/>
                        </a:rPr>
                        <a:t>Taka (Aug 2013)</a:t>
                      </a:r>
                      <a:endParaRPr lang="en-US" sz="1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Calibri"/>
                        </a:rPr>
                        <a:t>Taka (Aug 2014)</a:t>
                      </a:r>
                      <a:endParaRPr lang="en-US" sz="1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Times New Roman"/>
                          <a:cs typeface="Calibri"/>
                        </a:rPr>
                        <a:t>01</a:t>
                      </a:r>
                      <a:endParaRPr lang="en-US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Times New Roman"/>
                          <a:cs typeface="Calibri"/>
                        </a:rPr>
                        <a:t>Emergency &amp; Outdoor</a:t>
                      </a:r>
                      <a:endParaRPr lang="en-US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Calibri"/>
                        </a:rPr>
                        <a:t>61,230</a:t>
                      </a:r>
                      <a:endParaRPr lang="en-US" sz="1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Calibri"/>
                        </a:rPr>
                        <a:t>94,175</a:t>
                      </a:r>
                      <a:endParaRPr lang="en-US" sz="1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Calibri"/>
                        </a:rPr>
                        <a:t>02</a:t>
                      </a:r>
                      <a:endParaRPr lang="en-US" sz="1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Times New Roman"/>
                          <a:cs typeface="Calibri"/>
                        </a:rPr>
                        <a:t>Paying cabin &amp; paying bed</a:t>
                      </a:r>
                      <a:endParaRPr lang="en-US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Calibri"/>
                        </a:rPr>
                        <a:t>61,500</a:t>
                      </a:r>
                      <a:endParaRPr lang="en-US" sz="1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Calibri"/>
                        </a:rPr>
                        <a:t>1,02,500</a:t>
                      </a:r>
                      <a:endParaRPr lang="en-US" sz="1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1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Calibri"/>
                        </a:rPr>
                        <a:t>03</a:t>
                      </a:r>
                      <a:endParaRPr lang="en-US" sz="1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Times New Roman"/>
                          <a:cs typeface="Calibri"/>
                        </a:rPr>
                        <a:t>X-Ray, ECG, Blood bank, Pathology </a:t>
                      </a:r>
                      <a:endParaRPr lang="en-US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Calibri"/>
                        </a:rPr>
                        <a:t>53,105</a:t>
                      </a:r>
                      <a:endParaRPr lang="en-US" sz="1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Calibri"/>
                        </a:rPr>
                        <a:t>1,60,017</a:t>
                      </a:r>
                      <a:endParaRPr lang="en-US" sz="1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Calibri"/>
                        </a:rPr>
                        <a:t>04</a:t>
                      </a:r>
                      <a:endParaRPr lang="en-US" sz="1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Times New Roman"/>
                          <a:cs typeface="Calibri"/>
                        </a:rPr>
                        <a:t>Ambulance</a:t>
                      </a:r>
                      <a:endParaRPr lang="en-US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Calibri"/>
                        </a:rPr>
                        <a:t>1,05,180</a:t>
                      </a:r>
                      <a:endParaRPr lang="en-US" sz="1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Calibri"/>
                        </a:rPr>
                        <a:t>1,34,960</a:t>
                      </a:r>
                      <a:endParaRPr lang="en-US" sz="1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Calibri"/>
                        </a:rPr>
                        <a:t>05</a:t>
                      </a:r>
                      <a:endParaRPr lang="en-US" sz="1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Times New Roman"/>
                          <a:cs typeface="Calibri"/>
                        </a:rPr>
                        <a:t>Operation Charge</a:t>
                      </a:r>
                      <a:endParaRPr lang="en-US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Times New Roman"/>
                          <a:cs typeface="Calibri"/>
                        </a:rPr>
                        <a:t>19,000</a:t>
                      </a:r>
                      <a:endParaRPr lang="en-US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Calibri"/>
                        </a:rPr>
                        <a:t>43,000</a:t>
                      </a:r>
                      <a:endParaRPr lang="en-US" sz="1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Calibri"/>
                        </a:rPr>
                        <a:t>06</a:t>
                      </a:r>
                      <a:endParaRPr lang="en-US" sz="1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Calibri"/>
                        </a:rPr>
                        <a:t>Patient admission Charge</a:t>
                      </a:r>
                      <a:endParaRPr lang="en-US" sz="1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Times New Roman"/>
                          <a:cs typeface="Calibri"/>
                        </a:rPr>
                        <a:t>14,960</a:t>
                      </a:r>
                      <a:endParaRPr lang="en-US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Times New Roman"/>
                          <a:cs typeface="Calibri"/>
                        </a:rPr>
                        <a:t>20,180</a:t>
                      </a:r>
                      <a:endParaRPr lang="en-US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Calibri"/>
                        </a:rPr>
                        <a:t> </a:t>
                      </a:r>
                      <a:endParaRPr lang="en-US" sz="1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Calibri"/>
                        </a:rPr>
                        <a:t>Total</a:t>
                      </a:r>
                      <a:endParaRPr lang="en-US" sz="1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Times New Roman"/>
                          <a:cs typeface="Calibri"/>
                        </a:rPr>
                        <a:t>3,14,975</a:t>
                      </a:r>
                      <a:endParaRPr lang="en-US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Times New Roman"/>
                          <a:cs typeface="Calibri"/>
                        </a:rPr>
                        <a:t>5,54,832</a:t>
                      </a:r>
                      <a:endParaRPr lang="en-US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9202" name="Rectangle 2"/>
          <p:cNvSpPr>
            <a:spLocks noChangeArrowheads="1"/>
          </p:cNvSpPr>
          <p:nvPr/>
        </p:nvSpPr>
        <p:spPr bwMode="auto">
          <a:xfrm>
            <a:off x="457200" y="165100"/>
            <a:ext cx="8229600" cy="9779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800" b="1">
                <a:solidFill>
                  <a:schemeClr val="tx2"/>
                </a:solidFill>
              </a:rPr>
              <a:t>Sadar Hospital, Jhenaidah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solidFill>
            <a:srgbClr val="006600"/>
          </a:solidFill>
        </p:spPr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Comparative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of revenue income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</a:t>
            </a:r>
            <a:r>
              <a:rPr lang="en-US" sz="28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Jhenaidah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district in 2013 &amp;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2014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179" name="Rectangle 2"/>
          <p:cNvSpPr>
            <a:spLocks noChangeArrowheads="1"/>
          </p:cNvSpPr>
          <p:nvPr/>
        </p:nvSpPr>
        <p:spPr bwMode="auto">
          <a:xfrm>
            <a:off x="457200" y="165100"/>
            <a:ext cx="8229600" cy="9779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800" b="1">
                <a:solidFill>
                  <a:schemeClr val="tx2"/>
                </a:solidFill>
              </a:rPr>
              <a:t>Sadar Hospital, Jhenaidah</a:t>
            </a:r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</p:nvPr>
        </p:nvGraphicFramePr>
        <p:xfrm>
          <a:off x="228600" y="22098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28625" y="990600"/>
            <a:ext cx="8229600" cy="4800600"/>
          </a:xfrm>
        </p:spPr>
        <p:txBody>
          <a:bodyPr/>
          <a:lstStyle/>
          <a:p>
            <a:pPr>
              <a:spcBef>
                <a:spcPts val="200"/>
              </a:spcBef>
            </a:pPr>
            <a:r>
              <a:rPr lang="en-US" sz="1800" smtClean="0">
                <a:latin typeface="Calibri" pitchFamily="34" charset="0"/>
              </a:rPr>
              <a:t>51  manpower (Cleaner 18, Aya &amp; wardboy 19, Guard 6, Volunteer 5, Trolley man 3 ) get 2000 Tk per month per month per person.  is supported by the community. Among them, 13 manpower were supported by doctors.</a:t>
            </a:r>
          </a:p>
          <a:p>
            <a:pPr>
              <a:spcBef>
                <a:spcPts val="200"/>
              </a:spcBef>
            </a:pPr>
            <a:r>
              <a:rPr lang="en-US" sz="1800" smtClean="0">
                <a:latin typeface="Calibri" pitchFamily="34" charset="0"/>
              </a:rPr>
              <a:t>MP of Jhenaidah 2 donated 14 manpower support with continuous monitoring system in the hospital.</a:t>
            </a:r>
          </a:p>
          <a:p>
            <a:pPr>
              <a:spcBef>
                <a:spcPts val="200"/>
              </a:spcBef>
            </a:pPr>
            <a:r>
              <a:rPr lang="en-US" sz="1800" smtClean="0">
                <a:latin typeface="Calibri" pitchFamily="34" charset="0"/>
              </a:rPr>
              <a:t>Mayor of Jhenidah Paurshava plays a major role in cleanness of the outer environment of the Hospital and repaired the boundary wall and made 4 dustbins with a cost of nearly one lac taka, and support 3 man power</a:t>
            </a:r>
          </a:p>
          <a:p>
            <a:pPr>
              <a:spcBef>
                <a:spcPts val="200"/>
              </a:spcBef>
            </a:pPr>
            <a:r>
              <a:rPr lang="en-US" sz="1800" smtClean="0">
                <a:latin typeface="Calibri" pitchFamily="34" charset="0"/>
              </a:rPr>
              <a:t>Retired Joint secretary Mir Sahabuddin donated a generato for 24 hours OT service with a cost of nearly 33 thousands taka.</a:t>
            </a:r>
          </a:p>
          <a:p>
            <a:pPr>
              <a:spcBef>
                <a:spcPts val="200"/>
              </a:spcBef>
            </a:pPr>
            <a:r>
              <a:rPr lang="en-US" sz="1800" smtClean="0">
                <a:latin typeface="Calibri" pitchFamily="34" charset="0"/>
              </a:rPr>
              <a:t>Chairman of Zahedee foundation donates 10 manpower support and an intercom system with a cost of nearly two lac taka. </a:t>
            </a:r>
          </a:p>
          <a:p>
            <a:pPr>
              <a:spcBef>
                <a:spcPts val="200"/>
              </a:spcBef>
            </a:pPr>
            <a:r>
              <a:rPr lang="en-US" sz="1800" smtClean="0">
                <a:latin typeface="Calibri" pitchFamily="34" charset="0"/>
              </a:rPr>
              <a:t>Mr. Anisur Rahman (Khoka) (Previous chairman, Jhenaidah Paurshava) donates one man power support and also support for shoe free environment. </a:t>
            </a:r>
          </a:p>
          <a:p>
            <a:pPr>
              <a:spcBef>
                <a:spcPts val="200"/>
              </a:spcBef>
            </a:pPr>
            <a:r>
              <a:rPr lang="en-US" sz="1800" smtClean="0">
                <a:latin typeface="Calibri" pitchFamily="34" charset="0"/>
              </a:rPr>
              <a:t>UP Chairman, Harishonkorpur, Jhenidah repairs 3 benches for seating of EOC outdoor patient.  </a:t>
            </a:r>
          </a:p>
          <a:p>
            <a:pPr>
              <a:spcBef>
                <a:spcPts val="200"/>
              </a:spcBef>
            </a:pPr>
            <a:r>
              <a:rPr lang="en-US" sz="1800" smtClean="0">
                <a:latin typeface="Calibri" pitchFamily="34" charset="0"/>
              </a:rPr>
              <a:t>Some of the Pharmaceuticals help in forms and discharge certificate and seating arrangement.</a:t>
            </a:r>
          </a:p>
        </p:txBody>
      </p:sp>
      <p:sp>
        <p:nvSpPr>
          <p:cNvPr id="51203" name="Rectangle 2"/>
          <p:cNvSpPr>
            <a:spLocks noChangeArrowheads="1"/>
          </p:cNvSpPr>
          <p:nvPr/>
        </p:nvSpPr>
        <p:spPr bwMode="auto">
          <a:xfrm>
            <a:off x="428625" y="38100"/>
            <a:ext cx="8294688" cy="4254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3600" b="1">
                <a:solidFill>
                  <a:schemeClr val="tx2"/>
                </a:solidFill>
              </a:rPr>
              <a:t>Sadar Hospital, Jhenaidah</a:t>
            </a:r>
          </a:p>
        </p:txBody>
      </p:sp>
      <p:sp>
        <p:nvSpPr>
          <p:cNvPr id="112688" name="Rectangle 48"/>
          <p:cNvSpPr>
            <a:spLocks noChangeArrowheads="1"/>
          </p:cNvSpPr>
          <p:nvPr/>
        </p:nvSpPr>
        <p:spPr bwMode="auto">
          <a:xfrm>
            <a:off x="428625" y="463550"/>
            <a:ext cx="8294688" cy="374650"/>
          </a:xfrm>
          <a:prstGeom prst="rect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Community Support System in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Sadar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Hospital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0850" y="304800"/>
          <a:ext cx="8229600" cy="655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127"/>
                <a:gridCol w="2133600"/>
                <a:gridCol w="2133600"/>
                <a:gridCol w="1768546"/>
                <a:gridCol w="669854"/>
                <a:gridCol w="678874"/>
              </a:tblGrid>
              <a:tr h="249032"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j-lt"/>
                        </a:rPr>
                        <a:t>Serial</a:t>
                      </a:r>
                      <a:r>
                        <a:rPr lang="en-US" sz="1000" baseline="0" dirty="0" smtClean="0">
                          <a:latin typeface="+mj-lt"/>
                        </a:rPr>
                        <a:t> No.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j-lt"/>
                        </a:rPr>
                        <a:t>Person Posted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j-lt"/>
                        </a:rPr>
                        <a:t>Duration</a:t>
                      </a:r>
                      <a:r>
                        <a:rPr lang="en-US" sz="1000" baseline="0" dirty="0" smtClean="0">
                          <a:latin typeface="+mj-lt"/>
                        </a:rPr>
                        <a:t> of Work  (In hour)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 smtClean="0">
                          <a:latin typeface="+mj-lt"/>
                        </a:rPr>
                        <a:t>Aya</a:t>
                      </a:r>
                      <a:r>
                        <a:rPr lang="en-US" sz="1000" dirty="0" smtClean="0">
                          <a:latin typeface="+mj-lt"/>
                        </a:rPr>
                        <a:t> /</a:t>
                      </a:r>
                      <a:r>
                        <a:rPr lang="en-US" sz="1000" dirty="0" err="1" smtClean="0">
                          <a:latin typeface="+mj-lt"/>
                        </a:rPr>
                        <a:t>Wardboy</a:t>
                      </a:r>
                      <a:r>
                        <a:rPr lang="en-US" sz="1000" dirty="0" smtClean="0">
                          <a:latin typeface="+mj-lt"/>
                        </a:rPr>
                        <a:t>/MLSS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Cleaner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Total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49032"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000" dirty="0" smtClean="0">
                          <a:latin typeface="+mj-lt"/>
                        </a:rPr>
                        <a:t>01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j-lt"/>
                        </a:rPr>
                        <a:t>EOC Ward 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24 Hours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06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304371"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000" dirty="0" smtClean="0">
                          <a:latin typeface="+mj-lt"/>
                        </a:rPr>
                        <a:t>02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j-lt"/>
                        </a:rPr>
                        <a:t>Female</a:t>
                      </a:r>
                      <a:r>
                        <a:rPr lang="en-US" sz="1000" baseline="0" dirty="0" smtClean="0">
                          <a:latin typeface="+mj-lt"/>
                        </a:rPr>
                        <a:t> Surgery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j-lt"/>
                        </a:rPr>
                        <a:t>24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06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67506"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j-lt"/>
                        </a:rPr>
                        <a:t>Female</a:t>
                      </a:r>
                      <a:r>
                        <a:rPr lang="en-US" sz="1000" baseline="0" dirty="0" smtClean="0">
                          <a:latin typeface="+mj-lt"/>
                        </a:rPr>
                        <a:t> Medicine &amp; Pediatric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j-lt"/>
                        </a:rPr>
                        <a:t>24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06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49032"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000" dirty="0" smtClean="0">
                          <a:latin typeface="+mj-lt"/>
                        </a:rPr>
                        <a:t>04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j-lt"/>
                        </a:rPr>
                        <a:t>Male</a:t>
                      </a:r>
                      <a:r>
                        <a:rPr lang="en-US" sz="1000" baseline="0" dirty="0" smtClean="0">
                          <a:latin typeface="+mj-lt"/>
                        </a:rPr>
                        <a:t> Medicine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j-lt"/>
                        </a:rPr>
                        <a:t>24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06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49032"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000" dirty="0" smtClean="0">
                          <a:latin typeface="+mj-lt"/>
                        </a:rPr>
                        <a:t>05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j-lt"/>
                        </a:rPr>
                        <a:t>Male Surgery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j-lt"/>
                        </a:rPr>
                        <a:t>24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06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49032"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000" dirty="0" smtClean="0">
                          <a:latin typeface="+mj-lt"/>
                        </a:rPr>
                        <a:t>06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 smtClean="0">
                          <a:latin typeface="+mj-lt"/>
                        </a:rPr>
                        <a:t>Dirrhoea</a:t>
                      </a:r>
                      <a:r>
                        <a:rPr lang="en-US" sz="1000" baseline="0" dirty="0" smtClean="0">
                          <a:latin typeface="+mj-lt"/>
                        </a:rPr>
                        <a:t> Ward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j-lt"/>
                        </a:rPr>
                        <a:t>24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06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49032"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000" dirty="0" smtClean="0">
                          <a:latin typeface="+mj-lt"/>
                        </a:rPr>
                        <a:t>07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j-lt"/>
                        </a:rPr>
                        <a:t>G. OT.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j-lt"/>
                        </a:rPr>
                        <a:t>24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04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01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05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49032"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000" dirty="0" smtClean="0">
                          <a:latin typeface="+mj-lt"/>
                        </a:rPr>
                        <a:t>08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j-lt"/>
                        </a:rPr>
                        <a:t>EOC OT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j-lt"/>
                        </a:rPr>
                        <a:t>24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00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00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00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49032"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000" dirty="0" smtClean="0">
                          <a:latin typeface="+mj-lt"/>
                        </a:rPr>
                        <a:t>09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j-lt"/>
                        </a:rPr>
                        <a:t>Emergency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24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04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00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04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49032"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000" dirty="0" smtClean="0">
                          <a:latin typeface="+mj-lt"/>
                        </a:rPr>
                        <a:t>10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j-lt"/>
                        </a:rPr>
                        <a:t>Outdoor</a:t>
                      </a:r>
                      <a:r>
                        <a:rPr lang="en-US" sz="1000" baseline="0" dirty="0" smtClean="0">
                          <a:latin typeface="+mj-lt"/>
                        </a:rPr>
                        <a:t> 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00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49032"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000" dirty="0" smtClean="0">
                          <a:latin typeface="+mj-lt"/>
                        </a:rPr>
                        <a:t>11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j-lt"/>
                        </a:rPr>
                        <a:t>Trolley 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j-lt"/>
                        </a:rPr>
                        <a:t>24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 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00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49032"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000" dirty="0" smtClean="0">
                          <a:latin typeface="+mj-lt"/>
                        </a:rPr>
                        <a:t>12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j-lt"/>
                        </a:rPr>
                        <a:t>Drain</a:t>
                      </a:r>
                      <a:r>
                        <a:rPr lang="en-US" sz="1000" baseline="0" dirty="0" smtClean="0">
                          <a:latin typeface="+mj-lt"/>
                        </a:rPr>
                        <a:t> + Campus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00 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02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02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49032"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000" dirty="0" smtClean="0">
                          <a:latin typeface="+mj-lt"/>
                        </a:rPr>
                        <a:t>13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j-lt"/>
                        </a:rPr>
                        <a:t>Guard</a:t>
                      </a:r>
                      <a:r>
                        <a:rPr lang="en-US" sz="1000" baseline="0" dirty="0" smtClean="0">
                          <a:latin typeface="+mj-lt"/>
                        </a:rPr>
                        <a:t> (EOC)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00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53588"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000" dirty="0" smtClean="0">
                          <a:latin typeface="+mj-lt"/>
                        </a:rPr>
                        <a:t>14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j-lt"/>
                        </a:rPr>
                        <a:t>Gardener + Campus Guard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16 Hours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00   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49032"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000" dirty="0" smtClean="0">
                          <a:latin typeface="+mj-lt"/>
                        </a:rPr>
                        <a:t>15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j-lt"/>
                        </a:rPr>
                        <a:t>Receptionist, </a:t>
                      </a:r>
                      <a:r>
                        <a:rPr lang="en-US" sz="1000" baseline="0" dirty="0" smtClean="0">
                          <a:latin typeface="+mj-lt"/>
                        </a:rPr>
                        <a:t> Pharmacy, Store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02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00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02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49032"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000" dirty="0" smtClean="0">
                          <a:latin typeface="+mj-lt"/>
                        </a:rPr>
                        <a:t>16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j-lt"/>
                        </a:rPr>
                        <a:t>Blood</a:t>
                      </a:r>
                      <a:r>
                        <a:rPr lang="en-US" sz="1000" baseline="0" dirty="0" smtClean="0">
                          <a:latin typeface="+mj-lt"/>
                        </a:rPr>
                        <a:t> Bank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j-lt"/>
                        </a:rPr>
                        <a:t>24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00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49032"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000" dirty="0" smtClean="0">
                          <a:latin typeface="+mj-lt"/>
                        </a:rPr>
                        <a:t>17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j-lt"/>
                        </a:rPr>
                        <a:t>X-Ray, USG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02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00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02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49032"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000" dirty="0" smtClean="0">
                          <a:latin typeface="+mj-lt"/>
                        </a:rPr>
                        <a:t>18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j-lt"/>
                        </a:rPr>
                        <a:t>Superintendent  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01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00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01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49032"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000" dirty="0" smtClean="0">
                          <a:latin typeface="+mj-lt"/>
                        </a:rPr>
                        <a:t>19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latin typeface="+mj-lt"/>
                        </a:rPr>
                        <a:t>Consultants, Nursing Super</a:t>
                      </a:r>
                      <a:endParaRPr lang="en-US" sz="1000" dirty="0" smtClean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02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00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02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49032"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000" dirty="0" smtClean="0">
                          <a:latin typeface="+mj-lt"/>
                        </a:rPr>
                        <a:t>20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j-lt"/>
                        </a:rPr>
                        <a:t>RMO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01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00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01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49032"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000" dirty="0" smtClean="0">
                          <a:latin typeface="+mj-lt"/>
                        </a:rPr>
                        <a:t>21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j-lt"/>
                        </a:rPr>
                        <a:t>Office, Outdoor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04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00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04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49032"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000" dirty="0" smtClean="0">
                          <a:latin typeface="+mj-lt"/>
                        </a:rPr>
                        <a:t>22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j-lt"/>
                        </a:rPr>
                        <a:t>Outdoor Ticket</a:t>
                      </a:r>
                      <a:r>
                        <a:rPr lang="en-US" sz="1000" baseline="0" dirty="0" smtClean="0">
                          <a:latin typeface="+mj-lt"/>
                        </a:rPr>
                        <a:t>  Counter 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00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49032"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000" dirty="0" smtClean="0">
                          <a:latin typeface="+mj-lt"/>
                        </a:rPr>
                        <a:t>23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j-lt"/>
                        </a:rPr>
                        <a:t>Volunteer (Nursing Aid)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j-lt"/>
                        </a:rPr>
                        <a:t>24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04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00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04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49032"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j-lt"/>
                        </a:rPr>
                        <a:t>         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j-lt"/>
                        </a:rPr>
                        <a:t>Total</a:t>
                      </a:r>
                      <a:endParaRPr lang="en-US" sz="1000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57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24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81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  <a:tr h="249032">
                <a:tc>
                  <a:txBody>
                    <a:bodyPr/>
                    <a:lstStyle/>
                    <a:p>
                      <a:pPr algn="l"/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smtClean="0">
                          <a:latin typeface="+mj-lt"/>
                        </a:rPr>
                        <a:t>Govt. Manpower Support</a:t>
                      </a:r>
                      <a:endParaRPr lang="en-US" sz="1000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12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7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19</a:t>
                      </a:r>
                      <a:endParaRPr lang="en-US" sz="1000" dirty="0">
                        <a:latin typeface="+mj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450273" y="60267"/>
            <a:ext cx="8229600" cy="242454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</a:rPr>
              <a:t>Important 4</a:t>
            </a:r>
            <a:r>
              <a:rPr lang="en-US" sz="2000" kern="0" baseline="30000" dirty="0">
                <a:solidFill>
                  <a:prstClr val="black"/>
                </a:solidFill>
              </a:rPr>
              <a:t>th</a:t>
            </a:r>
            <a:r>
              <a:rPr lang="en-US" sz="2000" kern="0" dirty="0">
                <a:solidFill>
                  <a:prstClr val="black"/>
                </a:solidFill>
              </a:rPr>
              <a:t> class human resource of </a:t>
            </a:r>
            <a:r>
              <a:rPr lang="en-US" sz="2000" kern="0" dirty="0" err="1">
                <a:solidFill>
                  <a:prstClr val="black"/>
                </a:solidFill>
              </a:rPr>
              <a:t>Jhenaodah</a:t>
            </a:r>
            <a:r>
              <a:rPr lang="en-US" sz="2000" kern="0" dirty="0">
                <a:solidFill>
                  <a:prstClr val="black"/>
                </a:solidFill>
              </a:rPr>
              <a:t> </a:t>
            </a:r>
            <a:r>
              <a:rPr lang="en-US" sz="2000" kern="0" dirty="0" err="1">
                <a:solidFill>
                  <a:prstClr val="black"/>
                </a:solidFill>
              </a:rPr>
              <a:t>Sadar</a:t>
            </a:r>
            <a:r>
              <a:rPr lang="en-US" sz="2000" kern="0" dirty="0">
                <a:solidFill>
                  <a:prstClr val="black"/>
                </a:solidFill>
              </a:rPr>
              <a:t> </a:t>
            </a:r>
            <a:r>
              <a:rPr lang="en-US" sz="2000" kern="0" dirty="0" err="1">
                <a:solidFill>
                  <a:prstClr val="black"/>
                </a:solidFill>
              </a:rPr>
              <a:t>Hpspital</a:t>
            </a:r>
            <a:endParaRPr lang="en-US" sz="2000" kern="0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 descr="4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3790950"/>
            <a:ext cx="3657600" cy="2743200"/>
          </a:xfrm>
        </p:spPr>
      </p:pic>
      <p:pic>
        <p:nvPicPr>
          <p:cNvPr id="53251" name="Picture 3" descr="5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3810000"/>
            <a:ext cx="3657600" cy="2743200"/>
          </a:xfrm>
        </p:spPr>
      </p:pic>
      <p:pic>
        <p:nvPicPr>
          <p:cNvPr id="53252" name="Picture 4" descr="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742950"/>
            <a:ext cx="3657600" cy="2743200"/>
          </a:xfrm>
        </p:spPr>
      </p:pic>
      <p:pic>
        <p:nvPicPr>
          <p:cNvPr id="53253" name="Picture 5" descr="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42950"/>
            <a:ext cx="3657600" cy="2743200"/>
          </a:xfrm>
        </p:spPr>
      </p:pic>
      <p:sp>
        <p:nvSpPr>
          <p:cNvPr id="53254" name="Title 1"/>
          <p:cNvSpPr>
            <a:spLocks noGrp="1"/>
          </p:cNvSpPr>
          <p:nvPr>
            <p:ph type="title" sz="quarter"/>
          </p:nvPr>
        </p:nvSpPr>
        <p:spPr>
          <a:xfrm>
            <a:off x="533400" y="152400"/>
            <a:ext cx="8001000" cy="457200"/>
          </a:xfrm>
          <a:solidFill>
            <a:srgbClr val="7030A0"/>
          </a:solidFill>
        </p:spPr>
        <p:txBody>
          <a:bodyPr/>
          <a:lstStyle/>
          <a:p>
            <a:r>
              <a:rPr lang="en-US" sz="2800" b="1" smtClean="0">
                <a:solidFill>
                  <a:schemeClr val="bg1"/>
                </a:solidFill>
              </a:rPr>
              <a:t>Before &amp; After Situation</a:t>
            </a:r>
          </a:p>
        </p:txBody>
      </p:sp>
      <p:sp>
        <p:nvSpPr>
          <p:cNvPr id="53255" name="Rectangle 1"/>
          <p:cNvSpPr>
            <a:spLocks noChangeArrowheads="1"/>
          </p:cNvSpPr>
          <p:nvPr/>
        </p:nvSpPr>
        <p:spPr bwMode="auto">
          <a:xfrm>
            <a:off x="609600" y="8382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Before</a:t>
            </a:r>
            <a:endParaRPr lang="en-US"/>
          </a:p>
        </p:txBody>
      </p:sp>
      <p:sp>
        <p:nvSpPr>
          <p:cNvPr id="53256" name="Rectangle 7"/>
          <p:cNvSpPr>
            <a:spLocks noChangeArrowheads="1"/>
          </p:cNvSpPr>
          <p:nvPr/>
        </p:nvSpPr>
        <p:spPr bwMode="auto">
          <a:xfrm>
            <a:off x="609600" y="38862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Before</a:t>
            </a:r>
            <a:endParaRPr lang="en-US"/>
          </a:p>
        </p:txBody>
      </p:sp>
      <p:sp>
        <p:nvSpPr>
          <p:cNvPr id="53257" name="Rectangle 8"/>
          <p:cNvSpPr>
            <a:spLocks noChangeArrowheads="1"/>
          </p:cNvSpPr>
          <p:nvPr/>
        </p:nvSpPr>
        <p:spPr bwMode="auto">
          <a:xfrm>
            <a:off x="4953000" y="388620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After</a:t>
            </a:r>
            <a:endParaRPr lang="en-US"/>
          </a:p>
        </p:txBody>
      </p:sp>
      <p:sp>
        <p:nvSpPr>
          <p:cNvPr id="53258" name="Rectangle 9"/>
          <p:cNvSpPr>
            <a:spLocks noChangeArrowheads="1"/>
          </p:cNvSpPr>
          <p:nvPr/>
        </p:nvSpPr>
        <p:spPr bwMode="auto">
          <a:xfrm>
            <a:off x="4953000" y="8620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After</a:t>
            </a:r>
            <a:endParaRPr lang="en-US"/>
          </a:p>
        </p:txBody>
      </p:sp>
      <p:sp>
        <p:nvSpPr>
          <p:cNvPr id="53259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60" name="Right Arrow 11"/>
          <p:cNvSpPr>
            <a:spLocks noChangeArrowheads="1"/>
          </p:cNvSpPr>
          <p:nvPr/>
        </p:nvSpPr>
        <p:spPr bwMode="auto">
          <a:xfrm>
            <a:off x="429895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 descr="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762000"/>
            <a:ext cx="3657600" cy="2743200"/>
          </a:xfrm>
        </p:spPr>
      </p:pic>
      <p:pic>
        <p:nvPicPr>
          <p:cNvPr id="54275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62000"/>
            <a:ext cx="3657600" cy="2743200"/>
          </a:xfrm>
        </p:spPr>
      </p:pic>
      <p:pic>
        <p:nvPicPr>
          <p:cNvPr id="54276" name="Picture 4" descr="8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3810000"/>
            <a:ext cx="3657600" cy="2743200"/>
          </a:xfrm>
        </p:spPr>
      </p:pic>
      <p:pic>
        <p:nvPicPr>
          <p:cNvPr id="54277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388" y="3810000"/>
            <a:ext cx="3657600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8" name="Title 1"/>
          <p:cNvSpPr>
            <a:spLocks noGrp="1"/>
          </p:cNvSpPr>
          <p:nvPr>
            <p:ph type="title" sz="quarter"/>
          </p:nvPr>
        </p:nvSpPr>
        <p:spPr>
          <a:xfrm>
            <a:off x="533400" y="152400"/>
            <a:ext cx="8001000" cy="457200"/>
          </a:xfrm>
          <a:solidFill>
            <a:srgbClr val="7030A0"/>
          </a:solidFill>
        </p:spPr>
        <p:txBody>
          <a:bodyPr/>
          <a:lstStyle/>
          <a:p>
            <a:r>
              <a:rPr lang="en-US" sz="2800" b="1" smtClean="0">
                <a:solidFill>
                  <a:schemeClr val="bg1"/>
                </a:solidFill>
              </a:rPr>
              <a:t>Before &amp; After Situation</a:t>
            </a:r>
          </a:p>
        </p:txBody>
      </p:sp>
      <p:sp>
        <p:nvSpPr>
          <p:cNvPr id="54279" name="Right Arrow 9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280" name="Right Arrow 10"/>
          <p:cNvSpPr>
            <a:spLocks noChangeArrowheads="1"/>
          </p:cNvSpPr>
          <p:nvPr/>
        </p:nvSpPr>
        <p:spPr bwMode="auto">
          <a:xfrm>
            <a:off x="429895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281" name="Rectangle 11"/>
          <p:cNvSpPr>
            <a:spLocks noChangeArrowheads="1"/>
          </p:cNvSpPr>
          <p:nvPr/>
        </p:nvSpPr>
        <p:spPr bwMode="auto">
          <a:xfrm>
            <a:off x="609600" y="790575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Before</a:t>
            </a:r>
            <a:endParaRPr lang="en-US"/>
          </a:p>
        </p:txBody>
      </p:sp>
      <p:sp>
        <p:nvSpPr>
          <p:cNvPr id="54282" name="Rectangle 12"/>
          <p:cNvSpPr>
            <a:spLocks noChangeArrowheads="1"/>
          </p:cNvSpPr>
          <p:nvPr/>
        </p:nvSpPr>
        <p:spPr bwMode="auto">
          <a:xfrm>
            <a:off x="609600" y="3838575"/>
            <a:ext cx="2454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                        Before</a:t>
            </a:r>
            <a:endParaRPr lang="en-US"/>
          </a:p>
        </p:txBody>
      </p:sp>
      <p:sp>
        <p:nvSpPr>
          <p:cNvPr id="54283" name="Rectangle 13"/>
          <p:cNvSpPr>
            <a:spLocks noChangeArrowheads="1"/>
          </p:cNvSpPr>
          <p:nvPr/>
        </p:nvSpPr>
        <p:spPr bwMode="auto">
          <a:xfrm>
            <a:off x="4953000" y="3838575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After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428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After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3" descr="DSC02470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3733800"/>
            <a:ext cx="3465513" cy="2743200"/>
          </a:xfrm>
        </p:spPr>
      </p:pic>
      <p:pic>
        <p:nvPicPr>
          <p:cNvPr id="55299" name="Picture 5" descr="DSC02557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70475" y="3733800"/>
            <a:ext cx="3463925" cy="2743200"/>
          </a:xfrm>
          <a:noFill/>
        </p:spPr>
      </p:pic>
      <p:pic>
        <p:nvPicPr>
          <p:cNvPr id="55300" name="Picture 11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76825" y="762000"/>
            <a:ext cx="3457575" cy="2743200"/>
          </a:xfrm>
          <a:noFill/>
        </p:spPr>
      </p:pic>
      <p:pic>
        <p:nvPicPr>
          <p:cNvPr id="55301" name="Picture 1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762000"/>
            <a:ext cx="3476625" cy="2743200"/>
          </a:xfrm>
          <a:noFill/>
        </p:spPr>
      </p:pic>
      <p:sp>
        <p:nvSpPr>
          <p:cNvPr id="55302" name="Title 1"/>
          <p:cNvSpPr txBox="1">
            <a:spLocks/>
          </p:cNvSpPr>
          <p:nvPr/>
        </p:nvSpPr>
        <p:spPr bwMode="auto">
          <a:xfrm>
            <a:off x="533400" y="152400"/>
            <a:ext cx="8001000" cy="457200"/>
          </a:xfrm>
          <a:prstGeom prst="rect">
            <a:avLst/>
          </a:prstGeom>
          <a:solidFill>
            <a:srgbClr val="7030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b="1">
                <a:solidFill>
                  <a:schemeClr val="bg1"/>
                </a:solidFill>
              </a:rPr>
              <a:t>Before &amp; After Situation</a:t>
            </a:r>
          </a:p>
        </p:txBody>
      </p:sp>
      <p:sp>
        <p:nvSpPr>
          <p:cNvPr id="55303" name="Right Arrow 8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304" name="Right Arrow 9"/>
          <p:cNvSpPr>
            <a:spLocks noChangeArrowheads="1"/>
          </p:cNvSpPr>
          <p:nvPr/>
        </p:nvSpPr>
        <p:spPr bwMode="auto">
          <a:xfrm>
            <a:off x="429895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9" name="Rectangle 10"/>
          <p:cNvSpPr>
            <a:spLocks noChangeArrowheads="1"/>
          </p:cNvSpPr>
          <p:nvPr/>
        </p:nvSpPr>
        <p:spPr bwMode="auto">
          <a:xfrm>
            <a:off x="609600" y="790575"/>
            <a:ext cx="915988" cy="369888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370" name="Rectangle 11"/>
          <p:cNvSpPr>
            <a:spLocks noChangeArrowheads="1"/>
          </p:cNvSpPr>
          <p:nvPr/>
        </p:nvSpPr>
        <p:spPr bwMode="auto">
          <a:xfrm>
            <a:off x="609600" y="3838575"/>
            <a:ext cx="915988" cy="3698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371" name="Rectangle 12"/>
          <p:cNvSpPr>
            <a:spLocks noChangeArrowheads="1"/>
          </p:cNvSpPr>
          <p:nvPr/>
        </p:nvSpPr>
        <p:spPr bwMode="auto">
          <a:xfrm>
            <a:off x="5143500" y="3838575"/>
            <a:ext cx="723900" cy="369888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/>
              <a:t>After</a:t>
            </a:r>
            <a:endParaRPr lang="en-US" dirty="0"/>
          </a:p>
        </p:txBody>
      </p:sp>
      <p:sp>
        <p:nvSpPr>
          <p:cNvPr id="15372" name="Rectangle 13"/>
          <p:cNvSpPr>
            <a:spLocks noChangeArrowheads="1"/>
          </p:cNvSpPr>
          <p:nvPr/>
        </p:nvSpPr>
        <p:spPr bwMode="auto">
          <a:xfrm>
            <a:off x="5143500" y="814388"/>
            <a:ext cx="723900" cy="36988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/>
              <a:t>After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50" y="823913"/>
            <a:ext cx="3627438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3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575" y="762000"/>
            <a:ext cx="355282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533400" y="152400"/>
            <a:ext cx="8001000" cy="457200"/>
          </a:xfrm>
          <a:prstGeom prst="rect">
            <a:avLst/>
          </a:prstGeom>
          <a:solidFill>
            <a:srgbClr val="7030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b="1">
                <a:solidFill>
                  <a:schemeClr val="bg1"/>
                </a:solidFill>
              </a:rPr>
              <a:t>Before &amp; After Situation</a:t>
            </a:r>
          </a:p>
        </p:txBody>
      </p:sp>
      <p:sp>
        <p:nvSpPr>
          <p:cNvPr id="56325" name="Right Arrow 8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6326" name="Right Arrow 9"/>
          <p:cNvSpPr>
            <a:spLocks noChangeArrowheads="1"/>
          </p:cNvSpPr>
          <p:nvPr/>
        </p:nvSpPr>
        <p:spPr bwMode="auto">
          <a:xfrm>
            <a:off x="429895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609600" y="790575"/>
            <a:ext cx="915988" cy="36988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44450" y="3486150"/>
            <a:ext cx="915988" cy="36988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257675" y="3602038"/>
            <a:ext cx="723900" cy="36988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5143500" y="814388"/>
            <a:ext cx="723900" cy="36988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6331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1650" y="3856038"/>
            <a:ext cx="3627438" cy="2620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6332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81575" y="3810000"/>
            <a:ext cx="3552825" cy="2667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 descr="DSC02418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806450"/>
            <a:ext cx="3616325" cy="2743200"/>
          </a:xfrm>
        </p:spPr>
      </p:pic>
      <p:pic>
        <p:nvPicPr>
          <p:cNvPr id="57347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18075" y="822325"/>
            <a:ext cx="3616325" cy="2711450"/>
          </a:xfrm>
        </p:spPr>
      </p:pic>
      <p:pic>
        <p:nvPicPr>
          <p:cNvPr id="57348" name="Picture 8" descr="DSC0240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0"/>
            <a:ext cx="361632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49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075" y="3825875"/>
            <a:ext cx="3616325" cy="271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50" name="Title 1"/>
          <p:cNvSpPr txBox="1">
            <a:spLocks/>
          </p:cNvSpPr>
          <p:nvPr/>
        </p:nvSpPr>
        <p:spPr bwMode="auto">
          <a:xfrm>
            <a:off x="533400" y="152400"/>
            <a:ext cx="8001000" cy="457200"/>
          </a:xfrm>
          <a:prstGeom prst="rect">
            <a:avLst/>
          </a:prstGeom>
          <a:solidFill>
            <a:srgbClr val="7030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b="1">
                <a:solidFill>
                  <a:schemeClr val="bg1"/>
                </a:solidFill>
              </a:rPr>
              <a:t>Local Govt. (Paurashava) Participation</a:t>
            </a:r>
          </a:p>
        </p:txBody>
      </p:sp>
      <p:sp>
        <p:nvSpPr>
          <p:cNvPr id="57351" name="Right Arrow 8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52" name="Right Arrow 9"/>
          <p:cNvSpPr>
            <a:spLocks noChangeArrowheads="1"/>
          </p:cNvSpPr>
          <p:nvPr/>
        </p:nvSpPr>
        <p:spPr bwMode="auto">
          <a:xfrm>
            <a:off x="429895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41" name="Rectangle 10"/>
          <p:cNvSpPr>
            <a:spLocks noChangeArrowheads="1"/>
          </p:cNvSpPr>
          <p:nvPr/>
        </p:nvSpPr>
        <p:spPr bwMode="auto">
          <a:xfrm>
            <a:off x="609600" y="790575"/>
            <a:ext cx="915988" cy="36988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442" name="Rectangle 11"/>
          <p:cNvSpPr>
            <a:spLocks noChangeArrowheads="1"/>
          </p:cNvSpPr>
          <p:nvPr/>
        </p:nvSpPr>
        <p:spPr bwMode="auto">
          <a:xfrm>
            <a:off x="609600" y="3838575"/>
            <a:ext cx="915988" cy="36988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443" name="Rectangle 12"/>
          <p:cNvSpPr>
            <a:spLocks noChangeArrowheads="1"/>
          </p:cNvSpPr>
          <p:nvPr/>
        </p:nvSpPr>
        <p:spPr bwMode="auto">
          <a:xfrm>
            <a:off x="4943475" y="3824288"/>
            <a:ext cx="723900" cy="369887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444" name="Rectangle 13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 descr="DSC02561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96925"/>
            <a:ext cx="3657600" cy="2743200"/>
          </a:xfrm>
        </p:spPr>
      </p:pic>
      <p:pic>
        <p:nvPicPr>
          <p:cNvPr id="58371" name="Picture 3" descr="11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796925"/>
            <a:ext cx="3733800" cy="2743200"/>
          </a:xfrm>
        </p:spPr>
      </p:pic>
      <p:pic>
        <p:nvPicPr>
          <p:cNvPr id="58372" name="Picture 20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3811588"/>
            <a:ext cx="3656012" cy="2743200"/>
          </a:xfrm>
          <a:noFill/>
        </p:spPr>
      </p:pic>
      <p:sp>
        <p:nvSpPr>
          <p:cNvPr id="58373" name="Title 1"/>
          <p:cNvSpPr txBox="1">
            <a:spLocks/>
          </p:cNvSpPr>
          <p:nvPr/>
        </p:nvSpPr>
        <p:spPr bwMode="auto">
          <a:xfrm>
            <a:off x="533400" y="152400"/>
            <a:ext cx="8001000" cy="457200"/>
          </a:xfrm>
          <a:prstGeom prst="rect">
            <a:avLst/>
          </a:prstGeom>
          <a:solidFill>
            <a:srgbClr val="7030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b="1">
                <a:solidFill>
                  <a:schemeClr val="bg1"/>
                </a:solidFill>
              </a:rPr>
              <a:t>Present Environment of Hospital Campus</a:t>
            </a:r>
          </a:p>
        </p:txBody>
      </p:sp>
      <p:sp>
        <p:nvSpPr>
          <p:cNvPr id="58374" name="Rectangle 8"/>
          <p:cNvSpPr>
            <a:spLocks noChangeArrowheads="1"/>
          </p:cNvSpPr>
          <p:nvPr/>
        </p:nvSpPr>
        <p:spPr bwMode="auto">
          <a:xfrm>
            <a:off x="6705600" y="5964238"/>
            <a:ext cx="17446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Complain &amp;</a:t>
            </a:r>
          </a:p>
          <a:p>
            <a:r>
              <a:rPr lang="en-US" sz="1600" b="1">
                <a:solidFill>
                  <a:schemeClr val="bg1"/>
                </a:solidFill>
              </a:rPr>
              <a:t>Suggestion Box</a:t>
            </a:r>
            <a:endParaRPr lang="en-US" sz="1600">
              <a:solidFill>
                <a:schemeClr val="bg1"/>
              </a:solidFill>
            </a:endParaRPr>
          </a:p>
        </p:txBody>
      </p:sp>
      <p:pic>
        <p:nvPicPr>
          <p:cNvPr id="58375" name="Picture 8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3876675"/>
            <a:ext cx="3886200" cy="26733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1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838200"/>
            <a:ext cx="8001000" cy="3005138"/>
          </a:xfrm>
          <a:noFill/>
        </p:spPr>
      </p:pic>
      <p:pic>
        <p:nvPicPr>
          <p:cNvPr id="59395" name="Picture 1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4035425"/>
            <a:ext cx="3810000" cy="2424113"/>
          </a:xfrm>
          <a:noFill/>
        </p:spPr>
      </p:pic>
      <p:pic>
        <p:nvPicPr>
          <p:cNvPr id="59396" name="Picture 2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035425"/>
            <a:ext cx="3759200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7" name="Title 1"/>
          <p:cNvSpPr txBox="1">
            <a:spLocks/>
          </p:cNvSpPr>
          <p:nvPr/>
        </p:nvSpPr>
        <p:spPr bwMode="auto">
          <a:xfrm>
            <a:off x="533400" y="152400"/>
            <a:ext cx="8001000" cy="457200"/>
          </a:xfrm>
          <a:prstGeom prst="rect">
            <a:avLst/>
          </a:prstGeom>
          <a:solidFill>
            <a:srgbClr val="7030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400" b="1">
                <a:solidFill>
                  <a:schemeClr val="bg1"/>
                </a:solidFill>
              </a:rPr>
              <a:t>Community Donated Manpower &amp; Logistics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0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6000" dirty="0" smtClean="0">
              <a:solidFill>
                <a:srgbClr val="FF0066"/>
              </a:solidFill>
              <a:latin typeface="Albertus Extra Bold" pitchFamily="34" charset="0"/>
            </a:endParaRPr>
          </a:p>
          <a:p>
            <a:pPr algn="ctr" eaLnBrk="1" hangingPunct="1">
              <a:buFontTx/>
              <a:buNone/>
              <a:defRPr/>
            </a:pPr>
            <a:r>
              <a:rPr lang="en-US" sz="6000" dirty="0" smtClean="0">
                <a:solidFill>
                  <a:srgbClr val="FF0066"/>
                </a:solidFill>
                <a:latin typeface="Albertus Extra Bold" pitchFamily="34" charset="0"/>
              </a:rPr>
              <a:t>   </a:t>
            </a:r>
          </a:p>
          <a:p>
            <a:pPr algn="ctr" eaLnBrk="1" hangingPunct="1">
              <a:buFontTx/>
              <a:buNone/>
              <a:defRPr/>
            </a:pPr>
            <a:r>
              <a:rPr lang="en-US" sz="6000" dirty="0" smtClean="0">
                <a:solidFill>
                  <a:schemeClr val="bg1"/>
                </a:solidFill>
                <a:latin typeface="Albertus Extra Bold" pitchFamily="34" charset="0"/>
              </a:rPr>
              <a:t>Thank yo</a:t>
            </a:r>
            <a:r>
              <a:rPr lang="en-US" sz="6000" dirty="0" smtClean="0">
                <a:solidFill>
                  <a:schemeClr val="bg1">
                    <a:lumMod val="85000"/>
                  </a:schemeClr>
                </a:solidFill>
                <a:latin typeface="Albertus Extra Bold" pitchFamily="34" charset="0"/>
              </a:rPr>
              <a:t>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800" dirty="0" smtClean="0"/>
              <a:t>Situation of the hospital in May 2012 -1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867400"/>
          </a:xfrm>
        </p:spPr>
        <p:txBody>
          <a:bodyPr/>
          <a:lstStyle/>
          <a:p>
            <a:pPr marL="457200" indent="-457200">
              <a:buFont typeface="Arial" charset="0"/>
              <a:buAutoNum type="arabicPeriod"/>
              <a:defRPr/>
            </a:pPr>
            <a:r>
              <a:rPr lang="en-US" sz="1800" dirty="0" smtClean="0"/>
              <a:t>Unprotected Campus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 	a. Addicted person moved here and there at day and night.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 	b. Campus unclean goats and cows moved everywhere in day.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r>
              <a:rPr lang="en-US" sz="1800" dirty="0" smtClean="0"/>
              <a:t>       	c. Front of the hospital was full of posters.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r>
              <a:rPr lang="en-US" sz="1800" dirty="0" smtClean="0"/>
              <a:t>       	d. Broken cycle stand and there was a shade of </a:t>
            </a:r>
            <a:r>
              <a:rPr lang="en-US" sz="1800" dirty="0" err="1" smtClean="0"/>
              <a:t>polythin</a:t>
            </a:r>
            <a:r>
              <a:rPr lang="en-US" sz="1800" dirty="0" smtClean="0"/>
              <a:t> in front of the cycle 	stand.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e. </a:t>
            </a:r>
            <a:r>
              <a:rPr lang="en-US" sz="1800" dirty="0" err="1" smtClean="0"/>
              <a:t>Vesoz</a:t>
            </a:r>
            <a:r>
              <a:rPr lang="en-US" sz="1800" dirty="0" smtClean="0"/>
              <a:t> Garden was unclean and full of hospital waste.</a:t>
            </a:r>
          </a:p>
          <a:p>
            <a:pPr marL="457200" indent="-457200">
              <a:buFont typeface="Arial" charset="0"/>
              <a:buAutoNum type="arabicPeriod" startAt="2"/>
              <a:defRPr/>
            </a:pPr>
            <a:r>
              <a:rPr lang="en-US" sz="1800" dirty="0" smtClean="0"/>
              <a:t>Emergency: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Full of broken lockers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b. Unhygienic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c. Used as a cycle store at night.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d. No boiling system. Infection control system was neglected.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e. Addicted person worked in emergency department.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f. No </a:t>
            </a:r>
            <a:r>
              <a:rPr lang="en-US" sz="1800" dirty="0" err="1" smtClean="0"/>
              <a:t>trolleyman</a:t>
            </a:r>
            <a:r>
              <a:rPr lang="en-US" sz="1800" dirty="0" smtClean="0"/>
              <a:t>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g. No slopping for trolley in front of the emergency department.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h. Privacy was neglected during stomach wash of the patient.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i. Corruption was not prevented.</a:t>
            </a:r>
          </a:p>
          <a:p>
            <a:pPr marL="0" indent="0">
              <a:buFont typeface="Arial" charset="0"/>
              <a:buNone/>
              <a:defRPr/>
            </a:pPr>
            <a:endParaRPr lang="en-US" sz="1800" dirty="0" smtClean="0"/>
          </a:p>
          <a:p>
            <a:pPr marL="0" indent="0">
              <a:buFont typeface="Arial" charset="0"/>
              <a:buNone/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endParaRPr lang="en-US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4572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400" dirty="0" smtClean="0"/>
              <a:t>Situation of the hospital in May 2012 -2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943600"/>
          </a:xfrm>
        </p:spPr>
        <p:txBody>
          <a:bodyPr/>
          <a:lstStyle/>
          <a:p>
            <a:pPr>
              <a:buFont typeface="Arial" charset="0"/>
              <a:buAutoNum type="arabicPeriod" startAt="6"/>
              <a:defRPr/>
            </a:pPr>
            <a:endParaRPr lang="en-US" sz="1800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3.      Outdoor: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a. No patient separation. Male female and child treated in outdoor by every 	outdoor doctor.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No IMCI Corner.                        c. No  FP Unit.</a:t>
            </a:r>
          </a:p>
          <a:p>
            <a:pPr>
              <a:buFont typeface="Arial" charset="0"/>
              <a:buAutoNum type="arabicPeriod" startAt="4"/>
              <a:defRPr/>
            </a:pPr>
            <a:r>
              <a:rPr lang="en-US" sz="1800" dirty="0" smtClean="0"/>
              <a:t>Blood Bank: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	a. No worker for 24 Hours blood bank support.</a:t>
            </a:r>
            <a:endParaRPr lang="en-US" sz="1800" dirty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5.    Indoor: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Unwanted items within the ward. Like broken patient bed.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Unhygienic environment.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c.  Patient in paying cabin and paying ward without govt. charge.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d. No table and chair in paying cabin.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e. Non Govt. worker would take charge from the patient and some of the 	govt. workers also involved in corruption.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6.     Dead body room: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Unclean.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Unused large telephone box for 10 years.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c. Workers would take heavy charge from the relatives of the dead person.</a:t>
            </a:r>
          </a:p>
          <a:p>
            <a:pPr marL="0" indent="0">
              <a:buFont typeface="Arial" charset="0"/>
              <a:buNone/>
              <a:defRPr/>
            </a:pPr>
            <a:endParaRPr lang="en-US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800" dirty="0" smtClean="0"/>
              <a:t>Situation of the hospital in May 2012 -3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534400" cy="6096000"/>
          </a:xfrm>
        </p:spPr>
        <p:txBody>
          <a:bodyPr/>
          <a:lstStyle/>
          <a:p>
            <a:pPr>
              <a:buFont typeface="Arial" charset="0"/>
              <a:buAutoNum type="arabicPeriod" startAt="6"/>
              <a:defRPr/>
            </a:pPr>
            <a:r>
              <a:rPr lang="en-US" sz="1600" dirty="0" smtClean="0"/>
              <a:t>EOC ward: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a. Only 4 govt. bed and 4 extra. Total 8 beds.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b. The ward was unhygienic and foul smelling.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c.  Privacy was neglected.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d. ANC Corner system ineffective.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e. One washroom with broken door.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f.  No </a:t>
            </a:r>
            <a:r>
              <a:rPr lang="en-US" sz="1600" dirty="0" err="1" smtClean="0"/>
              <a:t>rexin</a:t>
            </a:r>
            <a:r>
              <a:rPr lang="en-US" sz="1600" dirty="0" smtClean="0"/>
              <a:t> sheet and unclean mattress of the beds.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g. Mal use of oxytocic drug.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h. Weak infection control system.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i. Consultant reside outside the campus.	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j. No health education system.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k. No pre </a:t>
            </a:r>
            <a:r>
              <a:rPr lang="en-US" sz="1600" dirty="0" err="1" smtClean="0"/>
              <a:t>labour</a:t>
            </a:r>
            <a:r>
              <a:rPr lang="en-US" sz="1600" dirty="0" smtClean="0"/>
              <a:t> room.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l. No night round of the consultant.</a:t>
            </a:r>
          </a:p>
          <a:p>
            <a:pPr>
              <a:buFont typeface="Arial" charset="0"/>
              <a:buAutoNum type="arabicPeriod" startAt="7"/>
              <a:defRPr/>
            </a:pPr>
            <a:r>
              <a:rPr lang="en-US" sz="1600" dirty="0" smtClean="0"/>
              <a:t>OT</a:t>
            </a:r>
            <a:r>
              <a:rPr lang="en-US" sz="1600" dirty="0"/>
              <a:t>:</a:t>
            </a:r>
            <a:endParaRPr lang="en-US" sz="1600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600" dirty="0"/>
              <a:t> </a:t>
            </a:r>
            <a:r>
              <a:rPr lang="en-US" sz="1600" dirty="0" smtClean="0"/>
              <a:t> 	a. Some of the none govt. workers would take charge from the patient.</a:t>
            </a:r>
          </a:p>
          <a:p>
            <a:pPr marL="228600" indent="-228600">
              <a:buFont typeface="Arial" charset="0"/>
              <a:buAutoNum type="arabicPeriod" startAt="9"/>
              <a:defRPr/>
            </a:pPr>
            <a:r>
              <a:rPr lang="en-US" sz="1600" dirty="0" smtClean="0"/>
              <a:t>     No round of superintendent of the hospital even one in a month.</a:t>
            </a:r>
          </a:p>
          <a:p>
            <a:pPr marL="228600" indent="-228600">
              <a:buFont typeface="Arial" charset="0"/>
              <a:buAutoNum type="arabicPeriod" startAt="9"/>
              <a:defRPr/>
            </a:pPr>
            <a:r>
              <a:rPr lang="en-US" sz="1600" dirty="0" smtClean="0"/>
              <a:t>    No RMO, in charge RMO worked for six years.</a:t>
            </a:r>
          </a:p>
          <a:p>
            <a:pPr marL="228600" indent="-228600">
              <a:buFont typeface="Arial" charset="0"/>
              <a:buAutoNum type="arabicPeriod" startAt="9"/>
              <a:defRPr/>
            </a:pPr>
            <a:r>
              <a:rPr lang="en-US" sz="1600" dirty="0" smtClean="0"/>
              <a:t>    Information display system was neglected.</a:t>
            </a:r>
          </a:p>
          <a:p>
            <a:pPr marL="228600" indent="-228600">
              <a:buFont typeface="Arial" charset="0"/>
              <a:buAutoNum type="arabicPeriod" startAt="9"/>
              <a:defRPr/>
            </a:pPr>
            <a:r>
              <a:rPr lang="en-US" sz="1600" dirty="0" smtClean="0"/>
              <a:t>    One super were charged by local MP and one super fled away.</a:t>
            </a:r>
          </a:p>
          <a:p>
            <a:pPr marL="228600" indent="-228600">
              <a:buFont typeface="Arial" charset="0"/>
              <a:buAutoNum type="arabicPeriod" startAt="9"/>
              <a:defRPr/>
            </a:pPr>
            <a:r>
              <a:rPr lang="en-US" sz="1600" dirty="0" smtClean="0"/>
              <a:t>    Frequently, Hospital stuffs faced physical and mental torture.</a:t>
            </a:r>
          </a:p>
          <a:p>
            <a:pPr marL="0" indent="0">
              <a:buFont typeface="Arial" charset="0"/>
              <a:buNone/>
              <a:defRPr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/>
              <a:t>How we overcome the </a:t>
            </a:r>
            <a:r>
              <a:rPr lang="en-US" sz="3200" dirty="0" err="1" smtClean="0"/>
              <a:t>challanges</a:t>
            </a:r>
            <a:endParaRPr lang="en-US" sz="3200" dirty="0"/>
          </a:p>
        </p:txBody>
      </p:sp>
      <p:sp>
        <p:nvSpPr>
          <p:cNvPr id="64515" name="Rectangle 8"/>
          <p:cNvSpPr>
            <a:spLocks noChangeArrowheads="1"/>
          </p:cNvSpPr>
          <p:nvPr/>
        </p:nvSpPr>
        <p:spPr bwMode="auto">
          <a:xfrm>
            <a:off x="609600" y="914400"/>
            <a:ext cx="8077200" cy="677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400">
                <a:solidFill>
                  <a:srgbClr val="000000"/>
                </a:solidFill>
              </a:rPr>
              <a:t>1.                Situation analysis and prepare a baseline survey report in June 2012 and compared the    	progress with the baseline report of 1998.</a:t>
            </a:r>
          </a:p>
          <a:p>
            <a:r>
              <a:rPr lang="en-US" sz="1400">
                <a:solidFill>
                  <a:srgbClr val="000000"/>
                </a:solidFill>
              </a:rPr>
              <a:t>	a.   Problem identification. </a:t>
            </a:r>
          </a:p>
          <a:p>
            <a:r>
              <a:rPr lang="en-US" sz="1400">
                <a:solidFill>
                  <a:srgbClr val="000000"/>
                </a:solidFill>
              </a:rPr>
              <a:t>	b.   Basic activities.</a:t>
            </a:r>
          </a:p>
          <a:p>
            <a:r>
              <a:rPr lang="en-US" sz="1400">
                <a:solidFill>
                  <a:srgbClr val="000000"/>
                </a:solidFill>
              </a:rPr>
              <a:t>	c.   Govt. resources</a:t>
            </a:r>
          </a:p>
          <a:p>
            <a:r>
              <a:rPr lang="en-US" sz="1400">
                <a:solidFill>
                  <a:srgbClr val="000000"/>
                </a:solidFill>
              </a:rPr>
              <a:t>	d.   Scope</a:t>
            </a:r>
          </a:p>
          <a:p>
            <a:r>
              <a:rPr lang="en-US" sz="1400">
                <a:solidFill>
                  <a:srgbClr val="000000"/>
                </a:solidFill>
              </a:rPr>
              <a:t>2.	Motivation of doctors, nurses and staff.</a:t>
            </a:r>
          </a:p>
          <a:p>
            <a:r>
              <a:rPr lang="en-US" sz="1400">
                <a:solidFill>
                  <a:srgbClr val="000000"/>
                </a:solidFill>
              </a:rPr>
              <a:t> </a:t>
            </a:r>
          </a:p>
          <a:p>
            <a:r>
              <a:rPr lang="en-US" sz="1400">
                <a:solidFill>
                  <a:srgbClr val="000000"/>
                </a:solidFill>
              </a:rPr>
              <a:t>3.	Community motivation and social mobilization.</a:t>
            </a:r>
          </a:p>
          <a:p>
            <a:r>
              <a:rPr lang="en-US" sz="1400">
                <a:solidFill>
                  <a:srgbClr val="000000"/>
                </a:solidFill>
              </a:rPr>
              <a:t>	a.   Local administration DC ADC </a:t>
            </a:r>
          </a:p>
          <a:p>
            <a:r>
              <a:rPr lang="en-US" sz="1400">
                <a:solidFill>
                  <a:srgbClr val="000000"/>
                </a:solidFill>
              </a:rPr>
              <a:t>	b.   District health improvement committee which is headed by 		      	      local MP.</a:t>
            </a:r>
          </a:p>
          <a:p>
            <a:r>
              <a:rPr lang="en-US" sz="1400">
                <a:solidFill>
                  <a:srgbClr val="000000"/>
                </a:solidFill>
              </a:rPr>
              <a:t>	c.   Local Govt. Mayor, district chairmen.</a:t>
            </a:r>
          </a:p>
          <a:p>
            <a:r>
              <a:rPr lang="en-US" sz="1400">
                <a:solidFill>
                  <a:srgbClr val="000000"/>
                </a:solidFill>
              </a:rPr>
              <a:t>	d.   Reporters and media personalities.</a:t>
            </a:r>
          </a:p>
          <a:p>
            <a:r>
              <a:rPr lang="en-US" sz="1400">
                <a:solidFill>
                  <a:srgbClr val="000000"/>
                </a:solidFill>
              </a:rPr>
              <a:t>	e.   Social workers, Human Rights Organizations, few NGO, 		      	      teachers, industrialists , TIB.</a:t>
            </a:r>
          </a:p>
          <a:p>
            <a:endParaRPr lang="en-US" sz="1400">
              <a:solidFill>
                <a:srgbClr val="000000"/>
              </a:solidFill>
            </a:endParaRPr>
          </a:p>
          <a:p>
            <a:r>
              <a:rPr lang="en-US" sz="1400">
                <a:solidFill>
                  <a:srgbClr val="000000"/>
                </a:solidFill>
              </a:rPr>
              <a:t>4.	Improved cleanliness and beautification of the outer environment.</a:t>
            </a:r>
          </a:p>
          <a:p>
            <a:r>
              <a:rPr lang="en-US" sz="1400">
                <a:solidFill>
                  <a:srgbClr val="000000"/>
                </a:solidFill>
              </a:rPr>
              <a:t>	a.   Involvement of Mayor. Ensure security of the campus and regular  	       	      removal of hospital wastes, cleanliness of the drainage system.</a:t>
            </a:r>
          </a:p>
          <a:p>
            <a:r>
              <a:rPr lang="en-US" sz="1400">
                <a:solidFill>
                  <a:srgbClr val="000000"/>
                </a:solidFill>
              </a:rPr>
              <a:t>	b.   Removal of all posters.</a:t>
            </a:r>
          </a:p>
          <a:p>
            <a:r>
              <a:rPr lang="en-US" sz="1400">
                <a:solidFill>
                  <a:srgbClr val="000000"/>
                </a:solidFill>
              </a:rPr>
              <a:t>	c.   Made a boundary wall.</a:t>
            </a:r>
          </a:p>
          <a:p>
            <a:r>
              <a:rPr lang="en-US" sz="1400">
                <a:solidFill>
                  <a:srgbClr val="000000"/>
                </a:solidFill>
              </a:rPr>
              <a:t>	d.   Starting for the beautification of the campus.</a:t>
            </a:r>
          </a:p>
          <a:p>
            <a:r>
              <a:rPr lang="en-US" sz="1400">
                <a:solidFill>
                  <a:srgbClr val="000000"/>
                </a:solidFill>
              </a:rPr>
              <a:t>	e.   Celebrate A Big Cleaning Day in 17th March, the birthday of the father of the nation.</a:t>
            </a:r>
          </a:p>
          <a:p>
            <a:endParaRPr lang="en-US" sz="1400">
              <a:solidFill>
                <a:srgbClr val="000000"/>
              </a:solidFill>
            </a:endParaRPr>
          </a:p>
          <a:p>
            <a:endParaRPr lang="en-US" sz="1400">
              <a:solidFill>
                <a:srgbClr val="000000"/>
              </a:solidFill>
            </a:endParaRPr>
          </a:p>
          <a:p>
            <a:endParaRPr lang="en-US" sz="1400">
              <a:solidFill>
                <a:srgbClr val="000000"/>
              </a:solidFill>
            </a:endParaRPr>
          </a:p>
          <a:p>
            <a:endParaRPr lang="en-US" sz="1400">
              <a:solidFill>
                <a:srgbClr val="000000"/>
              </a:solidFill>
            </a:endParaRPr>
          </a:p>
          <a:p>
            <a:endParaRPr lang="en-US" sz="1400">
              <a:solidFill>
                <a:srgbClr val="000000"/>
              </a:solidFill>
            </a:endParaRPr>
          </a:p>
          <a:p>
            <a:endParaRPr lang="en-US"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How we overcome the challenges -2</a:t>
            </a:r>
            <a:endParaRPr lang="en-US" sz="2800" dirty="0"/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381000" y="990600"/>
            <a:ext cx="83820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5.	Reform of EOC program:</a:t>
            </a:r>
          </a:p>
          <a:p>
            <a:pPr marL="342900" indent="-342900" algn="just" eaLnBrk="1" hangingPunct="1">
              <a:defRPr/>
            </a:pPr>
            <a:endParaRPr lang="en-US" sz="16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algn="just" eaLnBrk="1" hangingPunct="1">
              <a:defRPr/>
            </a:pPr>
            <a:r>
              <a:rPr lang="en-US" sz="1600" dirty="0"/>
              <a:t>	-Introduce </a:t>
            </a:r>
            <a:r>
              <a:rPr lang="en-US" sz="1600" dirty="0" err="1"/>
              <a:t>Labour</a:t>
            </a:r>
            <a:r>
              <a:rPr lang="en-US" sz="1600" dirty="0"/>
              <a:t> Admission Register, </a:t>
            </a:r>
            <a:r>
              <a:rPr lang="en-US" sz="1600" dirty="0" err="1"/>
              <a:t>Labour</a:t>
            </a:r>
            <a:r>
              <a:rPr lang="en-US" sz="1600" dirty="0"/>
              <a:t> Ward Admission Form, Separate 	Discharge Form. </a:t>
            </a:r>
          </a:p>
          <a:p>
            <a:pPr lvl="1" algn="just" eaLnBrk="1" hangingPunct="1">
              <a:defRPr/>
            </a:pPr>
            <a:r>
              <a:rPr lang="en-US" sz="1600" dirty="0"/>
              <a:t>	-Starting of ANC &amp; PNC corner and Arrange a Room for Medical Officer.</a:t>
            </a:r>
          </a:p>
          <a:p>
            <a:pPr lvl="1" algn="just" eaLnBrk="1" hangingPunct="1">
              <a:defRPr/>
            </a:pPr>
            <a:r>
              <a:rPr lang="en-US" sz="1600" dirty="0"/>
              <a:t>	-NO. of EOC Bed increase from 10 to 21 though on EOC bed only 5.</a:t>
            </a:r>
          </a:p>
          <a:p>
            <a:pPr lvl="1" algn="just" eaLnBrk="1" hangingPunct="1">
              <a:defRPr/>
            </a:pPr>
            <a:r>
              <a:rPr lang="en-US" sz="1600" dirty="0"/>
              <a:t>	-Improve EOC Operation Theater. </a:t>
            </a:r>
          </a:p>
          <a:p>
            <a:pPr lvl="1" algn="just" eaLnBrk="1" hangingPunct="1">
              <a:defRPr/>
            </a:pPr>
            <a:r>
              <a:rPr lang="en-US" sz="1600" dirty="0"/>
              <a:t>	-Moral based environment with 12 (twelve) workers supported by community 	donors. </a:t>
            </a:r>
          </a:p>
          <a:p>
            <a:pPr lvl="1" algn="just" eaLnBrk="1" hangingPunct="1">
              <a:defRPr/>
            </a:pPr>
            <a:r>
              <a:rPr lang="en-US" sz="1600" dirty="0"/>
              <a:t>	-EOC Operation activities extended from 8 A.M. to 2 P.M to 8 P.M.</a:t>
            </a:r>
          </a:p>
          <a:p>
            <a:pPr lvl="1" algn="just" eaLnBrk="1" hangingPunct="1">
              <a:defRPr/>
            </a:pPr>
            <a:r>
              <a:rPr lang="en-US" sz="1600" dirty="0"/>
              <a:t>	-Ensuring Rational use of drugs in EOC ward. </a:t>
            </a:r>
          </a:p>
          <a:p>
            <a:pPr lvl="1" algn="just" eaLnBrk="1" hangingPunct="1">
              <a:defRPr/>
            </a:pPr>
            <a:r>
              <a:rPr lang="en-US" sz="1600" dirty="0"/>
              <a:t>	-Provision of Mobile Phone in EOC ward no. 01857935012.</a:t>
            </a:r>
          </a:p>
          <a:p>
            <a:pPr lvl="1" algn="just" eaLnBrk="1" hangingPunct="1">
              <a:defRPr/>
            </a:pPr>
            <a:r>
              <a:rPr lang="en-US" sz="1600" dirty="0"/>
              <a:t>	-Shoe-free environment for infection control.</a:t>
            </a:r>
          </a:p>
          <a:p>
            <a:pPr lvl="1" algn="just" eaLnBrk="1" hangingPunct="1">
              <a:defRPr/>
            </a:pPr>
            <a:r>
              <a:rPr lang="en-US" sz="1600" dirty="0"/>
              <a:t>	-The center is used as a effective training center for SBA, Nursing student, Mid-	</a:t>
            </a:r>
            <a:r>
              <a:rPr lang="en-US" sz="1600" dirty="0" err="1"/>
              <a:t>wifiry</a:t>
            </a:r>
            <a:r>
              <a:rPr lang="en-US" sz="1600" dirty="0"/>
              <a:t>.</a:t>
            </a:r>
          </a:p>
          <a:p>
            <a:pPr lvl="1" algn="just" eaLnBrk="1" hangingPunct="1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1600" dirty="0" smtClean="0"/>
              <a:t>6. Changes in Emergency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Removal of all unnecessary items.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b. Improved infection control system.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Transfer the addicted person from emergency,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d. EMOS room is reformed. 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e. Arrange 3 trolley men.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f.  Tiles fitting of the walls of emergency department.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g. Ensure privacy.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h. Make a slope for easy carry of the patient.</a:t>
            </a:r>
          </a:p>
          <a:p>
            <a:pPr marL="0" indent="0">
              <a:buFontTx/>
              <a:buNone/>
              <a:defRPr/>
            </a:pPr>
            <a:r>
              <a:rPr lang="en-US" sz="1600" dirty="0" smtClean="0"/>
              <a:t>7. Changes in outdoor: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Separation of the outdoor patient. Male, Female, IMCI 	  	    	    corner. </a:t>
            </a:r>
            <a:r>
              <a:rPr lang="en-US" sz="1600" dirty="0"/>
              <a:t>	</a:t>
            </a:r>
            <a:endParaRPr lang="en-US" sz="1600" dirty="0" smtClean="0"/>
          </a:p>
          <a:p>
            <a:pPr marL="0" indent="0">
              <a:buFontTx/>
              <a:buNone/>
              <a:defRPr/>
            </a:pPr>
            <a:r>
              <a:rPr lang="en-US" sz="1600" dirty="0" smtClean="0"/>
              <a:t>	b. Opening of family planning section.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Opening of one step crisis service.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d. Opening of one cash counter and another delivery of report 	    	    system. </a:t>
            </a:r>
          </a:p>
          <a:p>
            <a:pPr>
              <a:buFontTx/>
              <a:buAutoNum type="arabicPeriod" startAt="8"/>
              <a:defRPr/>
            </a:pPr>
            <a:r>
              <a:rPr lang="en-US" sz="1600" dirty="0" smtClean="0"/>
              <a:t>Change in dead body room: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Removal of telephone box.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b. Ensure clean environment.   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Prevention of corruption.     </a:t>
            </a:r>
            <a:endParaRPr lang="en-US" sz="16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000" dirty="0" smtClean="0"/>
              <a:t>How we overcome the challenges -3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Content Placeholder 3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1600" smtClean="0"/>
              <a:t>9. Changes in blood bank:</a:t>
            </a:r>
          </a:p>
          <a:p>
            <a:pPr marL="0" indent="0">
              <a:buFontTx/>
              <a:buNone/>
            </a:pPr>
            <a:r>
              <a:rPr lang="en-US" sz="1600" smtClean="0"/>
              <a:t>	a. 24 hours blood bank service by the support of blood bank rule.</a:t>
            </a:r>
          </a:p>
          <a:p>
            <a:pPr marL="0" indent="0">
              <a:buFontTx/>
              <a:buNone/>
            </a:pPr>
            <a:r>
              <a:rPr lang="en-US" sz="1600" smtClean="0"/>
              <a:t>10. Changes in G OT</a:t>
            </a:r>
          </a:p>
          <a:p>
            <a:pPr marL="0" indent="0">
              <a:buFontTx/>
              <a:buNone/>
            </a:pPr>
            <a:r>
              <a:rPr lang="en-US" sz="1600" smtClean="0"/>
              <a:t>	a. Arrange Generator.</a:t>
            </a:r>
          </a:p>
          <a:p>
            <a:pPr marL="0" indent="0">
              <a:buFontTx/>
              <a:buNone/>
            </a:pPr>
            <a:r>
              <a:rPr lang="en-US" sz="1600" smtClean="0"/>
              <a:t>	b. Prevent corruption.</a:t>
            </a:r>
          </a:p>
          <a:p>
            <a:pPr marL="0" indent="0">
              <a:buFontTx/>
              <a:buNone/>
            </a:pPr>
            <a:r>
              <a:rPr lang="en-US" sz="1600" smtClean="0"/>
              <a:t>	c. Beautiful OT environment.</a:t>
            </a:r>
          </a:p>
          <a:p>
            <a:pPr marL="0" indent="0">
              <a:buFontTx/>
              <a:buNone/>
            </a:pPr>
            <a:r>
              <a:rPr lang="en-US" sz="1600" smtClean="0"/>
              <a:t>11. Changes in indoor:</a:t>
            </a:r>
          </a:p>
          <a:p>
            <a:pPr marL="0" indent="0">
              <a:buFontTx/>
              <a:buNone/>
            </a:pPr>
            <a:r>
              <a:rPr lang="en-US" sz="1600" smtClean="0"/>
              <a:t>	a. Improve cleanliness.</a:t>
            </a:r>
          </a:p>
          <a:p>
            <a:pPr marL="0" indent="0">
              <a:buFontTx/>
              <a:buNone/>
            </a:pPr>
            <a:r>
              <a:rPr lang="en-US" sz="1600" smtClean="0"/>
              <a:t>	b. Arrange tiles at the wall of the female medicine indoor.</a:t>
            </a:r>
          </a:p>
          <a:p>
            <a:pPr marL="0" indent="0">
              <a:buFontTx/>
              <a:buNone/>
            </a:pPr>
            <a:r>
              <a:rPr lang="en-US" sz="1600" smtClean="0"/>
              <a:t>	c. Removal of unwanted items.</a:t>
            </a:r>
          </a:p>
          <a:p>
            <a:pPr marL="0" indent="0">
              <a:buFontTx/>
              <a:buNone/>
            </a:pPr>
            <a:r>
              <a:rPr lang="en-US" sz="1600" smtClean="0"/>
              <a:t>	d. Coloring of the patient beds, locker.</a:t>
            </a:r>
          </a:p>
          <a:p>
            <a:pPr marL="0" indent="0">
              <a:buFontTx/>
              <a:buNone/>
            </a:pPr>
            <a:r>
              <a:rPr lang="en-US" sz="1600" smtClean="0"/>
              <a:t>	e. Arrange 3 ayah and 3 cleaner in every ward.</a:t>
            </a:r>
          </a:p>
          <a:p>
            <a:pPr marL="0" indent="0">
              <a:buFontTx/>
              <a:buNone/>
            </a:pPr>
            <a:r>
              <a:rPr lang="en-US" sz="1600" smtClean="0"/>
              <a:t>	f. Table an chair supplies in every cabin for the patient.</a:t>
            </a:r>
          </a:p>
          <a:p>
            <a:pPr marL="0" indent="0">
              <a:buFontTx/>
              <a:buNone/>
            </a:pPr>
            <a:r>
              <a:rPr lang="en-US" sz="1600" smtClean="0"/>
              <a:t>	  </a:t>
            </a:r>
          </a:p>
          <a:p>
            <a:pPr marL="0" indent="0">
              <a:buFontTx/>
              <a:buNone/>
            </a:pPr>
            <a:r>
              <a:rPr lang="en-US" sz="1600" smtClean="0"/>
              <a:t>.    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000" dirty="0" smtClean="0"/>
              <a:t>How we overcome the challenges -4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457200" y="274638"/>
            <a:ext cx="8229600" cy="4111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r>
              <a:rPr lang="en-US" sz="2800" dirty="0" smtClean="0"/>
              <a:t>How we overcome the challenges -5</a:t>
            </a:r>
            <a:endParaRPr lang="en-US" sz="2800" dirty="0"/>
          </a:p>
        </p:txBody>
      </p:sp>
      <p:sp>
        <p:nvSpPr>
          <p:cNvPr id="68611" name="Content Placeholder 5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12.	Community support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Manpower, b. logistics, c. security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13.	Improved MIS and Display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14.	Improved supervisory authority.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District health development authority.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b. Ensure monthly meeting.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c. Formation of QIT and WIT team.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d. Idea sharing with Satkhira District Hospital visit.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e. Coordination with officials of DGHS, Ministry of Health and Family 	Welfare, BPATC Savar, Divisional Health Office, ICDDRB and JAICA.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15.	Achievements: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Active community participation.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b. High performance of EOC program.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c. Improved cleanliness and beautification.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d. Ensure security.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e. Improved revenue income.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f.  Achieve overall community satisfaction.</a:t>
            </a:r>
          </a:p>
          <a:p>
            <a:pPr marL="0" indent="0">
              <a:buFont typeface="Arial" charset="0"/>
              <a:buNone/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3112</TotalTime>
  <Words>2154</Words>
  <Application>Microsoft Office PowerPoint</Application>
  <PresentationFormat>On-screen Show (4:3)</PresentationFormat>
  <Paragraphs>933</Paragraphs>
  <Slides>36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Default Design</vt:lpstr>
      <vt:lpstr>Office Theme</vt:lpstr>
      <vt:lpstr>1_Default Design</vt:lpstr>
      <vt:lpstr>2_Default Design</vt:lpstr>
      <vt:lpstr>3_Default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Sadar Hospital, Jhenaidah</vt:lpstr>
      <vt:lpstr>PowerPoint Presentation</vt:lpstr>
      <vt:lpstr>PowerPoint Presentation</vt:lpstr>
      <vt:lpstr>Sadar Hospital, Jhenaidah</vt:lpstr>
      <vt:lpstr>PowerPoint Presentation</vt:lpstr>
      <vt:lpstr>PowerPoint Presentation</vt:lpstr>
      <vt:lpstr>PowerPoint Presentation</vt:lpstr>
      <vt:lpstr>PowerPoint Presentation</vt:lpstr>
      <vt:lpstr>Sadar Hospital, Jhenidah</vt:lpstr>
      <vt:lpstr>  Comparative data of revenue income in August 2013 &amp; August 2014 </vt:lpstr>
      <vt:lpstr>  Comparative data of revenue income in Jhenaidah district in 2013 &amp; 2014 </vt:lpstr>
      <vt:lpstr>PowerPoint Presentation</vt:lpstr>
      <vt:lpstr>PowerPoint Presentation</vt:lpstr>
      <vt:lpstr>Before &amp; After Situation</vt:lpstr>
      <vt:lpstr>Before &amp; After Situation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Situation of the hospital in May 2012 -1</vt:lpstr>
      <vt:lpstr>Situation of the hospital in May 2012 -2</vt:lpstr>
      <vt:lpstr>Situation of the hospital in May 2012 -3</vt:lpstr>
      <vt:lpstr>How we overcome the challanges</vt:lpstr>
      <vt:lpstr>How we overcome the challenges -2</vt:lpstr>
      <vt:lpstr>How we overcome the challenges -3</vt:lpstr>
      <vt:lpstr>How we overcome the challenges -4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Belal;Labnan</dc:creator>
  <cp:lastModifiedBy>Emdad</cp:lastModifiedBy>
  <cp:revision>754</cp:revision>
  <cp:lastPrinted>2014-11-26T10:40:57Z</cp:lastPrinted>
  <dcterms:created xsi:type="dcterms:W3CDTF">1601-01-01T00:00:00Z</dcterms:created>
  <dcterms:modified xsi:type="dcterms:W3CDTF">2018-11-30T23:54:35Z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