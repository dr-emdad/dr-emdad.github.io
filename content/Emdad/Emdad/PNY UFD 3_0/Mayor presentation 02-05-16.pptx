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81" r:id="rId1"/>
    <p:sldMasterId id="2147487080" r:id="rId2"/>
    <p:sldMasterId id="2147487094" r:id="rId3"/>
    <p:sldMasterId id="2147487923" r:id="rId4"/>
  </p:sldMasterIdLst>
  <p:notesMasterIdLst>
    <p:notesMasterId r:id="rId49"/>
  </p:notesMasterIdLst>
  <p:sldIdLst>
    <p:sldId id="524" r:id="rId5"/>
    <p:sldId id="512" r:id="rId6"/>
    <p:sldId id="523" r:id="rId7"/>
    <p:sldId id="516" r:id="rId8"/>
    <p:sldId id="517" r:id="rId9"/>
    <p:sldId id="518" r:id="rId10"/>
    <p:sldId id="519" r:id="rId11"/>
    <p:sldId id="522" r:id="rId12"/>
    <p:sldId id="577" r:id="rId13"/>
    <p:sldId id="569" r:id="rId14"/>
    <p:sldId id="573" r:id="rId15"/>
    <p:sldId id="534" r:id="rId16"/>
    <p:sldId id="537" r:id="rId17"/>
    <p:sldId id="538" r:id="rId18"/>
    <p:sldId id="539" r:id="rId19"/>
    <p:sldId id="540" r:id="rId20"/>
    <p:sldId id="541" r:id="rId21"/>
    <p:sldId id="542" r:id="rId22"/>
    <p:sldId id="543" r:id="rId23"/>
    <p:sldId id="544" r:id="rId24"/>
    <p:sldId id="545" r:id="rId25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561" r:id="rId41"/>
    <p:sldId id="562" r:id="rId42"/>
    <p:sldId id="563" r:id="rId43"/>
    <p:sldId id="564" r:id="rId44"/>
    <p:sldId id="566" r:id="rId45"/>
    <p:sldId id="574" r:id="rId46"/>
    <p:sldId id="575" r:id="rId47"/>
    <p:sldId id="576" r:id="rId48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99FF66"/>
    <a:srgbClr val="CC3300"/>
    <a:srgbClr val="006600"/>
    <a:srgbClr val="FF9966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5382" autoAdjust="0"/>
  </p:normalViewPr>
  <p:slideViewPr>
    <p:cSldViewPr>
      <p:cViewPr>
        <p:scale>
          <a:sx n="75" d="100"/>
          <a:sy n="75" d="100"/>
        </p:scale>
        <p:origin x="-258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2"/>
          <c:y val="5.9952038369304558E-2"/>
          <c:w val="0.68259903843795222"/>
          <c:h val="0.8009592326139088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GB">
                        <a:latin typeface="+mj-lt"/>
                      </a:rPr>
                      <a:t>233868</a:t>
                    </a:r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371E-3"/>
                  <c:y val="-1.57781623862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68E-2"/>
                  <c:y val="1.8871985958295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E-2"/>
                  <c:y val="4.77449064053518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37E-2"/>
                  <c:y val="5.3886890540448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63E-3"/>
                  <c:y val="-2.37333007371877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212462976"/>
        <c:axId val="210048128"/>
        <c:axId val="0"/>
      </c:bar3DChart>
      <c:catAx>
        <c:axId val="212462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>
                <a:latin typeface="+mj-lt"/>
              </a:defRPr>
            </a:pPr>
            <a:endParaRPr lang="en-US"/>
          </a:p>
        </c:txPr>
        <c:crossAx val="2100481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00481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>
                <a:latin typeface="+mj-lt"/>
              </a:defRPr>
            </a:pPr>
            <a:endParaRPr lang="en-US"/>
          </a:p>
        </c:txPr>
        <c:crossAx val="2124629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99"/>
          <c:y val="0.34772182254196643"/>
          <c:w val="0.220334586555059"/>
          <c:h val="0.3045563549160671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  <c:spPr>
        <a:solidFill>
          <a:schemeClr val="tx2">
            <a:lumMod val="60000"/>
            <a:lumOff val="40000"/>
          </a:schemeClr>
        </a:solidFill>
      </c:spPr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11755008"/>
        <c:axId val="211756544"/>
        <c:axId val="0"/>
      </c:bar3DChart>
      <c:catAx>
        <c:axId val="211755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+mj-lt"/>
              </a:defRPr>
            </a:pPr>
            <a:endParaRPr lang="en-US"/>
          </a:p>
        </c:txPr>
        <c:crossAx val="211756544"/>
        <c:crosses val="autoZero"/>
        <c:auto val="1"/>
        <c:lblAlgn val="ctr"/>
        <c:lblOffset val="100"/>
        <c:noMultiLvlLbl val="0"/>
      </c:catAx>
      <c:valAx>
        <c:axId val="2117565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+mj-lt"/>
              </a:defRPr>
            </a:pPr>
            <a:endParaRPr lang="en-US"/>
          </a:p>
        </c:txPr>
        <c:crossAx val="2117550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solidFill>
          <a:schemeClr val="accent1">
            <a:lumMod val="60000"/>
            <a:lumOff val="40000"/>
          </a:schemeClr>
        </a:solidFill>
      </c:spPr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4E-2"/>
                  <c:y val="-2.87356321839080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098E-2"/>
                  <c:y val="-2.87356321839080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7467682.5</c:v>
                </c:pt>
                <c:pt idx="1">
                  <c:v>9179279.5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11888768"/>
        <c:axId val="211890560"/>
        <c:axId val="0"/>
      </c:bar3DChart>
      <c:catAx>
        <c:axId val="211888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+mj-lt"/>
              </a:defRPr>
            </a:pPr>
            <a:endParaRPr lang="en-US"/>
          </a:p>
        </c:txPr>
        <c:crossAx val="211890560"/>
        <c:crosses val="autoZero"/>
        <c:auto val="1"/>
        <c:lblAlgn val="ctr"/>
        <c:lblOffset val="100"/>
        <c:noMultiLvlLbl val="0"/>
      </c:catAx>
      <c:valAx>
        <c:axId val="211890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+mj-lt"/>
              </a:defRPr>
            </a:pPr>
            <a:endParaRPr lang="en-US"/>
          </a:p>
        </c:txPr>
        <c:crossAx val="21188876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8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13EFCEC-52BF-40D9-AC03-D0D25A8EC523}" type="slidenum">
              <a:rPr lang="en-US" smtClean="0">
                <a:solidFill>
                  <a:srgbClr val="000000"/>
                </a:solidFill>
              </a:rPr>
              <a:pPr eaLnBrk="1" hangingPunct="1"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5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6150" y="749300"/>
            <a:ext cx="4965700" cy="3725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6150" y="749300"/>
            <a:ext cx="4965700" cy="3725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98D4E5D-C3F6-448D-A168-ED1DD8FADC4F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5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9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FBBFF12-E5F5-4B0B-95C8-C69E1822480D}" type="slidenum">
              <a:rPr lang="en-US">
                <a:solidFill>
                  <a:prstClr val="black"/>
                </a:solidFill>
              </a:rPr>
              <a:pPr eaLnBrk="1" hangingPunct="1"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 noChangeArrowheads="1"/>
          </p:cNvSpPr>
          <p:nvPr/>
        </p:nvSpPr>
        <p:spPr bwMode="auto">
          <a:xfrm>
            <a:off x="3884988" y="9447774"/>
            <a:ext cx="2971431" cy="49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873" tIns="45437" rIns="90873" bIns="45437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964C283C-8A11-44DF-AA9B-B42EF66345E2}" type="slidenum">
              <a:rPr lang="en-US" sz="1200">
                <a:solidFill>
                  <a:prstClr val="black"/>
                </a:solidFill>
              </a:rPr>
              <a:pPr algn="r" eaLnBrk="1" hangingPunct="1"/>
              <a:t>41</a:t>
            </a:fld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ACD44-2E65-4B41-B38E-572C4A1F3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8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827D7-4FEF-47EA-AE87-CFE94DE44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762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10BA0-EBFC-4520-8599-FF56B00769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6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7B0DC-57E4-4005-8CAA-417F2BBCA3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092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BC50B-8E1B-470F-AEB7-D43FC9F30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04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59A04-A25B-4F7A-B00E-6801535E32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80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3D403-7EDF-4BFF-B4F3-E563F213D0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802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5CD7F-8BE2-416A-B309-6F1E8F2EA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146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B53E6-4A99-48C5-A96A-2B2BF3931E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929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423DC-7DB6-4CB8-A455-22DB94DD7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099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BC155-FBF7-4497-BA6A-7FF46563E2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522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22C9D-D399-4566-975D-689ECC0C43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992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8A251-FAE7-4EAA-AF67-C993ED3DEF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881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CD619-463A-4BFF-8C17-2983C5E28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729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643EF-0BCD-4AD5-A275-F90F656A54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610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F0CAD-EA3E-40A6-9C19-99F497147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23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254264-831C-4C1D-838C-E41D1B204B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708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ED10AE80-1BE2-4F87-995C-58616834B749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D93E59E-EA3C-413C-9DA2-0ECDA4577F4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93273626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71BEFCB-4606-4D31-A8B8-23E37576E9B9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4F1D69E-B6FE-40A9-9787-19F02E3D921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6324685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AD07D85-8BC1-4B1F-9A01-7DC831FD531A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3D2C418D-D20F-49A6-AAFA-1A4B084A888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17083927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A3670C-C549-4E97-9A66-C2D840654A81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D41F474-BE4F-420E-808D-1CE175D9EA3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4856720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0C80843-2B83-4077-A4E2-C6B7CB3D4133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38BD369-F892-4BF9-BEE7-94B873BA27E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7962076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20D34DF-4F23-478D-B05C-623687884956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FFECD7C-DCE3-47F7-9A5D-84DC327B4CC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34319238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7B55E6C-03C3-4554-BEA9-D2947C7B9BBF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BA3BB34-3DD3-41E2-9E8F-71E94A25C47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54472965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266F332-E4E3-4E1D-8156-7D9B6672F329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30A32DF-CC86-4A2C-8370-57443BBCCA2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3594757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84C3C1-D5CF-4D1A-8883-FDBD3C88275B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87E0EDC-D9FA-4C0F-8055-8881657DDD1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70293366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5AF6AEB-B9D1-4395-B1C1-CDD48D0F70F0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9BBB65DA-4FB9-4A5F-9FB6-547A8313E9C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256010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5EF9AAE-B337-49A8-9C16-6955292FE72E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B45748B-FA56-4B23-B489-D698EF436F2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99046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5/2/2016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840" r:id="rId12"/>
    <p:sldLayoutId id="214748793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760F669-F64A-44A4-9C72-41B15EEF8C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41" r:id="rId1"/>
    <p:sldLayoutId id="2147487842" r:id="rId2"/>
    <p:sldLayoutId id="2147487843" r:id="rId3"/>
    <p:sldLayoutId id="2147487844" r:id="rId4"/>
    <p:sldLayoutId id="2147487845" r:id="rId5"/>
    <p:sldLayoutId id="2147487846" r:id="rId6"/>
    <p:sldLayoutId id="2147487847" r:id="rId7"/>
    <p:sldLayoutId id="2147487848" r:id="rId8"/>
    <p:sldLayoutId id="2147487849" r:id="rId9"/>
    <p:sldLayoutId id="2147487850" r:id="rId10"/>
    <p:sldLayoutId id="2147487851" r:id="rId11"/>
    <p:sldLayoutId id="2147487852" r:id="rId12"/>
    <p:sldLayoutId id="2147487853" r:id="rId13"/>
    <p:sldLayoutId id="2147487854" r:id="rId14"/>
    <p:sldLayoutId id="2147487855" r:id="rId15"/>
    <p:sldLayoutId id="2147487856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55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4F2B845-A8EA-4178-8BF5-E8D2B0C90BAF}" type="datetimeFigureOut">
              <a:rPr lang="ja-JP" altLang="en-US"/>
              <a:pPr>
                <a:defRPr/>
              </a:pPr>
              <a:t>2016/5/2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EFAC6050-7231-4BDF-9608-A6B6C1B9D82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708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24" r:id="rId1"/>
    <p:sldLayoutId id="2147487925" r:id="rId2"/>
    <p:sldLayoutId id="2147487926" r:id="rId3"/>
    <p:sldLayoutId id="2147487927" r:id="rId4"/>
    <p:sldLayoutId id="2147487928" r:id="rId5"/>
    <p:sldLayoutId id="2147487929" r:id="rId6"/>
    <p:sldLayoutId id="2147487930" r:id="rId7"/>
    <p:sldLayoutId id="2147487931" r:id="rId8"/>
    <p:sldLayoutId id="2147487932" r:id="rId9"/>
    <p:sldLayoutId id="2147487933" r:id="rId10"/>
    <p:sldLayoutId id="2147487934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600" b="1">
                <a:solidFill>
                  <a:srgbClr val="002060"/>
                </a:solidFill>
              </a:rPr>
              <a:t>Community Support System in Chowgacha UHC &amp; Jhenaidah Sadar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95538"/>
            <a:ext cx="35814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95538"/>
            <a:ext cx="36576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</a:t>
            </a: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3238"/>
            <a:ext cx="8229600" cy="1016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600" b="1" smtClean="0"/>
              <a:t>A Sub-district level Women-Friendly Hospital with a Vision …</a:t>
            </a:r>
          </a:p>
        </p:txBody>
      </p:sp>
      <p:sp>
        <p:nvSpPr>
          <p:cNvPr id="51203" name="Oval 3"/>
          <p:cNvSpPr>
            <a:spLocks noChangeArrowheads="1"/>
          </p:cNvSpPr>
          <p:nvPr/>
        </p:nvSpPr>
        <p:spPr bwMode="auto">
          <a:xfrm>
            <a:off x="4267200" y="1905000"/>
            <a:ext cx="312420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600" b="1">
              <a:solidFill>
                <a:srgbClr val="000000"/>
              </a:solidFill>
            </a:endParaRP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Maximum utilization of Govt.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resources with 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honesty and sincerity</a:t>
            </a:r>
          </a:p>
          <a:p>
            <a:pPr algn="ctr" eaLnBrk="0" hangingPunct="0"/>
            <a:endParaRPr lang="en-US" sz="1600" b="1">
              <a:solidFill>
                <a:srgbClr val="000000"/>
              </a:solidFill>
            </a:endParaRPr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4267200" y="4876800"/>
            <a:ext cx="32004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Providing Effective and 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prompt services 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through improved 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management system</a:t>
            </a:r>
          </a:p>
        </p:txBody>
      </p:sp>
      <p:sp>
        <p:nvSpPr>
          <p:cNvPr id="51205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06" name="AutoShape 7"/>
          <p:cNvSpPr>
            <a:spLocks noChangeArrowheads="1"/>
          </p:cNvSpPr>
          <p:nvPr/>
        </p:nvSpPr>
        <p:spPr bwMode="auto">
          <a:xfrm>
            <a:off x="1447800" y="51816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07" name="Oval 9"/>
          <p:cNvSpPr>
            <a:spLocks noChangeArrowheads="1"/>
          </p:cNvSpPr>
          <p:nvPr/>
        </p:nvSpPr>
        <p:spPr bwMode="auto">
          <a:xfrm>
            <a:off x="4267200" y="3429000"/>
            <a:ext cx="32004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Integrated approach of 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Administration, Community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Leaders &amp; Health </a:t>
            </a:r>
          </a:p>
          <a:p>
            <a:pPr algn="ctr" eaLnBrk="0" hangingPunct="0"/>
            <a:r>
              <a:rPr lang="en-US" sz="1600" b="1">
                <a:solidFill>
                  <a:srgbClr val="000000"/>
                </a:solidFill>
              </a:rPr>
              <a:t>Management</a:t>
            </a:r>
          </a:p>
        </p:txBody>
      </p:sp>
      <p:sp>
        <p:nvSpPr>
          <p:cNvPr id="51208" name="AutoShape 10"/>
          <p:cNvSpPr>
            <a:spLocks noChangeArrowheads="1"/>
          </p:cNvSpPr>
          <p:nvPr/>
        </p:nvSpPr>
        <p:spPr bwMode="auto">
          <a:xfrm>
            <a:off x="1371600" y="38100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55300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6200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3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6200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56324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4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4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47204959"/>
              </p:ext>
            </p:extLst>
          </p:nvPr>
        </p:nvGraphicFramePr>
        <p:xfrm>
          <a:off x="457200" y="3063875"/>
          <a:ext cx="8153400" cy="311306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67572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NVD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Breech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Section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01.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Chowgacha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3346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1007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02.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Ad-din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 Hospital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Jessore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1124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1864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3492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5743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03.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58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69261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04.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250 bed Hospital,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Jessore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1498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2852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05.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250 bed Hospital, Kustia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1728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915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rgbClr val="FF0066"/>
                </a:solidFill>
              </a:rPr>
              <a:t>Upazilla Health  Complex</a:t>
            </a:r>
            <a:br>
              <a:rPr lang="en-US" sz="5400" b="1" dirty="0" smtClean="0">
                <a:solidFill>
                  <a:srgbClr val="FF0066"/>
                </a:solidFill>
              </a:rPr>
            </a:br>
            <a:r>
              <a:rPr lang="en-US" sz="4400" b="1" dirty="0" smtClean="0">
                <a:solidFill>
                  <a:srgbClr val="FF0066"/>
                </a:solidFill>
              </a:rPr>
              <a:t>CHOWGACHA , JESSORE.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229600" cy="438943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</a:t>
            </a:r>
            <a:r>
              <a:rPr lang="en-US" sz="2000" dirty="0" err="1" smtClean="0"/>
              <a:t>Tk</a:t>
            </a:r>
            <a:r>
              <a:rPr lang="en-US" sz="2000" dirty="0" smtClean="0"/>
              <a:t>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66090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41703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4140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SHAMIM PHOTO (3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4660900" y="3657600"/>
            <a:ext cx="4495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6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4" y="366712"/>
            <a:ext cx="1090612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366712"/>
            <a:ext cx="91440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 Participation in</a:t>
            </a:r>
          </a:p>
          <a:p>
            <a:pPr algn="ctr" eaLnBrk="0" hangingPunct="0">
              <a:defRPr/>
            </a:pPr>
            <a:endParaRPr lang="en-US" sz="3200" b="1" dirty="0" smtClean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 eaLnBrk="0" hangingPunct="0">
              <a:defRPr/>
            </a:pPr>
            <a:r>
              <a:rPr lang="en-US" sz="3200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5" descr="DSC0230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4"/>
          <a:stretch>
            <a:fillRect/>
          </a:stretch>
        </p:blipFill>
        <p:spPr bwMode="auto">
          <a:xfrm>
            <a:off x="990600" y="2057400"/>
            <a:ext cx="7646988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04381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965362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93788"/>
                <a:gridCol w="2101850"/>
                <a:gridCol w="1887537"/>
                <a:gridCol w="1876425"/>
                <a:gridCol w="19351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Expenditure per year   by 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Govt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4437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24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98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2919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27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101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Japan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2644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41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Malaysia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9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33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66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19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India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10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Pakistan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23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6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Nepal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22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Bangladesh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00" y="6426198"/>
            <a:ext cx="8820150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>
            <a:spAutoFit/>
          </a:bodyPr>
          <a:lstStyle/>
          <a:p>
            <a:pPr algn="r"/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From internet 2014</a:t>
            </a:r>
            <a:endParaRPr lang="en-US" sz="2000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noFill/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sz="2800" b="1" dirty="0"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2013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669219"/>
              </p:ext>
            </p:extLst>
          </p:nvPr>
        </p:nvGraphicFramePr>
        <p:xfrm>
          <a:off x="476250" y="1905000"/>
          <a:ext cx="8205789" cy="35064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352550"/>
                <a:gridCol w="2362200"/>
                <a:gridCol w="2286000"/>
                <a:gridCol w="2205039"/>
              </a:tblGrid>
              <a:tr h="99060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+mn-lt"/>
                        </a:rPr>
                        <a:t>Serial</a:t>
                      </a:r>
                    </a:p>
                    <a:p>
                      <a:r>
                        <a:rPr lang="en-US" sz="2000" b="1" dirty="0" smtClean="0">
                          <a:latin typeface="+mn-lt"/>
                        </a:rPr>
                        <a:t>No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+mn-lt"/>
                        </a:rPr>
                        <a:t>Castle Street Maternity Hospital, </a:t>
                      </a:r>
                      <a:r>
                        <a:rPr lang="en-US" sz="2000" b="1" dirty="0" err="1" smtClean="0">
                          <a:latin typeface="+mn-lt"/>
                        </a:rPr>
                        <a:t>Srilanka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+mn-lt"/>
                        </a:rPr>
                        <a:t>Mbeya</a:t>
                      </a:r>
                      <a:r>
                        <a:rPr lang="en-US" sz="2000" b="1" dirty="0" smtClean="0">
                          <a:latin typeface="+mn-lt"/>
                        </a:rPr>
                        <a:t> </a:t>
                      </a:r>
                      <a:r>
                        <a:rPr lang="en-US" sz="2000" b="1" dirty="0" smtClean="0">
                          <a:latin typeface="+mn-lt"/>
                        </a:rPr>
                        <a:t>Maternity </a:t>
                      </a:r>
                      <a:r>
                        <a:rPr lang="en-US" sz="2000" b="1" dirty="0" err="1" smtClean="0">
                          <a:latin typeface="+mn-lt"/>
                        </a:rPr>
                        <a:t>Hospita</a:t>
                      </a:r>
                      <a:r>
                        <a:rPr lang="en-US" sz="2000" b="1" dirty="0" smtClean="0">
                          <a:latin typeface="+mn-lt"/>
                        </a:rPr>
                        <a:t>, Tanzania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+mn-lt"/>
                        </a:rPr>
                        <a:t>Sadar</a:t>
                      </a:r>
                      <a:r>
                        <a:rPr lang="en-US" sz="2000" b="1" dirty="0" smtClean="0">
                          <a:latin typeface="+mn-lt"/>
                        </a:rPr>
                        <a:t> Hospital, </a:t>
                      </a:r>
                      <a:r>
                        <a:rPr lang="en-US" sz="2000" b="1" dirty="0" err="1" smtClean="0">
                          <a:latin typeface="+mn-lt"/>
                        </a:rPr>
                        <a:t>Jhenaidah</a:t>
                      </a:r>
                      <a:r>
                        <a:rPr lang="en-US" sz="2000" b="1" dirty="0" smtClean="0">
                          <a:latin typeface="+mn-lt"/>
                        </a:rPr>
                        <a:t>, Bangladesh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+mn-lt"/>
                        </a:rPr>
                        <a:t>Bed (Govt.)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417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110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5</a:t>
                      </a:r>
                      <a:r>
                        <a:rPr lang="en-US" sz="2400" baseline="0" dirty="0" smtClean="0">
                          <a:latin typeface="+mj-lt"/>
                        </a:rPr>
                        <a:t> (Ext. 16)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+mn-lt"/>
                        </a:rPr>
                        <a:t>Nurse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325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45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6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+mn-lt"/>
                        </a:rPr>
                        <a:t>Total Delivery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16,399 </a:t>
                      </a:r>
                      <a:r>
                        <a:rPr lang="en-US" sz="2400" dirty="0" smtClean="0">
                          <a:latin typeface="+mj-lt"/>
                        </a:rPr>
                        <a:t>(2010)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6,000 (2014)</a:t>
                      </a:r>
                      <a:endParaRPr lang="en-US" sz="2400" b="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3,034 (2015)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+mn-lt"/>
                        </a:rPr>
                        <a:t>C-Section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30% (4,920)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33% (2,000)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+mj-lt"/>
                        </a:rPr>
                        <a:t>36% (1,090)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91438" marR="91438" marT="45715" marB="45715" anchor="ctr" horzOverflow="overflow"/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76939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 dirty="0" smtClean="0">
                <a:solidFill>
                  <a:srgbClr val="FFFFFF"/>
                </a:solidFill>
              </a:rPr>
              <a:t>Comparative Data of 3 best performing maternity hospitals in </a:t>
            </a:r>
            <a:r>
              <a:rPr lang="en-US" sz="2400" b="1" dirty="0" err="1" smtClean="0">
                <a:solidFill>
                  <a:srgbClr val="FFFFFF"/>
                </a:solidFill>
              </a:rPr>
              <a:t>Srilanka</a:t>
            </a:r>
            <a:r>
              <a:rPr lang="en-US" sz="2400" b="1" dirty="0" smtClean="0">
                <a:solidFill>
                  <a:srgbClr val="FFFFFF"/>
                </a:solidFill>
              </a:rPr>
              <a:t>, Tanzania and Bangladesh 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17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3417"/>
        </p:xfrm>
        <a:graphic>
          <a:graphicData uri="http://schemas.openxmlformats.org/drawingml/2006/table">
            <a:tbl>
              <a:tblPr/>
              <a:tblGrid>
                <a:gridCol w="1454150"/>
                <a:gridCol w="2660650"/>
                <a:gridCol w="2057400"/>
                <a:gridCol w="2057400"/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29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23855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457200" indent="-457200" algn="just">
              <a:spcBef>
                <a:spcPts val="600"/>
              </a:spcBef>
              <a:buAutoNum type="arabicPeriod"/>
            </a:pPr>
            <a:r>
              <a:rPr lang="en-US" sz="2000" b="1" dirty="0" smtClean="0">
                <a:solidFill>
                  <a:srgbClr val="17375E"/>
                </a:solidFill>
              </a:rPr>
              <a:t>Active </a:t>
            </a:r>
            <a:r>
              <a:rPr lang="en-US" sz="2000" b="1" dirty="0">
                <a:solidFill>
                  <a:srgbClr val="17375E"/>
                </a:solidFill>
              </a:rPr>
              <a:t>Community </a:t>
            </a:r>
            <a:r>
              <a:rPr lang="en-US" sz="2000" b="1" dirty="0" smtClean="0">
                <a:solidFill>
                  <a:srgbClr val="17375E"/>
                </a:solidFill>
              </a:rPr>
              <a:t>Participation</a:t>
            </a:r>
            <a:endParaRPr lang="en-US" sz="2000" b="1" dirty="0">
              <a:solidFill>
                <a:srgbClr val="17375E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sz="2000" b="1" dirty="0" smtClean="0">
                <a:solidFill>
                  <a:srgbClr val="17375E"/>
                </a:solidFill>
              </a:rPr>
              <a:t>2</a:t>
            </a:r>
            <a:r>
              <a:rPr lang="en-US" sz="2000" b="1" dirty="0">
                <a:solidFill>
                  <a:srgbClr val="17375E"/>
                </a:solidFill>
              </a:rPr>
              <a:t>. Improve Performance of Obstetric </a:t>
            </a:r>
            <a:r>
              <a:rPr lang="en-US" sz="2000" b="1" dirty="0" smtClean="0">
                <a:solidFill>
                  <a:srgbClr val="17375E"/>
                </a:solidFill>
              </a:rPr>
              <a:t>Program</a:t>
            </a:r>
            <a:endParaRPr lang="en-US" sz="900" dirty="0">
              <a:solidFill>
                <a:srgbClr val="17375E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sz="2000" b="1" dirty="0">
                <a:solidFill>
                  <a:srgbClr val="17375E"/>
                </a:solidFill>
              </a:rPr>
              <a:t>3. Improved Cleanliness and Beautification of Campus</a:t>
            </a:r>
            <a:r>
              <a:rPr lang="en-US" sz="2000" b="1" dirty="0" smtClean="0">
                <a:solidFill>
                  <a:srgbClr val="17375E"/>
                </a:solidFill>
              </a:rPr>
              <a:t>.</a:t>
            </a:r>
            <a:endParaRPr lang="en-US" sz="900" b="1" dirty="0">
              <a:solidFill>
                <a:srgbClr val="17375E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sz="2000" b="1" dirty="0">
                <a:solidFill>
                  <a:srgbClr val="17375E"/>
                </a:solidFill>
              </a:rPr>
              <a:t>4. Improved Pediatric Service</a:t>
            </a:r>
            <a:r>
              <a:rPr lang="en-US" sz="2000" b="1" dirty="0" smtClean="0">
                <a:solidFill>
                  <a:srgbClr val="17375E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sz="2000" b="1" dirty="0" smtClean="0">
                <a:solidFill>
                  <a:srgbClr val="17375E"/>
                </a:solidFill>
              </a:rPr>
              <a:t>5.</a:t>
            </a:r>
            <a:r>
              <a:rPr lang="en-US" sz="2000" b="1" dirty="0" smtClean="0">
                <a:solidFill>
                  <a:srgbClr val="17375E"/>
                </a:solidFill>
              </a:rPr>
              <a:t>Created a blood donor organization (</a:t>
            </a:r>
            <a:r>
              <a:rPr lang="en-US" sz="2000" b="1" dirty="0" err="1" smtClean="0">
                <a:solidFill>
                  <a:srgbClr val="17375E"/>
                </a:solidFill>
              </a:rPr>
              <a:t>Manabota</a:t>
            </a:r>
            <a:r>
              <a:rPr lang="en-US" sz="2000" b="1" dirty="0" smtClean="0">
                <a:solidFill>
                  <a:srgbClr val="17375E"/>
                </a:solidFill>
              </a:rPr>
              <a:t>) for Thalassemia                        patients.</a:t>
            </a:r>
            <a:endParaRPr lang="en-US" sz="1000" dirty="0">
              <a:solidFill>
                <a:srgbClr val="17375E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sz="2000" b="1" dirty="0">
                <a:solidFill>
                  <a:srgbClr val="17375E"/>
                </a:solidFill>
              </a:rPr>
              <a:t>6. Improved Security</a:t>
            </a:r>
            <a:r>
              <a:rPr lang="en-US" sz="2000" b="1" dirty="0" smtClean="0">
                <a:solidFill>
                  <a:srgbClr val="17375E"/>
                </a:solidFill>
              </a:rPr>
              <a:t>.</a:t>
            </a:r>
            <a:endParaRPr lang="en-US" sz="1000" dirty="0">
              <a:solidFill>
                <a:srgbClr val="17375E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sz="2000" b="1" dirty="0">
                <a:solidFill>
                  <a:srgbClr val="17375E"/>
                </a:solidFill>
              </a:rPr>
              <a:t>7. Improved Financial Management</a:t>
            </a:r>
          </a:p>
          <a:p>
            <a:pPr algn="just">
              <a:spcBef>
                <a:spcPts val="600"/>
              </a:spcBef>
            </a:pPr>
            <a:r>
              <a:rPr lang="en-US" sz="2000" b="1" dirty="0" smtClean="0">
                <a:solidFill>
                  <a:srgbClr val="17375E"/>
                </a:solidFill>
              </a:rPr>
              <a:t>8.The Hospital is awarded as one of the  5 best hospitals of the country and also awarded for 5’s KIZEN. </a:t>
            </a:r>
          </a:p>
          <a:p>
            <a:pPr algn="just">
              <a:spcBef>
                <a:spcPts val="600"/>
              </a:spcBef>
            </a:pPr>
            <a:r>
              <a:rPr lang="en-US" sz="2000" b="1" dirty="0" smtClean="0">
                <a:solidFill>
                  <a:srgbClr val="17375E"/>
                </a:solidFill>
              </a:rPr>
              <a:t>9. Improved emergency department service.</a:t>
            </a:r>
          </a:p>
          <a:p>
            <a:pPr algn="just">
              <a:spcBef>
                <a:spcPts val="600"/>
              </a:spcBef>
            </a:pPr>
            <a:r>
              <a:rPr lang="en-US" sz="2000" b="1" dirty="0" smtClean="0">
                <a:solidFill>
                  <a:srgbClr val="17375E"/>
                </a:solidFill>
              </a:rPr>
              <a:t>10. Involvement of national and international agencies like BPATC, JICA, ICDDRB, UNICEF, Save The Children.</a:t>
            </a:r>
          </a:p>
          <a:p>
            <a:pPr algn="just">
              <a:spcBef>
                <a:spcPts val="600"/>
              </a:spcBef>
            </a:pPr>
            <a:r>
              <a:rPr lang="en-US" sz="2000" b="1" dirty="0" smtClean="0">
                <a:solidFill>
                  <a:srgbClr val="17375E"/>
                </a:solidFill>
              </a:rPr>
              <a:t>11. </a:t>
            </a:r>
            <a:r>
              <a:rPr lang="en-US" sz="2000" b="1" dirty="0" err="1" smtClean="0">
                <a:solidFill>
                  <a:srgbClr val="17375E"/>
                </a:solidFill>
              </a:rPr>
              <a:t>Ministery</a:t>
            </a:r>
            <a:r>
              <a:rPr lang="en-US" sz="2000" b="1" dirty="0" smtClean="0">
                <a:solidFill>
                  <a:srgbClr val="17375E"/>
                </a:solidFill>
              </a:rPr>
              <a:t> of health take initiative of piloting among the district hospitals of Bangladesh.</a:t>
            </a:r>
            <a:endParaRPr lang="en-US" sz="2000" b="1" dirty="0">
              <a:solidFill>
                <a:srgbClr val="17375E"/>
              </a:solidFill>
            </a:endParaRPr>
          </a:p>
          <a:p>
            <a:pPr algn="just"/>
            <a:endParaRPr lang="en-US" sz="2400" dirty="0">
              <a:solidFill>
                <a:srgbClr val="17375E"/>
              </a:solidFill>
            </a:endParaRPr>
          </a:p>
          <a:p>
            <a:pPr algn="just"/>
            <a:endParaRPr lang="en-US" sz="2400" dirty="0">
              <a:solidFill>
                <a:srgbClr val="17375E"/>
              </a:solidFill>
            </a:endParaRPr>
          </a:p>
          <a:p>
            <a:pPr algn="just"/>
            <a:endParaRPr lang="en-US" sz="1100" b="1" dirty="0">
              <a:solidFill>
                <a:srgbClr val="17375E"/>
              </a:solidFill>
            </a:endParaRPr>
          </a:p>
          <a:p>
            <a:pPr algn="just"/>
            <a:endParaRPr lang="en-US" sz="2000" dirty="0">
              <a:solidFill>
                <a:srgbClr val="17375E"/>
              </a:solidFill>
            </a:endParaRPr>
          </a:p>
          <a:p>
            <a:pPr algn="just"/>
            <a:r>
              <a:rPr lang="en-US" sz="2000" dirty="0">
                <a:solidFill>
                  <a:srgbClr val="17375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2548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spcBef>
                <a:spcPts val="6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51 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1, Gateman 3,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6,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spcBef>
                <a:spcPts val="6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spcBef>
                <a:spcPts val="6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15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spcBef>
                <a:spcPts val="6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security, cleanliness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wall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rearrangement of pediatric ward, supp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ly of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celing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fans,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made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dustbins and supports 3 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power.</a:t>
            </a: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spcBef>
                <a:spcPts val="6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spcBef>
                <a:spcPts val="6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05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569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/>
        </p:nvGraphicFramePr>
        <p:xfrm>
          <a:off x="476250" y="1905000"/>
          <a:ext cx="8205788" cy="3508375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25953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87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143000"/>
            <a:ext cx="8229600" cy="533400"/>
          </a:xfr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>
                <a:solidFill>
                  <a:srgbClr val="FFFFFF"/>
                </a:solidFill>
                <a:latin typeface="+mj-lt"/>
              </a:rPr>
              <a:t>Operation Service (Major) 2011 to 2015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112631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305800" cy="761999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/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in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Jhenaidah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district in 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2013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2014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195051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010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>
                <a:latin typeface="+mj-lt"/>
              </a:rPr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674" y="3326605"/>
            <a:ext cx="4112326" cy="2744427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Antenatal and postnatal care of pregnant mother in antenatal corner of EOC word.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Breast feeding and family planning corner of EOC word.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300" y="3314700"/>
            <a:ext cx="4347556" cy="3258589"/>
          </a:xfrm>
        </p:spPr>
      </p:pic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4267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EOC (Emergency Obstetric Care) word 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pediatric word.</a:t>
            </a:r>
          </a:p>
        </p:txBody>
      </p:sp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688" y="3352800"/>
            <a:ext cx="4497185" cy="3050771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"/>
            <a:ext cx="44338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463" y="3505200"/>
            <a:ext cx="4119937" cy="2864644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Beautification plant is planted by Zilla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309" y="3657600"/>
            <a:ext cx="4142582" cy="2761721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the stakeholders with the stakeholders and donors of Jhenaidah Sadar Hospital with additional secretary (health) Md. Asadul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328" y="3673475"/>
            <a:ext cx="3945872" cy="30222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1"/>
          <p:cNvSpPr>
            <a:spLocks noChangeArrowheads="1"/>
          </p:cNvSpPr>
          <p:nvPr/>
        </p:nvSpPr>
        <p:spPr bwMode="auto">
          <a:xfrm>
            <a:off x="609600" y="3898900"/>
            <a:ext cx="915988" cy="36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575" y="3733800"/>
            <a:ext cx="4269025" cy="285031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1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762000"/>
            <a:ext cx="4146550" cy="2743200"/>
          </a:xfrm>
        </p:spPr>
      </p:pic>
      <p:pic>
        <p:nvPicPr>
          <p:cNvPr id="87043" name="Picture 1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2200" y="762000"/>
            <a:ext cx="4089400" cy="2743200"/>
          </a:xfrm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ln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Office &amp; Medicine 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4870450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88067" name="Picture 4" descr="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3903662" cy="2743200"/>
          </a:xfrm>
        </p:spPr>
      </p:pic>
      <p:pic>
        <p:nvPicPr>
          <p:cNvPr id="8806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50" y="696913"/>
            <a:ext cx="4083050" cy="2743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9" name="Right Arrow 9"/>
          <p:cNvSpPr>
            <a:spLocks noChangeArrowheads="1"/>
          </p:cNvSpPr>
          <p:nvPr/>
        </p:nvSpPr>
        <p:spPr bwMode="auto">
          <a:xfrm>
            <a:off x="42449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8070" name="Right Arrow 10"/>
          <p:cNvSpPr>
            <a:spLocks noChangeArrowheads="1"/>
          </p:cNvSpPr>
          <p:nvPr/>
        </p:nvSpPr>
        <p:spPr bwMode="auto">
          <a:xfrm>
            <a:off x="424497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8071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8072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8073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32200"/>
            <a:ext cx="3886200" cy="292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74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50" y="3595688"/>
            <a:ext cx="4083050" cy="295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075" name="Rectangle 12"/>
          <p:cNvSpPr>
            <a:spLocks noChangeArrowheads="1"/>
          </p:cNvSpPr>
          <p:nvPr/>
        </p:nvSpPr>
        <p:spPr bwMode="auto">
          <a:xfrm>
            <a:off x="241300" y="3376613"/>
            <a:ext cx="9969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                        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8076" name="Rectangle 13"/>
          <p:cNvSpPr>
            <a:spLocks noChangeArrowheads="1"/>
          </p:cNvSpPr>
          <p:nvPr/>
        </p:nvSpPr>
        <p:spPr bwMode="auto">
          <a:xfrm>
            <a:off x="4953000" y="38385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0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23913"/>
            <a:ext cx="41148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762000"/>
            <a:ext cx="40925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ln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5334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Hospital Environment</a:t>
            </a:r>
            <a:endParaRPr lang="en-US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86200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9788"/>
            <a:ext cx="44958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86200"/>
            <a:ext cx="421163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3564185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457200" y="76200"/>
            <a:ext cx="82296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6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FF"/>
                </a:solidFill>
              </a:rPr>
              <a:t>CASTLE STREET MATERNITY </a:t>
            </a:r>
            <a:r>
              <a:rPr lang="en-US" b="1" dirty="0" smtClean="0">
                <a:solidFill>
                  <a:srgbClr val="FFFFFF"/>
                </a:solidFill>
              </a:rPr>
              <a:t>HOSPITAL, </a:t>
            </a:r>
            <a:r>
              <a:rPr lang="en-US" b="1" dirty="0" err="1" smtClean="0">
                <a:solidFill>
                  <a:srgbClr val="FFFFFF"/>
                </a:solidFill>
              </a:rPr>
              <a:t>Srilanka</a:t>
            </a:r>
            <a:r>
              <a:rPr lang="en-US" b="1" dirty="0">
                <a:solidFill>
                  <a:srgbClr val="FFFFFF"/>
                </a:solidFill>
              </a:rPr>
              <a:t/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sz="2700" b="1" dirty="0">
                <a:solidFill>
                  <a:srgbClr val="FFFFFF"/>
                </a:solidFill>
              </a:rPr>
              <a:t>(Est. 1950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7" name="Rectangle 31"/>
          <p:cNvSpPr txBox="1">
            <a:spLocks noChangeArrowheads="1"/>
          </p:cNvSpPr>
          <p:nvPr/>
        </p:nvSpPr>
        <p:spPr bwMode="auto">
          <a:xfrm>
            <a:off x="152400" y="955675"/>
            <a:ext cx="8839200" cy="5216525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sz="2800" b="1" dirty="0" smtClean="0">
              <a:solidFill>
                <a:srgbClr val="000000"/>
              </a:solidFill>
            </a:endParaRPr>
          </a:p>
          <a:p>
            <a:r>
              <a:rPr lang="en-US" sz="2800" b="1" dirty="0" smtClean="0">
                <a:solidFill>
                  <a:srgbClr val="000000"/>
                </a:solidFill>
              </a:rPr>
              <a:t>Bed </a:t>
            </a:r>
            <a:r>
              <a:rPr lang="en-US" sz="2800" b="1" dirty="0">
                <a:solidFill>
                  <a:srgbClr val="000000"/>
                </a:solidFill>
              </a:rPr>
              <a:t>– </a:t>
            </a:r>
            <a:r>
              <a:rPr lang="en-US" sz="2800" b="1" dirty="0" smtClean="0">
                <a:solidFill>
                  <a:srgbClr val="FF0000"/>
                </a:solidFill>
              </a:rPr>
              <a:t>492</a:t>
            </a:r>
            <a:endParaRPr lang="en-US" sz="2800" b="1" dirty="0">
              <a:solidFill>
                <a:srgbClr val="FF0000"/>
              </a:solidFill>
            </a:endParaRPr>
          </a:p>
          <a:p>
            <a:pPr lvl="1"/>
            <a:r>
              <a:rPr lang="en-US" sz="2800" b="1" dirty="0">
                <a:solidFill>
                  <a:srgbClr val="000000"/>
                </a:solidFill>
              </a:rPr>
              <a:t>Obs. &amp; </a:t>
            </a:r>
            <a:r>
              <a:rPr lang="en-US" sz="2800" b="1" dirty="0" err="1">
                <a:solidFill>
                  <a:srgbClr val="000000"/>
                </a:solidFill>
              </a:rPr>
              <a:t>Gynae</a:t>
            </a:r>
            <a:r>
              <a:rPr lang="en-US" sz="2800" b="1" dirty="0">
                <a:solidFill>
                  <a:srgbClr val="000000"/>
                </a:solidFill>
              </a:rPr>
              <a:t> units </a:t>
            </a:r>
            <a:r>
              <a:rPr lang="en-US" sz="2800" b="1" dirty="0" smtClean="0">
                <a:solidFill>
                  <a:srgbClr val="000000"/>
                </a:solidFill>
              </a:rPr>
              <a:t>– </a:t>
            </a:r>
            <a:r>
              <a:rPr lang="en-US" sz="2800" b="1" dirty="0" smtClean="0">
                <a:solidFill>
                  <a:srgbClr val="FF0000"/>
                </a:solidFill>
              </a:rPr>
              <a:t>5 (417 Beds)</a:t>
            </a:r>
            <a:endParaRPr lang="en-US" sz="2800" b="1" dirty="0">
              <a:solidFill>
                <a:srgbClr val="FF0000"/>
              </a:solidFill>
            </a:endParaRPr>
          </a:p>
          <a:p>
            <a:pPr lvl="1"/>
            <a:r>
              <a:rPr lang="en-US" sz="2800" b="1" dirty="0" smtClean="0">
                <a:solidFill>
                  <a:srgbClr val="000000"/>
                </a:solidFill>
              </a:rPr>
              <a:t>Neonatal </a:t>
            </a:r>
            <a:r>
              <a:rPr lang="en-US" sz="2800" b="1" dirty="0">
                <a:solidFill>
                  <a:srgbClr val="000000"/>
                </a:solidFill>
              </a:rPr>
              <a:t>ward – </a:t>
            </a:r>
            <a:r>
              <a:rPr lang="en-US" sz="2800" b="1" dirty="0">
                <a:solidFill>
                  <a:srgbClr val="FF0000"/>
                </a:solidFill>
              </a:rPr>
              <a:t>75 beds</a:t>
            </a:r>
          </a:p>
          <a:p>
            <a:r>
              <a:rPr lang="en-US" sz="2800" b="1" dirty="0" smtClean="0">
                <a:solidFill>
                  <a:srgbClr val="000000"/>
                </a:solidFill>
              </a:rPr>
              <a:t>Nurses </a:t>
            </a:r>
            <a:r>
              <a:rPr lang="en-US" sz="2800" b="1" dirty="0">
                <a:solidFill>
                  <a:srgbClr val="000000"/>
                </a:solidFill>
              </a:rPr>
              <a:t>– </a:t>
            </a:r>
            <a:r>
              <a:rPr lang="en-US" sz="2800" b="1" dirty="0">
                <a:solidFill>
                  <a:srgbClr val="FF0000"/>
                </a:solidFill>
              </a:rPr>
              <a:t>325</a:t>
            </a:r>
          </a:p>
          <a:p>
            <a:r>
              <a:rPr lang="en-US" sz="2800" b="1" dirty="0">
                <a:solidFill>
                  <a:srgbClr val="000000"/>
                </a:solidFill>
              </a:rPr>
              <a:t>Midwifes – </a:t>
            </a:r>
            <a:r>
              <a:rPr lang="en-US" sz="2800" b="1" dirty="0">
                <a:solidFill>
                  <a:srgbClr val="FF0000"/>
                </a:solidFill>
              </a:rPr>
              <a:t>66</a:t>
            </a:r>
          </a:p>
          <a:p>
            <a:r>
              <a:rPr lang="en-US" sz="2800" b="1" dirty="0">
                <a:solidFill>
                  <a:srgbClr val="000000"/>
                </a:solidFill>
              </a:rPr>
              <a:t>Bed occupancy rate – </a:t>
            </a:r>
            <a:r>
              <a:rPr lang="en-US" sz="2800" b="1" dirty="0">
                <a:solidFill>
                  <a:srgbClr val="FF0000"/>
                </a:solidFill>
              </a:rPr>
              <a:t>92%</a:t>
            </a:r>
          </a:p>
          <a:p>
            <a:r>
              <a:rPr lang="en-US" sz="2800" b="1" dirty="0">
                <a:solidFill>
                  <a:srgbClr val="000000"/>
                </a:solidFill>
              </a:rPr>
              <a:t>Total delivery – </a:t>
            </a:r>
            <a:r>
              <a:rPr lang="en-US" sz="2800" b="1" dirty="0">
                <a:solidFill>
                  <a:srgbClr val="FF0000"/>
                </a:solidFill>
              </a:rPr>
              <a:t>16399</a:t>
            </a:r>
            <a:r>
              <a:rPr lang="en-US" sz="2800" b="1" dirty="0">
                <a:solidFill>
                  <a:srgbClr val="000000"/>
                </a:solidFill>
              </a:rPr>
              <a:t> (2010)</a:t>
            </a:r>
          </a:p>
          <a:p>
            <a:pPr lvl="1"/>
            <a:r>
              <a:rPr lang="en-US" sz="2800" b="1" dirty="0">
                <a:solidFill>
                  <a:srgbClr val="000000"/>
                </a:solidFill>
              </a:rPr>
              <a:t>C Section – </a:t>
            </a:r>
            <a:r>
              <a:rPr lang="en-US" sz="2800" b="1" dirty="0">
                <a:solidFill>
                  <a:srgbClr val="FF0000"/>
                </a:solidFill>
              </a:rPr>
              <a:t>30</a:t>
            </a:r>
            <a:r>
              <a:rPr lang="en-US" sz="2800" b="1" dirty="0" smtClean="0">
                <a:solidFill>
                  <a:srgbClr val="FF0000"/>
                </a:solidFill>
              </a:rPr>
              <a:t>% (4920)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05532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791200"/>
          </a:xfrm>
          <a:solidFill>
            <a:schemeClr val="accent5">
              <a:lumMod val="90000"/>
            </a:schemeClr>
          </a:solidFill>
        </p:spPr>
        <p:txBody>
          <a:bodyPr/>
          <a:lstStyle/>
          <a:p>
            <a:pPr eaLnBrk="1" hangingPunct="1">
              <a:spcAft>
                <a:spcPct val="40000"/>
              </a:spcAft>
            </a:pPr>
            <a:endParaRPr lang="en-US" altLang="en-US" sz="2000" dirty="0" smtClean="0"/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Bed:     150 (Maternity: 110; Neonatal: 40)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Doctor: 10 (5 Specialists, 5 MOs)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Nurse:   60	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ja-JP" sz="2000" dirty="0" smtClean="0">
                <a:ea typeface="ＭＳ Ｐゴシック" pitchFamily="34" charset="-128"/>
              </a:rPr>
              <a:t>ANC coverage: 90% (1</a:t>
            </a:r>
            <a:r>
              <a:rPr lang="en-US" altLang="ja-JP" sz="2000" baseline="30000" dirty="0" smtClean="0">
                <a:ea typeface="ＭＳ Ｐゴシック" pitchFamily="34" charset="-128"/>
              </a:rPr>
              <a:t>st</a:t>
            </a:r>
            <a:r>
              <a:rPr lang="en-US" altLang="ja-JP" sz="2000" dirty="0" smtClean="0">
                <a:ea typeface="ＭＳ Ｐゴシック" pitchFamily="34" charset="-128"/>
              </a:rPr>
              <a:t>)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Total Deliveries: 6000 (2014)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C-section rate: 35-40% (2000)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Anesthesia is given by </a:t>
            </a:r>
            <a:r>
              <a:rPr lang="en-US" altLang="en-US" sz="2000" dirty="0" smtClean="0">
                <a:solidFill>
                  <a:srgbClr val="BA00E6"/>
                </a:solidFill>
              </a:rPr>
              <a:t>Nurses </a:t>
            </a:r>
            <a:r>
              <a:rPr lang="en-US" altLang="en-US" sz="2000" dirty="0" smtClean="0"/>
              <a:t>trained for 2 years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ja-JP" sz="2000" dirty="0" smtClean="0">
                <a:ea typeface="ＭＳ Ｐゴシック" pitchFamily="34" charset="-128"/>
              </a:rPr>
              <a:t>Delivery room: 7 (very clean with maintaining privacy)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>
                <a:solidFill>
                  <a:srgbClr val="BA00E6"/>
                </a:solidFill>
              </a:rPr>
              <a:t>Maternal and neonatal ICU</a:t>
            </a:r>
            <a:r>
              <a:rPr lang="en-US" altLang="en-US" sz="2000" dirty="0" smtClean="0"/>
              <a:t> is there for critical patients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en-US" sz="2000" dirty="0" smtClean="0"/>
              <a:t>Reflection of 5S-Kaizen is visible everywhere</a:t>
            </a:r>
          </a:p>
          <a:p>
            <a:pPr eaLnBrk="1" hangingPunct="1">
              <a:spcAft>
                <a:spcPct val="40000"/>
              </a:spcAft>
            </a:pPr>
            <a:endParaRPr lang="en-US" altLang="en-US" sz="2000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76200"/>
            <a:ext cx="82296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err="1">
                <a:solidFill>
                  <a:srgbClr val="FFFFFF"/>
                </a:solidFill>
              </a:rPr>
              <a:t>Mbeya</a:t>
            </a:r>
            <a:r>
              <a:rPr lang="en-US" altLang="en-US" sz="3600" dirty="0">
                <a:solidFill>
                  <a:srgbClr val="FFFFFF"/>
                </a:solidFill>
              </a:rPr>
              <a:t> Maternity </a:t>
            </a:r>
            <a:r>
              <a:rPr lang="en-US" altLang="en-US" sz="3600" dirty="0" err="1">
                <a:solidFill>
                  <a:srgbClr val="FFFFFF"/>
                </a:solidFill>
              </a:rPr>
              <a:t>Hospital,Tanzania</a:t>
            </a:r>
            <a:endParaRPr lang="en-US" sz="3600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6893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Jhenaidah Sadar Hospital, </a:t>
            </a:r>
            <a:r>
              <a:rPr lang="en-US" altLang="ja-JP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Jhenaidah</a:t>
            </a:r>
            <a:endParaRPr lang="en-US" altLang="ja-JP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</a:rPr>
              <a:t>Bed    		 : 13 (EOC : 5; Pediatric : 8)</a:t>
            </a:r>
          </a:p>
          <a:p>
            <a:pPr marL="547688" indent="-457200" eaLnBrk="0" hangingPunct="0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</a:rPr>
              <a:t>Doctor		 : 4 (Specialist :3  ; MO :1 )</a:t>
            </a:r>
          </a:p>
          <a:p>
            <a:pPr marL="547688" indent="-457200" eaLnBrk="0" hangingPunct="0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</a:rPr>
              <a:t>Nurse 		 : 10 </a:t>
            </a:r>
          </a:p>
          <a:p>
            <a:pPr marL="547688" indent="-457200" eaLnBrk="0" hangingPunct="0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</a:rPr>
              <a:t>Total Delivery  : 3034 (2015)</a:t>
            </a:r>
          </a:p>
          <a:p>
            <a:pPr marL="547688" indent="-457200" eaLnBrk="0" hangingPunct="0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</a:rPr>
              <a:t>C-Section	 :  33%  (1007)</a:t>
            </a:r>
          </a:p>
          <a:p>
            <a:pPr marL="547688" indent="-457200" eaLnBrk="0" hangingPunct="0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</a:rPr>
              <a:t>ANC Coverage: 6028 </a:t>
            </a:r>
          </a:p>
          <a:p>
            <a:pPr marL="547688" indent="-457200" eaLnBrk="0" hangingPunct="0">
              <a:buFont typeface="Arial" pitchFamily="34" charset="0"/>
              <a:buChar char="•"/>
              <a:defRPr/>
            </a:pPr>
            <a:endParaRPr lang="en-US" sz="2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45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4376</TotalTime>
  <Words>1424</Words>
  <Application>Microsoft Office PowerPoint</Application>
  <PresentationFormat>On-screen Show (4:3)</PresentationFormat>
  <Paragraphs>381</Paragraphs>
  <Slides>44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Office Theme</vt:lpstr>
      <vt:lpstr>Flow</vt:lpstr>
      <vt:lpstr>Default Design</vt:lpstr>
      <vt:lpstr>5_シック</vt:lpstr>
      <vt:lpstr>Chart</vt:lpstr>
      <vt:lpstr>PowerPoint Presentation</vt:lpstr>
      <vt:lpstr>PowerPoint Presentation</vt:lpstr>
      <vt:lpstr>A Sub-district level Women-Friendly Hospital with a Vision …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PowerPoint Presentation</vt:lpstr>
      <vt:lpstr>PowerPoint Presentation</vt:lpstr>
      <vt:lpstr>PowerPoint Presentation</vt:lpstr>
      <vt:lpstr>Sadar Hospital, Jhenaidah</vt:lpstr>
      <vt:lpstr>PowerPoint Presentation</vt:lpstr>
      <vt:lpstr>PowerPoint Presentation</vt:lpstr>
      <vt:lpstr>PowerPoint Presentation</vt:lpstr>
      <vt:lpstr>Emergency &amp; Out Door, Indoor  Service 1998 to 2015</vt:lpstr>
      <vt:lpstr>PowerPoint Presentation</vt:lpstr>
      <vt:lpstr>Operation Service (Major) 2011 to 2015</vt:lpstr>
      <vt:lpstr>              Comparative data of revenue income in Jhenaidah district in 2013 &amp; 2014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Changes in Gardens of The Hospital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1054</cp:revision>
  <cp:lastPrinted>2015-07-23T02:45:36Z</cp:lastPrinted>
  <dcterms:created xsi:type="dcterms:W3CDTF">1601-01-01T00:00:00Z</dcterms:created>
  <dcterms:modified xsi:type="dcterms:W3CDTF">2016-05-02T02:22:41Z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