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9" r:id="rId1"/>
  </p:sldMasterIdLst>
  <p:notesMasterIdLst>
    <p:notesMasterId r:id="rId32"/>
  </p:notesMasterIdLst>
  <p:sldIdLst>
    <p:sldId id="426" r:id="rId2"/>
    <p:sldId id="427" r:id="rId3"/>
    <p:sldId id="345" r:id="rId4"/>
    <p:sldId id="332" r:id="rId5"/>
    <p:sldId id="341" r:id="rId6"/>
    <p:sldId id="411" r:id="rId7"/>
    <p:sldId id="420" r:id="rId8"/>
    <p:sldId id="343" r:id="rId9"/>
    <p:sldId id="256" r:id="rId10"/>
    <p:sldId id="403" r:id="rId11"/>
    <p:sldId id="326" r:id="rId12"/>
    <p:sldId id="327" r:id="rId13"/>
    <p:sldId id="351" r:id="rId14"/>
    <p:sldId id="430" r:id="rId15"/>
    <p:sldId id="402" r:id="rId16"/>
    <p:sldId id="421" r:id="rId17"/>
    <p:sldId id="428" r:id="rId18"/>
    <p:sldId id="429" r:id="rId19"/>
    <p:sldId id="291" r:id="rId20"/>
    <p:sldId id="323" r:id="rId21"/>
    <p:sldId id="412" r:id="rId22"/>
    <p:sldId id="293" r:id="rId23"/>
    <p:sldId id="330" r:id="rId24"/>
    <p:sldId id="417" r:id="rId25"/>
    <p:sldId id="419" r:id="rId26"/>
    <p:sldId id="413" r:id="rId27"/>
    <p:sldId id="422" r:id="rId28"/>
    <p:sldId id="423" r:id="rId29"/>
    <p:sldId id="424" r:id="rId30"/>
    <p:sldId id="425" r:id="rId31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CC33"/>
    <a:srgbClr val="00FF99"/>
    <a:srgbClr val="CCFF99"/>
    <a:srgbClr val="0C7E17"/>
    <a:srgbClr val="3EE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29" autoAdjust="0"/>
    <p:restoredTop sz="91815" autoAdjust="0"/>
  </p:normalViewPr>
  <p:slideViewPr>
    <p:cSldViewPr>
      <p:cViewPr>
        <p:scale>
          <a:sx n="70" d="100"/>
          <a:sy n="70" d="100"/>
        </p:scale>
        <p:origin x="-1614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86" y="3934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396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</c:numCache>
            </c:numRef>
          </c:cat>
          <c:val>
            <c:numRef>
              <c:f>Sheet1!$B$2:$B$7</c:f>
              <c:numCache>
                <c:formatCode>0%</c:formatCode>
                <c:ptCount val="6"/>
                <c:pt idx="0">
                  <c:v>1.26</c:v>
                </c:pt>
                <c:pt idx="1">
                  <c:v>1.46</c:v>
                </c:pt>
                <c:pt idx="2">
                  <c:v>1.65</c:v>
                </c:pt>
                <c:pt idx="3">
                  <c:v>1.93</c:v>
                </c:pt>
                <c:pt idx="4">
                  <c:v>2.14</c:v>
                </c:pt>
                <c:pt idx="5">
                  <c:v>2.42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0793728"/>
        <c:axId val="140795264"/>
      </c:barChart>
      <c:catAx>
        <c:axId val="1407937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40795264"/>
        <c:crosses val="autoZero"/>
        <c:auto val="1"/>
        <c:lblAlgn val="ctr"/>
        <c:lblOffset val="100"/>
        <c:noMultiLvlLbl val="0"/>
      </c:catAx>
      <c:valAx>
        <c:axId val="140795264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4079372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06E-2"/>
          <c:w val="0.65834289989452255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296235</c:v>
                </c:pt>
                <c:pt idx="6">
                  <c:v>340932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32300</c:v>
                </c:pt>
                <c:pt idx="6">
                  <c:v>35569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4253184"/>
        <c:axId val="44256640"/>
      </c:barChart>
      <c:catAx>
        <c:axId val="442531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44256640"/>
        <c:crosses val="autoZero"/>
        <c:auto val="1"/>
        <c:lblAlgn val="ctr"/>
        <c:lblOffset val="100"/>
        <c:noMultiLvlLbl val="0"/>
      </c:catAx>
      <c:valAx>
        <c:axId val="442566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4425318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443483700051508"/>
          <c:y val="0.42290223097112861"/>
          <c:w val="0.20621936860696152"/>
          <c:h val="0.27641776027996501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1265189073588"/>
          <c:y val="3.6443293946503759E-2"/>
          <c:w val="0.64635972586759993"/>
          <c:h val="0.781510586807713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 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15360</c:v>
                </c:pt>
                <c:pt idx="1">
                  <c:v>12178</c:v>
                </c:pt>
                <c:pt idx="2">
                  <c:v>6977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 Section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7.71604938271604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3888888888888888E-2"/>
                  <c:y val="8.418097982683463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2345679012345678E-2"/>
                  <c:y val="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1143</c:v>
                </c:pt>
                <c:pt idx="1">
                  <c:v>1778</c:v>
                </c:pt>
                <c:pt idx="2">
                  <c:v>1228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NVD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-2.52542939480503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3148148148148206E-2"/>
                  <c:y val="-6.73447838614677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3.0864197530864196E-3"/>
                  <c:y val="-3.08663592698393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1854</c:v>
                </c:pt>
                <c:pt idx="1">
                  <c:v>1189</c:v>
                </c:pt>
                <c:pt idx="2">
                  <c:v>1455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Del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3.0864197530864482E-3"/>
                  <c:y val="-1.96422286262614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8518397005929815E-2"/>
                  <c:y val="-3.64784245916283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"/>
                  <c:y val="-2.806032660894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2997</c:v>
                </c:pt>
                <c:pt idx="1">
                  <c:v>2967</c:v>
                </c:pt>
                <c:pt idx="2">
                  <c:v>2683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0823936"/>
        <c:axId val="120382592"/>
      </c:barChart>
      <c:catAx>
        <c:axId val="1408239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20382592"/>
        <c:crosses val="autoZero"/>
        <c:auto val="1"/>
        <c:lblAlgn val="ctr"/>
        <c:lblOffset val="100"/>
        <c:noMultiLvlLbl val="0"/>
      </c:catAx>
      <c:valAx>
        <c:axId val="12038259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40823936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948624477495873"/>
          <c:y val="0.37195288604878124"/>
          <c:w val="0.14578327014678721"/>
          <c:h val="0.31152795548704221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</c:numCache>
            </c:numRef>
          </c:cat>
          <c:val>
            <c:numRef>
              <c:f>Sheet1!$B$2:$B$4</c:f>
              <c:numCache>
                <c:formatCode>#,##0</c:formatCode>
                <c:ptCount val="3"/>
                <c:pt idx="0">
                  <c:v>6044975</c:v>
                </c:pt>
                <c:pt idx="1">
                  <c:v>6330758</c:v>
                </c:pt>
                <c:pt idx="2">
                  <c:v>7059560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ylinder"/>
        <c:axId val="202293632"/>
        <c:axId val="202295168"/>
        <c:axId val="0"/>
      </c:bar3DChart>
      <c:catAx>
        <c:axId val="2022936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02295168"/>
        <c:crosses val="autoZero"/>
        <c:auto val="1"/>
        <c:lblAlgn val="ctr"/>
        <c:lblOffset val="100"/>
        <c:noMultiLvlLbl val="0"/>
      </c:catAx>
      <c:valAx>
        <c:axId val="202295168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202293632"/>
        <c:crosses val="autoZero"/>
        <c:crossBetween val="between"/>
      </c:valAx>
      <c:spPr>
        <a:noFill/>
        <a:ln w="25386">
          <a:noFill/>
        </a:ln>
      </c:spPr>
    </c:plotArea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9"/>
    </mc:Choice>
    <mc:Fallback>
      <c:style val="19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 </a:t>
            </a:r>
            <a:r>
              <a:rPr lang="en-US" baseline="0" dirty="0" smtClean="0"/>
              <a:t>– S</a:t>
            </a:r>
            <a:r>
              <a:rPr lang="en-US" dirty="0" smtClean="0"/>
              <a:t>ection in </a:t>
            </a:r>
            <a:r>
              <a:rPr lang="en-US" dirty="0" err="1" smtClean="0"/>
              <a:t>Chowgacha</a:t>
            </a:r>
            <a:r>
              <a:rPr lang="en-US" baseline="0" dirty="0" smtClean="0"/>
              <a:t> UHC</a:t>
            </a:r>
            <a:endParaRPr lang="en-US" dirty="0"/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Seasaren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1007</c:v>
                </c:pt>
                <c:pt idx="1">
                  <c:v>785</c:v>
                </c:pt>
                <c:pt idx="2">
                  <c:v>900</c:v>
                </c:pt>
                <c:pt idx="3">
                  <c:v>979</c:v>
                </c:pt>
                <c:pt idx="4">
                  <c:v>1035</c:v>
                </c:pt>
                <c:pt idx="5">
                  <c:v>727</c:v>
                </c:pt>
                <c:pt idx="6">
                  <c:v>759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1444992"/>
        <c:axId val="141446528"/>
      </c:barChart>
      <c:catAx>
        <c:axId val="1414449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41446528"/>
        <c:crosses val="autoZero"/>
        <c:auto val="1"/>
        <c:lblAlgn val="ctr"/>
        <c:lblOffset val="100"/>
        <c:noMultiLvlLbl val="0"/>
      </c:catAx>
      <c:valAx>
        <c:axId val="14144652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4144499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/>
              <a:t>Total </a:t>
            </a:r>
            <a:r>
              <a:rPr lang="en-US" dirty="0" smtClean="0"/>
              <a:t>delivery in </a:t>
            </a:r>
            <a:r>
              <a:rPr lang="en-US" dirty="0" err="1" smtClean="0"/>
              <a:t>Chowgacha</a:t>
            </a:r>
            <a:r>
              <a:rPr lang="en-US" dirty="0" smtClean="0"/>
              <a:t> UHC</a:t>
            </a:r>
            <a:endParaRPr lang="en-US" dirty="0"/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delivery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4412</c:v>
                </c:pt>
                <c:pt idx="1">
                  <c:v>3508</c:v>
                </c:pt>
                <c:pt idx="2">
                  <c:v>3246</c:v>
                </c:pt>
                <c:pt idx="3">
                  <c:v>3422</c:v>
                </c:pt>
                <c:pt idx="4">
                  <c:v>3486</c:v>
                </c:pt>
                <c:pt idx="5">
                  <c:v>3003</c:v>
                </c:pt>
                <c:pt idx="6">
                  <c:v>2898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1238272"/>
        <c:axId val="141239808"/>
      </c:barChart>
      <c:catAx>
        <c:axId val="1412382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41239808"/>
        <c:crosses val="autoZero"/>
        <c:auto val="1"/>
        <c:lblAlgn val="ctr"/>
        <c:lblOffset val="100"/>
        <c:noMultiLvlLbl val="0"/>
      </c:catAx>
      <c:valAx>
        <c:axId val="14123980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4123827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GB" dirty="0" smtClean="0"/>
              <a:t>Total no</a:t>
            </a:r>
            <a:r>
              <a:rPr lang="en-GB" baseline="0" dirty="0" smtClean="0"/>
              <a:t> of </a:t>
            </a:r>
            <a:r>
              <a:rPr lang="en-GB" dirty="0" smtClean="0"/>
              <a:t>ANC in </a:t>
            </a:r>
            <a:r>
              <a:rPr lang="en-GB" dirty="0" err="1" smtClean="0"/>
              <a:t>Chowgacha</a:t>
            </a:r>
            <a:r>
              <a:rPr lang="en-GB" dirty="0" smtClean="0"/>
              <a:t> UHC</a:t>
            </a:r>
            <a:endParaRPr lang="en-GB" dirty="0"/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22708</c:v>
                </c:pt>
                <c:pt idx="1">
                  <c:v>19299</c:v>
                </c:pt>
                <c:pt idx="2">
                  <c:v>19249</c:v>
                </c:pt>
                <c:pt idx="3">
                  <c:v>19144</c:v>
                </c:pt>
                <c:pt idx="4">
                  <c:v>19569</c:v>
                </c:pt>
                <c:pt idx="5">
                  <c:v>19467</c:v>
                </c:pt>
                <c:pt idx="6">
                  <c:v>18680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7027328"/>
        <c:axId val="198114304"/>
      </c:barChart>
      <c:catAx>
        <c:axId val="1570273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98114304"/>
        <c:crosses val="autoZero"/>
        <c:auto val="1"/>
        <c:lblAlgn val="ctr"/>
        <c:lblOffset val="100"/>
        <c:noMultiLvlLbl val="0"/>
      </c:catAx>
      <c:valAx>
        <c:axId val="19811430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5702732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9"/>
    </mc:Choice>
    <mc:Fallback>
      <c:style val="19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/>
              <a:t>Normal </a:t>
            </a:r>
            <a:r>
              <a:rPr lang="en-US" dirty="0" smtClean="0"/>
              <a:t>Delivery in </a:t>
            </a:r>
            <a:r>
              <a:rPr lang="en-US" dirty="0" err="1" smtClean="0"/>
              <a:t>Chowgacha</a:t>
            </a:r>
            <a:r>
              <a:rPr lang="en-US" dirty="0" smtClean="0"/>
              <a:t> UHC</a:t>
            </a:r>
            <a:endParaRPr lang="en-US" dirty="0"/>
          </a:p>
        </c:rich>
      </c:tx>
      <c:layout>
        <c:manualLayout>
          <c:xMode val="edge"/>
          <c:yMode val="edge"/>
          <c:x val="0.3583791338582677"/>
          <c:y val="0.05"/>
        </c:manualLayout>
      </c:layout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Normal Delivery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3345</c:v>
                </c:pt>
                <c:pt idx="1">
                  <c:v>2671</c:v>
                </c:pt>
                <c:pt idx="2">
                  <c:v>2333</c:v>
                </c:pt>
                <c:pt idx="3">
                  <c:v>2375</c:v>
                </c:pt>
                <c:pt idx="4">
                  <c:v>2369</c:v>
                </c:pt>
                <c:pt idx="5">
                  <c:v>2202</c:v>
                </c:pt>
                <c:pt idx="6">
                  <c:v>2123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5482112"/>
        <c:axId val="145483648"/>
      </c:barChart>
      <c:catAx>
        <c:axId val="1454821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45483648"/>
        <c:crosses val="autoZero"/>
        <c:auto val="1"/>
        <c:lblAlgn val="ctr"/>
        <c:lblOffset val="100"/>
        <c:noMultiLvlLbl val="0"/>
      </c:catAx>
      <c:valAx>
        <c:axId val="1454836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4548211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2/13/2019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3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4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5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3620" y="698253"/>
            <a:ext cx="4463162" cy="3484718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15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4204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23</a:t>
            </a:fld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24</a:t>
            </a:fld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26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2/13/2019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2/13/2019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2/13/2019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2/13/2019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2/13/2019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2/13/2019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2/13/2019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2/13/2019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2/13/2019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2/13/2019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2/13/2019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7954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2019/2/13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5.png"/><Relationship Id="rId7" Type="http://schemas.openxmlformats.org/officeDocument/2006/relationships/image" Target="../media/image32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0.png"/><Relationship Id="rId5" Type="http://schemas.openxmlformats.org/officeDocument/2006/relationships/image" Target="../media/image37.jpeg"/><Relationship Id="rId4" Type="http://schemas.openxmlformats.org/officeDocument/2006/relationships/image" Target="../media/image36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1.jpe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5.jpeg"/><Relationship Id="rId4" Type="http://schemas.openxmlformats.org/officeDocument/2006/relationships/image" Target="../media/image44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9.jpeg"/><Relationship Id="rId4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3.jpeg"/><Relationship Id="rId4" Type="http://schemas.openxmlformats.org/officeDocument/2006/relationships/image" Target="../media/image52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76200" y="3810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304800" y="302525"/>
            <a:ext cx="8686800" cy="1569660"/>
          </a:xfrm>
          <a:prstGeom prst="rect">
            <a:avLst/>
          </a:prstGeom>
          <a:ln/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Chowgacha UHC 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&amp; 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Jhenaidah Sadar Hospital 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model development 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by local initiatives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5491163"/>
            <a:ext cx="4572000" cy="113877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Md.Emdadul Haque</a:t>
            </a: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</a:p>
          <a:p>
            <a:pPr algn="ctr">
              <a:defRPr/>
            </a:pPr>
            <a:r>
              <a:rPr lang="en-US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Senior Nation Consultant C -J model replication committee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246313"/>
            <a:ext cx="3886200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2217738"/>
            <a:ext cx="4048125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953367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76200" y="3810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304800" y="302525"/>
            <a:ext cx="8686800" cy="584775"/>
          </a:xfrm>
          <a:prstGeom prst="rect">
            <a:avLst/>
          </a:prstGeom>
          <a:ln/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 err="1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Challages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 of </a:t>
            </a:r>
            <a:r>
              <a:rPr lang="en-US" sz="3200" b="1" dirty="0" err="1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healthrelated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 </a:t>
            </a:r>
            <a:r>
              <a:rPr lang="en-US" sz="3200" b="1" dirty="0" err="1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sdg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 in </a:t>
            </a:r>
            <a:r>
              <a:rPr lang="en-US" sz="3200" b="1" dirty="0" err="1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bangladesh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 </a:t>
            </a:r>
            <a:endParaRPr lang="en-US" sz="3200" b="1" dirty="0">
              <a:solidFill>
                <a:schemeClr val="bg1">
                  <a:lumMod val="95000"/>
                </a:schemeClr>
              </a:solidFill>
              <a:latin typeface="Book Antiqua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90500" y="1201394"/>
            <a:ext cx="88011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1.Implimentation of </a:t>
            </a:r>
            <a:r>
              <a:rPr lang="en-US" sz="28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universial</a:t>
            </a:r>
            <a:r>
              <a:rPr lang="en-US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health coverage       .</a:t>
            </a:r>
          </a:p>
          <a:p>
            <a:pPr algn="ctr">
              <a:defRPr/>
            </a:pPr>
            <a:r>
              <a:rPr lang="en-US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2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L</a:t>
            </a:r>
            <a:r>
              <a:rPr lang="en-US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imited </a:t>
            </a:r>
            <a:r>
              <a:rPr lang="en-US" sz="28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govt</a:t>
            </a:r>
            <a:r>
              <a:rPr lang="en-US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resources in health sector                 .</a:t>
            </a:r>
          </a:p>
          <a:p>
            <a:pPr algn="ctr">
              <a:defRPr/>
            </a:pPr>
            <a:r>
              <a:rPr lang="en-US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3 Health insurance system.                                      .                              </a:t>
            </a:r>
          </a:p>
          <a:p>
            <a:pPr algn="ctr">
              <a:defRPr/>
            </a:pPr>
            <a:r>
              <a:rPr lang="en-US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4.Quality of health care                                             .</a:t>
            </a:r>
          </a:p>
          <a:p>
            <a:pPr algn="ctr">
              <a:defRPr/>
            </a:pPr>
            <a:r>
              <a:rPr lang="en-US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5. </a:t>
            </a:r>
            <a:r>
              <a:rPr lang="en-US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</a:t>
            </a:r>
            <a:r>
              <a:rPr lang="en-US" sz="28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tanting</a:t>
            </a:r>
            <a:r>
              <a:rPr lang="en-US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and low birth weight                                .  </a:t>
            </a:r>
          </a:p>
          <a:p>
            <a:pPr algn="ctr">
              <a:defRPr/>
            </a:pPr>
            <a:r>
              <a:rPr lang="en-US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6. Street accident                                                     .</a:t>
            </a:r>
          </a:p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7</a:t>
            </a:r>
            <a:r>
              <a:rPr lang="en-US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Low institutional delivery and high </a:t>
            </a:r>
            <a:r>
              <a:rPr lang="en-US" sz="28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c-section</a:t>
            </a:r>
            <a:r>
              <a:rPr lang="en-US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rate  .</a:t>
            </a:r>
            <a:endParaRPr lang="en-US" sz="28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  <a:p>
            <a:pPr algn="ctr">
              <a:defRPr/>
            </a:pPr>
            <a:r>
              <a:rPr lang="en-US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8.Hospital waste management system                    .</a:t>
            </a:r>
          </a:p>
          <a:p>
            <a:pPr algn="ctr">
              <a:defRPr/>
            </a:pPr>
            <a:r>
              <a:rPr lang="en-US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9 Maintenance of office time of the service provider.</a:t>
            </a:r>
          </a:p>
        </p:txBody>
      </p:sp>
    </p:spTree>
    <p:extLst>
      <p:ext uri="{BB962C8B-B14F-4D97-AF65-F5344CB8AC3E}">
        <p14:creationId xmlns:p14="http://schemas.microsoft.com/office/powerpoint/2010/main" val="327192413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5883078"/>
              </p:ext>
            </p:extLst>
          </p:nvPr>
        </p:nvGraphicFramePr>
        <p:xfrm>
          <a:off x="144439" y="1295400"/>
          <a:ext cx="8823562" cy="4639717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588254"/>
                <a:gridCol w="1777358"/>
                <a:gridCol w="1295400"/>
                <a:gridCol w="1295400"/>
                <a:gridCol w="1371600"/>
                <a:gridCol w="1295400"/>
                <a:gridCol w="1200150"/>
              </a:tblGrid>
              <a:tr h="923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 by  Govt.   ($)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Beds per 10000 population</a:t>
                      </a: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Out of pocket expenditure</a:t>
                      </a:r>
                    </a:p>
                  </a:txBody>
                  <a:tcPr marL="68580" marR="68580" marT="0" marB="0" anchor="ctr" horzOverflow="overflow"/>
                </a:tc>
              </a:tr>
              <a:tr h="4514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9536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25.5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99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37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11.08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4356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30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14.79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12.8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36.67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118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7.3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17.5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31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38.43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63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7.3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20.4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09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65.06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44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4.7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60.41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184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06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66.49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3.9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03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6553200" y="6426200"/>
            <a:ext cx="241935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r" eaLnBrk="1" hangingPunct="1"/>
            <a:r>
              <a:rPr lang="en-US" sz="20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From internet </a:t>
            </a:r>
            <a:r>
              <a:rPr lang="en-US" sz="2000" dirty="0" smtClean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2017</a:t>
            </a:r>
            <a:endParaRPr lang="en-US" sz="2000" dirty="0">
              <a:solidFill>
                <a:srgbClr val="000000"/>
              </a:solidFill>
              <a:latin typeface="Andalus"/>
              <a:ea typeface="Andalus"/>
              <a:cs typeface="Andalus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37531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963" y="2209800"/>
            <a:ext cx="5735637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82588" y="838200"/>
            <a:ext cx="8432800" cy="107791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</a:rPr>
              <a:t>50 BEDED UPAZILA  HEALTH  COMPLEX 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Chowgacha, Jessore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0"/>
            <a:ext cx="4308475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0"/>
            <a:ext cx="4572000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3505200"/>
            <a:ext cx="4308475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3505200"/>
            <a:ext cx="4578350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 smtClean="0"/>
          </a:p>
          <a:p>
            <a:pPr algn="ctr" eaLnBrk="1" hangingPunct="1">
              <a:buFontTx/>
              <a:buNone/>
            </a:pPr>
            <a:endParaRPr lang="en-US" sz="2800" dirty="0" smtClean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29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  <p:extLst>
      <p:ext uri="{BB962C8B-B14F-4D97-AF65-F5344CB8AC3E}">
        <p14:creationId xmlns:p14="http://schemas.microsoft.com/office/powerpoint/2010/main" val="308122614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sz="3200" b="1" smtClean="0"/>
              <a:t>Upazila Health  Complex</a:t>
            </a:r>
            <a:br>
              <a:rPr lang="en-US" sz="3200" b="1" smtClean="0"/>
            </a:br>
            <a:r>
              <a:rPr lang="en-US" sz="2000" b="1" smtClean="0"/>
              <a:t>CHOWGACHA , JESSORE.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sz="2800" smtClean="0"/>
          </a:p>
          <a:p>
            <a:pPr algn="ctr">
              <a:buFontTx/>
              <a:buNone/>
            </a:pPr>
            <a:endParaRPr lang="en-US" sz="2800" smtClean="0"/>
          </a:p>
        </p:txBody>
      </p:sp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0" hangingPunct="0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EOC Activities : 2000 - 2011 (Caesarian Section)</a:t>
            </a:r>
          </a:p>
        </p:txBody>
      </p:sp>
      <p:graphicFrame>
        <p:nvGraphicFramePr>
          <p:cNvPr id="13317" name="Object 105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2438400"/>
          <a:ext cx="6858000" cy="3906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44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438400"/>
                        <a:ext cx="6858000" cy="3906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4099478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4611688" y="647700"/>
            <a:ext cx="4267200" cy="2955925"/>
            <a:chOff x="1248" y="288"/>
            <a:chExt cx="3157" cy="2448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612775"/>
            <a:ext cx="4170362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3810000"/>
            <a:ext cx="414020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975" y="3810000"/>
            <a:ext cx="4518025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 smtClean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4572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dirty="0" smtClean="0"/>
              <a:t>Challenges of the hospital in 2012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305800" cy="60198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  <a:defRPr/>
            </a:pPr>
            <a:endParaRPr lang="en-US" sz="1800" b="1" dirty="0" smtClean="0"/>
          </a:p>
          <a:p>
            <a:pPr marL="0" indent="0">
              <a:buNone/>
              <a:defRPr/>
            </a:pPr>
            <a:r>
              <a:rPr lang="en-US" sz="2800" b="1" dirty="0" smtClean="0"/>
              <a:t>    </a:t>
            </a:r>
            <a:r>
              <a:rPr lang="en-US" sz="2800" b="1" i="1" dirty="0" err="1"/>
              <a:t>I</a:t>
            </a:r>
            <a:r>
              <a:rPr lang="en-US" sz="2800" b="1" dirty="0" err="1" smtClean="0"/>
              <a:t>nsecured</a:t>
            </a:r>
            <a:r>
              <a:rPr lang="en-US" sz="2800" b="1" dirty="0" smtClean="0"/>
              <a:t>  hospital environment.</a:t>
            </a:r>
          </a:p>
          <a:p>
            <a:pPr marL="0" indent="0">
              <a:buNone/>
              <a:defRPr/>
            </a:pPr>
            <a:r>
              <a:rPr lang="en-US" sz="2800" dirty="0" smtClean="0"/>
              <a:t>	</a:t>
            </a:r>
            <a:endParaRPr lang="en-US" sz="2800" dirty="0"/>
          </a:p>
          <a:p>
            <a:pPr>
              <a:defRPr/>
            </a:pPr>
            <a:r>
              <a:rPr lang="en-US" sz="2800" b="1" dirty="0" smtClean="0"/>
              <a:t>Performance of all activities</a:t>
            </a:r>
            <a:r>
              <a:rPr lang="en-US" sz="2400" b="1" dirty="0" smtClean="0"/>
              <a:t> </a:t>
            </a:r>
            <a:r>
              <a:rPr lang="en-US" sz="2800" b="1" dirty="0" smtClean="0"/>
              <a:t>was very low.</a:t>
            </a:r>
          </a:p>
          <a:p>
            <a:pPr>
              <a:defRPr/>
            </a:pPr>
            <a:endParaRPr lang="en-US" sz="2800" b="1" dirty="0"/>
          </a:p>
          <a:p>
            <a:pPr>
              <a:defRPr/>
            </a:pPr>
            <a:r>
              <a:rPr lang="en-US" sz="2800" b="1" dirty="0" smtClean="0"/>
              <a:t>Very limited support staff. </a:t>
            </a:r>
          </a:p>
          <a:p>
            <a:pPr>
              <a:defRPr/>
            </a:pPr>
            <a:endParaRPr lang="en-US" sz="2800" b="1" dirty="0"/>
          </a:p>
          <a:p>
            <a:pPr>
              <a:defRPr/>
            </a:pPr>
            <a:r>
              <a:rPr lang="en-US" sz="2800" b="1" dirty="0" smtClean="0"/>
              <a:t>Receiving money from the patients by non-</a:t>
            </a:r>
            <a:r>
              <a:rPr lang="en-US" sz="2800" b="1" dirty="0" err="1" smtClean="0"/>
              <a:t>gov.</a:t>
            </a:r>
            <a:r>
              <a:rPr lang="en-US" sz="2800" b="1" dirty="0" smtClean="0"/>
              <a:t> staff.</a:t>
            </a:r>
          </a:p>
          <a:p>
            <a:pPr>
              <a:defRPr/>
            </a:pPr>
            <a:endParaRPr lang="en-US" sz="2800" b="1" dirty="0" smtClean="0"/>
          </a:p>
          <a:p>
            <a:pPr>
              <a:defRPr/>
            </a:pPr>
            <a:r>
              <a:rPr lang="en-US" sz="2800" b="1" dirty="0" smtClean="0"/>
              <a:t>Waste management system was poor.</a:t>
            </a:r>
          </a:p>
          <a:p>
            <a:pPr>
              <a:defRPr/>
            </a:pPr>
            <a:endParaRPr lang="en-US" sz="2800" b="1" dirty="0" smtClean="0"/>
          </a:p>
          <a:p>
            <a:pPr>
              <a:defRPr/>
            </a:pPr>
            <a:r>
              <a:rPr lang="en-US" sz="2800" b="1" dirty="0" smtClean="0"/>
              <a:t>Monitoring  </a:t>
            </a:r>
            <a:r>
              <a:rPr lang="en-US" sz="2800" b="1" dirty="0"/>
              <a:t>m</a:t>
            </a:r>
            <a:r>
              <a:rPr lang="en-US" sz="2800" b="1" dirty="0" smtClean="0"/>
              <a:t>eeting was not performed regularly</a:t>
            </a:r>
          </a:p>
          <a:p>
            <a:pPr>
              <a:defRPr/>
            </a:pPr>
            <a:endParaRPr lang="en-US" sz="2000" b="1" dirty="0"/>
          </a:p>
          <a:p>
            <a:pPr>
              <a:defRPr/>
            </a:pPr>
            <a:endParaRPr lang="en-US" sz="20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</a:t>
            </a:r>
            <a:endParaRPr lang="en-US" sz="1800" b="1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 </a:t>
            </a: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1966301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</a:t>
            </a:r>
            <a:r>
              <a:rPr lang="en-US" sz="24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2017</a:t>
            </a:r>
            <a:endParaRPr lang="en-US" sz="24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en-US" sz="43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556632884"/>
              </p:ext>
            </p:extLst>
          </p:nvPr>
        </p:nvGraphicFramePr>
        <p:xfrm>
          <a:off x="1251744" y="1981200"/>
          <a:ext cx="5834856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1998 to 2017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590283279"/>
              </p:ext>
            </p:extLst>
          </p:nvPr>
        </p:nvGraphicFramePr>
        <p:xfrm>
          <a:off x="609600" y="1981200"/>
          <a:ext cx="8153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44562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b="1" dirty="0" smtClean="0">
                <a:ea typeface="Calibri"/>
                <a:cs typeface="Vrinda"/>
              </a:rPr>
              <a:t>3 best performing </a:t>
            </a:r>
            <a:r>
              <a:rPr lang="en-US" sz="2800" b="1" dirty="0" err="1" smtClean="0">
                <a:ea typeface="Calibri"/>
                <a:cs typeface="Vrinda"/>
              </a:rPr>
              <a:t>EmOC</a:t>
            </a:r>
            <a:r>
              <a:rPr lang="en-US" sz="2800" b="1" dirty="0" smtClean="0">
                <a:ea typeface="Calibri"/>
                <a:cs typeface="Vrinda"/>
              </a:rPr>
              <a:t> Hospital </a:t>
            </a:r>
            <a:r>
              <a:rPr lang="en-US" sz="2800" b="1" dirty="0">
                <a:ea typeface="Calibri"/>
                <a:cs typeface="Vrinda"/>
              </a:rPr>
              <a:t>in Khulna division - </a:t>
            </a:r>
            <a:r>
              <a:rPr lang="en-US" sz="2800" b="1" dirty="0" smtClean="0">
                <a:ea typeface="Calibri"/>
                <a:cs typeface="Vrinda"/>
              </a:rPr>
              <a:t>2017</a:t>
            </a:r>
            <a:endParaRPr lang="en-US" sz="2800" dirty="0">
              <a:ea typeface="Calibri"/>
              <a:cs typeface="Vrinda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3851720"/>
              </p:ext>
            </p:extLst>
          </p:nvPr>
        </p:nvGraphicFramePr>
        <p:xfrm>
          <a:off x="457200" y="20574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 bwMode="auto">
          <a:xfrm>
            <a:off x="457200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79453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2651" y="792754"/>
            <a:ext cx="8310349" cy="808038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800" b="1" dirty="0" smtClean="0">
                <a:solidFill>
                  <a:schemeClr val="bg1"/>
                </a:solidFill>
              </a:rPr>
              <a:t>Comparative </a:t>
            </a:r>
            <a:r>
              <a:rPr lang="en-US" sz="2800" b="1" dirty="0">
                <a:solidFill>
                  <a:schemeClr val="bg1"/>
                </a:solidFill>
              </a:rPr>
              <a:t>data of revenue </a:t>
            </a:r>
            <a:r>
              <a:rPr lang="en-US" sz="2800" b="1" dirty="0" smtClean="0">
                <a:solidFill>
                  <a:schemeClr val="bg1"/>
                </a:solidFill>
              </a:rPr>
              <a:t>income (in Taka) from 2015 to 2017</a:t>
            </a:r>
            <a:r>
              <a:rPr lang="en-US" sz="4800" b="1" dirty="0"/>
              <a:t/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6404045"/>
              </p:ext>
            </p:extLst>
          </p:nvPr>
        </p:nvGraphicFramePr>
        <p:xfrm>
          <a:off x="1676400" y="2133600"/>
          <a:ext cx="55626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452651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13347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81050"/>
            <a:ext cx="9144000" cy="60769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56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 (Cleaner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21,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Ayah &amp; ward boy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22,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Guard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7,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Volunteer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3,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Trolley man 3 )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is supported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by the community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MP of Jhenaidah-2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supports 14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foundation 12 , Mayor of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Jhenaidah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Paurasava</a:t>
            </a:r>
            <a:r>
              <a:rPr lang="en-US" sz="260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4, </a:t>
            </a:r>
            <a:r>
              <a:rPr lang="en-US" sz="2400" dirty="0" smtClean="0"/>
              <a:t>,</a:t>
            </a: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of 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Jhenaidah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support 17</a:t>
            </a: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manpower.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Mayor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of Jhenaidah Paurasava plays an important role in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security , cleanliness, renovation of pediatric word and arrange a mayoral conference. </a:t>
            </a: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Retired secretary donated a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generator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foundation donated an inter-com, mayor donated a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biochemistry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analyzer.</a:t>
            </a: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3260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EOC Ward</a:t>
            </a:r>
          </a:p>
        </p:txBody>
      </p:sp>
      <p:pic>
        <p:nvPicPr>
          <p:cNvPr id="45059" name="Picture 1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762000"/>
            <a:ext cx="3886200" cy="2743200"/>
          </a:xfrm>
          <a:noFill/>
        </p:spPr>
      </p:pic>
      <p:pic>
        <p:nvPicPr>
          <p:cNvPr id="45060" name="Picture 2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762000"/>
            <a:ext cx="4037012" cy="2630488"/>
          </a:xfrm>
          <a:noFill/>
        </p:spPr>
      </p:pic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3776663"/>
            <a:ext cx="3733800" cy="2860675"/>
          </a:xfrm>
          <a:noFill/>
        </p:spPr>
      </p:pic>
      <p:sp>
        <p:nvSpPr>
          <p:cNvPr id="45063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7" name="Rectangle 1"/>
          <p:cNvSpPr>
            <a:spLocks noChangeArrowheads="1"/>
          </p:cNvSpPr>
          <p:nvPr/>
        </p:nvSpPr>
        <p:spPr bwMode="auto">
          <a:xfrm>
            <a:off x="333375" y="801688"/>
            <a:ext cx="915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5068" name="Rectangle 9"/>
          <p:cNvSpPr>
            <a:spLocks noChangeArrowheads="1"/>
          </p:cNvSpPr>
          <p:nvPr/>
        </p:nvSpPr>
        <p:spPr bwMode="auto">
          <a:xfrm>
            <a:off x="4930775" y="7429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16016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/>
          </p:cNvSpPr>
          <p:nvPr>
            <p:ph type="title" sz="quarter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Gardens of The Hospital</a:t>
            </a:r>
          </a:p>
        </p:txBody>
      </p:sp>
      <p:pic>
        <p:nvPicPr>
          <p:cNvPr id="47107" name="Picture 5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53000" y="3811588"/>
            <a:ext cx="3886200" cy="2894012"/>
          </a:xfrm>
        </p:spPr>
      </p:pic>
      <p:pic>
        <p:nvPicPr>
          <p:cNvPr id="47108" name="Picture 4" descr="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1138" y="703263"/>
            <a:ext cx="4033837" cy="2743200"/>
          </a:xfrm>
        </p:spPr>
      </p:pic>
      <p:pic>
        <p:nvPicPr>
          <p:cNvPr id="47109" name="Picture 2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75" y="3740150"/>
            <a:ext cx="4114800" cy="2971800"/>
          </a:xfrm>
          <a:noFill/>
        </p:spPr>
      </p:pic>
      <p:pic>
        <p:nvPicPr>
          <p:cNvPr id="47110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175" y="696913"/>
            <a:ext cx="3883025" cy="2743200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47111" name="Right Arrow 9"/>
          <p:cNvSpPr>
            <a:spLocks noChangeArrowheads="1"/>
          </p:cNvSpPr>
          <p:nvPr/>
        </p:nvSpPr>
        <p:spPr bwMode="auto">
          <a:xfrm>
            <a:off x="44735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2" name="Right Arrow 10"/>
          <p:cNvSpPr>
            <a:spLocks noChangeArrowheads="1"/>
          </p:cNvSpPr>
          <p:nvPr/>
        </p:nvSpPr>
        <p:spPr bwMode="auto">
          <a:xfrm>
            <a:off x="4291013" y="488791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3" name="Rectangle 11"/>
          <p:cNvSpPr>
            <a:spLocks noChangeArrowheads="1"/>
          </p:cNvSpPr>
          <p:nvPr/>
        </p:nvSpPr>
        <p:spPr bwMode="auto">
          <a:xfrm>
            <a:off x="250825" y="696913"/>
            <a:ext cx="9159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7114" name="Rectangle 14"/>
          <p:cNvSpPr>
            <a:spLocks noChangeArrowheads="1"/>
          </p:cNvSpPr>
          <p:nvPr/>
        </p:nvSpPr>
        <p:spPr bwMode="auto">
          <a:xfrm>
            <a:off x="4953000" y="814388"/>
            <a:ext cx="723900" cy="369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4956175" y="3811588"/>
            <a:ext cx="6731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268288" y="3690938"/>
            <a:ext cx="10668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941395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22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Surgery Ward</a:t>
            </a:r>
          </a:p>
        </p:txBody>
      </p:sp>
      <p:pic>
        <p:nvPicPr>
          <p:cNvPr id="46083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838200"/>
            <a:ext cx="4038600" cy="2667000"/>
          </a:xfrm>
          <a:noFill/>
        </p:spPr>
      </p:pic>
      <p:pic>
        <p:nvPicPr>
          <p:cNvPr id="46084" name="Picture 3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62000"/>
            <a:ext cx="4038600" cy="2667000"/>
          </a:xfrm>
          <a:noFill/>
        </p:spPr>
      </p:pic>
      <p:pic>
        <p:nvPicPr>
          <p:cNvPr id="46085" name="Picture 5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3714750"/>
            <a:ext cx="4038600" cy="2914650"/>
          </a:xfrm>
          <a:noFill/>
        </p:spPr>
      </p:pic>
      <p:pic>
        <p:nvPicPr>
          <p:cNvPr id="46086" name="Picture 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53000" y="3733800"/>
            <a:ext cx="3962400" cy="2895600"/>
          </a:xfrm>
          <a:noFill/>
        </p:spPr>
      </p:pic>
      <p:sp>
        <p:nvSpPr>
          <p:cNvPr id="46087" name="Right Arrow 2"/>
          <p:cNvSpPr>
            <a:spLocks noChangeArrowheads="1"/>
          </p:cNvSpPr>
          <p:nvPr/>
        </p:nvSpPr>
        <p:spPr bwMode="auto">
          <a:xfrm>
            <a:off x="43338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pic>
        <p:nvPicPr>
          <p:cNvPr id="46088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75" y="4953000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9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" y="7620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90" name="Picture 1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3605213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91" name="Picture 1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25" y="3629025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92" name="Picture 1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5" y="6096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86475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244" y="3505200"/>
            <a:ext cx="4576219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28362" y="3772089"/>
            <a:ext cx="4096757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396356" y="478234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257034" y="3899646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5224746" y="3922214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63319" y="655614"/>
            <a:ext cx="3886200" cy="29718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Content Placeholder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23019" y="655614"/>
            <a:ext cx="4102100" cy="29527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482" y="1874814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19" y="806427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244" y="550839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KAIZEN  in </a:t>
            </a:r>
            <a:r>
              <a:rPr lang="en-US" sz="2000" b="1" dirty="0" err="1" smtClean="0">
                <a:solidFill>
                  <a:schemeClr val="bg1"/>
                </a:solidFill>
              </a:rPr>
              <a:t>Jhenaidah</a:t>
            </a:r>
            <a:r>
              <a:rPr lang="en-US" sz="2000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 err="1" smtClean="0">
                <a:solidFill>
                  <a:schemeClr val="bg1"/>
                </a:solidFill>
              </a:rPr>
              <a:t>Sadar</a:t>
            </a:r>
            <a:r>
              <a:rPr lang="en-US" sz="2000" b="1" dirty="0" smtClean="0">
                <a:solidFill>
                  <a:schemeClr val="bg1"/>
                </a:solidFill>
              </a:rPr>
              <a:t>  Hospital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810000"/>
            <a:ext cx="4176713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611" y="3807725"/>
            <a:ext cx="4354514" cy="2876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411" y="912125"/>
            <a:ext cx="42672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Content Placeholder 9"/>
          <p:cNvPicPr>
            <a:picLocks noGrp="1" noChangeAspect="1"/>
          </p:cNvPicPr>
          <p:nvPr>
            <p:ph sz="quarter" idx="4294967295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3699" y="912125"/>
            <a:ext cx="4127426" cy="2590800"/>
          </a:xfrm>
        </p:spPr>
      </p:pic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KAIZEN  in </a:t>
            </a:r>
            <a:r>
              <a:rPr lang="en-US" sz="2000" b="1" dirty="0" err="1" smtClean="0">
                <a:solidFill>
                  <a:schemeClr val="bg1"/>
                </a:solidFill>
              </a:rPr>
              <a:t>Jhenaidah</a:t>
            </a:r>
            <a:r>
              <a:rPr lang="en-US" sz="2000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 err="1" smtClean="0">
                <a:solidFill>
                  <a:schemeClr val="bg1"/>
                </a:solidFill>
              </a:rPr>
              <a:t>Sadar</a:t>
            </a:r>
            <a:r>
              <a:rPr lang="en-US" sz="2000" b="1" dirty="0" smtClean="0">
                <a:solidFill>
                  <a:schemeClr val="bg1"/>
                </a:solidFill>
              </a:rPr>
              <a:t>  Hospital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8186" y="4035426"/>
            <a:ext cx="4114800" cy="257175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3998913"/>
            <a:ext cx="4038600" cy="2625725"/>
          </a:xfrm>
          <a:noFill/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328186" y="4092576"/>
            <a:ext cx="2466975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800600" y="4035426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2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30288"/>
            <a:ext cx="4191000" cy="2603500"/>
          </a:xfrm>
        </p:spPr>
      </p:pic>
      <p:pic>
        <p:nvPicPr>
          <p:cNvPr id="13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01714"/>
            <a:ext cx="4132263" cy="2608262"/>
          </a:xfrm>
        </p:spPr>
      </p:pic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KAIZEN  in </a:t>
            </a:r>
            <a:r>
              <a:rPr lang="en-US" sz="2000" b="1" dirty="0" err="1" smtClean="0">
                <a:solidFill>
                  <a:schemeClr val="bg1"/>
                </a:solidFill>
              </a:rPr>
              <a:t>Jhenaidah</a:t>
            </a:r>
            <a:r>
              <a:rPr lang="en-US" sz="2000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 err="1" smtClean="0">
                <a:solidFill>
                  <a:schemeClr val="bg1"/>
                </a:solidFill>
              </a:rPr>
              <a:t>Sadar</a:t>
            </a:r>
            <a:r>
              <a:rPr lang="en-US" sz="2000" b="1" dirty="0" smtClean="0">
                <a:solidFill>
                  <a:schemeClr val="bg1"/>
                </a:solidFill>
              </a:rPr>
              <a:t>  Hospital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52075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>
                <a:solidFill>
                  <a:schemeClr val="bg1"/>
                </a:solidFill>
              </a:rPr>
              <a:t>Improved pediatric word by local initiative</a:t>
            </a:r>
            <a:endParaRPr lang="en-US" sz="2800" b="1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52316" y="-152400"/>
            <a:ext cx="9144000" cy="1524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endParaRPr lang="en-US" altLang="ja-JP" sz="3200" b="1" dirty="0">
              <a:solidFill>
                <a:schemeClr val="bg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Achievements of </a:t>
            </a:r>
            <a:r>
              <a:rPr lang="en-US" altLang="ja-JP" sz="4000" b="1" dirty="0" err="1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Jhenaidah</a:t>
            </a: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altLang="ja-JP" sz="4000" b="1" dirty="0" err="1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Sadar</a:t>
            </a: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 </a:t>
            </a:r>
            <a:r>
              <a:rPr lang="en-US" altLang="ja-JP" sz="40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52316" y="1524000"/>
            <a:ext cx="9144000" cy="5257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b="1" dirty="0" smtClean="0"/>
              <a:t>1</a:t>
            </a:r>
            <a:r>
              <a:rPr lang="en-US" sz="2000" b="1" dirty="0" smtClean="0"/>
              <a:t>. Active </a:t>
            </a:r>
            <a:r>
              <a:rPr lang="en-US" sz="2000" b="1" dirty="0"/>
              <a:t>C</a:t>
            </a:r>
            <a:r>
              <a:rPr lang="en-US" sz="2000" b="1" dirty="0" smtClean="0"/>
              <a:t>ommunity Participation  is an example in Bangladesh.</a:t>
            </a:r>
          </a:p>
          <a:p>
            <a:pPr marL="0" algn="just">
              <a:defRPr/>
            </a:pPr>
            <a:r>
              <a:rPr lang="en-US" sz="2000" dirty="0" smtClean="0"/>
              <a:t> </a:t>
            </a:r>
          </a:p>
          <a:p>
            <a:pPr marL="0" algn="just">
              <a:defRPr/>
            </a:pPr>
            <a:r>
              <a:rPr lang="en-US" sz="2000" b="1" dirty="0" smtClean="0"/>
              <a:t>2. Improved   </a:t>
            </a:r>
            <a:r>
              <a:rPr lang="en-US" sz="2000" b="1" dirty="0"/>
              <a:t>p</a:t>
            </a:r>
            <a:r>
              <a:rPr lang="en-US" sz="2000" b="1" dirty="0" smtClean="0"/>
              <a:t>erformance  of all services.</a:t>
            </a:r>
            <a:endParaRPr lang="en-US" sz="2000" b="1" dirty="0"/>
          </a:p>
          <a:p>
            <a:pPr marL="0">
              <a:defRPr/>
            </a:pPr>
            <a:endParaRPr lang="en-US" sz="2000" b="1" dirty="0" smtClean="0"/>
          </a:p>
          <a:p>
            <a:pPr marL="0">
              <a:defRPr/>
            </a:pPr>
            <a:r>
              <a:rPr lang="en-US" sz="2000" b="1" dirty="0" smtClean="0"/>
              <a:t>3</a:t>
            </a:r>
            <a:r>
              <a:rPr lang="en-US" sz="2000" b="1" dirty="0"/>
              <a:t>. Improved Cleanliness and </a:t>
            </a:r>
            <a:r>
              <a:rPr lang="en-US" sz="2000" b="1" dirty="0" smtClean="0"/>
              <a:t>Beautification of Campus.</a:t>
            </a:r>
            <a:endParaRPr lang="en-US" sz="2000" b="1" dirty="0"/>
          </a:p>
          <a:p>
            <a:pPr marL="0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4. </a:t>
            </a:r>
            <a:r>
              <a:rPr lang="en-US" sz="2000" b="1" dirty="0"/>
              <a:t>Functioning </a:t>
            </a:r>
            <a:r>
              <a:rPr lang="en-US" sz="2000" b="1" dirty="0" smtClean="0"/>
              <a:t>of X-Ray service and Biochemistry investigation</a:t>
            </a:r>
            <a:endParaRPr lang="en-US" sz="1000" dirty="0"/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5. </a:t>
            </a:r>
            <a:r>
              <a:rPr lang="en-US" sz="2000" b="1" dirty="0"/>
              <a:t>Improved </a:t>
            </a:r>
            <a:r>
              <a:rPr lang="en-US" sz="2000" b="1" dirty="0" smtClean="0"/>
              <a:t> Security</a:t>
            </a:r>
            <a:endParaRPr lang="en-US" sz="1000" dirty="0"/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6. </a:t>
            </a:r>
            <a:r>
              <a:rPr lang="en-US" sz="2000" b="1" dirty="0"/>
              <a:t>Improved Financial </a:t>
            </a:r>
            <a:r>
              <a:rPr lang="en-US" sz="2000" b="1" dirty="0" smtClean="0"/>
              <a:t>Management</a:t>
            </a:r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7. “Model  ” is replicating in 11 district  and  5  </a:t>
            </a:r>
            <a:r>
              <a:rPr lang="en-US" sz="2000" b="1" dirty="0" err="1" smtClean="0"/>
              <a:t>upazilla</a:t>
            </a:r>
            <a:r>
              <a:rPr lang="en-US" sz="2000" b="1" dirty="0" smtClean="0"/>
              <a:t>  hospital </a:t>
            </a:r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 smtClean="0"/>
              <a:t>8. </a:t>
            </a:r>
            <a:r>
              <a:rPr lang="en-US" sz="2000" b="1" dirty="0"/>
              <a:t>The hospital is </a:t>
            </a:r>
            <a:r>
              <a:rPr lang="en-US" sz="2000" b="1" dirty="0" smtClean="0"/>
              <a:t>awarded 7 </a:t>
            </a:r>
            <a:r>
              <a:rPr lang="en-US" sz="2000" b="1" dirty="0"/>
              <a:t>times from 2013 to </a:t>
            </a:r>
            <a:r>
              <a:rPr lang="en-US" sz="2000" b="1" dirty="0" smtClean="0"/>
              <a:t>2018. </a:t>
            </a:r>
            <a:endParaRPr lang="en-US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-6824" y="-152400"/>
            <a:ext cx="9144000" cy="13716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Need to implement health related SDG 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by 2030</a:t>
            </a:r>
            <a:endParaRPr lang="en-US" altLang="ja-JP" sz="4000" b="1" dirty="0">
              <a:solidFill>
                <a:schemeClr val="bg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228600" y="1752599"/>
            <a:ext cx="8458200" cy="463000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800" b="1" dirty="0" smtClean="0"/>
          </a:p>
          <a:p>
            <a:pPr marL="0" algn="just">
              <a:defRPr/>
            </a:pPr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</a:rPr>
              <a:t>I</a:t>
            </a:r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n every community clinic 1 M.A</a:t>
            </a:r>
          </a:p>
          <a:p>
            <a:pPr marL="0" algn="just">
              <a:defRPr/>
            </a:pPr>
            <a:endParaRPr lang="en-US" sz="2800" b="1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algn="just">
              <a:defRPr/>
            </a:pPr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10 bedded hospital </a:t>
            </a:r>
            <a:r>
              <a:rPr lang="en-US" sz="2800" b="1" smtClean="0">
                <a:solidFill>
                  <a:schemeClr val="tx2">
                    <a:lumMod val="75000"/>
                  </a:schemeClr>
                </a:solidFill>
              </a:rPr>
              <a:t>with 3 </a:t>
            </a:r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doctors</a:t>
            </a:r>
            <a:r>
              <a:rPr lang="en-US" sz="2800" b="1" smtClean="0">
                <a:solidFill>
                  <a:schemeClr val="tx2">
                    <a:lumMod val="75000"/>
                  </a:schemeClr>
                </a:solidFill>
              </a:rPr>
              <a:t>, 12 </a:t>
            </a:r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nurses          and paramedics in every union.</a:t>
            </a:r>
          </a:p>
          <a:p>
            <a:pPr marL="0" algn="just">
              <a:defRPr/>
            </a:pPr>
            <a:endParaRPr lang="en-US" sz="2800" b="1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algn="just">
              <a:defRPr/>
            </a:pPr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100 bedded hospital  In every </a:t>
            </a:r>
            <a:r>
              <a:rPr lang="en-US" sz="2800" b="1" dirty="0" err="1" smtClean="0">
                <a:solidFill>
                  <a:schemeClr val="tx2">
                    <a:lumMod val="75000"/>
                  </a:schemeClr>
                </a:solidFill>
              </a:rPr>
              <a:t>upazilla</a:t>
            </a:r>
            <a:endParaRPr lang="en-US" sz="2800" b="1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algn="just">
              <a:defRPr/>
            </a:pPr>
            <a:endParaRPr lang="en-US" sz="2800" b="1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algn="just">
              <a:defRPr/>
            </a:pPr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500 bedded hospital in every district. </a:t>
            </a:r>
            <a:endParaRPr lang="en-US" sz="28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686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31238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Hospital Environment</a:t>
            </a:r>
          </a:p>
        </p:txBody>
      </p:sp>
      <p:pic>
        <p:nvPicPr>
          <p:cNvPr id="57347" name="Picture 3" descr="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3836987"/>
            <a:ext cx="4502150" cy="2994026"/>
          </a:xfrm>
        </p:spPr>
      </p:pic>
      <p:pic>
        <p:nvPicPr>
          <p:cNvPr id="57348" name="Picture 2" descr="DSC0256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00088"/>
            <a:ext cx="4267200" cy="2936875"/>
          </a:xfrm>
        </p:spPr>
      </p:pic>
      <p:pic>
        <p:nvPicPr>
          <p:cNvPr id="57349" name="Picture 2" descr="G:\G\Dr Emdad\Photos- Jhenaidah\22-6-15\New folder\New folder\District hospital. Jhenaidah by GMB Akash (56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576" y="684213"/>
            <a:ext cx="4524375" cy="297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50" name="Picture 7" descr="G:\101MSDCF\DSC0271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836987"/>
            <a:ext cx="4267200" cy="302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799421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 descr="Sunset"/>
          <p:cNvSpPr>
            <a:spLocks noGrp="1" noChangeArrowheads="1"/>
          </p:cNvSpPr>
          <p:nvPr>
            <p:ph type="body" idx="4294967295"/>
          </p:nvPr>
        </p:nvSpPr>
        <p:spPr>
          <a:xfrm>
            <a:off x="-32982" y="0"/>
            <a:ext cx="9144000" cy="6858000"/>
          </a:xfr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1"/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marL="0" indent="0" algn="ctr" eaLnBrk="1" hangingPunct="1">
              <a:spcBef>
                <a:spcPct val="0"/>
              </a:spcBef>
              <a:buNone/>
              <a:defRPr/>
            </a:pPr>
            <a:r>
              <a:rPr lang="en-US" sz="4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  <a:p>
            <a:endParaRPr lang="en-US" sz="4400" dirty="0"/>
          </a:p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</p:txBody>
      </p:sp>
    </p:spTree>
    <p:extLst>
      <p:ext uri="{BB962C8B-B14F-4D97-AF65-F5344CB8AC3E}">
        <p14:creationId xmlns:p14="http://schemas.microsoft.com/office/powerpoint/2010/main" val="2858300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3550002642"/>
              </p:ext>
            </p:extLst>
          </p:nvPr>
        </p:nvGraphicFramePr>
        <p:xfrm>
          <a:off x="685800" y="914400"/>
          <a:ext cx="75438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76860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718852784"/>
              </p:ext>
            </p:extLst>
          </p:nvPr>
        </p:nvGraphicFramePr>
        <p:xfrm>
          <a:off x="1295400" y="1219200"/>
          <a:ext cx="7848600" cy="447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03314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1733886985"/>
              </p:ext>
            </p:extLst>
          </p:nvPr>
        </p:nvGraphicFramePr>
        <p:xfrm>
          <a:off x="685800" y="1397000"/>
          <a:ext cx="77724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31530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2554110865"/>
              </p:ext>
            </p:extLst>
          </p:nvPr>
        </p:nvGraphicFramePr>
        <p:xfrm>
          <a:off x="762000" y="1397000"/>
          <a:ext cx="7620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57766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5404</TotalTime>
  <Words>610</Words>
  <Application>Microsoft Office PowerPoint</Application>
  <PresentationFormat>On-screen Show (4:3)</PresentationFormat>
  <Paragraphs>212</Paragraphs>
  <Slides>30</Slides>
  <Notes>13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2" baseType="lpstr">
      <vt:lpstr>Office Theme</vt:lpstr>
      <vt:lpstr>Chart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Upazila Health  Complex CHOWGACHA , JESSORE.</vt:lpstr>
      <vt:lpstr>Upazila Health  Complex CHOWGACHA , JESSORE.</vt:lpstr>
      <vt:lpstr>PowerPoint Presentation</vt:lpstr>
      <vt:lpstr>100 kh¨v wewkó m`i nvmcvZvj, wSbvB`n</vt:lpstr>
      <vt:lpstr>Challenges of the hospital in 2012</vt:lpstr>
      <vt:lpstr>PowerPoint Presentation</vt:lpstr>
      <vt:lpstr>Emergency &amp; Out Door, Indoor  Service 1998 to 2017</vt:lpstr>
      <vt:lpstr>3 best performing EmOC Hospital in Khulna division - 2017</vt:lpstr>
      <vt:lpstr>  Comparative data of revenue income (in Taka) from 2015 to 2017 </vt:lpstr>
      <vt:lpstr>PowerPoint Presentation</vt:lpstr>
      <vt:lpstr>Changes in EOC Ward</vt:lpstr>
      <vt:lpstr>Changes in Gardens of The Hospital</vt:lpstr>
      <vt:lpstr>Changes in Surgery Ward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Hospital Environment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UNICEF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Emdad</cp:lastModifiedBy>
  <cp:revision>654</cp:revision>
  <cp:lastPrinted>2017-03-18T23:47:54Z</cp:lastPrinted>
  <dcterms:created xsi:type="dcterms:W3CDTF">2013-05-05T09:56:19Z</dcterms:created>
  <dcterms:modified xsi:type="dcterms:W3CDTF">2019-02-13T15:08:17Z</dcterms:modified>
</cp:coreProperties>
</file>