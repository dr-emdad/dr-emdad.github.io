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</p:sldMasterIdLst>
  <p:notesMasterIdLst>
    <p:notesMasterId r:id="rId37"/>
  </p:notesMasterIdLst>
  <p:sldIdLst>
    <p:sldId id="424" r:id="rId3"/>
    <p:sldId id="404" r:id="rId4"/>
    <p:sldId id="430" r:id="rId5"/>
    <p:sldId id="423" r:id="rId6"/>
    <p:sldId id="428" r:id="rId7"/>
    <p:sldId id="431" r:id="rId8"/>
    <p:sldId id="425" r:id="rId9"/>
    <p:sldId id="410" r:id="rId10"/>
    <p:sldId id="419" r:id="rId11"/>
    <p:sldId id="334" r:id="rId12"/>
    <p:sldId id="337" r:id="rId13"/>
    <p:sldId id="340" r:id="rId14"/>
    <p:sldId id="427" r:id="rId15"/>
    <p:sldId id="412" r:id="rId16"/>
    <p:sldId id="413" r:id="rId17"/>
    <p:sldId id="256" r:id="rId18"/>
    <p:sldId id="414" r:id="rId19"/>
    <p:sldId id="416" r:id="rId20"/>
    <p:sldId id="415" r:id="rId21"/>
    <p:sldId id="417" r:id="rId22"/>
    <p:sldId id="418" r:id="rId23"/>
    <p:sldId id="402" r:id="rId24"/>
    <p:sldId id="369" r:id="rId25"/>
    <p:sldId id="287" r:id="rId26"/>
    <p:sldId id="291" r:id="rId27"/>
    <p:sldId id="433" r:id="rId28"/>
    <p:sldId id="308" r:id="rId29"/>
    <p:sldId id="312" r:id="rId30"/>
    <p:sldId id="422" r:id="rId31"/>
    <p:sldId id="293" r:id="rId32"/>
    <p:sldId id="294" r:id="rId33"/>
    <p:sldId id="409" r:id="rId34"/>
    <p:sldId id="432" r:id="rId35"/>
    <p:sldId id="344" r:id="rId3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FF99"/>
    <a:srgbClr val="00FF99"/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29" autoAdjust="0"/>
    <p:restoredTop sz="91815" autoAdjust="0"/>
  </p:normalViewPr>
  <p:slideViewPr>
    <p:cSldViewPr>
      <p:cViewPr>
        <p:scale>
          <a:sx n="60" d="100"/>
          <a:sy n="60" d="100"/>
        </p:scale>
        <p:origin x="-1884" y="-2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Sheet1!$B$2:$B$8</c:f>
              <c:numCache>
                <c:formatCode>0%</c:formatCode>
                <c:ptCount val="7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6230912"/>
        <c:axId val="126232448"/>
      </c:barChart>
      <c:catAx>
        <c:axId val="12623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6232448"/>
        <c:crosses val="autoZero"/>
        <c:auto val="1"/>
        <c:lblAlgn val="ctr"/>
        <c:lblOffset val="100"/>
        <c:noMultiLvlLbl val="0"/>
      </c:catAx>
      <c:valAx>
        <c:axId val="12623244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262309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4246144"/>
        <c:axId val="214247680"/>
      </c:barChart>
      <c:catAx>
        <c:axId val="2142461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14247680"/>
        <c:crosses val="autoZero"/>
        <c:auto val="1"/>
        <c:lblAlgn val="ctr"/>
        <c:lblOffset val="100"/>
        <c:noMultiLvlLbl val="0"/>
      </c:catAx>
      <c:valAx>
        <c:axId val="21424768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424614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14367</c:v>
                </c:pt>
                <c:pt idx="1">
                  <c:v>12871</c:v>
                </c:pt>
                <c:pt idx="2">
                  <c:v>4122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887</c:v>
                </c:pt>
                <c:pt idx="1">
                  <c:v>1573</c:v>
                </c:pt>
                <c:pt idx="2">
                  <c:v>1256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1795</c:v>
                </c:pt>
                <c:pt idx="1">
                  <c:v>1517</c:v>
                </c:pt>
                <c:pt idx="2">
                  <c:v>1518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2690</c:v>
                </c:pt>
                <c:pt idx="1">
                  <c:v>3106</c:v>
                </c:pt>
                <c:pt idx="2">
                  <c:v>2870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4297600"/>
        <c:axId val="214315776"/>
      </c:barChart>
      <c:catAx>
        <c:axId val="21429760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14315776"/>
        <c:crosses val="autoZero"/>
        <c:auto val="1"/>
        <c:lblAlgn val="ctr"/>
        <c:lblOffset val="100"/>
        <c:noMultiLvlLbl val="0"/>
      </c:catAx>
      <c:valAx>
        <c:axId val="2143157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1429760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Sheet1!$B$2:$B$5</c:f>
              <c:numCache>
                <c:formatCode>#,##0</c:formatCode>
                <c:ptCount val="4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27551488"/>
        <c:axId val="227553280"/>
        <c:axId val="0"/>
      </c:bar3DChart>
      <c:catAx>
        <c:axId val="2275514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27553280"/>
        <c:crosses val="autoZero"/>
        <c:auto val="1"/>
        <c:lblAlgn val="ctr"/>
        <c:lblOffset val="100"/>
        <c:noMultiLvlLbl val="0"/>
      </c:catAx>
      <c:valAx>
        <c:axId val="227553280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27551488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2/19/2019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5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6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22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32</a:t>
            </a:fld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33</a:t>
            </a:fld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34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2019/2/19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2019/2/19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2019/2/19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2019/2/19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2019/2/19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2019/2/19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2019/2/19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2019/2/19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2019/2/19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2019/2/19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2019/2/19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2/19/2019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2/19/2019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2/19/2019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2/19/2019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2/19/2019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2/19/2019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2/19/2019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2/19/2019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2/19/2019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2/19/2019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2/19/2019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2019/2/19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2019/2/19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jp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5.pn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9.jpeg"/><Relationship Id="rId4" Type="http://schemas.openxmlformats.org/officeDocument/2006/relationships/image" Target="../media/image4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5.jpeg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9.jpeg"/><Relationship Id="rId4" Type="http://schemas.openxmlformats.org/officeDocument/2006/relationships/image" Target="../media/image58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-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Model: A New </a:t>
            </a:r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Dinention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of Health  Service Development. 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19600" y="5215957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Nation Consultant C -J model replication committee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899" y="1600200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98" y="1600200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5B21C29-90F7-462A-A9E9-C39ED42AFF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8" r="5" b="5159"/>
          <a:stretch/>
        </p:blipFill>
        <p:spPr>
          <a:xfrm>
            <a:off x="518726" y="4946876"/>
            <a:ext cx="1819434" cy="1676936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446" y="1600201"/>
            <a:ext cx="4078183" cy="316025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05808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228600"/>
            <a:ext cx="8229600" cy="1143000"/>
          </a:xfrm>
        </p:spPr>
        <p:txBody>
          <a:bodyPr/>
          <a:lstStyle/>
          <a:p>
            <a:r>
              <a:rPr lang="en-GB" dirty="0" smtClean="0"/>
              <a:t>Background History of C-J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229600" cy="6151179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en-GB" sz="2800" dirty="0" smtClean="0"/>
              <a:t>The program starts  in Chowgacha UHC in 1986. </a:t>
            </a:r>
          </a:p>
          <a:p>
            <a:r>
              <a:rPr lang="en-GB" sz="2800" dirty="0" smtClean="0"/>
              <a:t>Social </a:t>
            </a:r>
            <a:r>
              <a:rPr lang="en-GB" sz="2800" dirty="0"/>
              <a:t>mobilization program starts in </a:t>
            </a:r>
            <a:r>
              <a:rPr lang="en-GB" sz="2800" dirty="0" err="1"/>
              <a:t>Lohagara</a:t>
            </a:r>
            <a:r>
              <a:rPr lang="en-GB" sz="2800" dirty="0"/>
              <a:t> UHC , </a:t>
            </a:r>
            <a:r>
              <a:rPr lang="en-GB" sz="2800" dirty="0" err="1"/>
              <a:t>Narail</a:t>
            </a:r>
            <a:r>
              <a:rPr lang="en-GB" sz="2800" dirty="0"/>
              <a:t>  from 1989 -</a:t>
            </a:r>
            <a:r>
              <a:rPr lang="en-GB" sz="2800" dirty="0" smtClean="0"/>
              <a:t> </a:t>
            </a:r>
            <a:r>
              <a:rPr lang="en-GB" sz="2800" dirty="0"/>
              <a:t>1995</a:t>
            </a:r>
            <a:endParaRPr lang="en-GB" sz="2800" dirty="0" smtClean="0"/>
          </a:p>
          <a:p>
            <a:r>
              <a:rPr lang="en-GB" sz="2800" dirty="0" smtClean="0"/>
              <a:t>In 1995-97   open 4 section a) ANC </a:t>
            </a:r>
            <a:r>
              <a:rPr lang="en-GB" sz="2800" dirty="0" err="1" smtClean="0"/>
              <a:t>corner,b</a:t>
            </a:r>
            <a:r>
              <a:rPr lang="en-GB" sz="2800" dirty="0" smtClean="0"/>
              <a:t>) Under-5 corner  </a:t>
            </a:r>
            <a:r>
              <a:rPr lang="en-GB" sz="2800" dirty="0"/>
              <a:t>c</a:t>
            </a:r>
            <a:r>
              <a:rPr lang="en-GB" sz="2800" dirty="0" smtClean="0"/>
              <a:t>)</a:t>
            </a:r>
            <a:r>
              <a:rPr lang="en-GB" sz="2800" dirty="0" err="1" smtClean="0"/>
              <a:t>birth&amp;death</a:t>
            </a:r>
            <a:r>
              <a:rPr lang="en-GB" sz="2800" dirty="0" smtClean="0"/>
              <a:t> record </a:t>
            </a:r>
            <a:r>
              <a:rPr lang="en-GB" sz="2800" dirty="0" err="1" smtClean="0"/>
              <a:t>ing</a:t>
            </a:r>
            <a:r>
              <a:rPr lang="en-GB" sz="2800" dirty="0" smtClean="0"/>
              <a:t> </a:t>
            </a:r>
            <a:r>
              <a:rPr lang="en-GB" sz="2800" dirty="0" err="1" smtClean="0"/>
              <a:t>unit.d</a:t>
            </a:r>
            <a:r>
              <a:rPr lang="en-GB" sz="2800" dirty="0" smtClean="0"/>
              <a:t>) Health education corner</a:t>
            </a:r>
          </a:p>
          <a:p>
            <a:r>
              <a:rPr lang="en-GB" sz="2800" dirty="0" smtClean="0"/>
              <a:t>   In </a:t>
            </a:r>
            <a:r>
              <a:rPr lang="en-GB" sz="2800" dirty="0" err="1" smtClean="0"/>
              <a:t>june</a:t>
            </a:r>
            <a:r>
              <a:rPr lang="en-GB" sz="2800" dirty="0" smtClean="0"/>
              <a:t> 2008 ,MOH&amp;FW </a:t>
            </a:r>
            <a:r>
              <a:rPr lang="en-GB" sz="2800" dirty="0" err="1" smtClean="0"/>
              <a:t>decleared</a:t>
            </a:r>
            <a:r>
              <a:rPr lang="en-GB" sz="2800" dirty="0" smtClean="0"/>
              <a:t> the Chowgacha UHC as Model UHC of Bangladesh.  </a:t>
            </a:r>
          </a:p>
          <a:p>
            <a:r>
              <a:rPr lang="en-GB" sz="2800" dirty="0" smtClean="0"/>
              <a:t>In 2010 D G of WHO recommended to replicate it.</a:t>
            </a:r>
          </a:p>
          <a:p>
            <a:r>
              <a:rPr lang="en-GB" sz="2800" dirty="0" smtClean="0"/>
              <a:t>Jhenaidah </a:t>
            </a:r>
            <a:r>
              <a:rPr lang="en-GB" sz="2800" dirty="0" err="1"/>
              <a:t>S</a:t>
            </a:r>
            <a:r>
              <a:rPr lang="en-GB" sz="2800" dirty="0" err="1" smtClean="0"/>
              <a:t>adar</a:t>
            </a:r>
            <a:r>
              <a:rPr lang="en-GB" sz="2800" dirty="0" smtClean="0"/>
              <a:t>  Hospital Model starts in 2012</a:t>
            </a:r>
          </a:p>
          <a:p>
            <a:r>
              <a:rPr lang="en-GB" sz="2800" dirty="0" smtClean="0"/>
              <a:t>C-J Model replicate in 2015 by MOHFW in 11 district hospital&amp; 5 Upazilla </a:t>
            </a:r>
            <a:r>
              <a:rPr lang="en-GB" sz="2800" dirty="0" err="1" smtClean="0"/>
              <a:t>UHC.Now</a:t>
            </a:r>
            <a:r>
              <a:rPr lang="en-GB" sz="2800" dirty="0" smtClean="0"/>
              <a:t> replicating  by the order of PM </a:t>
            </a:r>
            <a:r>
              <a:rPr lang="en-GB" sz="2800" dirty="0" err="1" smtClean="0"/>
              <a:t>office,ADG</a:t>
            </a:r>
            <a:r>
              <a:rPr lang="en-GB" sz="2800" dirty="0" smtClean="0"/>
              <a:t>(Admin)is  </a:t>
            </a:r>
            <a:r>
              <a:rPr lang="en-GB" sz="2800" dirty="0" err="1" smtClean="0"/>
              <a:t>ChairPerson</a:t>
            </a:r>
            <a:r>
              <a:rPr lang="en-GB" sz="2800" dirty="0" smtClean="0"/>
              <a:t>.                                </a:t>
            </a:r>
            <a:r>
              <a:rPr lang="en-GB" dirty="0" smtClean="0"/>
              <a:t>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81004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নড়াইলের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লোহাগড়া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উপজেলায়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ইউনিয়নওয়ারী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জরীপে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জনসম্পদের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তথ্য</a:t>
            </a:r>
            <a:endParaRPr lang="en-GB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 descr="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735880" y="-550121"/>
            <a:ext cx="5596041" cy="937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4873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:\G\Dr Emdad\Photo -Lohagara\ScreenShot_201605240637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5408" y="4289813"/>
            <a:ext cx="3620964" cy="236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5" descr="G:\G\Dr Emdad\Photo -Lohagara\ScreenShot_201512071948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529" y="1374776"/>
            <a:ext cx="36099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G:\G\Dr Emdad\Photo -Lohagara\ScreenShot_201512072110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72" y="1374775"/>
            <a:ext cx="36576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 descr="G:\G\Dr Emdad\Photo -Lohagara\ScreenShot_2015120720251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608" y="4263956"/>
            <a:ext cx="3571875" cy="235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02190" y="381000"/>
            <a:ext cx="8591426" cy="5404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smtClean="0">
                <a:solidFill>
                  <a:srgbClr val="0070C0"/>
                </a:solidFill>
              </a:rPr>
              <a:t>Community Mobilization Meeting at Lohagara in </a:t>
            </a:r>
            <a:r>
              <a:rPr lang="en-US" sz="2400" b="1" dirty="0" smtClean="0">
                <a:solidFill>
                  <a:srgbClr val="0070C0"/>
                </a:solidFill>
                <a:latin typeface="Book Antiqua" pitchFamily="18" charset="0"/>
              </a:rPr>
              <a:t>1995</a:t>
            </a:r>
            <a:endParaRPr lang="en-US" sz="2400" b="1" dirty="0">
              <a:solidFill>
                <a:srgbClr val="0070C0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55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051" y="2362200"/>
            <a:ext cx="383724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21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CHOWGACHA UPAZILA  </a:t>
            </a:r>
            <a:r>
              <a:rPr lang="en-US" sz="3200" b="1" dirty="0">
                <a:solidFill>
                  <a:schemeClr val="bg1"/>
                </a:solidFill>
              </a:rPr>
              <a:t>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3401" y="2362200"/>
            <a:ext cx="4041940" cy="3124200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solidFill>
              <a:schemeClr val="accent1"/>
            </a:solidFill>
          </a:ln>
          <a:extLst/>
        </p:spPr>
      </p:pic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358941" y="5638800"/>
            <a:ext cx="4365459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Previous UHC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4987337" y="5638800"/>
            <a:ext cx="3828051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Present UHC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193360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913421"/>
              </p:ext>
            </p:extLst>
          </p:nvPr>
        </p:nvGraphicFramePr>
        <p:xfrm>
          <a:off x="148988" y="990600"/>
          <a:ext cx="8894764" cy="439221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07670"/>
                <a:gridCol w="1757942"/>
                <a:gridCol w="1512798"/>
                <a:gridCol w="1313718"/>
                <a:gridCol w="1248032"/>
                <a:gridCol w="1227302"/>
                <a:gridCol w="1227302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 %</a:t>
                      </a: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37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11.08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28.0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14.79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36.67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38.43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65.06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60.41</a:t>
                      </a:r>
                    </a:p>
                  </a:txBody>
                  <a:tcPr marL="68580" marR="68580" marT="0" marB="0" horzOverflow="overflow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66.40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67.00</a:t>
                      </a: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</a:t>
            </a:r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2018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7803451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</a:t>
            </a:r>
            <a:r>
              <a:rPr lang="en-US" sz="3600" b="1" dirty="0" smtClean="0"/>
              <a:t> </a:t>
            </a:r>
            <a:r>
              <a:rPr lang="en-US" sz="3600" b="1" dirty="0"/>
              <a:t>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</a:t>
            </a:r>
            <a:r>
              <a:rPr lang="en-US" sz="1600" b="1" dirty="0" smtClean="0"/>
              <a:t>sincerity.</a:t>
            </a:r>
            <a:endParaRPr lang="en-US" sz="1600" b="1" dirty="0"/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</a:t>
            </a:r>
            <a:r>
              <a:rPr lang="en-US" sz="1600" b="1" dirty="0" smtClean="0"/>
              <a:t> </a:t>
            </a:r>
            <a:r>
              <a:rPr lang="en-US" sz="1600" b="1" dirty="0"/>
              <a:t>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</a:t>
            </a:r>
            <a:r>
              <a:rPr lang="en-US" sz="1600" b="1" dirty="0" smtClean="0"/>
              <a:t>system.</a:t>
            </a:r>
            <a:endParaRPr lang="en-US" sz="1600" b="1" dirty="0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616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5094515" y="1040332"/>
            <a:ext cx="3733800" cy="940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18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18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73380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-38100" y="4876800"/>
            <a:ext cx="4267200" cy="90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held on basic information system </a:t>
            </a:r>
            <a:r>
              <a:rPr lang="en-US" dirty="0" smtClean="0">
                <a:latin typeface="Calibri" pitchFamily="34" charset="0"/>
              </a:rPr>
              <a:t>at </a:t>
            </a:r>
            <a:r>
              <a:rPr lang="en-US" dirty="0">
                <a:latin typeface="Calibri" pitchFamily="34" charset="0"/>
              </a:rPr>
              <a:t>Chowgacha </a:t>
            </a:r>
            <a:r>
              <a:rPr lang="en-US" dirty="0" smtClean="0">
                <a:latin typeface="Calibri" pitchFamily="34" charset="0"/>
              </a:rPr>
              <a:t>Degree </a:t>
            </a:r>
            <a:r>
              <a:rPr lang="en-US" dirty="0">
                <a:latin typeface="Calibri" pitchFamily="34" charset="0"/>
              </a:rPr>
              <a:t>College </a:t>
            </a:r>
            <a:r>
              <a:rPr lang="en-US" dirty="0" smtClean="0">
                <a:latin typeface="Calibri" pitchFamily="34" charset="0"/>
              </a:rPr>
              <a:t>in </a:t>
            </a:r>
            <a:r>
              <a:rPr lang="en-US" dirty="0">
                <a:latin typeface="Calibri" pitchFamily="34" charset="0"/>
              </a:rPr>
              <a:t>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</a:t>
            </a:r>
            <a:r>
              <a:rPr lang="en-US" dirty="0" smtClean="0">
                <a:latin typeface="Calibri" pitchFamily="34" charset="0"/>
              </a:rPr>
              <a:t>guest . </a:t>
            </a:r>
            <a:endParaRPr lang="en-GB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902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43" y="182562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839" y="3462337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46839" y="609600"/>
            <a:ext cx="4039961" cy="137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dirty="0"/>
              <a:t>Community Supported </a:t>
            </a:r>
            <a:r>
              <a:rPr lang="en-US" dirty="0" smtClean="0"/>
              <a:t>Volunteer </a:t>
            </a:r>
            <a:r>
              <a:rPr lang="en-US" dirty="0"/>
              <a:t>Working as receptionist</a:t>
            </a:r>
            <a:r>
              <a:rPr lang="en-US" dirty="0" smtClean="0"/>
              <a:t>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743" y="4114800"/>
            <a:ext cx="4308475" cy="1143000"/>
          </a:xfrm>
        </p:spPr>
        <p:txBody>
          <a:bodyPr/>
          <a:lstStyle/>
          <a:p>
            <a:r>
              <a:rPr lang="en-GB" sz="3200" dirty="0" smtClean="0"/>
              <a:t>Community supported volunteer working in ANC corner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18416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2982" y="6096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2400" dirty="0" smtClean="0"/>
          </a:p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dirty="0" smtClean="0"/>
              <a:t>         In 2008, Chowgacha Health Complex declared as the model </a:t>
            </a:r>
            <a:r>
              <a:rPr lang="en-US" sz="2400" dirty="0" err="1" smtClean="0"/>
              <a:t>upazilla</a:t>
            </a:r>
            <a:r>
              <a:rPr lang="en-US" sz="2400" dirty="0" smtClean="0"/>
              <a:t>         health complex.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All the components of primary health care implemented in Chowgacha in 2000. 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UHC  became the best EOC center  with 98.4% (4413)delivery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dirty="0" smtClean="0"/>
              <a:t>. 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2004 to 2014&amp; 2017. 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8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331762"/>
              </p:ext>
            </p:extLst>
          </p:nvPr>
        </p:nvGraphicFramePr>
        <p:xfrm>
          <a:off x="761999" y="1219200"/>
          <a:ext cx="8001003" cy="55333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3899"/>
                <a:gridCol w="800101"/>
                <a:gridCol w="1155700"/>
                <a:gridCol w="1066800"/>
                <a:gridCol w="1066800"/>
                <a:gridCol w="977900"/>
                <a:gridCol w="939803"/>
              </a:tblGrid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600" dirty="0">
                          <a:effectLst/>
                        </a:rPr>
                        <a:t>Subject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2000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2007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2011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Bed Occupancy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-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93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5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171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ANC (First Visit)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16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3</a:t>
                      </a:r>
                      <a:r>
                        <a:rPr lang="en-GB" sz="1600" dirty="0">
                          <a:effectLst/>
                        </a:rPr>
                        <a:t> (</a:t>
                      </a:r>
                      <a:r>
                        <a:rPr lang="bn-IN" sz="1600" dirty="0">
                          <a:effectLst/>
                        </a:rPr>
                        <a:t>817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59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2861</a:t>
                      </a:r>
                      <a:r>
                        <a:rPr lang="en-GB" sz="1600">
                          <a:effectLst/>
                        </a:rPr>
                        <a:t>) 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132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7292</a:t>
                      </a:r>
                      <a:r>
                        <a:rPr lang="en-GB" sz="1600">
                          <a:effectLst/>
                        </a:rPr>
                        <a:t>) 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170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8935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130 (6632)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Hospital Delivery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1</a:t>
                      </a:r>
                      <a:r>
                        <a:rPr lang="en-GB" sz="1600" dirty="0">
                          <a:effectLst/>
                        </a:rPr>
                        <a:t>   (</a:t>
                      </a:r>
                      <a:r>
                        <a:rPr lang="bn-IN" sz="1600" dirty="0">
                          <a:effectLst/>
                        </a:rPr>
                        <a:t>99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6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4</a:t>
                      </a:r>
                      <a:r>
                        <a:rPr lang="en-GB" sz="1600" dirty="0">
                          <a:effectLst/>
                        </a:rPr>
                        <a:t> (</a:t>
                      </a:r>
                      <a:r>
                        <a:rPr lang="bn-IN" sz="1600" dirty="0">
                          <a:effectLst/>
                        </a:rPr>
                        <a:t>422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38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1</a:t>
                      </a:r>
                      <a:r>
                        <a:rPr lang="en-GB" sz="1600">
                          <a:effectLst/>
                        </a:rPr>
                        <a:t>    (</a:t>
                      </a:r>
                      <a:r>
                        <a:rPr lang="bn-IN" sz="1600">
                          <a:effectLst/>
                        </a:rPr>
                        <a:t>1899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98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4</a:t>
                      </a:r>
                      <a:r>
                        <a:rPr lang="en-GB" sz="1600">
                          <a:effectLst/>
                        </a:rPr>
                        <a:t> (</a:t>
                      </a:r>
                      <a:r>
                        <a:rPr lang="bn-IN" sz="1600">
                          <a:effectLst/>
                        </a:rPr>
                        <a:t>4413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66 (</a:t>
                      </a:r>
                      <a:r>
                        <a:rPr lang="bn-IN" sz="1600">
                          <a:effectLst/>
                        </a:rPr>
                        <a:t>2932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95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C-Section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-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02</a:t>
                      </a:r>
                      <a:r>
                        <a:rPr lang="en-GB" sz="1600" dirty="0">
                          <a:effectLst/>
                        </a:rPr>
                        <a:t>      (</a:t>
                      </a:r>
                      <a:r>
                        <a:rPr lang="bn-IN" sz="1600" dirty="0">
                          <a:effectLst/>
                        </a:rPr>
                        <a:t>1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0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07</a:t>
                      </a:r>
                      <a:r>
                        <a:rPr lang="en-GB" sz="1600">
                          <a:effectLst/>
                        </a:rPr>
                        <a:t>   (</a:t>
                      </a:r>
                      <a:r>
                        <a:rPr lang="bn-IN" sz="1600">
                          <a:effectLst/>
                        </a:rPr>
                        <a:t>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9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6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473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22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5</a:t>
                      </a:r>
                      <a:r>
                        <a:rPr lang="en-GB" sz="1600">
                          <a:effectLst/>
                        </a:rPr>
                        <a:t> (</a:t>
                      </a:r>
                      <a:r>
                        <a:rPr lang="bn-IN" sz="1600">
                          <a:effectLst/>
                        </a:rPr>
                        <a:t>1107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743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MMR/100,000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599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300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168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160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68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91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NMR/ </a:t>
                      </a:r>
                      <a:r>
                        <a:rPr lang="en-GB" sz="1600" dirty="0">
                          <a:effectLst/>
                        </a:rPr>
                        <a:t>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42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47</a:t>
                      </a:r>
                      <a:r>
                        <a:rPr lang="en-GB" sz="1600" dirty="0">
                          <a:effectLst/>
                        </a:rPr>
                        <a:t>  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23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21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16.6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IMR/ </a:t>
                      </a:r>
                      <a:r>
                        <a:rPr lang="en-GB" sz="1600" dirty="0">
                          <a:effectLst/>
                        </a:rPr>
                        <a:t>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65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58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36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29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23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18.6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551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U5MR/ 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78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67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44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33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3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25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21.1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33400" y="127442"/>
            <a:ext cx="8229600" cy="907941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Chowgacha Health Complex – improvement evaluation</a:t>
            </a: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 </a:t>
            </a:r>
            <a:r>
              <a:rPr kumimoji="0" lang="bn-IN" sz="2800" b="0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(1995-2017)</a:t>
            </a:r>
            <a:endParaRPr kumimoji="0" lang="en-GB" sz="2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98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0" y="-25855"/>
            <a:ext cx="9144000" cy="6883855"/>
            <a:chOff x="116" y="-153"/>
            <a:chExt cx="7425" cy="5746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" y="-153"/>
              <a:ext cx="4184" cy="5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00" y="-153"/>
              <a:ext cx="3241" cy="5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73569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9144000" cy="683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1248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3600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305800" cy="61722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 smtClean="0"/>
          </a:p>
          <a:p>
            <a:pPr>
              <a:defRPr/>
            </a:pPr>
            <a:r>
              <a:rPr lang="en-US" sz="2800" b="1" dirty="0"/>
              <a:t> </a:t>
            </a:r>
            <a:r>
              <a:rPr lang="en-US" sz="2800" b="1" dirty="0" smtClean="0"/>
              <a:t>   </a:t>
            </a:r>
            <a:r>
              <a:rPr lang="en-US" sz="2800" b="1" i="1" dirty="0" smtClean="0"/>
              <a:t>In secured</a:t>
            </a:r>
            <a:r>
              <a:rPr lang="en-US" sz="2800" b="1" dirty="0" smtClean="0"/>
              <a:t>  hospital environment.</a:t>
            </a:r>
          </a:p>
          <a:p>
            <a:pPr marL="0" indent="0">
              <a:buNone/>
              <a:defRPr/>
            </a:pPr>
            <a:r>
              <a:rPr lang="en-US" sz="2800" dirty="0" smtClean="0"/>
              <a:t>	</a:t>
            </a:r>
            <a:endParaRPr lang="en-US" sz="2800" dirty="0"/>
          </a:p>
          <a:p>
            <a:pPr>
              <a:defRPr/>
            </a:pPr>
            <a:r>
              <a:rPr lang="en-US" sz="2800" b="1" dirty="0" smtClean="0"/>
              <a:t>Performance of all activities was very low.</a:t>
            </a:r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r>
              <a:rPr lang="en-US" sz="2800" b="1" dirty="0" smtClean="0"/>
              <a:t>Very limited support staff. </a:t>
            </a:r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r>
              <a:rPr lang="en-US" sz="2800" b="1" dirty="0" smtClean="0"/>
              <a:t>Receiving money from the patients by non-govt. staff.</a:t>
            </a:r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r>
              <a:rPr lang="en-US" sz="2800" b="1" dirty="0" smtClean="0"/>
              <a:t>Waste management system was poor.</a:t>
            </a:r>
          </a:p>
          <a:p>
            <a:pPr>
              <a:defRPr/>
            </a:pPr>
            <a:endParaRPr lang="en-US" sz="2800" b="1" dirty="0" smtClean="0"/>
          </a:p>
          <a:p>
            <a:pPr>
              <a:defRPr/>
            </a:pPr>
            <a:r>
              <a:rPr lang="en-US" sz="2800" b="1" dirty="0" smtClean="0"/>
              <a:t>Monitoring  </a:t>
            </a:r>
            <a:r>
              <a:rPr lang="en-US" sz="2800" b="1" dirty="0"/>
              <a:t>m</a:t>
            </a:r>
            <a:r>
              <a:rPr lang="en-US" sz="2800" b="1" dirty="0" smtClean="0"/>
              <a:t>eeting was not performed regularly</a:t>
            </a:r>
          </a:p>
          <a:p>
            <a:pPr>
              <a:defRPr/>
            </a:pPr>
            <a:endParaRPr lang="en-US" sz="28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2400" dirty="0" smtClean="0"/>
              <a:t>	</a:t>
            </a:r>
            <a:endParaRPr lang="en-US" sz="24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2400" dirty="0"/>
              <a:t> 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7302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2018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999202417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38917226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2018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4157755498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8515609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2018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7044464"/>
              </p:ext>
            </p:extLst>
          </p:nvPr>
        </p:nvGraphicFramePr>
        <p:xfrm>
          <a:off x="-94343" y="1905000"/>
          <a:ext cx="10152743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1067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2018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0888015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0336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56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7,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MP of Jhenaidah-2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14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12 , Mayor of Jhenaidah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Paurasava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5</a:t>
            </a:r>
            <a:r>
              <a:rPr lang="en-US" sz="2400" dirty="0" smtClean="0"/>
              <a:t>,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d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octors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 support 17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cleanliness, renovation of pediatric word and arrange a mayoral conference. 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generator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donated an inter-com, mayor donated a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biochemistry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analyzer.</a:t>
            </a: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26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8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199" y="3895725"/>
            <a:ext cx="4313237" cy="2914650"/>
          </a:xfrm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prstGeom prst="rect">
            <a:avLst/>
          </a:prstGeom>
          <a:noFill/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31" y="3886200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3505200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8362" y="3772089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396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257034" y="3899646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5224746" y="3922214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3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23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9" y="806427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DSC02418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806450"/>
            <a:ext cx="3616325" cy="2743200"/>
          </a:xfrm>
        </p:spPr>
      </p:pic>
      <p:pic>
        <p:nvPicPr>
          <p:cNvPr id="20483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18075" y="822325"/>
            <a:ext cx="3616325" cy="2711450"/>
          </a:xfrm>
        </p:spPr>
      </p:pic>
      <p:pic>
        <p:nvPicPr>
          <p:cNvPr id="20484" name="Picture 8" descr="DSC0240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0"/>
            <a:ext cx="361632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075" y="3825875"/>
            <a:ext cx="3616325" cy="271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Title 1"/>
          <p:cNvSpPr txBox="1">
            <a:spLocks/>
          </p:cNvSpPr>
          <p:nvPr/>
        </p:nvSpPr>
        <p:spPr bwMode="auto">
          <a:xfrm>
            <a:off x="533400" y="152400"/>
            <a:ext cx="8001000" cy="457200"/>
          </a:xfrm>
          <a:prstGeom prst="rect">
            <a:avLst/>
          </a:prstGeom>
          <a:solidFill>
            <a:srgbClr val="7030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>
                <a:solidFill>
                  <a:schemeClr val="bg1"/>
                </a:solidFill>
              </a:rPr>
              <a:t>Local Govt. (Paurashava) Participation</a:t>
            </a:r>
          </a:p>
        </p:txBody>
      </p:sp>
      <p:sp>
        <p:nvSpPr>
          <p:cNvPr id="20487" name="Right Arrow 8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20488" name="Right Arrow 9"/>
          <p:cNvSpPr>
            <a:spLocks noChangeArrowheads="1"/>
          </p:cNvSpPr>
          <p:nvPr/>
        </p:nvSpPr>
        <p:spPr bwMode="auto">
          <a:xfrm>
            <a:off x="429895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8441" name="Rectangle 10"/>
          <p:cNvSpPr>
            <a:spLocks noChangeArrowheads="1"/>
          </p:cNvSpPr>
          <p:nvPr/>
        </p:nvSpPr>
        <p:spPr bwMode="auto">
          <a:xfrm>
            <a:off x="609600" y="790575"/>
            <a:ext cx="915988" cy="36988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442" name="Rectangle 11"/>
          <p:cNvSpPr>
            <a:spLocks noChangeArrowheads="1"/>
          </p:cNvSpPr>
          <p:nvPr/>
        </p:nvSpPr>
        <p:spPr bwMode="auto">
          <a:xfrm>
            <a:off x="609600" y="3838575"/>
            <a:ext cx="915988" cy="36988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443" name="Rectangle 12"/>
          <p:cNvSpPr>
            <a:spLocks noChangeArrowheads="1"/>
          </p:cNvSpPr>
          <p:nvPr/>
        </p:nvSpPr>
        <p:spPr bwMode="auto">
          <a:xfrm>
            <a:off x="4943475" y="3824288"/>
            <a:ext cx="723900" cy="369887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444" name="Rectangle 13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0866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8186" y="4035426"/>
            <a:ext cx="4114800" cy="257175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3998913"/>
            <a:ext cx="4038600" cy="2625725"/>
          </a:xfrm>
          <a:noFill/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28186" y="4092576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800600" y="4035426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4191000" cy="2603500"/>
          </a:xfrm>
        </p:spPr>
      </p:pic>
      <p:pic>
        <p:nvPicPr>
          <p:cNvPr id="13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1" y="912125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810000"/>
            <a:ext cx="4127426" cy="2895600"/>
          </a:xfrm>
        </p:spPr>
      </p:pic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Rectangle 31"/>
          <p:cNvSpPr txBox="1">
            <a:spLocks noChangeArrowheads="1"/>
          </p:cNvSpPr>
          <p:nvPr/>
        </p:nvSpPr>
        <p:spPr bwMode="auto">
          <a:xfrm>
            <a:off x="5029200" y="1447799"/>
            <a:ext cx="3200400" cy="83820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sz="2400" dirty="0" smtClean="0">
                <a:solidFill>
                  <a:srgbClr val="1F497D">
                    <a:lumMod val="75000"/>
                  </a:srgbClr>
                </a:solidFill>
              </a:rPr>
              <a:t>Recovered Valuable </a:t>
            </a:r>
            <a:r>
              <a:rPr lang="en-US" sz="2400" dirty="0">
                <a:solidFill>
                  <a:srgbClr val="1F497D">
                    <a:lumMod val="75000"/>
                  </a:srgbClr>
                </a:solidFill>
              </a:rPr>
              <a:t>land after </a:t>
            </a:r>
            <a:r>
              <a:rPr lang="en-US" sz="2400" dirty="0" smtClean="0">
                <a:solidFill>
                  <a:srgbClr val="1F497D">
                    <a:lumMod val="75000"/>
                  </a:srgbClr>
                </a:solidFill>
              </a:rPr>
              <a:t>sixty years.</a:t>
            </a:r>
          </a:p>
        </p:txBody>
      </p:sp>
      <p:sp>
        <p:nvSpPr>
          <p:cNvPr id="9" name="Rectangle 31"/>
          <p:cNvSpPr txBox="1">
            <a:spLocks noChangeArrowheads="1"/>
          </p:cNvSpPr>
          <p:nvPr/>
        </p:nvSpPr>
        <p:spPr bwMode="auto">
          <a:xfrm>
            <a:off x="609600" y="4419601"/>
            <a:ext cx="3581400" cy="1219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Arranged get man to control crowed in ward by Community support</a:t>
            </a:r>
          </a:p>
        </p:txBody>
      </p:sp>
    </p:spTree>
    <p:extLst>
      <p:ext uri="{BB962C8B-B14F-4D97-AF65-F5344CB8AC3E}">
        <p14:creationId xmlns:p14="http://schemas.microsoft.com/office/powerpoint/2010/main" val="5514895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-152400"/>
            <a:ext cx="9144000" cy="1524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endParaRPr lang="en-US" altLang="ja-JP" sz="32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Achievements of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Sadar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</a:t>
            </a: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52316" y="1524000"/>
            <a:ext cx="9144000" cy="525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</a:t>
            </a:r>
            <a:r>
              <a:rPr lang="en-US" sz="2000" b="1" dirty="0" smtClean="0"/>
              <a:t>. Active </a:t>
            </a:r>
            <a:r>
              <a:rPr lang="en-US" sz="2000" b="1" dirty="0"/>
              <a:t>C</a:t>
            </a:r>
            <a:r>
              <a:rPr lang="en-US" sz="2000" b="1" dirty="0" smtClean="0"/>
              <a:t>ommunity Participation  is an example in Bangladesh.</a:t>
            </a:r>
          </a:p>
          <a:p>
            <a:pPr marL="0" algn="just">
              <a:defRPr/>
            </a:pPr>
            <a:r>
              <a:rPr lang="en-US" sz="2000" dirty="0" smtClean="0"/>
              <a:t> </a:t>
            </a:r>
          </a:p>
          <a:p>
            <a:pPr marL="0" algn="just">
              <a:defRPr/>
            </a:pPr>
            <a:r>
              <a:rPr lang="en-US" sz="2000" b="1" dirty="0" smtClean="0"/>
              <a:t>2. Improved   </a:t>
            </a:r>
            <a:r>
              <a:rPr lang="en-US" sz="2000" b="1" dirty="0"/>
              <a:t>p</a:t>
            </a:r>
            <a:r>
              <a:rPr lang="en-US" sz="2000" b="1" dirty="0" smtClean="0"/>
              <a:t>erformance  of all services.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>
              <a:defRPr/>
            </a:pPr>
            <a:r>
              <a:rPr lang="en-US" sz="2000" b="1" dirty="0" smtClean="0"/>
              <a:t>3</a:t>
            </a:r>
            <a:r>
              <a:rPr lang="en-US" sz="2000" b="1" dirty="0"/>
              <a:t>. Improved Cleanliness and </a:t>
            </a:r>
            <a:r>
              <a:rPr lang="en-US" sz="2000" b="1" dirty="0" smtClean="0"/>
              <a:t>Beautification of Campus.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4. </a:t>
            </a:r>
            <a:r>
              <a:rPr lang="en-US" sz="2000" b="1" dirty="0"/>
              <a:t>Functioning </a:t>
            </a:r>
            <a:r>
              <a:rPr lang="en-US" sz="2000" b="1" dirty="0" smtClean="0"/>
              <a:t>of X-Ray service and Biochemistry investigation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5. </a:t>
            </a:r>
            <a:r>
              <a:rPr lang="en-US" sz="2000" b="1" dirty="0"/>
              <a:t>Improved </a:t>
            </a:r>
            <a:r>
              <a:rPr lang="en-US" sz="2000" b="1" dirty="0" smtClean="0"/>
              <a:t> Security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6. </a:t>
            </a:r>
            <a:r>
              <a:rPr lang="en-US" sz="2000" b="1" dirty="0"/>
              <a:t>Improved Financial </a:t>
            </a:r>
            <a:r>
              <a:rPr lang="en-US" sz="2000" b="1" dirty="0" smtClean="0"/>
              <a:t>Management</a:t>
            </a:r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7. “Model  ” is replicating in 11 district  and  5  </a:t>
            </a:r>
            <a:r>
              <a:rPr lang="en-US" sz="2000" b="1" dirty="0" err="1" smtClean="0"/>
              <a:t>upazilla</a:t>
            </a:r>
            <a:r>
              <a:rPr lang="en-US" sz="2000" b="1" dirty="0" smtClean="0"/>
              <a:t>  hospital 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 smtClean="0"/>
              <a:t>8. </a:t>
            </a:r>
            <a:r>
              <a:rPr lang="en-US" sz="2000" b="1" dirty="0"/>
              <a:t>The hospital is </a:t>
            </a:r>
            <a:r>
              <a:rPr lang="en-US" sz="2000" b="1" dirty="0" smtClean="0"/>
              <a:t>awarded 7 </a:t>
            </a:r>
            <a:r>
              <a:rPr lang="en-US" sz="2000" b="1" dirty="0"/>
              <a:t>times from 2013 to </a:t>
            </a:r>
            <a:r>
              <a:rPr lang="en-US" sz="2000" b="1" dirty="0" smtClean="0"/>
              <a:t>2018.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85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-6824" y="-152400"/>
            <a:ext cx="9144000" cy="13716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Need to implement health related SDG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by 2030</a:t>
            </a:r>
            <a:endParaRPr lang="en-US" altLang="ja-JP" sz="40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228600" y="1752599"/>
            <a:ext cx="8458200" cy="46300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800" b="1" dirty="0" smtClean="0"/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01 M.A in every community clinic</a:t>
            </a: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10 bedded hospital with 2 doctors, 6 nurses          and paramedics in every union.</a:t>
            </a: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100 bedded hospital  In every </a:t>
            </a:r>
            <a:r>
              <a:rPr lang="en-US" sz="2800" b="1" dirty="0" err="1" smtClean="0">
                <a:solidFill>
                  <a:schemeClr val="tx2">
                    <a:lumMod val="75000"/>
                  </a:schemeClr>
                </a:solidFill>
              </a:rPr>
              <a:t>upazilla</a:t>
            </a: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500 bedded hospital in every district. </a:t>
            </a:r>
            <a:endParaRPr lang="en-US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525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32982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5119</TotalTime>
  <Words>1001</Words>
  <Application>Microsoft Office PowerPoint</Application>
  <PresentationFormat>On-screen Show (4:3)</PresentationFormat>
  <Paragraphs>314</Paragraphs>
  <Slides>34</Slides>
  <Notes>12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5_シック</vt:lpstr>
      <vt:lpstr>Office Theme</vt:lpstr>
      <vt:lpstr>Chart</vt:lpstr>
      <vt:lpstr>PowerPoint Presentation</vt:lpstr>
      <vt:lpstr>Background History of C-J Model</vt:lpstr>
      <vt:lpstr>নড়াইলের লোহাগড়া উপজেলায় ইউনিয়নওয়ারী জরীপে জনসম্পদের তথ্য</vt:lpstr>
      <vt:lpstr>PowerPoint Presentation</vt:lpstr>
      <vt:lpstr>PowerPoint Presentation</vt:lpstr>
      <vt:lpstr>PowerPoint Presentation</vt:lpstr>
      <vt:lpstr>A Sub-district level  Hospital with a Vision …</vt:lpstr>
      <vt:lpstr>PowerPoint Presentation</vt:lpstr>
      <vt:lpstr>Community supported volunteer working in ANC corner</vt:lpstr>
      <vt:lpstr>Achievement of Chowgacha Health Complex</vt:lpstr>
      <vt:lpstr>Upazila Health  Complex CHOWGACHA , JESSORE.</vt:lpstr>
      <vt:lpstr>Upazilla Health  Complex CHOWGACHA , JESSORE.</vt:lpstr>
      <vt:lpstr>PowerPoint Presentation</vt:lpstr>
      <vt:lpstr>PowerPoint Presentation</vt:lpstr>
      <vt:lpstr>PowerPoint Presentation</vt:lpstr>
      <vt:lpstr>100 kh¨v wewkó m`i nvmcvZvj, wSbvB`n</vt:lpstr>
      <vt:lpstr>Challenges of the hospital in 2012</vt:lpstr>
      <vt:lpstr>PowerPoint Presentation</vt:lpstr>
      <vt:lpstr>Emergency &amp; Out Door, Indoor  Service 1998 to 2018</vt:lpstr>
      <vt:lpstr>3 best performing EmOC Hospital in Khulna division - 2018</vt:lpstr>
      <vt:lpstr>  Comparative data of revenue income (in Taka) from 2015 to 2018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Hospital Environment</vt:lpstr>
      <vt:lpstr>PowerPoint Presentation</vt:lpstr>
      <vt:lpstr>PowerPoint Presentation</vt:lpstr>
      <vt:lpstr>Thank You 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652</cp:revision>
  <cp:lastPrinted>2017-03-18T23:47:54Z</cp:lastPrinted>
  <dcterms:created xsi:type="dcterms:W3CDTF">2013-05-05T09:56:19Z</dcterms:created>
  <dcterms:modified xsi:type="dcterms:W3CDTF">2019-02-19T02:27:30Z</dcterms:modified>
</cp:coreProperties>
</file>