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30"/>
  </p:notesMasterIdLst>
  <p:sldIdLst>
    <p:sldId id="331" r:id="rId2"/>
    <p:sldId id="483" r:id="rId3"/>
    <p:sldId id="435" r:id="rId4"/>
    <p:sldId id="471" r:id="rId5"/>
    <p:sldId id="452" r:id="rId6"/>
    <p:sldId id="458" r:id="rId7"/>
    <p:sldId id="478" r:id="rId8"/>
    <p:sldId id="482" r:id="rId9"/>
    <p:sldId id="476" r:id="rId10"/>
    <p:sldId id="465" r:id="rId11"/>
    <p:sldId id="467" r:id="rId12"/>
    <p:sldId id="472" r:id="rId13"/>
    <p:sldId id="470" r:id="rId14"/>
    <p:sldId id="473" r:id="rId15"/>
    <p:sldId id="486" r:id="rId16"/>
    <p:sldId id="469" r:id="rId17"/>
    <p:sldId id="487" r:id="rId18"/>
    <p:sldId id="256" r:id="rId19"/>
    <p:sldId id="460" r:id="rId20"/>
    <p:sldId id="485" r:id="rId21"/>
    <p:sldId id="474" r:id="rId22"/>
    <p:sldId id="475" r:id="rId23"/>
    <p:sldId id="484" r:id="rId24"/>
    <p:sldId id="326" r:id="rId25"/>
    <p:sldId id="351" r:id="rId26"/>
    <p:sldId id="330" r:id="rId27"/>
    <p:sldId id="419" r:id="rId28"/>
    <p:sldId id="413" r:id="rId2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33CC33"/>
    <a:srgbClr val="00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32" autoAdjust="0"/>
    <p:restoredTop sz="91815" autoAdjust="0"/>
  </p:normalViewPr>
  <p:slideViewPr>
    <p:cSldViewPr>
      <p:cViewPr>
        <p:scale>
          <a:sx n="66" d="100"/>
          <a:sy n="66" d="100"/>
        </p:scale>
        <p:origin x="-1746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467072"/>
        <c:axId val="166468608"/>
      </c:barChart>
      <c:catAx>
        <c:axId val="166467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6468608"/>
        <c:crosses val="autoZero"/>
        <c:auto val="1"/>
        <c:lblAlgn val="ctr"/>
        <c:lblOffset val="100"/>
        <c:noMultiLvlLbl val="0"/>
      </c:catAx>
      <c:valAx>
        <c:axId val="1664686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64670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5456896"/>
        <c:axId val="316270464"/>
      </c:barChart>
      <c:catAx>
        <c:axId val="315456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16270464"/>
        <c:crosses val="autoZero"/>
        <c:auto val="1"/>
        <c:lblAlgn val="ctr"/>
        <c:lblOffset val="100"/>
        <c:noMultiLvlLbl val="0"/>
      </c:catAx>
      <c:valAx>
        <c:axId val="3162704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154568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0060928"/>
        <c:axId val="330062464"/>
      </c:barChart>
      <c:catAx>
        <c:axId val="33006092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30062464"/>
        <c:crosses val="autoZero"/>
        <c:auto val="1"/>
        <c:lblAlgn val="ctr"/>
        <c:lblOffset val="100"/>
        <c:noMultiLvlLbl val="0"/>
      </c:catAx>
      <c:valAx>
        <c:axId val="3300624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3300609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4/9/2019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77E97B4-4284-4676-8E2A-9E73D57B32F9}" type="slidenum">
              <a:rPr lang="en-US">
                <a:solidFill>
                  <a:prstClr val="black"/>
                </a:solidFill>
              </a:rPr>
              <a:pPr eaLnBrk="1" hangingPunct="1"/>
              <a:t>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29F084F-E755-45B0-9C78-A8EFF1F57A07}" type="slidenum">
              <a:rPr lang="en-US" sz="1200" smtClean="0"/>
              <a:pPr eaLnBrk="1" hangingPunct="1"/>
              <a:t>8</a:t>
            </a:fld>
            <a:endParaRPr lang="en-US" sz="120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5411" y="698415"/>
            <a:ext cx="4919579" cy="3484431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335" y="4415141"/>
            <a:ext cx="5605731" cy="4182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45411" y="698415"/>
            <a:ext cx="4919579" cy="3484431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335" y="4415141"/>
            <a:ext cx="5605731" cy="41828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4/9/2019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2019/4/9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Model: A Social Movement of Health  Service Development.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National 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029" y="15965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429" y="17489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1"/>
            <a:ext cx="87630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In 1986, UHC is extended to nearby public library and opened 6 bedded indoor and started EPI, with the help of Upazilla </a:t>
            </a:r>
            <a:r>
              <a:rPr lang="en-US" sz="2400" b="1" dirty="0" err="1" smtClean="0"/>
              <a:t>Parishad</a:t>
            </a:r>
            <a:r>
              <a:rPr lang="en-US" sz="2400" b="1" dirty="0" smtClean="0"/>
              <a:t>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In 1994, health complex shifted to new 31 bedded hospital, with 6 bedded </a:t>
            </a:r>
            <a:r>
              <a:rPr lang="en-US" sz="2400" b="1" dirty="0" err="1" smtClean="0"/>
              <a:t>labour</a:t>
            </a:r>
            <a:r>
              <a:rPr lang="en-US" sz="2400" b="1" dirty="0" smtClean="0"/>
              <a:t> ward.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UHFPO opened 4 special activities headed by medical officers in Feb. 1996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u="sng" dirty="0"/>
              <a:t>F</a:t>
            </a:r>
            <a:r>
              <a:rPr lang="en-US" sz="2400" b="1" u="sng" dirty="0" smtClean="0"/>
              <a:t>rom January 1997 to 2000 </a:t>
            </a:r>
            <a:r>
              <a:rPr lang="en-US" sz="2400" b="1" u="sng" dirty="0" smtClean="0">
                <a:solidFill>
                  <a:srgbClr val="0000FF"/>
                </a:solidFill>
              </a:rPr>
              <a:t>JICA</a:t>
            </a:r>
            <a:r>
              <a:rPr lang="en-US" sz="2400" b="1" u="sng" dirty="0" smtClean="0"/>
              <a:t> assistance in Frontline </a:t>
            </a:r>
            <a:r>
              <a:rPr lang="en-US" sz="2400" b="1" u="sng" dirty="0"/>
              <a:t>MCH Program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2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&lt; Special activities&gt;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ANC-Corner</a:t>
            </a: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400" b="1" dirty="0" smtClean="0"/>
              <a:t>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Under 5 corner for under 5 children</a:t>
            </a: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Monthly birth and death record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152400" y="152400"/>
            <a:ext cx="8686800" cy="1077218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4000" b="1" dirty="0" smtClean="0"/>
              <a:t>Background History of Community Engagement C-J model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658634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0" y="2362200"/>
            <a:ext cx="8281987" cy="3124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82516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  in 1986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624219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90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নড়াইলের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লোহাগড়া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উপজেলায়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ইউনিয়নওয়ারী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জরীপে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জনসম্পদের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তথ্য</a:t>
            </a:r>
            <a:endParaRPr lang="en-GB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35880" y="-550121"/>
            <a:ext cx="5596041" cy="937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274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Emdad\Downloads\New Doc 2019-01-14 22.31.04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-17585"/>
            <a:ext cx="9372600" cy="687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95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42" name="Picture 2" descr="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638810" cy="900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795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2209800"/>
            <a:ext cx="6172200" cy="3886200"/>
          </a:xfrm>
        </p:spPr>
        <p:txBody>
          <a:bodyPr/>
          <a:lstStyle/>
          <a:p>
            <a:pPr eaLnBrk="1" hangingPunct="1"/>
            <a:endParaRPr lang="en-US" sz="4000" dirty="0" smtClean="0"/>
          </a:p>
          <a:p>
            <a:pPr eaLnBrk="1" hangingPunct="1"/>
            <a:endParaRPr lang="en-US" sz="4000" dirty="0"/>
          </a:p>
          <a:p>
            <a:pPr eaLnBrk="1" hangingPunct="1"/>
            <a:endParaRPr lang="en-US" sz="4000" dirty="0" smtClean="0"/>
          </a:p>
          <a:p>
            <a:pPr eaLnBrk="1" hangingPunct="1"/>
            <a:endParaRPr lang="en-US" dirty="0" smtClean="0"/>
          </a:p>
        </p:txBody>
      </p:sp>
      <p:pic>
        <p:nvPicPr>
          <p:cNvPr id="205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0480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12" descr="Picture 23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338388"/>
            <a:ext cx="5735637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143000" y="1235075"/>
            <a:ext cx="6553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 smtClean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400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UPAZILA  HEALTH  COMPLEX</a:t>
            </a: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400" b="1" dirty="0">
                <a:solidFill>
                  <a:srgbClr val="3366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Chowgacha, Jessore.</a:t>
            </a:r>
          </a:p>
        </p:txBody>
      </p:sp>
    </p:spTree>
    <p:extLst>
      <p:ext uri="{BB962C8B-B14F-4D97-AF65-F5344CB8AC3E}">
        <p14:creationId xmlns:p14="http://schemas.microsoft.com/office/powerpoint/2010/main" val="214325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 descr="C:\Users\Emdad\Downloads\New Doc 2019-01-14 22.44.19_1 (1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295401" y="-1066800"/>
            <a:ext cx="6400799" cy="899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61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4000" b="1" smtClean="0">
                <a:solidFill>
                  <a:srgbClr val="FF0066"/>
                </a:solidFill>
              </a:rPr>
              <a:t>Upazila Health  Complex</a:t>
            </a:r>
            <a:br>
              <a:rPr lang="en-US" sz="4000" b="1" smtClean="0">
                <a:solidFill>
                  <a:srgbClr val="FF0066"/>
                </a:solidFill>
              </a:rPr>
            </a:br>
            <a:r>
              <a:rPr lang="en-US" sz="2800" b="1" smtClean="0">
                <a:solidFill>
                  <a:srgbClr val="FF0066"/>
                </a:solidFill>
              </a:rPr>
              <a:t>CHOWGACHA , JESSORE.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graphicFrame>
        <p:nvGraphicFramePr>
          <p:cNvPr id="27652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6200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6200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3279204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4000" b="1" smtClean="0">
                <a:solidFill>
                  <a:srgbClr val="FF0066"/>
                </a:solidFill>
              </a:rPr>
              <a:t>Upazila Health  Complex</a:t>
            </a:r>
            <a:br>
              <a:rPr lang="en-US" sz="4000" b="1" smtClean="0">
                <a:solidFill>
                  <a:srgbClr val="FF0066"/>
                </a:solidFill>
              </a:rPr>
            </a:br>
            <a:r>
              <a:rPr lang="en-US" sz="2800" b="1" smtClean="0">
                <a:solidFill>
                  <a:srgbClr val="FF0066"/>
                </a:solidFill>
              </a:rPr>
              <a:t>CHOWGACHA , JESSORE.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smtClean="0">
              <a:solidFill>
                <a:srgbClr val="FF0066"/>
              </a:solidFill>
            </a:endParaRPr>
          </a:p>
        </p:txBody>
      </p:sp>
      <p:graphicFrame>
        <p:nvGraphicFramePr>
          <p:cNvPr id="28676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3018808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5275"/>
            <a:ext cx="8229600" cy="771525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422400"/>
            <a:ext cx="81534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ACTVITIES : ( Vision By The Year 2010) 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381000" y="2095500"/>
          <a:ext cx="8305800" cy="4218432"/>
        </p:xfrm>
        <a:graphic>
          <a:graphicData uri="http://schemas.openxmlformats.org/drawingml/2006/table">
            <a:tbl>
              <a:tblPr/>
              <a:tblGrid>
                <a:gridCol w="457200"/>
                <a:gridCol w="2057400"/>
                <a:gridCol w="609600"/>
                <a:gridCol w="596900"/>
                <a:gridCol w="641350"/>
                <a:gridCol w="641350"/>
                <a:gridCol w="641350"/>
                <a:gridCol w="641350"/>
                <a:gridCol w="641350"/>
                <a:gridCol w="601663"/>
                <a:gridCol w="776287"/>
              </a:tblGrid>
              <a:tr h="4064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133.7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81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.42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20.6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22.7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98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10896510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61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574183"/>
              </p:ext>
            </p:extLst>
          </p:nvPr>
        </p:nvGraphicFramePr>
        <p:xfrm>
          <a:off x="380997" y="759889"/>
          <a:ext cx="8534403" cy="6000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057"/>
                <a:gridCol w="685800"/>
                <a:gridCol w="990600"/>
                <a:gridCol w="838200"/>
                <a:gridCol w="914400"/>
                <a:gridCol w="838200"/>
                <a:gridCol w="914400"/>
                <a:gridCol w="838200"/>
                <a:gridCol w="805546"/>
              </a:tblGrid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400" dirty="0">
                          <a:effectLst/>
                        </a:rPr>
                        <a:t>Subject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2003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Bed Occupancy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ANC (First Visit)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817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24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1228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2861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4484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132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7292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170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8935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130 (6632)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50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Hospital Delivery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151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6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4</a:t>
                      </a:r>
                      <a:r>
                        <a:rPr lang="en-GB" sz="1400" dirty="0">
                          <a:effectLst/>
                        </a:rPr>
                        <a:t> (</a:t>
                      </a:r>
                      <a:r>
                        <a:rPr lang="bn-IN" sz="1400" dirty="0">
                          <a:effectLst/>
                        </a:rPr>
                        <a:t>422</a:t>
                      </a:r>
                      <a:r>
                        <a:rPr lang="en-GB" sz="1400" dirty="0">
                          <a:effectLst/>
                        </a:rPr>
                        <a:t>)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661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1899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4413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66 (</a:t>
                      </a:r>
                      <a:r>
                        <a:rPr lang="bn-IN" sz="1400">
                          <a:effectLst/>
                        </a:rPr>
                        <a:t>2932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7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C-Section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02</a:t>
                      </a:r>
                      <a:r>
                        <a:rPr lang="en-GB" sz="1400">
                          <a:effectLst/>
                        </a:rPr>
                        <a:t>      (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07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473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1107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19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Population Increase rate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1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57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84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Maternal Mortality </a:t>
                      </a:r>
                      <a:r>
                        <a:rPr lang="en-GB" sz="1400" dirty="0" smtClean="0">
                          <a:effectLst/>
                        </a:rPr>
                        <a:t>Ratio/100,000 </a:t>
                      </a:r>
                      <a:r>
                        <a:rPr lang="en-GB" sz="1400" dirty="0">
                          <a:effectLst/>
                        </a:rPr>
                        <a:t>live birth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114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370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Neonatal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47</a:t>
                      </a:r>
                      <a:r>
                        <a:rPr lang="en-GB" sz="1400">
                          <a:effectLst/>
                        </a:rPr>
                        <a:t> 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23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16.6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Infant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18.6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48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Under 5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21.1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69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 birth weight rate(%)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288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636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72225"/>
            <a:ext cx="8382000" cy="35394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16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10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2345" y="0"/>
            <a:ext cx="9095107" cy="106914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smtClean="0"/>
              <a:t>Development of Chowgacha Upazilla by Divine Group</a:t>
            </a:r>
            <a:endParaRPr lang="en-US" sz="3600" b="1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32" y="4038600"/>
            <a:ext cx="40767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4000500"/>
            <a:ext cx="42672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1069143"/>
            <a:ext cx="4334365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142999"/>
            <a:ext cx="4076700" cy="2667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559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2345" y="0"/>
            <a:ext cx="9095107" cy="106914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smtClean="0"/>
              <a:t>Development of Chowgacha Upazilla by Divine Group</a:t>
            </a:r>
            <a:endParaRPr lang="en-US" sz="3600" b="1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32" y="4038600"/>
            <a:ext cx="40767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4000500"/>
            <a:ext cx="42672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1069143"/>
            <a:ext cx="4334365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142999"/>
            <a:ext cx="4076700" cy="2667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6569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098" name="Picture 2" descr="C:\Users\Emdad\Downloads\New Doc 2019-01-14 22.44.19_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85802" y="-1585685"/>
            <a:ext cx="6858000" cy="1005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5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11200" b="1" i="1" dirty="0" smtClean="0"/>
              <a:t>In secured</a:t>
            </a:r>
            <a:r>
              <a:rPr lang="en-US" sz="112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11200" dirty="0" smtClean="0"/>
              <a:t>	</a:t>
            </a:r>
            <a:endParaRPr lang="en-US" sz="11200" dirty="0"/>
          </a:p>
          <a:p>
            <a:pPr>
              <a:defRPr/>
            </a:pPr>
            <a:r>
              <a:rPr lang="en-US" sz="11200" b="1" dirty="0" smtClean="0"/>
              <a:t>Performance of all activities was very low.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Very limited support staff. 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Receiving money from the patients by non-govt. staff.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Waste management system was poor.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Monitoring  </a:t>
            </a:r>
            <a:r>
              <a:rPr lang="en-US" sz="11200" b="1" dirty="0"/>
              <a:t>m</a:t>
            </a:r>
            <a:r>
              <a:rPr lang="en-US" sz="11200" b="1" dirty="0" smtClean="0"/>
              <a:t>eeting was not performed regularly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6803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1783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21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997504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18601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88537379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31209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Jhenaidah </a:t>
            </a:r>
            <a:r>
              <a:rPr lang="en-US" altLang="ja-JP" sz="36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990600"/>
            <a:ext cx="9144000" cy="5791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Sunset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endParaRPr lang="en-US" sz="6000" dirty="0" smtClean="0">
              <a:solidFill>
                <a:srgbClr val="FF0066"/>
              </a:solidFill>
              <a:latin typeface="Albertus Extra Bold"/>
            </a:endParaRPr>
          </a:p>
          <a:p>
            <a:pPr algn="ctr" eaLnBrk="1" hangingPunct="1">
              <a:buFontTx/>
              <a:buNone/>
            </a:pPr>
            <a:r>
              <a:rPr lang="en-US" sz="6000" dirty="0" smtClean="0">
                <a:solidFill>
                  <a:srgbClr val="FF0066"/>
                </a:solidFill>
                <a:latin typeface="Albertus Extra Bold"/>
              </a:rPr>
              <a:t>   </a:t>
            </a:r>
          </a:p>
          <a:p>
            <a:pPr algn="ctr" eaLnBrk="1" hangingPunct="1">
              <a:buFontTx/>
              <a:buNone/>
            </a:pPr>
            <a:r>
              <a:rPr lang="en-US" sz="6000" dirty="0" smtClean="0">
                <a:solidFill>
                  <a:schemeClr val="bg1"/>
                </a:solidFill>
                <a:latin typeface="Albertus Extra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5827</TotalTime>
  <Words>1131</Words>
  <Application>Microsoft Office PowerPoint</Application>
  <PresentationFormat>On-screen Show (4:3)</PresentationFormat>
  <Paragraphs>424</Paragraphs>
  <Slides>28</Slides>
  <Notes>11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নড়াইলের লোহাগড়া উপজেলায় ইউনিয়নওয়ারী জরীপে জনসম্পদের তথ্য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MDG 4 and 5 Achieved at Chowgacha in 2009</vt:lpstr>
      <vt:lpstr>Upazila Health  Complex CHOWGACHA , JESSORE.</vt:lpstr>
      <vt:lpstr>PowerPoint Presentation</vt:lpstr>
      <vt:lpstr>PowerPoint Presentation</vt:lpstr>
      <vt:lpstr>PowerPoint Presentation</vt:lpstr>
      <vt:lpstr>100 kh¨v wewkó m`i nvmcvZvj, wSbvB`n</vt:lpstr>
      <vt:lpstr>PowerPoint Presentation</vt:lpstr>
      <vt:lpstr>Challenges of the hospital in 2012</vt:lpstr>
      <vt:lpstr>Health ,Nutrition and population targets for the 7th FYP</vt:lpstr>
      <vt:lpstr>Health ,Nutrition and population targets for the 7th FYP</vt:lpstr>
      <vt:lpstr>Emergency &amp; Out Door, Indoor  Service 1998 to 2017</vt:lpstr>
      <vt:lpstr>PowerPoint Presentation</vt:lpstr>
      <vt:lpstr>3 best performing EmOC Hospital in Khulna division - 2017</vt:lpstr>
      <vt:lpstr>PowerPoint Presentation</vt:lpstr>
      <vt:lpstr>Hospital Environment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718</cp:revision>
  <cp:lastPrinted>2017-03-18T23:47:54Z</cp:lastPrinted>
  <dcterms:created xsi:type="dcterms:W3CDTF">2013-05-05T09:56:19Z</dcterms:created>
  <dcterms:modified xsi:type="dcterms:W3CDTF">2019-04-09T10:05:29Z</dcterms:modified>
</cp:coreProperties>
</file>