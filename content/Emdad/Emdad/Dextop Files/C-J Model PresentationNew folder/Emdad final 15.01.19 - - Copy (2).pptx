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909" r:id="rId1"/>
  </p:sldMasterIdLst>
  <p:notesMasterIdLst>
    <p:notesMasterId r:id="rId45"/>
  </p:notesMasterIdLst>
  <p:sldIdLst>
    <p:sldId id="331" r:id="rId2"/>
    <p:sldId id="495" r:id="rId3"/>
    <p:sldId id="481" r:id="rId4"/>
    <p:sldId id="479" r:id="rId5"/>
    <p:sldId id="480" r:id="rId6"/>
    <p:sldId id="482" r:id="rId7"/>
    <p:sldId id="483" r:id="rId8"/>
    <p:sldId id="467" r:id="rId9"/>
    <p:sldId id="437" r:id="rId10"/>
    <p:sldId id="439" r:id="rId11"/>
    <p:sldId id="491" r:id="rId12"/>
    <p:sldId id="492" r:id="rId13"/>
    <p:sldId id="468" r:id="rId14"/>
    <p:sldId id="341" r:id="rId15"/>
    <p:sldId id="426" r:id="rId16"/>
    <p:sldId id="420" r:id="rId17"/>
    <p:sldId id="504" r:id="rId18"/>
    <p:sldId id="485" r:id="rId19"/>
    <p:sldId id="469" r:id="rId20"/>
    <p:sldId id="497" r:id="rId21"/>
    <p:sldId id="498" r:id="rId22"/>
    <p:sldId id="256" r:id="rId23"/>
    <p:sldId id="493" r:id="rId24"/>
    <p:sldId id="403" r:id="rId25"/>
    <p:sldId id="501" r:id="rId26"/>
    <p:sldId id="457" r:id="rId27"/>
    <p:sldId id="291" r:id="rId28"/>
    <p:sldId id="450" r:id="rId29"/>
    <p:sldId id="490" r:id="rId30"/>
    <p:sldId id="487" r:id="rId31"/>
    <p:sldId id="489" r:id="rId32"/>
    <p:sldId id="503" r:id="rId33"/>
    <p:sldId id="502" r:id="rId34"/>
    <p:sldId id="470" r:id="rId35"/>
    <p:sldId id="458" r:id="rId36"/>
    <p:sldId id="459" r:id="rId37"/>
    <p:sldId id="460" r:id="rId38"/>
    <p:sldId id="462" r:id="rId39"/>
    <p:sldId id="461" r:id="rId40"/>
    <p:sldId id="494" r:id="rId41"/>
    <p:sldId id="499" r:id="rId42"/>
    <p:sldId id="419" r:id="rId43"/>
    <p:sldId id="413" r:id="rId44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FF99"/>
    <a:srgbClr val="33CC33"/>
    <a:srgbClr val="00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88790" autoAdjust="0"/>
  </p:normalViewPr>
  <p:slideViewPr>
    <p:cSldViewPr>
      <p:cViewPr>
        <p:scale>
          <a:sx n="66" d="100"/>
          <a:sy n="66" d="100"/>
        </p:scale>
        <p:origin x="-1734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0991379310344827"/>
          <c:y val="8.1784386617100371E-2"/>
          <c:w val="0.81681034482758619"/>
          <c:h val="0.736059479553903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rgbClr val="9999FF"/>
            </a:solidFill>
            <a:ln w="20937">
              <a:solidFill>
                <a:srgbClr val="000000"/>
              </a:solidFill>
              <a:prstDash val="solid"/>
            </a:ln>
          </c:spPr>
          <c:invertIfNegative val="0"/>
          <c:dLbls>
            <c:spPr>
              <a:noFill/>
              <a:ln w="41874">
                <a:noFill/>
              </a:ln>
            </c:spPr>
            <c:txPr>
              <a:bodyPr/>
              <a:lstStyle/>
              <a:p>
                <a:pPr>
                  <a:defRPr sz="1566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Sheet1!$B$1:$O$1</c:f>
              <c:numCache>
                <c:formatCode>General</c:formatCode>
                <c:ptCount val="14"/>
                <c:pt idx="0">
                  <c:v>1997</c:v>
                </c:pt>
                <c:pt idx="1">
                  <c:v>1999</c:v>
                </c:pt>
                <c:pt idx="2">
                  <c:v>2000</c:v>
                </c:pt>
                <c:pt idx="3">
                  <c:v>2003</c:v>
                </c:pt>
                <c:pt idx="4">
                  <c:v>2005</c:v>
                </c:pt>
                <c:pt idx="5">
                  <c:v>2007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2014</c:v>
                </c:pt>
                <c:pt idx="10">
                  <c:v>2016</c:v>
                </c:pt>
                <c:pt idx="11">
                  <c:v>2017</c:v>
                </c:pt>
              </c:numCache>
            </c:numRef>
          </c:cat>
          <c:val>
            <c:numRef>
              <c:f>Sheet1!$B$2:$O$2</c:f>
              <c:numCache>
                <c:formatCode>General</c:formatCode>
                <c:ptCount val="14"/>
                <c:pt idx="0">
                  <c:v>151</c:v>
                </c:pt>
                <c:pt idx="1">
                  <c:v>228</c:v>
                </c:pt>
                <c:pt idx="2">
                  <c:v>312</c:v>
                </c:pt>
                <c:pt idx="3">
                  <c:v>661</c:v>
                </c:pt>
                <c:pt idx="4">
                  <c:v>1293</c:v>
                </c:pt>
                <c:pt idx="5">
                  <c:v>1899</c:v>
                </c:pt>
                <c:pt idx="6">
                  <c:v>3755</c:v>
                </c:pt>
                <c:pt idx="7">
                  <c:v>4413</c:v>
                </c:pt>
                <c:pt idx="8">
                  <c:v>3508</c:v>
                </c:pt>
                <c:pt idx="9">
                  <c:v>3422</c:v>
                </c:pt>
                <c:pt idx="10">
                  <c:v>3003</c:v>
                </c:pt>
                <c:pt idx="11">
                  <c:v>2898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55205760"/>
        <c:axId val="255208832"/>
      </c:barChart>
      <c:catAx>
        <c:axId val="2552057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5234">
            <a:solidFill>
              <a:srgbClr val="000000"/>
            </a:solidFill>
            <a:prstDash val="solid"/>
          </a:ln>
        </c:spPr>
        <c:txPr>
          <a:bodyPr rot="-5400000" vert="horz"/>
          <a:lstStyle/>
          <a:p>
            <a:pPr>
              <a:defRPr sz="1566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55208832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55208832"/>
        <c:scaling>
          <c:orientation val="minMax"/>
        </c:scaling>
        <c:delete val="0"/>
        <c:axPos val="l"/>
        <c:majorGridlines>
          <c:spPr>
            <a:ln w="5234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5234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566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55205760"/>
        <c:crosses val="autoZero"/>
        <c:crossBetween val="between"/>
      </c:valAx>
      <c:spPr>
        <a:solidFill>
          <a:srgbClr val="C0C0C0"/>
        </a:solidFill>
        <a:ln w="20937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94827586206896552"/>
          <c:y val="0.40892193308550184"/>
          <c:w val="4.3103448275862072E-2"/>
          <c:h val="7.8066914498141265E-2"/>
        </c:manualLayout>
      </c:layout>
      <c:overlay val="0"/>
      <c:spPr>
        <a:solidFill>
          <a:srgbClr val="FFFFFF"/>
        </a:solidFill>
        <a:ln w="5234">
          <a:solidFill>
            <a:srgbClr val="000000"/>
          </a:solidFill>
          <a:prstDash val="solid"/>
        </a:ln>
      </c:spPr>
      <c:txPr>
        <a:bodyPr/>
        <a:lstStyle/>
        <a:p>
          <a:pPr>
            <a:defRPr sz="1434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5234">
      <a:solidFill>
        <a:srgbClr val="000000"/>
      </a:solidFill>
      <a:prstDash val="solid"/>
    </a:ln>
  </c:spPr>
  <c:txPr>
    <a:bodyPr/>
    <a:lstStyle/>
    <a:p>
      <a:pPr>
        <a:defRPr sz="1566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0991379310344827"/>
          <c:y val="8.1784386617100371E-2"/>
          <c:w val="0.81681034482758619"/>
          <c:h val="0.7137546468401486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</c:strCache>
            </c:strRef>
          </c:tx>
          <c:spPr>
            <a:solidFill>
              <a:srgbClr val="9999FF"/>
            </a:solidFill>
            <a:ln w="18661">
              <a:solidFill>
                <a:srgbClr val="000000"/>
              </a:solidFill>
              <a:prstDash val="solid"/>
            </a:ln>
          </c:spPr>
          <c:invertIfNegative val="0"/>
          <c:dLbls>
            <c:spPr>
              <a:noFill/>
              <a:ln w="37321">
                <a:noFill/>
              </a:ln>
            </c:spPr>
            <c:txPr>
              <a:bodyPr/>
              <a:lstStyle/>
              <a:p>
                <a:pPr>
                  <a:defRPr sz="1396" b="0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Sheet1!$B$1:$S$1</c:f>
              <c:numCache>
                <c:formatCode>General</c:formatCode>
                <c:ptCount val="18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</c:numCache>
            </c:numRef>
          </c:cat>
          <c:val>
            <c:numRef>
              <c:f>Sheet1!$B$2:$S$2</c:f>
              <c:numCache>
                <c:formatCode>General</c:formatCode>
                <c:ptCount val="18"/>
                <c:pt idx="0">
                  <c:v>3</c:v>
                </c:pt>
                <c:pt idx="1">
                  <c:v>11</c:v>
                </c:pt>
                <c:pt idx="2">
                  <c:v>26</c:v>
                </c:pt>
                <c:pt idx="3">
                  <c:v>36</c:v>
                </c:pt>
                <c:pt idx="4">
                  <c:v>184</c:v>
                </c:pt>
                <c:pt idx="5">
                  <c:v>310</c:v>
                </c:pt>
                <c:pt idx="6">
                  <c:v>363</c:v>
                </c:pt>
                <c:pt idx="7">
                  <c:v>473</c:v>
                </c:pt>
                <c:pt idx="8">
                  <c:v>567</c:v>
                </c:pt>
                <c:pt idx="9">
                  <c:v>842</c:v>
                </c:pt>
                <c:pt idx="10">
                  <c:v>962</c:v>
                </c:pt>
                <c:pt idx="11">
                  <c:v>1007</c:v>
                </c:pt>
                <c:pt idx="12">
                  <c:v>785</c:v>
                </c:pt>
                <c:pt idx="13">
                  <c:v>900</c:v>
                </c:pt>
                <c:pt idx="14">
                  <c:v>979</c:v>
                </c:pt>
                <c:pt idx="15">
                  <c:v>1035</c:v>
                </c:pt>
                <c:pt idx="16">
                  <c:v>727</c:v>
                </c:pt>
                <c:pt idx="17">
                  <c:v>759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29742336"/>
        <c:axId val="222519680"/>
      </c:barChart>
      <c:catAx>
        <c:axId val="1297423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4665">
            <a:solidFill>
              <a:srgbClr val="000000"/>
            </a:solidFill>
            <a:prstDash val="solid"/>
          </a:ln>
        </c:spPr>
        <c:txPr>
          <a:bodyPr rot="-2700000" vert="horz"/>
          <a:lstStyle/>
          <a:p>
            <a:pPr>
              <a:defRPr sz="1396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2251968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222519680"/>
        <c:scaling>
          <c:orientation val="minMax"/>
        </c:scaling>
        <c:delete val="0"/>
        <c:axPos val="l"/>
        <c:majorGridlines>
          <c:spPr>
            <a:ln w="4665">
              <a:solidFill>
                <a:srgbClr val="00000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w="466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396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29742336"/>
        <c:crosses val="autoZero"/>
        <c:crossBetween val="between"/>
      </c:valAx>
      <c:spPr>
        <a:solidFill>
          <a:srgbClr val="C0C0C0"/>
        </a:solidFill>
        <a:ln w="18661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94827586206896552"/>
          <c:y val="0.39776951672862454"/>
          <c:w val="4.3103448275862072E-2"/>
          <c:h val="7.8066914498141265E-2"/>
        </c:manualLayout>
      </c:layout>
      <c:overlay val="0"/>
      <c:spPr>
        <a:solidFill>
          <a:srgbClr val="FFFFFF"/>
        </a:solidFill>
        <a:ln w="4665">
          <a:solidFill>
            <a:srgbClr val="000000"/>
          </a:solidFill>
          <a:prstDash val="solid"/>
        </a:ln>
      </c:spPr>
      <c:txPr>
        <a:bodyPr/>
        <a:lstStyle/>
        <a:p>
          <a:pPr>
            <a:defRPr sz="1278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FFFFFF"/>
    </a:solidFill>
    <a:ln w="4665">
      <a:solidFill>
        <a:srgbClr val="000000"/>
      </a:solidFill>
      <a:prstDash val="solid"/>
    </a:ln>
  </c:spPr>
  <c:txPr>
    <a:bodyPr/>
    <a:lstStyle/>
    <a:p>
      <a:pPr>
        <a:defRPr sz="1396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5254528"/>
        <c:axId val="255256064"/>
      </c:barChart>
      <c:catAx>
        <c:axId val="2552545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5256064"/>
        <c:crosses val="autoZero"/>
        <c:auto val="1"/>
        <c:lblAlgn val="ctr"/>
        <c:lblOffset val="100"/>
        <c:noMultiLvlLbl val="0"/>
      </c:catAx>
      <c:valAx>
        <c:axId val="2552560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552545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  <c:pt idx="7">
                  <c:v>384928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  <c:pt idx="7">
                  <c:v>37096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55152512"/>
        <c:axId val="255154048"/>
      </c:barChart>
      <c:catAx>
        <c:axId val="2551525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5154048"/>
        <c:crosses val="autoZero"/>
        <c:auto val="1"/>
        <c:lblAlgn val="ctr"/>
        <c:lblOffset val="100"/>
        <c:noMultiLvlLbl val="0"/>
      </c:catAx>
      <c:valAx>
        <c:axId val="2551540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5515251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8698880"/>
        <c:axId val="178717056"/>
      </c:barChart>
      <c:catAx>
        <c:axId val="178698880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78717056"/>
        <c:crosses val="autoZero"/>
        <c:auto val="1"/>
        <c:lblAlgn val="ctr"/>
        <c:lblOffset val="100"/>
        <c:noMultiLvlLbl val="0"/>
      </c:catAx>
      <c:valAx>
        <c:axId val="17871705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7869888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1"/>
          <c:y val="5.0614472425046991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3E-3"/>
                  <c:y val="-5.577249645360904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28E-3"/>
                  <c:y val="-4.439834707345655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7E-3"/>
                  <c:y val="-4.26781932937234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29E-3"/>
                  <c:y val="-5.22004070639995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75E-3"/>
                  <c:y val="-3.440677617647663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221008256"/>
        <c:axId val="221009792"/>
        <c:axId val="0"/>
      </c:bar3DChart>
      <c:catAx>
        <c:axId val="2210082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1009792"/>
        <c:crosses val="autoZero"/>
        <c:auto val="1"/>
        <c:lblAlgn val="ctr"/>
        <c:lblOffset val="100"/>
        <c:noMultiLvlLbl val="0"/>
      </c:catAx>
      <c:valAx>
        <c:axId val="2210097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100825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11/20/2019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77E97B4-4284-4676-8E2A-9E73D57B32F9}" type="slidenum">
              <a:rPr lang="en-US">
                <a:solidFill>
                  <a:prstClr val="black"/>
                </a:solidFill>
              </a:rPr>
              <a:pPr eaLnBrk="1" hangingPunct="1"/>
              <a:t>9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E340A284-45EA-4A92-A67B-3067C6E40EA9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8500"/>
            <a:ext cx="4645025" cy="3484563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F21FC-2469-4510-B52A-1E80B6F41DF7}" type="slidenum">
              <a:rPr lang="bn-BD" smtClean="0"/>
              <a:pPr/>
              <a:t>17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59689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19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177E97B4-4284-4676-8E2A-9E73D57B32F9}" type="slidenum">
              <a:rPr lang="en-US">
                <a:solidFill>
                  <a:prstClr val="black"/>
                </a:solidFill>
              </a:rPr>
              <a:pPr eaLnBrk="1" hangingPunct="1"/>
              <a:t>23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740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34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39</a:t>
            </a:fld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40</a:t>
            </a:fld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41</a:t>
            </a:fld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43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11/20/2019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2019/11/20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6.jpe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8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jpeg"/><Relationship Id="rId4" Type="http://schemas.openxmlformats.org/officeDocument/2006/relationships/image" Target="../media/image6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– Jhenaidah </a:t>
            </a:r>
            <a:r>
              <a:rPr lang="bn-BD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Community Engazed Health Management</a:t>
            </a:r>
            <a:r>
              <a:rPr lang="en-US" sz="3200" b="1" dirty="0" smtClean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Model  </a:t>
            </a:r>
            <a:endParaRPr lang="en-US" sz="3200" b="1" dirty="0">
              <a:solidFill>
                <a:schemeClr val="bg1">
                  <a:lumMod val="95000"/>
                </a:schemeClr>
              </a:solidFill>
              <a:latin typeface="Book Antiqua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19600" y="5215957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  <a:endParaRPr lang="en-US" sz="2000" dirty="0">
              <a:solidFill>
                <a:srgbClr val="00206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2029" y="1596571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98" y="1600200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5B21C29-90F7-462A-A9E9-C39ED42AFF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8" r="5" b="5159"/>
          <a:stretch/>
        </p:blipFill>
        <p:spPr>
          <a:xfrm>
            <a:off x="518726" y="4946876"/>
            <a:ext cx="1819434" cy="167693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787280"/>
              </p:ext>
            </p:extLst>
          </p:nvPr>
        </p:nvGraphicFramePr>
        <p:xfrm>
          <a:off x="148988" y="990600"/>
          <a:ext cx="8894764" cy="439221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07670"/>
                <a:gridCol w="1757942"/>
                <a:gridCol w="1512798"/>
                <a:gridCol w="1313718"/>
                <a:gridCol w="1248032"/>
                <a:gridCol w="1227302"/>
                <a:gridCol w="1227302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 %</a:t>
                      </a:r>
                    </a:p>
                  </a:txBody>
                  <a:tcPr marL="68580" marR="68580"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11.08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14.79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36.67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38.43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65.06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60.41</a:t>
                      </a:r>
                    </a:p>
                  </a:txBody>
                  <a:tcPr marL="68580" marR="68580"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66.40</a:t>
                      </a:r>
                    </a:p>
                  </a:txBody>
                  <a:tcPr marL="68580" marR="68580"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67.00</a:t>
                      </a: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</a:t>
            </a:r>
            <a:r>
              <a:rPr lang="en-US" sz="2000" dirty="0" smtClean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2018</a:t>
            </a:r>
            <a:endParaRPr lang="en-US" sz="2000" dirty="0">
              <a:solidFill>
                <a:srgbClr val="000000"/>
              </a:solidFill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9775042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0" y="2362200"/>
            <a:ext cx="8281987" cy="312420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58941" y="5638800"/>
            <a:ext cx="8251659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  in 1986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6426861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নড়াইলের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লোহাগড়া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উপজেলায়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ইউনিয়নওয়ারী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জরীপে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জনসম্পদের</a:t>
            </a:r>
            <a:r>
              <a:rPr lang="en-GB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dirty="0" err="1" smtClean="0">
                <a:latin typeface="SolaimanLipi" pitchFamily="65" charset="0"/>
                <a:cs typeface="SolaimanLipi" pitchFamily="65" charset="0"/>
              </a:rPr>
              <a:t>তথ্য</a:t>
            </a:r>
            <a:endParaRPr lang="en-GB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 descr="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735880" y="-550121"/>
            <a:ext cx="5596041" cy="937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498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80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C:\Users\Emdad\Downloads\New Doc 2019-01-14 22.31.04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8600" y="-17585"/>
            <a:ext cx="9372600" cy="6875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7294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484906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</a:t>
            </a:r>
            <a:r>
              <a:rPr lang="en-US" sz="3600" b="1" dirty="0" smtClean="0"/>
              <a:t> </a:t>
            </a:r>
            <a:r>
              <a:rPr lang="en-US" sz="3600" b="1" dirty="0"/>
              <a:t>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</a:t>
            </a:r>
            <a:r>
              <a:rPr lang="en-US" sz="1600" b="1" dirty="0" smtClean="0"/>
              <a:t>sincerity.</a:t>
            </a:r>
            <a:endParaRPr lang="en-US" sz="1600" b="1" dirty="0"/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</a:t>
            </a:r>
            <a:r>
              <a:rPr lang="en-US" sz="1600" b="1" dirty="0" smtClean="0"/>
              <a:t> </a:t>
            </a:r>
            <a:r>
              <a:rPr lang="en-US" sz="1600" b="1" dirty="0"/>
              <a:t>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</a:t>
            </a:r>
            <a:r>
              <a:rPr lang="en-US" sz="1600" b="1" dirty="0" smtClean="0"/>
              <a:t>system.</a:t>
            </a:r>
            <a:endParaRPr lang="en-US" sz="1600" b="1" dirty="0"/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47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1"/>
            <a:ext cx="8763000" cy="5029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In 1986, UHC is extended to nearby Public </a:t>
            </a:r>
            <a:r>
              <a:rPr lang="en-US" sz="2400" b="1" dirty="0"/>
              <a:t>L</a:t>
            </a:r>
            <a:r>
              <a:rPr lang="en-US" sz="2400" b="1" dirty="0" smtClean="0"/>
              <a:t>ibrary and opened 6 bedded indoor made a EPI building  with the help of Upazilla </a:t>
            </a:r>
            <a:r>
              <a:rPr lang="en-US" sz="2400" b="1" dirty="0" err="1" smtClean="0"/>
              <a:t>Parishad</a:t>
            </a:r>
            <a:r>
              <a:rPr lang="en-US" sz="2400" b="1" dirty="0" smtClean="0"/>
              <a:t>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In 1994, health complex shifted to new 31 bedded hospital, with 6 bedded </a:t>
            </a:r>
            <a:r>
              <a:rPr lang="en-US" sz="2400" b="1" dirty="0" err="1" smtClean="0"/>
              <a:t>labour</a:t>
            </a:r>
            <a:r>
              <a:rPr lang="en-US" sz="2400" b="1" dirty="0" smtClean="0"/>
              <a:t> ward.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UHFPO opened 4 special activities headed by medical officers in  1996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b="1" u="sng" dirty="0"/>
              <a:t>F</a:t>
            </a:r>
            <a:r>
              <a:rPr lang="en-US" sz="2400" b="1" u="sng" dirty="0" smtClean="0"/>
              <a:t>rom January 1996 to 1998 </a:t>
            </a:r>
            <a:r>
              <a:rPr lang="en-US" sz="2400" b="1" u="sng" dirty="0" smtClean="0">
                <a:solidFill>
                  <a:srgbClr val="0000FF"/>
                </a:solidFill>
              </a:rPr>
              <a:t>JICA</a:t>
            </a:r>
            <a:r>
              <a:rPr lang="en-US" sz="2400" b="1" u="sng" dirty="0" smtClean="0"/>
              <a:t> assistance in Frontline </a:t>
            </a:r>
            <a:r>
              <a:rPr lang="en-US" sz="2400" b="1" u="sng" dirty="0"/>
              <a:t>MCH Program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200" b="1" dirty="0" smtClean="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>
                <a:solidFill>
                  <a:srgbClr val="0000FF"/>
                </a:solidFill>
              </a:rPr>
              <a:t>&lt; Special activities&gt;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ANC-Corner</a:t>
            </a: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Basic EOC service</a:t>
            </a:r>
            <a:r>
              <a:rPr lang="en-US" sz="2400" b="1" dirty="0" smtClean="0"/>
              <a:t>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Under 5 corner for under 5 children</a:t>
            </a:r>
            <a:endParaRPr lang="en-US" sz="24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AutoNum type="arabicParenR"/>
            </a:pPr>
            <a:r>
              <a:rPr lang="en-US" sz="2400" b="1" dirty="0" smtClean="0">
                <a:solidFill>
                  <a:srgbClr val="0000FF"/>
                </a:solidFill>
              </a:rPr>
              <a:t>Monthly birth and death record</a:t>
            </a: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152400" y="152400"/>
            <a:ext cx="8686800" cy="1077218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4000" b="1" dirty="0" smtClean="0"/>
              <a:t>Background History of Community Engagement C-J model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77544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 dirty="0" smtClean="0"/>
              <a:t>C-J model 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5334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5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Form November 2000 started Comprehensive EOC program.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000" b="1" dirty="0" smtClean="0"/>
              <a:t>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From August 2006 Safe Blood Transfusion unit established 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0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From April 2007 Demand Side Financing (DSF) program started.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0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Hospital is declared as model health complex on 20 June 2008 and upgraded to 50 bedded hospital by MOH&amp;FW.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0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Chowgacha health complex Model is replicable through out the country. Declared by  D.G. WHO on 8</a:t>
            </a:r>
            <a:r>
              <a:rPr lang="en-US" sz="2000" b="1" baseline="30000" dirty="0" smtClean="0"/>
              <a:t>th</a:t>
            </a:r>
            <a:r>
              <a:rPr lang="en-US" sz="2000" b="1" dirty="0" smtClean="0"/>
              <a:t> March 2010.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0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Major Killer Disease (NCD) prevention program starts in  1</a:t>
            </a:r>
            <a:r>
              <a:rPr lang="en-US" sz="2000" b="1" baseline="30000" dirty="0" smtClean="0"/>
              <a:t>st</a:t>
            </a:r>
            <a:r>
              <a:rPr lang="en-US" sz="2000" b="1" dirty="0" smtClean="0"/>
              <a:t> January-2011.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0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TQM activates starts in July 2011 by the support of JACA.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000" b="1" dirty="0" smtClean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000" b="1" dirty="0" smtClean="0"/>
              <a:t>The health complex planed to upgrade to 100 bed hospital </a:t>
            </a:r>
          </a:p>
        </p:txBody>
      </p:sp>
    </p:spTree>
    <p:extLst>
      <p:ext uri="{BB962C8B-B14F-4D97-AF65-F5344CB8AC3E}">
        <p14:creationId xmlns:p14="http://schemas.microsoft.com/office/powerpoint/2010/main" val="24502632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146" name="Picture 2" descr="C:\Users\Emdad\Downloads\New Doc 2019-01-14 22.44.19_1 (1)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1295401" y="-1066800"/>
            <a:ext cx="6400799" cy="899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648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5275"/>
            <a:ext cx="8229600" cy="771525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57200" y="1422400"/>
            <a:ext cx="8153400" cy="381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ACTVITIES : ( Vision By The Year 2010) </a:t>
            </a:r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ph sz="half" idx="4294967295"/>
          </p:nvPr>
        </p:nvGraphicFramePr>
        <p:xfrm>
          <a:off x="381000" y="2095500"/>
          <a:ext cx="8305800" cy="4218432"/>
        </p:xfrm>
        <a:graphic>
          <a:graphicData uri="http://schemas.openxmlformats.org/drawingml/2006/table">
            <a:tbl>
              <a:tblPr/>
              <a:tblGrid>
                <a:gridCol w="457200"/>
                <a:gridCol w="2057400"/>
                <a:gridCol w="609600"/>
                <a:gridCol w="596900"/>
                <a:gridCol w="641350"/>
                <a:gridCol w="641350"/>
                <a:gridCol w="641350"/>
                <a:gridCol w="641350"/>
                <a:gridCol w="641350"/>
                <a:gridCol w="601663"/>
                <a:gridCol w="776287"/>
              </a:tblGrid>
              <a:tr h="4064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Achived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1st 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94.7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133.7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143.0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2nd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3rd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PNC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Delivery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Mortality Ratio / 100000 Live birth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Neonatal Death Rate / 1000 live birth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85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5094515" y="1040332"/>
            <a:ext cx="3733800" cy="940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24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24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14" y="22860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73380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14514" y="4114800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</a:t>
            </a:r>
            <a:r>
              <a:rPr lang="en-US" sz="2400" dirty="0">
                <a:latin typeface="Calibri" pitchFamily="34" charset="0"/>
              </a:rPr>
              <a:t> seminar held on basic information system </a:t>
            </a:r>
            <a:r>
              <a:rPr lang="en-US" sz="2400" dirty="0" smtClean="0">
                <a:latin typeface="Calibri" pitchFamily="34" charset="0"/>
              </a:rPr>
              <a:t>at </a:t>
            </a:r>
            <a:r>
              <a:rPr lang="en-US" sz="2400" dirty="0">
                <a:latin typeface="Calibri" pitchFamily="34" charset="0"/>
              </a:rPr>
              <a:t>Chowgacha </a:t>
            </a:r>
            <a:r>
              <a:rPr lang="en-US" sz="2400" dirty="0" smtClean="0">
                <a:latin typeface="Calibri" pitchFamily="34" charset="0"/>
              </a:rPr>
              <a:t>Degree </a:t>
            </a:r>
            <a:r>
              <a:rPr lang="en-US" sz="2400" dirty="0">
                <a:latin typeface="Calibri" pitchFamily="34" charset="0"/>
              </a:rPr>
              <a:t>College </a:t>
            </a:r>
            <a:r>
              <a:rPr lang="en-US" sz="2400" dirty="0" smtClean="0">
                <a:latin typeface="Calibri" pitchFamily="34" charset="0"/>
              </a:rPr>
              <a:t>in </a:t>
            </a:r>
            <a:r>
              <a:rPr lang="en-US" sz="2400" dirty="0">
                <a:latin typeface="Calibri" pitchFamily="34" charset="0"/>
              </a:rPr>
              <a:t>June, 1997. DC </a:t>
            </a:r>
            <a:r>
              <a:rPr lang="en-US" sz="2400" dirty="0" err="1">
                <a:latin typeface="Calibri" pitchFamily="34" charset="0"/>
              </a:rPr>
              <a:t>Jessore</a:t>
            </a:r>
            <a:r>
              <a:rPr lang="en-US" sz="2400" dirty="0">
                <a:latin typeface="Calibri" pitchFamily="34" charset="0"/>
              </a:rPr>
              <a:t> was the chief </a:t>
            </a:r>
            <a:r>
              <a:rPr lang="en-US" sz="2400" dirty="0" smtClean="0">
                <a:latin typeface="Calibri" pitchFamily="34" charset="0"/>
              </a:rPr>
              <a:t>guest . </a:t>
            </a:r>
            <a:endParaRPr lang="en-GB" sz="2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806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43" y="182562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839" y="3462337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646839" y="609600"/>
            <a:ext cx="4039961" cy="137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dirty="0"/>
              <a:t>Community Supported </a:t>
            </a:r>
            <a:r>
              <a:rPr lang="en-US" dirty="0" smtClean="0"/>
              <a:t>Volunteer </a:t>
            </a:r>
            <a:r>
              <a:rPr lang="en-US" dirty="0"/>
              <a:t>Working as receptionist</a:t>
            </a:r>
            <a:r>
              <a:rPr lang="en-US" dirty="0" smtClean="0"/>
              <a:t>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743" y="4114800"/>
            <a:ext cx="4308475" cy="1143000"/>
          </a:xfrm>
        </p:spPr>
        <p:txBody>
          <a:bodyPr/>
          <a:lstStyle/>
          <a:p>
            <a:r>
              <a:rPr lang="en-GB" sz="3200" dirty="0" smtClean="0"/>
              <a:t>Community supported volunteer working in ANC corner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2" name="Object 2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84080668"/>
              </p:ext>
            </p:extLst>
          </p:nvPr>
        </p:nvGraphicFramePr>
        <p:xfrm>
          <a:off x="965200" y="2262188"/>
          <a:ext cx="7593013" cy="427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</a:t>
            </a:r>
            <a:r>
              <a:rPr lang="en-US" sz="24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2017 </a:t>
            </a: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2425398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</a:t>
            </a:r>
            <a:r>
              <a:rPr lang="en-US" sz="2400" dirty="0" smtClean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2017 </a:t>
            </a: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(Caesarian Section)</a:t>
            </a:r>
          </a:p>
        </p:txBody>
      </p:sp>
      <p:graphicFrame>
        <p:nvGraphicFramePr>
          <p:cNvPr id="2" name="Object 10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20036112"/>
              </p:ext>
            </p:extLst>
          </p:nvPr>
        </p:nvGraphicFramePr>
        <p:xfrm>
          <a:off x="990600" y="2489200"/>
          <a:ext cx="7543800" cy="3805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409947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085" y="1865086"/>
            <a:ext cx="8229600" cy="4495800"/>
          </a:xfr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>
                <a:solidFill>
                  <a:schemeClr val="tx1"/>
                </a:solidFill>
              </a:rPr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200" b="1" dirty="0" smtClean="0">
                <a:solidFill>
                  <a:schemeClr val="tx1"/>
                </a:solidFill>
              </a:rPr>
              <a:t>TOTAL</a:t>
            </a:r>
            <a:r>
              <a:rPr lang="en-US" sz="3200" dirty="0" smtClean="0">
                <a:solidFill>
                  <a:schemeClr val="tx1"/>
                </a:solidFill>
              </a:rPr>
              <a:t> 			   </a:t>
            </a:r>
            <a:r>
              <a:rPr lang="en-US" sz="3200" dirty="0" smtClean="0">
                <a:solidFill>
                  <a:schemeClr val="tx1"/>
                </a:solidFill>
              </a:rPr>
              <a:t>     </a:t>
            </a:r>
            <a:r>
              <a:rPr lang="en-US" sz="3200" dirty="0" smtClean="0">
                <a:solidFill>
                  <a:schemeClr val="tx1"/>
                </a:solidFill>
              </a:rPr>
              <a:t>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Volunteers 		   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Cleaners &amp; guards	</a:t>
            </a:r>
            <a:r>
              <a:rPr lang="en-US" sz="3200" dirty="0" smtClean="0">
                <a:solidFill>
                  <a:schemeClr val="tx1"/>
                </a:solidFill>
              </a:rPr>
              <a:t>          :</a:t>
            </a:r>
            <a:r>
              <a:rPr lang="en-US" sz="3200" dirty="0" smtClean="0">
                <a:solidFill>
                  <a:schemeClr val="tx1"/>
                </a:solidFill>
              </a:rPr>
              <a:t>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Others			     </a:t>
            </a:r>
            <a:r>
              <a:rPr lang="en-US" sz="3200" dirty="0" smtClean="0">
                <a:solidFill>
                  <a:schemeClr val="tx1"/>
                </a:solidFill>
              </a:rPr>
              <a:t> </a:t>
            </a:r>
            <a:r>
              <a:rPr lang="en-US" sz="3200" dirty="0" smtClean="0">
                <a:solidFill>
                  <a:schemeClr val="tx1"/>
                </a:solidFill>
              </a:rPr>
              <a:t>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	Outsourcing       	</a:t>
            </a:r>
            <a:r>
              <a:rPr lang="en-US" sz="3200" dirty="0" smtClean="0">
                <a:solidFill>
                  <a:schemeClr val="tx1"/>
                </a:solidFill>
              </a:rPr>
              <a:t>        :</a:t>
            </a:r>
            <a:r>
              <a:rPr lang="en-US" sz="3200" dirty="0" smtClean="0">
                <a:solidFill>
                  <a:schemeClr val="tx1"/>
                </a:solidFill>
              </a:rPr>
              <a:t>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	</a:t>
            </a:r>
            <a:r>
              <a:rPr lang="en-US" sz="3200" dirty="0" smtClean="0">
                <a:solidFill>
                  <a:schemeClr val="tx1"/>
                </a:solidFill>
              </a:rPr>
              <a:t>Service provider	</a:t>
            </a:r>
            <a:r>
              <a:rPr lang="en-US" sz="3200" dirty="0" smtClean="0">
                <a:solidFill>
                  <a:schemeClr val="tx1"/>
                </a:solidFill>
              </a:rPr>
              <a:t>        :</a:t>
            </a:r>
            <a:r>
              <a:rPr lang="en-US" sz="3200" dirty="0" smtClean="0">
                <a:solidFill>
                  <a:schemeClr val="tx1"/>
                </a:solidFill>
              </a:rPr>
              <a:t>21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79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857705"/>
              </p:ext>
            </p:extLst>
          </p:nvPr>
        </p:nvGraphicFramePr>
        <p:xfrm>
          <a:off x="380997" y="759889"/>
          <a:ext cx="8534403" cy="60001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9057"/>
                <a:gridCol w="685800"/>
                <a:gridCol w="990600"/>
                <a:gridCol w="838200"/>
                <a:gridCol w="914400"/>
                <a:gridCol w="838200"/>
                <a:gridCol w="914400"/>
                <a:gridCol w="838200"/>
                <a:gridCol w="805546"/>
              </a:tblGrid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400" dirty="0">
                          <a:effectLst/>
                        </a:rPr>
                        <a:t>Subject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1997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2003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2007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Bed Occupancy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977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ANC (First Visit)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817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24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1228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2861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88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4484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132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7292</a:t>
                      </a:r>
                      <a:r>
                        <a:rPr lang="en-GB" sz="1400">
                          <a:effectLst/>
                        </a:rPr>
                        <a:t>)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170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8935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130 (6632)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5019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Hospital Delivery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151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6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4</a:t>
                      </a:r>
                      <a:r>
                        <a:rPr lang="en-GB" sz="1400" dirty="0">
                          <a:effectLst/>
                        </a:rPr>
                        <a:t> (</a:t>
                      </a:r>
                      <a:r>
                        <a:rPr lang="bn-IN" sz="1400" dirty="0">
                          <a:effectLst/>
                        </a:rPr>
                        <a:t>422</a:t>
                      </a:r>
                      <a:r>
                        <a:rPr lang="en-GB" sz="1400" dirty="0">
                          <a:effectLst/>
                        </a:rPr>
                        <a:t>)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661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1899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4413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66 (</a:t>
                      </a:r>
                      <a:r>
                        <a:rPr lang="bn-IN" sz="1400">
                          <a:effectLst/>
                        </a:rPr>
                        <a:t>2932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714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C-Section rate %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02</a:t>
                      </a:r>
                      <a:r>
                        <a:rPr lang="en-GB" sz="1400">
                          <a:effectLst/>
                        </a:rPr>
                        <a:t>      (</a:t>
                      </a: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07</a:t>
                      </a:r>
                      <a:r>
                        <a:rPr lang="en-GB" sz="1400">
                          <a:effectLst/>
                        </a:rPr>
                        <a:t>   (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0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</a:t>
                      </a:r>
                      <a:r>
                        <a:rPr lang="en-GB" sz="1400">
                          <a:effectLst/>
                        </a:rPr>
                        <a:t>    (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473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1107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190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Population Increase rate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86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1</a:t>
                      </a:r>
                      <a:r>
                        <a:rPr lang="en-GB" sz="1400" dirty="0">
                          <a:effectLst/>
                        </a:rPr>
                        <a:t>.</a:t>
                      </a:r>
                      <a:r>
                        <a:rPr lang="bn-IN" sz="1400" dirty="0">
                          <a:effectLst/>
                        </a:rPr>
                        <a:t>57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1.71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84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Maternal Mortality </a:t>
                      </a:r>
                      <a:r>
                        <a:rPr lang="en-GB" sz="1400" dirty="0" smtClean="0">
                          <a:effectLst/>
                        </a:rPr>
                        <a:t>Ratio/100,000 </a:t>
                      </a:r>
                      <a:r>
                        <a:rPr lang="en-GB" sz="1400" dirty="0">
                          <a:effectLst/>
                        </a:rPr>
                        <a:t>live birth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599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300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206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114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160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91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370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Neonatal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47</a:t>
                      </a:r>
                      <a:r>
                        <a:rPr lang="en-GB" sz="1400">
                          <a:effectLst/>
                        </a:rPr>
                        <a:t>  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42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 dirty="0">
                          <a:effectLst/>
                        </a:rPr>
                        <a:t>23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21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18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16.6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46493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Infant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65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56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29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18.6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6485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Under 5 mortaliy rate/ 1000 live birth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78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62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44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43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3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25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21.1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  <a:tr h="5698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Low birth weight rate(%)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36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5</a:t>
                      </a:r>
                      <a:r>
                        <a:rPr lang="en-GB" sz="1400">
                          <a:effectLst/>
                        </a:rPr>
                        <a:t>  (</a:t>
                      </a:r>
                      <a:r>
                        <a:rPr lang="bn-IN" sz="1400">
                          <a:effectLst/>
                        </a:rPr>
                        <a:t>74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15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2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288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400">
                          <a:effectLst/>
                        </a:rPr>
                        <a:t>13</a:t>
                      </a:r>
                      <a:r>
                        <a:rPr lang="en-GB" sz="1400">
                          <a:effectLst/>
                        </a:rPr>
                        <a:t>.</a:t>
                      </a:r>
                      <a:r>
                        <a:rPr lang="bn-IN" sz="1400">
                          <a:effectLst/>
                        </a:rPr>
                        <a:t>7</a:t>
                      </a:r>
                      <a:r>
                        <a:rPr lang="en-GB" sz="1400">
                          <a:effectLst/>
                        </a:rPr>
                        <a:t> (</a:t>
                      </a:r>
                      <a:r>
                        <a:rPr lang="bn-IN" sz="1400">
                          <a:effectLst/>
                        </a:rPr>
                        <a:t>636</a:t>
                      </a:r>
                      <a:r>
                        <a:rPr lang="en-GB" sz="1400">
                          <a:effectLst/>
                        </a:rPr>
                        <a:t>)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>
                          <a:effectLst/>
                        </a:rPr>
                        <a:t>-</a:t>
                      </a:r>
                      <a:endParaRPr lang="en-GB" sz="24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400" dirty="0">
                          <a:effectLst/>
                        </a:rPr>
                        <a:t>-</a:t>
                      </a:r>
                      <a:endParaRPr lang="en-GB" sz="24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63539" marR="6353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33400" y="172225"/>
            <a:ext cx="8382000" cy="353943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0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16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090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</a:t>
            </a:r>
            <a:r>
              <a:rPr lang="en-US" sz="32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Chowgacha</a:t>
            </a: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bn-BD" sz="2400" dirty="0"/>
          </a:p>
          <a:p>
            <a:pPr marL="0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In 20</a:t>
            </a:r>
            <a:r>
              <a:rPr lang="bn-BD" sz="2400" dirty="0" smtClean="0"/>
              <a:t>08</a:t>
            </a:r>
            <a:r>
              <a:rPr lang="en-US" sz="2400" dirty="0" smtClean="0"/>
              <a:t>, Chowgacha Health Complex declared as the model </a:t>
            </a:r>
            <a:r>
              <a:rPr lang="en-US" sz="2400" dirty="0"/>
              <a:t>U</a:t>
            </a:r>
            <a:r>
              <a:rPr lang="en-US" sz="2400" dirty="0" smtClean="0"/>
              <a:t>pazilla </a:t>
            </a:r>
            <a:r>
              <a:rPr lang="en-US" sz="2400" dirty="0" smtClean="0"/>
              <a:t>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).in2011 &amp; 41 bed for EOC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ANC 1</a:t>
            </a:r>
            <a:r>
              <a:rPr lang="en-US" sz="2400" baseline="30000" dirty="0" smtClean="0"/>
              <a:t>st</a:t>
            </a:r>
            <a:r>
              <a:rPr lang="en-US" sz="2400" dirty="0" smtClean="0"/>
              <a:t> coverage 170%(8935)&amp; hospital delivery rate 98.4% (4413)</a:t>
            </a:r>
            <a:r>
              <a:rPr lang="bn-BD" sz="2400" dirty="0" smtClean="0"/>
              <a:t>in 2011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dirty="0" smtClean="0"/>
              <a:t> 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</a:t>
            </a:r>
            <a:endParaRPr lang="bn-BD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Achieve Health minister s Award for its best performances and also for </a:t>
            </a:r>
            <a:r>
              <a:rPr lang="en-US" sz="2400" dirty="0" smtClean="0"/>
              <a:t>EOC.in2017,2018.</a:t>
            </a:r>
            <a:endParaRPr lang="bn-BD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The govt. taken the initiative to upgrade to 100 bedded in 20018.</a:t>
            </a:r>
          </a:p>
        </p:txBody>
      </p:sp>
    </p:spTree>
    <p:extLst>
      <p:ext uri="{BB962C8B-B14F-4D97-AF65-F5344CB8AC3E}">
        <p14:creationId xmlns:p14="http://schemas.microsoft.com/office/powerpoint/2010/main" val="222050451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0" y="-25855"/>
            <a:ext cx="9144000" cy="6883855"/>
            <a:chOff x="116" y="-153"/>
            <a:chExt cx="7425" cy="5746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" y="-153"/>
              <a:ext cx="4184" cy="5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00" y="-153"/>
              <a:ext cx="3241" cy="57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29016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9144000" cy="683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8312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524001"/>
            <a:ext cx="8763000" cy="5029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bn-BD" sz="2400" b="1" dirty="0" smtClean="0"/>
              <a:t>Model starts in</a:t>
            </a:r>
            <a:r>
              <a:rPr lang="en-US" sz="2400" b="1" dirty="0" smtClean="0"/>
              <a:t> 2012  with the help of BPATC, SAVAR.</a:t>
            </a:r>
            <a:endParaRPr lang="bn-BD" sz="2400" b="1" dirty="0" smtClean="0"/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 </a:t>
            </a: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dirty="0" smtClean="0"/>
              <a:t>In2014  Jhenaidah team visit </a:t>
            </a:r>
            <a:r>
              <a:rPr lang="en-US" sz="2400" b="1" dirty="0" err="1" smtClean="0"/>
              <a:t>Satkhira</a:t>
            </a:r>
            <a:r>
              <a:rPr lang="en-US" sz="2400" b="1" dirty="0" smtClean="0"/>
              <a:t> with the help of JIC</a:t>
            </a:r>
            <a:r>
              <a:rPr lang="bn-BD" sz="2400" b="1" dirty="0" smtClean="0"/>
              <a:t>A</a:t>
            </a: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400" b="1" dirty="0" smtClean="0"/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u="sng" dirty="0" smtClean="0"/>
              <a:t> </a:t>
            </a:r>
            <a:r>
              <a:rPr lang="bn-BD" sz="2400" b="1" u="sng" dirty="0"/>
              <a:t>I</a:t>
            </a:r>
            <a:r>
              <a:rPr lang="en-US" sz="2400" b="1" u="sng" dirty="0" err="1" smtClean="0"/>
              <a:t>nitiative</a:t>
            </a:r>
            <a:r>
              <a:rPr lang="en-US" sz="2400" b="1" u="sng" dirty="0" smtClean="0"/>
              <a:t> of </a:t>
            </a:r>
            <a:r>
              <a:rPr lang="bn-BD" sz="2400" b="1" u="sng" dirty="0" smtClean="0"/>
              <a:t>P</a:t>
            </a:r>
            <a:r>
              <a:rPr lang="en-US" sz="2400" b="1" u="sng" dirty="0" err="1" smtClean="0"/>
              <a:t>iloting</a:t>
            </a:r>
            <a:r>
              <a:rPr lang="en-US" sz="2400" b="1" u="sng" dirty="0" smtClean="0"/>
              <a:t>  District Hospital Model</a:t>
            </a:r>
            <a:r>
              <a:rPr lang="bn-BD" sz="2400" b="1" u="sng" dirty="0" smtClean="0"/>
              <a:t> by MOH&amp;FW in 2015</a:t>
            </a: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400" b="1" u="sng" dirty="0" smtClean="0"/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u="sng" dirty="0" smtClean="0"/>
              <a:t>In 2016  Replication of Jhenaidah model in 10district hospital</a:t>
            </a:r>
            <a:endParaRPr lang="bn-BD" sz="2400" b="1" u="sng" dirty="0" smtClean="0"/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400" b="1" u="sng" dirty="0" smtClean="0"/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u="sng" dirty="0" smtClean="0"/>
              <a:t>  </a:t>
            </a:r>
            <a:r>
              <a:rPr lang="bn-BD" sz="2400" b="1" u="sng" dirty="0"/>
              <a:t>O</a:t>
            </a:r>
            <a:r>
              <a:rPr lang="en-US" sz="2400" b="1" u="sng" dirty="0" err="1" smtClean="0"/>
              <a:t>rder</a:t>
            </a:r>
            <a:r>
              <a:rPr lang="en-US" sz="2400" b="1" u="sng" dirty="0" smtClean="0"/>
              <a:t> to replicate the model  by  Prime Ministers office</a:t>
            </a:r>
            <a:r>
              <a:rPr lang="bn-BD" sz="2400" b="1" u="sng" dirty="0" smtClean="0"/>
              <a:t> in 2017</a:t>
            </a:r>
            <a:r>
              <a:rPr lang="en-US" sz="2400" b="1" u="sng" dirty="0" smtClean="0"/>
              <a:t> .</a:t>
            </a:r>
            <a:endParaRPr lang="bn-BD" sz="2400" b="1" u="sng" dirty="0" smtClean="0"/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400" b="1" u="sng" dirty="0"/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u="sng" dirty="0" smtClean="0"/>
              <a:t>  </a:t>
            </a:r>
            <a:r>
              <a:rPr lang="bn-BD" sz="2400" b="1" u="sng" dirty="0" smtClean="0"/>
              <a:t>A</a:t>
            </a:r>
            <a:r>
              <a:rPr lang="en-US" sz="2400" b="1" u="sng" dirty="0" smtClean="0"/>
              <a:t> </a:t>
            </a:r>
            <a:r>
              <a:rPr lang="en-US" sz="2400" b="1" u="sng" dirty="0" err="1"/>
              <a:t>T</a:t>
            </a:r>
            <a:r>
              <a:rPr lang="en-US" sz="2400" b="1" u="sng" dirty="0" err="1" smtClean="0"/>
              <a:t>echinical</a:t>
            </a:r>
            <a:r>
              <a:rPr lang="en-US" sz="2400" b="1" u="sng" dirty="0" smtClean="0"/>
              <a:t> </a:t>
            </a:r>
            <a:r>
              <a:rPr lang="en-US" sz="2400" b="1" u="sng" dirty="0" err="1"/>
              <a:t>C</a:t>
            </a:r>
            <a:r>
              <a:rPr lang="en-US" sz="2400" b="1" u="sng" dirty="0" err="1" smtClean="0"/>
              <a:t>ommitte</a:t>
            </a:r>
            <a:r>
              <a:rPr lang="en-US" sz="2400" b="1" u="sng" dirty="0" smtClean="0"/>
              <a:t>  was formed by DGHS to replicate</a:t>
            </a:r>
            <a:r>
              <a:rPr lang="bn-BD" sz="2400" b="1" u="sng" dirty="0" smtClean="0"/>
              <a:t> in 2018</a:t>
            </a: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400" b="1" u="sng" dirty="0" smtClean="0"/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en-US" sz="2400" b="1" i="1" u="sng" dirty="0" smtClean="0"/>
              <a:t> </a:t>
            </a:r>
            <a:r>
              <a:rPr lang="bn-BD" sz="2400" b="1" i="1" u="sng" dirty="0" err="1"/>
              <a:t>R</a:t>
            </a:r>
            <a:r>
              <a:rPr lang="en-US" sz="2400" b="1" i="1" u="sng" dirty="0" err="1" smtClean="0"/>
              <a:t>eplicatin</a:t>
            </a:r>
            <a:r>
              <a:rPr lang="en-US" sz="2400" b="1" i="1" u="sng" dirty="0" smtClean="0"/>
              <a:t> starts in 20 </a:t>
            </a:r>
            <a:r>
              <a:rPr lang="en-US" sz="2400" b="1" i="1" u="sng" dirty="0" err="1" smtClean="0"/>
              <a:t>distrct</a:t>
            </a:r>
            <a:r>
              <a:rPr lang="en-US" sz="2400" b="1" i="1" u="sng" dirty="0" smtClean="0"/>
              <a:t>  &amp;</a:t>
            </a:r>
            <a:r>
              <a:rPr lang="bn-BD" sz="2400" b="1" i="1" u="sng" dirty="0" smtClean="0"/>
              <a:t> </a:t>
            </a:r>
            <a:r>
              <a:rPr lang="en-US" sz="2400" b="1" i="1" u="sng" dirty="0" smtClean="0"/>
              <a:t>40 </a:t>
            </a:r>
            <a:r>
              <a:rPr lang="en-US" sz="2400" b="1" i="1" u="sng" dirty="0" err="1" smtClean="0"/>
              <a:t>upazilla</a:t>
            </a:r>
            <a:r>
              <a:rPr lang="en-US" sz="2400" b="1" i="1" u="sng" dirty="0" smtClean="0"/>
              <a:t> h</a:t>
            </a:r>
            <a:r>
              <a:rPr lang="bn-BD" sz="2400" b="1" i="1" u="sng" dirty="0" smtClean="0"/>
              <a:t>ospital</a:t>
            </a:r>
            <a:r>
              <a:rPr lang="en-US" sz="2400" b="1" i="1" u="sng" dirty="0" smtClean="0"/>
              <a:t> by DGHS</a:t>
            </a:r>
          </a:p>
          <a:p>
            <a:pPr algn="just"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2400" b="1" u="sng" dirty="0"/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endParaRPr lang="en-US" sz="1200" b="1" dirty="0" smtClean="0">
              <a:solidFill>
                <a:srgbClr val="0000FF"/>
              </a:solidFill>
            </a:endParaRPr>
          </a:p>
        </p:txBody>
      </p:sp>
      <p:sp>
        <p:nvSpPr>
          <p:cNvPr id="8" name="TextBox 2"/>
          <p:cNvSpPr txBox="1">
            <a:spLocks noChangeArrowheads="1"/>
          </p:cNvSpPr>
          <p:nvPr/>
        </p:nvSpPr>
        <p:spPr bwMode="auto">
          <a:xfrm>
            <a:off x="152400" y="152400"/>
            <a:ext cx="8686800" cy="1077218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4000" b="1" dirty="0" smtClean="0"/>
              <a:t>Background History of Community Engagement Jhenaidah model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0773810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3600" dirty="0" smtClean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 smtClean="0"/>
          </a:p>
          <a:p>
            <a:pPr>
              <a:defRPr/>
            </a:pPr>
            <a:r>
              <a:rPr lang="en-US" sz="2400" b="1" dirty="0"/>
              <a:t> </a:t>
            </a:r>
            <a:r>
              <a:rPr lang="en-US" sz="2400" b="1" dirty="0" smtClean="0"/>
              <a:t>   </a:t>
            </a:r>
            <a:r>
              <a:rPr lang="en-US" sz="2400" b="1" i="1" dirty="0" smtClean="0"/>
              <a:t>In secured</a:t>
            </a:r>
            <a:r>
              <a:rPr lang="en-US" sz="2400" b="1" dirty="0" smtClean="0"/>
              <a:t>  hospital environment.</a:t>
            </a:r>
          </a:p>
          <a:p>
            <a:pPr marL="0" indent="0">
              <a:buNone/>
              <a:defRPr/>
            </a:pPr>
            <a:r>
              <a:rPr lang="en-US" sz="2400" dirty="0" smtClean="0"/>
              <a:t>	</a:t>
            </a:r>
            <a:endParaRPr lang="en-US" sz="2400" dirty="0"/>
          </a:p>
          <a:p>
            <a:pPr>
              <a:defRPr/>
            </a:pPr>
            <a:r>
              <a:rPr lang="en-US" sz="2400" b="1" dirty="0" smtClean="0"/>
              <a:t>Performance of all activities was very low.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400" b="1" dirty="0" smtClean="0"/>
              <a:t>Very limited support staff. 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r>
              <a:rPr lang="en-US" sz="2400" b="1" dirty="0" smtClean="0"/>
              <a:t>Receiving money from the patients by non-govt. staff.</a:t>
            </a:r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r>
              <a:rPr lang="en-US" sz="2400" b="1" dirty="0" smtClean="0"/>
              <a:t>Waste management system was poor.</a:t>
            </a:r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r>
              <a:rPr lang="en-US" sz="2400" b="1" dirty="0" smtClean="0"/>
              <a:t>Monitoring  </a:t>
            </a:r>
            <a:r>
              <a:rPr lang="en-US" sz="2400" b="1" dirty="0"/>
              <a:t>m</a:t>
            </a:r>
            <a:r>
              <a:rPr lang="en-US" sz="2400" b="1" dirty="0" smtClean="0"/>
              <a:t>eeting was not performed regularly</a:t>
            </a:r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>
              <a:defRPr/>
            </a:pP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 smtClean="0"/>
              <a:t>	</a:t>
            </a:r>
            <a:endParaRPr lang="en-US" sz="2400" b="1" dirty="0" smtClean="0"/>
          </a:p>
          <a:p>
            <a:pPr marL="0" indent="0">
              <a:buFont typeface="Arial" charset="0"/>
              <a:buNone/>
              <a:defRPr/>
            </a:pPr>
            <a:r>
              <a:rPr lang="en-US" sz="2400" dirty="0"/>
              <a:t> 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8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199" y="3895725"/>
            <a:ext cx="4313237" cy="2914650"/>
          </a:xfrm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prstGeom prst="rect">
            <a:avLst/>
          </a:prstGeom>
          <a:noFill/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31" y="3886200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045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6842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-1"/>
            <a:ext cx="9140825" cy="550839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3200" b="1" dirty="0" smtClean="0">
                <a:solidFill>
                  <a:schemeClr val="bg1"/>
                </a:solidFill>
              </a:rPr>
              <a:t>Changes in pediatric ward  and waste management 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DSC02418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04800"/>
            <a:ext cx="4419600" cy="3200400"/>
          </a:xfrm>
        </p:spPr>
      </p:pic>
      <p:pic>
        <p:nvPicPr>
          <p:cNvPr id="21507" name="Picture 4" descr="DSC02559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04800"/>
            <a:ext cx="4419600" cy="3200400"/>
          </a:xfrm>
        </p:spPr>
      </p:pic>
      <p:pic>
        <p:nvPicPr>
          <p:cNvPr id="21508" name="Picture 8" descr="DSC0240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05200"/>
            <a:ext cx="44196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9" descr="DSC0250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505200"/>
            <a:ext cx="44196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Title 1"/>
          <p:cNvSpPr>
            <a:spLocks noGrp="1"/>
          </p:cNvSpPr>
          <p:nvPr>
            <p:ph type="title" sz="quarter"/>
          </p:nvPr>
        </p:nvSpPr>
        <p:spPr>
          <a:xfrm>
            <a:off x="457200" y="0"/>
            <a:ext cx="8229600" cy="381000"/>
          </a:xfrm>
        </p:spPr>
        <p:txBody>
          <a:bodyPr/>
          <a:lstStyle/>
          <a:p>
            <a:r>
              <a:rPr lang="en-US" sz="2800" b="1" smtClean="0"/>
              <a:t>Local Govt. (Paurashava) Participation</a:t>
            </a:r>
          </a:p>
        </p:txBody>
      </p:sp>
    </p:spTree>
    <p:extLst>
      <p:ext uri="{BB962C8B-B14F-4D97-AF65-F5344CB8AC3E}">
        <p14:creationId xmlns:p14="http://schemas.microsoft.com/office/powerpoint/2010/main" val="310608777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4385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69875" y="628650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76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42863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Sadar Hospital Page: 2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4275" name="Content Placeholder 6" descr="G:\G\Dr Emdad\fromyumi\IMG_7464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49800" y="3722688"/>
            <a:ext cx="4267200" cy="3059112"/>
          </a:xfrm>
        </p:spPr>
      </p:pic>
      <p:pic>
        <p:nvPicPr>
          <p:cNvPr id="7" name="Picture 16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/>
          <a:stretch>
            <a:fillRect/>
          </a:stretch>
        </p:blipFill>
        <p:spPr>
          <a:xfrm>
            <a:off x="4584700" y="815975"/>
            <a:ext cx="4394200" cy="27432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4277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3733800"/>
            <a:ext cx="4191000" cy="3048000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47663" y="3754438"/>
            <a:ext cx="1176337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Manobota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76800" y="3798888"/>
            <a:ext cx="19050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Big Cleaning Day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0"/>
          <p:cNvSpPr>
            <a:spLocks noChangeArrowheads="1"/>
          </p:cNvSpPr>
          <p:nvPr/>
        </p:nvSpPr>
        <p:spPr bwMode="auto">
          <a:xfrm>
            <a:off x="4749800" y="812800"/>
            <a:ext cx="20320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Neonatal Care Unit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281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812800"/>
            <a:ext cx="4071937" cy="26924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347663" y="815975"/>
            <a:ext cx="292893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</a:rPr>
              <a:t>Starting of 5S KAIZEN-TQM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24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3759660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810000"/>
            <a:ext cx="4127426" cy="28956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KAIZEN  in </a:t>
            </a:r>
            <a:r>
              <a:rPr lang="en-US" sz="2000" b="1" dirty="0" err="1" smtClean="0">
                <a:solidFill>
                  <a:schemeClr val="bg1"/>
                </a:solidFill>
              </a:rPr>
              <a:t>Jhenaidah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err="1" smtClean="0">
                <a:solidFill>
                  <a:schemeClr val="bg1"/>
                </a:solidFill>
              </a:rPr>
              <a:t>Sadar</a:t>
            </a:r>
            <a:r>
              <a:rPr lang="en-US" sz="2000" b="1" dirty="0" smtClean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31"/>
          <p:cNvSpPr txBox="1">
            <a:spLocks noChangeArrowheads="1"/>
          </p:cNvSpPr>
          <p:nvPr/>
        </p:nvSpPr>
        <p:spPr bwMode="auto">
          <a:xfrm>
            <a:off x="5029200" y="1447799"/>
            <a:ext cx="3200400" cy="838201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Recovered Valuable </a:t>
            </a:r>
            <a:r>
              <a:rPr lang="en-US" sz="2400" dirty="0">
                <a:solidFill>
                  <a:srgbClr val="1F497D">
                    <a:lumMod val="75000"/>
                  </a:srgbClr>
                </a:solidFill>
              </a:rPr>
              <a:t>land after </a:t>
            </a:r>
            <a:r>
              <a:rPr lang="en-US" sz="2400" dirty="0" smtClean="0">
                <a:solidFill>
                  <a:srgbClr val="1F497D">
                    <a:lumMod val="75000"/>
                  </a:srgbClr>
                </a:solidFill>
              </a:rPr>
              <a:t>sixty years.</a:t>
            </a:r>
          </a:p>
        </p:txBody>
      </p:sp>
      <p:sp>
        <p:nvSpPr>
          <p:cNvPr id="9" name="Rectangle 31"/>
          <p:cNvSpPr txBox="1">
            <a:spLocks noChangeArrowheads="1"/>
          </p:cNvSpPr>
          <p:nvPr/>
        </p:nvSpPr>
        <p:spPr bwMode="auto">
          <a:xfrm>
            <a:off x="609600" y="4419601"/>
            <a:ext cx="3581400" cy="1219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Arranged get man to control crowed in ward by Community support</a:t>
            </a:r>
          </a:p>
        </p:txBody>
      </p:sp>
    </p:spTree>
    <p:extLst>
      <p:ext uri="{BB962C8B-B14F-4D97-AF65-F5344CB8AC3E}">
        <p14:creationId xmlns:p14="http://schemas.microsoft.com/office/powerpoint/2010/main" val="35423252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Human resource 56 (Cleaner 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22,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7,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)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MP of Jhenaidah-2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14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12 , Mayor of Jhenaidah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 smtClean="0"/>
              <a:t>,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 support 17</a:t>
            </a:r>
            <a:r>
              <a:rPr lang="en-US" sz="2600" dirty="0" smtClean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of Jhenaidah Paurasava plays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 role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provide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generator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foundation an inter-com, mayor a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biochemistry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analyzer.</a:t>
            </a: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251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2018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325570169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6730392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2018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66303978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9403872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865421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5514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2018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4599386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2618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</a:t>
            </a:r>
            <a:r>
              <a:rPr lang="en-US" sz="2000" b="1" dirty="0" smtClean="0"/>
              <a:t>. Active </a:t>
            </a:r>
            <a:r>
              <a:rPr lang="en-US" sz="2000" b="1" dirty="0"/>
              <a:t>C</a:t>
            </a:r>
            <a:r>
              <a:rPr lang="en-US" sz="2000" b="1" dirty="0" smtClean="0"/>
              <a:t>ommunity Participation  is an example in Bangladesh.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Improved   </a:t>
            </a:r>
            <a:r>
              <a:rPr lang="en-US" sz="2000" b="1" dirty="0"/>
              <a:t>p</a:t>
            </a:r>
            <a:r>
              <a:rPr lang="en-US" sz="2000" b="1" dirty="0" smtClean="0"/>
              <a:t>erformance  of all services.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>
              <a:defRPr/>
            </a:pPr>
            <a:r>
              <a:rPr lang="en-US" sz="2000" b="1" dirty="0" smtClean="0"/>
              <a:t>3</a:t>
            </a:r>
            <a:r>
              <a:rPr lang="en-US" sz="2000" b="1" dirty="0"/>
              <a:t>. Improved Cleanliness and </a:t>
            </a:r>
            <a:r>
              <a:rPr lang="en-US" sz="2000" b="1" dirty="0" smtClean="0"/>
              <a:t>Beautification of Campus.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 </a:t>
            </a:r>
            <a:r>
              <a:rPr lang="en-US" sz="2000" b="1" dirty="0"/>
              <a:t>Functioning </a:t>
            </a:r>
            <a:r>
              <a:rPr lang="en-US" sz="2000" b="1" dirty="0" smtClean="0"/>
              <a:t>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5. </a:t>
            </a:r>
            <a:r>
              <a:rPr lang="en-US" sz="2000" b="1" dirty="0"/>
              <a:t>Improved </a:t>
            </a:r>
            <a:r>
              <a:rPr lang="en-US" sz="2000" b="1" dirty="0" smtClean="0"/>
              <a:t>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6. </a:t>
            </a:r>
            <a:r>
              <a:rPr lang="en-US" sz="2000" b="1" dirty="0"/>
              <a:t>Improved Financial </a:t>
            </a:r>
            <a:r>
              <a:rPr lang="en-US" sz="2000" b="1" dirty="0" smtClean="0"/>
              <a:t>Management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7. “Model  ” is replicating in 11 district  and  5  </a:t>
            </a:r>
            <a:r>
              <a:rPr lang="en-US" sz="2000" b="1" dirty="0"/>
              <a:t>U</a:t>
            </a:r>
            <a:r>
              <a:rPr lang="en-US" sz="2000" b="1" dirty="0" smtClean="0"/>
              <a:t>pazilla  hospital   </a:t>
            </a:r>
            <a:endParaRPr lang="en-US" sz="2000" b="1" dirty="0" smtClean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 smtClean="0"/>
              <a:t>8. </a:t>
            </a:r>
            <a:r>
              <a:rPr lang="en-US" sz="2000" b="1" dirty="0"/>
              <a:t>The hospital is </a:t>
            </a:r>
            <a:r>
              <a:rPr lang="en-US" sz="2000" b="1" dirty="0" smtClean="0"/>
              <a:t>awarded 7 </a:t>
            </a:r>
            <a:r>
              <a:rPr lang="en-US" sz="2000" b="1" dirty="0"/>
              <a:t>times from 2013 to </a:t>
            </a:r>
            <a:r>
              <a:rPr lang="en-US" sz="2000" b="1" dirty="0" smtClean="0"/>
              <a:t>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78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C-J Model Replicated in District &amp; Upazilla Hospitals</a:t>
            </a:r>
            <a:endParaRPr lang="en-US" altLang="ja-JP" sz="40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16002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/>
              <a:t>1</a:t>
            </a:r>
            <a:r>
              <a:rPr lang="en-US" sz="2000" b="1" dirty="0" smtClean="0"/>
              <a:t>. </a:t>
            </a:r>
            <a:r>
              <a:rPr lang="en-US" sz="2000" b="1" dirty="0" err="1" smtClean="0"/>
              <a:t>Chuadanga</a:t>
            </a:r>
            <a:r>
              <a:rPr lang="en-US" sz="2000" b="1" dirty="0" smtClean="0"/>
              <a:t> District Hospital.</a:t>
            </a:r>
          </a:p>
          <a:p>
            <a:pPr marL="0" algn="just">
              <a:defRPr/>
            </a:pPr>
            <a:r>
              <a:rPr lang="en-US" sz="2000" dirty="0" smtClean="0"/>
              <a:t> </a:t>
            </a:r>
          </a:p>
          <a:p>
            <a:pPr marL="0" algn="just">
              <a:defRPr/>
            </a:pPr>
            <a:r>
              <a:rPr lang="en-US" sz="2000" b="1" dirty="0" smtClean="0"/>
              <a:t>2.  </a:t>
            </a:r>
            <a:r>
              <a:rPr lang="en-US" sz="2000" b="1" dirty="0" err="1" smtClean="0"/>
              <a:t>Cok,s</a:t>
            </a:r>
            <a:r>
              <a:rPr lang="en-US" sz="2000" b="1" dirty="0" smtClean="0"/>
              <a:t> bazar District hospital .</a:t>
            </a:r>
            <a:endParaRPr lang="en-US" sz="2000" b="1" dirty="0"/>
          </a:p>
          <a:p>
            <a:pPr marL="0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/>
              <a:t>3</a:t>
            </a:r>
            <a:r>
              <a:rPr lang="en-US" sz="2000" b="1" dirty="0" smtClean="0"/>
              <a:t>.Joypurhat District Hospital 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4.Thakurjon District </a:t>
            </a:r>
            <a:r>
              <a:rPr lang="en-US" sz="2000" b="1" dirty="0"/>
              <a:t> </a:t>
            </a:r>
            <a:r>
              <a:rPr lang="en-US" sz="2000" b="1" dirty="0" smtClean="0"/>
              <a:t>Hospital </a:t>
            </a:r>
            <a:endParaRPr lang="en-US" sz="1000" dirty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/>
              <a:t>5</a:t>
            </a:r>
            <a:r>
              <a:rPr lang="en-US" sz="2000" b="1" dirty="0" smtClean="0"/>
              <a:t>.Jessore District Hospital .  6. </a:t>
            </a:r>
            <a:r>
              <a:rPr lang="en-US" sz="2000" b="1" dirty="0" err="1" smtClean="0"/>
              <a:t>Monirampur</a:t>
            </a:r>
            <a:r>
              <a:rPr lang="en-US" sz="2000" b="1" dirty="0" smtClean="0"/>
              <a:t> UHC ,</a:t>
            </a:r>
            <a:r>
              <a:rPr lang="en-US" sz="2000" b="1" dirty="0" err="1" smtClean="0"/>
              <a:t>Jessore</a:t>
            </a:r>
            <a:endParaRPr lang="en-US" sz="2000" b="1" dirty="0" smtClean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/>
              <a:t>7</a:t>
            </a:r>
            <a:r>
              <a:rPr lang="en-US" sz="2000" b="1" dirty="0" smtClean="0"/>
              <a:t>. </a:t>
            </a:r>
            <a:r>
              <a:rPr lang="en-US" sz="2000" b="1" dirty="0" err="1" smtClean="0"/>
              <a:t>Kot</a:t>
            </a:r>
            <a:r>
              <a:rPr lang="en-US" sz="2000" b="1" dirty="0" smtClean="0"/>
              <a:t> </a:t>
            </a:r>
            <a:r>
              <a:rPr lang="en-US" sz="2000" b="1" dirty="0" err="1"/>
              <a:t>C</a:t>
            </a:r>
            <a:r>
              <a:rPr lang="en-US" sz="2000" b="1" dirty="0" err="1" smtClean="0"/>
              <a:t>handpur</a:t>
            </a:r>
            <a:r>
              <a:rPr lang="en-US" sz="2000" b="1" dirty="0" smtClean="0"/>
              <a:t> UHC ,Jhenaidah</a:t>
            </a:r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/>
              <a:t>8</a:t>
            </a:r>
            <a:r>
              <a:rPr lang="en-US" sz="2000" b="1" dirty="0" smtClean="0"/>
              <a:t>.Monpura UHC, </a:t>
            </a:r>
            <a:r>
              <a:rPr lang="en-US" sz="2000" b="1" dirty="0" err="1" smtClean="0"/>
              <a:t>Bhola</a:t>
            </a:r>
            <a:endParaRPr lang="en-US" sz="2000" b="1" dirty="0" smtClean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/>
              <a:t>9</a:t>
            </a:r>
            <a:r>
              <a:rPr lang="en-US" sz="2000" b="1" dirty="0" smtClean="0"/>
              <a:t>.Birganj UHC, </a:t>
            </a:r>
            <a:r>
              <a:rPr lang="en-US" sz="2000" b="1" dirty="0" err="1" smtClean="0"/>
              <a:t>Dinazpur</a:t>
            </a:r>
            <a:endParaRPr lang="en-US" sz="2000" b="1" dirty="0" smtClean="0"/>
          </a:p>
          <a:p>
            <a:pPr marL="0" algn="just">
              <a:defRPr/>
            </a:pPr>
            <a:endParaRPr lang="en-US" sz="2000" b="1" dirty="0" smtClean="0"/>
          </a:p>
          <a:p>
            <a:pPr marL="0" algn="just">
              <a:defRPr/>
            </a:pPr>
            <a:r>
              <a:rPr lang="en-US" sz="2000" b="1" dirty="0" smtClean="0"/>
              <a:t>10.Malandah UHC </a:t>
            </a:r>
            <a:r>
              <a:rPr lang="en-US" sz="2000" b="1" dirty="0" err="1" smtClean="0"/>
              <a:t>Jamalpur</a:t>
            </a:r>
            <a:endParaRPr lang="en-US" sz="2000" b="1" dirty="0" smtClean="0"/>
          </a:p>
          <a:p>
            <a:pPr marL="0" algn="just">
              <a:defRPr/>
            </a:pP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006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6824" y="-152400"/>
            <a:ext cx="9144000" cy="1371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Need to implement health related SDG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by 2030</a:t>
            </a:r>
            <a:endParaRPr lang="en-US" altLang="ja-JP" sz="40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28600" y="1752599"/>
            <a:ext cx="8458200" cy="46300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800" b="1" dirty="0" smtClean="0"/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01 M.A in every community clinic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 bedded hospital with 2 doctors, 6 nurses          and paramedics in every union.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100 bedded hospital  In every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U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pazilla</a:t>
            </a:r>
          </a:p>
          <a:p>
            <a:pPr marL="0" algn="just">
              <a:defRPr/>
            </a:pPr>
            <a:endParaRPr lang="en-US" sz="2800" b="1" dirty="0" smtClean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500 bedded hospital in every district. 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826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6689</TotalTime>
  <Words>1492</Words>
  <Application>Microsoft Office PowerPoint</Application>
  <PresentationFormat>On-screen Show (4:3)</PresentationFormat>
  <Paragraphs>526</Paragraphs>
  <Slides>43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PowerPoint Presentation</vt:lpstr>
      <vt:lpstr>PowerPoint Presentation</vt:lpstr>
      <vt:lpstr>PowerPoint Presentation</vt:lpstr>
      <vt:lpstr>নড়াইলের লোহাগড়া উপজেলায় ইউনিয়নওয়ারী জরীপে জনসম্পদের তথ্য</vt:lpstr>
      <vt:lpstr>PowerPoint Presentation</vt:lpstr>
      <vt:lpstr>PowerPoint Presentation</vt:lpstr>
      <vt:lpstr>PowerPoint Presentation</vt:lpstr>
      <vt:lpstr>A Sub-district level  Hospital with a Vision …</vt:lpstr>
      <vt:lpstr>PowerPoint Presentation</vt:lpstr>
      <vt:lpstr>C-J model Contd.</vt:lpstr>
      <vt:lpstr>PowerPoint Presentation</vt:lpstr>
      <vt:lpstr>Upazila Health  Complex CHOWGACHA , JESSORE.</vt:lpstr>
      <vt:lpstr>PowerPoint Presentation</vt:lpstr>
      <vt:lpstr>Community supported volunteer working in ANC corner</vt:lpstr>
      <vt:lpstr>Upazila Health  Complex CHOWGACHA , JESSORE.</vt:lpstr>
      <vt:lpstr>Upazila Health  Complex CHOWGACHA , JESSORE.</vt:lpstr>
      <vt:lpstr>Upazilla Health  Complex CHOWGACHA , JESSORE.</vt:lpstr>
      <vt:lpstr>PowerPoint Presentation</vt:lpstr>
      <vt:lpstr>Achievement of Chowgacha Health Complex</vt:lpstr>
      <vt:lpstr>PowerPoint Presentation</vt:lpstr>
      <vt:lpstr>PowerPoint Presentation</vt:lpstr>
      <vt:lpstr>100 kh¨v wewkó m`i nvmcvZvj, wSbvB`n</vt:lpstr>
      <vt:lpstr>PowerPoint Presentation</vt:lpstr>
      <vt:lpstr>Challenges of the hospital in 2012</vt:lpstr>
      <vt:lpstr>PowerPoint Presentation</vt:lpstr>
      <vt:lpstr>Changes in EOC Ward</vt:lpstr>
      <vt:lpstr>PowerPoint Presentation</vt:lpstr>
      <vt:lpstr>Local Govt. (Paurashava) Participation</vt:lpstr>
      <vt:lpstr>PowerPoint Presentation</vt:lpstr>
      <vt:lpstr>Innovative activities of Jhenaidah Sadar Hospital Page: 1</vt:lpstr>
      <vt:lpstr>Innovative activities of Jhenaidah Sadar Hospital Page: 2 </vt:lpstr>
      <vt:lpstr>PowerPoint Presentation</vt:lpstr>
      <vt:lpstr>PowerPoint Presentation</vt:lpstr>
      <vt:lpstr>PowerPoint Presentation</vt:lpstr>
      <vt:lpstr>PowerPoint Presentation</vt:lpstr>
      <vt:lpstr>Emergency &amp; Out Door, Indoor  Service 1998 to 2018</vt:lpstr>
      <vt:lpstr>3 best performing EmOC Hospital in Khulna division - 2017</vt:lpstr>
      <vt:lpstr>Operation Service (Major) 2011 to 2018</vt:lpstr>
      <vt:lpstr>PowerPoint Presentation</vt:lpstr>
      <vt:lpstr>PowerPoint Presentation</vt:lpstr>
      <vt:lpstr>PowerPoint Presentation</vt:lpstr>
      <vt:lpstr>Hospital Environment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775</cp:revision>
  <cp:lastPrinted>2017-03-18T23:47:54Z</cp:lastPrinted>
  <dcterms:created xsi:type="dcterms:W3CDTF">2013-05-05T09:56:19Z</dcterms:created>
  <dcterms:modified xsi:type="dcterms:W3CDTF">2019-11-20T05:24:00Z</dcterms:modified>
</cp:coreProperties>
</file>