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5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6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4020" r:id="rId1"/>
  </p:sldMasterIdLst>
  <p:notesMasterIdLst>
    <p:notesMasterId r:id="rId47"/>
  </p:notesMasterIdLst>
  <p:sldIdLst>
    <p:sldId id="331" r:id="rId2"/>
    <p:sldId id="481" r:id="rId3"/>
    <p:sldId id="435" r:id="rId4"/>
    <p:sldId id="467" r:id="rId5"/>
    <p:sldId id="491" r:id="rId6"/>
    <p:sldId id="468" r:id="rId7"/>
    <p:sldId id="341" r:id="rId8"/>
    <p:sldId id="441" r:id="rId9"/>
    <p:sldId id="474" r:id="rId10"/>
    <p:sldId id="479" r:id="rId11"/>
    <p:sldId id="485" r:id="rId12"/>
    <p:sldId id="486" r:id="rId13"/>
    <p:sldId id="493" r:id="rId14"/>
    <p:sldId id="487" r:id="rId15"/>
    <p:sldId id="469" r:id="rId16"/>
    <p:sldId id="492" r:id="rId17"/>
    <p:sldId id="256" r:id="rId18"/>
    <p:sldId id="403" r:id="rId19"/>
    <p:sldId id="472" r:id="rId20"/>
    <p:sldId id="452" r:id="rId21"/>
    <p:sldId id="453" r:id="rId22"/>
    <p:sldId id="454" r:id="rId23"/>
    <p:sldId id="457" r:id="rId24"/>
    <p:sldId id="450" r:id="rId25"/>
    <p:sldId id="323" r:id="rId26"/>
    <p:sldId id="473" r:id="rId27"/>
    <p:sldId id="470" r:id="rId28"/>
    <p:sldId id="458" r:id="rId29"/>
    <p:sldId id="459" r:id="rId30"/>
    <p:sldId id="460" r:id="rId31"/>
    <p:sldId id="462" r:id="rId32"/>
    <p:sldId id="461" r:id="rId33"/>
    <p:sldId id="494" r:id="rId34"/>
    <p:sldId id="419" r:id="rId35"/>
    <p:sldId id="413" r:id="rId36"/>
    <p:sldId id="475" r:id="rId37"/>
    <p:sldId id="477" r:id="rId38"/>
    <p:sldId id="482" r:id="rId39"/>
    <p:sldId id="478" r:id="rId40"/>
    <p:sldId id="480" r:id="rId41"/>
    <p:sldId id="483" r:id="rId42"/>
    <p:sldId id="488" r:id="rId43"/>
    <p:sldId id="489" r:id="rId44"/>
    <p:sldId id="490" r:id="rId45"/>
    <p:sldId id="484" r:id="rId4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99"/>
    <a:srgbClr val="33CC33"/>
    <a:srgbClr val="00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91815" autoAdjust="0"/>
  </p:normalViewPr>
  <p:slideViewPr>
    <p:cSldViewPr>
      <p:cViewPr>
        <p:scale>
          <a:sx n="66" d="100"/>
          <a:sy n="66" d="100"/>
        </p:scale>
        <p:origin x="-1734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6573056"/>
        <c:axId val="219369856"/>
      </c:barChart>
      <c:catAx>
        <c:axId val="216573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9369856"/>
        <c:crosses val="autoZero"/>
        <c:auto val="1"/>
        <c:lblAlgn val="ctr"/>
        <c:lblOffset val="100"/>
        <c:noMultiLvlLbl val="0"/>
      </c:catAx>
      <c:valAx>
        <c:axId val="21936985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165730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3272064"/>
        <c:axId val="213273600"/>
      </c:barChart>
      <c:catAx>
        <c:axId val="2132720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3273600"/>
        <c:crosses val="autoZero"/>
        <c:auto val="1"/>
        <c:lblAlgn val="ctr"/>
        <c:lblOffset val="100"/>
        <c:noMultiLvlLbl val="0"/>
      </c:catAx>
      <c:valAx>
        <c:axId val="2132736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327206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3602304"/>
        <c:axId val="213603840"/>
      </c:barChart>
      <c:catAx>
        <c:axId val="21360230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3603840"/>
        <c:crosses val="autoZero"/>
        <c:auto val="1"/>
        <c:lblAlgn val="ctr"/>
        <c:lblOffset val="100"/>
        <c:noMultiLvlLbl val="0"/>
      </c:catAx>
      <c:valAx>
        <c:axId val="2136038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36023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13650816"/>
        <c:axId val="213685376"/>
        <c:axId val="0"/>
      </c:bar3DChart>
      <c:catAx>
        <c:axId val="2136508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3685376"/>
        <c:crosses val="autoZero"/>
        <c:auto val="1"/>
        <c:lblAlgn val="ctr"/>
        <c:lblOffset val="100"/>
        <c:noMultiLvlLbl val="0"/>
      </c:catAx>
      <c:valAx>
        <c:axId val="2136853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36508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>
        <c:manualLayout>
          <c:layoutTarget val="inner"/>
          <c:xMode val="edge"/>
          <c:yMode val="edge"/>
          <c:x val="0.10991379310344827"/>
          <c:y val="8.1784386617100371E-2"/>
          <c:w val="0.81681034482758619"/>
          <c:h val="0.736059479553903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solidFill>
              <a:srgbClr val="9999FF"/>
            </a:solidFill>
            <a:ln w="20937">
              <a:solidFill>
                <a:srgbClr val="000000"/>
              </a:solidFill>
              <a:prstDash val="solid"/>
            </a:ln>
          </c:spPr>
          <c:invertIfNegative val="0"/>
          <c:dLbls>
            <c:spPr>
              <a:noFill/>
              <a:ln w="41874">
                <a:noFill/>
              </a:ln>
            </c:spPr>
            <c:txPr>
              <a:bodyPr/>
              <a:lstStyle/>
              <a:p>
                <a:pPr>
                  <a:defRPr sz="1566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Sheet1!$B$1:$O$1</c:f>
              <c:numCache>
                <c:formatCode>General</c:formatCode>
                <c:ptCount val="14"/>
                <c:pt idx="0">
                  <c:v>1997</c:v>
                </c:pt>
                <c:pt idx="1">
                  <c:v>1999</c:v>
                </c:pt>
                <c:pt idx="2">
                  <c:v>2000</c:v>
                </c:pt>
                <c:pt idx="3">
                  <c:v>2003</c:v>
                </c:pt>
                <c:pt idx="4">
                  <c:v>2005</c:v>
                </c:pt>
                <c:pt idx="5">
                  <c:v>2007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2014</c:v>
                </c:pt>
                <c:pt idx="10">
                  <c:v>2016</c:v>
                </c:pt>
                <c:pt idx="11">
                  <c:v>2017</c:v>
                </c:pt>
              </c:numCache>
            </c:numRef>
          </c:cat>
          <c:val>
            <c:numRef>
              <c:f>Sheet1!$B$2:$O$2</c:f>
              <c:numCache>
                <c:formatCode>General</c:formatCode>
                <c:ptCount val="14"/>
                <c:pt idx="0">
                  <c:v>151</c:v>
                </c:pt>
                <c:pt idx="1">
                  <c:v>228</c:v>
                </c:pt>
                <c:pt idx="2">
                  <c:v>312</c:v>
                </c:pt>
                <c:pt idx="3">
                  <c:v>661</c:v>
                </c:pt>
                <c:pt idx="4">
                  <c:v>1293</c:v>
                </c:pt>
                <c:pt idx="5">
                  <c:v>1899</c:v>
                </c:pt>
                <c:pt idx="6">
                  <c:v>3755</c:v>
                </c:pt>
                <c:pt idx="7">
                  <c:v>4413</c:v>
                </c:pt>
                <c:pt idx="8">
                  <c:v>3508</c:v>
                </c:pt>
                <c:pt idx="9">
                  <c:v>3422</c:v>
                </c:pt>
                <c:pt idx="10">
                  <c:v>3003</c:v>
                </c:pt>
                <c:pt idx="11">
                  <c:v>2898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21749632"/>
        <c:axId val="221752320"/>
      </c:barChart>
      <c:catAx>
        <c:axId val="221749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5234">
            <a:solidFill>
              <a:srgbClr val="000000"/>
            </a:solidFill>
            <a:prstDash val="solid"/>
          </a:ln>
        </c:spPr>
        <c:txPr>
          <a:bodyPr rot="-5400000" vert="horz"/>
          <a:lstStyle/>
          <a:p>
            <a:pPr>
              <a:defRPr sz="1566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175232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21752320"/>
        <c:scaling>
          <c:orientation val="minMax"/>
        </c:scaling>
        <c:delete val="0"/>
        <c:axPos val="l"/>
        <c:majorGridlines>
          <c:spPr>
            <a:ln w="5234">
              <a:solidFill>
                <a:srgbClr val="00000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5234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566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1749632"/>
        <c:crosses val="autoZero"/>
        <c:crossBetween val="between"/>
      </c:valAx>
      <c:spPr>
        <a:solidFill>
          <a:srgbClr val="C0C0C0"/>
        </a:solidFill>
        <a:ln w="20937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94827586206896552"/>
          <c:y val="0.40892193308550184"/>
          <c:w val="4.3103448275862072E-2"/>
          <c:h val="7.8066914498141265E-2"/>
        </c:manualLayout>
      </c:layout>
      <c:overlay val="0"/>
      <c:spPr>
        <a:solidFill>
          <a:srgbClr val="FFFFFF"/>
        </a:solidFill>
        <a:ln w="5234">
          <a:solidFill>
            <a:srgbClr val="000000"/>
          </a:solidFill>
          <a:prstDash val="solid"/>
        </a:ln>
      </c:spPr>
      <c:txPr>
        <a:bodyPr/>
        <a:lstStyle/>
        <a:p>
          <a:pPr>
            <a:defRPr sz="1434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 w="5234">
      <a:solidFill>
        <a:srgbClr val="000000"/>
      </a:solidFill>
      <a:prstDash val="solid"/>
    </a:ln>
  </c:spPr>
  <c:txPr>
    <a:bodyPr/>
    <a:lstStyle/>
    <a:p>
      <a:pPr>
        <a:defRPr sz="1566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>
        <c:manualLayout>
          <c:layoutTarget val="inner"/>
          <c:xMode val="edge"/>
          <c:yMode val="edge"/>
          <c:x val="0.10991379310344827"/>
          <c:y val="8.1784386617100371E-2"/>
          <c:w val="0.81681034482758619"/>
          <c:h val="0.713754646840148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solidFill>
              <a:srgbClr val="9999FF"/>
            </a:solidFill>
            <a:ln w="18661">
              <a:solidFill>
                <a:srgbClr val="000000"/>
              </a:solidFill>
              <a:prstDash val="solid"/>
            </a:ln>
          </c:spPr>
          <c:invertIfNegative val="0"/>
          <c:dLbls>
            <c:spPr>
              <a:noFill/>
              <a:ln w="37321">
                <a:noFill/>
              </a:ln>
            </c:spPr>
            <c:txPr>
              <a:bodyPr/>
              <a:lstStyle/>
              <a:p>
                <a:pPr>
                  <a:defRPr sz="1396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Sheet1!$B$1:$S$1</c:f>
              <c:numCache>
                <c:formatCode>General</c:formatCode>
                <c:ptCount val="18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</c:numCache>
            </c:numRef>
          </c:cat>
          <c:val>
            <c:numRef>
              <c:f>Sheet1!$B$2:$S$2</c:f>
              <c:numCache>
                <c:formatCode>General</c:formatCode>
                <c:ptCount val="18"/>
                <c:pt idx="0">
                  <c:v>3</c:v>
                </c:pt>
                <c:pt idx="1">
                  <c:v>11</c:v>
                </c:pt>
                <c:pt idx="2">
                  <c:v>26</c:v>
                </c:pt>
                <c:pt idx="3">
                  <c:v>36</c:v>
                </c:pt>
                <c:pt idx="4">
                  <c:v>184</c:v>
                </c:pt>
                <c:pt idx="5">
                  <c:v>310</c:v>
                </c:pt>
                <c:pt idx="6">
                  <c:v>363</c:v>
                </c:pt>
                <c:pt idx="7">
                  <c:v>473</c:v>
                </c:pt>
                <c:pt idx="8">
                  <c:v>567</c:v>
                </c:pt>
                <c:pt idx="9">
                  <c:v>842</c:v>
                </c:pt>
                <c:pt idx="10">
                  <c:v>962</c:v>
                </c:pt>
                <c:pt idx="11">
                  <c:v>1007</c:v>
                </c:pt>
                <c:pt idx="12">
                  <c:v>785</c:v>
                </c:pt>
                <c:pt idx="13">
                  <c:v>900</c:v>
                </c:pt>
                <c:pt idx="14">
                  <c:v>979</c:v>
                </c:pt>
                <c:pt idx="15">
                  <c:v>1035</c:v>
                </c:pt>
                <c:pt idx="16">
                  <c:v>727</c:v>
                </c:pt>
                <c:pt idx="17">
                  <c:v>759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21608192"/>
        <c:axId val="221971584"/>
      </c:barChart>
      <c:catAx>
        <c:axId val="2216081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4665">
            <a:solidFill>
              <a:srgbClr val="000000"/>
            </a:solidFill>
            <a:prstDash val="solid"/>
          </a:ln>
        </c:spPr>
        <c:txPr>
          <a:bodyPr rot="-2700000" vert="horz"/>
          <a:lstStyle/>
          <a:p>
            <a:pPr>
              <a:defRPr sz="1396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1971584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21971584"/>
        <c:scaling>
          <c:orientation val="minMax"/>
        </c:scaling>
        <c:delete val="0"/>
        <c:axPos val="l"/>
        <c:majorGridlines>
          <c:spPr>
            <a:ln w="4665">
              <a:solidFill>
                <a:srgbClr val="00000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466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396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1608192"/>
        <c:crosses val="autoZero"/>
        <c:crossBetween val="between"/>
      </c:valAx>
      <c:spPr>
        <a:solidFill>
          <a:srgbClr val="C0C0C0"/>
        </a:solidFill>
        <a:ln w="18661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94827586206896552"/>
          <c:y val="0.39776951672862454"/>
          <c:w val="4.3103448275862072E-2"/>
          <c:h val="7.8066914498141265E-2"/>
        </c:manualLayout>
      </c:layout>
      <c:overlay val="0"/>
      <c:spPr>
        <a:solidFill>
          <a:srgbClr val="FFFFFF"/>
        </a:solidFill>
        <a:ln w="4665">
          <a:solidFill>
            <a:srgbClr val="000000"/>
          </a:solidFill>
          <a:prstDash val="solid"/>
        </a:ln>
      </c:spPr>
      <c:txPr>
        <a:bodyPr/>
        <a:lstStyle/>
        <a:p>
          <a:pPr>
            <a:defRPr sz="1278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 w="4665">
      <a:solidFill>
        <a:srgbClr val="000000"/>
      </a:solidFill>
      <a:prstDash val="solid"/>
    </a:ln>
  </c:spPr>
  <c:txPr>
    <a:bodyPr/>
    <a:lstStyle/>
    <a:p>
      <a:pPr>
        <a:defRPr sz="1396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3/12/2019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176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3DF0A83-1C2C-46FD-91A7-FE0CE4615537}" type="slidenum">
              <a:rPr lang="en-US" sz="1200" smtClean="0"/>
              <a:pPr eaLnBrk="1" hangingPunct="1"/>
              <a:t>11</a:t>
            </a:fld>
            <a:endParaRPr lang="en-US" sz="1200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460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27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32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33</a:t>
            </a:fld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35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38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39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41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77E97B4-4284-4676-8E2A-9E73D57B32F9}" type="slidenum">
              <a:rPr lang="en-US">
                <a:solidFill>
                  <a:prstClr val="black"/>
                </a:solidFill>
              </a:rPr>
              <a:pPr eaLnBrk="1" hangingPunct="1"/>
              <a:t>42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340A284-45EA-4A92-A67B-3067C6E40EA9}" type="slidenum">
              <a:rPr lang="en-US" smtClean="0"/>
              <a:pPr eaLnBrk="1" hangingPunct="1"/>
              <a:t>43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45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3/12/2019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9749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3/12/2019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48783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3/12/2019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87377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3/12/2019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67758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3/12/2019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38735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3/12/2019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15321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3/12/2019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1573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3/12/2019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9143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3/12/2019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83839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3/12/2019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90610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3/12/2019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6562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2019/3/12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41181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1.jpe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-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Model: Challenges and Achievement 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9600" y="5215957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 Consultant 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029" y="1596571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8" y="1600200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518726" y="4946876"/>
            <a:ext cx="1819434" cy="167693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088872"/>
              </p:ext>
            </p:extLst>
          </p:nvPr>
        </p:nvGraphicFramePr>
        <p:xfrm>
          <a:off x="148988" y="990600"/>
          <a:ext cx="8894764" cy="551387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07670"/>
                <a:gridCol w="1757942"/>
                <a:gridCol w="1512798"/>
                <a:gridCol w="1313718"/>
                <a:gridCol w="1248032"/>
                <a:gridCol w="1227302"/>
                <a:gridCol w="1227302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 %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37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11.08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28.0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14.79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36.67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38.43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65.06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60.41</a:t>
                      </a: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66.40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03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67.00</a:t>
                      </a: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</a:t>
            </a:r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9281391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051" y="2362200"/>
            <a:ext cx="383724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CHOWGACHA UPAZILA  </a:t>
            </a:r>
            <a:r>
              <a:rPr lang="en-US" sz="3200" b="1" dirty="0">
                <a:solidFill>
                  <a:schemeClr val="bg1"/>
                </a:solidFill>
              </a:rPr>
              <a:t>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1" y="2362200"/>
            <a:ext cx="4041940" cy="31242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358941" y="5638800"/>
            <a:ext cx="4365459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Previous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4987337" y="5638800"/>
            <a:ext cx="3828051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Present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624219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3600" b="1" dirty="0"/>
              <a:t>A Sub-district level </a:t>
            </a:r>
            <a:r>
              <a:rPr lang="en-US" sz="3600" b="1" dirty="0" smtClean="0"/>
              <a:t>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47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228600"/>
            <a:ext cx="8229600" cy="1143000"/>
          </a:xfrm>
        </p:spPr>
        <p:txBody>
          <a:bodyPr/>
          <a:lstStyle/>
          <a:p>
            <a:r>
              <a:rPr lang="en-GB" dirty="0" smtClean="0"/>
              <a:t>Background History of C-J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85800"/>
            <a:ext cx="8229600" cy="597376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GB" sz="2800" dirty="0" smtClean="0"/>
              <a:t> </a:t>
            </a:r>
            <a:r>
              <a:rPr lang="en-GB" sz="2800" dirty="0"/>
              <a:t>P</a:t>
            </a:r>
            <a:r>
              <a:rPr lang="en-GB" sz="2800" dirty="0" smtClean="0"/>
              <a:t>rogram starts primarily  in Chowgacha UHC in 1986 </a:t>
            </a:r>
          </a:p>
          <a:p>
            <a:r>
              <a:rPr lang="en-GB" sz="2800" dirty="0" smtClean="0"/>
              <a:t>In 1996 effectively   starts the model</a:t>
            </a:r>
          </a:p>
          <a:p>
            <a:r>
              <a:rPr lang="en-GB" sz="2800" dirty="0" smtClean="0"/>
              <a:t>In </a:t>
            </a:r>
            <a:r>
              <a:rPr lang="en-GB" sz="2800" dirty="0"/>
              <a:t>J</a:t>
            </a:r>
            <a:r>
              <a:rPr lang="en-GB" sz="2800" dirty="0" smtClean="0"/>
              <a:t>une 2008 ,MOH&amp;FW declared the Chowgacha                  UHC as Model UHC of Bangladesh.  </a:t>
            </a:r>
          </a:p>
          <a:p>
            <a:r>
              <a:rPr lang="en-GB" sz="2800" dirty="0" smtClean="0"/>
              <a:t>In 2010 D G of WHO recommended to replicate it.</a:t>
            </a:r>
          </a:p>
          <a:p>
            <a:r>
              <a:rPr lang="en-GB" sz="2800" dirty="0" smtClean="0"/>
              <a:t>Jhenaidah </a:t>
            </a:r>
            <a:r>
              <a:rPr lang="en-GB" sz="2800" dirty="0" err="1"/>
              <a:t>S</a:t>
            </a:r>
            <a:r>
              <a:rPr lang="en-GB" sz="2800" dirty="0" err="1" smtClean="0"/>
              <a:t>adar</a:t>
            </a:r>
            <a:r>
              <a:rPr lang="en-GB" sz="2800" dirty="0" smtClean="0"/>
              <a:t>  Hospital Model starts in 2012</a:t>
            </a:r>
          </a:p>
          <a:p>
            <a:r>
              <a:rPr lang="en-GB" sz="2800" dirty="0" smtClean="0"/>
              <a:t>C-J Model replicate in 2015 by MOHFW in 10 district hospital.</a:t>
            </a:r>
          </a:p>
          <a:p>
            <a:r>
              <a:rPr lang="en-GB" sz="2800" dirty="0" smtClean="0"/>
              <a:t>In2019 replicating  by the order of PM office in 60  district  &amp; Upazilla hospital by DGHS                              </a:t>
            </a:r>
            <a:r>
              <a:rPr lang="en-GB" dirty="0" smtClean="0"/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28342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0" y="2810889"/>
            <a:ext cx="3733800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4800600" y="2826261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8" name="Picture 4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254" y="3684253"/>
            <a:ext cx="4257490" cy="3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80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3" y="182562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839" y="3462337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46839" y="609600"/>
            <a:ext cx="4039961" cy="137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dirty="0"/>
              <a:t>Community Supported </a:t>
            </a:r>
            <a:r>
              <a:rPr lang="en-US" dirty="0" smtClean="0"/>
              <a:t>Volunteer </a:t>
            </a:r>
            <a:r>
              <a:rPr lang="en-US" dirty="0"/>
              <a:t>Working as receptionist</a:t>
            </a:r>
            <a:r>
              <a:rPr lang="en-US" dirty="0" smtClean="0"/>
              <a:t>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3" y="4114800"/>
            <a:ext cx="4308475" cy="1143000"/>
          </a:xfrm>
        </p:spPr>
        <p:txBody>
          <a:bodyPr>
            <a:normAutofit fontScale="90000"/>
          </a:bodyPr>
          <a:lstStyle/>
          <a:p>
            <a:r>
              <a:rPr lang="en-GB" sz="3200" dirty="0" smtClean="0"/>
              <a:t>Community supported volunteer working in ANC corner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graphicFrame>
        <p:nvGraphicFramePr>
          <p:cNvPr id="10245" name="Object 25"/>
          <p:cNvGraphicFramePr>
            <a:graphicFrameLocks noGrp="1" noChangeAspect="1"/>
          </p:cNvGraphicFramePr>
          <p:nvPr>
            <p:ph sz="half" idx="2"/>
          </p:nvPr>
        </p:nvGraphicFramePr>
        <p:xfrm>
          <a:off x="990600" y="2286000"/>
          <a:ext cx="7162800" cy="407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4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86000"/>
                        <a:ext cx="7162800" cy="407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(ANC First Visit)</a:t>
            </a:r>
          </a:p>
        </p:txBody>
      </p:sp>
    </p:spTree>
    <p:extLst>
      <p:ext uri="{BB962C8B-B14F-4D97-AF65-F5344CB8AC3E}">
        <p14:creationId xmlns:p14="http://schemas.microsoft.com/office/powerpoint/2010/main" val="9650833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28690807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4023328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600" b="1" smtClean="0"/>
              <a:t>Upazila Health  Complex</a:t>
            </a:r>
            <a:br>
              <a:rPr lang="en-US" sz="3600" b="1" smtClean="0"/>
            </a:br>
            <a:r>
              <a:rPr lang="en-US" sz="2800" b="1" smtClean="0"/>
              <a:t>CHOWGACHA , JESSORE.</a:t>
            </a:r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660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Comparative Data of Delivery of best performing EOC center of Khulna Division in 2011</a:t>
            </a:r>
          </a:p>
        </p:txBody>
      </p:sp>
      <p:graphicFrame>
        <p:nvGraphicFramePr>
          <p:cNvPr id="19778" name="Group 322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89151184"/>
              </p:ext>
            </p:extLst>
          </p:nvPr>
        </p:nvGraphicFramePr>
        <p:xfrm>
          <a:off x="457200" y="2819400"/>
          <a:ext cx="8153400" cy="2670178"/>
        </p:xfrm>
        <a:graphic>
          <a:graphicData uri="http://schemas.openxmlformats.org/drawingml/2006/table">
            <a:tbl>
              <a:tblPr/>
              <a:tblGrid>
                <a:gridCol w="660400"/>
                <a:gridCol w="2336800"/>
                <a:gridCol w="1117600"/>
                <a:gridCol w="1054100"/>
                <a:gridCol w="1003300"/>
                <a:gridCol w="990600"/>
                <a:gridCol w="990600"/>
              </a:tblGrid>
              <a:tr h="60960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 of institute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NVD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Del.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Breech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Section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83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01.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Chowgacha UHC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3346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02.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Khulna Medical College Hospital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1356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83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03.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Jessore 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1327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1498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04.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Khustia 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1728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915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05.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Jhenidah Sador Hospital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1914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430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2337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49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27736407"/>
              </p:ext>
            </p:extLst>
          </p:nvPr>
        </p:nvGraphicFramePr>
        <p:xfrm>
          <a:off x="443552" y="2133600"/>
          <a:ext cx="8153399" cy="306620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01</a:t>
                      </a:r>
                      <a:endParaRPr lang="en-US" sz="18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02</a:t>
                      </a:r>
                      <a:endParaRPr lang="en-US" sz="18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03</a:t>
                      </a:r>
                      <a:endParaRPr lang="en-US" sz="18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04</a:t>
                      </a:r>
                      <a:endParaRPr lang="en-US" sz="18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4955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05</a:t>
                      </a:r>
                      <a:endParaRPr lang="en-US" sz="18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250</a:t>
                      </a:r>
                      <a:r>
                        <a:rPr lang="en-GB" sz="1600" b="1" baseline="0" dirty="0" smtClean="0"/>
                        <a:t> Bedded Hospital, </a:t>
                      </a:r>
                      <a:r>
                        <a:rPr lang="en-GB" sz="1600" b="1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/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62020" y="644288"/>
            <a:ext cx="8153400" cy="99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r>
              <a:rPr lang="en-US" sz="2400" b="1" dirty="0" smtClean="0">
                <a:solidFill>
                  <a:schemeClr val="bg1"/>
                </a:solidFill>
              </a:rPr>
              <a:t>Comparative Data of Delivery of best performing EOC center of Khulna Division in 2017</a:t>
            </a:r>
          </a:p>
        </p:txBody>
      </p:sp>
    </p:spTree>
    <p:extLst>
      <p:ext uri="{BB962C8B-B14F-4D97-AF65-F5344CB8AC3E}">
        <p14:creationId xmlns:p14="http://schemas.microsoft.com/office/powerpoint/2010/main" val="213277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838228"/>
              </p:ext>
            </p:extLst>
          </p:nvPr>
        </p:nvGraphicFramePr>
        <p:xfrm>
          <a:off x="380997" y="759889"/>
          <a:ext cx="8534403" cy="60001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9057"/>
                <a:gridCol w="685800"/>
                <a:gridCol w="990600"/>
                <a:gridCol w="838200"/>
                <a:gridCol w="914400"/>
                <a:gridCol w="838200"/>
                <a:gridCol w="914400"/>
                <a:gridCol w="838200"/>
                <a:gridCol w="805546"/>
              </a:tblGrid>
              <a:tr h="497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400" dirty="0">
                          <a:effectLst/>
                        </a:rPr>
                        <a:t>Subject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2003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649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Bed Occupancy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78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88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171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7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ANC (First Visit)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817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24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1228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59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2861</a:t>
                      </a:r>
                      <a:r>
                        <a:rPr lang="en-GB" sz="1400">
                          <a:effectLst/>
                        </a:rPr>
                        <a:t>)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88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4484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132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7292</a:t>
                      </a:r>
                      <a:r>
                        <a:rPr lang="en-GB" sz="1400">
                          <a:effectLst/>
                        </a:rPr>
                        <a:t>)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170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8935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130 (6632)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501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Hospital Delivery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   (</a:t>
                      </a:r>
                      <a:r>
                        <a:rPr lang="bn-IN" sz="1400">
                          <a:effectLst/>
                        </a:rPr>
                        <a:t>99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151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6</a:t>
                      </a:r>
                      <a:r>
                        <a:rPr lang="en-GB" sz="1400" dirty="0">
                          <a:effectLst/>
                        </a:rPr>
                        <a:t>.</a:t>
                      </a:r>
                      <a:r>
                        <a:rPr lang="bn-IN" sz="1400" dirty="0">
                          <a:effectLst/>
                        </a:rPr>
                        <a:t>4</a:t>
                      </a:r>
                      <a:r>
                        <a:rPr lang="en-GB" sz="1400" dirty="0">
                          <a:effectLst/>
                        </a:rPr>
                        <a:t> (</a:t>
                      </a:r>
                      <a:r>
                        <a:rPr lang="bn-IN" sz="1400" dirty="0">
                          <a:effectLst/>
                        </a:rPr>
                        <a:t>422</a:t>
                      </a:r>
                      <a:r>
                        <a:rPr lang="en-GB" sz="1400" dirty="0">
                          <a:effectLst/>
                        </a:rPr>
                        <a:t>)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15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661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    (</a:t>
                      </a:r>
                      <a:r>
                        <a:rPr lang="bn-IN" sz="1400">
                          <a:effectLst/>
                        </a:rPr>
                        <a:t>1899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4413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66 (</a:t>
                      </a:r>
                      <a:r>
                        <a:rPr lang="bn-IN" sz="1400">
                          <a:effectLst/>
                        </a:rPr>
                        <a:t>2932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714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C-Section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02</a:t>
                      </a:r>
                      <a:r>
                        <a:rPr lang="en-GB" sz="1400">
                          <a:effectLst/>
                        </a:rPr>
                        <a:t>      (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07</a:t>
                      </a:r>
                      <a:r>
                        <a:rPr lang="en-GB" sz="1400">
                          <a:effectLst/>
                        </a:rPr>
                        <a:t>   (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</a:t>
                      </a:r>
                      <a:r>
                        <a:rPr lang="en-GB" sz="1400">
                          <a:effectLst/>
                        </a:rPr>
                        <a:t>    (</a:t>
                      </a:r>
                      <a:r>
                        <a:rPr lang="bn-IN" sz="1400">
                          <a:effectLst/>
                        </a:rPr>
                        <a:t>36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473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1107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190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Population Increase rate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1</a:t>
                      </a:r>
                      <a:r>
                        <a:rPr lang="en-GB" sz="1400" dirty="0">
                          <a:effectLst/>
                        </a:rPr>
                        <a:t>.</a:t>
                      </a:r>
                      <a:r>
                        <a:rPr lang="bn-IN" sz="1400" dirty="0">
                          <a:effectLst/>
                        </a:rPr>
                        <a:t>57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1.71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846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Maternal Mortality </a:t>
                      </a:r>
                      <a:r>
                        <a:rPr lang="en-GB" sz="1400" dirty="0" smtClean="0">
                          <a:effectLst/>
                        </a:rPr>
                        <a:t>Ratio/100,000 </a:t>
                      </a:r>
                      <a:r>
                        <a:rPr lang="en-GB" sz="1400" dirty="0">
                          <a:effectLst/>
                        </a:rPr>
                        <a:t>live birth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599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300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114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91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370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Neonatal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47</a:t>
                      </a:r>
                      <a:r>
                        <a:rPr lang="en-GB" sz="1400">
                          <a:effectLst/>
                        </a:rPr>
                        <a:t> 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23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16.6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649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Infant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29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18.6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485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Under 5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78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25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21.1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698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Low birth weight rate(%)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36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74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15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288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636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72225"/>
            <a:ext cx="8382000" cy="353943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0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16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608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437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just">
              <a:spcBef>
                <a:spcPts val="0"/>
              </a:spcBef>
              <a:defRPr/>
            </a:pPr>
            <a:r>
              <a:rPr lang="en-US" sz="2800" dirty="0" smtClean="0"/>
              <a:t>In 2008,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800" dirty="0">
                <a:latin typeface="Symbol" pitchFamily="18" charset="2"/>
              </a:rPr>
              <a:t>	</a:t>
            </a:r>
            <a:endParaRPr lang="en-US" sz="28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/>
              <a:t>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/>
              <a:t>Chowgacha UHC  became the best EOC center  with 98.4% delivery rate in 2011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/>
              <a:t>Chowgacha </a:t>
            </a:r>
            <a:r>
              <a:rPr lang="en-US" dirty="0"/>
              <a:t>UHC achieved </a:t>
            </a:r>
            <a:r>
              <a:rPr lang="en-US" dirty="0" smtClean="0"/>
              <a:t>MDG target in 2009</a:t>
            </a:r>
            <a:r>
              <a:rPr lang="en-US" dirty="0"/>
              <a:t>. </a:t>
            </a:r>
            <a:endParaRPr lang="en-US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/>
              <a:t>Chowgacha Health complex is awarded for best performance in EOC form 2005 to 2014.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/>
              <a:t>Achieve Health Minister s Award for its best performances and also for EOC.in2017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/>
              <a:t>The UHC starts upgrade to 100  bedded hospital.</a:t>
            </a:r>
          </a:p>
        </p:txBody>
      </p:sp>
    </p:spTree>
    <p:extLst>
      <p:ext uri="{BB962C8B-B14F-4D97-AF65-F5344CB8AC3E}">
        <p14:creationId xmlns:p14="http://schemas.microsoft.com/office/powerpoint/2010/main" val="222050451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246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25000" lnSpcReduction="20000"/>
          </a:bodyPr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>
              <a:defRPr/>
            </a:pPr>
            <a:r>
              <a:rPr lang="en-US" sz="11200" b="1" i="1" dirty="0" smtClean="0"/>
              <a:t>In secured</a:t>
            </a:r>
            <a:r>
              <a:rPr lang="en-US" sz="11200" b="1" dirty="0" smtClean="0"/>
              <a:t>  hospital environment.</a:t>
            </a:r>
          </a:p>
          <a:p>
            <a:pPr marL="0" indent="0">
              <a:buNone/>
              <a:defRPr/>
            </a:pPr>
            <a:r>
              <a:rPr lang="en-US" sz="11200" dirty="0" smtClean="0"/>
              <a:t>	</a:t>
            </a:r>
            <a:endParaRPr lang="en-US" sz="11200" dirty="0"/>
          </a:p>
          <a:p>
            <a:pPr>
              <a:defRPr/>
            </a:pPr>
            <a:r>
              <a:rPr lang="en-US" sz="11200" b="1" dirty="0" smtClean="0"/>
              <a:t>Performance of all activities was very low.</a:t>
            </a:r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r>
              <a:rPr lang="en-US" sz="11200" b="1" dirty="0" smtClean="0"/>
              <a:t>Very limited support staff. </a:t>
            </a:r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r>
              <a:rPr lang="en-US" sz="11200" b="1" dirty="0" smtClean="0"/>
              <a:t>Receiving money from the patients by non-govt. staff.</a:t>
            </a:r>
          </a:p>
          <a:p>
            <a:pPr>
              <a:defRPr/>
            </a:pPr>
            <a:endParaRPr lang="en-US" sz="11200" b="1" dirty="0" smtClean="0"/>
          </a:p>
          <a:p>
            <a:pPr>
              <a:defRPr/>
            </a:pPr>
            <a:r>
              <a:rPr lang="en-US" sz="11200" b="1" dirty="0" smtClean="0"/>
              <a:t>Waste management system was poor.</a:t>
            </a:r>
          </a:p>
          <a:p>
            <a:pPr>
              <a:defRPr/>
            </a:pPr>
            <a:endParaRPr lang="en-US" sz="11200" b="1" dirty="0" smtClean="0"/>
          </a:p>
          <a:p>
            <a:pPr>
              <a:defRPr/>
            </a:pPr>
            <a:r>
              <a:rPr lang="en-US" sz="11200" b="1" dirty="0" smtClean="0"/>
              <a:t>Monitoring  </a:t>
            </a:r>
            <a:r>
              <a:rPr lang="en-US" sz="11200" b="1" dirty="0"/>
              <a:t>m</a:t>
            </a:r>
            <a:r>
              <a:rPr lang="en-US" sz="11200" b="1" dirty="0" smtClean="0"/>
              <a:t>eeting was not performed regularly</a:t>
            </a:r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endParaRPr lang="en-US" sz="112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 smtClean="0"/>
              <a:t>	</a:t>
            </a: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/>
              <a:t>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69875" y="628650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22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742950"/>
            <a:ext cx="4327525" cy="2906712"/>
          </a:xfrm>
          <a:prstGeom prst="rect">
            <a:avLst/>
          </a:prstGeom>
          <a:noFill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21179"/>
            <a:ext cx="4343400" cy="28384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3835287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810000"/>
            <a:ext cx="4343400" cy="2895600"/>
          </a:xfrm>
          <a:noFill/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4678362" y="7620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Meting of health improvement committee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804229" y="3933031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Meting of community </a:t>
            </a:r>
            <a:r>
              <a:rPr lang="en-US" b="1" dirty="0" smtClean="0">
                <a:solidFill>
                  <a:srgbClr val="FFFF00"/>
                </a:solidFill>
              </a:rPr>
              <a:t>support committee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236537" y="7620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FFFF00"/>
                </a:solidFill>
              </a:rPr>
              <a:t>Starting of 5S KIZEN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53975" y="38862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530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waist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212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914400"/>
            <a:ext cx="4419600" cy="2725738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914400"/>
            <a:ext cx="42846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7338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Alignment of pictures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Color code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00600" y="104548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Color code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12" name="Content Placeholder 6" descr="G:\G\Dr Emdad\fromyumi\IMG_7464.JPG"/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733800"/>
            <a:ext cx="4419600" cy="2984500"/>
          </a:xfrm>
        </p:spPr>
      </p:pic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4876800" y="3798888"/>
            <a:ext cx="2286000" cy="40011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 smtClean="0">
                <a:solidFill>
                  <a:srgbClr val="FFFF00"/>
                </a:solidFill>
              </a:rPr>
              <a:t>Big Cleaning Day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1120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8380" y="3807318"/>
            <a:ext cx="3920570" cy="282208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&amp;  pediatric Ward</a:t>
            </a:r>
          </a:p>
        </p:txBody>
      </p:sp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791029"/>
            <a:ext cx="3917950" cy="2903569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652" y="762000"/>
            <a:ext cx="3904147" cy="278095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797414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6842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Title 1"/>
          <p:cNvSpPr>
            <a:spLocks noGrp="1"/>
          </p:cNvSpPr>
          <p:nvPr>
            <p:ph type="title" sz="quarter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2800" b="1" smtClean="0"/>
              <a:t>Local Govt. (Paurashava) Participation</a:t>
            </a:r>
          </a:p>
        </p:txBody>
      </p:sp>
      <p:pic>
        <p:nvPicPr>
          <p:cNvPr id="21506" name="Picture 2" descr="DSC0241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1000"/>
            <a:ext cx="4419600" cy="3200400"/>
          </a:xfrm>
        </p:spPr>
      </p:pic>
      <p:pic>
        <p:nvPicPr>
          <p:cNvPr id="21507" name="Picture 4" descr="DSC02559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81000"/>
            <a:ext cx="4419600" cy="3200400"/>
          </a:xfr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505200"/>
            <a:ext cx="5029201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3733800"/>
            <a:ext cx="4419599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7879" y="609600"/>
            <a:ext cx="1123642" cy="40011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</a:rPr>
              <a:t>Before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5055590" y="632168"/>
            <a:ext cx="888009" cy="40011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</a:rPr>
              <a:t>After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3886200"/>
            <a:ext cx="1123642" cy="40011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</a:rPr>
              <a:t>Before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967711" y="3908768"/>
            <a:ext cx="888009" cy="40011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</a:rPr>
              <a:t>After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5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0877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611" y="3810001"/>
            <a:ext cx="4377403" cy="2666999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Rectangle 31"/>
          <p:cNvSpPr txBox="1">
            <a:spLocks noChangeArrowheads="1"/>
          </p:cNvSpPr>
          <p:nvPr/>
        </p:nvSpPr>
        <p:spPr bwMode="auto">
          <a:xfrm>
            <a:off x="5029200" y="1447799"/>
            <a:ext cx="3200400" cy="83820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Recovered Valuable </a:t>
            </a:r>
            <a:r>
              <a:rPr lang="en-US" sz="2400" dirty="0">
                <a:solidFill>
                  <a:srgbClr val="1F497D">
                    <a:lumMod val="75000"/>
                  </a:srgbClr>
                </a:solidFill>
              </a:rPr>
              <a:t>land after </a:t>
            </a: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sixty years.</a:t>
            </a:r>
          </a:p>
        </p:txBody>
      </p:sp>
      <p:sp>
        <p:nvSpPr>
          <p:cNvPr id="9" name="Rectangle 31"/>
          <p:cNvSpPr txBox="1">
            <a:spLocks noChangeArrowheads="1"/>
          </p:cNvSpPr>
          <p:nvPr/>
        </p:nvSpPr>
        <p:spPr bwMode="auto">
          <a:xfrm>
            <a:off x="609600" y="4419601"/>
            <a:ext cx="3581400" cy="1219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Arranged get man to control crowed in ward by Community support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4844267" y="762000"/>
            <a:ext cx="3914393" cy="27432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6487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10979458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Human resource 56 (Cleaner 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)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12 , Mayor of Jhenaidah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4, 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 role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provide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an inter-com, mayor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25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4099563234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6730392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710068167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9403872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865421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5514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182293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261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 err="1" smtClean="0"/>
              <a:t>upazilla</a:t>
            </a:r>
            <a:r>
              <a:rPr lang="en-US" sz="2000" b="1" dirty="0" smtClean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78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6824" y="-152400"/>
            <a:ext cx="9144000" cy="1371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Need to implement health related SDG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by 2030</a:t>
            </a:r>
            <a:endParaRPr lang="en-US" altLang="ja-JP" sz="40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228600" y="1752599"/>
            <a:ext cx="8458200" cy="46300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800" b="1" dirty="0" smtClean="0"/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I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n every community clinic 1 M.A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 bedded hospital with 3 doctors, 12 nurses          and paramedics in every union(primary healthcare </a:t>
            </a:r>
            <a:r>
              <a:rPr lang="en-US" sz="2800" b="1" dirty="0" err="1" smtClean="0">
                <a:solidFill>
                  <a:schemeClr val="tx2">
                    <a:lumMod val="75000"/>
                  </a:schemeClr>
                </a:solidFill>
              </a:rPr>
              <a:t>centre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100 bedded hospital  In every </a:t>
            </a:r>
            <a:r>
              <a:rPr lang="en-US" sz="2800" b="1" dirty="0" err="1" smtClean="0">
                <a:solidFill>
                  <a:schemeClr val="tx2">
                    <a:lumMod val="75000"/>
                  </a:schemeClr>
                </a:solidFill>
              </a:rPr>
              <a:t>upazilla</a:t>
            </a: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500 bedded hospital in every district. 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53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8"/>
            <a:ext cx="4502150" cy="2994025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9942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2" name="Object 2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92254754"/>
              </p:ext>
            </p:extLst>
          </p:nvPr>
        </p:nvGraphicFramePr>
        <p:xfrm>
          <a:off x="965200" y="2262188"/>
          <a:ext cx="7593013" cy="4279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</a:t>
            </a:r>
            <a:r>
              <a:rPr lang="en-US" sz="24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2017 </a:t>
            </a: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42130253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825507"/>
              </p:ext>
            </p:extLst>
          </p:nvPr>
        </p:nvGraphicFramePr>
        <p:xfrm>
          <a:off x="304803" y="685800"/>
          <a:ext cx="8610597" cy="62037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7850"/>
                <a:gridCol w="1063723"/>
                <a:gridCol w="900073"/>
                <a:gridCol w="981898"/>
                <a:gridCol w="900073"/>
                <a:gridCol w="981898"/>
                <a:gridCol w="900073"/>
                <a:gridCol w="865009"/>
              </a:tblGrid>
              <a:tr h="4946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2000" b="1" dirty="0">
                          <a:effectLst/>
                        </a:rPr>
                        <a:t>Subject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1996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1997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2000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2003 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2007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2011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2017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895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Bed Occupancy Rate %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</a:rPr>
                        <a:t>-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78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9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93</a:t>
                      </a:r>
                      <a:r>
                        <a:rPr lang="en-GB" sz="2000" b="1">
                          <a:effectLst/>
                        </a:rPr>
                        <a:t>.</a:t>
                      </a:r>
                      <a:r>
                        <a:rPr lang="bn-IN" sz="2000" b="1">
                          <a:effectLst/>
                        </a:rPr>
                        <a:t>5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88</a:t>
                      </a:r>
                      <a:r>
                        <a:rPr lang="en-GB" sz="2000" b="1">
                          <a:effectLst/>
                        </a:rPr>
                        <a:t>.</a:t>
                      </a:r>
                      <a:r>
                        <a:rPr lang="bn-IN" sz="2000" b="1">
                          <a:effectLst/>
                        </a:rPr>
                        <a:t>9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201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208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171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46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ANC (First Visit)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16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3</a:t>
                      </a:r>
                      <a:r>
                        <a:rPr lang="en-GB" sz="2000" b="1" dirty="0">
                          <a:effectLst/>
                        </a:rPr>
                        <a:t> 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24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 smtClean="0">
                          <a:effectLst/>
                        </a:rPr>
                        <a:t>6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 smtClean="0">
                          <a:effectLst/>
                        </a:rPr>
                        <a:t>59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 smtClean="0">
                          <a:effectLst/>
                        </a:rPr>
                        <a:t>88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 smtClean="0">
                          <a:effectLst/>
                        </a:rPr>
                        <a:t>132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 smtClean="0">
                          <a:effectLst/>
                        </a:rPr>
                        <a:t>170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 smtClean="0">
                          <a:effectLst/>
                        </a:rPr>
                        <a:t>130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895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Hospital Delivery Rate %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2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1</a:t>
                      </a:r>
                      <a:r>
                        <a:rPr lang="en-GB" sz="2000" b="1" dirty="0">
                          <a:effectLst/>
                        </a:rPr>
                        <a:t>   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3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 smtClean="0">
                          <a:effectLst/>
                        </a:rPr>
                        <a:t>4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6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 smtClean="0">
                          <a:effectLst/>
                        </a:rPr>
                        <a:t>4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15</a:t>
                      </a:r>
                      <a:r>
                        <a:rPr lang="en-GB" sz="2000" b="1" dirty="0">
                          <a:effectLst/>
                        </a:rPr>
                        <a:t>  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38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1</a:t>
                      </a:r>
                      <a:r>
                        <a:rPr lang="en-GB" sz="2000" b="1" dirty="0">
                          <a:effectLst/>
                        </a:rPr>
                        <a:t>    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98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4</a:t>
                      </a:r>
                      <a:r>
                        <a:rPr lang="en-GB" sz="2000" b="1" dirty="0">
                          <a:effectLst/>
                        </a:rPr>
                        <a:t> 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</a:rPr>
                        <a:t>66 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686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C-Section rate %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02</a:t>
                      </a:r>
                      <a:r>
                        <a:rPr lang="en-GB" sz="2000" b="1" dirty="0">
                          <a:effectLst/>
                        </a:rPr>
                        <a:t>      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0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0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 smtClean="0">
                          <a:effectLst/>
                        </a:rPr>
                        <a:t>07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0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8</a:t>
                      </a:r>
                      <a:r>
                        <a:rPr lang="en-GB" sz="2000" b="1" dirty="0">
                          <a:effectLst/>
                        </a:rPr>
                        <a:t>  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9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 smtClean="0">
                          <a:effectLst/>
                        </a:rPr>
                        <a:t>6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22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 smtClean="0">
                          <a:effectLst/>
                        </a:rPr>
                        <a:t>5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>
                          <a:effectLst/>
                        </a:rPr>
                        <a:t>17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895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Population Increase rate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1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86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1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66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1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7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1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57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>
                          <a:effectLst/>
                        </a:rPr>
                        <a:t>-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1</a:t>
                      </a:r>
                      <a:r>
                        <a:rPr lang="en-GB" sz="2000" b="1">
                          <a:effectLst/>
                        </a:rPr>
                        <a:t>.</a:t>
                      </a:r>
                      <a:r>
                        <a:rPr lang="bn-IN" sz="2000" b="1">
                          <a:effectLst/>
                        </a:rPr>
                        <a:t>36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>
                          <a:effectLst/>
                        </a:rPr>
                        <a:t>1.71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8932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Maternal Mortality Rate/100,000 live birth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300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206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168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114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160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68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>
                          <a:effectLst/>
                        </a:rPr>
                        <a:t>91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895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Neonatal </a:t>
                      </a:r>
                      <a:r>
                        <a:rPr lang="en-GB" sz="1800" b="1" dirty="0" err="1">
                          <a:effectLst/>
                        </a:rPr>
                        <a:t>mortaliy</a:t>
                      </a:r>
                      <a:r>
                        <a:rPr lang="en-GB" sz="1800" b="1" dirty="0">
                          <a:effectLst/>
                        </a:rPr>
                        <a:t> rate/ 1000 live birth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47</a:t>
                      </a:r>
                      <a:r>
                        <a:rPr lang="en-GB" sz="2000" b="1">
                          <a:effectLst/>
                        </a:rPr>
                        <a:t>  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42</a:t>
                      </a:r>
                      <a:r>
                        <a:rPr lang="en-GB" sz="2000" b="1">
                          <a:effectLst/>
                        </a:rPr>
                        <a:t>.</a:t>
                      </a:r>
                      <a:r>
                        <a:rPr lang="bn-IN" sz="2000" b="1">
                          <a:effectLst/>
                        </a:rPr>
                        <a:t>4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23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28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21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5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18</a:t>
                      </a:r>
                      <a:r>
                        <a:rPr lang="en-GB" sz="2000" b="1">
                          <a:effectLst/>
                        </a:rPr>
                        <a:t>.</a:t>
                      </a:r>
                      <a:r>
                        <a:rPr lang="bn-IN" sz="2000" b="1">
                          <a:effectLst/>
                        </a:rPr>
                        <a:t>2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>
                          <a:effectLst/>
                        </a:rPr>
                        <a:t>16.6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895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Infant </a:t>
                      </a:r>
                      <a:r>
                        <a:rPr lang="en-GB" sz="1800" b="1" dirty="0" err="1">
                          <a:effectLst/>
                        </a:rPr>
                        <a:t>mortaliy</a:t>
                      </a:r>
                      <a:r>
                        <a:rPr lang="en-GB" sz="1800" b="1" dirty="0">
                          <a:effectLst/>
                        </a:rPr>
                        <a:t> rate/ 1000 live birth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58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56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36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34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29</a:t>
                      </a:r>
                      <a:r>
                        <a:rPr lang="en-GB" sz="2000" b="1">
                          <a:effectLst/>
                        </a:rPr>
                        <a:t>.</a:t>
                      </a:r>
                      <a:r>
                        <a:rPr lang="bn-IN" sz="2000" b="1">
                          <a:effectLst/>
                        </a:rPr>
                        <a:t>2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23</a:t>
                      </a:r>
                      <a:r>
                        <a:rPr lang="en-GB" sz="2000" b="1">
                          <a:effectLst/>
                        </a:rPr>
                        <a:t>.</a:t>
                      </a:r>
                      <a:r>
                        <a:rPr lang="bn-IN" sz="2000" b="1">
                          <a:effectLst/>
                        </a:rPr>
                        <a:t>6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>
                          <a:effectLst/>
                        </a:rPr>
                        <a:t>18.6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446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Under 5 </a:t>
                      </a:r>
                      <a:r>
                        <a:rPr lang="en-GB" sz="1800" b="1" dirty="0" err="1">
                          <a:effectLst/>
                        </a:rPr>
                        <a:t>mortaliy</a:t>
                      </a:r>
                      <a:r>
                        <a:rPr lang="en-GB" sz="1800" b="1" dirty="0">
                          <a:effectLst/>
                        </a:rPr>
                        <a:t> rate/ 1000 live birth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67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>
                          <a:effectLst/>
                        </a:rPr>
                        <a:t>62</a:t>
                      </a:r>
                      <a:endParaRPr lang="en-GB" sz="20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44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43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33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3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2000" b="1" dirty="0">
                          <a:effectLst/>
                        </a:rPr>
                        <a:t>25</a:t>
                      </a:r>
                      <a:r>
                        <a:rPr lang="en-GB" sz="2000" b="1" dirty="0">
                          <a:effectLst/>
                        </a:rPr>
                        <a:t>.</a:t>
                      </a:r>
                      <a:r>
                        <a:rPr lang="bn-IN" sz="2000" b="1" dirty="0">
                          <a:effectLst/>
                        </a:rPr>
                        <a:t>7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</a:rPr>
                        <a:t>21.1</a:t>
                      </a:r>
                      <a:endParaRPr lang="en-GB" sz="20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04800" y="141448"/>
            <a:ext cx="8686800" cy="41549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Progress</a:t>
            </a:r>
            <a:r>
              <a:rPr kumimoji="0" lang="en-GB" sz="2400" b="1" i="0" u="none" strike="noStrike" cap="none" normalizeH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of Health Indicators in Chowgacha UHC </a:t>
            </a:r>
            <a:r>
              <a:rPr kumimoji="0" lang="bn-IN" sz="24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</a:t>
            </a:r>
            <a:r>
              <a:rPr kumimoji="0" lang="en-GB" sz="24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6</a:t>
            </a:r>
            <a:r>
              <a:rPr kumimoji="0" lang="bn-IN" sz="24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-2017</a:t>
            </a:r>
            <a:r>
              <a:rPr kumimoji="0" lang="en-GB" sz="24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)</a:t>
            </a:r>
            <a:endParaRPr kumimoji="0" lang="en-GB" sz="3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99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77247908"/>
              </p:ext>
            </p:extLst>
          </p:nvPr>
        </p:nvGraphicFramePr>
        <p:xfrm>
          <a:off x="443552" y="2133600"/>
          <a:ext cx="8153399" cy="347503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23981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640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3075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3715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  <a:endParaRPr kumimoji="0" lang="en-US" sz="16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05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495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06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250</a:t>
                      </a:r>
                      <a:r>
                        <a:rPr lang="en-GB" sz="1600" baseline="0" dirty="0" smtClean="0"/>
                        <a:t> Bedded Hospital, </a:t>
                      </a:r>
                      <a:r>
                        <a:rPr lang="en-GB" sz="1600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 smtClean="0"/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62020" y="644288"/>
            <a:ext cx="8153400" cy="99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r>
              <a:rPr lang="en-US" sz="2400" dirty="0" smtClean="0">
                <a:solidFill>
                  <a:schemeClr val="bg1"/>
                </a:solidFill>
              </a:rPr>
              <a:t>Comparative Data of Delivery of best performing EOC center of Khulna Division in 2017</a:t>
            </a:r>
          </a:p>
        </p:txBody>
      </p:sp>
    </p:spTree>
    <p:extLst>
      <p:ext uri="{BB962C8B-B14F-4D97-AF65-F5344CB8AC3E}">
        <p14:creationId xmlns:p14="http://schemas.microsoft.com/office/powerpoint/2010/main" val="139281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71908553"/>
              </p:ext>
            </p:extLst>
          </p:nvPr>
        </p:nvGraphicFramePr>
        <p:xfrm>
          <a:off x="462020" y="2057400"/>
          <a:ext cx="8153399" cy="4328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7865"/>
                <a:gridCol w="3017315"/>
                <a:gridCol w="1100052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25329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616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3444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4060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02</a:t>
                      </a:r>
                      <a:endParaRPr lang="en-US" sz="24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Jhenaidah  Sa </a:t>
                      </a:r>
                      <a:r>
                        <a:rPr kumimoji="0" lang="en-US" sz="24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dar</a:t>
                      </a: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12690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1795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887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2690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03</a:t>
                      </a:r>
                      <a:endParaRPr lang="en-US" sz="24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  <a:endParaRPr kumimoji="0" lang="en-US" sz="24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12871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1517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1573</a:t>
                      </a:r>
                      <a:endParaRPr kumimoji="0" lang="en-US" sz="24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3106</a:t>
                      </a:r>
                      <a:endParaRPr kumimoji="0" lang="en-US" sz="24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04</a:t>
                      </a:r>
                      <a:endParaRPr lang="en-US" sz="24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18229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1945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790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2756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05</a:t>
                      </a:r>
                      <a:endParaRPr lang="en-US" sz="24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M. C. Hospital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4122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1517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1256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2870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62020" y="644288"/>
            <a:ext cx="8153400" cy="99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r>
              <a:rPr lang="en-US" sz="2800" dirty="0" smtClean="0">
                <a:solidFill>
                  <a:schemeClr val="bg1"/>
                </a:solidFill>
              </a:rPr>
              <a:t>Comparative Data of Delivery of best performing EOC center of Khulna Division in 2018</a:t>
            </a:r>
          </a:p>
        </p:txBody>
      </p:sp>
    </p:spTree>
    <p:extLst>
      <p:ext uri="{BB962C8B-B14F-4D97-AF65-F5344CB8AC3E}">
        <p14:creationId xmlns:p14="http://schemas.microsoft.com/office/powerpoint/2010/main" val="66596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graphicFrame>
        <p:nvGraphicFramePr>
          <p:cNvPr id="2" name="Object 10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07876646"/>
              </p:ext>
            </p:extLst>
          </p:nvPr>
        </p:nvGraphicFramePr>
        <p:xfrm>
          <a:off x="990600" y="2489200"/>
          <a:ext cx="7543800" cy="3805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</a:t>
            </a:r>
            <a:r>
              <a:rPr lang="en-US" sz="24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2017 </a:t>
            </a: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34125940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25209614"/>
              </p:ext>
            </p:extLst>
          </p:nvPr>
        </p:nvGraphicFramePr>
        <p:xfrm>
          <a:off x="462020" y="2057400"/>
          <a:ext cx="8153399" cy="2194504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7865"/>
                <a:gridCol w="3017315"/>
                <a:gridCol w="1100052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2016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23014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600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2715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3315</a:t>
                      </a: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02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2017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23981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628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3015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3703</a:t>
                      </a: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2018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25329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661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3444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4060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62020" y="644288"/>
            <a:ext cx="8153400" cy="99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r>
              <a:rPr lang="en-US" sz="2800" dirty="0" smtClean="0">
                <a:solidFill>
                  <a:schemeClr val="bg1"/>
                </a:solidFill>
              </a:rPr>
              <a:t>Comparative Data of EOC  services in Ad-Din Hospital </a:t>
            </a:r>
            <a:r>
              <a:rPr lang="en-US" sz="2800" dirty="0" err="1" smtClean="0">
                <a:solidFill>
                  <a:schemeClr val="bg1"/>
                </a:solidFill>
              </a:rPr>
              <a:t>Jessore</a:t>
            </a:r>
            <a:r>
              <a:rPr lang="en-US" sz="2800" dirty="0" smtClean="0">
                <a:solidFill>
                  <a:schemeClr val="bg1"/>
                </a:solidFill>
              </a:rPr>
              <a:t>  from 2016- 2018,</a:t>
            </a:r>
          </a:p>
        </p:txBody>
      </p:sp>
    </p:spTree>
    <p:extLst>
      <p:ext uri="{BB962C8B-B14F-4D97-AF65-F5344CB8AC3E}">
        <p14:creationId xmlns:p14="http://schemas.microsoft.com/office/powerpoint/2010/main" val="286071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24001"/>
            <a:ext cx="8763000" cy="5029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In 1986, UHC is extended to nearby public library and opened 6 bedded indoor and started EPI, with the help of Upazilla </a:t>
            </a:r>
            <a:r>
              <a:rPr lang="en-US" sz="2400" b="1" dirty="0" err="1" smtClean="0"/>
              <a:t>Parishad</a:t>
            </a:r>
            <a:r>
              <a:rPr lang="en-US" sz="2400" b="1" dirty="0" smtClean="0"/>
              <a:t>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500" b="1" dirty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In 1994, health complex shifted to new 31 bedded hospital, with 6 bedded </a:t>
            </a:r>
            <a:r>
              <a:rPr lang="en-US" sz="2400" b="1" dirty="0" err="1" smtClean="0"/>
              <a:t>labour</a:t>
            </a:r>
            <a:r>
              <a:rPr lang="en-US" sz="2400" b="1" dirty="0" smtClean="0"/>
              <a:t> ward.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UHFPO opened 4 special activities headed by medical officers in Feb. 1996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2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400" b="1" u="sng" dirty="0"/>
              <a:t>F</a:t>
            </a:r>
            <a:r>
              <a:rPr lang="en-US" sz="2400" b="1" u="sng" dirty="0" smtClean="0"/>
              <a:t>rom January 1997 to 2000 </a:t>
            </a:r>
            <a:r>
              <a:rPr lang="en-US" sz="2400" b="1" u="sng" dirty="0" smtClean="0">
                <a:solidFill>
                  <a:srgbClr val="0000FF"/>
                </a:solidFill>
              </a:rPr>
              <a:t>JICA</a:t>
            </a:r>
            <a:r>
              <a:rPr lang="en-US" sz="2400" b="1" u="sng" dirty="0" smtClean="0"/>
              <a:t> assistance in Frontline </a:t>
            </a:r>
            <a:r>
              <a:rPr lang="en-US" sz="2400" b="1" u="sng" dirty="0"/>
              <a:t>MCH Program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200" b="1" dirty="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>
                <a:solidFill>
                  <a:srgbClr val="0000FF"/>
                </a:solidFill>
              </a:rPr>
              <a:t>&lt; Special activities&gt;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ANC-Corner</a:t>
            </a:r>
            <a:endParaRPr lang="en-US" sz="24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Basic EOC service</a:t>
            </a:r>
            <a:r>
              <a:rPr lang="en-US" sz="2400" b="1" dirty="0" smtClean="0"/>
              <a:t>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Under 5 corner for under 5 children</a:t>
            </a:r>
            <a:endParaRPr lang="en-US" sz="24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Monthly birth and death record</a:t>
            </a: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152400" y="152400"/>
            <a:ext cx="8686800" cy="1077218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4000" b="1" dirty="0" smtClean="0"/>
              <a:t>Background History of Community Engagement C-J model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1694302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 dirty="0" smtClean="0"/>
              <a:t>C-J model 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0" y="1219200"/>
            <a:ext cx="9144000" cy="5334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400" b="1" dirty="0" smtClean="0"/>
              <a:t>Form November 2000 started Comprehensive EOC program.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sz="2400" b="1" dirty="0" smtClean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sz="24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400" b="1" dirty="0" smtClean="0"/>
              <a:t>From April 2007 Demand Side Financing (DSF) program started.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4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400" b="1" dirty="0" smtClean="0"/>
              <a:t>Hospital is declared as model health complex on 20 June 2008 by MOH&amp;FW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4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400" b="1" dirty="0" smtClean="0"/>
              <a:t>Chowgacha health complex Model is replicable through out the country  declared by D.G. WHO on 8</a:t>
            </a:r>
            <a:r>
              <a:rPr lang="en-US" sz="2400" b="1" baseline="30000" dirty="0" smtClean="0"/>
              <a:t>th</a:t>
            </a:r>
            <a:r>
              <a:rPr lang="en-US" sz="2400" b="1" dirty="0" smtClean="0"/>
              <a:t> March 2010.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4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400" b="1" dirty="0" smtClean="0"/>
              <a:t>Major Killer Disease (NCD) prevention program starts in  1</a:t>
            </a:r>
            <a:r>
              <a:rPr lang="en-US" sz="2400" b="1" baseline="30000" dirty="0" smtClean="0"/>
              <a:t>st</a:t>
            </a:r>
            <a:r>
              <a:rPr lang="en-US" sz="2400" b="1" dirty="0" smtClean="0"/>
              <a:t> January-2011.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4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400" b="1" dirty="0" smtClean="0"/>
              <a:t> Government started to upgrade to 100 bed hospital </a:t>
            </a:r>
          </a:p>
        </p:txBody>
      </p:sp>
    </p:spTree>
    <p:extLst>
      <p:ext uri="{BB962C8B-B14F-4D97-AF65-F5344CB8AC3E}">
        <p14:creationId xmlns:p14="http://schemas.microsoft.com/office/powerpoint/2010/main" val="21786024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81468"/>
              </p:ext>
            </p:extLst>
          </p:nvPr>
        </p:nvGraphicFramePr>
        <p:xfrm>
          <a:off x="266700" y="627670"/>
          <a:ext cx="8534400" cy="63674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1100"/>
                <a:gridCol w="7353300"/>
              </a:tblGrid>
              <a:tr h="4207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800" spc="25" dirty="0">
                          <a:effectLst/>
                        </a:rPr>
                        <a:t>2012</a:t>
                      </a:r>
                      <a:endParaRPr lang="en-GB" sz="28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34815" marR="3481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800" spc="25" dirty="0" smtClean="0">
                          <a:effectLst/>
                        </a:rPr>
                        <a:t>Starting </a:t>
                      </a:r>
                      <a:r>
                        <a:rPr lang="en-GB" sz="2800" spc="25" dirty="0">
                          <a:effectLst/>
                        </a:rPr>
                        <a:t>of Model activities.</a:t>
                      </a:r>
                      <a:endParaRPr lang="en-GB" sz="20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34815" marR="34815" marT="0" marB="0"/>
                </a:tc>
              </a:tr>
              <a:tr h="4207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800" spc="25" dirty="0">
                          <a:effectLst/>
                        </a:rPr>
                        <a:t>2013</a:t>
                      </a:r>
                      <a:endParaRPr lang="en-GB" sz="28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34815" marR="3481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 b="0" spc="25" dirty="0">
                          <a:effectLst/>
                        </a:rPr>
                        <a:t>Kaizen Role Model Award for Model .</a:t>
                      </a:r>
                      <a:endParaRPr lang="en-GB" sz="2400" b="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34815" marR="34815" marT="0" marB="0"/>
                </a:tc>
              </a:tr>
              <a:tr h="71345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800" spc="25" dirty="0">
                          <a:effectLst/>
                        </a:rPr>
                        <a:t>2014</a:t>
                      </a:r>
                      <a:endParaRPr lang="en-GB" sz="28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34815" marR="3481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2400" b="0" spc="25" dirty="0">
                          <a:effectLst/>
                        </a:rPr>
                        <a:t>Jhenaidah team visits </a:t>
                      </a:r>
                      <a:r>
                        <a:rPr lang="en-GB" sz="2400" b="0" spc="25" dirty="0" err="1">
                          <a:effectLst/>
                        </a:rPr>
                        <a:t>Satkhira</a:t>
                      </a:r>
                      <a:r>
                        <a:rPr lang="en-GB" sz="2400" b="0" spc="25" dirty="0">
                          <a:effectLst/>
                        </a:rPr>
                        <a:t> </a:t>
                      </a:r>
                      <a:r>
                        <a:rPr lang="en-GB" sz="2400" b="0" spc="25" dirty="0" err="1">
                          <a:effectLst/>
                        </a:rPr>
                        <a:t>Sadar</a:t>
                      </a:r>
                      <a:r>
                        <a:rPr lang="en-GB" sz="2400" b="0" spc="25" dirty="0">
                          <a:effectLst/>
                        </a:rPr>
                        <a:t> Hospital, Awarded second prize for TQM</a:t>
                      </a:r>
                      <a:endParaRPr lang="en-GB" sz="2400" b="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34815" marR="34815" marT="0" marB="0"/>
                </a:tc>
              </a:tr>
              <a:tr h="82013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800" spc="25" dirty="0">
                          <a:effectLst/>
                        </a:rPr>
                        <a:t>2015</a:t>
                      </a:r>
                      <a:endParaRPr lang="en-GB" sz="28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34815" marR="3481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2400" b="0" spc="25" dirty="0">
                          <a:effectLst/>
                        </a:rPr>
                        <a:t>Ministry initiates Piloting of District-level Modelling and achieving the best prize for TQM.</a:t>
                      </a:r>
                      <a:endParaRPr lang="en-GB" sz="2400" b="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34815" marR="34815" marT="0" marB="0"/>
                </a:tc>
              </a:tr>
              <a:tr h="9906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800" spc="25" dirty="0">
                          <a:effectLst/>
                        </a:rPr>
                        <a:t>2016</a:t>
                      </a:r>
                      <a:endParaRPr lang="en-GB" sz="28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34815" marR="3481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2400" b="0" spc="25" dirty="0">
                          <a:effectLst/>
                        </a:rPr>
                        <a:t>Replication of Jhenaidah Model in 10 district hospital&amp;5 Upazilla UHC. Awarded, Health Ministers Award and Best performance Award for EOC.</a:t>
                      </a:r>
                      <a:endParaRPr lang="en-GB" sz="2400" b="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34815" marR="34815" marT="0" marB="0"/>
                </a:tc>
              </a:tr>
              <a:tr h="92963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800" spc="25" dirty="0" smtClean="0">
                          <a:effectLst/>
                        </a:rPr>
                        <a:t>2017</a:t>
                      </a:r>
                    </a:p>
                  </a:txBody>
                  <a:tcPr marL="34815" marR="34815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spc="25" dirty="0" smtClean="0">
                          <a:effectLst/>
                        </a:rPr>
                        <a:t>Awarded, Health Ministers Award and Best performance Award for EOC.</a:t>
                      </a:r>
                      <a:endParaRPr lang="en-GB" sz="2400" b="0" dirty="0" smtClean="0">
                        <a:effectLst/>
                        <a:latin typeface="+mn-lt"/>
                        <a:ea typeface="Times New Roman"/>
                        <a:cs typeface="Vrinda"/>
                      </a:endParaRPr>
                    </a:p>
                    <a:p>
                      <a:endParaRPr lang="en-GB" sz="2800" b="0" dirty="0" smtClean="0"/>
                    </a:p>
                  </a:txBody>
                  <a:tcPr marL="34815" marR="34815" marT="0" marB="0"/>
                </a:tc>
              </a:tr>
              <a:tr h="96012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800" dirty="0" smtClean="0">
                          <a:effectLst/>
                          <a:latin typeface="Calibri"/>
                          <a:ea typeface="Times New Roman"/>
                          <a:cs typeface="Vrinda"/>
                        </a:rPr>
                        <a:t>2019(15</a:t>
                      </a:r>
                      <a:r>
                        <a:rPr lang="en-GB" sz="2800" baseline="0" dirty="0" smtClean="0">
                          <a:effectLst/>
                          <a:latin typeface="Calibri"/>
                          <a:ea typeface="Times New Roman"/>
                          <a:cs typeface="Vrinda"/>
                        </a:rPr>
                        <a:t> </a:t>
                      </a:r>
                      <a:r>
                        <a:rPr lang="en-GB" sz="2800" dirty="0" smtClean="0">
                          <a:effectLst/>
                          <a:latin typeface="Calibri"/>
                          <a:ea typeface="Times New Roman"/>
                          <a:cs typeface="Vrinda"/>
                        </a:rPr>
                        <a:t>Jan)</a:t>
                      </a:r>
                      <a:endParaRPr lang="en-GB" sz="28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34815" marR="34815" marT="0" marB="0"/>
                </a:tc>
                <a:tc>
                  <a:txBody>
                    <a:bodyPr/>
                    <a:lstStyle/>
                    <a:p>
                      <a:r>
                        <a:rPr lang="en-GB" sz="2400" dirty="0" smtClean="0"/>
                        <a:t>Started to replicate in 20 district &amp; 40 </a:t>
                      </a:r>
                      <a:r>
                        <a:rPr lang="en-GB" sz="2400" dirty="0" err="1" smtClean="0"/>
                        <a:t>upazilla</a:t>
                      </a:r>
                      <a:r>
                        <a:rPr lang="en-GB" sz="2400" dirty="0" smtClean="0"/>
                        <a:t> hospital </a:t>
                      </a:r>
                      <a:r>
                        <a:rPr lang="en-GB" sz="2400" dirty="0" err="1" smtClean="0"/>
                        <a:t>byDGHS</a:t>
                      </a:r>
                      <a:endParaRPr lang="en-GB" sz="2400" dirty="0"/>
                    </a:p>
                  </a:txBody>
                  <a:tcPr marL="34815" marR="34815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8600" y="60319"/>
            <a:ext cx="8382000" cy="646331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Helvetica"/>
              </a:rPr>
              <a:t>Background history of Jhenaidah Model</a:t>
            </a:r>
            <a:endParaRPr kumimoji="0" lang="en-GB" sz="4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1113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62020" y="644288"/>
            <a:ext cx="8153400" cy="99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r>
              <a:rPr lang="en-US" sz="2800" dirty="0" smtClean="0">
                <a:solidFill>
                  <a:schemeClr val="bg1"/>
                </a:solidFill>
              </a:rPr>
              <a:t>Issue should be addressed for development of services in Ad-Din Hospital Jess ore 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935860" y="1752600"/>
            <a:ext cx="7205720" cy="4525963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1.Attendance of the service provider.</a:t>
            </a:r>
          </a:p>
          <a:p>
            <a:r>
              <a:rPr lang="en-GB" dirty="0" smtClean="0"/>
              <a:t>2 Client satisfaction .</a:t>
            </a:r>
          </a:p>
          <a:p>
            <a:r>
              <a:rPr lang="en-GB" dirty="0" smtClean="0"/>
              <a:t>3. Risk. management.</a:t>
            </a:r>
          </a:p>
          <a:p>
            <a:r>
              <a:rPr lang="en-GB" dirty="0" smtClean="0"/>
              <a:t>4.Doucumentation of records –specially history taking ,monitoring of patient.</a:t>
            </a:r>
          </a:p>
          <a:p>
            <a:r>
              <a:rPr lang="en-GB" dirty="0" smtClean="0"/>
              <a:t>Operation of patient in deep night –delayed in action.</a:t>
            </a:r>
          </a:p>
          <a:p>
            <a:r>
              <a:rPr lang="en-GB" dirty="0" smtClean="0"/>
              <a:t>Quality of services in delivery specially use of </a:t>
            </a:r>
            <a:r>
              <a:rPr lang="en-GB" dirty="0" err="1" smtClean="0"/>
              <a:t>partograph</a:t>
            </a:r>
            <a:r>
              <a:rPr lang="en-GB" dirty="0" smtClean="0"/>
              <a:t>.</a:t>
            </a:r>
          </a:p>
          <a:p>
            <a:endParaRPr lang="en-GB" dirty="0" smtClean="0"/>
          </a:p>
          <a:p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90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6136</TotalTime>
  <Words>1976</Words>
  <Application>Microsoft Office PowerPoint</Application>
  <PresentationFormat>On-screen Show (4:3)</PresentationFormat>
  <Paragraphs>692</Paragraphs>
  <Slides>45</Slides>
  <Notes>24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7" baseType="lpstr">
      <vt:lpstr>Office Theme</vt:lpstr>
      <vt:lpstr>Chart</vt:lpstr>
      <vt:lpstr>PowerPoint Presentation</vt:lpstr>
      <vt:lpstr>PowerPoint Presentation</vt:lpstr>
      <vt:lpstr>PowerPoint Presentation</vt:lpstr>
      <vt:lpstr>A Sub-district level  Hospital with a Vision …</vt:lpstr>
      <vt:lpstr>Background History of C-J Model</vt:lpstr>
      <vt:lpstr>PowerPoint Presentation</vt:lpstr>
      <vt:lpstr>Community supported volunteer working in ANC corner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PowerPoint Presentation</vt:lpstr>
      <vt:lpstr>PowerPoint Presentation</vt:lpstr>
      <vt:lpstr>Upazilla Health  Complex CHOWGACHA , JESSORE.</vt:lpstr>
      <vt:lpstr>Achievement of Chowgacha Health Complex</vt:lpstr>
      <vt:lpstr>PowerPoint Presentation</vt:lpstr>
      <vt:lpstr>100 kh¨v wewkó m`i nvmcvZvj, wSbvB`n</vt:lpstr>
      <vt:lpstr>Challenges of the hospital in 2012</vt:lpstr>
      <vt:lpstr>Innovative activities of Jhenaidah Sadar Hospital Page: 1</vt:lpstr>
      <vt:lpstr>Internal Monitoring System</vt:lpstr>
      <vt:lpstr>Use of direction sign, labeling of rooms, clean latrine and waist segregation</vt:lpstr>
      <vt:lpstr>Use of color code, alignment of picture &amp; continuous big cleaning day</vt:lpstr>
      <vt:lpstr>Changes in EOC &amp;  pediatric Ward</vt:lpstr>
      <vt:lpstr>Local Govt. (Paurashava) Participation</vt:lpstr>
      <vt:lpstr>PowerPoint Presentation</vt:lpstr>
      <vt:lpstr>PowerPoint Presentation</vt:lpstr>
      <vt:lpstr>PowerPoint Presentation</vt:lpstr>
      <vt:lpstr>PowerPoint Presentation</vt:lpstr>
      <vt:lpstr>Emergency &amp; Out Door, Indoor  Service 1998 to 2017</vt:lpstr>
      <vt:lpstr>3 best performing EmOC Hospital in Khulna division - 2017</vt:lpstr>
      <vt:lpstr>Operation Service (Major) 2011 to 2017</vt:lpstr>
      <vt:lpstr>PowerPoint Presentation</vt:lpstr>
      <vt:lpstr>PowerPoint Presentation</vt:lpstr>
      <vt:lpstr>Hospital Environment</vt:lpstr>
      <vt:lpstr>PowerPoint Presentation</vt:lpstr>
      <vt:lpstr>Upazila Health  Complex CHOWGACHA , JESSORE.</vt:lpstr>
      <vt:lpstr>PowerPoint Presentation</vt:lpstr>
      <vt:lpstr>PowerPoint Presentation</vt:lpstr>
      <vt:lpstr>PowerPoint Presentation</vt:lpstr>
      <vt:lpstr>Upazila Health  Complex CHOWGACHA , JESSORE.</vt:lpstr>
      <vt:lpstr>PowerPoint Presentation</vt:lpstr>
      <vt:lpstr>PowerPoint Presentation</vt:lpstr>
      <vt:lpstr>C-J model Contd.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759</cp:revision>
  <cp:lastPrinted>2017-03-18T23:47:54Z</cp:lastPrinted>
  <dcterms:created xsi:type="dcterms:W3CDTF">2013-05-05T09:56:19Z</dcterms:created>
  <dcterms:modified xsi:type="dcterms:W3CDTF">2019-03-12T00:13:59Z</dcterms:modified>
</cp:coreProperties>
</file>