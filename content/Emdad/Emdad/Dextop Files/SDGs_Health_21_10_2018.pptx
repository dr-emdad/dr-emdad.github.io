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108" y="-6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81455" y="3829811"/>
            <a:ext cx="10114788" cy="2636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8661" y="1724279"/>
            <a:ext cx="7694676" cy="255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8019" y="-42290"/>
            <a:ext cx="731596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1845" y="1279652"/>
            <a:ext cx="6528308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1257" y="6464985"/>
            <a:ext cx="2063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jpg"/><Relationship Id="rId18" Type="http://schemas.openxmlformats.org/officeDocument/2006/relationships/image" Target="../media/image80.jpg"/><Relationship Id="rId26" Type="http://schemas.openxmlformats.org/officeDocument/2006/relationships/image" Target="../media/image88.jpg"/><Relationship Id="rId3" Type="http://schemas.openxmlformats.org/officeDocument/2006/relationships/image" Target="../media/image65.png"/><Relationship Id="rId21" Type="http://schemas.openxmlformats.org/officeDocument/2006/relationships/image" Target="../media/image83.jp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jpg"/><Relationship Id="rId25" Type="http://schemas.openxmlformats.org/officeDocument/2006/relationships/image" Target="../media/image87.jpg"/><Relationship Id="rId2" Type="http://schemas.openxmlformats.org/officeDocument/2006/relationships/image" Target="../media/image64.png"/><Relationship Id="rId16" Type="http://schemas.openxmlformats.org/officeDocument/2006/relationships/image" Target="../media/image78.jpg"/><Relationship Id="rId20" Type="http://schemas.openxmlformats.org/officeDocument/2006/relationships/image" Target="../media/image82.jpg"/><Relationship Id="rId29" Type="http://schemas.openxmlformats.org/officeDocument/2006/relationships/image" Target="../media/image9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jpg"/><Relationship Id="rId5" Type="http://schemas.openxmlformats.org/officeDocument/2006/relationships/image" Target="../media/image67.png"/><Relationship Id="rId15" Type="http://schemas.openxmlformats.org/officeDocument/2006/relationships/image" Target="../media/image77.jpg"/><Relationship Id="rId23" Type="http://schemas.openxmlformats.org/officeDocument/2006/relationships/image" Target="../media/image85.png"/><Relationship Id="rId28" Type="http://schemas.openxmlformats.org/officeDocument/2006/relationships/image" Target="../media/image90.jp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jp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jpg"/><Relationship Id="rId22" Type="http://schemas.openxmlformats.org/officeDocument/2006/relationships/image" Target="../media/image84.jpg"/><Relationship Id="rId27" Type="http://schemas.openxmlformats.org/officeDocument/2006/relationships/image" Target="../media/image89.jpg"/><Relationship Id="rId30" Type="http://schemas.openxmlformats.org/officeDocument/2006/relationships/image" Target="../media/image92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0.png"/><Relationship Id="rId3" Type="http://schemas.openxmlformats.org/officeDocument/2006/relationships/image" Target="../media/image127.png"/><Relationship Id="rId21" Type="http://schemas.openxmlformats.org/officeDocument/2006/relationships/image" Target="../media/image14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2" Type="http://schemas.openxmlformats.org/officeDocument/2006/relationships/image" Target="../media/image126.png"/><Relationship Id="rId16" Type="http://schemas.openxmlformats.org/officeDocument/2006/relationships/image" Target="../media/image140.png"/><Relationship Id="rId20" Type="http://schemas.openxmlformats.org/officeDocument/2006/relationships/image" Target="../media/image144.jpg"/><Relationship Id="rId29" Type="http://schemas.openxmlformats.org/officeDocument/2006/relationships/image" Target="../media/image15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23" Type="http://schemas.openxmlformats.org/officeDocument/2006/relationships/image" Target="../media/image147.jpg"/><Relationship Id="rId28" Type="http://schemas.openxmlformats.org/officeDocument/2006/relationships/image" Target="../media/image152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jp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828800"/>
          </a:xfrm>
          <a:custGeom>
            <a:avLst/>
            <a:gdLst/>
            <a:ahLst/>
            <a:cxnLst/>
            <a:rect l="l" t="t" r="r" b="b"/>
            <a:pathLst>
              <a:path w="12192000" h="1828800">
                <a:moveTo>
                  <a:pt x="0" y="1828800"/>
                </a:moveTo>
                <a:lnTo>
                  <a:pt x="12192000" y="1828800"/>
                </a:lnTo>
                <a:lnTo>
                  <a:pt x="121920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133" y="143967"/>
            <a:ext cx="1167574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Visions </a:t>
            </a:r>
            <a:r>
              <a:rPr sz="3200" spc="-5" dirty="0">
                <a:latin typeface="Calibri"/>
                <a:cs typeface="Calibri"/>
              </a:rPr>
              <a:t>2021 </a:t>
            </a:r>
            <a:r>
              <a:rPr sz="3200" dirty="0">
                <a:latin typeface="Calibri"/>
                <a:cs typeface="Calibri"/>
              </a:rPr>
              <a:t>&amp; </a:t>
            </a:r>
            <a:r>
              <a:rPr sz="3200" spc="-5" dirty="0">
                <a:latin typeface="Calibri"/>
                <a:cs typeface="Calibri"/>
              </a:rPr>
              <a:t>2041, Golden </a:t>
            </a:r>
            <a:r>
              <a:rPr sz="3200" spc="-10" dirty="0">
                <a:latin typeface="Calibri"/>
                <a:cs typeface="Calibri"/>
              </a:rPr>
              <a:t>Ladders </a:t>
            </a:r>
            <a:r>
              <a:rPr sz="3200" spc="-5" dirty="0">
                <a:latin typeface="Calibri"/>
                <a:cs typeface="Calibri"/>
              </a:rPr>
              <a:t>2071 </a:t>
            </a:r>
            <a:r>
              <a:rPr sz="3200" dirty="0">
                <a:latin typeface="Calibri"/>
                <a:cs typeface="Calibri"/>
              </a:rPr>
              <a:t>&amp; </a:t>
            </a:r>
            <a:r>
              <a:rPr sz="3200" spc="-10" dirty="0">
                <a:latin typeface="Calibri"/>
                <a:cs typeface="Calibri"/>
              </a:rPr>
              <a:t>2100 </a:t>
            </a:r>
            <a:r>
              <a:rPr sz="3200" dirty="0">
                <a:latin typeface="Calibri"/>
                <a:cs typeface="Calibri"/>
              </a:rPr>
              <a:t>&amp; </a:t>
            </a:r>
            <a:r>
              <a:rPr sz="3200" spc="-5" dirty="0">
                <a:latin typeface="Calibri"/>
                <a:cs typeface="Calibri"/>
              </a:rPr>
              <a:t>Journey </a:t>
            </a:r>
            <a:r>
              <a:rPr sz="3200" spc="-1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SDGs  2030 </a:t>
            </a:r>
            <a:r>
              <a:rPr sz="3200" dirty="0">
                <a:latin typeface="Calibri"/>
                <a:cs typeface="Calibri"/>
              </a:rPr>
              <a:t>including their health </a:t>
            </a:r>
            <a:r>
              <a:rPr sz="3200" spc="-10" dirty="0">
                <a:latin typeface="Calibri"/>
                <a:cs typeface="Calibri"/>
              </a:rPr>
              <a:t>ingredients: what they really </a:t>
            </a:r>
            <a:r>
              <a:rPr sz="3200" spc="-5" dirty="0">
                <a:latin typeface="Calibri"/>
                <a:cs typeface="Calibri"/>
              </a:rPr>
              <a:t>mean </a:t>
            </a:r>
            <a:r>
              <a:rPr sz="3200" spc="-25" dirty="0">
                <a:latin typeface="Calibri"/>
                <a:cs typeface="Calibri"/>
              </a:rPr>
              <a:t>for  </a:t>
            </a:r>
            <a:r>
              <a:rPr sz="3200" dirty="0">
                <a:latin typeface="Calibri"/>
                <a:cs typeface="Calibri"/>
              </a:rPr>
              <a:t>Bangladesh and </a:t>
            </a: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dirty="0">
                <a:latin typeface="Calibri"/>
                <a:cs typeface="Calibri"/>
              </a:rPr>
              <a:t>this </a:t>
            </a:r>
            <a:r>
              <a:rPr sz="3200" spc="-5" dirty="0">
                <a:latin typeface="Calibri"/>
                <a:cs typeface="Calibri"/>
              </a:rPr>
              <a:t>nation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moving </a:t>
            </a:r>
            <a:r>
              <a:rPr sz="3200" spc="-1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these high </a:t>
            </a:r>
            <a:r>
              <a:rPr sz="3200" spc="-5" dirty="0">
                <a:latin typeface="Calibri"/>
                <a:cs typeface="Calibri"/>
              </a:rPr>
              <a:t>end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futures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5486399"/>
            <a:ext cx="12192000" cy="1371600"/>
          </a:xfrm>
          <a:custGeom>
            <a:avLst/>
            <a:gdLst/>
            <a:ahLst/>
            <a:cxnLst/>
            <a:rect l="l" t="t" r="r" b="b"/>
            <a:pathLst>
              <a:path w="12192000" h="1371600">
                <a:moveTo>
                  <a:pt x="0" y="1371599"/>
                </a:moveTo>
                <a:lnTo>
                  <a:pt x="12192000" y="1371599"/>
                </a:lnTo>
                <a:lnTo>
                  <a:pt x="12192000" y="0"/>
                </a:lnTo>
                <a:lnTo>
                  <a:pt x="0" y="0"/>
                </a:lnTo>
                <a:lnTo>
                  <a:pt x="0" y="1371599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54373" y="5472176"/>
            <a:ext cx="4683125" cy="1140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5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MD. ABUL KALAM</a:t>
            </a:r>
            <a:r>
              <a:rPr sz="2800" b="1" spc="-30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AZAD</a:t>
            </a:r>
            <a:endParaRPr sz="2800">
              <a:latin typeface="Century Schoolbook"/>
              <a:cs typeface="Century Schoolbook"/>
            </a:endParaRPr>
          </a:p>
          <a:p>
            <a:pPr algn="ctr">
              <a:lnSpc>
                <a:spcPts val="2195"/>
              </a:lnSpc>
            </a:pPr>
            <a:r>
              <a:rPr sz="20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Principal </a:t>
            </a:r>
            <a:r>
              <a:rPr sz="2000" b="1" dirty="0">
                <a:solidFill>
                  <a:srgbClr val="FFFFFF"/>
                </a:solidFill>
                <a:latin typeface="Century Schoolbook"/>
                <a:cs typeface="Century Schoolbook"/>
              </a:rPr>
              <a:t>Coordinator</a:t>
            </a:r>
            <a:r>
              <a:rPr sz="2000" b="1" spc="-60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(SDG)</a:t>
            </a:r>
            <a:endParaRPr sz="2000">
              <a:latin typeface="Century Schoolbook"/>
              <a:cs typeface="Century Schoolbook"/>
            </a:endParaRPr>
          </a:p>
          <a:p>
            <a:pPr marL="1270" algn="ctr">
              <a:lnSpc>
                <a:spcPts val="1739"/>
              </a:lnSpc>
            </a:pPr>
            <a:r>
              <a:rPr sz="16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Prime </a:t>
            </a:r>
            <a:r>
              <a:rPr sz="1600" b="1" spc="-10" dirty="0">
                <a:solidFill>
                  <a:srgbClr val="FFFFFF"/>
                </a:solidFill>
                <a:latin typeface="Century Schoolbook"/>
                <a:cs typeface="Century Schoolbook"/>
              </a:rPr>
              <a:t>Minister’s</a:t>
            </a:r>
            <a:r>
              <a:rPr sz="1600" b="1" spc="35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entury Schoolbook"/>
                <a:cs typeface="Century Schoolbook"/>
              </a:rPr>
              <a:t>Office</a:t>
            </a:r>
            <a:endParaRPr sz="1600">
              <a:latin typeface="Century Schoolbook"/>
              <a:cs typeface="Century Schoolbook"/>
            </a:endParaRPr>
          </a:p>
          <a:p>
            <a:pPr marL="1270" algn="ctr">
              <a:lnSpc>
                <a:spcPts val="1595"/>
              </a:lnSpc>
            </a:pPr>
            <a:r>
              <a:rPr sz="14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23 October</a:t>
            </a:r>
            <a:r>
              <a:rPr sz="1400" b="1" spc="-45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2018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73040" y="2435351"/>
            <a:ext cx="1682495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92" y="5699759"/>
            <a:ext cx="987551" cy="9448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3200" y="309372"/>
            <a:ext cx="4800600" cy="40386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228600" marR="222250" indent="-635" algn="ctr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“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Let us together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create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a  world that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can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eradicate 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poverty, hunger,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war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and  human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sufferings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and  achieve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global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peace  and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security for the well-  </a:t>
            </a:r>
            <a:r>
              <a:rPr sz="2800" b="1" spc="-10" dirty="0">
                <a:solidFill>
                  <a:srgbClr val="00AF50"/>
                </a:solidFill>
                <a:latin typeface="Century Gothic"/>
                <a:cs typeface="Century Gothic"/>
              </a:rPr>
              <a:t>being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of</a:t>
            </a:r>
            <a:r>
              <a:rPr sz="2800" b="1" dirty="0">
                <a:solidFill>
                  <a:srgbClr val="00AF50"/>
                </a:solidFill>
                <a:latin typeface="Century Gothic"/>
                <a:cs typeface="Century Gothic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humanity</a:t>
            </a:r>
            <a:r>
              <a:rPr sz="3200" b="1" spc="-5" dirty="0">
                <a:solidFill>
                  <a:srgbClr val="00AF50"/>
                </a:solidFill>
                <a:latin typeface="Century Gothic"/>
                <a:cs typeface="Century Gothic"/>
              </a:rPr>
              <a:t>”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8100" y="4909261"/>
            <a:ext cx="4887595" cy="94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00"/>
                </a:solidFill>
                <a:latin typeface="Calibri"/>
                <a:cs typeface="Calibri"/>
              </a:rPr>
              <a:t>Bangabandhu </a:t>
            </a:r>
            <a:r>
              <a:rPr sz="2400" b="1" dirty="0">
                <a:solidFill>
                  <a:srgbClr val="006600"/>
                </a:solidFill>
                <a:latin typeface="Calibri"/>
                <a:cs typeface="Calibri"/>
              </a:rPr>
              <a:t>Sheikh </a:t>
            </a:r>
            <a:r>
              <a:rPr sz="2400" b="1" spc="-5" dirty="0">
                <a:solidFill>
                  <a:srgbClr val="006600"/>
                </a:solidFill>
                <a:latin typeface="Calibri"/>
                <a:cs typeface="Calibri"/>
              </a:rPr>
              <a:t>Mujibur</a:t>
            </a:r>
            <a:r>
              <a:rPr sz="2400" b="1" spc="-3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600"/>
                </a:solidFill>
                <a:latin typeface="Calibri"/>
                <a:cs typeface="Calibri"/>
              </a:rPr>
              <a:t>Rahman</a:t>
            </a:r>
            <a:endParaRPr sz="2400">
              <a:latin typeface="Calibri"/>
              <a:cs typeface="Calibri"/>
            </a:endParaRPr>
          </a:p>
          <a:p>
            <a:pPr marL="2339975" marR="5715" indent="-884555">
              <a:lnSpc>
                <a:spcPct val="100000"/>
              </a:lnSpc>
              <a:spcBef>
                <a:spcPts val="40"/>
              </a:spcBef>
            </a:pPr>
            <a:r>
              <a:rPr sz="1800" b="1" spc="-15" dirty="0">
                <a:solidFill>
                  <a:srgbClr val="006600"/>
                </a:solidFill>
                <a:latin typeface="Calibri"/>
                <a:cs typeface="Calibri"/>
              </a:rPr>
              <a:t>Father 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of the </a:t>
            </a:r>
            <a:r>
              <a:rPr sz="1800" b="1" spc="-5" dirty="0">
                <a:solidFill>
                  <a:srgbClr val="006600"/>
                </a:solidFill>
                <a:latin typeface="Calibri"/>
                <a:cs typeface="Calibri"/>
              </a:rPr>
              <a:t>Nation 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of</a:t>
            </a:r>
            <a:r>
              <a:rPr sz="1800" b="1" spc="-6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6600"/>
                </a:solidFill>
                <a:latin typeface="Calibri"/>
                <a:cs typeface="Calibri"/>
              </a:rPr>
              <a:t>Bangaladesh  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25 </a:t>
            </a:r>
            <a:r>
              <a:rPr sz="1800" b="1" spc="-10" dirty="0">
                <a:solidFill>
                  <a:srgbClr val="006600"/>
                </a:solidFill>
                <a:latin typeface="Calibri"/>
                <a:cs typeface="Calibri"/>
              </a:rPr>
              <a:t>September 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1974,</a:t>
            </a:r>
            <a:r>
              <a:rPr sz="1800" b="1" spc="-7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alibri"/>
                <a:cs typeface="Calibri"/>
              </a:rPr>
              <a:t>UNGA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52400"/>
            <a:ext cx="4206239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172200"/>
            <a:ext cx="12192000" cy="1844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58981" y="6464985"/>
            <a:ext cx="1282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447"/>
            <a:ext cx="12192000" cy="638810"/>
          </a:xfrm>
          <a:custGeom>
            <a:avLst/>
            <a:gdLst/>
            <a:ahLst/>
            <a:cxnLst/>
            <a:rect l="l" t="t" r="r" b="b"/>
            <a:pathLst>
              <a:path w="12192000" h="638810">
                <a:moveTo>
                  <a:pt x="0" y="638555"/>
                </a:moveTo>
                <a:lnTo>
                  <a:pt x="12192000" y="638555"/>
                </a:lnTo>
                <a:lnTo>
                  <a:pt x="12192000" y="0"/>
                </a:lnTo>
                <a:lnTo>
                  <a:pt x="0" y="0"/>
                </a:lnTo>
                <a:lnTo>
                  <a:pt x="0" y="638555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0617" y="117729"/>
            <a:ext cx="5347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entury Gothic"/>
                <a:cs typeface="Century Gothic"/>
              </a:rPr>
              <a:t>Development</a:t>
            </a:r>
            <a:r>
              <a:rPr sz="4000" spc="-20" dirty="0">
                <a:latin typeface="Century Gothic"/>
                <a:cs typeface="Century Gothic"/>
              </a:rPr>
              <a:t> </a:t>
            </a:r>
            <a:r>
              <a:rPr sz="4000" spc="-5" dirty="0">
                <a:latin typeface="Century Gothic"/>
                <a:cs typeface="Century Gothic"/>
              </a:rPr>
              <a:t>Miracle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8981" y="6464985"/>
            <a:ext cx="1282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38034" y="1057910"/>
          <a:ext cx="10223499" cy="528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3190"/>
                <a:gridCol w="2275205"/>
                <a:gridCol w="2745104"/>
              </a:tblGrid>
              <a:tr h="48069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Issue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2008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2018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GDP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of Bangladesh </a:t>
                      </a:r>
                      <a:r>
                        <a:rPr sz="2000" b="1" dirty="0">
                          <a:latin typeface="Century Gothic"/>
                          <a:cs typeface="Century Gothic"/>
                        </a:rPr>
                        <a:t>(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billion</a:t>
                      </a:r>
                      <a:r>
                        <a:rPr sz="2000" b="1" spc="-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USD)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91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280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Per Capita GDP</a:t>
                      </a:r>
                      <a:r>
                        <a:rPr sz="20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(USD)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615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1752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Poverty</a:t>
                      </a:r>
                      <a:r>
                        <a:rPr sz="2000" b="1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Rate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40</a:t>
                      </a:r>
                      <a:r>
                        <a:rPr sz="2000" b="1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dirty="0">
                          <a:latin typeface="Century Gothic"/>
                          <a:cs typeface="Century Gothic"/>
                        </a:rPr>
                        <a:t>(2005)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22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Maternal Mortality </a:t>
                      </a:r>
                      <a:r>
                        <a:rPr sz="1200" b="1" dirty="0">
                          <a:latin typeface="Century Gothic"/>
                          <a:cs typeface="Century Gothic"/>
                        </a:rPr>
                        <a:t>(Live </a:t>
                      </a:r>
                      <a:r>
                        <a:rPr sz="1200" b="1" spc="-5" dirty="0">
                          <a:latin typeface="Century Gothic"/>
                          <a:cs typeface="Century Gothic"/>
                        </a:rPr>
                        <a:t>Birth per</a:t>
                      </a:r>
                      <a:r>
                        <a:rPr sz="1200" b="1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200" b="1" dirty="0">
                          <a:latin typeface="Century Gothic"/>
                          <a:cs typeface="Century Gothic"/>
                        </a:rPr>
                        <a:t>Thousand)</a:t>
                      </a:r>
                      <a:endParaRPr sz="12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3.48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1.72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Literacy</a:t>
                      </a:r>
                      <a:r>
                        <a:rPr sz="2000" b="1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Rate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54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73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Life Expectancy</a:t>
                      </a:r>
                      <a:r>
                        <a:rPr sz="2000" b="1" spc="-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dirty="0">
                          <a:latin typeface="Century Gothic"/>
                          <a:cs typeface="Century Gothic"/>
                        </a:rPr>
                        <a:t>(Year)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69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72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Foreign Ex. Reserve (billion</a:t>
                      </a:r>
                      <a:r>
                        <a:rPr sz="2000" b="1" spc="-6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USD)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7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32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Export </a:t>
                      </a:r>
                      <a:r>
                        <a:rPr sz="2000" b="1" dirty="0">
                          <a:latin typeface="Century Gothic"/>
                          <a:cs typeface="Century Gothic"/>
                        </a:rPr>
                        <a:t>(billion</a:t>
                      </a:r>
                      <a:r>
                        <a:rPr sz="2000" b="1" spc="-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USD)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16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35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Import (billion</a:t>
                      </a:r>
                      <a:r>
                        <a:rPr sz="2000" b="1" spc="-4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USD)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23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44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Electricity Generation</a:t>
                      </a:r>
                      <a:r>
                        <a:rPr sz="2000" b="1" spc="-7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Capacity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3,264</a:t>
                      </a:r>
                      <a:r>
                        <a:rPr sz="2000" b="1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MW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20,133</a:t>
                      </a:r>
                      <a:r>
                        <a:rPr sz="20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5" dirty="0">
                          <a:latin typeface="Century Gothic"/>
                          <a:cs typeface="Century Gothic"/>
                        </a:rPr>
                        <a:t>MW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073255" cy="609600"/>
          </a:xfrm>
          <a:custGeom>
            <a:avLst/>
            <a:gdLst/>
            <a:ahLst/>
            <a:cxnLst/>
            <a:rect l="l" t="t" r="r" b="b"/>
            <a:pathLst>
              <a:path w="12073255" h="609600">
                <a:moveTo>
                  <a:pt x="0" y="609600"/>
                </a:moveTo>
                <a:lnTo>
                  <a:pt x="12073128" y="609600"/>
                </a:lnTo>
                <a:lnTo>
                  <a:pt x="12073128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77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1734" y="36398"/>
            <a:ext cx="472122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0" dirty="0">
                <a:latin typeface="Times New Roman"/>
                <a:cs typeface="Times New Roman"/>
              </a:rPr>
              <a:t>MDG </a:t>
            </a:r>
            <a:r>
              <a:rPr sz="2900" spc="-15" dirty="0">
                <a:latin typeface="Times New Roman"/>
                <a:cs typeface="Times New Roman"/>
              </a:rPr>
              <a:t>Score </a:t>
            </a:r>
            <a:r>
              <a:rPr sz="2900" dirty="0">
                <a:latin typeface="Times New Roman"/>
                <a:cs typeface="Times New Roman"/>
              </a:rPr>
              <a:t>Card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Bangladesh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762000"/>
            <a:ext cx="105156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8981" y="6464985"/>
            <a:ext cx="1282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636" y="1007362"/>
            <a:ext cx="11938000" cy="5791200"/>
          </a:xfrm>
          <a:custGeom>
            <a:avLst/>
            <a:gdLst/>
            <a:ahLst/>
            <a:cxnLst/>
            <a:rect l="l" t="t" r="r" b="b"/>
            <a:pathLst>
              <a:path w="11938000" h="5791200">
                <a:moveTo>
                  <a:pt x="0" y="5791200"/>
                </a:moveTo>
                <a:lnTo>
                  <a:pt x="11937492" y="5791200"/>
                </a:lnTo>
                <a:lnTo>
                  <a:pt x="11937492" y="0"/>
                </a:lnTo>
                <a:lnTo>
                  <a:pt x="0" y="0"/>
                </a:lnTo>
                <a:lnTo>
                  <a:pt x="0" y="579120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914400"/>
          </a:xfrm>
          <a:custGeom>
            <a:avLst/>
            <a:gdLst/>
            <a:ahLst/>
            <a:cxnLst/>
            <a:rect l="l" t="t" r="r" b="b"/>
            <a:pathLst>
              <a:path w="12192000" h="914400">
                <a:moveTo>
                  <a:pt x="0" y="914400"/>
                </a:moveTo>
                <a:lnTo>
                  <a:pt x="12192000" y="914400"/>
                </a:lnTo>
                <a:lnTo>
                  <a:pt x="121920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35198" y="3759"/>
            <a:ext cx="5721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Bangladesh MDGs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achievements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8793" y="6479844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649" y="368554"/>
            <a:ext cx="11822430" cy="60921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265295">
              <a:lnSpc>
                <a:spcPct val="100000"/>
              </a:lnSpc>
              <a:spcBef>
                <a:spcPts val="109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International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endParaRPr sz="2400">
              <a:latin typeface="Times New Roman"/>
              <a:cs typeface="Times New Roman"/>
            </a:endParaRPr>
          </a:p>
          <a:p>
            <a:pPr marL="169545" marR="5715" indent="-156845">
              <a:lnSpc>
                <a:spcPts val="2590"/>
              </a:lnSpc>
              <a:spcBef>
                <a:spcPts val="1325"/>
              </a:spcBef>
              <a:buClr>
                <a:srgbClr val="44536A"/>
              </a:buClr>
              <a:buFont typeface="Wingdings"/>
              <a:buChar char=""/>
              <a:tabLst>
                <a:tab pos="170180" algn="l"/>
                <a:tab pos="1495425" algn="l"/>
                <a:tab pos="2472055" algn="l"/>
                <a:tab pos="3728720" algn="l"/>
                <a:tab pos="4182745" algn="l"/>
                <a:tab pos="6097270" algn="l"/>
                <a:tab pos="6836409" algn="l"/>
                <a:tab pos="8373745" algn="l"/>
                <a:tab pos="9137650" algn="l"/>
                <a:tab pos="9801860" algn="l"/>
                <a:tab pos="10704195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Hon’bl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	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P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r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me	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M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spc="-25" dirty="0">
                <a:solidFill>
                  <a:srgbClr val="001F5F"/>
                </a:solidFill>
                <a:latin typeface="Century Gothic"/>
                <a:cs typeface="Century Gothic"/>
              </a:rPr>
              <a:t>n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ter	of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B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ang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l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ade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h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wa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s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aw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arded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w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th	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‘UN	MDG	Awards  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2010’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for reducing under five child mortality rate</a:t>
            </a:r>
            <a:r>
              <a:rPr sz="2400" spc="-8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(MDG-4).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4536A"/>
              </a:buClr>
              <a:buFont typeface="Wingdings"/>
              <a:buChar char=""/>
            </a:pPr>
            <a:endParaRPr sz="2600">
              <a:latin typeface="Times New Roman"/>
              <a:cs typeface="Times New Roman"/>
            </a:endParaRPr>
          </a:p>
          <a:p>
            <a:pPr marL="169545" marR="5715" indent="-156845">
              <a:lnSpc>
                <a:spcPts val="2590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  <a:tab pos="2284730" algn="l"/>
                <a:tab pos="3970654" algn="l"/>
                <a:tab pos="6082030" algn="l"/>
                <a:tab pos="7412355" algn="l"/>
                <a:tab pos="8757920" algn="l"/>
                <a:tab pos="10082530" algn="l"/>
                <a:tab pos="10882630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B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a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n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g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l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ade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h	re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c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spc="5" dirty="0">
                <a:solidFill>
                  <a:srgbClr val="001F5F"/>
                </a:solidFill>
                <a:latin typeface="Century Gothic"/>
                <a:cs typeface="Century Gothic"/>
              </a:rPr>
              <a:t>v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ed	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So</a:t>
            </a:r>
            <a:r>
              <a:rPr sz="2400" b="1" spc="-15" dirty="0">
                <a:solidFill>
                  <a:srgbClr val="001F5F"/>
                </a:solidFill>
                <a:latin typeface="Century Gothic"/>
                <a:cs typeface="Century Gothic"/>
              </a:rPr>
              <a:t>u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t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h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-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Sout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h	Award	</a:t>
            </a:r>
            <a:r>
              <a:rPr sz="2400" i="1" dirty="0">
                <a:solidFill>
                  <a:srgbClr val="001F5F"/>
                </a:solidFill>
                <a:latin typeface="Century Gothic"/>
                <a:cs typeface="Century Gothic"/>
              </a:rPr>
              <a:t>'</a:t>
            </a:r>
            <a:r>
              <a:rPr sz="2400" i="1" spc="0" dirty="0">
                <a:solidFill>
                  <a:srgbClr val="001F5F"/>
                </a:solidFill>
                <a:latin typeface="Century Gothic"/>
                <a:cs typeface="Century Gothic"/>
              </a:rPr>
              <a:t>D</a:t>
            </a:r>
            <a:r>
              <a:rPr sz="2400" i="1" spc="-5" dirty="0">
                <a:solidFill>
                  <a:srgbClr val="001F5F"/>
                </a:solidFill>
                <a:latin typeface="Century Gothic"/>
                <a:cs typeface="Century Gothic"/>
              </a:rPr>
              <a:t>ig</a:t>
            </a:r>
            <a:r>
              <a:rPr sz="2400" i="1" spc="-2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i="1" dirty="0">
                <a:solidFill>
                  <a:srgbClr val="001F5F"/>
                </a:solidFill>
                <a:latin typeface="Century Gothic"/>
                <a:cs typeface="Century Gothic"/>
              </a:rPr>
              <a:t>tal	</a:t>
            </a:r>
            <a:r>
              <a:rPr sz="2400" i="1" spc="-5" dirty="0">
                <a:solidFill>
                  <a:srgbClr val="001F5F"/>
                </a:solidFill>
                <a:latin typeface="Century Gothic"/>
                <a:cs typeface="Century Gothic"/>
              </a:rPr>
              <a:t>He</a:t>
            </a:r>
            <a:r>
              <a:rPr sz="2400" i="1" spc="0" dirty="0">
                <a:solidFill>
                  <a:srgbClr val="001F5F"/>
                </a:solidFill>
                <a:latin typeface="Century Gothic"/>
                <a:cs typeface="Century Gothic"/>
              </a:rPr>
              <a:t>a</a:t>
            </a:r>
            <a:r>
              <a:rPr sz="2400" i="1" spc="-25" dirty="0">
                <a:solidFill>
                  <a:srgbClr val="001F5F"/>
                </a:solidFill>
                <a:latin typeface="Century Gothic"/>
                <a:cs typeface="Century Gothic"/>
              </a:rPr>
              <a:t>l</a:t>
            </a:r>
            <a:r>
              <a:rPr sz="2400" i="1" spc="5" dirty="0">
                <a:solidFill>
                  <a:srgbClr val="001F5F"/>
                </a:solidFill>
                <a:latin typeface="Century Gothic"/>
                <a:cs typeface="Century Gothic"/>
              </a:rPr>
              <a:t>t</a:t>
            </a:r>
            <a:r>
              <a:rPr sz="2400" i="1" dirty="0">
                <a:solidFill>
                  <a:srgbClr val="001F5F"/>
                </a:solidFill>
                <a:latin typeface="Century Gothic"/>
                <a:cs typeface="Century Gothic"/>
              </a:rPr>
              <a:t>h	For	</a:t>
            </a:r>
            <a:r>
              <a:rPr sz="2400" i="1" spc="-5" dirty="0">
                <a:solidFill>
                  <a:srgbClr val="001F5F"/>
                </a:solidFill>
                <a:latin typeface="Century Gothic"/>
                <a:cs typeface="Century Gothic"/>
              </a:rPr>
              <a:t>Di</a:t>
            </a:r>
            <a:r>
              <a:rPr sz="2400" i="1" dirty="0">
                <a:solidFill>
                  <a:srgbClr val="001F5F"/>
                </a:solidFill>
                <a:latin typeface="Century Gothic"/>
                <a:cs typeface="Century Gothic"/>
              </a:rPr>
              <a:t>g</a:t>
            </a:r>
            <a:r>
              <a:rPr sz="2400" i="1" spc="-15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i="1" dirty="0">
                <a:solidFill>
                  <a:srgbClr val="001F5F"/>
                </a:solidFill>
                <a:latin typeface="Century Gothic"/>
                <a:cs typeface="Century Gothic"/>
              </a:rPr>
              <a:t>tal  </a:t>
            </a:r>
            <a:r>
              <a:rPr sz="2400" i="1" spc="-5" dirty="0">
                <a:solidFill>
                  <a:srgbClr val="001F5F"/>
                </a:solidFill>
                <a:latin typeface="Century Gothic"/>
                <a:cs typeface="Century Gothic"/>
              </a:rPr>
              <a:t>Development'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for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success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on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attainment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of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MDG-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4 &amp;</a:t>
            </a:r>
            <a:r>
              <a:rPr sz="2400" spc="-2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MDG-5.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536A"/>
              </a:buClr>
              <a:buFont typeface="Wingdings"/>
              <a:buChar char=""/>
            </a:pPr>
            <a:endParaRPr sz="2300">
              <a:latin typeface="Times New Roman"/>
              <a:cs typeface="Times New Roman"/>
            </a:endParaRPr>
          </a:p>
          <a:p>
            <a:pPr marL="169545" indent="-156845">
              <a:lnSpc>
                <a:spcPct val="100000"/>
              </a:lnSpc>
              <a:spcBef>
                <a:spcPts val="5"/>
              </a:spcBef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Bangladesh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received 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‘Diploma 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Award’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from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FAO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for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achieving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the</a:t>
            </a:r>
            <a:r>
              <a:rPr sz="2400" spc="-9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MDG-1.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536A"/>
              </a:buClr>
              <a:buFont typeface="Wingdings"/>
              <a:buChar char=""/>
            </a:pPr>
            <a:endParaRPr sz="2600">
              <a:latin typeface="Times New Roman"/>
              <a:cs typeface="Times New Roman"/>
            </a:endParaRPr>
          </a:p>
          <a:p>
            <a:pPr marL="169545" marR="5080" indent="-156845">
              <a:lnSpc>
                <a:spcPts val="2590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  <a:tab pos="2132330" algn="l"/>
                <a:tab pos="2921635" algn="l"/>
                <a:tab pos="4591050" algn="l"/>
                <a:tab pos="5405120" algn="l"/>
                <a:tab pos="6099810" algn="l"/>
                <a:tab pos="7466965" algn="l"/>
                <a:tab pos="9445625" algn="l"/>
                <a:tab pos="10041255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B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a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n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g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l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ade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h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wa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s	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h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onoured	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w</a:t>
            </a:r>
            <a:r>
              <a:rPr sz="2400" spc="15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th	the	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‘special	recogniti</a:t>
            </a:r>
            <a:r>
              <a:rPr sz="2400" b="1" spc="5" dirty="0">
                <a:solidFill>
                  <a:srgbClr val="001F5F"/>
                </a:solidFill>
                <a:latin typeface="Century Gothic"/>
                <a:cs typeface="Century Gothic"/>
              </a:rPr>
              <a:t>o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n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’	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for	o</a:t>
            </a:r>
            <a:r>
              <a:rPr sz="2400" spc="5" dirty="0">
                <a:solidFill>
                  <a:srgbClr val="001F5F"/>
                </a:solidFill>
                <a:latin typeface="Century Gothic"/>
                <a:cs typeface="Century Gothic"/>
              </a:rPr>
              <a:t>u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tanding 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progress 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in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fighting hunger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and</a:t>
            </a:r>
            <a:r>
              <a:rPr sz="2400" spc="-8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poverty.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4536A"/>
              </a:buClr>
              <a:buFont typeface="Wingdings"/>
              <a:buChar char=""/>
            </a:pPr>
            <a:endParaRPr sz="2600">
              <a:latin typeface="Times New Roman"/>
              <a:cs typeface="Times New Roman"/>
            </a:endParaRPr>
          </a:p>
          <a:p>
            <a:pPr marL="169545" marR="5715" indent="-156845">
              <a:lnSpc>
                <a:spcPts val="2590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Bangladesh was awarded </a:t>
            </a:r>
            <a:r>
              <a:rPr sz="24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‘South-South </a:t>
            </a:r>
            <a:r>
              <a:rPr sz="2400" b="1" dirty="0">
                <a:solidFill>
                  <a:srgbClr val="001F5F"/>
                </a:solidFill>
                <a:latin typeface="Century Gothic"/>
                <a:cs typeface="Century Gothic"/>
              </a:rPr>
              <a:t>Award’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for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achievements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in 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alleviating 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poverty.</a:t>
            </a:r>
            <a:endParaRPr sz="2400">
              <a:latin typeface="Century Gothic"/>
              <a:cs typeface="Century Gothic"/>
            </a:endParaRPr>
          </a:p>
          <a:p>
            <a:pPr marL="169545" marR="5080" indent="-156845">
              <a:lnSpc>
                <a:spcPts val="2590"/>
              </a:lnSpc>
              <a:spcBef>
                <a:spcPts val="2130"/>
              </a:spcBef>
              <a:buClr>
                <a:srgbClr val="44536A"/>
              </a:buClr>
              <a:buFont typeface="Wingdings"/>
              <a:buChar char=""/>
              <a:tabLst>
                <a:tab pos="170180" algn="l"/>
                <a:tab pos="1504315" algn="l"/>
                <a:tab pos="2489200" algn="l"/>
                <a:tab pos="3754120" algn="l"/>
                <a:tab pos="4502785" algn="l"/>
                <a:tab pos="6049645" algn="l"/>
                <a:tab pos="7578090" algn="l"/>
                <a:tab pos="8729345" algn="l"/>
                <a:tab pos="9514205" algn="l"/>
                <a:tab pos="10777220" algn="l"/>
                <a:tab pos="11332845" algn="l"/>
              </a:tabLst>
            </a:pP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Hon’bl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	P</a:t>
            </a:r>
            <a:r>
              <a:rPr sz="2400" spc="-20" dirty="0">
                <a:solidFill>
                  <a:srgbClr val="001F5F"/>
                </a:solidFill>
                <a:latin typeface="Century Gothic"/>
                <a:cs typeface="Century Gothic"/>
              </a:rPr>
              <a:t>r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me	</a:t>
            </a:r>
            <a:r>
              <a:rPr sz="2400" spc="-25" dirty="0">
                <a:solidFill>
                  <a:srgbClr val="001F5F"/>
                </a:solidFill>
                <a:latin typeface="Century Gothic"/>
                <a:cs typeface="Century Gothic"/>
              </a:rPr>
              <a:t>M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n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i</a:t>
            </a:r>
            <a:r>
              <a:rPr sz="2400" spc="-10" dirty="0">
                <a:solidFill>
                  <a:srgbClr val="001F5F"/>
                </a:solidFill>
                <a:latin typeface="Century Gothic"/>
                <a:cs typeface="Century Gothic"/>
              </a:rPr>
              <a:t>s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ter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wa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s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aw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ard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e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d	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‘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U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NES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C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O	Peace	</a:t>
            </a:r>
            <a:r>
              <a:rPr sz="2400" spc="-15" dirty="0">
                <a:solidFill>
                  <a:srgbClr val="001F5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001F5F"/>
                </a:solidFill>
                <a:latin typeface="Century Gothic"/>
                <a:cs typeface="Century Gothic"/>
              </a:rPr>
              <a:t>r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ee	Awar</a:t>
            </a:r>
            <a:r>
              <a:rPr sz="2400" spc="5" dirty="0">
                <a:solidFill>
                  <a:srgbClr val="001F5F"/>
                </a:solidFill>
                <a:latin typeface="Century Gothic"/>
                <a:cs typeface="Century Gothic"/>
              </a:rPr>
              <a:t>d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’	for	her  commitment to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women’s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empowerment </a:t>
            </a:r>
            <a:r>
              <a:rPr sz="2400" spc="-5" dirty="0">
                <a:solidFill>
                  <a:srgbClr val="001F5F"/>
                </a:solidFill>
                <a:latin typeface="Century Gothic"/>
                <a:cs typeface="Century Gothic"/>
              </a:rPr>
              <a:t>and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girls’</a:t>
            </a:r>
            <a:r>
              <a:rPr sz="2400" spc="-6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1F5F"/>
                </a:solidFill>
                <a:latin typeface="Century Gothic"/>
                <a:cs typeface="Century Gothic"/>
              </a:rPr>
              <a:t>education.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1856" y="888491"/>
            <a:ext cx="11549380" cy="5884545"/>
          </a:xfrm>
          <a:custGeom>
            <a:avLst/>
            <a:gdLst/>
            <a:ahLst/>
            <a:cxnLst/>
            <a:rect l="l" t="t" r="r" b="b"/>
            <a:pathLst>
              <a:path w="11549380" h="5884545">
                <a:moveTo>
                  <a:pt x="0" y="5884164"/>
                </a:moveTo>
                <a:lnTo>
                  <a:pt x="11548872" y="5884164"/>
                </a:lnTo>
                <a:lnTo>
                  <a:pt x="11548872" y="0"/>
                </a:lnTo>
                <a:lnTo>
                  <a:pt x="0" y="0"/>
                </a:lnTo>
                <a:lnTo>
                  <a:pt x="0" y="5884164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0783" y="1222705"/>
            <a:ext cx="11433810" cy="520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indent="-156845">
              <a:lnSpc>
                <a:spcPts val="2735"/>
              </a:lnSpc>
              <a:spcBef>
                <a:spcPts val="100"/>
              </a:spcBef>
              <a:buClr>
                <a:srgbClr val="44536A"/>
              </a:buClr>
              <a:buFont typeface="Wingdings"/>
              <a:buChar char=""/>
              <a:tabLst>
                <a:tab pos="170180" algn="l"/>
                <a:tab pos="2123440" algn="l"/>
                <a:tab pos="3644900" algn="l"/>
                <a:tab pos="5085080" algn="l"/>
                <a:tab pos="5540375" algn="l"/>
                <a:tab pos="7446009" algn="l"/>
                <a:tab pos="8644890" algn="l"/>
                <a:tab pos="9753600" algn="l"/>
                <a:tab pos="11090275" algn="l"/>
              </a:tabLst>
            </a:pPr>
            <a:r>
              <a:rPr sz="2400" spc="-5" dirty="0">
                <a:latin typeface="Century Gothic"/>
                <a:cs typeface="Century Gothic"/>
              </a:rPr>
              <a:t>Ba</a:t>
            </a:r>
            <a:r>
              <a:rPr sz="2400" spc="-15" dirty="0">
                <a:latin typeface="Century Gothic"/>
                <a:cs typeface="Century Gothic"/>
              </a:rPr>
              <a:t>n</a:t>
            </a:r>
            <a:r>
              <a:rPr sz="2400" dirty="0">
                <a:latin typeface="Century Gothic"/>
                <a:cs typeface="Century Gothic"/>
              </a:rPr>
              <a:t>g</a:t>
            </a:r>
            <a:r>
              <a:rPr sz="2400" spc="-10" dirty="0">
                <a:latin typeface="Century Gothic"/>
                <a:cs typeface="Century Gothic"/>
              </a:rPr>
              <a:t>l</a:t>
            </a:r>
            <a:r>
              <a:rPr sz="2400" spc="-5" dirty="0">
                <a:latin typeface="Century Gothic"/>
                <a:cs typeface="Century Gothic"/>
              </a:rPr>
              <a:t>ades</a:t>
            </a:r>
            <a:r>
              <a:rPr sz="2400" dirty="0">
                <a:latin typeface="Century Gothic"/>
                <a:cs typeface="Century Gothic"/>
              </a:rPr>
              <a:t>h	re</a:t>
            </a:r>
            <a:r>
              <a:rPr sz="2400" spc="-15" dirty="0">
                <a:latin typeface="Century Gothic"/>
                <a:cs typeface="Century Gothic"/>
              </a:rPr>
              <a:t>c</a:t>
            </a:r>
            <a:r>
              <a:rPr sz="2400" dirty="0">
                <a:latin typeface="Century Gothic"/>
                <a:cs typeface="Century Gothic"/>
              </a:rPr>
              <a:t>eived	</a:t>
            </a:r>
            <a:r>
              <a:rPr sz="2400" spc="-5" dirty="0">
                <a:latin typeface="Century Gothic"/>
                <a:cs typeface="Century Gothic"/>
              </a:rPr>
              <a:t>‘</a:t>
            </a:r>
            <a:r>
              <a:rPr sz="2400" b="1" spc="-5" dirty="0">
                <a:latin typeface="Century Gothic"/>
                <a:cs typeface="Century Gothic"/>
              </a:rPr>
              <a:t>Wome</a:t>
            </a:r>
            <a:r>
              <a:rPr sz="2400" b="1" dirty="0">
                <a:latin typeface="Century Gothic"/>
                <a:cs typeface="Century Gothic"/>
              </a:rPr>
              <a:t>n	in	</a:t>
            </a:r>
            <a:r>
              <a:rPr sz="2400" b="1" spc="-5" dirty="0">
                <a:latin typeface="Century Gothic"/>
                <a:cs typeface="Century Gothic"/>
              </a:rPr>
              <a:t>Parliament</a:t>
            </a:r>
            <a:r>
              <a:rPr sz="2400" b="1" dirty="0">
                <a:latin typeface="Century Gothic"/>
                <a:cs typeface="Century Gothic"/>
              </a:rPr>
              <a:t>s	Glob</a:t>
            </a:r>
            <a:r>
              <a:rPr sz="2400" b="1" spc="-10" dirty="0">
                <a:latin typeface="Century Gothic"/>
                <a:cs typeface="Century Gothic"/>
              </a:rPr>
              <a:t>a</a:t>
            </a:r>
            <a:r>
              <a:rPr sz="2400" b="1" dirty="0">
                <a:latin typeface="Century Gothic"/>
                <a:cs typeface="Century Gothic"/>
              </a:rPr>
              <a:t>l	</a:t>
            </a:r>
            <a:r>
              <a:rPr sz="2400" b="1" spc="-5" dirty="0">
                <a:latin typeface="Century Gothic"/>
                <a:cs typeface="Century Gothic"/>
              </a:rPr>
              <a:t>Foru</a:t>
            </a:r>
            <a:r>
              <a:rPr sz="2400" b="1" dirty="0">
                <a:latin typeface="Century Gothic"/>
                <a:cs typeface="Century Gothic"/>
              </a:rPr>
              <a:t>m	Awa</a:t>
            </a:r>
            <a:r>
              <a:rPr sz="2400" b="1" spc="-20" dirty="0">
                <a:latin typeface="Century Gothic"/>
                <a:cs typeface="Century Gothic"/>
              </a:rPr>
              <a:t>r</a:t>
            </a:r>
            <a:r>
              <a:rPr sz="2400" b="1" spc="-5" dirty="0">
                <a:latin typeface="Century Gothic"/>
                <a:cs typeface="Century Gothic"/>
              </a:rPr>
              <a:t>d</a:t>
            </a:r>
            <a:r>
              <a:rPr sz="2400" b="1" spc="5" dirty="0">
                <a:latin typeface="Century Gothic"/>
                <a:cs typeface="Century Gothic"/>
              </a:rPr>
              <a:t>’</a:t>
            </a:r>
            <a:r>
              <a:rPr sz="2400" dirty="0">
                <a:latin typeface="Century Gothic"/>
                <a:cs typeface="Century Gothic"/>
              </a:rPr>
              <a:t>,	as</a:t>
            </a:r>
            <a:endParaRPr sz="2400">
              <a:latin typeface="Century Gothic"/>
              <a:cs typeface="Century Gothic"/>
            </a:endParaRPr>
          </a:p>
          <a:p>
            <a:pPr marL="169545">
              <a:lnSpc>
                <a:spcPts val="2735"/>
              </a:lnSpc>
            </a:pPr>
            <a:r>
              <a:rPr sz="2400" spc="-5" dirty="0">
                <a:latin typeface="Century Gothic"/>
                <a:cs typeface="Century Gothic"/>
              </a:rPr>
              <a:t>Bangladesh </a:t>
            </a:r>
            <a:r>
              <a:rPr sz="2400" dirty="0">
                <a:latin typeface="Century Gothic"/>
                <a:cs typeface="Century Gothic"/>
              </a:rPr>
              <a:t>ranked </a:t>
            </a:r>
            <a:r>
              <a:rPr sz="2400" spc="-5" dirty="0">
                <a:latin typeface="Century Gothic"/>
                <a:cs typeface="Century Gothic"/>
              </a:rPr>
              <a:t>10</a:t>
            </a:r>
            <a:r>
              <a:rPr sz="2400" spc="-7" baseline="24305" dirty="0">
                <a:latin typeface="Century Gothic"/>
                <a:cs typeface="Century Gothic"/>
              </a:rPr>
              <a:t>th </a:t>
            </a:r>
            <a:r>
              <a:rPr sz="2400" dirty="0">
                <a:latin typeface="Century Gothic"/>
                <a:cs typeface="Century Gothic"/>
              </a:rPr>
              <a:t>out of 142 countries </a:t>
            </a:r>
            <a:r>
              <a:rPr sz="2400" spc="0" dirty="0">
                <a:latin typeface="Century Gothic"/>
                <a:cs typeface="Century Gothic"/>
              </a:rPr>
              <a:t>in </a:t>
            </a:r>
            <a:r>
              <a:rPr sz="2400" dirty="0">
                <a:latin typeface="Century Gothic"/>
                <a:cs typeface="Century Gothic"/>
              </a:rPr>
              <a:t>the </a:t>
            </a:r>
            <a:r>
              <a:rPr sz="2400" spc="-5" dirty="0">
                <a:latin typeface="Century Gothic"/>
                <a:cs typeface="Century Gothic"/>
              </a:rPr>
              <a:t>political</a:t>
            </a:r>
            <a:r>
              <a:rPr sz="2400" spc="-355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sphere.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Times New Roman"/>
              <a:cs typeface="Times New Roman"/>
            </a:endParaRPr>
          </a:p>
          <a:p>
            <a:pPr marL="169545" indent="-156845">
              <a:lnSpc>
                <a:spcPts val="2735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latin typeface="Century Gothic"/>
                <a:cs typeface="Century Gothic"/>
              </a:rPr>
              <a:t>Hon’ble</a:t>
            </a:r>
            <a:r>
              <a:rPr sz="2400" spc="180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Prime</a:t>
            </a:r>
            <a:r>
              <a:rPr sz="2400" spc="18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Minister</a:t>
            </a:r>
            <a:r>
              <a:rPr sz="2400" spc="190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was</a:t>
            </a:r>
            <a:r>
              <a:rPr sz="2400" spc="185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awarded</a:t>
            </a:r>
            <a:r>
              <a:rPr sz="2400" spc="200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“</a:t>
            </a:r>
            <a:r>
              <a:rPr sz="2400" b="1" spc="-5" dirty="0">
                <a:latin typeface="Century Gothic"/>
                <a:cs typeface="Century Gothic"/>
              </a:rPr>
              <a:t>Champions</a:t>
            </a:r>
            <a:r>
              <a:rPr sz="2400" b="1" spc="165" dirty="0">
                <a:latin typeface="Century Gothic"/>
                <a:cs typeface="Century Gothic"/>
              </a:rPr>
              <a:t> </a:t>
            </a:r>
            <a:r>
              <a:rPr sz="2400" b="1" spc="-5" dirty="0">
                <a:latin typeface="Century Gothic"/>
                <a:cs typeface="Century Gothic"/>
              </a:rPr>
              <a:t>of</a:t>
            </a:r>
            <a:r>
              <a:rPr sz="2400" b="1" spc="18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the</a:t>
            </a:r>
            <a:r>
              <a:rPr sz="2400" b="1" spc="185" dirty="0">
                <a:latin typeface="Century Gothic"/>
                <a:cs typeface="Century Gothic"/>
              </a:rPr>
              <a:t> </a:t>
            </a:r>
            <a:r>
              <a:rPr sz="2400" b="1" spc="-5" dirty="0">
                <a:latin typeface="Century Gothic"/>
                <a:cs typeface="Century Gothic"/>
              </a:rPr>
              <a:t>Earth</a:t>
            </a:r>
            <a:r>
              <a:rPr sz="2400" spc="-5" dirty="0">
                <a:latin typeface="Century Gothic"/>
                <a:cs typeface="Century Gothic"/>
              </a:rPr>
              <a:t>”</a:t>
            </a:r>
            <a:r>
              <a:rPr sz="2400" spc="185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by</a:t>
            </a:r>
            <a:r>
              <a:rPr sz="2400" spc="200" dirty="0">
                <a:latin typeface="Century Gothic"/>
                <a:cs typeface="Century Gothic"/>
              </a:rPr>
              <a:t> </a:t>
            </a:r>
            <a:r>
              <a:rPr sz="2400" spc="-5" dirty="0">
                <a:latin typeface="Century Gothic"/>
                <a:cs typeface="Century Gothic"/>
              </a:rPr>
              <a:t>UNEP</a:t>
            </a:r>
            <a:r>
              <a:rPr sz="2400" spc="19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for</a:t>
            </a:r>
            <a:endParaRPr sz="2400">
              <a:latin typeface="Century Gothic"/>
              <a:cs typeface="Century Gothic"/>
            </a:endParaRPr>
          </a:p>
          <a:p>
            <a:pPr marL="169545">
              <a:lnSpc>
                <a:spcPts val="2735"/>
              </a:lnSpc>
            </a:pPr>
            <a:r>
              <a:rPr sz="2400" i="1" spc="-5" dirty="0">
                <a:latin typeface="Century Gothic"/>
                <a:cs typeface="Century Gothic"/>
              </a:rPr>
              <a:t>Policy</a:t>
            </a:r>
            <a:r>
              <a:rPr sz="2400" i="1" spc="0" dirty="0">
                <a:latin typeface="Century Gothic"/>
                <a:cs typeface="Century Gothic"/>
              </a:rPr>
              <a:t> </a:t>
            </a:r>
            <a:r>
              <a:rPr sz="2400" i="1" spc="-5" dirty="0">
                <a:latin typeface="Century Gothic"/>
                <a:cs typeface="Century Gothic"/>
              </a:rPr>
              <a:t>Leadership</a:t>
            </a:r>
            <a:r>
              <a:rPr sz="2400" spc="-5" dirty="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imes New Roman"/>
              <a:cs typeface="Times New Roman"/>
            </a:endParaRPr>
          </a:p>
          <a:p>
            <a:pPr marL="169545" marR="5080" indent="-156845" algn="just">
              <a:lnSpc>
                <a:spcPts val="2600"/>
              </a:lnSpc>
              <a:spcBef>
                <a:spcPts val="5"/>
              </a:spcBef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latin typeface="Century Gothic"/>
                <a:cs typeface="Century Gothic"/>
              </a:rPr>
              <a:t>The UN-Women recognised </a:t>
            </a:r>
            <a:r>
              <a:rPr sz="2400" dirty="0">
                <a:latin typeface="Century Gothic"/>
                <a:cs typeface="Century Gothic"/>
              </a:rPr>
              <a:t>our </a:t>
            </a:r>
            <a:r>
              <a:rPr sz="2400" spc="-5" dirty="0">
                <a:latin typeface="Century Gothic"/>
                <a:cs typeface="Century Gothic"/>
              </a:rPr>
              <a:t>Hon’ble </a:t>
            </a:r>
            <a:r>
              <a:rPr sz="2400" dirty="0">
                <a:latin typeface="Century Gothic"/>
                <a:cs typeface="Century Gothic"/>
              </a:rPr>
              <a:t>Prime </a:t>
            </a:r>
            <a:r>
              <a:rPr sz="2400" spc="-5" dirty="0">
                <a:latin typeface="Century Gothic"/>
                <a:cs typeface="Century Gothic"/>
              </a:rPr>
              <a:t>Minister </a:t>
            </a:r>
            <a:r>
              <a:rPr sz="2400" dirty="0">
                <a:latin typeface="Century Gothic"/>
                <a:cs typeface="Century Gothic"/>
              </a:rPr>
              <a:t>as </a:t>
            </a:r>
            <a:r>
              <a:rPr sz="2400" b="1" dirty="0">
                <a:latin typeface="Century Gothic"/>
                <a:cs typeface="Century Gothic"/>
              </a:rPr>
              <a:t>"Planet </a:t>
            </a:r>
            <a:r>
              <a:rPr sz="2400" b="1" spc="0" dirty="0">
                <a:latin typeface="Century Gothic"/>
                <a:cs typeface="Century Gothic"/>
              </a:rPr>
              <a:t>50-50  </a:t>
            </a:r>
            <a:r>
              <a:rPr sz="2400" b="1" dirty="0">
                <a:latin typeface="Century Gothic"/>
                <a:cs typeface="Century Gothic"/>
              </a:rPr>
              <a:t>Champion"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536A"/>
              </a:buClr>
              <a:buFont typeface="Wingdings"/>
              <a:buChar char=""/>
            </a:pPr>
            <a:endParaRPr sz="2550">
              <a:latin typeface="Times New Roman"/>
              <a:cs typeface="Times New Roman"/>
            </a:endParaRPr>
          </a:p>
          <a:p>
            <a:pPr marL="169545" marR="6350" indent="-156845" algn="just">
              <a:lnSpc>
                <a:spcPts val="2590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latin typeface="Century Gothic"/>
                <a:cs typeface="Century Gothic"/>
              </a:rPr>
              <a:t>The Global </a:t>
            </a:r>
            <a:r>
              <a:rPr sz="2400" dirty="0">
                <a:latin typeface="Century Gothic"/>
                <a:cs typeface="Century Gothic"/>
              </a:rPr>
              <a:t>Partnership </a:t>
            </a:r>
            <a:r>
              <a:rPr sz="2400" spc="-5" dirty="0">
                <a:latin typeface="Century Gothic"/>
                <a:cs typeface="Century Gothic"/>
              </a:rPr>
              <a:t>Forum awarded Hon’ble </a:t>
            </a:r>
            <a:r>
              <a:rPr sz="2400" dirty="0">
                <a:latin typeface="Century Gothic"/>
                <a:cs typeface="Century Gothic"/>
              </a:rPr>
              <a:t>Prime </a:t>
            </a:r>
            <a:r>
              <a:rPr sz="2400" spc="-5" dirty="0">
                <a:latin typeface="Century Gothic"/>
                <a:cs typeface="Century Gothic"/>
              </a:rPr>
              <a:t>Minister </a:t>
            </a:r>
            <a:r>
              <a:rPr sz="2400" b="1" dirty="0">
                <a:latin typeface="Century Gothic"/>
                <a:cs typeface="Century Gothic"/>
              </a:rPr>
              <a:t>"Agent </a:t>
            </a:r>
            <a:r>
              <a:rPr sz="2400" b="1" spc="-5" dirty="0">
                <a:latin typeface="Century Gothic"/>
                <a:cs typeface="Century Gothic"/>
              </a:rPr>
              <a:t>of  </a:t>
            </a:r>
            <a:r>
              <a:rPr sz="2400" b="1" dirty="0">
                <a:latin typeface="Century Gothic"/>
                <a:cs typeface="Century Gothic"/>
              </a:rPr>
              <a:t>Change Award" </a:t>
            </a:r>
            <a:r>
              <a:rPr sz="2400" dirty="0">
                <a:latin typeface="Century Gothic"/>
                <a:cs typeface="Century Gothic"/>
              </a:rPr>
              <a:t>for her outstanding contributions to </a:t>
            </a:r>
            <a:r>
              <a:rPr sz="2400" spc="-5" dirty="0">
                <a:latin typeface="Century Gothic"/>
                <a:cs typeface="Century Gothic"/>
              </a:rPr>
              <a:t>women</a:t>
            </a:r>
            <a:r>
              <a:rPr sz="2400" spc="-1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empowerment.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536A"/>
              </a:buClr>
              <a:buFont typeface="Wingdings"/>
              <a:buChar char=""/>
            </a:pPr>
            <a:endParaRPr sz="2600">
              <a:latin typeface="Times New Roman"/>
              <a:cs typeface="Times New Roman"/>
            </a:endParaRPr>
          </a:p>
          <a:p>
            <a:pPr marL="169545" marR="5080" indent="-156845" algn="just">
              <a:lnSpc>
                <a:spcPts val="2590"/>
              </a:lnSpc>
              <a:buClr>
                <a:srgbClr val="44536A"/>
              </a:buClr>
              <a:buFont typeface="Wingdings"/>
              <a:buChar char=""/>
              <a:tabLst>
                <a:tab pos="170180" algn="l"/>
              </a:tabLst>
            </a:pPr>
            <a:r>
              <a:rPr sz="2400" spc="-5" dirty="0">
                <a:latin typeface="Century Gothic"/>
                <a:cs typeface="Century Gothic"/>
              </a:rPr>
              <a:t>‘</a:t>
            </a:r>
            <a:r>
              <a:rPr sz="2400" b="1" spc="-5" dirty="0">
                <a:latin typeface="Century Gothic"/>
                <a:cs typeface="Century Gothic"/>
              </a:rPr>
              <a:t>International </a:t>
            </a:r>
            <a:r>
              <a:rPr sz="2400" b="1" dirty="0">
                <a:latin typeface="Century Gothic"/>
                <a:cs typeface="Century Gothic"/>
              </a:rPr>
              <a:t>Achievement Award</a:t>
            </a:r>
            <a:r>
              <a:rPr sz="2400" dirty="0">
                <a:latin typeface="Century Gothic"/>
                <a:cs typeface="Century Gothic"/>
              </a:rPr>
              <a:t>’ </a:t>
            </a:r>
            <a:r>
              <a:rPr sz="2400" spc="-5" dirty="0">
                <a:latin typeface="Century Gothic"/>
                <a:cs typeface="Century Gothic"/>
              </a:rPr>
              <a:t>and </a:t>
            </a:r>
            <a:r>
              <a:rPr sz="2400" dirty="0">
                <a:latin typeface="Century Gothic"/>
                <a:cs typeface="Century Gothic"/>
              </a:rPr>
              <a:t>the </a:t>
            </a:r>
            <a:r>
              <a:rPr sz="2400" spc="-5" dirty="0">
                <a:latin typeface="Century Gothic"/>
                <a:cs typeface="Century Gothic"/>
              </a:rPr>
              <a:t>‘</a:t>
            </a:r>
            <a:r>
              <a:rPr sz="2400" b="1" spc="-5" dirty="0">
                <a:latin typeface="Century Gothic"/>
                <a:cs typeface="Century Gothic"/>
              </a:rPr>
              <a:t>2018 Special Distinction </a:t>
            </a:r>
            <a:r>
              <a:rPr sz="2400" b="1" dirty="0">
                <a:latin typeface="Century Gothic"/>
                <a:cs typeface="Century Gothic"/>
              </a:rPr>
              <a:t>Award  for </a:t>
            </a:r>
            <a:r>
              <a:rPr sz="2400" b="1" spc="-5" dirty="0">
                <a:latin typeface="Century Gothic"/>
                <a:cs typeface="Century Gothic"/>
              </a:rPr>
              <a:t>Outstanding </a:t>
            </a:r>
            <a:r>
              <a:rPr sz="2400" b="1" dirty="0">
                <a:latin typeface="Century Gothic"/>
                <a:cs typeface="Century Gothic"/>
              </a:rPr>
              <a:t>Leadership</a:t>
            </a:r>
            <a:r>
              <a:rPr sz="2400" dirty="0">
                <a:latin typeface="Century Gothic"/>
                <a:cs typeface="Century Gothic"/>
              </a:rPr>
              <a:t>’ </a:t>
            </a:r>
            <a:r>
              <a:rPr sz="2400" spc="-5" dirty="0">
                <a:latin typeface="Century Gothic"/>
                <a:cs typeface="Century Gothic"/>
              </a:rPr>
              <a:t>for </a:t>
            </a:r>
            <a:r>
              <a:rPr sz="2400" dirty="0">
                <a:latin typeface="Century Gothic"/>
                <a:cs typeface="Century Gothic"/>
              </a:rPr>
              <a:t>her </a:t>
            </a:r>
            <a:r>
              <a:rPr sz="2400" spc="-5" dirty="0">
                <a:latin typeface="Century Gothic"/>
                <a:cs typeface="Century Gothic"/>
              </a:rPr>
              <a:t>humanitarian and responsible policy </a:t>
            </a:r>
            <a:r>
              <a:rPr sz="2400" spc="0" dirty="0">
                <a:latin typeface="Century Gothic"/>
                <a:cs typeface="Century Gothic"/>
              </a:rPr>
              <a:t>in  </a:t>
            </a:r>
            <a:r>
              <a:rPr sz="2400" dirty="0">
                <a:latin typeface="Century Gothic"/>
                <a:cs typeface="Century Gothic"/>
              </a:rPr>
              <a:t>hosting the</a:t>
            </a:r>
            <a:r>
              <a:rPr sz="2400" spc="-4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Rohingyas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838200"/>
          </a:xfrm>
          <a:custGeom>
            <a:avLst/>
            <a:gdLst/>
            <a:ahLst/>
            <a:cxnLst/>
            <a:rect l="l" t="t" r="r" b="b"/>
            <a:pathLst>
              <a:path w="12192000" h="838200">
                <a:moveTo>
                  <a:pt x="0" y="838200"/>
                </a:moveTo>
                <a:lnTo>
                  <a:pt x="12192000" y="838200"/>
                </a:lnTo>
                <a:lnTo>
                  <a:pt x="121920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74238" y="34239"/>
            <a:ext cx="5841365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entury Gothic"/>
                <a:cs typeface="Century Gothic"/>
              </a:rPr>
              <a:t>Bangladesh </a:t>
            </a:r>
            <a:r>
              <a:rPr sz="2800" spc="-5" dirty="0">
                <a:latin typeface="Century Gothic"/>
                <a:cs typeface="Century Gothic"/>
              </a:rPr>
              <a:t>MDGs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achievements:</a:t>
            </a:r>
            <a:endParaRPr sz="2800">
              <a:latin typeface="Century Gothic"/>
              <a:cs typeface="Century Gothic"/>
            </a:endParaRPr>
          </a:p>
          <a:p>
            <a:pPr marL="4445" algn="ctr">
              <a:lnSpc>
                <a:spcPct val="100000"/>
              </a:lnSpc>
              <a:spcBef>
                <a:spcPts val="25"/>
              </a:spcBef>
            </a:pPr>
            <a:r>
              <a:rPr sz="2000" spc="-5" dirty="0">
                <a:latin typeface="Century Gothic"/>
                <a:cs typeface="Century Gothic"/>
              </a:rPr>
              <a:t>International</a:t>
            </a:r>
            <a:r>
              <a:rPr sz="2000" spc="-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recognition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8793" y="6479844"/>
            <a:ext cx="1092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91493" y="6451193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79535" y="4287011"/>
            <a:ext cx="3005328" cy="2401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79535" y="0"/>
            <a:ext cx="3005328" cy="23073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0248" y="2075688"/>
            <a:ext cx="3023616" cy="2401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536" y="4287011"/>
            <a:ext cx="3008376" cy="24018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79535" y="2075688"/>
            <a:ext cx="3005328" cy="24018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60194" y="6581952"/>
            <a:ext cx="764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46091" y="0"/>
            <a:ext cx="3005327" cy="23362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536" y="0"/>
            <a:ext cx="3005328" cy="23362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27803" y="4287011"/>
            <a:ext cx="3005328" cy="24018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31208" y="1956816"/>
            <a:ext cx="3377184" cy="26395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3406140"/>
            <a:ext cx="3819144" cy="2636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4663" y="3407536"/>
            <a:ext cx="3502660" cy="16008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635" algn="ctr">
              <a:lnSpc>
                <a:spcPct val="99700"/>
              </a:lnSpc>
              <a:spcBef>
                <a:spcPts val="265"/>
              </a:spcBef>
            </a:pP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“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I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am confident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that 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Bangladesh could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show its 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capacity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in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achieving SDGs</a:t>
            </a:r>
            <a:r>
              <a:rPr sz="1800" b="1" spc="-95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the  way it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achieved </a:t>
            </a:r>
            <a:r>
              <a:rPr sz="1800" b="1" dirty="0">
                <a:solidFill>
                  <a:srgbClr val="001F5F"/>
                </a:solidFill>
                <a:latin typeface="Century Gothic"/>
                <a:cs typeface="Century Gothic"/>
              </a:rPr>
              <a:t>the MDG 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goals.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7789" y="5356352"/>
            <a:ext cx="194056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95"/>
              </a:spcBef>
            </a:pP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Hon’ble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Prime</a:t>
            </a:r>
            <a:r>
              <a:rPr sz="1600" spc="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Minister</a:t>
            </a:r>
            <a:endParaRPr sz="1600">
              <a:latin typeface="Calibri"/>
              <a:cs typeface="Calibri"/>
            </a:endParaRPr>
          </a:p>
          <a:p>
            <a:pPr marL="158750">
              <a:lnSpc>
                <a:spcPts val="2850"/>
              </a:lnSpc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Sheikh</a:t>
            </a:r>
            <a:r>
              <a:rPr sz="24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Hasina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43700" y="126492"/>
            <a:ext cx="3733800" cy="3733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83096" y="4037076"/>
            <a:ext cx="4173494" cy="24314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299385"/>
            <a:ext cx="3753438" cy="27413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533400"/>
          </a:xfrm>
          <a:custGeom>
            <a:avLst/>
            <a:gdLst/>
            <a:ahLst/>
            <a:cxnLst/>
            <a:rect l="l" t="t" r="r" b="b"/>
            <a:pathLst>
              <a:path w="12192000" h="533400">
                <a:moveTo>
                  <a:pt x="0" y="533400"/>
                </a:moveTo>
                <a:lnTo>
                  <a:pt x="12192000" y="533400"/>
                </a:lnTo>
                <a:lnTo>
                  <a:pt x="12192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2926" y="0"/>
            <a:ext cx="20472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SDG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Basics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1375" y="1303019"/>
            <a:ext cx="4219956" cy="4221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24888" y="1572260"/>
            <a:ext cx="852805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232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835"/>
              </a:lnSpc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ic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0476" y="2354579"/>
            <a:ext cx="3381755" cy="3380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1100" y="3192779"/>
            <a:ext cx="2542031" cy="25420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6120" y="2713481"/>
            <a:ext cx="951865" cy="1076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169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targets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00200" y="4030979"/>
            <a:ext cx="1703831" cy="17038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6945" y="4726685"/>
            <a:ext cx="450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SDGs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1711" y="1146047"/>
            <a:ext cx="4428744" cy="4308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335279"/>
            <a:ext cx="12191999" cy="11628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21760" y="463677"/>
            <a:ext cx="5349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FF0000"/>
                </a:solidFill>
                <a:latin typeface="Calibri"/>
                <a:cs typeface="Calibri"/>
              </a:rPr>
              <a:t>LEAVING </a:t>
            </a:r>
            <a:r>
              <a:rPr sz="4000" spc="-5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4000" spc="-10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4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alibri"/>
                <a:cs typeface="Calibri"/>
              </a:rPr>
              <a:t>BEHIND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5820155"/>
            <a:ext cx="12191999" cy="844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1180" y="5913831"/>
            <a:ext cx="7005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PUT </a:t>
            </a:r>
            <a:r>
              <a:rPr sz="2800" b="1" spc="-30" dirty="0">
                <a:solidFill>
                  <a:srgbClr val="6F2F9F"/>
                </a:solidFill>
                <a:latin typeface="Calibri"/>
                <a:cs typeface="Calibri"/>
              </a:rPr>
              <a:t>SUSTAINABLE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DEVELOPMENT </a:t>
            </a:r>
            <a:r>
              <a:rPr sz="2800" b="1" spc="-114" dirty="0">
                <a:solidFill>
                  <a:srgbClr val="6F2F9F"/>
                </a:solidFill>
                <a:latin typeface="Calibri"/>
                <a:cs typeface="Calibri"/>
              </a:rPr>
              <a:t>AT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800" b="1" spc="2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6F2F9F"/>
                </a:solidFill>
                <a:latin typeface="Calibri"/>
                <a:cs typeface="Calibri"/>
              </a:rPr>
              <a:t>CORE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86528" y="1629155"/>
            <a:ext cx="2290572" cy="34823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04" y="22859"/>
            <a:ext cx="12084050" cy="586740"/>
          </a:xfrm>
          <a:custGeom>
            <a:avLst/>
            <a:gdLst/>
            <a:ahLst/>
            <a:cxnLst/>
            <a:rect l="l" t="t" r="r" b="b"/>
            <a:pathLst>
              <a:path w="12084050" h="586740">
                <a:moveTo>
                  <a:pt x="0" y="586740"/>
                </a:moveTo>
                <a:lnTo>
                  <a:pt x="12083796" y="586740"/>
                </a:lnTo>
                <a:lnTo>
                  <a:pt x="12083796" y="0"/>
                </a:lnTo>
                <a:lnTo>
                  <a:pt x="0" y="0"/>
                </a:lnTo>
                <a:lnTo>
                  <a:pt x="0" y="586740"/>
                </a:lnTo>
                <a:close/>
              </a:path>
            </a:pathLst>
          </a:custGeom>
          <a:solidFill>
            <a:srgbClr val="2E8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7676" y="27558"/>
            <a:ext cx="47853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0745" algn="l"/>
              </a:tabLst>
            </a:pPr>
            <a:r>
              <a:rPr sz="3200" dirty="0">
                <a:latin typeface="Century Gothic"/>
                <a:cs typeface="Century Gothic"/>
              </a:rPr>
              <a:t>Leaving</a:t>
            </a:r>
            <a:r>
              <a:rPr sz="3200" spc="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No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One	</a:t>
            </a:r>
            <a:r>
              <a:rPr sz="3200" spc="-5" dirty="0">
                <a:latin typeface="Century Gothic"/>
                <a:cs typeface="Century Gothic"/>
              </a:rPr>
              <a:t>Behind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38200" y="1600200"/>
            <a:ext cx="9946005" cy="411480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0" rIns="0" bIns="0" rtlCol="0">
            <a:spAutoFit/>
          </a:bodyPr>
          <a:lstStyle/>
          <a:p>
            <a:pPr marL="320040" indent="-228600">
              <a:lnSpc>
                <a:spcPts val="3204"/>
              </a:lnSpc>
              <a:buFont typeface="Arial"/>
              <a:buChar char="•"/>
              <a:tabLst>
                <a:tab pos="320040" algn="l"/>
              </a:tabLst>
            </a:pPr>
            <a:r>
              <a:rPr sz="2800" b="1" spc="-50" dirty="0">
                <a:solidFill>
                  <a:srgbClr val="004982"/>
                </a:solidFill>
                <a:latin typeface="Calibri"/>
                <a:cs typeface="Calibri"/>
              </a:rPr>
              <a:t>Youth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25" dirty="0">
                <a:solidFill>
                  <a:srgbClr val="004982"/>
                </a:solidFill>
                <a:latin typeface="Calibri"/>
                <a:cs typeface="Calibri"/>
              </a:rPr>
              <a:t>Women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and</a:t>
            </a:r>
            <a:r>
              <a:rPr sz="2800" b="1" spc="60" dirty="0">
                <a:solidFill>
                  <a:srgbClr val="004982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4982"/>
                </a:solidFill>
                <a:latin typeface="Calibri"/>
                <a:cs typeface="Calibri"/>
              </a:rPr>
              <a:t>Children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Elderly</a:t>
            </a:r>
            <a:r>
              <a:rPr sz="2800" b="1" spc="15" dirty="0">
                <a:solidFill>
                  <a:srgbClr val="004982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people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35" dirty="0">
                <a:solidFill>
                  <a:srgbClr val="004982"/>
                </a:solidFill>
                <a:latin typeface="Calibri"/>
                <a:cs typeface="Calibri"/>
              </a:rPr>
              <a:t>Tribal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25" dirty="0">
                <a:solidFill>
                  <a:srgbClr val="004982"/>
                </a:solidFill>
                <a:latin typeface="Calibri"/>
                <a:cs typeface="Calibri"/>
              </a:rPr>
              <a:t>Transgender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10" dirty="0">
                <a:solidFill>
                  <a:srgbClr val="004982"/>
                </a:solidFill>
                <a:latin typeface="Calibri"/>
                <a:cs typeface="Calibri"/>
              </a:rPr>
              <a:t>Autistic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and </a:t>
            </a:r>
            <a:r>
              <a:rPr sz="2800" b="1" spc="-10" dirty="0">
                <a:solidFill>
                  <a:srgbClr val="004982"/>
                </a:solidFill>
                <a:latin typeface="Calibri"/>
                <a:cs typeface="Calibri"/>
              </a:rPr>
              <a:t>children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with special</a:t>
            </a:r>
            <a:r>
              <a:rPr sz="2800" b="1" spc="125" dirty="0">
                <a:solidFill>
                  <a:srgbClr val="004982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needs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15" dirty="0">
                <a:solidFill>
                  <a:srgbClr val="004982"/>
                </a:solidFill>
                <a:latin typeface="Calibri"/>
                <a:cs typeface="Calibri"/>
              </a:rPr>
              <a:t>People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in Island and</a:t>
            </a:r>
            <a:r>
              <a:rPr sz="2800" b="1" spc="40" dirty="0">
                <a:solidFill>
                  <a:srgbClr val="004982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Haor</a:t>
            </a:r>
            <a:endParaRPr sz="2800">
              <a:latin typeface="Calibri"/>
              <a:cs typeface="Calibri"/>
            </a:endParaRPr>
          </a:p>
          <a:p>
            <a:pPr marL="32004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20040" algn="l"/>
              </a:tabLst>
            </a:pP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Other </a:t>
            </a:r>
            <a:r>
              <a:rPr sz="2800" b="1" spc="-10" dirty="0">
                <a:solidFill>
                  <a:srgbClr val="004982"/>
                </a:solidFill>
                <a:latin typeface="Calibri"/>
                <a:cs typeface="Calibri"/>
              </a:rPr>
              <a:t>backward</a:t>
            </a:r>
            <a:r>
              <a:rPr sz="2800" b="1" spc="30" dirty="0">
                <a:solidFill>
                  <a:srgbClr val="004982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4982"/>
                </a:solidFill>
                <a:latin typeface="Calibri"/>
                <a:cs typeface="Calibri"/>
              </a:rPr>
              <a:t>section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72840" y="1901951"/>
            <a:ext cx="5227320" cy="3753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48428" y="1185672"/>
            <a:ext cx="1923287" cy="14950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0619" y="1594865"/>
            <a:ext cx="897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NGOs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96683" y="1642872"/>
            <a:ext cx="1923287" cy="14950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03338" y="2000250"/>
            <a:ext cx="111188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Profession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al</a:t>
            </a:r>
            <a:endParaRPr sz="15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groups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3427" y="3720084"/>
            <a:ext cx="1923288" cy="14950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54882" y="4235322"/>
            <a:ext cx="497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11083" y="3186683"/>
            <a:ext cx="1923287" cy="14950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89163" y="3753358"/>
            <a:ext cx="1168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Businesses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19627" y="2100072"/>
            <a:ext cx="1923288" cy="14950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98494" y="2598877"/>
            <a:ext cx="763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CSOs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01028" y="4634484"/>
            <a:ext cx="1923287" cy="14950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46111" y="5149418"/>
            <a:ext cx="835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Media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67428" y="4863084"/>
            <a:ext cx="1923288" cy="14950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83607" y="5213426"/>
            <a:ext cx="10902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women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7779" y="2961132"/>
            <a:ext cx="2089403" cy="1685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79846" y="3374516"/>
            <a:ext cx="152463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118745">
              <a:lnSpc>
                <a:spcPts val="2810"/>
              </a:lnSpc>
              <a:spcBef>
                <a:spcPts val="455"/>
              </a:spcBef>
            </a:pP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Whole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of 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society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0"/>
            <a:ext cx="12192000" cy="657225"/>
          </a:xfrm>
          <a:custGeom>
            <a:avLst/>
            <a:gdLst/>
            <a:ahLst/>
            <a:cxnLst/>
            <a:rect l="l" t="t" r="r" b="b"/>
            <a:pathLst>
              <a:path w="12192000" h="657225">
                <a:moveTo>
                  <a:pt x="0" y="656844"/>
                </a:moveTo>
                <a:lnTo>
                  <a:pt x="12192000" y="656844"/>
                </a:lnTo>
                <a:lnTo>
                  <a:pt x="12192000" y="0"/>
                </a:lnTo>
                <a:lnTo>
                  <a:pt x="0" y="0"/>
                </a:lnTo>
                <a:lnTo>
                  <a:pt x="0" y="65684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92327" y="6858"/>
            <a:ext cx="6558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entury Gothic"/>
                <a:cs typeface="Century Gothic"/>
              </a:rPr>
              <a:t>SDG </a:t>
            </a:r>
            <a:r>
              <a:rPr dirty="0">
                <a:latin typeface="Century Gothic"/>
                <a:cs typeface="Century Gothic"/>
              </a:rPr>
              <a:t>Implementation</a:t>
            </a:r>
            <a:r>
              <a:rPr spc="-70" dirty="0">
                <a:latin typeface="Century Gothic"/>
                <a:cs typeface="Century Gothic"/>
              </a:rPr>
              <a:t> </a:t>
            </a:r>
            <a:r>
              <a:rPr spc="-5" dirty="0">
                <a:latin typeface="Century Gothic"/>
                <a:cs typeface="Century Gothic"/>
              </a:rPr>
              <a:t>Strategy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09600"/>
          </a:xfrm>
          <a:custGeom>
            <a:avLst/>
            <a:gdLst/>
            <a:ahLst/>
            <a:cxnLst/>
            <a:rect l="l" t="t" r="r" b="b"/>
            <a:pathLst>
              <a:path w="12192000" h="609600">
                <a:moveTo>
                  <a:pt x="0" y="609600"/>
                </a:moveTo>
                <a:lnTo>
                  <a:pt x="12192000" y="609600"/>
                </a:lnTo>
                <a:lnTo>
                  <a:pt x="12192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4413" y="15951"/>
            <a:ext cx="55918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entury Gothic"/>
                <a:cs typeface="Century Gothic"/>
              </a:rPr>
              <a:t>Alignment of SDGs with</a:t>
            </a:r>
            <a:r>
              <a:rPr sz="3200" spc="-4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7FYP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2106167"/>
            <a:ext cx="4114800" cy="389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2106167"/>
            <a:ext cx="4114800" cy="3892550"/>
          </a:xfrm>
          <a:custGeom>
            <a:avLst/>
            <a:gdLst/>
            <a:ahLst/>
            <a:cxnLst/>
            <a:rect l="l" t="t" r="r" b="b"/>
            <a:pathLst>
              <a:path w="4114800" h="3892550">
                <a:moveTo>
                  <a:pt x="0" y="3892296"/>
                </a:moveTo>
                <a:lnTo>
                  <a:pt x="4114800" y="3892296"/>
                </a:lnTo>
                <a:lnTo>
                  <a:pt x="4114800" y="0"/>
                </a:lnTo>
                <a:lnTo>
                  <a:pt x="0" y="0"/>
                </a:lnTo>
                <a:lnTo>
                  <a:pt x="0" y="3892296"/>
                </a:lnTo>
                <a:close/>
              </a:path>
            </a:pathLst>
          </a:custGeom>
          <a:ln w="6096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240" y="2076957"/>
            <a:ext cx="39446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153795" algn="l"/>
                <a:tab pos="1831975" algn="l"/>
                <a:tab pos="3209925" algn="l"/>
              </a:tabLst>
            </a:pPr>
            <a:r>
              <a:rPr sz="3200" dirty="0">
                <a:latin typeface="Times New Roman"/>
                <a:cs typeface="Times New Roman"/>
              </a:rPr>
              <a:t>SDGs	are	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al</a:t>
            </a:r>
            <a:r>
              <a:rPr sz="3200" spc="-15" dirty="0">
                <a:solidFill>
                  <a:srgbClr val="EC7C30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g</a:t>
            </a:r>
            <a:r>
              <a:rPr sz="3200" spc="0" dirty="0">
                <a:solidFill>
                  <a:srgbClr val="EC7C30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ed	wi</a:t>
            </a:r>
            <a:r>
              <a:rPr sz="3200" spc="-20" dirty="0">
                <a:solidFill>
                  <a:srgbClr val="EC7C30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8177" y="2393645"/>
            <a:ext cx="4235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800" baseline="-16493" dirty="0">
                <a:solidFill>
                  <a:srgbClr val="EC7C30"/>
                </a:solidFill>
                <a:latin typeface="Times New Roman"/>
                <a:cs typeface="Times New Roman"/>
              </a:rPr>
              <a:t>7</a:t>
            </a:r>
            <a:r>
              <a:rPr sz="2100" spc="-10" dirty="0">
                <a:solidFill>
                  <a:srgbClr val="EC7C30"/>
                </a:solidFill>
                <a:latin typeface="Times New Roman"/>
                <a:cs typeface="Times New Roman"/>
              </a:rPr>
              <a:t>th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2515565"/>
            <a:ext cx="24758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715770" algn="l"/>
              </a:tabLst>
            </a:pP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the	FYP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240" y="2955163"/>
            <a:ext cx="2051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540510" algn="l"/>
              </a:tabLst>
            </a:pP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2020)</a:t>
            </a:r>
            <a:r>
              <a:rPr sz="3200" dirty="0">
                <a:latin typeface="Times New Roman"/>
                <a:cs typeface="Times New Roman"/>
              </a:rPr>
              <a:t>,	the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8858" y="2515565"/>
            <a:ext cx="1412240" cy="953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960">
              <a:lnSpc>
                <a:spcPts val="3650"/>
              </a:lnSpc>
              <a:spcBef>
                <a:spcPts val="105"/>
              </a:spcBef>
            </a:pP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(201</a:t>
            </a:r>
            <a:r>
              <a:rPr sz="3200" spc="-15" dirty="0">
                <a:solidFill>
                  <a:srgbClr val="EC7C30"/>
                </a:solidFill>
                <a:latin typeface="Times New Roman"/>
                <a:cs typeface="Times New Roman"/>
              </a:rPr>
              <a:t>6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ts val="3650"/>
              </a:lnSpc>
            </a:pPr>
            <a:r>
              <a:rPr sz="3200" spc="-5" dirty="0">
                <a:latin typeface="Times New Roman"/>
                <a:cs typeface="Times New Roman"/>
              </a:rPr>
              <a:t>National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240" y="3393769"/>
            <a:ext cx="3945890" cy="942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3604"/>
              </a:lnSpc>
              <a:spcBef>
                <a:spcPts val="105"/>
              </a:spcBef>
              <a:tabLst>
                <a:tab pos="2531110" algn="l"/>
                <a:tab pos="3592195" algn="l"/>
              </a:tabLst>
            </a:pPr>
            <a:r>
              <a:rPr sz="3200" dirty="0">
                <a:latin typeface="Times New Roman"/>
                <a:cs typeface="Times New Roman"/>
              </a:rPr>
              <a:t>De</a:t>
            </a:r>
            <a:r>
              <a:rPr sz="3200" spc="0" dirty="0">
                <a:latin typeface="Times New Roman"/>
                <a:cs typeface="Times New Roman"/>
              </a:rPr>
              <a:t>v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0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o</a:t>
            </a:r>
            <a:r>
              <a:rPr sz="3200" spc="-15" dirty="0">
                <a:latin typeface="Times New Roman"/>
                <a:cs typeface="Times New Roman"/>
              </a:rPr>
              <a:t>p</a:t>
            </a:r>
            <a:r>
              <a:rPr sz="3200" dirty="0">
                <a:latin typeface="Times New Roman"/>
                <a:cs typeface="Times New Roman"/>
              </a:rPr>
              <a:t>ment	P</a:t>
            </a:r>
            <a:r>
              <a:rPr sz="3200" spc="-25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an	of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ts val="3604"/>
              </a:lnSpc>
            </a:pPr>
            <a:r>
              <a:rPr sz="3200" dirty="0">
                <a:latin typeface="Times New Roman"/>
                <a:cs typeface="Times New Roman"/>
              </a:rPr>
              <a:t>Bangladesh.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4744" y="4346828"/>
            <a:ext cx="3220085" cy="13296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27965" marR="5080" indent="-227965">
              <a:lnSpc>
                <a:spcPts val="2380"/>
              </a:lnSpc>
              <a:spcBef>
                <a:spcPts val="390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b="0" spc="-5" dirty="0">
                <a:solidFill>
                  <a:srgbClr val="538235"/>
                </a:solidFill>
                <a:latin typeface="Calibri Light"/>
                <a:cs typeface="Calibri Light"/>
              </a:rPr>
              <a:t>56 SDG </a:t>
            </a:r>
            <a:r>
              <a:rPr sz="2200" b="0" spc="-20" dirty="0">
                <a:solidFill>
                  <a:srgbClr val="538235"/>
                </a:solidFill>
                <a:latin typeface="Calibri Light"/>
                <a:cs typeface="Calibri Light"/>
              </a:rPr>
              <a:t>targets are </a:t>
            </a:r>
            <a:r>
              <a:rPr sz="2200" b="0" spc="-15" dirty="0">
                <a:solidFill>
                  <a:srgbClr val="538235"/>
                </a:solidFill>
                <a:latin typeface="Calibri Light"/>
                <a:cs typeface="Calibri Light"/>
              </a:rPr>
              <a:t>directly  reflected </a:t>
            </a:r>
            <a:r>
              <a:rPr sz="2200" b="0" spc="-20" dirty="0">
                <a:solidFill>
                  <a:srgbClr val="538235"/>
                </a:solidFill>
                <a:latin typeface="Calibri Light"/>
                <a:cs typeface="Calibri Light"/>
              </a:rPr>
              <a:t>into </a:t>
            </a:r>
            <a:r>
              <a:rPr sz="2200" b="0" dirty="0">
                <a:solidFill>
                  <a:srgbClr val="538235"/>
                </a:solidFill>
                <a:latin typeface="Calibri Light"/>
                <a:cs typeface="Calibri Light"/>
              </a:rPr>
              <a:t>7</a:t>
            </a:r>
            <a:r>
              <a:rPr sz="2175" b="0" baseline="24904" dirty="0">
                <a:solidFill>
                  <a:srgbClr val="538235"/>
                </a:solidFill>
                <a:latin typeface="Calibri Light"/>
                <a:cs typeface="Calibri Light"/>
              </a:rPr>
              <a:t>th</a:t>
            </a:r>
            <a:r>
              <a:rPr sz="2175" b="0" spc="359" baseline="24904" dirty="0">
                <a:solidFill>
                  <a:srgbClr val="538235"/>
                </a:solidFill>
                <a:latin typeface="Calibri Light"/>
                <a:cs typeface="Calibri Light"/>
              </a:rPr>
              <a:t> </a:t>
            </a:r>
            <a:r>
              <a:rPr sz="2200" b="0" spc="-5" dirty="0">
                <a:solidFill>
                  <a:srgbClr val="538235"/>
                </a:solidFill>
                <a:latin typeface="Calibri Light"/>
                <a:cs typeface="Calibri Light"/>
              </a:rPr>
              <a:t>FYP</a:t>
            </a:r>
            <a:endParaRPr sz="2200">
              <a:latin typeface="Calibri Light"/>
              <a:cs typeface="Calibri Light"/>
            </a:endParaRPr>
          </a:p>
          <a:p>
            <a:pPr marL="227965" indent="-227965">
              <a:lnSpc>
                <a:spcPts val="2510"/>
              </a:lnSpc>
              <a:spcBef>
                <a:spcPts val="200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b="0" spc="-5" dirty="0">
                <a:solidFill>
                  <a:srgbClr val="538235"/>
                </a:solidFill>
                <a:latin typeface="Calibri Light"/>
                <a:cs typeface="Calibri Light"/>
              </a:rPr>
              <a:t>102 </a:t>
            </a:r>
            <a:r>
              <a:rPr sz="2200" b="0" spc="-20" dirty="0">
                <a:solidFill>
                  <a:srgbClr val="538235"/>
                </a:solidFill>
                <a:latin typeface="Calibri Light"/>
                <a:cs typeface="Calibri Light"/>
              </a:rPr>
              <a:t>targets are</a:t>
            </a:r>
            <a:r>
              <a:rPr sz="2200" b="0" spc="50" dirty="0">
                <a:solidFill>
                  <a:srgbClr val="538235"/>
                </a:solidFill>
                <a:latin typeface="Calibri Light"/>
                <a:cs typeface="Calibri Light"/>
              </a:rPr>
              <a:t> </a:t>
            </a:r>
            <a:r>
              <a:rPr sz="2200" b="0" spc="-10" dirty="0">
                <a:solidFill>
                  <a:srgbClr val="538235"/>
                </a:solidFill>
                <a:latin typeface="Calibri Light"/>
                <a:cs typeface="Calibri Light"/>
              </a:rPr>
              <a:t>almost</a:t>
            </a:r>
            <a:endParaRPr sz="2200">
              <a:latin typeface="Calibri Light"/>
              <a:cs typeface="Calibri Light"/>
            </a:endParaRPr>
          </a:p>
          <a:p>
            <a:pPr marL="227965">
              <a:lnSpc>
                <a:spcPts val="2510"/>
              </a:lnSpc>
            </a:pPr>
            <a:r>
              <a:rPr sz="2200" b="0" spc="-5" dirty="0">
                <a:solidFill>
                  <a:srgbClr val="538235"/>
                </a:solidFill>
                <a:latin typeface="Calibri Light"/>
                <a:cs typeface="Calibri Light"/>
              </a:rPr>
              <a:t>similar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09231" y="2095500"/>
            <a:ext cx="4732020" cy="3914140"/>
          </a:xfrm>
          <a:custGeom>
            <a:avLst/>
            <a:gdLst/>
            <a:ahLst/>
            <a:cxnLst/>
            <a:rect l="l" t="t" r="r" b="b"/>
            <a:pathLst>
              <a:path w="4732020" h="3914140">
                <a:moveTo>
                  <a:pt x="0" y="3913631"/>
                </a:moveTo>
                <a:lnTo>
                  <a:pt x="4732020" y="3913631"/>
                </a:lnTo>
                <a:lnTo>
                  <a:pt x="4732020" y="0"/>
                </a:lnTo>
                <a:lnTo>
                  <a:pt x="0" y="0"/>
                </a:lnTo>
                <a:lnTo>
                  <a:pt x="0" y="391363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09231" y="2095500"/>
            <a:ext cx="4732020" cy="3914140"/>
          </a:xfrm>
          <a:custGeom>
            <a:avLst/>
            <a:gdLst/>
            <a:ahLst/>
            <a:cxnLst/>
            <a:rect l="l" t="t" r="r" b="b"/>
            <a:pathLst>
              <a:path w="4732020" h="3914140">
                <a:moveTo>
                  <a:pt x="0" y="3913631"/>
                </a:moveTo>
                <a:lnTo>
                  <a:pt x="4732020" y="3913631"/>
                </a:lnTo>
                <a:lnTo>
                  <a:pt x="4732020" y="0"/>
                </a:lnTo>
                <a:lnTo>
                  <a:pt x="0" y="0"/>
                </a:lnTo>
                <a:lnTo>
                  <a:pt x="0" y="3913631"/>
                </a:lnTo>
                <a:close/>
              </a:path>
            </a:pathLst>
          </a:custGeom>
          <a:ln w="609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59142" y="2088006"/>
            <a:ext cx="410464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1680">
              <a:lnSpc>
                <a:spcPct val="100000"/>
              </a:lnSpc>
              <a:spcBef>
                <a:spcPts val="95"/>
              </a:spcBef>
            </a:pPr>
            <a:r>
              <a:rPr sz="2800" b="1" spc="-55" dirty="0">
                <a:solidFill>
                  <a:srgbClr val="44536A"/>
                </a:solidFill>
                <a:latin typeface="Bookman Old Style"/>
                <a:cs typeface="Bookman Old Style"/>
              </a:rPr>
              <a:t>Annual</a:t>
            </a:r>
            <a:r>
              <a:rPr sz="2800" b="1" spc="-300" dirty="0">
                <a:solidFill>
                  <a:srgbClr val="44536A"/>
                </a:solidFill>
                <a:latin typeface="Bookman Old Style"/>
                <a:cs typeface="Bookman Old Style"/>
              </a:rPr>
              <a:t> </a:t>
            </a:r>
            <a:r>
              <a:rPr sz="2800" b="1" spc="-25" dirty="0">
                <a:solidFill>
                  <a:srgbClr val="44536A"/>
                </a:solidFill>
                <a:latin typeface="Bookman Old Style"/>
                <a:cs typeface="Bookman Old Style"/>
              </a:rPr>
              <a:t>Plan</a:t>
            </a:r>
            <a:endParaRPr sz="28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Times New Roman"/>
              <a:cs typeface="Times New Roman"/>
            </a:endParaRPr>
          </a:p>
          <a:p>
            <a:pPr marL="286385" marR="5080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87020" algn="l"/>
                <a:tab pos="1650364" algn="l"/>
                <a:tab pos="2497455" algn="l"/>
                <a:tab pos="3494404" algn="l"/>
                <a:tab pos="3515995" algn="l"/>
              </a:tabLst>
            </a:pPr>
            <a:r>
              <a:rPr sz="2800" b="0" spc="-10" dirty="0">
                <a:solidFill>
                  <a:srgbClr val="006FC0"/>
                </a:solidFill>
                <a:latin typeface="Bookman Old Style"/>
                <a:cs typeface="Bookman Old Style"/>
              </a:rPr>
              <a:t>SDG	</a:t>
            </a:r>
            <a:r>
              <a:rPr sz="2800" b="0" spc="50" dirty="0">
                <a:solidFill>
                  <a:srgbClr val="006FC0"/>
                </a:solidFill>
                <a:latin typeface="Bookman Old Style"/>
                <a:cs typeface="Bookman Old Style"/>
              </a:rPr>
              <a:t>t</a:t>
            </a:r>
            <a:r>
              <a:rPr sz="2800" b="0" spc="140" dirty="0">
                <a:solidFill>
                  <a:srgbClr val="006FC0"/>
                </a:solidFill>
                <a:latin typeface="Bookman Old Style"/>
                <a:cs typeface="Bookman Old Style"/>
              </a:rPr>
              <a:t>arge</a:t>
            </a:r>
            <a:r>
              <a:rPr sz="2800" b="0" spc="105" dirty="0">
                <a:solidFill>
                  <a:srgbClr val="006FC0"/>
                </a:solidFill>
                <a:latin typeface="Bookman Old Style"/>
                <a:cs typeface="Bookman Old Style"/>
              </a:rPr>
              <a:t>t</a:t>
            </a:r>
            <a:r>
              <a:rPr sz="2800" b="0" spc="-70" dirty="0">
                <a:solidFill>
                  <a:srgbClr val="006FC0"/>
                </a:solidFill>
                <a:latin typeface="Bookman Old Style"/>
                <a:cs typeface="Bookman Old Style"/>
              </a:rPr>
              <a:t>s</a:t>
            </a:r>
            <a:r>
              <a:rPr sz="2800" b="0" dirty="0">
                <a:solidFill>
                  <a:srgbClr val="006FC0"/>
                </a:solidFill>
                <a:latin typeface="Bookman Old Style"/>
                <a:cs typeface="Bookman Old Style"/>
              </a:rPr>
              <a:t>	</a:t>
            </a:r>
            <a:r>
              <a:rPr sz="2800" b="0" spc="100" dirty="0">
                <a:solidFill>
                  <a:srgbClr val="006FC0"/>
                </a:solidFill>
                <a:latin typeface="Bookman Old Style"/>
                <a:cs typeface="Bookman Old Style"/>
              </a:rPr>
              <a:t>are  </a:t>
            </a:r>
            <a:r>
              <a:rPr sz="2800" b="0" spc="25" dirty="0">
                <a:solidFill>
                  <a:srgbClr val="006FC0"/>
                </a:solidFill>
                <a:latin typeface="Bookman Old Style"/>
                <a:cs typeface="Bookman Old Style"/>
              </a:rPr>
              <a:t>includ</a:t>
            </a:r>
            <a:r>
              <a:rPr sz="2800" b="0" spc="30" dirty="0">
                <a:solidFill>
                  <a:srgbClr val="006FC0"/>
                </a:solidFill>
                <a:latin typeface="Bookman Old Style"/>
                <a:cs typeface="Bookman Old Style"/>
              </a:rPr>
              <a:t>e</a:t>
            </a:r>
            <a:r>
              <a:rPr sz="2800" b="0" spc="50" dirty="0">
                <a:solidFill>
                  <a:srgbClr val="006FC0"/>
                </a:solidFill>
                <a:latin typeface="Bookman Old Style"/>
                <a:cs typeface="Bookman Old Style"/>
              </a:rPr>
              <a:t>d</a:t>
            </a:r>
            <a:r>
              <a:rPr sz="2800" b="0" dirty="0">
                <a:solidFill>
                  <a:srgbClr val="006FC0"/>
                </a:solidFill>
                <a:latin typeface="Bookman Old Style"/>
                <a:cs typeface="Bookman Old Style"/>
              </a:rPr>
              <a:t>	</a:t>
            </a:r>
            <a:r>
              <a:rPr sz="2800" b="0" spc="-5" dirty="0">
                <a:solidFill>
                  <a:srgbClr val="006FC0"/>
                </a:solidFill>
                <a:latin typeface="Bookman Old Style"/>
                <a:cs typeface="Bookman Old Style"/>
              </a:rPr>
              <a:t>in</a:t>
            </a:r>
            <a:r>
              <a:rPr sz="2800" b="0" dirty="0">
                <a:solidFill>
                  <a:srgbClr val="006FC0"/>
                </a:solidFill>
                <a:latin typeface="Bookman Old Style"/>
                <a:cs typeface="Bookman Old Style"/>
              </a:rPr>
              <a:t>		</a:t>
            </a:r>
            <a:r>
              <a:rPr sz="2800" b="0" spc="45" dirty="0">
                <a:solidFill>
                  <a:srgbClr val="006FC0"/>
                </a:solidFill>
                <a:latin typeface="Bookman Old Style"/>
                <a:cs typeface="Bookman Old Style"/>
              </a:rPr>
              <a:t>the</a:t>
            </a:r>
            <a:endParaRPr sz="28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5654" y="3966209"/>
            <a:ext cx="38169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  <a:tabLst>
                <a:tab pos="1464310" algn="l"/>
              </a:tabLst>
            </a:pPr>
            <a:r>
              <a:rPr sz="2800" b="0" spc="-10" dirty="0">
                <a:solidFill>
                  <a:srgbClr val="006FC0"/>
                </a:solidFill>
                <a:latin typeface="Bookman Old Style"/>
                <a:cs typeface="Bookman Old Style"/>
              </a:rPr>
              <a:t>Annual	</a:t>
            </a:r>
            <a:r>
              <a:rPr sz="2800" b="0" spc="105" dirty="0">
                <a:solidFill>
                  <a:srgbClr val="006FC0"/>
                </a:solidFill>
                <a:latin typeface="Bookman Old Style"/>
                <a:cs typeface="Bookman Old Style"/>
              </a:rPr>
              <a:t>Performan</a:t>
            </a:r>
            <a:r>
              <a:rPr sz="2800" b="0" spc="85" dirty="0">
                <a:solidFill>
                  <a:srgbClr val="006FC0"/>
                </a:solidFill>
                <a:latin typeface="Bookman Old Style"/>
                <a:cs typeface="Bookman Old Style"/>
              </a:rPr>
              <a:t>c</a:t>
            </a:r>
            <a:r>
              <a:rPr sz="2800" b="0" spc="125" dirty="0">
                <a:solidFill>
                  <a:srgbClr val="006FC0"/>
                </a:solidFill>
                <a:latin typeface="Bookman Old Style"/>
                <a:cs typeface="Bookman Old Style"/>
              </a:rPr>
              <a:t>e  </a:t>
            </a:r>
            <a:r>
              <a:rPr sz="2800" b="0" spc="110" dirty="0">
                <a:solidFill>
                  <a:srgbClr val="006FC0"/>
                </a:solidFill>
                <a:latin typeface="Bookman Old Style"/>
                <a:cs typeface="Bookman Old Style"/>
              </a:rPr>
              <a:t>Agreement</a:t>
            </a:r>
            <a:r>
              <a:rPr sz="2800" b="0" spc="-240" dirty="0">
                <a:solidFill>
                  <a:srgbClr val="006FC0"/>
                </a:solidFill>
                <a:latin typeface="Bookman Old Style"/>
                <a:cs typeface="Bookman Old Style"/>
              </a:rPr>
              <a:t> </a:t>
            </a:r>
            <a:r>
              <a:rPr sz="2800" b="0" spc="50" dirty="0">
                <a:solidFill>
                  <a:srgbClr val="006FC0"/>
                </a:solidFill>
                <a:latin typeface="Bookman Old Style"/>
                <a:cs typeface="Bookman Old Style"/>
              </a:rPr>
              <a:t>(APA)</a:t>
            </a:r>
            <a:endParaRPr sz="28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1143000"/>
            <a:ext cx="12164695" cy="533400"/>
          </a:xfrm>
          <a:custGeom>
            <a:avLst/>
            <a:gdLst/>
            <a:ahLst/>
            <a:cxnLst/>
            <a:rect l="l" t="t" r="r" b="b"/>
            <a:pathLst>
              <a:path w="12164695" h="533400">
                <a:moveTo>
                  <a:pt x="0" y="533400"/>
                </a:moveTo>
                <a:lnTo>
                  <a:pt x="12164568" y="533400"/>
                </a:lnTo>
                <a:lnTo>
                  <a:pt x="12164568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29125" y="1102816"/>
            <a:ext cx="330390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0" dirty="0">
                <a:solidFill>
                  <a:srgbClr val="006FC0"/>
                </a:solidFill>
                <a:latin typeface="Bookman Old Style"/>
                <a:cs typeface="Bookman Old Style"/>
              </a:rPr>
              <a:t>Policy</a:t>
            </a:r>
            <a:r>
              <a:rPr sz="3000" b="1" spc="-315" dirty="0">
                <a:solidFill>
                  <a:srgbClr val="006FC0"/>
                </a:solidFill>
                <a:latin typeface="Bookman Old Style"/>
                <a:cs typeface="Bookman Old Style"/>
              </a:rPr>
              <a:t> </a:t>
            </a:r>
            <a:r>
              <a:rPr sz="3000" b="1" spc="-65" dirty="0">
                <a:solidFill>
                  <a:srgbClr val="006FC0"/>
                </a:solidFill>
                <a:latin typeface="Bookman Old Style"/>
                <a:cs typeface="Bookman Old Style"/>
              </a:rPr>
              <a:t>Assistance</a:t>
            </a:r>
            <a:endParaRPr sz="30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5904" cy="6829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143" y="240538"/>
            <a:ext cx="88836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215" algn="l"/>
              </a:tabLst>
            </a:pPr>
            <a:r>
              <a:rPr sz="4400" b="1" dirty="0">
                <a:latin typeface="Times New Roman"/>
                <a:cs typeface="Times New Roman"/>
              </a:rPr>
              <a:t>Initiatives</a:t>
            </a:r>
            <a:r>
              <a:rPr sz="4400" b="1" spc="-25" dirty="0">
                <a:latin typeface="Times New Roman"/>
                <a:cs typeface="Times New Roman"/>
              </a:rPr>
              <a:t> </a:t>
            </a:r>
            <a:r>
              <a:rPr sz="4400" b="1" dirty="0">
                <a:latin typeface="Times New Roman"/>
                <a:cs typeface="Times New Roman"/>
              </a:rPr>
              <a:t>of G</a:t>
            </a:r>
            <a:r>
              <a:rPr sz="4400" b="1" spc="-20" dirty="0">
                <a:latin typeface="Times New Roman"/>
                <a:cs typeface="Times New Roman"/>
              </a:rPr>
              <a:t>O</a:t>
            </a:r>
            <a:r>
              <a:rPr sz="4400" b="1" dirty="0">
                <a:latin typeface="Times New Roman"/>
                <a:cs typeface="Times New Roman"/>
              </a:rPr>
              <a:t>B</a:t>
            </a:r>
            <a:r>
              <a:rPr sz="4400" b="1" spc="5" dirty="0">
                <a:latin typeface="Times New Roman"/>
                <a:cs typeface="Times New Roman"/>
              </a:rPr>
              <a:t> </a:t>
            </a:r>
            <a:r>
              <a:rPr sz="4400" b="1" dirty="0">
                <a:latin typeface="Times New Roman"/>
                <a:cs typeface="Times New Roman"/>
              </a:rPr>
              <a:t>in	mainst</a:t>
            </a:r>
            <a:r>
              <a:rPr sz="4400" b="1" spc="-80" dirty="0">
                <a:latin typeface="Times New Roman"/>
                <a:cs typeface="Times New Roman"/>
              </a:rPr>
              <a:t>r</a:t>
            </a:r>
            <a:r>
              <a:rPr sz="4400" b="1" dirty="0">
                <a:latin typeface="Times New Roman"/>
                <a:cs typeface="Times New Roman"/>
              </a:rPr>
              <a:t>eaming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143" y="910793"/>
            <a:ext cx="5846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Times New Roman"/>
                <a:cs typeface="Times New Roman"/>
              </a:rPr>
              <a:t>the Agenda 2030</a:t>
            </a:r>
            <a:r>
              <a:rPr sz="4400" spc="-3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000000"/>
                </a:solidFill>
                <a:latin typeface="Times New Roman"/>
                <a:cs typeface="Times New Roman"/>
              </a:rPr>
              <a:t>(SDGs)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43" y="1582038"/>
            <a:ext cx="38468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imes New Roman"/>
                <a:cs typeface="Times New Roman"/>
              </a:rPr>
              <a:t>Implementation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91839"/>
            <a:ext cx="2727960" cy="3566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67388" y="0"/>
            <a:ext cx="324611" cy="68579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85204" y="1610867"/>
            <a:ext cx="1426845" cy="1676400"/>
          </a:xfrm>
          <a:prstGeom prst="rect">
            <a:avLst/>
          </a:prstGeom>
          <a:solidFill>
            <a:srgbClr val="385622"/>
          </a:solidFill>
        </p:spPr>
        <p:txBody>
          <a:bodyPr vert="horz" wrap="square" lIns="0" tIns="31115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2450"/>
              </a:spcBef>
            </a:pPr>
            <a:r>
              <a:rPr sz="480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3975" b="1" baseline="25157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3975" b="1" spc="-509" baseline="251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FYP</a:t>
            </a:r>
            <a:endParaRPr sz="24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spcBef>
                <a:spcPts val="220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FY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202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–2030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1228" y="3287267"/>
            <a:ext cx="1443355" cy="167640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36068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840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36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3600" spc="-50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FYP</a:t>
            </a:r>
            <a:endParaRPr sz="2000">
              <a:latin typeface="Calibri"/>
              <a:cs typeface="Calibri"/>
            </a:endParaRPr>
          </a:p>
          <a:p>
            <a:pPr marL="189865">
              <a:lnSpc>
                <a:spcPct val="100000"/>
              </a:lnSpc>
              <a:spcBef>
                <a:spcPts val="1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FY2021 –</a:t>
            </a:r>
            <a:r>
              <a:rPr sz="1400" b="1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0630" y="6420408"/>
            <a:ext cx="764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5510" y="642040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82583" y="1051560"/>
            <a:ext cx="2714625" cy="946785"/>
          </a:xfrm>
          <a:custGeom>
            <a:avLst/>
            <a:gdLst/>
            <a:ahLst/>
            <a:cxnLst/>
            <a:rect l="l" t="t" r="r" b="b"/>
            <a:pathLst>
              <a:path w="2714625" h="946785">
                <a:moveTo>
                  <a:pt x="2556510" y="0"/>
                </a:moveTo>
                <a:lnTo>
                  <a:pt x="157734" y="0"/>
                </a:lnTo>
                <a:lnTo>
                  <a:pt x="107874" y="8040"/>
                </a:lnTo>
                <a:lnTo>
                  <a:pt x="64574" y="30431"/>
                </a:lnTo>
                <a:lnTo>
                  <a:pt x="30431" y="64574"/>
                </a:lnTo>
                <a:lnTo>
                  <a:pt x="8040" y="107874"/>
                </a:lnTo>
                <a:lnTo>
                  <a:pt x="0" y="157734"/>
                </a:lnTo>
                <a:lnTo>
                  <a:pt x="0" y="788669"/>
                </a:lnTo>
                <a:lnTo>
                  <a:pt x="8040" y="838529"/>
                </a:lnTo>
                <a:lnTo>
                  <a:pt x="30431" y="881829"/>
                </a:lnTo>
                <a:lnTo>
                  <a:pt x="64574" y="915972"/>
                </a:lnTo>
                <a:lnTo>
                  <a:pt x="107874" y="938363"/>
                </a:lnTo>
                <a:lnTo>
                  <a:pt x="157734" y="946403"/>
                </a:lnTo>
                <a:lnTo>
                  <a:pt x="2556510" y="946403"/>
                </a:lnTo>
                <a:lnTo>
                  <a:pt x="2606369" y="938363"/>
                </a:lnTo>
                <a:lnTo>
                  <a:pt x="2649669" y="915972"/>
                </a:lnTo>
                <a:lnTo>
                  <a:pt x="2683812" y="881829"/>
                </a:lnTo>
                <a:lnTo>
                  <a:pt x="2706203" y="838529"/>
                </a:lnTo>
                <a:lnTo>
                  <a:pt x="2714244" y="788669"/>
                </a:lnTo>
                <a:lnTo>
                  <a:pt x="2714244" y="157734"/>
                </a:lnTo>
                <a:lnTo>
                  <a:pt x="2706203" y="107874"/>
                </a:lnTo>
                <a:lnTo>
                  <a:pt x="2683812" y="64574"/>
                </a:lnTo>
                <a:lnTo>
                  <a:pt x="2649669" y="30431"/>
                </a:lnTo>
                <a:lnTo>
                  <a:pt x="2606369" y="8040"/>
                </a:lnTo>
                <a:lnTo>
                  <a:pt x="2556510" y="0"/>
                </a:lnTo>
                <a:close/>
              </a:path>
            </a:pathLst>
          </a:custGeom>
          <a:solidFill>
            <a:srgbClr val="E91D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805" y="1233678"/>
            <a:ext cx="1467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Translation</a:t>
            </a:r>
            <a:r>
              <a:rPr sz="1800" b="1" spc="-1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Documents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2583" y="2638044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2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1"/>
                </a:lnTo>
                <a:lnTo>
                  <a:pt x="0" y="791209"/>
                </a:lnTo>
                <a:lnTo>
                  <a:pt x="8069" y="841219"/>
                </a:lnTo>
                <a:lnTo>
                  <a:pt x="30536" y="884657"/>
                </a:lnTo>
                <a:lnTo>
                  <a:pt x="64794" y="918915"/>
                </a:lnTo>
                <a:lnTo>
                  <a:pt x="108232" y="941382"/>
                </a:lnTo>
                <a:lnTo>
                  <a:pt x="158242" y="949451"/>
                </a:lnTo>
                <a:lnTo>
                  <a:pt x="2556002" y="949451"/>
                </a:lnTo>
                <a:lnTo>
                  <a:pt x="2606011" y="941382"/>
                </a:lnTo>
                <a:lnTo>
                  <a:pt x="2649449" y="918915"/>
                </a:lnTo>
                <a:lnTo>
                  <a:pt x="2683707" y="884657"/>
                </a:lnTo>
                <a:lnTo>
                  <a:pt x="2706174" y="841219"/>
                </a:lnTo>
                <a:lnTo>
                  <a:pt x="2714244" y="791209"/>
                </a:lnTo>
                <a:lnTo>
                  <a:pt x="2714244" y="158241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FB7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61272" y="2959100"/>
            <a:ext cx="2360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Mapping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1800" b="1" spc="-1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Ministries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82583" y="5407152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2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2"/>
                </a:lnTo>
                <a:lnTo>
                  <a:pt x="0" y="791210"/>
                </a:lnTo>
                <a:lnTo>
                  <a:pt x="8069" y="841224"/>
                </a:lnTo>
                <a:lnTo>
                  <a:pt x="30536" y="884663"/>
                </a:lnTo>
                <a:lnTo>
                  <a:pt x="64794" y="918918"/>
                </a:lnTo>
                <a:lnTo>
                  <a:pt x="108232" y="941384"/>
                </a:lnTo>
                <a:lnTo>
                  <a:pt x="158242" y="949452"/>
                </a:lnTo>
                <a:lnTo>
                  <a:pt x="2556002" y="949452"/>
                </a:lnTo>
                <a:lnTo>
                  <a:pt x="2606011" y="941384"/>
                </a:lnTo>
                <a:lnTo>
                  <a:pt x="2649449" y="918918"/>
                </a:lnTo>
                <a:lnTo>
                  <a:pt x="2683707" y="884663"/>
                </a:lnTo>
                <a:lnTo>
                  <a:pt x="2706174" y="841224"/>
                </a:lnTo>
                <a:lnTo>
                  <a:pt x="2714244" y="791210"/>
                </a:lnTo>
                <a:lnTo>
                  <a:pt x="2714244" y="158242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93D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03005" y="5728817"/>
            <a:ext cx="2077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entury Gothic"/>
                <a:cs typeface="Century Gothic"/>
              </a:rPr>
              <a:t>Data </a:t>
            </a:r>
            <a:r>
              <a:rPr sz="1800" b="1" dirty="0">
                <a:latin typeface="Century Gothic"/>
                <a:cs typeface="Century Gothic"/>
              </a:rPr>
              <a:t>Gap</a:t>
            </a:r>
            <a:r>
              <a:rPr sz="1800" b="1" spc="-100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Analysis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39640" y="1063752"/>
            <a:ext cx="2712720" cy="954405"/>
          </a:xfrm>
          <a:custGeom>
            <a:avLst/>
            <a:gdLst/>
            <a:ahLst/>
            <a:cxnLst/>
            <a:rect l="l" t="t" r="r" b="b"/>
            <a:pathLst>
              <a:path w="2712720" h="954405">
                <a:moveTo>
                  <a:pt x="2553716" y="0"/>
                </a:moveTo>
                <a:lnTo>
                  <a:pt x="159004" y="0"/>
                </a:lnTo>
                <a:lnTo>
                  <a:pt x="108768" y="8111"/>
                </a:lnTo>
                <a:lnTo>
                  <a:pt x="65123" y="30695"/>
                </a:lnTo>
                <a:lnTo>
                  <a:pt x="30695" y="65123"/>
                </a:lnTo>
                <a:lnTo>
                  <a:pt x="8111" y="108768"/>
                </a:lnTo>
                <a:lnTo>
                  <a:pt x="0" y="159003"/>
                </a:lnTo>
                <a:lnTo>
                  <a:pt x="0" y="795020"/>
                </a:lnTo>
                <a:lnTo>
                  <a:pt x="8111" y="845255"/>
                </a:lnTo>
                <a:lnTo>
                  <a:pt x="30695" y="888900"/>
                </a:lnTo>
                <a:lnTo>
                  <a:pt x="65123" y="923328"/>
                </a:lnTo>
                <a:lnTo>
                  <a:pt x="108768" y="945912"/>
                </a:lnTo>
                <a:lnTo>
                  <a:pt x="159004" y="954024"/>
                </a:lnTo>
                <a:lnTo>
                  <a:pt x="2553716" y="954024"/>
                </a:lnTo>
                <a:lnTo>
                  <a:pt x="2603951" y="945912"/>
                </a:lnTo>
                <a:lnTo>
                  <a:pt x="2647596" y="923328"/>
                </a:lnTo>
                <a:lnTo>
                  <a:pt x="2682024" y="888900"/>
                </a:lnTo>
                <a:lnTo>
                  <a:pt x="2704608" y="845255"/>
                </a:lnTo>
                <a:lnTo>
                  <a:pt x="2712719" y="795020"/>
                </a:lnTo>
                <a:lnTo>
                  <a:pt x="2712719" y="159003"/>
                </a:lnTo>
                <a:lnTo>
                  <a:pt x="2704608" y="108768"/>
                </a:lnTo>
                <a:lnTo>
                  <a:pt x="2682024" y="65123"/>
                </a:lnTo>
                <a:lnTo>
                  <a:pt x="2647596" y="30695"/>
                </a:lnTo>
                <a:lnTo>
                  <a:pt x="2603951" y="8111"/>
                </a:lnTo>
                <a:lnTo>
                  <a:pt x="2553716" y="0"/>
                </a:lnTo>
                <a:close/>
              </a:path>
            </a:pathLst>
          </a:custGeom>
          <a:solidFill>
            <a:srgbClr val="F969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60111" y="1112265"/>
            <a:ext cx="22733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implementation</a:t>
            </a:r>
            <a:r>
              <a:rPr sz="1800" b="1" spc="-1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Monitoring 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committee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78636" y="1063752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1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2"/>
                </a:lnTo>
                <a:lnTo>
                  <a:pt x="0" y="791210"/>
                </a:lnTo>
                <a:lnTo>
                  <a:pt x="8069" y="841219"/>
                </a:lnTo>
                <a:lnTo>
                  <a:pt x="30536" y="884657"/>
                </a:lnTo>
                <a:lnTo>
                  <a:pt x="64794" y="918915"/>
                </a:lnTo>
                <a:lnTo>
                  <a:pt x="108232" y="941382"/>
                </a:lnTo>
                <a:lnTo>
                  <a:pt x="158241" y="949451"/>
                </a:lnTo>
                <a:lnTo>
                  <a:pt x="2556002" y="949451"/>
                </a:lnTo>
                <a:lnTo>
                  <a:pt x="2606011" y="941382"/>
                </a:lnTo>
                <a:lnTo>
                  <a:pt x="2649449" y="918915"/>
                </a:lnTo>
                <a:lnTo>
                  <a:pt x="2683707" y="884657"/>
                </a:lnTo>
                <a:lnTo>
                  <a:pt x="2706174" y="841219"/>
                </a:lnTo>
                <a:lnTo>
                  <a:pt x="2714243" y="791210"/>
                </a:lnTo>
                <a:lnTo>
                  <a:pt x="2714243" y="158242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49AA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7164" y="1384553"/>
            <a:ext cx="137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SDG</a:t>
            </a:r>
            <a:r>
              <a:rPr sz="180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Tracker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78636" y="4125467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1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1"/>
                </a:lnTo>
                <a:lnTo>
                  <a:pt x="0" y="791209"/>
                </a:lnTo>
                <a:lnTo>
                  <a:pt x="8069" y="841219"/>
                </a:lnTo>
                <a:lnTo>
                  <a:pt x="30536" y="884657"/>
                </a:lnTo>
                <a:lnTo>
                  <a:pt x="64794" y="918915"/>
                </a:lnTo>
                <a:lnTo>
                  <a:pt x="108232" y="941382"/>
                </a:lnTo>
                <a:lnTo>
                  <a:pt x="158241" y="949451"/>
                </a:lnTo>
                <a:lnTo>
                  <a:pt x="2556002" y="949451"/>
                </a:lnTo>
                <a:lnTo>
                  <a:pt x="2606011" y="941382"/>
                </a:lnTo>
                <a:lnTo>
                  <a:pt x="2649449" y="918915"/>
                </a:lnTo>
                <a:lnTo>
                  <a:pt x="2683707" y="884657"/>
                </a:lnTo>
                <a:lnTo>
                  <a:pt x="2706174" y="841219"/>
                </a:lnTo>
                <a:lnTo>
                  <a:pt x="2714243" y="791209"/>
                </a:lnTo>
                <a:lnTo>
                  <a:pt x="2714243" y="158241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FBD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61591" y="4446854"/>
            <a:ext cx="2148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Localization of</a:t>
            </a:r>
            <a:r>
              <a:rPr sz="1800" b="1" spc="-85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SDG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8636" y="5407152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1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2"/>
                </a:lnTo>
                <a:lnTo>
                  <a:pt x="0" y="791210"/>
                </a:lnTo>
                <a:lnTo>
                  <a:pt x="8069" y="841224"/>
                </a:lnTo>
                <a:lnTo>
                  <a:pt x="30536" y="884663"/>
                </a:lnTo>
                <a:lnTo>
                  <a:pt x="64794" y="918918"/>
                </a:lnTo>
                <a:lnTo>
                  <a:pt x="108232" y="941384"/>
                </a:lnTo>
                <a:lnTo>
                  <a:pt x="158241" y="949452"/>
                </a:lnTo>
                <a:lnTo>
                  <a:pt x="2556002" y="949452"/>
                </a:lnTo>
                <a:lnTo>
                  <a:pt x="2606011" y="941384"/>
                </a:lnTo>
                <a:lnTo>
                  <a:pt x="2649449" y="918918"/>
                </a:lnTo>
                <a:lnTo>
                  <a:pt x="2683707" y="884663"/>
                </a:lnTo>
                <a:lnTo>
                  <a:pt x="2706174" y="841224"/>
                </a:lnTo>
                <a:lnTo>
                  <a:pt x="2714243" y="791210"/>
                </a:lnTo>
                <a:lnTo>
                  <a:pt x="2714243" y="158242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F569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06144" y="5591657"/>
            <a:ext cx="2459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5030" marR="5080" indent="-8629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entury Gothic"/>
                <a:cs typeface="Century Gothic"/>
              </a:rPr>
              <a:t>Training </a:t>
            </a:r>
            <a:r>
              <a:rPr sz="1800" b="1" spc="-5" dirty="0">
                <a:latin typeface="Century Gothic"/>
                <a:cs typeface="Century Gothic"/>
              </a:rPr>
              <a:t>Handbook</a:t>
            </a:r>
            <a:r>
              <a:rPr sz="1800" b="1" spc="-120" dirty="0">
                <a:latin typeface="Century Gothic"/>
                <a:cs typeface="Century Gothic"/>
              </a:rPr>
              <a:t> </a:t>
            </a:r>
            <a:r>
              <a:rPr sz="1800" b="1" spc="-5" dirty="0">
                <a:latin typeface="Century Gothic"/>
                <a:cs typeface="Century Gothic"/>
              </a:rPr>
              <a:t>on  7</a:t>
            </a:r>
            <a:r>
              <a:rPr sz="1800" b="1" spc="-7" baseline="25462" dirty="0">
                <a:latin typeface="Century Gothic"/>
                <a:cs typeface="Century Gothic"/>
              </a:rPr>
              <a:t>th</a:t>
            </a:r>
            <a:r>
              <a:rPr sz="1800" b="1" spc="240" baseline="25462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FYP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77967" y="5388864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2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2"/>
                </a:lnTo>
                <a:lnTo>
                  <a:pt x="0" y="791210"/>
                </a:lnTo>
                <a:lnTo>
                  <a:pt x="8069" y="841224"/>
                </a:lnTo>
                <a:lnTo>
                  <a:pt x="30536" y="884663"/>
                </a:lnTo>
                <a:lnTo>
                  <a:pt x="64794" y="918918"/>
                </a:lnTo>
                <a:lnTo>
                  <a:pt x="108232" y="941384"/>
                </a:lnTo>
                <a:lnTo>
                  <a:pt x="158242" y="949452"/>
                </a:lnTo>
                <a:lnTo>
                  <a:pt x="2556002" y="949452"/>
                </a:lnTo>
                <a:lnTo>
                  <a:pt x="2606011" y="941384"/>
                </a:lnTo>
                <a:lnTo>
                  <a:pt x="2649449" y="918918"/>
                </a:lnTo>
                <a:lnTo>
                  <a:pt x="2683707" y="884663"/>
                </a:lnTo>
                <a:lnTo>
                  <a:pt x="2706174" y="841224"/>
                </a:lnTo>
                <a:lnTo>
                  <a:pt x="2714243" y="791210"/>
                </a:lnTo>
                <a:lnTo>
                  <a:pt x="2714243" y="158242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073D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30671" y="5573674"/>
            <a:ext cx="1610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Resource</a:t>
            </a:r>
            <a:r>
              <a:rPr sz="1800" b="1" spc="-9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Gap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Analysis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12192000" y="6858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377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444490" y="110439"/>
            <a:ext cx="1304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c</a:t>
            </a:r>
            <a:r>
              <a:rPr sz="2800" spc="-5" dirty="0">
                <a:latin typeface="Century Gothic"/>
                <a:cs typeface="Century Gothic"/>
              </a:rPr>
              <a:t>tions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8636" y="2665476"/>
            <a:ext cx="2714625" cy="982980"/>
          </a:xfrm>
          <a:custGeom>
            <a:avLst/>
            <a:gdLst/>
            <a:ahLst/>
            <a:cxnLst/>
            <a:rect l="l" t="t" r="r" b="b"/>
            <a:pathLst>
              <a:path w="2714625" h="982979">
                <a:moveTo>
                  <a:pt x="2550414" y="0"/>
                </a:moveTo>
                <a:lnTo>
                  <a:pt x="163829" y="0"/>
                </a:lnTo>
                <a:lnTo>
                  <a:pt x="120297" y="5856"/>
                </a:lnTo>
                <a:lnTo>
                  <a:pt x="81167" y="22380"/>
                </a:lnTo>
                <a:lnTo>
                  <a:pt x="48006" y="48006"/>
                </a:lnTo>
                <a:lnTo>
                  <a:pt x="22380" y="81167"/>
                </a:lnTo>
                <a:lnTo>
                  <a:pt x="5856" y="120297"/>
                </a:lnTo>
                <a:lnTo>
                  <a:pt x="0" y="163829"/>
                </a:lnTo>
                <a:lnTo>
                  <a:pt x="0" y="819150"/>
                </a:lnTo>
                <a:lnTo>
                  <a:pt x="5856" y="862682"/>
                </a:lnTo>
                <a:lnTo>
                  <a:pt x="22380" y="901812"/>
                </a:lnTo>
                <a:lnTo>
                  <a:pt x="48005" y="934974"/>
                </a:lnTo>
                <a:lnTo>
                  <a:pt x="81167" y="960599"/>
                </a:lnTo>
                <a:lnTo>
                  <a:pt x="120297" y="977123"/>
                </a:lnTo>
                <a:lnTo>
                  <a:pt x="163829" y="982980"/>
                </a:lnTo>
                <a:lnTo>
                  <a:pt x="2550414" y="982980"/>
                </a:lnTo>
                <a:lnTo>
                  <a:pt x="2593946" y="977123"/>
                </a:lnTo>
                <a:lnTo>
                  <a:pt x="2633076" y="960599"/>
                </a:lnTo>
                <a:lnTo>
                  <a:pt x="2666238" y="934974"/>
                </a:lnTo>
                <a:lnTo>
                  <a:pt x="2691863" y="901812"/>
                </a:lnTo>
                <a:lnTo>
                  <a:pt x="2708387" y="862682"/>
                </a:lnTo>
                <a:lnTo>
                  <a:pt x="2714243" y="819150"/>
                </a:lnTo>
                <a:lnTo>
                  <a:pt x="2714243" y="163829"/>
                </a:lnTo>
                <a:lnTo>
                  <a:pt x="2708387" y="120297"/>
                </a:lnTo>
                <a:lnTo>
                  <a:pt x="2691863" y="81167"/>
                </a:lnTo>
                <a:lnTo>
                  <a:pt x="2666238" y="48006"/>
                </a:lnTo>
                <a:lnTo>
                  <a:pt x="2633076" y="22380"/>
                </a:lnTo>
                <a:lnTo>
                  <a:pt x="2593946" y="5856"/>
                </a:lnTo>
                <a:lnTo>
                  <a:pt x="2550414" y="0"/>
                </a:lnTo>
                <a:close/>
              </a:path>
            </a:pathLst>
          </a:custGeom>
          <a:solidFill>
            <a:srgbClr val="DC17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672208" y="3003550"/>
            <a:ext cx="192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 &amp; E</a:t>
            </a:r>
            <a:r>
              <a:rPr sz="1800" b="1" spc="-1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Framework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482583" y="4125467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2556002" y="0"/>
                </a:moveTo>
                <a:lnTo>
                  <a:pt x="158242" y="0"/>
                </a:lnTo>
                <a:lnTo>
                  <a:pt x="108232" y="8069"/>
                </a:lnTo>
                <a:lnTo>
                  <a:pt x="64794" y="30536"/>
                </a:lnTo>
                <a:lnTo>
                  <a:pt x="30536" y="64794"/>
                </a:lnTo>
                <a:lnTo>
                  <a:pt x="8069" y="108232"/>
                </a:lnTo>
                <a:lnTo>
                  <a:pt x="0" y="158241"/>
                </a:lnTo>
                <a:lnTo>
                  <a:pt x="0" y="791209"/>
                </a:lnTo>
                <a:lnTo>
                  <a:pt x="8069" y="841219"/>
                </a:lnTo>
                <a:lnTo>
                  <a:pt x="30536" y="884657"/>
                </a:lnTo>
                <a:lnTo>
                  <a:pt x="64794" y="918915"/>
                </a:lnTo>
                <a:lnTo>
                  <a:pt x="108232" y="941382"/>
                </a:lnTo>
                <a:lnTo>
                  <a:pt x="158242" y="949451"/>
                </a:lnTo>
                <a:lnTo>
                  <a:pt x="2556002" y="949451"/>
                </a:lnTo>
                <a:lnTo>
                  <a:pt x="2606011" y="941382"/>
                </a:lnTo>
                <a:lnTo>
                  <a:pt x="2649449" y="918915"/>
                </a:lnTo>
                <a:lnTo>
                  <a:pt x="2683707" y="884657"/>
                </a:lnTo>
                <a:lnTo>
                  <a:pt x="2706174" y="841219"/>
                </a:lnTo>
                <a:lnTo>
                  <a:pt x="2714244" y="791209"/>
                </a:lnTo>
                <a:lnTo>
                  <a:pt x="2714244" y="158241"/>
                </a:lnTo>
                <a:lnTo>
                  <a:pt x="2706174" y="108232"/>
                </a:lnTo>
                <a:lnTo>
                  <a:pt x="2683707" y="64794"/>
                </a:lnTo>
                <a:lnTo>
                  <a:pt x="2649449" y="30536"/>
                </a:lnTo>
                <a:lnTo>
                  <a:pt x="2606011" y="8069"/>
                </a:lnTo>
                <a:lnTo>
                  <a:pt x="255600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82583" y="4125467"/>
            <a:ext cx="2714625" cy="949960"/>
          </a:xfrm>
          <a:custGeom>
            <a:avLst/>
            <a:gdLst/>
            <a:ahLst/>
            <a:cxnLst/>
            <a:rect l="l" t="t" r="r" b="b"/>
            <a:pathLst>
              <a:path w="2714625" h="949960">
                <a:moveTo>
                  <a:pt x="0" y="158241"/>
                </a:moveTo>
                <a:lnTo>
                  <a:pt x="8069" y="108232"/>
                </a:lnTo>
                <a:lnTo>
                  <a:pt x="30536" y="64794"/>
                </a:lnTo>
                <a:lnTo>
                  <a:pt x="64794" y="30536"/>
                </a:lnTo>
                <a:lnTo>
                  <a:pt x="108232" y="8069"/>
                </a:lnTo>
                <a:lnTo>
                  <a:pt x="158242" y="0"/>
                </a:lnTo>
                <a:lnTo>
                  <a:pt x="2556002" y="0"/>
                </a:lnTo>
                <a:lnTo>
                  <a:pt x="2606011" y="8069"/>
                </a:lnTo>
                <a:lnTo>
                  <a:pt x="2649449" y="30536"/>
                </a:lnTo>
                <a:lnTo>
                  <a:pt x="2683707" y="64794"/>
                </a:lnTo>
                <a:lnTo>
                  <a:pt x="2706174" y="108232"/>
                </a:lnTo>
                <a:lnTo>
                  <a:pt x="2714244" y="158241"/>
                </a:lnTo>
                <a:lnTo>
                  <a:pt x="2714244" y="791209"/>
                </a:lnTo>
                <a:lnTo>
                  <a:pt x="2706174" y="841219"/>
                </a:lnTo>
                <a:lnTo>
                  <a:pt x="2683707" y="884657"/>
                </a:lnTo>
                <a:lnTo>
                  <a:pt x="2649449" y="918915"/>
                </a:lnTo>
                <a:lnTo>
                  <a:pt x="2606011" y="941382"/>
                </a:lnTo>
                <a:lnTo>
                  <a:pt x="2556002" y="949451"/>
                </a:lnTo>
                <a:lnTo>
                  <a:pt x="158242" y="949451"/>
                </a:lnTo>
                <a:lnTo>
                  <a:pt x="108232" y="941382"/>
                </a:lnTo>
                <a:lnTo>
                  <a:pt x="64794" y="918915"/>
                </a:lnTo>
                <a:lnTo>
                  <a:pt x="30536" y="884657"/>
                </a:lnTo>
                <a:lnTo>
                  <a:pt x="8069" y="841219"/>
                </a:lnTo>
                <a:lnTo>
                  <a:pt x="0" y="791209"/>
                </a:lnTo>
                <a:lnTo>
                  <a:pt x="0" y="158241"/>
                </a:lnTo>
                <a:close/>
              </a:path>
            </a:pathLst>
          </a:custGeom>
          <a:ln w="12191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199244" y="4446854"/>
            <a:ext cx="1283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Action</a:t>
            </a:r>
            <a:r>
              <a:rPr sz="1800" b="1" spc="-7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Plan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81855" y="2037588"/>
            <a:ext cx="4189476" cy="3349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78908" y="3235451"/>
            <a:ext cx="2618232" cy="1062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97096" y="2090927"/>
            <a:ext cx="4083050" cy="3243580"/>
          </a:xfrm>
          <a:custGeom>
            <a:avLst/>
            <a:gdLst/>
            <a:ahLst/>
            <a:cxnLst/>
            <a:rect l="l" t="t" r="r" b="b"/>
            <a:pathLst>
              <a:path w="4083050" h="3243579">
                <a:moveTo>
                  <a:pt x="2605658" y="2933446"/>
                </a:moveTo>
                <a:lnTo>
                  <a:pt x="1477137" y="2933446"/>
                </a:lnTo>
                <a:lnTo>
                  <a:pt x="2041398" y="3243072"/>
                </a:lnTo>
                <a:lnTo>
                  <a:pt x="2605658" y="2933446"/>
                </a:lnTo>
                <a:close/>
              </a:path>
              <a:path w="4083050" h="3243579">
                <a:moveTo>
                  <a:pt x="3303015" y="309625"/>
                </a:moveTo>
                <a:lnTo>
                  <a:pt x="779779" y="309625"/>
                </a:lnTo>
                <a:lnTo>
                  <a:pt x="564261" y="810768"/>
                </a:lnTo>
                <a:lnTo>
                  <a:pt x="0" y="1120394"/>
                </a:lnTo>
                <a:lnTo>
                  <a:pt x="215518" y="1621536"/>
                </a:lnTo>
                <a:lnTo>
                  <a:pt x="0" y="2122678"/>
                </a:lnTo>
                <a:lnTo>
                  <a:pt x="564261" y="2432304"/>
                </a:lnTo>
                <a:lnTo>
                  <a:pt x="779779" y="2933446"/>
                </a:lnTo>
                <a:lnTo>
                  <a:pt x="3303015" y="2933446"/>
                </a:lnTo>
                <a:lnTo>
                  <a:pt x="3518534" y="2432304"/>
                </a:lnTo>
                <a:lnTo>
                  <a:pt x="4082796" y="2122678"/>
                </a:lnTo>
                <a:lnTo>
                  <a:pt x="3867277" y="1621536"/>
                </a:lnTo>
                <a:lnTo>
                  <a:pt x="4082796" y="1120394"/>
                </a:lnTo>
                <a:lnTo>
                  <a:pt x="3518534" y="810768"/>
                </a:lnTo>
                <a:lnTo>
                  <a:pt x="3303015" y="309625"/>
                </a:lnTo>
                <a:close/>
              </a:path>
              <a:path w="4083050" h="3243579">
                <a:moveTo>
                  <a:pt x="2041398" y="0"/>
                </a:moveTo>
                <a:lnTo>
                  <a:pt x="1477137" y="309625"/>
                </a:lnTo>
                <a:lnTo>
                  <a:pt x="2605658" y="309625"/>
                </a:lnTo>
                <a:lnTo>
                  <a:pt x="2041398" y="0"/>
                </a:lnTo>
                <a:close/>
              </a:path>
            </a:pathLst>
          </a:custGeom>
          <a:solidFill>
            <a:srgbClr val="F8C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11496" y="3287267"/>
            <a:ext cx="2356104" cy="6233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92623" y="3622547"/>
            <a:ext cx="2514600" cy="6233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54295" y="3361182"/>
            <a:ext cx="21685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The </a:t>
            </a:r>
            <a:r>
              <a:rPr sz="22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Process of  </a:t>
            </a:r>
            <a:r>
              <a:rPr sz="22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Implementation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12192000" y="6858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431" y="28778"/>
            <a:ext cx="87160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31285" algn="l"/>
              </a:tabLst>
            </a:pPr>
            <a:r>
              <a:rPr sz="3200" dirty="0">
                <a:latin typeface="Times New Roman"/>
                <a:cs typeface="Times New Roman"/>
              </a:rPr>
              <a:t>SDG Implementation	and Monitoring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Committee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027" y="1447800"/>
            <a:ext cx="10749280" cy="4419600"/>
          </a:xfrm>
          <a:custGeom>
            <a:avLst/>
            <a:gdLst/>
            <a:ahLst/>
            <a:cxnLst/>
            <a:rect l="l" t="t" r="r" b="b"/>
            <a:pathLst>
              <a:path w="10749280" h="4419600">
                <a:moveTo>
                  <a:pt x="0" y="4419600"/>
                </a:moveTo>
                <a:lnTo>
                  <a:pt x="10748772" y="4419600"/>
                </a:lnTo>
                <a:lnTo>
                  <a:pt x="10748772" y="0"/>
                </a:lnTo>
                <a:lnTo>
                  <a:pt x="0" y="0"/>
                </a:lnTo>
                <a:lnTo>
                  <a:pt x="0" y="441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4072" y="1432001"/>
            <a:ext cx="10592435" cy="3446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indent="-337820">
              <a:lnSpc>
                <a:spcPts val="3195"/>
              </a:lnSpc>
              <a:spcBef>
                <a:spcPts val="95"/>
              </a:spcBef>
              <a:buClr>
                <a:srgbClr val="516429"/>
              </a:buClr>
              <a:buFont typeface="Wingdings"/>
              <a:buChar char=""/>
              <a:tabLst>
                <a:tab pos="350520" algn="l"/>
                <a:tab pos="351155" algn="l"/>
                <a:tab pos="8536940" algn="l"/>
              </a:tabLst>
            </a:pPr>
            <a:r>
              <a:rPr sz="2800" b="1" spc="-10" dirty="0">
                <a:latin typeface="Century Gothic"/>
                <a:cs typeface="Century Gothic"/>
              </a:rPr>
              <a:t>Involve </a:t>
            </a:r>
            <a:r>
              <a:rPr sz="2800" b="1" spc="-5" dirty="0">
                <a:latin typeface="Century Gothic"/>
                <a:cs typeface="Century Gothic"/>
              </a:rPr>
              <a:t>all stakeholders: </a:t>
            </a:r>
            <a:r>
              <a:rPr sz="2800" b="1" spc="50" dirty="0">
                <a:latin typeface="Century Gothic"/>
                <a:cs typeface="Century Gothic"/>
              </a:rPr>
              <a:t> 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SDG</a:t>
            </a:r>
            <a:r>
              <a:rPr sz="2800" b="1" spc="265" dirty="0">
                <a:solidFill>
                  <a:srgbClr val="EC7C30"/>
                </a:solidFill>
                <a:latin typeface="Century Gothic"/>
                <a:cs typeface="Century Gothic"/>
              </a:rPr>
              <a:t> 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Implementation	and</a:t>
            </a:r>
            <a:r>
              <a:rPr sz="2800" b="1" spc="175" dirty="0">
                <a:solidFill>
                  <a:srgbClr val="EC7C30"/>
                </a:solidFill>
                <a:latin typeface="Century Gothic"/>
                <a:cs typeface="Century Gothic"/>
              </a:rPr>
              <a:t> 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Review</a:t>
            </a:r>
            <a:endParaRPr sz="2800">
              <a:latin typeface="Century Gothic"/>
              <a:cs typeface="Century Gothic"/>
            </a:endParaRPr>
          </a:p>
          <a:p>
            <a:pPr marL="350520">
              <a:lnSpc>
                <a:spcPts val="3195"/>
              </a:lnSpc>
            </a:pP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Committee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00">
              <a:latin typeface="Times New Roman"/>
              <a:cs typeface="Times New Roman"/>
            </a:endParaRPr>
          </a:p>
          <a:p>
            <a:pPr marL="350520" marR="5080" indent="-337820">
              <a:lnSpc>
                <a:spcPts val="3020"/>
              </a:lnSpc>
              <a:buClr>
                <a:srgbClr val="516429"/>
              </a:buClr>
              <a:buFont typeface="Wingdings"/>
              <a:buChar char=""/>
              <a:tabLst>
                <a:tab pos="350520" algn="l"/>
                <a:tab pos="351155" algn="l"/>
                <a:tab pos="2018030" algn="l"/>
                <a:tab pos="2528570" algn="l"/>
                <a:tab pos="2946400" algn="l"/>
                <a:tab pos="4941570" algn="l"/>
                <a:tab pos="6092190" algn="l"/>
                <a:tab pos="7891145" algn="l"/>
                <a:tab pos="10137140" algn="l"/>
              </a:tabLst>
            </a:pPr>
            <a:r>
              <a:rPr sz="2800" b="1" spc="-5" dirty="0">
                <a:latin typeface="Century Gothic"/>
                <a:cs typeface="Century Gothic"/>
              </a:rPr>
              <a:t>C</a:t>
            </a:r>
            <a:r>
              <a:rPr sz="2800" b="1" dirty="0">
                <a:latin typeface="Century Gothic"/>
                <a:cs typeface="Century Gothic"/>
              </a:rPr>
              <a:t>r</a:t>
            </a:r>
            <a:r>
              <a:rPr sz="2800" b="1" spc="-10" dirty="0">
                <a:latin typeface="Century Gothic"/>
                <a:cs typeface="Century Gothic"/>
              </a:rPr>
              <a:t>eatio</a:t>
            </a:r>
            <a:r>
              <a:rPr sz="2800" b="1" spc="-5" dirty="0">
                <a:latin typeface="Century Gothic"/>
                <a:cs typeface="Century Gothic"/>
              </a:rPr>
              <a:t>n</a:t>
            </a:r>
            <a:r>
              <a:rPr sz="2800" b="1" dirty="0">
                <a:latin typeface="Century Gothic"/>
                <a:cs typeface="Century Gothic"/>
              </a:rPr>
              <a:t>	</a:t>
            </a:r>
            <a:r>
              <a:rPr sz="2800" b="1" spc="0" dirty="0">
                <a:latin typeface="Century Gothic"/>
                <a:cs typeface="Century Gothic"/>
              </a:rPr>
              <a:t>o</a:t>
            </a:r>
            <a:r>
              <a:rPr sz="2800" b="1" spc="-5" dirty="0">
                <a:latin typeface="Century Gothic"/>
                <a:cs typeface="Century Gothic"/>
              </a:rPr>
              <a:t>f</a:t>
            </a:r>
            <a:r>
              <a:rPr sz="2800" b="1" dirty="0">
                <a:latin typeface="Century Gothic"/>
                <a:cs typeface="Century Gothic"/>
              </a:rPr>
              <a:t>	</a:t>
            </a:r>
            <a:r>
              <a:rPr sz="2800" b="1" spc="-5" dirty="0">
                <a:latin typeface="Century Gothic"/>
                <a:cs typeface="Century Gothic"/>
              </a:rPr>
              <a:t>a</a:t>
            </a:r>
            <a:r>
              <a:rPr sz="2800" b="1" dirty="0">
                <a:latin typeface="Century Gothic"/>
                <a:cs typeface="Century Gothic"/>
              </a:rPr>
              <a:t>	</a:t>
            </a:r>
            <a:r>
              <a:rPr sz="2800" b="1" spc="0" dirty="0">
                <a:latin typeface="Century Gothic"/>
                <a:cs typeface="Century Gothic"/>
              </a:rPr>
              <a:t>d</a:t>
            </a:r>
            <a:r>
              <a:rPr sz="2800" b="1" spc="-10" dirty="0">
                <a:latin typeface="Century Gothic"/>
                <a:cs typeface="Century Gothic"/>
              </a:rPr>
              <a:t>edicate</a:t>
            </a:r>
            <a:r>
              <a:rPr sz="2800" b="1" spc="-5" dirty="0">
                <a:latin typeface="Century Gothic"/>
                <a:cs typeface="Century Gothic"/>
              </a:rPr>
              <a:t>d</a:t>
            </a:r>
            <a:r>
              <a:rPr sz="2800" b="1" dirty="0">
                <a:latin typeface="Century Gothic"/>
                <a:cs typeface="Century Gothic"/>
              </a:rPr>
              <a:t>	</a:t>
            </a:r>
            <a:r>
              <a:rPr sz="2800" b="1" spc="0" dirty="0">
                <a:latin typeface="Century Gothic"/>
                <a:cs typeface="Century Gothic"/>
              </a:rPr>
              <a:t>o</a:t>
            </a:r>
            <a:r>
              <a:rPr sz="2800" b="1" spc="-5" dirty="0">
                <a:latin typeface="Century Gothic"/>
                <a:cs typeface="Century Gothic"/>
              </a:rPr>
              <a:t>f</a:t>
            </a:r>
            <a:r>
              <a:rPr sz="2800" b="1" dirty="0">
                <a:latin typeface="Century Gothic"/>
                <a:cs typeface="Century Gothic"/>
              </a:rPr>
              <a:t>f</a:t>
            </a:r>
            <a:r>
              <a:rPr sz="2800" b="1" spc="-5" dirty="0">
                <a:latin typeface="Century Gothic"/>
                <a:cs typeface="Century Gothic"/>
              </a:rPr>
              <a:t>ice</a:t>
            </a:r>
            <a:r>
              <a:rPr sz="2800" b="1" dirty="0">
                <a:latin typeface="Century Gothic"/>
                <a:cs typeface="Century Gothic"/>
              </a:rPr>
              <a:t>	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(Pri</a:t>
            </a:r>
            <a:r>
              <a:rPr sz="2800" b="1" dirty="0">
                <a:solidFill>
                  <a:srgbClr val="EC7C30"/>
                </a:solidFill>
                <a:latin typeface="Century Gothic"/>
                <a:cs typeface="Century Gothic"/>
              </a:rPr>
              <a:t>n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ci</a:t>
            </a:r>
            <a:r>
              <a:rPr sz="2800" b="1" spc="0" dirty="0">
                <a:solidFill>
                  <a:srgbClr val="EC7C30"/>
                </a:solidFill>
                <a:latin typeface="Century Gothic"/>
                <a:cs typeface="Century Gothic"/>
              </a:rPr>
              <a:t>p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a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l</a:t>
            </a:r>
            <a:r>
              <a:rPr sz="2800" b="1" dirty="0">
                <a:solidFill>
                  <a:srgbClr val="EC7C30"/>
                </a:solidFill>
                <a:latin typeface="Century Gothic"/>
                <a:cs typeface="Century Gothic"/>
              </a:rPr>
              <a:t>	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Coo</a:t>
            </a:r>
            <a:r>
              <a:rPr sz="2800" b="1" spc="0" dirty="0">
                <a:solidFill>
                  <a:srgbClr val="EC7C30"/>
                </a:solidFill>
                <a:latin typeface="Century Gothic"/>
                <a:cs typeface="Century Gothic"/>
              </a:rPr>
              <a:t>r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din</a:t>
            </a:r>
            <a:r>
              <a:rPr sz="2800" b="1" dirty="0">
                <a:solidFill>
                  <a:srgbClr val="EC7C30"/>
                </a:solidFill>
                <a:latin typeface="Century Gothic"/>
                <a:cs typeface="Century Gothic"/>
              </a:rPr>
              <a:t>a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tor</a:t>
            </a:r>
            <a:r>
              <a:rPr sz="2800" b="1" dirty="0">
                <a:solidFill>
                  <a:srgbClr val="EC7C30"/>
                </a:solidFill>
                <a:latin typeface="Century Gothic"/>
                <a:cs typeface="Century Gothic"/>
              </a:rPr>
              <a:t>	f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or  SDGs 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Affairs) </a:t>
            </a:r>
            <a:r>
              <a:rPr sz="2800" b="1" spc="-5" dirty="0">
                <a:latin typeface="Century Gothic"/>
                <a:cs typeface="Century Gothic"/>
              </a:rPr>
              <a:t>at</a:t>
            </a:r>
            <a:r>
              <a:rPr sz="2800" b="1" spc="60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PMO.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516429"/>
              </a:buClr>
              <a:buFont typeface="Wingdings"/>
              <a:buChar char=""/>
            </a:pPr>
            <a:endParaRPr sz="3650">
              <a:latin typeface="Times New Roman"/>
              <a:cs typeface="Times New Roman"/>
            </a:endParaRPr>
          </a:p>
          <a:p>
            <a:pPr marL="350520" marR="6985" indent="-337820">
              <a:lnSpc>
                <a:spcPts val="3020"/>
              </a:lnSpc>
              <a:buClr>
                <a:srgbClr val="516429"/>
              </a:buClr>
              <a:buFont typeface="Wingdings"/>
              <a:buChar char=""/>
              <a:tabLst>
                <a:tab pos="350520" algn="l"/>
                <a:tab pos="351155" algn="l"/>
              </a:tabLst>
            </a:pP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General 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Economics 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Division (GED) of </a:t>
            </a:r>
            <a:r>
              <a:rPr sz="2800" b="1" spc="-10" dirty="0">
                <a:solidFill>
                  <a:srgbClr val="EC7C30"/>
                </a:solidFill>
                <a:latin typeface="Century Gothic"/>
                <a:cs typeface="Century Gothic"/>
              </a:rPr>
              <a:t>Planning </a:t>
            </a:r>
            <a:r>
              <a:rPr sz="28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Commission </a:t>
            </a:r>
            <a:r>
              <a:rPr sz="2800" b="1" spc="-5" dirty="0">
                <a:latin typeface="Century Gothic"/>
                <a:cs typeface="Century Gothic"/>
              </a:rPr>
              <a:t> is the secretariat for the</a:t>
            </a:r>
            <a:r>
              <a:rPr sz="2800" b="1" spc="35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committee.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6426809"/>
            <a:ext cx="765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34930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725423"/>
            <a:ext cx="3614928" cy="4575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64152" y="725423"/>
            <a:ext cx="3352800" cy="472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55394" y="6426809"/>
            <a:ext cx="765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12192000" y="6858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53790" y="26619"/>
            <a:ext cx="4883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Calibri"/>
                <a:cs typeface="Calibri"/>
              </a:rPr>
              <a:t>Translation </a:t>
            </a:r>
            <a:r>
              <a:rPr spc="-10" dirty="0">
                <a:latin typeface="Calibri"/>
                <a:cs typeface="Calibri"/>
              </a:rPr>
              <a:t>of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Documents</a:t>
            </a:r>
          </a:p>
        </p:txBody>
      </p:sp>
      <p:sp>
        <p:nvSpPr>
          <p:cNvPr id="8" name="object 8"/>
          <p:cNvSpPr/>
          <p:nvPr/>
        </p:nvSpPr>
        <p:spPr>
          <a:xfrm>
            <a:off x="8074152" y="806195"/>
            <a:ext cx="1908048" cy="2785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82200" y="3592067"/>
            <a:ext cx="2001011" cy="27645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12192000" y="6858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89103"/>
            <a:ext cx="7983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Mapping of Ministries/Divisions by SDG</a:t>
            </a:r>
            <a:r>
              <a:rPr sz="2800" b="1" spc="1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Targets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4592" y="775716"/>
            <a:ext cx="6096000" cy="3921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908803"/>
            <a:ext cx="6871970" cy="1569720"/>
          </a:xfrm>
          <a:custGeom>
            <a:avLst/>
            <a:gdLst/>
            <a:ahLst/>
            <a:cxnLst/>
            <a:rect l="l" t="t" r="r" b="b"/>
            <a:pathLst>
              <a:path w="6871970" h="1569720">
                <a:moveTo>
                  <a:pt x="0" y="1569720"/>
                </a:moveTo>
                <a:lnTo>
                  <a:pt x="6871716" y="1569720"/>
                </a:lnTo>
                <a:lnTo>
                  <a:pt x="6871716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4935982"/>
            <a:ext cx="36620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516429"/>
              </a:buClr>
              <a:buFont typeface="Wingdings"/>
              <a:buChar char=""/>
              <a:tabLst>
                <a:tab pos="351155" algn="l"/>
                <a:tab pos="1867535" algn="l"/>
              </a:tabLst>
            </a:pPr>
            <a:r>
              <a:rPr sz="3200" b="1" spc="-5" dirty="0">
                <a:solidFill>
                  <a:srgbClr val="EC7C30"/>
                </a:solidFill>
                <a:latin typeface="Century Gothic"/>
                <a:cs typeface="Century Gothic"/>
              </a:rPr>
              <a:t>SDG</a:t>
            </a:r>
            <a:r>
              <a:rPr sz="3200" b="1" dirty="0">
                <a:solidFill>
                  <a:srgbClr val="EC7C30"/>
                </a:solidFill>
                <a:latin typeface="Century Gothic"/>
                <a:cs typeface="Century Gothic"/>
              </a:rPr>
              <a:t>s	Map</a:t>
            </a:r>
            <a:r>
              <a:rPr sz="3200" b="1" spc="-15" dirty="0">
                <a:solidFill>
                  <a:srgbClr val="EC7C30"/>
                </a:solidFill>
                <a:latin typeface="Century Gothic"/>
                <a:cs typeface="Century Gothic"/>
              </a:rPr>
              <a:t>p</a:t>
            </a:r>
            <a:r>
              <a:rPr sz="3200" b="1" dirty="0">
                <a:solidFill>
                  <a:srgbClr val="EC7C30"/>
                </a:solidFill>
                <a:latin typeface="Century Gothic"/>
                <a:cs typeface="Century Gothic"/>
              </a:rPr>
              <a:t>ing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068" y="5423408"/>
            <a:ext cx="5008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4415" algn="l"/>
                <a:tab pos="4304665" algn="l"/>
              </a:tabLst>
            </a:pPr>
            <a:r>
              <a:rPr sz="3200" b="1" dirty="0">
                <a:latin typeface="Century Gothic"/>
                <a:cs typeface="Century Gothic"/>
              </a:rPr>
              <a:t>Mi</a:t>
            </a:r>
            <a:r>
              <a:rPr sz="3200" b="1" spc="-10" dirty="0">
                <a:latin typeface="Century Gothic"/>
                <a:cs typeface="Century Gothic"/>
              </a:rPr>
              <a:t>n</a:t>
            </a:r>
            <a:r>
              <a:rPr sz="3200" b="1" dirty="0">
                <a:latin typeface="Century Gothic"/>
                <a:cs typeface="Century Gothic"/>
              </a:rPr>
              <a:t>is</a:t>
            </a:r>
            <a:r>
              <a:rPr sz="3200" b="1" spc="-10" dirty="0">
                <a:latin typeface="Century Gothic"/>
                <a:cs typeface="Century Gothic"/>
              </a:rPr>
              <a:t>t</a:t>
            </a:r>
            <a:r>
              <a:rPr sz="3200" b="1" dirty="0">
                <a:latin typeface="Century Gothic"/>
                <a:cs typeface="Century Gothic"/>
              </a:rPr>
              <a:t>rie</a:t>
            </a:r>
            <a:r>
              <a:rPr sz="3200" b="1" spc="-20" dirty="0">
                <a:latin typeface="Century Gothic"/>
                <a:cs typeface="Century Gothic"/>
              </a:rPr>
              <a:t>s</a:t>
            </a:r>
            <a:r>
              <a:rPr sz="3200" b="1" dirty="0">
                <a:latin typeface="Century Gothic"/>
                <a:cs typeface="Century Gothic"/>
              </a:rPr>
              <a:t>/	</a:t>
            </a:r>
            <a:r>
              <a:rPr sz="3200" b="1" spc="-5" dirty="0">
                <a:latin typeface="Century Gothic"/>
                <a:cs typeface="Century Gothic"/>
              </a:rPr>
              <a:t>D</a:t>
            </a:r>
            <a:r>
              <a:rPr sz="3200" b="1" spc="-15" dirty="0">
                <a:latin typeface="Century Gothic"/>
                <a:cs typeface="Century Gothic"/>
              </a:rPr>
              <a:t>i</a:t>
            </a:r>
            <a:r>
              <a:rPr sz="3200" b="1" spc="-5" dirty="0">
                <a:latin typeface="Century Gothic"/>
                <a:cs typeface="Century Gothic"/>
              </a:rPr>
              <a:t>vi</a:t>
            </a:r>
            <a:r>
              <a:rPr sz="3200" b="1" spc="-20" dirty="0">
                <a:latin typeface="Century Gothic"/>
                <a:cs typeface="Century Gothic"/>
              </a:rPr>
              <a:t>s</a:t>
            </a:r>
            <a:r>
              <a:rPr sz="3200" b="1" dirty="0">
                <a:latin typeface="Century Gothic"/>
                <a:cs typeface="Century Gothic"/>
              </a:rPr>
              <a:t>ions	</a:t>
            </a:r>
            <a:r>
              <a:rPr sz="3200" b="1" spc="-5" dirty="0">
                <a:latin typeface="Century Gothic"/>
                <a:cs typeface="Century Gothic"/>
              </a:rPr>
              <a:t>has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5510" y="4935982"/>
            <a:ext cx="257810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7385" algn="l"/>
              </a:tabLst>
            </a:pPr>
            <a:r>
              <a:rPr sz="3200" b="1" spc="-5" dirty="0">
                <a:latin typeface="Century Gothic"/>
                <a:cs typeface="Century Gothic"/>
              </a:rPr>
              <a:t>amon</a:t>
            </a:r>
            <a:r>
              <a:rPr sz="3200" b="1" dirty="0">
                <a:latin typeface="Century Gothic"/>
                <a:cs typeface="Century Gothic"/>
              </a:rPr>
              <a:t>g	the</a:t>
            </a:r>
            <a:endParaRPr sz="3200">
              <a:latin typeface="Century Gothic"/>
              <a:cs typeface="Century Gothic"/>
            </a:endParaRPr>
          </a:p>
          <a:p>
            <a:pPr marL="1530350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latin typeface="Century Gothic"/>
                <a:cs typeface="Century Gothic"/>
              </a:rPr>
              <a:t>been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068" y="5911697"/>
            <a:ext cx="45948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entury Gothic"/>
                <a:cs typeface="Century Gothic"/>
              </a:rPr>
              <a:t>finalized </a:t>
            </a:r>
            <a:r>
              <a:rPr sz="3200" b="1" spc="-5" dirty="0">
                <a:latin typeface="Century Gothic"/>
                <a:cs typeface="Century Gothic"/>
              </a:rPr>
              <a:t>and</a:t>
            </a:r>
            <a:r>
              <a:rPr sz="3200" b="1" spc="-80" dirty="0">
                <a:latin typeface="Century Gothic"/>
                <a:cs typeface="Century Gothic"/>
              </a:rPr>
              <a:t> </a:t>
            </a:r>
            <a:r>
              <a:rPr sz="3200" b="1" spc="-5" dirty="0">
                <a:latin typeface="Century Gothic"/>
                <a:cs typeface="Century Gothic"/>
              </a:rPr>
              <a:t>published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56264" y="4570476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85604" y="4570476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14943" y="4570476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1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48728" y="4570476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256264" y="3991355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85604" y="3991355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14943" y="3991355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1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48728" y="3991355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256264" y="3413759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85604" y="3413759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14943" y="3413759"/>
            <a:ext cx="1010919" cy="0"/>
          </a:xfrm>
          <a:custGeom>
            <a:avLst/>
            <a:gdLst/>
            <a:ahLst/>
            <a:cxnLst/>
            <a:rect l="l" t="t" r="r" b="b"/>
            <a:pathLst>
              <a:path w="1010920">
                <a:moveTo>
                  <a:pt x="0" y="0"/>
                </a:moveTo>
                <a:lnTo>
                  <a:pt x="1010411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48728" y="3413759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256264" y="2836164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14943" y="2836164"/>
            <a:ext cx="2481580" cy="0"/>
          </a:xfrm>
          <a:custGeom>
            <a:avLst/>
            <a:gdLst/>
            <a:ahLst/>
            <a:cxnLst/>
            <a:rect l="l" t="t" r="r" b="b"/>
            <a:pathLst>
              <a:path w="2481579">
                <a:moveTo>
                  <a:pt x="0" y="0"/>
                </a:moveTo>
                <a:lnTo>
                  <a:pt x="248107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48728" y="2836164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256264" y="2258567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48728" y="2258567"/>
            <a:ext cx="3447415" cy="0"/>
          </a:xfrm>
          <a:custGeom>
            <a:avLst/>
            <a:gdLst/>
            <a:ahLst/>
            <a:cxnLst/>
            <a:rect l="l" t="t" r="r" b="b"/>
            <a:pathLst>
              <a:path w="3447415">
                <a:moveTo>
                  <a:pt x="0" y="0"/>
                </a:moveTo>
                <a:lnTo>
                  <a:pt x="3447288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256264" y="1680972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443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48728" y="1680972"/>
            <a:ext cx="3447415" cy="0"/>
          </a:xfrm>
          <a:custGeom>
            <a:avLst/>
            <a:gdLst/>
            <a:ahLst/>
            <a:cxnLst/>
            <a:rect l="l" t="t" r="r" b="b"/>
            <a:pathLst>
              <a:path w="3447415">
                <a:moveTo>
                  <a:pt x="0" y="0"/>
                </a:moveTo>
                <a:lnTo>
                  <a:pt x="3447288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48728" y="1103375"/>
            <a:ext cx="4411980" cy="0"/>
          </a:xfrm>
          <a:custGeom>
            <a:avLst/>
            <a:gdLst/>
            <a:ahLst/>
            <a:cxnLst/>
            <a:rect l="l" t="t" r="r" b="b"/>
            <a:pathLst>
              <a:path w="4411980">
                <a:moveTo>
                  <a:pt x="0" y="0"/>
                </a:moveTo>
                <a:lnTo>
                  <a:pt x="441198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53171" y="2662427"/>
            <a:ext cx="462280" cy="2486025"/>
          </a:xfrm>
          <a:custGeom>
            <a:avLst/>
            <a:gdLst/>
            <a:ahLst/>
            <a:cxnLst/>
            <a:rect l="l" t="t" r="r" b="b"/>
            <a:pathLst>
              <a:path w="462279" h="2486025">
                <a:moveTo>
                  <a:pt x="0" y="2485644"/>
                </a:moveTo>
                <a:lnTo>
                  <a:pt x="461772" y="2485644"/>
                </a:lnTo>
                <a:lnTo>
                  <a:pt x="461772" y="0"/>
                </a:lnTo>
                <a:lnTo>
                  <a:pt x="0" y="0"/>
                </a:lnTo>
                <a:lnTo>
                  <a:pt x="0" y="248564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325356" y="3183635"/>
            <a:ext cx="460375" cy="1964689"/>
          </a:xfrm>
          <a:custGeom>
            <a:avLst/>
            <a:gdLst/>
            <a:ahLst/>
            <a:cxnLst/>
            <a:rect l="l" t="t" r="r" b="b"/>
            <a:pathLst>
              <a:path w="460375" h="1964689">
                <a:moveTo>
                  <a:pt x="0" y="1964436"/>
                </a:moveTo>
                <a:lnTo>
                  <a:pt x="460248" y="1964436"/>
                </a:lnTo>
                <a:lnTo>
                  <a:pt x="460248" y="0"/>
                </a:lnTo>
                <a:lnTo>
                  <a:pt x="0" y="0"/>
                </a:lnTo>
                <a:lnTo>
                  <a:pt x="0" y="196443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796016" y="1623060"/>
            <a:ext cx="460375" cy="3525520"/>
          </a:xfrm>
          <a:custGeom>
            <a:avLst/>
            <a:gdLst/>
            <a:ahLst/>
            <a:cxnLst/>
            <a:rect l="l" t="t" r="r" b="b"/>
            <a:pathLst>
              <a:path w="460375" h="3525520">
                <a:moveTo>
                  <a:pt x="0" y="3525012"/>
                </a:moveTo>
                <a:lnTo>
                  <a:pt x="460248" y="3525012"/>
                </a:lnTo>
                <a:lnTo>
                  <a:pt x="460248" y="0"/>
                </a:lnTo>
                <a:lnTo>
                  <a:pt x="0" y="0"/>
                </a:lnTo>
                <a:lnTo>
                  <a:pt x="0" y="352501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48728" y="5148071"/>
            <a:ext cx="4411980" cy="0"/>
          </a:xfrm>
          <a:custGeom>
            <a:avLst/>
            <a:gdLst/>
            <a:ahLst/>
            <a:cxnLst/>
            <a:rect l="l" t="t" r="r" b="b"/>
            <a:pathLst>
              <a:path w="4411980">
                <a:moveTo>
                  <a:pt x="0" y="0"/>
                </a:moveTo>
                <a:lnTo>
                  <a:pt x="441198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813547" y="2045207"/>
            <a:ext cx="542925" cy="579120"/>
          </a:xfrm>
          <a:custGeom>
            <a:avLst/>
            <a:gdLst/>
            <a:ahLst/>
            <a:cxnLst/>
            <a:rect l="l" t="t" r="r" b="b"/>
            <a:pathLst>
              <a:path w="542925" h="579119">
                <a:moveTo>
                  <a:pt x="271272" y="0"/>
                </a:moveTo>
                <a:lnTo>
                  <a:pt x="227260" y="3790"/>
                </a:lnTo>
                <a:lnTo>
                  <a:pt x="185513" y="14764"/>
                </a:lnTo>
                <a:lnTo>
                  <a:pt x="146588" y="32325"/>
                </a:lnTo>
                <a:lnTo>
                  <a:pt x="111044" y="55875"/>
                </a:lnTo>
                <a:lnTo>
                  <a:pt x="79438" y="84820"/>
                </a:lnTo>
                <a:lnTo>
                  <a:pt x="52328" y="118561"/>
                </a:lnTo>
                <a:lnTo>
                  <a:pt x="30271" y="156502"/>
                </a:lnTo>
                <a:lnTo>
                  <a:pt x="13825" y="198046"/>
                </a:lnTo>
                <a:lnTo>
                  <a:pt x="3549" y="242598"/>
                </a:lnTo>
                <a:lnTo>
                  <a:pt x="0" y="289559"/>
                </a:lnTo>
                <a:lnTo>
                  <a:pt x="3549" y="336521"/>
                </a:lnTo>
                <a:lnTo>
                  <a:pt x="13825" y="381073"/>
                </a:lnTo>
                <a:lnTo>
                  <a:pt x="30271" y="422617"/>
                </a:lnTo>
                <a:lnTo>
                  <a:pt x="52328" y="460558"/>
                </a:lnTo>
                <a:lnTo>
                  <a:pt x="79438" y="494299"/>
                </a:lnTo>
                <a:lnTo>
                  <a:pt x="111044" y="523244"/>
                </a:lnTo>
                <a:lnTo>
                  <a:pt x="146588" y="546794"/>
                </a:lnTo>
                <a:lnTo>
                  <a:pt x="185513" y="564355"/>
                </a:lnTo>
                <a:lnTo>
                  <a:pt x="227260" y="575329"/>
                </a:lnTo>
                <a:lnTo>
                  <a:pt x="271272" y="579119"/>
                </a:lnTo>
                <a:lnTo>
                  <a:pt x="315283" y="575329"/>
                </a:lnTo>
                <a:lnTo>
                  <a:pt x="357030" y="564355"/>
                </a:lnTo>
                <a:lnTo>
                  <a:pt x="395955" y="546794"/>
                </a:lnTo>
                <a:lnTo>
                  <a:pt x="431499" y="523244"/>
                </a:lnTo>
                <a:lnTo>
                  <a:pt x="463105" y="494299"/>
                </a:lnTo>
                <a:lnTo>
                  <a:pt x="490215" y="460558"/>
                </a:lnTo>
                <a:lnTo>
                  <a:pt x="512272" y="422617"/>
                </a:lnTo>
                <a:lnTo>
                  <a:pt x="528718" y="381073"/>
                </a:lnTo>
                <a:lnTo>
                  <a:pt x="538994" y="336521"/>
                </a:lnTo>
                <a:lnTo>
                  <a:pt x="542544" y="289559"/>
                </a:lnTo>
                <a:lnTo>
                  <a:pt x="538994" y="242598"/>
                </a:lnTo>
                <a:lnTo>
                  <a:pt x="528718" y="198046"/>
                </a:lnTo>
                <a:lnTo>
                  <a:pt x="512272" y="156502"/>
                </a:lnTo>
                <a:lnTo>
                  <a:pt x="490215" y="118561"/>
                </a:lnTo>
                <a:lnTo>
                  <a:pt x="463105" y="84820"/>
                </a:lnTo>
                <a:lnTo>
                  <a:pt x="431499" y="55875"/>
                </a:lnTo>
                <a:lnTo>
                  <a:pt x="395955" y="32325"/>
                </a:lnTo>
                <a:lnTo>
                  <a:pt x="357030" y="14764"/>
                </a:lnTo>
                <a:lnTo>
                  <a:pt x="315283" y="3790"/>
                </a:lnTo>
                <a:lnTo>
                  <a:pt x="2712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813547" y="2045207"/>
            <a:ext cx="542925" cy="579120"/>
          </a:xfrm>
          <a:custGeom>
            <a:avLst/>
            <a:gdLst/>
            <a:ahLst/>
            <a:cxnLst/>
            <a:rect l="l" t="t" r="r" b="b"/>
            <a:pathLst>
              <a:path w="542925" h="579119">
                <a:moveTo>
                  <a:pt x="0" y="289559"/>
                </a:moveTo>
                <a:lnTo>
                  <a:pt x="3549" y="242598"/>
                </a:lnTo>
                <a:lnTo>
                  <a:pt x="13825" y="198046"/>
                </a:lnTo>
                <a:lnTo>
                  <a:pt x="30271" y="156502"/>
                </a:lnTo>
                <a:lnTo>
                  <a:pt x="52328" y="118561"/>
                </a:lnTo>
                <a:lnTo>
                  <a:pt x="79438" y="84820"/>
                </a:lnTo>
                <a:lnTo>
                  <a:pt x="111044" y="55875"/>
                </a:lnTo>
                <a:lnTo>
                  <a:pt x="146588" y="32325"/>
                </a:lnTo>
                <a:lnTo>
                  <a:pt x="185513" y="14764"/>
                </a:lnTo>
                <a:lnTo>
                  <a:pt x="227260" y="3790"/>
                </a:lnTo>
                <a:lnTo>
                  <a:pt x="271272" y="0"/>
                </a:lnTo>
                <a:lnTo>
                  <a:pt x="315283" y="3790"/>
                </a:lnTo>
                <a:lnTo>
                  <a:pt x="357030" y="14764"/>
                </a:lnTo>
                <a:lnTo>
                  <a:pt x="395955" y="32325"/>
                </a:lnTo>
                <a:lnTo>
                  <a:pt x="431499" y="55875"/>
                </a:lnTo>
                <a:lnTo>
                  <a:pt x="463105" y="84820"/>
                </a:lnTo>
                <a:lnTo>
                  <a:pt x="490215" y="118561"/>
                </a:lnTo>
                <a:lnTo>
                  <a:pt x="512272" y="156502"/>
                </a:lnTo>
                <a:lnTo>
                  <a:pt x="528718" y="198046"/>
                </a:lnTo>
                <a:lnTo>
                  <a:pt x="538994" y="242598"/>
                </a:lnTo>
                <a:lnTo>
                  <a:pt x="542544" y="289559"/>
                </a:lnTo>
                <a:lnTo>
                  <a:pt x="538994" y="336521"/>
                </a:lnTo>
                <a:lnTo>
                  <a:pt x="528718" y="381073"/>
                </a:lnTo>
                <a:lnTo>
                  <a:pt x="512272" y="422617"/>
                </a:lnTo>
                <a:lnTo>
                  <a:pt x="490215" y="460558"/>
                </a:lnTo>
                <a:lnTo>
                  <a:pt x="463105" y="494299"/>
                </a:lnTo>
                <a:lnTo>
                  <a:pt x="431499" y="523244"/>
                </a:lnTo>
                <a:lnTo>
                  <a:pt x="395955" y="546794"/>
                </a:lnTo>
                <a:lnTo>
                  <a:pt x="357030" y="564355"/>
                </a:lnTo>
                <a:lnTo>
                  <a:pt x="315283" y="575329"/>
                </a:lnTo>
                <a:lnTo>
                  <a:pt x="271272" y="579119"/>
                </a:lnTo>
                <a:lnTo>
                  <a:pt x="227260" y="575329"/>
                </a:lnTo>
                <a:lnTo>
                  <a:pt x="185513" y="564355"/>
                </a:lnTo>
                <a:lnTo>
                  <a:pt x="146588" y="546794"/>
                </a:lnTo>
                <a:lnTo>
                  <a:pt x="111044" y="523244"/>
                </a:lnTo>
                <a:lnTo>
                  <a:pt x="79438" y="494299"/>
                </a:lnTo>
                <a:lnTo>
                  <a:pt x="52328" y="460558"/>
                </a:lnTo>
                <a:lnTo>
                  <a:pt x="30271" y="422617"/>
                </a:lnTo>
                <a:lnTo>
                  <a:pt x="13825" y="381073"/>
                </a:lnTo>
                <a:lnTo>
                  <a:pt x="3549" y="336521"/>
                </a:lnTo>
                <a:lnTo>
                  <a:pt x="0" y="289559"/>
                </a:lnTo>
                <a:close/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918831" y="2121534"/>
            <a:ext cx="33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85858"/>
                </a:solidFill>
                <a:latin typeface="Calibri"/>
                <a:cs typeface="Calibri"/>
              </a:rPr>
              <a:t>43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320783" y="2653283"/>
            <a:ext cx="469900" cy="492759"/>
          </a:xfrm>
          <a:custGeom>
            <a:avLst/>
            <a:gdLst/>
            <a:ahLst/>
            <a:cxnLst/>
            <a:rect l="l" t="t" r="r" b="b"/>
            <a:pathLst>
              <a:path w="469900" h="492760">
                <a:moveTo>
                  <a:pt x="234696" y="0"/>
                </a:moveTo>
                <a:lnTo>
                  <a:pt x="187382" y="5002"/>
                </a:lnTo>
                <a:lnTo>
                  <a:pt x="143321" y="19347"/>
                </a:lnTo>
                <a:lnTo>
                  <a:pt x="103454" y="42045"/>
                </a:lnTo>
                <a:lnTo>
                  <a:pt x="68722" y="72104"/>
                </a:lnTo>
                <a:lnTo>
                  <a:pt x="40069" y="108532"/>
                </a:lnTo>
                <a:lnTo>
                  <a:pt x="18436" y="150340"/>
                </a:lnTo>
                <a:lnTo>
                  <a:pt x="4766" y="196534"/>
                </a:lnTo>
                <a:lnTo>
                  <a:pt x="0" y="246125"/>
                </a:lnTo>
                <a:lnTo>
                  <a:pt x="4766" y="295717"/>
                </a:lnTo>
                <a:lnTo>
                  <a:pt x="18436" y="341911"/>
                </a:lnTo>
                <a:lnTo>
                  <a:pt x="40069" y="383719"/>
                </a:lnTo>
                <a:lnTo>
                  <a:pt x="68722" y="420147"/>
                </a:lnTo>
                <a:lnTo>
                  <a:pt x="103454" y="450206"/>
                </a:lnTo>
                <a:lnTo>
                  <a:pt x="143321" y="472904"/>
                </a:lnTo>
                <a:lnTo>
                  <a:pt x="187382" y="487249"/>
                </a:lnTo>
                <a:lnTo>
                  <a:pt x="234696" y="492251"/>
                </a:lnTo>
                <a:lnTo>
                  <a:pt x="282009" y="487249"/>
                </a:lnTo>
                <a:lnTo>
                  <a:pt x="326070" y="472904"/>
                </a:lnTo>
                <a:lnTo>
                  <a:pt x="365937" y="450206"/>
                </a:lnTo>
                <a:lnTo>
                  <a:pt x="400669" y="420147"/>
                </a:lnTo>
                <a:lnTo>
                  <a:pt x="429322" y="383719"/>
                </a:lnTo>
                <a:lnTo>
                  <a:pt x="450955" y="341911"/>
                </a:lnTo>
                <a:lnTo>
                  <a:pt x="464625" y="295717"/>
                </a:lnTo>
                <a:lnTo>
                  <a:pt x="469392" y="246125"/>
                </a:lnTo>
                <a:lnTo>
                  <a:pt x="464625" y="196534"/>
                </a:lnTo>
                <a:lnTo>
                  <a:pt x="450955" y="150340"/>
                </a:lnTo>
                <a:lnTo>
                  <a:pt x="429322" y="108532"/>
                </a:lnTo>
                <a:lnTo>
                  <a:pt x="400669" y="72104"/>
                </a:lnTo>
                <a:lnTo>
                  <a:pt x="365937" y="42045"/>
                </a:lnTo>
                <a:lnTo>
                  <a:pt x="326070" y="19347"/>
                </a:lnTo>
                <a:lnTo>
                  <a:pt x="282009" y="5002"/>
                </a:lnTo>
                <a:lnTo>
                  <a:pt x="2346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20783" y="2653283"/>
            <a:ext cx="469900" cy="492759"/>
          </a:xfrm>
          <a:custGeom>
            <a:avLst/>
            <a:gdLst/>
            <a:ahLst/>
            <a:cxnLst/>
            <a:rect l="l" t="t" r="r" b="b"/>
            <a:pathLst>
              <a:path w="469900" h="492760">
                <a:moveTo>
                  <a:pt x="0" y="246125"/>
                </a:moveTo>
                <a:lnTo>
                  <a:pt x="4766" y="196534"/>
                </a:lnTo>
                <a:lnTo>
                  <a:pt x="18436" y="150340"/>
                </a:lnTo>
                <a:lnTo>
                  <a:pt x="40069" y="108532"/>
                </a:lnTo>
                <a:lnTo>
                  <a:pt x="68722" y="72104"/>
                </a:lnTo>
                <a:lnTo>
                  <a:pt x="103454" y="42045"/>
                </a:lnTo>
                <a:lnTo>
                  <a:pt x="143321" y="19347"/>
                </a:lnTo>
                <a:lnTo>
                  <a:pt x="187382" y="5002"/>
                </a:lnTo>
                <a:lnTo>
                  <a:pt x="234696" y="0"/>
                </a:lnTo>
                <a:lnTo>
                  <a:pt x="282009" y="5002"/>
                </a:lnTo>
                <a:lnTo>
                  <a:pt x="326070" y="19347"/>
                </a:lnTo>
                <a:lnTo>
                  <a:pt x="365937" y="42045"/>
                </a:lnTo>
                <a:lnTo>
                  <a:pt x="400669" y="72104"/>
                </a:lnTo>
                <a:lnTo>
                  <a:pt x="429322" y="108532"/>
                </a:lnTo>
                <a:lnTo>
                  <a:pt x="450955" y="150340"/>
                </a:lnTo>
                <a:lnTo>
                  <a:pt x="464625" y="196534"/>
                </a:lnTo>
                <a:lnTo>
                  <a:pt x="469392" y="246125"/>
                </a:lnTo>
                <a:lnTo>
                  <a:pt x="464625" y="295717"/>
                </a:lnTo>
                <a:lnTo>
                  <a:pt x="450955" y="341911"/>
                </a:lnTo>
                <a:lnTo>
                  <a:pt x="429322" y="383719"/>
                </a:lnTo>
                <a:lnTo>
                  <a:pt x="400669" y="420147"/>
                </a:lnTo>
                <a:lnTo>
                  <a:pt x="365937" y="450206"/>
                </a:lnTo>
                <a:lnTo>
                  <a:pt x="326070" y="472904"/>
                </a:lnTo>
                <a:lnTo>
                  <a:pt x="282009" y="487249"/>
                </a:lnTo>
                <a:lnTo>
                  <a:pt x="234696" y="492251"/>
                </a:lnTo>
                <a:lnTo>
                  <a:pt x="187382" y="487249"/>
                </a:lnTo>
                <a:lnTo>
                  <a:pt x="143321" y="472904"/>
                </a:lnTo>
                <a:lnTo>
                  <a:pt x="103454" y="450206"/>
                </a:lnTo>
                <a:lnTo>
                  <a:pt x="68722" y="420147"/>
                </a:lnTo>
                <a:lnTo>
                  <a:pt x="40069" y="383719"/>
                </a:lnTo>
                <a:lnTo>
                  <a:pt x="18436" y="341911"/>
                </a:lnTo>
                <a:lnTo>
                  <a:pt x="4766" y="295717"/>
                </a:lnTo>
                <a:lnTo>
                  <a:pt x="0" y="246125"/>
                </a:lnTo>
                <a:close/>
              </a:path>
            </a:pathLst>
          </a:custGeom>
          <a:ln w="9144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314943" y="2719832"/>
            <a:ext cx="2481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34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754868" y="1004316"/>
            <a:ext cx="542925" cy="581025"/>
          </a:xfrm>
          <a:custGeom>
            <a:avLst/>
            <a:gdLst/>
            <a:ahLst/>
            <a:cxnLst/>
            <a:rect l="l" t="t" r="r" b="b"/>
            <a:pathLst>
              <a:path w="542925" h="581025">
                <a:moveTo>
                  <a:pt x="271272" y="0"/>
                </a:moveTo>
                <a:lnTo>
                  <a:pt x="227260" y="3798"/>
                </a:lnTo>
                <a:lnTo>
                  <a:pt x="185513" y="14794"/>
                </a:lnTo>
                <a:lnTo>
                  <a:pt x="146588" y="32393"/>
                </a:lnTo>
                <a:lnTo>
                  <a:pt x="111044" y="55997"/>
                </a:lnTo>
                <a:lnTo>
                  <a:pt x="79438" y="85010"/>
                </a:lnTo>
                <a:lnTo>
                  <a:pt x="52328" y="118835"/>
                </a:lnTo>
                <a:lnTo>
                  <a:pt x="30271" y="156875"/>
                </a:lnTo>
                <a:lnTo>
                  <a:pt x="13825" y="198534"/>
                </a:lnTo>
                <a:lnTo>
                  <a:pt x="3549" y="243215"/>
                </a:lnTo>
                <a:lnTo>
                  <a:pt x="0" y="290322"/>
                </a:lnTo>
                <a:lnTo>
                  <a:pt x="3549" y="337428"/>
                </a:lnTo>
                <a:lnTo>
                  <a:pt x="13825" y="382109"/>
                </a:lnTo>
                <a:lnTo>
                  <a:pt x="30271" y="423768"/>
                </a:lnTo>
                <a:lnTo>
                  <a:pt x="52328" y="461808"/>
                </a:lnTo>
                <a:lnTo>
                  <a:pt x="79438" y="495633"/>
                </a:lnTo>
                <a:lnTo>
                  <a:pt x="111044" y="524646"/>
                </a:lnTo>
                <a:lnTo>
                  <a:pt x="146588" y="548250"/>
                </a:lnTo>
                <a:lnTo>
                  <a:pt x="185513" y="565849"/>
                </a:lnTo>
                <a:lnTo>
                  <a:pt x="227260" y="576845"/>
                </a:lnTo>
                <a:lnTo>
                  <a:pt x="271272" y="580644"/>
                </a:lnTo>
                <a:lnTo>
                  <a:pt x="315283" y="576845"/>
                </a:lnTo>
                <a:lnTo>
                  <a:pt x="357030" y="565849"/>
                </a:lnTo>
                <a:lnTo>
                  <a:pt x="395955" y="548250"/>
                </a:lnTo>
                <a:lnTo>
                  <a:pt x="431499" y="524646"/>
                </a:lnTo>
                <a:lnTo>
                  <a:pt x="463105" y="495633"/>
                </a:lnTo>
                <a:lnTo>
                  <a:pt x="490215" y="461808"/>
                </a:lnTo>
                <a:lnTo>
                  <a:pt x="512272" y="423768"/>
                </a:lnTo>
                <a:lnTo>
                  <a:pt x="528718" y="382109"/>
                </a:lnTo>
                <a:lnTo>
                  <a:pt x="538994" y="337428"/>
                </a:lnTo>
                <a:lnTo>
                  <a:pt x="542543" y="290322"/>
                </a:lnTo>
                <a:lnTo>
                  <a:pt x="538994" y="243215"/>
                </a:lnTo>
                <a:lnTo>
                  <a:pt x="528718" y="198534"/>
                </a:lnTo>
                <a:lnTo>
                  <a:pt x="512272" y="156875"/>
                </a:lnTo>
                <a:lnTo>
                  <a:pt x="490215" y="118835"/>
                </a:lnTo>
                <a:lnTo>
                  <a:pt x="463105" y="85010"/>
                </a:lnTo>
                <a:lnTo>
                  <a:pt x="431499" y="55997"/>
                </a:lnTo>
                <a:lnTo>
                  <a:pt x="395955" y="32393"/>
                </a:lnTo>
                <a:lnTo>
                  <a:pt x="357030" y="14794"/>
                </a:lnTo>
                <a:lnTo>
                  <a:pt x="315283" y="3798"/>
                </a:lnTo>
                <a:lnTo>
                  <a:pt x="2712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54868" y="1004316"/>
            <a:ext cx="542925" cy="581025"/>
          </a:xfrm>
          <a:custGeom>
            <a:avLst/>
            <a:gdLst/>
            <a:ahLst/>
            <a:cxnLst/>
            <a:rect l="l" t="t" r="r" b="b"/>
            <a:pathLst>
              <a:path w="542925" h="581025">
                <a:moveTo>
                  <a:pt x="0" y="290322"/>
                </a:moveTo>
                <a:lnTo>
                  <a:pt x="3549" y="243215"/>
                </a:lnTo>
                <a:lnTo>
                  <a:pt x="13825" y="198534"/>
                </a:lnTo>
                <a:lnTo>
                  <a:pt x="30271" y="156875"/>
                </a:lnTo>
                <a:lnTo>
                  <a:pt x="52328" y="118835"/>
                </a:lnTo>
                <a:lnTo>
                  <a:pt x="79438" y="85010"/>
                </a:lnTo>
                <a:lnTo>
                  <a:pt x="111044" y="55997"/>
                </a:lnTo>
                <a:lnTo>
                  <a:pt x="146588" y="32393"/>
                </a:lnTo>
                <a:lnTo>
                  <a:pt x="185513" y="14794"/>
                </a:lnTo>
                <a:lnTo>
                  <a:pt x="227260" y="3798"/>
                </a:lnTo>
                <a:lnTo>
                  <a:pt x="271272" y="0"/>
                </a:lnTo>
                <a:lnTo>
                  <a:pt x="315283" y="3798"/>
                </a:lnTo>
                <a:lnTo>
                  <a:pt x="357030" y="14794"/>
                </a:lnTo>
                <a:lnTo>
                  <a:pt x="395955" y="32393"/>
                </a:lnTo>
                <a:lnTo>
                  <a:pt x="431499" y="55997"/>
                </a:lnTo>
                <a:lnTo>
                  <a:pt x="463105" y="85010"/>
                </a:lnTo>
                <a:lnTo>
                  <a:pt x="490215" y="118835"/>
                </a:lnTo>
                <a:lnTo>
                  <a:pt x="512272" y="156875"/>
                </a:lnTo>
                <a:lnTo>
                  <a:pt x="528718" y="198534"/>
                </a:lnTo>
                <a:lnTo>
                  <a:pt x="538994" y="243215"/>
                </a:lnTo>
                <a:lnTo>
                  <a:pt x="542543" y="290322"/>
                </a:lnTo>
                <a:lnTo>
                  <a:pt x="538994" y="337428"/>
                </a:lnTo>
                <a:lnTo>
                  <a:pt x="528718" y="382109"/>
                </a:lnTo>
                <a:lnTo>
                  <a:pt x="512272" y="423768"/>
                </a:lnTo>
                <a:lnTo>
                  <a:pt x="490215" y="461808"/>
                </a:lnTo>
                <a:lnTo>
                  <a:pt x="463105" y="495633"/>
                </a:lnTo>
                <a:lnTo>
                  <a:pt x="431499" y="524646"/>
                </a:lnTo>
                <a:lnTo>
                  <a:pt x="395955" y="548250"/>
                </a:lnTo>
                <a:lnTo>
                  <a:pt x="357030" y="565849"/>
                </a:lnTo>
                <a:lnTo>
                  <a:pt x="315283" y="576845"/>
                </a:lnTo>
                <a:lnTo>
                  <a:pt x="271272" y="580644"/>
                </a:lnTo>
                <a:lnTo>
                  <a:pt x="227260" y="576845"/>
                </a:lnTo>
                <a:lnTo>
                  <a:pt x="185513" y="565849"/>
                </a:lnTo>
                <a:lnTo>
                  <a:pt x="146588" y="548250"/>
                </a:lnTo>
                <a:lnTo>
                  <a:pt x="111044" y="524646"/>
                </a:lnTo>
                <a:lnTo>
                  <a:pt x="79438" y="495633"/>
                </a:lnTo>
                <a:lnTo>
                  <a:pt x="52328" y="461808"/>
                </a:lnTo>
                <a:lnTo>
                  <a:pt x="30271" y="423768"/>
                </a:lnTo>
                <a:lnTo>
                  <a:pt x="13825" y="382109"/>
                </a:lnTo>
                <a:lnTo>
                  <a:pt x="3549" y="337428"/>
                </a:lnTo>
                <a:lnTo>
                  <a:pt x="0" y="290322"/>
                </a:lnTo>
                <a:close/>
              </a:path>
            </a:pathLst>
          </a:custGeom>
          <a:ln w="9144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860785" y="1081278"/>
            <a:ext cx="33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85858"/>
                </a:solidFill>
                <a:latin typeface="Calibri"/>
                <a:cs typeface="Calibri"/>
              </a:rPr>
              <a:t>61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6939" y="6576161"/>
            <a:ext cx="7645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/2</a:t>
            </a:r>
            <a:r>
              <a:rPr sz="1200" spc="0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45579" y="4991557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42581" y="3258058"/>
            <a:ext cx="233045" cy="142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42581" y="2679649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42581" y="2101976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42581" y="1524127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42581" y="946149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70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77302" y="5255717"/>
            <a:ext cx="4159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Lead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28835" y="5255717"/>
            <a:ext cx="655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Co-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lead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600181" y="5255717"/>
            <a:ext cx="8077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Associate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1331" y="226059"/>
            <a:ext cx="10602468" cy="612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69820" y="2892551"/>
            <a:ext cx="853440" cy="2307590"/>
          </a:xfrm>
          <a:custGeom>
            <a:avLst/>
            <a:gdLst/>
            <a:ahLst/>
            <a:cxnLst/>
            <a:rect l="l" t="t" r="r" b="b"/>
            <a:pathLst>
              <a:path w="853439" h="2307590">
                <a:moveTo>
                  <a:pt x="0" y="2307336"/>
                </a:moveTo>
                <a:lnTo>
                  <a:pt x="853440" y="2307336"/>
                </a:lnTo>
                <a:lnTo>
                  <a:pt x="853440" y="0"/>
                </a:lnTo>
                <a:lnTo>
                  <a:pt x="0" y="0"/>
                </a:lnTo>
                <a:lnTo>
                  <a:pt x="0" y="2307336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3629" y="2891789"/>
            <a:ext cx="809625" cy="2308860"/>
          </a:xfrm>
          <a:prstGeom prst="rect">
            <a:avLst/>
          </a:prstGeom>
          <a:ln w="28955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265"/>
              </a:spcBef>
            </a:pPr>
            <a:r>
              <a:rPr sz="1600" b="1" spc="-5" dirty="0">
                <a:latin typeface="Calibri"/>
                <a:cs typeface="Calibri"/>
              </a:rPr>
              <a:t>Lead: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CD</a:t>
            </a:r>
            <a:endParaRPr sz="1600">
              <a:latin typeface="Calibri"/>
              <a:cs typeface="Calibri"/>
            </a:endParaRPr>
          </a:p>
          <a:p>
            <a:pPr marL="87630" marR="107314">
              <a:lnSpc>
                <a:spcPct val="100000"/>
              </a:lnSpc>
            </a:pPr>
            <a:r>
              <a:rPr sz="1600" b="1" spc="-15" dirty="0">
                <a:latin typeface="Calibri"/>
                <a:cs typeface="Calibri"/>
              </a:rPr>
              <a:t>(</a:t>
            </a:r>
            <a:r>
              <a:rPr sz="1400" b="1" dirty="0">
                <a:latin typeface="Calibri"/>
                <a:cs typeface="Calibri"/>
              </a:rPr>
              <a:t>leading  </a:t>
            </a:r>
            <a:r>
              <a:rPr sz="1600" b="1" spc="-10" dirty="0">
                <a:latin typeface="Calibri"/>
                <a:cs typeface="Calibri"/>
              </a:rPr>
              <a:t>the  </a:t>
            </a:r>
            <a:r>
              <a:rPr sz="1600" b="1" spc="-5" dirty="0">
                <a:latin typeface="Calibri"/>
                <a:cs typeface="Calibri"/>
              </a:rPr>
              <a:t>NSSS);</a:t>
            </a:r>
            <a:endParaRPr sz="1600">
              <a:latin typeface="Calibri"/>
              <a:cs typeface="Calibri"/>
            </a:endParaRPr>
          </a:p>
          <a:p>
            <a:pPr marL="87630" marR="6667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Co-  Lead:  </a:t>
            </a:r>
            <a:r>
              <a:rPr sz="1600" b="1" spc="-10" dirty="0">
                <a:latin typeface="Calibri"/>
                <a:cs typeface="Calibri"/>
              </a:rPr>
              <a:t>GED</a:t>
            </a:r>
            <a:r>
              <a:rPr sz="1600" b="1" spc="-7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(as  NPFP)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5367" y="2915411"/>
            <a:ext cx="838200" cy="3333115"/>
          </a:xfrm>
          <a:custGeom>
            <a:avLst/>
            <a:gdLst/>
            <a:ahLst/>
            <a:cxnLst/>
            <a:rect l="l" t="t" r="r" b="b"/>
            <a:pathLst>
              <a:path w="838200" h="3333115">
                <a:moveTo>
                  <a:pt x="0" y="3332988"/>
                </a:moveTo>
                <a:lnTo>
                  <a:pt x="838200" y="3332988"/>
                </a:lnTo>
                <a:lnTo>
                  <a:pt x="838200" y="0"/>
                </a:lnTo>
                <a:lnTo>
                  <a:pt x="0" y="0"/>
                </a:lnTo>
                <a:lnTo>
                  <a:pt x="0" y="3332988"/>
                </a:lnTo>
                <a:close/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45179" y="2959607"/>
            <a:ext cx="814069" cy="3245485"/>
          </a:xfrm>
          <a:prstGeom prst="rect">
            <a:avLst/>
          </a:prstGeom>
          <a:solidFill>
            <a:srgbClr val="C8C8C8"/>
          </a:solidFill>
        </p:spPr>
        <p:txBody>
          <a:bodyPr vert="horz" wrap="square" lIns="0" tIns="635" rIns="0" bIns="0" rtlCol="0">
            <a:spAutoFit/>
          </a:bodyPr>
          <a:lstStyle/>
          <a:p>
            <a:pPr marL="71755" marR="92075">
              <a:lnSpc>
                <a:spcPct val="101800"/>
              </a:lnSpc>
              <a:spcBef>
                <a:spcPts val="5"/>
              </a:spcBef>
            </a:pPr>
            <a:r>
              <a:rPr sz="1150" b="0" spc="0" dirty="0">
                <a:latin typeface="Bahnschrift Light"/>
                <a:cs typeface="Bahnschrift Light"/>
              </a:rPr>
              <a:t>ERD;FD;  B</a:t>
            </a:r>
            <a:r>
              <a:rPr sz="1150" b="0" dirty="0">
                <a:latin typeface="Bahnschrift Light"/>
                <a:cs typeface="Bahnschrift Light"/>
              </a:rPr>
              <a:t>FI</a:t>
            </a:r>
            <a:r>
              <a:rPr sz="1150" b="0" spc="0" dirty="0">
                <a:latin typeface="Bahnschrift Light"/>
                <a:cs typeface="Bahnschrift Light"/>
              </a:rPr>
              <a:t>D</a:t>
            </a:r>
            <a:r>
              <a:rPr sz="1150" b="0" spc="-5" dirty="0">
                <a:latin typeface="Bahnschrift Light"/>
                <a:cs typeface="Bahnschrift Light"/>
              </a:rPr>
              <a:t>(</a:t>
            </a:r>
            <a:r>
              <a:rPr sz="1150" b="0" spc="0" dirty="0">
                <a:latin typeface="Bahnschrift Light"/>
                <a:cs typeface="Bahnschrift Light"/>
              </a:rPr>
              <a:t>BB</a:t>
            </a:r>
            <a:r>
              <a:rPr sz="1150" b="0" spc="-5" dirty="0">
                <a:latin typeface="Bahnschrift Light"/>
                <a:cs typeface="Bahnschrift Light"/>
              </a:rPr>
              <a:t>):  </a:t>
            </a:r>
            <a:r>
              <a:rPr sz="1150" b="0" spc="0" dirty="0">
                <a:latin typeface="Bahnschrift Light"/>
                <a:cs typeface="Bahnschrift Light"/>
              </a:rPr>
              <a:t>LGD;MoA;  MoF;  MoDMR;  MoEWOE;  MoFL;</a:t>
            </a:r>
            <a:endParaRPr sz="1150">
              <a:latin typeface="Bahnschrift Light"/>
              <a:cs typeface="Bahnschrift Light"/>
            </a:endParaRPr>
          </a:p>
          <a:p>
            <a:pPr marL="71755" marR="144145">
              <a:lnSpc>
                <a:spcPct val="101800"/>
              </a:lnSpc>
            </a:pPr>
            <a:r>
              <a:rPr sz="1150" b="0" spc="0" dirty="0">
                <a:latin typeface="Bahnschrift Light"/>
                <a:cs typeface="Bahnschrift Light"/>
              </a:rPr>
              <a:t>MoInd;  MoLE;  MoSW;  MoYS;  PMO;  RDCD;  SID;  MoWCA,  MoCH</a:t>
            </a:r>
            <a:r>
              <a:rPr sz="1150" b="0" spc="5" dirty="0">
                <a:latin typeface="Bahnschrift Light"/>
                <a:cs typeface="Bahnschrift Light"/>
              </a:rPr>
              <a:t>T</a:t>
            </a:r>
            <a:r>
              <a:rPr sz="1150" b="0" dirty="0">
                <a:latin typeface="Bahnschrift Light"/>
                <a:cs typeface="Bahnschrift Light"/>
              </a:rPr>
              <a:t>A;  </a:t>
            </a:r>
            <a:r>
              <a:rPr sz="1150" b="0" spc="0" dirty="0">
                <a:latin typeface="Bahnschrift Light"/>
                <a:cs typeface="Bahnschrift Light"/>
              </a:rPr>
              <a:t>MoLWA</a:t>
            </a:r>
            <a:endParaRPr sz="1150">
              <a:latin typeface="Bahnschrift Light"/>
              <a:cs typeface="Bahnschrift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26129" y="2951226"/>
            <a:ext cx="852169" cy="3263265"/>
          </a:xfrm>
          <a:custGeom>
            <a:avLst/>
            <a:gdLst/>
            <a:ahLst/>
            <a:cxnLst/>
            <a:rect l="l" t="t" r="r" b="b"/>
            <a:pathLst>
              <a:path w="852170" h="3263265">
                <a:moveTo>
                  <a:pt x="0" y="3262884"/>
                </a:moveTo>
                <a:lnTo>
                  <a:pt x="851915" y="3262884"/>
                </a:lnTo>
                <a:lnTo>
                  <a:pt x="851915" y="0"/>
                </a:lnTo>
                <a:lnTo>
                  <a:pt x="0" y="0"/>
                </a:lnTo>
                <a:lnTo>
                  <a:pt x="0" y="3262884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0"/>
                </a:moveTo>
                <a:lnTo>
                  <a:pt x="12192000" y="762000"/>
                </a:lnTo>
                <a:lnTo>
                  <a:pt x="12192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28241" y="65913"/>
            <a:ext cx="833691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 dirty="0">
                <a:latin typeface="Century Gothic"/>
                <a:cs typeface="Century Gothic"/>
              </a:rPr>
              <a:t>Data </a:t>
            </a:r>
            <a:r>
              <a:rPr sz="3500" dirty="0">
                <a:latin typeface="Century Gothic"/>
                <a:cs typeface="Century Gothic"/>
              </a:rPr>
              <a:t>Gap Analysis for </a:t>
            </a:r>
            <a:r>
              <a:rPr sz="3500" spc="-5" dirty="0">
                <a:latin typeface="Century Gothic"/>
                <a:cs typeface="Century Gothic"/>
              </a:rPr>
              <a:t>SDGs</a:t>
            </a:r>
            <a:r>
              <a:rPr sz="3500" spc="-95" dirty="0">
                <a:latin typeface="Century Gothic"/>
                <a:cs typeface="Century Gothic"/>
              </a:rPr>
              <a:t> </a:t>
            </a:r>
            <a:r>
              <a:rPr sz="3500" dirty="0">
                <a:latin typeface="Century Gothic"/>
                <a:cs typeface="Century Gothic"/>
              </a:rPr>
              <a:t>Monitoring</a:t>
            </a:r>
            <a:endParaRPr sz="35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27269" y="1594050"/>
            <a:ext cx="4109500" cy="3564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87514" y="1620414"/>
            <a:ext cx="18732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50" b="1" spc="-360" dirty="0">
                <a:latin typeface="Calibri"/>
                <a:cs typeface="Calibri"/>
              </a:rPr>
              <a:t>70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2635" y="4141992"/>
            <a:ext cx="27432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50" b="1" spc="-365" dirty="0">
                <a:latin typeface="Calibri"/>
                <a:cs typeface="Calibri"/>
              </a:rPr>
              <a:t>108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69245" y="5524337"/>
            <a:ext cx="116205" cy="187960"/>
          </a:xfrm>
          <a:custGeom>
            <a:avLst/>
            <a:gdLst/>
            <a:ahLst/>
            <a:cxnLst/>
            <a:rect l="l" t="t" r="r" b="b"/>
            <a:pathLst>
              <a:path w="116204" h="187960">
                <a:moveTo>
                  <a:pt x="0" y="187581"/>
                </a:moveTo>
                <a:lnTo>
                  <a:pt x="115923" y="187581"/>
                </a:lnTo>
                <a:lnTo>
                  <a:pt x="115923" y="0"/>
                </a:lnTo>
                <a:lnTo>
                  <a:pt x="0" y="0"/>
                </a:lnTo>
                <a:lnTo>
                  <a:pt x="0" y="18758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43903" y="5400577"/>
            <a:ext cx="34925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600" b="1" spc="-430" dirty="0">
                <a:solidFill>
                  <a:srgbClr val="FF0000"/>
                </a:solidFill>
                <a:latin typeface="Century Gothic"/>
                <a:cs typeface="Century Gothic"/>
              </a:rPr>
              <a:t>F</a:t>
            </a:r>
            <a:r>
              <a:rPr sz="2600" b="1" spc="-560" dirty="0">
                <a:solidFill>
                  <a:srgbClr val="FF0000"/>
                </a:solidFill>
                <a:latin typeface="Century Gothic"/>
                <a:cs typeface="Century Gothic"/>
              </a:rPr>
              <a:t>u</a:t>
            </a:r>
            <a:r>
              <a:rPr sz="2600" b="1" spc="-220" dirty="0">
                <a:solidFill>
                  <a:srgbClr val="FF0000"/>
                </a:solidFill>
                <a:latin typeface="Century Gothic"/>
                <a:cs typeface="Century Gothic"/>
              </a:rPr>
              <a:t>ll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34342" y="5506473"/>
            <a:ext cx="150701" cy="223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29712" y="5400577"/>
            <a:ext cx="6565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600" b="1" spc="-390" dirty="0">
                <a:solidFill>
                  <a:srgbClr val="001F5F"/>
                </a:solidFill>
                <a:latin typeface="Century Gothic"/>
                <a:cs typeface="Century Gothic"/>
              </a:rPr>
              <a:t>Partial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41414" y="5524337"/>
            <a:ext cx="121920" cy="187960"/>
          </a:xfrm>
          <a:custGeom>
            <a:avLst/>
            <a:gdLst/>
            <a:ahLst/>
            <a:cxnLst/>
            <a:rect l="l" t="t" r="r" b="b"/>
            <a:pathLst>
              <a:path w="121920" h="187960">
                <a:moveTo>
                  <a:pt x="0" y="187581"/>
                </a:moveTo>
                <a:lnTo>
                  <a:pt x="121720" y="187581"/>
                </a:lnTo>
                <a:lnTo>
                  <a:pt x="121720" y="0"/>
                </a:lnTo>
                <a:lnTo>
                  <a:pt x="0" y="0"/>
                </a:lnTo>
                <a:lnTo>
                  <a:pt x="0" y="187581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23415" y="5400577"/>
            <a:ext cx="142494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600" b="1" spc="-500" dirty="0">
                <a:solidFill>
                  <a:srgbClr val="FF0000"/>
                </a:solidFill>
                <a:latin typeface="Century Gothic"/>
                <a:cs typeface="Century Gothic"/>
              </a:rPr>
              <a:t>Not</a:t>
            </a:r>
            <a:r>
              <a:rPr sz="2600" b="1" spc="-3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600" b="1" spc="-459" dirty="0">
                <a:solidFill>
                  <a:srgbClr val="FF0000"/>
                </a:solidFill>
                <a:latin typeface="Century Gothic"/>
                <a:cs typeface="Century Gothic"/>
              </a:rPr>
              <a:t>available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41822" y="1196556"/>
            <a:ext cx="4880610" cy="4904105"/>
          </a:xfrm>
          <a:custGeom>
            <a:avLst/>
            <a:gdLst/>
            <a:ahLst/>
            <a:cxnLst/>
            <a:rect l="l" t="t" r="r" b="b"/>
            <a:pathLst>
              <a:path w="4880609" h="4904105">
                <a:moveTo>
                  <a:pt x="0" y="4903927"/>
                </a:moveTo>
                <a:lnTo>
                  <a:pt x="4880394" y="4903927"/>
                </a:lnTo>
                <a:lnTo>
                  <a:pt x="4880393" y="0"/>
                </a:lnTo>
                <a:lnTo>
                  <a:pt x="0" y="0"/>
                </a:lnTo>
                <a:lnTo>
                  <a:pt x="0" y="4903927"/>
                </a:lnTo>
                <a:close/>
              </a:path>
            </a:pathLst>
          </a:custGeom>
          <a:ln w="7364">
            <a:solidFill>
              <a:srgbClr val="8888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950329" y="1324102"/>
            <a:ext cx="2110740" cy="55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39"/>
              </a:lnSpc>
              <a:spcBef>
                <a:spcPts val="100"/>
              </a:spcBef>
            </a:pPr>
            <a:r>
              <a:rPr sz="1800" b="1" dirty="0">
                <a:solidFill>
                  <a:srgbClr val="E97B2F"/>
                </a:solidFill>
                <a:latin typeface="Century Gothic"/>
                <a:cs typeface="Century Gothic"/>
              </a:rPr>
              <a:t>Availability </a:t>
            </a:r>
            <a:r>
              <a:rPr sz="1800" b="1" spc="-5" dirty="0">
                <a:solidFill>
                  <a:srgbClr val="E97B2F"/>
                </a:solidFill>
                <a:latin typeface="Century Gothic"/>
                <a:cs typeface="Century Gothic"/>
              </a:rPr>
              <a:t>of</a:t>
            </a:r>
            <a:r>
              <a:rPr sz="1800" b="1" spc="-65" dirty="0">
                <a:solidFill>
                  <a:srgbClr val="E97B2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E97B2F"/>
                </a:solidFill>
                <a:latin typeface="Century Gothic"/>
                <a:cs typeface="Century Gothic"/>
              </a:rPr>
              <a:t>Data</a:t>
            </a:r>
            <a:endParaRPr sz="1800">
              <a:latin typeface="Century Gothic"/>
              <a:cs typeface="Century Gothic"/>
            </a:endParaRPr>
          </a:p>
          <a:p>
            <a:pPr marL="554355">
              <a:lnSpc>
                <a:spcPts val="2240"/>
              </a:lnSpc>
            </a:pPr>
            <a:r>
              <a:rPr sz="2050" b="1" spc="-365" dirty="0">
                <a:latin typeface="Calibri"/>
                <a:cs typeface="Calibri"/>
              </a:rPr>
              <a:t>63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50619" y="1095755"/>
            <a:ext cx="3692652" cy="5114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26809"/>
            <a:ext cx="765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0"/>
                </a:moveTo>
                <a:lnTo>
                  <a:pt x="12192000" y="762000"/>
                </a:lnTo>
                <a:lnTo>
                  <a:pt x="12192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78632" y="80517"/>
            <a:ext cx="6635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entury Gothic"/>
                <a:cs typeface="Century Gothic"/>
              </a:rPr>
              <a:t>Financing </a:t>
            </a:r>
            <a:r>
              <a:rPr dirty="0">
                <a:latin typeface="Times New Roman"/>
                <a:cs typeface="Times New Roman"/>
              </a:rPr>
              <a:t>for </a:t>
            </a:r>
            <a:r>
              <a:rPr spc="-5" dirty="0">
                <a:latin typeface="Times New Roman"/>
                <a:cs typeface="Times New Roman"/>
              </a:rPr>
              <a:t>SDGs:</a:t>
            </a:r>
            <a:r>
              <a:rPr spc="-20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Bangladesh</a:t>
            </a:r>
          </a:p>
        </p:txBody>
      </p:sp>
      <p:sp>
        <p:nvSpPr>
          <p:cNvPr id="6" name="object 6"/>
          <p:cNvSpPr/>
          <p:nvPr/>
        </p:nvSpPr>
        <p:spPr>
          <a:xfrm>
            <a:off x="327659" y="920496"/>
            <a:ext cx="5567680" cy="2113915"/>
          </a:xfrm>
          <a:custGeom>
            <a:avLst/>
            <a:gdLst/>
            <a:ahLst/>
            <a:cxnLst/>
            <a:rect l="l" t="t" r="r" b="b"/>
            <a:pathLst>
              <a:path w="5567680" h="2113915">
                <a:moveTo>
                  <a:pt x="0" y="2113788"/>
                </a:moveTo>
                <a:lnTo>
                  <a:pt x="5567172" y="2113788"/>
                </a:lnTo>
                <a:lnTo>
                  <a:pt x="5567172" y="0"/>
                </a:lnTo>
                <a:lnTo>
                  <a:pt x="0" y="0"/>
                </a:lnTo>
                <a:lnTo>
                  <a:pt x="0" y="2113788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431" y="943102"/>
            <a:ext cx="5419725" cy="1861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indent="-327660">
              <a:lnSpc>
                <a:spcPts val="2635"/>
              </a:lnSpc>
              <a:spcBef>
                <a:spcPts val="95"/>
              </a:spcBef>
              <a:buClr>
                <a:srgbClr val="516429"/>
              </a:buClr>
              <a:buFont typeface="Wingdings"/>
              <a:buChar char=""/>
              <a:tabLst>
                <a:tab pos="327660" algn="l"/>
                <a:tab pos="328295" algn="l"/>
                <a:tab pos="990600" algn="l"/>
                <a:tab pos="1600200" algn="l"/>
                <a:tab pos="2567940" algn="l"/>
                <a:tab pos="3900170" algn="l"/>
              </a:tabLst>
            </a:pPr>
            <a:r>
              <a:rPr sz="2200" b="1" i="1" spc="0" dirty="0">
                <a:latin typeface="Century Gothic"/>
                <a:cs typeface="Century Gothic"/>
              </a:rPr>
              <a:t>US</a:t>
            </a:r>
            <a:r>
              <a:rPr sz="2200" b="1" i="1" spc="-5" dirty="0">
                <a:latin typeface="Century Gothic"/>
                <a:cs typeface="Century Gothic"/>
              </a:rPr>
              <a:t>$</a:t>
            </a:r>
            <a:r>
              <a:rPr sz="2200" b="1" i="1" dirty="0">
                <a:latin typeface="Century Gothic"/>
                <a:cs typeface="Century Gothic"/>
              </a:rPr>
              <a:t>	</a:t>
            </a:r>
            <a:r>
              <a:rPr sz="2200" b="1" i="1" spc="-15" dirty="0">
                <a:latin typeface="Century Gothic"/>
                <a:cs typeface="Century Gothic"/>
              </a:rPr>
              <a:t>3</a:t>
            </a:r>
            <a:r>
              <a:rPr sz="2200" b="1" i="1" spc="0" dirty="0">
                <a:latin typeface="Century Gothic"/>
                <a:cs typeface="Century Gothic"/>
              </a:rPr>
              <a:t>-</a:t>
            </a:r>
            <a:r>
              <a:rPr sz="2200" b="1" i="1" spc="-5" dirty="0">
                <a:latin typeface="Century Gothic"/>
                <a:cs typeface="Century Gothic"/>
              </a:rPr>
              <a:t>5</a:t>
            </a:r>
            <a:r>
              <a:rPr sz="2200" b="1" i="1" dirty="0">
                <a:latin typeface="Century Gothic"/>
                <a:cs typeface="Century Gothic"/>
              </a:rPr>
              <a:t>	</a:t>
            </a:r>
            <a:r>
              <a:rPr sz="2200" b="1" i="1" spc="-5" dirty="0">
                <a:latin typeface="Century Gothic"/>
                <a:cs typeface="Century Gothic"/>
              </a:rPr>
              <a:t>trillion</a:t>
            </a:r>
            <a:r>
              <a:rPr sz="2200" b="1" i="1" dirty="0">
                <a:latin typeface="Century Gothic"/>
                <a:cs typeface="Century Gothic"/>
              </a:rPr>
              <a:t>	</a:t>
            </a:r>
            <a:r>
              <a:rPr sz="2200" i="1" spc="-10" dirty="0">
                <a:latin typeface="Century Gothic"/>
                <a:cs typeface="Century Gothic"/>
              </a:rPr>
              <a:t>a</a:t>
            </a:r>
            <a:r>
              <a:rPr sz="2200" i="1" dirty="0">
                <a:latin typeface="Century Gothic"/>
                <a:cs typeface="Century Gothic"/>
              </a:rPr>
              <a:t>n</a:t>
            </a:r>
            <a:r>
              <a:rPr sz="2200" i="1" spc="-5" dirty="0">
                <a:latin typeface="Century Gothic"/>
                <a:cs typeface="Century Gothic"/>
              </a:rPr>
              <a:t>nual</a:t>
            </a:r>
            <a:r>
              <a:rPr sz="2200" i="1" dirty="0">
                <a:latin typeface="Century Gothic"/>
                <a:cs typeface="Century Gothic"/>
              </a:rPr>
              <a:t>l</a:t>
            </a:r>
            <a:r>
              <a:rPr sz="2200" i="1" spc="-5" dirty="0">
                <a:latin typeface="Century Gothic"/>
                <a:cs typeface="Century Gothic"/>
              </a:rPr>
              <a:t>y</a:t>
            </a:r>
            <a:r>
              <a:rPr sz="2200" i="1" dirty="0">
                <a:latin typeface="Century Gothic"/>
                <a:cs typeface="Century Gothic"/>
              </a:rPr>
              <a:t>	t</a:t>
            </a:r>
            <a:r>
              <a:rPr sz="2200" i="1" spc="-5" dirty="0">
                <a:latin typeface="Century Gothic"/>
                <a:cs typeface="Century Gothic"/>
              </a:rPr>
              <a:t>hrou</a:t>
            </a:r>
            <a:r>
              <a:rPr sz="2200" i="1" spc="-20" dirty="0">
                <a:latin typeface="Century Gothic"/>
                <a:cs typeface="Century Gothic"/>
              </a:rPr>
              <a:t>g</a:t>
            </a:r>
            <a:r>
              <a:rPr sz="2200" i="1" spc="-5" dirty="0">
                <a:latin typeface="Century Gothic"/>
                <a:cs typeface="Century Gothic"/>
              </a:rPr>
              <a:t>ho</a:t>
            </a:r>
            <a:r>
              <a:rPr sz="2200" i="1" spc="-15" dirty="0">
                <a:latin typeface="Century Gothic"/>
                <a:cs typeface="Century Gothic"/>
              </a:rPr>
              <a:t>u</a:t>
            </a:r>
            <a:r>
              <a:rPr sz="2200" i="1" spc="-5" dirty="0">
                <a:latin typeface="Century Gothic"/>
                <a:cs typeface="Century Gothic"/>
              </a:rPr>
              <a:t>t</a:t>
            </a:r>
            <a:endParaRPr sz="2200">
              <a:latin typeface="Century Gothic"/>
              <a:cs typeface="Century Gothic"/>
            </a:endParaRPr>
          </a:p>
          <a:p>
            <a:pPr marL="327660">
              <a:lnSpc>
                <a:spcPts val="2635"/>
              </a:lnSpc>
            </a:pPr>
            <a:r>
              <a:rPr sz="2200" i="1" dirty="0">
                <a:latin typeface="Century Gothic"/>
                <a:cs typeface="Century Gothic"/>
              </a:rPr>
              <a:t>the</a:t>
            </a:r>
            <a:r>
              <a:rPr sz="2200" i="1" spc="-25" dirty="0">
                <a:latin typeface="Century Gothic"/>
                <a:cs typeface="Century Gothic"/>
              </a:rPr>
              <a:t> </a:t>
            </a:r>
            <a:r>
              <a:rPr sz="2200" i="1" spc="-10" dirty="0">
                <a:latin typeface="Century Gothic"/>
                <a:cs typeface="Century Gothic"/>
              </a:rPr>
              <a:t>world</a:t>
            </a:r>
            <a:r>
              <a:rPr sz="2200" spc="-10" dirty="0">
                <a:latin typeface="Century Gothic"/>
                <a:cs typeface="Century Gothic"/>
              </a:rPr>
              <a:t>.</a:t>
            </a:r>
            <a:endParaRPr sz="2200">
              <a:latin typeface="Century Gothic"/>
              <a:cs typeface="Century Gothic"/>
            </a:endParaRPr>
          </a:p>
          <a:p>
            <a:pPr marL="327660" marR="5080" indent="-327660" algn="just">
              <a:lnSpc>
                <a:spcPct val="100200"/>
              </a:lnSpc>
              <a:spcBef>
                <a:spcPts val="1255"/>
              </a:spcBef>
              <a:buClr>
                <a:srgbClr val="516429"/>
              </a:buClr>
              <a:buFont typeface="Wingdings"/>
              <a:buChar char=""/>
              <a:tabLst>
                <a:tab pos="328295" algn="l"/>
              </a:tabLst>
            </a:pPr>
            <a:r>
              <a:rPr sz="2200" spc="-5" dirty="0">
                <a:latin typeface="Century Gothic"/>
                <a:cs typeface="Century Gothic"/>
              </a:rPr>
              <a:t>In </a:t>
            </a:r>
            <a:r>
              <a:rPr sz="2200" spc="-10" dirty="0">
                <a:latin typeface="Century Gothic"/>
                <a:cs typeface="Century Gothic"/>
              </a:rPr>
              <a:t>Bangladesh, </a:t>
            </a:r>
            <a:r>
              <a:rPr sz="2200" b="1" spc="-5" dirty="0">
                <a:latin typeface="Century Gothic"/>
                <a:cs typeface="Century Gothic"/>
              </a:rPr>
              <a:t>928 </a:t>
            </a:r>
            <a:r>
              <a:rPr sz="2200" b="1" spc="-10" dirty="0">
                <a:latin typeface="Century Gothic"/>
                <a:cs typeface="Century Gothic"/>
              </a:rPr>
              <a:t>Billion </a:t>
            </a:r>
            <a:r>
              <a:rPr sz="2200" b="1" dirty="0">
                <a:latin typeface="Century Gothic"/>
                <a:cs typeface="Century Gothic"/>
              </a:rPr>
              <a:t>US$  </a:t>
            </a:r>
            <a:r>
              <a:rPr sz="2200" spc="-5" dirty="0">
                <a:latin typeface="Century Gothic"/>
                <a:cs typeface="Century Gothic"/>
              </a:rPr>
              <a:t>additional funding required. Annual  </a:t>
            </a:r>
            <a:r>
              <a:rPr sz="2200" b="1" spc="-10" dirty="0">
                <a:latin typeface="Century Gothic"/>
                <a:cs typeface="Century Gothic"/>
              </a:rPr>
              <a:t>66 </a:t>
            </a:r>
            <a:r>
              <a:rPr sz="2200" b="1" spc="-5" dirty="0">
                <a:latin typeface="Century Gothic"/>
                <a:cs typeface="Century Gothic"/>
              </a:rPr>
              <a:t>billion</a:t>
            </a:r>
            <a:r>
              <a:rPr sz="2200" b="1" spc="10" dirty="0">
                <a:latin typeface="Century Gothic"/>
                <a:cs typeface="Century Gothic"/>
              </a:rPr>
              <a:t> </a:t>
            </a:r>
            <a:r>
              <a:rPr sz="2200" b="1" spc="-5" dirty="0">
                <a:latin typeface="Century Gothic"/>
                <a:cs typeface="Century Gothic"/>
              </a:rPr>
              <a:t>US$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81543" y="893063"/>
            <a:ext cx="3810000" cy="5399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38300" y="3187309"/>
            <a:ext cx="3337710" cy="32028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88382" y="5092065"/>
            <a:ext cx="216916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711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Public (%)  </a:t>
            </a:r>
            <a:r>
              <a:rPr sz="2000" b="1" spc="-15" dirty="0">
                <a:latin typeface="Calibri"/>
                <a:cs typeface="Calibri"/>
              </a:rPr>
              <a:t>Private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(%)  </a:t>
            </a:r>
            <a:r>
              <a:rPr sz="2000" b="1" spc="-5" dirty="0">
                <a:latin typeface="Calibri"/>
                <a:cs typeface="Calibri"/>
              </a:rPr>
              <a:t>PPP </a:t>
            </a:r>
            <a:r>
              <a:rPr sz="2000" b="1" dirty="0">
                <a:latin typeface="Calibri"/>
                <a:cs typeface="Calibri"/>
              </a:rPr>
              <a:t>(%)  NGOs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(%)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alibri"/>
                <a:cs typeface="Calibri"/>
              </a:rPr>
              <a:t>External Sources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(%)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8991" y="55184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C050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87467" y="58033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9BBA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76800" y="64251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152400" y="152399"/>
                </a:lnTo>
                <a:lnTo>
                  <a:pt x="1524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solidFill>
            <a:srgbClr val="8063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07279" y="52075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152400" y="152399"/>
                </a:lnTo>
                <a:lnTo>
                  <a:pt x="1524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81371" y="61264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48ACC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09600"/>
          </a:xfrm>
          <a:custGeom>
            <a:avLst/>
            <a:gdLst/>
            <a:ahLst/>
            <a:cxnLst/>
            <a:rect l="l" t="t" r="r" b="b"/>
            <a:pathLst>
              <a:path w="12192000" h="609600">
                <a:moveTo>
                  <a:pt x="0" y="609600"/>
                </a:moveTo>
                <a:lnTo>
                  <a:pt x="12192000" y="609600"/>
                </a:lnTo>
                <a:lnTo>
                  <a:pt x="12192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1829" y="72339"/>
            <a:ext cx="7305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entury Gothic"/>
                <a:cs typeface="Century Gothic"/>
              </a:rPr>
              <a:t>A Training </a:t>
            </a:r>
            <a:r>
              <a:rPr sz="2800" spc="-10" dirty="0">
                <a:latin typeface="Century Gothic"/>
                <a:cs typeface="Century Gothic"/>
              </a:rPr>
              <a:t>Handbook </a:t>
            </a:r>
            <a:r>
              <a:rPr sz="2800" spc="-5" dirty="0">
                <a:latin typeface="Century Gothic"/>
                <a:cs typeface="Century Gothic"/>
              </a:rPr>
              <a:t>on 7th Five </a:t>
            </a:r>
            <a:r>
              <a:rPr sz="2800" spc="-10" dirty="0">
                <a:latin typeface="Century Gothic"/>
                <a:cs typeface="Century Gothic"/>
              </a:rPr>
              <a:t>Year</a:t>
            </a:r>
            <a:r>
              <a:rPr sz="2800" spc="6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Plan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7" y="900683"/>
            <a:ext cx="5055108" cy="3707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06657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26735" y="1877567"/>
            <a:ext cx="6993635" cy="4843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0"/>
                </a:moveTo>
                <a:lnTo>
                  <a:pt x="12192000" y="762000"/>
                </a:lnTo>
                <a:lnTo>
                  <a:pt x="12192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104978"/>
            <a:ext cx="3620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SDG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LOCALIZATION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8888" y="1143000"/>
            <a:ext cx="10148570" cy="5181600"/>
          </a:xfrm>
          <a:custGeom>
            <a:avLst/>
            <a:gdLst/>
            <a:ahLst/>
            <a:cxnLst/>
            <a:rect l="l" t="t" r="r" b="b"/>
            <a:pathLst>
              <a:path w="10148570" h="5181600">
                <a:moveTo>
                  <a:pt x="0" y="5181600"/>
                </a:moveTo>
                <a:lnTo>
                  <a:pt x="10148316" y="5181600"/>
                </a:lnTo>
                <a:lnTo>
                  <a:pt x="10148316" y="0"/>
                </a:lnTo>
                <a:lnTo>
                  <a:pt x="0" y="0"/>
                </a:lnTo>
                <a:lnTo>
                  <a:pt x="0" y="5181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7323" y="1124153"/>
            <a:ext cx="9993630" cy="412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935" algn="l"/>
              </a:tabLst>
            </a:pPr>
            <a:r>
              <a:rPr sz="3000" b="1" dirty="0">
                <a:latin typeface="Century Gothic"/>
                <a:cs typeface="Century Gothic"/>
              </a:rPr>
              <a:t>Massive </a:t>
            </a:r>
            <a:r>
              <a:rPr sz="3000" b="1" spc="-5" dirty="0">
                <a:latin typeface="Century Gothic"/>
                <a:cs typeface="Century Gothic"/>
              </a:rPr>
              <a:t>awareness programme at the</a:t>
            </a:r>
            <a:r>
              <a:rPr sz="3000" b="1" spc="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grassroots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300">
              <a:latin typeface="Times New Roman"/>
              <a:cs typeface="Times New Roman"/>
            </a:endParaRPr>
          </a:p>
          <a:p>
            <a:pPr marL="241300" indent="-228600">
              <a:lnSpc>
                <a:spcPts val="3420"/>
              </a:lnSpc>
              <a:buFont typeface="Arial"/>
              <a:buChar char="•"/>
              <a:tabLst>
                <a:tab pos="241935" algn="l"/>
                <a:tab pos="2475230" algn="l"/>
                <a:tab pos="3084830" algn="l"/>
                <a:tab pos="5069205" algn="l"/>
                <a:tab pos="6043930" algn="l"/>
                <a:tab pos="7501890" algn="l"/>
                <a:tab pos="9043035" algn="l"/>
              </a:tabLst>
            </a:pPr>
            <a:r>
              <a:rPr sz="3000" b="1" dirty="0">
                <a:latin typeface="Century Gothic"/>
                <a:cs typeface="Century Gothic"/>
              </a:rPr>
              <a:t>Works</a:t>
            </a:r>
            <a:r>
              <a:rPr sz="3000" b="1" spc="0" dirty="0">
                <a:latin typeface="Century Gothic"/>
                <a:cs typeface="Century Gothic"/>
              </a:rPr>
              <a:t>h</a:t>
            </a:r>
            <a:r>
              <a:rPr sz="3000" b="1" spc="-5" dirty="0">
                <a:latin typeface="Century Gothic"/>
                <a:cs typeface="Century Gothic"/>
              </a:rPr>
              <a:t>op</a:t>
            </a:r>
            <a:r>
              <a:rPr sz="3000" b="1" dirty="0">
                <a:latin typeface="Century Gothic"/>
                <a:cs typeface="Century Gothic"/>
              </a:rPr>
              <a:t>s	</a:t>
            </a:r>
            <a:r>
              <a:rPr sz="3000" b="1" spc="-5" dirty="0">
                <a:latin typeface="Century Gothic"/>
                <a:cs typeface="Century Gothic"/>
              </a:rPr>
              <a:t>a</a:t>
            </a:r>
            <a:r>
              <a:rPr sz="3000" b="1" dirty="0">
                <a:latin typeface="Century Gothic"/>
                <a:cs typeface="Century Gothic"/>
              </a:rPr>
              <a:t>t	</a:t>
            </a:r>
            <a:r>
              <a:rPr sz="3000" b="1" spc="-5" dirty="0">
                <a:latin typeface="Century Gothic"/>
                <a:cs typeface="Century Gothic"/>
              </a:rPr>
              <a:t>Div</a:t>
            </a:r>
            <a:r>
              <a:rPr sz="3000" b="1" spc="0" dirty="0">
                <a:latin typeface="Century Gothic"/>
                <a:cs typeface="Century Gothic"/>
              </a:rPr>
              <a:t>i</a:t>
            </a:r>
            <a:r>
              <a:rPr sz="3000" b="1" dirty="0">
                <a:latin typeface="Century Gothic"/>
                <a:cs typeface="Century Gothic"/>
              </a:rPr>
              <a:t>s</a:t>
            </a:r>
            <a:r>
              <a:rPr sz="3000" b="1" spc="10" dirty="0">
                <a:latin typeface="Century Gothic"/>
                <a:cs typeface="Century Gothic"/>
              </a:rPr>
              <a:t>i</a:t>
            </a:r>
            <a:r>
              <a:rPr sz="3000" b="1" spc="-5" dirty="0">
                <a:latin typeface="Century Gothic"/>
                <a:cs typeface="Century Gothic"/>
              </a:rPr>
              <a:t>o</a:t>
            </a:r>
            <a:r>
              <a:rPr sz="3000" b="1" spc="5" dirty="0">
                <a:latin typeface="Century Gothic"/>
                <a:cs typeface="Century Gothic"/>
              </a:rPr>
              <a:t>n</a:t>
            </a:r>
            <a:r>
              <a:rPr sz="3000" b="1" spc="-5" dirty="0">
                <a:latin typeface="Century Gothic"/>
                <a:cs typeface="Century Gothic"/>
              </a:rPr>
              <a:t>a</a:t>
            </a:r>
            <a:r>
              <a:rPr sz="3000" b="1" dirty="0">
                <a:latin typeface="Century Gothic"/>
                <a:cs typeface="Century Gothic"/>
              </a:rPr>
              <a:t>l	</a:t>
            </a:r>
            <a:r>
              <a:rPr sz="3000" b="1" spc="-5" dirty="0">
                <a:latin typeface="Century Gothic"/>
                <a:cs typeface="Century Gothic"/>
              </a:rPr>
              <a:t>an</a:t>
            </a:r>
            <a:r>
              <a:rPr sz="3000" b="1" dirty="0">
                <a:latin typeface="Century Gothic"/>
                <a:cs typeface="Century Gothic"/>
              </a:rPr>
              <a:t>d	</a:t>
            </a:r>
            <a:r>
              <a:rPr sz="3000" b="1" spc="-5" dirty="0">
                <a:latin typeface="Century Gothic"/>
                <a:cs typeface="Century Gothic"/>
              </a:rPr>
              <a:t>Distr</a:t>
            </a:r>
            <a:r>
              <a:rPr sz="3000" b="1" spc="0" dirty="0">
                <a:latin typeface="Century Gothic"/>
                <a:cs typeface="Century Gothic"/>
              </a:rPr>
              <a:t>i</a:t>
            </a:r>
            <a:r>
              <a:rPr sz="3000" b="1" spc="-5" dirty="0">
                <a:latin typeface="Century Gothic"/>
                <a:cs typeface="Century Gothic"/>
              </a:rPr>
              <a:t>c</a:t>
            </a:r>
            <a:r>
              <a:rPr sz="3000" b="1" dirty="0">
                <a:latin typeface="Century Gothic"/>
                <a:cs typeface="Century Gothic"/>
              </a:rPr>
              <a:t>t	levels	</a:t>
            </a:r>
            <a:r>
              <a:rPr sz="3000" b="1" spc="-5" dirty="0">
                <a:latin typeface="Century Gothic"/>
                <a:cs typeface="Century Gothic"/>
              </a:rPr>
              <a:t>have</a:t>
            </a:r>
            <a:endParaRPr sz="3000">
              <a:latin typeface="Century Gothic"/>
              <a:cs typeface="Century Gothic"/>
            </a:endParaRPr>
          </a:p>
          <a:p>
            <a:pPr marL="241300">
              <a:lnSpc>
                <a:spcPts val="3420"/>
              </a:lnSpc>
            </a:pPr>
            <a:r>
              <a:rPr sz="3000" b="1" spc="-5" dirty="0">
                <a:latin typeface="Century Gothic"/>
                <a:cs typeface="Century Gothic"/>
              </a:rPr>
              <a:t>been conducted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935" algn="l"/>
              </a:tabLst>
            </a:pPr>
            <a:r>
              <a:rPr sz="3000" b="1" spc="-5" dirty="0">
                <a:latin typeface="Century Gothic"/>
                <a:cs typeface="Century Gothic"/>
              </a:rPr>
              <a:t>SDGs </a:t>
            </a:r>
            <a:r>
              <a:rPr sz="3000" b="1" dirty="0">
                <a:latin typeface="Century Gothic"/>
                <a:cs typeface="Century Gothic"/>
              </a:rPr>
              <a:t>indicators have </a:t>
            </a:r>
            <a:r>
              <a:rPr sz="3000" b="1" spc="-5" dirty="0">
                <a:latin typeface="Century Gothic"/>
                <a:cs typeface="Century Gothic"/>
              </a:rPr>
              <a:t>been prioritised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300">
              <a:latin typeface="Times New Roman"/>
              <a:cs typeface="Times New Roman"/>
            </a:endParaRPr>
          </a:p>
          <a:p>
            <a:pPr marL="241300" indent="-228600">
              <a:lnSpc>
                <a:spcPts val="3420"/>
              </a:lnSpc>
              <a:buFont typeface="Arial"/>
              <a:buChar char="•"/>
              <a:tabLst>
                <a:tab pos="241935" algn="l"/>
              </a:tabLst>
            </a:pPr>
            <a:r>
              <a:rPr sz="3000" b="1" dirty="0">
                <a:latin typeface="Century Gothic"/>
                <a:cs typeface="Century Gothic"/>
              </a:rPr>
              <a:t>Local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level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people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dirty="0">
                <a:latin typeface="Century Gothic"/>
                <a:cs typeface="Century Gothic"/>
              </a:rPr>
              <a:t>would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dirty="0">
                <a:latin typeface="Century Gothic"/>
                <a:cs typeface="Century Gothic"/>
              </a:rPr>
              <a:t>fix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the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dirty="0">
                <a:latin typeface="Century Gothic"/>
                <a:cs typeface="Century Gothic"/>
              </a:rPr>
              <a:t>target</a:t>
            </a:r>
            <a:r>
              <a:rPr sz="3000" b="1" spc="22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and</a:t>
            </a:r>
            <a:r>
              <a:rPr sz="3000" b="1" spc="215" dirty="0">
                <a:latin typeface="Century Gothic"/>
                <a:cs typeface="Century Gothic"/>
              </a:rPr>
              <a:t> </a:t>
            </a:r>
            <a:r>
              <a:rPr sz="3000" b="1" spc="-10" dirty="0">
                <a:latin typeface="Century Gothic"/>
                <a:cs typeface="Century Gothic"/>
              </a:rPr>
              <a:t>prepare</a:t>
            </a:r>
            <a:endParaRPr sz="3000">
              <a:latin typeface="Century Gothic"/>
              <a:cs typeface="Century Gothic"/>
            </a:endParaRPr>
          </a:p>
          <a:p>
            <a:pPr marL="241300">
              <a:lnSpc>
                <a:spcPts val="3420"/>
              </a:lnSpc>
            </a:pPr>
            <a:r>
              <a:rPr sz="3000" b="1" spc="-5" dirty="0">
                <a:latin typeface="Century Gothic"/>
                <a:cs typeface="Century Gothic"/>
              </a:rPr>
              <a:t>corresponding action plan to </a:t>
            </a:r>
            <a:r>
              <a:rPr sz="3000" b="1" dirty="0">
                <a:latin typeface="Century Gothic"/>
                <a:cs typeface="Century Gothic"/>
              </a:rPr>
              <a:t>implement</a:t>
            </a:r>
            <a:r>
              <a:rPr sz="3000" b="1" spc="25" dirty="0">
                <a:latin typeface="Century Gothic"/>
                <a:cs typeface="Century Gothic"/>
              </a:rPr>
              <a:t> </a:t>
            </a:r>
            <a:r>
              <a:rPr sz="3000" b="1" spc="-5" dirty="0">
                <a:latin typeface="Century Gothic"/>
                <a:cs typeface="Century Gothic"/>
              </a:rPr>
              <a:t>SDGs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533400"/>
          </a:xfrm>
          <a:custGeom>
            <a:avLst/>
            <a:gdLst/>
            <a:ahLst/>
            <a:cxnLst/>
            <a:rect l="l" t="t" r="r" b="b"/>
            <a:pathLst>
              <a:path w="12192000" h="533400">
                <a:moveTo>
                  <a:pt x="0" y="533400"/>
                </a:moveTo>
                <a:lnTo>
                  <a:pt x="12192000" y="533400"/>
                </a:lnTo>
                <a:lnTo>
                  <a:pt x="12192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53078" y="49479"/>
            <a:ext cx="40868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0" dirty="0">
                <a:latin typeface="Century Gothic"/>
                <a:cs typeface="Century Gothic"/>
              </a:rPr>
              <a:t>M </a:t>
            </a:r>
            <a:r>
              <a:rPr sz="2600" dirty="0">
                <a:latin typeface="Century Gothic"/>
                <a:cs typeface="Century Gothic"/>
              </a:rPr>
              <a:t>&amp; E </a:t>
            </a:r>
            <a:r>
              <a:rPr sz="2600" spc="-5" dirty="0">
                <a:latin typeface="Century Gothic"/>
                <a:cs typeface="Century Gothic"/>
              </a:rPr>
              <a:t>Framework </a:t>
            </a:r>
            <a:r>
              <a:rPr sz="2600" dirty="0">
                <a:latin typeface="Century Gothic"/>
                <a:cs typeface="Century Gothic"/>
              </a:rPr>
              <a:t>of</a:t>
            </a:r>
            <a:r>
              <a:rPr sz="2600" spc="-110" dirty="0">
                <a:latin typeface="Century Gothic"/>
                <a:cs typeface="Century Gothic"/>
              </a:rPr>
              <a:t> </a:t>
            </a:r>
            <a:r>
              <a:rPr sz="2600" spc="-5" dirty="0">
                <a:latin typeface="Century Gothic"/>
                <a:cs typeface="Century Gothic"/>
              </a:rPr>
              <a:t>SDGs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2708" y="547116"/>
            <a:ext cx="10084308" cy="5931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762000"/>
                </a:moveTo>
                <a:lnTo>
                  <a:pt x="12192000" y="762000"/>
                </a:lnTo>
                <a:lnTo>
                  <a:pt x="12192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40639"/>
            <a:ext cx="3268979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latin typeface="Times New Roman"/>
                <a:cs typeface="Times New Roman"/>
              </a:rPr>
              <a:t>SDG</a:t>
            </a:r>
            <a:r>
              <a:rPr sz="3500" spc="-1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TRACKER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52" y="1117091"/>
            <a:ext cx="11588750" cy="107188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29"/>
              </a:lnSpc>
            </a:pPr>
            <a:r>
              <a:rPr sz="3000" b="0" spc="-15" dirty="0">
                <a:solidFill>
                  <a:srgbClr val="0000FF"/>
                </a:solidFill>
                <a:latin typeface="Calibri Light"/>
                <a:cs typeface="Calibri Light"/>
              </a:rPr>
              <a:t>An</a:t>
            </a:r>
            <a:r>
              <a:rPr sz="3000" b="0" spc="15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5" dirty="0">
                <a:solidFill>
                  <a:srgbClr val="0000FF"/>
                </a:solidFill>
                <a:latin typeface="Calibri Light"/>
                <a:cs typeface="Calibri Light"/>
              </a:rPr>
              <a:t>online</a:t>
            </a:r>
            <a:r>
              <a:rPr sz="3000" b="0" spc="15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5" dirty="0">
                <a:solidFill>
                  <a:srgbClr val="0000FF"/>
                </a:solidFill>
                <a:latin typeface="Calibri Light"/>
                <a:cs typeface="Calibri Light"/>
              </a:rPr>
              <a:t>SDGs</a:t>
            </a:r>
            <a:r>
              <a:rPr sz="3000" b="0" spc="17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45" dirty="0">
                <a:solidFill>
                  <a:srgbClr val="0000FF"/>
                </a:solidFill>
                <a:latin typeface="Calibri Light"/>
                <a:cs typeface="Calibri Light"/>
              </a:rPr>
              <a:t>Data</a:t>
            </a:r>
            <a:r>
              <a:rPr sz="3000" b="0" spc="16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35" dirty="0">
                <a:solidFill>
                  <a:srgbClr val="0000FF"/>
                </a:solidFill>
                <a:latin typeface="Calibri Light"/>
                <a:cs typeface="Calibri Light"/>
              </a:rPr>
              <a:t>Repository</a:t>
            </a:r>
            <a:r>
              <a:rPr sz="3000" b="0" spc="15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0" dirty="0">
                <a:solidFill>
                  <a:srgbClr val="0000FF"/>
                </a:solidFill>
                <a:latin typeface="Calibri Light"/>
                <a:cs typeface="Calibri Light"/>
              </a:rPr>
              <a:t>(SDG</a:t>
            </a:r>
            <a:r>
              <a:rPr sz="3000" b="0" spc="15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70" dirty="0">
                <a:solidFill>
                  <a:srgbClr val="0000FF"/>
                </a:solidFill>
                <a:latin typeface="Calibri Light"/>
                <a:cs typeface="Calibri Light"/>
              </a:rPr>
              <a:t>Tracker)</a:t>
            </a:r>
            <a:r>
              <a:rPr sz="3000" b="0" spc="17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55" dirty="0">
                <a:solidFill>
                  <a:srgbClr val="0000FF"/>
                </a:solidFill>
                <a:latin typeface="Calibri Light"/>
                <a:cs typeface="Calibri Light"/>
              </a:rPr>
              <a:t>system</a:t>
            </a:r>
            <a:r>
              <a:rPr sz="3000" b="0" spc="13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0" dirty="0">
                <a:solidFill>
                  <a:srgbClr val="0000FF"/>
                </a:solidFill>
                <a:latin typeface="Calibri Light"/>
                <a:cs typeface="Calibri Light"/>
              </a:rPr>
              <a:t>has</a:t>
            </a:r>
            <a:r>
              <a:rPr sz="3000" b="0" spc="15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30" dirty="0">
                <a:solidFill>
                  <a:srgbClr val="0000FF"/>
                </a:solidFill>
                <a:latin typeface="Calibri Light"/>
                <a:cs typeface="Calibri Light"/>
              </a:rPr>
              <a:t>been</a:t>
            </a:r>
            <a:r>
              <a:rPr sz="3000" b="0" spc="16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35" dirty="0">
                <a:solidFill>
                  <a:srgbClr val="0000FF"/>
                </a:solidFill>
                <a:latin typeface="Calibri Light"/>
                <a:cs typeface="Calibri Light"/>
              </a:rPr>
              <a:t>developed.</a:t>
            </a:r>
            <a:endParaRPr sz="3000">
              <a:latin typeface="Calibri Light"/>
              <a:cs typeface="Calibri Light"/>
            </a:endParaRPr>
          </a:p>
          <a:p>
            <a:pPr marL="90805">
              <a:lnSpc>
                <a:spcPts val="3420"/>
              </a:lnSpc>
            </a:pPr>
            <a:r>
              <a:rPr sz="3000" b="0" spc="-5" dirty="0">
                <a:solidFill>
                  <a:srgbClr val="0000FF"/>
                </a:solidFill>
                <a:latin typeface="Calibri Light"/>
                <a:cs typeface="Calibri Light"/>
              </a:rPr>
              <a:t>It</a:t>
            </a:r>
            <a:r>
              <a:rPr sz="3000" b="0" spc="-4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5" dirty="0">
                <a:solidFill>
                  <a:srgbClr val="0000FF"/>
                </a:solidFill>
                <a:latin typeface="Calibri Light"/>
                <a:cs typeface="Calibri Light"/>
              </a:rPr>
              <a:t>allows</a:t>
            </a:r>
            <a:r>
              <a:rPr sz="3000" b="0" spc="-8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5" dirty="0">
                <a:solidFill>
                  <a:srgbClr val="0000FF"/>
                </a:solidFill>
                <a:latin typeface="Calibri Light"/>
                <a:cs typeface="Calibri Light"/>
              </a:rPr>
              <a:t>tracking</a:t>
            </a:r>
            <a:r>
              <a:rPr sz="3000" b="0" spc="-8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10" dirty="0">
                <a:solidFill>
                  <a:srgbClr val="0000FF"/>
                </a:solidFill>
                <a:latin typeface="Calibri Light"/>
                <a:cs typeface="Calibri Light"/>
              </a:rPr>
              <a:t>of</a:t>
            </a:r>
            <a:r>
              <a:rPr sz="3000" b="0" spc="-5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15" dirty="0">
                <a:solidFill>
                  <a:srgbClr val="0000FF"/>
                </a:solidFill>
                <a:latin typeface="Calibri Light"/>
                <a:cs typeface="Calibri Light"/>
              </a:rPr>
              <a:t>each</a:t>
            </a:r>
            <a:r>
              <a:rPr sz="3000" b="0" spc="-9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20" dirty="0">
                <a:solidFill>
                  <a:srgbClr val="0000FF"/>
                </a:solidFill>
                <a:latin typeface="Calibri Light"/>
                <a:cs typeface="Calibri Light"/>
              </a:rPr>
              <a:t>goal</a:t>
            </a:r>
            <a:r>
              <a:rPr sz="3000" b="0" spc="-60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15" dirty="0">
                <a:solidFill>
                  <a:srgbClr val="0000FF"/>
                </a:solidFill>
                <a:latin typeface="Calibri Light"/>
                <a:cs typeface="Calibri Light"/>
              </a:rPr>
              <a:t>and</a:t>
            </a:r>
            <a:r>
              <a:rPr sz="3000" b="0" spc="-8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40" dirty="0">
                <a:solidFill>
                  <a:srgbClr val="0000FF"/>
                </a:solidFill>
                <a:latin typeface="Calibri Light"/>
                <a:cs typeface="Calibri Light"/>
              </a:rPr>
              <a:t>target,</a:t>
            </a:r>
            <a:r>
              <a:rPr sz="3000" b="0" spc="-6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30" dirty="0">
                <a:solidFill>
                  <a:srgbClr val="0000FF"/>
                </a:solidFill>
                <a:latin typeface="Calibri Light"/>
                <a:cs typeface="Calibri Light"/>
              </a:rPr>
              <a:t>indicator</a:t>
            </a:r>
            <a:r>
              <a:rPr sz="3000" b="0" spc="-7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15" dirty="0">
                <a:solidFill>
                  <a:srgbClr val="0000FF"/>
                </a:solidFill>
                <a:latin typeface="Calibri Light"/>
                <a:cs typeface="Calibri Light"/>
              </a:rPr>
              <a:t>by</a:t>
            </a:r>
            <a:r>
              <a:rPr sz="3000" b="0" spc="-75" dirty="0">
                <a:solidFill>
                  <a:srgbClr val="0000FF"/>
                </a:solidFill>
                <a:latin typeface="Calibri Light"/>
                <a:cs typeface="Calibri Light"/>
              </a:rPr>
              <a:t> </a:t>
            </a:r>
            <a:r>
              <a:rPr sz="3000" b="0" spc="-65" dirty="0">
                <a:solidFill>
                  <a:srgbClr val="0000FF"/>
                </a:solidFill>
                <a:latin typeface="Calibri Light"/>
                <a:cs typeface="Calibri Light"/>
              </a:rPr>
              <a:t>indicator.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0452" y="2354579"/>
            <a:ext cx="9531096" cy="4002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74700"/>
          </a:xfrm>
          <a:custGeom>
            <a:avLst/>
            <a:gdLst/>
            <a:ahLst/>
            <a:cxnLst/>
            <a:rect l="l" t="t" r="r" b="b"/>
            <a:pathLst>
              <a:path w="12192000" h="774700">
                <a:moveTo>
                  <a:pt x="0" y="774191"/>
                </a:moveTo>
                <a:lnTo>
                  <a:pt x="12192000" y="774191"/>
                </a:lnTo>
                <a:lnTo>
                  <a:pt x="12192000" y="0"/>
                </a:lnTo>
                <a:lnTo>
                  <a:pt x="0" y="0"/>
                </a:lnTo>
                <a:lnTo>
                  <a:pt x="0" y="774191"/>
                </a:lnTo>
                <a:close/>
              </a:path>
            </a:pathLst>
          </a:custGeom>
          <a:solidFill>
            <a:srgbClr val="377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1469" y="154381"/>
            <a:ext cx="5450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entury Gothic"/>
                <a:cs typeface="Century Gothic"/>
              </a:rPr>
              <a:t>Voluntary </a:t>
            </a:r>
            <a:r>
              <a:rPr sz="2800" spc="-5" dirty="0">
                <a:latin typeface="Century Gothic"/>
                <a:cs typeface="Century Gothic"/>
              </a:rPr>
              <a:t>National </a:t>
            </a:r>
            <a:r>
              <a:rPr sz="2800" spc="-10" dirty="0">
                <a:latin typeface="Century Gothic"/>
                <a:cs typeface="Century Gothic"/>
              </a:rPr>
              <a:t>Review</a:t>
            </a:r>
            <a:r>
              <a:rPr sz="2800" spc="5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2017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755" y="774191"/>
            <a:ext cx="5143500" cy="6021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04431" y="848867"/>
            <a:ext cx="4994148" cy="5871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7972" y="882396"/>
            <a:ext cx="5177028" cy="266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7972" y="904113"/>
            <a:ext cx="517715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71120" indent="-300355" algn="just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81000" algn="l"/>
              </a:tabLst>
            </a:pPr>
            <a:r>
              <a:rPr sz="2400" b="1" spc="-5" dirty="0">
                <a:latin typeface="Century Gothic"/>
                <a:cs typeface="Century Gothic"/>
              </a:rPr>
              <a:t>Bangladesh has participated </a:t>
            </a:r>
            <a:r>
              <a:rPr sz="2400" b="1" dirty="0">
                <a:latin typeface="Century Gothic"/>
                <a:cs typeface="Century Gothic"/>
              </a:rPr>
              <a:t>in  the </a:t>
            </a:r>
            <a:r>
              <a:rPr sz="2400" b="1" spc="-5" dirty="0">
                <a:latin typeface="Century Gothic"/>
                <a:cs typeface="Century Gothic"/>
              </a:rPr>
              <a:t>Voluntary National Review  </a:t>
            </a:r>
            <a:r>
              <a:rPr sz="2400" b="1" dirty="0">
                <a:latin typeface="Century Gothic"/>
                <a:cs typeface="Century Gothic"/>
              </a:rPr>
              <a:t>(VNR) </a:t>
            </a:r>
            <a:r>
              <a:rPr sz="2400" b="1" spc="-5" dirty="0">
                <a:latin typeface="Century Gothic"/>
                <a:cs typeface="Century Gothic"/>
              </a:rPr>
              <a:t>along </a:t>
            </a:r>
            <a:r>
              <a:rPr sz="2400" b="1" dirty="0">
                <a:latin typeface="Century Gothic"/>
                <a:cs typeface="Century Gothic"/>
              </a:rPr>
              <a:t>with </a:t>
            </a:r>
            <a:r>
              <a:rPr sz="2400" b="1" spc="-5" dirty="0">
                <a:latin typeface="Century Gothic"/>
                <a:cs typeface="Century Gothic"/>
              </a:rPr>
              <a:t>42</a:t>
            </a:r>
            <a:r>
              <a:rPr sz="2400" b="1" spc="-20" dirty="0">
                <a:latin typeface="Century Gothic"/>
                <a:cs typeface="Century Gothic"/>
              </a:rPr>
              <a:t> </a:t>
            </a:r>
            <a:r>
              <a:rPr sz="2400" b="1" spc="-5" dirty="0">
                <a:latin typeface="Century Gothic"/>
                <a:cs typeface="Century Gothic"/>
              </a:rPr>
              <a:t>countries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"/>
            </a:pPr>
            <a:endParaRPr sz="2500">
              <a:latin typeface="Times New Roman"/>
              <a:cs typeface="Times New Roman"/>
            </a:endParaRPr>
          </a:p>
          <a:p>
            <a:pPr marL="380365" marR="71120" indent="-300355" algn="just">
              <a:lnSpc>
                <a:spcPct val="100000"/>
              </a:lnSpc>
              <a:buFont typeface="Wingdings"/>
              <a:buChar char=""/>
              <a:tabLst>
                <a:tab pos="381000" algn="l"/>
              </a:tabLst>
            </a:pPr>
            <a:r>
              <a:rPr sz="2400" b="1" dirty="0">
                <a:latin typeface="Century Gothic"/>
                <a:cs typeface="Century Gothic"/>
              </a:rPr>
              <a:t>The focus </a:t>
            </a:r>
            <a:r>
              <a:rPr sz="2400" b="1" spc="-5" dirty="0">
                <a:latin typeface="Century Gothic"/>
                <a:cs typeface="Century Gothic"/>
              </a:rPr>
              <a:t>of </a:t>
            </a:r>
            <a:r>
              <a:rPr sz="2400" b="1" dirty="0">
                <a:latin typeface="Century Gothic"/>
                <a:cs typeface="Century Gothic"/>
              </a:rPr>
              <a:t>the </a:t>
            </a:r>
            <a:r>
              <a:rPr sz="2400" b="1" spc="-5" dirty="0">
                <a:latin typeface="Century Gothic"/>
                <a:cs typeface="Century Gothic"/>
              </a:rPr>
              <a:t>report </a:t>
            </a:r>
            <a:r>
              <a:rPr sz="2400" b="1" dirty="0">
                <a:latin typeface="Century Gothic"/>
                <a:cs typeface="Century Gothic"/>
              </a:rPr>
              <a:t>is where  we are in </a:t>
            </a:r>
            <a:r>
              <a:rPr sz="2400" b="1" spc="-5" dirty="0">
                <a:latin typeface="Century Gothic"/>
                <a:cs typeface="Century Gothic"/>
              </a:rPr>
              <a:t>implementing  Agenda</a:t>
            </a:r>
            <a:r>
              <a:rPr sz="2400" b="1" spc="0" dirty="0">
                <a:latin typeface="Century Gothic"/>
                <a:cs typeface="Century Gothic"/>
              </a:rPr>
              <a:t> </a:t>
            </a:r>
            <a:r>
              <a:rPr sz="2400" b="1" spc="-5" dirty="0">
                <a:latin typeface="Century Gothic"/>
                <a:cs typeface="Century Gothic"/>
              </a:rPr>
              <a:t>2030.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9639" y="6477685"/>
            <a:ext cx="7397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9859" y="844296"/>
            <a:ext cx="5003800" cy="588137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R="233045" algn="r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972" y="3649979"/>
            <a:ext cx="5177155" cy="3139440"/>
          </a:xfrm>
          <a:prstGeom prst="rect">
            <a:avLst/>
          </a:prstGeom>
          <a:solidFill>
            <a:srgbClr val="EC7C30"/>
          </a:solidFill>
          <a:ln w="12192">
            <a:solidFill>
              <a:srgbClr val="41709C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91440" marR="1543685">
              <a:lnSpc>
                <a:spcPct val="100000"/>
              </a:lnSpc>
              <a:spcBef>
                <a:spcPts val="76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Seven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goals 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were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reviewed: 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Goal 1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(Poverty)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2</a:t>
            </a:r>
            <a:r>
              <a:rPr sz="240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(Hunger)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3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(Health)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5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(Gender)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9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(Infrastructure)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14 (Life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below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water)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Goal 17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(Means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implementation)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711" y="0"/>
            <a:ext cx="11829415" cy="725805"/>
          </a:xfrm>
          <a:custGeom>
            <a:avLst/>
            <a:gdLst/>
            <a:ahLst/>
            <a:cxnLst/>
            <a:rect l="l" t="t" r="r" b="b"/>
            <a:pathLst>
              <a:path w="11829415" h="725805">
                <a:moveTo>
                  <a:pt x="0" y="725424"/>
                </a:moveTo>
                <a:lnTo>
                  <a:pt x="11829287" y="725424"/>
                </a:lnTo>
                <a:lnTo>
                  <a:pt x="11829287" y="0"/>
                </a:lnTo>
                <a:lnTo>
                  <a:pt x="0" y="0"/>
                </a:lnTo>
                <a:lnTo>
                  <a:pt x="0" y="72542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842" y="0"/>
            <a:ext cx="11620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0" dirty="0">
                <a:solidFill>
                  <a:srgbClr val="000000"/>
                </a:solidFill>
                <a:latin typeface="Calibri Light"/>
                <a:cs typeface="Calibri Light"/>
              </a:rPr>
              <a:t>Government </a:t>
            </a:r>
            <a:r>
              <a:rPr sz="4400" b="0" spc="-10" dirty="0">
                <a:solidFill>
                  <a:srgbClr val="000000"/>
                </a:solidFill>
                <a:latin typeface="Calibri Light"/>
                <a:cs typeface="Calibri Light"/>
              </a:rPr>
              <a:t>in </a:t>
            </a:r>
            <a:r>
              <a:rPr sz="4400" b="0" spc="-30" dirty="0">
                <a:solidFill>
                  <a:srgbClr val="000000"/>
                </a:solidFill>
                <a:latin typeface="Calibri Light"/>
                <a:cs typeface="Calibri Light"/>
              </a:rPr>
              <a:t>Action: </a:t>
            </a:r>
            <a:r>
              <a:rPr sz="4400" b="0" spc="-25" dirty="0">
                <a:solidFill>
                  <a:srgbClr val="000000"/>
                </a:solidFill>
                <a:latin typeface="Calibri Light"/>
                <a:cs typeface="Calibri Light"/>
              </a:rPr>
              <a:t>SDGs </a:t>
            </a:r>
            <a:r>
              <a:rPr sz="4400" b="0" spc="-50" dirty="0">
                <a:solidFill>
                  <a:srgbClr val="000000"/>
                </a:solidFill>
                <a:latin typeface="Calibri Light"/>
                <a:cs typeface="Calibri Light"/>
              </a:rPr>
              <a:t>Implementation</a:t>
            </a:r>
            <a:r>
              <a:rPr sz="4400" b="0" spc="-3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b="0" spc="-50" dirty="0">
                <a:solidFill>
                  <a:srgbClr val="000000"/>
                </a:solidFill>
                <a:latin typeface="Calibri Light"/>
                <a:cs typeface="Calibri Light"/>
              </a:rPr>
              <a:t>Review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711" y="1150619"/>
            <a:ext cx="6089904" cy="5416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99859" y="749808"/>
            <a:ext cx="5692140" cy="1887220"/>
          </a:xfrm>
          <a:custGeom>
            <a:avLst/>
            <a:gdLst/>
            <a:ahLst/>
            <a:cxnLst/>
            <a:rect l="l" t="t" r="r" b="b"/>
            <a:pathLst>
              <a:path w="5692140" h="1887220">
                <a:moveTo>
                  <a:pt x="0" y="1886712"/>
                </a:moveTo>
                <a:lnTo>
                  <a:pt x="5692140" y="1886712"/>
                </a:lnTo>
                <a:lnTo>
                  <a:pt x="5692140" y="0"/>
                </a:lnTo>
                <a:lnTo>
                  <a:pt x="0" y="0"/>
                </a:lnTo>
                <a:lnTo>
                  <a:pt x="0" y="1886712"/>
                </a:lnTo>
                <a:close/>
              </a:path>
            </a:pathLst>
          </a:custGeom>
          <a:solidFill>
            <a:srgbClr val="DF99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99859" y="2630423"/>
            <a:ext cx="5692140" cy="12700"/>
          </a:xfrm>
          <a:custGeom>
            <a:avLst/>
            <a:gdLst/>
            <a:ahLst/>
            <a:cxnLst/>
            <a:rect l="l" t="t" r="r" b="b"/>
            <a:pathLst>
              <a:path w="5692140" h="12700">
                <a:moveTo>
                  <a:pt x="0" y="12192"/>
                </a:moveTo>
                <a:lnTo>
                  <a:pt x="5692140" y="12192"/>
                </a:lnTo>
                <a:lnTo>
                  <a:pt x="569214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99859" y="749808"/>
            <a:ext cx="5692140" cy="1887220"/>
          </a:xfrm>
          <a:custGeom>
            <a:avLst/>
            <a:gdLst/>
            <a:ahLst/>
            <a:cxnLst/>
            <a:rect l="l" t="t" r="r" b="b"/>
            <a:pathLst>
              <a:path w="5692140" h="1887220">
                <a:moveTo>
                  <a:pt x="5692140" y="0"/>
                </a:moveTo>
                <a:lnTo>
                  <a:pt x="0" y="0"/>
                </a:lnTo>
                <a:lnTo>
                  <a:pt x="0" y="1886712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13576" y="2644139"/>
            <a:ext cx="5678805" cy="2672080"/>
          </a:xfrm>
          <a:custGeom>
            <a:avLst/>
            <a:gdLst/>
            <a:ahLst/>
            <a:cxnLst/>
            <a:rect l="l" t="t" r="r" b="b"/>
            <a:pathLst>
              <a:path w="5678805" h="2672079">
                <a:moveTo>
                  <a:pt x="0" y="2671572"/>
                </a:moveTo>
                <a:lnTo>
                  <a:pt x="5678424" y="2671572"/>
                </a:lnTo>
                <a:lnTo>
                  <a:pt x="5678424" y="0"/>
                </a:lnTo>
                <a:lnTo>
                  <a:pt x="0" y="0"/>
                </a:lnTo>
                <a:lnTo>
                  <a:pt x="0" y="2671572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3576" y="5309615"/>
            <a:ext cx="5678805" cy="12700"/>
          </a:xfrm>
          <a:custGeom>
            <a:avLst/>
            <a:gdLst/>
            <a:ahLst/>
            <a:cxnLst/>
            <a:rect l="l" t="t" r="r" b="b"/>
            <a:pathLst>
              <a:path w="5678805" h="12700">
                <a:moveTo>
                  <a:pt x="0" y="12192"/>
                </a:moveTo>
                <a:lnTo>
                  <a:pt x="5678424" y="12192"/>
                </a:lnTo>
                <a:lnTo>
                  <a:pt x="56784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13576" y="2644139"/>
            <a:ext cx="5678805" cy="2672080"/>
          </a:xfrm>
          <a:custGeom>
            <a:avLst/>
            <a:gdLst/>
            <a:ahLst/>
            <a:cxnLst/>
            <a:rect l="l" t="t" r="r" b="b"/>
            <a:pathLst>
              <a:path w="5678805" h="2672079">
                <a:moveTo>
                  <a:pt x="5678424" y="0"/>
                </a:moveTo>
                <a:lnTo>
                  <a:pt x="0" y="0"/>
                </a:lnTo>
                <a:lnTo>
                  <a:pt x="0" y="2671572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15100" y="5330952"/>
            <a:ext cx="5676900" cy="1527175"/>
          </a:xfrm>
          <a:custGeom>
            <a:avLst/>
            <a:gdLst/>
            <a:ahLst/>
            <a:cxnLst/>
            <a:rect l="l" t="t" r="r" b="b"/>
            <a:pathLst>
              <a:path w="5676900" h="1527175">
                <a:moveTo>
                  <a:pt x="5676899" y="0"/>
                </a:moveTo>
                <a:lnTo>
                  <a:pt x="0" y="0"/>
                </a:lnTo>
                <a:lnTo>
                  <a:pt x="0" y="1527046"/>
                </a:lnTo>
                <a:lnTo>
                  <a:pt x="5676899" y="1527046"/>
                </a:lnTo>
                <a:lnTo>
                  <a:pt x="567689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15100" y="5330952"/>
            <a:ext cx="5676900" cy="1527175"/>
          </a:xfrm>
          <a:custGeom>
            <a:avLst/>
            <a:gdLst/>
            <a:ahLst/>
            <a:cxnLst/>
            <a:rect l="l" t="t" r="r" b="b"/>
            <a:pathLst>
              <a:path w="5676900" h="1527175">
                <a:moveTo>
                  <a:pt x="5676899" y="0"/>
                </a:moveTo>
                <a:lnTo>
                  <a:pt x="0" y="0"/>
                </a:lnTo>
                <a:lnTo>
                  <a:pt x="0" y="1527046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79489" y="804417"/>
            <a:ext cx="5560695" cy="592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High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level coordination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mechanism 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representing institutions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of the  public and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private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sector</a:t>
            </a:r>
            <a:r>
              <a:rPr sz="2800" b="1" spc="50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 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different stakeholders</a:t>
            </a:r>
            <a:r>
              <a:rPr sz="280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established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5400" marR="17145" algn="just">
              <a:lnSpc>
                <a:spcPct val="100000"/>
              </a:lnSpc>
              <a:spcBef>
                <a:spcPts val="121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2775" b="1" baseline="25525" dirty="0">
                <a:solidFill>
                  <a:srgbClr val="FFFFFF"/>
                </a:solidFill>
                <a:latin typeface="Calibri"/>
                <a:cs typeface="Calibri"/>
              </a:rPr>
              <a:t>th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6h July 2018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around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2000  participants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Government, 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NGOs,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DPs,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Private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sector,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Academia, 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media,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CSO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etc.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participated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 the  SDGs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Implementation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r>
              <a:rPr sz="2800" b="1" spc="6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(SIR) 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Conference.</a:t>
            </a:r>
            <a:endParaRPr sz="2800">
              <a:latin typeface="Calibri"/>
              <a:cs typeface="Calibri"/>
            </a:endParaRPr>
          </a:p>
          <a:p>
            <a:pPr marL="26670" marR="17780" algn="just">
              <a:lnSpc>
                <a:spcPct val="100000"/>
              </a:lnSpc>
              <a:spcBef>
                <a:spcPts val="154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These mechanism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include both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data 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qualitative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assessments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on 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progress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 challenges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SDGs.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51687"/>
            <a:ext cx="12192000" cy="6306820"/>
          </a:xfrm>
          <a:custGeom>
            <a:avLst/>
            <a:gdLst/>
            <a:ahLst/>
            <a:cxnLst/>
            <a:rect l="l" t="t" r="r" b="b"/>
            <a:pathLst>
              <a:path w="12192000" h="6306820">
                <a:moveTo>
                  <a:pt x="0" y="6306311"/>
                </a:moveTo>
                <a:lnTo>
                  <a:pt x="12192000" y="6306311"/>
                </a:lnTo>
                <a:lnTo>
                  <a:pt x="12192000" y="0"/>
                </a:lnTo>
                <a:lnTo>
                  <a:pt x="0" y="0"/>
                </a:lnTo>
                <a:lnTo>
                  <a:pt x="0" y="6306311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551815"/>
          </a:xfrm>
          <a:custGeom>
            <a:avLst/>
            <a:gdLst/>
            <a:ahLst/>
            <a:cxnLst/>
            <a:rect l="l" t="t" r="r" b="b"/>
            <a:pathLst>
              <a:path w="12192000" h="551815">
                <a:moveTo>
                  <a:pt x="0" y="551688"/>
                </a:moveTo>
                <a:lnTo>
                  <a:pt x="12192000" y="551688"/>
                </a:lnTo>
                <a:lnTo>
                  <a:pt x="12192000" y="0"/>
                </a:lnTo>
                <a:lnTo>
                  <a:pt x="0" y="0"/>
                </a:lnTo>
                <a:lnTo>
                  <a:pt x="0" y="55168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09825" y="9601"/>
            <a:ext cx="7367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Sheikh Hasina Special Initiatives </a:t>
            </a:r>
            <a:r>
              <a:rPr sz="2800" spc="-5" dirty="0"/>
              <a:t>and</a:t>
            </a:r>
            <a:r>
              <a:rPr sz="2800" spc="75" dirty="0"/>
              <a:t> </a:t>
            </a:r>
            <a:r>
              <a:rPr sz="2800" spc="-10" dirty="0"/>
              <a:t>SDG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916939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66488" y="2740151"/>
            <a:ext cx="2109216" cy="2080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10988" y="3219703"/>
            <a:ext cx="1220470" cy="10699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ctr">
              <a:lnSpc>
                <a:spcPct val="93500"/>
              </a:lnSpc>
              <a:spcBef>
                <a:spcPts val="240"/>
              </a:spcBef>
            </a:pPr>
            <a:r>
              <a:rPr sz="1800" b="1" spc="-5" dirty="0">
                <a:latin typeface="Calibri"/>
                <a:cs typeface="Calibri"/>
              </a:rPr>
              <a:t>Vision </a:t>
            </a:r>
            <a:r>
              <a:rPr sz="1800" b="1" dirty="0">
                <a:latin typeface="Calibri"/>
                <a:cs typeface="Calibri"/>
              </a:rPr>
              <a:t>2021:  </a:t>
            </a:r>
            <a:r>
              <a:rPr sz="1800" b="1" spc="-5" dirty="0">
                <a:latin typeface="Calibri"/>
                <a:cs typeface="Calibri"/>
              </a:rPr>
              <a:t>Hunger </a:t>
            </a:r>
            <a:r>
              <a:rPr sz="1800" b="1" dirty="0">
                <a:latin typeface="Calibri"/>
                <a:cs typeface="Calibri"/>
              </a:rPr>
              <a:t>&amp;  </a:t>
            </a:r>
            <a:r>
              <a:rPr sz="1800" b="1" spc="-10" dirty="0">
                <a:latin typeface="Calibri"/>
                <a:cs typeface="Calibri"/>
              </a:rPr>
              <a:t>Poverty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Free  </a:t>
            </a:r>
            <a:r>
              <a:rPr sz="1800" b="1" dirty="0">
                <a:latin typeface="Calibri"/>
                <a:cs typeface="Calibri"/>
              </a:rPr>
              <a:t>Bangladesh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22164" y="1583436"/>
            <a:ext cx="1197864" cy="1083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5716" y="1891029"/>
            <a:ext cx="732155" cy="3987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FFFF00"/>
                </a:solidFill>
                <a:latin typeface="Calibri"/>
                <a:cs typeface="Calibri"/>
              </a:rPr>
              <a:t>Women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900" b="1" spc="-5" dirty="0">
                <a:solidFill>
                  <a:srgbClr val="FFFF00"/>
                </a:solidFill>
                <a:latin typeface="Calibri"/>
                <a:cs typeface="Calibri"/>
              </a:rPr>
              <a:t>Empowerment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09715" y="1900427"/>
            <a:ext cx="1168908" cy="1082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88353" y="2197440"/>
            <a:ext cx="611505" cy="4279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200" b="1" dirty="0">
                <a:latin typeface="Calibri"/>
                <a:cs typeface="Calibri"/>
              </a:rPr>
              <a:t>Ash</a:t>
            </a:r>
            <a:r>
              <a:rPr sz="1200" b="1" spc="-20" dirty="0">
                <a:latin typeface="Calibri"/>
                <a:cs typeface="Calibri"/>
              </a:rPr>
              <a:t>r</a:t>
            </a:r>
            <a:r>
              <a:rPr sz="1200" b="1" spc="-30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y</a:t>
            </a:r>
            <a:r>
              <a:rPr sz="1200" b="1" spc="-5" dirty="0">
                <a:latin typeface="Calibri"/>
                <a:cs typeface="Calibri"/>
              </a:rPr>
              <a:t>a</a:t>
            </a:r>
            <a:r>
              <a:rPr sz="1200" b="1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sz="1200" b="1" spc="-5" dirty="0">
                <a:latin typeface="Calibri"/>
                <a:cs typeface="Calibri"/>
              </a:rPr>
              <a:t>Project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10171" y="2727960"/>
            <a:ext cx="1170431" cy="10820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28484" y="2951479"/>
            <a:ext cx="736600" cy="5981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2540" algn="ctr">
              <a:lnSpc>
                <a:spcPct val="94600"/>
              </a:lnSpc>
              <a:spcBef>
                <a:spcPts val="180"/>
              </a:spcBef>
            </a:pPr>
            <a:r>
              <a:rPr sz="1300" b="1" spc="-10" dirty="0">
                <a:latin typeface="Calibri"/>
                <a:cs typeface="Calibri"/>
              </a:rPr>
              <a:t>Education  </a:t>
            </a:r>
            <a:r>
              <a:rPr sz="1300" b="1" spc="-15" dirty="0">
                <a:latin typeface="Calibri"/>
                <a:cs typeface="Calibri"/>
              </a:rPr>
              <a:t>A</a:t>
            </a:r>
            <a:r>
              <a:rPr sz="1300" b="1" spc="-5" dirty="0">
                <a:latin typeface="Calibri"/>
                <a:cs typeface="Calibri"/>
              </a:rPr>
              <a:t>ssi</a:t>
            </a:r>
            <a:r>
              <a:rPr sz="1300" b="1" spc="-20" dirty="0">
                <a:latin typeface="Calibri"/>
                <a:cs typeface="Calibri"/>
              </a:rPr>
              <a:t>s</a:t>
            </a:r>
            <a:r>
              <a:rPr sz="1300" b="1" spc="-25" dirty="0">
                <a:latin typeface="Calibri"/>
                <a:cs typeface="Calibri"/>
              </a:rPr>
              <a:t>t</a:t>
            </a:r>
            <a:r>
              <a:rPr sz="1300" b="1" spc="-10" dirty="0">
                <a:latin typeface="Calibri"/>
                <a:cs typeface="Calibri"/>
              </a:rPr>
              <a:t>a</a:t>
            </a:r>
            <a:r>
              <a:rPr sz="1300" b="1" spc="-5" dirty="0">
                <a:latin typeface="Calibri"/>
                <a:cs typeface="Calibri"/>
              </a:rPr>
              <a:t>nce  </a:t>
            </a:r>
            <a:r>
              <a:rPr sz="1300" b="1" spc="-25" dirty="0">
                <a:latin typeface="Calibri"/>
                <a:cs typeface="Calibri"/>
              </a:rPr>
              <a:t>Trust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10171" y="3750564"/>
            <a:ext cx="1170431" cy="10820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00113" y="3974338"/>
            <a:ext cx="591820" cy="59880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4700"/>
              </a:lnSpc>
              <a:spcBef>
                <a:spcPts val="175"/>
              </a:spcBef>
            </a:pPr>
            <a:r>
              <a:rPr sz="1300" b="1" spc="-10" dirty="0">
                <a:latin typeface="Calibri"/>
                <a:cs typeface="Calibri"/>
              </a:rPr>
              <a:t>Ekti</a:t>
            </a:r>
            <a:r>
              <a:rPr sz="1300" b="1" spc="-65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Bari  </a:t>
            </a:r>
            <a:r>
              <a:rPr sz="1300" b="1" spc="-10" dirty="0">
                <a:latin typeface="Calibri"/>
                <a:cs typeface="Calibri"/>
              </a:rPr>
              <a:t>Ekti  Khamar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09715" y="4578096"/>
            <a:ext cx="1168908" cy="10820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5803" y="4898897"/>
            <a:ext cx="776605" cy="4044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68910">
              <a:lnSpc>
                <a:spcPts val="1430"/>
              </a:lnSpc>
              <a:spcBef>
                <a:spcPts val="250"/>
              </a:spcBef>
            </a:pPr>
            <a:r>
              <a:rPr sz="1300" b="0" spc="-10" dirty="0">
                <a:latin typeface="Calibri Light"/>
                <a:cs typeface="Calibri Light"/>
              </a:rPr>
              <a:t>Digital  B</a:t>
            </a:r>
            <a:r>
              <a:rPr sz="1300" b="0" spc="-5" dirty="0">
                <a:latin typeface="Calibri Light"/>
                <a:cs typeface="Calibri Light"/>
              </a:rPr>
              <a:t>an</a:t>
            </a:r>
            <a:r>
              <a:rPr sz="1300" b="0" spc="-15" dirty="0">
                <a:latin typeface="Calibri Light"/>
                <a:cs typeface="Calibri Light"/>
              </a:rPr>
              <a:t>gl</a:t>
            </a:r>
            <a:r>
              <a:rPr sz="1300" b="0" spc="-5" dirty="0">
                <a:latin typeface="Calibri Light"/>
                <a:cs typeface="Calibri Light"/>
              </a:rPr>
              <a:t>a</a:t>
            </a:r>
            <a:r>
              <a:rPr sz="1300" b="0" spc="-20" dirty="0">
                <a:latin typeface="Calibri Light"/>
                <a:cs typeface="Calibri Light"/>
              </a:rPr>
              <a:t>d</a:t>
            </a:r>
            <a:r>
              <a:rPr sz="1300" b="0" spc="-25" dirty="0">
                <a:latin typeface="Calibri Light"/>
                <a:cs typeface="Calibri Light"/>
              </a:rPr>
              <a:t>e</a:t>
            </a:r>
            <a:r>
              <a:rPr sz="1300" b="0" spc="-15" dirty="0">
                <a:latin typeface="Calibri Light"/>
                <a:cs typeface="Calibri Light"/>
              </a:rPr>
              <a:t>s</a:t>
            </a:r>
            <a:r>
              <a:rPr sz="1300" b="0" spc="-5" dirty="0">
                <a:latin typeface="Calibri Light"/>
                <a:cs typeface="Calibri Light"/>
              </a:rPr>
              <a:t>h</a:t>
            </a:r>
            <a:endParaRPr sz="130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35879" y="4893564"/>
            <a:ext cx="1170431" cy="10835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70067" y="5240782"/>
            <a:ext cx="702945" cy="35750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66370" marR="5080" indent="-154305">
              <a:lnSpc>
                <a:spcPts val="1290"/>
              </a:lnSpc>
              <a:spcBef>
                <a:spcPts val="170"/>
              </a:spcBef>
            </a:pPr>
            <a:r>
              <a:rPr sz="1100" b="1" dirty="0">
                <a:latin typeface="Calibri"/>
                <a:cs typeface="Calibri"/>
              </a:rPr>
              <a:t>C</a:t>
            </a:r>
            <a:r>
              <a:rPr sz="1100" b="1" spc="-10" dirty="0">
                <a:latin typeface="Calibri"/>
                <a:cs typeface="Calibri"/>
              </a:rPr>
              <a:t>o</a:t>
            </a:r>
            <a:r>
              <a:rPr sz="1100" b="1" spc="-5" dirty="0">
                <a:latin typeface="Calibri"/>
                <a:cs typeface="Calibri"/>
              </a:rPr>
              <a:t>m</a:t>
            </a:r>
            <a:r>
              <a:rPr sz="1100" b="1" dirty="0">
                <a:latin typeface="Calibri"/>
                <a:cs typeface="Calibri"/>
              </a:rPr>
              <a:t>m</a:t>
            </a:r>
            <a:r>
              <a:rPr sz="1100" b="1" spc="-5" dirty="0">
                <a:latin typeface="Calibri"/>
                <a:cs typeface="Calibri"/>
              </a:rPr>
              <a:t>un</a:t>
            </a:r>
            <a:r>
              <a:rPr sz="1100" b="1" dirty="0">
                <a:latin typeface="Calibri"/>
                <a:cs typeface="Calibri"/>
              </a:rPr>
              <a:t>ity  Clinics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23944" y="4578096"/>
            <a:ext cx="1248155" cy="10820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78833" y="4932426"/>
            <a:ext cx="739140" cy="34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310"/>
              </a:lnSpc>
              <a:spcBef>
                <a:spcPts val="100"/>
              </a:spcBef>
            </a:pPr>
            <a:r>
              <a:rPr sz="1100" b="1" spc="-5" dirty="0">
                <a:latin typeface="Calibri"/>
                <a:cs typeface="Calibri"/>
              </a:rPr>
              <a:t>Investment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190"/>
              </a:lnSpc>
            </a:pPr>
            <a:r>
              <a:rPr sz="1000" b="1" spc="-5" dirty="0">
                <a:latin typeface="Calibri"/>
                <a:cs typeface="Calibri"/>
              </a:rPr>
              <a:t>Development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11296" y="3750564"/>
            <a:ext cx="1272539" cy="10820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793363" y="4032790"/>
            <a:ext cx="707390" cy="4476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b="1" spc="-5" dirty="0"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latin typeface="Calibri"/>
                <a:cs typeface="Calibri"/>
              </a:rPr>
              <a:t>Protection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61588" y="2727960"/>
            <a:ext cx="1170432" cy="10820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83584" y="3009391"/>
            <a:ext cx="727075" cy="4883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4300"/>
              </a:lnSpc>
              <a:spcBef>
                <a:spcPts val="175"/>
              </a:spcBef>
            </a:pPr>
            <a:r>
              <a:rPr sz="1050" b="1" spc="-5" dirty="0">
                <a:latin typeface="Calibri"/>
                <a:cs typeface="Calibri"/>
              </a:rPr>
              <a:t>Social</a:t>
            </a:r>
            <a:r>
              <a:rPr sz="1050" b="1" spc="-85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Safety  Net   Programme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63567" y="1900427"/>
            <a:ext cx="1170432" cy="10820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22775" y="2230373"/>
            <a:ext cx="651510" cy="3867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2240" marR="5080" indent="-130175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latin typeface="Calibri"/>
                <a:cs typeface="Calibri"/>
              </a:rPr>
              <a:t>E</a:t>
            </a:r>
            <a:r>
              <a:rPr sz="1200" b="1" spc="0" dirty="0">
                <a:latin typeface="Calibri"/>
                <a:cs typeface="Calibri"/>
              </a:rPr>
              <a:t>l</a:t>
            </a:r>
            <a:r>
              <a:rPr sz="1200" b="1" spc="-5" dirty="0">
                <a:latin typeface="Calibri"/>
                <a:cs typeface="Calibri"/>
              </a:rPr>
              <a:t>ec</a:t>
            </a:r>
            <a:r>
              <a:rPr sz="1200" b="1" dirty="0">
                <a:latin typeface="Calibri"/>
                <a:cs typeface="Calibri"/>
              </a:rPr>
              <a:t>tri</a:t>
            </a:r>
            <a:r>
              <a:rPr sz="1200" b="1" spc="-5" dirty="0">
                <a:latin typeface="Calibri"/>
                <a:cs typeface="Calibri"/>
              </a:rPr>
              <a:t>c</a:t>
            </a:r>
            <a:r>
              <a:rPr sz="1200" b="1" spc="0" dirty="0">
                <a:latin typeface="Calibri"/>
                <a:cs typeface="Calibri"/>
              </a:rPr>
              <a:t>i</a:t>
            </a:r>
            <a:r>
              <a:rPr sz="1200" b="1" dirty="0">
                <a:latin typeface="Calibri"/>
                <a:cs typeface="Calibri"/>
              </a:rPr>
              <a:t>ty  </a:t>
            </a:r>
            <a:r>
              <a:rPr sz="1200" b="1" spc="-5" dirty="0">
                <a:latin typeface="Calibri"/>
                <a:cs typeface="Calibri"/>
              </a:rPr>
              <a:t>for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all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47388" y="5922264"/>
            <a:ext cx="656843" cy="6202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28159" y="5948171"/>
            <a:ext cx="550163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05200" y="5347715"/>
            <a:ext cx="548639" cy="5151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65120" y="4489703"/>
            <a:ext cx="548640" cy="5151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08504" y="3521964"/>
            <a:ext cx="656844" cy="6202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89276" y="3547871"/>
            <a:ext cx="550163" cy="51358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72155" y="2517648"/>
            <a:ext cx="550164" cy="51511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13759" y="1661160"/>
            <a:ext cx="548639" cy="5135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55947" y="1120139"/>
            <a:ext cx="656844" cy="62179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36720" y="1146047"/>
            <a:ext cx="550163" cy="5151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44084" y="975360"/>
            <a:ext cx="548639" cy="5135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49923" y="1060703"/>
            <a:ext cx="550164" cy="51511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93635" y="1377696"/>
            <a:ext cx="655320" cy="62179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74407" y="1403603"/>
            <a:ext cx="548640" cy="5151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805928" y="2089404"/>
            <a:ext cx="548640" cy="51511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63128" y="2862072"/>
            <a:ext cx="550164" cy="51358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3795" y="3692652"/>
            <a:ext cx="656844" cy="6217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354568" y="3718559"/>
            <a:ext cx="550164" cy="51511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80247" y="4576571"/>
            <a:ext cx="550164" cy="51358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31607" y="5347715"/>
            <a:ext cx="548640" cy="51511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43471" y="5922264"/>
            <a:ext cx="656844" cy="6202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24243" y="5948171"/>
            <a:ext cx="550164" cy="51358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26964" y="6118859"/>
            <a:ext cx="548639" cy="51511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5490" cy="623570"/>
          </a:xfrm>
          <a:custGeom>
            <a:avLst/>
            <a:gdLst/>
            <a:ahLst/>
            <a:cxnLst/>
            <a:rect l="l" t="t" r="r" b="b"/>
            <a:pathLst>
              <a:path w="12175490" h="623570">
                <a:moveTo>
                  <a:pt x="0" y="623315"/>
                </a:moveTo>
                <a:lnTo>
                  <a:pt x="12175236" y="623315"/>
                </a:lnTo>
                <a:lnTo>
                  <a:pt x="12175236" y="0"/>
                </a:lnTo>
                <a:lnTo>
                  <a:pt x="0" y="0"/>
                </a:lnTo>
                <a:lnTo>
                  <a:pt x="0" y="623315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27957" y="23621"/>
            <a:ext cx="3720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entury Gothic"/>
                <a:cs typeface="Century Gothic"/>
              </a:rPr>
              <a:t>Challenges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spc="-5" dirty="0">
                <a:latin typeface="Century Gothic"/>
                <a:cs typeface="Century Gothic"/>
              </a:rPr>
              <a:t>Ahead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55" y="1219200"/>
            <a:ext cx="10715625" cy="4572000"/>
          </a:xfrm>
          <a:custGeom>
            <a:avLst/>
            <a:gdLst/>
            <a:ahLst/>
            <a:cxnLst/>
            <a:rect l="l" t="t" r="r" b="b"/>
            <a:pathLst>
              <a:path w="10715625" h="4572000">
                <a:moveTo>
                  <a:pt x="0" y="4572000"/>
                </a:moveTo>
                <a:lnTo>
                  <a:pt x="10715244" y="4572000"/>
                </a:lnTo>
                <a:lnTo>
                  <a:pt x="10715244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972" y="1239011"/>
            <a:ext cx="704088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8388" y="1205483"/>
            <a:ext cx="3941064" cy="736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972" y="1860804"/>
            <a:ext cx="704088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388" y="1827276"/>
            <a:ext cx="6922008" cy="7360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972" y="2482595"/>
            <a:ext cx="704088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8388" y="2449067"/>
            <a:ext cx="10739627" cy="7360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2855" y="2944367"/>
            <a:ext cx="3717036" cy="7360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972" y="3601211"/>
            <a:ext cx="704088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8388" y="3567684"/>
            <a:ext cx="6434327" cy="7360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7972" y="4223003"/>
            <a:ext cx="704088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9827" y="4189476"/>
            <a:ext cx="2993136" cy="7360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64052" y="4189476"/>
            <a:ext cx="1946148" cy="7360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7972" y="4844796"/>
            <a:ext cx="704088" cy="685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8388" y="4811267"/>
            <a:ext cx="8779764" cy="7360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7600" y="1067846"/>
            <a:ext cx="10530205" cy="4255135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1880"/>
              </a:spcBef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Resource</a:t>
            </a:r>
            <a:r>
              <a:rPr sz="2600" b="1" spc="-2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Mobilization</a:t>
            </a:r>
            <a:endParaRPr sz="2600">
              <a:latin typeface="Century Gothic"/>
              <a:cs typeface="Century Gothic"/>
            </a:endParaRPr>
          </a:p>
          <a:p>
            <a:pPr marL="307975" indent="-295275">
              <a:lnSpc>
                <a:spcPct val="100000"/>
              </a:lnSpc>
              <a:spcBef>
                <a:spcPts val="1780"/>
              </a:spcBef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Skill development and quality</a:t>
            </a:r>
            <a:r>
              <a:rPr sz="2600" b="1" spc="-65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education</a:t>
            </a:r>
            <a:endParaRPr sz="2600">
              <a:latin typeface="Century Gothic"/>
              <a:cs typeface="Century Gothic"/>
            </a:endParaRPr>
          </a:p>
          <a:p>
            <a:pPr marL="307975" indent="-295275">
              <a:lnSpc>
                <a:spcPct val="100000"/>
              </a:lnSpc>
              <a:spcBef>
                <a:spcPts val="1775"/>
              </a:spcBef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Strengthen international development cooperation and</a:t>
            </a:r>
            <a:r>
              <a:rPr sz="2600" b="1" spc="-4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building</a:t>
            </a:r>
            <a:endParaRPr sz="2600">
              <a:latin typeface="Century Gothic"/>
              <a:cs typeface="Century Gothic"/>
            </a:endParaRPr>
          </a:p>
          <a:p>
            <a:pPr marL="241300">
              <a:lnSpc>
                <a:spcPct val="100000"/>
              </a:lnSpc>
              <a:spcBef>
                <a:spcPts val="780"/>
              </a:spcBef>
            </a:pP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effective</a:t>
            </a:r>
            <a:r>
              <a:rPr sz="2600" b="1" spc="-6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partnership</a:t>
            </a:r>
            <a:endParaRPr sz="2600">
              <a:latin typeface="Century Gothic"/>
              <a:cs typeface="Century Gothic"/>
            </a:endParaRPr>
          </a:p>
          <a:p>
            <a:pPr marL="307975" indent="-295275">
              <a:lnSpc>
                <a:spcPct val="100000"/>
              </a:lnSpc>
              <a:spcBef>
                <a:spcPts val="1789"/>
              </a:spcBef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Natural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disasters </a:t>
            </a: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and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climate</a:t>
            </a:r>
            <a:r>
              <a:rPr sz="2600" b="1" spc="-55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change</a:t>
            </a:r>
            <a:endParaRPr sz="2600">
              <a:latin typeface="Century Gothic"/>
              <a:cs typeface="Century Gothic"/>
            </a:endParaRPr>
          </a:p>
          <a:p>
            <a:pPr marL="398145" indent="-385445">
              <a:lnSpc>
                <a:spcPct val="100000"/>
              </a:lnSpc>
              <a:spcBef>
                <a:spcPts val="1780"/>
              </a:spcBef>
              <a:buSzPct val="96153"/>
              <a:buFont typeface="Wingdings"/>
              <a:buChar char=""/>
              <a:tabLst>
                <a:tab pos="398780" algn="l"/>
              </a:tabLst>
            </a:pP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Over 1.1 million</a:t>
            </a:r>
            <a:r>
              <a:rPr sz="2600" b="1" spc="-55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spc="-5" dirty="0">
                <a:solidFill>
                  <a:srgbClr val="001F5F"/>
                </a:solidFill>
                <a:latin typeface="Century Gothic"/>
                <a:cs typeface="Century Gothic"/>
              </a:rPr>
              <a:t>Rohingya</a:t>
            </a:r>
            <a:endParaRPr sz="2600">
              <a:latin typeface="Century Gothic"/>
              <a:cs typeface="Century Gothic"/>
            </a:endParaRPr>
          </a:p>
          <a:p>
            <a:pPr marL="307975" indent="-295275">
              <a:lnSpc>
                <a:spcPct val="100000"/>
              </a:lnSpc>
              <a:spcBef>
                <a:spcPts val="1775"/>
              </a:spcBef>
              <a:buSzPct val="96153"/>
              <a:buFont typeface="Wingdings"/>
              <a:buChar char=""/>
              <a:tabLst>
                <a:tab pos="308610" algn="l"/>
              </a:tabLst>
            </a:pP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SDGs localization by Government, INGOs and</a:t>
            </a:r>
            <a:r>
              <a:rPr sz="2600" b="1" spc="-130" dirty="0">
                <a:solidFill>
                  <a:srgbClr val="001F5F"/>
                </a:solidFill>
                <a:latin typeface="Century Gothic"/>
                <a:cs typeface="Century Gothic"/>
              </a:rPr>
              <a:t> </a:t>
            </a:r>
            <a:r>
              <a:rPr sz="2600" b="1" dirty="0">
                <a:solidFill>
                  <a:srgbClr val="001F5F"/>
                </a:solidFill>
                <a:latin typeface="Century Gothic"/>
                <a:cs typeface="Century Gothic"/>
              </a:rPr>
              <a:t>NGOs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7512" y="900683"/>
            <a:ext cx="10857230" cy="5820410"/>
          </a:xfrm>
          <a:custGeom>
            <a:avLst/>
            <a:gdLst/>
            <a:ahLst/>
            <a:cxnLst/>
            <a:rect l="l" t="t" r="r" b="b"/>
            <a:pathLst>
              <a:path w="10857230" h="5820409">
                <a:moveTo>
                  <a:pt x="0" y="5820156"/>
                </a:moveTo>
                <a:lnTo>
                  <a:pt x="10856976" y="5820156"/>
                </a:lnTo>
                <a:lnTo>
                  <a:pt x="10856976" y="0"/>
                </a:lnTo>
                <a:lnTo>
                  <a:pt x="0" y="0"/>
                </a:lnTo>
                <a:lnTo>
                  <a:pt x="0" y="582015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8083" y="5113020"/>
            <a:ext cx="789432" cy="551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3800" y="5183123"/>
            <a:ext cx="5867400" cy="449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1088" y="5291328"/>
            <a:ext cx="144779" cy="1874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58083" y="4593335"/>
            <a:ext cx="789432" cy="551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3800" y="4663440"/>
            <a:ext cx="5867400" cy="4495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1088" y="4771644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8083" y="4087367"/>
            <a:ext cx="789432" cy="5516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33800" y="4157471"/>
            <a:ext cx="5867400" cy="4495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1088" y="4265676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58083" y="3578352"/>
            <a:ext cx="789432" cy="5516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33800" y="3648455"/>
            <a:ext cx="5867400" cy="4495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1088" y="3756659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58083" y="3087623"/>
            <a:ext cx="789432" cy="5516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33800" y="3150107"/>
            <a:ext cx="5867400" cy="4495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1088" y="3267455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8083" y="2581655"/>
            <a:ext cx="789432" cy="5516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33800" y="2648711"/>
            <a:ext cx="5867400" cy="4495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71088" y="2761488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58083" y="2089404"/>
            <a:ext cx="789432" cy="55168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33800" y="2161032"/>
            <a:ext cx="5867400" cy="4480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71088" y="2269235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58083" y="5626608"/>
            <a:ext cx="789432" cy="5516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33800" y="5696711"/>
            <a:ext cx="5867400" cy="44958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71088" y="5804915"/>
            <a:ext cx="144779" cy="1874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0"/>
            <a:ext cx="12192000" cy="607060"/>
          </a:xfrm>
          <a:custGeom>
            <a:avLst/>
            <a:gdLst/>
            <a:ahLst/>
            <a:cxnLst/>
            <a:rect l="l" t="t" r="r" b="b"/>
            <a:pathLst>
              <a:path w="12192000" h="607060">
                <a:moveTo>
                  <a:pt x="0" y="606551"/>
                </a:moveTo>
                <a:lnTo>
                  <a:pt x="12192000" y="606551"/>
                </a:lnTo>
                <a:lnTo>
                  <a:pt x="12192000" y="0"/>
                </a:lnTo>
                <a:lnTo>
                  <a:pt x="0" y="0"/>
                </a:lnTo>
                <a:lnTo>
                  <a:pt x="0" y="606551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072634" y="43687"/>
            <a:ext cx="2044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latin typeface="Times New Roman"/>
                <a:cs typeface="Times New Roman"/>
              </a:rPr>
              <a:t>Way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forward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58083" y="1591055"/>
            <a:ext cx="789432" cy="55168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3800" y="1661160"/>
            <a:ext cx="5867400" cy="44957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71088" y="1769364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58083" y="1110996"/>
            <a:ext cx="789432" cy="5516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33800" y="1182624"/>
            <a:ext cx="5867400" cy="44957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71088" y="1290827"/>
            <a:ext cx="144779" cy="187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6330">
              <a:lnSpc>
                <a:spcPct val="100000"/>
              </a:lnSpc>
              <a:spcBef>
                <a:spcPts val="100"/>
              </a:spcBef>
            </a:pPr>
            <a:r>
              <a:rPr dirty="0"/>
              <a:t>Increased Investment in </a:t>
            </a:r>
            <a:r>
              <a:rPr spc="-5" dirty="0"/>
              <a:t>human</a:t>
            </a:r>
            <a:r>
              <a:rPr spc="-125" dirty="0"/>
              <a:t> </a:t>
            </a:r>
            <a:r>
              <a:rPr spc="-5" dirty="0"/>
              <a:t>development</a:t>
            </a:r>
          </a:p>
          <a:p>
            <a:pPr marL="1116330" marR="2005330">
              <a:lnSpc>
                <a:spcPts val="3929"/>
              </a:lnSpc>
              <a:spcBef>
                <a:spcPts val="265"/>
              </a:spcBef>
            </a:pPr>
            <a:r>
              <a:rPr dirty="0"/>
              <a:t>Overcoming infrastructure</a:t>
            </a:r>
            <a:r>
              <a:rPr spc="-145" dirty="0"/>
              <a:t> </a:t>
            </a:r>
            <a:r>
              <a:rPr spc="-5" dirty="0"/>
              <a:t>gap  100 EZs and Hi-tech</a:t>
            </a:r>
            <a:r>
              <a:rPr spc="-35" dirty="0"/>
              <a:t> </a:t>
            </a:r>
            <a:r>
              <a:rPr spc="-5" dirty="0"/>
              <a:t>Park</a:t>
            </a:r>
          </a:p>
          <a:p>
            <a:pPr marL="1101090">
              <a:lnSpc>
                <a:spcPct val="100000"/>
              </a:lnSpc>
              <a:spcBef>
                <a:spcPts val="945"/>
              </a:spcBef>
            </a:pPr>
            <a:r>
              <a:rPr dirty="0"/>
              <a:t>One </a:t>
            </a:r>
            <a:r>
              <a:rPr spc="-5" dirty="0"/>
              <a:t>Stop</a:t>
            </a:r>
            <a:r>
              <a:rPr spc="-45" dirty="0"/>
              <a:t> </a:t>
            </a:r>
            <a:r>
              <a:rPr spc="-5" dirty="0"/>
              <a:t>Service</a:t>
            </a:r>
          </a:p>
          <a:p>
            <a:pPr marL="1101090">
              <a:lnSpc>
                <a:spcPct val="100000"/>
              </a:lnSpc>
              <a:spcBef>
                <a:spcPts val="1720"/>
              </a:spcBef>
            </a:pPr>
            <a:r>
              <a:rPr spc="-5" dirty="0"/>
              <a:t>Ease of doing</a:t>
            </a:r>
            <a:r>
              <a:rPr spc="-30" dirty="0"/>
              <a:t> </a:t>
            </a:r>
            <a:r>
              <a:rPr spc="-5" dirty="0"/>
              <a:t>business</a:t>
            </a:r>
          </a:p>
          <a:p>
            <a:pPr marL="1056005">
              <a:lnSpc>
                <a:spcPct val="100000"/>
              </a:lnSpc>
              <a:spcBef>
                <a:spcPts val="1789"/>
              </a:spcBef>
            </a:pPr>
            <a:r>
              <a:rPr sz="1750" spc="-5" dirty="0"/>
              <a:t>Quality education, </a:t>
            </a:r>
            <a:r>
              <a:rPr sz="1750" dirty="0"/>
              <a:t>skill </a:t>
            </a:r>
            <a:r>
              <a:rPr sz="1750" spc="-10" dirty="0"/>
              <a:t>development </a:t>
            </a:r>
            <a:r>
              <a:rPr sz="1750" spc="-5" dirty="0"/>
              <a:t>and</a:t>
            </a:r>
            <a:r>
              <a:rPr sz="1750" spc="50" dirty="0"/>
              <a:t> </a:t>
            </a:r>
            <a:r>
              <a:rPr sz="1750" spc="-5" dirty="0"/>
              <a:t>research</a:t>
            </a:r>
            <a:endParaRPr sz="1750"/>
          </a:p>
          <a:p>
            <a:pPr marL="1101090">
              <a:lnSpc>
                <a:spcPct val="100000"/>
              </a:lnSpc>
              <a:spcBef>
                <a:spcPts val="1780"/>
              </a:spcBef>
            </a:pPr>
            <a:r>
              <a:rPr dirty="0"/>
              <a:t>Innovation, </a:t>
            </a:r>
            <a:r>
              <a:rPr spc="-5" dirty="0"/>
              <a:t>digitalization and one </a:t>
            </a:r>
            <a:r>
              <a:rPr dirty="0"/>
              <a:t>stop</a:t>
            </a:r>
            <a:r>
              <a:rPr spc="-85" dirty="0"/>
              <a:t> </a:t>
            </a:r>
            <a:r>
              <a:rPr dirty="0"/>
              <a:t>service</a:t>
            </a:r>
          </a:p>
          <a:p>
            <a:pPr marL="1043305">
              <a:lnSpc>
                <a:spcPct val="100000"/>
              </a:lnSpc>
              <a:spcBef>
                <a:spcPts val="35"/>
              </a:spcBef>
            </a:pPr>
            <a:endParaRPr sz="1700">
              <a:latin typeface="Times New Roman"/>
              <a:cs typeface="Times New Roman"/>
            </a:endParaRPr>
          </a:p>
          <a:p>
            <a:pPr marL="111633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Improving</a:t>
            </a:r>
            <a:r>
              <a:rPr spc="-25" dirty="0"/>
              <a:t> </a:t>
            </a:r>
            <a:r>
              <a:rPr spc="-5" dirty="0"/>
              <a:t>governance</a:t>
            </a:r>
          </a:p>
          <a:p>
            <a:pPr marL="1116330" marR="607060">
              <a:lnSpc>
                <a:spcPts val="4100"/>
              </a:lnSpc>
              <a:spcBef>
                <a:spcPts val="450"/>
              </a:spcBef>
            </a:pPr>
            <a:r>
              <a:rPr dirty="0"/>
              <a:t>Increasing Female labor force</a:t>
            </a:r>
            <a:r>
              <a:rPr spc="-150" dirty="0"/>
              <a:t> </a:t>
            </a:r>
            <a:r>
              <a:rPr spc="-5" dirty="0"/>
              <a:t>participation  Diversification of</a:t>
            </a:r>
            <a:r>
              <a:rPr spc="-20" dirty="0"/>
              <a:t> </a:t>
            </a:r>
            <a:r>
              <a:rPr spc="-5" dirty="0"/>
              <a:t>export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916939" y="6464985"/>
            <a:ext cx="7651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21360"/>
          </a:xfrm>
          <a:custGeom>
            <a:avLst/>
            <a:gdLst/>
            <a:ahLst/>
            <a:cxnLst/>
            <a:rect l="l" t="t" r="r" b="b"/>
            <a:pathLst>
              <a:path w="12192000" h="721360">
                <a:moveTo>
                  <a:pt x="0" y="720851"/>
                </a:moveTo>
                <a:lnTo>
                  <a:pt x="12192000" y="720851"/>
                </a:lnTo>
                <a:lnTo>
                  <a:pt x="12192000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870"/>
            <a:ext cx="9366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01640" algn="l"/>
              </a:tabLst>
            </a:pPr>
            <a:r>
              <a:rPr sz="4000" spc="-10" dirty="0">
                <a:solidFill>
                  <a:srgbClr val="000000"/>
                </a:solidFill>
                <a:latin typeface="Century Gothic"/>
                <a:cs typeface="Century Gothic"/>
              </a:rPr>
              <a:t>Phenomenal</a:t>
            </a:r>
            <a:r>
              <a:rPr sz="4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4000" spc="-5" dirty="0">
                <a:solidFill>
                  <a:srgbClr val="000000"/>
                </a:solidFill>
                <a:latin typeface="Century Gothic"/>
                <a:cs typeface="Century Gothic"/>
              </a:rPr>
              <a:t>success	in Health</a:t>
            </a:r>
            <a:r>
              <a:rPr sz="4000" spc="-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entury Gothic"/>
                <a:cs typeface="Century Gothic"/>
              </a:rPr>
              <a:t>Sector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43939"/>
            <a:ext cx="3802379" cy="646430"/>
          </a:xfrm>
          <a:custGeom>
            <a:avLst/>
            <a:gdLst/>
            <a:ahLst/>
            <a:cxnLst/>
            <a:rect l="l" t="t" r="r" b="b"/>
            <a:pathLst>
              <a:path w="3802379" h="646430">
                <a:moveTo>
                  <a:pt x="0" y="646176"/>
                </a:moveTo>
                <a:lnTo>
                  <a:pt x="3802379" y="646176"/>
                </a:lnTo>
                <a:lnTo>
                  <a:pt x="3802379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1645" y="1070864"/>
            <a:ext cx="3477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4880" marR="5080" indent="-93281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21212"/>
                </a:solidFill>
                <a:latin typeface="Arial"/>
                <a:cs typeface="Arial"/>
              </a:rPr>
              <a:t>Bangladesh </a:t>
            </a:r>
            <a:r>
              <a:rPr sz="1800" b="1" dirty="0">
                <a:solidFill>
                  <a:srgbClr val="121212"/>
                </a:solidFill>
                <a:latin typeface="Arial"/>
                <a:cs typeface="Arial"/>
              </a:rPr>
              <a:t>shows how to</a:t>
            </a:r>
            <a:r>
              <a:rPr sz="1800" b="1" spc="-55" dirty="0">
                <a:solidFill>
                  <a:srgbClr val="12121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21212"/>
                </a:solidFill>
                <a:latin typeface="Arial"/>
                <a:cs typeface="Arial"/>
              </a:rPr>
              <a:t>keep  </a:t>
            </a:r>
            <a:r>
              <a:rPr sz="1800" b="1" spc="-5" dirty="0">
                <a:solidFill>
                  <a:srgbClr val="121212"/>
                </a:solidFill>
                <a:latin typeface="Arial"/>
                <a:cs typeface="Arial"/>
              </a:rPr>
              <a:t>children</a:t>
            </a:r>
            <a:r>
              <a:rPr sz="1800" b="1" spc="-15" dirty="0">
                <a:solidFill>
                  <a:srgbClr val="12121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21212"/>
                </a:solidFill>
                <a:latin typeface="Arial"/>
                <a:cs typeface="Arial"/>
              </a:rPr>
              <a:t>alive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831848"/>
            <a:ext cx="3802379" cy="2039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3870959"/>
            <a:ext cx="3802379" cy="124206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91440" marR="198755">
              <a:lnSpc>
                <a:spcPct val="99300"/>
              </a:lnSpc>
              <a:spcBef>
                <a:spcPts val="540"/>
              </a:spcBef>
            </a:pPr>
            <a:r>
              <a:rPr sz="1800" b="1" dirty="0">
                <a:solidFill>
                  <a:srgbClr val="1D2029"/>
                </a:solidFill>
                <a:latin typeface="Arial"/>
                <a:cs typeface="Arial"/>
              </a:rPr>
              <a:t>In </a:t>
            </a:r>
            <a:r>
              <a:rPr sz="1800" b="1" spc="-5" dirty="0">
                <a:solidFill>
                  <a:srgbClr val="1D2029"/>
                </a:solidFill>
                <a:latin typeface="Arial"/>
                <a:cs typeface="Arial"/>
              </a:rPr>
              <a:t>1990 the under-five death rate  </a:t>
            </a:r>
            <a:r>
              <a:rPr sz="1800" b="1" dirty="0">
                <a:solidFill>
                  <a:srgbClr val="1D2029"/>
                </a:solidFill>
                <a:latin typeface="Arial"/>
                <a:cs typeface="Arial"/>
              </a:rPr>
              <a:t>in </a:t>
            </a:r>
            <a:r>
              <a:rPr sz="1800" b="1" spc="-5" dirty="0">
                <a:solidFill>
                  <a:srgbClr val="1D2029"/>
                </a:solidFill>
                <a:latin typeface="Arial"/>
                <a:cs typeface="Arial"/>
              </a:rPr>
              <a:t>Bangladesh </a:t>
            </a:r>
            <a:r>
              <a:rPr sz="1800" b="1" spc="0" dirty="0">
                <a:solidFill>
                  <a:srgbClr val="1D2029"/>
                </a:solidFill>
                <a:latin typeface="Arial"/>
                <a:cs typeface="Arial"/>
              </a:rPr>
              <a:t>was </a:t>
            </a:r>
            <a:r>
              <a:rPr sz="1800" b="1" spc="-5" dirty="0">
                <a:solidFill>
                  <a:srgbClr val="1D2029"/>
                </a:solidFill>
                <a:latin typeface="Arial"/>
                <a:cs typeface="Arial"/>
              </a:rPr>
              <a:t>54% higher  than the </a:t>
            </a:r>
            <a:r>
              <a:rPr sz="1800" b="1" dirty="0">
                <a:solidFill>
                  <a:srgbClr val="1D2029"/>
                </a:solidFill>
                <a:latin typeface="Arial"/>
                <a:cs typeface="Arial"/>
              </a:rPr>
              <a:t>world </a:t>
            </a:r>
            <a:r>
              <a:rPr sz="1800" b="1" spc="-10" dirty="0">
                <a:solidFill>
                  <a:srgbClr val="1D2029"/>
                </a:solidFill>
                <a:latin typeface="Arial"/>
                <a:cs typeface="Arial"/>
              </a:rPr>
              <a:t>average. Now </a:t>
            </a:r>
            <a:r>
              <a:rPr sz="1800" b="1" spc="-5" dirty="0">
                <a:solidFill>
                  <a:srgbClr val="1D2029"/>
                </a:solidFill>
                <a:latin typeface="Arial"/>
                <a:cs typeface="Arial"/>
              </a:rPr>
              <a:t>it's  16% </a:t>
            </a:r>
            <a:r>
              <a:rPr sz="1800" b="1" dirty="0">
                <a:solidFill>
                  <a:srgbClr val="1D2029"/>
                </a:solidFill>
                <a:latin typeface="Arial"/>
                <a:cs typeface="Arial"/>
              </a:rPr>
              <a:t>lower </a:t>
            </a:r>
            <a:r>
              <a:rPr sz="1800" b="1" spc="-5" dirty="0">
                <a:solidFill>
                  <a:srgbClr val="1D2029"/>
                </a:solidFill>
                <a:latin typeface="Arial"/>
                <a:cs typeface="Arial"/>
              </a:rPr>
              <a:t>(2016):</a:t>
            </a:r>
            <a:r>
              <a:rPr sz="1800" b="1" spc="-2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Economist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8911" y="2575560"/>
            <a:ext cx="167640" cy="780415"/>
          </a:xfrm>
          <a:custGeom>
            <a:avLst/>
            <a:gdLst/>
            <a:ahLst/>
            <a:cxnLst/>
            <a:rect l="l" t="t" r="r" b="b"/>
            <a:pathLst>
              <a:path w="167639" h="780414">
                <a:moveTo>
                  <a:pt x="167639" y="0"/>
                </a:moveTo>
                <a:lnTo>
                  <a:pt x="0" y="0"/>
                </a:lnTo>
                <a:lnTo>
                  <a:pt x="0" y="780288"/>
                </a:lnTo>
                <a:lnTo>
                  <a:pt x="167639" y="780288"/>
                </a:lnTo>
                <a:lnTo>
                  <a:pt x="1676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0788" y="2337816"/>
            <a:ext cx="167640" cy="1018540"/>
          </a:xfrm>
          <a:custGeom>
            <a:avLst/>
            <a:gdLst/>
            <a:ahLst/>
            <a:cxnLst/>
            <a:rect l="l" t="t" r="r" b="b"/>
            <a:pathLst>
              <a:path w="167639" h="1018539">
                <a:moveTo>
                  <a:pt x="167639" y="0"/>
                </a:moveTo>
                <a:lnTo>
                  <a:pt x="0" y="0"/>
                </a:lnTo>
                <a:lnTo>
                  <a:pt x="0" y="1018032"/>
                </a:lnTo>
                <a:lnTo>
                  <a:pt x="167639" y="1018032"/>
                </a:lnTo>
                <a:lnTo>
                  <a:pt x="1676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14188" y="2313432"/>
            <a:ext cx="166370" cy="1042669"/>
          </a:xfrm>
          <a:custGeom>
            <a:avLst/>
            <a:gdLst/>
            <a:ahLst/>
            <a:cxnLst/>
            <a:rect l="l" t="t" r="r" b="b"/>
            <a:pathLst>
              <a:path w="166370" h="1042670">
                <a:moveTo>
                  <a:pt x="166115" y="0"/>
                </a:moveTo>
                <a:lnTo>
                  <a:pt x="0" y="0"/>
                </a:lnTo>
                <a:lnTo>
                  <a:pt x="0" y="1042415"/>
                </a:lnTo>
                <a:lnTo>
                  <a:pt x="166115" y="1042415"/>
                </a:lnTo>
                <a:lnTo>
                  <a:pt x="16611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6064" y="2162555"/>
            <a:ext cx="166370" cy="1193800"/>
          </a:xfrm>
          <a:custGeom>
            <a:avLst/>
            <a:gdLst/>
            <a:ahLst/>
            <a:cxnLst/>
            <a:rect l="l" t="t" r="r" b="b"/>
            <a:pathLst>
              <a:path w="166370" h="1193800">
                <a:moveTo>
                  <a:pt x="166115" y="0"/>
                </a:moveTo>
                <a:lnTo>
                  <a:pt x="0" y="0"/>
                </a:lnTo>
                <a:lnTo>
                  <a:pt x="0" y="1193292"/>
                </a:lnTo>
                <a:lnTo>
                  <a:pt x="166115" y="1193292"/>
                </a:lnTo>
                <a:lnTo>
                  <a:pt x="16611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77940" y="2113788"/>
            <a:ext cx="167640" cy="1242060"/>
          </a:xfrm>
          <a:custGeom>
            <a:avLst/>
            <a:gdLst/>
            <a:ahLst/>
            <a:cxnLst/>
            <a:rect l="l" t="t" r="r" b="b"/>
            <a:pathLst>
              <a:path w="167640" h="1242060">
                <a:moveTo>
                  <a:pt x="167639" y="0"/>
                </a:moveTo>
                <a:lnTo>
                  <a:pt x="0" y="0"/>
                </a:lnTo>
                <a:lnTo>
                  <a:pt x="0" y="1242060"/>
                </a:lnTo>
                <a:lnTo>
                  <a:pt x="167639" y="1242060"/>
                </a:lnTo>
                <a:lnTo>
                  <a:pt x="1676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11340" y="2074164"/>
            <a:ext cx="166370" cy="1282065"/>
          </a:xfrm>
          <a:custGeom>
            <a:avLst/>
            <a:gdLst/>
            <a:ahLst/>
            <a:cxnLst/>
            <a:rect l="l" t="t" r="r" b="b"/>
            <a:pathLst>
              <a:path w="166370" h="1282064">
                <a:moveTo>
                  <a:pt x="166115" y="0"/>
                </a:moveTo>
                <a:lnTo>
                  <a:pt x="0" y="0"/>
                </a:lnTo>
                <a:lnTo>
                  <a:pt x="0" y="1281684"/>
                </a:lnTo>
                <a:lnTo>
                  <a:pt x="166115" y="1281684"/>
                </a:lnTo>
                <a:lnTo>
                  <a:pt x="16611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43216" y="2002535"/>
            <a:ext cx="166370" cy="1353820"/>
          </a:xfrm>
          <a:custGeom>
            <a:avLst/>
            <a:gdLst/>
            <a:ahLst/>
            <a:cxnLst/>
            <a:rect l="l" t="t" r="r" b="b"/>
            <a:pathLst>
              <a:path w="166370" h="1353820">
                <a:moveTo>
                  <a:pt x="166115" y="0"/>
                </a:moveTo>
                <a:lnTo>
                  <a:pt x="0" y="0"/>
                </a:lnTo>
                <a:lnTo>
                  <a:pt x="0" y="1353312"/>
                </a:lnTo>
                <a:lnTo>
                  <a:pt x="166115" y="1353312"/>
                </a:lnTo>
                <a:lnTo>
                  <a:pt x="16611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66032" y="3355847"/>
            <a:ext cx="3726179" cy="0"/>
          </a:xfrm>
          <a:custGeom>
            <a:avLst/>
            <a:gdLst/>
            <a:ahLst/>
            <a:cxnLst/>
            <a:rect l="l" t="t" r="r" b="b"/>
            <a:pathLst>
              <a:path w="3726179">
                <a:moveTo>
                  <a:pt x="0" y="0"/>
                </a:moveTo>
                <a:lnTo>
                  <a:pt x="3726179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18178" y="2248916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42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2965" y="2010917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54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5476" y="1986787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56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37986" y="1836166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64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0116" y="1787474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66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02628" y="1746580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69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35139" y="1727073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72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39946" y="3447415"/>
            <a:ext cx="358012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4830" algn="l"/>
                <a:tab pos="1076960" algn="l"/>
                <a:tab pos="1609725" algn="l"/>
                <a:tab pos="2141855" algn="l"/>
                <a:tab pos="2674620" algn="l"/>
                <a:tab pos="3206750" algn="l"/>
              </a:tabLst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197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198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199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8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201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2018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25823" y="1019555"/>
            <a:ext cx="4018915" cy="631190"/>
          </a:xfrm>
          <a:prstGeom prst="rect">
            <a:avLst/>
          </a:prstGeom>
          <a:solidFill>
            <a:srgbClr val="EC7C30"/>
          </a:solidFill>
          <a:ln w="12192">
            <a:solidFill>
              <a:srgbClr val="41709C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75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Life Expectancy has increased</a:t>
            </a:r>
            <a:r>
              <a:rPr sz="1800" b="1" spc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8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last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25823" y="3870959"/>
            <a:ext cx="4018915" cy="1237615"/>
          </a:xfrm>
          <a:prstGeom prst="rect">
            <a:avLst/>
          </a:prstGeom>
          <a:solidFill>
            <a:srgbClr val="FFC000"/>
          </a:solidFill>
          <a:ln w="12192">
            <a:solidFill>
              <a:srgbClr val="41709C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last one decade life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expectancy</a:t>
            </a:r>
            <a:endParaRPr sz="18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increased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years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57616" y="1941576"/>
            <a:ext cx="248920" cy="1295400"/>
          </a:xfrm>
          <a:custGeom>
            <a:avLst/>
            <a:gdLst/>
            <a:ahLst/>
            <a:cxnLst/>
            <a:rect l="l" t="t" r="r" b="b"/>
            <a:pathLst>
              <a:path w="248920" h="1295400">
                <a:moveTo>
                  <a:pt x="248411" y="0"/>
                </a:moveTo>
                <a:lnTo>
                  <a:pt x="0" y="0"/>
                </a:lnTo>
                <a:lnTo>
                  <a:pt x="0" y="1295400"/>
                </a:lnTo>
                <a:lnTo>
                  <a:pt x="248411" y="1295400"/>
                </a:lnTo>
                <a:lnTo>
                  <a:pt x="248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50095" y="2548127"/>
            <a:ext cx="248920" cy="688975"/>
          </a:xfrm>
          <a:custGeom>
            <a:avLst/>
            <a:gdLst/>
            <a:ahLst/>
            <a:cxnLst/>
            <a:rect l="l" t="t" r="r" b="b"/>
            <a:pathLst>
              <a:path w="248920" h="688975">
                <a:moveTo>
                  <a:pt x="248411" y="0"/>
                </a:moveTo>
                <a:lnTo>
                  <a:pt x="0" y="0"/>
                </a:lnTo>
                <a:lnTo>
                  <a:pt x="0" y="688848"/>
                </a:lnTo>
                <a:lnTo>
                  <a:pt x="248411" y="688848"/>
                </a:lnTo>
                <a:lnTo>
                  <a:pt x="248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944100" y="2845307"/>
            <a:ext cx="248920" cy="391795"/>
          </a:xfrm>
          <a:custGeom>
            <a:avLst/>
            <a:gdLst/>
            <a:ahLst/>
            <a:cxnLst/>
            <a:rect l="l" t="t" r="r" b="b"/>
            <a:pathLst>
              <a:path w="248920" h="391794">
                <a:moveTo>
                  <a:pt x="248411" y="0"/>
                </a:moveTo>
                <a:lnTo>
                  <a:pt x="0" y="0"/>
                </a:lnTo>
                <a:lnTo>
                  <a:pt x="0" y="391667"/>
                </a:lnTo>
                <a:lnTo>
                  <a:pt x="248411" y="391667"/>
                </a:lnTo>
                <a:lnTo>
                  <a:pt x="248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738104" y="2901695"/>
            <a:ext cx="248920" cy="335280"/>
          </a:xfrm>
          <a:custGeom>
            <a:avLst/>
            <a:gdLst/>
            <a:ahLst/>
            <a:cxnLst/>
            <a:rect l="l" t="t" r="r" b="b"/>
            <a:pathLst>
              <a:path w="248920" h="335280">
                <a:moveTo>
                  <a:pt x="248412" y="0"/>
                </a:moveTo>
                <a:lnTo>
                  <a:pt x="0" y="0"/>
                </a:lnTo>
                <a:lnTo>
                  <a:pt x="0" y="335279"/>
                </a:lnTo>
                <a:lnTo>
                  <a:pt x="248412" y="335279"/>
                </a:lnTo>
                <a:lnTo>
                  <a:pt x="24841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530583" y="3055620"/>
            <a:ext cx="250190" cy="181610"/>
          </a:xfrm>
          <a:custGeom>
            <a:avLst/>
            <a:gdLst/>
            <a:ahLst/>
            <a:cxnLst/>
            <a:rect l="l" t="t" r="r" b="b"/>
            <a:pathLst>
              <a:path w="250190" h="181610">
                <a:moveTo>
                  <a:pt x="249936" y="0"/>
                </a:moveTo>
                <a:lnTo>
                  <a:pt x="0" y="0"/>
                </a:lnTo>
                <a:lnTo>
                  <a:pt x="0" y="181355"/>
                </a:lnTo>
                <a:lnTo>
                  <a:pt x="249936" y="181355"/>
                </a:lnTo>
                <a:lnTo>
                  <a:pt x="24993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084819" y="3236976"/>
            <a:ext cx="3967479" cy="0"/>
          </a:xfrm>
          <a:custGeom>
            <a:avLst/>
            <a:gdLst/>
            <a:ahLst/>
            <a:cxnLst/>
            <a:rect l="l" t="t" r="r" b="b"/>
            <a:pathLst>
              <a:path w="3967479">
                <a:moveTo>
                  <a:pt x="0" y="0"/>
                </a:moveTo>
                <a:lnTo>
                  <a:pt x="396697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290306" y="1614931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73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83802" y="2221483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53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77425" y="2518663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43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671175" y="2575305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41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464797" y="2729864"/>
            <a:ext cx="384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36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.1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89417" y="3329432"/>
            <a:ext cx="35598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5815" algn="l"/>
                <a:tab pos="1599565" algn="l"/>
                <a:tab pos="2393315" algn="l"/>
                <a:tab pos="3187065" algn="l"/>
              </a:tabLst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199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7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201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1	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2014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10143" y="1019555"/>
            <a:ext cx="4057015" cy="631190"/>
          </a:xfrm>
          <a:prstGeom prst="rect">
            <a:avLst/>
          </a:prstGeom>
          <a:solidFill>
            <a:srgbClr val="00AF50"/>
          </a:solidFill>
          <a:ln w="12192">
            <a:solidFill>
              <a:srgbClr val="41709C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ts val="2135"/>
              </a:lnSpc>
              <a:spcBef>
                <a:spcPts val="27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Stunting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has reduced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37.5</a:t>
            </a:r>
            <a:endParaRPr sz="1800">
              <a:latin typeface="Arial"/>
              <a:cs typeface="Arial"/>
            </a:endParaRPr>
          </a:p>
          <a:p>
            <a:pPr marL="1905" algn="ctr">
              <a:lnSpc>
                <a:spcPts val="2135"/>
              </a:lnSpc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percentage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points in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last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10143" y="3870959"/>
            <a:ext cx="4182110" cy="1237615"/>
          </a:xfrm>
          <a:prstGeom prst="rect">
            <a:avLst/>
          </a:prstGeom>
          <a:solidFill>
            <a:srgbClr val="538235"/>
          </a:solidFill>
          <a:ln w="12192">
            <a:solidFill>
              <a:srgbClr val="41709C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Though a huge success, it is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still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19044" y="5341620"/>
            <a:ext cx="5704840" cy="746760"/>
          </a:xfrm>
          <a:prstGeom prst="rect">
            <a:avLst/>
          </a:prstGeom>
          <a:solidFill>
            <a:srgbClr val="EE402C"/>
          </a:solidFill>
          <a:ln w="12192">
            <a:solidFill>
              <a:srgbClr val="41709C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45"/>
              </a:spcBef>
            </a:pP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Total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Fertility Rate (TFR) has reduced</a:t>
            </a:r>
            <a:r>
              <a:rPr sz="18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significantly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from 6.3 in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1975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2.05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244" y="315468"/>
            <a:ext cx="11383010" cy="646430"/>
          </a:xfrm>
          <a:custGeom>
            <a:avLst/>
            <a:gdLst/>
            <a:ahLst/>
            <a:cxnLst/>
            <a:rect l="l" t="t" r="r" b="b"/>
            <a:pathLst>
              <a:path w="11383010" h="646430">
                <a:moveTo>
                  <a:pt x="0" y="646176"/>
                </a:moveTo>
                <a:lnTo>
                  <a:pt x="11382756" y="646176"/>
                </a:lnTo>
                <a:lnTo>
                  <a:pt x="11382756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solidFill>
            <a:srgbClr val="E42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7983" y="343661"/>
            <a:ext cx="1122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Gothic"/>
                <a:cs typeface="Century Gothic"/>
              </a:rPr>
              <a:t>1.a.2 Proportion of </a:t>
            </a:r>
            <a:r>
              <a:rPr sz="1800" dirty="0">
                <a:latin typeface="Century Gothic"/>
                <a:cs typeface="Century Gothic"/>
              </a:rPr>
              <a:t>total </a:t>
            </a:r>
            <a:r>
              <a:rPr sz="1800" spc="-10" dirty="0">
                <a:latin typeface="Century Gothic"/>
                <a:cs typeface="Century Gothic"/>
              </a:rPr>
              <a:t>government </a:t>
            </a:r>
            <a:r>
              <a:rPr sz="1800" spc="-5" dirty="0">
                <a:latin typeface="Century Gothic"/>
                <a:cs typeface="Century Gothic"/>
              </a:rPr>
              <a:t>spending on essential </a:t>
            </a:r>
            <a:r>
              <a:rPr sz="1800" dirty="0">
                <a:latin typeface="Century Gothic"/>
                <a:cs typeface="Century Gothic"/>
              </a:rPr>
              <a:t>services </a:t>
            </a:r>
            <a:r>
              <a:rPr sz="1800" spc="-5" dirty="0">
                <a:latin typeface="Century Gothic"/>
                <a:cs typeface="Century Gothic"/>
              </a:rPr>
              <a:t>(education, </a:t>
            </a:r>
            <a:r>
              <a:rPr sz="1800" spc="-10" dirty="0">
                <a:latin typeface="Century Gothic"/>
                <a:cs typeface="Century Gothic"/>
              </a:rPr>
              <a:t>health </a:t>
            </a:r>
            <a:r>
              <a:rPr sz="1800" spc="-5" dirty="0">
                <a:latin typeface="Century Gothic"/>
                <a:cs typeface="Century Gothic"/>
              </a:rPr>
              <a:t>and </a:t>
            </a:r>
            <a:r>
              <a:rPr sz="1800" dirty="0">
                <a:latin typeface="Century Gothic"/>
                <a:cs typeface="Century Gothic"/>
              </a:rPr>
              <a:t>social  </a:t>
            </a:r>
            <a:r>
              <a:rPr sz="1800" spc="-5" dirty="0">
                <a:latin typeface="Century Gothic"/>
                <a:cs typeface="Century Gothic"/>
              </a:rPr>
              <a:t>protection)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9244" y="1094232"/>
            <a:ext cx="11383010" cy="923925"/>
          </a:xfrm>
          <a:custGeom>
            <a:avLst/>
            <a:gdLst/>
            <a:ahLst/>
            <a:cxnLst/>
            <a:rect l="l" t="t" r="r" b="b"/>
            <a:pathLst>
              <a:path w="11383010" h="923925">
                <a:moveTo>
                  <a:pt x="0" y="923544"/>
                </a:moveTo>
                <a:lnTo>
                  <a:pt x="11382756" y="923544"/>
                </a:lnTo>
                <a:lnTo>
                  <a:pt x="11382756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solidFill>
            <a:srgbClr val="DDA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9244" y="2116835"/>
            <a:ext cx="11383010" cy="647700"/>
          </a:xfrm>
          <a:custGeom>
            <a:avLst/>
            <a:gdLst/>
            <a:ahLst/>
            <a:cxnLst/>
            <a:rect l="l" t="t" r="r" b="b"/>
            <a:pathLst>
              <a:path w="11383010" h="647700">
                <a:moveTo>
                  <a:pt x="0" y="647700"/>
                </a:moveTo>
                <a:lnTo>
                  <a:pt x="11382756" y="647700"/>
                </a:lnTo>
                <a:lnTo>
                  <a:pt x="11382756" y="0"/>
                </a:lnTo>
                <a:lnTo>
                  <a:pt x="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C62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9244" y="2878835"/>
            <a:ext cx="11383010" cy="923925"/>
          </a:xfrm>
          <a:custGeom>
            <a:avLst/>
            <a:gdLst/>
            <a:ahLst/>
            <a:cxnLst/>
            <a:rect l="l" t="t" r="r" b="b"/>
            <a:pathLst>
              <a:path w="11383010" h="923925">
                <a:moveTo>
                  <a:pt x="0" y="923544"/>
                </a:moveTo>
                <a:lnTo>
                  <a:pt x="11382756" y="923544"/>
                </a:lnTo>
                <a:lnTo>
                  <a:pt x="11382756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solidFill>
            <a:srgbClr val="EE4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9244" y="3912108"/>
            <a:ext cx="11383010" cy="923925"/>
          </a:xfrm>
          <a:custGeom>
            <a:avLst/>
            <a:gdLst/>
            <a:ahLst/>
            <a:cxnLst/>
            <a:rect l="l" t="t" r="r" b="b"/>
            <a:pathLst>
              <a:path w="11383010" h="923925">
                <a:moveTo>
                  <a:pt x="0" y="923544"/>
                </a:moveTo>
                <a:lnTo>
                  <a:pt x="11382756" y="923544"/>
                </a:lnTo>
                <a:lnTo>
                  <a:pt x="11382756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solidFill>
            <a:srgbClr val="27BE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9244" y="4925567"/>
            <a:ext cx="11383010" cy="368935"/>
          </a:xfrm>
          <a:custGeom>
            <a:avLst/>
            <a:gdLst/>
            <a:ahLst/>
            <a:cxnLst/>
            <a:rect l="l" t="t" r="r" b="b"/>
            <a:pathLst>
              <a:path w="11383010" h="368935">
                <a:moveTo>
                  <a:pt x="0" y="368807"/>
                </a:moveTo>
                <a:lnTo>
                  <a:pt x="11382756" y="368807"/>
                </a:lnTo>
                <a:lnTo>
                  <a:pt x="11382756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solidFill>
            <a:srgbClr val="A21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9244" y="5379720"/>
            <a:ext cx="11383010" cy="646430"/>
          </a:xfrm>
          <a:custGeom>
            <a:avLst/>
            <a:gdLst/>
            <a:ahLst/>
            <a:cxnLst/>
            <a:rect l="l" t="t" r="r" b="b"/>
            <a:pathLst>
              <a:path w="11383010" h="646429">
                <a:moveTo>
                  <a:pt x="0" y="646175"/>
                </a:moveTo>
                <a:lnTo>
                  <a:pt x="11382756" y="646175"/>
                </a:lnTo>
                <a:lnTo>
                  <a:pt x="11382756" y="0"/>
                </a:lnTo>
                <a:lnTo>
                  <a:pt x="0" y="0"/>
                </a:lnTo>
                <a:lnTo>
                  <a:pt x="0" y="646175"/>
                </a:lnTo>
                <a:close/>
              </a:path>
            </a:pathLst>
          </a:custGeom>
          <a:solidFill>
            <a:srgbClr val="F89D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9244" y="6117335"/>
            <a:ext cx="11383010" cy="585470"/>
          </a:xfrm>
          <a:custGeom>
            <a:avLst/>
            <a:gdLst/>
            <a:ahLst/>
            <a:cxnLst/>
            <a:rect l="l" t="t" r="r" b="b"/>
            <a:pathLst>
              <a:path w="11383010" h="585470">
                <a:moveTo>
                  <a:pt x="0" y="585215"/>
                </a:moveTo>
                <a:lnTo>
                  <a:pt x="11382756" y="585215"/>
                </a:lnTo>
                <a:lnTo>
                  <a:pt x="11382756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407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7983" y="1123315"/>
            <a:ext cx="11228705" cy="553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lvl="2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88645" algn="l"/>
              </a:tabLst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Prevalence of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stunting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among children under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5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years of</a:t>
            </a:r>
            <a:r>
              <a:rPr sz="1800" b="1" spc="-7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age</a:t>
            </a:r>
            <a:endParaRPr sz="1800">
              <a:latin typeface="Century Gothic"/>
              <a:cs typeface="Century Gothic"/>
            </a:endParaRPr>
          </a:p>
          <a:p>
            <a:pPr marL="12700" marR="1096010" lvl="2">
              <a:lnSpc>
                <a:spcPct val="100000"/>
              </a:lnSpc>
              <a:buAutoNum type="arabicPeriod"/>
              <a:tabLst>
                <a:tab pos="588645" algn="l"/>
              </a:tabLst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Prevalence of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malnutrition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among children under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5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years of age, by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type (wasting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 overweight)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  <a:tabLst>
                <a:tab pos="652145" algn="l"/>
              </a:tabLst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4.2.1	Proportion of children under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5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years of age who are developmentally on track in</a:t>
            </a:r>
            <a:r>
              <a:rPr sz="1800" b="1" spc="-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health,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learning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psychosocial well-being, by</a:t>
            </a:r>
            <a:r>
              <a:rPr sz="18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sex</a:t>
            </a:r>
            <a:endParaRPr sz="1800">
              <a:latin typeface="Century Gothic"/>
              <a:cs typeface="Century Gothic"/>
            </a:endParaRPr>
          </a:p>
          <a:p>
            <a:pPr marL="12700" marR="5080" algn="just">
              <a:lnSpc>
                <a:spcPct val="100000"/>
              </a:lnSpc>
              <a:spcBef>
                <a:spcPts val="1675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Target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5.6: Ensure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universal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access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to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sexual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reproductive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health and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reproductive rights as  agreed,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in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accordance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with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the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Programme of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Action of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ICPD and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Beijing PFA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and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the  outcome documents of their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review</a:t>
            </a:r>
            <a:r>
              <a:rPr sz="1800" b="1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conferences</a:t>
            </a:r>
            <a:endParaRPr sz="1800">
              <a:latin typeface="Century Gothic"/>
              <a:cs typeface="Century Gothic"/>
            </a:endParaRPr>
          </a:p>
          <a:p>
            <a:pPr marL="12700" marR="6350" algn="just">
              <a:lnSpc>
                <a:spcPct val="100000"/>
              </a:lnSpc>
              <a:spcBef>
                <a:spcPts val="166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Target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6.2: By 2030, achieve access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to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adequate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and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equitable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sanitation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hygiene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for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all and   end open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defecation, paying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special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attention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to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needs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of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women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and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girls and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those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in 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vulnerable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situations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  <a:tabLst>
                <a:tab pos="652145" algn="l"/>
              </a:tabLst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8.8.1	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Frequency rates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fatal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non-fatal occupational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injuries,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by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sex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migrant</a:t>
            </a:r>
            <a:r>
              <a:rPr sz="1800" b="1" spc="-1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status</a:t>
            </a:r>
            <a:endParaRPr sz="1800">
              <a:latin typeface="Century Gothic"/>
              <a:cs typeface="Century Gothic"/>
            </a:endParaRPr>
          </a:p>
          <a:p>
            <a:pPr marL="12700" marR="511175">
              <a:lnSpc>
                <a:spcPct val="100000"/>
              </a:lnSpc>
              <a:spcBef>
                <a:spcPts val="1415"/>
              </a:spcBef>
            </a:pP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11.5.1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Number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 deaths,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missing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persons and directly affected persons attributed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to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disasters per  100,000</a:t>
            </a:r>
            <a:r>
              <a:rPr sz="1800" b="1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population</a:t>
            </a:r>
            <a:endParaRPr sz="1800">
              <a:latin typeface="Century Gothic"/>
              <a:cs typeface="Century Gothic"/>
            </a:endParaRPr>
          </a:p>
          <a:p>
            <a:pPr marL="12700" marR="873125">
              <a:lnSpc>
                <a:spcPct val="100000"/>
              </a:lnSpc>
              <a:spcBef>
                <a:spcPts val="1510"/>
              </a:spcBef>
            </a:pP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13.1.1 Number </a:t>
            </a:r>
            <a:r>
              <a:rPr sz="16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 deaths, missing </a:t>
            </a: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persons </a:t>
            </a:r>
            <a:r>
              <a:rPr sz="16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and </a:t>
            </a: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directly affected </a:t>
            </a:r>
            <a:r>
              <a:rPr sz="16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persons attributed to disasters </a:t>
            </a: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per 100,000  </a:t>
            </a:r>
            <a:r>
              <a:rPr sz="16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population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27" y="291084"/>
            <a:ext cx="615950" cy="6387465"/>
          </a:xfrm>
          <a:custGeom>
            <a:avLst/>
            <a:gdLst/>
            <a:ahLst/>
            <a:cxnLst/>
            <a:rect l="l" t="t" r="r" b="b"/>
            <a:pathLst>
              <a:path w="615950" h="6387465">
                <a:moveTo>
                  <a:pt x="0" y="6387084"/>
                </a:moveTo>
                <a:lnTo>
                  <a:pt x="615696" y="6387084"/>
                </a:lnTo>
                <a:lnTo>
                  <a:pt x="615696" y="0"/>
                </a:lnTo>
                <a:lnTo>
                  <a:pt x="0" y="0"/>
                </a:lnTo>
                <a:lnTo>
                  <a:pt x="0" y="638708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2496" y="1634709"/>
            <a:ext cx="461009" cy="370459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Health Sector </a:t>
            </a:r>
            <a:r>
              <a:rPr sz="28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in</a:t>
            </a:r>
            <a:r>
              <a:rPr sz="28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SDGs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96595"/>
          </a:xfrm>
          <a:custGeom>
            <a:avLst/>
            <a:gdLst/>
            <a:ahLst/>
            <a:cxnLst/>
            <a:rect l="l" t="t" r="r" b="b"/>
            <a:pathLst>
              <a:path w="12192000" h="696595">
                <a:moveTo>
                  <a:pt x="0" y="696467"/>
                </a:moveTo>
                <a:lnTo>
                  <a:pt x="12192000" y="696467"/>
                </a:lnTo>
                <a:lnTo>
                  <a:pt x="12192000" y="0"/>
                </a:lnTo>
                <a:lnTo>
                  <a:pt x="0" y="0"/>
                </a:lnTo>
                <a:lnTo>
                  <a:pt x="0" y="69646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2517" y="25984"/>
            <a:ext cx="69678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  <a:latin typeface="Century Gothic"/>
                <a:cs typeface="Century Gothic"/>
              </a:rPr>
              <a:t>Challenges </a:t>
            </a:r>
            <a:r>
              <a:rPr dirty="0">
                <a:solidFill>
                  <a:srgbClr val="000000"/>
                </a:solidFill>
                <a:latin typeface="Century Gothic"/>
                <a:cs typeface="Century Gothic"/>
              </a:rPr>
              <a:t>in the </a:t>
            </a:r>
            <a:r>
              <a:rPr spc="-5" dirty="0">
                <a:solidFill>
                  <a:srgbClr val="000000"/>
                </a:solidFill>
                <a:latin typeface="Century Gothic"/>
                <a:cs typeface="Century Gothic"/>
              </a:rPr>
              <a:t>Health</a:t>
            </a:r>
            <a:r>
              <a:rPr spc="-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pc="-5" dirty="0">
                <a:solidFill>
                  <a:srgbClr val="000000"/>
                </a:solidFill>
                <a:latin typeface="Century Gothic"/>
                <a:cs typeface="Century Gothic"/>
              </a:rPr>
              <a:t>Sector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1144" y="1182624"/>
            <a:ext cx="3436620" cy="116586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27305" rIns="0" bIns="0" rtlCol="0">
            <a:spAutoFit/>
          </a:bodyPr>
          <a:lstStyle/>
          <a:p>
            <a:pPr marL="472440" marR="467359" algn="ctr">
              <a:lnSpc>
                <a:spcPct val="100000"/>
              </a:lnSpc>
              <a:spcBef>
                <a:spcPts val="21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Universal  Health Coverage  (UHC)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5403" y="1182624"/>
            <a:ext cx="3438525" cy="1165860"/>
          </a:xfrm>
          <a:prstGeom prst="rect">
            <a:avLst/>
          </a:prstGeom>
          <a:solidFill>
            <a:srgbClr val="EE402C"/>
          </a:solidFill>
        </p:spPr>
        <p:txBody>
          <a:bodyPr vert="horz" wrap="square" lIns="0" tIns="210185" rIns="0" bIns="0" rtlCol="0">
            <a:spAutoFit/>
          </a:bodyPr>
          <a:lstStyle/>
          <a:p>
            <a:pPr marL="949325" marR="274320" indent="-668020">
              <a:lnSpc>
                <a:spcPct val="100000"/>
              </a:lnSpc>
              <a:spcBef>
                <a:spcPts val="165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Stunting of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children  under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Five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1188" y="1182624"/>
            <a:ext cx="3436620" cy="1165860"/>
          </a:xfrm>
          <a:prstGeom prst="rect">
            <a:avLst/>
          </a:prstGeom>
          <a:solidFill>
            <a:srgbClr val="27BEE6"/>
          </a:solidFill>
        </p:spPr>
        <p:txBody>
          <a:bodyPr vert="horz" wrap="square" lIns="0" tIns="210185" rIns="0" bIns="0" rtlCol="0">
            <a:spAutoFit/>
          </a:bodyPr>
          <a:lstStyle/>
          <a:p>
            <a:pPr marL="1127125" marR="499745" indent="-619125">
              <a:lnSpc>
                <a:spcPct val="100000"/>
              </a:lnSpc>
              <a:spcBef>
                <a:spcPts val="165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Low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Institutional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144" y="2586227"/>
            <a:ext cx="3436620" cy="1165860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High rate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C-Section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1144" y="3988308"/>
            <a:ext cx="3436620" cy="116776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11454" rIns="0" bIns="0" rtlCol="0">
            <a:spAutoFit/>
          </a:bodyPr>
          <a:lstStyle/>
          <a:p>
            <a:pPr marL="1075055" marR="137160" indent="-932815">
              <a:lnSpc>
                <a:spcPct val="100000"/>
              </a:lnSpc>
              <a:spcBef>
                <a:spcPts val="1664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Frequent Road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Traffic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Accident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1144" y="5391911"/>
            <a:ext cx="3508375" cy="116586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230504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Drowning of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children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5403" y="2586227"/>
            <a:ext cx="3438525" cy="1165860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Quality of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5403" y="3988308"/>
            <a:ext cx="3438525" cy="1167765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63690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Quality of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drug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7032" y="5391911"/>
            <a:ext cx="3438525" cy="116586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210820" rIns="0" bIns="0" rtlCol="0">
            <a:spAutoFit/>
          </a:bodyPr>
          <a:lstStyle/>
          <a:p>
            <a:pPr marL="854710" marR="375920" indent="-471170">
              <a:lnSpc>
                <a:spcPct val="100000"/>
              </a:lnSpc>
              <a:spcBef>
                <a:spcPts val="166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High out of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pocket  expenditure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1188" y="2586227"/>
            <a:ext cx="3436620" cy="1165860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2095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Hospital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waste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1188" y="3988308"/>
            <a:ext cx="3436620" cy="116776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211454" rIns="0" bIns="0" rtlCol="0">
            <a:spAutoFit/>
          </a:bodyPr>
          <a:lstStyle/>
          <a:p>
            <a:pPr marL="490220" marR="196850" indent="-287020">
              <a:lnSpc>
                <a:spcPct val="100000"/>
              </a:lnSpc>
              <a:spcBef>
                <a:spcPts val="1664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Operationalization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insurance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52816" y="5391911"/>
            <a:ext cx="3436620" cy="1165860"/>
          </a:xfrm>
          <a:prstGeom prst="rect">
            <a:avLst/>
          </a:prstGeom>
          <a:solidFill>
            <a:srgbClr val="538235"/>
          </a:solidFill>
        </p:spPr>
        <p:txBody>
          <a:bodyPr vert="horz" wrap="square" lIns="0" tIns="210820" rIns="0" bIns="0" rtlCol="0">
            <a:spAutoFit/>
          </a:bodyPr>
          <a:lstStyle/>
          <a:p>
            <a:pPr marL="1023619" marR="219710" indent="-795655">
              <a:lnSpc>
                <a:spcPct val="100000"/>
              </a:lnSpc>
              <a:spcBef>
                <a:spcPts val="166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Absenteeism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care  providers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04139"/>
          </a:xfrm>
          <a:custGeom>
            <a:avLst/>
            <a:gdLst/>
            <a:ahLst/>
            <a:cxnLst/>
            <a:rect l="l" t="t" r="r" b="b"/>
            <a:pathLst>
              <a:path w="12192000" h="104139">
                <a:moveTo>
                  <a:pt x="0" y="103632"/>
                </a:moveTo>
                <a:lnTo>
                  <a:pt x="12192000" y="103632"/>
                </a:lnTo>
                <a:lnTo>
                  <a:pt x="12192000" y="0"/>
                </a:lnTo>
                <a:lnTo>
                  <a:pt x="0" y="0"/>
                </a:lnTo>
                <a:lnTo>
                  <a:pt x="0" y="103632"/>
                </a:lnTo>
                <a:close/>
              </a:path>
            </a:pathLst>
          </a:custGeom>
          <a:solidFill>
            <a:srgbClr val="DDA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83336"/>
            <a:ext cx="12192000" cy="6075045"/>
          </a:xfrm>
          <a:custGeom>
            <a:avLst/>
            <a:gdLst/>
            <a:ahLst/>
            <a:cxnLst/>
            <a:rect l="l" t="t" r="r" b="b"/>
            <a:pathLst>
              <a:path w="12192000" h="6075045">
                <a:moveTo>
                  <a:pt x="0" y="6074663"/>
                </a:moveTo>
                <a:lnTo>
                  <a:pt x="12192000" y="6074663"/>
                </a:lnTo>
                <a:lnTo>
                  <a:pt x="12192000" y="0"/>
                </a:lnTo>
                <a:lnTo>
                  <a:pt x="0" y="0"/>
                </a:lnTo>
                <a:lnTo>
                  <a:pt x="0" y="6074663"/>
                </a:lnTo>
                <a:close/>
              </a:path>
            </a:pathLst>
          </a:custGeom>
          <a:solidFill>
            <a:srgbClr val="DDA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03631"/>
            <a:ext cx="12192000" cy="680085"/>
          </a:xfrm>
          <a:custGeom>
            <a:avLst/>
            <a:gdLst/>
            <a:ahLst/>
            <a:cxnLst/>
            <a:rect l="l" t="t" r="r" b="b"/>
            <a:pathLst>
              <a:path w="12192000" h="680085">
                <a:moveTo>
                  <a:pt x="0" y="679704"/>
                </a:moveTo>
                <a:lnTo>
                  <a:pt x="12192000" y="679704"/>
                </a:lnTo>
                <a:lnTo>
                  <a:pt x="12192000" y="0"/>
                </a:lnTo>
                <a:lnTo>
                  <a:pt x="0" y="0"/>
                </a:lnTo>
                <a:lnTo>
                  <a:pt x="0" y="67970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3602" y="86994"/>
            <a:ext cx="4843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entury Gothic"/>
                <a:cs typeface="Century Gothic"/>
              </a:rPr>
              <a:t>Questions </a:t>
            </a:r>
            <a:r>
              <a:rPr sz="4000" spc="-10" dirty="0">
                <a:latin typeface="Century Gothic"/>
                <a:cs typeface="Century Gothic"/>
              </a:rPr>
              <a:t>Before</a:t>
            </a:r>
            <a:r>
              <a:rPr sz="4000" spc="-5" dirty="0">
                <a:latin typeface="Century Gothic"/>
                <a:cs typeface="Century Gothic"/>
              </a:rPr>
              <a:t> </a:t>
            </a:r>
            <a:r>
              <a:rPr sz="4000" spc="-10" dirty="0">
                <a:latin typeface="Century Gothic"/>
                <a:cs typeface="Century Gothic"/>
              </a:rPr>
              <a:t>Us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0623" y="1447800"/>
            <a:ext cx="11306556" cy="4808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9668" y="1328756"/>
            <a:ext cx="9760585" cy="45529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421640" algn="l"/>
              </a:tabLst>
            </a:pPr>
            <a:r>
              <a:rPr sz="3200" dirty="0">
                <a:latin typeface="Palatino Linotype"/>
                <a:cs typeface="Palatino Linotype"/>
              </a:rPr>
              <a:t>Are </a:t>
            </a:r>
            <a:r>
              <a:rPr sz="3200" spc="-30" dirty="0">
                <a:latin typeface="Palatino Linotype"/>
                <a:cs typeface="Palatino Linotype"/>
              </a:rPr>
              <a:t>we </a:t>
            </a:r>
            <a:r>
              <a:rPr sz="3200" spc="-5" dirty="0">
                <a:latin typeface="Palatino Linotype"/>
                <a:cs typeface="Palatino Linotype"/>
              </a:rPr>
              <a:t>providing health </a:t>
            </a:r>
            <a:r>
              <a:rPr sz="3200" dirty="0">
                <a:latin typeface="Palatino Linotype"/>
                <a:cs typeface="Palatino Linotype"/>
              </a:rPr>
              <a:t>service with </a:t>
            </a:r>
            <a:r>
              <a:rPr sz="3200" spc="-5" dirty="0">
                <a:latin typeface="Palatino Linotype"/>
                <a:cs typeface="Palatino Linotype"/>
              </a:rPr>
              <a:t>full</a:t>
            </a:r>
            <a:r>
              <a:rPr sz="3200" spc="60" dirty="0">
                <a:latin typeface="Palatino Linotype"/>
                <a:cs typeface="Palatino Linotype"/>
              </a:rPr>
              <a:t> </a:t>
            </a:r>
            <a:r>
              <a:rPr sz="3200" spc="-5" dirty="0">
                <a:latin typeface="Palatino Linotype"/>
                <a:cs typeface="Palatino Linotype"/>
              </a:rPr>
              <a:t>potential?</a:t>
            </a:r>
            <a:endParaRPr sz="3200">
              <a:latin typeface="Palatino Linotype"/>
              <a:cs typeface="Palatino Linotype"/>
            </a:endParaRPr>
          </a:p>
          <a:p>
            <a:pPr marL="421005" indent="-408305">
              <a:lnSpc>
                <a:spcPct val="100000"/>
              </a:lnSpc>
              <a:spcBef>
                <a:spcPts val="615"/>
              </a:spcBef>
              <a:buFont typeface="Wingdings"/>
              <a:buChar char=""/>
              <a:tabLst>
                <a:tab pos="421640" algn="l"/>
              </a:tabLst>
            </a:pPr>
            <a:r>
              <a:rPr sz="3200" dirty="0">
                <a:latin typeface="Palatino Linotype"/>
                <a:cs typeface="Palatino Linotype"/>
              </a:rPr>
              <a:t>Are </a:t>
            </a:r>
            <a:r>
              <a:rPr sz="3200" spc="-5" dirty="0">
                <a:latin typeface="Palatino Linotype"/>
                <a:cs typeface="Palatino Linotype"/>
              </a:rPr>
              <a:t>the patients </a:t>
            </a:r>
            <a:r>
              <a:rPr sz="3200" dirty="0">
                <a:latin typeface="Palatino Linotype"/>
                <a:cs typeface="Palatino Linotype"/>
              </a:rPr>
              <a:t>satisfied with </a:t>
            </a:r>
            <a:r>
              <a:rPr sz="3200" spc="-5" dirty="0">
                <a:latin typeface="Palatino Linotype"/>
                <a:cs typeface="Palatino Linotype"/>
              </a:rPr>
              <a:t>health</a:t>
            </a:r>
            <a:r>
              <a:rPr sz="3200" spc="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service?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spc="-5" dirty="0">
                <a:latin typeface="Palatino Linotype"/>
                <a:cs typeface="Palatino Linotype"/>
              </a:rPr>
              <a:t>Number </a:t>
            </a:r>
            <a:r>
              <a:rPr sz="3200" dirty="0">
                <a:latin typeface="Palatino Linotype"/>
                <a:cs typeface="Palatino Linotype"/>
              </a:rPr>
              <a:t>of Doctor and </a:t>
            </a:r>
            <a:r>
              <a:rPr sz="3200" spc="-5" dirty="0">
                <a:latin typeface="Palatino Linotype"/>
                <a:cs typeface="Palatino Linotype"/>
              </a:rPr>
              <a:t>Nurse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sufficient?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1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spc="-60" dirty="0">
                <a:latin typeface="Palatino Linotype"/>
                <a:cs typeface="Palatino Linotype"/>
              </a:rPr>
              <a:t>What’s </a:t>
            </a:r>
            <a:r>
              <a:rPr sz="3200" dirty="0">
                <a:latin typeface="Palatino Linotype"/>
                <a:cs typeface="Palatino Linotype"/>
              </a:rPr>
              <a:t>about </a:t>
            </a:r>
            <a:r>
              <a:rPr sz="3200" spc="-5" dirty="0">
                <a:latin typeface="Palatino Linotype"/>
                <a:cs typeface="Palatino Linotype"/>
              </a:rPr>
              <a:t>Carrier Planning </a:t>
            </a:r>
            <a:r>
              <a:rPr sz="3200" dirty="0">
                <a:latin typeface="Palatino Linotype"/>
                <a:cs typeface="Palatino Linotype"/>
              </a:rPr>
              <a:t>of</a:t>
            </a:r>
            <a:r>
              <a:rPr sz="3200" spc="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Doctors?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spc="-5" dirty="0">
                <a:latin typeface="Palatino Linotype"/>
                <a:cs typeface="Palatino Linotype"/>
              </a:rPr>
              <a:t>Health </a:t>
            </a:r>
            <a:r>
              <a:rPr sz="3200" dirty="0">
                <a:latin typeface="Palatino Linotype"/>
                <a:cs typeface="Palatino Linotype"/>
              </a:rPr>
              <a:t>infrastructure?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spc="-5" dirty="0">
                <a:latin typeface="Palatino Linotype"/>
                <a:cs typeface="Palatino Linotype"/>
              </a:rPr>
              <a:t>Incentive for health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officials?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1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spc="-5" dirty="0">
                <a:latin typeface="Palatino Linotype"/>
                <a:cs typeface="Palatino Linotype"/>
              </a:rPr>
              <a:t>Referral system? </a:t>
            </a:r>
            <a:r>
              <a:rPr sz="3200" dirty="0">
                <a:latin typeface="Palatino Linotype"/>
                <a:cs typeface="Palatino Linotype"/>
              </a:rPr>
              <a:t>GP</a:t>
            </a:r>
            <a:r>
              <a:rPr sz="3200" spc="-80" dirty="0">
                <a:latin typeface="Palatino Linotype"/>
                <a:cs typeface="Palatino Linotype"/>
              </a:rPr>
              <a:t> </a:t>
            </a:r>
            <a:r>
              <a:rPr sz="3200" spc="-5" dirty="0">
                <a:latin typeface="Palatino Linotype"/>
                <a:cs typeface="Palatino Linotype"/>
              </a:rPr>
              <a:t>system?</a:t>
            </a:r>
            <a:endParaRPr sz="3200">
              <a:latin typeface="Palatino Linotype"/>
              <a:cs typeface="Palatino Linotype"/>
            </a:endParaRPr>
          </a:p>
          <a:p>
            <a:pPr marL="436245" indent="-423545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Palatino Linotype"/>
                <a:cs typeface="Palatino Linotype"/>
              </a:rPr>
              <a:t>How to stop </a:t>
            </a:r>
            <a:r>
              <a:rPr sz="3200" spc="-5" dirty="0">
                <a:latin typeface="Palatino Linotype"/>
                <a:cs typeface="Palatino Linotype"/>
              </a:rPr>
              <a:t>health tourism from Bangladesh?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2744" y="2537460"/>
            <a:ext cx="1458468" cy="3648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91511" y="3631691"/>
            <a:ext cx="1327403" cy="1458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9695" y="5141976"/>
            <a:ext cx="1455420" cy="10378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61692" y="5522772"/>
            <a:ext cx="10121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001F5F"/>
                </a:solidFill>
                <a:latin typeface="Calibri"/>
                <a:cs typeface="Calibri"/>
              </a:rPr>
              <a:t>VISION</a:t>
            </a:r>
            <a:r>
              <a:rPr sz="15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500" b="1" spc="-5" dirty="0">
                <a:solidFill>
                  <a:srgbClr val="001F5F"/>
                </a:solidFill>
                <a:latin typeface="Calibri"/>
                <a:cs typeface="Calibri"/>
              </a:rPr>
              <a:t>2021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39695" y="2598420"/>
            <a:ext cx="1373124" cy="106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99716" y="2601467"/>
            <a:ext cx="1136904" cy="513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53995" y="2875788"/>
            <a:ext cx="1223771" cy="513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44851" y="3150107"/>
            <a:ext cx="1181100" cy="513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76297" y="2658821"/>
            <a:ext cx="8991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B9E23"/>
                </a:solidFill>
                <a:latin typeface="Century Gothic"/>
                <a:cs typeface="Century Gothic"/>
              </a:rPr>
              <a:t>Middle  </a:t>
            </a:r>
            <a:r>
              <a:rPr sz="1800" b="1" dirty="0">
                <a:solidFill>
                  <a:srgbClr val="FB9E23"/>
                </a:solidFill>
                <a:latin typeface="Century Gothic"/>
                <a:cs typeface="Century Gothic"/>
              </a:rPr>
              <a:t>Income  Country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16452" y="2122932"/>
            <a:ext cx="1456944" cy="36499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11879" y="4727447"/>
            <a:ext cx="1455420" cy="10378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09186" y="5109209"/>
            <a:ext cx="8616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SDGs</a:t>
            </a:r>
            <a:r>
              <a:rPr sz="15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5" dirty="0">
                <a:solidFill>
                  <a:srgbClr val="FFFFFF"/>
                </a:solidFill>
                <a:latin typeface="Calibri"/>
                <a:cs typeface="Calibri"/>
              </a:rPr>
              <a:t>2030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2547" y="2375916"/>
            <a:ext cx="1461515" cy="7757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24071" y="2377439"/>
            <a:ext cx="1458468" cy="4876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30752" y="2636520"/>
            <a:ext cx="1245108" cy="513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47261" y="2432685"/>
            <a:ext cx="1190625" cy="561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b="1" spc="-5" dirty="0">
                <a:solidFill>
                  <a:srgbClr val="FB9E23"/>
                </a:solidFill>
                <a:latin typeface="Century Gothic"/>
                <a:cs typeface="Century Gothic"/>
              </a:rPr>
              <a:t>Developed</a:t>
            </a:r>
            <a:endParaRPr sz="1700">
              <a:latin typeface="Century Gothic"/>
              <a:cs typeface="Century Gothic"/>
            </a:endParaRPr>
          </a:p>
          <a:p>
            <a:pPr marL="635" algn="ctr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FB9E23"/>
                </a:solidFill>
                <a:latin typeface="Century Gothic"/>
                <a:cs typeface="Century Gothic"/>
              </a:rPr>
              <a:t>Junction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78935" y="3265932"/>
            <a:ext cx="1303019" cy="13898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97779" y="1636776"/>
            <a:ext cx="1458468" cy="36499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94732" y="4241291"/>
            <a:ext cx="1455419" cy="10378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85308" y="4394072"/>
            <a:ext cx="8737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001F5F"/>
                </a:solidFill>
                <a:latin typeface="Calibri"/>
                <a:cs typeface="Calibri"/>
              </a:rPr>
              <a:t>2041</a:t>
            </a:r>
            <a:endParaRPr sz="15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</a:pPr>
            <a:r>
              <a:rPr sz="1500" b="1" spc="-5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500" b="1" spc="-1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500" b="1" spc="-15" dirty="0">
                <a:solidFill>
                  <a:srgbClr val="001F5F"/>
                </a:solidFill>
                <a:latin typeface="Calibri"/>
                <a:cs typeface="Calibri"/>
              </a:rPr>
              <a:t>v</a:t>
            </a:r>
            <a:r>
              <a:rPr sz="1500" b="1" spc="-5" dirty="0">
                <a:solidFill>
                  <a:srgbClr val="001F5F"/>
                </a:solidFill>
                <a:latin typeface="Calibri"/>
                <a:cs typeface="Calibri"/>
              </a:rPr>
              <a:t>eloped  </a:t>
            </a:r>
            <a:r>
              <a:rPr sz="1500" b="1" spc="-10" dirty="0">
                <a:solidFill>
                  <a:srgbClr val="001F5F"/>
                </a:solidFill>
                <a:latin typeface="Calibri"/>
                <a:cs typeface="Calibri"/>
              </a:rPr>
              <a:t>Country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74920" y="1716023"/>
            <a:ext cx="1432559" cy="77419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76444" y="1717548"/>
            <a:ext cx="1429511" cy="48615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73040" y="1975104"/>
            <a:ext cx="1034796" cy="51358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200269" y="1771269"/>
            <a:ext cx="1163320" cy="562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b="1" spc="-5" dirty="0">
                <a:solidFill>
                  <a:srgbClr val="FB9E23"/>
                </a:solidFill>
                <a:latin typeface="Century Gothic"/>
                <a:cs typeface="Century Gothic"/>
              </a:rPr>
              <a:t>Prosperous</a:t>
            </a:r>
            <a:endParaRPr sz="17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FB9E23"/>
                </a:solidFill>
                <a:latin typeface="Century Gothic"/>
                <a:cs typeface="Century Gothic"/>
              </a:rPr>
              <a:t>Nation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45023" y="2784348"/>
            <a:ext cx="1333500" cy="141427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82156" y="1179575"/>
            <a:ext cx="1458468" cy="364845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9107" y="3784091"/>
            <a:ext cx="1455420" cy="103784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85533" y="3967988"/>
            <a:ext cx="125095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2071</a:t>
            </a:r>
            <a:endParaRPr sz="1400">
              <a:latin typeface="Century Gothic"/>
              <a:cs typeface="Century Gothic"/>
            </a:endParaRPr>
          </a:p>
          <a:p>
            <a:pPr marR="2540"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100 YEARS</a:t>
            </a:r>
            <a:r>
              <a:rPr sz="1400" b="1" spc="-1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endParaRPr sz="14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400" b="1" spc="-55" dirty="0">
                <a:solidFill>
                  <a:srgbClr val="FFFFFF"/>
                </a:solidFill>
                <a:latin typeface="Century Gothic"/>
                <a:cs typeface="Century Gothic"/>
              </a:rPr>
              <a:t>INDEPENDENCE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26352" y="1341119"/>
            <a:ext cx="1359407" cy="9768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90384" y="2458974"/>
            <a:ext cx="8337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C000"/>
                </a:solidFill>
                <a:latin typeface="Century Gothic"/>
                <a:cs typeface="Century Gothic"/>
              </a:rPr>
              <a:t>DEPENDS</a:t>
            </a:r>
            <a:endParaRPr sz="1400">
              <a:latin typeface="Century Gothic"/>
              <a:cs typeface="Century Gothic"/>
            </a:endParaRPr>
          </a:p>
          <a:p>
            <a:pPr marL="12700" marR="5080" indent="-1270" algn="ctr">
              <a:lnSpc>
                <a:spcPct val="100000"/>
              </a:lnSpc>
            </a:pPr>
            <a:r>
              <a:rPr sz="1400" b="1" spc="-5" dirty="0">
                <a:solidFill>
                  <a:srgbClr val="FFC000"/>
                </a:solidFill>
                <a:latin typeface="Century Gothic"/>
                <a:cs typeface="Century Gothic"/>
              </a:rPr>
              <a:t>on our  ability </a:t>
            </a:r>
            <a:r>
              <a:rPr sz="1400" b="1" dirty="0">
                <a:solidFill>
                  <a:srgbClr val="FFC000"/>
                </a:solidFill>
                <a:latin typeface="Century Gothic"/>
                <a:cs typeface="Century Gothic"/>
              </a:rPr>
              <a:t>to  </a:t>
            </a:r>
            <a:r>
              <a:rPr sz="1400" b="1" spc="-5" dirty="0">
                <a:solidFill>
                  <a:srgbClr val="FFC000"/>
                </a:solidFill>
                <a:latin typeface="Century Gothic"/>
                <a:cs typeface="Century Gothic"/>
              </a:rPr>
              <a:t>translate  </a:t>
            </a:r>
            <a:r>
              <a:rPr sz="1400" b="1" dirty="0">
                <a:solidFill>
                  <a:srgbClr val="FFC000"/>
                </a:solidFill>
                <a:latin typeface="Century Gothic"/>
                <a:cs typeface="Century Gothic"/>
              </a:rPr>
              <a:t>the</a:t>
            </a:r>
            <a:r>
              <a:rPr sz="1400" b="1" spc="-105" dirty="0">
                <a:solidFill>
                  <a:srgbClr val="FFC000"/>
                </a:solidFill>
                <a:latin typeface="Century Gothic"/>
                <a:cs typeface="Century Gothic"/>
              </a:rPr>
              <a:t> </a:t>
            </a:r>
            <a:r>
              <a:rPr sz="1400" b="1" dirty="0">
                <a:solidFill>
                  <a:srgbClr val="FFC000"/>
                </a:solidFill>
                <a:latin typeface="Century Gothic"/>
                <a:cs typeface="Century Gothic"/>
              </a:rPr>
              <a:t>vision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063483" y="682751"/>
            <a:ext cx="1458467" cy="364998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52231" y="3192779"/>
            <a:ext cx="1670303" cy="125425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247633" y="3531234"/>
            <a:ext cx="1081405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FFFFFF"/>
                </a:solidFill>
                <a:latin typeface="Century Gothic"/>
                <a:cs typeface="Century Gothic"/>
              </a:rPr>
              <a:t>2100</a:t>
            </a:r>
            <a:endParaRPr sz="17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7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Delta</a:t>
            </a:r>
            <a:r>
              <a:rPr sz="1700" b="1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b="1" dirty="0">
                <a:solidFill>
                  <a:srgbClr val="FFFFFF"/>
                </a:solidFill>
                <a:latin typeface="Century Gothic"/>
                <a:cs typeface="Century Gothic"/>
              </a:rPr>
              <a:t>Plan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060435" y="745236"/>
            <a:ext cx="1373124" cy="7909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54923" y="746759"/>
            <a:ext cx="1267968" cy="51358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311895" y="1021080"/>
            <a:ext cx="888492" cy="51358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286750" y="804798"/>
            <a:ext cx="921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B9E23"/>
                </a:solidFill>
                <a:latin typeface="Century Gothic"/>
                <a:cs typeface="Century Gothic"/>
              </a:rPr>
              <a:t>Resilient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B9E23"/>
                </a:solidFill>
                <a:latin typeface="Century Gothic"/>
                <a:cs typeface="Century Gothic"/>
              </a:rPr>
              <a:t>Delta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104631" y="1824227"/>
            <a:ext cx="1324355" cy="13426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0" y="0"/>
            <a:ext cx="12192000" cy="589915"/>
          </a:xfrm>
          <a:custGeom>
            <a:avLst/>
            <a:gdLst/>
            <a:ahLst/>
            <a:cxnLst/>
            <a:rect l="l" t="t" r="r" b="b"/>
            <a:pathLst>
              <a:path w="12192000" h="589915">
                <a:moveTo>
                  <a:pt x="0" y="589788"/>
                </a:moveTo>
                <a:lnTo>
                  <a:pt x="12192000" y="589788"/>
                </a:lnTo>
                <a:lnTo>
                  <a:pt x="12192000" y="0"/>
                </a:lnTo>
                <a:lnTo>
                  <a:pt x="0" y="0"/>
                </a:lnTo>
                <a:lnTo>
                  <a:pt x="0" y="58978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Dream Trajectory of</a:t>
            </a:r>
            <a:r>
              <a:rPr spc="-130" dirty="0"/>
              <a:t> </a:t>
            </a:r>
            <a:r>
              <a:rPr spc="-5" dirty="0"/>
              <a:t>Bangladesh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8661" y="1724279"/>
            <a:ext cx="7579995" cy="255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600" b="1" spc="-25" dirty="0">
                <a:solidFill>
                  <a:srgbClr val="001F5F"/>
                </a:solidFill>
                <a:latin typeface="Calibri"/>
                <a:cs typeface="Calibri"/>
              </a:rPr>
              <a:t>Thanks!!</a:t>
            </a:r>
            <a:endParaRPr sz="16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6426809"/>
            <a:ext cx="765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10/24/2018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1177</Words>
  <Application>Microsoft Office PowerPoint</Application>
  <PresentationFormat>Custom</PresentationFormat>
  <Paragraphs>425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Visions 2021 &amp; 2041, Golden Ladders 2071 &amp; 2100 &amp; Journey to SDGs  2030 including their health ingredients: what they really mean for  Bangladesh and how this nation is moving to these high end futures</vt:lpstr>
      <vt:lpstr>PowerPoint Presentation</vt:lpstr>
      <vt:lpstr>Development Miracle</vt:lpstr>
      <vt:lpstr>MDG Score Card Bangladesh</vt:lpstr>
      <vt:lpstr>Bangladesh MDGs achievements</vt:lpstr>
      <vt:lpstr>Bangladesh MDGs achievements: International recognition</vt:lpstr>
      <vt:lpstr>PowerPoint Presentation</vt:lpstr>
      <vt:lpstr>PowerPoint Presentation</vt:lpstr>
      <vt:lpstr>SDG Basics</vt:lpstr>
      <vt:lpstr>Leaving No One Behind</vt:lpstr>
      <vt:lpstr>SDG Implementation Strategy</vt:lpstr>
      <vt:lpstr>Alignment of SDGs with 7FYP</vt:lpstr>
      <vt:lpstr>the Agenda 2030 (SDGs)</vt:lpstr>
      <vt:lpstr>Actions</vt:lpstr>
      <vt:lpstr>SDG Implementation and Monitoring Committee</vt:lpstr>
      <vt:lpstr>Translation of Documents</vt:lpstr>
      <vt:lpstr>PowerPoint Presentation</vt:lpstr>
      <vt:lpstr>PowerPoint Presentation</vt:lpstr>
      <vt:lpstr>Data Gap Analysis for SDGs Monitoring</vt:lpstr>
      <vt:lpstr>Financing for SDGs: Bangladesh</vt:lpstr>
      <vt:lpstr>A Training Handbook on 7th Five Year Plan</vt:lpstr>
      <vt:lpstr>PowerPoint Presentation</vt:lpstr>
      <vt:lpstr>M &amp; E Framework of SDGs</vt:lpstr>
      <vt:lpstr>SDG TRACKER</vt:lpstr>
      <vt:lpstr>Voluntary National Review 2017</vt:lpstr>
      <vt:lpstr>Government in Action: SDGs Implementation Review</vt:lpstr>
      <vt:lpstr>Sheikh Hasina Special Initiatives and SDG</vt:lpstr>
      <vt:lpstr>Challenges Ahead</vt:lpstr>
      <vt:lpstr>Way forward</vt:lpstr>
      <vt:lpstr>Phenomenal success in Health Sector</vt:lpstr>
      <vt:lpstr>1.a.2 Proportion of total government spending on essential services (education, health and social  protection)</vt:lpstr>
      <vt:lpstr>Challenges in the Health Sector</vt:lpstr>
      <vt:lpstr>Questions Before Us</vt:lpstr>
      <vt:lpstr>Dream Trajectory of Bangladesh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Emdad</cp:lastModifiedBy>
  <cp:revision>4</cp:revision>
  <dcterms:created xsi:type="dcterms:W3CDTF">2018-10-25T03:37:56Z</dcterms:created>
  <dcterms:modified xsi:type="dcterms:W3CDTF">2019-01-07T15:00:31Z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2018-10-25T00:00:00Z</vt:filetime>
  </property>
</Properties>
</file>