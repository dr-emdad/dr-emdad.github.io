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</p:sldMasterIdLst>
  <p:notesMasterIdLst>
    <p:notesMasterId r:id="rId34"/>
  </p:notesMasterIdLst>
  <p:sldIdLst>
    <p:sldId id="424" r:id="rId3"/>
    <p:sldId id="404" r:id="rId4"/>
    <p:sldId id="423" r:id="rId5"/>
    <p:sldId id="428" r:id="rId6"/>
    <p:sldId id="425" r:id="rId7"/>
    <p:sldId id="410" r:id="rId8"/>
    <p:sldId id="419" r:id="rId9"/>
    <p:sldId id="334" r:id="rId10"/>
    <p:sldId id="340" r:id="rId11"/>
    <p:sldId id="427" r:id="rId12"/>
    <p:sldId id="256" r:id="rId13"/>
    <p:sldId id="414" r:id="rId14"/>
    <p:sldId id="441" r:id="rId15"/>
    <p:sldId id="416" r:id="rId16"/>
    <p:sldId id="415" r:id="rId17"/>
    <p:sldId id="417" r:id="rId18"/>
    <p:sldId id="418" r:id="rId19"/>
    <p:sldId id="440" r:id="rId20"/>
    <p:sldId id="402" r:id="rId21"/>
    <p:sldId id="437" r:id="rId22"/>
    <p:sldId id="438" r:id="rId23"/>
    <p:sldId id="439" r:id="rId24"/>
    <p:sldId id="443" r:id="rId25"/>
    <p:sldId id="433" r:id="rId26"/>
    <p:sldId id="308" r:id="rId27"/>
    <p:sldId id="312" r:id="rId28"/>
    <p:sldId id="422" r:id="rId29"/>
    <p:sldId id="409" r:id="rId30"/>
    <p:sldId id="432" r:id="rId31"/>
    <p:sldId id="442" r:id="rId32"/>
    <p:sldId id="344" r:id="rId3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00FF99"/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60" d="100"/>
          <a:sy n="60" d="100"/>
        </p:scale>
        <p:origin x="-1884" y="-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187264"/>
        <c:axId val="228524800"/>
      </c:barChart>
      <c:catAx>
        <c:axId val="178187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8524800"/>
        <c:crosses val="autoZero"/>
        <c:auto val="1"/>
        <c:lblAlgn val="ctr"/>
        <c:lblOffset val="100"/>
        <c:noMultiLvlLbl val="0"/>
      </c:catAx>
      <c:valAx>
        <c:axId val="228524800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781872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6770688"/>
        <c:axId val="136772224"/>
      </c:barChart>
      <c:catAx>
        <c:axId val="136770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6772224"/>
        <c:crosses val="autoZero"/>
        <c:auto val="1"/>
        <c:lblAlgn val="ctr"/>
        <c:lblOffset val="100"/>
        <c:noMultiLvlLbl val="0"/>
      </c:catAx>
      <c:valAx>
        <c:axId val="1367722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67706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14367</c:v>
                </c:pt>
                <c:pt idx="1">
                  <c:v>12871</c:v>
                </c:pt>
                <c:pt idx="2">
                  <c:v>4122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887</c:v>
                </c:pt>
                <c:pt idx="1">
                  <c:v>1573</c:v>
                </c:pt>
                <c:pt idx="2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1795</c:v>
                </c:pt>
                <c:pt idx="1">
                  <c:v>1517</c:v>
                </c:pt>
                <c:pt idx="2">
                  <c:v>1518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2690</c:v>
                </c:pt>
                <c:pt idx="1">
                  <c:v>3106</c:v>
                </c:pt>
                <c:pt idx="2">
                  <c:v>2870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6813952"/>
        <c:axId val="136828032"/>
      </c:barChart>
      <c:catAx>
        <c:axId val="13681395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6828032"/>
        <c:crosses val="autoZero"/>
        <c:auto val="1"/>
        <c:lblAlgn val="ctr"/>
        <c:lblOffset val="100"/>
        <c:noMultiLvlLbl val="0"/>
      </c:catAx>
      <c:valAx>
        <c:axId val="1368280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3681395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36891008"/>
        <c:axId val="228471168"/>
        <c:axId val="0"/>
      </c:bar3DChart>
      <c:catAx>
        <c:axId val="136891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8471168"/>
        <c:crosses val="autoZero"/>
        <c:auto val="1"/>
        <c:lblAlgn val="ctr"/>
        <c:lblOffset val="100"/>
        <c:noMultiLvlLbl val="0"/>
      </c:catAx>
      <c:valAx>
        <c:axId val="228471168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13689100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4/25/2019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13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067C116D-9CB3-42FB-BAA8-F1AACF7FCA97}" type="slidenum">
              <a:rPr lang="en-US" sz="1300" smtClean="0">
                <a:solidFill>
                  <a:srgbClr val="000000"/>
                </a:solidFill>
                <a:latin typeface="Times New Roman" pitchFamily="18" charset="0"/>
                <a:ea typeface="ＭＳ Ｐ明朝"/>
                <a:cs typeface="ＭＳ Ｐ明朝"/>
              </a:rPr>
              <a:pPr eaLnBrk="1"/>
              <a:t>20</a:t>
            </a:fld>
            <a:endParaRPr lang="en-US" sz="1300" smtClean="0">
              <a:solidFill>
                <a:srgbClr val="000000"/>
              </a:solidFill>
              <a:latin typeface="Times New Roman" pitchFamily="18" charset="0"/>
              <a:ea typeface="ＭＳ Ｐ明朝"/>
              <a:cs typeface="ＭＳ Ｐ明朝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</p:spPr>
        <p:txBody>
          <a:bodyPr lIns="93170" tIns="46585" rIns="93170" bIns="46585"/>
          <a:lstStyle/>
          <a:p>
            <a:pPr defTabSz="815975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</p:spPr>
        <p:txBody>
          <a:bodyPr lIns="93170" tIns="46585" rIns="93170" bIns="46585"/>
          <a:lstStyle/>
          <a:p>
            <a:pPr defTabSz="914400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1203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</p:spPr>
        <p:txBody>
          <a:bodyPr lIns="93170" tIns="46585" rIns="93170" bIns="46585"/>
          <a:lstStyle/>
          <a:p>
            <a:pPr defTabSz="914400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28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29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31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4/25/2019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2019/4/25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8.wmf"/><Relationship Id="rId10" Type="http://schemas.openxmlformats.org/officeDocument/2006/relationships/image" Target="../media/image2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9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Model: A New 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Dimention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of Health  Service Development.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National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99" y="1600200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446" y="1600201"/>
            <a:ext cx="4078183" cy="316025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05808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/>
          <a:lstStyle/>
          <a:p>
            <a:r>
              <a:rPr lang="en-GB" dirty="0" smtClean="0"/>
              <a:t>Background History of C-J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85800"/>
            <a:ext cx="8229600" cy="615117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GB" sz="2800" dirty="0" smtClean="0"/>
              <a:t>The program starts  in Chowgacha UHC in 1986. </a:t>
            </a:r>
          </a:p>
          <a:p>
            <a:r>
              <a:rPr lang="en-GB" sz="2800" dirty="0" smtClean="0"/>
              <a:t>Social </a:t>
            </a:r>
            <a:r>
              <a:rPr lang="en-GB" sz="2800" dirty="0"/>
              <a:t>mobilization program starts in </a:t>
            </a:r>
            <a:r>
              <a:rPr lang="en-GB" sz="2800" dirty="0" err="1"/>
              <a:t>Lohagara</a:t>
            </a:r>
            <a:r>
              <a:rPr lang="en-GB" sz="2800" dirty="0"/>
              <a:t> UHC , </a:t>
            </a:r>
            <a:r>
              <a:rPr lang="en-GB" sz="2800" dirty="0" err="1"/>
              <a:t>Narail</a:t>
            </a:r>
            <a:r>
              <a:rPr lang="en-GB" sz="2800" dirty="0"/>
              <a:t>  from 1989 -</a:t>
            </a:r>
            <a:r>
              <a:rPr lang="en-GB" sz="2800" dirty="0" smtClean="0"/>
              <a:t> </a:t>
            </a:r>
            <a:r>
              <a:rPr lang="en-GB" sz="2800" dirty="0"/>
              <a:t>1995</a:t>
            </a:r>
            <a:endParaRPr lang="en-GB" sz="2800" dirty="0" smtClean="0"/>
          </a:p>
          <a:p>
            <a:r>
              <a:rPr lang="en-GB" sz="2800" dirty="0" smtClean="0"/>
              <a:t>In 1995-97   open 4 section a) ANC </a:t>
            </a:r>
            <a:r>
              <a:rPr lang="en-GB" sz="2800" dirty="0" err="1" smtClean="0"/>
              <a:t>corner,b</a:t>
            </a:r>
            <a:r>
              <a:rPr lang="en-GB" sz="2800" dirty="0" smtClean="0"/>
              <a:t>) Under-5 corner  </a:t>
            </a:r>
            <a:r>
              <a:rPr lang="en-GB" sz="2800" dirty="0"/>
              <a:t>c</a:t>
            </a:r>
            <a:r>
              <a:rPr lang="en-GB" sz="2800" dirty="0" smtClean="0"/>
              <a:t>)</a:t>
            </a:r>
            <a:r>
              <a:rPr lang="en-GB" sz="2800" dirty="0" err="1" smtClean="0"/>
              <a:t>birth&amp;death</a:t>
            </a:r>
            <a:r>
              <a:rPr lang="en-GB" sz="2800" dirty="0" smtClean="0"/>
              <a:t> record </a:t>
            </a:r>
            <a:r>
              <a:rPr lang="en-GB" sz="2800" dirty="0" err="1" smtClean="0"/>
              <a:t>ing</a:t>
            </a:r>
            <a:r>
              <a:rPr lang="en-GB" sz="2800" dirty="0" smtClean="0"/>
              <a:t> </a:t>
            </a:r>
            <a:r>
              <a:rPr lang="en-GB" sz="2800" dirty="0" err="1" smtClean="0"/>
              <a:t>unit.d</a:t>
            </a:r>
            <a:r>
              <a:rPr lang="en-GB" sz="2800" dirty="0" smtClean="0"/>
              <a:t>) Health education corner</a:t>
            </a:r>
          </a:p>
          <a:p>
            <a:r>
              <a:rPr lang="en-GB" sz="2800" dirty="0" smtClean="0"/>
              <a:t> In </a:t>
            </a:r>
            <a:r>
              <a:rPr lang="en-GB" sz="2800" dirty="0" err="1" smtClean="0"/>
              <a:t>june</a:t>
            </a:r>
            <a:r>
              <a:rPr lang="en-GB" sz="2800" dirty="0" smtClean="0"/>
              <a:t> 2008 ,MOH&amp;FW </a:t>
            </a:r>
            <a:r>
              <a:rPr lang="en-GB" sz="2800" dirty="0" err="1" smtClean="0"/>
              <a:t>decleared</a:t>
            </a:r>
            <a:r>
              <a:rPr lang="en-GB" sz="2800" dirty="0" smtClean="0"/>
              <a:t> the Chowgacha UHC as Model UHC of Bangladesh.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11 district hospital&amp; 5 Upazilla </a:t>
            </a:r>
            <a:r>
              <a:rPr lang="en-GB" sz="2800" dirty="0" err="1" smtClean="0"/>
              <a:t>UHC.Now</a:t>
            </a:r>
            <a:r>
              <a:rPr lang="en-GB" sz="2800" dirty="0" smtClean="0"/>
              <a:t> replicating  by the order of PM </a:t>
            </a:r>
            <a:r>
              <a:rPr lang="en-GB" sz="2800" dirty="0" err="1" smtClean="0"/>
              <a:t>office,ADG</a:t>
            </a:r>
            <a:r>
              <a:rPr lang="en-GB" sz="2800" dirty="0" smtClean="0"/>
              <a:t>(Admin)is  </a:t>
            </a:r>
            <a:r>
              <a:rPr lang="en-GB" sz="2800" dirty="0" err="1" smtClean="0"/>
              <a:t>ChairPerson</a:t>
            </a:r>
            <a:r>
              <a:rPr lang="en-GB" sz="2800" dirty="0" smtClean="0"/>
              <a:t>.       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1004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55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51" y="2362200"/>
            <a:ext cx="383724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1" y="2362200"/>
            <a:ext cx="4041940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58941" y="5638800"/>
            <a:ext cx="4365459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987337" y="5638800"/>
            <a:ext cx="3828051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193360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1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5094515" y="1040332"/>
            <a:ext cx="3733800" cy="94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3380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-38100" y="4876800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90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82562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39" y="3462337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46839" y="609600"/>
            <a:ext cx="4039961" cy="137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dirty="0"/>
              <a:t>Community Supported </a:t>
            </a:r>
            <a:r>
              <a:rPr lang="en-US" dirty="0" smtClean="0"/>
              <a:t>Volunteer </a:t>
            </a:r>
            <a:r>
              <a:rPr lang="en-US" dirty="0"/>
              <a:t>Working as receptionist</a:t>
            </a:r>
            <a:r>
              <a:rPr lang="en-US" dirty="0" smtClean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4114800"/>
            <a:ext cx="4308475" cy="1143000"/>
          </a:xfrm>
        </p:spPr>
        <p:txBody>
          <a:bodyPr/>
          <a:lstStyle/>
          <a:p>
            <a:r>
              <a:rPr lang="en-GB" sz="3200" dirty="0" smtClean="0"/>
              <a:t>Community supported volunteer working in ANC corner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18416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2982" y="6096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 smtClean="0"/>
          </a:p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         In 2008, Chowgacha Health Complex declared as the model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        health complex.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All the components of primary health care implemented in Chowgacha in 2000.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(4413)delivery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2004 to 2014&amp; 2017. 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31762"/>
              </p:ext>
            </p:extLst>
          </p:nvPr>
        </p:nvGraphicFramePr>
        <p:xfrm>
          <a:off x="761999" y="1219200"/>
          <a:ext cx="8001003" cy="55333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3899"/>
                <a:gridCol w="800101"/>
                <a:gridCol w="1155700"/>
                <a:gridCol w="1066800"/>
                <a:gridCol w="1066800"/>
                <a:gridCol w="977900"/>
                <a:gridCol w="939803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93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5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171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817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2861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132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7292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170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8935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130 (6632)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   (</a:t>
                      </a:r>
                      <a:r>
                        <a:rPr lang="bn-IN" sz="1600" dirty="0">
                          <a:effectLst/>
                        </a:rPr>
                        <a:t>99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4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422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38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1</a:t>
                      </a:r>
                      <a:r>
                        <a:rPr lang="en-GB" sz="1600">
                          <a:effectLst/>
                        </a:rPr>
                        <a:t>    (</a:t>
                      </a:r>
                      <a:r>
                        <a:rPr lang="bn-IN" sz="1600">
                          <a:effectLst/>
                        </a:rPr>
                        <a:t>1899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4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4413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66 (</a:t>
                      </a:r>
                      <a:r>
                        <a:rPr lang="bn-IN" sz="1600">
                          <a:effectLst/>
                        </a:rPr>
                        <a:t>2932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02</a:t>
                      </a:r>
                      <a:r>
                        <a:rPr lang="en-GB" sz="1600" dirty="0">
                          <a:effectLst/>
                        </a:rPr>
                        <a:t>      (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0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07</a:t>
                      </a:r>
                      <a:r>
                        <a:rPr lang="en-GB" sz="1600">
                          <a:effectLst/>
                        </a:rPr>
                        <a:t>   (</a:t>
                      </a:r>
                      <a:r>
                        <a:rPr lang="bn-IN" sz="1600">
                          <a:effectLst/>
                        </a:rPr>
                        <a:t>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473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22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1107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599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160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91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42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47</a:t>
                      </a:r>
                      <a:r>
                        <a:rPr lang="en-GB" sz="1600" dirty="0">
                          <a:effectLst/>
                        </a:rPr>
                        <a:t>  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21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16.6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58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36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23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18.6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551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78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44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25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21.1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27442"/>
            <a:ext cx="8229600" cy="907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98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6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6172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800" b="1" dirty="0"/>
              <a:t> </a:t>
            </a:r>
            <a:r>
              <a:rPr lang="en-US" sz="2800" b="1" dirty="0" smtClean="0"/>
              <a:t>   </a:t>
            </a:r>
            <a:r>
              <a:rPr lang="en-US" sz="2800" b="1" i="1" dirty="0" smtClean="0"/>
              <a:t>In secured</a:t>
            </a:r>
            <a:r>
              <a:rPr lang="en-US" sz="28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 was very low.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Receiving money from the patients by non-govt. staff.</a:t>
            </a:r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	</a:t>
            </a: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7302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845308"/>
              </p:ext>
            </p:extLst>
          </p:nvPr>
        </p:nvGraphicFramePr>
        <p:xfrm>
          <a:off x="148988" y="990600"/>
          <a:ext cx="8894764" cy="439221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07670"/>
                <a:gridCol w="1757942"/>
                <a:gridCol w="1512798"/>
                <a:gridCol w="1313718"/>
                <a:gridCol w="1248032"/>
                <a:gridCol w="1227302"/>
                <a:gridCol w="1227302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 %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11.08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14.79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36.67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38.43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65.06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60.41</a:t>
                      </a: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66.40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*05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*03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*05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67.00</a:t>
                      </a: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4961934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99202417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8917226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157755498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851560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2018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044464"/>
              </p:ext>
            </p:extLst>
          </p:nvPr>
        </p:nvGraphicFramePr>
        <p:xfrm>
          <a:off x="-94343" y="1905000"/>
          <a:ext cx="1015274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067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2018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888015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033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Jhenaidah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5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66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</a:t>
            </a:r>
            <a:r>
              <a:rPr lang="en-US" sz="3200" b="1" dirty="0" smtClean="0">
                <a:solidFill>
                  <a:prstClr val="white"/>
                </a:solidFill>
                <a:latin typeface="Arial" charset="0"/>
                <a:cs typeface="Arial" charset="0"/>
              </a:rPr>
              <a:t>Other Hospitals</a:t>
            </a:r>
            <a:endParaRPr lang="en-US" sz="3200" b="1" dirty="0">
              <a:solidFill>
                <a:prstClr val="white"/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514350" indent="-514350" algn="just"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District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Hospitals:Chuadanga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Jessore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Magura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Kox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-bazar,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Joypurhat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-District,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Bogura-District,Thakurgoan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(20 District Hospital)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Upazilla Health Complex: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Koatchandpur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Horinakundu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Monpura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Malendah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Birgonj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,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Jekhorgacha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Monirampur,Meherpur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(40-Upazilla Health Complex)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Community Support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Commette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headed by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in 2015.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C-J Community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Engazed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Health Management Model headed by ADG(Admin) DGHS-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Stratigic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Plan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Devlopment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0" algn="just"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8"/>
          <p:cNvGrpSpPr>
            <a:grpSpLocks/>
          </p:cNvGrpSpPr>
          <p:nvPr/>
        </p:nvGrpSpPr>
        <p:grpSpPr bwMode="auto">
          <a:xfrm>
            <a:off x="-1440" y="1905320"/>
            <a:ext cx="9145440" cy="4952680"/>
            <a:chOff x="-1" y="1200"/>
            <a:chExt cx="5761" cy="3120"/>
          </a:xfrm>
        </p:grpSpPr>
        <p:sp>
          <p:nvSpPr>
            <p:cNvPr id="25638" name="Freeform 2"/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39" name="Object 3"/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6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4"/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7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5"/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8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2" name="Freeform 6"/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43" name="Object 7"/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69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381601" y="228985"/>
            <a:ext cx="5181120" cy="83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5604" name="Group 42"/>
          <p:cNvGrpSpPr>
            <a:grpSpLocks/>
          </p:cNvGrpSpPr>
          <p:nvPr/>
        </p:nvGrpSpPr>
        <p:grpSpPr bwMode="auto">
          <a:xfrm>
            <a:off x="152640" y="1857795"/>
            <a:ext cx="8838720" cy="4818746"/>
            <a:chOff x="96" y="1170"/>
            <a:chExt cx="5568" cy="3036"/>
          </a:xfrm>
        </p:grpSpPr>
        <p:grpSp>
          <p:nvGrpSpPr>
            <p:cNvPr id="25606" name="Group 20"/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5628" name="Oval 10"/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9" name="Group 19"/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5630" name="Group 13"/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5636" name="Picture 1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37" name="AutoShape 1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31" name="Group 18"/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5632" name="Freeform 14"/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3" name="Freeform 15"/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4" name="Freeform 16"/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5" name="Freeform 17"/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7" name="Group 29"/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5620" name="Oval 21"/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1" name="Group 28"/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5622" name="Picture 22"/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5623" name="Group 27"/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5624" name="Freeform 23"/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5" name="Freeform 24"/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6" name="Freeform 25"/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7" name="Freeform 26"/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8" name="Group 40"/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5610" name="Oval 30"/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11" name="Group 39"/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5612" name="Group 33"/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5618" name="Picture 3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19" name="AutoShape 3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13" name="Group 38"/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5614" name="Freeform 34"/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5" name="Freeform 35"/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6" name="Freeform 36"/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7" name="Freeform 37"/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605" name="Rectangle 43"/>
          <p:cNvSpPr>
            <a:spLocks noChangeArrowheads="1"/>
          </p:cNvSpPr>
          <p:nvPr/>
        </p:nvSpPr>
        <p:spPr bwMode="auto">
          <a:xfrm>
            <a:off x="1828800" y="990824"/>
            <a:ext cx="7162560" cy="161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lang="en-US" sz="2900" b="1">
                <a:solidFill>
                  <a:srgbClr val="B000B0"/>
                </a:solidFill>
                <a:ea typeface="MS Gothic" pitchFamily="49" charset="-128"/>
              </a:rPr>
              <a:t>A frontline-based problem solving approach </a:t>
            </a:r>
          </a:p>
          <a:p>
            <a:pPr defTabSz="914414">
              <a:spcBef>
                <a:spcPct val="50000"/>
              </a:spcBef>
            </a:pPr>
            <a:r>
              <a:rPr kumimoji="1" lang="en-US" altLang="ja-JP" sz="2700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  <p:extLst>
      <p:ext uri="{BB962C8B-B14F-4D97-AF65-F5344CB8AC3E}">
        <p14:creationId xmlns:p14="http://schemas.microsoft.com/office/powerpoint/2010/main" val="6728882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401760" y="417644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6627" name="Group 12"/>
          <p:cNvGrpSpPr>
            <a:grpSpLocks/>
          </p:cNvGrpSpPr>
          <p:nvPr/>
        </p:nvGrpSpPr>
        <p:grpSpPr bwMode="auto">
          <a:xfrm>
            <a:off x="1441" y="1990289"/>
            <a:ext cx="9142560" cy="4867711"/>
            <a:chOff x="1" y="1254"/>
            <a:chExt cx="5759" cy="3066"/>
          </a:xfrm>
        </p:grpSpPr>
        <p:grpSp>
          <p:nvGrpSpPr>
            <p:cNvPr id="26655" name="Group 5"/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6662" name="Freeform 3"/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3" name="Object 4"/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78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6" name="Group 8"/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6660" name="Freeform 6"/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1" name="Object 7"/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79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7" name="Group 11"/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6658" name="Freeform 9"/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59" name="Object 10"/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80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401761" y="264988"/>
            <a:ext cx="49320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6629" name="Group 37"/>
          <p:cNvGrpSpPr>
            <a:grpSpLocks/>
          </p:cNvGrpSpPr>
          <p:nvPr/>
        </p:nvGrpSpPr>
        <p:grpSpPr bwMode="auto">
          <a:xfrm>
            <a:off x="28801" y="1309098"/>
            <a:ext cx="9059040" cy="4710734"/>
            <a:chOff x="18" y="825"/>
            <a:chExt cx="5707" cy="2967"/>
          </a:xfrm>
        </p:grpSpPr>
        <p:grpSp>
          <p:nvGrpSpPr>
            <p:cNvPr id="26632" name="Group 23"/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6646" name="Group 16"/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6653" name="Oval 14"/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4" name="Picture 15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7" name="Group 19"/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6651" name="Oval 17"/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2" name="Picture 18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8" name="Group 22"/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6649" name="Rectangle 20"/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0" name="Picture 21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6633" name="Group 36"/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6634" name="Rectangle 24"/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algn="ctr"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6635" name="Rectangle 25"/>
              <p:cNvSpPr>
                <a:spLocks noChangeArrowheads="1"/>
              </p:cNvSpPr>
              <p:nvPr/>
            </p:nvSpPr>
            <p:spPr bwMode="auto">
              <a:xfrm rot="660000">
                <a:off x="1819" y="3050"/>
                <a:ext cx="9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6636" name="Group 35"/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6637" name="Group 32"/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664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6644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26641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6642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3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26638" name="Line 33"/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639" name="Line 34"/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6630" name="Rectangle 38"/>
          <p:cNvSpPr>
            <a:spLocks noChangeArrowheads="1"/>
          </p:cNvSpPr>
          <p:nvPr/>
        </p:nvSpPr>
        <p:spPr bwMode="auto">
          <a:xfrm>
            <a:off x="6189121" y="341317"/>
            <a:ext cx="267120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algn="ctr"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6631" name="Rectangle 39"/>
          <p:cNvSpPr>
            <a:spLocks noChangeArrowheads="1"/>
          </p:cNvSpPr>
          <p:nvPr/>
        </p:nvSpPr>
        <p:spPr bwMode="auto">
          <a:xfrm>
            <a:off x="1772640" y="5594988"/>
            <a:ext cx="7273440" cy="12009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  <p:extLst>
      <p:ext uri="{BB962C8B-B14F-4D97-AF65-F5344CB8AC3E}">
        <p14:creationId xmlns:p14="http://schemas.microsoft.com/office/powerpoint/2010/main" val="5927357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401760" y="417644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5148541"/>
            <a:ext cx="9142560" cy="1709459"/>
            <a:chOff x="0" y="3243"/>
            <a:chExt cx="5759" cy="1077"/>
          </a:xfrm>
        </p:grpSpPr>
        <p:sp>
          <p:nvSpPr>
            <p:cNvPr id="27685" name="Freeform 4"/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sp>
          <p:nvSpPr>
            <p:cNvPr id="27686" name="Freeform 5"/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7687" name="Object 6"/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2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7"/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3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8"/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04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2" name="Group 9"/>
          <p:cNvGrpSpPr>
            <a:grpSpLocks/>
          </p:cNvGrpSpPr>
          <p:nvPr/>
        </p:nvGrpSpPr>
        <p:grpSpPr bwMode="auto">
          <a:xfrm>
            <a:off x="28800" y="776242"/>
            <a:ext cx="9038880" cy="5812450"/>
            <a:chOff x="18" y="489"/>
            <a:chExt cx="5694" cy="3661"/>
          </a:xfrm>
        </p:grpSpPr>
        <p:grpSp>
          <p:nvGrpSpPr>
            <p:cNvPr id="27655" name="Group 10"/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7670" name="Group 11"/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7677" name="Oval 12"/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grpSp>
              <p:nvGrpSpPr>
                <p:cNvPr id="27678" name="Group 13"/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7679" name="Picture 14"/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768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7681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2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3" name="Freeform 18"/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4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</p:grpSp>
            </p:grpSp>
          </p:grpSp>
          <p:grpSp>
            <p:nvGrpSpPr>
              <p:cNvPr id="27671" name="Group 20"/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7675" name="Oval 21"/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6" name="Picture 22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7672" name="Group 23"/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7673" name="Oval 24"/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4" name="Picture 25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7656" name="Rectangle 26"/>
            <p:cNvSpPr>
              <a:spLocks noChangeArrowheads="1"/>
            </p:cNvSpPr>
            <p:nvPr/>
          </p:nvSpPr>
          <p:spPr bwMode="auto">
            <a:xfrm rot="21120000">
              <a:off x="2868" y="2446"/>
              <a:ext cx="1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7657" name="Rectangle 27"/>
            <p:cNvSpPr>
              <a:spLocks noChangeArrowheads="1"/>
            </p:cNvSpPr>
            <p:nvPr/>
          </p:nvSpPr>
          <p:spPr bwMode="auto">
            <a:xfrm>
              <a:off x="2001" y="3238"/>
              <a:ext cx="124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58" name="Line 28"/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59" name="Rectangle 29"/>
            <p:cNvSpPr>
              <a:spLocks noChangeArrowheads="1"/>
            </p:cNvSpPr>
            <p:nvPr/>
          </p:nvSpPr>
          <p:spPr bwMode="auto">
            <a:xfrm>
              <a:off x="1137" y="3670"/>
              <a:ext cx="134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0" name="Rectangle 30"/>
            <p:cNvSpPr>
              <a:spLocks noChangeArrowheads="1"/>
            </p:cNvSpPr>
            <p:nvPr/>
          </p:nvSpPr>
          <p:spPr bwMode="auto">
            <a:xfrm>
              <a:off x="4352" y="2160"/>
              <a:ext cx="136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1" name="Rectangle 31"/>
            <p:cNvSpPr>
              <a:spLocks noChangeArrowheads="1"/>
            </p:cNvSpPr>
            <p:nvPr/>
          </p:nvSpPr>
          <p:spPr bwMode="auto">
            <a:xfrm>
              <a:off x="4305" y="2854"/>
              <a:ext cx="86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7662" name="Line 32"/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3" name="Line 33"/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4" name="Rectangle 34"/>
            <p:cNvSpPr>
              <a:spLocks noChangeArrowheads="1"/>
            </p:cNvSpPr>
            <p:nvPr/>
          </p:nvSpPr>
          <p:spPr bwMode="auto">
            <a:xfrm>
              <a:off x="4400" y="1838"/>
              <a:ext cx="1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65" name="Line 35"/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6" name="Line 36"/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7667" name="Group 37"/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7668" name="Line 38"/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69" name="Line 39"/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624680" name="Rectangle 40"/>
          <p:cNvSpPr>
            <a:spLocks noChangeArrowheads="1"/>
          </p:cNvSpPr>
          <p:nvPr/>
        </p:nvSpPr>
        <p:spPr bwMode="auto">
          <a:xfrm>
            <a:off x="228961" y="228985"/>
            <a:ext cx="87624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7654" name="Rectangle 41"/>
          <p:cNvSpPr>
            <a:spLocks noChangeArrowheads="1"/>
          </p:cNvSpPr>
          <p:nvPr/>
        </p:nvSpPr>
        <p:spPr bwMode="auto">
          <a:xfrm>
            <a:off x="305280" y="1103156"/>
            <a:ext cx="434304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  <p:extLst>
      <p:ext uri="{BB962C8B-B14F-4D97-AF65-F5344CB8AC3E}">
        <p14:creationId xmlns:p14="http://schemas.microsoft.com/office/powerpoint/2010/main" val="9204904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7076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3745886"/>
            <a:ext cx="4032944" cy="302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itle 1"/>
          <p:cNvSpPr txBox="1">
            <a:spLocks/>
          </p:cNvSpPr>
          <p:nvPr/>
        </p:nvSpPr>
        <p:spPr bwMode="auto">
          <a:xfrm>
            <a:off x="533400" y="152400"/>
            <a:ext cx="8001000" cy="457200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>
                <a:solidFill>
                  <a:schemeClr val="bg1"/>
                </a:solidFill>
              </a:rPr>
              <a:t>Local Govt. (Paurashava) Participation</a:t>
            </a:r>
          </a:p>
        </p:txBody>
      </p:sp>
      <p:sp>
        <p:nvSpPr>
          <p:cNvPr id="20487" name="Right Arrow 8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0488" name="Right Arrow 9"/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8441" name="Rectangle 10"/>
          <p:cNvSpPr>
            <a:spLocks noChangeArrowheads="1"/>
          </p:cNvSpPr>
          <p:nvPr/>
        </p:nvSpPr>
        <p:spPr bwMode="auto">
          <a:xfrm>
            <a:off x="609600" y="7905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2" name="Rectangle 11"/>
          <p:cNvSpPr>
            <a:spLocks noChangeArrowheads="1"/>
          </p:cNvSpPr>
          <p:nvPr/>
        </p:nvSpPr>
        <p:spPr bwMode="auto">
          <a:xfrm>
            <a:off x="609600" y="3838575"/>
            <a:ext cx="915988" cy="3698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3" name="Rectangle 12"/>
          <p:cNvSpPr>
            <a:spLocks noChangeArrowheads="1"/>
          </p:cNvSpPr>
          <p:nvPr/>
        </p:nvSpPr>
        <p:spPr bwMode="auto">
          <a:xfrm>
            <a:off x="4943475" y="38242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44" name="Rectangle 13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8" descr="DSC024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83" y="3745888"/>
            <a:ext cx="3986267" cy="302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292839588"/>
              </p:ext>
            </p:extLst>
          </p:nvPr>
        </p:nvGraphicFramePr>
        <p:xfrm>
          <a:off x="652463" y="871538"/>
          <a:ext cx="34305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830"/>
                <a:gridCol w="798830"/>
                <a:gridCol w="235268"/>
                <a:gridCol w="798830"/>
                <a:gridCol w="798830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ontent Placeholder 4"/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319366399"/>
              </p:ext>
            </p:extLst>
          </p:nvPr>
        </p:nvGraphicFramePr>
        <p:xfrm>
          <a:off x="4533900" y="3813175"/>
          <a:ext cx="103409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8830"/>
                <a:gridCol w="235268"/>
              </a:tblGrid>
              <a:tr h="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086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71" y="854591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612" y="3922712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 flipH="1">
            <a:off x="-4114800" y="551324"/>
            <a:ext cx="219794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rgbClr val="FFFF00"/>
                </a:solidFill>
              </a:rPr>
              <a:t>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486400" y="1607171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893218" y="5486400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-1600200" y="300343"/>
            <a:ext cx="184731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 flipV="1">
            <a:off x="917028" y="471488"/>
            <a:ext cx="8229600" cy="45719"/>
          </a:xfrm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810000"/>
            <a:ext cx="4127426" cy="28956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31"/>
          <p:cNvSpPr txBox="1">
            <a:spLocks noChangeArrowheads="1"/>
          </p:cNvSpPr>
          <p:nvPr/>
        </p:nvSpPr>
        <p:spPr bwMode="auto">
          <a:xfrm>
            <a:off x="5029200" y="1447799"/>
            <a:ext cx="3200400" cy="8382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Recovered Valuable </a:t>
            </a:r>
            <a:r>
              <a:rPr lang="en-US" sz="2400" dirty="0">
                <a:solidFill>
                  <a:srgbClr val="1F497D">
                    <a:lumMod val="75000"/>
                  </a:srgbClr>
                </a:solidFill>
              </a:rPr>
              <a:t>land after 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sixty years.</a:t>
            </a:r>
          </a:p>
        </p:txBody>
      </p:sp>
      <p:sp>
        <p:nvSpPr>
          <p:cNvPr id="9" name="Rectangle 31"/>
          <p:cNvSpPr txBox="1">
            <a:spLocks noChangeArrowheads="1"/>
          </p:cNvSpPr>
          <p:nvPr/>
        </p:nvSpPr>
        <p:spPr bwMode="auto">
          <a:xfrm>
            <a:off x="609600" y="4419601"/>
            <a:ext cx="3581400" cy="1219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Arranged get man to control crowed in ward by 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5514895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85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6824" y="-152400"/>
            <a:ext cx="9144000" cy="1371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Need to implement health related SDG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2030</a:t>
            </a:r>
            <a:endParaRPr lang="en-US" altLang="ja-JP" sz="40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28600" y="1752599"/>
            <a:ext cx="8458200" cy="4630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800" b="1" dirty="0" smtClean="0"/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01 M.A in every community clinic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 bedded hospital with 2 doctors, 6 nurses          and paramedics in every union.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100 bedded hospital  In every </a:t>
            </a:r>
            <a:r>
              <a:rPr lang="en-US" sz="2800" b="1" dirty="0" err="1" smtClean="0">
                <a:solidFill>
                  <a:schemeClr val="tx2">
                    <a:lumMod val="75000"/>
                  </a:schemeClr>
                </a:solidFill>
              </a:rPr>
              <a:t>upazilla</a:t>
            </a: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500 bedded hospital in every district. 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52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2345" y="0"/>
            <a:ext cx="9095107" cy="106914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 smtClean="0"/>
              <a:t>Development of Chowgacha Upazilla by Divine Group</a:t>
            </a:r>
            <a:endParaRPr lang="en-US" sz="3600" b="1" dirty="0"/>
          </a:p>
        </p:txBody>
      </p:sp>
      <p:pic>
        <p:nvPicPr>
          <p:cNvPr id="5" name="Content Placeholder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32" y="4038600"/>
            <a:ext cx="40767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4000500"/>
            <a:ext cx="4267200" cy="274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3" y="1069143"/>
            <a:ext cx="4334365" cy="2743201"/>
          </a:xfrm>
          <a:prstGeom prst="rect">
            <a:avLst/>
          </a:prstGeom>
        </p:spPr>
      </p:pic>
      <p:pic>
        <p:nvPicPr>
          <p:cNvPr id="9" name="Picture 2" descr="C:\Users\Nishat\Desktop\PHCC Recent\20151030_121440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142999"/>
            <a:ext cx="4076700" cy="26670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751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5361</TotalTime>
  <Words>1096</Words>
  <Application>Microsoft Office PowerPoint</Application>
  <PresentationFormat>On-screen Show (4:3)</PresentationFormat>
  <Paragraphs>331</Paragraphs>
  <Slides>31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5_シック</vt:lpstr>
      <vt:lpstr>Office Theme</vt:lpstr>
      <vt:lpstr>ｸﾘｯﾌﾟ</vt:lpstr>
      <vt:lpstr>PowerPoint Presentation</vt:lpstr>
      <vt:lpstr>Background History of C-J Model</vt:lpstr>
      <vt:lpstr>PowerPoint Presentation</vt:lpstr>
      <vt:lpstr>PowerPoint Presentation</vt:lpstr>
      <vt:lpstr>A Sub-district level  Hospital with a Vision …</vt:lpstr>
      <vt:lpstr>PowerPoint Presentation</vt:lpstr>
      <vt:lpstr>Community supported volunteer working in ANC corner</vt:lpstr>
      <vt:lpstr>Achievement of Chowgacha Health Complex</vt:lpstr>
      <vt:lpstr>Upazilla Health  Complex CHOWGACHA , JESSORE.</vt:lpstr>
      <vt:lpstr>PowerPoint Presentation</vt:lpstr>
      <vt:lpstr>100 kh¨v wewkó m`i nvmcvZvj, wSbvB`n</vt:lpstr>
      <vt:lpstr>Challenges of the hospital in 2012</vt:lpstr>
      <vt:lpstr>PowerPoint Presentation</vt:lpstr>
      <vt:lpstr>PowerPoint Presentation</vt:lpstr>
      <vt:lpstr>Emergency &amp; Out Door, Indoor  Service 1998 to 2018</vt:lpstr>
      <vt:lpstr>3 best performing EmOC Hospital in Khulna division - 2018</vt:lpstr>
      <vt:lpstr>  Comparative data of revenue income (in Taka) from 2015 to 2018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674</cp:revision>
  <cp:lastPrinted>2017-03-18T23:47:54Z</cp:lastPrinted>
  <dcterms:created xsi:type="dcterms:W3CDTF">2013-05-05T09:56:19Z</dcterms:created>
  <dcterms:modified xsi:type="dcterms:W3CDTF">2019-04-24T23:42:44Z</dcterms:modified>
</cp:coreProperties>
</file>