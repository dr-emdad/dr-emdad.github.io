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406" r:id="rId4"/>
    <p:sldId id="420" r:id="rId5"/>
    <p:sldId id="278" r:id="rId6"/>
    <p:sldId id="341" r:id="rId7"/>
    <p:sldId id="419" r:id="rId8"/>
    <p:sldId id="421" r:id="rId9"/>
    <p:sldId id="343" r:id="rId10"/>
    <p:sldId id="407" r:id="rId11"/>
    <p:sldId id="342" r:id="rId12"/>
    <p:sldId id="417" r:id="rId13"/>
    <p:sldId id="403" r:id="rId14"/>
    <p:sldId id="408" r:id="rId15"/>
    <p:sldId id="291" r:id="rId16"/>
    <p:sldId id="412" r:id="rId17"/>
    <p:sldId id="308" r:id="rId18"/>
    <p:sldId id="312" r:id="rId19"/>
    <p:sldId id="293" r:id="rId20"/>
    <p:sldId id="326" r:id="rId21"/>
    <p:sldId id="327" r:id="rId22"/>
    <p:sldId id="351" r:id="rId23"/>
    <p:sldId id="409" r:id="rId24"/>
    <p:sldId id="418" r:id="rId25"/>
    <p:sldId id="276" r:id="rId26"/>
    <p:sldId id="26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696" y="-27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BC-4C5D-800A-1F77456AB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069440"/>
        <c:axId val="133075328"/>
      </c:barChart>
      <c:catAx>
        <c:axId val="133069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3075328"/>
        <c:crosses val="autoZero"/>
        <c:auto val="1"/>
        <c:lblAlgn val="ctr"/>
        <c:lblOffset val="100"/>
        <c:noMultiLvlLbl val="0"/>
      </c:catAx>
      <c:valAx>
        <c:axId val="1330753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330694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2E-2"/>
          <c:w val="0.65834289989452266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170854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ED-450B-B91B-4D3AD0372B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22435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ED-450B-B91B-4D3AD0372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013568"/>
        <c:axId val="140015104"/>
      </c:barChart>
      <c:catAx>
        <c:axId val="140013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0015104"/>
        <c:crosses val="autoZero"/>
        <c:auto val="1"/>
        <c:lblAlgn val="ctr"/>
        <c:lblOffset val="100"/>
        <c:noMultiLvlLbl val="0"/>
      </c:catAx>
      <c:valAx>
        <c:axId val="140015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00135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19"/>
          <c:y val="0.42290223097112861"/>
          <c:w val="0.20621936860696158"/>
          <c:h val="0.2764177602799651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1"/>
          <c:y val="3.6443293946503766E-2"/>
          <c:w val="0.64635972586759993"/>
          <c:h val="0.781510586807713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7ED-4E31-A387-BAEE6AE702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5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3888888888888892E-2"/>
                  <c:y val="8.41809798268346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345679012345682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7ED-4E31-A387-BAEE6AE702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3148148148148199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08641975308642E-3"/>
                  <c:y val="-3.08663592698393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9-17ED-4E31-A387-BAEE6AE702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6E-3"/>
                  <c:y val="-1.96422286262614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17ED-4E31-A387-BAEE6AE70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7445760"/>
        <c:axId val="137447296"/>
      </c:barChart>
      <c:catAx>
        <c:axId val="1374457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7447296"/>
        <c:crosses val="autoZero"/>
        <c:auto val="1"/>
        <c:lblAlgn val="ctr"/>
        <c:lblOffset val="100"/>
        <c:noMultiLvlLbl val="0"/>
      </c:catAx>
      <c:valAx>
        <c:axId val="1374472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74457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51"/>
          <c:y val="0.37195288604878135"/>
          <c:w val="0.14578327014678721"/>
          <c:h val="0.31152795548704232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7,265,145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 formatCode="General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37473024"/>
        <c:axId val="137040640"/>
        <c:axId val="0"/>
      </c:bar3DChart>
      <c:catAx>
        <c:axId val="137473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7040640"/>
        <c:crosses val="autoZero"/>
        <c:auto val="1"/>
        <c:lblAlgn val="ctr"/>
        <c:lblOffset val="100"/>
        <c:noMultiLvlLbl val="0"/>
      </c:catAx>
      <c:valAx>
        <c:axId val="1370406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3747302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 smtClean="0"/>
            <a:t>সম</a:t>
          </a:r>
          <a:r>
            <a:rPr lang="en-GB" smtClean="0"/>
            <a:t>্প্রসারণ</a:t>
          </a:r>
          <a:endParaRPr lang="en-GB" dirty="0" smtClean="0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 dirty="0" smtClean="0"/>
            <a:t>জনসম্পৃক্ততা</a:t>
          </a:r>
          <a:r>
            <a:rPr lang="en-GB" dirty="0" smtClean="0"/>
            <a:t> ও </a:t>
          </a:r>
          <a:r>
            <a:rPr lang="en-GB" dirty="0" err="1" smtClean="0"/>
            <a:t>কমিটি</a:t>
          </a:r>
          <a:r>
            <a:rPr lang="en-GB" dirty="0" smtClean="0"/>
            <a:t> </a:t>
          </a:r>
          <a:r>
            <a:rPr lang="en-GB" dirty="0" err="1" smtClean="0"/>
            <a:t>গঠন</a:t>
          </a:r>
          <a:r>
            <a:rPr lang="bn-IN" dirty="0" smtClean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 err="1" smtClean="0"/>
            <a:t>স্টাফ</a:t>
          </a:r>
          <a:r>
            <a:rPr lang="en-US" dirty="0" smtClean="0"/>
            <a:t> </a:t>
          </a:r>
          <a:r>
            <a:rPr lang="en-US" dirty="0" err="1" smtClean="0"/>
            <a:t>বৃদ্ধি</a:t>
          </a:r>
          <a:r>
            <a:rPr lang="en-US" dirty="0" smtClean="0"/>
            <a:t>:     ৫৬ </a:t>
          </a:r>
          <a:r>
            <a:rPr lang="en-US" dirty="0" err="1" smtClean="0"/>
            <a:t>জন</a:t>
          </a:r>
          <a:endParaRPr lang="en-US" dirty="0" smtClean="0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 dirty="0"/>
            <a:t>দূর্নীতি </a:t>
          </a:r>
          <a:r>
            <a:rPr lang="bn-IN" dirty="0" smtClean="0"/>
            <a:t>প্রতিরোধ</a:t>
          </a:r>
          <a:r>
            <a:rPr lang="en-GB" dirty="0" smtClean="0"/>
            <a:t> 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 dirty="0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GB" dirty="0" err="1" smtClean="0"/>
            <a:t>শ্রেষ্ঠ</a:t>
          </a:r>
          <a:r>
            <a:rPr lang="en-GB" dirty="0" smtClean="0"/>
            <a:t> </a:t>
          </a:r>
          <a:r>
            <a:rPr lang="en-GB" dirty="0" err="1" smtClean="0"/>
            <a:t>মান</a:t>
          </a:r>
          <a:r>
            <a:rPr lang="en-GB" dirty="0" smtClean="0"/>
            <a:t> </a:t>
          </a:r>
          <a:r>
            <a:rPr lang="en-GB" dirty="0" err="1" smtClean="0"/>
            <a:t>সম্পন্ন</a:t>
          </a:r>
          <a:r>
            <a:rPr lang="en-GB" dirty="0" smtClean="0"/>
            <a:t> </a:t>
          </a:r>
          <a:r>
            <a:rPr lang="en-GB" dirty="0" err="1" smtClean="0"/>
            <a:t>সেবা</a:t>
          </a:r>
          <a:r>
            <a:rPr lang="en-GB" dirty="0" smtClean="0"/>
            <a:t> </a:t>
          </a:r>
          <a:r>
            <a:rPr lang="en-GB" dirty="0" err="1" smtClean="0"/>
            <a:t>কেন্দ্র</a:t>
          </a:r>
          <a:endParaRPr lang="en-US" dirty="0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46EDB0-D1C9-407A-A55E-5858E1E5D4AF}" type="pres">
      <dgm:prSet presAssocID="{4F97281A-802C-4000-8D2A-66142CFFCE3C}" presName="sibTransFirstNode" presStyleLbl="bgShp" presStyleIdx="0" presStyleCnt="1"/>
      <dgm:spPr/>
      <dgm:t>
        <a:bodyPr/>
        <a:lstStyle/>
        <a:p>
          <a:endParaRPr lang="en-GB"/>
        </a:p>
      </dgm:t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4FF0D0D-74E1-473C-A1E9-CFD413B11028}" type="pres">
      <dgm:prSet presAssocID="{610D7153-D836-425E-ABAB-41B69166C8FA}" presName="nodeFollowingNodes" presStyleLbl="node1" presStyleIdx="4" presStyleCnt="7" custRadScaleRad="99563" custRadScaleInc="-11759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436464" y="134228"/>
          <a:ext cx="6078588" cy="6078588"/>
        </a:xfrm>
        <a:prstGeom prst="circularArrow">
          <a:avLst>
            <a:gd name="adj1" fmla="val 5544"/>
            <a:gd name="adj2" fmla="val 330680"/>
            <a:gd name="adj3" fmla="val 14514598"/>
            <a:gd name="adj4" fmla="val 1695090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2528750" y="175994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err="1" smtClean="0"/>
            <a:t>শ্রেষ্ঠ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মান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সম্পন্ন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সেবা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কেন্দ্র</a:t>
          </a:r>
          <a:endParaRPr lang="en-US" sz="1900" kern="1200" dirty="0"/>
        </a:p>
      </dsp:txBody>
      <dsp:txXfrm>
        <a:off x="2574979" y="222223"/>
        <a:ext cx="1801558" cy="854550"/>
      </dsp:txXfrm>
    </dsp:sp>
    <dsp:sp modelId="{CB4F0E61-DC7F-4119-ABA9-796676CB2FA1}">
      <dsp:nvSpPr>
        <dsp:cNvPr id="0" name=""/>
        <dsp:cNvSpPr/>
      </dsp:nvSpPr>
      <dsp:spPr>
        <a:xfrm>
          <a:off x="585473" y="1137439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smtClean="0"/>
            <a:t>সম</a:t>
          </a:r>
          <a:r>
            <a:rPr lang="en-GB" sz="1900" kern="1200" smtClean="0"/>
            <a:t>্প্রসারণ</a:t>
          </a:r>
          <a:endParaRPr lang="en-GB" sz="1900" kern="1200" dirty="0" smtClean="0"/>
        </a:p>
      </dsp:txBody>
      <dsp:txXfrm>
        <a:off x="631702" y="1183668"/>
        <a:ext cx="1801558" cy="854550"/>
      </dsp:txXfrm>
    </dsp:sp>
    <dsp:sp modelId="{57FC54FE-E97C-4F29-92CF-2A7248720E8D}">
      <dsp:nvSpPr>
        <dsp:cNvPr id="0" name=""/>
        <dsp:cNvSpPr/>
      </dsp:nvSpPr>
      <dsp:spPr>
        <a:xfrm>
          <a:off x="5055898" y="3141740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 smtClean="0"/>
            <a:t>জনসম্পৃক্ততা</a:t>
          </a:r>
          <a:r>
            <a:rPr lang="en-GB" sz="1900" kern="1200" dirty="0" smtClean="0"/>
            <a:t> ও </a:t>
          </a:r>
          <a:r>
            <a:rPr lang="en-GB" sz="1900" kern="1200" dirty="0" err="1" smtClean="0"/>
            <a:t>কমিটি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গঠন</a:t>
          </a:r>
          <a:r>
            <a:rPr lang="bn-IN" sz="1900" kern="1200" dirty="0" smtClean="0"/>
            <a:t> </a:t>
          </a:r>
          <a:endParaRPr lang="en-US" sz="1900" kern="1200" dirty="0"/>
        </a:p>
      </dsp:txBody>
      <dsp:txXfrm>
        <a:off x="5102127" y="3187969"/>
        <a:ext cx="1801558" cy="854550"/>
      </dsp:txXfrm>
    </dsp:sp>
    <dsp:sp modelId="{E2E5C2CC-16B6-414F-A1E4-8C9432894059}">
      <dsp:nvSpPr>
        <dsp:cNvPr id="0" name=""/>
        <dsp:cNvSpPr/>
      </dsp:nvSpPr>
      <dsp:spPr>
        <a:xfrm>
          <a:off x="1236041" y="5063476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স্টাফ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বৃদ্ধি</a:t>
          </a:r>
          <a:r>
            <a:rPr lang="en-US" sz="1900" kern="1200" dirty="0" smtClean="0"/>
            <a:t>:     ৫৬ </a:t>
          </a:r>
          <a:r>
            <a:rPr lang="en-US" sz="1900" kern="1200" dirty="0" err="1" smtClean="0"/>
            <a:t>জন</a:t>
          </a:r>
          <a:endParaRPr lang="en-US" sz="1900" kern="1200" dirty="0" smtClean="0"/>
        </a:p>
      </dsp:txBody>
      <dsp:txXfrm>
        <a:off x="1282270" y="5109705"/>
        <a:ext cx="1801558" cy="854550"/>
      </dsp:txXfrm>
    </dsp:sp>
    <dsp:sp modelId="{C4FF0D0D-74E1-473C-A1E9-CFD413B11028}">
      <dsp:nvSpPr>
        <dsp:cNvPr id="0" name=""/>
        <dsp:cNvSpPr/>
      </dsp:nvSpPr>
      <dsp:spPr>
        <a:xfrm>
          <a:off x="3708630" y="5063467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সুরক্ষা</a:t>
          </a:r>
          <a:endParaRPr lang="en-US" sz="1900" kern="1200"/>
        </a:p>
      </dsp:txBody>
      <dsp:txXfrm>
        <a:off x="3754859" y="5109696"/>
        <a:ext cx="1801558" cy="854550"/>
      </dsp:txXfrm>
    </dsp:sp>
    <dsp:sp modelId="{8D24C1E3-835B-4535-A9EB-AB5FCDF4505F}">
      <dsp:nvSpPr>
        <dsp:cNvPr id="0" name=""/>
        <dsp:cNvSpPr/>
      </dsp:nvSpPr>
      <dsp:spPr>
        <a:xfrm>
          <a:off x="13" y="3037118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/>
            <a:t>দূর্নীতি </a:t>
          </a:r>
          <a:r>
            <a:rPr lang="bn-IN" sz="1900" kern="1200" dirty="0" smtClean="0"/>
            <a:t>প্রতিরোধ</a:t>
          </a:r>
          <a:r>
            <a:rPr lang="en-GB" sz="1900" kern="1200" dirty="0" smtClean="0"/>
            <a:t>  </a:t>
          </a:r>
          <a:endParaRPr lang="en-US" sz="1900" kern="1200" dirty="0"/>
        </a:p>
      </dsp:txBody>
      <dsp:txXfrm>
        <a:off x="46242" y="3083347"/>
        <a:ext cx="1801558" cy="854550"/>
      </dsp:txXfrm>
    </dsp:sp>
    <dsp:sp modelId="{8173D7A6-1922-458F-9222-CB9A92415CD8}">
      <dsp:nvSpPr>
        <dsp:cNvPr id="0" name=""/>
        <dsp:cNvSpPr/>
      </dsp:nvSpPr>
      <dsp:spPr>
        <a:xfrm>
          <a:off x="4566132" y="1112172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পরিচ্ছন্নতা</a:t>
          </a:r>
          <a:r>
            <a:rPr lang="bn-IN" sz="1900" b="1" kern="1200"/>
            <a:t> </a:t>
          </a:r>
          <a:r>
            <a:rPr lang="bn-IN" sz="1900" kern="1200"/>
            <a:t>ও</a:t>
          </a:r>
          <a:r>
            <a:rPr lang="bn-IN" sz="1900" b="1" kern="1200"/>
            <a:t> </a:t>
          </a:r>
          <a:r>
            <a:rPr lang="bn-IN" sz="1900" kern="1200"/>
            <a:t>সৌন্দর্যবর্ধন </a:t>
          </a:r>
          <a:endParaRPr lang="en-US" sz="1900" kern="1200" dirty="0"/>
        </a:p>
      </dsp:txBody>
      <dsp:txXfrm>
        <a:off x="4612361" y="1158401"/>
        <a:ext cx="1801558" cy="85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20/8/1440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4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513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62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630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0" r:id="rId18"/>
    <p:sldLayoutId id="214748367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5" Type="http://schemas.openxmlformats.org/officeDocument/2006/relationships/oleObject" Target="../embeddings/Microsoft_Excel_97-2003_Worksheet1.xls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313358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endParaRPr lang="bn-BD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26279"/>
            <a:ext cx="10850593" cy="346206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2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সমন্বয় ও সহায়তা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স্বাস্থ্য অধিদপ্তর</a:t>
            </a:r>
            <a:endParaRPr lang="bn-BD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এবং</a:t>
            </a:r>
          </a:p>
          <a:p>
            <a:pPr algn="ctr"/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সদস্য,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মডেল স্বাস্থ্য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টেকনিক্যাল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কমিটি</a:t>
            </a:r>
            <a:endParaRPr lang="bn-IN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" y="5166178"/>
            <a:ext cx="1426514" cy="142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সম্পদে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endParaRPr lang="b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২০১০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906650"/>
              </p:ext>
            </p:extLst>
          </p:nvPr>
        </p:nvGraphicFramePr>
        <p:xfrm>
          <a:off x="198651" y="990600"/>
          <a:ext cx="11859687" cy="433466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10227"/>
                <a:gridCol w="2343923"/>
                <a:gridCol w="2017064"/>
                <a:gridCol w="1751624"/>
                <a:gridCol w="1664043"/>
                <a:gridCol w="1636403"/>
                <a:gridCol w="1636403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9100456" y="6024650"/>
            <a:ext cx="2862943" cy="7078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F2222222rom22212 </a:t>
            </a:r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22222018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3200" y="37531"/>
            <a:ext cx="1176020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r>
              <a:rPr lang="en-US" sz="24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(2017)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107010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154C379-12FB-4ED3-BD93-8FC5D6E9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28" y="0"/>
            <a:ext cx="8603374" cy="667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7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/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021785"/>
              </p:ext>
            </p:extLst>
          </p:nvPr>
        </p:nvGraphicFramePr>
        <p:xfrm>
          <a:off x="632831" y="740241"/>
          <a:ext cx="10744452" cy="6117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Chart" r:id="rId5" imgW="4667402" imgH="2657551" progId="Excel.Chart.8">
                  <p:embed/>
                </p:oleObj>
              </mc:Choice>
              <mc:Fallback>
                <p:oleObj name="Chart" r:id="rId5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31" y="740241"/>
                        <a:ext cx="10744452" cy="61177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472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7897"/>
              </p:ext>
            </p:extLst>
          </p:nvPr>
        </p:nvGraphicFramePr>
        <p:xfrm>
          <a:off x="1015999" y="1219200"/>
          <a:ext cx="10668004" cy="5410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8532"/>
                <a:gridCol w="1066801"/>
                <a:gridCol w="1540933"/>
                <a:gridCol w="1422400"/>
                <a:gridCol w="1422400"/>
                <a:gridCol w="1303867"/>
                <a:gridCol w="1253071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1200" y="342885"/>
            <a:ext cx="10972800" cy="477054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77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45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 smtClean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পরিচর্যা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২০০৫-২০১৪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;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লক্ষ্যমাত্রা অর্জন: ২০০৯</a:t>
            </a: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68" y="0"/>
            <a:ext cx="114047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49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মডেল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940142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২০১২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জানুয়ারি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২০১৩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পাইলটিং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২০১৫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পরীক্ষামূলক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উদ্যোগ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২০১৬</a:t>
            </a: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উপজেলা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পর্যায়ে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উদ্যোগ : ২০১৭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0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5484D6FA-5BF0-4916-BAE3-6D6457E9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43" y="15527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ি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ন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াইদহ: চ্যালেন্জ সমূহ ২০১২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243AF0A6-9EA0-4460-8B16-2206F937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5721"/>
            <a:ext cx="10131425" cy="5428890"/>
          </a:xfrm>
        </p:spPr>
        <p:txBody>
          <a:bodyPr>
            <a:normAutofit/>
          </a:bodyPr>
          <a:lstStyle/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অরক্ষিত হাসপাতাল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স্বাস্থ্য সেবা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সেবাদানকারী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রোগী হতে অর্থ গ্রহন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দ</a:t>
            </a:r>
            <a:r>
              <a:rPr lang="en-GB" sz="4000" dirty="0" smtClean="0">
                <a:latin typeface="SolaimanLipi" pitchFamily="65" charset="0"/>
                <a:cs typeface="SolaimanLipi" pitchFamily="65" charset="0"/>
              </a:rPr>
              <a:t>ু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র্বল 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অর্থ ব্যবস্থাপনা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অপ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রি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চ্ছন্নতা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দুর্বল 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পরি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বী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ক্ষণ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FB85FF63-2EE4-42A5-BB64-C9D70E3D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476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জনসম্পৃক্ততা</a:t>
            </a:r>
            <a:endParaRPr lang="bn-BD" sz="48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FB0DE48-3621-4A1E-9E79-9E4E1837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581509"/>
            <a:ext cx="4996923" cy="5152846"/>
          </a:xfrm>
        </p:spPr>
        <p:txBody>
          <a:bodyPr>
            <a:normAutofit lnSpcReduction="10000"/>
          </a:bodyPr>
          <a:lstStyle/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স্টাফ: ৫৬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পরিচ্ছন্নতা কর্মী: ২১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আয়া/ওয়ার্ডবয়: ২২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নিরাপত্তা রক্ষী: ৭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স্বেচ্ছাসেবক: ৩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ট্রলিম্যান: ৩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জেনারেটর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ইন্টারকম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বায়োকেমিক্যাল অ্যানালাইজার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6C307B88-65F8-494F-AA33-A28F7B83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0925" y="2697432"/>
            <a:ext cx="4995334" cy="3910401"/>
          </a:xfrm>
        </p:spPr>
        <p:txBody>
          <a:bodyPr>
            <a:normAutofit lnSpcReduction="10000"/>
          </a:bodyPr>
          <a:lstStyle/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সংসদ সদস্য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জাহেদা ফাউন্ডেশন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মেয়র</a:t>
            </a:r>
          </a:p>
          <a:p>
            <a:r>
              <a:rPr lang="en-GB" sz="4300" dirty="0" smtClean="0">
                <a:latin typeface="SolaimanLipi" pitchFamily="65" charset="0"/>
                <a:cs typeface="SolaimanLipi" pitchFamily="65" charset="0"/>
              </a:rPr>
              <a:t>দানশীল ব্যক্তিবর্গ</a:t>
            </a:r>
            <a:endParaRPr lang="bn-IN" sz="4300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ডাক্তার</a:t>
            </a:r>
            <a:endParaRPr lang="bn-BD" sz="4300" dirty="0">
              <a:latin typeface="SolaimanLipi" pitchFamily="65" charset="0"/>
              <a:cs typeface="SolaimanLipi" pitchFamily="65" charset="0"/>
            </a:endParaRPr>
          </a:p>
          <a:p>
            <a:endParaRPr lang="bn-BD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3505201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52363" y="3772090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5920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781034" y="3899646"/>
            <a:ext cx="81657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6748746" y="3922214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7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47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20" y="806428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শিশু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বর্জব্যবস্থাপনার</a:t>
            </a:r>
            <a:r>
              <a:rPr lang="en-US" sz="3200" b="1" dirty="0" smtClean="0"/>
              <a:t>  </a:t>
            </a:r>
            <a:r>
              <a:rPr lang="en-US" sz="3200" b="1" dirty="0" err="1" smtClean="0"/>
              <a:t>পূর্বের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82175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3859214"/>
            <a:ext cx="4326467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0057" y="765176"/>
            <a:ext cx="4190859" cy="2926381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792616"/>
            <a:ext cx="4350962" cy="296256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5731933" y="1981200"/>
            <a:ext cx="741438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5797851" y="4821238"/>
            <a:ext cx="675519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6584951" y="3859214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5833" y="-1"/>
            <a:ext cx="11679767" cy="7926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প্রসুতি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সার্জারি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আগের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  <p:pic>
        <p:nvPicPr>
          <p:cNvPr id="1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5241" y="3744913"/>
            <a:ext cx="4296692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6910549" y="927616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1435241" y="792617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1435241" y="3859214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14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3998914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1852187" y="4092576"/>
            <a:ext cx="2131353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324600" y="4035427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1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828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400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কাইজেন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পদ্ধতির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219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44525"/>
            <a:ext cx="4162538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968" y="3733800"/>
            <a:ext cx="4136571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3" y="585786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654629" y="669925"/>
            <a:ext cx="1906932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tx1"/>
                </a:solidFill>
              </a:rPr>
              <a:t>A big cleaning day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763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Health education session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286501" y="682739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4888" y="37338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286500" y="3763963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Creation  of nursing aid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নব-উদ্যোগের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56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82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607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676400" y="152400"/>
            <a:ext cx="88392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4000" dirty="0" smtClean="0"/>
              <a:t>স্থানীয় </a:t>
            </a:r>
            <a:r>
              <a:rPr lang="en-US" sz="4000" dirty="0" err="1" smtClean="0"/>
              <a:t>ব্যবস্থাপনায়</a:t>
            </a:r>
            <a:r>
              <a:rPr lang="en-US" sz="4000" dirty="0" smtClean="0"/>
              <a:t> </a:t>
            </a:r>
            <a:r>
              <a:rPr lang="en-US" sz="4000" dirty="0" err="1" smtClean="0"/>
              <a:t>শিশু</a:t>
            </a:r>
            <a:r>
              <a:rPr lang="en-US" sz="4000" dirty="0" smtClean="0"/>
              <a:t> </a:t>
            </a:r>
            <a:r>
              <a:rPr lang="en-US" sz="4000" dirty="0" err="1" smtClean="0"/>
              <a:t>ওয়ার্ডের</a:t>
            </a:r>
            <a:r>
              <a:rPr lang="en-US" sz="4000" dirty="0" smtClean="0"/>
              <a:t> </a:t>
            </a:r>
            <a:r>
              <a:rPr lang="en-US" sz="4000" dirty="0" err="1" smtClean="0"/>
              <a:t>উন্নয়ন</a:t>
            </a:r>
            <a:endParaRPr lang="en-US" sz="4000" b="1" dirty="0"/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76400" y="3732214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0471691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1871157" y="126317"/>
            <a:ext cx="8229600" cy="609601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4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ঝিনাইদহ</a:t>
            </a: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bn-BD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শয্যা ব্যবহার</a:t>
            </a:r>
            <a:endParaRPr 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785586533"/>
              </p:ext>
            </p:extLst>
          </p:nvPr>
        </p:nvGraphicFramePr>
        <p:xfrm>
          <a:off x="1871157" y="684362"/>
          <a:ext cx="7704164" cy="617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626079" y="222848"/>
            <a:ext cx="8534400" cy="1042359"/>
          </a:xfr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জরুরী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বহি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অন্ত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রোগী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বৃদ্ধি</a:t>
            </a: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415429193"/>
              </p:ext>
            </p:extLst>
          </p:nvPr>
        </p:nvGraphicFramePr>
        <p:xfrm>
          <a:off x="2031521" y="1184693"/>
          <a:ext cx="8534400" cy="558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833191"/>
              </p:ext>
            </p:extLst>
          </p:nvPr>
        </p:nvGraphicFramePr>
        <p:xfrm>
          <a:off x="1823049" y="1069675"/>
          <a:ext cx="8798943" cy="5725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="" xmlns:a16="http://schemas.microsoft.com/office/drawing/2014/main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1" y="63260"/>
            <a:ext cx="10131425" cy="122495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US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 জরুরী 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ুতি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 ২০১৭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3536" y="792754"/>
            <a:ext cx="11080465" cy="808038"/>
          </a:xfr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হাসপাতালের রাজস্ব আয়ের তুলনামূলক চিত্র (২০১৫ - ২০১৮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r>
              <a:rPr lang="en-US" sz="5300" b="1" dirty="0">
                <a:solidFill>
                  <a:schemeClr val="tx1"/>
                </a:solidFill>
              </a:rPr>
              <a:t/>
            </a:r>
            <a:br>
              <a:rPr lang="en-US" sz="5300" b="1" dirty="0">
                <a:solidFill>
                  <a:schemeClr val="tx1"/>
                </a:solidFill>
              </a:rPr>
            </a:br>
            <a:endParaRPr lang="en-US" sz="67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673408"/>
              </p:ext>
            </p:extLst>
          </p:nvPr>
        </p:nvGraphicFramePr>
        <p:xfrm>
          <a:off x="2235200" y="2133600"/>
          <a:ext cx="7416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684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xmlns="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36325"/>
              </p:ext>
            </p:extLst>
          </p:nvPr>
        </p:nvGraphicFramePr>
        <p:xfrm>
          <a:off x="291112" y="391887"/>
          <a:ext cx="6951517" cy="622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3B1EE1F-6738-485F-A620-2602F7683D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2" y="5451765"/>
            <a:ext cx="1170945" cy="116671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685" y="1257300"/>
            <a:ext cx="4049485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ঝিনাইদহ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: </a:t>
            </a:r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অর্জন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২০১৮</a:t>
            </a:r>
            <a:endParaRPr lang="en-US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7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43" y="152400"/>
            <a:ext cx="11639910" cy="1469366"/>
          </a:xfrm>
        </p:spPr>
        <p:txBody>
          <a:bodyPr>
            <a:noAutofit/>
          </a:bodyPr>
          <a:lstStyle/>
          <a:p>
            <a:pPr algn="ctr"/>
            <a:r>
              <a:rPr lang="en-GB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পদক্ষেপ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43" y="1506748"/>
            <a:ext cx="11484634" cy="4970254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4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গঠন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পরা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মর্শক </a:t>
            </a:r>
            <a:r>
              <a:rPr lang="bn-BD" sz="4800" dirty="0">
                <a:latin typeface="SolaimanLipi" pitchFamily="65" charset="0"/>
                <a:cs typeface="SolaimanLipi" pitchFamily="65" charset="0"/>
              </a:rPr>
              <a:t>নিয়োগ</a:t>
            </a:r>
          </a:p>
          <a:p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ক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্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মকৌশল ও কর্মপরিকল্পনা প্রণয়ন</a:t>
            </a: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উদ্বুদ্ধকরন</a:t>
            </a:r>
            <a:endParaRPr lang="bn-BD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প্রশিক্ষণ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মূল্যায়ন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SolaimanLipi" pitchFamily="65" charset="0"/>
                <a:cs typeface="SolaimanLipi" pitchFamily="65" charset="0"/>
              </a:rPr>
              <a:t>ধন্যবাদ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550</TotalTime>
  <Words>632</Words>
  <Application>Microsoft Office PowerPoint</Application>
  <PresentationFormat>Custom</PresentationFormat>
  <Paragraphs>245</Paragraphs>
  <Slides>26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Celestial</vt:lpstr>
      <vt:lpstr>Chart</vt:lpstr>
      <vt:lpstr>সি-জে জনসম্পৃক্ত স্বাস্থ্য ব্যবস্থাপনা</vt:lpstr>
      <vt:lpstr>ভূমিকা</vt:lpstr>
      <vt:lpstr>চৌগাছা মডেল</vt:lpstr>
      <vt:lpstr>PowerPoint Presentation</vt:lpstr>
      <vt:lpstr>PowerPoint Presentation</vt:lpstr>
      <vt:lpstr>কলেজ পড়ুয়া ছাত্রী ভলেন্টিয়ার</vt:lpstr>
      <vt:lpstr>চৌগাছা হাসপাতাল: প্রসববৃদ্ধি </vt:lpstr>
      <vt:lpstr>PowerPoint Presentation</vt:lpstr>
      <vt:lpstr>দৈনিক প্রথম-আলোর প্রতিবেদন ১৪ অক্টোবর, ২০০৫</vt:lpstr>
      <vt:lpstr>চৌগাছা: অর্জন ২০১১</vt:lpstr>
      <vt:lpstr>PowerPoint Presentation</vt:lpstr>
      <vt:lpstr>ঝিনাইদহ মডেল</vt:lpstr>
      <vt:lpstr>ঝিনাইদহ: চ্যালেন্জ সমূহ ২০১২</vt:lpstr>
      <vt:lpstr>জনসম্পৃক্ততা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জরুরী বহি: অন্ত বিভাগ: রোগী বৃদ্ধি</vt:lpstr>
      <vt:lpstr>ঝিনাইদহ: শ্রেষ্ঠ জরুরী প্রসুতি সেবা ২০১৭</vt:lpstr>
      <vt:lpstr>  হাসপাতালের রাজস্ব আয়ের তুলনামূলক চিত্র (২০১৫ - ২০১৮) </vt:lpstr>
      <vt:lpstr>ঝিনাইদহ: অর্জন ২০১৮</vt:lpstr>
      <vt:lpstr>সম্প্রসারনের পদক্ষেপ</vt:lpstr>
      <vt:lpstr>ধন্যবাদ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Emdad</cp:lastModifiedBy>
  <cp:revision>120</cp:revision>
  <dcterms:created xsi:type="dcterms:W3CDTF">2018-04-08T00:56:33Z</dcterms:created>
  <dcterms:modified xsi:type="dcterms:W3CDTF">2019-04-25T00:06:59Z</dcterms:modified>
</cp:coreProperties>
</file>