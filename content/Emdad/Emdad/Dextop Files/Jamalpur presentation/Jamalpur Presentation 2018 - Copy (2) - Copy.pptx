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32"/>
  </p:notesMasterIdLst>
  <p:sldIdLst>
    <p:sldId id="426" r:id="rId2"/>
    <p:sldId id="427" r:id="rId3"/>
    <p:sldId id="345" r:id="rId4"/>
    <p:sldId id="332" r:id="rId5"/>
    <p:sldId id="341" r:id="rId6"/>
    <p:sldId id="411" r:id="rId7"/>
    <p:sldId id="420" r:id="rId8"/>
    <p:sldId id="343" r:id="rId9"/>
    <p:sldId id="256" r:id="rId10"/>
    <p:sldId id="403" r:id="rId11"/>
    <p:sldId id="326" r:id="rId12"/>
    <p:sldId id="327" r:id="rId13"/>
    <p:sldId id="351" r:id="rId14"/>
    <p:sldId id="430" r:id="rId15"/>
    <p:sldId id="402" r:id="rId16"/>
    <p:sldId id="421" r:id="rId17"/>
    <p:sldId id="428" r:id="rId18"/>
    <p:sldId id="429" r:id="rId19"/>
    <p:sldId id="291" r:id="rId20"/>
    <p:sldId id="323" r:id="rId21"/>
    <p:sldId id="412" r:id="rId22"/>
    <p:sldId id="293" r:id="rId23"/>
    <p:sldId id="330" r:id="rId24"/>
    <p:sldId id="417" r:id="rId25"/>
    <p:sldId id="419" r:id="rId26"/>
    <p:sldId id="413" r:id="rId27"/>
    <p:sldId id="422" r:id="rId28"/>
    <p:sldId id="423" r:id="rId29"/>
    <p:sldId id="424" r:id="rId30"/>
    <p:sldId id="425" r:id="rId3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33"/>
    <a:srgbClr val="00FF99"/>
    <a:srgbClr val="CCFF99"/>
    <a:srgbClr val="0C7E17"/>
    <a:srgbClr val="3E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29" autoAdjust="0"/>
    <p:restoredTop sz="91815" autoAdjust="0"/>
  </p:normalViewPr>
  <p:slideViewPr>
    <p:cSldViewPr>
      <p:cViewPr>
        <p:scale>
          <a:sx n="70" d="100"/>
          <a:sy n="70" d="100"/>
        </p:scale>
        <p:origin x="-1614" y="-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7266816"/>
        <c:axId val="217268608"/>
      </c:barChart>
      <c:catAx>
        <c:axId val="2172668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7268608"/>
        <c:crosses val="autoZero"/>
        <c:auto val="1"/>
        <c:lblAlgn val="ctr"/>
        <c:lblOffset val="100"/>
        <c:noMultiLvlLbl val="0"/>
      </c:catAx>
      <c:valAx>
        <c:axId val="21726860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172668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3293568"/>
        <c:axId val="153295104"/>
      </c:barChart>
      <c:catAx>
        <c:axId val="1532935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3295104"/>
        <c:crosses val="autoZero"/>
        <c:auto val="1"/>
        <c:lblAlgn val="ctr"/>
        <c:lblOffset val="100"/>
        <c:noMultiLvlLbl val="0"/>
      </c:catAx>
      <c:valAx>
        <c:axId val="1532951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329356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5681408"/>
        <c:axId val="165697792"/>
      </c:barChart>
      <c:catAx>
        <c:axId val="165681408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5697792"/>
        <c:crosses val="autoZero"/>
        <c:auto val="1"/>
        <c:lblAlgn val="ctr"/>
        <c:lblOffset val="100"/>
        <c:noMultiLvlLbl val="0"/>
      </c:catAx>
      <c:valAx>
        <c:axId val="1656977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568140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17172224"/>
        <c:axId val="237232128"/>
        <c:axId val="0"/>
      </c:bar3DChart>
      <c:catAx>
        <c:axId val="217172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7232128"/>
        <c:crosses val="autoZero"/>
        <c:auto val="1"/>
        <c:lblAlgn val="ctr"/>
        <c:lblOffset val="100"/>
        <c:noMultiLvlLbl val="0"/>
      </c:catAx>
      <c:valAx>
        <c:axId val="237232128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17172224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 </a:t>
            </a:r>
            <a:r>
              <a:rPr lang="en-US" baseline="0" dirty="0" smtClean="0"/>
              <a:t>– S</a:t>
            </a:r>
            <a:r>
              <a:rPr lang="en-US" dirty="0" smtClean="0"/>
              <a:t>ection in </a:t>
            </a:r>
            <a:r>
              <a:rPr lang="en-US" dirty="0" err="1" smtClean="0"/>
              <a:t>Chowgacha</a:t>
            </a:r>
            <a:r>
              <a:rPr lang="en-US" baseline="0" dirty="0" smtClean="0"/>
              <a:t> UHC</a:t>
            </a:r>
            <a:endParaRPr lang="en-US" dirty="0"/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Seasaren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1007</c:v>
                </c:pt>
                <c:pt idx="1">
                  <c:v>785</c:v>
                </c:pt>
                <c:pt idx="2">
                  <c:v>900</c:v>
                </c:pt>
                <c:pt idx="3">
                  <c:v>979</c:v>
                </c:pt>
                <c:pt idx="4">
                  <c:v>1035</c:v>
                </c:pt>
                <c:pt idx="5">
                  <c:v>727</c:v>
                </c:pt>
                <c:pt idx="6">
                  <c:v>759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5628928"/>
        <c:axId val="165954304"/>
      </c:barChart>
      <c:catAx>
        <c:axId val="165628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5954304"/>
        <c:crosses val="autoZero"/>
        <c:auto val="1"/>
        <c:lblAlgn val="ctr"/>
        <c:lblOffset val="100"/>
        <c:noMultiLvlLbl val="0"/>
      </c:catAx>
      <c:valAx>
        <c:axId val="1659543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6562892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Total </a:t>
            </a:r>
            <a:r>
              <a:rPr lang="en-US" dirty="0" smtClean="0"/>
              <a:t>delivery in </a:t>
            </a:r>
            <a:r>
              <a:rPr lang="en-US" dirty="0" err="1" smtClean="0"/>
              <a:t>Chowgacha</a:t>
            </a:r>
            <a:r>
              <a:rPr lang="en-US" dirty="0" smtClean="0"/>
              <a:t> UHC</a:t>
            </a:r>
            <a:endParaRPr lang="en-US" dirty="0"/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4412</c:v>
                </c:pt>
                <c:pt idx="1">
                  <c:v>3508</c:v>
                </c:pt>
                <c:pt idx="2">
                  <c:v>3246</c:v>
                </c:pt>
                <c:pt idx="3">
                  <c:v>3422</c:v>
                </c:pt>
                <c:pt idx="4">
                  <c:v>3486</c:v>
                </c:pt>
                <c:pt idx="5">
                  <c:v>3003</c:v>
                </c:pt>
                <c:pt idx="6">
                  <c:v>2898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5987456"/>
        <c:axId val="165988992"/>
      </c:barChart>
      <c:catAx>
        <c:axId val="1659874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5988992"/>
        <c:crosses val="autoZero"/>
        <c:auto val="1"/>
        <c:lblAlgn val="ctr"/>
        <c:lblOffset val="100"/>
        <c:noMultiLvlLbl val="0"/>
      </c:catAx>
      <c:valAx>
        <c:axId val="1659889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6598745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GB" dirty="0" smtClean="0"/>
              <a:t>Total no</a:t>
            </a:r>
            <a:r>
              <a:rPr lang="en-GB" baseline="0" dirty="0" smtClean="0"/>
              <a:t> of </a:t>
            </a:r>
            <a:r>
              <a:rPr lang="en-GB" dirty="0" smtClean="0"/>
              <a:t>ANC in </a:t>
            </a:r>
            <a:r>
              <a:rPr lang="en-GB" dirty="0" err="1" smtClean="0"/>
              <a:t>Chowgacha</a:t>
            </a:r>
            <a:r>
              <a:rPr lang="en-GB" dirty="0" smtClean="0"/>
              <a:t> UHC</a:t>
            </a:r>
            <a:endParaRPr lang="en-GB" dirty="0"/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22708</c:v>
                </c:pt>
                <c:pt idx="1">
                  <c:v>19299</c:v>
                </c:pt>
                <c:pt idx="2">
                  <c:v>19249</c:v>
                </c:pt>
                <c:pt idx="3">
                  <c:v>19144</c:v>
                </c:pt>
                <c:pt idx="4">
                  <c:v>19569</c:v>
                </c:pt>
                <c:pt idx="5">
                  <c:v>19467</c:v>
                </c:pt>
                <c:pt idx="6">
                  <c:v>18680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6960000"/>
        <c:axId val="217129728"/>
      </c:barChart>
      <c:catAx>
        <c:axId val="216960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7129728"/>
        <c:crosses val="autoZero"/>
        <c:auto val="1"/>
        <c:lblAlgn val="ctr"/>
        <c:lblOffset val="100"/>
        <c:noMultiLvlLbl val="0"/>
      </c:catAx>
      <c:valAx>
        <c:axId val="2171297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696000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Normal </a:t>
            </a:r>
            <a:r>
              <a:rPr lang="en-US" dirty="0" smtClean="0"/>
              <a:t>Delivery in </a:t>
            </a:r>
            <a:r>
              <a:rPr lang="en-US" dirty="0" err="1" smtClean="0"/>
              <a:t>Chowgacha</a:t>
            </a:r>
            <a:r>
              <a:rPr lang="en-US" dirty="0" smtClean="0"/>
              <a:t> UHC</a:t>
            </a:r>
            <a:endParaRPr lang="en-US" dirty="0"/>
          </a:p>
        </c:rich>
      </c:tx>
      <c:layout>
        <c:manualLayout>
          <c:xMode val="edge"/>
          <c:yMode val="edge"/>
          <c:x val="0.3583791338582677"/>
          <c:y val="0.05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 Delivery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3345</c:v>
                </c:pt>
                <c:pt idx="1">
                  <c:v>2671</c:v>
                </c:pt>
                <c:pt idx="2">
                  <c:v>2333</c:v>
                </c:pt>
                <c:pt idx="3">
                  <c:v>2375</c:v>
                </c:pt>
                <c:pt idx="4">
                  <c:v>2369</c:v>
                </c:pt>
                <c:pt idx="5">
                  <c:v>2202</c:v>
                </c:pt>
                <c:pt idx="6">
                  <c:v>2123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8470272"/>
        <c:axId val="238471808"/>
      </c:barChart>
      <c:catAx>
        <c:axId val="2384702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38471808"/>
        <c:crosses val="autoZero"/>
        <c:auto val="1"/>
        <c:lblAlgn val="ctr"/>
        <c:lblOffset val="100"/>
        <c:noMultiLvlLbl val="0"/>
      </c:catAx>
      <c:valAx>
        <c:axId val="2384718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384702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6/11/2019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5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620" y="698253"/>
            <a:ext cx="4463162" cy="3484718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15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23</a:t>
            </a:fld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24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26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6/11/2019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2019/6/11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5.png"/><Relationship Id="rId7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jpe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569660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UHC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&amp;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Sadar Hospital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 development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Nation Consultant C -J model replication committee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53367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584775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Challages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of </a:t>
            </a:r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healthrelated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</a:t>
            </a:r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sdg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in </a:t>
            </a:r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bangladesh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0500" y="1201394"/>
            <a:ext cx="88011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1.Implimentation of </a:t>
            </a:r>
            <a:r>
              <a:rPr lang="en-US" sz="2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universial</a:t>
            </a: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health coverage       .</a:t>
            </a: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2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L</a:t>
            </a: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imited </a:t>
            </a:r>
            <a:r>
              <a:rPr lang="en-US" sz="2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govt</a:t>
            </a: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resources in health sector                 .</a:t>
            </a: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3 Health insurance system.                                      .                              </a:t>
            </a: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4.Quality of health care                                             .</a:t>
            </a: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5.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</a:t>
            </a:r>
            <a:r>
              <a:rPr lang="en-US" sz="2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tanting</a:t>
            </a: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and low birth weight                                .  </a:t>
            </a: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6. Street accident                                                     .</a:t>
            </a:r>
          </a:p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7</a:t>
            </a: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Low institutional delivery and high </a:t>
            </a:r>
            <a:r>
              <a:rPr lang="en-US" sz="2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c-section</a:t>
            </a: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rate  .</a:t>
            </a:r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8.Hospital waste management system                    .</a:t>
            </a:r>
          </a:p>
          <a:p>
            <a:pPr algn="ctr">
              <a:defRPr/>
            </a:pPr>
            <a:r>
              <a:rPr lang="en-US" sz="2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9 Maintenance of office time of the service provider.</a:t>
            </a:r>
          </a:p>
        </p:txBody>
      </p:sp>
    </p:spTree>
    <p:extLst>
      <p:ext uri="{BB962C8B-B14F-4D97-AF65-F5344CB8AC3E}">
        <p14:creationId xmlns:p14="http://schemas.microsoft.com/office/powerpoint/2010/main" val="327192413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883078"/>
              </p:ext>
            </p:extLst>
          </p:nvPr>
        </p:nvGraphicFramePr>
        <p:xfrm>
          <a:off x="144439" y="1295400"/>
          <a:ext cx="8823562" cy="463971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/>
                <a:gridCol w="1777358"/>
                <a:gridCol w="1295400"/>
                <a:gridCol w="1295400"/>
                <a:gridCol w="1371600"/>
                <a:gridCol w="1295400"/>
                <a:gridCol w="1200150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37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14.79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</a:t>
            </a:r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2017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0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30812261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5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6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09947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60198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 marL="0" indent="0">
              <a:buNone/>
              <a:defRPr/>
            </a:pPr>
            <a:r>
              <a:rPr lang="en-US" sz="2800" b="1" dirty="0" smtClean="0"/>
              <a:t>    </a:t>
            </a:r>
            <a:r>
              <a:rPr lang="en-US" sz="2800" b="1" i="1" dirty="0" err="1"/>
              <a:t>I</a:t>
            </a:r>
            <a:r>
              <a:rPr lang="en-US" sz="2800" b="1" dirty="0" err="1" smtClean="0"/>
              <a:t>nsecured</a:t>
            </a:r>
            <a:r>
              <a:rPr lang="en-US" sz="2800" b="1" dirty="0" smtClean="0"/>
              <a:t>  hospital environment.</a:t>
            </a:r>
          </a:p>
          <a:p>
            <a:pPr marL="0" indent="0">
              <a:buNone/>
              <a:defRPr/>
            </a:pPr>
            <a:r>
              <a:rPr lang="en-US" sz="2800" dirty="0" smtClean="0"/>
              <a:t>	</a:t>
            </a:r>
            <a:endParaRPr lang="en-US" sz="2800" dirty="0"/>
          </a:p>
          <a:p>
            <a:pPr>
              <a:defRPr/>
            </a:pPr>
            <a:r>
              <a:rPr lang="en-US" sz="2800" b="1" dirty="0" smtClean="0"/>
              <a:t>Performance of all activities</a:t>
            </a:r>
            <a:r>
              <a:rPr lang="en-US" sz="2400" b="1" dirty="0" smtClean="0"/>
              <a:t> </a:t>
            </a:r>
            <a:r>
              <a:rPr lang="en-US" sz="2800" b="1" dirty="0" smtClean="0"/>
              <a:t>was very low.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r>
              <a:rPr lang="en-US" sz="2800" b="1" dirty="0" smtClean="0"/>
              <a:t>Very limited support staff. 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r>
              <a:rPr lang="en-US" sz="2800" b="1" dirty="0" smtClean="0"/>
              <a:t>Receiving money from the patients by </a:t>
            </a:r>
            <a:r>
              <a:rPr lang="en-US" sz="2800" b="1" dirty="0" smtClean="0"/>
              <a:t>non-govt. </a:t>
            </a:r>
            <a:r>
              <a:rPr lang="en-US" sz="2800" b="1" dirty="0" smtClean="0"/>
              <a:t>staff.</a:t>
            </a:r>
          </a:p>
          <a:p>
            <a:pPr>
              <a:defRPr/>
            </a:pPr>
            <a:endParaRPr lang="en-US" sz="2800" b="1" dirty="0" smtClean="0"/>
          </a:p>
          <a:p>
            <a:pPr>
              <a:defRPr/>
            </a:pPr>
            <a:r>
              <a:rPr lang="en-US" sz="2800" b="1" dirty="0" smtClean="0"/>
              <a:t>Waste management system was poor.</a:t>
            </a:r>
          </a:p>
          <a:p>
            <a:pPr>
              <a:defRPr/>
            </a:pPr>
            <a:endParaRPr lang="en-US" sz="2800" b="1" dirty="0" smtClean="0"/>
          </a:p>
          <a:p>
            <a:pPr>
              <a:defRPr/>
            </a:pPr>
            <a:r>
              <a:rPr lang="en-US" sz="2800" b="1" dirty="0" smtClean="0"/>
              <a:t>Monitoring  </a:t>
            </a:r>
            <a:r>
              <a:rPr lang="en-US" sz="2800" b="1" dirty="0"/>
              <a:t>m</a:t>
            </a:r>
            <a:r>
              <a:rPr lang="en-US" sz="2800" b="1" dirty="0" smtClean="0"/>
              <a:t>eeting was not performed regularly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</a:t>
            </a: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96630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56632884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2017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6404045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334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56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MP of Jhenaidah-2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14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12 , Mayor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Paurasava</a:t>
            </a:r>
            <a:r>
              <a:rPr lang="en-US" sz="260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4, </a:t>
            </a:r>
            <a:r>
              <a:rPr lang="en-US" sz="2400" dirty="0" smtClean="0"/>
              <a:t>,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 17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cleanliness, renovation of pediatric word and arrange a mayoral conference.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generator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donated an inter-com, mayor donated a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biochemistry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analyzer.</a:t>
            </a: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26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6016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4139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2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Surgery Ward</a:t>
            </a:r>
          </a:p>
        </p:txBody>
      </p:sp>
      <p:pic>
        <p:nvPicPr>
          <p:cNvPr id="4608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838200"/>
            <a:ext cx="4038600" cy="2667000"/>
          </a:xfrm>
          <a:noFill/>
        </p:spPr>
      </p:pic>
      <p:pic>
        <p:nvPicPr>
          <p:cNvPr id="46084" name="Picture 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62000"/>
            <a:ext cx="4038600" cy="2667000"/>
          </a:xfrm>
          <a:noFill/>
        </p:spPr>
      </p:pic>
      <p:pic>
        <p:nvPicPr>
          <p:cNvPr id="46085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3714750"/>
            <a:ext cx="4038600" cy="2914650"/>
          </a:xfrm>
          <a:noFill/>
        </p:spPr>
      </p:pic>
      <p:pic>
        <p:nvPicPr>
          <p:cNvPr id="4608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733800"/>
            <a:ext cx="3962400" cy="2895600"/>
          </a:xfrm>
          <a:noFill/>
        </p:spPr>
      </p:pic>
      <p:sp>
        <p:nvSpPr>
          <p:cNvPr id="46087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pic>
        <p:nvPicPr>
          <p:cNvPr id="4608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9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0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6052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1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2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8647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3505200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8362" y="3772089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257034" y="3899646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224746" y="3922214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3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23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9" y="806427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611" y="3807725"/>
            <a:ext cx="4354514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1" y="912125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699" y="912125"/>
            <a:ext cx="4127426" cy="2590800"/>
          </a:xfrm>
        </p:spPr>
      </p:pic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8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3998913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28186" y="4092576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800600" y="4035426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5207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-152400"/>
            <a:ext cx="9144000" cy="1524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endParaRPr lang="en-US" altLang="ja-JP" sz="32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9144000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</a:t>
            </a:r>
            <a:r>
              <a:rPr lang="en-US" sz="2000" b="1" dirty="0" smtClean="0"/>
              <a:t>. Active </a:t>
            </a:r>
            <a:r>
              <a:rPr lang="en-US" sz="2000" b="1" dirty="0"/>
              <a:t>C</a:t>
            </a:r>
            <a:r>
              <a:rPr lang="en-US" sz="2000" b="1" dirty="0" smtClean="0"/>
              <a:t>ommunity Participation  is an example in Bangladesh.</a:t>
            </a:r>
          </a:p>
          <a:p>
            <a:pPr marL="0" algn="just">
              <a:defRPr/>
            </a:pPr>
            <a:r>
              <a:rPr lang="en-US" sz="2000" dirty="0" smtClean="0"/>
              <a:t> </a:t>
            </a:r>
          </a:p>
          <a:p>
            <a:pPr marL="0" algn="just">
              <a:defRPr/>
            </a:pPr>
            <a:r>
              <a:rPr lang="en-US" sz="2000" b="1" dirty="0" smtClean="0"/>
              <a:t>2. Improved   </a:t>
            </a:r>
            <a:r>
              <a:rPr lang="en-US" sz="2000" b="1" dirty="0"/>
              <a:t>p</a:t>
            </a:r>
            <a:r>
              <a:rPr lang="en-US" sz="2000" b="1" dirty="0" smtClean="0"/>
              <a:t>erformance  of all services.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>
              <a:defRPr/>
            </a:pPr>
            <a:r>
              <a:rPr lang="en-US" sz="2000" b="1" dirty="0" smtClean="0"/>
              <a:t>3</a:t>
            </a:r>
            <a:r>
              <a:rPr lang="en-US" sz="2000" b="1" dirty="0"/>
              <a:t>. Improved Cleanliness and </a:t>
            </a:r>
            <a:r>
              <a:rPr lang="en-US" sz="2000" b="1" dirty="0" smtClean="0"/>
              <a:t>Beautification of Campus.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4. </a:t>
            </a:r>
            <a:r>
              <a:rPr lang="en-US" sz="2000" b="1" dirty="0"/>
              <a:t>Functioning </a:t>
            </a:r>
            <a:r>
              <a:rPr lang="en-US" sz="2000" b="1" dirty="0" smtClean="0"/>
              <a:t>of X-Ray service and Biochemistry investigation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5. </a:t>
            </a:r>
            <a:r>
              <a:rPr lang="en-US" sz="2000" b="1" dirty="0"/>
              <a:t>Improved </a:t>
            </a:r>
            <a:r>
              <a:rPr lang="en-US" sz="2000" b="1" dirty="0" smtClean="0"/>
              <a:t> Security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6. </a:t>
            </a:r>
            <a:r>
              <a:rPr lang="en-US" sz="2000" b="1" dirty="0"/>
              <a:t>Improved Financial </a:t>
            </a:r>
            <a:r>
              <a:rPr lang="en-US" sz="2000" b="1" dirty="0" smtClean="0"/>
              <a:t>Management</a:t>
            </a:r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7. “Model  ” is replicating in 11 district  and  5  </a:t>
            </a:r>
            <a:r>
              <a:rPr lang="en-US" sz="2000" b="1" dirty="0" err="1" smtClean="0"/>
              <a:t>upazilla</a:t>
            </a:r>
            <a:r>
              <a:rPr lang="en-US" sz="2000" b="1" dirty="0" smtClean="0"/>
              <a:t>  hospital 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 smtClean="0"/>
              <a:t>8. </a:t>
            </a:r>
            <a:r>
              <a:rPr lang="en-US" sz="2000" b="1" dirty="0"/>
              <a:t>The hospital is </a:t>
            </a:r>
            <a:r>
              <a:rPr lang="en-US" sz="2000" b="1" dirty="0" smtClean="0"/>
              <a:t>awarded 7 </a:t>
            </a:r>
            <a:r>
              <a:rPr lang="en-US" sz="2000" b="1" dirty="0"/>
              <a:t>times from 2013 to </a:t>
            </a:r>
            <a:r>
              <a:rPr lang="en-US" sz="2000" b="1" dirty="0" smtClean="0"/>
              <a:t>2018.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-6824" y="-152400"/>
            <a:ext cx="9144000" cy="13716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Need to implement health related SDG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by 2030</a:t>
            </a:r>
            <a:endParaRPr lang="en-US" altLang="ja-JP" sz="40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228600" y="1752599"/>
            <a:ext cx="8458200" cy="46300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800" b="1" dirty="0" smtClean="0"/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I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n every community clinic 1 M.A</a:t>
            </a: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10 bedded hospital </a:t>
            </a:r>
            <a:r>
              <a:rPr lang="en-US" sz="2800" b="1" smtClean="0">
                <a:solidFill>
                  <a:schemeClr val="tx2">
                    <a:lumMod val="75000"/>
                  </a:schemeClr>
                </a:solidFill>
              </a:rPr>
              <a:t>with 3 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doctors</a:t>
            </a:r>
            <a:r>
              <a:rPr lang="en-US" sz="2800" b="1" smtClean="0">
                <a:solidFill>
                  <a:schemeClr val="tx2">
                    <a:lumMod val="75000"/>
                  </a:schemeClr>
                </a:solidFill>
              </a:rPr>
              <a:t>, 12 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nurses          and paramedics in every union.</a:t>
            </a: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100 bedded hospital  In every </a:t>
            </a:r>
            <a:r>
              <a:rPr lang="en-US" sz="2800" b="1" dirty="0" err="1" smtClean="0">
                <a:solidFill>
                  <a:schemeClr val="tx2">
                    <a:lumMod val="75000"/>
                  </a:schemeClr>
                </a:solidFill>
              </a:rPr>
              <a:t>upazilla</a:t>
            </a: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500 bedded hospital in every district. </a:t>
            </a: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8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799421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32982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sz="4400" dirty="0"/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285830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3550002642"/>
              </p:ext>
            </p:extLst>
          </p:nvPr>
        </p:nvGraphicFramePr>
        <p:xfrm>
          <a:off x="685800" y="914400"/>
          <a:ext cx="75438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7686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718852784"/>
              </p:ext>
            </p:extLst>
          </p:nvPr>
        </p:nvGraphicFramePr>
        <p:xfrm>
          <a:off x="1295400" y="1219200"/>
          <a:ext cx="7848600" cy="447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0331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733886985"/>
              </p:ext>
            </p:extLst>
          </p:nvPr>
        </p:nvGraphicFramePr>
        <p:xfrm>
          <a:off x="685800" y="1397000"/>
          <a:ext cx="77724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153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2554110865"/>
              </p:ext>
            </p:extLst>
          </p:nvPr>
        </p:nvGraphicFramePr>
        <p:xfrm>
          <a:off x="762000" y="1397000"/>
          <a:ext cx="7620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5776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5404</TotalTime>
  <Words>610</Words>
  <Application>Microsoft Office PowerPoint</Application>
  <PresentationFormat>On-screen Show (4:3)</PresentationFormat>
  <Paragraphs>212</Paragraphs>
  <Slides>30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Office Theme</vt:lpstr>
      <vt:lpstr>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Upazila Health  Complex CHOWGACHA , JESSORE.</vt:lpstr>
      <vt:lpstr>Upazila Health  Complex CHOWGACHA , JESSORE.</vt:lpstr>
      <vt:lpstr>PowerPoint Presentation</vt:lpstr>
      <vt:lpstr>100 kh¨v wewkó m`i nvmcvZvj, wSbvB`n</vt:lpstr>
      <vt:lpstr>Challenges of the hospital in 2012</vt:lpstr>
      <vt:lpstr>PowerPoint Presentation</vt:lpstr>
      <vt:lpstr>Emergency &amp; Out Door, Indoor  Service 1998 to 2017</vt:lpstr>
      <vt:lpstr>3 best performing EmOC Hospital in Khulna division - 2017</vt:lpstr>
      <vt:lpstr>  Comparative data of revenue income (in Taka) from 2015 to 2017 </vt:lpstr>
      <vt:lpstr>PowerPoint Presentation</vt:lpstr>
      <vt:lpstr>Changes in EOC Ward</vt:lpstr>
      <vt:lpstr>Changes in Gardens of The Hospital</vt:lpstr>
      <vt:lpstr>Changes in Surgery Ward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Hospital Environment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655</cp:revision>
  <cp:lastPrinted>2017-03-18T23:47:54Z</cp:lastPrinted>
  <dcterms:created xsi:type="dcterms:W3CDTF">2013-05-05T09:56:19Z</dcterms:created>
  <dcterms:modified xsi:type="dcterms:W3CDTF">2019-06-11T14:34:37Z</dcterms:modified>
</cp:coreProperties>
</file>