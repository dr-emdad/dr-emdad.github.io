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xls" ContentType="application/vnd.ms-exce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8" r:id="rId3"/>
    <p:sldId id="301" r:id="rId4"/>
    <p:sldId id="260" r:id="rId5"/>
    <p:sldId id="262" r:id="rId6"/>
    <p:sldId id="389" r:id="rId7"/>
    <p:sldId id="373" r:id="rId8"/>
    <p:sldId id="351" r:id="rId9"/>
    <p:sldId id="352" r:id="rId10"/>
    <p:sldId id="374" r:id="rId11"/>
    <p:sldId id="369" r:id="rId12"/>
    <p:sldId id="319" r:id="rId13"/>
    <p:sldId id="320" r:id="rId14"/>
    <p:sldId id="321" r:id="rId15"/>
    <p:sldId id="322" r:id="rId16"/>
    <p:sldId id="323" r:id="rId17"/>
    <p:sldId id="324" r:id="rId18"/>
    <p:sldId id="376" r:id="rId19"/>
    <p:sldId id="380" r:id="rId20"/>
    <p:sldId id="378" r:id="rId21"/>
    <p:sldId id="379" r:id="rId22"/>
    <p:sldId id="382" r:id="rId23"/>
    <p:sldId id="355" r:id="rId24"/>
    <p:sldId id="381" r:id="rId25"/>
    <p:sldId id="371" r:id="rId26"/>
    <p:sldId id="354" r:id="rId27"/>
    <p:sldId id="360" r:id="rId28"/>
    <p:sldId id="353" r:id="rId29"/>
    <p:sldId id="358" r:id="rId30"/>
    <p:sldId id="372" r:id="rId31"/>
    <p:sldId id="361" r:id="rId32"/>
    <p:sldId id="386" r:id="rId33"/>
    <p:sldId id="387" r:id="rId34"/>
    <p:sldId id="298" r:id="rId35"/>
    <p:sldId id="299" r:id="rId36"/>
    <p:sldId id="383" r:id="rId37"/>
    <p:sldId id="417" r:id="rId38"/>
    <p:sldId id="384" r:id="rId39"/>
    <p:sldId id="385" r:id="rId40"/>
    <p:sldId id="344" r:id="rId41"/>
    <p:sldId id="345" r:id="rId42"/>
    <p:sldId id="362" r:id="rId43"/>
    <p:sldId id="363" r:id="rId44"/>
    <p:sldId id="364" r:id="rId45"/>
    <p:sldId id="366" r:id="rId46"/>
    <p:sldId id="365" r:id="rId47"/>
    <p:sldId id="367" r:id="rId48"/>
    <p:sldId id="391" r:id="rId49"/>
    <p:sldId id="390" r:id="rId50"/>
    <p:sldId id="393" r:id="rId51"/>
    <p:sldId id="394" r:id="rId52"/>
    <p:sldId id="392" r:id="rId53"/>
    <p:sldId id="395" r:id="rId54"/>
    <p:sldId id="396" r:id="rId55"/>
    <p:sldId id="397" r:id="rId56"/>
    <p:sldId id="398" r:id="rId57"/>
    <p:sldId id="399" r:id="rId58"/>
    <p:sldId id="400" r:id="rId59"/>
    <p:sldId id="401" r:id="rId60"/>
    <p:sldId id="402" r:id="rId61"/>
    <p:sldId id="403" r:id="rId62"/>
    <p:sldId id="404" r:id="rId63"/>
    <p:sldId id="405" r:id="rId64"/>
    <p:sldId id="406" r:id="rId65"/>
    <p:sldId id="407" r:id="rId66"/>
    <p:sldId id="408" r:id="rId67"/>
    <p:sldId id="409" r:id="rId68"/>
    <p:sldId id="410" r:id="rId69"/>
    <p:sldId id="411" r:id="rId70"/>
    <p:sldId id="412" r:id="rId71"/>
    <p:sldId id="413" r:id="rId72"/>
    <p:sldId id="414" r:id="rId73"/>
    <p:sldId id="415" r:id="rId74"/>
    <p:sldId id="416" r:id="rId75"/>
    <p:sldId id="315" r:id="rId76"/>
    <p:sldId id="388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2" autoAdjust="0"/>
    <p:restoredTop sz="94689" autoAdjust="0"/>
  </p:normalViewPr>
  <p:slideViewPr>
    <p:cSldViewPr>
      <p:cViewPr>
        <p:scale>
          <a:sx n="100" d="100"/>
          <a:sy n="100" d="100"/>
        </p:scale>
        <p:origin x="-49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8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9"/>
  <c:chart>
    <c:title>
      <c:layout/>
    </c:title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57580</c:v>
                </c:pt>
                <c:pt idx="1">
                  <c:v>37141</c:v>
                </c:pt>
                <c:pt idx="2">
                  <c:v>13145</c:v>
                </c:pt>
                <c:pt idx="3">
                  <c:v>33337</c:v>
                </c:pt>
                <c:pt idx="4">
                  <c:v>38173</c:v>
                </c:pt>
                <c:pt idx="5">
                  <c:v>40147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Val val="1"/>
        </c:dLbls>
        <c:overlap val="-25"/>
        <c:axId val="171249664"/>
        <c:axId val="171251200"/>
      </c:barChart>
      <c:catAx>
        <c:axId val="171249664"/>
        <c:scaling>
          <c:orientation val="minMax"/>
        </c:scaling>
        <c:axPos val="b"/>
        <c:numFmt formatCode="General" sourceLinked="1"/>
        <c:majorTickMark val="none"/>
        <c:tickLblPos val="nextTo"/>
        <c:crossAx val="171251200"/>
        <c:crosses val="autoZero"/>
        <c:auto val="1"/>
        <c:lblAlgn val="ctr"/>
        <c:lblOffset val="100"/>
      </c:catAx>
      <c:valAx>
        <c:axId val="171251200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1249664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24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6724</c:v>
                </c:pt>
                <c:pt idx="1">
                  <c:v>8650</c:v>
                </c:pt>
                <c:pt idx="2">
                  <c:v>3200</c:v>
                </c:pt>
                <c:pt idx="3">
                  <c:v>6422</c:v>
                </c:pt>
                <c:pt idx="4">
                  <c:v>7665</c:v>
                </c:pt>
                <c:pt idx="5">
                  <c:v>15300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dLbls>
            <c:showVal val="1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Val val="1"/>
        </c:dLbls>
        <c:gapWidth val="75"/>
        <c:overlap val="100"/>
        <c:axId val="171278336"/>
        <c:axId val="171279872"/>
      </c:barChart>
      <c:catAx>
        <c:axId val="171278336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71279872"/>
        <c:crosses val="autoZero"/>
        <c:auto val="1"/>
        <c:lblAlgn val="ctr"/>
        <c:lblOffset val="100"/>
      </c:catAx>
      <c:valAx>
        <c:axId val="171279872"/>
        <c:scaling>
          <c:orientation val="minMax"/>
        </c:scaling>
        <c:axPos val="l"/>
        <c:numFmt formatCode="General" sourceLinked="1"/>
        <c:maj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71278336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40"/>
  <c:chart>
    <c:autoTitleDeleted val="1"/>
    <c:view3D>
      <c:rAngAx val="1"/>
    </c:view3D>
    <c:plotArea>
      <c:layout/>
      <c:bar3D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Val val="1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23286</c:v>
                </c:pt>
                <c:pt idx="1">
                  <c:v>25369</c:v>
                </c:pt>
                <c:pt idx="2">
                  <c:v>26899</c:v>
                </c:pt>
                <c:pt idx="3">
                  <c:v>27894</c:v>
                </c:pt>
                <c:pt idx="4">
                  <c:v>28963</c:v>
                </c:pt>
                <c:pt idx="5">
                  <c:v>26854</c:v>
                </c:pt>
                <c:pt idx="6">
                  <c:v>24857</c:v>
                </c:pt>
                <c:pt idx="7">
                  <c:v>25249</c:v>
                </c:pt>
                <c:pt idx="8">
                  <c:v>23673</c:v>
                </c:pt>
                <c:pt idx="9">
                  <c:v>24074</c:v>
                </c:pt>
                <c:pt idx="10">
                  <c:v>25325</c:v>
                </c:pt>
                <c:pt idx="11">
                  <c:v>24117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Lbls>
            <c:showVal val="1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dLbls>
            <c:showVal val="1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</c:numCache>
            </c:numRef>
          </c:val>
        </c:ser>
        <c:dLbls>
          <c:showVal val="1"/>
        </c:dLbls>
        <c:shape val="cylinder"/>
        <c:axId val="179623040"/>
        <c:axId val="179624576"/>
        <c:axId val="0"/>
      </c:bar3DChart>
      <c:catAx>
        <c:axId val="179623040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79624576"/>
        <c:crosses val="autoZero"/>
        <c:auto val="1"/>
        <c:lblAlgn val="ctr"/>
        <c:lblOffset val="100"/>
      </c:catAx>
      <c:valAx>
        <c:axId val="179624576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9623040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40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Lbls>
            <c:txPr>
              <a:bodyPr/>
              <a:lstStyle/>
              <a:p>
                <a:pPr>
                  <a:defRPr sz="12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7698</c:v>
                </c:pt>
                <c:pt idx="1">
                  <c:v>6874</c:v>
                </c:pt>
                <c:pt idx="2">
                  <c:v>6587</c:v>
                </c:pt>
                <c:pt idx="3">
                  <c:v>7915</c:v>
                </c:pt>
                <c:pt idx="4">
                  <c:v>8113</c:v>
                </c:pt>
                <c:pt idx="5">
                  <c:v>8230</c:v>
                </c:pt>
                <c:pt idx="6">
                  <c:v>7901</c:v>
                </c:pt>
                <c:pt idx="7">
                  <c:v>8820</c:v>
                </c:pt>
                <c:pt idx="8">
                  <c:v>9447</c:v>
                </c:pt>
                <c:pt idx="9">
                  <c:v>10125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Lbls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dLbls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</c:numCache>
            </c:numRef>
          </c:val>
        </c:ser>
        <c:dLbls>
          <c:showVal val="1"/>
        </c:dLbls>
        <c:gapWidth val="75"/>
        <c:axId val="179745536"/>
        <c:axId val="179747072"/>
      </c:barChart>
      <c:catAx>
        <c:axId val="179745536"/>
        <c:scaling>
          <c:orientation val="minMax"/>
        </c:scaling>
        <c:axPos val="b"/>
        <c:numFmt formatCode="General" sourceLinked="1"/>
        <c:majorTickMark val="none"/>
        <c:tickLblPos val="nextTo"/>
        <c:txPr>
          <a:bodyPr/>
          <a:lstStyle/>
          <a:p>
            <a:pPr>
              <a:defRPr sz="1400"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179747072"/>
        <c:crosses val="autoZero"/>
        <c:auto val="1"/>
        <c:lblAlgn val="ctr"/>
        <c:lblOffset val="100"/>
      </c:catAx>
      <c:valAx>
        <c:axId val="179747072"/>
        <c:scaling>
          <c:orientation val="minMax"/>
        </c:scaling>
        <c:axPos val="l"/>
        <c:numFmt formatCode="General" sourceLinked="1"/>
        <c:majorTickMark val="none"/>
        <c:tickLblPos val="nextTo"/>
        <c:crossAx val="179745536"/>
        <c:crosses val="autoZero"/>
        <c:crossBetween val="between"/>
      </c:valAx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31"/>
  <c:chart>
    <c:title>
      <c:layout/>
    </c:title>
    <c:plotArea>
      <c:layout/>
      <c:lineChart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NVD</c:v>
                </c:pt>
              </c:strCache>
            </c:strRef>
          </c:tx>
          <c:dLbls>
            <c:txPr>
              <a:bodyPr/>
              <a:lstStyle/>
              <a:p>
                <a:pPr>
                  <a:defRPr sz="14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1536</c:v>
                </c:pt>
                <c:pt idx="1">
                  <c:v>1752</c:v>
                </c:pt>
                <c:pt idx="2">
                  <c:v>1698</c:v>
                </c:pt>
                <c:pt idx="3">
                  <c:v>1509</c:v>
                </c:pt>
                <c:pt idx="4">
                  <c:v>1365</c:v>
                </c:pt>
                <c:pt idx="5">
                  <c:v>1258</c:v>
                </c:pt>
                <c:pt idx="6">
                  <c:v>1385</c:v>
                </c:pt>
                <c:pt idx="7">
                  <c:v>634</c:v>
                </c:pt>
                <c:pt idx="8">
                  <c:v>616</c:v>
                </c:pt>
                <c:pt idx="9">
                  <c:v>826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C/S</c:v>
                </c:pt>
              </c:strCache>
            </c:strRef>
          </c:tx>
          <c:dLbls>
            <c:txPr>
              <a:bodyPr/>
              <a:lstStyle/>
              <a:p>
                <a:pPr>
                  <a:defRPr sz="1100"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Val val="1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2806</c:v>
                </c:pt>
                <c:pt idx="1">
                  <c:v>2698</c:v>
                </c:pt>
                <c:pt idx="2">
                  <c:v>2587</c:v>
                </c:pt>
                <c:pt idx="3">
                  <c:v>2385</c:v>
                </c:pt>
                <c:pt idx="4">
                  <c:v>2904</c:v>
                </c:pt>
                <c:pt idx="5">
                  <c:v>3120</c:v>
                </c:pt>
                <c:pt idx="6">
                  <c:v>3510</c:v>
                </c:pt>
                <c:pt idx="7">
                  <c:v>3092</c:v>
                </c:pt>
                <c:pt idx="8">
                  <c:v>3392</c:v>
                </c:pt>
                <c:pt idx="9">
                  <c:v>3279</c:v>
                </c:pt>
              </c:numCache>
            </c:numRef>
          </c:val>
        </c:ser>
        <c:dLbls>
          <c:showVal val="1"/>
        </c:dLbls>
        <c:marker val="1"/>
        <c:axId val="179805184"/>
        <c:axId val="179815168"/>
      </c:lineChart>
      <c:catAx>
        <c:axId val="179805184"/>
        <c:scaling>
          <c:orientation val="minMax"/>
        </c:scaling>
        <c:axPos val="b"/>
        <c:numFmt formatCode="General" sourceLinked="1"/>
        <c:majorTickMark val="none"/>
        <c:tickLblPos val="nextTo"/>
        <c:crossAx val="179815168"/>
        <c:crosses val="autoZero"/>
        <c:auto val="1"/>
        <c:lblAlgn val="ctr"/>
        <c:lblOffset val="100"/>
      </c:catAx>
      <c:valAx>
        <c:axId val="179815168"/>
        <c:scaling>
          <c:orientation val="minMax"/>
        </c:scaling>
        <c:delete val="1"/>
        <c:axPos val="l"/>
        <c:numFmt formatCode="General" sourceLinked="1"/>
        <c:majorTickMark val="none"/>
        <c:tickLblPos val="nextTo"/>
        <c:crossAx val="179805184"/>
        <c:crosses val="autoZero"/>
        <c:crossBetween val="between"/>
      </c:valAx>
    </c:plotArea>
    <c:legend>
      <c:legendPos val="t"/>
      <c:layout/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4AB7FD-28A5-4037-A923-7E2DCE77BA6D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11BF7BD-34D3-44EE-B852-285E070919A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Medicine</a:t>
          </a:r>
          <a:endParaRPr lang="en-US" sz="2000" dirty="0">
            <a:solidFill>
              <a:srgbClr val="3333FF"/>
            </a:solidFill>
          </a:endParaRPr>
        </a:p>
      </dgm:t>
    </dgm:pt>
    <dgm:pt modelId="{FB830798-B045-4011-B168-D56E4CFC87BC}" type="parTrans" cxnId="{7D6B1921-36D3-496B-92C8-976F1DE352C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4FCB16B6-38CF-431E-B74E-FA277AE3DA0D}" type="sibTrans" cxnId="{7D6B1921-36D3-496B-92C8-976F1DE352C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B5340CF1-D835-4DF1-9649-4D43DE884B34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Dermatology</a:t>
          </a:r>
          <a:endParaRPr lang="en-US" sz="2000" dirty="0">
            <a:solidFill>
              <a:srgbClr val="3333FF"/>
            </a:solidFill>
          </a:endParaRPr>
        </a:p>
      </dgm:t>
    </dgm:pt>
    <dgm:pt modelId="{DFD33BCE-6988-47E2-8EB6-5D4C0755D591}" type="parTrans" cxnId="{8D750939-5710-4777-8991-DB384F8F567D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39E33045-B4AD-470B-98FA-436B06FB7968}" type="sibTrans" cxnId="{8D750939-5710-4777-8991-DB384F8F567D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7C0923FA-C9E8-4B3D-99FC-416D20F3FBC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Dental</a:t>
          </a:r>
          <a:endParaRPr lang="en-US" sz="2000" dirty="0">
            <a:solidFill>
              <a:srgbClr val="3333FF"/>
            </a:solidFill>
          </a:endParaRPr>
        </a:p>
      </dgm:t>
    </dgm:pt>
    <dgm:pt modelId="{B6926D94-3BB2-4EC7-85F1-28B3D557A978}" type="parTrans" cxnId="{9EF12957-209F-4C18-B2CE-87EDC66D5237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057A141B-FFB1-40A1-B8B5-DB344293DCB8}" type="sibTrans" cxnId="{9EF12957-209F-4C18-B2CE-87EDC66D5237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22900098-D7D6-45AC-BC95-459597EF39EE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Radiology &amp; Imaging</a:t>
          </a:r>
          <a:endParaRPr lang="en-US" sz="2000" dirty="0">
            <a:solidFill>
              <a:srgbClr val="3333FF"/>
            </a:solidFill>
          </a:endParaRPr>
        </a:p>
      </dgm:t>
    </dgm:pt>
    <dgm:pt modelId="{E51B793E-C20C-4B34-90A8-104F3777594F}" type="parTrans" cxnId="{E0172AD9-22B9-462C-BECC-BFA0050A1094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986A7FBA-42EC-4CDD-B394-BD53C14869D3}" type="sibTrans" cxnId="{E0172AD9-22B9-462C-BECC-BFA0050A1094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1174EC21-9320-46FA-81F8-918F80D2C8B7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Pathology</a:t>
          </a:r>
          <a:endParaRPr lang="en-US" sz="2000" dirty="0">
            <a:solidFill>
              <a:srgbClr val="3333FF"/>
            </a:solidFill>
          </a:endParaRPr>
        </a:p>
      </dgm:t>
    </dgm:pt>
    <dgm:pt modelId="{E81C32AF-C6D8-4375-AA54-233147D763FB}" type="parTrans" cxnId="{A8622234-4EBE-4AB8-B269-5A7FA302FF5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64E33634-32CC-48D4-B78E-0064A25CDD20}" type="sibTrans" cxnId="{A8622234-4EBE-4AB8-B269-5A7FA302FF5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FD2C6352-FBD1-4668-A2FD-41D48B245D58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 smtClean="0">
              <a:solidFill>
                <a:srgbClr val="3333FF"/>
              </a:solidFill>
            </a:rPr>
            <a:t>ICU, NICU, Dialysis</a:t>
          </a:r>
        </a:p>
        <a:p>
          <a:r>
            <a:rPr lang="en-US" sz="1200" dirty="0" smtClean="0">
              <a:solidFill>
                <a:srgbClr val="3333FF"/>
              </a:solidFill>
            </a:rPr>
            <a:t>(Under construction)</a:t>
          </a:r>
          <a:endParaRPr lang="en-US" sz="1200" dirty="0">
            <a:solidFill>
              <a:srgbClr val="3333FF"/>
            </a:solidFill>
          </a:endParaRPr>
        </a:p>
      </dgm:t>
    </dgm:pt>
    <dgm:pt modelId="{22391CAF-01A0-4726-87F7-6D79DE777D7F}" type="parTrans" cxnId="{F96B4E66-3A90-4999-AF4C-D748C0835FB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2B3479B1-E210-4928-813A-03ECC326607E}" type="sibTrans" cxnId="{F96B4E66-3A90-4999-AF4C-D748C0835FB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9F1D573B-A6A3-4B36-90B6-D621FDF7DB98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 smtClean="0">
              <a:solidFill>
                <a:srgbClr val="3333FF"/>
              </a:solidFill>
            </a:rPr>
            <a:t>Growth Monitoring</a:t>
          </a:r>
          <a:endParaRPr lang="en-US" sz="1800" dirty="0">
            <a:solidFill>
              <a:srgbClr val="3333FF"/>
            </a:solidFill>
          </a:endParaRPr>
        </a:p>
      </dgm:t>
    </dgm:pt>
    <dgm:pt modelId="{9E369952-3170-41CE-9EF0-93CA820E5C09}" type="parTrans" cxnId="{C3019A32-920C-4D3D-920E-9716CD4E0668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744C74E1-F9A0-4E5C-AC05-6A5FB96A8508}" type="sibTrans" cxnId="{C3019A32-920C-4D3D-920E-9716CD4E0668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D34E7BE2-1E84-4720-85B7-681D7572829E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 smtClean="0">
              <a:solidFill>
                <a:srgbClr val="3333FF"/>
              </a:solidFill>
            </a:rPr>
            <a:t>Immunization</a:t>
          </a:r>
          <a:endParaRPr lang="en-US" sz="1800" dirty="0">
            <a:solidFill>
              <a:srgbClr val="3333FF"/>
            </a:solidFill>
          </a:endParaRPr>
        </a:p>
      </dgm:t>
    </dgm:pt>
    <dgm:pt modelId="{2B136053-2BA1-42ED-9422-5755427304E0}" type="parTrans" cxnId="{4285D9C6-7472-4050-BA7B-42D73A3A22F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1290584F-FC58-4D62-9BD3-E9A2D9086953}" type="sibTrans" cxnId="{4285D9C6-7472-4050-BA7B-42D73A3A22F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B5802DBB-FDB2-43A0-9B46-F6B2974395BC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ANC</a:t>
          </a:r>
          <a:endParaRPr lang="en-US" sz="2000" dirty="0">
            <a:solidFill>
              <a:srgbClr val="3333FF"/>
            </a:solidFill>
          </a:endParaRPr>
        </a:p>
      </dgm:t>
    </dgm:pt>
    <dgm:pt modelId="{90DD2977-6354-4E83-A222-DBD7C71098CC}" type="parTrans" cxnId="{184CC7E2-DDCC-4346-9458-B6266E89402A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3F7D9ABF-1FD1-4765-A376-A619E838BEBB}" type="sibTrans" cxnId="{184CC7E2-DDCC-4346-9458-B6266E89402A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10B9899C-A06A-49C7-B3C5-B72EFF58A5A6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Gyane &amp; Obs</a:t>
          </a:r>
          <a:endParaRPr lang="en-US" sz="2000" dirty="0">
            <a:solidFill>
              <a:srgbClr val="3333FF"/>
            </a:solidFill>
          </a:endParaRPr>
        </a:p>
      </dgm:t>
    </dgm:pt>
    <dgm:pt modelId="{001433B2-ACB0-490B-BDF6-A7C9BE501B99}" type="parTrans" cxnId="{0523FC0E-5F86-4918-B6BF-7034290C2452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7B9CD3D3-EFA9-4BFA-94CF-C4E9EDED6CFF}" type="sibTrans" cxnId="{0523FC0E-5F86-4918-B6BF-7034290C2452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0852728F-48ED-470D-8115-9F8190912438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Surgery</a:t>
          </a:r>
          <a:endParaRPr lang="en-US" sz="2000" dirty="0">
            <a:solidFill>
              <a:srgbClr val="3333FF"/>
            </a:solidFill>
          </a:endParaRPr>
        </a:p>
      </dgm:t>
    </dgm:pt>
    <dgm:pt modelId="{97C53A8D-D92A-48B4-84A2-D98053A0D4C0}" type="parTrans" cxnId="{412A87D5-FF5E-4A70-88E3-7FD5720DA4B3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46202465-792C-4903-B38C-E61A226253BC}" type="sibTrans" cxnId="{412A87D5-FF5E-4A70-88E3-7FD5720DA4B3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D65439C8-6358-494A-A3CD-8AA666DFCEBF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Orthopedic</a:t>
          </a:r>
          <a:endParaRPr lang="en-US" sz="2000" dirty="0">
            <a:solidFill>
              <a:srgbClr val="3333FF"/>
            </a:solidFill>
          </a:endParaRPr>
        </a:p>
      </dgm:t>
    </dgm:pt>
    <dgm:pt modelId="{7BF72D6E-5CDA-4BF8-91B3-E99F734F7F7B}" type="parTrans" cxnId="{249B7E92-27B7-4946-AFE0-9D05E41BC0F6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77C1EE9D-5219-4223-B00B-3229BB354F58}" type="sibTrans" cxnId="{249B7E92-27B7-4946-AFE0-9D05E41BC0F6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644C963B-7FBB-4F0F-95ED-2B509DA75556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Pediatrics</a:t>
          </a:r>
          <a:endParaRPr lang="en-US" sz="2000" dirty="0">
            <a:solidFill>
              <a:srgbClr val="3333FF"/>
            </a:solidFill>
          </a:endParaRPr>
        </a:p>
      </dgm:t>
    </dgm:pt>
    <dgm:pt modelId="{6ADBF1CC-4060-43C0-A67B-1130C06C9F13}" type="parTrans" cxnId="{D91A9FC1-F725-4225-943E-F029560C814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5FA1DD49-440C-407D-9E9B-5D27C153BC35}" type="sibTrans" cxnId="{D91A9FC1-F725-4225-943E-F029560C8140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17A5486B-2C8F-4B76-8772-4A14E9AD78D7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Gastro-Antrology</a:t>
          </a:r>
          <a:endParaRPr lang="en-US" sz="2000" dirty="0">
            <a:solidFill>
              <a:srgbClr val="3333FF"/>
            </a:solidFill>
          </a:endParaRPr>
        </a:p>
      </dgm:t>
    </dgm:pt>
    <dgm:pt modelId="{1AAAACDB-7CD9-4465-9860-3603FEB870F0}" type="parTrans" cxnId="{887228F5-12AB-41A9-8C84-C4764F6DC58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E01B9FA7-385F-4409-8DF9-3AEDFB5779FC}" type="sibTrans" cxnId="{887228F5-12AB-41A9-8C84-C4764F6DC58B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B1598DA1-0513-4460-B467-30B6D4F04D4D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ENT</a:t>
          </a:r>
          <a:endParaRPr lang="en-US" sz="2000" dirty="0">
            <a:solidFill>
              <a:srgbClr val="3333FF"/>
            </a:solidFill>
          </a:endParaRPr>
        </a:p>
      </dgm:t>
    </dgm:pt>
    <dgm:pt modelId="{163BDC7F-69A5-457D-AAA3-03E7DBDE7CAC}" type="parTrans" cxnId="{FA44737A-F65E-4DA5-9EA9-2C29D222B046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F42B99EE-2FB9-4C34-8C38-D6FA178BF96C}" type="sibTrans" cxnId="{FA44737A-F65E-4DA5-9EA9-2C29D222B046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C5692D28-99EC-4A41-BA27-15795E920F3B}">
      <dgm:prSet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rgbClr val="3333FF"/>
              </a:solidFill>
            </a:rPr>
            <a:t>Urology</a:t>
          </a:r>
          <a:endParaRPr lang="en-US" sz="2000" dirty="0">
            <a:solidFill>
              <a:srgbClr val="3333FF"/>
            </a:solidFill>
          </a:endParaRPr>
        </a:p>
      </dgm:t>
    </dgm:pt>
    <dgm:pt modelId="{8FCF48CA-5679-4699-BB58-CA58185EF595}" type="parTrans" cxnId="{066F4B45-9A74-4458-B862-87BD1E771B48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46DBA365-AF16-4309-B91B-B3EFC92E3400}" type="sibTrans" cxnId="{066F4B45-9A74-4458-B862-87BD1E771B48}">
      <dgm:prSet/>
      <dgm:spPr/>
      <dgm:t>
        <a:bodyPr/>
        <a:lstStyle/>
        <a:p>
          <a:endParaRPr lang="en-US">
            <a:solidFill>
              <a:srgbClr val="3333FF"/>
            </a:solidFill>
          </a:endParaRPr>
        </a:p>
      </dgm:t>
    </dgm:pt>
    <dgm:pt modelId="{B1FEFA41-FC56-466E-953E-9187D6721026}" type="pres">
      <dgm:prSet presAssocID="{D14AB7FD-28A5-4037-A923-7E2DCE77BA6D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8B1027A0-3A4C-4303-845C-BC9C0A528858}" type="pres">
      <dgm:prSet presAssocID="{411BF7BD-34D3-44EE-B852-285E070919A2}" presName="compNode" presStyleCnt="0"/>
      <dgm:spPr/>
    </dgm:pt>
    <dgm:pt modelId="{73C70574-4FAD-4095-AF32-30A60B98F264}" type="pres">
      <dgm:prSet presAssocID="{411BF7BD-34D3-44EE-B852-285E070919A2}" presName="dummyConnPt" presStyleCnt="0"/>
      <dgm:spPr/>
    </dgm:pt>
    <dgm:pt modelId="{7B1A91B2-20A6-4EAA-8661-B1478E9255CA}" type="pres">
      <dgm:prSet presAssocID="{411BF7BD-34D3-44EE-B852-285E070919A2}" presName="node" presStyleLbl="node1" presStyleIdx="0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26B994-6D4C-49B0-A227-07A3AB95A467}" type="pres">
      <dgm:prSet presAssocID="{4FCB16B6-38CF-431E-B74E-FA277AE3DA0D}" presName="sibTrans" presStyleLbl="bgSibTrans2D1" presStyleIdx="0" presStyleCnt="15"/>
      <dgm:spPr/>
      <dgm:t>
        <a:bodyPr/>
        <a:lstStyle/>
        <a:p>
          <a:endParaRPr lang="en-US"/>
        </a:p>
      </dgm:t>
    </dgm:pt>
    <dgm:pt modelId="{04A2B01E-C9AB-4684-8254-1EAA8F8F5705}" type="pres">
      <dgm:prSet presAssocID="{0852728F-48ED-470D-8115-9F8190912438}" presName="compNode" presStyleCnt="0"/>
      <dgm:spPr/>
    </dgm:pt>
    <dgm:pt modelId="{4D118EB6-B356-4C20-8CD9-B598D3701FB3}" type="pres">
      <dgm:prSet presAssocID="{0852728F-48ED-470D-8115-9F8190912438}" presName="dummyConnPt" presStyleCnt="0"/>
      <dgm:spPr/>
    </dgm:pt>
    <dgm:pt modelId="{5EBA63EC-B104-4B3E-A20F-82D4E13362B9}" type="pres">
      <dgm:prSet presAssocID="{0852728F-48ED-470D-8115-9F8190912438}" presName="node" presStyleLbl="node1" presStyleIdx="1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DA1781-78D1-4ED4-BD45-BAAEE0C41D5F}" type="pres">
      <dgm:prSet presAssocID="{46202465-792C-4903-B38C-E61A226253BC}" presName="sibTrans" presStyleLbl="bgSibTrans2D1" presStyleIdx="1" presStyleCnt="15"/>
      <dgm:spPr/>
      <dgm:t>
        <a:bodyPr/>
        <a:lstStyle/>
        <a:p>
          <a:endParaRPr lang="en-US"/>
        </a:p>
      </dgm:t>
    </dgm:pt>
    <dgm:pt modelId="{9E95AA92-7200-4BE2-9504-D0BD18D864A7}" type="pres">
      <dgm:prSet presAssocID="{10B9899C-A06A-49C7-B3C5-B72EFF58A5A6}" presName="compNode" presStyleCnt="0"/>
      <dgm:spPr/>
    </dgm:pt>
    <dgm:pt modelId="{375E3AA2-4D78-4C20-8D4C-931FA7D51904}" type="pres">
      <dgm:prSet presAssocID="{10B9899C-A06A-49C7-B3C5-B72EFF58A5A6}" presName="dummyConnPt" presStyleCnt="0"/>
      <dgm:spPr/>
    </dgm:pt>
    <dgm:pt modelId="{5D75BAB1-7D86-48E8-935C-2B5EDF658426}" type="pres">
      <dgm:prSet presAssocID="{10B9899C-A06A-49C7-B3C5-B72EFF58A5A6}" presName="node" presStyleLbl="node1" presStyleIdx="2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E09981-BDAF-4851-AE5E-21D9B681AC34}" type="pres">
      <dgm:prSet presAssocID="{7B9CD3D3-EFA9-4BFA-94CF-C4E9EDED6CFF}" presName="sibTrans" presStyleLbl="bgSibTrans2D1" presStyleIdx="2" presStyleCnt="15"/>
      <dgm:spPr/>
      <dgm:t>
        <a:bodyPr/>
        <a:lstStyle/>
        <a:p>
          <a:endParaRPr lang="en-US"/>
        </a:p>
      </dgm:t>
    </dgm:pt>
    <dgm:pt modelId="{F1FB5240-580A-4C56-8A80-B3F012A42E31}" type="pres">
      <dgm:prSet presAssocID="{C5692D28-99EC-4A41-BA27-15795E920F3B}" presName="compNode" presStyleCnt="0"/>
      <dgm:spPr/>
    </dgm:pt>
    <dgm:pt modelId="{7E32E043-ED31-4A4E-BECE-6251DB076C6D}" type="pres">
      <dgm:prSet presAssocID="{C5692D28-99EC-4A41-BA27-15795E920F3B}" presName="dummyConnPt" presStyleCnt="0"/>
      <dgm:spPr/>
    </dgm:pt>
    <dgm:pt modelId="{0C05FB97-2A12-4887-8FDA-656E12874D1B}" type="pres">
      <dgm:prSet presAssocID="{C5692D28-99EC-4A41-BA27-15795E920F3B}" presName="node" presStyleLbl="node1" presStyleIdx="3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C6E36C-20DD-48FD-B51B-DF3DA93BBBF5}" type="pres">
      <dgm:prSet presAssocID="{46DBA365-AF16-4309-B91B-B3EFC92E3400}" presName="sibTrans" presStyleLbl="bgSibTrans2D1" presStyleIdx="3" presStyleCnt="15"/>
      <dgm:spPr/>
      <dgm:t>
        <a:bodyPr/>
        <a:lstStyle/>
        <a:p>
          <a:endParaRPr lang="en-US"/>
        </a:p>
      </dgm:t>
    </dgm:pt>
    <dgm:pt modelId="{B1C835B4-1912-4B9A-A677-84C2B2679F8B}" type="pres">
      <dgm:prSet presAssocID="{B1598DA1-0513-4460-B467-30B6D4F04D4D}" presName="compNode" presStyleCnt="0"/>
      <dgm:spPr/>
    </dgm:pt>
    <dgm:pt modelId="{26168623-6925-4C3E-84AF-C7A562C513D0}" type="pres">
      <dgm:prSet presAssocID="{B1598DA1-0513-4460-B467-30B6D4F04D4D}" presName="dummyConnPt" presStyleCnt="0"/>
      <dgm:spPr/>
    </dgm:pt>
    <dgm:pt modelId="{63D57BD5-A99F-43CE-8DB8-F3363C04AB15}" type="pres">
      <dgm:prSet presAssocID="{B1598DA1-0513-4460-B467-30B6D4F04D4D}" presName="node" presStyleLbl="node1" presStyleIdx="4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436B8A-8946-4732-8DE9-0B8AF22FB3D9}" type="pres">
      <dgm:prSet presAssocID="{F42B99EE-2FB9-4C34-8C38-D6FA178BF96C}" presName="sibTrans" presStyleLbl="bgSibTrans2D1" presStyleIdx="4" presStyleCnt="15"/>
      <dgm:spPr/>
      <dgm:t>
        <a:bodyPr/>
        <a:lstStyle/>
        <a:p>
          <a:endParaRPr lang="en-US"/>
        </a:p>
      </dgm:t>
    </dgm:pt>
    <dgm:pt modelId="{3B38B09E-B88E-47F5-8EFE-800762FBFFB4}" type="pres">
      <dgm:prSet presAssocID="{17A5486B-2C8F-4B76-8772-4A14E9AD78D7}" presName="compNode" presStyleCnt="0"/>
      <dgm:spPr/>
    </dgm:pt>
    <dgm:pt modelId="{6A8CB24A-C612-4481-9609-8B886CDA7743}" type="pres">
      <dgm:prSet presAssocID="{17A5486B-2C8F-4B76-8772-4A14E9AD78D7}" presName="dummyConnPt" presStyleCnt="0"/>
      <dgm:spPr/>
    </dgm:pt>
    <dgm:pt modelId="{4E99F71C-F403-45C6-93D4-9768E4595136}" type="pres">
      <dgm:prSet presAssocID="{17A5486B-2C8F-4B76-8772-4A14E9AD78D7}" presName="node" presStyleLbl="node1" presStyleIdx="5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C4EFBC-6042-4FB9-8CA0-4BAC84E0D246}" type="pres">
      <dgm:prSet presAssocID="{E01B9FA7-385F-4409-8DF9-3AEDFB5779FC}" presName="sibTrans" presStyleLbl="bgSibTrans2D1" presStyleIdx="5" presStyleCnt="15"/>
      <dgm:spPr/>
      <dgm:t>
        <a:bodyPr/>
        <a:lstStyle/>
        <a:p>
          <a:endParaRPr lang="en-US"/>
        </a:p>
      </dgm:t>
    </dgm:pt>
    <dgm:pt modelId="{78A3CA2F-23C4-4347-B672-06259A59B2F3}" type="pres">
      <dgm:prSet presAssocID="{644C963B-7FBB-4F0F-95ED-2B509DA75556}" presName="compNode" presStyleCnt="0"/>
      <dgm:spPr/>
    </dgm:pt>
    <dgm:pt modelId="{55FE7C2F-0AC9-4CA2-B733-94A9AB66F489}" type="pres">
      <dgm:prSet presAssocID="{644C963B-7FBB-4F0F-95ED-2B509DA75556}" presName="dummyConnPt" presStyleCnt="0"/>
      <dgm:spPr/>
    </dgm:pt>
    <dgm:pt modelId="{3806EFB8-B162-40C2-A7EE-8DDFCAEEB4D7}" type="pres">
      <dgm:prSet presAssocID="{644C963B-7FBB-4F0F-95ED-2B509DA75556}" presName="node" presStyleLbl="node1" presStyleIdx="6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D75FEB-9FBE-4F21-A212-B4E015ABA6A5}" type="pres">
      <dgm:prSet presAssocID="{5FA1DD49-440C-407D-9E9B-5D27C153BC35}" presName="sibTrans" presStyleLbl="bgSibTrans2D1" presStyleIdx="6" presStyleCnt="15"/>
      <dgm:spPr/>
      <dgm:t>
        <a:bodyPr/>
        <a:lstStyle/>
        <a:p>
          <a:endParaRPr lang="en-US"/>
        </a:p>
      </dgm:t>
    </dgm:pt>
    <dgm:pt modelId="{21ABE627-4633-4D5A-B6BC-9ABD910A79B7}" type="pres">
      <dgm:prSet presAssocID="{D65439C8-6358-494A-A3CD-8AA666DFCEBF}" presName="compNode" presStyleCnt="0"/>
      <dgm:spPr/>
    </dgm:pt>
    <dgm:pt modelId="{13231AA7-F1BE-46A9-973E-37464B2F65E5}" type="pres">
      <dgm:prSet presAssocID="{D65439C8-6358-494A-A3CD-8AA666DFCEBF}" presName="dummyConnPt" presStyleCnt="0"/>
      <dgm:spPr/>
    </dgm:pt>
    <dgm:pt modelId="{6DC23D57-CDB7-4851-B0A8-F50B337D3244}" type="pres">
      <dgm:prSet presAssocID="{D65439C8-6358-494A-A3CD-8AA666DFCEBF}" presName="node" presStyleLbl="node1" presStyleIdx="7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3874EA-63C0-4640-841E-75FFAD24FE3D}" type="pres">
      <dgm:prSet presAssocID="{77C1EE9D-5219-4223-B00B-3229BB354F58}" presName="sibTrans" presStyleLbl="bgSibTrans2D1" presStyleIdx="7" presStyleCnt="15"/>
      <dgm:spPr/>
      <dgm:t>
        <a:bodyPr/>
        <a:lstStyle/>
        <a:p>
          <a:endParaRPr lang="en-US"/>
        </a:p>
      </dgm:t>
    </dgm:pt>
    <dgm:pt modelId="{A69D805D-702A-426A-B122-639DD8CF9C8A}" type="pres">
      <dgm:prSet presAssocID="{B5340CF1-D835-4DF1-9649-4D43DE884B34}" presName="compNode" presStyleCnt="0"/>
      <dgm:spPr/>
    </dgm:pt>
    <dgm:pt modelId="{A5C6529E-A8AB-4336-9ECB-1BC19AB0489B}" type="pres">
      <dgm:prSet presAssocID="{B5340CF1-D835-4DF1-9649-4D43DE884B34}" presName="dummyConnPt" presStyleCnt="0"/>
      <dgm:spPr/>
    </dgm:pt>
    <dgm:pt modelId="{459C7DE4-DAC5-4A93-B94D-786096CA5750}" type="pres">
      <dgm:prSet presAssocID="{B5340CF1-D835-4DF1-9649-4D43DE884B34}" presName="node" presStyleLbl="node1" presStyleIdx="8" presStyleCnt="16" custScaleX="10552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69ED52-C2F9-4DCB-B549-694C93C07847}" type="pres">
      <dgm:prSet presAssocID="{39E33045-B4AD-470B-98FA-436B06FB7968}" presName="sibTrans" presStyleLbl="bgSibTrans2D1" presStyleIdx="8" presStyleCnt="15"/>
      <dgm:spPr/>
      <dgm:t>
        <a:bodyPr/>
        <a:lstStyle/>
        <a:p>
          <a:endParaRPr lang="en-US"/>
        </a:p>
      </dgm:t>
    </dgm:pt>
    <dgm:pt modelId="{98F0FA16-6B14-4C18-A576-24F295A96372}" type="pres">
      <dgm:prSet presAssocID="{7C0923FA-C9E8-4B3D-99FC-416D20F3FBCF}" presName="compNode" presStyleCnt="0"/>
      <dgm:spPr/>
    </dgm:pt>
    <dgm:pt modelId="{E5B2DB4D-F654-461E-861F-042EEC5DE288}" type="pres">
      <dgm:prSet presAssocID="{7C0923FA-C9E8-4B3D-99FC-416D20F3FBCF}" presName="dummyConnPt" presStyleCnt="0"/>
      <dgm:spPr/>
    </dgm:pt>
    <dgm:pt modelId="{BA254A61-1A5D-4B37-9EAC-E2C50549346D}" type="pres">
      <dgm:prSet presAssocID="{7C0923FA-C9E8-4B3D-99FC-416D20F3FBCF}" presName="node" presStyleLbl="node1" presStyleIdx="9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168AF5-667C-4F1E-9FCC-AE8A5205BAA5}" type="pres">
      <dgm:prSet presAssocID="{057A141B-FFB1-40A1-B8B5-DB344293DCB8}" presName="sibTrans" presStyleLbl="bgSibTrans2D1" presStyleIdx="9" presStyleCnt="15"/>
      <dgm:spPr/>
      <dgm:t>
        <a:bodyPr/>
        <a:lstStyle/>
        <a:p>
          <a:endParaRPr lang="en-US"/>
        </a:p>
      </dgm:t>
    </dgm:pt>
    <dgm:pt modelId="{5EED4550-0640-4EC8-AF07-7960E2D4EF6F}" type="pres">
      <dgm:prSet presAssocID="{22900098-D7D6-45AC-BC95-459597EF39EE}" presName="compNode" presStyleCnt="0"/>
      <dgm:spPr/>
    </dgm:pt>
    <dgm:pt modelId="{A92361EB-762E-485C-A01D-5D5F033D22E3}" type="pres">
      <dgm:prSet presAssocID="{22900098-D7D6-45AC-BC95-459597EF39EE}" presName="dummyConnPt" presStyleCnt="0"/>
      <dgm:spPr/>
    </dgm:pt>
    <dgm:pt modelId="{B4D810BC-D244-46A9-95D3-613C4AD7B363}" type="pres">
      <dgm:prSet presAssocID="{22900098-D7D6-45AC-BC95-459597EF39EE}" presName="node" presStyleLbl="node1" presStyleIdx="10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1F7CCA-A60E-42C6-9220-776DBEF89560}" type="pres">
      <dgm:prSet presAssocID="{986A7FBA-42EC-4CDD-B394-BD53C14869D3}" presName="sibTrans" presStyleLbl="bgSibTrans2D1" presStyleIdx="10" presStyleCnt="15"/>
      <dgm:spPr/>
      <dgm:t>
        <a:bodyPr/>
        <a:lstStyle/>
        <a:p>
          <a:endParaRPr lang="en-US"/>
        </a:p>
      </dgm:t>
    </dgm:pt>
    <dgm:pt modelId="{F678ADA3-BAD7-42E6-B3CC-EC48986B6A5A}" type="pres">
      <dgm:prSet presAssocID="{1174EC21-9320-46FA-81F8-918F80D2C8B7}" presName="compNode" presStyleCnt="0"/>
      <dgm:spPr/>
    </dgm:pt>
    <dgm:pt modelId="{570471C6-FAE0-4872-8D44-622ECC4048C3}" type="pres">
      <dgm:prSet presAssocID="{1174EC21-9320-46FA-81F8-918F80D2C8B7}" presName="dummyConnPt" presStyleCnt="0"/>
      <dgm:spPr/>
    </dgm:pt>
    <dgm:pt modelId="{FEB584D0-FA56-4AFF-B8D5-1CD9C79C0755}" type="pres">
      <dgm:prSet presAssocID="{1174EC21-9320-46FA-81F8-918F80D2C8B7}" presName="node" presStyleLbl="node1" presStyleIdx="11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DE3369-579D-48E9-81A3-191EFBA38FEE}" type="pres">
      <dgm:prSet presAssocID="{64E33634-32CC-48D4-B78E-0064A25CDD20}" presName="sibTrans" presStyleLbl="bgSibTrans2D1" presStyleIdx="11" presStyleCnt="15"/>
      <dgm:spPr/>
      <dgm:t>
        <a:bodyPr/>
        <a:lstStyle/>
        <a:p>
          <a:endParaRPr lang="en-US"/>
        </a:p>
      </dgm:t>
    </dgm:pt>
    <dgm:pt modelId="{E761620F-9934-4817-ABC0-BB5C44797733}" type="pres">
      <dgm:prSet presAssocID="{FD2C6352-FBD1-4668-A2FD-41D48B245D58}" presName="compNode" presStyleCnt="0"/>
      <dgm:spPr/>
    </dgm:pt>
    <dgm:pt modelId="{9B51D4F8-E46D-43C9-89B2-8816200E765D}" type="pres">
      <dgm:prSet presAssocID="{FD2C6352-FBD1-4668-A2FD-41D48B245D58}" presName="dummyConnPt" presStyleCnt="0"/>
      <dgm:spPr/>
    </dgm:pt>
    <dgm:pt modelId="{53A28803-9EB5-4A5E-9645-D595539734D2}" type="pres">
      <dgm:prSet presAssocID="{FD2C6352-FBD1-4668-A2FD-41D48B245D58}" presName="node" presStyleLbl="node1" presStyleIdx="12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B9843F-8395-4F58-B60D-489579E46099}" type="pres">
      <dgm:prSet presAssocID="{2B3479B1-E210-4928-813A-03ECC326607E}" presName="sibTrans" presStyleLbl="bgSibTrans2D1" presStyleIdx="12" presStyleCnt="15"/>
      <dgm:spPr/>
      <dgm:t>
        <a:bodyPr/>
        <a:lstStyle/>
        <a:p>
          <a:endParaRPr lang="en-US"/>
        </a:p>
      </dgm:t>
    </dgm:pt>
    <dgm:pt modelId="{B7EF4E49-CC7D-47BA-AA6E-EA7DA64B1708}" type="pres">
      <dgm:prSet presAssocID="{9F1D573B-A6A3-4B36-90B6-D621FDF7DB98}" presName="compNode" presStyleCnt="0"/>
      <dgm:spPr/>
    </dgm:pt>
    <dgm:pt modelId="{9B5CFAA3-4846-4EDB-93CB-F8875C372882}" type="pres">
      <dgm:prSet presAssocID="{9F1D573B-A6A3-4B36-90B6-D621FDF7DB98}" presName="dummyConnPt" presStyleCnt="0"/>
      <dgm:spPr/>
    </dgm:pt>
    <dgm:pt modelId="{D565B99B-4943-41A9-8FC8-3D44F77F131E}" type="pres">
      <dgm:prSet presAssocID="{9F1D573B-A6A3-4B36-90B6-D621FDF7DB98}" presName="node" presStyleLbl="node1" presStyleIdx="13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C92A19-7433-4581-A43D-E0023E0FD957}" type="pres">
      <dgm:prSet presAssocID="{744C74E1-F9A0-4E5C-AC05-6A5FB96A8508}" presName="sibTrans" presStyleLbl="bgSibTrans2D1" presStyleIdx="13" presStyleCnt="15"/>
      <dgm:spPr/>
      <dgm:t>
        <a:bodyPr/>
        <a:lstStyle/>
        <a:p>
          <a:endParaRPr lang="en-US"/>
        </a:p>
      </dgm:t>
    </dgm:pt>
    <dgm:pt modelId="{85D324A6-948B-467A-9E2A-98E87AD321D7}" type="pres">
      <dgm:prSet presAssocID="{D34E7BE2-1E84-4720-85B7-681D7572829E}" presName="compNode" presStyleCnt="0"/>
      <dgm:spPr/>
    </dgm:pt>
    <dgm:pt modelId="{75600123-E45E-48EC-B0F1-9E256B456F16}" type="pres">
      <dgm:prSet presAssocID="{D34E7BE2-1E84-4720-85B7-681D7572829E}" presName="dummyConnPt" presStyleCnt="0"/>
      <dgm:spPr/>
    </dgm:pt>
    <dgm:pt modelId="{9F1458A6-9F9E-420A-8445-F8235F431D91}" type="pres">
      <dgm:prSet presAssocID="{D34E7BE2-1E84-4720-85B7-681D7572829E}" presName="node" presStyleLbl="node1" presStyleIdx="14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EB93AC-05E8-4042-A420-F340111855F2}" type="pres">
      <dgm:prSet presAssocID="{1290584F-FC58-4D62-9BD3-E9A2D9086953}" presName="sibTrans" presStyleLbl="bgSibTrans2D1" presStyleIdx="14" presStyleCnt="15"/>
      <dgm:spPr/>
      <dgm:t>
        <a:bodyPr/>
        <a:lstStyle/>
        <a:p>
          <a:endParaRPr lang="en-US"/>
        </a:p>
      </dgm:t>
    </dgm:pt>
    <dgm:pt modelId="{78883E95-3D3B-4014-B543-D2951A0280D7}" type="pres">
      <dgm:prSet presAssocID="{B5802DBB-FDB2-43A0-9B46-F6B2974395BC}" presName="compNode" presStyleCnt="0"/>
      <dgm:spPr/>
    </dgm:pt>
    <dgm:pt modelId="{46DE1A93-14F4-4CBD-97AF-4DE90B4626C9}" type="pres">
      <dgm:prSet presAssocID="{B5802DBB-FDB2-43A0-9B46-F6B2974395BC}" presName="dummyConnPt" presStyleCnt="0"/>
      <dgm:spPr/>
    </dgm:pt>
    <dgm:pt modelId="{EB33F50A-E92A-4746-BC69-C15DECF59E6B}" type="pres">
      <dgm:prSet presAssocID="{B5802DBB-FDB2-43A0-9B46-F6B2974395BC}" presName="node" presStyleLbl="node1" presStyleIdx="15" presStyleCnt="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F2C9A94-5277-49D5-BE3D-D61BDBBC814F}" type="presOf" srcId="{17A5486B-2C8F-4B76-8772-4A14E9AD78D7}" destId="{4E99F71C-F403-45C6-93D4-9768E4595136}" srcOrd="0" destOrd="0" presId="urn:microsoft.com/office/officeart/2005/8/layout/bProcess4"/>
    <dgm:cxn modelId="{61516F4E-1C26-438C-90AB-F3535FF908D7}" type="presOf" srcId="{FD2C6352-FBD1-4668-A2FD-41D48B245D58}" destId="{53A28803-9EB5-4A5E-9645-D595539734D2}" srcOrd="0" destOrd="0" presId="urn:microsoft.com/office/officeart/2005/8/layout/bProcess4"/>
    <dgm:cxn modelId="{06A9F934-2BA6-4F2B-9DD5-2E5504C68332}" type="presOf" srcId="{9F1D573B-A6A3-4B36-90B6-D621FDF7DB98}" destId="{D565B99B-4943-41A9-8FC8-3D44F77F131E}" srcOrd="0" destOrd="0" presId="urn:microsoft.com/office/officeart/2005/8/layout/bProcess4"/>
    <dgm:cxn modelId="{1FBAF5B1-AEE3-404B-AC4B-A89695F0D08F}" type="presOf" srcId="{64E33634-32CC-48D4-B78E-0064A25CDD20}" destId="{90DE3369-579D-48E9-81A3-191EFBA38FEE}" srcOrd="0" destOrd="0" presId="urn:microsoft.com/office/officeart/2005/8/layout/bProcess4"/>
    <dgm:cxn modelId="{5149E802-4EDD-4FDB-9F2A-413D79A5E2A0}" type="presOf" srcId="{B5802DBB-FDB2-43A0-9B46-F6B2974395BC}" destId="{EB33F50A-E92A-4746-BC69-C15DECF59E6B}" srcOrd="0" destOrd="0" presId="urn:microsoft.com/office/officeart/2005/8/layout/bProcess4"/>
    <dgm:cxn modelId="{1C2A9453-F94B-4284-8BB8-C759368F98BC}" type="presOf" srcId="{5FA1DD49-440C-407D-9E9B-5D27C153BC35}" destId="{4DD75FEB-9FBE-4F21-A212-B4E015ABA6A5}" srcOrd="0" destOrd="0" presId="urn:microsoft.com/office/officeart/2005/8/layout/bProcess4"/>
    <dgm:cxn modelId="{F96B4E66-3A90-4999-AF4C-D748C0835FB0}" srcId="{D14AB7FD-28A5-4037-A923-7E2DCE77BA6D}" destId="{FD2C6352-FBD1-4668-A2FD-41D48B245D58}" srcOrd="12" destOrd="0" parTransId="{22391CAF-01A0-4726-87F7-6D79DE777D7F}" sibTransId="{2B3479B1-E210-4928-813A-03ECC326607E}"/>
    <dgm:cxn modelId="{0BFFA861-396B-4A87-A00C-B3F19746348D}" type="presOf" srcId="{22900098-D7D6-45AC-BC95-459597EF39EE}" destId="{B4D810BC-D244-46A9-95D3-613C4AD7B363}" srcOrd="0" destOrd="0" presId="urn:microsoft.com/office/officeart/2005/8/layout/bProcess4"/>
    <dgm:cxn modelId="{C3019A32-920C-4D3D-920E-9716CD4E0668}" srcId="{D14AB7FD-28A5-4037-A923-7E2DCE77BA6D}" destId="{9F1D573B-A6A3-4B36-90B6-D621FDF7DB98}" srcOrd="13" destOrd="0" parTransId="{9E369952-3170-41CE-9EF0-93CA820E5C09}" sibTransId="{744C74E1-F9A0-4E5C-AC05-6A5FB96A8508}"/>
    <dgm:cxn modelId="{E800A27C-88DE-4322-8CB6-9C9A185D21E9}" type="presOf" srcId="{10B9899C-A06A-49C7-B3C5-B72EFF58A5A6}" destId="{5D75BAB1-7D86-48E8-935C-2B5EDF658426}" srcOrd="0" destOrd="0" presId="urn:microsoft.com/office/officeart/2005/8/layout/bProcess4"/>
    <dgm:cxn modelId="{8D750939-5710-4777-8991-DB384F8F567D}" srcId="{D14AB7FD-28A5-4037-A923-7E2DCE77BA6D}" destId="{B5340CF1-D835-4DF1-9649-4D43DE884B34}" srcOrd="8" destOrd="0" parTransId="{DFD33BCE-6988-47E2-8EB6-5D4C0755D591}" sibTransId="{39E33045-B4AD-470B-98FA-436B06FB7968}"/>
    <dgm:cxn modelId="{E0172AD9-22B9-462C-BECC-BFA0050A1094}" srcId="{D14AB7FD-28A5-4037-A923-7E2DCE77BA6D}" destId="{22900098-D7D6-45AC-BC95-459597EF39EE}" srcOrd="10" destOrd="0" parTransId="{E51B793E-C20C-4B34-90A8-104F3777594F}" sibTransId="{986A7FBA-42EC-4CDD-B394-BD53C14869D3}"/>
    <dgm:cxn modelId="{412A87D5-FF5E-4A70-88E3-7FD5720DA4B3}" srcId="{D14AB7FD-28A5-4037-A923-7E2DCE77BA6D}" destId="{0852728F-48ED-470D-8115-9F8190912438}" srcOrd="1" destOrd="0" parTransId="{97C53A8D-D92A-48B4-84A2-D98053A0D4C0}" sibTransId="{46202465-792C-4903-B38C-E61A226253BC}"/>
    <dgm:cxn modelId="{14FFCA5F-3DDC-411F-8DDC-EF9E34FE5E86}" type="presOf" srcId="{411BF7BD-34D3-44EE-B852-285E070919A2}" destId="{7B1A91B2-20A6-4EAA-8661-B1478E9255CA}" srcOrd="0" destOrd="0" presId="urn:microsoft.com/office/officeart/2005/8/layout/bProcess4"/>
    <dgm:cxn modelId="{7F68319C-460F-48C6-85CD-1DE1D9029219}" type="presOf" srcId="{39E33045-B4AD-470B-98FA-436B06FB7968}" destId="{EF69ED52-C2F9-4DCB-B549-694C93C07847}" srcOrd="0" destOrd="0" presId="urn:microsoft.com/office/officeart/2005/8/layout/bProcess4"/>
    <dgm:cxn modelId="{742A1D19-99B1-4FC8-8CF7-8F0540F21951}" type="presOf" srcId="{2B3479B1-E210-4928-813A-03ECC326607E}" destId="{22B9843F-8395-4F58-B60D-489579E46099}" srcOrd="0" destOrd="0" presId="urn:microsoft.com/office/officeart/2005/8/layout/bProcess4"/>
    <dgm:cxn modelId="{249B7E92-27B7-4946-AFE0-9D05E41BC0F6}" srcId="{D14AB7FD-28A5-4037-A923-7E2DCE77BA6D}" destId="{D65439C8-6358-494A-A3CD-8AA666DFCEBF}" srcOrd="7" destOrd="0" parTransId="{7BF72D6E-5CDA-4BF8-91B3-E99F734F7F7B}" sibTransId="{77C1EE9D-5219-4223-B00B-3229BB354F58}"/>
    <dgm:cxn modelId="{4285D9C6-7472-4050-BA7B-42D73A3A22FB}" srcId="{D14AB7FD-28A5-4037-A923-7E2DCE77BA6D}" destId="{D34E7BE2-1E84-4720-85B7-681D7572829E}" srcOrd="14" destOrd="0" parTransId="{2B136053-2BA1-42ED-9422-5755427304E0}" sibTransId="{1290584F-FC58-4D62-9BD3-E9A2D9086953}"/>
    <dgm:cxn modelId="{BCEEA4B6-1599-4301-92F3-42B0CF48B405}" type="presOf" srcId="{1290584F-FC58-4D62-9BD3-E9A2D9086953}" destId="{F9EB93AC-05E8-4042-A420-F340111855F2}" srcOrd="0" destOrd="0" presId="urn:microsoft.com/office/officeart/2005/8/layout/bProcess4"/>
    <dgm:cxn modelId="{2B5651D3-343D-4AC6-BCD5-429A815A6A50}" type="presOf" srcId="{1174EC21-9320-46FA-81F8-918F80D2C8B7}" destId="{FEB584D0-FA56-4AFF-B8D5-1CD9C79C0755}" srcOrd="0" destOrd="0" presId="urn:microsoft.com/office/officeart/2005/8/layout/bProcess4"/>
    <dgm:cxn modelId="{1B7A2424-B7DA-49F9-80BA-1A2BD9B0A840}" type="presOf" srcId="{057A141B-FFB1-40A1-B8B5-DB344293DCB8}" destId="{60168AF5-667C-4F1E-9FCC-AE8A5205BAA5}" srcOrd="0" destOrd="0" presId="urn:microsoft.com/office/officeart/2005/8/layout/bProcess4"/>
    <dgm:cxn modelId="{6527DFA4-1B55-4AFD-AF2C-DC4AEF0B476F}" type="presOf" srcId="{B5340CF1-D835-4DF1-9649-4D43DE884B34}" destId="{459C7DE4-DAC5-4A93-B94D-786096CA5750}" srcOrd="0" destOrd="0" presId="urn:microsoft.com/office/officeart/2005/8/layout/bProcess4"/>
    <dgm:cxn modelId="{332590E7-9057-4943-BA9A-588FA03F71FE}" type="presOf" srcId="{C5692D28-99EC-4A41-BA27-15795E920F3B}" destId="{0C05FB97-2A12-4887-8FDA-656E12874D1B}" srcOrd="0" destOrd="0" presId="urn:microsoft.com/office/officeart/2005/8/layout/bProcess4"/>
    <dgm:cxn modelId="{AF59E488-92FC-4282-A6F0-7F0EEACAA190}" type="presOf" srcId="{7B9CD3D3-EFA9-4BFA-94CF-C4E9EDED6CFF}" destId="{E5E09981-BDAF-4851-AE5E-21D9B681AC34}" srcOrd="0" destOrd="0" presId="urn:microsoft.com/office/officeart/2005/8/layout/bProcess4"/>
    <dgm:cxn modelId="{0523FC0E-5F86-4918-B6BF-7034290C2452}" srcId="{D14AB7FD-28A5-4037-A923-7E2DCE77BA6D}" destId="{10B9899C-A06A-49C7-B3C5-B72EFF58A5A6}" srcOrd="2" destOrd="0" parTransId="{001433B2-ACB0-490B-BDF6-A7C9BE501B99}" sibTransId="{7B9CD3D3-EFA9-4BFA-94CF-C4E9EDED6CFF}"/>
    <dgm:cxn modelId="{D91A9FC1-F725-4225-943E-F029560C8140}" srcId="{D14AB7FD-28A5-4037-A923-7E2DCE77BA6D}" destId="{644C963B-7FBB-4F0F-95ED-2B509DA75556}" srcOrd="6" destOrd="0" parTransId="{6ADBF1CC-4060-43C0-A67B-1130C06C9F13}" sibTransId="{5FA1DD49-440C-407D-9E9B-5D27C153BC35}"/>
    <dgm:cxn modelId="{DAD4A9B9-94D6-4581-9041-63B8174FAB4A}" type="presOf" srcId="{7C0923FA-C9E8-4B3D-99FC-416D20F3FBCF}" destId="{BA254A61-1A5D-4B37-9EAC-E2C50549346D}" srcOrd="0" destOrd="0" presId="urn:microsoft.com/office/officeart/2005/8/layout/bProcess4"/>
    <dgm:cxn modelId="{48F120F2-30F5-4DC4-80F0-7420010DB124}" type="presOf" srcId="{986A7FBA-42EC-4CDD-B394-BD53C14869D3}" destId="{551F7CCA-A60E-42C6-9220-776DBEF89560}" srcOrd="0" destOrd="0" presId="urn:microsoft.com/office/officeart/2005/8/layout/bProcess4"/>
    <dgm:cxn modelId="{5B28667E-C65E-492A-89B9-E856E170FBD4}" type="presOf" srcId="{77C1EE9D-5219-4223-B00B-3229BB354F58}" destId="{C33874EA-63C0-4640-841E-75FFAD24FE3D}" srcOrd="0" destOrd="0" presId="urn:microsoft.com/office/officeart/2005/8/layout/bProcess4"/>
    <dgm:cxn modelId="{066F4B45-9A74-4458-B862-87BD1E771B48}" srcId="{D14AB7FD-28A5-4037-A923-7E2DCE77BA6D}" destId="{C5692D28-99EC-4A41-BA27-15795E920F3B}" srcOrd="3" destOrd="0" parTransId="{8FCF48CA-5679-4699-BB58-CA58185EF595}" sibTransId="{46DBA365-AF16-4309-B91B-B3EFC92E3400}"/>
    <dgm:cxn modelId="{A8622234-4EBE-4AB8-B269-5A7FA302FF5B}" srcId="{D14AB7FD-28A5-4037-A923-7E2DCE77BA6D}" destId="{1174EC21-9320-46FA-81F8-918F80D2C8B7}" srcOrd="11" destOrd="0" parTransId="{E81C32AF-C6D8-4375-AA54-233147D763FB}" sibTransId="{64E33634-32CC-48D4-B78E-0064A25CDD20}"/>
    <dgm:cxn modelId="{28C3CEDE-A215-44E0-B4F5-3C37B37959B4}" type="presOf" srcId="{744C74E1-F9A0-4E5C-AC05-6A5FB96A8508}" destId="{40C92A19-7433-4581-A43D-E0023E0FD957}" srcOrd="0" destOrd="0" presId="urn:microsoft.com/office/officeart/2005/8/layout/bProcess4"/>
    <dgm:cxn modelId="{FA44737A-F65E-4DA5-9EA9-2C29D222B046}" srcId="{D14AB7FD-28A5-4037-A923-7E2DCE77BA6D}" destId="{B1598DA1-0513-4460-B467-30B6D4F04D4D}" srcOrd="4" destOrd="0" parTransId="{163BDC7F-69A5-457D-AAA3-03E7DBDE7CAC}" sibTransId="{F42B99EE-2FB9-4C34-8C38-D6FA178BF96C}"/>
    <dgm:cxn modelId="{C6BAE5DC-2719-48C4-84DD-9DA3A00AE29E}" type="presOf" srcId="{D34E7BE2-1E84-4720-85B7-681D7572829E}" destId="{9F1458A6-9F9E-420A-8445-F8235F431D91}" srcOrd="0" destOrd="0" presId="urn:microsoft.com/office/officeart/2005/8/layout/bProcess4"/>
    <dgm:cxn modelId="{887228F5-12AB-41A9-8C84-C4764F6DC58B}" srcId="{D14AB7FD-28A5-4037-A923-7E2DCE77BA6D}" destId="{17A5486B-2C8F-4B76-8772-4A14E9AD78D7}" srcOrd="5" destOrd="0" parTransId="{1AAAACDB-7CD9-4465-9860-3603FEB870F0}" sibTransId="{E01B9FA7-385F-4409-8DF9-3AEDFB5779FC}"/>
    <dgm:cxn modelId="{67012947-F4AA-4A1E-AEB5-2B635D0427D0}" type="presOf" srcId="{644C963B-7FBB-4F0F-95ED-2B509DA75556}" destId="{3806EFB8-B162-40C2-A7EE-8DDFCAEEB4D7}" srcOrd="0" destOrd="0" presId="urn:microsoft.com/office/officeart/2005/8/layout/bProcess4"/>
    <dgm:cxn modelId="{7278143A-94E8-4D85-95E1-FEA85AC27568}" type="presOf" srcId="{D14AB7FD-28A5-4037-A923-7E2DCE77BA6D}" destId="{B1FEFA41-FC56-466E-953E-9187D6721026}" srcOrd="0" destOrd="0" presId="urn:microsoft.com/office/officeart/2005/8/layout/bProcess4"/>
    <dgm:cxn modelId="{76F7DE84-2B54-45ED-AC56-22C42EC6C5B6}" type="presOf" srcId="{46202465-792C-4903-B38C-E61A226253BC}" destId="{86DA1781-78D1-4ED4-BD45-BAAEE0C41D5F}" srcOrd="0" destOrd="0" presId="urn:microsoft.com/office/officeart/2005/8/layout/bProcess4"/>
    <dgm:cxn modelId="{91D2F515-5359-41A0-87B0-F26B088DFBA0}" type="presOf" srcId="{D65439C8-6358-494A-A3CD-8AA666DFCEBF}" destId="{6DC23D57-CDB7-4851-B0A8-F50B337D3244}" srcOrd="0" destOrd="0" presId="urn:microsoft.com/office/officeart/2005/8/layout/bProcess4"/>
    <dgm:cxn modelId="{69F124FE-CA65-4094-AB80-3BAE65744FFC}" type="presOf" srcId="{B1598DA1-0513-4460-B467-30B6D4F04D4D}" destId="{63D57BD5-A99F-43CE-8DB8-F3363C04AB15}" srcOrd="0" destOrd="0" presId="urn:microsoft.com/office/officeart/2005/8/layout/bProcess4"/>
    <dgm:cxn modelId="{8B48523C-314D-478E-9239-B5DEF1C11A6A}" type="presOf" srcId="{E01B9FA7-385F-4409-8DF9-3AEDFB5779FC}" destId="{F0C4EFBC-6042-4FB9-8CA0-4BAC84E0D246}" srcOrd="0" destOrd="0" presId="urn:microsoft.com/office/officeart/2005/8/layout/bProcess4"/>
    <dgm:cxn modelId="{7A7581B0-BDBB-4C21-BCF1-A782FFC175F8}" type="presOf" srcId="{0852728F-48ED-470D-8115-9F8190912438}" destId="{5EBA63EC-B104-4B3E-A20F-82D4E13362B9}" srcOrd="0" destOrd="0" presId="urn:microsoft.com/office/officeart/2005/8/layout/bProcess4"/>
    <dgm:cxn modelId="{184CC7E2-DDCC-4346-9458-B6266E89402A}" srcId="{D14AB7FD-28A5-4037-A923-7E2DCE77BA6D}" destId="{B5802DBB-FDB2-43A0-9B46-F6B2974395BC}" srcOrd="15" destOrd="0" parTransId="{90DD2977-6354-4E83-A222-DBD7C71098CC}" sibTransId="{3F7D9ABF-1FD1-4765-A376-A619E838BEBB}"/>
    <dgm:cxn modelId="{431216DC-34D0-46E9-8AE5-BBE5FFC2AFFF}" type="presOf" srcId="{46DBA365-AF16-4309-B91B-B3EFC92E3400}" destId="{56C6E36C-20DD-48FD-B51B-DF3DA93BBBF5}" srcOrd="0" destOrd="0" presId="urn:microsoft.com/office/officeart/2005/8/layout/bProcess4"/>
    <dgm:cxn modelId="{9EF12957-209F-4C18-B2CE-87EDC66D5237}" srcId="{D14AB7FD-28A5-4037-A923-7E2DCE77BA6D}" destId="{7C0923FA-C9E8-4B3D-99FC-416D20F3FBCF}" srcOrd="9" destOrd="0" parTransId="{B6926D94-3BB2-4EC7-85F1-28B3D557A978}" sibTransId="{057A141B-FFB1-40A1-B8B5-DB344293DCB8}"/>
    <dgm:cxn modelId="{F0874E24-051E-4241-9BA7-BEEE92881FE7}" type="presOf" srcId="{F42B99EE-2FB9-4C34-8C38-D6FA178BF96C}" destId="{1F436B8A-8946-4732-8DE9-0B8AF22FB3D9}" srcOrd="0" destOrd="0" presId="urn:microsoft.com/office/officeart/2005/8/layout/bProcess4"/>
    <dgm:cxn modelId="{6CC1D4D3-680D-4E3A-8077-7AD08767364B}" type="presOf" srcId="{4FCB16B6-38CF-431E-B74E-FA277AE3DA0D}" destId="{6E26B994-6D4C-49B0-A227-07A3AB95A467}" srcOrd="0" destOrd="0" presId="urn:microsoft.com/office/officeart/2005/8/layout/bProcess4"/>
    <dgm:cxn modelId="{7D6B1921-36D3-496B-92C8-976F1DE352C0}" srcId="{D14AB7FD-28A5-4037-A923-7E2DCE77BA6D}" destId="{411BF7BD-34D3-44EE-B852-285E070919A2}" srcOrd="0" destOrd="0" parTransId="{FB830798-B045-4011-B168-D56E4CFC87BC}" sibTransId="{4FCB16B6-38CF-431E-B74E-FA277AE3DA0D}"/>
    <dgm:cxn modelId="{C74180F4-D838-4D2B-B205-AE8023FFA90C}" type="presParOf" srcId="{B1FEFA41-FC56-466E-953E-9187D6721026}" destId="{8B1027A0-3A4C-4303-845C-BC9C0A528858}" srcOrd="0" destOrd="0" presId="urn:microsoft.com/office/officeart/2005/8/layout/bProcess4"/>
    <dgm:cxn modelId="{4FFF5F76-C977-4F69-A2C9-A89C3D307C83}" type="presParOf" srcId="{8B1027A0-3A4C-4303-845C-BC9C0A528858}" destId="{73C70574-4FAD-4095-AF32-30A60B98F264}" srcOrd="0" destOrd="0" presId="urn:microsoft.com/office/officeart/2005/8/layout/bProcess4"/>
    <dgm:cxn modelId="{9CC56017-2760-4F7C-B775-6E29D88739ED}" type="presParOf" srcId="{8B1027A0-3A4C-4303-845C-BC9C0A528858}" destId="{7B1A91B2-20A6-4EAA-8661-B1478E9255CA}" srcOrd="1" destOrd="0" presId="urn:microsoft.com/office/officeart/2005/8/layout/bProcess4"/>
    <dgm:cxn modelId="{7DCC94C8-C8D5-444B-85A6-0E75AA21CE04}" type="presParOf" srcId="{B1FEFA41-FC56-466E-953E-9187D6721026}" destId="{6E26B994-6D4C-49B0-A227-07A3AB95A467}" srcOrd="1" destOrd="0" presId="urn:microsoft.com/office/officeart/2005/8/layout/bProcess4"/>
    <dgm:cxn modelId="{81EDA19F-E5B5-48B8-A9F0-AE52566A5A96}" type="presParOf" srcId="{B1FEFA41-FC56-466E-953E-9187D6721026}" destId="{04A2B01E-C9AB-4684-8254-1EAA8F8F5705}" srcOrd="2" destOrd="0" presId="urn:microsoft.com/office/officeart/2005/8/layout/bProcess4"/>
    <dgm:cxn modelId="{19EFB6E4-B31E-4B23-987A-51040A7FC6B4}" type="presParOf" srcId="{04A2B01E-C9AB-4684-8254-1EAA8F8F5705}" destId="{4D118EB6-B356-4C20-8CD9-B598D3701FB3}" srcOrd="0" destOrd="0" presId="urn:microsoft.com/office/officeart/2005/8/layout/bProcess4"/>
    <dgm:cxn modelId="{7D915AA4-894D-4A27-9874-CF5BFAABFD37}" type="presParOf" srcId="{04A2B01E-C9AB-4684-8254-1EAA8F8F5705}" destId="{5EBA63EC-B104-4B3E-A20F-82D4E13362B9}" srcOrd="1" destOrd="0" presId="urn:microsoft.com/office/officeart/2005/8/layout/bProcess4"/>
    <dgm:cxn modelId="{F578197F-9ED1-47F9-9D80-03103610852C}" type="presParOf" srcId="{B1FEFA41-FC56-466E-953E-9187D6721026}" destId="{86DA1781-78D1-4ED4-BD45-BAAEE0C41D5F}" srcOrd="3" destOrd="0" presId="urn:microsoft.com/office/officeart/2005/8/layout/bProcess4"/>
    <dgm:cxn modelId="{844E69CC-14DC-4C0C-A5ED-DF9D078F6D4C}" type="presParOf" srcId="{B1FEFA41-FC56-466E-953E-9187D6721026}" destId="{9E95AA92-7200-4BE2-9504-D0BD18D864A7}" srcOrd="4" destOrd="0" presId="urn:microsoft.com/office/officeart/2005/8/layout/bProcess4"/>
    <dgm:cxn modelId="{A90EEAE4-7246-4572-BFB3-9D321CF158DC}" type="presParOf" srcId="{9E95AA92-7200-4BE2-9504-D0BD18D864A7}" destId="{375E3AA2-4D78-4C20-8D4C-931FA7D51904}" srcOrd="0" destOrd="0" presId="urn:microsoft.com/office/officeart/2005/8/layout/bProcess4"/>
    <dgm:cxn modelId="{13AA0661-85F5-4E68-8EBC-83738069139E}" type="presParOf" srcId="{9E95AA92-7200-4BE2-9504-D0BD18D864A7}" destId="{5D75BAB1-7D86-48E8-935C-2B5EDF658426}" srcOrd="1" destOrd="0" presId="urn:microsoft.com/office/officeart/2005/8/layout/bProcess4"/>
    <dgm:cxn modelId="{E5B4E2C7-2906-4914-A43B-AE14DA57EDAC}" type="presParOf" srcId="{B1FEFA41-FC56-466E-953E-9187D6721026}" destId="{E5E09981-BDAF-4851-AE5E-21D9B681AC34}" srcOrd="5" destOrd="0" presId="urn:microsoft.com/office/officeart/2005/8/layout/bProcess4"/>
    <dgm:cxn modelId="{C79B9B7C-FF05-440F-8AB3-A910D7B0A71E}" type="presParOf" srcId="{B1FEFA41-FC56-466E-953E-9187D6721026}" destId="{F1FB5240-580A-4C56-8A80-B3F012A42E31}" srcOrd="6" destOrd="0" presId="urn:microsoft.com/office/officeart/2005/8/layout/bProcess4"/>
    <dgm:cxn modelId="{463F28A0-E9CF-4C49-A4BA-AFF2A002E955}" type="presParOf" srcId="{F1FB5240-580A-4C56-8A80-B3F012A42E31}" destId="{7E32E043-ED31-4A4E-BECE-6251DB076C6D}" srcOrd="0" destOrd="0" presId="urn:microsoft.com/office/officeart/2005/8/layout/bProcess4"/>
    <dgm:cxn modelId="{34FD90CE-2677-4BC6-B173-AA900B96CB0D}" type="presParOf" srcId="{F1FB5240-580A-4C56-8A80-B3F012A42E31}" destId="{0C05FB97-2A12-4887-8FDA-656E12874D1B}" srcOrd="1" destOrd="0" presId="urn:microsoft.com/office/officeart/2005/8/layout/bProcess4"/>
    <dgm:cxn modelId="{3E61484B-F96F-4AD9-A296-97030EFA880A}" type="presParOf" srcId="{B1FEFA41-FC56-466E-953E-9187D6721026}" destId="{56C6E36C-20DD-48FD-B51B-DF3DA93BBBF5}" srcOrd="7" destOrd="0" presId="urn:microsoft.com/office/officeart/2005/8/layout/bProcess4"/>
    <dgm:cxn modelId="{2D668620-9483-4E8B-8A9C-CEFC464D320A}" type="presParOf" srcId="{B1FEFA41-FC56-466E-953E-9187D6721026}" destId="{B1C835B4-1912-4B9A-A677-84C2B2679F8B}" srcOrd="8" destOrd="0" presId="urn:microsoft.com/office/officeart/2005/8/layout/bProcess4"/>
    <dgm:cxn modelId="{A13AF8E3-F348-40EA-BD33-4BE74E99E200}" type="presParOf" srcId="{B1C835B4-1912-4B9A-A677-84C2B2679F8B}" destId="{26168623-6925-4C3E-84AF-C7A562C513D0}" srcOrd="0" destOrd="0" presId="urn:microsoft.com/office/officeart/2005/8/layout/bProcess4"/>
    <dgm:cxn modelId="{C741BBD8-DF40-4A08-ACEF-B91492E723DA}" type="presParOf" srcId="{B1C835B4-1912-4B9A-A677-84C2B2679F8B}" destId="{63D57BD5-A99F-43CE-8DB8-F3363C04AB15}" srcOrd="1" destOrd="0" presId="urn:microsoft.com/office/officeart/2005/8/layout/bProcess4"/>
    <dgm:cxn modelId="{35301224-0049-4B51-A5E3-370FD2C5C478}" type="presParOf" srcId="{B1FEFA41-FC56-466E-953E-9187D6721026}" destId="{1F436B8A-8946-4732-8DE9-0B8AF22FB3D9}" srcOrd="9" destOrd="0" presId="urn:microsoft.com/office/officeart/2005/8/layout/bProcess4"/>
    <dgm:cxn modelId="{C09D95A4-E9F3-48DC-ABB9-04D7843608FF}" type="presParOf" srcId="{B1FEFA41-FC56-466E-953E-9187D6721026}" destId="{3B38B09E-B88E-47F5-8EFE-800762FBFFB4}" srcOrd="10" destOrd="0" presId="urn:microsoft.com/office/officeart/2005/8/layout/bProcess4"/>
    <dgm:cxn modelId="{7C19C9A2-E05D-451A-8269-8F3FB53A4D3D}" type="presParOf" srcId="{3B38B09E-B88E-47F5-8EFE-800762FBFFB4}" destId="{6A8CB24A-C612-4481-9609-8B886CDA7743}" srcOrd="0" destOrd="0" presId="urn:microsoft.com/office/officeart/2005/8/layout/bProcess4"/>
    <dgm:cxn modelId="{4286D3D5-007D-41A5-8E52-E249A1C55A15}" type="presParOf" srcId="{3B38B09E-B88E-47F5-8EFE-800762FBFFB4}" destId="{4E99F71C-F403-45C6-93D4-9768E4595136}" srcOrd="1" destOrd="0" presId="urn:microsoft.com/office/officeart/2005/8/layout/bProcess4"/>
    <dgm:cxn modelId="{2A9916E4-11E9-4A58-B0A2-C27E0420D5C9}" type="presParOf" srcId="{B1FEFA41-FC56-466E-953E-9187D6721026}" destId="{F0C4EFBC-6042-4FB9-8CA0-4BAC84E0D246}" srcOrd="11" destOrd="0" presId="urn:microsoft.com/office/officeart/2005/8/layout/bProcess4"/>
    <dgm:cxn modelId="{E40EDDBC-6E79-4471-9BA4-82EFFFA810A8}" type="presParOf" srcId="{B1FEFA41-FC56-466E-953E-9187D6721026}" destId="{78A3CA2F-23C4-4347-B672-06259A59B2F3}" srcOrd="12" destOrd="0" presId="urn:microsoft.com/office/officeart/2005/8/layout/bProcess4"/>
    <dgm:cxn modelId="{1A79D0ED-E30F-4E66-8466-CE0C15DB9CA3}" type="presParOf" srcId="{78A3CA2F-23C4-4347-B672-06259A59B2F3}" destId="{55FE7C2F-0AC9-4CA2-B733-94A9AB66F489}" srcOrd="0" destOrd="0" presId="urn:microsoft.com/office/officeart/2005/8/layout/bProcess4"/>
    <dgm:cxn modelId="{E8966796-DFF0-449F-9E3B-424E5F9CB2C1}" type="presParOf" srcId="{78A3CA2F-23C4-4347-B672-06259A59B2F3}" destId="{3806EFB8-B162-40C2-A7EE-8DDFCAEEB4D7}" srcOrd="1" destOrd="0" presId="urn:microsoft.com/office/officeart/2005/8/layout/bProcess4"/>
    <dgm:cxn modelId="{29892783-B3E9-44D7-A20E-B66D92744BA1}" type="presParOf" srcId="{B1FEFA41-FC56-466E-953E-9187D6721026}" destId="{4DD75FEB-9FBE-4F21-A212-B4E015ABA6A5}" srcOrd="13" destOrd="0" presId="urn:microsoft.com/office/officeart/2005/8/layout/bProcess4"/>
    <dgm:cxn modelId="{7B35D5F2-EE0F-4DAE-BEB9-00C7428FD73F}" type="presParOf" srcId="{B1FEFA41-FC56-466E-953E-9187D6721026}" destId="{21ABE627-4633-4D5A-B6BC-9ABD910A79B7}" srcOrd="14" destOrd="0" presId="urn:microsoft.com/office/officeart/2005/8/layout/bProcess4"/>
    <dgm:cxn modelId="{E8074101-6943-491A-BF50-929599BD3B05}" type="presParOf" srcId="{21ABE627-4633-4D5A-B6BC-9ABD910A79B7}" destId="{13231AA7-F1BE-46A9-973E-37464B2F65E5}" srcOrd="0" destOrd="0" presId="urn:microsoft.com/office/officeart/2005/8/layout/bProcess4"/>
    <dgm:cxn modelId="{B1780BCC-C1DA-4EF1-9ADB-AAD1195453E0}" type="presParOf" srcId="{21ABE627-4633-4D5A-B6BC-9ABD910A79B7}" destId="{6DC23D57-CDB7-4851-B0A8-F50B337D3244}" srcOrd="1" destOrd="0" presId="urn:microsoft.com/office/officeart/2005/8/layout/bProcess4"/>
    <dgm:cxn modelId="{A1B4E7E5-1DC9-4430-A1F8-14AAF9B23D76}" type="presParOf" srcId="{B1FEFA41-FC56-466E-953E-9187D6721026}" destId="{C33874EA-63C0-4640-841E-75FFAD24FE3D}" srcOrd="15" destOrd="0" presId="urn:microsoft.com/office/officeart/2005/8/layout/bProcess4"/>
    <dgm:cxn modelId="{F5C70078-DB6F-4822-9A1E-0353FB7BCCC2}" type="presParOf" srcId="{B1FEFA41-FC56-466E-953E-9187D6721026}" destId="{A69D805D-702A-426A-B122-639DD8CF9C8A}" srcOrd="16" destOrd="0" presId="urn:microsoft.com/office/officeart/2005/8/layout/bProcess4"/>
    <dgm:cxn modelId="{3A1798CA-1346-472F-85CC-9E3DBA4E8A12}" type="presParOf" srcId="{A69D805D-702A-426A-B122-639DD8CF9C8A}" destId="{A5C6529E-A8AB-4336-9ECB-1BC19AB0489B}" srcOrd="0" destOrd="0" presId="urn:microsoft.com/office/officeart/2005/8/layout/bProcess4"/>
    <dgm:cxn modelId="{60BA44FC-127E-4DEB-9204-6DDFE725F4CB}" type="presParOf" srcId="{A69D805D-702A-426A-B122-639DD8CF9C8A}" destId="{459C7DE4-DAC5-4A93-B94D-786096CA5750}" srcOrd="1" destOrd="0" presId="urn:microsoft.com/office/officeart/2005/8/layout/bProcess4"/>
    <dgm:cxn modelId="{7130C21B-43AE-4372-B724-3E579C1F531C}" type="presParOf" srcId="{B1FEFA41-FC56-466E-953E-9187D6721026}" destId="{EF69ED52-C2F9-4DCB-B549-694C93C07847}" srcOrd="17" destOrd="0" presId="urn:microsoft.com/office/officeart/2005/8/layout/bProcess4"/>
    <dgm:cxn modelId="{FAC46FE6-228A-4CDA-8C9E-D542AB902538}" type="presParOf" srcId="{B1FEFA41-FC56-466E-953E-9187D6721026}" destId="{98F0FA16-6B14-4C18-A576-24F295A96372}" srcOrd="18" destOrd="0" presId="urn:microsoft.com/office/officeart/2005/8/layout/bProcess4"/>
    <dgm:cxn modelId="{CE36EB0F-12F4-4225-A4ED-35626A3C4276}" type="presParOf" srcId="{98F0FA16-6B14-4C18-A576-24F295A96372}" destId="{E5B2DB4D-F654-461E-861F-042EEC5DE288}" srcOrd="0" destOrd="0" presId="urn:microsoft.com/office/officeart/2005/8/layout/bProcess4"/>
    <dgm:cxn modelId="{941AE069-F6CE-4873-BA0D-5BBEE12859E9}" type="presParOf" srcId="{98F0FA16-6B14-4C18-A576-24F295A96372}" destId="{BA254A61-1A5D-4B37-9EAC-E2C50549346D}" srcOrd="1" destOrd="0" presId="urn:microsoft.com/office/officeart/2005/8/layout/bProcess4"/>
    <dgm:cxn modelId="{852B6900-825F-4427-BB6B-76A152A77C22}" type="presParOf" srcId="{B1FEFA41-FC56-466E-953E-9187D6721026}" destId="{60168AF5-667C-4F1E-9FCC-AE8A5205BAA5}" srcOrd="19" destOrd="0" presId="urn:microsoft.com/office/officeart/2005/8/layout/bProcess4"/>
    <dgm:cxn modelId="{A4F733A7-A4E0-452B-B02F-75E3098665CA}" type="presParOf" srcId="{B1FEFA41-FC56-466E-953E-9187D6721026}" destId="{5EED4550-0640-4EC8-AF07-7960E2D4EF6F}" srcOrd="20" destOrd="0" presId="urn:microsoft.com/office/officeart/2005/8/layout/bProcess4"/>
    <dgm:cxn modelId="{B42032AB-91C8-46E6-828B-27E20A32FEC4}" type="presParOf" srcId="{5EED4550-0640-4EC8-AF07-7960E2D4EF6F}" destId="{A92361EB-762E-485C-A01D-5D5F033D22E3}" srcOrd="0" destOrd="0" presId="urn:microsoft.com/office/officeart/2005/8/layout/bProcess4"/>
    <dgm:cxn modelId="{271DCC5C-09A2-4B76-9B16-08F6ADE734FB}" type="presParOf" srcId="{5EED4550-0640-4EC8-AF07-7960E2D4EF6F}" destId="{B4D810BC-D244-46A9-95D3-613C4AD7B363}" srcOrd="1" destOrd="0" presId="urn:microsoft.com/office/officeart/2005/8/layout/bProcess4"/>
    <dgm:cxn modelId="{31109DFD-6567-4733-89C8-BF4274AFC29E}" type="presParOf" srcId="{B1FEFA41-FC56-466E-953E-9187D6721026}" destId="{551F7CCA-A60E-42C6-9220-776DBEF89560}" srcOrd="21" destOrd="0" presId="urn:microsoft.com/office/officeart/2005/8/layout/bProcess4"/>
    <dgm:cxn modelId="{A0929AEE-4A93-446F-8A49-F5B942056855}" type="presParOf" srcId="{B1FEFA41-FC56-466E-953E-9187D6721026}" destId="{F678ADA3-BAD7-42E6-B3CC-EC48986B6A5A}" srcOrd="22" destOrd="0" presId="urn:microsoft.com/office/officeart/2005/8/layout/bProcess4"/>
    <dgm:cxn modelId="{EF3FB2E7-7BAB-424A-B33D-5179997EAA84}" type="presParOf" srcId="{F678ADA3-BAD7-42E6-B3CC-EC48986B6A5A}" destId="{570471C6-FAE0-4872-8D44-622ECC4048C3}" srcOrd="0" destOrd="0" presId="urn:microsoft.com/office/officeart/2005/8/layout/bProcess4"/>
    <dgm:cxn modelId="{9B37A15A-7774-4AD4-9AC3-11F9002FD85B}" type="presParOf" srcId="{F678ADA3-BAD7-42E6-B3CC-EC48986B6A5A}" destId="{FEB584D0-FA56-4AFF-B8D5-1CD9C79C0755}" srcOrd="1" destOrd="0" presId="urn:microsoft.com/office/officeart/2005/8/layout/bProcess4"/>
    <dgm:cxn modelId="{A4AC479B-6F7B-48E1-AD40-2B59A80648E4}" type="presParOf" srcId="{B1FEFA41-FC56-466E-953E-9187D6721026}" destId="{90DE3369-579D-48E9-81A3-191EFBA38FEE}" srcOrd="23" destOrd="0" presId="urn:microsoft.com/office/officeart/2005/8/layout/bProcess4"/>
    <dgm:cxn modelId="{2ECEC357-CC82-460D-A3BC-9CED84B71148}" type="presParOf" srcId="{B1FEFA41-FC56-466E-953E-9187D6721026}" destId="{E761620F-9934-4817-ABC0-BB5C44797733}" srcOrd="24" destOrd="0" presId="urn:microsoft.com/office/officeart/2005/8/layout/bProcess4"/>
    <dgm:cxn modelId="{C523BC2C-17D7-4AE1-9258-688EC90ECD56}" type="presParOf" srcId="{E761620F-9934-4817-ABC0-BB5C44797733}" destId="{9B51D4F8-E46D-43C9-89B2-8816200E765D}" srcOrd="0" destOrd="0" presId="urn:microsoft.com/office/officeart/2005/8/layout/bProcess4"/>
    <dgm:cxn modelId="{3E6C5C22-7B31-4784-B162-50B9A3C8A0E6}" type="presParOf" srcId="{E761620F-9934-4817-ABC0-BB5C44797733}" destId="{53A28803-9EB5-4A5E-9645-D595539734D2}" srcOrd="1" destOrd="0" presId="urn:microsoft.com/office/officeart/2005/8/layout/bProcess4"/>
    <dgm:cxn modelId="{39EA5092-96C7-4B6E-99B8-EB5AD3A89E94}" type="presParOf" srcId="{B1FEFA41-FC56-466E-953E-9187D6721026}" destId="{22B9843F-8395-4F58-B60D-489579E46099}" srcOrd="25" destOrd="0" presId="urn:microsoft.com/office/officeart/2005/8/layout/bProcess4"/>
    <dgm:cxn modelId="{AB74D3B5-172D-43BF-B654-F1580CA0941F}" type="presParOf" srcId="{B1FEFA41-FC56-466E-953E-9187D6721026}" destId="{B7EF4E49-CC7D-47BA-AA6E-EA7DA64B1708}" srcOrd="26" destOrd="0" presId="urn:microsoft.com/office/officeart/2005/8/layout/bProcess4"/>
    <dgm:cxn modelId="{7811E2E8-A80F-4D26-A204-E5349B5F9FE0}" type="presParOf" srcId="{B7EF4E49-CC7D-47BA-AA6E-EA7DA64B1708}" destId="{9B5CFAA3-4846-4EDB-93CB-F8875C372882}" srcOrd="0" destOrd="0" presId="urn:microsoft.com/office/officeart/2005/8/layout/bProcess4"/>
    <dgm:cxn modelId="{DC5EF7BD-7702-4DD4-8033-7436B15C8461}" type="presParOf" srcId="{B7EF4E49-CC7D-47BA-AA6E-EA7DA64B1708}" destId="{D565B99B-4943-41A9-8FC8-3D44F77F131E}" srcOrd="1" destOrd="0" presId="urn:microsoft.com/office/officeart/2005/8/layout/bProcess4"/>
    <dgm:cxn modelId="{9A806AC1-34BE-44C6-A05F-C763DBB94529}" type="presParOf" srcId="{B1FEFA41-FC56-466E-953E-9187D6721026}" destId="{40C92A19-7433-4581-A43D-E0023E0FD957}" srcOrd="27" destOrd="0" presId="urn:microsoft.com/office/officeart/2005/8/layout/bProcess4"/>
    <dgm:cxn modelId="{48C3AC9A-7B79-466F-A473-A80BC9B665B3}" type="presParOf" srcId="{B1FEFA41-FC56-466E-953E-9187D6721026}" destId="{85D324A6-948B-467A-9E2A-98E87AD321D7}" srcOrd="28" destOrd="0" presId="urn:microsoft.com/office/officeart/2005/8/layout/bProcess4"/>
    <dgm:cxn modelId="{A7D5FEAB-C97C-4623-8E5A-5F795B310DBF}" type="presParOf" srcId="{85D324A6-948B-467A-9E2A-98E87AD321D7}" destId="{75600123-E45E-48EC-B0F1-9E256B456F16}" srcOrd="0" destOrd="0" presId="urn:microsoft.com/office/officeart/2005/8/layout/bProcess4"/>
    <dgm:cxn modelId="{C24606FB-96B7-4533-98C9-E063515777FD}" type="presParOf" srcId="{85D324A6-948B-467A-9E2A-98E87AD321D7}" destId="{9F1458A6-9F9E-420A-8445-F8235F431D91}" srcOrd="1" destOrd="0" presId="urn:microsoft.com/office/officeart/2005/8/layout/bProcess4"/>
    <dgm:cxn modelId="{DE5BF8D2-F9E3-4D38-AC5F-DCB41A947C53}" type="presParOf" srcId="{B1FEFA41-FC56-466E-953E-9187D6721026}" destId="{F9EB93AC-05E8-4042-A420-F340111855F2}" srcOrd="29" destOrd="0" presId="urn:microsoft.com/office/officeart/2005/8/layout/bProcess4"/>
    <dgm:cxn modelId="{33F8A15F-4A86-43F3-A8D9-D0EF74D77D5E}" type="presParOf" srcId="{B1FEFA41-FC56-466E-953E-9187D6721026}" destId="{78883E95-3D3B-4014-B543-D2951A0280D7}" srcOrd="30" destOrd="0" presId="urn:microsoft.com/office/officeart/2005/8/layout/bProcess4"/>
    <dgm:cxn modelId="{4F708505-F7F3-41BB-AEB7-B28244CFB724}" type="presParOf" srcId="{78883E95-3D3B-4014-B543-D2951A0280D7}" destId="{46DE1A93-14F4-4CBD-97AF-4DE90B4626C9}" srcOrd="0" destOrd="0" presId="urn:microsoft.com/office/officeart/2005/8/layout/bProcess4"/>
    <dgm:cxn modelId="{11FF4983-DF68-4D69-B7F3-8EE61583D8CB}" type="presParOf" srcId="{78883E95-3D3B-4014-B543-D2951A0280D7}" destId="{EB33F50A-E92A-4746-BC69-C15DECF59E6B}" srcOrd="1" destOrd="0" presId="urn:microsoft.com/office/officeart/2005/8/layout/bProcess4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C64752-EADB-41BF-87EC-C679A96D8F6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77872D-A239-41F2-9DF7-AC6D54EA9A7E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From Emergency </a:t>
          </a:r>
          <a:endParaRPr lang="en-US" dirty="0">
            <a:solidFill>
              <a:srgbClr val="FF0000"/>
            </a:solidFill>
          </a:endParaRPr>
        </a:p>
      </dgm:t>
    </dgm:pt>
    <dgm:pt modelId="{13F012DB-690F-4C6E-8991-DCBD3740E908}" type="parTrans" cxnId="{6847177D-736F-4DE5-9F8D-A9DA3EEFB370}">
      <dgm:prSet/>
      <dgm:spPr/>
      <dgm:t>
        <a:bodyPr/>
        <a:lstStyle/>
        <a:p>
          <a:endParaRPr lang="en-US"/>
        </a:p>
      </dgm:t>
    </dgm:pt>
    <dgm:pt modelId="{5C44AFCC-DFA5-4967-922E-AD545BCCA17E}" type="sibTrans" cxnId="{6847177D-736F-4DE5-9F8D-A9DA3EEFB370}">
      <dgm:prSet/>
      <dgm:spPr/>
      <dgm:t>
        <a:bodyPr/>
        <a:lstStyle/>
        <a:p>
          <a:endParaRPr lang="en-US"/>
        </a:p>
      </dgm:t>
    </dgm:pt>
    <dgm:pt modelId="{E5CFABB9-E3D7-4F1F-BD4C-4339461C38ED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From Outdoor</a:t>
          </a:r>
          <a:endParaRPr lang="en-US" dirty="0">
            <a:solidFill>
              <a:srgbClr val="FF0000"/>
            </a:solidFill>
          </a:endParaRPr>
        </a:p>
      </dgm:t>
    </dgm:pt>
    <dgm:pt modelId="{6865C7D2-82EC-480B-8A09-0A2F6ADDEE68}" type="parTrans" cxnId="{27C5EB6A-8863-4BD4-B1EF-97261FFA6717}">
      <dgm:prSet/>
      <dgm:spPr/>
      <dgm:t>
        <a:bodyPr/>
        <a:lstStyle/>
        <a:p>
          <a:endParaRPr lang="en-US"/>
        </a:p>
      </dgm:t>
    </dgm:pt>
    <dgm:pt modelId="{2ACA3F4F-8B37-4DA1-967B-BF5B238370B5}" type="sibTrans" cxnId="{27C5EB6A-8863-4BD4-B1EF-97261FFA6717}">
      <dgm:prSet/>
      <dgm:spPr/>
      <dgm:t>
        <a:bodyPr/>
        <a:lstStyle/>
        <a:p>
          <a:endParaRPr lang="en-US"/>
        </a:p>
      </dgm:t>
    </dgm:pt>
    <dgm:pt modelId="{0376E6AE-3E3D-4AA4-B67F-C9E8FBE9D3B6}">
      <dgm:prSet phldrT="[Text]"/>
      <dgm:spPr/>
      <dgm:t>
        <a:bodyPr/>
        <a:lstStyle/>
        <a:p>
          <a:r>
            <a:rPr lang="en-US" dirty="0" smtClean="0">
              <a:solidFill>
                <a:srgbClr val="FF0000"/>
              </a:solidFill>
            </a:rPr>
            <a:t>From Consultants Chamber</a:t>
          </a:r>
          <a:endParaRPr lang="en-US" dirty="0">
            <a:solidFill>
              <a:srgbClr val="FF0000"/>
            </a:solidFill>
          </a:endParaRPr>
        </a:p>
      </dgm:t>
    </dgm:pt>
    <dgm:pt modelId="{3044EDEC-6432-47B5-A3A5-4E98C6A41E60}" type="parTrans" cxnId="{4DCD32CF-6243-4F16-A938-FEB9AEE06D12}">
      <dgm:prSet/>
      <dgm:spPr/>
      <dgm:t>
        <a:bodyPr/>
        <a:lstStyle/>
        <a:p>
          <a:endParaRPr lang="en-US"/>
        </a:p>
      </dgm:t>
    </dgm:pt>
    <dgm:pt modelId="{523776B9-A17D-45EC-9B7D-D0063D3D139B}" type="sibTrans" cxnId="{4DCD32CF-6243-4F16-A938-FEB9AEE06D12}">
      <dgm:prSet/>
      <dgm:spPr/>
      <dgm:t>
        <a:bodyPr/>
        <a:lstStyle/>
        <a:p>
          <a:endParaRPr lang="en-US"/>
        </a:p>
      </dgm:t>
    </dgm:pt>
    <dgm:pt modelId="{C5CC5940-E465-4C02-8E96-0E620B456EF5}" type="pres">
      <dgm:prSet presAssocID="{06C64752-EADB-41BF-87EC-C679A96D8F6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F96899A-2CEE-4172-9C7E-8E5411E2E88A}" type="pres">
      <dgm:prSet presAssocID="{7377872D-A239-41F2-9DF7-AC6D54EA9A7E}" presName="parentLin" presStyleCnt="0"/>
      <dgm:spPr/>
    </dgm:pt>
    <dgm:pt modelId="{CF0D8BD4-B94B-4696-B338-727F4952A943}" type="pres">
      <dgm:prSet presAssocID="{7377872D-A239-41F2-9DF7-AC6D54EA9A7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A576499F-E155-4AD2-9B34-01EA70D98E32}" type="pres">
      <dgm:prSet presAssocID="{7377872D-A239-41F2-9DF7-AC6D54EA9A7E}" presName="parentText" presStyleLbl="node1" presStyleIdx="0" presStyleCnt="3" custLinFactNeighborX="-41176" custLinFactNeighborY="354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A793BA-74EE-4685-A1D1-7733D5749CDB}" type="pres">
      <dgm:prSet presAssocID="{7377872D-A239-41F2-9DF7-AC6D54EA9A7E}" presName="negativeSpace" presStyleCnt="0"/>
      <dgm:spPr/>
    </dgm:pt>
    <dgm:pt modelId="{2337977B-C3AD-4228-9867-AADD85B92361}" type="pres">
      <dgm:prSet presAssocID="{7377872D-A239-41F2-9DF7-AC6D54EA9A7E}" presName="childText" presStyleLbl="conFgAcc1" presStyleIdx="0" presStyleCnt="3">
        <dgm:presLayoutVars>
          <dgm:bulletEnabled val="1"/>
        </dgm:presLayoutVars>
      </dgm:prSet>
      <dgm:spPr/>
    </dgm:pt>
    <dgm:pt modelId="{AC7D465F-DE15-4BEF-89CD-7D1F55CE51C8}" type="pres">
      <dgm:prSet presAssocID="{5C44AFCC-DFA5-4967-922E-AD545BCCA17E}" presName="spaceBetweenRectangles" presStyleCnt="0"/>
      <dgm:spPr/>
    </dgm:pt>
    <dgm:pt modelId="{22C90019-5955-4CEE-83EC-D2B863F9899A}" type="pres">
      <dgm:prSet presAssocID="{E5CFABB9-E3D7-4F1F-BD4C-4339461C38ED}" presName="parentLin" presStyleCnt="0"/>
      <dgm:spPr/>
    </dgm:pt>
    <dgm:pt modelId="{4456FCC6-D223-45CD-A85C-E739ADED9F83}" type="pres">
      <dgm:prSet presAssocID="{E5CFABB9-E3D7-4F1F-BD4C-4339461C38E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C9E93A1-4A0A-43AE-A0F4-32BE98DFE633}" type="pres">
      <dgm:prSet presAssocID="{E5CFABB9-E3D7-4F1F-BD4C-4339461C38E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F6BC19-9B5C-4A7A-8611-A56E85290063}" type="pres">
      <dgm:prSet presAssocID="{E5CFABB9-E3D7-4F1F-BD4C-4339461C38ED}" presName="negativeSpace" presStyleCnt="0"/>
      <dgm:spPr/>
    </dgm:pt>
    <dgm:pt modelId="{E29A211C-DFFE-407F-BA1E-1E750940DA53}" type="pres">
      <dgm:prSet presAssocID="{E5CFABB9-E3D7-4F1F-BD4C-4339461C38ED}" presName="childText" presStyleLbl="conFgAcc1" presStyleIdx="1" presStyleCnt="3">
        <dgm:presLayoutVars>
          <dgm:bulletEnabled val="1"/>
        </dgm:presLayoutVars>
      </dgm:prSet>
      <dgm:spPr/>
    </dgm:pt>
    <dgm:pt modelId="{76ADA37C-B17E-426E-9345-658569536264}" type="pres">
      <dgm:prSet presAssocID="{2ACA3F4F-8B37-4DA1-967B-BF5B238370B5}" presName="spaceBetweenRectangles" presStyleCnt="0"/>
      <dgm:spPr/>
    </dgm:pt>
    <dgm:pt modelId="{E1B555CA-18A9-44FC-BD84-51050493A98F}" type="pres">
      <dgm:prSet presAssocID="{0376E6AE-3E3D-4AA4-B67F-C9E8FBE9D3B6}" presName="parentLin" presStyleCnt="0"/>
      <dgm:spPr/>
    </dgm:pt>
    <dgm:pt modelId="{71C9EBAF-7A6B-44BC-A5D9-D6270E2190D7}" type="pres">
      <dgm:prSet presAssocID="{0376E6AE-3E3D-4AA4-B67F-C9E8FBE9D3B6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1D0BCD31-8324-4A21-89DF-66A140F0B5B9}" type="pres">
      <dgm:prSet presAssocID="{0376E6AE-3E3D-4AA4-B67F-C9E8FBE9D3B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5E7E9-E280-4EA1-8A62-92FFEB4BE5B9}" type="pres">
      <dgm:prSet presAssocID="{0376E6AE-3E3D-4AA4-B67F-C9E8FBE9D3B6}" presName="negativeSpace" presStyleCnt="0"/>
      <dgm:spPr/>
    </dgm:pt>
    <dgm:pt modelId="{674DC349-E7F2-403C-BA2C-729447957F28}" type="pres">
      <dgm:prSet presAssocID="{0376E6AE-3E3D-4AA4-B67F-C9E8FBE9D3B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7C5EB6A-8863-4BD4-B1EF-97261FFA6717}" srcId="{06C64752-EADB-41BF-87EC-C679A96D8F6B}" destId="{E5CFABB9-E3D7-4F1F-BD4C-4339461C38ED}" srcOrd="1" destOrd="0" parTransId="{6865C7D2-82EC-480B-8A09-0A2F6ADDEE68}" sibTransId="{2ACA3F4F-8B37-4DA1-967B-BF5B238370B5}"/>
    <dgm:cxn modelId="{4DCD32CF-6243-4F16-A938-FEB9AEE06D12}" srcId="{06C64752-EADB-41BF-87EC-C679A96D8F6B}" destId="{0376E6AE-3E3D-4AA4-B67F-C9E8FBE9D3B6}" srcOrd="2" destOrd="0" parTransId="{3044EDEC-6432-47B5-A3A5-4E98C6A41E60}" sibTransId="{523776B9-A17D-45EC-9B7D-D0063D3D139B}"/>
    <dgm:cxn modelId="{F59D022D-F805-4C13-B895-FCCE5F92CFC0}" type="presOf" srcId="{0376E6AE-3E3D-4AA4-B67F-C9E8FBE9D3B6}" destId="{71C9EBAF-7A6B-44BC-A5D9-D6270E2190D7}" srcOrd="0" destOrd="0" presId="urn:microsoft.com/office/officeart/2005/8/layout/list1"/>
    <dgm:cxn modelId="{6847177D-736F-4DE5-9F8D-A9DA3EEFB370}" srcId="{06C64752-EADB-41BF-87EC-C679A96D8F6B}" destId="{7377872D-A239-41F2-9DF7-AC6D54EA9A7E}" srcOrd="0" destOrd="0" parTransId="{13F012DB-690F-4C6E-8991-DCBD3740E908}" sibTransId="{5C44AFCC-DFA5-4967-922E-AD545BCCA17E}"/>
    <dgm:cxn modelId="{C86F1D36-AACC-49F5-88AD-53A5C6149ED8}" type="presOf" srcId="{06C64752-EADB-41BF-87EC-C679A96D8F6B}" destId="{C5CC5940-E465-4C02-8E96-0E620B456EF5}" srcOrd="0" destOrd="0" presId="urn:microsoft.com/office/officeart/2005/8/layout/list1"/>
    <dgm:cxn modelId="{BA11834F-BE00-4F2C-A6B8-57AD117ABA75}" type="presOf" srcId="{7377872D-A239-41F2-9DF7-AC6D54EA9A7E}" destId="{A576499F-E155-4AD2-9B34-01EA70D98E32}" srcOrd="1" destOrd="0" presId="urn:microsoft.com/office/officeart/2005/8/layout/list1"/>
    <dgm:cxn modelId="{475F3DFF-C408-4AE0-81A2-0B243B09F7B9}" type="presOf" srcId="{0376E6AE-3E3D-4AA4-B67F-C9E8FBE9D3B6}" destId="{1D0BCD31-8324-4A21-89DF-66A140F0B5B9}" srcOrd="1" destOrd="0" presId="urn:microsoft.com/office/officeart/2005/8/layout/list1"/>
    <dgm:cxn modelId="{9107570B-5A3C-4453-80A4-021C9A010463}" type="presOf" srcId="{7377872D-A239-41F2-9DF7-AC6D54EA9A7E}" destId="{CF0D8BD4-B94B-4696-B338-727F4952A943}" srcOrd="0" destOrd="0" presId="urn:microsoft.com/office/officeart/2005/8/layout/list1"/>
    <dgm:cxn modelId="{31BA93A9-EB36-4F8A-B1AD-36DE28D51401}" type="presOf" srcId="{E5CFABB9-E3D7-4F1F-BD4C-4339461C38ED}" destId="{4456FCC6-D223-45CD-A85C-E739ADED9F83}" srcOrd="0" destOrd="0" presId="urn:microsoft.com/office/officeart/2005/8/layout/list1"/>
    <dgm:cxn modelId="{0F2428A2-E468-4C63-84B7-04FA7EA47A27}" type="presOf" srcId="{E5CFABB9-E3D7-4F1F-BD4C-4339461C38ED}" destId="{CC9E93A1-4A0A-43AE-A0F4-32BE98DFE633}" srcOrd="1" destOrd="0" presId="urn:microsoft.com/office/officeart/2005/8/layout/list1"/>
    <dgm:cxn modelId="{77C2B9D6-7008-4AED-A36E-9E61ADF1A40F}" type="presParOf" srcId="{C5CC5940-E465-4C02-8E96-0E620B456EF5}" destId="{8F96899A-2CEE-4172-9C7E-8E5411E2E88A}" srcOrd="0" destOrd="0" presId="urn:microsoft.com/office/officeart/2005/8/layout/list1"/>
    <dgm:cxn modelId="{044A9CBF-5DAC-483A-85A1-6203FAA0867E}" type="presParOf" srcId="{8F96899A-2CEE-4172-9C7E-8E5411E2E88A}" destId="{CF0D8BD4-B94B-4696-B338-727F4952A943}" srcOrd="0" destOrd="0" presId="urn:microsoft.com/office/officeart/2005/8/layout/list1"/>
    <dgm:cxn modelId="{7945E2F2-C12E-457B-89BC-4E8DE0EBCF33}" type="presParOf" srcId="{8F96899A-2CEE-4172-9C7E-8E5411E2E88A}" destId="{A576499F-E155-4AD2-9B34-01EA70D98E32}" srcOrd="1" destOrd="0" presId="urn:microsoft.com/office/officeart/2005/8/layout/list1"/>
    <dgm:cxn modelId="{185FC8B2-A0BC-4A24-BB98-079734ADD1C3}" type="presParOf" srcId="{C5CC5940-E465-4C02-8E96-0E620B456EF5}" destId="{55A793BA-74EE-4685-A1D1-7733D5749CDB}" srcOrd="1" destOrd="0" presId="urn:microsoft.com/office/officeart/2005/8/layout/list1"/>
    <dgm:cxn modelId="{C451B984-751F-4AE7-AF24-C3EB894F1985}" type="presParOf" srcId="{C5CC5940-E465-4C02-8E96-0E620B456EF5}" destId="{2337977B-C3AD-4228-9867-AADD85B92361}" srcOrd="2" destOrd="0" presId="urn:microsoft.com/office/officeart/2005/8/layout/list1"/>
    <dgm:cxn modelId="{2EAA5650-EE89-4053-AC84-9404D5ED8A50}" type="presParOf" srcId="{C5CC5940-E465-4C02-8E96-0E620B456EF5}" destId="{AC7D465F-DE15-4BEF-89CD-7D1F55CE51C8}" srcOrd="3" destOrd="0" presId="urn:microsoft.com/office/officeart/2005/8/layout/list1"/>
    <dgm:cxn modelId="{F1F0983B-9A00-4817-B0FF-CCBDAB4018F4}" type="presParOf" srcId="{C5CC5940-E465-4C02-8E96-0E620B456EF5}" destId="{22C90019-5955-4CEE-83EC-D2B863F9899A}" srcOrd="4" destOrd="0" presId="urn:microsoft.com/office/officeart/2005/8/layout/list1"/>
    <dgm:cxn modelId="{45BA4C5F-23E8-4830-A65B-AE3D8C15C663}" type="presParOf" srcId="{22C90019-5955-4CEE-83EC-D2B863F9899A}" destId="{4456FCC6-D223-45CD-A85C-E739ADED9F83}" srcOrd="0" destOrd="0" presId="urn:microsoft.com/office/officeart/2005/8/layout/list1"/>
    <dgm:cxn modelId="{3A66B9DB-0294-4DEA-A603-18EB7531FCFB}" type="presParOf" srcId="{22C90019-5955-4CEE-83EC-D2B863F9899A}" destId="{CC9E93A1-4A0A-43AE-A0F4-32BE98DFE633}" srcOrd="1" destOrd="0" presId="urn:microsoft.com/office/officeart/2005/8/layout/list1"/>
    <dgm:cxn modelId="{8D01BBA5-D4F9-45CE-90F7-5C1D629DA60F}" type="presParOf" srcId="{C5CC5940-E465-4C02-8E96-0E620B456EF5}" destId="{43F6BC19-9B5C-4A7A-8611-A56E85290063}" srcOrd="5" destOrd="0" presId="urn:microsoft.com/office/officeart/2005/8/layout/list1"/>
    <dgm:cxn modelId="{D8B088CF-D905-4D9C-8594-396090E98A0D}" type="presParOf" srcId="{C5CC5940-E465-4C02-8E96-0E620B456EF5}" destId="{E29A211C-DFFE-407F-BA1E-1E750940DA53}" srcOrd="6" destOrd="0" presId="urn:microsoft.com/office/officeart/2005/8/layout/list1"/>
    <dgm:cxn modelId="{6E60E1CB-6D5F-44EE-9D9C-0D486192ADC2}" type="presParOf" srcId="{C5CC5940-E465-4C02-8E96-0E620B456EF5}" destId="{76ADA37C-B17E-426E-9345-658569536264}" srcOrd="7" destOrd="0" presId="urn:microsoft.com/office/officeart/2005/8/layout/list1"/>
    <dgm:cxn modelId="{4CD8D3E1-848C-407C-9B4C-89969415AA18}" type="presParOf" srcId="{C5CC5940-E465-4C02-8E96-0E620B456EF5}" destId="{E1B555CA-18A9-44FC-BD84-51050493A98F}" srcOrd="8" destOrd="0" presId="urn:microsoft.com/office/officeart/2005/8/layout/list1"/>
    <dgm:cxn modelId="{72809591-E74D-41AB-89FF-CB93CC0210C8}" type="presParOf" srcId="{E1B555CA-18A9-44FC-BD84-51050493A98F}" destId="{71C9EBAF-7A6B-44BC-A5D9-D6270E2190D7}" srcOrd="0" destOrd="0" presId="urn:microsoft.com/office/officeart/2005/8/layout/list1"/>
    <dgm:cxn modelId="{ED1FFA5B-D884-4ECF-82EB-DF91EF015867}" type="presParOf" srcId="{E1B555CA-18A9-44FC-BD84-51050493A98F}" destId="{1D0BCD31-8324-4A21-89DF-66A140F0B5B9}" srcOrd="1" destOrd="0" presId="urn:microsoft.com/office/officeart/2005/8/layout/list1"/>
    <dgm:cxn modelId="{78B8D6B4-A542-4ABB-BD91-2F18264CB9E5}" type="presParOf" srcId="{C5CC5940-E465-4C02-8E96-0E620B456EF5}" destId="{97A5E7E9-E280-4EA1-8A62-92FFEB4BE5B9}" srcOrd="9" destOrd="0" presId="urn:microsoft.com/office/officeart/2005/8/layout/list1"/>
    <dgm:cxn modelId="{FAD0E94D-20C0-4F5D-86A3-243CF6E0330F}" type="presParOf" srcId="{C5CC5940-E465-4C02-8E96-0E620B456EF5}" destId="{674DC349-E7F2-403C-BA2C-729447957F28}" srcOrd="10" destOrd="0" presId="urn:microsoft.com/office/officeart/2005/8/layout/lis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png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B412F0-B504-4C90-8F49-F3511EBEC8A0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E2CD-9B18-4AD9-A90B-073F70C10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zoom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7D0788-3784-4EA7-A650-39D6506898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8704950"/>
      </p:ext>
    </p:extLst>
  </p:cSld>
  <p:clrMapOvr>
    <a:masterClrMapping/>
  </p:clrMapOvr>
  <p:transition spd="slow">
    <p:zoom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74920094"/>
      </p:ext>
    </p:extLst>
  </p:cSld>
  <p:clrMapOvr>
    <a:masterClrMapping/>
  </p:clrMapOvr>
  <p:transition spd="slow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1" r:id="rId13"/>
    <p:sldLayoutId id="2147484362" r:id="rId14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Chart1.xls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jpeg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7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76.jpe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1000"/>
            <a:ext cx="8305800" cy="1371600"/>
          </a:xfrm>
        </p:spPr>
        <p:txBody>
          <a:bodyPr anchor="ctr"/>
          <a:lstStyle/>
          <a:p>
            <a:r>
              <a:rPr sz="3600" smtClean="0"/>
              <a:t>Ad-din Sakina Medical College Hospital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752600"/>
            <a:ext cx="8305800" cy="3657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IMG_93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534400" cy="4552361"/>
          </a:xfrm>
          <a:prstGeom prst="rect">
            <a:avLst/>
          </a:prstGeom>
        </p:spPr>
      </p:pic>
    </p:spTree>
  </p:cSld>
  <p:clrMapOvr>
    <a:masterClrMapping/>
  </p:clrMapOvr>
  <p:transition spd="med">
    <p:whee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828800"/>
          </a:xfrm>
        </p:spPr>
        <p:txBody>
          <a:bodyPr>
            <a:normAutofit fontScale="90000"/>
          </a:bodyPr>
          <a:lstStyle/>
          <a:p>
            <a:pPr algn="ctr"/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000" smtClean="0">
                <a:solidFill>
                  <a:srgbClr val="800000"/>
                </a:solidFill>
              </a:rPr>
              <a:t/>
            </a:r>
            <a:br>
              <a:rPr sz="4000" smtClean="0">
                <a:solidFill>
                  <a:srgbClr val="800000"/>
                </a:solidFill>
              </a:rPr>
            </a:br>
            <a:r>
              <a:rPr sz="4400" smtClean="0">
                <a:solidFill>
                  <a:srgbClr val="3333FF"/>
                </a:solidFill>
              </a:rPr>
              <a:t>AD-DIN Sakina Medical College </a:t>
            </a:r>
            <a:r>
              <a:rPr sz="4400" smtClean="0">
                <a:solidFill>
                  <a:srgbClr val="800000"/>
                </a:solidFill>
              </a:rPr>
              <a:t/>
            </a:r>
            <a:br>
              <a:rPr sz="4400" smtClean="0">
                <a:solidFill>
                  <a:srgbClr val="800000"/>
                </a:solidFill>
              </a:rPr>
            </a:br>
            <a:r>
              <a:rPr sz="4400" smtClean="0">
                <a:solidFill>
                  <a:srgbClr val="0000FF"/>
                </a:solidFill>
              </a:rPr>
              <a:t>Non-profit private voluntary organization </a:t>
            </a:r>
            <a:r>
              <a:rPr sz="4900" smtClean="0">
                <a:solidFill>
                  <a:srgbClr val="0000FF"/>
                </a:solidFill>
              </a:rPr>
              <a:t/>
            </a:r>
            <a:br>
              <a:rPr sz="4900" smtClean="0">
                <a:solidFill>
                  <a:srgbClr val="0000FF"/>
                </a:solidFill>
              </a:rPr>
            </a:br>
            <a:endParaRPr lang="en-US" dirty="0"/>
          </a:p>
        </p:txBody>
      </p:sp>
      <p:graphicFrame>
        <p:nvGraphicFramePr>
          <p:cNvPr id="1026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1560513" y="1935163"/>
          <a:ext cx="6022975" cy="4389437"/>
        </p:xfrm>
        <a:graphic>
          <a:graphicData uri="http://schemas.openxmlformats.org/presentationml/2006/ole">
            <p:oleObj spid="_x0000_s1044" name="Photo Editor Photo" r:id="rId3" imgW="8923810" imgH="6504762" progId="">
              <p:embed/>
            </p:oleObj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04800" y="6019800"/>
            <a:ext cx="3738524" cy="66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600" dirty="0">
                <a:solidFill>
                  <a:srgbClr val="660033"/>
                </a:solidFill>
              </a:rPr>
              <a:t>S</a:t>
            </a:r>
            <a:r>
              <a:rPr lang="en-US" sz="3600" dirty="0" smtClean="0">
                <a:solidFill>
                  <a:srgbClr val="660033"/>
                </a:solidFill>
              </a:rPr>
              <a:t>tart: </a:t>
            </a:r>
            <a:r>
              <a:rPr lang="en-US" sz="3600" dirty="0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17 Dec 1980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1016296" y="47530"/>
            <a:ext cx="7239000" cy="247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1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sz="4000" dirty="0">
                <a:solidFill>
                  <a:schemeClr val="accent2"/>
                </a:solidFill>
              </a:rPr>
              <a:t>Ad-din </a:t>
            </a:r>
            <a:r>
              <a:rPr lang="en-US" altLang="en-US" sz="4000" dirty="0" smtClean="0">
                <a:solidFill>
                  <a:schemeClr val="accent2"/>
                </a:solidFill>
              </a:rPr>
              <a:t>Sakina Medical College Hospital</a:t>
            </a:r>
            <a:endParaRPr lang="en-US" altLang="en-US" sz="4000" dirty="0">
              <a:solidFill>
                <a:schemeClr val="accent2"/>
              </a:solidFill>
            </a:endParaRP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15 Rail Road, Jessore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304800" y="2057400"/>
            <a:ext cx="38862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3200" dirty="0" smtClean="0"/>
              <a:t>Start: </a:t>
            </a:r>
            <a:r>
              <a:rPr lang="en-US" altLang="en-US" sz="3200" dirty="0"/>
              <a:t>5 April 1985</a:t>
            </a:r>
            <a:r>
              <a:rPr lang="en-US" altLang="en-US" sz="3200" dirty="0">
                <a:solidFill>
                  <a:srgbClr val="336600"/>
                </a:solidFill>
              </a:rPr>
              <a:t>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3200" dirty="0">
                <a:solidFill>
                  <a:srgbClr val="336600"/>
                </a:solidFill>
              </a:rPr>
              <a:t>Aims: To provide standard health service specially to the </a:t>
            </a:r>
            <a:r>
              <a:rPr lang="en-US" altLang="en-US" sz="3200" dirty="0" smtClean="0">
                <a:solidFill>
                  <a:srgbClr val="336600"/>
                </a:solidFill>
              </a:rPr>
              <a:t>women, children And others </a:t>
            </a:r>
            <a:r>
              <a:rPr lang="en-US" altLang="en-US" sz="3200" dirty="0">
                <a:solidFill>
                  <a:srgbClr val="336600"/>
                </a:solidFill>
              </a:rPr>
              <a:t>at minimum cost .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630" y="-18583"/>
            <a:ext cx="1077912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5" descr="Ad-di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47050" y="36157"/>
            <a:ext cx="996950" cy="996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 descr="Ad-din Hospital Front si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2673" t="25000" r="6250" b="11000"/>
          <a:stretch>
            <a:fillRect/>
          </a:stretch>
        </p:blipFill>
        <p:spPr bwMode="auto">
          <a:xfrm>
            <a:off x="4343400" y="2852738"/>
            <a:ext cx="4800600" cy="400526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38600" y="1905001"/>
            <a:ext cx="510539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1174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212725"/>
            <a:ext cx="449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dirty="0">
                <a:solidFill>
                  <a:srgbClr val="3333FF"/>
                </a:solidFill>
              </a:rPr>
              <a:t>Founder of Ad-din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9600" y="1069975"/>
            <a:ext cx="5334000" cy="1557349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Sheikh Akijuddin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Founder Chairman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Established Ad-din out of  corporate social responsibility.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Akij Group with 20 business units.</a:t>
            </a:r>
          </a:p>
        </p:txBody>
      </p:sp>
      <p:pic>
        <p:nvPicPr>
          <p:cNvPr id="24580" name="Picture 4" descr="1"/>
          <p:cNvPicPr>
            <a:picLocks noChangeAspect="1" noChangeArrowheads="1"/>
          </p:cNvPicPr>
          <p:nvPr/>
        </p:nvPicPr>
        <p:blipFill>
          <a:blip r:embed="rId2"/>
          <a:srcRect t="3416" b="4584"/>
          <a:stretch>
            <a:fillRect/>
          </a:stretch>
        </p:blipFill>
        <p:spPr bwMode="auto">
          <a:xfrm>
            <a:off x="6172200" y="1042988"/>
            <a:ext cx="286702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5" descr="untitled1"/>
          <p:cNvPicPr>
            <a:picLocks noChangeAspect="1" noChangeArrowheads="1"/>
          </p:cNvPicPr>
          <p:nvPr/>
        </p:nvPicPr>
        <p:blipFill>
          <a:blip r:embed="rId3"/>
          <a:srcRect l="5402" t="14680" b="37218"/>
          <a:stretch>
            <a:fillRect/>
          </a:stretch>
        </p:blipFill>
        <p:spPr bwMode="auto">
          <a:xfrm>
            <a:off x="6172200" y="3048000"/>
            <a:ext cx="2867025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609600" y="3081338"/>
            <a:ext cx="5334000" cy="1497012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solidFill>
                  <a:srgbClr val="0000FF"/>
                </a:solidFill>
              </a:rPr>
              <a:t>Late Prof. Sharif Hossain</a:t>
            </a: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1600" dirty="0">
                <a:solidFill>
                  <a:srgbClr val="FF0000"/>
                </a:solidFill>
              </a:rPr>
              <a:t>Founder of lot of social organizations, educationist, recipient of Ekushe Padak.</a:t>
            </a:r>
          </a:p>
          <a:p>
            <a:pPr>
              <a:spcBef>
                <a:spcPct val="50000"/>
              </a:spcBef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609600" y="5426075"/>
            <a:ext cx="5334000" cy="646331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Dr. Sheikh Mohiuddin</a:t>
            </a:r>
          </a:p>
          <a:p>
            <a:r>
              <a:rPr lang="en-US" dirty="0">
                <a:solidFill>
                  <a:srgbClr val="FF0000"/>
                </a:solidFill>
              </a:rPr>
              <a:t>Founder Executive Director</a:t>
            </a:r>
          </a:p>
        </p:txBody>
      </p:sp>
      <p:pic>
        <p:nvPicPr>
          <p:cNvPr id="24584" name="Picture 8" descr="04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7913" y="4876800"/>
            <a:ext cx="290671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ad-din foundation এর ছবি ফলাফল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96000" y="4786184"/>
            <a:ext cx="3048000" cy="2071816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819400" y="1066800"/>
            <a:ext cx="3048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u="sng" dirty="0">
                <a:solidFill>
                  <a:srgbClr val="3333FF"/>
                </a:solidFill>
              </a:rPr>
              <a:t>Core Values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04800" y="2971800"/>
            <a:ext cx="54864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sz="3200">
                <a:solidFill>
                  <a:srgbClr val="0000FF"/>
                </a:solidFill>
              </a:rPr>
              <a:t>To respect and take care of the cultural &amp; religious values of our country as a part of development</a:t>
            </a:r>
          </a:p>
        </p:txBody>
      </p:sp>
      <p:pic>
        <p:nvPicPr>
          <p:cNvPr id="26628" name="Picture 4" descr="5"/>
          <p:cNvPicPr>
            <a:picLocks noChangeAspect="1" noChangeArrowheads="1"/>
          </p:cNvPicPr>
          <p:nvPr/>
        </p:nvPicPr>
        <p:blipFill>
          <a:blip r:embed="rId2"/>
          <a:srcRect l="11928"/>
          <a:stretch>
            <a:fillRect/>
          </a:stretch>
        </p:blipFill>
        <p:spPr bwMode="auto">
          <a:xfrm>
            <a:off x="6026150" y="304800"/>
            <a:ext cx="2813050" cy="246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938" y="304800"/>
            <a:ext cx="22018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30" name="Picture 6" descr="7"/>
          <p:cNvPicPr>
            <a:picLocks noChangeAspect="1" noChangeArrowheads="1"/>
          </p:cNvPicPr>
          <p:nvPr/>
        </p:nvPicPr>
        <p:blipFill>
          <a:blip r:embed="rId4"/>
          <a:srcRect l="7317" t="8344" r="9756" b="2782"/>
          <a:stretch>
            <a:fillRect/>
          </a:stretch>
        </p:blipFill>
        <p:spPr bwMode="auto">
          <a:xfrm>
            <a:off x="6038850" y="4194175"/>
            <a:ext cx="2819400" cy="243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Ad-din Sakina Medical College Hospital, Jessore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Estd.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300-Bed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Annual Delivery: 3445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277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Ad-din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Estd.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500-Bed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Annual Delivery : 10848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95408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latin typeface="Corbel" pitchFamily="34" charset="0"/>
              </a:rPr>
              <a:t>Ad-din Hospital, Kushtia 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Estd. 1 Nov 1999; 100-Bed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Annual Delivery: 2199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>
                <a:latin typeface="Corbel" pitchFamily="34" charset="0"/>
              </a:rPr>
              <a:t>Bashundhara Ad-din Medical College Hospital, Keraniganj, Dhaka </a:t>
            </a:r>
          </a:p>
          <a:p>
            <a:pPr eaLnBrk="1" hangingPunct="1"/>
            <a:r>
              <a:rPr lang="en-US" altLang="en-US" sz="1200" b="1">
                <a:latin typeface="Corbel" pitchFamily="34" charset="0"/>
              </a:rPr>
              <a:t>Estd. 25 Feb 2012</a:t>
            </a:r>
          </a:p>
          <a:p>
            <a:pPr eaLnBrk="1" hangingPunct="1"/>
            <a:r>
              <a:rPr lang="en-US" altLang="en-US" sz="1200" b="1">
                <a:latin typeface="Corbel" pitchFamily="34" charset="0"/>
              </a:rPr>
              <a:t>300-Bed:</a:t>
            </a: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Ad-din Akij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Estd.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500-Bed: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Annual Delivery: 2844</a:t>
            </a: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>
            <a:off x="0" y="4495800"/>
            <a:ext cx="1447800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as-IN" altLang="en-US" sz="1200" b="1">
                <a:latin typeface="SutonnyMJ" pitchFamily="2" charset="0"/>
              </a:rPr>
              <a:t>আদ-দ্বীন ব্যারিস্টার রফিক-উল-হক হাসপাতাল</a:t>
            </a:r>
            <a:r>
              <a:rPr lang="en-US" altLang="en-US" sz="1200" b="1">
                <a:latin typeface="SutonnyMJ" pitchFamily="2" charset="0"/>
              </a:rPr>
              <a:t>, †cv¯Í‡Mvjv,  XvKv|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 b="1">
                <a:latin typeface="SutonnyMJ" pitchFamily="2" charset="0"/>
              </a:rPr>
              <a:t>¯’vwcZ : ‡gÕ 2017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 b="1">
                <a:latin typeface="SutonnyMJ" pitchFamily="2" charset="0"/>
              </a:rPr>
              <a:t>300 </a:t>
            </a:r>
            <a:r>
              <a:rPr lang="en-US" altLang="en-US" sz="1200">
                <a:latin typeface="SutonnyMJ" pitchFamily="2" charset="0"/>
              </a:rPr>
              <a:t>kh</a:t>
            </a:r>
            <a:r>
              <a:rPr lang="en-US" altLang="en-US" sz="1200">
                <a:latin typeface="IchamotiAMJ" pitchFamily="2" charset="0"/>
              </a:rPr>
              <a:t>¨</a:t>
            </a:r>
            <a:r>
              <a:rPr lang="en-US" altLang="en-US" sz="1200">
                <a:latin typeface="SutonnyMJ" pitchFamily="2" charset="0"/>
              </a:rPr>
              <a:t> wewkó,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609600"/>
            <a:ext cx="8077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Total Stuff of Ad-din Sakina Medical College Hospital</a:t>
            </a:r>
            <a:endParaRPr lang="en-US" sz="2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90600" y="2667000"/>
          <a:ext cx="7162800" cy="1981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87600"/>
                <a:gridCol w="2387600"/>
                <a:gridCol w="2387600"/>
              </a:tblGrid>
              <a:tr h="990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General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Child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Eye Care</a:t>
                      </a:r>
                    </a:p>
                  </a:txBody>
                  <a:tcPr horzOverflow="overflow"/>
                </a:tc>
              </a:tr>
              <a:tr h="990600"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685800" y="7620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60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Hospital Services</a:t>
            </a:r>
          </a:p>
        </p:txBody>
      </p:sp>
      <p:sp>
        <p:nvSpPr>
          <p:cNvPr id="47107" name="Rectangle 3" descr="Parchment"/>
          <p:cNvSpPr>
            <a:spLocks noChangeArrowheads="1"/>
          </p:cNvSpPr>
          <p:nvPr/>
        </p:nvSpPr>
        <p:spPr bwMode="auto">
          <a:xfrm>
            <a:off x="5334000" y="2286000"/>
            <a:ext cx="3352800" cy="6477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3200" dirty="0" smtClean="0">
                <a:solidFill>
                  <a:srgbClr val="006600"/>
                </a:solidFill>
              </a:rPr>
              <a:t>Indoor</a:t>
            </a:r>
            <a:endParaRPr lang="en-US" altLang="en-US" sz="3200" dirty="0">
              <a:solidFill>
                <a:srgbClr val="006600"/>
              </a:solidFill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5181600" y="3200400"/>
            <a:ext cx="3581400" cy="3200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342900" indent="-3429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endParaRPr lang="en-US" altLang="en-US" dirty="0" smtClean="0"/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Safe Delivery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 Medicine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Surgery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Orthopedic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err="1" smtClean="0">
                <a:solidFill>
                  <a:srgbClr val="FF0000"/>
                </a:solidFill>
              </a:rPr>
              <a:t>Gynae</a:t>
            </a:r>
            <a:r>
              <a:rPr lang="en-US" altLang="en-US" sz="2000" dirty="0" smtClean="0">
                <a:solidFill>
                  <a:srgbClr val="FF0000"/>
                </a:solidFill>
              </a:rPr>
              <a:t>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Pediatric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Post Operative Ward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Eclampsia Unit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Operation Theatre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47109" name="Rectangle 5" descr="Parchment"/>
          <p:cNvSpPr>
            <a:spLocks noChangeArrowheads="1"/>
          </p:cNvSpPr>
          <p:nvPr/>
        </p:nvSpPr>
        <p:spPr bwMode="auto">
          <a:xfrm>
            <a:off x="1143000" y="2362200"/>
            <a:ext cx="2936875" cy="6477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3200" dirty="0" smtClean="0">
                <a:solidFill>
                  <a:srgbClr val="006600"/>
                </a:solidFill>
              </a:rPr>
              <a:t>Outdoor</a:t>
            </a:r>
            <a:endParaRPr lang="en-US" altLang="en-US" sz="3200" dirty="0">
              <a:solidFill>
                <a:srgbClr val="006600"/>
              </a:solidFill>
            </a:endParaRP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457200" y="3276600"/>
            <a:ext cx="4156075" cy="3124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lvl1pPr marL="457200" indent="-4572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endParaRPr lang="en-US" sz="2000" dirty="0" smtClean="0">
              <a:solidFill>
                <a:srgbClr val="FF0000"/>
              </a:solidFill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endParaRPr lang="en-US" sz="2000" dirty="0" smtClean="0">
              <a:solidFill>
                <a:srgbClr val="FF0000"/>
              </a:solidFill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endParaRPr lang="en-US" sz="2000" dirty="0" smtClean="0">
              <a:solidFill>
                <a:srgbClr val="3333FF"/>
              </a:solidFill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endParaRPr lang="en-US" dirty="0" smtClean="0">
              <a:solidFill>
                <a:srgbClr val="FF0000"/>
              </a:solidFill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endParaRPr lang="en-US" dirty="0" smtClean="0">
              <a:solidFill>
                <a:srgbClr val="FF0000"/>
              </a:solidFill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Card Registration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ebdings" panose="05030102010509060703" pitchFamily="18" charset="2"/>
              <a:buChar char="4"/>
            </a:pPr>
            <a:r>
              <a:rPr lang="en-US" alt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Business Counter </a:t>
            </a:r>
            <a:endParaRPr lang="en-US" alt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Antenatal Care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Family Planning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Immunization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Growth Monitoring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Treatment of Specialist Doctors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r>
              <a:rPr lang="en-US" sz="2000" dirty="0" smtClean="0">
                <a:solidFill>
                  <a:srgbClr val="FF0000"/>
                </a:solidFill>
              </a:rPr>
              <a:t>Physiotherapy Center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US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endParaRPr lang="en-US" sz="3200" dirty="0" smtClean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Font typeface="Webdings" pitchFamily="18" charset="2"/>
              <a:buChar char="4"/>
            </a:pPr>
            <a:endParaRPr lang="en-US" sz="3200" dirty="0" smtClean="0">
              <a:solidFill>
                <a:srgbClr val="FF0000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2438400" y="29718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6934200" y="2895600"/>
            <a:ext cx="2286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614070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 descr="Parchment"/>
          <p:cNvSpPr>
            <a:spLocks noChangeArrowheads="1"/>
          </p:cNvSpPr>
          <p:nvPr/>
        </p:nvSpPr>
        <p:spPr bwMode="auto">
          <a:xfrm>
            <a:off x="762000" y="152400"/>
            <a:ext cx="7620000" cy="762000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440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Diagnostic Service</a:t>
            </a:r>
            <a:endParaRPr lang="en-US" altLang="en-US" sz="440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3333FF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1219200"/>
            <a:ext cx="6248400" cy="3429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n-US" sz="4000" dirty="0" smtClean="0">
                <a:solidFill>
                  <a:srgbClr val="FF0000"/>
                </a:solidFill>
              </a:rPr>
              <a:t>All Pathology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 smtClean="0">
                <a:solidFill>
                  <a:srgbClr val="FF0000"/>
                </a:solidFill>
              </a:rPr>
              <a:t> Digital X-Ray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 smtClean="0">
                <a:solidFill>
                  <a:srgbClr val="FF0000"/>
                </a:solidFill>
              </a:rPr>
              <a:t> Ultrasonography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 smtClean="0">
                <a:solidFill>
                  <a:srgbClr val="FF0000"/>
                </a:solidFill>
              </a:rPr>
              <a:t> ECG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 anchor="t">
            <a:no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Outdoor Department </a:t>
            </a:r>
            <a:r>
              <a:rPr lang="en-US" sz="32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0f Ad-din Sakina Medical College Hospital </a:t>
            </a:r>
          </a:p>
        </p:txBody>
      </p:sp>
      <p:graphicFrame>
        <p:nvGraphicFramePr>
          <p:cNvPr id="11" name="SmartArt Placeholder 10"/>
          <p:cNvGraphicFramePr>
            <a:graphicFrameLocks noGrp="1"/>
          </p:cNvGraphicFramePr>
          <p:nvPr>
            <p:ph type="dgm" idx="1"/>
          </p:nvPr>
        </p:nvGraphicFramePr>
        <p:xfrm>
          <a:off x="381000" y="1828800"/>
          <a:ext cx="8458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71127_1130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1414462"/>
            <a:ext cx="8153400" cy="4586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81000"/>
            <a:ext cx="8001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Ad-din Sakina Medical College Hospital Outdoor </a:t>
            </a:r>
            <a:endParaRPr lang="en-US" sz="32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 anchor="t">
            <a:normAutofit fontScale="90000"/>
          </a:bodyPr>
          <a:lstStyle/>
          <a:p>
            <a:pPr algn="ctr"/>
            <a:r>
              <a:rPr sz="53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Card Registration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0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81000" y="1676400"/>
            <a:ext cx="7857067" cy="4419600"/>
          </a:xfrm>
        </p:spPr>
      </p:pic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524000"/>
          </a:xfrm>
        </p:spPr>
        <p:txBody>
          <a:bodyPr>
            <a:normAutofit fontScale="90000"/>
          </a:bodyPr>
          <a:lstStyle/>
          <a:p>
            <a:pPr algn="ctr"/>
            <a:r>
              <a:rPr sz="67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Business Counter 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21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5957" y="1371600"/>
            <a:ext cx="7312085" cy="4724400"/>
          </a:xfrm>
        </p:spPr>
      </p:pic>
    </p:spTree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4478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Antenatal Care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1232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508000" y="1752600"/>
            <a:ext cx="7721600" cy="4343400"/>
          </a:xfrm>
        </p:spPr>
      </p:pic>
    </p:spTree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192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Family Planning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06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371600"/>
            <a:ext cx="8221132" cy="4624387"/>
          </a:xfrm>
        </p:spPr>
      </p:pic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z="60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Immunization</a:t>
            </a:r>
            <a:r>
              <a:rPr sz="4400" smtClean="0">
                <a:solidFill>
                  <a:srgbClr val="7030A0"/>
                </a:solidFill>
              </a:rPr>
              <a:t/>
            </a:r>
            <a:br>
              <a:rPr sz="4400"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6_10395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53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Growth Monitoring</a:t>
            </a:r>
            <a:r>
              <a:rPr smtClean="0">
                <a:solidFill>
                  <a:srgbClr val="7030A0"/>
                </a:solidFill>
              </a:rPr>
              <a:t/>
            </a:r>
            <a:br>
              <a:rPr smtClean="0"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6" name="SmartArt Placeholder 5" descr="20171126_13140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ull dir="l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Department Of </a:t>
            </a:r>
            <a:r>
              <a:rPr lang="en-US" dirty="0" smtClean="0">
                <a:solidFill>
                  <a:srgbClr val="C00000"/>
                </a:solidFill>
              </a:rPr>
              <a:t>Pediatric</a:t>
            </a:r>
            <a:endParaRPr lang="en-US" dirty="0"/>
          </a:p>
        </p:txBody>
      </p:sp>
      <p:pic>
        <p:nvPicPr>
          <p:cNvPr id="4" name="SmartArt Placeholder 3" descr="20171126_131921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1938337"/>
            <a:ext cx="7391400" cy="4157663"/>
          </a:xfrm>
        </p:spPr>
      </p:pic>
    </p:spTree>
    <p:extLst>
      <p:ext uri="{BB962C8B-B14F-4D97-AF65-F5344CB8AC3E}">
        <p14:creationId xmlns:p14="http://schemas.microsoft.com/office/powerpoint/2010/main" xmlns="" val="32680400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Department Of </a:t>
            </a:r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Dental</a:t>
            </a:r>
            <a:endParaRPr lang="en-US" sz="5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10541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  <p:extLst>
      <p:ext uri="{BB962C8B-B14F-4D97-AF65-F5344CB8AC3E}">
        <p14:creationId xmlns:p14="http://schemas.microsoft.com/office/powerpoint/2010/main" xmlns="" val="3770770585"/>
      </p:ext>
    </p:extLst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Department Of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Radiology &amp; Imaging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10334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840343" y="1981200"/>
            <a:ext cx="7463313" cy="4114800"/>
          </a:xfrm>
        </p:spPr>
      </p:pic>
    </p:spTree>
    <p:extLst>
      <p:ext uri="{BB962C8B-B14F-4D97-AF65-F5344CB8AC3E}">
        <p14:creationId xmlns:p14="http://schemas.microsoft.com/office/powerpoint/2010/main" xmlns="" val="4075710817"/>
      </p:ext>
    </p:extLst>
  </p:cSld>
  <p:clrMapOvr>
    <a:masterClrMapping/>
  </p:clrMapOvr>
  <p:transition spd="slow">
    <p:blinds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algn="ctr"/>
            <a:r>
              <a:rPr lang="en-US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Department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Of Pathology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IMG_6317.JPG"/>
          <p:cNvPicPr>
            <a:picLocks noGrp="1" noChangeAspect="1"/>
          </p:cNvPicPr>
          <p:nvPr>
            <p:ph type="dgm" idx="1"/>
          </p:nvPr>
        </p:nvPicPr>
        <p:blipFill>
          <a:blip r:embed="rId2"/>
          <a:stretch>
            <a:fillRect/>
          </a:stretch>
        </p:blipFill>
        <p:spPr>
          <a:xfrm>
            <a:off x="381000" y="1600200"/>
            <a:ext cx="8305800" cy="5105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601161199"/>
      </p:ext>
    </p:extLst>
  </p:cSld>
  <p:clrMapOvr>
    <a:masterClrMapping/>
  </p:clrMapOvr>
  <p:transition spd="slow">
    <p:blinds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295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In Door </a:t>
            </a:r>
            <a:br>
              <a:rPr lang="en-US" b="1" dirty="0" smtClean="0"/>
            </a:br>
            <a:r>
              <a:rPr lang="en-US" b="1" dirty="0" smtClean="0"/>
              <a:t>Admission Procedure </a:t>
            </a:r>
            <a:endParaRPr lang="en-US" b="1" dirty="0"/>
          </a:p>
        </p:txBody>
      </p:sp>
      <p:graphicFrame>
        <p:nvGraphicFramePr>
          <p:cNvPr id="7" name="SmartArt Placeholder 6"/>
          <p:cNvGraphicFramePr>
            <a:graphicFrameLocks noGrp="1"/>
          </p:cNvGraphicFramePr>
          <p:nvPr>
            <p:ph type="dgm" idx="1"/>
          </p:nvPr>
        </p:nvGraphicFramePr>
        <p:xfrm>
          <a:off x="609600" y="1905000"/>
          <a:ext cx="77724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1371600"/>
          </a:xfrm>
        </p:spPr>
        <p:txBody>
          <a:bodyPr>
            <a:normAutofit fontScale="90000"/>
          </a:bodyPr>
          <a:lstStyle/>
          <a:p>
            <a:pPr algn="ctr"/>
            <a:r>
              <a:rPr smtClean="0">
                <a:solidFill>
                  <a:srgbClr val="3333FF"/>
                </a:solidFill>
              </a:rPr>
              <a:t>Ad-din Sakina Medical College </a:t>
            </a:r>
            <a:r>
              <a:rPr b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3333FF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Hospital Indoor Service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4" name="SmartArt Placeholder 3" descr="IMG_633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828800"/>
            <a:ext cx="4343400" cy="289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 descr="IMG_63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048000"/>
            <a:ext cx="4114800" cy="3810000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Operation Theatre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SmartArt Placeholder 3" descr="20171126_09591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861689" y="2057400"/>
            <a:ext cx="7444111" cy="3974942"/>
          </a:xfr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Delivery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" name="SmartArt Placeholder 5" descr="20171127_114057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ull dir="u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Post Operative Ward</a:t>
            </a:r>
            <a:endParaRPr lang="en-US" dirty="0">
              <a:solidFill>
                <a:srgbClr val="3333FF"/>
              </a:solidFill>
            </a:endParaRPr>
          </a:p>
        </p:txBody>
      </p:sp>
      <p:pic>
        <p:nvPicPr>
          <p:cNvPr id="6" name="SmartArt Placeholder 5" descr="20171126_095349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Gyane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SmartArt Placeholder 7" descr="20171126_103048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Medicine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" name="SmartArt Placeholder 5" descr="IMG_6319.JPG"/>
          <p:cNvPicPr>
            <a:picLocks noGrp="1" noChangeAspect="1"/>
          </p:cNvPicPr>
          <p:nvPr>
            <p:ph type="dgm" idx="1"/>
          </p:nvPr>
        </p:nvPicPr>
        <p:blipFill>
          <a:blip r:embed="rId2"/>
          <a:stretch>
            <a:fillRect/>
          </a:stretch>
        </p:blipFill>
        <p:spPr>
          <a:xfrm>
            <a:off x="1066800" y="1981200"/>
            <a:ext cx="6591300" cy="4114800"/>
          </a:xfrm>
        </p:spPr>
      </p:pic>
    </p:spTree>
  </p:cSld>
  <p:clrMapOvr>
    <a:masterClrMapping/>
  </p:clrMapOvr>
  <p:transition spd="slow">
    <p:wheel spokes="8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Orthopedic Ward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" name="SmartArt Placeholder 5" descr="20171127_113443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 fontScale="90000"/>
          </a:bodyPr>
          <a:lstStyle/>
          <a:p>
            <a:pPr lvl="0"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Pediatrics Ward</a:t>
            </a:r>
            <a:r>
              <a:rPr lang="en-US" sz="5400" dirty="0" smtClean="0">
                <a:solidFill>
                  <a:srgbClr val="3333FF"/>
                </a:solidFill>
              </a:rPr>
              <a:t/>
            </a:r>
            <a:br>
              <a:rPr lang="en-US" sz="5400" dirty="0" smtClean="0">
                <a:solidFill>
                  <a:srgbClr val="3333FF"/>
                </a:solidFill>
              </a:rPr>
            </a:br>
            <a:endParaRPr lang="en-US" dirty="0"/>
          </a:p>
        </p:txBody>
      </p:sp>
      <p:pic>
        <p:nvPicPr>
          <p:cNvPr id="4" name="SmartArt Placeholder 3" descr="20171127_112854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plu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038600" y="1143000"/>
            <a:ext cx="44958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400" dirty="0">
                <a:solidFill>
                  <a:srgbClr val="3333FF"/>
                </a:solidFill>
              </a:rPr>
              <a:t>Eye Care Project</a:t>
            </a:r>
          </a:p>
        </p:txBody>
      </p:sp>
      <p:pic>
        <p:nvPicPr>
          <p:cNvPr id="41988" name="Picture 4" descr="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05092" y="2590800"/>
            <a:ext cx="496270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 descr="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2895600" cy="3505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Picture 7" descr="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" y="3893507"/>
            <a:ext cx="3390900" cy="292639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7437786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Eye Care Project(OPD)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66088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Eye Care Cataract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Yearly MCH Services</a:t>
            </a:r>
          </a:p>
        </p:txBody>
      </p:sp>
      <p:graphicFrame>
        <p:nvGraphicFramePr>
          <p:cNvPr id="514093" name="Group 4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4039471402"/>
              </p:ext>
            </p:extLst>
          </p:nvPr>
        </p:nvGraphicFramePr>
        <p:xfrm>
          <a:off x="152400" y="1219200"/>
          <a:ext cx="8610600" cy="4811574"/>
        </p:xfrm>
        <a:graphic>
          <a:graphicData uri="http://schemas.openxmlformats.org/drawingml/2006/table">
            <a:tbl>
              <a:tblPr/>
              <a:tblGrid>
                <a:gridCol w="990600"/>
                <a:gridCol w="3810000"/>
                <a:gridCol w="3810000"/>
              </a:tblGrid>
              <a:tr h="89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Sl.no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Name of activities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Antenatal care (ANC)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25325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1228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Family Planning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2400" dirty="0" smtClean="0">
                          <a:solidFill>
                            <a:srgbClr val="3333FF"/>
                          </a:solidFill>
                        </a:rPr>
                        <a:t>Expanded program on </a:t>
                      </a:r>
                      <a:r>
                        <a:rPr lang="en-US" altLang="en-US" sz="2800" dirty="0" smtClean="0">
                          <a:solidFill>
                            <a:srgbClr val="3333FF"/>
                          </a:solidFill>
                        </a:rPr>
                        <a:t>Immunization</a:t>
                      </a:r>
                      <a:endParaRPr 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9447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Postnatal Care (PNC)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2934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3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Delivery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4008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14705522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Subjects for Health Education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828800"/>
            <a:ext cx="71628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Antenatal care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Postnatal care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New born care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Child nutrition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Expanded program on Immunization (EPI)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Family planning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Personal hygiene &amp; sanitation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HIV/AIDS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ARI, Diarrhea, Malnutrition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solidFill>
                  <a:srgbClr val="0000CC"/>
                </a:solidFill>
              </a:rPr>
              <a:t>Fistula</a:t>
            </a:r>
          </a:p>
        </p:txBody>
      </p:sp>
    </p:spTree>
    <p:extLst>
      <p:ext uri="{BB962C8B-B14F-4D97-AF65-F5344CB8AC3E}">
        <p14:creationId xmlns:p14="http://schemas.microsoft.com/office/powerpoint/2010/main" xmlns="" val="16846019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6868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ANC 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Visit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70840">
                <a:tc gridSpan="5"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Total Patient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st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Visit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Follow-up Visit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lang="en-US" baseline="30000" dirty="0" smtClean="0">
                          <a:latin typeface="Times New Roman" pitchFamily="18" charset="0"/>
                          <a:cs typeface="Times New Roman" pitchFamily="18" charset="0"/>
                        </a:rPr>
                        <a:t>th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Visit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482917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2018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25329</a:t>
                      </a:r>
                    </a:p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7871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17207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2019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24117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7258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16565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2138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EPI Services Received by Clients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 smtClean="0">
                <a:ln w="17780" cmpd="sng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Comparison between NVD and CS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Other Service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 Ad-din Sakina Medical College Hospital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endParaRPr lang="en-US" sz="4000" b="1" dirty="0" smtClean="0">
              <a:ln/>
              <a:solidFill>
                <a:srgbClr val="7030A0"/>
              </a:solidFill>
            </a:endParaRPr>
          </a:p>
          <a:p>
            <a:r>
              <a:rPr lang="en-US" sz="4000" b="1" dirty="0" smtClean="0">
                <a:ln/>
                <a:solidFill>
                  <a:srgbClr val="7030A0"/>
                </a:solidFill>
              </a:rPr>
              <a:t>Utsho Departmental Store</a:t>
            </a:r>
          </a:p>
          <a:p>
            <a:r>
              <a:rPr lang="en-US" sz="4000" b="1" dirty="0" smtClean="0">
                <a:ln/>
                <a:solidFill>
                  <a:srgbClr val="7030A0"/>
                </a:solidFill>
              </a:rPr>
              <a:t>Mayerchoya Cafeteria</a:t>
            </a:r>
            <a:endParaRPr lang="en-US" sz="4000" b="1" dirty="0">
              <a:ln/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44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Utsho Departmental Store</a:t>
            </a:r>
            <a:r>
              <a:rPr sz="4400" b="1" smtClean="0">
                <a:ln/>
                <a:solidFill>
                  <a:schemeClr val="accent3"/>
                </a:solidFill>
              </a:rPr>
              <a:t/>
            </a:r>
            <a:br>
              <a:rPr sz="4400" b="1" smtClean="0">
                <a:ln/>
                <a:solidFill>
                  <a:schemeClr val="accent3"/>
                </a:solidFill>
              </a:rPr>
            </a:br>
            <a:endParaRPr lang="en-US" dirty="0"/>
          </a:p>
        </p:txBody>
      </p:sp>
      <p:pic>
        <p:nvPicPr>
          <p:cNvPr id="5" name="Content Placeholder 4" descr="20171126_13255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69391" y="1524001"/>
            <a:ext cx="7805217" cy="4800600"/>
          </a:xfrm>
        </p:spPr>
      </p:pic>
    </p:spTree>
  </p:cSld>
  <p:clrMapOvr>
    <a:masterClrMapping/>
  </p:clrMapOvr>
  <p:transition spd="slow">
    <p:comb dir="vert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US" sz="5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Mayerchoya Cafeteria</a:t>
            </a:r>
            <a:r>
              <a:rPr lang="en-US" sz="5400" b="1" dirty="0" smtClean="0">
                <a:ln/>
                <a:solidFill>
                  <a:srgbClr val="7030A0"/>
                </a:solidFill>
              </a:rPr>
              <a:t/>
            </a:r>
            <a:br>
              <a:rPr lang="en-US" sz="5400" b="1" dirty="0" smtClean="0">
                <a:ln/>
                <a:solidFill>
                  <a:srgbClr val="7030A0"/>
                </a:solidFill>
              </a:rPr>
            </a:br>
            <a:endParaRPr lang="en-US" dirty="0"/>
          </a:p>
        </p:txBody>
      </p:sp>
      <p:pic>
        <p:nvPicPr>
          <p:cNvPr id="4" name="Content Placeholder 3" descr="20171126_09565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406922" cy="4166393"/>
          </a:xfr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Facilities Of Ad-din Sakina Medical College Hospital </a:t>
            </a:r>
            <a:endParaRPr lang="en-US" sz="40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* </a:t>
            </a: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Specialists serve OPD directly.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Trained </a:t>
            </a:r>
            <a:r>
              <a:rPr lang="en-US" sz="6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obs</a:t>
            </a: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6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Gynae</a:t>
            </a: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doctor available 24 hours.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12 hour OPD Services from 8:00 am to 8:00 pm.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</a:rPr>
              <a:t>* </a:t>
            </a: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OPD remains open 365 days.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Affordable cost.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Provides department wise patient card.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10% General bed free.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Complimentary food for all patients.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Ensures Safety net for poor patients.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Free Ambulance service from 8:00 pm to 8:00 am for all types of Obs patients.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Free service for obstetric fistula repair.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Highest Immunization coverage.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Woman &amp; baby Friendly environment.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Remarkably clean.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Quality  assesses by: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Review Patients complaints through exit interview.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        Discussion with patient/client over phone after discharge.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24 Hours emergency &amp; Ambulance service for all patients.</a:t>
            </a:r>
          </a:p>
          <a:p>
            <a:pPr>
              <a:buNone/>
            </a:pPr>
            <a:r>
              <a:rPr lang="en-US" sz="6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Our Diagnostic center &amp; Pharmacy open 24 hours. </a:t>
            </a:r>
          </a:p>
          <a:p>
            <a:pPr>
              <a:buNone/>
            </a:pPr>
            <a:endParaRPr lang="en-US" dirty="0" smtClean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 smtClean="0">
              <a:solidFill>
                <a:srgbClr val="FF33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</a:pPr>
            <a:endParaRPr lang="en-US" dirty="0" smtClean="0">
              <a:solidFill>
                <a:srgbClr val="FF33CC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Emergency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320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803444" cy="4389437"/>
          </a:xfrm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24</a:t>
            </a:r>
            <a:r>
              <a:rPr sz="49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Hour Ambulance Service</a:t>
            </a:r>
            <a:r>
              <a:rPr sz="4400" smtClean="0">
                <a:solidFill>
                  <a:srgbClr val="FF0000"/>
                </a:solidFill>
              </a:rPr>
              <a:t/>
            </a:r>
            <a:br>
              <a:rPr sz="4400" smtClean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SmartArt Placeholder 4" descr="20171126_160855.jpg"/>
          <p:cNvPicPr>
            <a:picLocks noGrp="1" noChangeAspect="1"/>
          </p:cNvPicPr>
          <p:nvPr>
            <p:ph type="dgm"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981200"/>
            <a:ext cx="7315200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Diagnostic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234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803444" cy="4389437"/>
          </a:xfrm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24 Hours Pharmacy</a:t>
            </a:r>
            <a:endParaRPr lang="en-US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ontent Placeholder 3" descr="20171126_1002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70278" y="1935163"/>
            <a:ext cx="7803444" cy="4389437"/>
          </a:xfrm>
        </p:spPr>
      </p:pic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An introduction to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z="6000" smtClean="0"/>
              <a:t>Ad-din Welfare Center</a:t>
            </a:r>
            <a:endParaRPr lang="en-US" altLang="en-US" smtClean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9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9477" y="474785"/>
            <a:ext cx="4642338" cy="70788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32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00CC"/>
                </a:solidFill>
                <a:cs typeface="Times New Roman" pitchFamily="18" charset="0"/>
              </a:rPr>
              <a:t>Executive Committee</a:t>
            </a:r>
            <a:r>
              <a:rPr lang="en-US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0000CC"/>
                </a:solidFill>
                <a:latin typeface="SutonnyMJ" pitchFamily="2" charset="0"/>
                <a:cs typeface="SutonnyMJ" pitchFamily="2" charset="0"/>
              </a:rPr>
              <a:t> </a:t>
            </a:r>
          </a:p>
        </p:txBody>
      </p:sp>
      <p:pic>
        <p:nvPicPr>
          <p:cNvPr id="10243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t="6943" b="7158"/>
          <a:stretch>
            <a:fillRect/>
          </a:stretch>
        </p:blipFill>
        <p:spPr bwMode="auto">
          <a:xfrm>
            <a:off x="401638" y="990600"/>
            <a:ext cx="8340725" cy="506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4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"/>
          <p:cNvSpPr txBox="1">
            <a:spLocks noChangeAspect="1" noChangeArrowheads="1"/>
          </p:cNvSpPr>
          <p:nvPr/>
        </p:nvSpPr>
        <p:spPr bwMode="auto">
          <a:xfrm>
            <a:off x="5334000" y="328613"/>
            <a:ext cx="2414588" cy="433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215" dirty="0">
                <a:solidFill>
                  <a:srgbClr val="003300"/>
                </a:solidFill>
                <a:cs typeface="Arial" panose="020B0604020202020204" pitchFamily="34" charset="0"/>
              </a:rPr>
              <a:t>Map of Bangladesh</a:t>
            </a: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379413" y="1881188"/>
            <a:ext cx="2701925" cy="22018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arlett" pitchFamily="2" charset="2"/>
              <a:buNone/>
              <a:defRPr/>
            </a:pPr>
            <a:r>
              <a:rPr lang="en-US" altLang="en-US" sz="2215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Working Area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arlett" pitchFamily="2" charset="2"/>
              <a:buNone/>
              <a:defRPr/>
            </a:pPr>
            <a:r>
              <a:rPr lang="en-US" altLang="en-US" sz="2215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Branch Office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arlett" pitchFamily="2" charset="2"/>
              <a:buNone/>
              <a:defRPr/>
            </a:pPr>
            <a:r>
              <a:rPr lang="en-US" altLang="en-US" sz="2215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Corporate Office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Marlett" pitchFamily="2" charset="2"/>
              <a:buNone/>
              <a:defRPr/>
            </a:pPr>
            <a:r>
              <a:rPr lang="en-US" altLang="en-US" sz="2215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Head Office</a:t>
            </a:r>
          </a:p>
        </p:txBody>
      </p:sp>
      <p:pic>
        <p:nvPicPr>
          <p:cNvPr id="15364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4063" y="762000"/>
            <a:ext cx="3894137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3413125" y="2003425"/>
            <a:ext cx="561975" cy="350838"/>
          </a:xfrm>
          <a:prstGeom prst="rect">
            <a:avLst/>
          </a:prstGeom>
          <a:solidFill>
            <a:srgbClr val="BCBEC0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215">
              <a:solidFill>
                <a:srgbClr val="003300"/>
              </a:solidFill>
              <a:cs typeface="Arial" panose="020B0604020202020204" pitchFamily="34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3516313" y="2584450"/>
            <a:ext cx="352425" cy="352425"/>
          </a:xfrm>
          <a:prstGeom prst="ellipse">
            <a:avLst/>
          </a:prstGeom>
          <a:solidFill>
            <a:schemeClr val="accent3"/>
          </a:solidFill>
          <a:ln w="9525" cap="flat" cmpd="sng" algn="ctr">
            <a:solidFill>
              <a:srgbClr val="D6009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cs typeface="Arial" panose="020B0604020202020204" pitchFamily="34" charset="0"/>
            </a:endParaRPr>
          </a:p>
        </p:txBody>
      </p:sp>
      <p:sp>
        <p:nvSpPr>
          <p:cNvPr id="12295" name="Isosceles Triangle 8"/>
          <p:cNvSpPr>
            <a:spLocks noChangeArrowheads="1"/>
          </p:cNvSpPr>
          <p:nvPr/>
        </p:nvSpPr>
        <p:spPr bwMode="auto">
          <a:xfrm>
            <a:off x="3511550" y="3709988"/>
            <a:ext cx="406400" cy="352425"/>
          </a:xfrm>
          <a:prstGeom prst="triangle">
            <a:avLst>
              <a:gd name="adj" fmla="val 50000"/>
            </a:avLst>
          </a:prstGeom>
          <a:solidFill>
            <a:srgbClr val="D6009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215">
              <a:solidFill>
                <a:srgbClr val="003300"/>
              </a:solidFill>
              <a:cs typeface="Arial" panose="020B0604020202020204" pitchFamily="34" charset="0"/>
            </a:endParaRP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3508375" y="3148013"/>
            <a:ext cx="422275" cy="422275"/>
          </a:xfrm>
          <a:prstGeom prst="ellipse">
            <a:avLst/>
          </a:prstGeom>
          <a:solidFill>
            <a:srgbClr val="D60093"/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215">
              <a:solidFill>
                <a:srgbClr val="003300"/>
              </a:solidFill>
              <a:cs typeface="Arial" panose="020B0604020202020204" pitchFamily="34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71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838200" y="214313"/>
            <a:ext cx="7620000" cy="779462"/>
          </a:xfrm>
        </p:spPr>
        <p:txBody>
          <a:bodyPr/>
          <a:lstStyle/>
          <a:p>
            <a:pPr eaLnBrk="1" hangingPunct="1"/>
            <a:r>
              <a:rPr lang="en-US" altLang="en-US" sz="3600" b="1" smtClean="0">
                <a:solidFill>
                  <a:srgbClr val="FF0000"/>
                </a:solidFill>
              </a:rPr>
              <a:t>Running  Program / Project</a:t>
            </a:r>
            <a:endParaRPr lang="en-US" altLang="en-US" sz="3600" smtClean="0"/>
          </a:p>
        </p:txBody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685800" y="1295400"/>
            <a:ext cx="8001000" cy="42672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Integrated Health and Microcredit Program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Clinical Health Program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Emphasis Project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Eye Care Project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WATCH Project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Fistula Care Project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Programmed Initiatives for Monga Eradication (PRIME)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Enrich Program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Ujjibito Project</a:t>
            </a:r>
            <a:r>
              <a:rPr lang="en-US" altLang="en-US" sz="2800" smtClean="0"/>
              <a:t> 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000" smtClean="0"/>
              <a:t>Education Program: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 smtClean="0"/>
              <a:t>     a. Medical College b. Nursing school c. Institute of Medical Technology  d. Akij Collegiate School e. Sakina Girls school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000" smtClean="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000" smtClean="0"/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000" smtClean="0"/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z="2000" smtClean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39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Legal Status: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pPr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Non </a:t>
            </a:r>
            <a:r>
              <a:rPr lang="en-US" altLang="en-US" dirty="0" smtClean="0"/>
              <a:t>profit private Voluntary Organization</a:t>
            </a:r>
          </a:p>
          <a:p>
            <a:pPr eaLnBrk="1" hangingPunct="1"/>
            <a:r>
              <a:rPr lang="en-US" altLang="en-US" dirty="0" smtClean="0"/>
              <a:t>Established in 1980</a:t>
            </a:r>
          </a:p>
          <a:p>
            <a:pPr eaLnBrk="1" hangingPunct="1"/>
            <a:r>
              <a:rPr lang="en-US" altLang="en-US" dirty="0" smtClean="0"/>
              <a:t>Registered with</a:t>
            </a:r>
          </a:p>
          <a:p>
            <a:pPr lvl="1" eaLnBrk="1" hangingPunct="1"/>
            <a:r>
              <a:rPr lang="en-US" altLang="en-US" dirty="0" smtClean="0"/>
              <a:t>NGO Bureau</a:t>
            </a:r>
          </a:p>
          <a:p>
            <a:pPr lvl="1" eaLnBrk="1" hangingPunct="1"/>
            <a:r>
              <a:rPr lang="en-US" altLang="en-US" dirty="0" smtClean="0"/>
              <a:t>Social Welfare</a:t>
            </a:r>
          </a:p>
          <a:p>
            <a:pPr lvl="1" eaLnBrk="1" hangingPunct="1"/>
            <a:r>
              <a:rPr lang="en-US" altLang="en-US" dirty="0" smtClean="0"/>
              <a:t>DGHS/DGFP</a:t>
            </a:r>
          </a:p>
          <a:p>
            <a:pPr lvl="1" eaLnBrk="1" hangingPunct="1"/>
            <a:r>
              <a:rPr lang="en-US" altLang="en-US" dirty="0" smtClean="0"/>
              <a:t>Environmental department</a:t>
            </a:r>
          </a:p>
          <a:p>
            <a:pPr lvl="1" eaLnBrk="1" hangingPunct="1"/>
            <a:r>
              <a:rPr lang="en-US" altLang="en-US" dirty="0" smtClean="0"/>
              <a:t>Micro-credit Regulatory Authority</a:t>
            </a:r>
          </a:p>
          <a:p>
            <a:pPr lvl="1" eaLnBrk="1" hangingPunct="1"/>
            <a:endParaRPr lang="en-US" altLang="en-US" dirty="0" smtClean="0"/>
          </a:p>
          <a:p>
            <a:pPr lvl="1" eaLnBrk="1" hangingPunct="1">
              <a:buFont typeface="Arial" charset="0"/>
              <a:buNone/>
            </a:pPr>
            <a:endParaRPr lang="en-US" altLang="en-US" dirty="0" smtClean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22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1" y="1371600"/>
            <a:ext cx="3937780" cy="132343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7030A0"/>
                </a:solidFill>
                <a:latin typeface="+mj-lt"/>
                <a:cs typeface="Times New Roman" pitchFamily="18" charset="0"/>
              </a:rPr>
              <a:t>Basic Information Of MFP</a:t>
            </a:r>
            <a:r>
              <a:rPr lang="en-US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7030A0"/>
                </a:solidFill>
                <a:latin typeface="+mj-lt"/>
                <a:cs typeface="SutonnyMJ" pitchFamily="2" charset="0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4191000"/>
          <a:ext cx="8763000" cy="15589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2940"/>
                <a:gridCol w="2137804"/>
                <a:gridCol w="2318102"/>
                <a:gridCol w="2524154"/>
              </a:tblGrid>
              <a:tr h="8594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Member</a:t>
                      </a: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Borrower</a:t>
                      </a: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Member`s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Savings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Lon Outstanding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in the field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</a:tr>
              <a:tr h="6995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297771</a:t>
                      </a: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217666</a:t>
                      </a: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155.10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r>
                        <a:rPr lang="en-US" sz="2800" baseline="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310 </a:t>
                      </a:r>
                      <a:r>
                        <a:rPr lang="en-US" sz="280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T="45718" marB="45718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304800"/>
          <a:ext cx="4114800" cy="36882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2095"/>
                <a:gridCol w="1572705"/>
              </a:tblGrid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+mj-lt"/>
                          <a:cs typeface="SugondhaMJ" pitchFamily="2" charset="0"/>
                        </a:rPr>
                        <a:t>District</a:t>
                      </a:r>
                      <a:endParaRPr lang="en-US" sz="2800" dirty="0">
                        <a:solidFill>
                          <a:schemeClr val="tx1"/>
                        </a:solidFill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+mj-lt"/>
                          <a:cs typeface="SugondhaMJ" pitchFamily="2" charset="0"/>
                        </a:rPr>
                        <a:t>Upazilla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Union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643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Village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3815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+mj-lt"/>
                          <a:cs typeface="SugondhaMJ" pitchFamily="2" charset="0"/>
                        </a:rPr>
                        <a:t>Zonal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Regional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Branch Office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</a:p>
                  </a:txBody>
                  <a:tcPr marL="91447" marR="91447" marT="45725" marB="45725" anchor="ctr"/>
                </a:tc>
              </a:tr>
            </a:tbl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45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914400" y="76200"/>
            <a:ext cx="7245350" cy="838200"/>
          </a:xfrm>
        </p:spPr>
        <p:txBody>
          <a:bodyPr/>
          <a:lstStyle/>
          <a:p>
            <a:pPr eaLnBrk="1" hangingPunct="1"/>
            <a:r>
              <a:rPr lang="en-US" altLang="en-US" sz="2800" b="1" smtClean="0">
                <a:solidFill>
                  <a:srgbClr val="0033CC"/>
                </a:solidFill>
              </a:rPr>
              <a:t>Staff Position Of Microfinance Program </a:t>
            </a:r>
          </a:p>
        </p:txBody>
      </p:sp>
      <p:graphicFrame>
        <p:nvGraphicFramePr>
          <p:cNvPr id="413791" name="Group 95"/>
          <p:cNvGraphicFramePr>
            <a:graphicFrameLocks noGrp="1"/>
          </p:cNvGraphicFramePr>
          <p:nvPr>
            <p:ph type="tbl" idx="1"/>
          </p:nvPr>
        </p:nvGraphicFramePr>
        <p:xfrm>
          <a:off x="504825" y="914400"/>
          <a:ext cx="8181976" cy="4768850"/>
        </p:xfrm>
        <a:graphic>
          <a:graphicData uri="http://schemas.openxmlformats.org/drawingml/2006/table">
            <a:tbl>
              <a:tblPr/>
              <a:tblGrid>
                <a:gridCol w="3165837"/>
                <a:gridCol w="1770397"/>
                <a:gridCol w="1622871"/>
                <a:gridCol w="1622871"/>
              </a:tblGrid>
              <a:tr h="596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Particulars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Male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Female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5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Field Worker / FHV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1051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1051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Supervisor / ABM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132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134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8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Branch Accountant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145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145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8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Branch Manager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144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145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8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Regional Manager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Others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177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256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</a:rPr>
                        <a:t>433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5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</a:p>
                  </a:txBody>
                  <a:tcPr marL="91432" marR="91432"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481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1455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Times New Roman" pitchFamily="18" charset="0"/>
                        </a:rPr>
                        <a:t>1936</a:t>
                      </a:r>
                    </a:p>
                  </a:txBody>
                  <a:tcPr marL="91432" marR="91432"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04800" y="6365875"/>
            <a:ext cx="6858000" cy="4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1" name="Picture 6" descr="C:\Users\Akij College\Desktop\Ad-din Logo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88263" y="6019800"/>
            <a:ext cx="998537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>
          <a:xfrm>
            <a:off x="304800" y="366713"/>
            <a:ext cx="8534400" cy="1157287"/>
          </a:xfrm>
        </p:spPr>
        <p:txBody>
          <a:bodyPr/>
          <a:lstStyle/>
          <a:p>
            <a:r>
              <a:rPr lang="en-US" altLang="en-US" b="1" smtClean="0">
                <a:solidFill>
                  <a:srgbClr val="00B050"/>
                </a:solidFill>
              </a:rPr>
              <a:t>Staff Analysis</a:t>
            </a:r>
          </a:p>
        </p:txBody>
      </p:sp>
      <p:graphicFrame>
        <p:nvGraphicFramePr>
          <p:cNvPr id="3074" name="Table Placeholder 6"/>
          <p:cNvGraphicFramePr>
            <a:graphicFrameLocks noGrp="1"/>
          </p:cNvGraphicFramePr>
          <p:nvPr>
            <p:ph type="tbl" idx="1"/>
          </p:nvPr>
        </p:nvGraphicFramePr>
        <p:xfrm>
          <a:off x="609600" y="1524000"/>
          <a:ext cx="8077200" cy="3343275"/>
        </p:xfrm>
        <a:graphic>
          <a:graphicData uri="http://schemas.openxmlformats.org/presentationml/2006/ole">
            <p:oleObj spid="_x0000_s19458" r:id="rId3" imgW="8077900" imgH="3279932" progId="Excel.Chart.8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752600" y="457200"/>
            <a:ext cx="5627688" cy="838200"/>
          </a:xfrm>
        </p:spPr>
        <p:txBody>
          <a:bodyPr/>
          <a:lstStyle/>
          <a:p>
            <a:r>
              <a:rPr lang="en-US" altLang="en-US" sz="3600" b="1" smtClean="0">
                <a:solidFill>
                  <a:srgbClr val="0000CC"/>
                </a:solidFill>
                <a:cs typeface="SutonnyMJ" pitchFamily="2" charset="0"/>
              </a:rPr>
              <a:t>A Credit Group Meeting</a:t>
            </a:r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7663" y="1524000"/>
            <a:ext cx="6049962" cy="43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51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0" y="457200"/>
            <a:ext cx="6892925" cy="76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Agriculture, Fisheries &amp; Livestock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2275" y="2209800"/>
          <a:ext cx="3165475" cy="347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475"/>
              </a:tblGrid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401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New Technology Demonstration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Vaccination  &amp;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Deworming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640154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New Technology</a:t>
                      </a:r>
                      <a:r>
                        <a:rPr lang="en-US" sz="1800" baseline="0" dirty="0">
                          <a:latin typeface="+mj-lt"/>
                        </a:rPr>
                        <a:t> Dissemination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Agricultural Logistic</a:t>
                      </a:r>
                      <a:r>
                        <a:rPr lang="en-US" sz="1800" baseline="0" dirty="0">
                          <a:latin typeface="+mj-lt"/>
                        </a:rPr>
                        <a:t> Support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Free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Seed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3413" y="1676400"/>
            <a:ext cx="2462212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b="1" dirty="0"/>
              <a:t>Major Activities</a:t>
            </a:r>
          </a:p>
        </p:txBody>
      </p:sp>
      <p:pic>
        <p:nvPicPr>
          <p:cNvPr id="2255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2525" y="1828800"/>
            <a:ext cx="5310188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5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solidFill>
                  <a:srgbClr val="FF0066"/>
                </a:solidFill>
              </a:rPr>
              <a:t>Learning &amp; Innovation Fund to Test New Ideas (LIFT)</a:t>
            </a:r>
            <a:endParaRPr lang="en-US" altLang="en-US" sz="2800" smtClean="0">
              <a:solidFill>
                <a:srgbClr val="0066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2125" y="1828800"/>
          <a:ext cx="3769702" cy="146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9702"/>
              </a:tblGrid>
              <a:tr h="36578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Black Bengal Breeding Farm</a:t>
                      </a:r>
                    </a:p>
                  </a:txBody>
                  <a:tcPr marL="84379" marR="84379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Pituitary Gland Possessing Centre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Eel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Kuchia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Culture  &amp; Fattening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/>
                </a:tc>
              </a:tr>
              <a:tr h="3657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Water Plant in Coastal Area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567" name="TextBox 5"/>
          <p:cNvSpPr txBox="1">
            <a:spLocks noChangeArrowheads="1"/>
          </p:cNvSpPr>
          <p:nvPr/>
        </p:nvSpPr>
        <p:spPr bwMode="auto">
          <a:xfrm>
            <a:off x="703263" y="1371600"/>
            <a:ext cx="2532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/>
              <a:t>Major Component</a:t>
            </a:r>
          </a:p>
        </p:txBody>
      </p:sp>
      <p:pic>
        <p:nvPicPr>
          <p:cNvPr id="23568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250" y="3482975"/>
            <a:ext cx="3587750" cy="240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9" name="Picture 9"/>
          <p:cNvPicPr>
            <a:picLocks noChangeAspect="1"/>
          </p:cNvPicPr>
          <p:nvPr/>
        </p:nvPicPr>
        <p:blipFill>
          <a:blip r:embed="rId3" cstate="print"/>
          <a:srcRect t="16667" r="4688" b="8333"/>
          <a:stretch>
            <a:fillRect/>
          </a:stretch>
        </p:blipFill>
        <p:spPr bwMode="auto">
          <a:xfrm>
            <a:off x="4556125" y="1573213"/>
            <a:ext cx="4095750" cy="261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572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671763" y="169863"/>
            <a:ext cx="3798887" cy="685800"/>
          </a:xfrm>
        </p:spPr>
        <p:txBody>
          <a:bodyPr/>
          <a:lstStyle/>
          <a:p>
            <a:r>
              <a:rPr lang="en-US" altLang="en-US" sz="3200" b="1" smtClean="0">
                <a:solidFill>
                  <a:srgbClr val="0000CC"/>
                </a:solidFill>
                <a:cs typeface="RinkiyMJ" pitchFamily="2" charset="0"/>
              </a:rPr>
              <a:t>Enrich Program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98888" y="1676400"/>
            <a:ext cx="5064125" cy="41148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2275" y="1295400"/>
          <a:ext cx="3235325" cy="504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j-lt"/>
                        </a:rPr>
                        <a:t>  House hold Visit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392" marR="84392" marT="45733" marB="4573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Satellite clinic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Health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Eye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Water &amp; Sanitation</a:t>
                      </a:r>
                    </a:p>
                  </a:txBody>
                  <a:tcPr marL="84392" marR="84392" marT="45733" marB="45733" anchor="ctr"/>
                </a:tc>
              </a:tr>
              <a:tr h="640143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Awareness Development</a:t>
                      </a:r>
                      <a:r>
                        <a:rPr lang="en-US" sz="1800" baseline="0" dirty="0">
                          <a:latin typeface="+mj-lt"/>
                        </a:rPr>
                        <a:t> Training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Beggar</a:t>
                      </a:r>
                      <a:r>
                        <a:rPr lang="en-US" sz="1800" baseline="0" dirty="0">
                          <a:latin typeface="+mj-lt"/>
                        </a:rPr>
                        <a:t> rehabilitation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Youth Development</a:t>
                      </a:r>
                      <a:r>
                        <a:rPr lang="en-US" sz="1800" baseline="0" dirty="0">
                          <a:latin typeface="+mj-lt"/>
                        </a:rPr>
                        <a:t>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Free</a:t>
                      </a:r>
                      <a:r>
                        <a:rPr lang="en-US" sz="1800" baseline="0" dirty="0">
                          <a:latin typeface="+mj-lt"/>
                        </a:rPr>
                        <a:t> Medicine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Education support Program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8085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Nutrition </a:t>
                      </a:r>
                    </a:p>
                  </a:txBody>
                  <a:tcPr marL="84392" marR="84392" marT="45733" marB="45733" anchor="ctr"/>
                </a:tc>
              </a:tr>
            </a:tbl>
          </a:graphicData>
        </a:graphic>
      </p:graphicFrame>
      <p:sp>
        <p:nvSpPr>
          <p:cNvPr id="24610" name="TextBox 4"/>
          <p:cNvSpPr txBox="1">
            <a:spLocks noChangeArrowheads="1"/>
          </p:cNvSpPr>
          <p:nvPr/>
        </p:nvSpPr>
        <p:spPr bwMode="auto">
          <a:xfrm>
            <a:off x="457200" y="838200"/>
            <a:ext cx="2813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/>
              <a:t>Major Activities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613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3733800" y="876300"/>
            <a:ext cx="46482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0050" indent="-400050" algn="ctr" eaLnBrk="1" hangingPunct="1">
              <a:lnSpc>
                <a:spcPct val="120000"/>
              </a:lnSpc>
              <a:spcBef>
                <a:spcPct val="50000"/>
              </a:spcBef>
              <a:buFont typeface="Candid" pitchFamily="18" charset="2"/>
              <a:buNone/>
            </a:pPr>
            <a:r>
              <a:rPr lang="en-US" altLang="en-US" sz="2400"/>
              <a:t>Working Area: 14 Districts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2275" y="1752600"/>
          <a:ext cx="3165475" cy="439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48"/>
                <a:gridCol w="844127"/>
              </a:tblGrid>
              <a:tr h="701098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650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held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</a:tr>
              <a:tr h="4310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ANC 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84405" marR="84405" marT="45725" marB="45725" anchor="ctr"/>
                </a:tc>
              </a:tr>
              <a:tr h="5061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PNC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+mj-lt"/>
                        </a:rPr>
                        <a:t>3300</a:t>
                      </a:r>
                    </a:p>
                  </a:txBody>
                  <a:tcPr marL="84405" marR="84405" marT="45725" marB="45725" anchor="ctr"/>
                </a:tc>
              </a:tr>
              <a:tr h="4483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Test </a:t>
                      </a: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26000</a:t>
                      </a:r>
                    </a:p>
                  </a:txBody>
                  <a:tcPr marL="84405" marR="84405" marT="45725" marB="45725" anchor="ctr"/>
                </a:tc>
              </a:tr>
              <a:tr h="52653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General Patient</a:t>
                      </a:r>
                      <a:r>
                        <a:rPr lang="en-US" sz="2000" baseline="0" dirty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19500</a:t>
                      </a:r>
                    </a:p>
                  </a:txBody>
                  <a:tcPr marL="84405" marR="84405" marT="45725" marB="45725" anchor="ctr"/>
                </a:tc>
              </a:tr>
              <a:tr h="701098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>
                          <a:latin typeface="+mj-lt"/>
                        </a:rPr>
                        <a:t>Average Growth Monitoring  (0-3 Yrs)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12300</a:t>
                      </a:r>
                    </a:p>
                  </a:txBody>
                  <a:tcPr marL="84405" marR="84405" marT="45725" marB="45725" anchor="ctr"/>
                </a:tc>
              </a:tr>
              <a:tr h="6480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Refer</a:t>
                      </a:r>
                      <a:r>
                        <a:rPr lang="en-US" sz="2000" baseline="0" dirty="0">
                          <a:latin typeface="+mj-lt"/>
                        </a:rPr>
                        <a:t> to Hospital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2500</a:t>
                      </a:r>
                    </a:p>
                  </a:txBody>
                  <a:tcPr marL="84405" marR="84405" marT="45725" marB="457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422275" y="1066800"/>
            <a:ext cx="3165475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chemeClr val="bg1"/>
                </a:solidFill>
              </a:rPr>
              <a:t>Monthly Performance</a:t>
            </a:r>
          </a:p>
        </p:txBody>
      </p:sp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676400"/>
            <a:ext cx="53324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692525" y="5791200"/>
            <a:ext cx="3241675" cy="3603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kern="0" dirty="0">
                <a:solidFill>
                  <a:schemeClr val="accent6">
                    <a:lumMod val="50000"/>
                  </a:schemeClr>
                </a:solidFill>
                <a:cs typeface="SutonnyMJ" pitchFamily="2" charset="0"/>
              </a:rPr>
              <a:t>Picture of</a:t>
            </a:r>
            <a:r>
              <a:rPr lang="en-US" kern="0" dirty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SutonnyMJ" pitchFamily="2" charset="0"/>
              </a:rPr>
              <a:t> Satellite Clinic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63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476375" y="609600"/>
            <a:ext cx="6330950" cy="7620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00CC"/>
                </a:solidFill>
                <a:cs typeface="RinkiyMJ" pitchFamily="2" charset="0"/>
              </a:rPr>
              <a:t>Food Assistance for Poor Disabled People</a:t>
            </a:r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 l="2695"/>
          <a:stretch>
            <a:fillRect/>
          </a:stretch>
        </p:blipFill>
        <p:spPr>
          <a:xfrm>
            <a:off x="3516313" y="1981200"/>
            <a:ext cx="5346700" cy="36576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1288" y="1981200"/>
          <a:ext cx="3165475" cy="2693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285"/>
                <a:gridCol w="1266190"/>
              </a:tblGrid>
              <a:tr h="699207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Food Receiver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350</a:t>
                      </a:r>
                    </a:p>
                  </a:txBody>
                  <a:tcPr marL="84405" marR="84405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0593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Total Budget per person per month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tk. 1200</a:t>
                      </a:r>
                    </a:p>
                  </a:txBody>
                  <a:tcPr marL="84405" marR="84405" marT="45742" marB="45742" anchor="ctr"/>
                </a:tc>
              </a:tr>
              <a:tr h="5924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 Budget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63,70,000</a:t>
                      </a:r>
                    </a:p>
                  </a:txBody>
                  <a:tcPr marL="84405" marR="84405" marT="45742" marB="45742" anchor="ctr"/>
                </a:tc>
              </a:tr>
              <a:tr h="396379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64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173913" cy="6858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70C0"/>
                </a:solidFill>
                <a:cs typeface="SutonnyMJ" pitchFamily="2" charset="0"/>
              </a:rPr>
              <a:t>Scholarship Program for Poor &amp; Merit Student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/>
          <a:srcRect l="10883"/>
          <a:stretch>
            <a:fillRect/>
          </a:stretch>
        </p:blipFill>
        <p:spPr bwMode="auto">
          <a:xfrm>
            <a:off x="3165475" y="1828800"/>
            <a:ext cx="5759450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492125" y="1828800"/>
            <a:ext cx="2392363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000"/>
              <a:t>376 poor students in our Microfinance  Beneficiary`s Family are got  GPA 5 in SSC Exam 2018 and every body received tk. 10,000-12,000/-  under Scholarship Progam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6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 descr="DSC096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" y="1162050"/>
            <a:ext cx="4008438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8" descr="DSC092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3138" y="1162050"/>
            <a:ext cx="4008437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284288" y="304800"/>
            <a:ext cx="67167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 sz="2800" b="1">
                <a:solidFill>
                  <a:srgbClr val="00B050"/>
                </a:solidFill>
              </a:rPr>
              <a:t>Relief &amp; Rehabilitation Program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679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247900" y="533400"/>
            <a:ext cx="4783138" cy="60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00"/>
                </a:solidFill>
              </a:rPr>
              <a:t>Housing Assistance </a:t>
            </a:r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2"/>
          <a:srcRect l="2287" r="9004"/>
          <a:stretch>
            <a:fillRect/>
          </a:stretch>
        </p:blipFill>
        <p:spPr bwMode="auto">
          <a:xfrm>
            <a:off x="352425" y="1524000"/>
            <a:ext cx="38671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/>
          <a:srcRect l="3899" r="2551"/>
          <a:stretch>
            <a:fillRect/>
          </a:stretch>
        </p:blipFill>
        <p:spPr bwMode="auto">
          <a:xfrm>
            <a:off x="4783138" y="1524000"/>
            <a:ext cx="40798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1157288" y="5119688"/>
            <a:ext cx="1924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/>
              <a:t>Before Condition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5981700" y="5119688"/>
            <a:ext cx="17716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/>
              <a:t>After Condition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70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609600"/>
            <a:ext cx="571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/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Specialty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87513" y="1952625"/>
            <a:ext cx="6823075" cy="34782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defRPr/>
            </a:pPr>
            <a:r>
              <a:rPr lang="pt-BR" sz="40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1. </a:t>
            </a:r>
            <a:r>
              <a:rPr lang="pt-BR" sz="36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Loan Waiver for Death.</a:t>
            </a:r>
          </a:p>
          <a:p>
            <a:pPr marL="514350" indent="-514350" eaLnBrk="1" hangingPunct="1">
              <a:defRPr/>
            </a:pPr>
            <a:r>
              <a:rPr lang="pt-BR" sz="36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2. Cash benifit for Death.</a:t>
            </a:r>
          </a:p>
          <a:p>
            <a:pPr marL="514350" indent="-514350" eaLnBrk="1" hangingPunct="1">
              <a:defRPr/>
            </a:pPr>
            <a:r>
              <a:rPr lang="pt-BR" sz="36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3. Loan Waiver of Project Damage</a:t>
            </a:r>
          </a:p>
          <a:p>
            <a:pPr marL="514350" indent="-514350" eaLnBrk="1" hangingPunct="1">
              <a:defRPr/>
            </a:pPr>
            <a:r>
              <a:rPr lang="pt-BR" sz="36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4. Cash benifit of Accident or Serious Physical illness. </a:t>
            </a:r>
          </a:p>
          <a:p>
            <a:pPr marL="514350" indent="-514350" eaLnBrk="1" hangingPunct="1">
              <a:defRPr/>
            </a:pPr>
            <a:r>
              <a:rPr lang="pt-BR" sz="3600" dirty="0">
                <a:solidFill>
                  <a:srgbClr val="000000"/>
                </a:solidFill>
                <a:latin typeface="+mj-lt"/>
                <a:cs typeface="SutonnyMJ" pitchFamily="2" charset="0"/>
              </a:rPr>
              <a:t>5.	Hospital Cash Benefit.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609601"/>
            <a:ext cx="6934199" cy="70788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SutonnyMJ" pitchFamily="2" charset="0"/>
              </a:rPr>
              <a:t>Use of Member`s Welfare Fund</a:t>
            </a:r>
            <a:endParaRPr lang="en-US" sz="4000" b="1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SutonnyMJ" pitchFamily="2" charset="0"/>
            </a:endParaRP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75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52425" y="228600"/>
            <a:ext cx="8439150" cy="685800"/>
          </a:xfrm>
        </p:spPr>
        <p:txBody>
          <a:bodyPr/>
          <a:lstStyle/>
          <a:p>
            <a:r>
              <a:rPr lang="en-US" altLang="en-US" sz="4000" b="1" smtClean="0">
                <a:solidFill>
                  <a:srgbClr val="FF0000"/>
                </a:solidFill>
                <a:latin typeface="SutonnyMJ" pitchFamily="2" charset="0"/>
              </a:rPr>
              <a:t>†ivwn½v‡`i Rb¨ Riæix ¯^v¯’¨ †mev</a:t>
            </a:r>
          </a:p>
        </p:txBody>
      </p:sp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352425" y="1066800"/>
            <a:ext cx="8439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>
              <a:latin typeface="SutonnyMJ" pitchFamily="2" charset="0"/>
            </a:endParaRPr>
          </a:p>
        </p:txBody>
      </p:sp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381000" y="1447800"/>
            <a:ext cx="401002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altLang="en-US">
                <a:latin typeface="SutonnyMJ" pitchFamily="2" charset="0"/>
              </a:rPr>
              <a:t>ms¯’v G †`‡ki Av_©-gvbeZvi †mevq wb‡qvwRZ †_‡K wbijmfv‡e KvR K‡i hv‡”Q| hLbB G †`‡ki gvbyl †Kvb eo ai‡bi cÖvK…wZK ev gbyl¨m„ó `~‡hv©‡M AvµvšÍ nq ZLbB ms¯’v Zvi mva¨gZ G †`‡ki gvbyl I miKv‡ii cv‡k †_‡K mva¨gZ gvbeZvi ‡mev K‡i _v‡K| m¤úªwZ G †`‡k AvkÖqiZ †ivwn½v‡`i Rb¨ K·evRv‡ii DwLqv Dc‡Rjvi _vBsLvwj‡Z 2Rb Wv³vi, 4Rb †mweKv, 6Rb wgWIqvBd, 5wU G¨v¤^y‡jÝ I 10Rb ¯’vbxq ¯^v¯’¨Kgx© Øviv A¯’vqx nvmcvZvj ¯’vc‡bi gva¨‡g m¤ú~Y© webvg~‡j¨ 15,000 †ivwn½v‡`i mva¨gZ mKj ai‡bi wPwKrmv I Ilya cÖ`vb Kiv n‡q‡Q|</a:t>
            </a:r>
          </a:p>
        </p:txBody>
      </p:sp>
      <p:pic>
        <p:nvPicPr>
          <p:cNvPr id="32773" name="Picture 5"/>
          <p:cNvPicPr>
            <a:picLocks noChangeAspect="1"/>
          </p:cNvPicPr>
          <p:nvPr/>
        </p:nvPicPr>
        <p:blipFill>
          <a:blip r:embed="rId2"/>
          <a:srcRect t="10545"/>
          <a:stretch>
            <a:fillRect/>
          </a:stretch>
        </p:blipFill>
        <p:spPr bwMode="auto">
          <a:xfrm>
            <a:off x="4559300" y="1295400"/>
            <a:ext cx="4570413" cy="443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77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2813050" y="533400"/>
            <a:ext cx="3235325" cy="609600"/>
          </a:xfrm>
          <a:prstGeom prst="rect">
            <a:avLst/>
          </a:prstGeom>
          <a:solidFill>
            <a:srgbClr val="FFCC66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/>
              <a:t>Fistula Care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2425" y="2209800"/>
          <a:ext cx="3235325" cy="17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640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Treatment</a:t>
                      </a:r>
                      <a:r>
                        <a:rPr lang="en-US" sz="1800" baseline="0" dirty="0">
                          <a:latin typeface="+mj-lt"/>
                        </a:rPr>
                        <a:t> 223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Rehabilitation</a:t>
                      </a:r>
                      <a:r>
                        <a:rPr lang="en-US" sz="1800" baseline="0" dirty="0">
                          <a:latin typeface="+mj-lt"/>
                        </a:rPr>
                        <a:t> 61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5" y="4648200"/>
            <a:ext cx="3094038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All Services are 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8738" y="2057400"/>
            <a:ext cx="49593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"/>
          <p:cNvSpPr txBox="1">
            <a:spLocks noChangeArrowheads="1"/>
          </p:cNvSpPr>
          <p:nvPr/>
        </p:nvSpPr>
        <p:spPr bwMode="auto">
          <a:xfrm>
            <a:off x="2362200" y="609600"/>
            <a:ext cx="4360863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/>
              <a:t>Orphanage Program</a:t>
            </a:r>
          </a:p>
          <a:p>
            <a:pPr algn="ctr" eaLnBrk="1" hangingPunct="1"/>
            <a:r>
              <a:rPr lang="en-US" altLang="en-US"/>
              <a:t>Total Student 50</a:t>
            </a:r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8325" y="2057400"/>
            <a:ext cx="5961063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84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838200" y="511175"/>
            <a:ext cx="784860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3400" b="1">
                <a:latin typeface="Corbel" pitchFamily="34" charset="0"/>
              </a:rPr>
              <a:t>Ad-din Medical Colleges</a:t>
            </a:r>
          </a:p>
        </p:txBody>
      </p:sp>
      <p:sp>
        <p:nvSpPr>
          <p:cNvPr id="37891" name="Line 6"/>
          <p:cNvSpPr>
            <a:spLocks noChangeShapeType="1"/>
          </p:cNvSpPr>
          <p:nvPr/>
        </p:nvSpPr>
        <p:spPr bwMode="auto">
          <a:xfrm>
            <a:off x="0" y="12192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Rectangle 10"/>
          <p:cNvSpPr>
            <a:spLocks noChangeArrowheads="1"/>
          </p:cNvSpPr>
          <p:nvPr/>
        </p:nvSpPr>
        <p:spPr bwMode="auto">
          <a:xfrm>
            <a:off x="609600" y="1698625"/>
            <a:ext cx="3657600" cy="119697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Ad-din Women’s Medical College, Dhaka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Established in 2008</a:t>
            </a:r>
          </a:p>
        </p:txBody>
      </p:sp>
      <p:sp>
        <p:nvSpPr>
          <p:cNvPr id="37893" name="Rectangle 11"/>
          <p:cNvSpPr>
            <a:spLocks noChangeArrowheads="1"/>
          </p:cNvSpPr>
          <p:nvPr/>
        </p:nvSpPr>
        <p:spPr bwMode="auto">
          <a:xfrm>
            <a:off x="5029200" y="1698625"/>
            <a:ext cx="3600450" cy="1196975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Ad-din Sakina Medical College, Jessore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Established in 2011</a:t>
            </a:r>
          </a:p>
        </p:txBody>
      </p:sp>
      <p:sp>
        <p:nvSpPr>
          <p:cNvPr id="37894" name="Rectangle 12"/>
          <p:cNvSpPr>
            <a:spLocks noChangeArrowheads="1"/>
          </p:cNvSpPr>
          <p:nvPr/>
        </p:nvSpPr>
        <p:spPr bwMode="auto">
          <a:xfrm>
            <a:off x="666750" y="3429000"/>
            <a:ext cx="3600450" cy="2146300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Ad-din Akij Medical College, Khulna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Established in 2013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Under Process</a:t>
            </a:r>
          </a:p>
        </p:txBody>
      </p:sp>
      <p:sp>
        <p:nvSpPr>
          <p:cNvPr id="37895" name="Rectangle 13"/>
          <p:cNvSpPr>
            <a:spLocks noChangeArrowheads="1"/>
          </p:cNvSpPr>
          <p:nvPr/>
        </p:nvSpPr>
        <p:spPr bwMode="auto">
          <a:xfrm>
            <a:off x="5029200" y="3429000"/>
            <a:ext cx="3600450" cy="2109788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Bashundhara Ad-din Medical College, Keraniganj, Dhaka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Established in 2013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b="1">
                <a:latin typeface="Corbel" pitchFamily="34" charset="0"/>
              </a:rPr>
              <a:t>Under Process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89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p:oleObj spid="_x0000_s20482" name="Photo Editor Photo" r:id="rId3" imgW="6095238" imgH="4571429" progId="">
              <p:embed/>
            </p:oleObj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p:oleObj spid="_x0000_s20483" name="Image" r:id="rId4" imgW="2684584" imgH="3465525" progId="">
              <p:embed/>
            </p:oleObj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p:oleObj spid="_x0000_s20484" name="Image" r:id="rId5" imgW="3981689" imgH="2998228" progId="">
              <p:embed/>
            </p:oleObj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45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0000FF"/>
                </a:solidFill>
                <a:latin typeface="Times New Roman" pitchFamily="18" charset="0"/>
              </a:rPr>
              <a:t>Business Initiatives to Support Other Social Activities</a:t>
            </a:r>
          </a:p>
        </p:txBody>
      </p:sp>
      <p:sp>
        <p:nvSpPr>
          <p:cNvPr id="5126" name="Text Box 3"/>
          <p:cNvSpPr txBox="1">
            <a:spLocks noChangeArrowheads="1"/>
          </p:cNvSpPr>
          <p:nvPr/>
        </p:nvSpPr>
        <p:spPr bwMode="auto">
          <a:xfrm>
            <a:off x="1371600" y="49530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Printers</a:t>
            </a:r>
          </a:p>
        </p:txBody>
      </p:sp>
      <p:pic>
        <p:nvPicPr>
          <p:cNvPr id="5127" name="Picture 4" descr="43"/>
          <p:cNvPicPr>
            <a:picLocks noChangeAspect="1" noChangeArrowheads="1"/>
          </p:cNvPicPr>
          <p:nvPr/>
        </p:nvPicPr>
        <p:blipFill>
          <a:blip r:embed="rId3">
            <a:lum bright="-18000" contrast="6000"/>
          </a:blip>
          <a:srcRect l="6818"/>
          <a:stretch>
            <a:fillRect/>
          </a:stretch>
        </p:blipFill>
        <p:spPr bwMode="auto">
          <a:xfrm>
            <a:off x="381000" y="838200"/>
            <a:ext cx="4572000" cy="402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Text Box 5"/>
          <p:cNvSpPr txBox="1">
            <a:spLocks noChangeArrowheads="1"/>
          </p:cNvSpPr>
          <p:nvPr/>
        </p:nvSpPr>
        <p:spPr bwMode="auto">
          <a:xfrm>
            <a:off x="5181600" y="5410200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Pharmaceutical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5105400" y="1143000"/>
          <a:ext cx="3733800" cy="3243263"/>
        </p:xfrm>
        <a:graphic>
          <a:graphicData uri="http://schemas.openxmlformats.org/presentationml/2006/ole">
            <p:oleObj spid="_x0000_s21506" name="Bitmap Image" r:id="rId4" imgW="5495238" imgH="4238095" progId="Paint.Picture">
              <p:embed/>
            </p:oleObj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5181600" y="4383088"/>
          <a:ext cx="1295400" cy="860425"/>
        </p:xfrm>
        <a:graphic>
          <a:graphicData uri="http://schemas.openxmlformats.org/presentationml/2006/ole">
            <p:oleObj spid="_x0000_s21507" name="Bitmap Image" r:id="rId5" imgW="3247619" imgH="3619048" progId="Paint.Picture">
              <p:embed/>
            </p:oleObj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7620000" y="4384675"/>
          <a:ext cx="1143000" cy="838200"/>
        </p:xfrm>
        <a:graphic>
          <a:graphicData uri="http://schemas.openxmlformats.org/presentationml/2006/ole">
            <p:oleObj spid="_x0000_s21508" name="Bitmap Image" r:id="rId6" imgW="5238095" imgH="3772427" progId="Paint.Picture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31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5562600" y="5124450"/>
            <a:ext cx="35814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Established in 9 Oct 1998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Formal Inauguration 31 March 2000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133600" y="228600"/>
            <a:ext cx="4648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4000" b="1">
                <a:solidFill>
                  <a:srgbClr val="990033"/>
                </a:solidFill>
                <a:latin typeface="Times New Roman" pitchFamily="18" charset="0"/>
              </a:rPr>
              <a:t>Formal Education</a:t>
            </a:r>
          </a:p>
        </p:txBody>
      </p:sp>
      <p:pic>
        <p:nvPicPr>
          <p:cNvPr id="38916" name="Picture 5" descr="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543050"/>
            <a:ext cx="2971800" cy="180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6" descr="31"/>
          <p:cNvPicPr>
            <a:picLocks noChangeAspect="1" noChangeArrowheads="1"/>
          </p:cNvPicPr>
          <p:nvPr/>
        </p:nvPicPr>
        <p:blipFill>
          <a:blip r:embed="rId3"/>
          <a:srcRect r="5556"/>
          <a:stretch>
            <a:fillRect/>
          </a:stretch>
        </p:blipFill>
        <p:spPr bwMode="auto">
          <a:xfrm>
            <a:off x="5943600" y="3371850"/>
            <a:ext cx="29718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685800" y="1295400"/>
            <a:ext cx="2435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Akij Collegiate School</a:t>
            </a:r>
          </a:p>
        </p:txBody>
      </p:sp>
      <p:sp>
        <p:nvSpPr>
          <p:cNvPr id="38919" name="Rectangle 9"/>
          <p:cNvSpPr>
            <a:spLocks noChangeArrowheads="1"/>
          </p:cNvSpPr>
          <p:nvPr/>
        </p:nvSpPr>
        <p:spPr bwMode="auto">
          <a:xfrm>
            <a:off x="6248400" y="1009650"/>
            <a:ext cx="228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Sakina Grils School</a:t>
            </a:r>
          </a:p>
        </p:txBody>
      </p:sp>
      <p:pic>
        <p:nvPicPr>
          <p:cNvPr id="38920" name="Picture 2" descr="D:\Office\Akij School\School Picture\School Building for online  Pictur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600200"/>
            <a:ext cx="4368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1" name="TextBox 11"/>
          <p:cNvSpPr txBox="1">
            <a:spLocks noChangeArrowheads="1"/>
          </p:cNvSpPr>
          <p:nvPr/>
        </p:nvSpPr>
        <p:spPr bwMode="auto">
          <a:xfrm>
            <a:off x="381000" y="5029200"/>
            <a:ext cx="3352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/>
              <a:t>Established in  1991 </a:t>
            </a:r>
          </a:p>
          <a:p>
            <a:pPr eaLnBrk="1" hangingPunct="1"/>
            <a:r>
              <a:rPr lang="en-US" altLang="en-US"/>
              <a:t>at Navaran, Jashore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924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8"/>
          <p:cNvSpPr txBox="1">
            <a:spLocks noChangeArrowheads="1"/>
          </p:cNvSpPr>
          <p:nvPr/>
        </p:nvSpPr>
        <p:spPr bwMode="auto">
          <a:xfrm>
            <a:off x="2438400" y="838200"/>
            <a:ext cx="49450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400" b="1"/>
              <a:t>Correlation with Ad-din Hospitals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05000"/>
            <a:ext cx="81534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Health supported Micro credit Program</a:t>
            </a:r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Micro</a:t>
            </a:r>
            <a:r>
              <a:rPr lang="en-US" dirty="0"/>
              <a:t> credit beneficiaries received priority based health services from the nearest Ad-din Hospital with a discount price.</a:t>
            </a:r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Paramedics are use to refer patients to nearest Ad-din Hospital</a:t>
            </a:r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Ad-din Hospital gives service priority  to the referral patients</a:t>
            </a:r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Micro credit staff and beneficiaries  use to take subsidized rate from Ad-din </a:t>
            </a:r>
            <a:r>
              <a:rPr lang="en-US" dirty="0" smtClean="0"/>
              <a:t>Hospital.</a:t>
            </a:r>
            <a:endParaRPr lang="en-US" dirty="0"/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Last year 10,476 Micro credit beneficiaries received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1,65,25,692</a:t>
            </a:r>
            <a:r>
              <a:rPr lang="en-US" dirty="0"/>
              <a:t> taka as treatment allowance from ad-din.</a:t>
            </a:r>
          </a:p>
          <a:p>
            <a:pPr marL="284163" indent="-284163" eaLnBrk="1" hangingPunct="1">
              <a:buFont typeface="Wingdings" pitchFamily="2" charset="2"/>
              <a:buChar char="Ø"/>
              <a:defRPr/>
            </a:pPr>
            <a:r>
              <a:rPr lang="en-US" dirty="0"/>
              <a:t> Micro Credit beneficiaries also gets  low cost Ambulance service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942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Doctor's &amp; Manager's</a:t>
            </a:r>
            <a:r>
              <a:rPr 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of</a:t>
            </a:r>
            <a:r>
              <a:rPr sz="2800" b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Ad-din Sakina Medical College Hospital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3333FF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4" name="Chart Placeholder 3" descr="IMG_4043.JPG"/>
          <p:cNvPicPr>
            <a:picLocks noGrp="1" noChangeAspect="1"/>
          </p:cNvPicPr>
          <p:nvPr>
            <p:ph type="chart" idx="1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09800"/>
            <a:ext cx="6934200" cy="4622800"/>
          </a:xfrm>
        </p:spPr>
      </p:pic>
    </p:spTree>
  </p:cSld>
  <p:clrMapOvr>
    <a:masterClrMapping/>
  </p:clrMapOvr>
  <p:transition spd="slow">
    <p:wheel spokes="3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8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1593</TotalTime>
  <Words>1621</Words>
  <Application>Microsoft Office PowerPoint</Application>
  <PresentationFormat>On-screen Show (4:3)</PresentationFormat>
  <Paragraphs>426</Paragraphs>
  <Slides>76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76</vt:i4>
      </vt:variant>
    </vt:vector>
  </HeadingPairs>
  <TitlesOfParts>
    <vt:vector size="81" baseType="lpstr">
      <vt:lpstr>Flow</vt:lpstr>
      <vt:lpstr>Photo Editor Photo</vt:lpstr>
      <vt:lpstr>Microsoft Office Excel Chart</vt:lpstr>
      <vt:lpstr>Image</vt:lpstr>
      <vt:lpstr>Bitmap Image</vt:lpstr>
      <vt:lpstr>Ad-din Sakina Medical College Hospital</vt:lpstr>
      <vt:lpstr>                                    AD-DIN Sakina Medical College  Non-profit private voluntary organization  </vt:lpstr>
      <vt:lpstr>Slide 3</vt:lpstr>
      <vt:lpstr>Slide 4</vt:lpstr>
      <vt:lpstr>Slide 5</vt:lpstr>
      <vt:lpstr>Slide 6</vt:lpstr>
      <vt:lpstr>Slide 7</vt:lpstr>
      <vt:lpstr>Slide 8</vt:lpstr>
      <vt:lpstr>Slide 9</vt:lpstr>
      <vt:lpstr>Outdoor Department 0f Ad-din Sakina Medical College Hospital </vt:lpstr>
      <vt:lpstr>Slide 11</vt:lpstr>
      <vt:lpstr>Card Registration </vt:lpstr>
      <vt:lpstr>Business Counter  </vt:lpstr>
      <vt:lpstr>Antenatal Care </vt:lpstr>
      <vt:lpstr>Family Planning </vt:lpstr>
      <vt:lpstr>Immunization </vt:lpstr>
      <vt:lpstr>Growth Monitoring </vt:lpstr>
      <vt:lpstr>Department Of Pediatric</vt:lpstr>
      <vt:lpstr>Department Of Dental</vt:lpstr>
      <vt:lpstr>Department Of Radiology &amp; Imaging</vt:lpstr>
      <vt:lpstr>Department Of Pathology</vt:lpstr>
      <vt:lpstr>In Door  Admission Procedure </vt:lpstr>
      <vt:lpstr>Ad-din Sakina Medical College Hospital Indoor Service</vt:lpstr>
      <vt:lpstr>Operation Theatre</vt:lpstr>
      <vt:lpstr>Delivery Ward</vt:lpstr>
      <vt:lpstr> Post Operative Ward</vt:lpstr>
      <vt:lpstr>Gyane Ward</vt:lpstr>
      <vt:lpstr>Medicine Ward</vt:lpstr>
      <vt:lpstr>Orthopedic Ward</vt:lpstr>
      <vt:lpstr>Pediatrics Ward </vt:lpstr>
      <vt:lpstr>Slide 31</vt:lpstr>
      <vt:lpstr>Annual Trend of Eye Care Project(OPD)</vt:lpstr>
      <vt:lpstr>Annual Trend of Eye Care Cataract</vt:lpstr>
      <vt:lpstr>Yearly MCH Services</vt:lpstr>
      <vt:lpstr>Subjects for Health Education</vt:lpstr>
      <vt:lpstr>Annual Trend of ANC Services</vt:lpstr>
      <vt:lpstr>Annual Trend of ANC Visit</vt:lpstr>
      <vt:lpstr>EPI Services Received by Clients </vt:lpstr>
      <vt:lpstr>Comparison between NVD and CS</vt:lpstr>
      <vt:lpstr>Other Service of Ad-din Sakina Medical College Hospital</vt:lpstr>
      <vt:lpstr>Utsho Departmental Store </vt:lpstr>
      <vt:lpstr>Mayerchoya Cafeteria </vt:lpstr>
      <vt:lpstr>Facilities Of Ad-din Sakina Medical College Hospital </vt:lpstr>
      <vt:lpstr>24 Hours Emergency</vt:lpstr>
      <vt:lpstr>24 Hour Ambulance Service </vt:lpstr>
      <vt:lpstr>24 Hours Diagnostic </vt:lpstr>
      <vt:lpstr>24 Hours Pharmacy</vt:lpstr>
      <vt:lpstr>An introduction to Ad-din Welfare Center</vt:lpstr>
      <vt:lpstr>Slide 49</vt:lpstr>
      <vt:lpstr>Slide 50</vt:lpstr>
      <vt:lpstr>Running  Program / Project</vt:lpstr>
      <vt:lpstr>Legal Status:</vt:lpstr>
      <vt:lpstr>Slide 53</vt:lpstr>
      <vt:lpstr>Staff Position Of Microfinance Program </vt:lpstr>
      <vt:lpstr>Staff Analysis</vt:lpstr>
      <vt:lpstr>A Credit Group Meeting</vt:lpstr>
      <vt:lpstr>Agriculture, Fisheries &amp; Livestock Project</vt:lpstr>
      <vt:lpstr>Learning &amp; Innovation Fund to Test New Ideas (LIFT)</vt:lpstr>
      <vt:lpstr>Enrich Program</vt:lpstr>
      <vt:lpstr>Slide 60</vt:lpstr>
      <vt:lpstr>Food Assistance for Poor Disabled People</vt:lpstr>
      <vt:lpstr>Scholarship Program for Poor &amp; Merit Student</vt:lpstr>
      <vt:lpstr>Slide 63</vt:lpstr>
      <vt:lpstr>Slide 64</vt:lpstr>
      <vt:lpstr>Slide 65</vt:lpstr>
      <vt:lpstr>Slide 66</vt:lpstr>
      <vt:lpstr>†ivwn½v‡`i Rb¨ Riæix ¯^v¯’¨ †mev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Doctor's &amp; Manager's of Ad-din Sakina Medical College Hospital</vt:lpstr>
      <vt:lpstr>Thank You All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user</cp:lastModifiedBy>
  <cp:revision>238</cp:revision>
  <dcterms:created xsi:type="dcterms:W3CDTF">2017-11-25T07:55:21Z</dcterms:created>
  <dcterms:modified xsi:type="dcterms:W3CDTF">2020-01-04T08:08:09Z</dcterms:modified>
</cp:coreProperties>
</file>