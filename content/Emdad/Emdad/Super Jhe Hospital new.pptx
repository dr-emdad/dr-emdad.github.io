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2"/>
  </p:notesMasterIdLst>
  <p:sldIdLst>
    <p:sldId id="306" r:id="rId3"/>
    <p:sldId id="256" r:id="rId4"/>
    <p:sldId id="257" r:id="rId5"/>
    <p:sldId id="269" r:id="rId6"/>
    <p:sldId id="270" r:id="rId7"/>
    <p:sldId id="288" r:id="rId8"/>
    <p:sldId id="273" r:id="rId9"/>
    <p:sldId id="281" r:id="rId10"/>
    <p:sldId id="286" r:id="rId11"/>
    <p:sldId id="285" r:id="rId12"/>
    <p:sldId id="284" r:id="rId13"/>
    <p:sldId id="283" r:id="rId14"/>
    <p:sldId id="282" r:id="rId15"/>
    <p:sldId id="267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268" r:id="rId25"/>
    <p:sldId id="311" r:id="rId26"/>
    <p:sldId id="259" r:id="rId27"/>
    <p:sldId id="260" r:id="rId28"/>
    <p:sldId id="261" r:id="rId29"/>
    <p:sldId id="265" r:id="rId30"/>
    <p:sldId id="291" r:id="rId31"/>
    <p:sldId id="294" r:id="rId32"/>
    <p:sldId id="297" r:id="rId33"/>
    <p:sldId id="300" r:id="rId34"/>
    <p:sldId id="314" r:id="rId35"/>
    <p:sldId id="303" r:id="rId36"/>
    <p:sldId id="262" r:id="rId37"/>
    <p:sldId id="264" r:id="rId38"/>
    <p:sldId id="315" r:id="rId39"/>
    <p:sldId id="266" r:id="rId40"/>
    <p:sldId id="309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80A3C-2CCD-47E2-B638-22C7D0B66F22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5C34E-E329-42B7-ACAA-8A7B47F26C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884027" y="8684926"/>
            <a:ext cx="2972421" cy="4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39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710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710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287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078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579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086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223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836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656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942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9628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280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0884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C5F14-CCEC-490F-BF80-A9E129D476E4}" type="datetimeFigureOut">
              <a:rPr lang="en-US" smtClean="0"/>
              <a:pPr/>
              <a:t>3/2/2018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91079-A5D8-40A8-800B-14244D90C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FDB412B-A1DC-4656-9B89-0FCB88F4F46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2018/3/2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B12BA74-9B39-49B3-8E8B-88E185DDBA06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7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 fontScale="90000"/>
          </a:bodyPr>
          <a:lstStyle/>
          <a:p>
            <a:r>
              <a:rPr lang="en-US" dirty="0"/>
              <a:t>Quality Improvement &amp; Community Participation Initiative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2286000"/>
            <a:ext cx="5715000" cy="1752600"/>
          </a:xfr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lnSpcReduction="10000"/>
          </a:bodyPr>
          <a:lstStyle/>
          <a:p>
            <a:r>
              <a:rPr lang="en-US" sz="3600" dirty="0" smtClean="0">
                <a:solidFill>
                  <a:srgbClr val="00B050"/>
                </a:solidFill>
              </a:rPr>
              <a:t>Dr. Md. </a:t>
            </a:r>
            <a:r>
              <a:rPr lang="en-US" sz="3600" dirty="0" err="1" smtClean="0">
                <a:solidFill>
                  <a:srgbClr val="00B050"/>
                </a:solidFill>
              </a:rPr>
              <a:t>Ayub</a:t>
            </a:r>
            <a:r>
              <a:rPr lang="en-US" sz="3600" dirty="0" smtClean="0">
                <a:solidFill>
                  <a:srgbClr val="00B050"/>
                </a:solidFill>
              </a:rPr>
              <a:t> Ali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Superintendent, </a:t>
            </a:r>
          </a:p>
          <a:p>
            <a:r>
              <a:rPr lang="en-US" dirty="0" err="1" smtClean="0">
                <a:solidFill>
                  <a:srgbClr val="00B050"/>
                </a:solidFill>
              </a:rPr>
              <a:t>Sadar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Hospital,Jhenidah</a:t>
            </a:r>
            <a:r>
              <a:rPr lang="en-US" dirty="0" smtClean="0">
                <a:solidFill>
                  <a:srgbClr val="00B050"/>
                </a:solidFill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Our Limitation</a:t>
            </a:r>
          </a:p>
          <a:p>
            <a:pPr lvl="1"/>
            <a:r>
              <a:rPr lang="en-US" dirty="0" smtClean="0"/>
              <a:t>Manpower</a:t>
            </a:r>
          </a:p>
          <a:p>
            <a:pPr lvl="1"/>
            <a:r>
              <a:rPr lang="en-US" dirty="0" smtClean="0"/>
              <a:t>Resource</a:t>
            </a:r>
          </a:p>
          <a:p>
            <a:pPr lvl="2"/>
            <a:r>
              <a:rPr lang="en-US" dirty="0" smtClean="0"/>
              <a:t>Money</a:t>
            </a:r>
          </a:p>
          <a:p>
            <a:pPr lvl="2"/>
            <a:r>
              <a:rPr lang="en-US" dirty="0" smtClean="0"/>
              <a:t>Materials</a:t>
            </a:r>
          </a:p>
          <a:p>
            <a:pPr lvl="2"/>
            <a:r>
              <a:rPr lang="en-US" dirty="0" smtClean="0"/>
              <a:t>Management</a:t>
            </a:r>
          </a:p>
          <a:p>
            <a:r>
              <a:rPr lang="en-US" dirty="0" smtClean="0"/>
              <a:t>Difficulties</a:t>
            </a:r>
          </a:p>
          <a:p>
            <a:pPr lvl="1"/>
            <a:r>
              <a:rPr lang="en-US" dirty="0" smtClean="0"/>
              <a:t>Number of patient is increasing</a:t>
            </a:r>
          </a:p>
          <a:p>
            <a:r>
              <a:rPr lang="en-US" dirty="0" smtClean="0"/>
              <a:t>So maintenance of  quality is becoming difficult day by day.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(Cont..)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Quality Improvement </a:t>
            </a:r>
            <a:r>
              <a:rPr lang="en-US" dirty="0" err="1" smtClean="0"/>
              <a:t>Secretariate</a:t>
            </a:r>
            <a:r>
              <a:rPr lang="en-US" dirty="0" smtClean="0"/>
              <a:t> under Health Economics Unit of MOHFW</a:t>
            </a:r>
          </a:p>
          <a:p>
            <a:pPr lvl="1"/>
            <a:r>
              <a:rPr lang="en-US" dirty="0" smtClean="0"/>
              <a:t>5 S </a:t>
            </a:r>
            <a:r>
              <a:rPr lang="en-US" dirty="0" err="1" smtClean="0"/>
              <a:t>Kizen</a:t>
            </a:r>
            <a:endParaRPr lang="en-US" dirty="0" smtClean="0"/>
          </a:p>
          <a:p>
            <a:pPr lvl="1"/>
            <a:r>
              <a:rPr lang="en-US" dirty="0" smtClean="0"/>
              <a:t>PDCA</a:t>
            </a:r>
          </a:p>
          <a:p>
            <a:r>
              <a:rPr lang="en-US" dirty="0" smtClean="0"/>
              <a:t>Health Management Community Support Committee is a new </a:t>
            </a:r>
            <a:r>
              <a:rPr lang="en-US" dirty="0" err="1" smtClean="0"/>
              <a:t>inovation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Idea by Dr. </a:t>
            </a:r>
            <a:r>
              <a:rPr lang="en-US" dirty="0" err="1" smtClean="0"/>
              <a:t>Emdadul</a:t>
            </a:r>
            <a:r>
              <a:rPr lang="en-US" dirty="0" smtClean="0"/>
              <a:t> </a:t>
            </a:r>
            <a:r>
              <a:rPr lang="en-US" dirty="0" err="1" smtClean="0"/>
              <a:t>Huq</a:t>
            </a:r>
            <a:r>
              <a:rPr lang="en-US" dirty="0" smtClean="0"/>
              <a:t> on 20.. From </a:t>
            </a:r>
            <a:r>
              <a:rPr lang="en-US" dirty="0" err="1" smtClean="0"/>
              <a:t>Chowgacha</a:t>
            </a:r>
            <a:endParaRPr lang="en-US" dirty="0" smtClean="0"/>
          </a:p>
          <a:p>
            <a:pPr lvl="1"/>
            <a:r>
              <a:rPr lang="en-US" dirty="0" smtClean="0"/>
              <a:t>Legalized on March 2016.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696200" cy="792162"/>
          </a:xfr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dirty="0" err="1" smtClean="0"/>
              <a:t>QIC</a:t>
            </a:r>
            <a:r>
              <a:rPr lang="en-US" dirty="0" smtClean="0"/>
              <a:t> in District hospital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2438400" cy="685800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en-US" dirty="0" smtClean="0"/>
              <a:t>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581400" cy="3951288"/>
          </a:xfrm>
          <a:ln>
            <a:solidFill>
              <a:srgbClr val="FF0000"/>
            </a:solidFill>
          </a:ln>
        </p:spPr>
        <p:txBody>
          <a:bodyPr>
            <a:normAutofit fontScale="85000" lnSpcReduction="10000"/>
          </a:bodyPr>
          <a:lstStyle/>
          <a:p>
            <a:r>
              <a:rPr lang="en-US" sz="1800" dirty="0" smtClean="0"/>
              <a:t>Super, </a:t>
            </a:r>
            <a:r>
              <a:rPr lang="en-US" sz="1800" dirty="0" err="1" smtClean="0"/>
              <a:t>RMO</a:t>
            </a:r>
            <a:r>
              <a:rPr lang="en-US" sz="1800" dirty="0" smtClean="0"/>
              <a:t>, 1 Focal person </a:t>
            </a:r>
          </a:p>
          <a:p>
            <a:r>
              <a:rPr lang="en-US" sz="1800" dirty="0" smtClean="0"/>
              <a:t>Team Leader of the -     12 WIT</a:t>
            </a:r>
          </a:p>
          <a:p>
            <a:r>
              <a:rPr lang="en-US" sz="1800" dirty="0" err="1" smtClean="0"/>
              <a:t>EOC</a:t>
            </a:r>
            <a:r>
              <a:rPr lang="en-US" sz="1800" dirty="0" smtClean="0"/>
              <a:t> Word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 –    WIT No- 1</a:t>
            </a:r>
          </a:p>
          <a:p>
            <a:r>
              <a:rPr lang="en-US" sz="1800" dirty="0" err="1" smtClean="0"/>
              <a:t>FSW</a:t>
            </a:r>
            <a:r>
              <a:rPr lang="en-US" sz="1800" dirty="0" smtClean="0"/>
              <a:t>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-               WIT No- 2</a:t>
            </a:r>
          </a:p>
          <a:p>
            <a:r>
              <a:rPr lang="en-US" sz="1800" dirty="0" err="1" smtClean="0"/>
              <a:t>FMW</a:t>
            </a:r>
            <a:r>
              <a:rPr lang="en-US" sz="1800" dirty="0" smtClean="0"/>
              <a:t>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 -             WIT No- 3</a:t>
            </a:r>
          </a:p>
          <a:p>
            <a:r>
              <a:rPr lang="en-US" sz="1800" dirty="0" err="1" smtClean="0"/>
              <a:t>MSW</a:t>
            </a:r>
            <a:r>
              <a:rPr lang="en-US" sz="1800" dirty="0" smtClean="0"/>
              <a:t>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 -             WIT No- 4</a:t>
            </a:r>
          </a:p>
          <a:p>
            <a:r>
              <a:rPr lang="en-US" sz="1800" dirty="0" err="1" smtClean="0"/>
              <a:t>MMW</a:t>
            </a:r>
            <a:r>
              <a:rPr lang="en-US" sz="1800" dirty="0" smtClean="0"/>
              <a:t>-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 -          WIT No- 5</a:t>
            </a:r>
          </a:p>
          <a:p>
            <a:r>
              <a:rPr lang="en-US" sz="1800" dirty="0" smtClean="0"/>
              <a:t>OT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 -                  WIT No- 6</a:t>
            </a:r>
          </a:p>
          <a:p>
            <a:r>
              <a:rPr lang="en-US" sz="1800" dirty="0" smtClean="0"/>
              <a:t>Emergency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-    WIT No- 7</a:t>
            </a:r>
          </a:p>
          <a:p>
            <a:r>
              <a:rPr lang="en-US" sz="1800" dirty="0" smtClean="0"/>
              <a:t>Word Master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 - WIT No- 8</a:t>
            </a:r>
          </a:p>
          <a:p>
            <a:r>
              <a:rPr lang="en-US" sz="1800" dirty="0" smtClean="0"/>
              <a:t>Head Assistant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- WIT No- 9</a:t>
            </a:r>
          </a:p>
          <a:p>
            <a:r>
              <a:rPr lang="en-US" sz="1800" dirty="0" smtClean="0"/>
              <a:t>Mt (lab)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-          WIT No- 10</a:t>
            </a:r>
          </a:p>
          <a:p>
            <a:r>
              <a:rPr lang="en-US" sz="1800" dirty="0" smtClean="0"/>
              <a:t>Storekeeper -                   WIT No- 11</a:t>
            </a:r>
          </a:p>
          <a:p>
            <a:r>
              <a:rPr lang="en-US" sz="1800" dirty="0" err="1" smtClean="0"/>
              <a:t>CW</a:t>
            </a:r>
            <a:r>
              <a:rPr lang="en-US" sz="1800" dirty="0" smtClean="0"/>
              <a:t> – </a:t>
            </a:r>
            <a:r>
              <a:rPr lang="en-US" sz="1800" dirty="0" err="1" smtClean="0"/>
              <a:t>incharge</a:t>
            </a:r>
            <a:r>
              <a:rPr lang="en-US" sz="1800" dirty="0" smtClean="0"/>
              <a:t> -               WIT No- 12</a:t>
            </a:r>
            <a:endParaRPr lang="en-US" sz="1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9800" y="1295400"/>
            <a:ext cx="2667000" cy="639762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2500" lnSpcReduction="20000"/>
          </a:bodyPr>
          <a:lstStyle/>
          <a:p>
            <a:pPr algn="ctr"/>
            <a:r>
              <a:rPr lang="en-US" dirty="0" smtClean="0"/>
              <a:t>Status of Monthly Meeting </a:t>
            </a:r>
            <a:endParaRPr lang="en-US" dirty="0"/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3352800" y="1219200"/>
            <a:ext cx="2514600" cy="7159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of WIT - 12</a:t>
            </a:r>
          </a:p>
        </p:txBody>
      </p:sp>
      <p:pic>
        <p:nvPicPr>
          <p:cNvPr id="1026" name="Picture 2" descr="F:\HSS Picture\Metting Diary.jp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209800"/>
            <a:ext cx="2895600" cy="1904999"/>
          </a:xfrm>
          <a:prstGeom prst="rect">
            <a:avLst/>
          </a:prstGeom>
          <a:noFill/>
        </p:spPr>
      </p:pic>
      <p:pic>
        <p:nvPicPr>
          <p:cNvPr id="6" name="Picture 2" descr="C:\Users\QUADER\Desktop\Wit_174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3600" y="4267200"/>
            <a:ext cx="2895600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92D050"/>
            </a:solidFill>
          </a:ln>
        </p:spPr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Status of 5S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Sort(S1): Whether all WIT has addressed /completed</a:t>
            </a:r>
          </a:p>
          <a:p>
            <a:r>
              <a:rPr lang="en-US" dirty="0"/>
              <a:t>Set (S2): Some visible </a:t>
            </a:r>
            <a:r>
              <a:rPr lang="en-US" dirty="0" smtClean="0"/>
              <a:t>picture</a:t>
            </a:r>
            <a:endParaRPr lang="en-US" dirty="0"/>
          </a:p>
          <a:p>
            <a:r>
              <a:rPr lang="en-US" dirty="0"/>
              <a:t>Shine(S3): Some visible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609600"/>
            <a:ext cx="8686800" cy="457200"/>
          </a:xfrm>
          <a:solidFill>
            <a:srgbClr val="006600"/>
          </a:solidFill>
          <a:ln>
            <a:solidFill>
              <a:srgbClr val="FFC000"/>
            </a:solidFill>
          </a:ln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143000"/>
            <a:ext cx="3886200" cy="25908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1143000"/>
            <a:ext cx="4037012" cy="2590800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038600"/>
            <a:ext cx="3886200" cy="2667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4114800"/>
            <a:ext cx="3733800" cy="2522538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5029200" y="4114800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41148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81000" y="1219200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876800" y="114300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304800" y="0"/>
            <a:ext cx="8686800" cy="457200"/>
          </a:xfrm>
          <a:prstGeom prst="rect">
            <a:avLst/>
          </a:prstGeom>
          <a:solidFill>
            <a:srgbClr val="00660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Status of </a:t>
            </a:r>
            <a:r>
              <a:rPr kumimoji="0" lang="en-US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5s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implementation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dirty="0" smtClean="0">
                <a:solidFill>
                  <a:schemeClr val="bg1"/>
                </a:solidFill>
              </a:rPr>
              <a:t>nternal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en-US" sz="2800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D5FC46-A9D5-4850-8FFC-3A5D5EE3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709"/>
            <a:ext cx="8229600" cy="1143000"/>
          </a:xfrm>
        </p:spPr>
        <p:txBody>
          <a:bodyPr/>
          <a:lstStyle/>
          <a:p>
            <a:r>
              <a:rPr lang="en-US" dirty="0"/>
              <a:t>Status of PDCA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60966"/>
              </p:ext>
            </p:extLst>
          </p:nvPr>
        </p:nvGraphicFramePr>
        <p:xfrm>
          <a:off x="685801" y="1600199"/>
          <a:ext cx="7848598" cy="4800600"/>
        </p:xfrm>
        <a:graphic>
          <a:graphicData uri="http://schemas.openxmlformats.org/drawingml/2006/table">
            <a:tbl>
              <a:tblPr firstRow="1" firstCol="1" bandRow="1"/>
              <a:tblGrid>
                <a:gridCol w="2312944"/>
                <a:gridCol w="1083526"/>
                <a:gridCol w="1265480"/>
                <a:gridCol w="1032710"/>
                <a:gridCol w="1386782"/>
                <a:gridCol w="767156"/>
              </a:tblGrid>
              <a:tr h="11295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Possible KAIZEN Theme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Impact to patient outcome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Affordable in terms of time and resources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Easy to measure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Under control of team members.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Total Score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5647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Calibri"/>
                          <a:cs typeface="Vrinda"/>
                        </a:rPr>
                        <a:t>Implementation of </a:t>
                      </a:r>
                      <a:r>
                        <a:rPr lang="en-US" sz="1400" dirty="0" err="1">
                          <a:effectLst/>
                          <a:latin typeface="Calibri"/>
                          <a:ea typeface="Calibri"/>
                          <a:cs typeface="Vrinda"/>
                        </a:rPr>
                        <a:t>partograph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7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Improve infection prevention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Improve labor room service with added component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</a:tr>
              <a:tr h="847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Improve post-operative care among the operated patient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Maintain proper temperature, pulse, BP  in the word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Calibri"/>
                          <a:cs typeface="Vrinda"/>
                        </a:rPr>
                        <a:t>17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85800" y="11430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Step 1: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Selection of Kaizen theme with feasibility check with Matrix Diagram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33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458496"/>
              </p:ext>
            </p:extLst>
          </p:nvPr>
        </p:nvGraphicFramePr>
        <p:xfrm>
          <a:off x="1295399" y="1904999"/>
          <a:ext cx="7086601" cy="4267200"/>
        </p:xfrm>
        <a:graphic>
          <a:graphicData uri="http://schemas.openxmlformats.org/drawingml/2006/table">
            <a:tbl>
              <a:tblPr firstRow="1" firstCol="1" bandRow="1"/>
              <a:tblGrid>
                <a:gridCol w="612751"/>
                <a:gridCol w="2915749"/>
                <a:gridCol w="1097476"/>
                <a:gridCol w="1178139"/>
                <a:gridCol w="1282486"/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alibri"/>
                          <a:ea typeface="Calibri"/>
                          <a:cs typeface="Vrinda"/>
                        </a:rPr>
                        <a:t>Sl</a:t>
                      </a:r>
                      <a:r>
                        <a:rPr lang="en-US" sz="140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 No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Contributing factors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Frequency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Cumulative frequency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Cumulative 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Calibri"/>
                          <a:cs typeface="Vrinda"/>
                        </a:rPr>
                        <a:t>Sterile delivery set not used properly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40%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Labor room sister is not available.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63%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Chlorine  solution is not used properly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61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71%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Counseling is not done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10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71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84%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Medical officer/Consultant is not supervise every case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77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90%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Labor room lighting system not functioning effectively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82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96%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Privacy is not maintained properly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Calibri"/>
                          <a:cs typeface="Vrinda"/>
                        </a:rPr>
                        <a:t>85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Calibri"/>
                          <a:cs typeface="Vrinda"/>
                        </a:rPr>
                        <a:t>100%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600" y="304800"/>
            <a:ext cx="817884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Step 2: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Situation analysis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Kaizen theme: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Labor room service improved with comprehensive services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components.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Data collection method: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Data  collected by a WIT member through exit interview of 100 women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who  delivered in consecutive 20 days from 4</a:t>
            </a:r>
            <a:r>
              <a:rPr kumimoji="0" lang="en-US" sz="16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th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to 24</a:t>
            </a:r>
            <a:r>
              <a:rPr kumimoji="0" lang="en-US" sz="16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th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September.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261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375093" y="685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rgbClr val="E36C0A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Step 3: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Root cause analysis (Fishbone diagram):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Sterile delivery set not used properly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375093" y="1777510"/>
            <a:ext cx="7997825" cy="4573588"/>
            <a:chOff x="3793" y="2092"/>
            <a:chExt cx="6999" cy="4020"/>
          </a:xfrm>
        </p:grpSpPr>
        <p:sp>
          <p:nvSpPr>
            <p:cNvPr id="6" name="AutoShape 35"/>
            <p:cNvSpPr>
              <a:spLocks noChangeAspect="1" noChangeArrowheads="1"/>
            </p:cNvSpPr>
            <p:nvPr/>
          </p:nvSpPr>
          <p:spPr bwMode="auto">
            <a:xfrm>
              <a:off x="3793" y="2092"/>
              <a:ext cx="6999" cy="40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ext Box 34"/>
            <p:cNvSpPr txBox="1">
              <a:spLocks noChangeArrowheads="1"/>
            </p:cNvSpPr>
            <p:nvPr/>
          </p:nvSpPr>
          <p:spPr bwMode="auto">
            <a:xfrm>
              <a:off x="6234" y="2779"/>
              <a:ext cx="1733" cy="2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Job description is not developed 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 Box 33"/>
            <p:cNvSpPr txBox="1">
              <a:spLocks noChangeArrowheads="1"/>
            </p:cNvSpPr>
            <p:nvPr/>
          </p:nvSpPr>
          <p:spPr bwMode="auto">
            <a:xfrm>
              <a:off x="4488" y="2646"/>
              <a:ext cx="1520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Not purched the set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 Box 32"/>
            <p:cNvSpPr txBox="1">
              <a:spLocks noChangeArrowheads="1"/>
            </p:cNvSpPr>
            <p:nvPr/>
          </p:nvSpPr>
          <p:spPr bwMode="auto">
            <a:xfrm>
              <a:off x="4097" y="5007"/>
              <a:ext cx="1636" cy="30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       Initiative not taken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31"/>
            <p:cNvSpPr txBox="1">
              <a:spLocks noChangeArrowheads="1"/>
            </p:cNvSpPr>
            <p:nvPr/>
          </p:nvSpPr>
          <p:spPr bwMode="auto">
            <a:xfrm>
              <a:off x="6008" y="5110"/>
              <a:ext cx="1510" cy="3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     SOP not collected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Line 30"/>
            <p:cNvSpPr>
              <a:spLocks noChangeShapeType="1"/>
            </p:cNvSpPr>
            <p:nvPr/>
          </p:nvSpPr>
          <p:spPr bwMode="auto">
            <a:xfrm>
              <a:off x="4942" y="3899"/>
              <a:ext cx="3417" cy="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29"/>
            <p:cNvSpPr>
              <a:spLocks noChangeShapeType="1"/>
            </p:cNvSpPr>
            <p:nvPr/>
          </p:nvSpPr>
          <p:spPr bwMode="auto">
            <a:xfrm>
              <a:off x="8834" y="3902"/>
              <a:ext cx="1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392" y="3902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 flipV="1">
              <a:off x="5292" y="3902"/>
              <a:ext cx="8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>
              <a:off x="5292" y="2900"/>
              <a:ext cx="800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7052" y="3899"/>
              <a:ext cx="7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7095" y="2995"/>
              <a:ext cx="657" cy="9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>
              <a:off x="5930" y="3906"/>
              <a:ext cx="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7592" y="3899"/>
              <a:ext cx="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 flipV="1">
              <a:off x="6592" y="3899"/>
              <a:ext cx="183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4242" y="3848"/>
              <a:ext cx="700" cy="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4667" y="2998"/>
              <a:ext cx="1463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Not available in store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4872" y="3299"/>
              <a:ext cx="1390" cy="2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Demand not given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4872" y="3600"/>
              <a:ext cx="1773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Number of delivery set is limited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6548" y="3056"/>
              <a:ext cx="1544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Division of  labor not done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6892" y="3600"/>
              <a:ext cx="1335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Overload of the patients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6819" y="3299"/>
              <a:ext cx="1273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    Limited  manpower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4268" y="4705"/>
              <a:ext cx="1533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Authority was not informed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4548" y="4404"/>
              <a:ext cx="1714" cy="2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Unwanted articles  not removed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4942" y="4103"/>
              <a:ext cx="1497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Proper space is not available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6775" y="4404"/>
              <a:ext cx="1259" cy="3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Lack of knowledge about sterility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 Box 9"/>
            <p:cNvSpPr txBox="1">
              <a:spLocks noChangeArrowheads="1"/>
            </p:cNvSpPr>
            <p:nvPr/>
          </p:nvSpPr>
          <p:spPr bwMode="auto">
            <a:xfrm>
              <a:off x="6492" y="4816"/>
              <a:ext cx="1300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            Lack of SOP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6548" y="4103"/>
              <a:ext cx="1679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Lack of importance about extra set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8492" y="2998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8359" y="3400"/>
              <a:ext cx="1192" cy="10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Sterile delivery set not used properly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 Box 5"/>
            <p:cNvSpPr txBox="1">
              <a:spLocks noChangeArrowheads="1"/>
            </p:cNvSpPr>
            <p:nvPr/>
          </p:nvSpPr>
          <p:spPr bwMode="auto">
            <a:xfrm>
              <a:off x="8227" y="2296"/>
              <a:ext cx="800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3793" y="2261"/>
              <a:ext cx="800" cy="2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Material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 Box 3"/>
            <p:cNvSpPr txBox="1">
              <a:spLocks noChangeArrowheads="1"/>
            </p:cNvSpPr>
            <p:nvPr/>
          </p:nvSpPr>
          <p:spPr bwMode="auto">
            <a:xfrm>
              <a:off x="3793" y="5759"/>
              <a:ext cx="874" cy="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Environment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2"/>
            <p:cNvSpPr txBox="1">
              <a:spLocks noChangeArrowheads="1"/>
            </p:cNvSpPr>
            <p:nvPr/>
          </p:nvSpPr>
          <p:spPr bwMode="auto">
            <a:xfrm>
              <a:off x="8092" y="5791"/>
              <a:ext cx="800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Method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0" name="Rectangle 59"/>
          <p:cNvSpPr>
            <a:spLocks noChangeArrowheads="1"/>
          </p:cNvSpPr>
          <p:nvPr/>
        </p:nvSpPr>
        <p:spPr bwMode="auto">
          <a:xfrm>
            <a:off x="0" y="50307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32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52400" y="219417"/>
            <a:ext cx="302627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(b) labor room sister is not available.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152400" y="609600"/>
            <a:ext cx="7997825" cy="4573588"/>
            <a:chOff x="3793" y="2092"/>
            <a:chExt cx="6999" cy="4020"/>
          </a:xfrm>
        </p:grpSpPr>
        <p:sp>
          <p:nvSpPr>
            <p:cNvPr id="6" name="AutoShape 35"/>
            <p:cNvSpPr>
              <a:spLocks noChangeAspect="1" noChangeArrowheads="1"/>
            </p:cNvSpPr>
            <p:nvPr/>
          </p:nvSpPr>
          <p:spPr bwMode="auto">
            <a:xfrm>
              <a:off x="3793" y="2092"/>
              <a:ext cx="6999" cy="40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ext Box 34"/>
            <p:cNvSpPr txBox="1">
              <a:spLocks noChangeArrowheads="1"/>
            </p:cNvSpPr>
            <p:nvPr/>
          </p:nvSpPr>
          <p:spPr bwMode="auto">
            <a:xfrm>
              <a:off x="6234" y="2673"/>
              <a:ext cx="1458" cy="2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Limited number of nurses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 Box 33"/>
            <p:cNvSpPr txBox="1">
              <a:spLocks noChangeArrowheads="1"/>
            </p:cNvSpPr>
            <p:nvPr/>
          </p:nvSpPr>
          <p:spPr bwMode="auto">
            <a:xfrm>
              <a:off x="4099" y="2673"/>
              <a:ext cx="1331" cy="2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No initiative for fund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 Box 32"/>
            <p:cNvSpPr txBox="1">
              <a:spLocks noChangeArrowheads="1"/>
            </p:cNvSpPr>
            <p:nvPr/>
          </p:nvSpPr>
          <p:spPr bwMode="auto">
            <a:xfrm>
              <a:off x="4016" y="5007"/>
              <a:ext cx="1802" cy="2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Demand not given for screening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31"/>
            <p:cNvSpPr txBox="1">
              <a:spLocks noChangeArrowheads="1"/>
            </p:cNvSpPr>
            <p:nvPr/>
          </p:nvSpPr>
          <p:spPr bwMode="auto">
            <a:xfrm>
              <a:off x="6008" y="5010"/>
              <a:ext cx="2076" cy="2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Lack of initiative of on-the-job training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Line 30"/>
            <p:cNvSpPr>
              <a:spLocks noChangeShapeType="1"/>
            </p:cNvSpPr>
            <p:nvPr/>
          </p:nvSpPr>
          <p:spPr bwMode="auto">
            <a:xfrm>
              <a:off x="4892" y="3906"/>
              <a:ext cx="3775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29"/>
            <p:cNvSpPr>
              <a:spLocks noChangeShapeType="1"/>
            </p:cNvSpPr>
            <p:nvPr/>
          </p:nvSpPr>
          <p:spPr bwMode="auto">
            <a:xfrm>
              <a:off x="8834" y="3902"/>
              <a:ext cx="1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392" y="3902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 flipV="1">
              <a:off x="5292" y="3902"/>
              <a:ext cx="8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>
              <a:off x="5292" y="2900"/>
              <a:ext cx="800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6992" y="3905"/>
              <a:ext cx="7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6993" y="2901"/>
              <a:ext cx="699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>
              <a:off x="5922" y="3908"/>
              <a:ext cx="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7534" y="3909"/>
              <a:ext cx="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6592" y="3902"/>
              <a:ext cx="18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4359" y="3366"/>
              <a:ext cx="700" cy="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4496" y="2998"/>
              <a:ext cx="1512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Fund was not available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4692" y="3299"/>
              <a:ext cx="1609" cy="2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Not supplied from the store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4892" y="3600"/>
              <a:ext cx="1600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Limited sitting arrangement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6592" y="2998"/>
              <a:ext cx="1668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Lack of work distribution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6992" y="3600"/>
              <a:ext cx="1543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Overload of the patient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6824" y="3299"/>
              <a:ext cx="1493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Limitation of time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4359" y="4705"/>
              <a:ext cx="1563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Screen not supplied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4496" y="4404"/>
              <a:ext cx="159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Lack of screening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4692" y="4057"/>
              <a:ext cx="1800" cy="2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Privacy not maintained properly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6775" y="4404"/>
              <a:ext cx="1415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Inadequate training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 Box 9"/>
            <p:cNvSpPr txBox="1">
              <a:spLocks noChangeArrowheads="1"/>
            </p:cNvSpPr>
            <p:nvPr/>
          </p:nvSpPr>
          <p:spPr bwMode="auto">
            <a:xfrm>
              <a:off x="6492" y="4705"/>
              <a:ext cx="1650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Lack of on-the-job training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6937" y="4103"/>
              <a:ext cx="1488" cy="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Lack of proper knowledge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8492" y="2998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8578" y="3366"/>
              <a:ext cx="969" cy="10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Labor room sister is not available.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 Box 5"/>
            <p:cNvSpPr txBox="1">
              <a:spLocks noChangeArrowheads="1"/>
            </p:cNvSpPr>
            <p:nvPr/>
          </p:nvSpPr>
          <p:spPr bwMode="auto">
            <a:xfrm>
              <a:off x="8034" y="2348"/>
              <a:ext cx="1218" cy="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3892" y="2348"/>
              <a:ext cx="1233" cy="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Material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 Box 3"/>
            <p:cNvSpPr txBox="1">
              <a:spLocks noChangeArrowheads="1"/>
            </p:cNvSpPr>
            <p:nvPr/>
          </p:nvSpPr>
          <p:spPr bwMode="auto">
            <a:xfrm>
              <a:off x="4016" y="5791"/>
              <a:ext cx="1375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Environment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2"/>
            <p:cNvSpPr txBox="1">
              <a:spLocks noChangeArrowheads="1"/>
            </p:cNvSpPr>
            <p:nvPr/>
          </p:nvSpPr>
          <p:spPr bwMode="auto">
            <a:xfrm>
              <a:off x="7986" y="5791"/>
              <a:ext cx="1348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Method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6380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685800" y="381000"/>
            <a:ext cx="4050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(c) Chlorine  </a:t>
            </a:r>
            <a:r>
              <a:rPr lang="en-US" dirty="0"/>
              <a:t>solution is not used properly</a:t>
            </a:r>
          </a:p>
        </p:txBody>
      </p:sp>
      <p:sp>
        <p:nvSpPr>
          <p:cNvPr id="81" name="Rectangle 157"/>
          <p:cNvSpPr>
            <a:spLocks noChangeArrowheads="1"/>
          </p:cNvSpPr>
          <p:nvPr/>
        </p:nvSpPr>
        <p:spPr bwMode="auto">
          <a:xfrm>
            <a:off x="313522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82" name="Group 121"/>
          <p:cNvGrpSpPr>
            <a:grpSpLocks noChangeAspect="1"/>
          </p:cNvGrpSpPr>
          <p:nvPr/>
        </p:nvGrpSpPr>
        <p:grpSpPr bwMode="auto">
          <a:xfrm>
            <a:off x="414079" y="890614"/>
            <a:ext cx="7997825" cy="4573588"/>
            <a:chOff x="3793" y="2092"/>
            <a:chExt cx="6999" cy="4020"/>
          </a:xfrm>
        </p:grpSpPr>
        <p:sp>
          <p:nvSpPr>
            <p:cNvPr id="83" name="AutoShape 156"/>
            <p:cNvSpPr>
              <a:spLocks noChangeAspect="1" noChangeArrowheads="1"/>
            </p:cNvSpPr>
            <p:nvPr/>
          </p:nvSpPr>
          <p:spPr bwMode="auto">
            <a:xfrm>
              <a:off x="3793" y="2092"/>
              <a:ext cx="6999" cy="40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Text Box 155"/>
            <p:cNvSpPr txBox="1">
              <a:spLocks noChangeArrowheads="1"/>
            </p:cNvSpPr>
            <p:nvPr/>
          </p:nvSpPr>
          <p:spPr bwMode="auto">
            <a:xfrm>
              <a:off x="6146" y="2654"/>
              <a:ext cx="1794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Lack of initiative for manpower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5" name="Text Box 154"/>
            <p:cNvSpPr txBox="1">
              <a:spLocks noChangeArrowheads="1"/>
            </p:cNvSpPr>
            <p:nvPr/>
          </p:nvSpPr>
          <p:spPr bwMode="auto">
            <a:xfrm>
              <a:off x="3934" y="2654"/>
              <a:ext cx="1834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Chlorine is not purched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6" name="Text Box 153"/>
            <p:cNvSpPr txBox="1">
              <a:spLocks noChangeArrowheads="1"/>
            </p:cNvSpPr>
            <p:nvPr/>
          </p:nvSpPr>
          <p:spPr bwMode="auto">
            <a:xfrm>
              <a:off x="3793" y="5010"/>
              <a:ext cx="1940" cy="2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Initiative not taken for supervision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7" name="Text Box 152"/>
            <p:cNvSpPr txBox="1">
              <a:spLocks noChangeArrowheads="1"/>
            </p:cNvSpPr>
            <p:nvPr/>
          </p:nvSpPr>
          <p:spPr bwMode="auto">
            <a:xfrm>
              <a:off x="6008" y="5007"/>
              <a:ext cx="1784" cy="2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Initiative not taken 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8" name="Line 151"/>
            <p:cNvSpPr>
              <a:spLocks noChangeShapeType="1"/>
            </p:cNvSpPr>
            <p:nvPr/>
          </p:nvSpPr>
          <p:spPr bwMode="auto">
            <a:xfrm>
              <a:off x="4442" y="3912"/>
              <a:ext cx="4278" cy="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150"/>
            <p:cNvSpPr>
              <a:spLocks noChangeShapeType="1"/>
            </p:cNvSpPr>
            <p:nvPr/>
          </p:nvSpPr>
          <p:spPr bwMode="auto">
            <a:xfrm>
              <a:off x="8834" y="3902"/>
              <a:ext cx="1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Line 149"/>
            <p:cNvSpPr>
              <a:spLocks noChangeShapeType="1"/>
            </p:cNvSpPr>
            <p:nvPr/>
          </p:nvSpPr>
          <p:spPr bwMode="auto">
            <a:xfrm>
              <a:off x="5392" y="3902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148"/>
            <p:cNvSpPr>
              <a:spLocks noChangeShapeType="1"/>
            </p:cNvSpPr>
            <p:nvPr/>
          </p:nvSpPr>
          <p:spPr bwMode="auto">
            <a:xfrm flipV="1">
              <a:off x="5292" y="3902"/>
              <a:ext cx="8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147"/>
            <p:cNvSpPr>
              <a:spLocks noChangeShapeType="1"/>
            </p:cNvSpPr>
            <p:nvPr/>
          </p:nvSpPr>
          <p:spPr bwMode="auto">
            <a:xfrm>
              <a:off x="5292" y="2900"/>
              <a:ext cx="800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146"/>
            <p:cNvSpPr>
              <a:spLocks noChangeShapeType="1"/>
            </p:cNvSpPr>
            <p:nvPr/>
          </p:nvSpPr>
          <p:spPr bwMode="auto">
            <a:xfrm flipV="1">
              <a:off x="6992" y="3905"/>
              <a:ext cx="7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Line 145"/>
            <p:cNvSpPr>
              <a:spLocks noChangeShapeType="1"/>
            </p:cNvSpPr>
            <p:nvPr/>
          </p:nvSpPr>
          <p:spPr bwMode="auto">
            <a:xfrm>
              <a:off x="6993" y="2901"/>
              <a:ext cx="699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144"/>
            <p:cNvSpPr>
              <a:spLocks noChangeShapeType="1"/>
            </p:cNvSpPr>
            <p:nvPr/>
          </p:nvSpPr>
          <p:spPr bwMode="auto">
            <a:xfrm>
              <a:off x="5926" y="3915"/>
              <a:ext cx="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Line 143"/>
            <p:cNvSpPr>
              <a:spLocks noChangeShapeType="1"/>
            </p:cNvSpPr>
            <p:nvPr/>
          </p:nvSpPr>
          <p:spPr bwMode="auto">
            <a:xfrm>
              <a:off x="7531" y="3903"/>
              <a:ext cx="200" cy="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Line 142"/>
            <p:cNvSpPr>
              <a:spLocks noChangeShapeType="1"/>
            </p:cNvSpPr>
            <p:nvPr/>
          </p:nvSpPr>
          <p:spPr bwMode="auto">
            <a:xfrm flipV="1">
              <a:off x="6520" y="3916"/>
              <a:ext cx="16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Text Box 141"/>
            <p:cNvSpPr txBox="1">
              <a:spLocks noChangeArrowheads="1"/>
            </p:cNvSpPr>
            <p:nvPr/>
          </p:nvSpPr>
          <p:spPr bwMode="auto">
            <a:xfrm>
              <a:off x="4359" y="3366"/>
              <a:ext cx="700" cy="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Text Box 140"/>
            <p:cNvSpPr txBox="1">
              <a:spLocks noChangeArrowheads="1"/>
            </p:cNvSpPr>
            <p:nvPr/>
          </p:nvSpPr>
          <p:spPr bwMode="auto">
            <a:xfrm>
              <a:off x="4057" y="2998"/>
              <a:ext cx="1773" cy="2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Chlorine  supplies is limited</a:t>
              </a:r>
              <a:endPara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0" name="Text Box 139"/>
            <p:cNvSpPr txBox="1">
              <a:spLocks noChangeArrowheads="1"/>
            </p:cNvSpPr>
            <p:nvPr/>
          </p:nvSpPr>
          <p:spPr bwMode="auto">
            <a:xfrm>
              <a:off x="4201" y="3299"/>
              <a:ext cx="2034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  Indent is not given in proper time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Text Box 138"/>
            <p:cNvSpPr txBox="1">
              <a:spLocks noChangeArrowheads="1"/>
            </p:cNvSpPr>
            <p:nvPr/>
          </p:nvSpPr>
          <p:spPr bwMode="auto">
            <a:xfrm>
              <a:off x="4098" y="3600"/>
              <a:ext cx="2232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  </a:t>
              </a:r>
              <a:r>
                <a:rPr kumimoji="0" lang="en-US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Irregular supplies of chlorine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" name="Text Box 137"/>
            <p:cNvSpPr txBox="1">
              <a:spLocks noChangeArrowheads="1"/>
            </p:cNvSpPr>
            <p:nvPr/>
          </p:nvSpPr>
          <p:spPr bwMode="auto">
            <a:xfrm>
              <a:off x="6520" y="2998"/>
              <a:ext cx="1723" cy="2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Shortage of manpower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" name="Text Box 136"/>
            <p:cNvSpPr txBox="1">
              <a:spLocks noChangeArrowheads="1"/>
            </p:cNvSpPr>
            <p:nvPr/>
          </p:nvSpPr>
          <p:spPr bwMode="auto">
            <a:xfrm>
              <a:off x="6915" y="3600"/>
              <a:ext cx="1623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Overload of the patient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" name="Text Box 135"/>
            <p:cNvSpPr txBox="1">
              <a:spLocks noChangeArrowheads="1"/>
            </p:cNvSpPr>
            <p:nvPr/>
          </p:nvSpPr>
          <p:spPr bwMode="auto">
            <a:xfrm>
              <a:off x="6633" y="3299"/>
              <a:ext cx="1777" cy="2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Work distribution is not done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" name="Text Box 134"/>
            <p:cNvSpPr txBox="1">
              <a:spLocks noChangeArrowheads="1"/>
            </p:cNvSpPr>
            <p:nvPr/>
          </p:nvSpPr>
          <p:spPr bwMode="auto">
            <a:xfrm>
              <a:off x="4098" y="4658"/>
              <a:ext cx="1732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Supervision not done properly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" name="Text Box 133"/>
            <p:cNvSpPr txBox="1">
              <a:spLocks noChangeArrowheads="1"/>
            </p:cNvSpPr>
            <p:nvPr/>
          </p:nvSpPr>
          <p:spPr bwMode="auto">
            <a:xfrm>
              <a:off x="4201" y="4371"/>
              <a:ext cx="1725" cy="2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Preparation not started in time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Text Box 132"/>
            <p:cNvSpPr txBox="1">
              <a:spLocks noChangeArrowheads="1"/>
            </p:cNvSpPr>
            <p:nvPr/>
          </p:nvSpPr>
          <p:spPr bwMode="auto">
            <a:xfrm>
              <a:off x="4442" y="4102"/>
              <a:ext cx="1566" cy="2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Delay for preparation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Text Box 131"/>
            <p:cNvSpPr txBox="1">
              <a:spLocks noChangeArrowheads="1"/>
            </p:cNvSpPr>
            <p:nvPr/>
          </p:nvSpPr>
          <p:spPr bwMode="auto">
            <a:xfrm>
              <a:off x="6092" y="4404"/>
              <a:ext cx="2050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Lack of knowledge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Text Box 130"/>
            <p:cNvSpPr txBox="1">
              <a:spLocks noChangeArrowheads="1"/>
            </p:cNvSpPr>
            <p:nvPr/>
          </p:nvSpPr>
          <p:spPr bwMode="auto">
            <a:xfrm>
              <a:off x="6008" y="4705"/>
              <a:ext cx="2067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Training not done properly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Text Box 129"/>
            <p:cNvSpPr txBox="1">
              <a:spLocks noChangeArrowheads="1"/>
            </p:cNvSpPr>
            <p:nvPr/>
          </p:nvSpPr>
          <p:spPr bwMode="auto">
            <a:xfrm>
              <a:off x="6186" y="4102"/>
              <a:ext cx="2380" cy="2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Lack of importance about chlorine solution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Line 128"/>
            <p:cNvSpPr>
              <a:spLocks noChangeShapeType="1"/>
            </p:cNvSpPr>
            <p:nvPr/>
          </p:nvSpPr>
          <p:spPr bwMode="auto">
            <a:xfrm>
              <a:off x="8492" y="2998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Text Box 127"/>
            <p:cNvSpPr txBox="1">
              <a:spLocks noChangeArrowheads="1"/>
            </p:cNvSpPr>
            <p:nvPr/>
          </p:nvSpPr>
          <p:spPr bwMode="auto">
            <a:xfrm>
              <a:off x="8615" y="3366"/>
              <a:ext cx="905" cy="10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Chlorine solution is not used properly.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" name="Text Box 126"/>
            <p:cNvSpPr txBox="1">
              <a:spLocks noChangeArrowheads="1"/>
            </p:cNvSpPr>
            <p:nvPr/>
          </p:nvSpPr>
          <p:spPr bwMode="auto">
            <a:xfrm>
              <a:off x="8075" y="2205"/>
              <a:ext cx="1218" cy="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" name="Text Box 125"/>
            <p:cNvSpPr txBox="1">
              <a:spLocks noChangeArrowheads="1"/>
            </p:cNvSpPr>
            <p:nvPr/>
          </p:nvSpPr>
          <p:spPr bwMode="auto">
            <a:xfrm>
              <a:off x="3934" y="2205"/>
              <a:ext cx="1233" cy="2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Material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" name="Text Box 124"/>
            <p:cNvSpPr txBox="1">
              <a:spLocks noChangeArrowheads="1"/>
            </p:cNvSpPr>
            <p:nvPr/>
          </p:nvSpPr>
          <p:spPr bwMode="auto">
            <a:xfrm>
              <a:off x="3892" y="5791"/>
              <a:ext cx="1233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Environment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Text Box 123"/>
            <p:cNvSpPr txBox="1">
              <a:spLocks noChangeArrowheads="1"/>
            </p:cNvSpPr>
            <p:nvPr/>
          </p:nvSpPr>
          <p:spPr bwMode="auto">
            <a:xfrm>
              <a:off x="8142" y="5791"/>
              <a:ext cx="1151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Method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Line 122"/>
            <p:cNvSpPr>
              <a:spLocks noChangeShapeType="1"/>
            </p:cNvSpPr>
            <p:nvPr/>
          </p:nvSpPr>
          <p:spPr bwMode="auto">
            <a:xfrm flipV="1">
              <a:off x="8492" y="3912"/>
              <a:ext cx="16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7537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30250" y="29787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(d)	  Counseling not done   among  the team members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646774" y="1225722"/>
            <a:ext cx="7997825" cy="4573588"/>
            <a:chOff x="3793" y="2092"/>
            <a:chExt cx="6999" cy="4020"/>
          </a:xfrm>
        </p:grpSpPr>
        <p:sp>
          <p:nvSpPr>
            <p:cNvPr id="6" name="AutoShape 35"/>
            <p:cNvSpPr>
              <a:spLocks noChangeAspect="1" noChangeArrowheads="1"/>
            </p:cNvSpPr>
            <p:nvPr/>
          </p:nvSpPr>
          <p:spPr bwMode="auto">
            <a:xfrm>
              <a:off x="3793" y="2092"/>
              <a:ext cx="6999" cy="40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ext Box 34"/>
            <p:cNvSpPr txBox="1">
              <a:spLocks noChangeArrowheads="1"/>
            </p:cNvSpPr>
            <p:nvPr/>
          </p:nvSpPr>
          <p:spPr bwMode="auto">
            <a:xfrm>
              <a:off x="6146" y="2654"/>
              <a:ext cx="1794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Lack of initiative for manpower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 Box 33"/>
            <p:cNvSpPr txBox="1">
              <a:spLocks noChangeArrowheads="1"/>
            </p:cNvSpPr>
            <p:nvPr/>
          </p:nvSpPr>
          <p:spPr bwMode="auto">
            <a:xfrm>
              <a:off x="3934" y="2654"/>
              <a:ext cx="1834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Not prepared the poster &amp;  chart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 Box 32"/>
            <p:cNvSpPr txBox="1">
              <a:spLocks noChangeArrowheads="1"/>
            </p:cNvSpPr>
            <p:nvPr/>
          </p:nvSpPr>
          <p:spPr bwMode="auto">
            <a:xfrm>
              <a:off x="3793" y="5010"/>
              <a:ext cx="1940" cy="2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Orientation about work in time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31"/>
            <p:cNvSpPr txBox="1">
              <a:spLocks noChangeArrowheads="1"/>
            </p:cNvSpPr>
            <p:nvPr/>
          </p:nvSpPr>
          <p:spPr bwMode="auto">
            <a:xfrm>
              <a:off x="6008" y="5007"/>
              <a:ext cx="1784" cy="2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SOP not supplied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Line 30"/>
            <p:cNvSpPr>
              <a:spLocks noChangeShapeType="1"/>
            </p:cNvSpPr>
            <p:nvPr/>
          </p:nvSpPr>
          <p:spPr bwMode="auto">
            <a:xfrm>
              <a:off x="4359" y="3907"/>
              <a:ext cx="4278" cy="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29"/>
            <p:cNvSpPr>
              <a:spLocks noChangeShapeType="1"/>
            </p:cNvSpPr>
            <p:nvPr/>
          </p:nvSpPr>
          <p:spPr bwMode="auto">
            <a:xfrm>
              <a:off x="8834" y="3902"/>
              <a:ext cx="1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392" y="3902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 flipV="1">
              <a:off x="5292" y="3902"/>
              <a:ext cx="8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>
              <a:off x="5292" y="2900"/>
              <a:ext cx="800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6992" y="3905"/>
              <a:ext cx="700" cy="1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6993" y="2901"/>
              <a:ext cx="699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>
              <a:off x="5926" y="3915"/>
              <a:ext cx="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7524" y="3907"/>
              <a:ext cx="2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6592" y="3902"/>
              <a:ext cx="25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4359" y="3366"/>
              <a:ext cx="700" cy="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4057" y="2998"/>
              <a:ext cx="1773" cy="2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Not available in store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4201" y="3299"/>
              <a:ext cx="2034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Not collected from store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4359" y="3600"/>
              <a:ext cx="2233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Poster and chart was not available 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6520" y="2998"/>
              <a:ext cx="1723" cy="2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Shortage of manpower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6915" y="3600"/>
              <a:ext cx="1623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Overload of the patient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6633" y="3299"/>
              <a:ext cx="1777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Work distribution is not done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4098" y="4658"/>
              <a:ext cx="1732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Distribution of time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4201" y="4371"/>
              <a:ext cx="1725" cy="2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Limited time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4442" y="4102"/>
              <a:ext cx="1566" cy="2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Over load of the patient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6092" y="4404"/>
              <a:ext cx="2050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Lack of SOP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 Box 9"/>
            <p:cNvSpPr txBox="1">
              <a:spLocks noChangeArrowheads="1"/>
            </p:cNvSpPr>
            <p:nvPr/>
          </p:nvSpPr>
          <p:spPr bwMode="auto">
            <a:xfrm>
              <a:off x="6008" y="4705"/>
              <a:ext cx="2067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SOP not collected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6186" y="4102"/>
              <a:ext cx="2380" cy="2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Arial" pitchFamily="34" charset="0"/>
                </a:rPr>
                <a:t>Lack of importance about counseling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8492" y="2998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8615" y="3600"/>
              <a:ext cx="905" cy="5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 </a:t>
              </a: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Counseling not done</a:t>
              </a: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   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 Box 5"/>
            <p:cNvSpPr txBox="1">
              <a:spLocks noChangeArrowheads="1"/>
            </p:cNvSpPr>
            <p:nvPr/>
          </p:nvSpPr>
          <p:spPr bwMode="auto">
            <a:xfrm>
              <a:off x="8075" y="2205"/>
              <a:ext cx="1218" cy="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3934" y="2205"/>
              <a:ext cx="1233" cy="2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Material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 Box 3"/>
            <p:cNvSpPr txBox="1">
              <a:spLocks noChangeArrowheads="1"/>
            </p:cNvSpPr>
            <p:nvPr/>
          </p:nvSpPr>
          <p:spPr bwMode="auto">
            <a:xfrm>
              <a:off x="3892" y="5791"/>
              <a:ext cx="1233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Environment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2"/>
            <p:cNvSpPr txBox="1">
              <a:spLocks noChangeArrowheads="1"/>
            </p:cNvSpPr>
            <p:nvPr/>
          </p:nvSpPr>
          <p:spPr bwMode="auto">
            <a:xfrm>
              <a:off x="8142" y="5791"/>
              <a:ext cx="1151" cy="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Vrinda"/>
                </a:rPr>
                <a:t>Method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0" name="Rectangle 59"/>
          <p:cNvSpPr>
            <a:spLocks noChangeArrowheads="1"/>
          </p:cNvSpPr>
          <p:nvPr/>
        </p:nvSpPr>
        <p:spPr bwMode="auto">
          <a:xfrm>
            <a:off x="0" y="50307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019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2841"/>
              </p:ext>
            </p:extLst>
          </p:nvPr>
        </p:nvGraphicFramePr>
        <p:xfrm>
          <a:off x="76200" y="609609"/>
          <a:ext cx="9067799" cy="6008903"/>
        </p:xfrm>
        <a:graphic>
          <a:graphicData uri="http://schemas.openxmlformats.org/drawingml/2006/table">
            <a:tbl>
              <a:tblPr firstRow="1" firstCol="1" bandRow="1"/>
              <a:tblGrid>
                <a:gridCol w="2653878"/>
                <a:gridCol w="1437712"/>
                <a:gridCol w="2537810"/>
                <a:gridCol w="447606"/>
                <a:gridCol w="332319"/>
                <a:gridCol w="442312"/>
                <a:gridCol w="442312"/>
                <a:gridCol w="442312"/>
                <a:gridCol w="331538"/>
              </a:tblGrid>
              <a:tr h="7179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Root cause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Primary action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/>
                          <a:ea typeface="Calibri"/>
                          <a:cs typeface="Vrinda"/>
                        </a:rPr>
                        <a:t>Secondary action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Importance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Urgency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Difficulty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/>
                          <a:ea typeface="Calibri"/>
                          <a:cs typeface="Vrinda"/>
                        </a:rPr>
                        <a:t>Time consumption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/>
                          <a:ea typeface="Calibri"/>
                          <a:cs typeface="Vrinda"/>
                        </a:rPr>
                        <a:t>Resource availability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/>
                          <a:ea typeface="Calibri"/>
                          <a:cs typeface="Vrinda"/>
                        </a:rPr>
                        <a:t>Total score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29913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No initiative for extra manpower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Initiative for extra manpower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Identify the extra manpower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Rearrangement of manpower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9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Delivery set was not available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Arrangement of good quality of delivery set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Purchase of delivery set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Identify good quality of delivery set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No SOP for using sterility of delivery set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Arrangements of SOP for using sterile sets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Collection of SOP for sterility  module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pre and post training arrangement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Less number of nurses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Arrangement of extra nurses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Posting of new nurses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rearrangement of nurses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No initiative of fund for sitting arrangement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Initiative for fund for sitting arrangement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Identify the probable cost of the chairs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11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324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Identify the donors for the support 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Not taken initiative for good quality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chlorine solution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Indenting of good quality  chlorine solution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Purchase of chlorine solution  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Orientation about the use of the solution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Identify the person supervises regularly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Initiative not taken for supervision of sterility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Organize regular supervision system 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Make a checklist for quality investigation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Ensure regular on-the-job training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Initiative not taken for counseling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Arrange effective counseling system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Identify the points for counseling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>
                          <a:effectLst/>
                          <a:latin typeface="Calibri"/>
                          <a:ea typeface="Calibri"/>
                          <a:cs typeface="Vrinda"/>
                        </a:rPr>
                        <a:t>13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Regular monitoring the system of counseling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 dirty="0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5172" marR="451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048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Step 4: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Identification of actions/countermeasures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84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096257"/>
              </p:ext>
            </p:extLst>
          </p:nvPr>
        </p:nvGraphicFramePr>
        <p:xfrm>
          <a:off x="228600" y="762000"/>
          <a:ext cx="8763000" cy="5915163"/>
        </p:xfrm>
        <a:graphic>
          <a:graphicData uri="http://schemas.openxmlformats.org/drawingml/2006/table">
            <a:tbl>
              <a:tblPr firstRow="1" firstCol="1" bandRow="1"/>
              <a:tblGrid>
                <a:gridCol w="401852"/>
                <a:gridCol w="2156025"/>
                <a:gridCol w="970560"/>
                <a:gridCol w="1147900"/>
                <a:gridCol w="866603"/>
                <a:gridCol w="1362804"/>
                <a:gridCol w="742553"/>
                <a:gridCol w="1114703"/>
              </a:tblGrid>
              <a:tr h="617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  <a:latin typeface="Calibri"/>
                          <a:ea typeface="Calibri"/>
                          <a:cs typeface="Vrinda"/>
                        </a:rPr>
                        <a:t>Sl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Actions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Vrinda"/>
                        </a:rPr>
                        <a:t>Where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Vrinda"/>
                        </a:rPr>
                        <a:t>Who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Vrinda"/>
                        </a:rPr>
                        <a:t>When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Vrinda"/>
                        </a:rPr>
                        <a:t>Date of monitoring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Vrinda"/>
                        </a:rPr>
                        <a:t>Who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Vrinda"/>
                        </a:rPr>
                        <a:t>Progress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4750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Identify the extra manpower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Consultant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20 to 30 Oct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28 Oct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RMO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Purchase of delivery set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Hospital 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30 Oct to 15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10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Collection of SOP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Consultant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15 to 20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18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Focal Person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Posting  of extra nurses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Hospital 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20 to 30 Oct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25 Oct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Focal Person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/>
                          <a:ea typeface="Calibri"/>
                          <a:cs typeface="Vrinda"/>
                        </a:rPr>
                        <a:t> Initiative for fund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Consultant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25 Oct to 5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30 Oct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RMO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6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pre and post training arrangement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Store keeper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25 Oct to 15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30 Oct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RMO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38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7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Identify the points for counseling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Hospital 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15 Oct to 20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17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Focal Person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Arial"/>
                          <a:ea typeface="Calibri"/>
                          <a:cs typeface="Vrinda"/>
                        </a:rPr>
                        <a:t>Regular monitoring the system of counseling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Team Leader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15 Nov to 20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17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Focal Person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63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9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Purchase of chlorine solution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Hospital 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25 Oct to 10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5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63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Vrinda"/>
                        </a:rPr>
                        <a:t>10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/>
                          <a:ea typeface="Calibri"/>
                          <a:cs typeface="Vrinda"/>
                        </a:rPr>
                        <a:t>Initiative  taken for supervision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/>
                          <a:ea typeface="Calibri"/>
                          <a:cs typeface="Vrinda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EOC ward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/>
                          <a:ea typeface="Calibri"/>
                          <a:cs typeface="Vrinda"/>
                        </a:rPr>
                        <a:t>Hospital 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30 Oct to 15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10 Nov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/>
                          <a:ea typeface="Calibri"/>
                          <a:cs typeface="Vrinda"/>
                        </a:rPr>
                        <a:t>Super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Vrinda"/>
                        </a:rPr>
                        <a:t> 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28600" y="379511"/>
            <a:ext cx="84669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Step 5: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Implementation of actions/countermeasures: action plan and progress monitoring for EOC ward (WIT-1)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981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94817"/>
              </p:ext>
            </p:extLst>
          </p:nvPr>
        </p:nvGraphicFramePr>
        <p:xfrm>
          <a:off x="533400" y="838198"/>
          <a:ext cx="8382000" cy="5791205"/>
        </p:xfrm>
        <a:graphic>
          <a:graphicData uri="http://schemas.openxmlformats.org/drawingml/2006/table">
            <a:tbl>
              <a:tblPr firstRow="1" firstCol="1" bandRow="1"/>
              <a:tblGrid>
                <a:gridCol w="940122"/>
                <a:gridCol w="2646513"/>
                <a:gridCol w="1072778"/>
                <a:gridCol w="1072778"/>
                <a:gridCol w="1292771"/>
                <a:gridCol w="1357038"/>
              </a:tblGrid>
              <a:tr h="32173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Calibri"/>
                          <a:ea typeface="Calibri"/>
                          <a:cs typeface="Vrinda"/>
                        </a:rPr>
                        <a:t>Sl</a:t>
                      </a:r>
                      <a:r>
                        <a:rPr lang="en-US" sz="1600" b="1" dirty="0">
                          <a:effectLst/>
                          <a:latin typeface="Calibri"/>
                          <a:ea typeface="Calibri"/>
                          <a:cs typeface="Vrinda"/>
                        </a:rPr>
                        <a:t> No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Vrinda"/>
                        </a:rPr>
                        <a:t>Contributing factors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Vrinda"/>
                        </a:rPr>
                        <a:t>Frequency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Vrinda"/>
                        </a:rPr>
                        <a:t>Frequency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Vrinda"/>
                        </a:rPr>
                        <a:t>Reduction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Vrinda"/>
                        </a:rPr>
                        <a:t>Reduced%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6434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Vrinda"/>
                        </a:rPr>
                        <a:t>Before PDCA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Vrinda"/>
                        </a:rPr>
                        <a:t>After PDCA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434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Sterile delivery set not used properly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34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/>
                          <a:ea typeface="Calibri"/>
                          <a:cs typeface="Vrinda"/>
                        </a:rPr>
                        <a:t>24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71%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34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Labor room sister is not available.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80%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34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Chlorine  solution is not used properly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83%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Counseling is not done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7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70%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52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Medical officer/Consultant is not supervise every case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6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83%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52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6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Labor room lighting system not functioning effectively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/>
                          <a:ea typeface="Calibri"/>
                          <a:cs typeface="Vrinda"/>
                        </a:rPr>
                        <a:t>1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80%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34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7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Privacy is not maintained properly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/>
                          <a:ea typeface="Calibri"/>
                          <a:cs typeface="Vrinda"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/>
                          <a:ea typeface="Calibri"/>
                          <a:cs typeface="Vrinda"/>
                        </a:rPr>
                        <a:t>100%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5582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Step 6: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/>
              </a:rPr>
              <a:t> Effectiveness of actions/countermeasures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855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D0854E-A3CA-4FF9-8780-1DF2FEDA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67360"/>
            <a:ext cx="8229600" cy="11430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Status of Communication Plan          </a:t>
            </a:r>
            <a:r>
              <a:rPr lang="en-US" sz="1800" dirty="0"/>
              <a:t>( what has developed in last workshop in BRAC CDM)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225791-C867-498F-9C12-D9D8C695D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828800"/>
            <a:ext cx="8229600" cy="4525963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dirty="0" smtClean="0"/>
              <a:t>Health education</a:t>
            </a:r>
          </a:p>
          <a:p>
            <a:r>
              <a:rPr lang="en-US" dirty="0" smtClean="0"/>
              <a:t>Hospital Authority &amp; Public face to face meeting – TIB </a:t>
            </a:r>
          </a:p>
          <a:p>
            <a:r>
              <a:rPr lang="en-US" dirty="0" smtClean="0"/>
              <a:t>Inter personal Communication.</a:t>
            </a:r>
          </a:p>
          <a:p>
            <a:r>
              <a:rPr lang="en-US" dirty="0" smtClean="0"/>
              <a:t>Group communication.</a:t>
            </a:r>
          </a:p>
          <a:p>
            <a:r>
              <a:rPr lang="en-US" dirty="0" smtClean="0"/>
              <a:t>Health Fair</a:t>
            </a:r>
          </a:p>
          <a:p>
            <a:r>
              <a:rPr lang="en-US" dirty="0" smtClean="0"/>
              <a:t>Facebook</a:t>
            </a:r>
          </a:p>
          <a:p>
            <a:r>
              <a:rPr lang="en-US" dirty="0" smtClean="0"/>
              <a:t>Display of citizen charter.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09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:\HSS Picture\Edited\Citizen Chatter 1 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89916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696200" cy="792162"/>
          </a:xfr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dirty="0"/>
              <a:t>Community Support Committee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43000" y="1219200"/>
            <a:ext cx="2514600" cy="639762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en-US" dirty="0" smtClean="0"/>
              <a:t>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ln>
            <a:solidFill>
              <a:srgbClr val="FF0000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1800" dirty="0" smtClean="0"/>
              <a:t>Mayor, </a:t>
            </a:r>
            <a:r>
              <a:rPr lang="en-US" sz="1800" dirty="0" err="1" smtClean="0"/>
              <a:t>Pouroshova</a:t>
            </a:r>
            <a:r>
              <a:rPr lang="en-US" sz="1800" dirty="0" smtClean="0"/>
              <a:t>, Jhenidah</a:t>
            </a:r>
          </a:p>
          <a:p>
            <a:r>
              <a:rPr lang="en-US" sz="1800" dirty="0" smtClean="0"/>
              <a:t>Rep. of Hon. MP,</a:t>
            </a:r>
          </a:p>
          <a:p>
            <a:r>
              <a:rPr lang="en-US" sz="1800" dirty="0" smtClean="0"/>
              <a:t> Rep- DC, </a:t>
            </a:r>
          </a:p>
          <a:p>
            <a:r>
              <a:rPr lang="en-US" sz="1800" dirty="0" smtClean="0"/>
              <a:t>Rep- SP</a:t>
            </a:r>
          </a:p>
          <a:p>
            <a:r>
              <a:rPr lang="en-US" sz="1800" dirty="0" smtClean="0"/>
              <a:t>Rep- CS</a:t>
            </a:r>
          </a:p>
          <a:p>
            <a:r>
              <a:rPr lang="en-US" sz="1800" dirty="0" smtClean="0"/>
              <a:t>Rep- </a:t>
            </a:r>
            <a:r>
              <a:rPr lang="en-US" sz="1800" dirty="0" err="1" smtClean="0"/>
              <a:t>BMA</a:t>
            </a:r>
            <a:endParaRPr lang="en-US" sz="1800" dirty="0" smtClean="0"/>
          </a:p>
          <a:p>
            <a:r>
              <a:rPr lang="en-US" sz="1800" dirty="0" err="1" smtClean="0"/>
              <a:t>RMO</a:t>
            </a:r>
            <a:endParaRPr lang="en-US" sz="1800" dirty="0" smtClean="0"/>
          </a:p>
          <a:p>
            <a:r>
              <a:rPr lang="en-US" sz="1800" dirty="0" smtClean="0"/>
              <a:t>Rep- BAR</a:t>
            </a:r>
          </a:p>
          <a:p>
            <a:r>
              <a:rPr lang="en-US" sz="1800" dirty="0" smtClean="0"/>
              <a:t>Rep- </a:t>
            </a:r>
            <a:r>
              <a:rPr lang="en-US" sz="1800" dirty="0" err="1" smtClean="0"/>
              <a:t>Pressclub</a:t>
            </a:r>
            <a:endParaRPr lang="en-US" sz="1800" dirty="0" smtClean="0"/>
          </a:p>
          <a:p>
            <a:r>
              <a:rPr lang="en-US" sz="1800" dirty="0" smtClean="0"/>
              <a:t>Dist. Social Fair </a:t>
            </a:r>
            <a:r>
              <a:rPr lang="en-US" sz="1800" dirty="0" err="1" smtClean="0"/>
              <a:t>Officer,Rep</a:t>
            </a:r>
            <a:r>
              <a:rPr lang="en-US" sz="1800" dirty="0" smtClean="0"/>
              <a:t>- NGO</a:t>
            </a:r>
          </a:p>
          <a:p>
            <a:r>
              <a:rPr lang="en-US" sz="1800" dirty="0" smtClean="0"/>
              <a:t>Rep- Alit Society ,</a:t>
            </a:r>
          </a:p>
          <a:p>
            <a:r>
              <a:rPr lang="en-US" sz="1800" dirty="0" smtClean="0"/>
              <a:t> Superintendent DH – </a:t>
            </a:r>
            <a:r>
              <a:rPr lang="en-US" sz="1800" dirty="0" err="1" smtClean="0"/>
              <a:t>Mem</a:t>
            </a:r>
            <a:r>
              <a:rPr lang="en-US" sz="1800" dirty="0" smtClean="0"/>
              <a:t> Secretary</a:t>
            </a:r>
          </a:p>
          <a:p>
            <a:r>
              <a:rPr lang="en-US" sz="1800" dirty="0" smtClean="0"/>
              <a:t>Advisor- Civil Surgeon </a:t>
            </a:r>
            <a:endParaRPr lang="en-US" sz="1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295400"/>
            <a:ext cx="2667000" cy="639762"/>
          </a:xfr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en-US" dirty="0" smtClean="0"/>
              <a:t>Meeting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ln>
            <a:solidFill>
              <a:srgbClr val="00B050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u="dbl" dirty="0" smtClean="0">
                <a:uFill>
                  <a:solidFill>
                    <a:srgbClr val="FF0000"/>
                  </a:solidFill>
                </a:uFill>
              </a:rPr>
              <a:t>2-5-16  - 7-1-18.   Total-   9</a:t>
            </a:r>
          </a:p>
          <a:p>
            <a:r>
              <a:rPr lang="en-US" dirty="0" err="1" smtClean="0"/>
              <a:t>Meeeting</a:t>
            </a:r>
            <a:r>
              <a:rPr lang="en-US" dirty="0" smtClean="0"/>
              <a:t> Date- </a:t>
            </a:r>
          </a:p>
          <a:p>
            <a:pPr>
              <a:buNone/>
            </a:pPr>
            <a:r>
              <a:rPr lang="en-US" dirty="0" smtClean="0"/>
              <a:t>2/5/16 –      1</a:t>
            </a:r>
            <a:r>
              <a:rPr lang="en-US" baseline="30000" dirty="0" smtClean="0"/>
              <a:t>st</a:t>
            </a:r>
            <a:r>
              <a:rPr lang="en-US" dirty="0" smtClean="0"/>
              <a:t> </a:t>
            </a:r>
            <a:r>
              <a:rPr lang="en-US" dirty="0" err="1" smtClean="0"/>
              <a:t>mett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28/6/16   -   2</a:t>
            </a:r>
            <a:r>
              <a:rPr lang="en-US" baseline="30000" dirty="0" smtClean="0"/>
              <a:t>nd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25/7/16 -      3</a:t>
            </a:r>
            <a:r>
              <a:rPr lang="en-US" baseline="30000" dirty="0" smtClean="0"/>
              <a:t>rd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27/10/16 -    4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5/2/17 -        5</a:t>
            </a:r>
            <a:r>
              <a:rPr lang="en-US" baseline="30000" dirty="0" smtClean="0"/>
              <a:t>th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8/4/17      -  6</a:t>
            </a:r>
            <a:r>
              <a:rPr lang="en-US" baseline="30000" dirty="0" smtClean="0"/>
              <a:t>th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22/6/17 -     7</a:t>
            </a:r>
            <a:r>
              <a:rPr lang="en-US" baseline="30000" dirty="0" smtClean="0"/>
              <a:t>th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10/10/17  -  8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7/1/18 –      9th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Major decision of Community participation committee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81600"/>
          </a:xfrm>
          <a:ln>
            <a:solidFill>
              <a:srgbClr val="FF0000"/>
            </a:solidFill>
          </a:ln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 smtClean="0">
                <a:solidFill>
                  <a:srgbClr val="7030A0"/>
                </a:solidFill>
              </a:rPr>
              <a:t>Active Community Participation 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2. </a:t>
            </a:r>
            <a:r>
              <a:rPr lang="en-US" sz="3000" dirty="0" smtClean="0">
                <a:solidFill>
                  <a:srgbClr val="7030A0"/>
                </a:solidFill>
              </a:rPr>
              <a:t>Reception room with manpower (by local </a:t>
            </a:r>
            <a:r>
              <a:rPr lang="en-US" sz="3000" b="1" dirty="0" smtClean="0">
                <a:solidFill>
                  <a:srgbClr val="7030A0"/>
                </a:solidFill>
              </a:rPr>
              <a:t>initiatives)</a:t>
            </a:r>
            <a:endParaRPr lang="en-US" dirty="0" smtClean="0">
              <a:solidFill>
                <a:srgbClr val="7030A0"/>
              </a:solidFill>
            </a:endParaRP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3. Health education in three places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4. Established </a:t>
            </a:r>
            <a:r>
              <a:rPr lang="en-US" dirty="0" err="1" smtClean="0">
                <a:solidFill>
                  <a:srgbClr val="7030A0"/>
                </a:solidFill>
              </a:rPr>
              <a:t>NCD</a:t>
            </a:r>
            <a:r>
              <a:rPr lang="en-US" dirty="0" smtClean="0">
                <a:solidFill>
                  <a:srgbClr val="7030A0"/>
                </a:solidFill>
              </a:rPr>
              <a:t> corner mainly for senior citizen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5. Bi-cycle stand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6. Neonatal Care Unit 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7. Separate pediatric word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8. Separate pediatric outdoor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9. Gate pass system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Mobile court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Digital X-ray machine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Representative control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Beautification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Solar Light , Generator </a:t>
            </a:r>
          </a:p>
          <a:p>
            <a:pPr lvl="0"/>
            <a:r>
              <a:rPr lang="en-US" dirty="0" smtClean="0">
                <a:solidFill>
                  <a:srgbClr val="7030A0"/>
                </a:solidFill>
              </a:rPr>
              <a:t>Wheel chair </a:t>
            </a:r>
          </a:p>
          <a:p>
            <a:pPr lvl="0"/>
            <a:endParaRPr lang="en-US" dirty="0" smtClean="0">
              <a:solidFill>
                <a:srgbClr val="7030A0"/>
              </a:solidFill>
            </a:endParaRPr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Status of implementation of community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r>
              <a:rPr lang="en-US" dirty="0" smtClean="0"/>
              <a:t>Maximum major decision are implemented 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approaches </a:t>
            </a:r>
            <a:r>
              <a:rPr lang="en-US" dirty="0" smtClean="0"/>
              <a:t>have been taken or being planned </a:t>
            </a:r>
            <a:r>
              <a:rPr lang="en-US" dirty="0"/>
              <a:t>??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9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8" y="906463"/>
            <a:ext cx="3802062" cy="2743200"/>
          </a:xfrm>
        </p:spPr>
      </p:pic>
      <p:pic>
        <p:nvPicPr>
          <p:cNvPr id="5530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914400"/>
            <a:ext cx="39719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733800"/>
            <a:ext cx="8001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284663" y="947738"/>
            <a:ext cx="3656012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C7E17"/>
                </a:solidFill>
                <a:latin typeface="+mj-lt"/>
              </a:rPr>
              <a:t>Community donated intercom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11188" y="3962400"/>
            <a:ext cx="36560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Community Supported Manpower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Gate pass System</a:t>
            </a:r>
            <a:endParaRPr lang="en-US" dirty="0"/>
          </a:p>
        </p:txBody>
      </p:sp>
      <p:pic>
        <p:nvPicPr>
          <p:cNvPr id="4" name="Content Placeholder 3" descr="IMG_351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1219200"/>
            <a:ext cx="7543799" cy="5293865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98888"/>
            <a:ext cx="4403725" cy="30321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84213"/>
            <a:ext cx="44640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43434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Status of Standard Monitoring </a:t>
            </a:r>
            <a:r>
              <a:rPr lang="en-US" dirty="0" smtClean="0"/>
              <a:t>checklist </a:t>
            </a:r>
            <a:r>
              <a:rPr lang="en-US" sz="3100" dirty="0" smtClean="0"/>
              <a:t>(Only </a:t>
            </a:r>
            <a:r>
              <a:rPr lang="en-US" sz="3100" dirty="0"/>
              <a:t>for Model hospital)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Client satisfaction survey.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Shortness of Manpower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Patient overload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Accommodation for patients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Safe drinking water supply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Vehicle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Security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Conflict between Patient &amp; Doctor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Budget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spcBef>
                <a:spcPct val="0"/>
              </a:spcBef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eaLnBrk="0" hangingPunct="0">
              <a:spcBef>
                <a:spcPct val="0"/>
              </a:spcBef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smtClean="0">
                <a:solidFill>
                  <a:prstClr val="black"/>
                </a:solidFill>
              </a:rPr>
              <a:t>1. Active </a:t>
            </a:r>
            <a:r>
              <a:rPr lang="en-US" b="1" dirty="0">
                <a:solidFill>
                  <a:prstClr val="black"/>
                </a:solidFill>
              </a:rPr>
              <a:t>C</a:t>
            </a:r>
            <a:r>
              <a:rPr lang="en-US" b="1" dirty="0" smtClean="0">
                <a:solidFill>
                  <a:prstClr val="black"/>
                </a:solidFill>
              </a:rPr>
              <a:t>ommunity Participation in health service is an example in </a:t>
            </a:r>
            <a:r>
              <a:rPr lang="en-US" b="1" dirty="0" err="1" smtClean="0">
                <a:solidFill>
                  <a:prstClr val="black"/>
                </a:solidFill>
              </a:rPr>
              <a:t>Bangldesh</a:t>
            </a:r>
            <a:r>
              <a:rPr lang="en-US" b="1" dirty="0" smtClean="0">
                <a:solidFill>
                  <a:prstClr val="black"/>
                </a:solidFill>
              </a:rPr>
              <a:t>.</a:t>
            </a: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prstClr val="black"/>
                </a:solidFill>
              </a:rPr>
              <a:t> </a:t>
            </a: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smtClean="0">
                <a:solidFill>
                  <a:prstClr val="black"/>
                </a:solidFill>
              </a:rPr>
              <a:t>2. Improved   </a:t>
            </a:r>
            <a:r>
              <a:rPr lang="en-US" b="1" dirty="0">
                <a:solidFill>
                  <a:prstClr val="black"/>
                </a:solidFill>
              </a:rPr>
              <a:t>p</a:t>
            </a:r>
            <a:r>
              <a:rPr lang="en-US" b="1" dirty="0" smtClean="0">
                <a:solidFill>
                  <a:prstClr val="black"/>
                </a:solidFill>
              </a:rPr>
              <a:t>erformance  of all services specially Pediatric, </a:t>
            </a:r>
            <a:r>
              <a:rPr lang="en-US" b="1" dirty="0">
                <a:solidFill>
                  <a:prstClr val="black"/>
                </a:solidFill>
              </a:rPr>
              <a:t>o</a:t>
            </a:r>
            <a:r>
              <a:rPr lang="en-US" b="1" dirty="0" smtClean="0">
                <a:solidFill>
                  <a:prstClr val="black"/>
                </a:solidFill>
              </a:rPr>
              <a:t>bstetric, operation and outdoor service.</a:t>
            </a:r>
            <a:endParaRPr lang="en-US" b="1" dirty="0">
              <a:solidFill>
                <a:prstClr val="black"/>
              </a:solidFill>
            </a:endParaRPr>
          </a:p>
          <a:p>
            <a:pPr mar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 smtClean="0">
              <a:solidFill>
                <a:prstClr val="black"/>
              </a:solidFill>
            </a:endParaRPr>
          </a:p>
          <a:p>
            <a:pPr mar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smtClean="0">
                <a:solidFill>
                  <a:prstClr val="black"/>
                </a:solidFill>
              </a:rPr>
              <a:t>3</a:t>
            </a:r>
            <a:r>
              <a:rPr lang="en-US" b="1" dirty="0">
                <a:solidFill>
                  <a:prstClr val="black"/>
                </a:solidFill>
              </a:rPr>
              <a:t>. Improved Cleanliness and </a:t>
            </a:r>
            <a:r>
              <a:rPr lang="en-US" b="1" dirty="0" smtClean="0">
                <a:solidFill>
                  <a:prstClr val="black"/>
                </a:solidFill>
              </a:rPr>
              <a:t>Beautification of Campus.</a:t>
            </a:r>
            <a:endParaRPr lang="en-US" b="1" dirty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 smtClean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smtClean="0">
                <a:solidFill>
                  <a:prstClr val="black"/>
                </a:solidFill>
              </a:rPr>
              <a:t>4. </a:t>
            </a:r>
            <a:r>
              <a:rPr lang="en-US" b="1" dirty="0">
                <a:solidFill>
                  <a:prstClr val="black"/>
                </a:solidFill>
              </a:rPr>
              <a:t>Functioning </a:t>
            </a:r>
            <a:r>
              <a:rPr lang="en-US" b="1" dirty="0" smtClean="0">
                <a:solidFill>
                  <a:prstClr val="black"/>
                </a:solidFill>
              </a:rPr>
              <a:t>of X-Ray service and starting of Biochemistry investigation by local initiatives.</a:t>
            </a:r>
            <a:endParaRPr lang="en-US" sz="900" dirty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 smtClean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smtClean="0">
                <a:solidFill>
                  <a:prstClr val="black"/>
                </a:solidFill>
              </a:rPr>
              <a:t>5. </a:t>
            </a:r>
            <a:r>
              <a:rPr lang="en-US" b="1" dirty="0">
                <a:solidFill>
                  <a:prstClr val="black"/>
                </a:solidFill>
              </a:rPr>
              <a:t>Improved </a:t>
            </a:r>
            <a:r>
              <a:rPr lang="en-US" b="1" dirty="0" smtClean="0">
                <a:solidFill>
                  <a:prstClr val="black"/>
                </a:solidFill>
              </a:rPr>
              <a:t>Security.</a:t>
            </a:r>
            <a:endParaRPr lang="en-US" sz="900" dirty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 smtClean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smtClean="0">
                <a:solidFill>
                  <a:prstClr val="black"/>
                </a:solidFill>
              </a:rPr>
              <a:t>6. </a:t>
            </a:r>
            <a:r>
              <a:rPr lang="en-US" b="1" dirty="0">
                <a:solidFill>
                  <a:prstClr val="black"/>
                </a:solidFill>
              </a:rPr>
              <a:t>Improved Financial Management</a:t>
            </a: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 smtClean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prstClr val="black"/>
                </a:solidFill>
              </a:rPr>
              <a:t>7</a:t>
            </a:r>
            <a:r>
              <a:rPr lang="en-US" b="1" dirty="0" smtClean="0">
                <a:solidFill>
                  <a:prstClr val="black"/>
                </a:solidFill>
              </a:rPr>
              <a:t>. Piloting of “Model  District Hospital” is running in Jhenaidah Sadar Hospital.</a:t>
            </a: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>
              <a:solidFill>
                <a:prstClr val="black"/>
              </a:solidFill>
            </a:endParaRP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smtClean="0">
                <a:solidFill>
                  <a:prstClr val="black"/>
                </a:solidFill>
              </a:rPr>
              <a:t>8. </a:t>
            </a:r>
            <a:r>
              <a:rPr lang="en-US" b="1" dirty="0">
                <a:solidFill>
                  <a:prstClr val="black"/>
                </a:solidFill>
              </a:rPr>
              <a:t>The hospital is </a:t>
            </a:r>
            <a:r>
              <a:rPr lang="en-US" b="1" dirty="0" smtClean="0">
                <a:solidFill>
                  <a:prstClr val="black"/>
                </a:solidFill>
              </a:rPr>
              <a:t>awarded 6 </a:t>
            </a:r>
            <a:r>
              <a:rPr lang="en-US" b="1" dirty="0">
                <a:solidFill>
                  <a:prstClr val="black"/>
                </a:solidFill>
              </a:rPr>
              <a:t>times from 2013 to </a:t>
            </a:r>
            <a:r>
              <a:rPr lang="en-US" b="1" dirty="0" smtClean="0">
                <a:solidFill>
                  <a:prstClr val="black"/>
                </a:solidFill>
              </a:rPr>
              <a:t>2018. </a:t>
            </a:r>
            <a:r>
              <a:rPr lang="en-US" b="1" dirty="0">
                <a:solidFill>
                  <a:prstClr val="black"/>
                </a:solidFill>
              </a:rPr>
              <a:t>Stood first award by 5S-KAIZEN-TQM among the 100 bedded district hospitals by defeating </a:t>
            </a:r>
            <a:r>
              <a:rPr lang="en-US" b="1" dirty="0" err="1" smtClean="0">
                <a:solidFill>
                  <a:prstClr val="black"/>
                </a:solidFill>
              </a:rPr>
              <a:t>Norsindi</a:t>
            </a:r>
            <a:r>
              <a:rPr lang="en-US" b="1" dirty="0" smtClean="0">
                <a:solidFill>
                  <a:prstClr val="black"/>
                </a:solidFill>
              </a:rPr>
              <a:t> </a:t>
            </a:r>
            <a:r>
              <a:rPr lang="en-US" b="1" dirty="0">
                <a:solidFill>
                  <a:prstClr val="black"/>
                </a:solidFill>
              </a:rPr>
              <a:t>Sadar Hospital.</a:t>
            </a: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56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r>
              <a:rPr lang="en-US" dirty="0" smtClean="0"/>
              <a:t>Improve lab service by community support.</a:t>
            </a:r>
          </a:p>
          <a:p>
            <a:r>
              <a:rPr lang="en-US" dirty="0" smtClean="0"/>
              <a:t>Improve patient transport system by community support.</a:t>
            </a:r>
          </a:p>
          <a:p>
            <a:r>
              <a:rPr lang="en-US" dirty="0" smtClean="0"/>
              <a:t>Establishment of C.C camera to improve security.</a:t>
            </a:r>
          </a:p>
          <a:p>
            <a:r>
              <a:rPr lang="en-US" dirty="0" smtClean="0"/>
              <a:t>Establishment of gene expert machine.</a:t>
            </a:r>
          </a:p>
          <a:p>
            <a:r>
              <a:rPr lang="en-US" dirty="0" smtClean="0"/>
              <a:t>Improve display system in every service center.</a:t>
            </a:r>
          </a:p>
          <a:p>
            <a:r>
              <a:rPr lang="en-US" dirty="0" smtClean="0"/>
              <a:t>Formation of disease related patient group.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 ALL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1990</Words>
  <Application>Microsoft Office PowerPoint</Application>
  <PresentationFormat>On-screen Show (4:3)</PresentationFormat>
  <Paragraphs>661</Paragraphs>
  <Slides>39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Office Theme</vt:lpstr>
      <vt:lpstr>1_Office Theme</vt:lpstr>
      <vt:lpstr>100 kh¨v wewkó m`i nvmcvZvj, wSbvB`n</vt:lpstr>
      <vt:lpstr>Quality Improvement &amp; Community Participation Initiative </vt:lpstr>
      <vt:lpstr>Introduction</vt:lpstr>
      <vt:lpstr>Introduction (Cont..)</vt:lpstr>
      <vt:lpstr>QIC in District hospital</vt:lpstr>
      <vt:lpstr>Status of 5S implementation</vt:lpstr>
      <vt:lpstr>Changes in EOC Ward</vt:lpstr>
      <vt:lpstr>Changes in Surgery Ward</vt:lpstr>
      <vt:lpstr>Use of color code, alignment of picture &amp; continuous big cleaning day</vt:lpstr>
      <vt:lpstr>Use of direction sign, labeling of rooms, clean latrine and waist segregation</vt:lpstr>
      <vt:lpstr>Changes in Office and Hospital Internal Environment</vt:lpstr>
      <vt:lpstr>PowerPoint Presentation</vt:lpstr>
      <vt:lpstr>Changes in Gardens of The Hospital</vt:lpstr>
      <vt:lpstr>Status of PDCA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Status of Communication Plan          ( what has developed in last workshop in BRAC CDM)</vt:lpstr>
      <vt:lpstr>PowerPoint Presentation</vt:lpstr>
      <vt:lpstr>Community Support Committee </vt:lpstr>
      <vt:lpstr>Major decision of Community participation committee meeting</vt:lpstr>
      <vt:lpstr>Status of implementation of community participation</vt:lpstr>
      <vt:lpstr>Innovative approach</vt:lpstr>
      <vt:lpstr>Innovative activities of Jhenaidah Sadar Hospital Page: 1</vt:lpstr>
      <vt:lpstr>Innovative activities of Jhenaidah Sadar Hospital Page: 2 </vt:lpstr>
      <vt:lpstr>Innovative activities of Jhenaidah Sadar Hospital Page: 3</vt:lpstr>
      <vt:lpstr>PowerPoint Presentation</vt:lpstr>
      <vt:lpstr>Gate pass System</vt:lpstr>
      <vt:lpstr>Hospital Environment</vt:lpstr>
      <vt:lpstr>Status of Standard Monitoring checklist (Only for Model hospital)</vt:lpstr>
      <vt:lpstr>Challenges</vt:lpstr>
      <vt:lpstr>PowerPoint Presentation</vt:lpstr>
      <vt:lpstr>Way forward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Improvement &amp; Community Participation Initiative</dc:title>
  <dc:creator>HP</dc:creator>
  <cp:lastModifiedBy>Emdad</cp:lastModifiedBy>
  <cp:revision>63</cp:revision>
  <dcterms:created xsi:type="dcterms:W3CDTF">2018-02-20T05:56:36Z</dcterms:created>
  <dcterms:modified xsi:type="dcterms:W3CDTF">2018-03-02T17:48:46Z</dcterms:modified>
</cp:coreProperties>
</file>