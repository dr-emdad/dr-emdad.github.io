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drawings/drawing2.xml" ContentType="application/vnd.openxmlformats-officedocument.drawingml.chartshapes+xml"/>
  <Override PartName="/ppt/charts/chart9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13"/>
  </p:notesMasterIdLst>
  <p:handoutMasterIdLst>
    <p:handoutMasterId r:id="rId14"/>
  </p:handoutMasterIdLst>
  <p:sldIdLst>
    <p:sldId id="435" r:id="rId2"/>
    <p:sldId id="442" r:id="rId3"/>
    <p:sldId id="327" r:id="rId4"/>
    <p:sldId id="352" r:id="rId5"/>
    <p:sldId id="326" r:id="rId6"/>
    <p:sldId id="328" r:id="rId7"/>
    <p:sldId id="401" r:id="rId8"/>
    <p:sldId id="351" r:id="rId9"/>
    <p:sldId id="346" r:id="rId10"/>
    <p:sldId id="428" r:id="rId11"/>
    <p:sldId id="362" r:id="rId12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EEE00"/>
    <a:srgbClr val="33CC33"/>
    <a:srgbClr val="0C7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44" autoAdjust="0"/>
    <p:restoredTop sz="91860" autoAdjust="0"/>
  </p:normalViewPr>
  <p:slideViewPr>
    <p:cSldViewPr>
      <p:cViewPr>
        <p:scale>
          <a:sx n="70" d="100"/>
          <a:sy n="70" d="100"/>
        </p:scale>
        <p:origin x="-1608" y="-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chartUserShapes" Target="../drawings/drawing1.xml"/><Relationship Id="rId2" Type="http://schemas.openxmlformats.org/officeDocument/2006/relationships/oleObject" Target="file:///C:\Users\USER\Desktop\Chart\Covid-19%20report%2020.xlsx" TargetMode="External"/><Relationship Id="rId1" Type="http://schemas.openxmlformats.org/officeDocument/2006/relationships/image" Target="../media/image1.jpeg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Desktop\Chart\Covid-19%20report%2020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image" Target="../media/image2.jpeg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image" Target="../media/image3.jpeg"/></Relationships>
</file>

<file path=ppt/charts/_rels/chart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4.jpeg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7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USER\Desktop\Chart\EOC.xlsx" TargetMode="External"/><Relationship Id="rId1" Type="http://schemas.openxmlformats.org/officeDocument/2006/relationships/image" Target="../media/image5.jpeg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image" Target="../media/image2.jpeg"/><Relationship Id="rId1" Type="http://schemas.openxmlformats.org/officeDocument/2006/relationships/image" Target="../media/image7.jpeg"/><Relationship Id="rId4" Type="http://schemas.openxmlformats.org/officeDocument/2006/relationships/chartUserShapes" Target="../drawings/drawing2.xml"/></Relationships>
</file>

<file path=ppt/charts/_rels/chart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6.xlsx"/><Relationship Id="rId1" Type="http://schemas.openxmlformats.org/officeDocument/2006/relationships/image" Target="../media/image6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B050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FFFF00"/>
              </a:solidFill>
            </c:spPr>
          </c:dPt>
          <c:dPt>
            <c:idx val="3"/>
            <c:bubble3D val="0"/>
            <c:spPr>
              <a:solidFill>
                <a:srgbClr val="FFC000"/>
              </a:solidFill>
            </c:spPr>
          </c:dPt>
          <c:dPt>
            <c:idx val="4"/>
            <c:bubble3D val="0"/>
            <c:spPr>
              <a:solidFill>
                <a:srgbClr val="FF0000"/>
              </a:solidFill>
            </c:spPr>
          </c:dPt>
          <c:dLbls>
            <c:dLbl>
              <c:idx val="1"/>
              <c:layout>
                <c:manualLayout>
                  <c:x val="-9.4279965004374744E-2"/>
                  <c:y val="0.18361961699232326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2"/>
              <c:layout>
                <c:manualLayout>
                  <c:x val="-0.13692432195975487"/>
                  <c:y val="8.5345419785490748E-2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3"/>
              <c:layout>
                <c:manualLayout>
                  <c:x val="-3.1284886264217014E-2"/>
                  <c:y val="-2.7777939794563108E-2"/>
                </c:manualLayout>
              </c:layout>
              <c:spPr/>
              <c:txPr>
                <a:bodyPr rot="-5400000" vert="horz"/>
                <a:lstStyle/>
                <a:p>
                  <a:pPr>
                    <a:defRPr sz="1800"/>
                  </a:pPr>
                  <a:endParaRPr lang="en-US"/>
                </a:p>
              </c:txPr>
              <c:showLegendKey val="0"/>
              <c:showVal val="1"/>
              <c:showCatName val="1"/>
              <c:showSerName val="0"/>
              <c:showPercent val="1"/>
              <c:showBubbleSize val="0"/>
            </c:dLbl>
            <c:dLbl>
              <c:idx val="4"/>
              <c:layout>
                <c:manualLayout>
                  <c:x val="2.2308617672791478E-2"/>
                  <c:y val="0"/>
                </c:manualLayout>
              </c:layout>
              <c:showLegendKey val="0"/>
              <c:showVal val="1"/>
              <c:showCatName val="1"/>
              <c:showSerName val="0"/>
              <c:showPercent val="1"/>
              <c:showBubbleSize val="0"/>
            </c:dLbl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Sheet1!$C$4:$C$8</c:f>
              <c:numCache>
                <c:formatCode>General</c:formatCode>
                <c:ptCount val="5"/>
                <c:pt idx="0">
                  <c:v>960</c:v>
                </c:pt>
                <c:pt idx="1">
                  <c:v>62</c:v>
                </c:pt>
                <c:pt idx="2">
                  <c:v>68</c:v>
                </c:pt>
                <c:pt idx="3">
                  <c:v>1</c:v>
                </c:pt>
                <c:pt idx="4">
                  <c:v>208</c:v>
                </c:pt>
              </c:numCache>
            </c:numRef>
          </c:val>
        </c:ser>
        <c:ser>
          <c:idx val="1"/>
          <c:order val="1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Sheet1!$D$4:$D$8</c:f>
              <c:numCache>
                <c:formatCode>General</c:formatCode>
                <c:ptCount val="5"/>
              </c:numCache>
            </c:numRef>
          </c:val>
        </c:ser>
        <c:ser>
          <c:idx val="2"/>
          <c:order val="2"/>
          <c:cat>
            <c:strRef>
              <c:f>Sheet1!$B$4:$B$8</c:f>
              <c:strCache>
                <c:ptCount val="5"/>
                <c:pt idx="0">
                  <c:v>Release</c:v>
                </c:pt>
                <c:pt idx="1">
                  <c:v>DORB</c:v>
                </c:pt>
                <c:pt idx="2">
                  <c:v>Ref.</c:v>
                </c:pt>
                <c:pt idx="3">
                  <c:v>Stay </c:v>
                </c:pt>
                <c:pt idx="4">
                  <c:v>Death</c:v>
                </c:pt>
              </c:strCache>
            </c:strRef>
          </c:cat>
          <c:val>
            <c:numRef>
              <c:f>Sheet1!$E$4:$E$8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externalData r:id="rId2">
    <c:autoUpdate val="0"/>
  </c:externalData>
  <c:userShapes r:id="rId3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'20-21'!$C$5</c:f>
              <c:strCache>
                <c:ptCount val="1"/>
                <c:pt idx="0">
                  <c:v>20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'20-21'!$C$6:$C$11</c:f>
              <c:numCache>
                <c:formatCode>General</c:formatCode>
                <c:ptCount val="6"/>
                <c:pt idx="0">
                  <c:v>607</c:v>
                </c:pt>
                <c:pt idx="1">
                  <c:v>293</c:v>
                </c:pt>
                <c:pt idx="2">
                  <c:v>233</c:v>
                </c:pt>
                <c:pt idx="3">
                  <c:v>17</c:v>
                </c:pt>
                <c:pt idx="4">
                  <c:v>23</c:v>
                </c:pt>
                <c:pt idx="5">
                  <c:v>18</c:v>
                </c:pt>
              </c:numCache>
            </c:numRef>
          </c:val>
        </c:ser>
        <c:ser>
          <c:idx val="1"/>
          <c:order val="1"/>
          <c:tx>
            <c:strRef>
              <c:f>'20-21'!$D$5</c:f>
              <c:strCache>
                <c:ptCount val="1"/>
                <c:pt idx="0">
                  <c:v>21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20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'20-21'!$B$6:$B$11</c:f>
              <c:strCache>
                <c:ptCount val="6"/>
                <c:pt idx="0">
                  <c:v>Suspected</c:v>
                </c:pt>
                <c:pt idx="1">
                  <c:v>Confirmed </c:v>
                </c:pt>
                <c:pt idx="2">
                  <c:v>Cured</c:v>
                </c:pt>
                <c:pt idx="3">
                  <c:v>Ref.</c:v>
                </c:pt>
                <c:pt idx="4">
                  <c:v>DORB</c:v>
                </c:pt>
                <c:pt idx="5">
                  <c:v>Death</c:v>
                </c:pt>
              </c:strCache>
            </c:strRef>
          </c:cat>
          <c:val>
            <c:numRef>
              <c:f>'20-21'!$D$6:$D$11</c:f>
              <c:numCache>
                <c:formatCode>General</c:formatCode>
                <c:ptCount val="6"/>
                <c:pt idx="0">
                  <c:v>1906</c:v>
                </c:pt>
                <c:pt idx="1">
                  <c:v>1006</c:v>
                </c:pt>
                <c:pt idx="2">
                  <c:v>727</c:v>
                </c:pt>
                <c:pt idx="3">
                  <c:v>50</c:v>
                </c:pt>
                <c:pt idx="4">
                  <c:v>39</c:v>
                </c:pt>
                <c:pt idx="5">
                  <c:v>190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4953216"/>
        <c:axId val="194954752"/>
      </c:barChart>
      <c:catAx>
        <c:axId val="19495321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500" b="1" i="0" baseline="0"/>
            </a:pPr>
            <a:endParaRPr lang="en-US"/>
          </a:p>
        </c:txPr>
        <c:crossAx val="194954752"/>
        <c:crosses val="autoZero"/>
        <c:auto val="1"/>
        <c:lblAlgn val="ctr"/>
        <c:lblOffset val="100"/>
        <c:noMultiLvlLbl val="0"/>
      </c:catAx>
      <c:valAx>
        <c:axId val="19495475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4953216"/>
        <c:crosses val="autoZero"/>
        <c:crossBetween val="between"/>
      </c:valAx>
    </c:plotArea>
    <c:legend>
      <c:legendPos val="t"/>
      <c:legendEntry>
        <c:idx val="0"/>
        <c:txPr>
          <a:bodyPr/>
          <a:lstStyle/>
          <a:p>
            <a:pPr>
              <a:defRPr sz="2000" baseline="0"/>
            </a:pPr>
            <a:endParaRPr lang="en-US"/>
          </a:p>
        </c:txPr>
      </c:legendEntry>
      <c:layout/>
      <c:overlay val="0"/>
      <c:txPr>
        <a:bodyPr/>
        <a:lstStyle/>
        <a:p>
          <a:pPr>
            <a:defRPr sz="2000" baseline="0"/>
          </a:pPr>
          <a:endParaRPr lang="en-US"/>
        </a:p>
      </c:txPr>
    </c:legend>
    <c:plotVisOnly val="1"/>
    <c:dispBlanksAs val="gap"/>
    <c:showDLblsOverMax val="0"/>
  </c:chart>
  <c:spPr>
    <a:solidFill>
      <a:schemeClr val="accent5">
        <a:lumMod val="40000"/>
        <a:lumOff val="60000"/>
      </a:schemeClr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1.0174150528481239E-3"/>
          <c:w val="1"/>
          <c:h val="0.894109739660920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81796</c:v>
                </c:pt>
                <c:pt idx="1">
                  <c:v>192791</c:v>
                </c:pt>
                <c:pt idx="2">
                  <c:v>233868</c:v>
                </c:pt>
                <c:pt idx="3">
                  <c:v>277301</c:v>
                </c:pt>
                <c:pt idx="4">
                  <c:v>296235</c:v>
                </c:pt>
                <c:pt idx="5">
                  <c:v>340932</c:v>
                </c:pt>
                <c:pt idx="6">
                  <c:v>384928</c:v>
                </c:pt>
                <c:pt idx="7">
                  <c:v>407474</c:v>
                </c:pt>
                <c:pt idx="8">
                  <c:v>267724</c:v>
                </c:pt>
                <c:pt idx="9">
                  <c:v>305325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6.2305295950157713E-3"/>
                  <c:y val="-1.11111111111112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layout>
                <c:manualLayout>
                  <c:x val="6.2305295950157713E-3"/>
                  <c:y val="8.3333333333333367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layout>
                <c:manualLayout>
                  <c:x val="-1.0708427071616101E-3"/>
                  <c:y val="-1.38564222440944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layout>
                <c:manualLayout>
                  <c:x val="-6.5370734908139336E-4"/>
                  <c:y val="-1.257935531496064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12973</c:v>
                </c:pt>
                <c:pt idx="1">
                  <c:v>24643</c:v>
                </c:pt>
                <c:pt idx="2">
                  <c:v>27905</c:v>
                </c:pt>
                <c:pt idx="3">
                  <c:v>29562</c:v>
                </c:pt>
                <c:pt idx="4">
                  <c:v>32300</c:v>
                </c:pt>
                <c:pt idx="5">
                  <c:v>35569</c:v>
                </c:pt>
                <c:pt idx="6">
                  <c:v>37096</c:v>
                </c:pt>
                <c:pt idx="7">
                  <c:v>42551</c:v>
                </c:pt>
                <c:pt idx="8">
                  <c:v>27989</c:v>
                </c:pt>
                <c:pt idx="9">
                  <c:v>36114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5941120"/>
        <c:axId val="195942656"/>
      </c:barChart>
      <c:catAx>
        <c:axId val="195941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5942656"/>
        <c:crosses val="autoZero"/>
        <c:auto val="1"/>
        <c:lblAlgn val="ctr"/>
        <c:lblOffset val="100"/>
        <c:noMultiLvlLbl val="0"/>
      </c:catAx>
      <c:valAx>
        <c:axId val="1959426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5941120"/>
        <c:crosses val="autoZero"/>
        <c:crossBetween val="between"/>
      </c:valAx>
      <c:spPr>
        <a:blipFill>
          <a:blip xmlns:r="http://schemas.openxmlformats.org/officeDocument/2006/relationships" r:embed="rId1"/>
          <a:tile tx="0" ty="0" sx="100000" sy="100000" flip="none" algn="tl"/>
        </a:blipFill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5.7589676290463823E-4"/>
          <c:y val="4.3358628589390852E-2"/>
          <c:w val="0.99942410323709541"/>
          <c:h val="0.821918720909672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dLbl>
              <c:idx val="4"/>
              <c:layout>
                <c:manualLayout>
                  <c:x val="-8.6206896551724223E-3"/>
                  <c:y val="1.08481456077397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766</c:v>
                </c:pt>
                <c:pt idx="1">
                  <c:v>835</c:v>
                </c:pt>
                <c:pt idx="2">
                  <c:v>876</c:v>
                </c:pt>
                <c:pt idx="3">
                  <c:v>1028</c:v>
                </c:pt>
                <c:pt idx="4">
                  <c:v>1000</c:v>
                </c:pt>
                <c:pt idx="5">
                  <c:v>804</c:v>
                </c:pt>
                <c:pt idx="6">
                  <c:v>1018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923</c:v>
                </c:pt>
                <c:pt idx="1">
                  <c:v>1595</c:v>
                </c:pt>
                <c:pt idx="2">
                  <c:v>1493</c:v>
                </c:pt>
                <c:pt idx="3">
                  <c:v>1535</c:v>
                </c:pt>
                <c:pt idx="4">
                  <c:v>2014</c:v>
                </c:pt>
                <c:pt idx="5">
                  <c:v>910</c:v>
                </c:pt>
                <c:pt idx="6">
                  <c:v>2282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 rot="-5400000" vert="horz"/>
              <a:lstStyle/>
              <a:p>
                <a:pPr>
                  <a:defRPr sz="1600" b="1" baseline="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Sheet1!$D$2:$D$8</c:f>
              <c:numCache>
                <c:formatCode>General</c:formatCode>
                <c:ptCount val="7"/>
                <c:pt idx="0">
                  <c:v>806</c:v>
                </c:pt>
                <c:pt idx="1">
                  <c:v>1123</c:v>
                </c:pt>
                <c:pt idx="2">
                  <c:v>1297</c:v>
                </c:pt>
                <c:pt idx="3">
                  <c:v>1029</c:v>
                </c:pt>
                <c:pt idx="4">
                  <c:v>1648</c:v>
                </c:pt>
                <c:pt idx="5">
                  <c:v>861</c:v>
                </c:pt>
                <c:pt idx="6">
                  <c:v>3074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Sheet1!$E$2:$E$8</c:f>
              <c:numCache>
                <c:formatCode>General</c:formatCode>
                <c:ptCount val="7"/>
                <c:pt idx="0">
                  <c:v>2495</c:v>
                </c:pt>
                <c:pt idx="1">
                  <c:v>3553</c:v>
                </c:pt>
                <c:pt idx="2">
                  <c:v>3666</c:v>
                </c:pt>
                <c:pt idx="3">
                  <c:v>3592</c:v>
                </c:pt>
                <c:pt idx="4">
                  <c:v>4662</c:v>
                </c:pt>
                <c:pt idx="5">
                  <c:v>2575</c:v>
                </c:pt>
                <c:pt idx="6">
                  <c:v>6374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5713280"/>
        <c:axId val="195735552"/>
      </c:barChart>
      <c:catAx>
        <c:axId val="195713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95735552"/>
        <c:crosses val="autoZero"/>
        <c:auto val="1"/>
        <c:lblAlgn val="ctr"/>
        <c:lblOffset val="100"/>
        <c:noMultiLvlLbl val="0"/>
      </c:catAx>
      <c:valAx>
        <c:axId val="1957355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5713280"/>
        <c:crosses val="autoZero"/>
        <c:crossBetween val="between"/>
      </c:valAx>
    </c:plotArea>
    <c:legend>
      <c:legendPos val="t"/>
      <c:legendEntry>
        <c:idx val="1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1800" b="1" baseline="0"/>
            </a:pPr>
            <a:endParaRPr lang="en-US"/>
          </a:p>
        </c:txPr>
      </c:legendEntry>
      <c:layout>
        <c:manualLayout>
          <c:xMode val="edge"/>
          <c:yMode val="edge"/>
          <c:x val="0"/>
          <c:y val="0"/>
          <c:w val="0.70813571741032932"/>
          <c:h val="8.1837744679505414E-2"/>
        </c:manualLayout>
      </c:layout>
      <c:overlay val="0"/>
      <c:txPr>
        <a:bodyPr/>
        <a:lstStyle/>
        <a:p>
          <a:pPr>
            <a:defRPr sz="1800" b="1" baseline="0"/>
          </a:pPr>
          <a:endParaRPr lang="en-US"/>
        </a:p>
      </c:txPr>
    </c:legend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88894883509932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txPr>
              <a:bodyPr/>
              <a:lstStyle/>
              <a:p>
                <a:pPr>
                  <a:defRPr sz="20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0%</c:formatCode>
                <c:ptCount val="10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1.9300000000000044</c:v>
                </c:pt>
                <c:pt idx="4">
                  <c:v>2.14</c:v>
                </c:pt>
                <c:pt idx="5">
                  <c:v>2.42</c:v>
                </c:pt>
                <c:pt idx="6">
                  <c:v>2.5099999999999998</c:v>
                </c:pt>
                <c:pt idx="7">
                  <c:v>2.88</c:v>
                </c:pt>
                <c:pt idx="8">
                  <c:v>1.85</c:v>
                </c:pt>
                <c:pt idx="9">
                  <c:v>2.5099999999999998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5671552"/>
        <c:axId val="195673088"/>
      </c:barChart>
      <c:catAx>
        <c:axId val="1956715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400" baseline="0"/>
            </a:pPr>
            <a:endParaRPr lang="en-US"/>
          </a:p>
        </c:txPr>
        <c:crossAx val="195673088"/>
        <c:crosses val="autoZero"/>
        <c:auto val="1"/>
        <c:lblAlgn val="ctr"/>
        <c:lblOffset val="100"/>
        <c:noMultiLvlLbl val="0"/>
      </c:catAx>
      <c:valAx>
        <c:axId val="195673088"/>
        <c:scaling>
          <c:orientation val="minMax"/>
        </c:scaling>
        <c:delete val="1"/>
        <c:axPos val="l"/>
        <c:majorGridlines/>
        <c:numFmt formatCode="0%" sourceLinked="1"/>
        <c:majorTickMark val="out"/>
        <c:minorTickMark val="none"/>
        <c:tickLblPos val="nextTo"/>
        <c:crossAx val="195671552"/>
        <c:crosses val="autoZero"/>
        <c:crossBetween val="between"/>
      </c:valAx>
      <c:spPr>
        <a:solidFill>
          <a:srgbClr val="92D050"/>
        </a:solidFill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800" b="1"/>
      </a:pPr>
      <a:endParaRPr lang="en-US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solidFill>
          <a:srgbClr val="FFC000"/>
        </a:solidFill>
      </c:spPr>
    </c:sideWall>
    <c:backWall>
      <c:thickness val="0"/>
      <c:spPr>
        <a:solidFill>
          <a:srgbClr val="FFC000"/>
        </a:solidFill>
      </c:spPr>
    </c:backWall>
    <c:plotArea>
      <c:layout>
        <c:manualLayout>
          <c:layoutTarget val="inner"/>
          <c:xMode val="edge"/>
          <c:yMode val="edge"/>
          <c:x val="1.3205380577427821E-3"/>
          <c:y val="3.3947759542105431E-2"/>
          <c:w val="0.9986794619422551"/>
          <c:h val="0.87521333461366113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8865E-3"/>
                  <c:y val="-5.57724964536110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2012</c:v>
                </c:pt>
                <c:pt idx="1">
                  <c:v>2013</c:v>
                </c:pt>
                <c:pt idx="2">
                  <c:v>2014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  <c:pt idx="6">
                  <c:v>2018</c:v>
                </c:pt>
                <c:pt idx="7">
                  <c:v>2019</c:v>
                </c:pt>
                <c:pt idx="8">
                  <c:v>2020</c:v>
                </c:pt>
                <c:pt idx="9">
                  <c:v>2021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977</c:v>
                </c:pt>
                <c:pt idx="1">
                  <c:v>1294</c:v>
                </c:pt>
                <c:pt idx="2">
                  <c:v>1339</c:v>
                </c:pt>
                <c:pt idx="3">
                  <c:v>1582</c:v>
                </c:pt>
                <c:pt idx="4">
                  <c:v>1383</c:v>
                </c:pt>
                <c:pt idx="5">
                  <c:v>1578</c:v>
                </c:pt>
                <c:pt idx="6">
                  <c:v>1385</c:v>
                </c:pt>
                <c:pt idx="7">
                  <c:v>1496</c:v>
                </c:pt>
                <c:pt idx="8">
                  <c:v>1445</c:v>
                </c:pt>
                <c:pt idx="9">
                  <c:v>1445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95806720"/>
        <c:axId val="195808256"/>
        <c:axId val="0"/>
      </c:bar3DChart>
      <c:catAx>
        <c:axId val="195806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000" b="1" baseline="0"/>
            </a:pPr>
            <a:endParaRPr lang="en-US"/>
          </a:p>
        </c:txPr>
        <c:crossAx val="195808256"/>
        <c:crosses val="autoZero"/>
        <c:auto val="1"/>
        <c:lblAlgn val="ctr"/>
        <c:lblOffset val="100"/>
        <c:noMultiLvlLbl val="0"/>
      </c:catAx>
      <c:valAx>
        <c:axId val="1958082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95806720"/>
        <c:crosses val="autoZero"/>
        <c:crossBetween val="between"/>
      </c:valAx>
      <c:spPr>
        <a:solidFill>
          <a:srgbClr val="FFC000"/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Sheet2!$A$3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Sheet2!$B$3:$H$3</c:f>
              <c:numCache>
                <c:formatCode>General</c:formatCode>
                <c:ptCount val="7"/>
                <c:pt idx="0">
                  <c:v>1090</c:v>
                </c:pt>
                <c:pt idx="1">
                  <c:v>1016</c:v>
                </c:pt>
                <c:pt idx="2">
                  <c:v>1143</c:v>
                </c:pt>
                <c:pt idx="3">
                  <c:v>887</c:v>
                </c:pt>
                <c:pt idx="4">
                  <c:v>1019</c:v>
                </c:pt>
                <c:pt idx="5">
                  <c:v>945</c:v>
                </c:pt>
                <c:pt idx="6">
                  <c:v>870</c:v>
                </c:pt>
              </c:numCache>
            </c:numRef>
          </c:val>
        </c:ser>
        <c:ser>
          <c:idx val="1"/>
          <c:order val="1"/>
          <c:tx>
            <c:strRef>
              <c:f>Sheet2!$A$4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33CC33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Sheet2!$B$4:$H$4</c:f>
              <c:numCache>
                <c:formatCode>General</c:formatCode>
                <c:ptCount val="7"/>
                <c:pt idx="0">
                  <c:v>1944</c:v>
                </c:pt>
                <c:pt idx="1">
                  <c:v>1920</c:v>
                </c:pt>
                <c:pt idx="2">
                  <c:v>1854</c:v>
                </c:pt>
                <c:pt idx="3">
                  <c:v>1803</c:v>
                </c:pt>
                <c:pt idx="4">
                  <c:v>1731</c:v>
                </c:pt>
                <c:pt idx="5">
                  <c:v>1552</c:v>
                </c:pt>
                <c:pt idx="6">
                  <c:v>1654</c:v>
                </c:pt>
              </c:numCache>
            </c:numRef>
          </c:val>
        </c:ser>
        <c:ser>
          <c:idx val="2"/>
          <c:order val="2"/>
          <c:tx>
            <c:strRef>
              <c:f>Sheet2!$A$5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B0F0"/>
            </a:solidFill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Sheet2!$B$2:$H$2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Sheet2!$B$5:$H$5</c:f>
              <c:numCache>
                <c:formatCode>General</c:formatCode>
                <c:ptCount val="7"/>
                <c:pt idx="0">
                  <c:v>3034</c:v>
                </c:pt>
                <c:pt idx="1">
                  <c:v>2936</c:v>
                </c:pt>
                <c:pt idx="2">
                  <c:v>2997</c:v>
                </c:pt>
                <c:pt idx="3">
                  <c:v>2690</c:v>
                </c:pt>
                <c:pt idx="4">
                  <c:v>2750</c:v>
                </c:pt>
                <c:pt idx="5">
                  <c:v>2497</c:v>
                </c:pt>
                <c:pt idx="6">
                  <c:v>2524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9"/>
        <c:axId val="196040960"/>
        <c:axId val="196055040"/>
      </c:barChart>
      <c:catAx>
        <c:axId val="196040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96055040"/>
        <c:crosses val="autoZero"/>
        <c:auto val="1"/>
        <c:lblAlgn val="ctr"/>
        <c:lblOffset val="100"/>
        <c:noMultiLvlLbl val="0"/>
      </c:catAx>
      <c:valAx>
        <c:axId val="1960550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96040960"/>
        <c:crosses val="autoZero"/>
        <c:crossBetween val="between"/>
      </c:valAx>
      <c:spPr>
        <a:ln cap="sq">
          <a:miter lim="800000"/>
        </a:ln>
      </c:spPr>
    </c:plotArea>
    <c:legend>
      <c:legendPos val="t"/>
      <c:layout/>
      <c:overlay val="0"/>
    </c:legend>
    <c:plotVisOnly val="1"/>
    <c:dispBlanksAs val="gap"/>
    <c:showDLblsOverMax val="0"/>
  </c:chart>
  <c:spPr>
    <a:blipFill dpi="0" rotWithShape="1">
      <a:blip xmlns:r="http://schemas.openxmlformats.org/officeDocument/2006/relationships" r:embed="rId1"/>
      <a:srcRect/>
      <a:tile tx="19050" ty="0" sx="100000" sy="100000" flip="none" algn="tl"/>
    </a:blipFill>
  </c:spPr>
  <c:txPr>
    <a:bodyPr/>
    <a:lstStyle/>
    <a:p>
      <a:pPr>
        <a:defRPr sz="2000" b="1" i="0" baseline="0"/>
      </a:pPr>
      <a:endParaRPr lang="en-US"/>
    </a:p>
  </c:txPr>
  <c:externalData r:id="rId2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77092069741283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C-Section</c:v>
                </c:pt>
              </c:strCache>
            </c:strRef>
          </c:tx>
          <c:spPr>
            <a:solidFill>
              <a:srgbClr val="FF0000"/>
            </a:solidFill>
          </c:spPr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1290</c:v>
                </c:pt>
                <c:pt idx="1">
                  <c:v>870</c:v>
                </c:pt>
                <c:pt idx="2">
                  <c:v>1115</c:v>
                </c:pt>
                <c:pt idx="3">
                  <c:v>499</c:v>
                </c:pt>
                <c:pt idx="4">
                  <c:v>298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NVD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dLbl>
              <c:idx val="0"/>
              <c:layout>
                <c:manualLayout>
                  <c:x val="-4.6296296296297014E-3"/>
                  <c:y val="-4.975123403627014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4.6296296296297014E-3"/>
                  <c:y val="8.418143844136825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3.0864197530864872E-3"/>
                  <c:y val="1.0587219299718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3.0864197530864872E-3"/>
                  <c:y val="9.950246807254051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-3.0864197530864872E-3"/>
                  <c:y val="2.487561701813535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1502</c:v>
                </c:pt>
                <c:pt idx="1">
                  <c:v>1654</c:v>
                </c:pt>
                <c:pt idx="2">
                  <c:v>1214</c:v>
                </c:pt>
                <c:pt idx="3">
                  <c:v>1013</c:v>
                </c:pt>
                <c:pt idx="4">
                  <c:v>1174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Delivery</c:v>
                </c:pt>
              </c:strCache>
            </c:strRef>
          </c:tx>
          <c:spPr>
            <a:solidFill>
              <a:srgbClr val="00B050"/>
            </a:solidFill>
          </c:spPr>
          <c:invertIfNegative val="0"/>
          <c:dLbls>
            <c:dLbl>
              <c:idx val="0"/>
              <c:layout>
                <c:manualLayout>
                  <c:x val="-3.0864197530864803E-3"/>
                  <c:y val="9.3625796775407015E-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0"/>
                  <c:y val="-3.6949756280465497E-3"/>
                </c:manualLayout>
              </c:layout>
              <c:spPr/>
              <c:txPr>
                <a:bodyPr rot="-5400000" vert="horz"/>
                <a:lstStyle/>
                <a:p>
                  <a:pPr>
                    <a:defRPr sz="2400" b="1"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5063E-3"/>
                  <c:y val="-3.08663592698393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 rot="-5400000" vert="horz"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Kushtia District Hospital</c:v>
                </c:pt>
                <c:pt idx="1">
                  <c:v>Jhenaidah Sadar Hospital</c:v>
                </c:pt>
                <c:pt idx="2">
                  <c:v>Jessore District Hospital</c:v>
                </c:pt>
                <c:pt idx="3">
                  <c:v>Meherpur District Hospital</c:v>
                </c:pt>
                <c:pt idx="4">
                  <c:v>Magura District Hospital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2792</c:v>
                </c:pt>
                <c:pt idx="1">
                  <c:v>2524</c:v>
                </c:pt>
                <c:pt idx="2">
                  <c:v>2329</c:v>
                </c:pt>
                <c:pt idx="3">
                  <c:v>1512</c:v>
                </c:pt>
                <c:pt idx="4">
                  <c:v>1472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6448640"/>
        <c:axId val="196450176"/>
      </c:barChart>
      <c:catAx>
        <c:axId val="196448640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blipFill>
            <a:blip xmlns:r="http://schemas.openxmlformats.org/officeDocument/2006/relationships" r:embed="rId1"/>
            <a:tile tx="0" ty="0" sx="100000" sy="100000" flip="none" algn="tl"/>
          </a:blipFill>
        </c:spPr>
        <c:txPr>
          <a:bodyPr/>
          <a:lstStyle/>
          <a:p>
            <a:pPr>
              <a:defRPr b="1"/>
            </a:pPr>
            <a:endParaRPr lang="en-US"/>
          </a:p>
        </c:txPr>
        <c:crossAx val="196450176"/>
        <c:crosses val="autoZero"/>
        <c:auto val="1"/>
        <c:lblAlgn val="ctr"/>
        <c:lblOffset val="100"/>
        <c:noMultiLvlLbl val="0"/>
      </c:catAx>
      <c:valAx>
        <c:axId val="196450176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96448640"/>
        <c:crosses val="autoZero"/>
        <c:crossBetween val="between"/>
      </c:valAx>
      <c:spPr>
        <a:blipFill>
          <a:blip xmlns:r="http://schemas.openxmlformats.org/officeDocument/2006/relationships" r:embed="rId2"/>
          <a:tile tx="0" ty="0" sx="100000" sy="100000" flip="none" algn="tl"/>
        </a:blip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3">
    <c:autoUpdate val="0"/>
  </c:externalData>
  <c:userShapes r:id="rId4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10"/>
      <c:rAngAx val="1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"/>
          <c:y val="3.2163742690058485E-2"/>
          <c:w val="0.98514599737532804"/>
          <c:h val="0.83777362204724415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dLbl>
              <c:idx val="4"/>
              <c:layout>
                <c:manualLayout>
                  <c:x val="4.1666666666666683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</c:numCache>
            </c:numRef>
          </c:cat>
          <c:val>
            <c:numRef>
              <c:f>Sheet1!$B$2:$B$8</c:f>
              <c:numCache>
                <c:formatCode>#,##0</c:formatCode>
                <c:ptCount val="7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  <c:pt idx="3">
                  <c:v>7265145</c:v>
                </c:pt>
                <c:pt idx="4" formatCode="General">
                  <c:v>8903675</c:v>
                </c:pt>
                <c:pt idx="5" formatCode="General">
                  <c:v>7105951</c:v>
                </c:pt>
                <c:pt idx="6" formatCode="General">
                  <c:v>8629296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one"/>
        <c:axId val="196190208"/>
        <c:axId val="196191744"/>
        <c:axId val="196150592"/>
      </c:bar3DChart>
      <c:catAx>
        <c:axId val="196190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2800" b="1" baseline="0"/>
            </a:pPr>
            <a:endParaRPr lang="en-US"/>
          </a:p>
        </c:txPr>
        <c:crossAx val="196191744"/>
        <c:crosses val="autoZero"/>
        <c:auto val="1"/>
        <c:lblAlgn val="ctr"/>
        <c:lblOffset val="100"/>
        <c:noMultiLvlLbl val="0"/>
      </c:catAx>
      <c:valAx>
        <c:axId val="19619174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196190208"/>
        <c:crosses val="autoZero"/>
        <c:crossBetween val="between"/>
      </c:valAx>
      <c:serAx>
        <c:axId val="196150592"/>
        <c:scaling>
          <c:orientation val="minMax"/>
        </c:scaling>
        <c:delete val="1"/>
        <c:axPos val="b"/>
        <c:majorTickMark val="out"/>
        <c:minorTickMark val="none"/>
        <c:tickLblPos val="nextTo"/>
        <c:crossAx val="196191744"/>
        <c:crosses val="autoZero"/>
      </c:serAx>
      <c:spPr>
        <a:noFill/>
        <a:ln w="25386">
          <a:noFill/>
        </a:ln>
      </c:spPr>
    </c:plotArea>
    <c:plotVisOnly val="1"/>
    <c:dispBlanksAs val="gap"/>
    <c:showDLblsOverMax val="0"/>
  </c:chart>
  <c:spPr>
    <a:blipFill>
      <a:blip xmlns:r="http://schemas.openxmlformats.org/officeDocument/2006/relationships" r:embed="rId1"/>
      <a:tile tx="0" ty="0" sx="100000" sy="100000" flip="none" algn="tl"/>
    </a:blipFill>
  </c:spPr>
  <c:txPr>
    <a:bodyPr/>
    <a:lstStyle/>
    <a:p>
      <a:pPr>
        <a:defRPr sz="1797"/>
      </a:pPr>
      <a:endParaRPr lang="en-US"/>
    </a:p>
  </c:txPr>
  <c:externalData r:id="rId2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</cdr:x>
      <cdr:y>0</cdr:y>
    </cdr:from>
    <cdr:to>
      <cdr:x>1</cdr:x>
      <cdr:y>0.06173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486400" y="0"/>
          <a:ext cx="3657600" cy="390418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r>
            <a:rPr lang="en-US" sz="2000" dirty="0" smtClean="0"/>
            <a:t>Total Positive Admitted - 1299</a:t>
          </a:r>
          <a:endParaRPr lang="en-US" sz="2000" dirty="0"/>
        </a:p>
      </cdr:txBody>
    </cdr:sp>
  </cdr:relSizeAnchor>
  <cdr:relSizeAnchor xmlns:cdr="http://schemas.openxmlformats.org/drawingml/2006/chartDrawing">
    <cdr:from>
      <cdr:x>0.925</cdr:x>
      <cdr:y>0.14458</cdr:y>
    </cdr:from>
    <cdr:to>
      <cdr:x>0.975</cdr:x>
      <cdr:y>0.6747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8458200" y="914400"/>
          <a:ext cx="457200" cy="3352800"/>
        </a:xfrm>
        <a:prstGeom xmlns:a="http://schemas.openxmlformats.org/drawingml/2006/main" prst="rect">
          <a:avLst/>
        </a:prstGeom>
        <a:solidFill xmlns:a="http://schemas.openxmlformats.org/drawingml/2006/main">
          <a:srgbClr val="FFFF00"/>
        </a:solidFill>
      </cdr:spPr>
      <cdr:txBody>
        <a:bodyPr xmlns:a="http://schemas.openxmlformats.org/drawingml/2006/main" vert="vert270" wrap="square" rtlCol="0"/>
        <a:lstStyle xmlns:a="http://schemas.openxmlformats.org/drawingml/2006/main"/>
        <a:p xmlns:a="http://schemas.openxmlformats.org/drawingml/2006/main">
          <a:r>
            <a:rPr lang="en-US" sz="2000" b="1" dirty="0" smtClean="0"/>
            <a:t>Total suspected</a:t>
          </a:r>
          <a:r>
            <a:rPr lang="en-US" sz="2000" dirty="0" smtClean="0"/>
            <a:t>  </a:t>
          </a:r>
          <a:r>
            <a:rPr lang="en-US" sz="2000" b="1" dirty="0" smtClean="0"/>
            <a:t>Patient</a:t>
          </a:r>
          <a:r>
            <a:rPr lang="en-US" sz="2000" dirty="0" smtClean="0"/>
            <a:t> -</a:t>
          </a:r>
          <a:r>
            <a:rPr lang="en-US" sz="2000" b="1" dirty="0" smtClean="0"/>
            <a:t>2523</a:t>
          </a:r>
          <a:endParaRPr lang="en-US" sz="2000" b="1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0.34259</cdr:x>
      <cdr:y>0.77612</cdr:y>
    </cdr:from>
    <cdr:to>
      <cdr:x>0.34815</cdr:x>
      <cdr:y>0.80597</cdr:y>
    </cdr:to>
    <cdr:sp macro="" textlink="">
      <cdr:nvSpPr>
        <cdr:cNvPr id="3" name="TextBox 2"/>
        <cdr:cNvSpPr txBox="1"/>
      </cdr:nvSpPr>
      <cdr:spPr>
        <a:xfrm xmlns:a="http://schemas.openxmlformats.org/drawingml/2006/main">
          <a:off x="2819400" y="3962400"/>
          <a:ext cx="45719" cy="152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100" dirty="0"/>
        </a:p>
      </cdr:txBody>
    </cdr:sp>
  </cdr:relSizeAnchor>
  <cdr:relSizeAnchor xmlns:cdr="http://schemas.openxmlformats.org/drawingml/2006/chartDrawing">
    <cdr:from>
      <cdr:x>0.43333</cdr:x>
      <cdr:y>0.90278</cdr:y>
    </cdr:from>
    <cdr:to>
      <cdr:x>0.5537</cdr:x>
      <cdr:y>0.96249</cdr:y>
    </cdr:to>
    <cdr:sp macro="" textlink="">
      <cdr:nvSpPr>
        <cdr:cNvPr id="4" name="TextBox 3"/>
        <cdr:cNvSpPr txBox="1"/>
      </cdr:nvSpPr>
      <cdr:spPr>
        <a:xfrm xmlns:a="http://schemas.openxmlformats.org/drawingml/2006/main">
          <a:off x="3962400" y="4953000"/>
          <a:ext cx="1100663" cy="32759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0.67593</cdr:x>
      <cdr:y>0.9403</cdr:y>
    </cdr:from>
    <cdr:to>
      <cdr:x>0.80556</cdr:x>
      <cdr:y>1</cdr:y>
    </cdr:to>
    <cdr:sp macro="" textlink="">
      <cdr:nvSpPr>
        <cdr:cNvPr id="5" name="TextBox 4"/>
        <cdr:cNvSpPr txBox="1"/>
      </cdr:nvSpPr>
      <cdr:spPr>
        <a:xfrm xmlns:a="http://schemas.openxmlformats.org/drawingml/2006/main">
          <a:off x="5562600" y="5029200"/>
          <a:ext cx="1066803" cy="318439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  <cdr:relSizeAnchor xmlns:cdr="http://schemas.openxmlformats.org/drawingml/2006/chartDrawing">
    <cdr:from>
      <cdr:x>0.84167</cdr:x>
      <cdr:y>0.91667</cdr:y>
    </cdr:from>
    <cdr:to>
      <cdr:x>0.96204</cdr:x>
      <cdr:y>0.97222</cdr:y>
    </cdr:to>
    <cdr:sp macro="" textlink="">
      <cdr:nvSpPr>
        <cdr:cNvPr id="6" name="TextBox 5"/>
        <cdr:cNvSpPr txBox="1"/>
      </cdr:nvSpPr>
      <cdr:spPr>
        <a:xfrm xmlns:a="http://schemas.openxmlformats.org/drawingml/2006/main">
          <a:off x="7696200" y="5029200"/>
          <a:ext cx="1100667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/>
        <a:p xmlns:a="http://schemas.openxmlformats.org/drawingml/2006/main">
          <a:endParaRPr lang="en-US" sz="1600" b="1" dirty="0"/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CDF27-F1D8-43DB-AE1E-79EA73E8C6AD}" type="datetimeFigureOut">
              <a:rPr lang="en-US" smtClean="0"/>
              <a:pPr/>
              <a:t>1/31/2022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1DF0-C833-486A-BCF7-538A0E2317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56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1/31/2022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11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  <p:transition spd="slow"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  <p:transition spd="slow"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  <p:transition spd="slow"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  <p:transition spd="slow"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  <p:transition spd="slow"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  <p:transition spd="slow"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  <p:transition spd="slow"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  <p:transition spd="slow"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  <p:transition spd="slow"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  <p:transition spd="slow"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1/31/2022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  <p:transition spd="slow"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2022/1/31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</p:sldLayoutIdLst>
  <p:transition spd="slow">
    <p:strips dir="ru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Covid-19 Admitted Patient Report 7/5/20  to 31/12/2021 </a:t>
            </a:r>
            <a:endParaRPr lang="en-US" sz="2800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457200"/>
          <a:ext cx="9144000" cy="64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</a:t>
            </a:r>
            <a:r>
              <a:rPr lang="en-US" sz="2800" dirty="0" err="1" smtClean="0"/>
              <a:t>Covid</a:t>
            </a:r>
            <a:r>
              <a:rPr lang="en-US" sz="2800" dirty="0" smtClean="0"/>
              <a:t> -19 Outcome Report - 2020-21</a:t>
            </a:r>
            <a:endParaRPr lang="en-US" dirty="0"/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08038"/>
          </a:xfrm>
          <a:solidFill>
            <a:srgbClr val="3EEE00"/>
          </a:solidFill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tx2"/>
                </a:solidFill>
              </a:rPr>
              <a:t>Emergency + Outdoor &amp; Indoor  Service 1998 to 2021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0" y="1219200"/>
          <a:ext cx="9144000" cy="563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8382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     </a:t>
            </a:r>
            <a:r>
              <a:rPr lang="en-US" b="1" dirty="0" smtClean="0">
                <a:solidFill>
                  <a:srgbClr val="0070C0"/>
                </a:solidFill>
              </a:rPr>
              <a:t>Emergency + Outdoor visit</a:t>
            </a:r>
            <a:r>
              <a:rPr lang="en-US" dirty="0" smtClean="0"/>
              <a:t>       </a:t>
            </a:r>
            <a:r>
              <a:rPr lang="en-US" dirty="0" smtClean="0">
                <a:solidFill>
                  <a:srgbClr val="C00000"/>
                </a:solidFill>
              </a:rPr>
              <a:t>Indoor (admission)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52600" y="990600"/>
            <a:ext cx="152400" cy="152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257800" y="990600"/>
            <a:ext cx="152400" cy="1524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0" y="0"/>
            <a:ext cx="9144000" cy="461665"/>
          </a:xfrm>
          <a:prstGeom prst="rect">
            <a:avLst/>
          </a:prstGeom>
          <a:solidFill>
            <a:srgbClr val="00B0F0"/>
          </a:solidFill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2015 to 2021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0" y="0"/>
            <a:ext cx="9144000" cy="609601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2021</a:t>
            </a:r>
            <a:endParaRPr lang="en-US" sz="2400" b="1" dirty="0">
              <a:solidFill>
                <a:srgbClr val="00B05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0"/>
            <a:ext cx="8229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endParaRPr lang="en-US" sz="43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alibri" pitchFamily="34" charset="0"/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0" y="685800"/>
          <a:ext cx="9144000" cy="6126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>
    <p:diamond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  <a:blipFill>
            <a:blip r:embed="rId2"/>
            <a:tile tx="0" ty="0" sx="100000" sy="100000" flip="none" algn="tl"/>
          </a:blipFill>
          <a:ln>
            <a:noFill/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0000"/>
                </a:solidFill>
              </a:rPr>
              <a:t>Operation Service (Major) 2012 to 2021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strips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523220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>
              <a:defRPr sz="180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en-US" sz="2800" b="1" dirty="0" smtClean="0">
                <a:solidFill>
                  <a:prstClr val="black"/>
                </a:solidFill>
              </a:rPr>
              <a:t> EOC performance 2015 to 2021</a:t>
            </a:r>
            <a:endParaRPr lang="en-US" sz="28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Chart 3"/>
          <p:cNvGraphicFramePr/>
          <p:nvPr/>
        </p:nvGraphicFramePr>
        <p:xfrm>
          <a:off x="0" y="533400"/>
          <a:ext cx="9144000" cy="632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ransition spd="slow">
    <p:randomBa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 smtClean="0">
                <a:ea typeface="Calibri"/>
                <a:cs typeface="Vrinda"/>
              </a:rPr>
              <a:t>5 Best Performing EOC District Hospital </a:t>
            </a:r>
            <a:r>
              <a:rPr lang="en-US" sz="2400" b="1" dirty="0">
                <a:ea typeface="Calibri"/>
                <a:cs typeface="Vrinda"/>
              </a:rPr>
              <a:t>in Khulna </a:t>
            </a:r>
            <a:r>
              <a:rPr lang="en-US" sz="2400" b="1" dirty="0" smtClean="0">
                <a:ea typeface="Calibri"/>
                <a:cs typeface="Vrinda"/>
              </a:rPr>
              <a:t>Division </a:t>
            </a:r>
            <a:r>
              <a:rPr lang="en-US" sz="2400" b="1" dirty="0">
                <a:ea typeface="Calibri"/>
                <a:cs typeface="Vrinda"/>
              </a:rPr>
              <a:t>- </a:t>
            </a:r>
            <a:r>
              <a:rPr lang="en-US" sz="2400" b="1" dirty="0" smtClean="0">
                <a:ea typeface="Calibri"/>
                <a:cs typeface="Vrinda"/>
              </a:rPr>
              <a:t>2021</a:t>
            </a:r>
            <a:endParaRPr lang="en-US" sz="24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0" y="990600"/>
          <a:ext cx="9144000" cy="586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609600"/>
            <a:ext cx="9144000" cy="381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C-Section</a:t>
            </a:r>
            <a:r>
              <a:rPr lang="en-US" b="1" dirty="0" smtClean="0">
                <a:solidFill>
                  <a:srgbClr val="0070C0"/>
                </a:solidFill>
              </a:rPr>
              <a:t>,</a:t>
            </a:r>
            <a:r>
              <a:rPr lang="en-US" b="1" dirty="0" smtClean="0"/>
              <a:t>  </a:t>
            </a:r>
            <a:r>
              <a:rPr lang="en-US" b="1" dirty="0" smtClean="0">
                <a:solidFill>
                  <a:srgbClr val="0070C0"/>
                </a:solidFill>
              </a:rPr>
              <a:t>NVD</a:t>
            </a:r>
            <a:r>
              <a:rPr lang="en-US" b="1" dirty="0" smtClean="0"/>
              <a:t>,  </a:t>
            </a:r>
            <a:r>
              <a:rPr lang="en-US" b="1" dirty="0" smtClean="0">
                <a:solidFill>
                  <a:srgbClr val="00B050"/>
                </a:solidFill>
              </a:rPr>
              <a:t>Total Delivery</a:t>
            </a:r>
            <a:endParaRPr 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ransition spd="slow" advClick="0">
    <p:circl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08038"/>
          </a:xfrm>
          <a:blipFill>
            <a:blip r:embed="rId2"/>
            <a:tile tx="0" ty="0" sx="100000" sy="100000" flip="none" algn="tl"/>
          </a:blip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500" b="1" dirty="0" smtClean="0">
                <a:solidFill>
                  <a:srgbClr val="00B050"/>
                </a:solidFill>
              </a:rPr>
              <a:t>Comparative </a:t>
            </a:r>
            <a:r>
              <a:rPr lang="en-US" sz="2500" b="1" dirty="0">
                <a:solidFill>
                  <a:srgbClr val="00B050"/>
                </a:solidFill>
              </a:rPr>
              <a:t>data of revenue </a:t>
            </a:r>
            <a:r>
              <a:rPr lang="en-US" sz="2500" b="1" dirty="0" smtClean="0">
                <a:solidFill>
                  <a:srgbClr val="00B050"/>
                </a:solidFill>
              </a:rPr>
              <a:t>income </a:t>
            </a:r>
            <a:r>
              <a:rPr lang="en-US" sz="2800" b="1" dirty="0" smtClean="0">
                <a:solidFill>
                  <a:srgbClr val="00B050"/>
                </a:solidFill>
              </a:rPr>
              <a:t>(</a:t>
            </a:r>
            <a:r>
              <a:rPr lang="en-US" sz="2200" b="1" dirty="0" smtClean="0">
                <a:solidFill>
                  <a:srgbClr val="00B050"/>
                </a:solidFill>
              </a:rPr>
              <a:t>in Taka</a:t>
            </a:r>
            <a:r>
              <a:rPr lang="en-US" sz="2800" b="1" dirty="0" smtClean="0">
                <a:solidFill>
                  <a:srgbClr val="00B050"/>
                </a:solidFill>
              </a:rPr>
              <a:t>) from </a:t>
            </a:r>
            <a:r>
              <a:rPr lang="en-US" sz="2600" b="1" dirty="0" smtClean="0">
                <a:solidFill>
                  <a:srgbClr val="00B050"/>
                </a:solidFill>
              </a:rPr>
              <a:t>2015 to 2021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0" y="914400"/>
          <a:ext cx="9144000" cy="5943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53200" y="914400"/>
            <a:ext cx="25908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Increase( +) 15,23,345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600" b="1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</a:t>
            </a:r>
            <a:r>
              <a:rPr lang="en-US" altLang="ja-JP" sz="36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of the Hospit</a:t>
            </a: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838200"/>
            <a:ext cx="9144000" cy="601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sz="1400" b="1" dirty="0" smtClean="0"/>
              <a:t>1. Active </a:t>
            </a:r>
            <a:r>
              <a:rPr lang="en-US" sz="1400" b="1" dirty="0"/>
              <a:t>C</a:t>
            </a:r>
            <a:r>
              <a:rPr lang="en-US" sz="1400" b="1" dirty="0" smtClean="0"/>
              <a:t>ommunity Participation in health service is an example in Bangladesh.</a:t>
            </a:r>
          </a:p>
          <a:p>
            <a:pPr marL="0" algn="just">
              <a:defRPr/>
            </a:pPr>
            <a:r>
              <a:rPr lang="en-US" sz="1400" dirty="0" smtClean="0"/>
              <a:t> </a:t>
            </a:r>
          </a:p>
          <a:p>
            <a:pPr marL="0" algn="just">
              <a:defRPr/>
            </a:pPr>
            <a:r>
              <a:rPr lang="en-US" sz="1400" b="1" dirty="0" smtClean="0"/>
              <a:t>2. Improved Neonatal services in Pediatrics ward (3 Radiant warmer, 2 LED phototherapy machine,18 baby cots by local initiatives.) </a:t>
            </a:r>
          </a:p>
          <a:p>
            <a:pPr marL="0" algn="just">
              <a:defRPr/>
            </a:pPr>
            <a:r>
              <a:rPr lang="en-US" sz="1400" b="1" dirty="0" smtClean="0"/>
              <a:t>    </a:t>
            </a:r>
            <a:endParaRPr lang="en-US" sz="1400" b="1" dirty="0"/>
          </a:p>
          <a:p>
            <a:pPr marL="0" algn="just">
              <a:defRPr/>
            </a:pPr>
            <a:r>
              <a:rPr lang="en-US" sz="1400" b="1" dirty="0" smtClean="0"/>
              <a:t>3. Improved   performance  of all services specially obstetric, operation and outdoor service.</a:t>
            </a:r>
          </a:p>
          <a:p>
            <a:pPr marL="0">
              <a:defRPr/>
            </a:pPr>
            <a:endParaRPr lang="en-US" sz="1400" b="1" dirty="0" smtClean="0"/>
          </a:p>
          <a:p>
            <a:pPr marL="0">
              <a:defRPr/>
            </a:pPr>
            <a:r>
              <a:rPr lang="en-US" sz="1400" b="1" dirty="0" smtClean="0"/>
              <a:t>4. </a:t>
            </a:r>
            <a:r>
              <a:rPr lang="en-US" sz="1400" b="1" dirty="0"/>
              <a:t>Improved Cleanliness and </a:t>
            </a:r>
            <a:r>
              <a:rPr lang="en-US" sz="1400" b="1" dirty="0" smtClean="0"/>
              <a:t>Beautification of Campus.</a:t>
            </a:r>
            <a:endParaRPr lang="en-US" sz="1400" b="1" dirty="0"/>
          </a:p>
          <a:p>
            <a:pPr marL="0" algn="just">
              <a:defRPr/>
            </a:pPr>
            <a:endParaRPr lang="en-US" sz="1400" b="1" dirty="0" smtClean="0"/>
          </a:p>
          <a:p>
            <a:pPr marL="0">
              <a:defRPr/>
            </a:pPr>
            <a:r>
              <a:rPr lang="en-US" sz="1400" b="1" dirty="0" smtClean="0"/>
              <a:t>5. </a:t>
            </a:r>
            <a:r>
              <a:rPr lang="en-US" sz="1400" b="1" dirty="0"/>
              <a:t>Functioning </a:t>
            </a:r>
            <a:r>
              <a:rPr lang="en-US" sz="1400" b="1" dirty="0" smtClean="0"/>
              <a:t>of X-Ray service and starting of Biochemistry investigation by local initiatives.</a:t>
            </a:r>
            <a:endParaRPr lang="en-US" sz="1400" dirty="0"/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 smtClean="0"/>
              <a:t>6. </a:t>
            </a:r>
            <a:r>
              <a:rPr lang="en-US" sz="1400" b="1" dirty="0"/>
              <a:t>Improved </a:t>
            </a:r>
            <a:r>
              <a:rPr lang="en-US" sz="1400" b="1" dirty="0" smtClean="0"/>
              <a:t>Security.</a:t>
            </a:r>
            <a:endParaRPr lang="en-US" sz="1400" dirty="0"/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 smtClean="0"/>
              <a:t>7. </a:t>
            </a:r>
            <a:r>
              <a:rPr lang="en-US" sz="1400" b="1" dirty="0"/>
              <a:t>Improved Financial Management</a:t>
            </a:r>
          </a:p>
          <a:p>
            <a:pPr marL="0" algn="just">
              <a:defRPr/>
            </a:pPr>
            <a:endParaRPr lang="en-US" sz="1400" b="1" dirty="0" smtClean="0"/>
          </a:p>
          <a:p>
            <a:pPr marL="0" algn="just">
              <a:defRPr/>
            </a:pPr>
            <a:r>
              <a:rPr lang="en-US" sz="1400" b="1" dirty="0"/>
              <a:t>8</a:t>
            </a:r>
            <a:r>
              <a:rPr lang="en-US" sz="1400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sz="1400" b="1" dirty="0"/>
          </a:p>
          <a:p>
            <a:pPr marL="0" algn="just">
              <a:defRPr/>
            </a:pPr>
            <a:r>
              <a:rPr lang="en-US" sz="1400" b="1" dirty="0" smtClean="0"/>
              <a:t>9. </a:t>
            </a:r>
            <a:r>
              <a:rPr lang="en-US" sz="1400" b="1" dirty="0"/>
              <a:t>The hospital is </a:t>
            </a:r>
            <a:r>
              <a:rPr lang="en-US" sz="1400" b="1" dirty="0" smtClean="0"/>
              <a:t>awarded 7 </a:t>
            </a:r>
            <a:r>
              <a:rPr lang="en-US" sz="1400" b="1" dirty="0"/>
              <a:t>times from 2013 to </a:t>
            </a:r>
            <a:r>
              <a:rPr lang="en-US" sz="1400" b="1" dirty="0" smtClean="0"/>
              <a:t>2019. </a:t>
            </a:r>
          </a:p>
          <a:p>
            <a:pPr marL="0" algn="just">
              <a:defRPr/>
            </a:pPr>
            <a:endParaRPr lang="en-US" sz="1400" b="1" dirty="0" smtClean="0"/>
          </a:p>
          <a:p>
            <a:pPr marL="342900" indent="-342900" algn="just">
              <a:defRPr/>
            </a:pPr>
            <a:r>
              <a:rPr lang="en-US" sz="1400" b="1" dirty="0" smtClean="0"/>
              <a:t>10. Improved gate pass system. </a:t>
            </a:r>
          </a:p>
          <a:p>
            <a:pPr marL="342900" indent="-342900" algn="just">
              <a:buAutoNum type="arabicPeriod" startAt="9"/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sz="1400" b="1" dirty="0" smtClean="0"/>
              <a:t>11. The dining place of the relatives of the patient has been improved</a:t>
            </a:r>
            <a:endParaRPr lang="en-US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supports 10 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6362</TotalTime>
  <Words>426</Words>
  <Application>Microsoft Office PowerPoint</Application>
  <PresentationFormat>On-screen Show (4:3)</PresentationFormat>
  <Paragraphs>70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Emergency + Outdoor &amp; Indoor  Service 1998 to 2021</vt:lpstr>
      <vt:lpstr>PowerPoint Presentation</vt:lpstr>
      <vt:lpstr>PowerPoint Presentation</vt:lpstr>
      <vt:lpstr>Operation Service (Major) 2012 to 2021</vt:lpstr>
      <vt:lpstr>PowerPoint Presentation</vt:lpstr>
      <vt:lpstr>5 Best Performing EOC District Hospital in Khulna Division - 2021</vt:lpstr>
      <vt:lpstr>  Comparative data of revenue income (in Taka) from 2015 to 2021 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897</cp:revision>
  <cp:lastPrinted>2017-03-18T23:47:54Z</cp:lastPrinted>
  <dcterms:created xsi:type="dcterms:W3CDTF">2013-05-05T09:56:19Z</dcterms:created>
  <dcterms:modified xsi:type="dcterms:W3CDTF">2022-01-31T17:21:54Z</dcterms:modified>
</cp:coreProperties>
</file>