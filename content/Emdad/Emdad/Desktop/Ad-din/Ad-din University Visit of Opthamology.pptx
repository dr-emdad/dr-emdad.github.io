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9" r:id="rId4"/>
    <p:sldId id="260" r:id="rId5"/>
    <p:sldId id="258" r:id="rId6"/>
    <p:sldId id="266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3" d="100"/>
          <a:sy n="53" d="100"/>
        </p:scale>
        <p:origin x="-1866" y="-4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9"/>
    </mc:Choice>
    <mc:Fallback>
      <c:style val="39"/>
    </mc:Fallback>
  </mc:AlternateContent>
  <c:chart>
    <c:title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57580</c:v>
                </c:pt>
                <c:pt idx="1">
                  <c:v>37141</c:v>
                </c:pt>
                <c:pt idx="2">
                  <c:v>13145</c:v>
                </c:pt>
                <c:pt idx="3">
                  <c:v>33337</c:v>
                </c:pt>
                <c:pt idx="4">
                  <c:v>38173</c:v>
                </c:pt>
                <c:pt idx="5">
                  <c:v>40147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24672640"/>
        <c:axId val="125239680"/>
      </c:barChart>
      <c:catAx>
        <c:axId val="124672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125239680"/>
        <c:crosses val="autoZero"/>
        <c:auto val="1"/>
        <c:lblAlgn val="ctr"/>
        <c:lblOffset val="100"/>
        <c:noMultiLvlLbl val="0"/>
      </c:catAx>
      <c:valAx>
        <c:axId val="1252396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4672640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4"/>
    </mc:Choice>
    <mc:Fallback>
      <c:style val="24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6724</c:v>
                </c:pt>
                <c:pt idx="1">
                  <c:v>8650</c:v>
                </c:pt>
                <c:pt idx="2">
                  <c:v>3200</c:v>
                </c:pt>
                <c:pt idx="3">
                  <c:v>6422</c:v>
                </c:pt>
                <c:pt idx="4">
                  <c:v>7665</c:v>
                </c:pt>
                <c:pt idx="5">
                  <c:v>15300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100"/>
        <c:axId val="125325312"/>
        <c:axId val="125326848"/>
      </c:barChart>
      <c:catAx>
        <c:axId val="125325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125326848"/>
        <c:crosses val="autoZero"/>
        <c:auto val="1"/>
        <c:lblAlgn val="ctr"/>
        <c:lblOffset val="100"/>
        <c:noMultiLvlLbl val="0"/>
      </c:catAx>
      <c:valAx>
        <c:axId val="1253268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1253253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FF549E-DDB3-4F8E-B3F4-BC7B4533DD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481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0"/>
            <a:ext cx="7772400" cy="1470025"/>
          </a:xfrm>
        </p:spPr>
        <p:txBody>
          <a:bodyPr/>
          <a:lstStyle/>
          <a:p>
            <a:r>
              <a:rPr lang="en-US" dirty="0" smtClean="0"/>
              <a:t>Ad-din </a:t>
            </a:r>
            <a:r>
              <a:rPr lang="en-US" dirty="0" err="1" smtClean="0"/>
              <a:t>Sakina</a:t>
            </a:r>
            <a:r>
              <a:rPr lang="en-US" dirty="0" smtClean="0"/>
              <a:t> Women’s Medical College Hospital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524000"/>
            <a:ext cx="7391400" cy="17526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</a:rPr>
              <a:t>(Department of Ophthalmology</a:t>
            </a:r>
            <a:r>
              <a:rPr lang="en-US" sz="2400" dirty="0" smtClean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en-US" sz="24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4" name="Picture 12" descr="IMG"/>
          <p:cNvPicPr>
            <a:picLocks noChangeAspect="1" noChangeArrowheads="1"/>
          </p:cNvPicPr>
          <p:nvPr/>
        </p:nvPicPr>
        <p:blipFill rotWithShape="1">
          <a:blip r:embed="rId2"/>
          <a:srcRect l="28601" t="3354" r="48968" b="2095"/>
          <a:stretch/>
        </p:blipFill>
        <p:spPr bwMode="auto">
          <a:xfrm>
            <a:off x="1676400" y="2209800"/>
            <a:ext cx="5935663" cy="4378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7772400" cy="860425"/>
          </a:xfrm>
        </p:spPr>
        <p:txBody>
          <a:bodyPr/>
          <a:lstStyle/>
          <a:p>
            <a:r>
              <a:rPr lang="en-US" b="1" dirty="0" smtClean="0"/>
              <a:t>Basic Information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685800" y="1905000"/>
            <a:ext cx="7772400" cy="3124200"/>
          </a:xfrm>
          <a:ln>
            <a:noFill/>
          </a:ln>
        </p:spPr>
        <p:txBody>
          <a:bodyPr>
            <a:normAutofit/>
          </a:bodyPr>
          <a:lstStyle/>
          <a:p>
            <a:pPr marL="342900" indent="-342900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Started on 2003 as Mobile eye Care Project</a:t>
            </a:r>
          </a:p>
          <a:p>
            <a:pPr marL="342900" indent="-342900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3000" dirty="0" smtClean="0">
                <a:solidFill>
                  <a:schemeClr val="bg1"/>
                </a:solidFill>
              </a:rPr>
              <a:t> In 2005 established Base Hospital</a:t>
            </a:r>
          </a:p>
          <a:p>
            <a:pPr marL="342900" indent="-342900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3000" dirty="0" smtClean="0">
                <a:solidFill>
                  <a:schemeClr val="bg1"/>
                </a:solidFill>
              </a:rPr>
              <a:t> Upgraded to Ophthalmology Department of Ad-din </a:t>
            </a:r>
            <a:r>
              <a:rPr lang="en-US" sz="3000" dirty="0" err="1" smtClean="0">
                <a:solidFill>
                  <a:schemeClr val="bg1"/>
                </a:solidFill>
              </a:rPr>
              <a:t>Sakina</a:t>
            </a:r>
            <a:r>
              <a:rPr lang="en-US" sz="3000" dirty="0" smtClean="0">
                <a:solidFill>
                  <a:schemeClr val="bg1"/>
                </a:solidFill>
              </a:rPr>
              <a:t> Women’s Medical College in 2012</a:t>
            </a:r>
          </a:p>
          <a:p>
            <a:pPr algn="l"/>
            <a:endParaRPr lang="en-US" dirty="0" smtClean="0">
              <a:solidFill>
                <a:schemeClr val="bg1"/>
              </a:solidFill>
            </a:endParaRPr>
          </a:p>
          <a:p>
            <a:pPr algn="l">
              <a:buFont typeface="Arial" pitchFamily="34" charset="0"/>
              <a:buChar char="•"/>
            </a:pPr>
            <a:endParaRPr lang="en-US" dirty="0" smtClean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Organogram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183287"/>
              </p:ext>
            </p:extLst>
          </p:nvPr>
        </p:nvGraphicFramePr>
        <p:xfrm>
          <a:off x="228600" y="1523999"/>
          <a:ext cx="8686800" cy="3733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183"/>
                <a:gridCol w="2738230"/>
                <a:gridCol w="2549387"/>
              </a:tblGrid>
              <a:tr h="757583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Professor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Associate</a:t>
                      </a:r>
                    </a:p>
                    <a:p>
                      <a:pPr algn="l"/>
                      <a:r>
                        <a:rPr lang="en-IN" dirty="0" smtClean="0"/>
                        <a:t>Professor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Assistant</a:t>
                      </a:r>
                      <a:r>
                        <a:rPr lang="en-IN" baseline="0" dirty="0" smtClean="0"/>
                        <a:t> Professor</a:t>
                      </a:r>
                      <a:endParaRPr lang="en-GB" dirty="0"/>
                    </a:p>
                  </a:txBody>
                  <a:tcPr/>
                </a:tc>
              </a:tr>
              <a:tr h="757583">
                <a:tc>
                  <a:txBody>
                    <a:bodyPr/>
                    <a:lstStyle/>
                    <a:p>
                      <a:pPr algn="l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Gias</a:t>
                      </a:r>
                      <a:r>
                        <a:rPr lang="en-IN" dirty="0" smtClean="0"/>
                        <a:t> Uddin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432905">
                <a:tc>
                  <a:txBody>
                    <a:bodyPr/>
                    <a:lstStyle/>
                    <a:p>
                      <a:pPr algn="l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Nahid</a:t>
                      </a:r>
                      <a:r>
                        <a:rPr lang="en-IN" dirty="0" smtClean="0"/>
                        <a:t> Kamal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</a:tr>
              <a:tr h="432905">
                <a:tc>
                  <a:txBody>
                    <a:bodyPr/>
                    <a:lstStyle/>
                    <a:p>
                      <a:pPr algn="l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Minhajur</a:t>
                      </a:r>
                      <a:r>
                        <a:rPr lang="en-IN" dirty="0" smtClean="0"/>
                        <a:t> Rahman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</a:tr>
              <a:tr h="43290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</a:tr>
              <a:tr h="487017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</a:tr>
              <a:tr h="43290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225293"/>
              </p:ext>
            </p:extLst>
          </p:nvPr>
        </p:nvGraphicFramePr>
        <p:xfrm>
          <a:off x="228601" y="5410199"/>
          <a:ext cx="8686800" cy="949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183"/>
                <a:gridCol w="2738230"/>
                <a:gridCol w="2549387"/>
              </a:tblGrid>
              <a:tr h="460148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RS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Registrar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Assistant Registrar</a:t>
                      </a:r>
                      <a:endParaRPr lang="en-GB" dirty="0"/>
                    </a:p>
                  </a:txBody>
                  <a:tcPr/>
                </a:tc>
              </a:tr>
              <a:tr h="489342"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 Matron (1)</a:t>
            </a:r>
          </a:p>
          <a:p>
            <a:r>
              <a:rPr lang="en-US" dirty="0" smtClean="0"/>
              <a:t> Nursing Supervisor (3)</a:t>
            </a:r>
          </a:p>
          <a:p>
            <a:r>
              <a:rPr lang="en-US" dirty="0" smtClean="0"/>
              <a:t> Senior Staff Nurse (10)</a:t>
            </a:r>
          </a:p>
          <a:p>
            <a:r>
              <a:rPr lang="en-US" dirty="0" smtClean="0"/>
              <a:t> Assistant Nurse (5)</a:t>
            </a:r>
          </a:p>
          <a:p>
            <a:r>
              <a:rPr lang="en-US" dirty="0" smtClean="0"/>
              <a:t> Medical Assistant (3)</a:t>
            </a:r>
          </a:p>
          <a:p>
            <a:r>
              <a:rPr lang="en-US" dirty="0" smtClean="0"/>
              <a:t> Counselor (1)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Refractionist</a:t>
            </a:r>
            <a:r>
              <a:rPr lang="en-US" dirty="0" smtClean="0"/>
              <a:t> (1)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Pharmasist</a:t>
            </a:r>
            <a:r>
              <a:rPr lang="en-US" dirty="0" smtClean="0"/>
              <a:t> (1)</a:t>
            </a:r>
          </a:p>
          <a:p>
            <a:r>
              <a:rPr lang="en-US" dirty="0" smtClean="0"/>
              <a:t> Data entry Operator (1)</a:t>
            </a:r>
          </a:p>
          <a:p>
            <a:r>
              <a:rPr lang="en-US" dirty="0" smtClean="0"/>
              <a:t> Others (20)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Nurses and Other Staffs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Teaching Service </a:t>
            </a:r>
          </a:p>
          <a:p>
            <a:r>
              <a:rPr lang="en-US" sz="3200" dirty="0" smtClean="0"/>
              <a:t>Outdoor service</a:t>
            </a:r>
          </a:p>
          <a:p>
            <a:r>
              <a:rPr lang="en-US" sz="3200" dirty="0" smtClean="0"/>
              <a:t>Indoor Service</a:t>
            </a:r>
          </a:p>
          <a:p>
            <a:r>
              <a:rPr lang="en-US" sz="3200" dirty="0" smtClean="0"/>
              <a:t>Outreach Service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Activities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2362200"/>
            <a:ext cx="7773339" cy="4495800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Intern’s Doctor’s Training :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Morning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ession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resentation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onthly Meeting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Discursion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referred case, Teaching according to log book.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Nursing Training</a:t>
            </a: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Ongoing Research study :</a:t>
            </a:r>
          </a:p>
          <a:p>
            <a:pPr marL="914400" lvl="1" indent="-457200">
              <a:buAutoNum type="arabicPeriod"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Wound infection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Academic activities</a:t>
            </a:r>
            <a:br>
              <a:rPr lang="en-US" dirty="0"/>
            </a:br>
            <a:r>
              <a:rPr lang="en-US" dirty="0"/>
              <a:t>Under graduate level</a:t>
            </a:r>
          </a:p>
        </p:txBody>
      </p:sp>
    </p:spTree>
    <p:extLst>
      <p:ext uri="{BB962C8B-B14F-4D97-AF65-F5344CB8AC3E}">
        <p14:creationId xmlns:p14="http://schemas.microsoft.com/office/powerpoint/2010/main" val="184466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 Reception and Registration </a:t>
            </a:r>
          </a:p>
          <a:p>
            <a:r>
              <a:rPr lang="en-US" sz="2800" dirty="0" smtClean="0"/>
              <a:t> Checkup- by Professor or Medical officer </a:t>
            </a:r>
          </a:p>
          <a:p>
            <a:r>
              <a:rPr lang="en-US" sz="2800" dirty="0" smtClean="0"/>
              <a:t> Refraction </a:t>
            </a:r>
          </a:p>
          <a:p>
            <a:r>
              <a:rPr lang="en-US" sz="2800" dirty="0" smtClean="0"/>
              <a:t> Minor Operation </a:t>
            </a:r>
          </a:p>
          <a:p>
            <a:r>
              <a:rPr lang="en-US" sz="2800" dirty="0" smtClean="0"/>
              <a:t> Pathology service</a:t>
            </a:r>
          </a:p>
          <a:p>
            <a:r>
              <a:rPr lang="en-US" sz="2800" dirty="0" smtClean="0"/>
              <a:t> Optical Shop and Pharmacy service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Outdoor service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 Word service- Aseptic and Septic</a:t>
            </a:r>
          </a:p>
          <a:p>
            <a:r>
              <a:rPr lang="en-US" sz="2800" dirty="0" smtClean="0"/>
              <a:t> OT Service- Aseptic and Septic</a:t>
            </a:r>
          </a:p>
          <a:p>
            <a:r>
              <a:rPr lang="en-US" sz="2800" dirty="0" smtClean="0"/>
              <a:t> Operations,</a:t>
            </a:r>
          </a:p>
          <a:p>
            <a:pPr marL="2233613" indent="-179388"/>
            <a:r>
              <a:rPr lang="en-US" sz="2800" dirty="0" smtClean="0"/>
              <a:t> Cataract- </a:t>
            </a:r>
            <a:r>
              <a:rPr lang="en-US" sz="2800" dirty="0" err="1" smtClean="0"/>
              <a:t>Phaco</a:t>
            </a:r>
            <a:r>
              <a:rPr lang="en-US" sz="2800" dirty="0" smtClean="0"/>
              <a:t> and SICS</a:t>
            </a:r>
          </a:p>
          <a:p>
            <a:pPr marL="2233613" indent="-179388"/>
            <a:r>
              <a:rPr lang="en-US" sz="2800" dirty="0" smtClean="0"/>
              <a:t> DCR, DCT</a:t>
            </a:r>
          </a:p>
          <a:p>
            <a:pPr marL="2233613" indent="-179388"/>
            <a:r>
              <a:rPr lang="en-US" sz="2800" dirty="0" smtClean="0"/>
              <a:t> Glaucoma Operation</a:t>
            </a:r>
          </a:p>
          <a:p>
            <a:pPr marL="2233613" indent="-179388"/>
            <a:r>
              <a:rPr lang="en-US" sz="2800" dirty="0" smtClean="0"/>
              <a:t> </a:t>
            </a:r>
            <a:r>
              <a:rPr lang="en-US" sz="2800" dirty="0" err="1" smtClean="0"/>
              <a:t>Pterygium</a:t>
            </a:r>
            <a:r>
              <a:rPr lang="en-US" sz="2800" dirty="0" smtClean="0"/>
              <a:t> Operation</a:t>
            </a:r>
          </a:p>
          <a:p>
            <a:pPr marL="2233613" indent="-179388"/>
            <a:r>
              <a:rPr lang="en-US" sz="2800" dirty="0" smtClean="0"/>
              <a:t>ROP Screening</a:t>
            </a:r>
          </a:p>
          <a:p>
            <a:pPr marL="2233613" indent="-179388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Indoor Service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0050" indent="-400050">
              <a:buFont typeface="Wingdings 2"/>
              <a:buChar char=""/>
              <a:defRPr/>
            </a:pPr>
            <a:r>
              <a:rPr lang="en-US" dirty="0" smtClean="0"/>
              <a:t>OPD at field level</a:t>
            </a:r>
          </a:p>
          <a:p>
            <a:pPr marL="400050" indent="-400050">
              <a:buFont typeface="Wingdings 2"/>
              <a:buChar char=""/>
              <a:defRPr/>
            </a:pPr>
            <a:r>
              <a:rPr lang="en-US" dirty="0" smtClean="0"/>
              <a:t>Cataract patient screening and examination</a:t>
            </a:r>
          </a:p>
          <a:p>
            <a:pPr marL="400050" indent="-400050">
              <a:buFont typeface="Wingdings 2"/>
              <a:buChar char=""/>
              <a:defRPr/>
            </a:pP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smtClean="0">
                <a:cs typeface="SutonnyMJ" pitchFamily="2" charset="0"/>
              </a:rPr>
              <a:t>Cataract Operation by MOT</a:t>
            </a:r>
            <a:endParaRPr lang="en-US" dirty="0" smtClean="0">
              <a:latin typeface="SutonnyMJ" pitchFamily="2" charset="0"/>
              <a:cs typeface="SutonnyMJ" pitchFamily="2" charset="0"/>
            </a:endParaRPr>
          </a:p>
          <a:p>
            <a:pPr marL="400050" indent="-400050">
              <a:buFont typeface="Wingdings 2"/>
              <a:buChar char=""/>
              <a:defRPr/>
            </a:pPr>
            <a:r>
              <a:rPr lang="en-US" dirty="0" smtClean="0"/>
              <a:t>Providing refraction service</a:t>
            </a:r>
          </a:p>
          <a:p>
            <a:pPr marL="400050" indent="-400050">
              <a:buFont typeface="Wingdings 2"/>
              <a:buChar char=""/>
              <a:defRPr/>
            </a:pPr>
            <a:r>
              <a:rPr lang="en-US" dirty="0" smtClean="0"/>
              <a:t>Free spectacles distribution </a:t>
            </a:r>
            <a:endParaRPr lang="en-US" dirty="0" smtClean="0">
              <a:latin typeface="SutonnyMJ" pitchFamily="2" charset="0"/>
              <a:cs typeface="SutonnyMJ" pitchFamily="2" charset="0"/>
            </a:endParaRPr>
          </a:p>
          <a:p>
            <a:pPr marL="400050" indent="-400050">
              <a:buFont typeface="Wingdings 2"/>
              <a:buChar char=""/>
              <a:defRPr/>
            </a:pPr>
            <a:r>
              <a:rPr lang="en-US" dirty="0" smtClean="0"/>
              <a:t>Carrying free cataract patient to base hospital by Bus</a:t>
            </a:r>
          </a:p>
          <a:p>
            <a:pPr marL="400050" indent="-400050">
              <a:buFont typeface="Wingdings 2"/>
              <a:buChar char=""/>
              <a:defRPr/>
            </a:pPr>
            <a:r>
              <a:rPr lang="en-US" dirty="0" smtClean="0"/>
              <a:t>Refer others patient to base hospital</a:t>
            </a:r>
            <a:endParaRPr lang="en-US" dirty="0" smtClean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Outreach Service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6824597"/>
              </p:ext>
            </p:extLst>
          </p:nvPr>
        </p:nvGraphicFramePr>
        <p:xfrm>
          <a:off x="457200" y="2133600"/>
          <a:ext cx="8382000" cy="43202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117600"/>
                <a:gridCol w="1397000"/>
                <a:gridCol w="1397000"/>
                <a:gridCol w="1397000"/>
                <a:gridCol w="1397000"/>
              </a:tblGrid>
              <a:tr h="449261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Year</a:t>
                      </a:r>
                      <a:endParaRPr lang="en-US" sz="2000" dirty="0"/>
                    </a:p>
                  </a:txBody>
                  <a:tcPr marL="82321" marR="82321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OPD</a:t>
                      </a:r>
                      <a:endParaRPr lang="en-US" sz="2000" dirty="0"/>
                    </a:p>
                  </a:txBody>
                  <a:tcPr marL="82321" marR="82321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Cataract Operation</a:t>
                      </a:r>
                      <a:endParaRPr lang="en-US" sz="1800" dirty="0"/>
                    </a:p>
                  </a:txBody>
                  <a:tcPr marL="82321" marR="82321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82321" marR="82321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Others Operation</a:t>
                      </a:r>
                      <a:endParaRPr lang="en-US" sz="2000" dirty="0"/>
                    </a:p>
                  </a:txBody>
                  <a:tcPr marL="82321" marR="82321"/>
                </a:tc>
              </a:tr>
              <a:tr h="63674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SICS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Phaco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Total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 marL="82321" marR="82321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863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2003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1676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408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408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-</a:t>
                      </a:r>
                      <a:endParaRPr lang="en-US" sz="2000" dirty="0"/>
                    </a:p>
                  </a:txBody>
                  <a:tcPr marL="82321" marR="82321"/>
                </a:tc>
              </a:tr>
              <a:tr h="36863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2005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8873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2160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2160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-</a:t>
                      </a:r>
                      <a:endParaRPr lang="en-US" sz="2000" dirty="0"/>
                    </a:p>
                  </a:txBody>
                  <a:tcPr marL="82321" marR="82321"/>
                </a:tc>
              </a:tr>
              <a:tr h="36863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2010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14379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3500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3500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-</a:t>
                      </a:r>
                      <a:endParaRPr lang="en-US" sz="2000" dirty="0"/>
                    </a:p>
                  </a:txBody>
                  <a:tcPr marL="82321" marR="82321"/>
                </a:tc>
              </a:tr>
              <a:tr h="36863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2015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37141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8650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8650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-</a:t>
                      </a:r>
                      <a:endParaRPr lang="en-US" sz="2000" dirty="0"/>
                    </a:p>
                  </a:txBody>
                  <a:tcPr marL="82321" marR="82321"/>
                </a:tc>
              </a:tr>
              <a:tr h="36863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2018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56694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12150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836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12986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1399</a:t>
                      </a:r>
                      <a:endParaRPr lang="en-US" sz="2000" dirty="0"/>
                    </a:p>
                  </a:txBody>
                  <a:tcPr marL="82321" marR="82321"/>
                </a:tc>
              </a:tr>
              <a:tr h="36863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2019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59501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15319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955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16274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1389</a:t>
                      </a:r>
                      <a:endParaRPr lang="en-US" sz="2000" dirty="0"/>
                    </a:p>
                  </a:txBody>
                  <a:tcPr marL="82321" marR="82321"/>
                </a:tc>
              </a:tr>
              <a:tr h="36863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2020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40296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6207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705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6912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848</a:t>
                      </a:r>
                      <a:endParaRPr lang="en-US" sz="2000" dirty="0"/>
                    </a:p>
                  </a:txBody>
                  <a:tcPr marL="82321" marR="82321"/>
                </a:tc>
              </a:tr>
              <a:tr h="36863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2021(Jan-Nov)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-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7195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757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7952</a:t>
                      </a:r>
                      <a:endParaRPr lang="en-US" sz="2000" dirty="0"/>
                    </a:p>
                  </a:txBody>
                  <a:tcPr marL="82321" marR="823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814</a:t>
                      </a:r>
                      <a:endParaRPr lang="en-US" sz="2000" dirty="0"/>
                    </a:p>
                  </a:txBody>
                  <a:tcPr marL="82321" marR="82321"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1094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Performance of Ophthalmology Department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4038600" y="1143000"/>
            <a:ext cx="44958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4400" dirty="0">
                <a:solidFill>
                  <a:srgbClr val="3333FF"/>
                </a:solidFill>
              </a:rPr>
              <a:t>Eye Care Project</a:t>
            </a:r>
          </a:p>
        </p:txBody>
      </p:sp>
      <p:pic>
        <p:nvPicPr>
          <p:cNvPr id="41988" name="Picture 4" descr="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092" y="2590800"/>
            <a:ext cx="4962708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0" name="Picture 6" descr="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2895600" cy="35052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91" name="Picture 7" descr="3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3893507"/>
            <a:ext cx="3390900" cy="292639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627388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1"/>
                </a:solidFill>
              </a:rPr>
              <a:t>Annual Trend of Eye Care Project(OPD)</a:t>
            </a:r>
            <a:endParaRPr lang="en-US" sz="4400"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7418640"/>
              </p:ext>
            </p:extLst>
          </p:nvPr>
        </p:nvGraphicFramePr>
        <p:xfrm>
          <a:off x="457200" y="2464081"/>
          <a:ext cx="82296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811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466088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1"/>
                </a:solidFill>
              </a:rPr>
              <a:t>Annual Trend of Eye Care Cataract</a:t>
            </a:r>
            <a:endParaRPr lang="en-US" sz="4000"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1101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696200" cy="838200"/>
          </a:xfrm>
        </p:spPr>
        <p:txBody>
          <a:bodyPr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1"/>
                </a:solidFill>
              </a:rPr>
              <a:t>Thank You All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Chart Placeholder 3" descr="42035063772_33e27d5616_b.jpg"/>
          <p:cNvPicPr>
            <a:picLocks noGrp="1" noChangeAspect="1"/>
          </p:cNvPicPr>
          <p:nvPr>
            <p:ph type="chart" idx="1"/>
          </p:nvPr>
        </p:nvPicPr>
        <p:blipFill>
          <a:blip r:embed="rId2"/>
          <a:stretch>
            <a:fillRect/>
          </a:stretch>
        </p:blipFill>
        <p:spPr>
          <a:xfrm>
            <a:off x="1447800" y="2209800"/>
            <a:ext cx="6169187" cy="4114800"/>
          </a:xfrm>
        </p:spPr>
      </p:pic>
    </p:spTree>
    <p:extLst>
      <p:ext uri="{BB962C8B-B14F-4D97-AF65-F5344CB8AC3E}">
        <p14:creationId xmlns:p14="http://schemas.microsoft.com/office/powerpoint/2010/main" val="211079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192</TotalTime>
  <Words>361</Words>
  <Application>Microsoft Office PowerPoint</Application>
  <PresentationFormat>On-screen Show (4:3)</PresentationFormat>
  <Paragraphs>129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Waveform</vt:lpstr>
      <vt:lpstr>Ad-din Sakina Women’s Medical College Hospital </vt:lpstr>
      <vt:lpstr>Basic Information</vt:lpstr>
      <vt:lpstr>Organogram</vt:lpstr>
      <vt:lpstr>Nurses and Other Staffs</vt:lpstr>
      <vt:lpstr>Activities </vt:lpstr>
      <vt:lpstr>Academic activities Under graduate level</vt:lpstr>
      <vt:lpstr>Outdoor service </vt:lpstr>
      <vt:lpstr>Indoor Service</vt:lpstr>
      <vt:lpstr>Outreach Service</vt:lpstr>
      <vt:lpstr>Performance of Ophthalmology Department</vt:lpstr>
      <vt:lpstr>PowerPoint Presentation</vt:lpstr>
      <vt:lpstr>Annual Trend of Eye Care Project(OPD)</vt:lpstr>
      <vt:lpstr>Annual Trend of Eye Care Cataract</vt:lpstr>
      <vt:lpstr>Thank You All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Ad-din Sakina Women’s Medical College Hospital </dc:title>
  <dc:creator>Eye</dc:creator>
  <cp:lastModifiedBy>Emdad</cp:lastModifiedBy>
  <cp:revision>33</cp:revision>
  <dcterms:created xsi:type="dcterms:W3CDTF">2006-08-16T00:00:00Z</dcterms:created>
  <dcterms:modified xsi:type="dcterms:W3CDTF">2021-12-11T05:04:57Z</dcterms:modified>
</cp:coreProperties>
</file>