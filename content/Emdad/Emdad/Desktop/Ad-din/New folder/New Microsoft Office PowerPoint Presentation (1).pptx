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1" r:id="rId1"/>
  </p:sldMasterIdLst>
  <p:sldIdLst>
    <p:sldId id="256" r:id="rId2"/>
    <p:sldId id="301" r:id="rId3"/>
    <p:sldId id="259" r:id="rId4"/>
    <p:sldId id="260" r:id="rId5"/>
    <p:sldId id="258" r:id="rId6"/>
    <p:sldId id="261" r:id="rId7"/>
    <p:sldId id="262" r:id="rId8"/>
    <p:sldId id="263" r:id="rId9"/>
    <p:sldId id="264" r:id="rId10"/>
    <p:sldId id="265" r:id="rId11"/>
    <p:sldId id="303" r:id="rId12"/>
    <p:sldId id="305" r:id="rId13"/>
    <p:sldId id="304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1300786"/>
            <a:ext cx="6517482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3886201"/>
            <a:ext cx="6517482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067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614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828564"/>
            <a:ext cx="7763814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3657458"/>
            <a:ext cx="7763814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968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382952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2367093"/>
            <a:ext cx="382905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687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2371018"/>
            <a:ext cx="3655106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3051013"/>
            <a:ext cx="3829520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2371018"/>
            <a:ext cx="3661353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3051013"/>
            <a:ext cx="382905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661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915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349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2951766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609601"/>
            <a:ext cx="4650122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2632852"/>
            <a:ext cx="2951767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353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09600"/>
            <a:ext cx="4129618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04270" y="609601"/>
            <a:ext cx="3005851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632853"/>
            <a:ext cx="4129604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263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289374"/>
            <a:ext cx="7773324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698261"/>
            <a:ext cx="7366899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5108728"/>
            <a:ext cx="7773339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367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204821"/>
            <a:ext cx="7773339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2746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872588"/>
            <a:ext cx="6977064" cy="272991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372797"/>
            <a:ext cx="7773339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37626" y="887859"/>
            <a:ext cx="54688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0130" y="3120015"/>
            <a:ext cx="553641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78343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2138722"/>
            <a:ext cx="7773339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662335"/>
            <a:ext cx="777333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1382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3"/>
            <a:ext cx="2474232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943356"/>
            <a:ext cx="2474232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2367093"/>
            <a:ext cx="246864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943356"/>
            <a:ext cx="2477513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367093"/>
            <a:ext cx="24786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943356"/>
            <a:ext cx="247869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4550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610772"/>
            <a:ext cx="7773339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4204820"/>
            <a:ext cx="247230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2367093"/>
            <a:ext cx="2472307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4781082"/>
            <a:ext cx="2472307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4204820"/>
            <a:ext cx="247637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2367093"/>
            <a:ext cx="2477514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781081"/>
            <a:ext cx="2477514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4204820"/>
            <a:ext cx="247551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2367093"/>
            <a:ext cx="2478696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4781079"/>
            <a:ext cx="2478790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2014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2367094"/>
            <a:ext cx="7773339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7881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2"/>
            <a:ext cx="1914995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609602"/>
            <a:ext cx="5744043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488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832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4"/>
            <a:ext cx="7773339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5883276"/>
            <a:ext cx="50046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7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732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  <p:sldLayoutId id="2147483707" r:id="rId16"/>
    <p:sldLayoutId id="2147483708" r:id="rId17"/>
    <p:sldLayoutId id="2147483709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371600"/>
            <a:ext cx="8305800" cy="147002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Ad-din Sakina Women’s Medical College Hospital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3048000"/>
            <a:ext cx="8153400" cy="1752600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(Department of Gynae and ObsT)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 Box 2"/>
          <p:cNvSpPr txBox="1">
            <a:spLocks noChangeArrowheads="1"/>
          </p:cNvSpPr>
          <p:nvPr/>
        </p:nvSpPr>
        <p:spPr bwMode="auto">
          <a:xfrm>
            <a:off x="1016296" y="47530"/>
            <a:ext cx="7239000" cy="1382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70000"/>
              </a:lnSpc>
              <a:spcBef>
                <a:spcPct val="50000"/>
              </a:spcBef>
            </a:pPr>
            <a:endParaRPr lang="en-US" altLang="en-US" sz="1000" dirty="0">
              <a:solidFill>
                <a:schemeClr val="accent2"/>
              </a:solidFill>
            </a:endParaRPr>
          </a:p>
          <a:p>
            <a:pPr algn="ctr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en-US" sz="4000" dirty="0">
                <a:solidFill>
                  <a:schemeClr val="accent2"/>
                </a:solidFill>
              </a:rPr>
              <a:t>Ad-din Sakina Medical College Hospital</a:t>
            </a:r>
          </a:p>
        </p:txBody>
      </p:sp>
      <p:sp>
        <p:nvSpPr>
          <p:cNvPr id="44035" name="Text Box 3"/>
          <p:cNvSpPr txBox="1">
            <a:spLocks noChangeArrowheads="1"/>
          </p:cNvSpPr>
          <p:nvPr/>
        </p:nvSpPr>
        <p:spPr bwMode="auto">
          <a:xfrm>
            <a:off x="304800" y="2057400"/>
            <a:ext cx="3886200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3200" dirty="0"/>
              <a:t>Start: 5 April 1985</a:t>
            </a:r>
            <a:r>
              <a:rPr lang="en-US" altLang="en-US" sz="3200" dirty="0">
                <a:solidFill>
                  <a:srgbClr val="336600"/>
                </a:solidFill>
              </a:rPr>
              <a:t> 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3200" dirty="0">
                <a:solidFill>
                  <a:srgbClr val="336600"/>
                </a:solidFill>
              </a:rPr>
              <a:t>Aims: To provide standard health service specially to the women, children And others at minimum cost .</a:t>
            </a:r>
            <a:endParaRPr lang="en-US" altLang="en-US" sz="3200" dirty="0">
              <a:solidFill>
                <a:schemeClr val="tx1"/>
              </a:solidFill>
            </a:endParaRPr>
          </a:p>
        </p:txBody>
      </p:sp>
      <p:pic>
        <p:nvPicPr>
          <p:cNvPr id="44038" name="Picture 6" descr="Ad-din Hospital Front sid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73" t="25000" r="6250" b="11000"/>
          <a:stretch>
            <a:fillRect/>
          </a:stretch>
        </p:blipFill>
        <p:spPr bwMode="auto">
          <a:xfrm>
            <a:off x="4343400" y="2852738"/>
            <a:ext cx="4800600" cy="4005262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1905001"/>
            <a:ext cx="5105399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17479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Organogram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31" y="1905000"/>
            <a:ext cx="7773339" cy="3886201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Head of the Department (1)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Professor (3)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Associate professor (1)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Associate professor CC (1)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Assistant Professor (0)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Residential Surgeon (1)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Registrar  (1)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Assistant Registrar  (1)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Medical Officer (2)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Nurses and Other Staffs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31" y="1905001"/>
            <a:ext cx="7773339" cy="2590800"/>
          </a:xfrm>
        </p:spPr>
        <p:txBody>
          <a:bodyPr>
            <a:normAutofit/>
          </a:bodyPr>
          <a:lstStyle/>
          <a:p>
            <a:r>
              <a:rPr lang="en-US" dirty="0"/>
              <a:t> Matron (1)</a:t>
            </a:r>
          </a:p>
          <a:p>
            <a:r>
              <a:rPr lang="en-US" dirty="0"/>
              <a:t> Nursing Supervisor (4)</a:t>
            </a:r>
          </a:p>
          <a:p>
            <a:r>
              <a:rPr lang="en-US" dirty="0"/>
              <a:t> Senior Staff Nurse (41)</a:t>
            </a:r>
          </a:p>
          <a:p>
            <a:r>
              <a:rPr lang="en-US" dirty="0"/>
              <a:t>Others (22)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Activities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Teaching Service </a:t>
            </a:r>
          </a:p>
          <a:p>
            <a:r>
              <a:rPr lang="en-US" dirty="0"/>
              <a:t>Outdoor service</a:t>
            </a:r>
          </a:p>
          <a:p>
            <a:r>
              <a:rPr lang="en-US" dirty="0"/>
              <a:t>Indoor Service</a:t>
            </a:r>
          </a:p>
          <a:p>
            <a:r>
              <a:rPr lang="en-US" dirty="0"/>
              <a:t>Outreach Service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Academic activities</a:t>
            </a:r>
            <a:br>
              <a:rPr lang="en-US" dirty="0"/>
            </a:br>
            <a:r>
              <a:rPr lang="en-US" dirty="0"/>
              <a:t>Under graduate 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30" y="2362200"/>
            <a:ext cx="7773339" cy="4495800"/>
          </a:xfrm>
        </p:spPr>
        <p:txBody>
          <a:bodyPr>
            <a:norm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Intern’s Doctor’s Training : morning session, case presentation, monthly mitting , discursion on referred case, Teaching according to log book.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year MBBS Class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year MBBS Class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year MBBS Class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Nursing Training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study :</a:t>
            </a:r>
          </a:p>
          <a:p>
            <a:pPr marL="914400" lvl="1" indent="-457200"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wound infection</a:t>
            </a:r>
          </a:p>
          <a:p>
            <a:pPr marL="914400" lvl="1" indent="-457200"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</a:t>
            </a:r>
          </a:p>
          <a:p>
            <a:pPr marL="914400" lvl="1" indent="-457200">
              <a:buFont typeface="Arial" panose="020B0604020202020204" pitchFamily="34" charset="0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iud</a:t>
            </a: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Outdoor service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31" y="1905000"/>
            <a:ext cx="7773339" cy="45720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 Reception and Registration </a:t>
            </a:r>
          </a:p>
          <a:p>
            <a:r>
              <a:rPr lang="en-US" dirty="0"/>
              <a:t>ANC Checkup by mid wife NURSEs</a:t>
            </a:r>
          </a:p>
          <a:p>
            <a:r>
              <a:rPr lang="en-US" dirty="0"/>
              <a:t> Checkup- by Professor or Medical officer OR NURSEs</a:t>
            </a:r>
          </a:p>
          <a:p>
            <a:r>
              <a:rPr lang="en-US" dirty="0"/>
              <a:t>PNC And FP services </a:t>
            </a:r>
          </a:p>
          <a:p>
            <a:r>
              <a:rPr lang="en-US" dirty="0"/>
              <a:t>Health education services</a:t>
            </a:r>
          </a:p>
          <a:p>
            <a:r>
              <a:rPr lang="en-US" dirty="0"/>
              <a:t>Pathology service</a:t>
            </a:r>
          </a:p>
          <a:p>
            <a:r>
              <a:rPr lang="en-US" dirty="0"/>
              <a:t>Radiology and imaging</a:t>
            </a:r>
          </a:p>
          <a:p>
            <a:r>
              <a:rPr lang="en-US" dirty="0"/>
              <a:t>Pharmacy service</a:t>
            </a:r>
          </a:p>
          <a:p>
            <a:r>
              <a:rPr lang="en-US" dirty="0"/>
              <a:t>utsho store and mayer choa cafeteria</a:t>
            </a:r>
          </a:p>
          <a:p>
            <a:r>
              <a:rPr lang="en-US" dirty="0"/>
              <a:t>Ambulance services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Indoor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31" y="1752600"/>
            <a:ext cx="7773339" cy="4800600"/>
          </a:xfrm>
        </p:spPr>
        <p:txBody>
          <a:bodyPr>
            <a:normAutofit fontScale="25000" lnSpcReduction="20000"/>
          </a:bodyPr>
          <a:lstStyle/>
          <a:p>
            <a:r>
              <a:rPr lang="en-US" sz="4800" dirty="0"/>
              <a:t> safe </a:t>
            </a:r>
            <a:r>
              <a:rPr lang="en-US" sz="4800" dirty="0" err="1"/>
              <a:t>labour</a:t>
            </a:r>
            <a:r>
              <a:rPr lang="en-US" sz="4800" dirty="0"/>
              <a:t> unit</a:t>
            </a:r>
          </a:p>
          <a:p>
            <a:r>
              <a:rPr lang="en-US" sz="4800" dirty="0" err="1"/>
              <a:t>Labour</a:t>
            </a:r>
            <a:r>
              <a:rPr lang="en-US" sz="4800" dirty="0"/>
              <a:t> and gynae </a:t>
            </a:r>
            <a:r>
              <a:rPr lang="en-US" sz="4800" dirty="0" err="1"/>
              <a:t>ot</a:t>
            </a:r>
            <a:endParaRPr lang="en-US" sz="4800" dirty="0"/>
          </a:p>
          <a:p>
            <a:r>
              <a:rPr lang="en-US" sz="4800" dirty="0"/>
              <a:t>Post operative unit </a:t>
            </a:r>
          </a:p>
          <a:p>
            <a:r>
              <a:rPr lang="en-US" sz="4800" dirty="0"/>
              <a:t>Gynae ward: Admission, observation, pre operative checkup</a:t>
            </a:r>
          </a:p>
          <a:p>
            <a:r>
              <a:rPr lang="en-US" sz="4800" dirty="0"/>
              <a:t>Lab activities : </a:t>
            </a:r>
          </a:p>
          <a:p>
            <a:pPr marL="0" indent="0">
              <a:buNone/>
            </a:pPr>
            <a:r>
              <a:rPr lang="en-US" sz="4800" dirty="0"/>
              <a:t>                             1. all required investigation</a:t>
            </a:r>
          </a:p>
          <a:p>
            <a:pPr marL="0" indent="0">
              <a:buNone/>
            </a:pPr>
            <a:r>
              <a:rPr lang="en-US" sz="4800" dirty="0"/>
              <a:t>                             2. USG</a:t>
            </a:r>
          </a:p>
          <a:p>
            <a:pPr marL="0" indent="0">
              <a:buNone/>
            </a:pPr>
            <a:r>
              <a:rPr lang="en-US" sz="4800" dirty="0"/>
              <a:t>                              3. </a:t>
            </a:r>
            <a:r>
              <a:rPr lang="en-US" sz="4800" dirty="0" err="1"/>
              <a:t>Paps</a:t>
            </a:r>
            <a:r>
              <a:rPr lang="en-US" sz="4800" dirty="0"/>
              <a:t> </a:t>
            </a:r>
            <a:r>
              <a:rPr lang="en-US" sz="4800" dirty="0" err="1"/>
              <a:t>tesr</a:t>
            </a:r>
            <a:endParaRPr lang="en-US" sz="4800" dirty="0"/>
          </a:p>
          <a:p>
            <a:pPr marL="0" indent="0">
              <a:buNone/>
            </a:pPr>
            <a:r>
              <a:rPr lang="en-US" sz="4800" dirty="0"/>
              <a:t>                              4. hysterosalpingogram </a:t>
            </a:r>
          </a:p>
          <a:p>
            <a:pPr marL="0" indent="0">
              <a:buNone/>
            </a:pPr>
            <a:r>
              <a:rPr lang="en-US" sz="4800" dirty="0"/>
              <a:t>Operations</a:t>
            </a:r>
          </a:p>
          <a:p>
            <a:pPr marL="2233613" indent="-179388"/>
            <a:r>
              <a:rPr lang="en-US" sz="4800" dirty="0"/>
              <a:t> caesarian section</a:t>
            </a:r>
          </a:p>
          <a:p>
            <a:pPr marL="2233613" indent="-179388"/>
            <a:r>
              <a:rPr lang="en-US" sz="4800" dirty="0"/>
              <a:t> total abdominal hysterectomy</a:t>
            </a:r>
          </a:p>
          <a:p>
            <a:pPr marL="2233613" indent="-179388"/>
            <a:r>
              <a:rPr lang="en-US" sz="4800" dirty="0"/>
              <a:t>vaginal hysterectomy</a:t>
            </a:r>
          </a:p>
          <a:p>
            <a:pPr marL="2233613" indent="-179388"/>
            <a:r>
              <a:rPr lang="en-US" sz="4800" dirty="0"/>
              <a:t>De&amp;c</a:t>
            </a:r>
          </a:p>
          <a:p>
            <a:pPr marL="2233613" indent="-179388"/>
            <a:r>
              <a:rPr lang="en-US" sz="4800" dirty="0"/>
              <a:t>All Ovarian operations</a:t>
            </a:r>
          </a:p>
          <a:p>
            <a:pPr marL="2233613" indent="-179388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Outreach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31" y="2367095"/>
            <a:ext cx="7773339" cy="2433506"/>
          </a:xfrm>
        </p:spPr>
        <p:txBody>
          <a:bodyPr>
            <a:normAutofit/>
          </a:bodyPr>
          <a:lstStyle/>
          <a:p>
            <a:pPr marL="400050" indent="-400050">
              <a:buFont typeface="Wingdings 2"/>
              <a:buChar char=""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OPD at field level</a:t>
            </a:r>
          </a:p>
          <a:p>
            <a:pPr marL="400050" indent="-400050">
              <a:buFont typeface="Wingdings 2"/>
              <a:buChar char=""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Anc , pnc  and referral service</a:t>
            </a:r>
          </a:p>
          <a:p>
            <a:pPr marL="400050" indent="-400050">
              <a:buFont typeface="Wingdings 2"/>
              <a:buChar char=""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Fistula  diagnosis and referral case</a:t>
            </a:r>
          </a:p>
          <a:p>
            <a:pPr marL="400050" indent="-400050">
              <a:buFont typeface="Wingdings 2"/>
              <a:buChar char=""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Ambulance service</a:t>
            </a:r>
          </a:p>
          <a:p>
            <a:pPr marL="400050" indent="-400050">
              <a:buFont typeface="Wingdings 2"/>
              <a:buChar char=""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Rehabilitees services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18519"/>
            <a:ext cx="7773338" cy="905482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of gynae and obst Department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2010-2021(Jan-Nov)</a:t>
            </a:r>
          </a:p>
        </p:txBody>
      </p:sp>
      <p:graphicFrame>
        <p:nvGraphicFramePr>
          <p:cNvPr id="11" name="Content Placeholder 10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6327237"/>
              </p:ext>
            </p:extLst>
          </p:nvPr>
        </p:nvGraphicFramePr>
        <p:xfrm>
          <a:off x="381000" y="1600200"/>
          <a:ext cx="8381998" cy="38351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446">
                  <a:extLst>
                    <a:ext uri="{9D8B030D-6E8A-4147-A177-3AD203B41FA5}">
                      <a16:colId xmlns:a16="http://schemas.microsoft.com/office/drawing/2014/main" val="4124854820"/>
                    </a:ext>
                  </a:extLst>
                </a:gridCol>
                <a:gridCol w="745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1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3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85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33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594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51136">
                  <a:extLst>
                    <a:ext uri="{9D8B030D-6E8A-4147-A177-3AD203B41FA5}">
                      <a16:colId xmlns:a16="http://schemas.microsoft.com/office/drawing/2014/main" val="4049830223"/>
                    </a:ext>
                  </a:extLst>
                </a:gridCol>
                <a:gridCol w="751136">
                  <a:extLst>
                    <a:ext uri="{9D8B030D-6E8A-4147-A177-3AD203B41FA5}">
                      <a16:colId xmlns:a16="http://schemas.microsoft.com/office/drawing/2014/main" val="650347862"/>
                    </a:ext>
                  </a:extLst>
                </a:gridCol>
                <a:gridCol w="688542">
                  <a:extLst>
                    <a:ext uri="{9D8B030D-6E8A-4147-A177-3AD203B41FA5}">
                      <a16:colId xmlns:a16="http://schemas.microsoft.com/office/drawing/2014/main" val="1271222547"/>
                    </a:ext>
                  </a:extLst>
                </a:gridCol>
                <a:gridCol w="813731">
                  <a:extLst>
                    <a:ext uri="{9D8B030D-6E8A-4147-A177-3AD203B41FA5}">
                      <a16:colId xmlns:a16="http://schemas.microsoft.com/office/drawing/2014/main" val="1886636786"/>
                    </a:ext>
                  </a:extLst>
                </a:gridCol>
              </a:tblGrid>
              <a:tr h="35999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  <a:p>
                      <a:pPr algn="ctr"/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IPD Patients 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</a:t>
                      </a:r>
                    </a:p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OPD Patients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Gynae Patients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ANC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PNC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FP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C/S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Delivery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Delivery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DE&amp;C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Gynae OT</a:t>
                      </a:r>
                    </a:p>
                  </a:txBody>
                  <a:tcPr marL="86360" marR="86360"/>
                </a:tc>
                <a:extLst>
                  <a:ext uri="{0D108BD9-81ED-4DB2-BD59-A6C34878D82A}">
                    <a16:rowId xmlns:a16="http://schemas.microsoft.com/office/drawing/2014/main" val="1449347824"/>
                  </a:ext>
                </a:extLst>
              </a:tr>
              <a:tr h="359997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2010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5408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55710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7802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28161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6765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3516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2715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577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3292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</a:p>
                  </a:txBody>
                  <a:tcPr marL="86360" marR="8636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997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2015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7807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84682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8105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25249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6460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3860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2879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606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3485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198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</a:p>
                  </a:txBody>
                  <a:tcPr marL="86360" marR="8636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8766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2018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10182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95187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9779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25325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5992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3376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3446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616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4062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446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</a:t>
                      </a:r>
                    </a:p>
                  </a:txBody>
                  <a:tcPr marL="86360" marR="8636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8766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2019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10783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98637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9362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24117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6217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3412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3336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826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4162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326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</a:p>
                  </a:txBody>
                  <a:tcPr marL="86360" marR="8636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8766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2020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8565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75003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6749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21673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5697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3315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3213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654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3867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298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</a:t>
                      </a:r>
                    </a:p>
                  </a:txBody>
                  <a:tcPr marL="86360" marR="86360"/>
                </a:tc>
                <a:extLst>
                  <a:ext uri="{0D108BD9-81ED-4DB2-BD59-A6C34878D82A}">
                    <a16:rowId xmlns:a16="http://schemas.microsoft.com/office/drawing/2014/main" val="455660112"/>
                  </a:ext>
                </a:extLst>
              </a:tr>
              <a:tr h="618766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</a:t>
                      </a:r>
                    </a:p>
                    <a:p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(Jan-Nov)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7636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64332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7180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15641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5534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391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2621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430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3051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329</a:t>
                      </a:r>
                    </a:p>
                  </a:txBody>
                  <a:tcPr marL="86360" marR="8636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</a:t>
                      </a:r>
                    </a:p>
                  </a:txBody>
                  <a:tcPr marL="86360" marR="86360"/>
                </a:tc>
                <a:extLst>
                  <a:ext uri="{0D108BD9-81ED-4DB2-BD59-A6C34878D82A}">
                    <a16:rowId xmlns:a16="http://schemas.microsoft.com/office/drawing/2014/main" val="349316485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B03B1-1ECB-4039-80D0-73C81EC9B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31" y="161317"/>
            <a:ext cx="7773338" cy="600683"/>
          </a:xfrm>
        </p:spPr>
        <p:txBody>
          <a:bodyPr>
            <a:normAutofit/>
          </a:bodyPr>
          <a:lstStyle/>
          <a:p>
            <a:r>
              <a:rPr lang="en-US" sz="2400" dirty="0"/>
              <a:t>Types of obst patients admitted in </a:t>
            </a:r>
            <a:r>
              <a:rPr lang="en-US" sz="2400" dirty="0" err="1"/>
              <a:t>obs</a:t>
            </a:r>
            <a:r>
              <a:rPr lang="en-US" sz="2400" dirty="0"/>
              <a:t> ward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6E3D48-3437-45C0-9101-539567FB1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4" name="Table 2">
            <a:extLst>
              <a:ext uri="{FF2B5EF4-FFF2-40B4-BE49-F238E27FC236}">
                <a16:creationId xmlns:a16="http://schemas.microsoft.com/office/drawing/2014/main" id="{DD233B23-040F-4F57-A19A-8C084C9171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0503969"/>
              </p:ext>
            </p:extLst>
          </p:nvPr>
        </p:nvGraphicFramePr>
        <p:xfrm>
          <a:off x="609600" y="1114886"/>
          <a:ext cx="8265458" cy="4823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74494">
                  <a:extLst>
                    <a:ext uri="{9D8B030D-6E8A-4147-A177-3AD203B41FA5}">
                      <a16:colId xmlns:a16="http://schemas.microsoft.com/office/drawing/2014/main" val="2120689179"/>
                    </a:ext>
                  </a:extLst>
                </a:gridCol>
                <a:gridCol w="4290964">
                  <a:extLst>
                    <a:ext uri="{9D8B030D-6E8A-4147-A177-3AD203B41FA5}">
                      <a16:colId xmlns:a16="http://schemas.microsoft.com/office/drawing/2014/main" val="2650224956"/>
                    </a:ext>
                  </a:extLst>
                </a:gridCol>
              </a:tblGrid>
              <a:tr h="245228">
                <a:tc>
                  <a:txBody>
                    <a:bodyPr/>
                    <a:lstStyle/>
                    <a:p>
                      <a:r>
                        <a:rPr lang="en-GB" sz="1400" i="1" dirty="0"/>
                        <a:t>Title </a:t>
                      </a:r>
                      <a:endParaRPr lang="en-US" sz="1400" i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Number </a:t>
                      </a:r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598424631"/>
                  </a:ext>
                </a:extLst>
              </a:tr>
              <a:tr h="245228">
                <a:tc>
                  <a:txBody>
                    <a:bodyPr/>
                    <a:lstStyle/>
                    <a:p>
                      <a:r>
                        <a:rPr lang="en-GB" sz="1400" b="1" dirty="0"/>
                        <a:t>Pregnancy with Previous C/S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400" b="1" dirty="0"/>
                        <a:t>580</a:t>
                      </a:r>
                      <a:r>
                        <a:rPr lang="en-GB" sz="1400" b="1" dirty="0">
                          <a:solidFill>
                            <a:srgbClr val="FF0000"/>
                          </a:solidFill>
                        </a:rPr>
                        <a:t>?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079959289"/>
                  </a:ext>
                </a:extLst>
              </a:tr>
              <a:tr h="245228">
                <a:tc>
                  <a:txBody>
                    <a:bodyPr/>
                    <a:lstStyle/>
                    <a:p>
                      <a:r>
                        <a:rPr lang="en-GB" sz="1400" b="1" dirty="0"/>
                        <a:t>Pregnancy with Lower abdominal pain 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400" b="1" dirty="0"/>
                        <a:t>581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156433760"/>
                  </a:ext>
                </a:extLst>
              </a:tr>
              <a:tr h="245228">
                <a:tc>
                  <a:txBody>
                    <a:bodyPr/>
                    <a:lstStyle/>
                    <a:p>
                      <a:r>
                        <a:rPr lang="en-GB" sz="1400" b="1" dirty="0"/>
                        <a:t>Pregnancy with Less </a:t>
                      </a:r>
                      <a:r>
                        <a:rPr lang="en-GB" sz="1400" b="1" dirty="0" err="1"/>
                        <a:t>fetal</a:t>
                      </a:r>
                      <a:r>
                        <a:rPr lang="en-GB" sz="1400" b="1" dirty="0"/>
                        <a:t> movement 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400" b="1" dirty="0"/>
                        <a:t>454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56958223"/>
                  </a:ext>
                </a:extLst>
              </a:tr>
              <a:tr h="245228">
                <a:tc>
                  <a:txBody>
                    <a:bodyPr/>
                    <a:lstStyle/>
                    <a:p>
                      <a:r>
                        <a:rPr lang="en-GB" sz="1400" b="1" dirty="0"/>
                        <a:t>Pregnancy with PROM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400" b="1" dirty="0"/>
                        <a:t>330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268353359"/>
                  </a:ext>
                </a:extLst>
              </a:tr>
              <a:tr h="245228">
                <a:tc>
                  <a:txBody>
                    <a:bodyPr/>
                    <a:lstStyle/>
                    <a:p>
                      <a:r>
                        <a:rPr lang="en-GB" sz="1400" b="1" dirty="0"/>
                        <a:t>Pregnancy with UTI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400" b="1" dirty="0"/>
                        <a:t>424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406352904"/>
                  </a:ext>
                </a:extLst>
              </a:tr>
              <a:tr h="262097">
                <a:tc>
                  <a:txBody>
                    <a:bodyPr/>
                    <a:lstStyle/>
                    <a:p>
                      <a:r>
                        <a:rPr lang="en-GB" sz="1400" b="1" dirty="0"/>
                        <a:t>Pregnancy with Ante </a:t>
                      </a:r>
                      <a:r>
                        <a:rPr lang="en-GB" sz="1400" b="1" dirty="0" err="1"/>
                        <a:t>partam</a:t>
                      </a:r>
                      <a:r>
                        <a:rPr lang="en-GB" sz="1400" b="1" dirty="0"/>
                        <a:t> haemorrhage 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157</a:t>
                      </a:r>
                      <a:endParaRPr lang="en-US" sz="16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840862655"/>
                  </a:ext>
                </a:extLst>
              </a:tr>
              <a:tr h="245228">
                <a:tc>
                  <a:txBody>
                    <a:bodyPr/>
                    <a:lstStyle/>
                    <a:p>
                      <a:r>
                        <a:rPr lang="en-GB" sz="1400" b="1" dirty="0"/>
                        <a:t>Pregnancy with </a:t>
                      </a:r>
                      <a:r>
                        <a:rPr lang="en-GB" sz="1400" b="1" dirty="0" err="1"/>
                        <a:t>Anemia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400" b="1" dirty="0"/>
                        <a:t>943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427890374"/>
                  </a:ext>
                </a:extLst>
              </a:tr>
              <a:tr h="245228">
                <a:tc>
                  <a:txBody>
                    <a:bodyPr/>
                    <a:lstStyle/>
                    <a:p>
                      <a:r>
                        <a:rPr lang="en-GB" sz="1400" b="1" dirty="0"/>
                        <a:t>Post Dated Pregnancy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58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990981605"/>
                  </a:ext>
                </a:extLst>
              </a:tr>
              <a:tr h="245228">
                <a:tc>
                  <a:txBody>
                    <a:bodyPr/>
                    <a:lstStyle/>
                    <a:p>
                      <a:r>
                        <a:rPr lang="en-GB" sz="1400" b="1" dirty="0"/>
                        <a:t>PIH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400" b="1" dirty="0"/>
                        <a:t>349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30253068"/>
                  </a:ext>
                </a:extLst>
              </a:tr>
              <a:tr h="245228">
                <a:tc>
                  <a:txBody>
                    <a:bodyPr/>
                    <a:lstStyle/>
                    <a:p>
                      <a:r>
                        <a:rPr lang="en-GB" sz="1400" b="1" dirty="0"/>
                        <a:t>True labour pain 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400" b="1" dirty="0"/>
                        <a:t>632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53043260"/>
                  </a:ext>
                </a:extLst>
              </a:tr>
              <a:tr h="245228">
                <a:tc>
                  <a:txBody>
                    <a:bodyPr/>
                    <a:lstStyle/>
                    <a:p>
                      <a:r>
                        <a:rPr lang="en-GB" sz="1400" b="1" dirty="0"/>
                        <a:t>Hyper  Emesis </a:t>
                      </a:r>
                      <a:r>
                        <a:rPr lang="en-GB" sz="1400" b="1" dirty="0" err="1"/>
                        <a:t>graviderum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400" b="1" dirty="0"/>
                        <a:t>208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917189496"/>
                  </a:ext>
                </a:extLst>
              </a:tr>
              <a:tr h="245228">
                <a:tc>
                  <a:txBody>
                    <a:bodyPr/>
                    <a:lstStyle/>
                    <a:p>
                      <a:r>
                        <a:rPr lang="en-GB" sz="1400" b="1" dirty="0"/>
                        <a:t>Pregnancy with Oligohydramnios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400" b="1" dirty="0"/>
                        <a:t>512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831623455"/>
                  </a:ext>
                </a:extLst>
              </a:tr>
              <a:tr h="245228">
                <a:tc>
                  <a:txBody>
                    <a:bodyPr/>
                    <a:lstStyle/>
                    <a:p>
                      <a:r>
                        <a:rPr lang="en-GB" sz="1400" b="1" dirty="0"/>
                        <a:t>Pregnancy with PUO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400" b="1" dirty="0"/>
                        <a:t>87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915393996"/>
                  </a:ext>
                </a:extLst>
              </a:tr>
              <a:tr h="245228">
                <a:tc>
                  <a:txBody>
                    <a:bodyPr/>
                    <a:lstStyle/>
                    <a:p>
                      <a:r>
                        <a:rPr lang="en-GB" sz="1400" b="1" dirty="0"/>
                        <a:t>IUD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400" b="1" dirty="0"/>
                        <a:t>14</a:t>
                      </a:r>
                      <a:r>
                        <a:rPr lang="en-GB" sz="1400" b="1" dirty="0">
                          <a:solidFill>
                            <a:srgbClr val="FF0000"/>
                          </a:solidFill>
                        </a:rPr>
                        <a:t>?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603598819"/>
                  </a:ext>
                </a:extLst>
              </a:tr>
              <a:tr h="245228">
                <a:tc>
                  <a:txBody>
                    <a:bodyPr/>
                    <a:lstStyle/>
                    <a:p>
                      <a:r>
                        <a:rPr lang="en-GB" sz="1400" b="1" dirty="0"/>
                        <a:t>Pregnancy with Big baby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400" b="1" dirty="0"/>
                        <a:t>58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41751353"/>
                  </a:ext>
                </a:extLst>
              </a:tr>
              <a:tr h="245228">
                <a:tc>
                  <a:txBody>
                    <a:bodyPr/>
                    <a:lstStyle/>
                    <a:p>
                      <a:r>
                        <a:rPr lang="en-GB" sz="1400" b="1" dirty="0"/>
                        <a:t>Pregnancy with Breach 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400" b="1" dirty="0"/>
                        <a:t>34</a:t>
                      </a:r>
                      <a:endParaRPr lang="en-US" sz="14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4866940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1148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8158C-A028-3846-8DCE-B8BD33949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095631"/>
            <a:ext cx="7886700" cy="788486"/>
          </a:xfrm>
        </p:spPr>
        <p:txBody>
          <a:bodyPr>
            <a:normAutofit/>
          </a:bodyPr>
          <a:lstStyle/>
          <a:p>
            <a:r>
              <a:rPr lang="en-GB" sz="2700" b="1" i="1" dirty="0"/>
              <a:t>Gynae operation list(Jan-Nov-2021)</a:t>
            </a:r>
            <a:endParaRPr lang="en-US" sz="2700" b="1" i="1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A3BFD50-EA91-1046-A578-2E582DC950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5806421"/>
              </p:ext>
            </p:extLst>
          </p:nvPr>
        </p:nvGraphicFramePr>
        <p:xfrm>
          <a:off x="628649" y="1884116"/>
          <a:ext cx="8173062" cy="4176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6531">
                  <a:extLst>
                    <a:ext uri="{9D8B030D-6E8A-4147-A177-3AD203B41FA5}">
                      <a16:colId xmlns:a16="http://schemas.microsoft.com/office/drawing/2014/main" val="2194349053"/>
                    </a:ext>
                  </a:extLst>
                </a:gridCol>
                <a:gridCol w="4086531">
                  <a:extLst>
                    <a:ext uri="{9D8B030D-6E8A-4147-A177-3AD203B41FA5}">
                      <a16:colId xmlns:a16="http://schemas.microsoft.com/office/drawing/2014/main" val="210114044"/>
                    </a:ext>
                  </a:extLst>
                </a:gridCol>
              </a:tblGrid>
              <a:tr h="417674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087595842"/>
                  </a:ext>
                </a:extLst>
              </a:tr>
              <a:tr h="417674">
                <a:tc>
                  <a:txBody>
                    <a:bodyPr/>
                    <a:lstStyle/>
                    <a:p>
                      <a:r>
                        <a:rPr lang="en-GB" sz="1800" b="1"/>
                        <a:t>Total abdominal hysterectomy </a:t>
                      </a:r>
                      <a:endParaRPr lang="en-US" sz="1800" b="1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800" b="1"/>
                        <a:t>30</a:t>
                      </a:r>
                      <a:endParaRPr lang="en-US" sz="1800" b="1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903094791"/>
                  </a:ext>
                </a:extLst>
              </a:tr>
              <a:tr h="417674">
                <a:tc>
                  <a:txBody>
                    <a:bodyPr/>
                    <a:lstStyle/>
                    <a:p>
                      <a:r>
                        <a:rPr lang="en-GB" sz="1800" b="1"/>
                        <a:t>Sub total abdominal hysterectomy </a:t>
                      </a:r>
                      <a:endParaRPr lang="en-US" sz="1800" b="1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800" b="1"/>
                        <a:t>2</a:t>
                      </a:r>
                      <a:endParaRPr lang="en-US" sz="1800" b="1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868143214"/>
                  </a:ext>
                </a:extLst>
              </a:tr>
              <a:tr h="417674">
                <a:tc>
                  <a:txBody>
                    <a:bodyPr/>
                    <a:lstStyle/>
                    <a:p>
                      <a:r>
                        <a:rPr lang="en-GB" sz="1800" b="1"/>
                        <a:t>Vaginal hysterectomy </a:t>
                      </a:r>
                      <a:endParaRPr lang="en-US" sz="1800" b="1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800" b="1"/>
                        <a:t>3</a:t>
                      </a:r>
                      <a:endParaRPr lang="en-US" sz="1800" b="1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326480579"/>
                  </a:ext>
                </a:extLst>
              </a:tr>
              <a:tr h="417674">
                <a:tc>
                  <a:txBody>
                    <a:bodyPr/>
                    <a:lstStyle/>
                    <a:p>
                      <a:r>
                        <a:rPr lang="en-GB" sz="1800" b="1"/>
                        <a:t>Laparotomy </a:t>
                      </a:r>
                      <a:endParaRPr lang="en-US" sz="1800" b="1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800" b="1"/>
                        <a:t>13</a:t>
                      </a:r>
                      <a:endParaRPr lang="en-US" sz="1800" b="1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857047345"/>
                  </a:ext>
                </a:extLst>
              </a:tr>
              <a:tr h="417674">
                <a:tc>
                  <a:txBody>
                    <a:bodyPr/>
                    <a:lstStyle/>
                    <a:p>
                      <a:r>
                        <a:rPr lang="en-GB" sz="1800" b="1"/>
                        <a:t>Ovarian cystectomy</a:t>
                      </a:r>
                      <a:endParaRPr lang="en-US" sz="1800" b="1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800" b="1"/>
                        <a:t>6</a:t>
                      </a:r>
                      <a:endParaRPr lang="en-US" sz="1800" b="1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368930999"/>
                  </a:ext>
                </a:extLst>
              </a:tr>
              <a:tr h="417674">
                <a:tc>
                  <a:txBody>
                    <a:bodyPr/>
                    <a:lstStyle/>
                    <a:p>
                      <a:r>
                        <a:rPr lang="en-GB" sz="1800" b="1"/>
                        <a:t>Perineal tear</a:t>
                      </a:r>
                      <a:endParaRPr lang="en-US" sz="1800" b="1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800" b="1"/>
                        <a:t>27</a:t>
                      </a:r>
                      <a:endParaRPr lang="en-US" sz="1800" b="1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0663385"/>
                  </a:ext>
                </a:extLst>
              </a:tr>
              <a:tr h="417674">
                <a:tc>
                  <a:txBody>
                    <a:bodyPr/>
                    <a:lstStyle/>
                    <a:p>
                      <a:r>
                        <a:rPr lang="en-GB" sz="1800" b="1"/>
                        <a:t>Biopsy</a:t>
                      </a:r>
                      <a:endParaRPr lang="en-US" sz="1800" b="1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800" b="1"/>
                        <a:t>2</a:t>
                      </a:r>
                      <a:endParaRPr lang="en-US" sz="1800" b="1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813067842"/>
                  </a:ext>
                </a:extLst>
              </a:tr>
              <a:tr h="417674">
                <a:tc>
                  <a:txBody>
                    <a:bodyPr/>
                    <a:lstStyle/>
                    <a:p>
                      <a:r>
                        <a:rPr lang="en-GB" sz="1800" b="1"/>
                        <a:t>Bartholin cyst</a:t>
                      </a:r>
                      <a:endParaRPr lang="en-US" sz="1800" b="1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800" b="1" dirty="0"/>
                        <a:t>2</a:t>
                      </a:r>
                      <a:endParaRPr lang="en-US" sz="18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250895352"/>
                  </a:ext>
                </a:extLst>
              </a:tr>
              <a:tr h="417674">
                <a:tc>
                  <a:txBody>
                    <a:bodyPr/>
                    <a:lstStyle/>
                    <a:p>
                      <a:r>
                        <a:rPr lang="en-US" sz="1800" b="1" dirty="0"/>
                        <a:t>Total =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85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279775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0565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8D68A-2EE9-2E42-BB3D-666BDB1FD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94777"/>
            <a:ext cx="7886700" cy="687634"/>
          </a:xfrm>
        </p:spPr>
        <p:txBody>
          <a:bodyPr>
            <a:normAutofit/>
          </a:bodyPr>
          <a:lstStyle/>
          <a:p>
            <a:r>
              <a:rPr lang="en-GB" sz="2700" b="1" i="1"/>
              <a:t>Family planning sector report </a:t>
            </a:r>
            <a:endParaRPr lang="en-US" sz="2700" b="1" i="1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B9F5DC94-CC32-014C-9EE3-C08D6A5AA4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3772648"/>
              </p:ext>
            </p:extLst>
          </p:nvPr>
        </p:nvGraphicFramePr>
        <p:xfrm>
          <a:off x="320896" y="1847442"/>
          <a:ext cx="8352458" cy="25855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229">
                  <a:extLst>
                    <a:ext uri="{9D8B030D-6E8A-4147-A177-3AD203B41FA5}">
                      <a16:colId xmlns:a16="http://schemas.microsoft.com/office/drawing/2014/main" val="654048327"/>
                    </a:ext>
                  </a:extLst>
                </a:gridCol>
                <a:gridCol w="4176229">
                  <a:extLst>
                    <a:ext uri="{9D8B030D-6E8A-4147-A177-3AD203B41FA5}">
                      <a16:colId xmlns:a16="http://schemas.microsoft.com/office/drawing/2014/main" val="2985568318"/>
                    </a:ext>
                  </a:extLst>
                </a:gridCol>
              </a:tblGrid>
              <a:tr h="430917">
                <a:tc>
                  <a:txBody>
                    <a:bodyPr/>
                    <a:lstStyle/>
                    <a:p>
                      <a:r>
                        <a:rPr lang="en-GB" sz="2100" i="1"/>
                        <a:t>Title</a:t>
                      </a:r>
                      <a:endParaRPr lang="en-US" sz="2100" i="1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781373881"/>
                  </a:ext>
                </a:extLst>
              </a:tr>
              <a:tr h="430917">
                <a:tc>
                  <a:txBody>
                    <a:bodyPr/>
                    <a:lstStyle/>
                    <a:p>
                      <a:r>
                        <a:rPr lang="en-GB" sz="1800" b="1"/>
                        <a:t>OCP</a:t>
                      </a:r>
                      <a:endParaRPr lang="en-US" sz="1800" b="1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800" b="1"/>
                        <a:t>1960</a:t>
                      </a:r>
                      <a:endParaRPr lang="en-US" sz="1800" b="1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64723816"/>
                  </a:ext>
                </a:extLst>
              </a:tr>
              <a:tr h="430917">
                <a:tc>
                  <a:txBody>
                    <a:bodyPr/>
                    <a:lstStyle/>
                    <a:p>
                      <a:r>
                        <a:rPr lang="en-GB" sz="1800" b="1"/>
                        <a:t>Condom</a:t>
                      </a:r>
                      <a:endParaRPr lang="en-US" sz="1800" b="1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800" b="1"/>
                        <a:t>5300</a:t>
                      </a:r>
                      <a:endParaRPr lang="en-US" sz="1800" b="1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375785925"/>
                  </a:ext>
                </a:extLst>
              </a:tr>
              <a:tr h="430917">
                <a:tc>
                  <a:txBody>
                    <a:bodyPr/>
                    <a:lstStyle/>
                    <a:p>
                      <a:r>
                        <a:rPr lang="en-GB" sz="1800" b="1"/>
                        <a:t>DMPA</a:t>
                      </a:r>
                      <a:endParaRPr lang="en-US" sz="1800" b="1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800" b="1"/>
                        <a:t>288</a:t>
                      </a:r>
                      <a:endParaRPr lang="en-US" sz="1800" b="1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586249353"/>
                  </a:ext>
                </a:extLst>
              </a:tr>
              <a:tr h="430917">
                <a:tc>
                  <a:txBody>
                    <a:bodyPr/>
                    <a:lstStyle/>
                    <a:p>
                      <a:r>
                        <a:rPr lang="en-GB" sz="1800" b="1"/>
                        <a:t>Cupper - T</a:t>
                      </a:r>
                      <a:endParaRPr lang="en-US" sz="1800" b="1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800" b="1"/>
                        <a:t>1</a:t>
                      </a:r>
                      <a:endParaRPr lang="en-US" sz="1800" b="1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390016123"/>
                  </a:ext>
                </a:extLst>
              </a:tr>
              <a:tr h="430917">
                <a:tc>
                  <a:txBody>
                    <a:bodyPr/>
                    <a:lstStyle/>
                    <a:p>
                      <a:r>
                        <a:rPr lang="en-GB" sz="1800" b="1"/>
                        <a:t>Ligation</a:t>
                      </a:r>
                      <a:endParaRPr lang="en-US" sz="1800" b="1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GB" sz="1800" b="1" dirty="0"/>
                        <a:t>53</a:t>
                      </a:r>
                      <a:endParaRPr lang="en-US" sz="1800" b="1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2197896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9215828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TM04033927[[fn=Main Event]]</Template>
  <TotalTime>262</TotalTime>
  <Words>558</Words>
  <Application>Microsoft Office PowerPoint</Application>
  <PresentationFormat>On-screen Show (4:3)</PresentationFormat>
  <Paragraphs>224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Times New Roman</vt:lpstr>
      <vt:lpstr>Tw Cen MT</vt:lpstr>
      <vt:lpstr>Wingdings 2</vt:lpstr>
      <vt:lpstr>Droplet</vt:lpstr>
      <vt:lpstr>Ad-din Sakina Women’s Medical College Hospital </vt:lpstr>
      <vt:lpstr>PowerPoint Presentation</vt:lpstr>
      <vt:lpstr>Organogram</vt:lpstr>
      <vt:lpstr>Nurses and Other Staffs</vt:lpstr>
      <vt:lpstr>Activities </vt:lpstr>
      <vt:lpstr>Academic activities Under graduate level</vt:lpstr>
      <vt:lpstr>Outdoor service </vt:lpstr>
      <vt:lpstr>Indoor Service</vt:lpstr>
      <vt:lpstr>Outreach Service</vt:lpstr>
      <vt:lpstr>Performance of gynae and obst Department from 2010-2021(Jan-Nov)</vt:lpstr>
      <vt:lpstr>Types of obst patients admitted in obs ward</vt:lpstr>
      <vt:lpstr>Gynae operation list(Jan-Nov-2021)</vt:lpstr>
      <vt:lpstr>Family planning sector report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Ad-din Sakina Women’s Medical College Hospital </dc:title>
  <dc:creator>Eye</dc:creator>
  <cp:lastModifiedBy>Admin</cp:lastModifiedBy>
  <cp:revision>46</cp:revision>
  <dcterms:created xsi:type="dcterms:W3CDTF">2006-08-16T00:00:00Z</dcterms:created>
  <dcterms:modified xsi:type="dcterms:W3CDTF">2021-12-08T08:36:34Z</dcterms:modified>
</cp:coreProperties>
</file>