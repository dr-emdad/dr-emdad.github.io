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48" r:id="rId1"/>
  </p:sldMasterIdLst>
  <p:notesMasterIdLst>
    <p:notesMasterId r:id="rId37"/>
  </p:notesMasterIdLst>
  <p:handoutMasterIdLst>
    <p:handoutMasterId r:id="rId38"/>
  </p:handoutMasterIdLst>
  <p:sldIdLst>
    <p:sldId id="256" r:id="rId2"/>
    <p:sldId id="427" r:id="rId3"/>
    <p:sldId id="428" r:id="rId4"/>
    <p:sldId id="301" r:id="rId5"/>
    <p:sldId id="418" r:id="rId6"/>
    <p:sldId id="434" r:id="rId7"/>
    <p:sldId id="460" r:id="rId8"/>
    <p:sldId id="461" r:id="rId9"/>
    <p:sldId id="462" r:id="rId10"/>
    <p:sldId id="463" r:id="rId11"/>
    <p:sldId id="464" r:id="rId12"/>
    <p:sldId id="465" r:id="rId13"/>
    <p:sldId id="466" r:id="rId14"/>
    <p:sldId id="467" r:id="rId15"/>
    <p:sldId id="468" r:id="rId16"/>
    <p:sldId id="469" r:id="rId17"/>
    <p:sldId id="470" r:id="rId18"/>
    <p:sldId id="471" r:id="rId19"/>
    <p:sldId id="473" r:id="rId20"/>
    <p:sldId id="478" r:id="rId21"/>
    <p:sldId id="474" r:id="rId22"/>
    <p:sldId id="475" r:id="rId23"/>
    <p:sldId id="476" r:id="rId24"/>
    <p:sldId id="477" r:id="rId25"/>
    <p:sldId id="480" r:id="rId26"/>
    <p:sldId id="482" r:id="rId27"/>
    <p:sldId id="424" r:id="rId28"/>
    <p:sldId id="481" r:id="rId29"/>
    <p:sldId id="437" r:id="rId30"/>
    <p:sldId id="438" r:id="rId31"/>
    <p:sldId id="440" r:id="rId32"/>
    <p:sldId id="441" r:id="rId33"/>
    <p:sldId id="459" r:id="rId34"/>
    <p:sldId id="442" r:id="rId35"/>
    <p:sldId id="388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A5B7FE7-BC81-4846-8973-91448A7F61FB}">
          <p14:sldIdLst>
            <p14:sldId id="256"/>
            <p14:sldId id="427"/>
            <p14:sldId id="428"/>
            <p14:sldId id="301"/>
            <p14:sldId id="418"/>
            <p14:sldId id="434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  <p14:sldId id="471"/>
            <p14:sldId id="473"/>
            <p14:sldId id="478"/>
            <p14:sldId id="474"/>
            <p14:sldId id="475"/>
            <p14:sldId id="476"/>
            <p14:sldId id="477"/>
            <p14:sldId id="480"/>
            <p14:sldId id="482"/>
            <p14:sldId id="424"/>
            <p14:sldId id="481"/>
            <p14:sldId id="437"/>
            <p14:sldId id="438"/>
            <p14:sldId id="440"/>
            <p14:sldId id="441"/>
            <p14:sldId id="459"/>
            <p14:sldId id="442"/>
            <p14:sldId id="388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33CC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2" autoAdjust="0"/>
  </p:normalViewPr>
  <p:slideViewPr>
    <p:cSldViewPr>
      <p:cViewPr>
        <p:scale>
          <a:sx n="77" d="100"/>
          <a:sy n="77" d="100"/>
        </p:scale>
        <p:origin x="-117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40"/>
    </mc:Choice>
    <mc:Fallback>
      <c:style val="40"/>
    </mc:Fallback>
  </mc:AlternateContent>
  <c:chart>
    <c:autoTitleDeleted val="1"/>
    <c:view3D>
      <c:rotX val="15"/>
      <c:rotY val="20"/>
      <c:rAngAx val="1"/>
    </c:view3D>
    <c:floor>
      <c:thickness val="0"/>
    </c:floor>
    <c:sideWall>
      <c:thickness val="0"/>
      <c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18900000" scaled="1"/>
          <a:tileRect/>
        </a:gradFill>
      </c:spPr>
    </c:sideWall>
    <c:backWall>
      <c:thickness val="0"/>
      <c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18900000" scaled="1"/>
          <a:tileRect/>
        </a:gradFill>
      </c:spPr>
    </c:backWall>
    <c:plotArea>
      <c:layout>
        <c:manualLayout>
          <c:layoutTarget val="inner"/>
          <c:xMode val="edge"/>
          <c:yMode val="edge"/>
          <c:x val="0"/>
          <c:y val="3.182640507199444E-2"/>
          <c:w val="0.98391812865497053"/>
          <c:h val="0.89490998503908392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en-GB" sz="1200"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Sheet1!$A$2:$A$15</c:f>
              <c:numCache>
                <c:formatCode>General</c:formatCode>
                <c:ptCount val="14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</c:numCache>
            </c:num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23286</c:v>
                </c:pt>
                <c:pt idx="1">
                  <c:v>25369</c:v>
                </c:pt>
                <c:pt idx="2">
                  <c:v>26899</c:v>
                </c:pt>
                <c:pt idx="3">
                  <c:v>27894</c:v>
                </c:pt>
                <c:pt idx="4">
                  <c:v>28963</c:v>
                </c:pt>
                <c:pt idx="5">
                  <c:v>26854</c:v>
                </c:pt>
                <c:pt idx="6">
                  <c:v>24857</c:v>
                </c:pt>
                <c:pt idx="7">
                  <c:v>25249</c:v>
                </c:pt>
                <c:pt idx="8">
                  <c:v>23673</c:v>
                </c:pt>
                <c:pt idx="9">
                  <c:v>24074</c:v>
                </c:pt>
                <c:pt idx="10">
                  <c:v>24325</c:v>
                </c:pt>
                <c:pt idx="11">
                  <c:v>25117</c:v>
                </c:pt>
                <c:pt idx="12">
                  <c:v>23463</c:v>
                </c:pt>
                <c:pt idx="13">
                  <c:v>17005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1C8-48A8-B604-FEE366D333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en-GB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Sheet1!$A$2:$A$15</c:f>
              <c:numCache>
                <c:formatCode>General</c:formatCode>
                <c:ptCount val="14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</c:numCache>
            </c:numRef>
          </c:cat>
          <c:val>
            <c:numRef>
              <c:f>Sheet1!$C$2:$C$15</c:f>
              <c:numCache>
                <c:formatCode>General</c:formatCode>
                <c:ptCount val="14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D1C8-48A8-B604-FEE366D333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en-GB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Sheet1!$A$2:$A$15</c:f>
              <c:numCache>
                <c:formatCode>General</c:formatCode>
                <c:ptCount val="14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</c:numCache>
            </c:numRef>
          </c:cat>
          <c:val>
            <c:numRef>
              <c:f>Sheet1!$D$2:$D$15</c:f>
              <c:numCache>
                <c:formatCode>General</c:formatCode>
                <c:ptCount val="14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D1C8-48A8-B604-FEE366D333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0"/>
        <c:gapDepth val="500"/>
        <c:shape val="cylinder"/>
        <c:axId val="166354944"/>
        <c:axId val="166356096"/>
        <c:axId val="0"/>
      </c:bar3DChart>
      <c:catAx>
        <c:axId val="166354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lang="en-GB" sz="1400"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166356096"/>
        <c:crosses val="autoZero"/>
        <c:auto val="1"/>
        <c:lblAlgn val="ctr"/>
        <c:lblOffset val="100"/>
        <c:noMultiLvlLbl val="0"/>
      </c:catAx>
      <c:valAx>
        <c:axId val="1663560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63549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9"/>
    </mc:Choice>
    <mc:Fallback>
      <c:style val="29"/>
    </mc:Fallback>
  </mc:AlternateContent>
  <c:chart>
    <c:autoTitleDeleted val="1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NVD</c:v>
                </c:pt>
              </c:strCache>
            </c:strRef>
          </c:tx>
          <c:spPr>
            <a:ln>
              <a:solidFill>
                <a:schemeClr val="accent5"/>
              </a:solidFill>
            </a:ln>
          </c:spPr>
          <c:marker>
            <c:spPr>
              <a:solidFill>
                <a:schemeClr val="accent5">
                  <a:lumMod val="50000"/>
                </a:schemeClr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en-GB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1536</c:v>
                </c:pt>
                <c:pt idx="1">
                  <c:v>1752</c:v>
                </c:pt>
                <c:pt idx="2">
                  <c:v>1698</c:v>
                </c:pt>
                <c:pt idx="3">
                  <c:v>1509</c:v>
                </c:pt>
                <c:pt idx="4">
                  <c:v>1365</c:v>
                </c:pt>
                <c:pt idx="5">
                  <c:v>1258</c:v>
                </c:pt>
                <c:pt idx="6">
                  <c:v>1385</c:v>
                </c:pt>
                <c:pt idx="7">
                  <c:v>634</c:v>
                </c:pt>
                <c:pt idx="8">
                  <c:v>616</c:v>
                </c:pt>
                <c:pt idx="9">
                  <c:v>826</c:v>
                </c:pt>
                <c:pt idx="10">
                  <c:v>654</c:v>
                </c:pt>
                <c:pt idx="11">
                  <c:v>513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02C3-4AA9-8848-4AAF98C32E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C-Section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pPr>
              <a:solidFill>
                <a:srgbClr val="FF0000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en-GB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2806</c:v>
                </c:pt>
                <c:pt idx="1">
                  <c:v>2698</c:v>
                </c:pt>
                <c:pt idx="2">
                  <c:v>2587</c:v>
                </c:pt>
                <c:pt idx="3">
                  <c:v>2385</c:v>
                </c:pt>
                <c:pt idx="4">
                  <c:v>2904</c:v>
                </c:pt>
                <c:pt idx="5">
                  <c:v>3120</c:v>
                </c:pt>
                <c:pt idx="6">
                  <c:v>3510</c:v>
                </c:pt>
                <c:pt idx="7">
                  <c:v>3092</c:v>
                </c:pt>
                <c:pt idx="8">
                  <c:v>3392</c:v>
                </c:pt>
                <c:pt idx="9">
                  <c:v>3279</c:v>
                </c:pt>
                <c:pt idx="10">
                  <c:v>3213</c:v>
                </c:pt>
                <c:pt idx="11">
                  <c:v>2602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02C3-4AA9-8848-4AAF98C32E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6032000"/>
        <c:axId val="196033536"/>
      </c:lineChart>
      <c:catAx>
        <c:axId val="196032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lang="en-GB"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en-US"/>
          </a:p>
        </c:txPr>
        <c:crossAx val="196033536"/>
        <c:crosses val="autoZero"/>
        <c:auto val="1"/>
        <c:lblAlgn val="ctr"/>
        <c:lblOffset val="100"/>
        <c:noMultiLvlLbl val="0"/>
      </c:catAx>
      <c:valAx>
        <c:axId val="1960335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6032000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lang="en-GB"/>
          </a:pPr>
          <a:endParaRPr lang="en-US"/>
        </a:p>
      </c:txPr>
    </c:legend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6"/>
    </mc:Choice>
    <mc:Fallback>
      <c:style val="36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0.69043967257664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Sheet1!$A$2:$A$6</c:f>
              <c:strCache>
                <c:ptCount val="4"/>
                <c:pt idx="0">
                  <c:v>Khulna Medical College Hospital</c:v>
                </c:pt>
                <c:pt idx="1">
                  <c:v>Kushtia Medical College Hospital</c:v>
                </c:pt>
                <c:pt idx="2">
                  <c:v>Jessore Medical College Hospital</c:v>
                </c:pt>
                <c:pt idx="3">
                  <c:v>Ad-din Sakina Women's Medical College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AB01-480B-A5B7-C4670DBF2FDB}"/>
            </c:ext>
          </c:extLst>
        </c:ser>
        <c:ser>
          <c:idx val="1"/>
          <c:order val="1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cat>
            <c:strRef>
              <c:f>Sheet1!$A$2:$A$6</c:f>
              <c:strCache>
                <c:ptCount val="4"/>
                <c:pt idx="0">
                  <c:v>Khulna Medical College Hospital</c:v>
                </c:pt>
                <c:pt idx="1">
                  <c:v>Kushtia Medical College Hospital</c:v>
                </c:pt>
                <c:pt idx="2">
                  <c:v>Jessore Medical College Hospital</c:v>
                </c:pt>
                <c:pt idx="3">
                  <c:v>Ad-din Sakina Women's Medical College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AB01-480B-A5B7-C4670DBF2FDB}"/>
            </c:ext>
          </c:extLst>
        </c:ser>
        <c:ser>
          <c:idx val="2"/>
          <c:order val="2"/>
          <c:tx>
            <c:strRef>
              <c:f>Sheet1!$B$1</c:f>
              <c:strCache>
                <c:ptCount val="1"/>
                <c:pt idx="0">
                  <c:v>Total Delivery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solidFill>
                <a:schemeClr val="accent1"/>
              </a:solidFill>
            </a:ln>
          </c:spPr>
          <c:invertIfNegative val="0"/>
          <c:dLbls>
            <c:dLbl>
              <c:idx val="0"/>
              <c:layout>
                <c:manualLayout>
                  <c:x val="-3.0864197530864677E-3"/>
                  <c:y val="9.3625796775406104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FC6-45A4-8130-337D0B26A03B}"/>
                </c:ext>
              </c:extLst>
            </c:dLbl>
            <c:dLbl>
              <c:idx val="1"/>
              <c:layout>
                <c:manualLayout>
                  <c:x val="0"/>
                  <c:y val="-3.694975628046541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FC6-45A4-8130-337D0B26A03B}"/>
                </c:ext>
              </c:extLst>
            </c:dLbl>
            <c:dLbl>
              <c:idx val="2"/>
              <c:layout>
                <c:manualLayout>
                  <c:x val="3.0864197530864937E-3"/>
                  <c:y val="-3.08663592698393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FC6-45A4-8130-337D0B26A03B}"/>
                </c:ext>
              </c:extLst>
            </c:dLbl>
            <c:dLbl>
              <c:idx val="3"/>
              <c:layout>
                <c:manualLayout>
                  <c:x val="1.018506752641601E-16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sz="2000" b="1" dirty="0">
                        <a:latin typeface="Times New Roman" pitchFamily="18" charset="0"/>
                        <a:cs typeface="Times New Roman" pitchFamily="18" charset="0"/>
                      </a:rPr>
                      <a:t>3867</a:t>
                    </a:r>
                    <a:endParaRPr lang="en-US" b="1" dirty="0">
                      <a:latin typeface="Times New Roman" pitchFamily="18" charset="0"/>
                      <a:cs typeface="Times New Roman" pitchFamily="18" charset="0"/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FC6-45A4-8130-337D0B26A03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lang="en-GB" b="1"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4"/>
                <c:pt idx="0">
                  <c:v>Khulna Medical College Hospital</c:v>
                </c:pt>
                <c:pt idx="1">
                  <c:v>Kushtia Medical College Hospital</c:v>
                </c:pt>
                <c:pt idx="2">
                  <c:v>Jessore Medical College Hospital</c:v>
                </c:pt>
                <c:pt idx="3">
                  <c:v>Ad-din Sakina Women's Medical College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3326</c:v>
                </c:pt>
                <c:pt idx="1">
                  <c:v>3160</c:v>
                </c:pt>
                <c:pt idx="2">
                  <c:v>2316</c:v>
                </c:pt>
                <c:pt idx="3">
                  <c:v>3867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D-AB01-480B-A5B7-C4670DBF2F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5044864"/>
        <c:axId val="195046400"/>
      </c:barChart>
      <c:catAx>
        <c:axId val="19504486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lang="en-GB"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195046400"/>
        <c:crosses val="autoZero"/>
        <c:auto val="1"/>
        <c:lblAlgn val="ctr"/>
        <c:lblOffset val="100"/>
        <c:noMultiLvlLbl val="0"/>
      </c:catAx>
      <c:valAx>
        <c:axId val="195046400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195044864"/>
        <c:crosses val="autoZero"/>
        <c:crossBetween val="between"/>
      </c:valAx>
      <c:spPr>
        <a:ln>
          <a:solidFill>
            <a:schemeClr val="accent1"/>
          </a:solidFill>
        </a:ln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0.34259</cdr:x>
      <cdr:y>0.77612</cdr:y>
    </cdr:from>
    <cdr:to>
      <cdr:x>0.34815</cdr:x>
      <cdr:y>0.80597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2819400" y="3962400"/>
          <a:ext cx="45719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0.67593</cdr:x>
      <cdr:y>0.9403</cdr:y>
    </cdr:from>
    <cdr:to>
      <cdr:x>0.80556</cdr:x>
      <cdr:y>1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5562600" y="5029200"/>
          <a:ext cx="1066803" cy="31843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600" b="1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22427-8CFB-4497-A1CC-B7E42A2B11D0}" type="datetimeFigureOut">
              <a:rPr lang="en-US" smtClean="0"/>
              <a:pPr/>
              <a:t>12/12/2021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A5922-62E8-415A-B0C4-509C57D119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30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38CAE-D691-4F1B-BFE5-E857D71999D6}" type="datetimeFigureOut">
              <a:rPr lang="en-US" smtClean="0"/>
              <a:pPr/>
              <a:t>12/12/2021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412F0-B504-4C90-8F49-F3511EBEC8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25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B412F0-B504-4C90-8F49-F3511EBEC8A0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26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12/12/2021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04E2CD-9B18-4AD9-A90B-073F70C101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FF549E-DDB3-4F8E-B3F4-BC7B4533DD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920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26BB9A5-0185-4C4A-9117-9337DC6A83FA}" type="datetimeFigureOut">
              <a:rPr lang="en-US" smtClean="0"/>
              <a:pPr/>
              <a:t>12/12/2021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9" r:id="rId1"/>
    <p:sldLayoutId id="2147484350" r:id="rId2"/>
    <p:sldLayoutId id="2147484351" r:id="rId3"/>
    <p:sldLayoutId id="2147484352" r:id="rId4"/>
    <p:sldLayoutId id="2147484353" r:id="rId5"/>
    <p:sldLayoutId id="2147484354" r:id="rId6"/>
    <p:sldLayoutId id="2147484355" r:id="rId7"/>
    <p:sldLayoutId id="2147484356" r:id="rId8"/>
    <p:sldLayoutId id="2147484357" r:id="rId9"/>
    <p:sldLayoutId id="2147484358" r:id="rId10"/>
    <p:sldLayoutId id="2147484359" r:id="rId11"/>
    <p:sldLayoutId id="2147484360" r:id="rId12"/>
    <p:sldLayoutId id="2147484362" r:id="rId13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8100"/>
            <a:ext cx="8534400" cy="1371600"/>
          </a:xfrm>
        </p:spPr>
        <p:txBody>
          <a:bodyPr anchor="ctr">
            <a:normAutofit/>
          </a:bodyPr>
          <a:lstStyle/>
          <a:p>
            <a:r>
              <a:rPr sz="3200" dirty="0"/>
              <a:t>Ad-din Sakina </a:t>
            </a:r>
            <a:r>
              <a:rPr lang="en-IN" sz="3200" dirty="0"/>
              <a:t>Women’s </a:t>
            </a:r>
            <a:r>
              <a:rPr sz="3200" dirty="0"/>
              <a:t>Medical College Hospital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752600"/>
            <a:ext cx="8305800" cy="3657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 descr="IMG_930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1"/>
            <a:ext cx="8534400" cy="4267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A1E98D6-8420-40B4-B7FF-DA9345C48A70}"/>
              </a:ext>
            </a:extLst>
          </p:cNvPr>
          <p:cNvSpPr txBox="1"/>
          <p:nvPr/>
        </p:nvSpPr>
        <p:spPr>
          <a:xfrm>
            <a:off x="6154016" y="5905502"/>
            <a:ext cx="26089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Prof. Dr. Hasanuzzaman</a:t>
            </a:r>
          </a:p>
          <a:p>
            <a:r>
              <a:rPr lang="en-US" dirty="0">
                <a:solidFill>
                  <a:schemeClr val="bg1"/>
                </a:solidFill>
              </a:rPr>
              <a:t>Dept. of Obs &amp; Gynae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1981200" y="60325"/>
            <a:ext cx="47244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Founder of Ad-din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199684" y="1069975"/>
            <a:ext cx="5334000" cy="15573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Late Sheikh Akijuddin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Founder Chairman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Established Ad-din out of  corporate social responsibility.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Founder of Akij Group with 20 business units.</a:t>
            </a:r>
          </a:p>
        </p:txBody>
      </p:sp>
      <p:pic>
        <p:nvPicPr>
          <p:cNvPr id="24580" name="Picture 4" descr="1"/>
          <p:cNvPicPr>
            <a:picLocks noChangeAspect="1" noChangeArrowheads="1"/>
          </p:cNvPicPr>
          <p:nvPr/>
        </p:nvPicPr>
        <p:blipFill>
          <a:blip r:embed="rId3"/>
          <a:srcRect t="3416" b="4584"/>
          <a:stretch>
            <a:fillRect/>
          </a:stretch>
        </p:blipFill>
        <p:spPr bwMode="auto">
          <a:xfrm>
            <a:off x="5943601" y="1002511"/>
            <a:ext cx="2286000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1" name="Picture 5" descr="untitled1"/>
          <p:cNvPicPr>
            <a:picLocks noChangeAspect="1" noChangeArrowheads="1"/>
          </p:cNvPicPr>
          <p:nvPr/>
        </p:nvPicPr>
        <p:blipFill>
          <a:blip r:embed="rId4"/>
          <a:srcRect l="5402" t="14680" b="37218"/>
          <a:stretch>
            <a:fillRect/>
          </a:stretch>
        </p:blipFill>
        <p:spPr bwMode="auto">
          <a:xfrm>
            <a:off x="5943601" y="3054350"/>
            <a:ext cx="2286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246982" y="3081338"/>
            <a:ext cx="5334000" cy="14970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Late Prof. Sharif Hossain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Founder of lot of social organizations, educationist, recipient of Ekushe Padak.</a:t>
            </a:r>
          </a:p>
          <a:p>
            <a:pPr>
              <a:spcBef>
                <a:spcPct val="50000"/>
              </a:spcBef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231216" y="5426075"/>
            <a:ext cx="5334000" cy="86177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Dr. Sheikh Mohiuddin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Founder Executive Director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E7BCF4D-B354-469F-A9CF-EE6E3F32F3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4800600"/>
            <a:ext cx="24384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27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2819400" y="822325"/>
            <a:ext cx="3048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 b="1" u="sng" dirty="0">
                <a:solidFill>
                  <a:schemeClr val="accent1">
                    <a:lumMod val="50000"/>
                  </a:schemeClr>
                </a:solidFill>
              </a:rPr>
              <a:t>Core Values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304800" y="2971800"/>
            <a:ext cx="4038601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accent2">
                  <a:lumMod val="50000"/>
                </a:schemeClr>
              </a:buClr>
              <a:buFont typeface="Wingdings" pitchFamily="2" charset="2"/>
              <a:buChar char="Ø"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To respect and take care of the cultural &amp; religious values of our country as a part of development</a:t>
            </a:r>
          </a:p>
        </p:txBody>
      </p:sp>
      <p:pic>
        <p:nvPicPr>
          <p:cNvPr id="26628" name="Picture 4" descr="5"/>
          <p:cNvPicPr>
            <a:picLocks noChangeAspect="1" noChangeArrowheads="1"/>
          </p:cNvPicPr>
          <p:nvPr/>
        </p:nvPicPr>
        <p:blipFill>
          <a:blip r:embed="rId2"/>
          <a:srcRect l="11928"/>
          <a:stretch>
            <a:fillRect/>
          </a:stretch>
        </p:blipFill>
        <p:spPr bwMode="auto">
          <a:xfrm>
            <a:off x="6026150" y="304800"/>
            <a:ext cx="2813050" cy="246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9" name="Picture 5" descr="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938" y="304800"/>
            <a:ext cx="2201862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0" name="Picture 6" descr="7"/>
          <p:cNvPicPr>
            <a:picLocks noChangeAspect="1" noChangeArrowheads="1"/>
          </p:cNvPicPr>
          <p:nvPr/>
        </p:nvPicPr>
        <p:blipFill>
          <a:blip r:embed="rId4"/>
          <a:srcRect l="7317" t="8344" r="9756" b="2782"/>
          <a:stretch>
            <a:fillRect/>
          </a:stretch>
        </p:blipFill>
        <p:spPr bwMode="auto">
          <a:xfrm>
            <a:off x="6038850" y="4194175"/>
            <a:ext cx="2819400" cy="243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12133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228600" y="47530"/>
            <a:ext cx="8763000" cy="1984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altLang="en-US" sz="1000" dirty="0">
              <a:solidFill>
                <a:schemeClr val="accent2"/>
              </a:solidFill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2800" dirty="0">
                <a:solidFill>
                  <a:schemeClr val="tx2">
                    <a:lumMod val="50000"/>
                  </a:schemeClr>
                </a:solidFill>
              </a:rPr>
              <a:t>Ad-din Sakina Women’s Medical College Hospital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3200" dirty="0">
                <a:solidFill>
                  <a:schemeClr val="tx1"/>
                </a:solidFill>
              </a:rPr>
              <a:t>Background History</a:t>
            </a:r>
            <a:endParaRPr lang="en-US" altLang="en-US" dirty="0">
              <a:solidFill>
                <a:schemeClr val="tx1"/>
              </a:solidFill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altLang="en-US" sz="3600" dirty="0">
              <a:solidFill>
                <a:schemeClr val="accent2"/>
              </a:solidFill>
            </a:endParaRP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-1726" y="1524001"/>
            <a:ext cx="5030926" cy="455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endParaRPr lang="en-US" altLang="en-US" sz="2000" dirty="0">
              <a:solidFill>
                <a:schemeClr val="tx1"/>
              </a:solidFill>
            </a:endParaRPr>
          </a:p>
          <a:p>
            <a:pPr marL="342900" indent="-342900" algn="just" eaLnBrk="1" hangingPunct="1">
              <a:spcBef>
                <a:spcPct val="50000"/>
              </a:spcBef>
              <a:buClr>
                <a:schemeClr val="tx2">
                  <a:lumMod val="50000"/>
                </a:schemeClr>
              </a:buClr>
              <a:buFont typeface="Wingdings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Started 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as an orphanage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at Khuladanga, Jashore  in 17 December 1980.</a:t>
            </a:r>
          </a:p>
          <a:p>
            <a:pPr marL="285750" indent="-285750" algn="just" eaLnBrk="1" hangingPunct="1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Ad-din Hospital Started in </a:t>
            </a:r>
            <a:r>
              <a:rPr lang="en-US" altLang="en-US" sz="2000" dirty="0">
                <a:solidFill>
                  <a:schemeClr val="tx1"/>
                </a:solidFill>
              </a:rPr>
              <a:t>5 April 1985 with the aim of providing standard MCH service with minimum cost .</a:t>
            </a:r>
          </a:p>
          <a:p>
            <a:pPr marL="285750" indent="-285750" algn="just" eaLnBrk="1" hangingPunct="1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Ad-din Nursing Institute started in 1997. </a:t>
            </a:r>
          </a:p>
          <a:p>
            <a:pPr marL="285750" indent="-285750" algn="just" eaLnBrk="1" hangingPunct="1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Ad-din Medical Technology Institute started in 2004.</a:t>
            </a:r>
          </a:p>
          <a:p>
            <a:pPr marL="285750" indent="-285750" algn="just" eaLnBrk="1" hangingPunct="1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Ad-din Sakina Women’s Medical College started in 2011</a:t>
            </a:r>
          </a:p>
        </p:txBody>
      </p:sp>
      <p:pic>
        <p:nvPicPr>
          <p:cNvPr id="44038" name="Picture 6" descr="Ad-din Hospital Front si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3" t="25000" r="6250" b="11000"/>
          <a:stretch>
            <a:fillRect/>
          </a:stretch>
        </p:blipFill>
        <p:spPr bwMode="auto">
          <a:xfrm>
            <a:off x="5232197" y="1916057"/>
            <a:ext cx="3913992" cy="326554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17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3"/>
          <p:cNvSpPr txBox="1">
            <a:spLocks noChangeArrowheads="1"/>
          </p:cNvSpPr>
          <p:nvPr/>
        </p:nvSpPr>
        <p:spPr bwMode="auto">
          <a:xfrm>
            <a:off x="2438400" y="3200400"/>
            <a:ext cx="21336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Ad-din Sakina Women’s Medical College Hospital, Jessore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4 April 1985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500-Bed</a:t>
            </a:r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838200" y="76200"/>
            <a:ext cx="7467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4000" b="1" dirty="0"/>
              <a:t>Ad-din Hospitals</a:t>
            </a:r>
          </a:p>
        </p:txBody>
      </p:sp>
      <p:pic>
        <p:nvPicPr>
          <p:cNvPr id="36868" name="Picture 5" descr="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957" y="4300090"/>
            <a:ext cx="25146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9" name="Text Box 6"/>
          <p:cNvSpPr txBox="1">
            <a:spLocks noChangeArrowheads="1"/>
          </p:cNvSpPr>
          <p:nvPr/>
        </p:nvSpPr>
        <p:spPr bwMode="auto">
          <a:xfrm>
            <a:off x="76200" y="3200400"/>
            <a:ext cx="2133600" cy="1040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Ad-din Medical College Hospital, Dhaka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 Nov 1997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500-Bed</a:t>
            </a:r>
          </a:p>
        </p:txBody>
      </p:sp>
      <p:sp>
        <p:nvSpPr>
          <p:cNvPr id="36870" name="Text Box 7"/>
          <p:cNvSpPr txBox="1">
            <a:spLocks noChangeArrowheads="1"/>
          </p:cNvSpPr>
          <p:nvPr/>
        </p:nvSpPr>
        <p:spPr bwMode="auto">
          <a:xfrm>
            <a:off x="304800" y="5710902"/>
            <a:ext cx="2743200" cy="73866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Ad-din Hospital, </a:t>
            </a: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Kushtia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 Nov 1999; 100-Bed</a:t>
            </a:r>
          </a:p>
          <a:p>
            <a:pPr eaLnBrk="1" hangingPunct="1"/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6871" name="Line 8"/>
          <p:cNvSpPr>
            <a:spLocks noChangeShapeType="1"/>
          </p:cNvSpPr>
          <p:nvPr/>
        </p:nvSpPr>
        <p:spPr bwMode="auto">
          <a:xfrm>
            <a:off x="0" y="777766"/>
            <a:ext cx="9144000" cy="0"/>
          </a:xfrm>
          <a:prstGeom prst="line">
            <a:avLst/>
          </a:prstGeom>
          <a:noFill/>
          <a:ln w="76200">
            <a:solidFill>
              <a:srgbClr val="009E75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11"/>
          <p:cNvSpPr txBox="1">
            <a:spLocks noChangeArrowheads="1"/>
          </p:cNvSpPr>
          <p:nvPr/>
        </p:nvSpPr>
        <p:spPr bwMode="auto">
          <a:xfrm>
            <a:off x="6858000" y="3200400"/>
            <a:ext cx="2057400" cy="1016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Bashundhara Ad-din Medical College Hospital, </a:t>
            </a:r>
            <a:r>
              <a:rPr lang="en-US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Keraniganj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Dhaka </a:t>
            </a:r>
          </a:p>
          <a:p>
            <a:pPr eaLnBrk="1" hangingPunct="1"/>
            <a:r>
              <a:rPr lang="en-US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25 Feb 2012</a:t>
            </a:r>
          </a:p>
          <a:p>
            <a:pPr eaLnBrk="1" hangingPunct="1"/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300-Bed.</a:t>
            </a:r>
          </a:p>
        </p:txBody>
      </p:sp>
      <p:pic>
        <p:nvPicPr>
          <p:cNvPr id="36873" name="Picture 12" descr="IMG"/>
          <p:cNvPicPr>
            <a:picLocks noChangeAspect="1" noChangeArrowheads="1"/>
          </p:cNvPicPr>
          <p:nvPr/>
        </p:nvPicPr>
        <p:blipFill>
          <a:blip r:embed="rId3"/>
          <a:srcRect l="4898" r="2040"/>
          <a:stretch>
            <a:fillRect/>
          </a:stretch>
        </p:blipFill>
        <p:spPr bwMode="auto">
          <a:xfrm>
            <a:off x="0" y="762000"/>
            <a:ext cx="9144000" cy="241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4" name="Text Box 13"/>
          <p:cNvSpPr txBox="1">
            <a:spLocks noChangeArrowheads="1"/>
          </p:cNvSpPr>
          <p:nvPr/>
        </p:nvSpPr>
        <p:spPr bwMode="auto">
          <a:xfrm>
            <a:off x="4800600" y="3200400"/>
            <a:ext cx="1981200" cy="997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Ad-din </a:t>
            </a: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Akij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College Hospital, Khulna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8 Feb 2013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500-Bed:.</a:t>
            </a:r>
          </a:p>
        </p:txBody>
      </p:sp>
      <p:pic>
        <p:nvPicPr>
          <p:cNvPr id="36875" name="Picture 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6999" y="4318407"/>
            <a:ext cx="2133601" cy="1300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6" name="Rectangle 13"/>
          <p:cNvSpPr>
            <a:spLocks noChangeArrowheads="1"/>
          </p:cNvSpPr>
          <p:nvPr/>
        </p:nvSpPr>
        <p:spPr bwMode="auto">
          <a:xfrm>
            <a:off x="2767818" y="5722165"/>
            <a:ext cx="2057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Ad-din Barrister </a:t>
            </a:r>
            <a:r>
              <a:rPr lang="en-US" altLang="en-US" sz="1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Rofique</a:t>
            </a:r>
            <a:r>
              <a:rPr lang="en-US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-Ul Huq  Hospital, </a:t>
            </a:r>
            <a:r>
              <a:rPr lang="en-US" altLang="en-US" sz="1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Postogola</a:t>
            </a:r>
            <a:r>
              <a:rPr lang="en-US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Dhaka </a:t>
            </a:r>
          </a:p>
          <a:p>
            <a:pPr eaLnBrk="1" hangingPunct="1"/>
            <a:r>
              <a:rPr lang="en-US" altLang="en-US" sz="1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US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May 2017; 300-Bed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631D036-0158-47DE-9809-029EE10015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4318407"/>
            <a:ext cx="1981200" cy="13172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C253600-69C4-4409-B442-1FB02C00193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052" y="4318407"/>
            <a:ext cx="2133602" cy="1317246"/>
          </a:xfrm>
          <a:prstGeom prst="rect">
            <a:avLst/>
          </a:prstGeom>
        </p:spPr>
      </p:pic>
      <p:sp>
        <p:nvSpPr>
          <p:cNvPr id="21" name="Rectangle 13">
            <a:extLst>
              <a:ext uri="{FF2B5EF4-FFF2-40B4-BE49-F238E27FC236}">
                <a16:creationId xmlns:a16="http://schemas.microsoft.com/office/drawing/2014/main" xmlns="" id="{60AC9A2C-7EDF-4D13-9118-84868D8CA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009" y="5756464"/>
            <a:ext cx="2057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Ad-din Child Hospital</a:t>
            </a:r>
          </a:p>
          <a:p>
            <a:pPr eaLnBrk="1" hangingPunct="1"/>
            <a:r>
              <a:rPr lang="en-US" altLang="en-US" sz="1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US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1 January1998; 100-Bed</a:t>
            </a: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xmlns="" id="{7A8EE55D-A03C-4BE6-9064-53EE933F4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756464"/>
            <a:ext cx="2057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Ad-din Eye Hospital, Jashore</a:t>
            </a:r>
          </a:p>
          <a:p>
            <a:pPr eaLnBrk="1" hangingPunct="1"/>
            <a:r>
              <a:rPr lang="en-US" altLang="en-US" sz="1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US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1</a:t>
            </a:r>
            <a:r>
              <a:rPr lang="en-US" altLang="en-US" sz="12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Sep 2003; 50-Bed</a:t>
            </a:r>
          </a:p>
        </p:txBody>
      </p:sp>
    </p:spTree>
    <p:extLst>
      <p:ext uri="{BB962C8B-B14F-4D97-AF65-F5344CB8AC3E}">
        <p14:creationId xmlns:p14="http://schemas.microsoft.com/office/powerpoint/2010/main" val="677194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2"/>
          <p:cNvSpPr txBox="1">
            <a:spLocks noChangeArrowheads="1"/>
          </p:cNvSpPr>
          <p:nvPr/>
        </p:nvSpPr>
        <p:spPr bwMode="auto">
          <a:xfrm>
            <a:off x="228600" y="4648200"/>
            <a:ext cx="19812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 dirty="0">
                <a:latin typeface="Corbel" pitchFamily="34" charset="0"/>
              </a:rPr>
              <a:t>Ad-din Nursing Institute, Jessore</a:t>
            </a: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 dirty="0" err="1">
                <a:latin typeface="Corbel" pitchFamily="34" charset="0"/>
              </a:rPr>
              <a:t>Estd</a:t>
            </a:r>
            <a:r>
              <a:rPr lang="en-US" altLang="en-US" sz="1600" b="1" dirty="0">
                <a:latin typeface="Corbel" pitchFamily="34" charset="0"/>
              </a:rPr>
              <a:t>. Aug 1997</a:t>
            </a:r>
          </a:p>
        </p:txBody>
      </p:sp>
      <p:sp>
        <p:nvSpPr>
          <p:cNvPr id="4102" name="Text Box 3"/>
          <p:cNvSpPr txBox="1">
            <a:spLocks noChangeArrowheads="1"/>
          </p:cNvSpPr>
          <p:nvPr/>
        </p:nvSpPr>
        <p:spPr bwMode="auto">
          <a:xfrm>
            <a:off x="1295400" y="304800"/>
            <a:ext cx="6858000" cy="64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4400" b="1" dirty="0">
                <a:solidFill>
                  <a:schemeClr val="tx2">
                    <a:lumMod val="50000"/>
                  </a:schemeClr>
                </a:solidFill>
                <a:latin typeface="Corbel" pitchFamily="34" charset="0"/>
              </a:rPr>
              <a:t>Nursing Institutes</a:t>
            </a:r>
          </a:p>
        </p:txBody>
      </p:sp>
      <p:sp>
        <p:nvSpPr>
          <p:cNvPr id="4103" name="Text Box 4"/>
          <p:cNvSpPr txBox="1">
            <a:spLocks noChangeArrowheads="1"/>
          </p:cNvSpPr>
          <p:nvPr/>
        </p:nvSpPr>
        <p:spPr bwMode="auto">
          <a:xfrm>
            <a:off x="3167063" y="4727575"/>
            <a:ext cx="19812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Fatema Nursing Institute, Dhaka Estd. Jul 2006</a:t>
            </a:r>
          </a:p>
        </p:txBody>
      </p:sp>
      <p:sp>
        <p:nvSpPr>
          <p:cNvPr id="4104" name="Text Box 5"/>
          <p:cNvSpPr txBox="1">
            <a:spLocks noChangeArrowheads="1"/>
          </p:cNvSpPr>
          <p:nvPr/>
        </p:nvSpPr>
        <p:spPr bwMode="auto">
          <a:xfrm>
            <a:off x="6248400" y="5057775"/>
            <a:ext cx="1981200" cy="8255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Safina Nursing Institute, Kushtia Estd. Sept 2005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657475" y="2286000"/>
          <a:ext cx="3157538" cy="236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Photo Editor Photo" r:id="rId3" imgW="6095238" imgH="4571429" progId="">
                  <p:embed/>
                </p:oleObj>
              </mc:Choice>
              <mc:Fallback>
                <p:oleObj name="Photo Editor Photo" r:id="rId3" imgW="6095238" imgH="4571429" progId="">
                  <p:embed/>
                  <p:pic>
                    <p:nvPicPr>
                      <p:cNvPr id="40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475" y="2286000"/>
                        <a:ext cx="3157538" cy="236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76200" y="1295400"/>
          <a:ext cx="2538413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Image" r:id="rId5" imgW="2684584" imgH="3465525" progId="">
                  <p:embed/>
                </p:oleObj>
              </mc:Choice>
              <mc:Fallback>
                <p:oleObj name="Image" r:id="rId5" imgW="2684584" imgH="3465525" progId="">
                  <p:embed/>
                  <p:pic>
                    <p:nvPicPr>
                      <p:cNvPr id="40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295400"/>
                        <a:ext cx="2538413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5895975" y="2667000"/>
          <a:ext cx="3200400" cy="240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Image" r:id="rId7" imgW="3981689" imgH="2998228" progId="">
                  <p:embed/>
                </p:oleObj>
              </mc:Choice>
              <mc:Fallback>
                <p:oleObj name="Image" r:id="rId7" imgW="3981689" imgH="2998228" progId="">
                  <p:embed/>
                  <p:pic>
                    <p:nvPicPr>
                      <p:cNvPr id="41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5975" y="2667000"/>
                        <a:ext cx="3200400" cy="240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2558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171127_11301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1414462"/>
            <a:ext cx="8153400" cy="45862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81000"/>
            <a:ext cx="8001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Ad-din Sakina Women’s Medical College Hospital Outdoor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295400"/>
          </a:xfrm>
        </p:spPr>
        <p:txBody>
          <a:bodyPr anchor="t">
            <a:normAutofit fontScale="90000"/>
          </a:bodyPr>
          <a:lstStyle/>
          <a:p>
            <a:pPr algn="ctr"/>
            <a:r>
              <a:rPr sz="53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Card Registration</a:t>
            </a:r>
            <a:r>
              <a:rPr sz="4400" dirty="0">
                <a:solidFill>
                  <a:srgbClr val="7030A0"/>
                </a:solidFill>
              </a:rPr>
              <a:t/>
            </a:r>
            <a:br>
              <a:rPr sz="4400" dirty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2104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1676400"/>
            <a:ext cx="7857067" cy="441960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524000"/>
          </a:xfrm>
        </p:spPr>
        <p:txBody>
          <a:bodyPr>
            <a:normAutofit fontScale="90000"/>
          </a:bodyPr>
          <a:lstStyle/>
          <a:p>
            <a:pPr algn="ctr"/>
            <a:r>
              <a:rPr sz="67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Business Counter </a:t>
            </a:r>
            <a:r>
              <a:rPr sz="4400" dirty="0">
                <a:solidFill>
                  <a:srgbClr val="7030A0"/>
                </a:solidFill>
              </a:rPr>
              <a:t/>
            </a:r>
            <a:br>
              <a:rPr sz="4400" dirty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2148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5957" y="1371600"/>
            <a:ext cx="7312085" cy="4724400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447800"/>
          </a:xfrm>
        </p:spPr>
        <p:txBody>
          <a:bodyPr>
            <a:normAutofit fontScale="90000"/>
          </a:bodyPr>
          <a:lstStyle/>
          <a:p>
            <a:pPr algn="ctr"/>
            <a:r>
              <a:rPr sz="60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Antenatal</a:t>
            </a:r>
            <a:r>
              <a:rPr sz="60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sz="60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Care</a:t>
            </a:r>
            <a:r>
              <a:rPr sz="4400" dirty="0">
                <a:solidFill>
                  <a:srgbClr val="7030A0"/>
                </a:solidFill>
              </a:rPr>
              <a:t/>
            </a:r>
            <a:br>
              <a:rPr sz="4400" dirty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1232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508000" y="1752600"/>
            <a:ext cx="7721600" cy="4343400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219200"/>
          </a:xfrm>
        </p:spPr>
        <p:txBody>
          <a:bodyPr>
            <a:normAutofit fontScale="90000"/>
          </a:bodyPr>
          <a:lstStyle/>
          <a:p>
            <a:pPr algn="ctr"/>
            <a:r>
              <a:rPr sz="60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Family Planning</a:t>
            </a:r>
            <a:r>
              <a:rPr sz="4400" dirty="0">
                <a:solidFill>
                  <a:srgbClr val="7030A0"/>
                </a:solidFill>
              </a:rPr>
              <a:t/>
            </a:r>
            <a:br>
              <a:rPr sz="4400" dirty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060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371600"/>
            <a:ext cx="8221132" cy="4624387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371600"/>
          </a:xfrm>
        </p:spPr>
        <p:txBody>
          <a:bodyPr>
            <a:normAutofit fontScale="90000"/>
          </a:bodyPr>
          <a:lstStyle/>
          <a:p>
            <a:pPr algn="ctr"/>
            <a:r>
              <a:rPr sz="60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Immunization</a:t>
            </a:r>
            <a:r>
              <a:rPr sz="4400" dirty="0">
                <a:solidFill>
                  <a:srgbClr val="7030A0"/>
                </a:solidFill>
              </a:rPr>
              <a:t/>
            </a:r>
            <a:br>
              <a:rPr sz="4400" dirty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395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Operation Theatre</a:t>
            </a:r>
          </a:p>
        </p:txBody>
      </p:sp>
      <p:pic>
        <p:nvPicPr>
          <p:cNvPr id="4" name="SmartArt Placeholder 3" descr="20171126_095918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1074456" y="2171011"/>
            <a:ext cx="6995089" cy="3735177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</a:t>
            </a:r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Post Operative Ward</a:t>
            </a:r>
            <a:endParaRPr lang="en-US" dirty="0">
              <a:solidFill>
                <a:srgbClr val="3333FF"/>
              </a:solidFill>
            </a:endParaRPr>
          </a:p>
        </p:txBody>
      </p:sp>
      <p:pic>
        <p:nvPicPr>
          <p:cNvPr id="6" name="SmartArt Placeholder 5" descr="20171126_09534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Gyane Ward</a:t>
            </a:r>
          </a:p>
        </p:txBody>
      </p:sp>
      <p:pic>
        <p:nvPicPr>
          <p:cNvPr id="8" name="SmartArt Placeholder 7" descr="20171126_103048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0"/>
            <a:ext cx="7772400" cy="1371600"/>
          </a:xfrm>
        </p:spPr>
        <p:txBody>
          <a:bodyPr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IN" b="1" dirty="0">
                <a:ln w="11430"/>
                <a:solidFill>
                  <a:srgbClr val="3333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Neonatal Intensive Care Unit (NICU)</a:t>
            </a:r>
            <a:endParaRPr lang="en-GB" b="1" dirty="0">
              <a:ln w="11430"/>
              <a:solidFill>
                <a:srgbClr val="3333FF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3810000" cy="262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 descr="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524000"/>
            <a:ext cx="3429000" cy="2571750"/>
          </a:xfrm>
          <a:prstGeom prst="rect">
            <a:avLst/>
          </a:prstGeom>
        </p:spPr>
      </p:pic>
      <p:pic>
        <p:nvPicPr>
          <p:cNvPr id="8" name="Picture 7" descr="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114800"/>
            <a:ext cx="3810000" cy="2571750"/>
          </a:xfrm>
          <a:prstGeom prst="rect">
            <a:avLst/>
          </a:prstGeom>
        </p:spPr>
      </p:pic>
      <p:pic>
        <p:nvPicPr>
          <p:cNvPr id="9" name="Picture 8" descr="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267200"/>
            <a:ext cx="34290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998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1000"/>
            <a:ext cx="7772400" cy="7620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Maternal  ICU</a:t>
            </a:r>
            <a:endParaRPr lang="en-GB" b="1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578" name="Picture 2" descr="C:\Users\Emdad\Desktop\New folder\20211210_12232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352550"/>
            <a:ext cx="6553200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8065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VIA Corner</a:t>
            </a:r>
            <a:endParaRPr lang="en-GB" b="1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  <p:pic>
        <p:nvPicPr>
          <p:cNvPr id="4" name="Chart Placeholder 3" descr="11.jpg"/>
          <p:cNvPicPr>
            <a:picLocks noGrp="1" noChangeAspect="1"/>
          </p:cNvPicPr>
          <p:nvPr>
            <p:ph type="chart" idx="1"/>
          </p:nvPr>
        </p:nvPicPr>
        <p:blipFill>
          <a:blip r:embed="rId2"/>
          <a:stretch>
            <a:fillRect/>
          </a:stretch>
        </p:blipFill>
        <p:spPr>
          <a:xfrm>
            <a:off x="1828800" y="1981200"/>
            <a:ext cx="4286250" cy="4495800"/>
          </a:xfrm>
        </p:spPr>
      </p:pic>
    </p:spTree>
    <p:extLst>
      <p:ext uri="{BB962C8B-B14F-4D97-AF65-F5344CB8AC3E}">
        <p14:creationId xmlns:p14="http://schemas.microsoft.com/office/powerpoint/2010/main" val="738997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Breast Feeding Corner</a:t>
            </a:r>
            <a:endParaRPr lang="en-GB" b="1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  <p:pic>
        <p:nvPicPr>
          <p:cNvPr id="4" name="Chart Placeholder 3" descr="10.jpg"/>
          <p:cNvPicPr>
            <a:picLocks noGrp="1" noChangeAspect="1"/>
          </p:cNvPicPr>
          <p:nvPr>
            <p:ph type="chart" idx="1"/>
          </p:nvPr>
        </p:nvPicPr>
        <p:blipFill>
          <a:blip r:embed="rId2"/>
          <a:stretch>
            <a:fillRect/>
          </a:stretch>
        </p:blipFill>
        <p:spPr>
          <a:xfrm>
            <a:off x="2057400" y="1981200"/>
            <a:ext cx="4800600" cy="4419600"/>
          </a:xfrm>
        </p:spPr>
      </p:pic>
    </p:spTree>
    <p:extLst>
      <p:ext uri="{BB962C8B-B14F-4D97-AF65-F5344CB8AC3E}">
        <p14:creationId xmlns:p14="http://schemas.microsoft.com/office/powerpoint/2010/main" val="2126645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24 Hours Pharmacy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C6B01EB6-AE9C-4345-BE00-7FD70A414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43894"/>
            <a:ext cx="8229600" cy="4371975"/>
          </a:xfrm>
        </p:spPr>
      </p:pic>
    </p:spTree>
    <p:extLst>
      <p:ext uri="{BB962C8B-B14F-4D97-AF65-F5344CB8AC3E}">
        <p14:creationId xmlns:p14="http://schemas.microsoft.com/office/powerpoint/2010/main" val="2237853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sz="49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24</a:t>
            </a:r>
            <a:r>
              <a:rPr sz="49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Hour Ambulance Service</a:t>
            </a:r>
            <a:r>
              <a:rPr sz="4400" dirty="0">
                <a:solidFill>
                  <a:srgbClr val="FF0000"/>
                </a:solidFill>
              </a:rPr>
              <a:t/>
            </a:r>
            <a:br>
              <a:rPr sz="4400" dirty="0">
                <a:solidFill>
                  <a:srgbClr val="FF0000"/>
                </a:solidFill>
              </a:rPr>
            </a:br>
            <a:endParaRPr lang="en-US" dirty="0"/>
          </a:p>
        </p:txBody>
      </p:sp>
      <p:pic>
        <p:nvPicPr>
          <p:cNvPr id="5" name="SmartArt Placeholder 4" descr="20171126_160855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  <p:extLst>
      <p:ext uri="{BB962C8B-B14F-4D97-AF65-F5344CB8AC3E}">
        <p14:creationId xmlns:p14="http://schemas.microsoft.com/office/powerpoint/2010/main" val="4097389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533400"/>
            <a:ext cx="9144000" cy="838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chemeClr val="tx2"/>
                </a:solidFill>
              </a:rPr>
              <a:t>Community Base Ambulance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752600"/>
            <a:ext cx="3581400" cy="38164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000" dirty="0">
                <a:solidFill>
                  <a:srgbClr val="002060"/>
                </a:solidFill>
              </a:rPr>
              <a:t>12 Ambulance are serving in different area in community.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sz="2400" b="1" u="sng" dirty="0" err="1">
                <a:solidFill>
                  <a:schemeClr val="accent5">
                    <a:lumMod val="50000"/>
                  </a:schemeClr>
                </a:solidFill>
              </a:rPr>
              <a:t>Speciality</a:t>
            </a:r>
            <a:endParaRPr lang="en-US" b="1" u="sng" dirty="0">
              <a:solidFill>
                <a:schemeClr val="accent5">
                  <a:lumMod val="50000"/>
                </a:schemeClr>
              </a:solidFill>
            </a:endParaRPr>
          </a:p>
          <a:p>
            <a:pPr eaLnBrk="1" hangingPunct="1">
              <a:buFont typeface="Arial" pitchFamily="34" charset="0"/>
              <a:buChar char="•"/>
              <a:defRPr/>
            </a:pPr>
            <a:endParaRPr lang="en-US" sz="2000" dirty="0"/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/>
              <a:t> Very low cost service (Less than 50% of market Price)</a:t>
            </a:r>
          </a:p>
          <a:p>
            <a:pPr eaLnBrk="1" hangingPunct="1">
              <a:buFont typeface="Arial" pitchFamily="34" charset="0"/>
              <a:buChar char="•"/>
              <a:defRPr/>
            </a:pPr>
            <a:endParaRPr lang="en-US" sz="2000" dirty="0"/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/>
              <a:t> Full free at 8.00pm to 6.00am for Pregnant Mother.</a:t>
            </a:r>
          </a:p>
          <a:p>
            <a:pPr eaLnBrk="1" hangingPunct="1">
              <a:defRPr/>
            </a:pPr>
            <a:r>
              <a:rPr lang="en-US" sz="2000" dirty="0"/>
              <a:t> 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/>
              <a:t>Easy &amp; Quick</a:t>
            </a:r>
          </a:p>
        </p:txBody>
      </p:sp>
      <p:pic>
        <p:nvPicPr>
          <p:cNvPr id="3072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1524000"/>
            <a:ext cx="4887913" cy="397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727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292004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1336675" y="184150"/>
            <a:ext cx="59086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0070C0"/>
                </a:solidFill>
              </a:rPr>
              <a:t>Community Health Services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320697"/>
              </p:ext>
            </p:extLst>
          </p:nvPr>
        </p:nvGraphicFramePr>
        <p:xfrm>
          <a:off x="838201" y="914400"/>
          <a:ext cx="7619999" cy="1005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862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5906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7230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>
                          <a:solidFill>
                            <a:schemeClr val="tx1"/>
                          </a:solidFill>
                          <a:latin typeface="+mj-lt"/>
                        </a:rPr>
                        <a:t>Working Area: 14 Districts</a:t>
                      </a:r>
                    </a:p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4405" marR="84405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+mj-lt"/>
                        </a:rPr>
                        <a:t>Community Midwife</a:t>
                      </a:r>
                      <a:endParaRPr 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4405" marR="84405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j-lt"/>
                        </a:rPr>
                        <a:t>96</a:t>
                      </a:r>
                    </a:p>
                  </a:txBody>
                  <a:tcPr marL="84405" marR="84405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2563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1987" y="2272797"/>
            <a:ext cx="5942013" cy="458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" y="2362200"/>
          <a:ext cx="2700655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766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Monthly Satellite clinic</a:t>
                      </a:r>
                      <a:endParaRPr kumimoji="0" lang="en-US" sz="1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2156</a:t>
                      </a:r>
                    </a:p>
                  </a:txBody>
                  <a:tcPr marL="84405" marR="84405" marT="45725" marB="45725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466224"/>
              </p:ext>
            </p:extLst>
          </p:nvPr>
        </p:nvGraphicFramePr>
        <p:xfrm>
          <a:off x="352425" y="2209800"/>
          <a:ext cx="3609974" cy="2218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997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8139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Awareness Development</a:t>
                      </a:r>
                      <a:r>
                        <a:rPr lang="en-US" sz="2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Training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56" marB="457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528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Patient</a:t>
                      </a:r>
                      <a:r>
                        <a:rPr lang="en-US" sz="2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Screening  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56" marB="457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65282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2400" dirty="0">
                          <a:latin typeface="+mj-lt"/>
                        </a:rPr>
                        <a:t>  Treatment</a:t>
                      </a:r>
                      <a:r>
                        <a:rPr lang="en-US" sz="2400" baseline="0" dirty="0">
                          <a:latin typeface="+mj-lt"/>
                        </a:rPr>
                        <a:t> </a:t>
                      </a:r>
                      <a:r>
                        <a:rPr lang="en-US" sz="2400" baseline="0" dirty="0" smtClean="0">
                          <a:latin typeface="+mj-lt"/>
                        </a:rPr>
                        <a:t>– 223</a:t>
                      </a:r>
                      <a:endParaRPr lang="en-US" sz="2400" dirty="0">
                        <a:latin typeface="+mj-lt"/>
                      </a:endParaRPr>
                    </a:p>
                  </a:txBody>
                  <a:tcPr marL="84392" marR="84392" marT="45756" marB="45756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65282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2400" dirty="0">
                          <a:latin typeface="+mj-lt"/>
                        </a:rPr>
                        <a:t>  </a:t>
                      </a:r>
                      <a:r>
                        <a:rPr lang="en-US" sz="2400" dirty="0" smtClean="0">
                          <a:latin typeface="+mj-lt"/>
                        </a:rPr>
                        <a:t>Rehabilitation –</a:t>
                      </a:r>
                      <a:r>
                        <a:rPr lang="en-US" sz="2400" baseline="0" dirty="0" smtClean="0">
                          <a:latin typeface="+mj-lt"/>
                        </a:rPr>
                        <a:t> </a:t>
                      </a:r>
                      <a:r>
                        <a:rPr lang="en-US" sz="2400" baseline="0" dirty="0">
                          <a:latin typeface="+mj-lt"/>
                        </a:rPr>
                        <a:t>61</a:t>
                      </a:r>
                      <a:endParaRPr lang="en-US" sz="2400" dirty="0">
                        <a:latin typeface="+mj-lt"/>
                      </a:endParaRPr>
                    </a:p>
                  </a:txBody>
                  <a:tcPr marL="84392" marR="84392" marT="45756" marB="45756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 bwMode="auto">
          <a:xfrm>
            <a:off x="422274" y="4648200"/>
            <a:ext cx="3540125" cy="1371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sz="3200" dirty="0"/>
              <a:t>All Services  are </a:t>
            </a:r>
          </a:p>
          <a:p>
            <a:pPr algn="ctr" eaLnBrk="1" hangingPunct="1">
              <a:defRPr/>
            </a:pPr>
            <a:r>
              <a:rPr lang="en-US" sz="3200" dirty="0"/>
              <a:t>free of cost</a:t>
            </a:r>
          </a:p>
        </p:txBody>
      </p:sp>
      <p:pic>
        <p:nvPicPr>
          <p:cNvPr id="34832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95686" y="2209800"/>
            <a:ext cx="4748314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835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itle 1"/>
          <p:cNvSpPr txBox="1">
            <a:spLocks/>
          </p:cNvSpPr>
          <p:nvPr/>
        </p:nvSpPr>
        <p:spPr>
          <a:xfrm>
            <a:off x="685800" y="381000"/>
            <a:ext cx="7772400" cy="1143000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9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latin typeface="Times New Roman" pitchFamily="18" charset="0"/>
                <a:cs typeface="Times New Roman" pitchFamily="18" charset="0"/>
              </a:rPr>
              <a:t>Fistula Care Project</a:t>
            </a:r>
            <a:endParaRPr lang="en-GB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Name of the Doctors</a:t>
            </a:r>
          </a:p>
        </p:txBody>
      </p:sp>
      <p:graphicFrame>
        <p:nvGraphicFramePr>
          <p:cNvPr id="4" name="SmartArt Placeholder 3"/>
          <p:cNvGraphicFramePr>
            <a:graphicFrameLocks noGrp="1"/>
          </p:cNvGraphicFramePr>
          <p:nvPr>
            <p:ph type="dgm" idx="1"/>
            <p:extLst>
              <p:ext uri="{D42A27DB-BD31-4B8C-83A1-F6EECF244321}">
                <p14:modId xmlns:p14="http://schemas.microsoft.com/office/powerpoint/2010/main" val="1773013587"/>
              </p:ext>
            </p:extLst>
          </p:nvPr>
        </p:nvGraphicFramePr>
        <p:xfrm>
          <a:off x="152400" y="1295400"/>
          <a:ext cx="8763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5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48583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93827">
                <a:tc>
                  <a:txBody>
                    <a:bodyPr/>
                    <a:lstStyle/>
                    <a:p>
                      <a:r>
                        <a:rPr kumimoji="0" lang="en-US" sz="14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Prof. Dr. Badrunnesa Begum</a:t>
                      </a:r>
                    </a:p>
                    <a:p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MBBS, FCPS, DGO, MCPS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Professor and Head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93827">
                <a:tc>
                  <a:txBody>
                    <a:bodyPr/>
                    <a:lstStyle/>
                    <a:p>
                      <a:r>
                        <a:rPr kumimoji="0" lang="en-US" sz="14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Prof. Dr. Md. Hasanuzzaman</a:t>
                      </a:r>
                    </a:p>
                    <a:p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MBBS, FCPS</a:t>
                      </a:r>
                      <a:endParaRPr lang="en-GB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Professor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93827">
                <a:tc>
                  <a:txBody>
                    <a:bodyPr/>
                    <a:lstStyle/>
                    <a:p>
                      <a:r>
                        <a:rPr kumimoji="0" lang="en-US" sz="14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Prof. Dr. Md. Rabiul Islam</a:t>
                      </a:r>
                    </a:p>
                    <a:p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MBBS, MCPS, DGO</a:t>
                      </a:r>
                      <a:endParaRPr lang="en-GB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Professor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93827">
                <a:tc>
                  <a:txBody>
                    <a:bodyPr/>
                    <a:lstStyle/>
                    <a:p>
                      <a:r>
                        <a:rPr kumimoji="0" lang="en-US" sz="14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Prof. Dr. Tarun Kanti Ghosh</a:t>
                      </a:r>
                    </a:p>
                    <a:p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MBBS, MCPS, DGO, FCPS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Professor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93827">
                <a:tc>
                  <a:txBody>
                    <a:bodyPr/>
                    <a:lstStyle/>
                    <a:p>
                      <a:r>
                        <a:rPr kumimoji="0" lang="en-US" sz="14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Prof. Dr. Nikunjo Bihari Goldar</a:t>
                      </a:r>
                    </a:p>
                    <a:p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MBBS, MCPS, DGO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Professor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93827">
                <a:tc>
                  <a:txBody>
                    <a:bodyPr/>
                    <a:lstStyle/>
                    <a:p>
                      <a:r>
                        <a:rPr kumimoji="0" lang="en-US" sz="14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Prof. Dr. Gour Kishor</a:t>
                      </a:r>
                    </a:p>
                    <a:p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MBBS, FCPS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Professor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93827">
                <a:tc>
                  <a:txBody>
                    <a:bodyPr/>
                    <a:lstStyle/>
                    <a:p>
                      <a:r>
                        <a:rPr kumimoji="0" lang="en-US" sz="14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Dr. Nasrin Jahan Baker</a:t>
                      </a:r>
                    </a:p>
                    <a:p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MBBS, MCPS, FCPS</a:t>
                      </a:r>
                      <a:endParaRPr lang="en-GB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Associate Professor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kumimoji="0" lang="en-US" sz="14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Dr. Md. Emdadul Haque</a:t>
                      </a:r>
                    </a:p>
                    <a:p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MBBS, DMCH-FP, DGO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Associate Professor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93827">
                <a:tc>
                  <a:txBody>
                    <a:bodyPr/>
                    <a:lstStyle/>
                    <a:p>
                      <a:r>
                        <a:rPr kumimoji="0" lang="en-US" sz="14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Dr. Salaha Khatun</a:t>
                      </a:r>
                    </a:p>
                    <a:p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MBBS, DMCHFP, DGO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Assistant</a:t>
                      </a:r>
                      <a:r>
                        <a:rPr lang="en-US" baseline="0" dirty="0"/>
                        <a:t> Professor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4858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3457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of the Doctors</a:t>
            </a:r>
          </a:p>
        </p:txBody>
      </p:sp>
      <p:graphicFrame>
        <p:nvGraphicFramePr>
          <p:cNvPr id="4" name="SmartArt Placeholder 3"/>
          <p:cNvGraphicFramePr>
            <a:graphicFrameLocks noGrp="1"/>
          </p:cNvGraphicFramePr>
          <p:nvPr>
            <p:ph type="dgm" idx="1"/>
            <p:extLst>
              <p:ext uri="{D42A27DB-BD31-4B8C-83A1-F6EECF244321}">
                <p14:modId xmlns:p14="http://schemas.microsoft.com/office/powerpoint/2010/main" val="3941199278"/>
              </p:ext>
            </p:extLst>
          </p:nvPr>
        </p:nvGraphicFramePr>
        <p:xfrm>
          <a:off x="685800" y="1981200"/>
          <a:ext cx="7848600" cy="4343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3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20486">
                <a:tc>
                  <a:txBody>
                    <a:bodyPr/>
                    <a:lstStyle/>
                    <a:p>
                      <a:r>
                        <a:rPr lang="en-US" dirty="0"/>
                        <a:t>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Dr. Shila</a:t>
                      </a:r>
                      <a:r>
                        <a:rPr lang="en-US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Podder</a:t>
                      </a:r>
                      <a:endParaRPr lang="en-GB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Dr. Kumruzzaman</a:t>
                      </a:r>
                      <a:endParaRPr lang="en-GB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Registrar</a:t>
                      </a:r>
                      <a:endParaRPr lang="en-GB" sz="1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Dr. Tonni Moni Chonda</a:t>
                      </a:r>
                      <a:endParaRPr lang="en-GB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Assistant Registrar</a:t>
                      </a:r>
                      <a:endParaRPr lang="en-GB" sz="1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latin typeface="Times New Roman" pitchFamily="18" charset="0"/>
                          <a:cs typeface="Times New Roman" pitchFamily="18" charset="0"/>
                        </a:rPr>
                        <a:t>Dr. Sumayya Sharmin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Medical</a:t>
                      </a:r>
                      <a:r>
                        <a:rPr lang="en-GB" sz="18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officer</a:t>
                      </a:r>
                      <a:endParaRPr lang="en-GB" sz="1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latin typeface="Times New Roman" pitchFamily="18" charset="0"/>
                          <a:cs typeface="Times New Roman" pitchFamily="18" charset="0"/>
                        </a:rPr>
                        <a:t>Dr. Tahmina Sharmin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Medical</a:t>
                      </a:r>
                      <a:r>
                        <a:rPr lang="en-GB" sz="18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officer</a:t>
                      </a:r>
                      <a:endParaRPr lang="en-GB" sz="1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latin typeface="Times New Roman" pitchFamily="18" charset="0"/>
                          <a:cs typeface="Times New Roman" pitchFamily="18" charset="0"/>
                        </a:rPr>
                        <a:t>Dr. Sultana Zaman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Medical</a:t>
                      </a:r>
                      <a:r>
                        <a:rPr lang="en-GB" sz="18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officer</a:t>
                      </a:r>
                      <a:endParaRPr lang="en-GB" sz="1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12135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04088"/>
            <a:ext cx="8382000" cy="515112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Academic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7773339" cy="4495800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of Intern Doctors: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Morning Session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Presentation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on referred case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according to log book.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Nursing Training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394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/>
              <a:t>Academic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Ongoing Research study :</a:t>
            </a:r>
          </a:p>
          <a:p>
            <a:pPr marL="457200" indent="-457200">
              <a:buFont typeface="+mj-lt"/>
              <a:buAutoNum type="arabicPeriod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ClrTx/>
              <a:buFont typeface="+mj-lt"/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Wound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</a:t>
            </a:r>
          </a:p>
          <a:p>
            <a:pPr marL="800100" lvl="1" indent="-342900">
              <a:buClrTx/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ClrTx/>
              <a:buFont typeface="+mj-lt"/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Premature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Rupture Of Membrane(PROM)</a:t>
            </a:r>
          </a:p>
          <a:p>
            <a:pPr marL="914400" lvl="1" indent="-457200">
              <a:buClrTx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ClrTx/>
              <a:buFont typeface="+mj-lt"/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Intra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Uterine Fetal Death (IUD)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0721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Annual Trend of ANC Services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1574802"/>
              </p:ext>
            </p:extLst>
          </p:nvPr>
        </p:nvGraphicFramePr>
        <p:xfrm>
          <a:off x="152400" y="1935163"/>
          <a:ext cx="8991600" cy="4618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98182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n w="17780" cmpd="sng">
                  <a:solidFill>
                    <a:schemeClr val="tx2"/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Comparison between NVD and C-Section</a:t>
            </a:r>
            <a:endParaRPr lang="en-US" sz="4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6846095"/>
              </p:ext>
            </p:extLst>
          </p:nvPr>
        </p:nvGraphicFramePr>
        <p:xfrm>
          <a:off x="457200" y="1935163"/>
          <a:ext cx="8229600" cy="438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3550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2B03B1-1ECB-4039-80D0-73C81EC9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4151"/>
            <a:ext cx="9144000" cy="46812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Patients admitted in Obs. ward (Jan-Nov) 2021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xmlns="" id="{DD233B23-040F-4F57-A19A-8C084C917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415554"/>
              </p:ext>
            </p:extLst>
          </p:nvPr>
        </p:nvGraphicFramePr>
        <p:xfrm>
          <a:off x="228600" y="1114886"/>
          <a:ext cx="8646458" cy="5341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700">
                  <a:extLst>
                    <a:ext uri="{9D8B030D-6E8A-4147-A177-3AD203B41FA5}">
                      <a16:colId xmlns:a16="http://schemas.microsoft.com/office/drawing/2014/main" xmlns="" val="2120689179"/>
                    </a:ext>
                  </a:extLst>
                </a:gridCol>
                <a:gridCol w="4488758">
                  <a:extLst>
                    <a:ext uri="{9D8B030D-6E8A-4147-A177-3AD203B41FA5}">
                      <a16:colId xmlns:a16="http://schemas.microsoft.com/office/drawing/2014/main" xmlns="" val="2650224956"/>
                    </a:ext>
                  </a:extLst>
                </a:gridCol>
              </a:tblGrid>
              <a:tr h="304517">
                <a:tc>
                  <a:txBody>
                    <a:bodyPr/>
                    <a:lstStyle/>
                    <a:p>
                      <a:pPr algn="ctr"/>
                      <a:r>
                        <a:rPr lang="en-GB" sz="1600" i="1" dirty="0"/>
                        <a:t>Title </a:t>
                      </a:r>
                      <a:endParaRPr lang="en-US" sz="16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Number 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598424631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Pregnancy with Previous C/S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580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079959289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Pregnancy with Lower abdominal pain 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581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156433760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Pregnancy with Less fetal movement 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454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56958223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Pregnancy with PROM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330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268353359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Pregnancy with UTI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424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406352904"/>
                  </a:ext>
                </a:extLst>
              </a:tr>
              <a:tr h="337438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Pregnancy with Ante partam haemorrhage 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Times New Roman" pitchFamily="18" charset="0"/>
                          <a:cs typeface="Times New Roman" pitchFamily="18" charset="0"/>
                        </a:rPr>
                        <a:t>157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840862655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Pregnancy with Anaemia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943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427890374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Post Dated Pregnancy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58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990981605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PE</a:t>
                      </a:r>
                      <a:r>
                        <a:rPr lang="en-GB" sz="16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and </a:t>
                      </a:r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PIH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349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630253068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Term</a:t>
                      </a:r>
                      <a:r>
                        <a:rPr lang="en-GB" sz="16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pregnancy with </a:t>
                      </a:r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labour pain 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632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53043260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Hyperemesis graviderum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208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917189496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Pregnancy with Oligohydramnios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512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831623455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Pregnancy with PUO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87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915393996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IUD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603598819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GDM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58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41751353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Pregnancy with Breech Presentation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Times New Roman" pitchFamily="18" charset="0"/>
                          <a:cs typeface="Times New Roman" pitchFamily="18" charset="0"/>
                        </a:rPr>
                        <a:t>34</a:t>
                      </a:r>
                      <a:endParaRPr lang="en-US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486694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85307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48158C-A028-3846-8DCE-B8BD3394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6619"/>
            <a:ext cx="7886700" cy="788486"/>
          </a:xfrm>
        </p:spPr>
        <p:txBody>
          <a:bodyPr>
            <a:normAutofit/>
          </a:bodyPr>
          <a:lstStyle/>
          <a:p>
            <a:r>
              <a:rPr lang="en-GB" sz="2700" b="1" i="1" dirty="0"/>
              <a:t>Gynae operation list(Jan-Nov-2021)</a:t>
            </a:r>
            <a:endParaRPr lang="en-US" sz="2700" b="1" i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4A3BFD50-EA91-1046-A578-2E582DC950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077303"/>
              </p:ext>
            </p:extLst>
          </p:nvPr>
        </p:nvGraphicFramePr>
        <p:xfrm>
          <a:off x="609600" y="1371600"/>
          <a:ext cx="8173062" cy="5012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6531">
                  <a:extLst>
                    <a:ext uri="{9D8B030D-6E8A-4147-A177-3AD203B41FA5}">
                      <a16:colId xmlns:a16="http://schemas.microsoft.com/office/drawing/2014/main" xmlns="" val="2194349053"/>
                    </a:ext>
                  </a:extLst>
                </a:gridCol>
                <a:gridCol w="4086531">
                  <a:extLst>
                    <a:ext uri="{9D8B030D-6E8A-4147-A177-3AD203B41FA5}">
                      <a16:colId xmlns:a16="http://schemas.microsoft.com/office/drawing/2014/main" xmlns="" val="210114044"/>
                    </a:ext>
                  </a:extLst>
                </a:gridCol>
              </a:tblGrid>
              <a:tr h="417674">
                <a:tc>
                  <a:txBody>
                    <a:bodyPr/>
                    <a:lstStyle/>
                    <a:p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08759584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Total abdominal hysterectomy 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300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903094791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itchFamily="18" charset="0"/>
                          <a:cs typeface="Times New Roman" pitchFamily="18" charset="0"/>
                        </a:rPr>
                        <a:t>Sub total abdominal hysterectomy </a:t>
                      </a:r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40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868143214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Vaginal Hysterectomy 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326480579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Laparotomy 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150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857047345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Ovarian cystectomy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368930999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Perineal tear Repair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72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60663385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Hydratidiform Mole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DE&amp;C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429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Biopsy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81306784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Bartholin cyst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24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25089535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Total =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1097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2797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9989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18519"/>
            <a:ext cx="8686800" cy="60068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gynae and obst Department from 2010-2021(Jan-Nov)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9101459"/>
              </p:ext>
            </p:extLst>
          </p:nvPr>
        </p:nvGraphicFramePr>
        <p:xfrm>
          <a:off x="381000" y="1600199"/>
          <a:ext cx="8381998" cy="4639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2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45446">
                  <a:extLst>
                    <a:ext uri="{9D8B030D-6E8A-4147-A177-3AD203B41FA5}">
                      <a16:colId xmlns:a16="http://schemas.microsoft.com/office/drawing/2014/main" xmlns="" val="4124854820"/>
                    </a:ext>
                  </a:extLst>
                </a:gridCol>
                <a:gridCol w="74544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5113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6335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854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6335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2594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51136">
                  <a:extLst>
                    <a:ext uri="{9D8B030D-6E8A-4147-A177-3AD203B41FA5}">
                      <a16:colId xmlns:a16="http://schemas.microsoft.com/office/drawing/2014/main" xmlns="" val="4049830223"/>
                    </a:ext>
                  </a:extLst>
                </a:gridCol>
                <a:gridCol w="751136">
                  <a:extLst>
                    <a:ext uri="{9D8B030D-6E8A-4147-A177-3AD203B41FA5}">
                      <a16:colId xmlns:a16="http://schemas.microsoft.com/office/drawing/2014/main" xmlns="" val="650347862"/>
                    </a:ext>
                  </a:extLst>
                </a:gridCol>
                <a:gridCol w="688542">
                  <a:extLst>
                    <a:ext uri="{9D8B030D-6E8A-4147-A177-3AD203B41FA5}">
                      <a16:colId xmlns:a16="http://schemas.microsoft.com/office/drawing/2014/main" xmlns="" val="1271222547"/>
                    </a:ext>
                  </a:extLst>
                </a:gridCol>
                <a:gridCol w="813731">
                  <a:extLst>
                    <a:ext uri="{9D8B030D-6E8A-4147-A177-3AD203B41FA5}">
                      <a16:colId xmlns:a16="http://schemas.microsoft.com/office/drawing/2014/main" xmlns="" val="1886636786"/>
                    </a:ext>
                  </a:extLst>
                </a:gridCol>
              </a:tblGrid>
              <a:tr h="9037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  <a:p>
                      <a:pPr algn="ctr"/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IPD Patients 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</a:t>
                      </a:r>
                    </a:p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OPD Patients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Gynae Patients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PNC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C/S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Delivery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Delivery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DE&amp;C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Gynae OT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xmlns="" val="1449347824"/>
                  </a:ext>
                </a:extLst>
              </a:tr>
              <a:tr h="508292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4208</a:t>
                      </a:r>
                      <a:endParaRPr 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46244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7802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28161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6765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3516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3292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08292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5607</a:t>
                      </a:r>
                      <a:endParaRPr 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44070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8105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25249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6460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3860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2879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6181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7458</a:t>
                      </a:r>
                      <a:endParaRPr 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44472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9779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25325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5992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3376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3446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388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5536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7757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43108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24117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6217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3412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3336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467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37946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6495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37434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6749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21673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5697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3213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3867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564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xmlns="" val="455660112"/>
                  </a:ext>
                </a:extLst>
              </a:tr>
              <a:tr h="873656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  <a:p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(Jan-Nov)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5375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41797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8180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25641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5534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4442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2621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3251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1097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xmlns="" val="3493164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4438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3543313"/>
              </p:ext>
            </p:extLst>
          </p:nvPr>
        </p:nvGraphicFramePr>
        <p:xfrm>
          <a:off x="304800" y="1177159"/>
          <a:ext cx="8839200" cy="56808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796159"/>
            <a:ext cx="91440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Total Delivery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612B03B1-1ECB-4039-80D0-73C81EC9B63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796159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/>
                </a:solidFill>
                <a:ea typeface="Calibri"/>
                <a:cs typeface="Vrinda"/>
              </a:rPr>
              <a:t>Best Performing EmOC MC Hospitals in Khulna Division -2020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15934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Thank You All</a:t>
            </a:r>
            <a:endParaRPr lang="en-US" dirty="0"/>
          </a:p>
        </p:txBody>
      </p:sp>
      <p:pic>
        <p:nvPicPr>
          <p:cNvPr id="5" name="Chart Placeholder 4"/>
          <p:cNvPicPr>
            <a:picLocks noGrp="1" noChangeAspect="1"/>
          </p:cNvPicPr>
          <p:nvPr>
            <p:ph type="chart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199"/>
            <a:ext cx="7407068" cy="4763327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2269</TotalTime>
  <Words>879</Words>
  <Application>Microsoft Office PowerPoint</Application>
  <PresentationFormat>On-screen Show (4:3)</PresentationFormat>
  <Paragraphs>311</Paragraphs>
  <Slides>35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Flow</vt:lpstr>
      <vt:lpstr>Photo Editor Photo</vt:lpstr>
      <vt:lpstr>Image</vt:lpstr>
      <vt:lpstr>Ad-din Sakina Women’s Medical College Hospital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Card Registration </vt:lpstr>
      <vt:lpstr>Business Counter  </vt:lpstr>
      <vt:lpstr>Antenatal Care </vt:lpstr>
      <vt:lpstr>Family Planning </vt:lpstr>
      <vt:lpstr>Immunization </vt:lpstr>
      <vt:lpstr>Operation Theatre</vt:lpstr>
      <vt:lpstr> Post Operative Ward</vt:lpstr>
      <vt:lpstr>Gyane Ward</vt:lpstr>
      <vt:lpstr>Neonatal Intensive Care Unit (NICU)</vt:lpstr>
      <vt:lpstr>Maternal  ICU</vt:lpstr>
      <vt:lpstr>VIA Corner</vt:lpstr>
      <vt:lpstr>Breast Feeding Corner</vt:lpstr>
      <vt:lpstr>24 Hours Pharmacy</vt:lpstr>
      <vt:lpstr>24 Hour Ambulance Service </vt:lpstr>
      <vt:lpstr>PowerPoint Presentation</vt:lpstr>
      <vt:lpstr>PowerPoint Presentation</vt:lpstr>
      <vt:lpstr>PowerPoint Presentation</vt:lpstr>
      <vt:lpstr>Name of the Doctors</vt:lpstr>
      <vt:lpstr>Name of the Doctors</vt:lpstr>
      <vt:lpstr>Academic activities</vt:lpstr>
      <vt:lpstr>Academic activities</vt:lpstr>
      <vt:lpstr>Annual Trend of ANC Services</vt:lpstr>
      <vt:lpstr>Comparison between NVD and C-Section</vt:lpstr>
      <vt:lpstr>Patients admitted in Obs. ward (Jan-Nov) 2021</vt:lpstr>
      <vt:lpstr>Gynae operation list(Jan-Nov-2021)</vt:lpstr>
      <vt:lpstr>Performance of gynae and obst Department from 2010-2021(Jan-Nov)</vt:lpstr>
      <vt:lpstr>PowerPoint Presentation</vt:lpstr>
      <vt:lpstr>Thank You All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Ad-din Sakina Medical College Hospital</dc:title>
  <dc:creator>user</dc:creator>
  <cp:lastModifiedBy>Emdad</cp:lastModifiedBy>
  <cp:revision>429</cp:revision>
  <dcterms:created xsi:type="dcterms:W3CDTF">2017-11-25T07:55:21Z</dcterms:created>
  <dcterms:modified xsi:type="dcterms:W3CDTF">2021-12-12T03:18:13Z</dcterms:modified>
</cp:coreProperties>
</file>