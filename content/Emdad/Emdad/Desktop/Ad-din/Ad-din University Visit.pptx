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427" r:id="rId3"/>
    <p:sldId id="428" r:id="rId4"/>
    <p:sldId id="301" r:id="rId5"/>
    <p:sldId id="418" r:id="rId6"/>
    <p:sldId id="434" r:id="rId7"/>
    <p:sldId id="424" r:id="rId8"/>
    <p:sldId id="435" r:id="rId9"/>
    <p:sldId id="436" r:id="rId10"/>
    <p:sldId id="437" r:id="rId11"/>
    <p:sldId id="438" r:id="rId12"/>
    <p:sldId id="440" r:id="rId13"/>
    <p:sldId id="441" r:id="rId14"/>
    <p:sldId id="442" r:id="rId15"/>
    <p:sldId id="369" r:id="rId16"/>
    <p:sldId id="319" r:id="rId17"/>
    <p:sldId id="320" r:id="rId18"/>
    <p:sldId id="321" r:id="rId19"/>
    <p:sldId id="322" r:id="rId20"/>
    <p:sldId id="323" r:id="rId21"/>
    <p:sldId id="355" r:id="rId22"/>
    <p:sldId id="381" r:id="rId23"/>
    <p:sldId id="354" r:id="rId24"/>
    <p:sldId id="360" r:id="rId25"/>
    <p:sldId id="447" r:id="rId26"/>
    <p:sldId id="448" r:id="rId27"/>
    <p:sldId id="367" r:id="rId28"/>
    <p:sldId id="443" r:id="rId29"/>
    <p:sldId id="444" r:id="rId30"/>
    <p:sldId id="402" r:id="rId31"/>
    <p:sldId id="410" r:id="rId32"/>
    <p:sldId id="315" r:id="rId33"/>
    <p:sldId id="3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33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2" autoAdjust="0"/>
    <p:restoredTop sz="94689" autoAdjust="0"/>
  </p:normalViewPr>
  <p:slideViewPr>
    <p:cSldViewPr>
      <p:cViewPr>
        <p:scale>
          <a:sx n="60" d="100"/>
          <a:sy n="60" d="100"/>
        </p:scale>
        <p:origin x="-165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08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openxmlformats.org/officeDocument/2006/relationships/image" Target="../media/image21.jpeg"/><Relationship Id="rId1" Type="http://schemas.openxmlformats.org/officeDocument/2006/relationships/image" Target="../media/image20.jpeg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40"/>
    </mc:Choice>
    <mc:Fallback>
      <c:style val="40"/>
    </mc:Fallback>
  </mc:AlternateContent>
  <c:chart>
    <c:autoTitleDeleted val="1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2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23286</c:v>
                </c:pt>
                <c:pt idx="1">
                  <c:v>25369</c:v>
                </c:pt>
                <c:pt idx="2">
                  <c:v>26899</c:v>
                </c:pt>
                <c:pt idx="3">
                  <c:v>27894</c:v>
                </c:pt>
                <c:pt idx="4">
                  <c:v>28963</c:v>
                </c:pt>
                <c:pt idx="5">
                  <c:v>26854</c:v>
                </c:pt>
                <c:pt idx="6">
                  <c:v>24857</c:v>
                </c:pt>
                <c:pt idx="7">
                  <c:v>25249</c:v>
                </c:pt>
                <c:pt idx="8">
                  <c:v>23673</c:v>
                </c:pt>
                <c:pt idx="9">
                  <c:v>24074</c:v>
                </c:pt>
                <c:pt idx="10">
                  <c:v>25325</c:v>
                </c:pt>
                <c:pt idx="11">
                  <c:v>24117</c:v>
                </c:pt>
                <c:pt idx="12">
                  <c:v>21663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cat>
            <c:numRef>
              <c:f>Sheet1!$A$2:$A$14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Sheet1!$D$2:$D$14</c:f>
              <c:numCache>
                <c:formatCode>General</c:formatCode>
                <c:ptCount val="13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cylinder"/>
        <c:axId val="247798016"/>
        <c:axId val="250392576"/>
        <c:axId val="0"/>
      </c:bar3DChart>
      <c:catAx>
        <c:axId val="247798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400"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250392576"/>
        <c:crosses val="autoZero"/>
        <c:auto val="1"/>
        <c:lblAlgn val="ctr"/>
        <c:lblOffset val="100"/>
        <c:noMultiLvlLbl val="0"/>
      </c:catAx>
      <c:valAx>
        <c:axId val="2503925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477980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title>
      <c:layout/>
      <c:overlay val="0"/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dLbls>
            <c:txPr>
              <a:bodyPr/>
              <a:lstStyle/>
              <a:p>
                <a:pPr>
                  <a:defRPr sz="14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1536</c:v>
                </c:pt>
                <c:pt idx="1">
                  <c:v>1752</c:v>
                </c:pt>
                <c:pt idx="2">
                  <c:v>1698</c:v>
                </c:pt>
                <c:pt idx="3">
                  <c:v>1509</c:v>
                </c:pt>
                <c:pt idx="4">
                  <c:v>1365</c:v>
                </c:pt>
                <c:pt idx="5">
                  <c:v>1258</c:v>
                </c:pt>
                <c:pt idx="6">
                  <c:v>1385</c:v>
                </c:pt>
                <c:pt idx="7">
                  <c:v>634</c:v>
                </c:pt>
                <c:pt idx="8">
                  <c:v>616</c:v>
                </c:pt>
                <c:pt idx="9">
                  <c:v>826</c:v>
                </c:pt>
                <c:pt idx="10">
                  <c:v>654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C/S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2806</c:v>
                </c:pt>
                <c:pt idx="1">
                  <c:v>2698</c:v>
                </c:pt>
                <c:pt idx="2">
                  <c:v>2587</c:v>
                </c:pt>
                <c:pt idx="3">
                  <c:v>2385</c:v>
                </c:pt>
                <c:pt idx="4">
                  <c:v>2904</c:v>
                </c:pt>
                <c:pt idx="5">
                  <c:v>3120</c:v>
                </c:pt>
                <c:pt idx="6">
                  <c:v>3510</c:v>
                </c:pt>
                <c:pt idx="7">
                  <c:v>3092</c:v>
                </c:pt>
                <c:pt idx="8">
                  <c:v>3392</c:v>
                </c:pt>
                <c:pt idx="9">
                  <c:v>3279</c:v>
                </c:pt>
                <c:pt idx="10">
                  <c:v>3213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47113600"/>
        <c:axId val="247115136"/>
      </c:lineChart>
      <c:catAx>
        <c:axId val="247113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47115136"/>
        <c:crosses val="autoZero"/>
        <c:auto val="1"/>
        <c:lblAlgn val="ctr"/>
        <c:lblOffset val="100"/>
        <c:noMultiLvlLbl val="0"/>
      </c:catAx>
      <c:valAx>
        <c:axId val="2471151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47113600"/>
        <c:crosses val="autoZero"/>
        <c:crossBetween val="between"/>
      </c:valAx>
    </c:plotArea>
    <c:legend>
      <c:legendPos val="t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77092069741282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1563</c:v>
                </c:pt>
                <c:pt idx="1">
                  <c:v>1431</c:v>
                </c:pt>
                <c:pt idx="2">
                  <c:v>1072</c:v>
                </c:pt>
                <c:pt idx="3">
                  <c:v>3213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>
                <c:manualLayout>
                  <c:x val="-4.6296296296297014E-3"/>
                  <c:y val="-4.975123403626985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3.0864197530864729E-3"/>
                  <c:y val="1.0587219299718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3.0864197530864729E-3"/>
                  <c:y val="9.95024680725397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3.0864197530864729E-3"/>
                  <c:y val="2.48756170181351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1763</c:v>
                </c:pt>
                <c:pt idx="1">
                  <c:v>1729</c:v>
                </c:pt>
                <c:pt idx="2">
                  <c:v>1254</c:v>
                </c:pt>
                <c:pt idx="3">
                  <c:v>654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-3.086419753086466E-3"/>
                  <c:y val="9.362579677540598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"/>
                  <c:y val="-3.694975628046539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92E-3"/>
                  <c:y val="-3.086635926983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z="2000" dirty="0" smtClean="0"/>
                      <a:t>38677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2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4"/>
                <c:pt idx="0">
                  <c:v>Khulna Medical College Hospital</c:v>
                </c:pt>
                <c:pt idx="1">
                  <c:v>Kushtia Medical College Hospital</c:v>
                </c:pt>
                <c:pt idx="2">
                  <c:v>Jessore Medical College Hospital</c:v>
                </c:pt>
                <c:pt idx="3">
                  <c:v>Ad-din Sakina Women's Medical College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3326</c:v>
                </c:pt>
                <c:pt idx="1">
                  <c:v>3160</c:v>
                </c:pt>
                <c:pt idx="2">
                  <c:v>2326</c:v>
                </c:pt>
                <c:pt idx="3">
                  <c:v>3867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8693504"/>
        <c:axId val="208839040"/>
      </c:barChart>
      <c:catAx>
        <c:axId val="20869350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blipFill>
            <a:blip xmlns:r="http://schemas.openxmlformats.org/officeDocument/2006/relationships" r:embed="rId1"/>
            <a:tile tx="0" ty="0" sx="100000" sy="100000" flip="none" algn="tl"/>
          </a:blipFill>
        </c:spPr>
        <c:txPr>
          <a:bodyPr/>
          <a:lstStyle/>
          <a:p>
            <a:pPr>
              <a:defRPr b="1"/>
            </a:pPr>
            <a:endParaRPr lang="en-US"/>
          </a:p>
        </c:txPr>
        <c:crossAx val="208839040"/>
        <c:crosses val="autoZero"/>
        <c:auto val="1"/>
        <c:lblAlgn val="ctr"/>
        <c:lblOffset val="100"/>
        <c:noMultiLvlLbl val="0"/>
      </c:catAx>
      <c:valAx>
        <c:axId val="2088390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08693504"/>
        <c:crosses val="autoZero"/>
        <c:crossBetween val="between"/>
      </c:valAx>
      <c:spPr>
        <a:blipFill>
          <a:blip xmlns:r="http://schemas.openxmlformats.org/officeDocument/2006/relationships" r:embed="rId2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3">
    <c:autoUpdate val="0"/>
  </c:externalData>
  <c:userShapes r:id="rId4"/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22427-8CFB-4497-A1CC-B7E42A2B11D0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5922-62E8-415A-B0C4-509C57D119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30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38CAE-D691-4F1B-BFE5-E857D71999D6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412F0-B504-4C90-8F49-F3511EBEC8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E2CD-9B18-4AD9-A90B-073F70C10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zoom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920094"/>
      </p:ext>
    </p:extLst>
  </p:cSld>
  <p:clrMapOvr>
    <a:masterClrMapping/>
  </p:clrMapOvr>
  <p:transition spd="slow"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6BB9A5-0185-4C4A-9117-9337DC6A83FA}" type="datetimeFigureOut">
              <a:rPr lang="en-US" smtClean="0"/>
              <a:pPr/>
              <a:t>12/10/2021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0" r:id="rId12"/>
    <p:sldLayoutId id="2147484362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png"/><Relationship Id="rId9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8100"/>
            <a:ext cx="8534400" cy="1371600"/>
          </a:xfrm>
        </p:spPr>
        <p:txBody>
          <a:bodyPr anchor="ctr">
            <a:normAutofit/>
          </a:bodyPr>
          <a:lstStyle/>
          <a:p>
            <a:r>
              <a:rPr sz="3200" dirty="0" err="1" smtClean="0"/>
              <a:t>Ad-din</a:t>
            </a:r>
            <a:r>
              <a:rPr sz="3200" dirty="0" smtClean="0"/>
              <a:t> </a:t>
            </a:r>
            <a:r>
              <a:rPr sz="3200" dirty="0" err="1" smtClean="0"/>
              <a:t>Sakina</a:t>
            </a:r>
            <a:r>
              <a:rPr sz="3200" dirty="0" smtClean="0"/>
              <a:t> </a:t>
            </a:r>
            <a:r>
              <a:rPr lang="en-IN" sz="3200" dirty="0" smtClean="0"/>
              <a:t>Women’s </a:t>
            </a:r>
            <a:r>
              <a:rPr sz="3200" dirty="0" smtClean="0"/>
              <a:t>Medical College Hospital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52600"/>
            <a:ext cx="8305800" cy="365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IMG_93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534400" cy="4552361"/>
          </a:xfrm>
          <a:prstGeom prst="rect">
            <a:avLst/>
          </a:prstGeom>
        </p:spPr>
      </p:pic>
    </p:spTree>
  </p:cSld>
  <p:clrMapOvr>
    <a:masterClrMapping/>
  </p:clrMapOvr>
  <p:transition spd="med">
    <p:whee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533400" y="212725"/>
            <a:ext cx="4495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00" dirty="0">
                <a:solidFill>
                  <a:srgbClr val="3333FF"/>
                </a:solidFill>
              </a:rPr>
              <a:t>Founder of Ad-din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1069975"/>
            <a:ext cx="5334000" cy="1557349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Late Sheikh Akijuddin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Founder Chairman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Established Ad-din out of  corporate social responsibility.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Akij Group with 20 business units.</a:t>
            </a:r>
          </a:p>
        </p:txBody>
      </p:sp>
      <p:pic>
        <p:nvPicPr>
          <p:cNvPr id="24580" name="Picture 4" descr="1"/>
          <p:cNvPicPr>
            <a:picLocks noChangeAspect="1" noChangeArrowheads="1"/>
          </p:cNvPicPr>
          <p:nvPr/>
        </p:nvPicPr>
        <p:blipFill>
          <a:blip r:embed="rId2"/>
          <a:srcRect t="3416" b="4584"/>
          <a:stretch>
            <a:fillRect/>
          </a:stretch>
        </p:blipFill>
        <p:spPr bwMode="auto">
          <a:xfrm>
            <a:off x="6172200" y="1042988"/>
            <a:ext cx="286702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5" descr="untitled1"/>
          <p:cNvPicPr>
            <a:picLocks noChangeAspect="1" noChangeArrowheads="1"/>
          </p:cNvPicPr>
          <p:nvPr/>
        </p:nvPicPr>
        <p:blipFill>
          <a:blip r:embed="rId3"/>
          <a:srcRect l="5402" t="14680" b="37218"/>
          <a:stretch>
            <a:fillRect/>
          </a:stretch>
        </p:blipFill>
        <p:spPr bwMode="auto">
          <a:xfrm>
            <a:off x="6172200" y="3048000"/>
            <a:ext cx="28670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609600" y="3081338"/>
            <a:ext cx="5334000" cy="14970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Late Prof. Sharif Hossain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lot of social organizations, educationist, recipient of Ekushe Padak.</a:t>
            </a:r>
          </a:p>
          <a:p>
            <a:pPr>
              <a:spcBef>
                <a:spcPct val="50000"/>
              </a:spcBef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609600" y="5426075"/>
            <a:ext cx="5334000" cy="646331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Dr. Sheikh Mohiuddin</a:t>
            </a:r>
          </a:p>
          <a:p>
            <a:r>
              <a:rPr lang="en-US" dirty="0">
                <a:solidFill>
                  <a:srgbClr val="FF0000"/>
                </a:solidFill>
              </a:rPr>
              <a:t>Founder Executive Director</a:t>
            </a:r>
          </a:p>
        </p:txBody>
      </p:sp>
      <p:pic>
        <p:nvPicPr>
          <p:cNvPr id="24584" name="Picture 8" descr="04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7913" y="4876800"/>
            <a:ext cx="290671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ad-din foundation এর ছবি ফলাফল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0" y="4786184"/>
            <a:ext cx="3048000" cy="20718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4279580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819400" y="1066800"/>
            <a:ext cx="3048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u="sng" dirty="0">
                <a:solidFill>
                  <a:srgbClr val="3333FF"/>
                </a:solidFill>
              </a:rPr>
              <a:t>Core Values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04800" y="2971800"/>
            <a:ext cx="54864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en-US" sz="3200">
                <a:solidFill>
                  <a:srgbClr val="0000FF"/>
                </a:solidFill>
              </a:rPr>
              <a:t>To respect and take care of the cultural &amp; religious values of our country as a part of development</a:t>
            </a:r>
          </a:p>
        </p:txBody>
      </p:sp>
      <p:pic>
        <p:nvPicPr>
          <p:cNvPr id="26628" name="Picture 4" descr="5"/>
          <p:cNvPicPr>
            <a:picLocks noChangeAspect="1" noChangeArrowheads="1"/>
          </p:cNvPicPr>
          <p:nvPr/>
        </p:nvPicPr>
        <p:blipFill>
          <a:blip r:embed="rId2"/>
          <a:srcRect l="11928"/>
          <a:stretch>
            <a:fillRect/>
          </a:stretch>
        </p:blipFill>
        <p:spPr bwMode="auto">
          <a:xfrm>
            <a:off x="6026150" y="304800"/>
            <a:ext cx="2813050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938" y="304800"/>
            <a:ext cx="22018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6" descr="7"/>
          <p:cNvPicPr>
            <a:picLocks noChangeAspect="1" noChangeArrowheads="1"/>
          </p:cNvPicPr>
          <p:nvPr/>
        </p:nvPicPr>
        <p:blipFill>
          <a:blip r:embed="rId4"/>
          <a:srcRect l="7317" t="8344" r="9756" b="2782"/>
          <a:stretch>
            <a:fillRect/>
          </a:stretch>
        </p:blipFill>
        <p:spPr bwMode="auto">
          <a:xfrm>
            <a:off x="6038850" y="4194175"/>
            <a:ext cx="2819400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121337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016296" y="47530"/>
            <a:ext cx="72390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10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>
                <a:solidFill>
                  <a:schemeClr val="accent2"/>
                </a:solidFill>
              </a:rPr>
              <a:t>Ad-din </a:t>
            </a:r>
            <a:r>
              <a:rPr lang="en-US" altLang="en-US" sz="3200" dirty="0" smtClean="0">
                <a:solidFill>
                  <a:schemeClr val="accent2"/>
                </a:solidFill>
              </a:rPr>
              <a:t>Sakina Medical College Hospital</a:t>
            </a:r>
            <a:endParaRPr lang="en-US" altLang="en-US" sz="32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3200" dirty="0" smtClean="0">
                <a:solidFill>
                  <a:schemeClr val="tx1"/>
                </a:solidFill>
              </a:rPr>
              <a:t>Background</a:t>
            </a:r>
            <a:endParaRPr lang="en-US" altLang="en-US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-1726" y="1524001"/>
            <a:ext cx="5030926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endParaRPr lang="en-US" altLang="en-US" sz="2000" dirty="0" smtClean="0">
              <a:solidFill>
                <a:schemeClr val="tx1"/>
              </a:solidFill>
            </a:endParaRP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Ad-din</a:t>
            </a:r>
            <a:r>
              <a:rPr lang="en-US" altLang="en-US" sz="2000" dirty="0" smtClean="0">
                <a:solidFill>
                  <a:schemeClr val="tx1"/>
                </a:solidFill>
              </a:rPr>
              <a:t> Hospital started </a:t>
            </a:r>
            <a:r>
              <a:rPr lang="en-US" altLang="en-US" sz="2000" dirty="0">
                <a:solidFill>
                  <a:schemeClr val="tx1"/>
                </a:solidFill>
              </a:rPr>
              <a:t>at 5 April </a:t>
            </a:r>
            <a:r>
              <a:rPr lang="en-US" altLang="en-US" sz="2000" dirty="0" smtClean="0">
                <a:solidFill>
                  <a:schemeClr val="tx1"/>
                </a:solidFill>
              </a:rPr>
              <a:t>1985 in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Kholadanga</a:t>
            </a:r>
            <a:r>
              <a:rPr lang="en-US" altLang="en-US" sz="2000" dirty="0" smtClean="0">
                <a:solidFill>
                  <a:schemeClr val="tx1"/>
                </a:solidFill>
              </a:rPr>
              <a:t>,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Jashore</a:t>
            </a:r>
            <a:r>
              <a:rPr lang="en-US" altLang="en-US" sz="2000" dirty="0" smtClean="0">
                <a:solidFill>
                  <a:schemeClr val="tx1"/>
                </a:solidFill>
              </a:rPr>
              <a:t> with the aim of providing</a:t>
            </a:r>
            <a:r>
              <a:rPr lang="en-US" altLang="en-US" sz="2000" dirty="0">
                <a:solidFill>
                  <a:schemeClr val="tx1"/>
                </a:solidFill>
              </a:rPr>
              <a:t> standard health service specially to the women, children </a:t>
            </a:r>
            <a:r>
              <a:rPr lang="en-US" altLang="en-US" sz="2000" dirty="0" smtClean="0">
                <a:solidFill>
                  <a:schemeClr val="tx1"/>
                </a:solidFill>
              </a:rPr>
              <a:t>and </a:t>
            </a:r>
            <a:r>
              <a:rPr lang="en-US" altLang="en-US" sz="2000" dirty="0">
                <a:solidFill>
                  <a:schemeClr val="tx1"/>
                </a:solidFill>
              </a:rPr>
              <a:t>others at minimum cost </a:t>
            </a:r>
            <a:r>
              <a:rPr lang="en-US" altLang="en-US" sz="20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 err="1" smtClean="0">
                <a:solidFill>
                  <a:schemeClr val="tx1"/>
                </a:solidFill>
              </a:rPr>
              <a:t>Ad-din</a:t>
            </a:r>
            <a:r>
              <a:rPr lang="en-US" altLang="en-US" sz="2000" dirty="0" smtClean="0">
                <a:solidFill>
                  <a:schemeClr val="tx1"/>
                </a:solidFill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Sakina</a:t>
            </a:r>
            <a:r>
              <a:rPr lang="en-US" altLang="en-US" sz="2000" dirty="0" smtClean="0">
                <a:solidFill>
                  <a:schemeClr val="tx1"/>
                </a:solidFill>
              </a:rPr>
              <a:t> Women’s </a:t>
            </a:r>
            <a:r>
              <a:rPr lang="en-US" altLang="en-US" sz="2000" dirty="0">
                <a:solidFill>
                  <a:schemeClr val="tx1"/>
                </a:solidFill>
              </a:rPr>
              <a:t>Medical </a:t>
            </a:r>
            <a:r>
              <a:rPr lang="en-US" altLang="en-US" sz="2000" dirty="0" smtClean="0">
                <a:solidFill>
                  <a:schemeClr val="tx1"/>
                </a:solidFill>
              </a:rPr>
              <a:t>College started at 2011 in </a:t>
            </a:r>
            <a:r>
              <a:rPr lang="en-US" altLang="en-US" sz="2000" dirty="0" err="1" smtClean="0">
                <a:solidFill>
                  <a:schemeClr val="tx1"/>
                </a:solidFill>
              </a:rPr>
              <a:t>Jashore</a:t>
            </a:r>
            <a:r>
              <a:rPr lang="en-US" altLang="en-US" sz="20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 err="1" smtClean="0">
                <a:solidFill>
                  <a:schemeClr val="tx1"/>
                </a:solidFill>
              </a:rPr>
              <a:t>Ad-din</a:t>
            </a:r>
            <a:r>
              <a:rPr lang="en-US" altLang="en-US" sz="2000" dirty="0" smtClean="0">
                <a:solidFill>
                  <a:schemeClr val="tx1"/>
                </a:solidFill>
              </a:rPr>
              <a:t> Women’s Medical College Hospital Started  1 November, 1997 in Dhaka.</a:t>
            </a:r>
          </a:p>
          <a:p>
            <a:pPr marL="342900" indent="-342900" algn="just" eaLnBrk="1" hangingPunct="1"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en-US" sz="2000" dirty="0" err="1" smtClean="0">
                <a:solidFill>
                  <a:schemeClr val="tx1"/>
                </a:solidFill>
              </a:rPr>
              <a:t>Ad-din</a:t>
            </a:r>
            <a:r>
              <a:rPr lang="en-US" altLang="en-US" sz="2000" dirty="0" smtClean="0">
                <a:solidFill>
                  <a:schemeClr val="tx1"/>
                </a:solidFill>
              </a:rPr>
              <a:t> Nursing Institution started in 1997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26" y="12580"/>
            <a:ext cx="890836" cy="897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5" descr="Ad-di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664" y="2643"/>
            <a:ext cx="906318" cy="90631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 descr="Ad-din Hospital Front si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3" t="25000" r="6250" b="11000"/>
          <a:stretch>
            <a:fillRect/>
          </a:stretch>
        </p:blipFill>
        <p:spPr bwMode="auto">
          <a:xfrm>
            <a:off x="5232197" y="1916057"/>
            <a:ext cx="3913992" cy="326554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174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438400" y="3200400"/>
            <a:ext cx="2133600" cy="781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</a:t>
            </a:r>
            <a:r>
              <a:rPr lang="en-US" altLang="en-US" sz="1400" b="1" dirty="0" err="1">
                <a:latin typeface="Corbel" pitchFamily="34" charset="0"/>
              </a:rPr>
              <a:t>Sakina</a:t>
            </a:r>
            <a:r>
              <a:rPr lang="en-US" altLang="en-US" sz="1400" b="1" dirty="0">
                <a:latin typeface="Corbel" pitchFamily="34" charset="0"/>
              </a:rPr>
              <a:t> Medical College Hospital, </a:t>
            </a:r>
            <a:r>
              <a:rPr lang="en-US" altLang="en-US" sz="1400" b="1" dirty="0" err="1">
                <a:latin typeface="Corbel" pitchFamily="34" charset="0"/>
              </a:rPr>
              <a:t>Jessore</a:t>
            </a:r>
            <a:endParaRPr lang="en-US" altLang="en-US" sz="1400" b="1" dirty="0">
              <a:latin typeface="Corbel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4 April 1985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 dirty="0" smtClean="0">
                <a:latin typeface="Corbel" pitchFamily="34" charset="0"/>
              </a:rPr>
              <a:t>300-Bed</a:t>
            </a:r>
            <a:endParaRPr lang="en-US" altLang="en-US" sz="1400" b="1" dirty="0">
              <a:latin typeface="Corbel" pitchFamily="34" charset="0"/>
            </a:endParaRP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838200" y="76200"/>
            <a:ext cx="7467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/>
              <a:t>Ad-din Hospitals</a:t>
            </a:r>
          </a:p>
        </p:txBody>
      </p:sp>
      <p:pic>
        <p:nvPicPr>
          <p:cNvPr id="36868" name="Picture 5" descr="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4267200"/>
            <a:ext cx="25146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76200" y="3200400"/>
            <a:ext cx="2133600" cy="10402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Medical College Hospital, Dhaka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1 Nov 1997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 dirty="0" smtClean="0">
                <a:latin typeface="Corbel" pitchFamily="34" charset="0"/>
              </a:rPr>
              <a:t>500-Bed</a:t>
            </a:r>
            <a:endParaRPr lang="en-US" altLang="en-US" sz="1400" b="1" dirty="0">
              <a:latin typeface="Corbel" pitchFamily="34" charset="0"/>
            </a:endParaRP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1981200" y="5638800"/>
            <a:ext cx="2743200" cy="73866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Hospital, </a:t>
            </a:r>
            <a:r>
              <a:rPr lang="en-US" altLang="en-US" sz="1400" b="1" dirty="0" err="1">
                <a:latin typeface="Corbel" pitchFamily="34" charset="0"/>
              </a:rPr>
              <a:t>Kushtia</a:t>
            </a:r>
            <a:r>
              <a:rPr lang="en-US" altLang="en-US" sz="1400" b="1" dirty="0">
                <a:latin typeface="Corbel" pitchFamily="34" charset="0"/>
              </a:rPr>
              <a:t> </a:t>
            </a:r>
          </a:p>
          <a:p>
            <a:pPr eaLnBrk="1" hangingPunct="1"/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1 Nov 1999; </a:t>
            </a:r>
            <a:r>
              <a:rPr lang="en-US" altLang="en-US" sz="1400" b="1" dirty="0" smtClean="0">
                <a:latin typeface="Corbel" pitchFamily="34" charset="0"/>
              </a:rPr>
              <a:t>100-Bed</a:t>
            </a:r>
            <a:endParaRPr lang="en-US" altLang="en-US" sz="1400" b="1" dirty="0">
              <a:latin typeface="Corbel" pitchFamily="34" charset="0"/>
            </a:endParaRPr>
          </a:p>
          <a:p>
            <a:pPr eaLnBrk="1" hangingPunct="1"/>
            <a:r>
              <a:rPr lang="en-US" altLang="en-US" sz="1400" b="1" dirty="0">
                <a:latin typeface="Corbel" pitchFamily="34" charset="0"/>
              </a:rPr>
              <a:t> 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11"/>
          <p:cNvSpPr txBox="1">
            <a:spLocks noChangeArrowheads="1"/>
          </p:cNvSpPr>
          <p:nvPr/>
        </p:nvSpPr>
        <p:spPr bwMode="auto">
          <a:xfrm>
            <a:off x="6858000" y="3200400"/>
            <a:ext cx="2057400" cy="1016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200" b="1" dirty="0" err="1">
                <a:latin typeface="Corbel" pitchFamily="34" charset="0"/>
              </a:rPr>
              <a:t>Bashundhara</a:t>
            </a:r>
            <a:r>
              <a:rPr lang="en-US" altLang="en-US" sz="1200" b="1" dirty="0">
                <a:latin typeface="Corbel" pitchFamily="34" charset="0"/>
              </a:rPr>
              <a:t> </a:t>
            </a:r>
            <a:r>
              <a:rPr lang="en-US" altLang="en-US" sz="1200" b="1" dirty="0" err="1">
                <a:latin typeface="Corbel" pitchFamily="34" charset="0"/>
              </a:rPr>
              <a:t>Ad-din</a:t>
            </a:r>
            <a:r>
              <a:rPr lang="en-US" altLang="en-US" sz="1200" b="1" dirty="0">
                <a:latin typeface="Corbel" pitchFamily="34" charset="0"/>
              </a:rPr>
              <a:t> Medical College Hospital, </a:t>
            </a:r>
            <a:r>
              <a:rPr lang="en-US" altLang="en-US" sz="1200" b="1" dirty="0" err="1">
                <a:latin typeface="Corbel" pitchFamily="34" charset="0"/>
              </a:rPr>
              <a:t>Keraniganj</a:t>
            </a:r>
            <a:r>
              <a:rPr lang="en-US" altLang="en-US" sz="1200" b="1" dirty="0">
                <a:latin typeface="Corbel" pitchFamily="34" charset="0"/>
              </a:rPr>
              <a:t>, Dhaka </a:t>
            </a:r>
          </a:p>
          <a:p>
            <a:pPr eaLnBrk="1" hangingPunct="1"/>
            <a:r>
              <a:rPr lang="en-US" altLang="en-US" sz="1200" b="1" dirty="0" err="1">
                <a:latin typeface="Corbel" pitchFamily="34" charset="0"/>
              </a:rPr>
              <a:t>Estd</a:t>
            </a:r>
            <a:r>
              <a:rPr lang="en-US" altLang="en-US" sz="1200" b="1" dirty="0">
                <a:latin typeface="Corbel" pitchFamily="34" charset="0"/>
              </a:rPr>
              <a:t>. 25 Feb 2012</a:t>
            </a:r>
          </a:p>
          <a:p>
            <a:pPr eaLnBrk="1" hangingPunct="1"/>
            <a:r>
              <a:rPr lang="en-US" altLang="en-US" sz="1200" b="1" dirty="0" smtClean="0">
                <a:latin typeface="Corbel" pitchFamily="34" charset="0"/>
              </a:rPr>
              <a:t>300-Bed.</a:t>
            </a:r>
            <a:endParaRPr lang="en-US" altLang="en-US" sz="1200" b="1" dirty="0">
              <a:latin typeface="Corbel" pitchFamily="34" charset="0"/>
            </a:endParaRPr>
          </a:p>
        </p:txBody>
      </p:sp>
      <p:pic>
        <p:nvPicPr>
          <p:cNvPr id="36873" name="Picture 12" descr="IMG"/>
          <p:cNvPicPr>
            <a:picLocks noChangeAspect="1" noChangeArrowheads="1"/>
          </p:cNvPicPr>
          <p:nvPr/>
        </p:nvPicPr>
        <p:blipFill>
          <a:blip r:embed="rId3"/>
          <a:srcRect l="4898" r="2040"/>
          <a:stretch>
            <a:fillRect/>
          </a:stretch>
        </p:blipFill>
        <p:spPr bwMode="auto">
          <a:xfrm>
            <a:off x="0" y="762000"/>
            <a:ext cx="9144000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Text Box 13"/>
          <p:cNvSpPr txBox="1">
            <a:spLocks noChangeArrowheads="1"/>
          </p:cNvSpPr>
          <p:nvPr/>
        </p:nvSpPr>
        <p:spPr bwMode="auto">
          <a:xfrm>
            <a:off x="4800600" y="3200400"/>
            <a:ext cx="1981200" cy="99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 dirty="0" err="1">
                <a:latin typeface="Corbel" pitchFamily="34" charset="0"/>
              </a:rPr>
              <a:t>Ad-din</a:t>
            </a:r>
            <a:r>
              <a:rPr lang="en-US" altLang="en-US" sz="1400" b="1" dirty="0">
                <a:latin typeface="Corbel" pitchFamily="34" charset="0"/>
              </a:rPr>
              <a:t> </a:t>
            </a:r>
            <a:r>
              <a:rPr lang="en-US" altLang="en-US" sz="1400" b="1" dirty="0" err="1">
                <a:latin typeface="Corbel" pitchFamily="34" charset="0"/>
              </a:rPr>
              <a:t>Akij</a:t>
            </a:r>
            <a:r>
              <a:rPr lang="en-US" altLang="en-US" sz="1400" b="1" dirty="0">
                <a:latin typeface="Corbel" pitchFamily="34" charset="0"/>
              </a:rPr>
              <a:t> Medical College Hospital, Khulna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 err="1">
                <a:latin typeface="Corbel" pitchFamily="34" charset="0"/>
              </a:rPr>
              <a:t>Estd</a:t>
            </a:r>
            <a:r>
              <a:rPr lang="en-US" altLang="en-US" sz="1400" b="1" dirty="0">
                <a:latin typeface="Corbel" pitchFamily="34" charset="0"/>
              </a:rPr>
              <a:t>. 8 Feb 2013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 dirty="0">
                <a:latin typeface="Corbel" pitchFamily="34" charset="0"/>
              </a:rPr>
              <a:t>500-Bed</a:t>
            </a:r>
            <a:r>
              <a:rPr lang="en-US" altLang="en-US" sz="1400" b="1" dirty="0" smtClean="0">
                <a:latin typeface="Corbel" pitchFamily="34" charset="0"/>
              </a:rPr>
              <a:t>:.</a:t>
            </a:r>
            <a:endParaRPr lang="en-US" altLang="en-US" sz="1400" b="1" dirty="0">
              <a:latin typeface="Corbel" pitchFamily="34" charset="0"/>
            </a:endParaRPr>
          </a:p>
        </p:txBody>
      </p:sp>
      <p:pic>
        <p:nvPicPr>
          <p:cNvPr id="36875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86325" y="4332288"/>
            <a:ext cx="2352675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4876800" y="5638800"/>
            <a:ext cx="28194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Ad-din Barrister Rofique-Ul Huq  Hospital, Postogola, Dhaka </a:t>
            </a:r>
          </a:p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Estd. May 2017; 300-Bed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88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771940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2"/>
          <p:cNvSpPr txBox="1">
            <a:spLocks noChangeArrowheads="1"/>
          </p:cNvSpPr>
          <p:nvPr/>
        </p:nvSpPr>
        <p:spPr bwMode="auto">
          <a:xfrm>
            <a:off x="228600" y="4648200"/>
            <a:ext cx="1981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Ad-din Nursing Institute, Jessore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Estd. Aug 1997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1295400" y="304800"/>
            <a:ext cx="685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>
                <a:latin typeface="Corbel" pitchFamily="34" charset="0"/>
              </a:rPr>
              <a:t>Nursing Institutes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3167063" y="4727575"/>
            <a:ext cx="19812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Fatema Nursing Institute, Dhaka Estd. Jul 2006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6248400" y="5057775"/>
            <a:ext cx="1981200" cy="8255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Safina Nursing Institute, Kushtia Estd. Sept 2005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57475" y="2286000"/>
          <a:ext cx="3157538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6" name="Photo Editor Photo" r:id="rId3" imgW="6095238" imgH="4571429" progId="">
                  <p:embed/>
                </p:oleObj>
              </mc:Choice>
              <mc:Fallback>
                <p:oleObj name="Photo Editor Photo" r:id="rId3" imgW="6095238" imgH="457142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2286000"/>
                        <a:ext cx="3157538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" y="1295400"/>
          <a:ext cx="253841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7" name="Image" r:id="rId5" imgW="2684584" imgH="3465525" progId="">
                  <p:embed/>
                </p:oleObj>
              </mc:Choice>
              <mc:Fallback>
                <p:oleObj name="Image" r:id="rId5" imgW="2684584" imgH="34655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295400"/>
                        <a:ext cx="253841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895975" y="2667000"/>
          <a:ext cx="32004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8" name="Image" r:id="rId7" imgW="3981689" imgH="2998228" progId="">
                  <p:embed/>
                </p:oleObj>
              </mc:Choice>
              <mc:Fallback>
                <p:oleObj name="Image" r:id="rId7" imgW="3981689" imgH="299822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2667000"/>
                        <a:ext cx="32004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Line 10"/>
          <p:cNvSpPr>
            <a:spLocks noChangeShapeType="1"/>
          </p:cNvSpPr>
          <p:nvPr/>
        </p:nvSpPr>
        <p:spPr bwMode="auto">
          <a:xfrm>
            <a:off x="0" y="10668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0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6125583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Academic activities</a:t>
            </a:r>
            <a:br>
              <a:rPr lang="en-US" dirty="0"/>
            </a:br>
            <a:r>
              <a:rPr lang="en-US" dirty="0"/>
              <a:t>Under graduate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362200"/>
            <a:ext cx="7773339" cy="4495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Intern’s Doctor’s Training : morning session, case presentation, monthly mitting , discursion on referred case, Teaching according to log book.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Nursing Training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study :</a:t>
            </a:r>
          </a:p>
          <a:p>
            <a:pPr marL="914400" lvl="1" indent="-45720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</a:p>
          <a:p>
            <a:pPr marL="914400" lvl="1" indent="-457200"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IUD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39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 anchor="t">
            <a:noAutofit/>
          </a:bodyPr>
          <a:lstStyle/>
          <a:p>
            <a:pPr algn="ctr"/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Organogram of </a:t>
            </a: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Gyne&amp;Obs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Department </a:t>
            </a:r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0f 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</a:t>
            </a:r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Sakina Medical College Hospital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14400" y="4419600"/>
            <a:ext cx="7772400" cy="1295400"/>
          </a:xfrm>
          <a:prstGeom prst="rect">
            <a:avLst/>
          </a:prstGeom>
        </p:spPr>
        <p:txBody>
          <a:bodyPr vert="horz" lIns="0" rIns="0" bIns="0" anchor="b"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 </a:t>
            </a:r>
            <a:endParaRPr lang="en-US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663453"/>
              </p:ext>
            </p:extLst>
          </p:nvPr>
        </p:nvGraphicFramePr>
        <p:xfrm>
          <a:off x="152400" y="1371600"/>
          <a:ext cx="8991601" cy="5486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19200"/>
                <a:gridCol w="1297461"/>
                <a:gridCol w="1296087"/>
                <a:gridCol w="911652"/>
                <a:gridCol w="1194488"/>
                <a:gridCol w="1701113"/>
              </a:tblGrid>
              <a:tr h="100917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Associate</a:t>
                      </a:r>
                    </a:p>
                    <a:p>
                      <a:pPr algn="ctr"/>
                      <a:r>
                        <a:rPr lang="en-IN" dirty="0" smtClean="0"/>
                        <a:t>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Assistant Professor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Registrar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Assistant Registrar</a:t>
                      </a:r>
                      <a:endParaRPr lang="en-GB" dirty="0"/>
                    </a:p>
                  </a:txBody>
                  <a:tcPr/>
                </a:tc>
              </a:tr>
              <a:tr h="1441682"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Bodrunnesa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Torun </a:t>
                      </a:r>
                      <a:r>
                        <a:rPr lang="en-IN" dirty="0" err="1" smtClean="0"/>
                        <a:t>Khanti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Ghosh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Nasreen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Saleha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Khatun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Shila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Poddar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Sumaya</a:t>
                      </a:r>
                      <a:r>
                        <a:rPr lang="en-IN" baseline="0" dirty="0" smtClean="0"/>
                        <a:t> Sharmeen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Tonni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Moni</a:t>
                      </a:r>
                      <a:endParaRPr lang="en-GB" dirty="0"/>
                    </a:p>
                  </a:txBody>
                  <a:tcPr/>
                </a:tc>
              </a:tr>
              <a:tr h="1441682"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Hasanuzzaman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N.B </a:t>
                      </a:r>
                      <a:r>
                        <a:rPr lang="en-IN" dirty="0" err="1" smtClean="0"/>
                        <a:t>Goldar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Dr . </a:t>
                      </a:r>
                      <a:r>
                        <a:rPr lang="en-IN" dirty="0" smtClean="0"/>
                        <a:t>Md. </a:t>
                      </a:r>
                      <a:r>
                        <a:rPr lang="en-IN" dirty="0" err="1" smtClean="0"/>
                        <a:t>Emdadul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Haque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  <a:tr h="1009177"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Rabiul</a:t>
                      </a:r>
                      <a:r>
                        <a:rPr lang="en-IN" baseline="0" dirty="0" smtClean="0"/>
                        <a:t> Islam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</a:tr>
              <a:tr h="584681"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078434"/>
      </p:ext>
    </p:extLst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90548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gynae and obst Department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2010-2021(Jan-Nov)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784005"/>
              </p:ext>
            </p:extLst>
          </p:nvPr>
        </p:nvGraphicFramePr>
        <p:xfrm>
          <a:off x="381000" y="1600200"/>
          <a:ext cx="8381998" cy="3835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2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45446">
                  <a:extLst>
                    <a:ext uri="{9D8B030D-6E8A-4147-A177-3AD203B41FA5}">
                      <a16:colId xmlns="" xmlns:a16="http://schemas.microsoft.com/office/drawing/2014/main" val="4124854820"/>
                    </a:ext>
                  </a:extLst>
                </a:gridCol>
                <a:gridCol w="74544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1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6335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8854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6335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2594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51136">
                  <a:extLst>
                    <a:ext uri="{9D8B030D-6E8A-4147-A177-3AD203B41FA5}">
                      <a16:colId xmlns="" xmlns:a16="http://schemas.microsoft.com/office/drawing/2014/main" val="4049830223"/>
                    </a:ext>
                  </a:extLst>
                </a:gridCol>
                <a:gridCol w="751136">
                  <a:extLst>
                    <a:ext uri="{9D8B030D-6E8A-4147-A177-3AD203B41FA5}">
                      <a16:colId xmlns="" xmlns:a16="http://schemas.microsoft.com/office/drawing/2014/main" val="650347862"/>
                    </a:ext>
                  </a:extLst>
                </a:gridCol>
                <a:gridCol w="688542">
                  <a:extLst>
                    <a:ext uri="{9D8B030D-6E8A-4147-A177-3AD203B41FA5}">
                      <a16:colId xmlns="" xmlns:a16="http://schemas.microsoft.com/office/drawing/2014/main" val="1271222547"/>
                    </a:ext>
                  </a:extLst>
                </a:gridCol>
                <a:gridCol w="813731">
                  <a:extLst>
                    <a:ext uri="{9D8B030D-6E8A-4147-A177-3AD203B41FA5}">
                      <a16:colId xmlns="" xmlns:a16="http://schemas.microsoft.com/office/drawing/2014/main" val="1886636786"/>
                    </a:ext>
                  </a:extLst>
                </a:gridCol>
              </a:tblGrid>
              <a:tr h="3599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pPr algn="ctr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IPD Patients 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</a:p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OPD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DE&amp;C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OT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449347824"/>
                  </a:ext>
                </a:extLst>
              </a:tr>
              <a:tr h="35999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5408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55710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28161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6765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999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7807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84682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10182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95187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25325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3376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10783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98637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24117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3412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8565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75003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21673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455660112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(Jan-Nov)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7636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64332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7180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15641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2621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="" xmlns:a16="http://schemas.microsoft.com/office/drawing/2014/main" val="349316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245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ANC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763528"/>
              </p:ext>
            </p:extLst>
          </p:nvPr>
        </p:nvGraphicFramePr>
        <p:xfrm>
          <a:off x="457200" y="1935163"/>
          <a:ext cx="86868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818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 smtClean="0">
                <a:ln w="17780" cmpd="sng">
                  <a:solidFill>
                    <a:schemeClr val="tx2"/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Comparison between NVD and CS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4186942"/>
              </p:ext>
            </p:extLst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55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2B03B1-1ECB-4039-80D0-73C81EC9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161317"/>
            <a:ext cx="7773338" cy="600683"/>
          </a:xfrm>
        </p:spPr>
        <p:txBody>
          <a:bodyPr>
            <a:normAutofit/>
          </a:bodyPr>
          <a:lstStyle/>
          <a:p>
            <a:r>
              <a:rPr lang="en-US" sz="2400" dirty="0"/>
              <a:t>Types of obst patients admitted in </a:t>
            </a:r>
            <a:r>
              <a:rPr lang="en-US" sz="2400" dirty="0" err="1"/>
              <a:t>O</a:t>
            </a:r>
            <a:r>
              <a:rPr lang="en-US" sz="2400" dirty="0" err="1" smtClean="0"/>
              <a:t>bs</a:t>
            </a:r>
            <a:r>
              <a:rPr lang="en-US" sz="2400" dirty="0" smtClean="0"/>
              <a:t> ward (Jan-Nov) 2021</a:t>
            </a:r>
            <a:endParaRPr lang="en-US" sz="2400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="" xmlns:a16="http://schemas.microsoft.com/office/drawing/2014/main" id="{DD233B23-040F-4F57-A19A-8C084C91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77173"/>
              </p:ext>
            </p:extLst>
          </p:nvPr>
        </p:nvGraphicFramePr>
        <p:xfrm>
          <a:off x="228600" y="1114886"/>
          <a:ext cx="8646458" cy="520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700">
                  <a:extLst>
                    <a:ext uri="{9D8B030D-6E8A-4147-A177-3AD203B41FA5}">
                      <a16:colId xmlns="" xmlns:a16="http://schemas.microsoft.com/office/drawing/2014/main" val="2120689179"/>
                    </a:ext>
                  </a:extLst>
                </a:gridCol>
                <a:gridCol w="4488758">
                  <a:extLst>
                    <a:ext uri="{9D8B030D-6E8A-4147-A177-3AD203B41FA5}">
                      <a16:colId xmlns="" xmlns:a16="http://schemas.microsoft.com/office/drawing/2014/main" val="2650224956"/>
                    </a:ext>
                  </a:extLst>
                </a:gridCol>
              </a:tblGrid>
              <a:tr h="304517">
                <a:tc>
                  <a:txBody>
                    <a:bodyPr/>
                    <a:lstStyle/>
                    <a:p>
                      <a:pPr algn="ctr"/>
                      <a:r>
                        <a:rPr lang="en-GB" sz="1400" i="1" dirty="0"/>
                        <a:t>Title </a:t>
                      </a:r>
                      <a:endParaRPr lang="en-US" sz="14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598424631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Previous C/S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/>
                        <a:t>580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07995928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Lower abdominal pain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581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1564337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Less </a:t>
                      </a:r>
                      <a:r>
                        <a:rPr lang="en-GB" sz="1400" b="1" dirty="0" err="1"/>
                        <a:t>fetal</a:t>
                      </a:r>
                      <a:r>
                        <a:rPr lang="en-GB" sz="1400" b="1" dirty="0"/>
                        <a:t> movement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454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5695822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PROM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330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26835335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UTI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424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406352904"/>
                  </a:ext>
                </a:extLst>
              </a:tr>
              <a:tr h="33743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Ante </a:t>
                      </a:r>
                      <a:r>
                        <a:rPr lang="en-GB" sz="1400" b="1" dirty="0" err="1"/>
                        <a:t>partam</a:t>
                      </a:r>
                      <a:r>
                        <a:rPr lang="en-GB" sz="1400" b="1" dirty="0"/>
                        <a:t> haemorrhage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157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8408626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</a:t>
                      </a:r>
                      <a:r>
                        <a:rPr lang="en-GB" sz="1400" b="1" dirty="0" err="1"/>
                        <a:t>Anemia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943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427890374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Post Dated Pregnancy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99098160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PIH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349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630253068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True labour pain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632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53043260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Hyper  Emesis </a:t>
                      </a:r>
                      <a:r>
                        <a:rPr lang="en-GB" sz="1400" b="1" dirty="0" err="1"/>
                        <a:t>graviderum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208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9171894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Oligohydramnios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512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831623455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PUO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87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915393996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IUD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smtClean="0"/>
                        <a:t>14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603598819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Big baby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58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41751353"/>
                  </a:ext>
                </a:extLst>
              </a:tr>
              <a:tr h="30451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Breach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/>
                        <a:t>34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48669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53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48158C-A028-3846-8DCE-B8BD3394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95631"/>
            <a:ext cx="7886700" cy="788486"/>
          </a:xfrm>
        </p:spPr>
        <p:txBody>
          <a:bodyPr>
            <a:normAutofit/>
          </a:bodyPr>
          <a:lstStyle/>
          <a:p>
            <a:r>
              <a:rPr lang="en-GB" sz="2700" b="1" i="1" dirty="0"/>
              <a:t>Gynae operation list(Jan-Nov-2021)</a:t>
            </a:r>
            <a:endParaRPr lang="en-US" sz="2700" b="1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="" xmlns:a16="http://schemas.microsoft.com/office/drawing/2014/main" id="{4A3BFD50-EA91-1046-A578-2E582DC95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5007541"/>
              </p:ext>
            </p:extLst>
          </p:nvPr>
        </p:nvGraphicFramePr>
        <p:xfrm>
          <a:off x="628649" y="1884116"/>
          <a:ext cx="8173062" cy="417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531">
                  <a:extLst>
                    <a:ext uri="{9D8B030D-6E8A-4147-A177-3AD203B41FA5}">
                      <a16:colId xmlns="" xmlns:a16="http://schemas.microsoft.com/office/drawing/2014/main" val="2194349053"/>
                    </a:ext>
                  </a:extLst>
                </a:gridCol>
                <a:gridCol w="4086531">
                  <a:extLst>
                    <a:ext uri="{9D8B030D-6E8A-4147-A177-3AD203B41FA5}">
                      <a16:colId xmlns="" xmlns:a16="http://schemas.microsoft.com/office/drawing/2014/main" val="210114044"/>
                    </a:ext>
                  </a:extLst>
                </a:gridCol>
              </a:tblGrid>
              <a:tr h="41767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087595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Total abdominal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30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903094791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Sub total abdominal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868143214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Vaginal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3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132648057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Laparotomy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13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85704734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Ovarian cystectomy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6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36893099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Perineal tear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27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6066338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Biopsy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2813067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Bartholin cyst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2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25089535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/>
                        <a:t>Total =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85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="" xmlns:a16="http://schemas.microsoft.com/office/drawing/2014/main" val="32797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998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-10510" y="0"/>
            <a:ext cx="9144000" cy="74754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solidFill>
                  <a:schemeClr val="tx1"/>
                </a:solidFill>
                <a:ea typeface="Calibri"/>
                <a:cs typeface="Vrinda"/>
              </a:rPr>
              <a:t>Best Performing </a:t>
            </a:r>
            <a:r>
              <a:rPr lang="en-US" sz="2400" b="1" dirty="0" err="1" smtClean="0">
                <a:solidFill>
                  <a:schemeClr val="tx1"/>
                </a:solidFill>
                <a:ea typeface="Calibri"/>
                <a:cs typeface="Vrinda"/>
              </a:rPr>
              <a:t>EmOC</a:t>
            </a:r>
            <a:r>
              <a:rPr lang="en-US" sz="2400" b="1" dirty="0" smtClean="0">
                <a:solidFill>
                  <a:schemeClr val="tx1"/>
                </a:solidFill>
                <a:ea typeface="Calibri"/>
                <a:cs typeface="Vrinda"/>
              </a:rPr>
              <a:t> MC Hospital in Khulna Division -2020</a:t>
            </a:r>
            <a:endParaRPr lang="en-US" sz="2400" dirty="0">
              <a:solidFill>
                <a:schemeClr val="tx1"/>
              </a:solidFill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861147"/>
              </p:ext>
            </p:extLst>
          </p:nvPr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796159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C-Section</a:t>
            </a:r>
            <a:r>
              <a:rPr lang="en-US" b="1" dirty="0" smtClean="0">
                <a:solidFill>
                  <a:srgbClr val="0070C0"/>
                </a:solidFill>
              </a:rPr>
              <a:t>,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rgbClr val="0070C0"/>
                </a:solidFill>
              </a:rPr>
              <a:t>NVD</a:t>
            </a:r>
            <a:r>
              <a:rPr lang="en-US" b="1" dirty="0" smtClean="0"/>
              <a:t>,  </a:t>
            </a:r>
            <a:r>
              <a:rPr lang="en-US" b="1" dirty="0" smtClean="0">
                <a:solidFill>
                  <a:srgbClr val="00B050"/>
                </a:solidFill>
              </a:rPr>
              <a:t>Total Delivery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934852"/>
      </p:ext>
    </p:extLst>
  </p:cSld>
  <p:clrMapOvr>
    <a:masterClrMapping/>
  </p:clrMapOvr>
  <p:transition spd="slow" advClick="0">
    <p:circl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171127_1130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1414462"/>
            <a:ext cx="8153400" cy="45862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8100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 Sakina Medical College Hospital Outdoor </a:t>
            </a:r>
            <a:endParaRPr lang="en-US" sz="32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 anchor="t">
            <a:normAutofit fontScale="90000"/>
          </a:bodyPr>
          <a:lstStyle/>
          <a:p>
            <a:pPr algn="ctr"/>
            <a:r>
              <a:rPr sz="53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Card Registration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04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76400"/>
            <a:ext cx="7857067" cy="4419600"/>
          </a:xfrm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>
            <a:normAutofit fontScale="90000"/>
          </a:bodyPr>
          <a:lstStyle/>
          <a:p>
            <a:pPr algn="ctr"/>
            <a:r>
              <a:rPr sz="67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Business Counter 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5957" y="1371600"/>
            <a:ext cx="7312085" cy="4724400"/>
          </a:xfrm>
        </p:spPr>
      </p:pic>
    </p:spTree>
  </p:cSld>
  <p:clrMapOvr>
    <a:masterClrMapping/>
  </p:clrMapOvr>
  <p:transition spd="slow">
    <p:pull dir="l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4478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Antenatal Care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1232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508000" y="1752600"/>
            <a:ext cx="7721600" cy="4343400"/>
          </a:xfrm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2192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Family Planning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060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221132" cy="4624387"/>
          </a:xfrm>
        </p:spPr>
      </p:pic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Immunization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395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mtClean="0">
                <a:solidFill>
                  <a:srgbClr val="3333FF"/>
                </a:solidFill>
              </a:rPr>
              <a:t>Ad-din Sakina Medical College </a:t>
            </a:r>
            <a:r>
              <a:rPr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Hospital Indoor Service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4" name="SmartArt Placeholder 3" descr="IMG_633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828800"/>
            <a:ext cx="4343400" cy="289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IMG_63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3048000"/>
            <a:ext cx="4114800" cy="381000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Operation Theatre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SmartArt Placeholder 3" descr="20171126_09591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861689" y="2057400"/>
            <a:ext cx="7444111" cy="3974942"/>
          </a:xfr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Post Operative Ward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6" name="SmartArt Placeholder 5" descr="20171126_09534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Gyane Ward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" name="SmartArt Placeholder 7" descr="20171126_1030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457200"/>
            <a:ext cx="7772400" cy="1143000"/>
          </a:xfrm>
        </p:spPr>
        <p:txBody>
          <a:bodyPr/>
          <a:lstStyle/>
          <a:p>
            <a:pPr algn="ctr"/>
            <a:r>
              <a:rPr lang="en-IN" b="1" dirty="0" smtClean="0">
                <a:latin typeface="Algerian" pitchFamily="82" charset="0"/>
              </a:rPr>
              <a:t>Neonatal Care Unit</a:t>
            </a:r>
            <a:endParaRPr lang="en-GB" b="1" dirty="0">
              <a:latin typeface="Algerian" pitchFamily="82" charset="0"/>
            </a:endParaRPr>
          </a:p>
        </p:txBody>
      </p:sp>
      <p:pic>
        <p:nvPicPr>
          <p:cNvPr id="23554" name="Picture 2" descr="C:\Users\Emdad\Desktop\New folder\20211210_12190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669" y="2286000"/>
            <a:ext cx="4578352" cy="343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5" name="Picture 3" descr="C:\Users\Emdad\Desktop\New folder\20211210_12212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4552950" cy="341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998460"/>
      </p:ext>
    </p:extLst>
  </p:cSld>
  <p:clrMapOvr>
    <a:masterClrMapping/>
  </p:clrMapOvr>
  <p:transition spd="slow">
    <p:zoom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77724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>
                <a:latin typeface="Algerian" pitchFamily="82" charset="0"/>
              </a:rPr>
              <a:t>HDU</a:t>
            </a:r>
            <a:endParaRPr lang="en-GB" b="1" dirty="0">
              <a:latin typeface="Algerian" pitchFamily="82" charset="0"/>
            </a:endParaRPr>
          </a:p>
        </p:txBody>
      </p:sp>
      <p:pic>
        <p:nvPicPr>
          <p:cNvPr id="24578" name="Picture 2" descr="C:\Users\Emdad\Desktop\New folder\20211210_12232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85900"/>
            <a:ext cx="71628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065655"/>
      </p:ext>
    </p:extLst>
  </p:cSld>
  <p:clrMapOvr>
    <a:masterClrMapping/>
  </p:clrMapOvr>
  <p:transition spd="slow">
    <p:zoom dir="in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Pharmacy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ontent Placeholder 3" descr="20171126_1002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0278" y="1935163"/>
            <a:ext cx="7803444" cy="4389437"/>
          </a:xfrm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sz="49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24</a:t>
            </a:r>
            <a:r>
              <a:rPr sz="49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Hour Ambulance Service</a:t>
            </a:r>
            <a:r>
              <a:rPr sz="4400" smtClean="0">
                <a:solidFill>
                  <a:srgbClr val="FF0000"/>
                </a:solidFill>
              </a:rPr>
              <a:t/>
            </a:r>
            <a:br>
              <a:rPr sz="4400" smtClean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SmartArt Placeholder 4" descr="20171126_16085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  <p:extLst>
      <p:ext uri="{BB962C8B-B14F-4D97-AF65-F5344CB8AC3E}">
        <p14:creationId xmlns:p14="http://schemas.microsoft.com/office/powerpoint/2010/main" val="4097389142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524000" y="609600"/>
            <a:ext cx="5715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/>
              <a:t>Community Base Ambulance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752600"/>
            <a:ext cx="3581400" cy="2738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00CC"/>
                </a:solidFill>
              </a:rPr>
              <a:t>12 Ambulance are serving in different area in community.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b="1" u="sng" dirty="0">
                <a:solidFill>
                  <a:schemeClr val="accent6">
                    <a:lumMod val="50000"/>
                  </a:schemeClr>
                </a:solidFill>
              </a:rPr>
              <a:t>Specialty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Very low cost service (Less than 50% of market Price)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Full free at 8.00pm to 6.00am for Pregnant Mother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Easy &amp; Quick</a:t>
            </a: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1524000"/>
            <a:ext cx="4887913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2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2920046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336675" y="184150"/>
            <a:ext cx="5908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0070C0"/>
                </a:solidFill>
              </a:rPr>
              <a:t>Community Health Services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3733800" y="876300"/>
            <a:ext cx="46482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00050" indent="-400050" algn="ctr" eaLnBrk="1" hangingPunct="1">
              <a:lnSpc>
                <a:spcPct val="120000"/>
              </a:lnSpc>
              <a:spcBef>
                <a:spcPct val="50000"/>
              </a:spcBef>
              <a:buFont typeface="Candid" pitchFamily="18" charset="2"/>
              <a:buNone/>
            </a:pPr>
            <a:r>
              <a:rPr lang="en-US" altLang="en-US" sz="2400"/>
              <a:t>Working Area: 14 Districts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2275" y="1752600"/>
          <a:ext cx="3165475" cy="439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348"/>
                <a:gridCol w="844127"/>
              </a:tblGrid>
              <a:tr h="701098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Community Midwife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6650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Satellite clinic held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2156</a:t>
                      </a:r>
                    </a:p>
                  </a:txBody>
                  <a:tcPr marL="84405" marR="84405" marT="45725" marB="45725" anchor="ctr"/>
                </a:tc>
              </a:tr>
              <a:tr h="4310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ANC 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20000</a:t>
                      </a:r>
                    </a:p>
                  </a:txBody>
                  <a:tcPr marL="84405" marR="84405" marT="45725" marB="45725" anchor="ctr"/>
                </a:tc>
              </a:tr>
              <a:tr h="5061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PNC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+mj-lt"/>
                        </a:rPr>
                        <a:t>3300</a:t>
                      </a:r>
                    </a:p>
                  </a:txBody>
                  <a:tcPr marL="84405" marR="84405" marT="45725" marB="45725" anchor="ctr"/>
                </a:tc>
              </a:tr>
              <a:tr h="4483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Pathological Test </a:t>
                      </a: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26000</a:t>
                      </a:r>
                    </a:p>
                  </a:txBody>
                  <a:tcPr marL="84405" marR="84405" marT="45725" marB="45725" anchor="ctr"/>
                </a:tc>
              </a:tr>
              <a:tr h="52653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General Patient</a:t>
                      </a:r>
                      <a:r>
                        <a:rPr lang="en-US" sz="2000" baseline="0" dirty="0">
                          <a:latin typeface="+mj-lt"/>
                        </a:rPr>
                        <a:t>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19500</a:t>
                      </a:r>
                    </a:p>
                  </a:txBody>
                  <a:tcPr marL="84405" marR="84405" marT="45725" marB="45725" anchor="ctr"/>
                </a:tc>
              </a:tr>
              <a:tr h="701098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>
                          <a:latin typeface="+mj-lt"/>
                        </a:rPr>
                        <a:t>Average Growth Monitoring  (0-3 Yrs)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12300</a:t>
                      </a:r>
                    </a:p>
                  </a:txBody>
                  <a:tcPr marL="84405" marR="84405" marT="45725" marB="45725" anchor="ctr"/>
                </a:tc>
              </a:tr>
              <a:tr h="64800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Refer</a:t>
                      </a:r>
                      <a:r>
                        <a:rPr lang="en-US" sz="2000" baseline="0" dirty="0">
                          <a:latin typeface="+mj-lt"/>
                        </a:rPr>
                        <a:t> to Hospital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2500</a:t>
                      </a:r>
                    </a:p>
                  </a:txBody>
                  <a:tcPr marL="84405" marR="84405" marT="45725" marB="45725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422275" y="1066800"/>
            <a:ext cx="3165475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solidFill>
                  <a:schemeClr val="bg1"/>
                </a:solidFill>
              </a:rPr>
              <a:t>Monthly Performance</a:t>
            </a:r>
          </a:p>
        </p:txBody>
      </p:sp>
      <p:pic>
        <p:nvPicPr>
          <p:cNvPr id="2563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676400"/>
            <a:ext cx="533241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692525" y="5791200"/>
            <a:ext cx="3241675" cy="360363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kern="0" dirty="0">
                <a:solidFill>
                  <a:schemeClr val="accent6">
                    <a:lumMod val="50000"/>
                  </a:schemeClr>
                </a:solidFill>
                <a:cs typeface="SutonnyMJ" pitchFamily="2" charset="0"/>
              </a:rPr>
              <a:t>Picture of</a:t>
            </a:r>
            <a:r>
              <a:rPr lang="en-US" kern="0" dirty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SutonnyMJ" pitchFamily="2" charset="0"/>
              </a:rPr>
              <a:t> Satellite Clinic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63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ChangeArrowheads="1"/>
          </p:cNvSpPr>
          <p:nvPr/>
        </p:nvSpPr>
        <p:spPr bwMode="auto">
          <a:xfrm>
            <a:off x="2813050" y="533400"/>
            <a:ext cx="3235325" cy="609600"/>
          </a:xfrm>
          <a:prstGeom prst="rect">
            <a:avLst/>
          </a:prstGeom>
          <a:solidFill>
            <a:srgbClr val="FFCC66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en-US"/>
              <a:t>Fistula Care Project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52425" y="2209800"/>
          <a:ext cx="3235325" cy="1738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5"/>
              </a:tblGrid>
              <a:tr h="6402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Awareness Development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Training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Patient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Screening  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Treatment</a:t>
                      </a:r>
                      <a:r>
                        <a:rPr lang="en-US" sz="1800" baseline="0" dirty="0">
                          <a:latin typeface="+mj-lt"/>
                        </a:rPr>
                        <a:t> 223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Rehabilitation</a:t>
                      </a:r>
                      <a:r>
                        <a:rPr lang="en-US" sz="1800" baseline="0" dirty="0">
                          <a:latin typeface="+mj-lt"/>
                        </a:rPr>
                        <a:t> 61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422275" y="4648200"/>
            <a:ext cx="3094038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sz="2000" dirty="0"/>
              <a:t>All Services are free of cost</a:t>
            </a:r>
          </a:p>
        </p:txBody>
      </p:sp>
      <p:pic>
        <p:nvPicPr>
          <p:cNvPr id="3483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8738" y="2057400"/>
            <a:ext cx="49593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3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Doctor's &amp; Manager's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of</a:t>
            </a:r>
            <a:r>
              <a:rPr sz="2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Ad-din Sakina Medical College Hospital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hart Placeholder 3" descr="IMG_4043.JPG"/>
          <p:cNvPicPr>
            <a:picLocks noGrp="1" noChangeAspect="1"/>
          </p:cNvPicPr>
          <p:nvPr>
            <p:ph type="chart"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2209800"/>
            <a:ext cx="6934200" cy="4622800"/>
          </a:xfrm>
        </p:spPr>
      </p:pic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 All</a:t>
            </a:r>
            <a:endParaRPr lang="en-US" dirty="0"/>
          </a:p>
        </p:txBody>
      </p:sp>
      <p:pic>
        <p:nvPicPr>
          <p:cNvPr id="4" name="Chart Placeholder 3" descr="42035063772_33e27d5616_b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487406" y="1981200"/>
            <a:ext cx="6169188" cy="4114800"/>
          </a:xfr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1761</TotalTime>
  <Words>789</Words>
  <Application>Microsoft Office PowerPoint</Application>
  <PresentationFormat>On-screen Show (4:3)</PresentationFormat>
  <Paragraphs>282</Paragraphs>
  <Slides>33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Flow</vt:lpstr>
      <vt:lpstr>Photo Editor Photo</vt:lpstr>
      <vt:lpstr>Image</vt:lpstr>
      <vt:lpstr>Ad-din Sakina Women’s Medical College Hospital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Academic activities Under graduate level</vt:lpstr>
      <vt:lpstr>Organogram of Gyne&amp;Obs Department 0f  Ad-din Sakina Medical College Hospital </vt:lpstr>
      <vt:lpstr>Performance of gynae and obst Department from 2010-2021(Jan-Nov)</vt:lpstr>
      <vt:lpstr>Annual Trend of ANC Services</vt:lpstr>
      <vt:lpstr>Comparison between NVD and CS</vt:lpstr>
      <vt:lpstr>Types of obst patients admitted in Obs ward (Jan-Nov) 2021</vt:lpstr>
      <vt:lpstr>Gynae operation list(Jan-Nov-2021)</vt:lpstr>
      <vt:lpstr>Best Performing EmOC MC Hospital in Khulna Division -2020</vt:lpstr>
      <vt:lpstr>PowerPoint Presentation</vt:lpstr>
      <vt:lpstr>Card Registration </vt:lpstr>
      <vt:lpstr>Business Counter  </vt:lpstr>
      <vt:lpstr>Antenatal Care </vt:lpstr>
      <vt:lpstr>Family Planning </vt:lpstr>
      <vt:lpstr>Immunization </vt:lpstr>
      <vt:lpstr>Ad-din Sakina Medical College Hospital Indoor Service</vt:lpstr>
      <vt:lpstr>Operation Theatre</vt:lpstr>
      <vt:lpstr> Post Operative Ward</vt:lpstr>
      <vt:lpstr>Gyane Ward</vt:lpstr>
      <vt:lpstr>Neonatal Care Unit</vt:lpstr>
      <vt:lpstr>HDU</vt:lpstr>
      <vt:lpstr>24 Hours Pharmacy</vt:lpstr>
      <vt:lpstr>24 Hour Ambulance Service </vt:lpstr>
      <vt:lpstr>PowerPoint Presentation</vt:lpstr>
      <vt:lpstr>PowerPoint Presentation</vt:lpstr>
      <vt:lpstr>PowerPoint Presentation</vt:lpstr>
      <vt:lpstr>Doctor's &amp; Manager's of Ad-din Sakina Medical College Hospital</vt:lpstr>
      <vt:lpstr>Thank You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Medical College Hospital</dc:title>
  <dc:creator>user</dc:creator>
  <cp:lastModifiedBy>Emdad</cp:lastModifiedBy>
  <cp:revision>291</cp:revision>
  <dcterms:created xsi:type="dcterms:W3CDTF">2017-11-25T07:55:21Z</dcterms:created>
  <dcterms:modified xsi:type="dcterms:W3CDTF">2021-12-10T06:59:10Z</dcterms:modified>
</cp:coreProperties>
</file>