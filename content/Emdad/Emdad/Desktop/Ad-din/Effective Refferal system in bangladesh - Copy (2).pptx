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56" r:id="rId3"/>
    <p:sldId id="259" r:id="rId4"/>
    <p:sldId id="257" r:id="rId5"/>
    <p:sldId id="258" r:id="rId6"/>
    <p:sldId id="260" r:id="rId7"/>
    <p:sldId id="262" r:id="rId8"/>
    <p:sldId id="263" r:id="rId9"/>
    <p:sldId id="267" r:id="rId10"/>
    <p:sldId id="264" r:id="rId11"/>
    <p:sldId id="266" r:id="rId12"/>
    <p:sldId id="261" r:id="rId13"/>
    <p:sldId id="265" r:id="rId14"/>
    <p:sldId id="268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E14F-36A2-463F-96F4-EC5D05CC8B01}" type="datetimeFigureOut">
              <a:rPr lang="en-GB" smtClean="0"/>
              <a:t>22/09/2021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4BA18-E5EA-4961-B33B-34B96F8A78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146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84BA18-E5EA-4961-B33B-34B96F8A78A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77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33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414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988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653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254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6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688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1690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915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640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56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9/22/2021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682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182880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Effective Referral System in Bangladesh.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14600" y="3886201"/>
            <a:ext cx="6477000" cy="23795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GB" sz="3200" dirty="0" err="1" smtClean="0">
                <a:solidFill>
                  <a:srgbClr val="FF0000"/>
                </a:solidFill>
              </a:rPr>
              <a:t>Dr.</a:t>
            </a:r>
            <a:r>
              <a:rPr lang="en-GB" sz="3200" dirty="0" smtClean="0">
                <a:solidFill>
                  <a:srgbClr val="FF0000"/>
                </a:solidFill>
              </a:rPr>
              <a:t> Md. </a:t>
            </a:r>
            <a:r>
              <a:rPr lang="en-GB" sz="3200" dirty="0" err="1" smtClean="0">
                <a:solidFill>
                  <a:srgbClr val="FF0000"/>
                </a:solidFill>
              </a:rPr>
              <a:t>Emdadul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Haque</a:t>
            </a:r>
            <a:endParaRPr lang="en-GB" sz="3200" dirty="0" smtClean="0">
              <a:solidFill>
                <a:srgbClr val="FF0000"/>
              </a:solidFill>
            </a:endParaRPr>
          </a:p>
          <a:p>
            <a:pPr algn="r"/>
            <a:r>
              <a:rPr lang="en-GB" sz="3200" dirty="0" smtClean="0">
                <a:solidFill>
                  <a:srgbClr val="FF0000"/>
                </a:solidFill>
              </a:rPr>
              <a:t>Associate Professor</a:t>
            </a:r>
          </a:p>
          <a:p>
            <a:pPr algn="r"/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Ad-din</a:t>
            </a:r>
            <a:r>
              <a:rPr lang="en-GB" sz="3200" dirty="0" smtClean="0">
                <a:solidFill>
                  <a:srgbClr val="FF0000"/>
                </a:solidFill>
              </a:rPr>
              <a:t> </a:t>
            </a:r>
            <a:r>
              <a:rPr lang="en-GB" sz="3200" dirty="0" err="1" smtClean="0">
                <a:solidFill>
                  <a:srgbClr val="FF0000"/>
                </a:solidFill>
              </a:rPr>
              <a:t>Sakina</a:t>
            </a:r>
            <a:r>
              <a:rPr lang="en-GB" sz="3200" dirty="0" smtClean="0">
                <a:solidFill>
                  <a:srgbClr val="FF0000"/>
                </a:solidFill>
              </a:rPr>
              <a:t> Medical </a:t>
            </a:r>
            <a:r>
              <a:rPr lang="en-GB" sz="3200" dirty="0" err="1" smtClean="0">
                <a:solidFill>
                  <a:srgbClr val="FF0000"/>
                </a:solidFill>
              </a:rPr>
              <a:t>college,Jashore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8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859057"/>
              </p:ext>
            </p:extLst>
          </p:nvPr>
        </p:nvGraphicFramePr>
        <p:xfrm>
          <a:off x="144439" y="1303883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35387" y="602606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2017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770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6868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3200" dirty="0" smtClean="0"/>
              <a:t>Ineffective referral  system network.</a:t>
            </a:r>
            <a:endParaRPr lang="en-GB" sz="3200" dirty="0"/>
          </a:p>
          <a:p>
            <a:pPr marL="457200" lvl="1" indent="0" algn="just">
              <a:buNone/>
            </a:pPr>
            <a:r>
              <a:rPr lang="en-GB" sz="2800" dirty="0" smtClean="0"/>
              <a:t>Community Clinic </a:t>
            </a:r>
            <a:r>
              <a:rPr lang="en-GB" sz="2800" dirty="0" smtClean="0">
                <a:sym typeface="Wingdings" pitchFamily="2" charset="2"/>
              </a:rPr>
              <a:t> Union H&amp;FWCUHC  District Hospital /250 bedded Hospital Medical College Hospital.  Medical University /Super specialist Hospital.</a:t>
            </a:r>
            <a:endParaRPr lang="en-GB" sz="2800" dirty="0">
              <a:sym typeface="Wingdings" pitchFamily="2" charset="2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GB" sz="2800" dirty="0" smtClean="0">
                <a:sym typeface="Wingdings" pitchFamily="2" charset="2"/>
              </a:rPr>
              <a:t>The govt. system is paralysed  and  non functioning.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GB" sz="2800" dirty="0" smtClean="0">
                <a:sym typeface="Wingdings" pitchFamily="2" charset="2"/>
              </a:rPr>
              <a:t>There is no feed back  system.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</a:t>
            </a:r>
            <a:r>
              <a:rPr lang="en-GB" dirty="0"/>
              <a:t>Referral System in Bangladesh.</a:t>
            </a:r>
          </a:p>
        </p:txBody>
      </p:sp>
    </p:spTree>
    <p:extLst>
      <p:ext uri="{BB962C8B-B14F-4D97-AF65-F5344CB8AC3E}">
        <p14:creationId xmlns:p14="http://schemas.microsoft.com/office/powerpoint/2010/main" val="60514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4191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Patient satisfaction rate is very low in Govt. system.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Nearly 50 thousands core Taka drained to other countries in every year..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Humanitarian service  change to Business.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Only the rich people(5%) are capable to take the world class medical service.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Nearly 10 % of total people become poorer due medical cost in every year.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Importance of Referral system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143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600" cy="4495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Community Clinic : Nearly 8 thousand population lives under one community clinic. 3 govt. health &amp; FP manpower works there. There is no sufficiently skilled health man power who can acquire the confidence of the community.</a:t>
            </a:r>
          </a:p>
          <a:p>
            <a:pPr marL="0" indent="0">
              <a:buNone/>
            </a:pPr>
            <a:r>
              <a:rPr lang="en-GB" sz="2800" dirty="0"/>
              <a:t> </a:t>
            </a:r>
            <a:r>
              <a:rPr lang="en-GB" sz="2800" dirty="0" smtClean="0"/>
              <a:t>  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 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413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62200"/>
            <a:ext cx="8534400" cy="4343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700" dirty="0" smtClean="0"/>
              <a:t>Union H&amp;FWC/RD: Nearly 30 thousands peoples lives in a union. Average 700 mother become pregnant ,625 baby born ,125 people die in a year.3500 couple needs FP methods 3ooo under-5 children,4ooo &gt;60 years senior citigens,1000 diabetic patient,1500 hypertensive patient,70 physically retarded patient. There is practically no doctors or hospital bed.</a:t>
            </a:r>
          </a:p>
          <a:p>
            <a:pPr marL="0" indent="0" algn="just">
              <a:buNone/>
            </a:pPr>
            <a:r>
              <a:rPr lang="en-GB" sz="2700" dirty="0"/>
              <a:t> </a:t>
            </a:r>
            <a:r>
              <a:rPr lang="en-GB" sz="2700" dirty="0" smtClean="0"/>
              <a:t>  </a:t>
            </a:r>
            <a:endParaRPr lang="en-GB" sz="27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680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2675467"/>
            <a:ext cx="8534400" cy="345069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800" dirty="0" smtClean="0"/>
              <a:t>UHC : Average 3 lack population in every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with 50 bedded UHC. But there is a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with population of 40 thousands having no health infra-structure arranged by local govt.  EPI. Family Planning ,other public health related activities are  not satisfactory.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85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75467"/>
            <a:ext cx="8610599" cy="34506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District Hospital :There are 100/250 bedded hospital. The hospital is working as both primary and secondary hospital. Bed occupancy rate is 250-300%. 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There is no UHC in district </a:t>
            </a:r>
            <a:r>
              <a:rPr lang="en-GB" sz="2800" dirty="0" err="1" smtClean="0"/>
              <a:t>sadar</a:t>
            </a:r>
            <a:r>
              <a:rPr lang="en-GB" sz="2800" dirty="0" smtClean="0"/>
              <a:t>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.The patient of the </a:t>
            </a:r>
            <a:r>
              <a:rPr lang="en-GB" sz="2800" dirty="0" err="1" smtClean="0"/>
              <a:t>sadar</a:t>
            </a:r>
            <a:r>
              <a:rPr lang="en-GB" sz="2800" dirty="0" smtClean="0"/>
              <a:t> </a:t>
            </a:r>
            <a:r>
              <a:rPr lang="en-GB" sz="2800" dirty="0" err="1" smtClean="0"/>
              <a:t>upazilla</a:t>
            </a:r>
            <a:r>
              <a:rPr lang="en-GB" sz="2800" dirty="0" smtClean="0"/>
              <a:t> are getting primary health care from district hospital.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system-4(District Hospital)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805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09800"/>
            <a:ext cx="8610599" cy="4343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The </a:t>
            </a:r>
            <a:r>
              <a:rPr lang="en-GB" sz="2650" dirty="0" err="1" smtClean="0"/>
              <a:t>powrosova</a:t>
            </a:r>
            <a:r>
              <a:rPr lang="en-GB" sz="2650" dirty="0" smtClean="0"/>
              <a:t> of a  district head quarter having large number of population nearly 3-5 lack. They also get their primary health care service  from district hospital. </a:t>
            </a:r>
            <a:r>
              <a:rPr lang="en-GB" sz="2650" dirty="0" err="1" smtClean="0"/>
              <a:t>Powrosova</a:t>
            </a:r>
            <a:r>
              <a:rPr lang="en-GB" sz="2650" dirty="0" smtClean="0"/>
              <a:t> is working for water supply, sanitation, and vector control. 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So  district hospital is not working as referral centre.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650" dirty="0" smtClean="0"/>
              <a:t>In 2019 in </a:t>
            </a:r>
            <a:r>
              <a:rPr lang="en-GB" sz="2650" dirty="0" err="1" smtClean="0"/>
              <a:t>Jhenaidah</a:t>
            </a:r>
            <a:r>
              <a:rPr lang="en-GB" sz="2650" dirty="0" smtClean="0"/>
              <a:t> </a:t>
            </a:r>
            <a:r>
              <a:rPr lang="en-GB" sz="2650" dirty="0" err="1" smtClean="0"/>
              <a:t>Sadar</a:t>
            </a:r>
            <a:r>
              <a:rPr lang="en-GB" sz="2650" dirty="0" smtClean="0"/>
              <a:t> hospital bed occupancy rate was 288 % and per day average outdoor patient was 1350</a:t>
            </a:r>
            <a:r>
              <a:rPr lang="en-GB" sz="2650" dirty="0"/>
              <a:t> </a:t>
            </a:r>
            <a:r>
              <a:rPr lang="en-GB" sz="2650" dirty="0" smtClean="0"/>
              <a:t>served with 4 medical officer.</a:t>
            </a:r>
          </a:p>
          <a:p>
            <a:pPr marL="0" indent="0" algn="just">
              <a:buNone/>
            </a:pPr>
            <a:r>
              <a:rPr lang="en-GB" sz="2650" dirty="0" smtClean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Problems in individual tyre of govt. health system-5(District Hospital)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71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514600"/>
            <a:ext cx="8534399" cy="4191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dirty="0" smtClean="0"/>
              <a:t> In Community clinic : A Medical Assistant should be posted in each Community clinic.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In H&amp;FWC : 15 bedded hospital with 4  doctors 10 nurses &amp; midwifes ,X-ray, USG, lab facility in H&amp;FWC/RD. It will act as a primary health care centre. There should be 24 hours emergency </a:t>
            </a:r>
            <a:r>
              <a:rPr lang="en-GB" sz="2800" dirty="0"/>
              <a:t> </a:t>
            </a:r>
            <a:r>
              <a:rPr lang="en-GB" sz="2800" dirty="0" smtClean="0"/>
              <a:t>service.</a:t>
            </a:r>
          </a:p>
          <a:p>
            <a:pPr>
              <a:buFont typeface="Wingdings" pitchFamily="2" charset="2"/>
              <a:buChar char="Ø"/>
            </a:pPr>
            <a:r>
              <a:rPr lang="en-GB" sz="2800" dirty="0" smtClean="0"/>
              <a:t>UHC 100 bedded : Will act as a  primary and 1</a:t>
            </a:r>
            <a:r>
              <a:rPr lang="en-GB" sz="2800" baseline="30000" dirty="0" smtClean="0"/>
              <a:t>st</a:t>
            </a:r>
            <a:r>
              <a:rPr lang="en-GB" sz="2800" dirty="0" smtClean="0"/>
              <a:t> referral centre. In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there should be one  H&amp;FWC for each 30,000 populations.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to solve the problems-1.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346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400"/>
            <a:ext cx="8534399" cy="46482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500" dirty="0" smtClean="0"/>
              <a:t> </a:t>
            </a:r>
            <a:r>
              <a:rPr lang="en-GB" sz="2500" dirty="0" err="1" smtClean="0"/>
              <a:t>Powrosova</a:t>
            </a:r>
            <a:r>
              <a:rPr lang="en-GB" sz="2500" dirty="0" smtClean="0"/>
              <a:t> will perform  water supply, sanitation, vector control, waste disposal. Health &amp; family planning activities by health ministry by their won infrastructure and human resources..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500" dirty="0" smtClean="0"/>
              <a:t>District level hospital (250 or 500 bedded): It would be  secondary referral centre . No patient should come there without referred. There should be a  complete 100 bedded health complex like other UHC for both </a:t>
            </a:r>
            <a:r>
              <a:rPr lang="en-GB" sz="2500" dirty="0" err="1" smtClean="0"/>
              <a:t>sadar</a:t>
            </a:r>
            <a:r>
              <a:rPr lang="en-GB" sz="2500" dirty="0" smtClean="0"/>
              <a:t> </a:t>
            </a:r>
            <a:r>
              <a:rPr lang="en-GB" sz="2500" dirty="0" err="1" smtClean="0"/>
              <a:t>upazilla</a:t>
            </a:r>
            <a:r>
              <a:rPr lang="en-GB" sz="2500" dirty="0" smtClean="0"/>
              <a:t> &amp; for  .</a:t>
            </a:r>
            <a:r>
              <a:rPr lang="en-GB" sz="2500" dirty="0" err="1" smtClean="0"/>
              <a:t>Powrosova</a:t>
            </a:r>
            <a:r>
              <a:rPr lang="en-GB" sz="2500" dirty="0" smtClean="0"/>
              <a:t> in district  head quarter . </a:t>
            </a:r>
            <a:r>
              <a:rPr lang="en-GB" sz="2500" dirty="0"/>
              <a:t>F</a:t>
            </a:r>
            <a:r>
              <a:rPr lang="en-GB" sz="2500" dirty="0" smtClean="0"/>
              <a:t>or every 40 thousands populations  there should be a H &amp; FWC under Health ministry in </a:t>
            </a:r>
            <a:r>
              <a:rPr lang="en-GB" sz="2500" dirty="0" err="1" smtClean="0"/>
              <a:t>powrosova</a:t>
            </a:r>
            <a:r>
              <a:rPr lang="en-GB" sz="2500" dirty="0" smtClean="0"/>
              <a:t> 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to solve the problems-2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212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0"/>
            <a:ext cx="8458199" cy="3840163"/>
          </a:xfrm>
        </p:spPr>
        <p:txBody>
          <a:bodyPr>
            <a:noAutofit/>
          </a:bodyPr>
          <a:lstStyle/>
          <a:p>
            <a:pPr algn="just"/>
            <a:r>
              <a:rPr lang="en-GB" sz="2800" dirty="0" smtClean="0"/>
              <a:t>If 33 patient /day come to a community clinic, only 5(15%) patient will referred to  Union H &amp; FWC/RD then 33patients /day treated by MO </a:t>
            </a:r>
            <a:r>
              <a:rPr lang="en-GB" sz="2800" smtClean="0"/>
              <a:t>from 4 </a:t>
            </a:r>
            <a:r>
              <a:rPr lang="en-GB" sz="2800" dirty="0" smtClean="0"/>
              <a:t>community clinic. Then 5 (15%)patient will referred to UHC .If we consider there are average 13 Union is under each UHC. only 65 patient /day  to 100 bedded UHC  .Then 10(10%) patient will go to from each UHC&amp; </a:t>
            </a:r>
            <a:r>
              <a:rPr lang="en-GB" sz="2800" dirty="0" err="1" smtClean="0"/>
              <a:t>powrosova</a:t>
            </a:r>
            <a:r>
              <a:rPr lang="en-GB" sz="2800" dirty="0" smtClean="0"/>
              <a:t> (UHC). Total patient in district hospital outdoor will be not more than 100.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 -1.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14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75467"/>
            <a:ext cx="8610599" cy="3450696"/>
          </a:xfrm>
        </p:spPr>
        <p:txBody>
          <a:bodyPr>
            <a:normAutofit/>
          </a:bodyPr>
          <a:lstStyle/>
          <a:p>
            <a:pPr algn="just"/>
            <a:r>
              <a:rPr lang="en-GB" sz="2800" dirty="0" smtClean="0"/>
              <a:t>Treatment of 100 patient /day in outdoor is quite possible by a 250 or 500 bedded district hospital. From there 10 (10%)patient  will be referred to Medical college hospital(</a:t>
            </a:r>
            <a:r>
              <a:rPr lang="en-GB" sz="2800" dirty="0" err="1" smtClean="0"/>
              <a:t>Tersiary</a:t>
            </a:r>
            <a:r>
              <a:rPr lang="en-GB" sz="2800" dirty="0" smtClean="0"/>
              <a:t>) level hospital.</a:t>
            </a:r>
            <a:endParaRPr lang="en-GB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Reformed referral system-2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00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Patient overload will be decrease and quality  service will  be  possible.</a:t>
            </a:r>
          </a:p>
          <a:p>
            <a:r>
              <a:rPr lang="en-GB" dirty="0" smtClean="0"/>
              <a:t> </a:t>
            </a:r>
            <a:r>
              <a:rPr lang="en-GB" dirty="0"/>
              <a:t>M</a:t>
            </a:r>
            <a:r>
              <a:rPr lang="en-GB" dirty="0" smtClean="0"/>
              <a:t>oney will be saved which lost due to medical treatment in foreign countries .</a:t>
            </a:r>
          </a:p>
          <a:p>
            <a:r>
              <a:rPr lang="en-GB" dirty="0" smtClean="0"/>
              <a:t>Private hospital dependency will decrease.</a:t>
            </a:r>
          </a:p>
          <a:p>
            <a:r>
              <a:rPr lang="en-GB" dirty="0" smtClean="0"/>
              <a:t>All components of health related SDG will be successfully implement by 2030. </a:t>
            </a:r>
          </a:p>
          <a:p>
            <a:r>
              <a:rPr lang="en-GB" dirty="0" smtClean="0"/>
              <a:t>Health human recourses needed planning will be easy.</a:t>
            </a:r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Benefit of this reformed referral system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0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2286000"/>
            <a:ext cx="8229600" cy="1143000"/>
          </a:xfrm>
        </p:spPr>
        <p:txBody>
          <a:bodyPr>
            <a:noAutofit/>
          </a:bodyPr>
          <a:lstStyle/>
          <a:p>
            <a:r>
              <a:rPr lang="en-GB" sz="6000" dirty="0" smtClean="0">
                <a:solidFill>
                  <a:schemeClr val="bg1"/>
                </a:solidFill>
                <a:latin typeface="SolaimanLipi" pitchFamily="2" charset="0"/>
                <a:cs typeface="SolaimanLipi" pitchFamily="2" charset="0"/>
              </a:rPr>
              <a:t>Thank</a:t>
            </a:r>
            <a:r>
              <a:rPr lang="en-GB" sz="6000" dirty="0" smtClean="0">
                <a:solidFill>
                  <a:schemeClr val="bg1"/>
                </a:solidFill>
                <a:latin typeface="SolaimanLipiNormal" pitchFamily="66" charset="0"/>
                <a:cs typeface="SolaimanLipiNormal" pitchFamily="66" charset="0"/>
              </a:rPr>
              <a:t> </a:t>
            </a:r>
            <a:r>
              <a:rPr lang="en-GB" sz="6000" dirty="0" smtClean="0">
                <a:solidFill>
                  <a:schemeClr val="bg1"/>
                </a:solidFill>
                <a:latin typeface="SolaimanLipiNormal" pitchFamily="66" charset="0"/>
                <a:cs typeface="SolaimanLipiNormal" pitchFamily="66" charset="0"/>
              </a:rPr>
              <a:t>You</a:t>
            </a:r>
            <a:endParaRPr lang="en-GB" sz="6000" dirty="0">
              <a:solidFill>
                <a:schemeClr val="bg1"/>
              </a:solidFill>
              <a:latin typeface="SolaimanLipiNormal" pitchFamily="66" charset="0"/>
              <a:cs typeface="SolaimanLipiNormal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312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802</TotalTime>
  <Words>967</Words>
  <Application>Microsoft Office PowerPoint</Application>
  <PresentationFormat>On-screen Show (4:3)</PresentationFormat>
  <Paragraphs>120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Waveform</vt:lpstr>
      <vt:lpstr>Flow</vt:lpstr>
      <vt:lpstr>Effective Referral System in Bangladesh.</vt:lpstr>
      <vt:lpstr>PowerPoint Presentation</vt:lpstr>
      <vt:lpstr> Referral System in Bangladesh.</vt:lpstr>
      <vt:lpstr>Importance of Referral system</vt:lpstr>
      <vt:lpstr>Problems in individual tyre of govt. health system -1.</vt:lpstr>
      <vt:lpstr>Problems in individual tyre of govt. health system-2</vt:lpstr>
      <vt:lpstr>Problems in individual tyre of govt. health system-3</vt:lpstr>
      <vt:lpstr>Problems in individual tyre of govt. health system-4(District Hospital)</vt:lpstr>
      <vt:lpstr>Problems in individual tyre of govt. health system-5(District Hospital)</vt:lpstr>
      <vt:lpstr>How to solve the problems-1.</vt:lpstr>
      <vt:lpstr>How to solve the problems-2</vt:lpstr>
      <vt:lpstr>Reformed referral system -1.</vt:lpstr>
      <vt:lpstr>Reformed referral system-2</vt:lpstr>
      <vt:lpstr>Benefit of this reformed referral system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Effective Refferal System in Bangladesh.</dc:title>
  <dc:creator>Emdad</dc:creator>
  <cp:lastModifiedBy>Emdad</cp:lastModifiedBy>
  <cp:revision>88</cp:revision>
  <dcterms:created xsi:type="dcterms:W3CDTF">2006-08-16T00:00:00Z</dcterms:created>
  <dcterms:modified xsi:type="dcterms:W3CDTF">2021-09-22T01:30:40Z</dcterms:modified>
</cp:coreProperties>
</file>