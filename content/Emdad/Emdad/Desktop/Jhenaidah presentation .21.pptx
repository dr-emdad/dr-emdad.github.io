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rawings/drawing2.xml" ContentType="application/vnd.openxmlformats-officedocument.drawingml.chartshape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ommentAuthors.xml" ContentType="application/vnd.openxmlformats-officedocument.presentationml.commentAuthors+xml"/>
  <Override PartName="/ppt/charts/chart7.xml" ContentType="application/vnd.openxmlformats-officedocument.drawingml.chart+xml"/>
  <Override PartName="/ppt/charts/chart3.xml" ContentType="application/vnd.openxmlformats-officedocument.drawingml.chart+xml"/>
  <Default Extension="xlsx" ContentType="application/vnd.openxmlformats-officedocument.spreadsheetml.sheet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drawings/drawing5.xml" ContentType="application/vnd.openxmlformats-officedocument.drawingml.chartshape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rawings/drawing3.xml" ContentType="application/vnd.openxmlformats-officedocument.drawingml.chartshape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charts/chart16.xml" ContentType="application/vnd.openxmlformats-officedocument.drawingml.char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4.xml" ContentType="application/vnd.openxmlformats-officedocument.drawingml.char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charts/chart2.xml" ContentType="application/vnd.openxmlformats-officedocument.drawingml.chart+xml"/>
  <Override PartName="/ppt/drawings/drawing6.xml" ContentType="application/vnd.openxmlformats-officedocument.drawingml.chartshape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rawings/drawing4.xml" ContentType="application/vnd.openxmlformats-officedocument.drawingml.chartshape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47"/>
  </p:notesMasterIdLst>
  <p:handoutMasterIdLst>
    <p:handoutMasterId r:id="rId48"/>
  </p:handoutMasterIdLst>
  <p:sldIdLst>
    <p:sldId id="423" r:id="rId2"/>
    <p:sldId id="406" r:id="rId3"/>
    <p:sldId id="437" r:id="rId4"/>
    <p:sldId id="404" r:id="rId5"/>
    <p:sldId id="405" r:id="rId6"/>
    <p:sldId id="444" r:id="rId7"/>
    <p:sldId id="411" r:id="rId8"/>
    <p:sldId id="412" r:id="rId9"/>
    <p:sldId id="345" r:id="rId10"/>
    <p:sldId id="435" r:id="rId11"/>
    <p:sldId id="442" r:id="rId12"/>
    <p:sldId id="327" r:id="rId13"/>
    <p:sldId id="417" r:id="rId14"/>
    <p:sldId id="352" r:id="rId15"/>
    <p:sldId id="326" r:id="rId16"/>
    <p:sldId id="402" r:id="rId17"/>
    <p:sldId id="413" r:id="rId18"/>
    <p:sldId id="415" r:id="rId19"/>
    <p:sldId id="328" r:id="rId20"/>
    <p:sldId id="408" r:id="rId21"/>
    <p:sldId id="401" r:id="rId22"/>
    <p:sldId id="420" r:id="rId23"/>
    <p:sldId id="351" r:id="rId24"/>
    <p:sldId id="410" r:id="rId25"/>
    <p:sldId id="409" r:id="rId26"/>
    <p:sldId id="418" r:id="rId27"/>
    <p:sldId id="419" r:id="rId28"/>
    <p:sldId id="346" r:id="rId29"/>
    <p:sldId id="424" r:id="rId30"/>
    <p:sldId id="428" r:id="rId31"/>
    <p:sldId id="362" r:id="rId32"/>
    <p:sldId id="440" r:id="rId33"/>
    <p:sldId id="425" r:id="rId34"/>
    <p:sldId id="293" r:id="rId35"/>
    <p:sldId id="431" r:id="rId36"/>
    <p:sldId id="430" r:id="rId37"/>
    <p:sldId id="441" r:id="rId38"/>
    <p:sldId id="312" r:id="rId39"/>
    <p:sldId id="366" r:id="rId40"/>
    <p:sldId id="363" r:id="rId41"/>
    <p:sldId id="364" r:id="rId42"/>
    <p:sldId id="370" r:id="rId43"/>
    <p:sldId id="297" r:id="rId44"/>
    <p:sldId id="294" r:id="rId45"/>
    <p:sldId id="344" r:id="rId4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3EEE00"/>
    <a:srgbClr val="33CC33"/>
    <a:srgbClr val="0C7E1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044" autoAdjust="0"/>
    <p:restoredTop sz="91860" autoAdjust="0"/>
  </p:normalViewPr>
  <p:slideViewPr>
    <p:cSldViewPr>
      <p:cViewPr>
        <p:scale>
          <a:sx n="47" d="100"/>
          <a:sy n="47" d="100"/>
        </p:scale>
        <p:origin x="-1531" y="-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USER\Desktop\Chart\Covid-19%20report%2020.xlsx" TargetMode="External"/><Relationship Id="rId1" Type="http://schemas.openxmlformats.org/officeDocument/2006/relationships/image" Target="../media/image15.jpeg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Chart\Covid-19%20report%2020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1.xlsx"/><Relationship Id="rId1" Type="http://schemas.openxmlformats.org/officeDocument/2006/relationships/image" Target="../media/image14.jpeg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oleObject" Target="file:///C:\Users\USER\Desktop\Chart\Outcome%20report%2018.xlsx" TargetMode="External"/><Relationship Id="rId1" Type="http://schemas.openxmlformats.org/officeDocument/2006/relationships/image" Target="../media/image16.jpeg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2.xlsx"/><Relationship Id="rId1" Type="http://schemas.openxmlformats.org/officeDocument/2006/relationships/image" Target="../media/image13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3.xlsx"/><Relationship Id="rId1" Type="http://schemas.openxmlformats.org/officeDocument/2006/relationships/image" Target="../media/image12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New%20Microsoft%20Office%20Excel%20Worksheet%20(3).xlsx" TargetMode="External"/><Relationship Id="rId1" Type="http://schemas.openxmlformats.org/officeDocument/2006/relationships/image" Target="../media/image19.jpeg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Operation.xlsx" TargetMode="External"/><Relationship Id="rId1" Type="http://schemas.openxmlformats.org/officeDocument/2006/relationships/image" Target="../media/image16.jpeg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EOC.xlsx" TargetMode="External"/><Relationship Id="rId1" Type="http://schemas.openxmlformats.org/officeDocument/2006/relationships/image" Target="../media/image19.jpeg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Excel_Worksheet5.xlsx"/><Relationship Id="rId2" Type="http://schemas.openxmlformats.org/officeDocument/2006/relationships/image" Target="../media/image14.jpeg"/><Relationship Id="rId1" Type="http://schemas.openxmlformats.org/officeDocument/2006/relationships/image" Target="../media/image22.jpeg"/><Relationship Id="rId4" Type="http://schemas.openxmlformats.org/officeDocument/2006/relationships/chartUserShapes" Target="../drawings/drawing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oleObject" Target="file:///C:\Users\USER\Desktop\Chart\Death%20repoet.xlsx" TargetMode="External"/><Relationship Id="rId1" Type="http://schemas.openxmlformats.org/officeDocument/2006/relationships/image" Target="../media/image19.jpeg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Outcome%20report%2018%20(2)-.xlsx" TargetMode="External"/><Relationship Id="rId2" Type="http://schemas.openxmlformats.org/officeDocument/2006/relationships/image" Target="../media/image16.jpeg"/><Relationship Id="rId1" Type="http://schemas.openxmlformats.org/officeDocument/2006/relationships/image" Target="../media/image13.jpeg"/><Relationship Id="rId4" Type="http://schemas.openxmlformats.org/officeDocument/2006/relationships/chartUserShapes" Target="../drawings/drawing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6.xml"/><Relationship Id="rId2" Type="http://schemas.openxmlformats.org/officeDocument/2006/relationships/oleObject" Target="file:///C:\Users\USER\Desktop\Chart\Outcome%20report%2018%20(2)-.xlsx" TargetMode="External"/><Relationship Id="rId1" Type="http://schemas.openxmlformats.org/officeDocument/2006/relationships/image" Target="../media/image9.jpeg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6.xlsx"/><Relationship Id="rId1" Type="http://schemas.openxmlformats.org/officeDocument/2006/relationships/image" Target="../media/image9.jpeg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Income%20Monthly.xlsx" TargetMode="External"/><Relationship Id="rId1" Type="http://schemas.openxmlformats.org/officeDocument/2006/relationships/image" Target="../media/image9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pieChart>
        <c:varyColors val="1"/>
        <c:ser>
          <c:idx val="0"/>
          <c:order val="0"/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00B0F0"/>
              </a:solidFill>
            </c:spPr>
          </c:dPt>
          <c:dPt>
            <c:idx val="2"/>
            <c:spPr>
              <a:solidFill>
                <a:srgbClr val="FFFF00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FF0000"/>
              </a:solidFill>
            </c:spPr>
          </c:dPt>
          <c:dLbls>
            <c:dLbl>
              <c:idx val="1"/>
              <c:layout>
                <c:manualLayout>
                  <c:x val="-9.4279965004374744E-2"/>
                  <c:y val="0.18361961699232326"/>
                </c:manualLayout>
              </c:layout>
              <c:showVal val="1"/>
              <c:showCatName val="1"/>
              <c:showPercent val="1"/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Val val="1"/>
              <c:showCatName val="1"/>
              <c:showPercent val="1"/>
            </c:dLbl>
            <c:dLbl>
              <c:idx val="3"/>
              <c:layout>
                <c:manualLayout>
                  <c:x val="-3.1284886264217014E-2"/>
                  <c:y val="-2.777793979456310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4"/>
              <c:layout>
                <c:manualLayout>
                  <c:x val="2.2308617672791478E-2"/>
                  <c:y val="0"/>
                </c:manualLayout>
              </c:layout>
              <c:showVal val="1"/>
              <c:showCatName val="1"/>
              <c:showPercent val="1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Val val="1"/>
            <c:showCatName val="1"/>
            <c:showPercent val="1"/>
            <c:showLeaderLines val="1"/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960</c:v>
                </c:pt>
                <c:pt idx="1">
                  <c:v>62</c:v>
                </c:pt>
                <c:pt idx="2">
                  <c:v>68</c:v>
                </c:pt>
                <c:pt idx="3">
                  <c:v>1</c:v>
                </c:pt>
                <c:pt idx="4">
                  <c:v>208</c:v>
                </c:pt>
              </c:numCache>
            </c:numRef>
          </c:val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</c:ser>
        <c:firstSliceAng val="0"/>
      </c:pieChart>
    </c:plotArea>
    <c:plotVisOnly val="1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/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'20-21'!$C$5</c:f>
              <c:strCache>
                <c:ptCount val="1"/>
                <c:pt idx="0">
                  <c:v>20</c:v>
                </c:pt>
              </c:strCache>
            </c:strRef>
          </c:tx>
          <c:dLbls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'20-21'!$B$6:$B$11</c:f>
              <c:strCache>
                <c:ptCount val="6"/>
                <c:pt idx="0">
                  <c:v>Suspected</c:v>
                </c:pt>
                <c:pt idx="1">
                  <c:v>Confirmed </c:v>
                </c:pt>
                <c:pt idx="2">
                  <c:v>Cured</c:v>
                </c:pt>
                <c:pt idx="3">
                  <c:v>Ref.</c:v>
                </c:pt>
                <c:pt idx="4">
                  <c:v>DORB</c:v>
                </c:pt>
                <c:pt idx="5">
                  <c:v>Death</c:v>
                </c:pt>
              </c:strCache>
            </c:strRef>
          </c:cat>
          <c:val>
            <c:numRef>
              <c:f>'20-21'!$C$6:$C$11</c:f>
              <c:numCache>
                <c:formatCode>General</c:formatCode>
                <c:ptCount val="6"/>
                <c:pt idx="0">
                  <c:v>607</c:v>
                </c:pt>
                <c:pt idx="1">
                  <c:v>293</c:v>
                </c:pt>
                <c:pt idx="2">
                  <c:v>233</c:v>
                </c:pt>
                <c:pt idx="3">
                  <c:v>17</c:v>
                </c:pt>
                <c:pt idx="4">
                  <c:v>23</c:v>
                </c:pt>
                <c:pt idx="5">
                  <c:v>18</c:v>
                </c:pt>
              </c:numCache>
            </c:numRef>
          </c:val>
        </c:ser>
        <c:ser>
          <c:idx val="1"/>
          <c:order val="1"/>
          <c:tx>
            <c:strRef>
              <c:f>'20-21'!$D$5</c:f>
              <c:strCache>
                <c:ptCount val="1"/>
                <c:pt idx="0">
                  <c:v>21</c:v>
                </c:pt>
              </c:strCache>
            </c:strRef>
          </c:tx>
          <c:dLbls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'20-21'!$B$6:$B$11</c:f>
              <c:strCache>
                <c:ptCount val="6"/>
                <c:pt idx="0">
                  <c:v>Suspected</c:v>
                </c:pt>
                <c:pt idx="1">
                  <c:v>Confirmed </c:v>
                </c:pt>
                <c:pt idx="2">
                  <c:v>Cured</c:v>
                </c:pt>
                <c:pt idx="3">
                  <c:v>Ref.</c:v>
                </c:pt>
                <c:pt idx="4">
                  <c:v>DORB</c:v>
                </c:pt>
                <c:pt idx="5">
                  <c:v>Death</c:v>
                </c:pt>
              </c:strCache>
            </c:strRef>
          </c:cat>
          <c:val>
            <c:numRef>
              <c:f>'20-21'!$D$6:$D$11</c:f>
              <c:numCache>
                <c:formatCode>General</c:formatCode>
                <c:ptCount val="6"/>
                <c:pt idx="0">
                  <c:v>1906</c:v>
                </c:pt>
                <c:pt idx="1">
                  <c:v>1006</c:v>
                </c:pt>
                <c:pt idx="2">
                  <c:v>727</c:v>
                </c:pt>
                <c:pt idx="3">
                  <c:v>50</c:v>
                </c:pt>
                <c:pt idx="4">
                  <c:v>39</c:v>
                </c:pt>
                <c:pt idx="5">
                  <c:v>190</c:v>
                </c:pt>
              </c:numCache>
            </c:numRef>
          </c:val>
        </c:ser>
        <c:axId val="78206080"/>
        <c:axId val="78215040"/>
      </c:barChart>
      <c:catAx>
        <c:axId val="78206080"/>
        <c:scaling>
          <c:orientation val="minMax"/>
        </c:scaling>
        <c:axPos val="b"/>
        <c:tickLblPos val="nextTo"/>
        <c:txPr>
          <a:bodyPr/>
          <a:lstStyle/>
          <a:p>
            <a:pPr>
              <a:defRPr sz="2500" b="1" i="0" baseline="0"/>
            </a:pPr>
            <a:endParaRPr lang="en-US"/>
          </a:p>
        </c:txPr>
        <c:crossAx val="78215040"/>
        <c:crosses val="autoZero"/>
        <c:auto val="1"/>
        <c:lblAlgn val="ctr"/>
        <c:lblOffset val="100"/>
      </c:catAx>
      <c:valAx>
        <c:axId val="78215040"/>
        <c:scaling>
          <c:orientation val="minMax"/>
        </c:scaling>
        <c:axPos val="l"/>
        <c:majorGridlines/>
        <c:numFmt formatCode="General" sourceLinked="1"/>
        <c:tickLblPos val="nextTo"/>
        <c:crossAx val="78206080"/>
        <c:crosses val="autoZero"/>
        <c:crossBetween val="between"/>
      </c:valAx>
    </c:plotArea>
    <c:legend>
      <c:legendPos val="t"/>
      <c:legendEntry>
        <c:idx val="0"/>
        <c:txPr>
          <a:bodyPr/>
          <a:lstStyle/>
          <a:p>
            <a:pPr>
              <a:defRPr sz="2000" baseline="0"/>
            </a:pPr>
            <a:endParaRPr lang="en-US"/>
          </a:p>
        </c:txPr>
      </c:legendEntry>
      <c:layout/>
      <c:txPr>
        <a:bodyPr/>
        <a:lstStyle/>
        <a:p>
          <a:pPr>
            <a:defRPr sz="2000" baseline="0"/>
          </a:pPr>
          <a:endParaRPr lang="en-US"/>
        </a:p>
      </c:txPr>
    </c:legend>
    <c:plotVisOnly val="1"/>
  </c:chart>
  <c:spPr>
    <a:solidFill>
      <a:schemeClr val="accent5">
        <a:lumMod val="40000"/>
        <a:lumOff val="60000"/>
      </a:schemeClr>
    </a:solidFill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autoTitleDeleted val="1"/>
    <c:plotArea>
      <c:layout>
        <c:manualLayout>
          <c:layoutTarget val="inner"/>
          <c:xMode val="edge"/>
          <c:yMode val="edge"/>
          <c:x val="0"/>
          <c:y val="1.0174150528481239E-3"/>
          <c:w val="1"/>
          <c:h val="0.8941097396609207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81796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  <c:pt idx="8">
                  <c:v>267724</c:v>
                </c:pt>
                <c:pt idx="9">
                  <c:v>305325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dLbls>
            <c:dLbl>
              <c:idx val="4"/>
              <c:layout>
                <c:manualLayout>
                  <c:x val="6.2305295950157713E-3"/>
                  <c:y val="-1.1111111111111221E-2"/>
                </c:manualLayout>
              </c:layout>
              <c:showVal val="1"/>
            </c:dLbl>
            <c:dLbl>
              <c:idx val="5"/>
              <c:layout>
                <c:manualLayout>
                  <c:x val="6.2305295950157713E-3"/>
                  <c:y val="8.3333333333333367E-3"/>
                </c:manualLayout>
              </c:layout>
              <c:showVal val="1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Val val="1"/>
            </c:dLbl>
            <c:dLbl>
              <c:idx val="7"/>
              <c:layout>
                <c:manualLayout>
                  <c:x val="-6.5370734908139336E-4"/>
                  <c:y val="-1.2579355314960641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12973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  <c:pt idx="8">
                  <c:v>27989</c:v>
                </c:pt>
                <c:pt idx="9">
                  <c:v>36114</c:v>
                </c:pt>
              </c:numCache>
            </c:numRef>
          </c:val>
        </c:ser>
        <c:axId val="170530304"/>
        <c:axId val="170531840"/>
      </c:barChart>
      <c:catAx>
        <c:axId val="170530304"/>
        <c:scaling>
          <c:orientation val="minMax"/>
        </c:scaling>
        <c:axPos val="b"/>
        <c:numFmt formatCode="General" sourceLinked="1"/>
        <c:tickLblPos val="nextTo"/>
        <c:crossAx val="170531840"/>
        <c:crosses val="autoZero"/>
        <c:auto val="1"/>
        <c:lblAlgn val="ctr"/>
        <c:lblOffset val="100"/>
      </c:catAx>
      <c:valAx>
        <c:axId val="170531840"/>
        <c:scaling>
          <c:orientation val="minMax"/>
        </c:scaling>
        <c:delete val="1"/>
        <c:axPos val="l"/>
        <c:numFmt formatCode="General" sourceLinked="1"/>
        <c:tickLblPos val="nextTo"/>
        <c:crossAx val="170530304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</c:chart>
  <c:txPr>
    <a:bodyPr/>
    <a:lstStyle/>
    <a:p>
      <a:pPr>
        <a:defRPr sz="1800" b="1"/>
      </a:pPr>
      <a:endParaRPr lang="en-US"/>
    </a:p>
  </c:txPr>
  <c:externalData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3200" dirty="0" smtClean="0"/>
              <a:t>Ward Wise Admission Report 2021</a:t>
            </a:r>
            <a:endParaRPr lang="en-US" sz="3200" dirty="0"/>
          </a:p>
        </c:rich>
      </c:tx>
      <c:layout/>
    </c:title>
    <c:plotArea>
      <c:layout/>
      <c:pieChart>
        <c:varyColors val="1"/>
        <c:ser>
          <c:idx val="0"/>
          <c:order val="0"/>
          <c:explosion val="6"/>
          <c:dPt>
            <c:idx val="1"/>
            <c:spPr>
              <a:solidFill>
                <a:srgbClr val="FF0000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Lbls>
            <c:dLbl>
              <c:idx val="0"/>
              <c:layout>
                <c:manualLayout>
                  <c:x val="-8.1447506561680066E-2"/>
                  <c:y val="0.18401246719160458"/>
                </c:manualLayout>
              </c:layout>
              <c:showVal val="1"/>
              <c:showCatName val="1"/>
              <c:showPercent val="1"/>
            </c:dLbl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  <c:showCatName val="1"/>
            <c:showPercent val="1"/>
            <c:showLeaderLines val="1"/>
          </c:dLbls>
          <c:cat>
            <c:strRef>
              <c:f>Sheet1!$A$2:$A$8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6262</c:v>
                </c:pt>
                <c:pt idx="1">
                  <c:v>4150</c:v>
                </c:pt>
                <c:pt idx="2">
                  <c:v>7371</c:v>
                </c:pt>
                <c:pt idx="3">
                  <c:v>3323</c:v>
                </c:pt>
                <c:pt idx="4">
                  <c:v>6570</c:v>
                </c:pt>
                <c:pt idx="5">
                  <c:v>3511</c:v>
                </c:pt>
                <c:pt idx="6">
                  <c:v>4927</c:v>
                </c:pt>
              </c:numCache>
            </c:numRef>
          </c:val>
        </c:ser>
        <c:ser>
          <c:idx val="1"/>
          <c:order val="1"/>
          <c:cat>
            <c:strRef>
              <c:f>Sheet1!$A$2:$A$8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17.339535914049954</c:v>
                </c:pt>
                <c:pt idx="1">
                  <c:v>11.491388381237153</c:v>
                </c:pt>
                <c:pt idx="2">
                  <c:v>20.410367170626326</c:v>
                </c:pt>
                <c:pt idx="3">
                  <c:v>9.2014177327352229</c:v>
                </c:pt>
                <c:pt idx="4">
                  <c:v>18.192390762585127</c:v>
                </c:pt>
                <c:pt idx="5">
                  <c:v>9.7219914714514477</c:v>
                </c:pt>
                <c:pt idx="6">
                  <c:v>13.642908567314615</c:v>
                </c:pt>
              </c:numCache>
            </c:numRef>
          </c:val>
        </c:ser>
        <c:firstSliceAng val="0"/>
      </c:pieChart>
    </c:plotArea>
    <c:plotVisOnly val="1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/>
  <c:userShapes r:id="rId3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5.7589676290463823E-4"/>
          <c:y val="4.3358628589390852E-2"/>
          <c:w val="0.99942410323709541"/>
          <c:h val="0.82191872090967255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dLbls>
            <c:dLbl>
              <c:idx val="4"/>
              <c:layout>
                <c:manualLayout>
                  <c:x val="-8.6206896551724223E-3"/>
                  <c:y val="1.0848145607739721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766</c:v>
                </c:pt>
                <c:pt idx="1">
                  <c:v>835</c:v>
                </c:pt>
                <c:pt idx="2">
                  <c:v>876</c:v>
                </c:pt>
                <c:pt idx="3">
                  <c:v>1028</c:v>
                </c:pt>
                <c:pt idx="4">
                  <c:v>1000</c:v>
                </c:pt>
                <c:pt idx="5">
                  <c:v>804</c:v>
                </c:pt>
                <c:pt idx="6">
                  <c:v>1018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923</c:v>
                </c:pt>
                <c:pt idx="1">
                  <c:v>1595</c:v>
                </c:pt>
                <c:pt idx="2">
                  <c:v>1493</c:v>
                </c:pt>
                <c:pt idx="3">
                  <c:v>1535</c:v>
                </c:pt>
                <c:pt idx="4">
                  <c:v>2014</c:v>
                </c:pt>
                <c:pt idx="5">
                  <c:v>910</c:v>
                </c:pt>
                <c:pt idx="6">
                  <c:v>2282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806</c:v>
                </c:pt>
                <c:pt idx="1">
                  <c:v>1123</c:v>
                </c:pt>
                <c:pt idx="2">
                  <c:v>1297</c:v>
                </c:pt>
                <c:pt idx="3">
                  <c:v>1029</c:v>
                </c:pt>
                <c:pt idx="4">
                  <c:v>1648</c:v>
                </c:pt>
                <c:pt idx="5">
                  <c:v>861</c:v>
                </c:pt>
                <c:pt idx="6">
                  <c:v>3074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Sheet1!$E$2:$E$8</c:f>
              <c:numCache>
                <c:formatCode>General</c:formatCode>
                <c:ptCount val="7"/>
                <c:pt idx="0">
                  <c:v>2495</c:v>
                </c:pt>
                <c:pt idx="1">
                  <c:v>3553</c:v>
                </c:pt>
                <c:pt idx="2">
                  <c:v>3666</c:v>
                </c:pt>
                <c:pt idx="3">
                  <c:v>3592</c:v>
                </c:pt>
                <c:pt idx="4">
                  <c:v>4662</c:v>
                </c:pt>
                <c:pt idx="5">
                  <c:v>2575</c:v>
                </c:pt>
                <c:pt idx="6">
                  <c:v>6374</c:v>
                </c:pt>
              </c:numCache>
            </c:numRef>
          </c:val>
        </c:ser>
        <c:axId val="207568896"/>
        <c:axId val="207572352"/>
      </c:barChart>
      <c:catAx>
        <c:axId val="207568896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7572352"/>
        <c:crosses val="autoZero"/>
        <c:auto val="1"/>
        <c:lblAlgn val="ctr"/>
        <c:lblOffset val="100"/>
      </c:catAx>
      <c:valAx>
        <c:axId val="207572352"/>
        <c:scaling>
          <c:orientation val="minMax"/>
        </c:scaling>
        <c:delete val="1"/>
        <c:axPos val="l"/>
        <c:numFmt formatCode="General" sourceLinked="1"/>
        <c:tickLblPos val="nextTo"/>
        <c:crossAx val="207568896"/>
        <c:crosses val="autoZero"/>
        <c:crossBetween val="between"/>
      </c:valAx>
    </c:plotArea>
    <c:legend>
      <c:legendPos val="t"/>
      <c:legendEntry>
        <c:idx val="1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ayout>
        <c:manualLayout>
          <c:xMode val="edge"/>
          <c:yMode val="edge"/>
          <c:x val="0"/>
          <c:y val="0"/>
          <c:w val="0.70813571741032932"/>
          <c:h val="8.1837744679505414E-2"/>
        </c:manualLayout>
      </c:layout>
      <c:txPr>
        <a:bodyPr/>
        <a:lstStyle/>
        <a:p>
          <a:pPr>
            <a:defRPr sz="1800" b="1" baseline="0"/>
          </a:pPr>
          <a:endParaRPr lang="en-US"/>
        </a:p>
      </c:txPr>
    </c:legend>
    <c:plotVisOnly val="1"/>
    <c:dispBlanksAs val="gap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8889488350993211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sz="2000"/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1.9300000000000044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  <c:pt idx="8">
                  <c:v>1.85</c:v>
                </c:pt>
                <c:pt idx="9">
                  <c:v>2.5099999999999998</c:v>
                </c:pt>
              </c:numCache>
            </c:numRef>
          </c:val>
        </c:ser>
        <c:axId val="207803904"/>
        <c:axId val="207805440"/>
      </c:barChart>
      <c:catAx>
        <c:axId val="20780390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2400" baseline="0"/>
            </a:pPr>
            <a:endParaRPr lang="en-US"/>
          </a:p>
        </c:txPr>
        <c:crossAx val="207805440"/>
        <c:crosses val="autoZero"/>
        <c:auto val="1"/>
        <c:lblAlgn val="ctr"/>
        <c:lblOffset val="100"/>
      </c:catAx>
      <c:valAx>
        <c:axId val="207805440"/>
        <c:scaling>
          <c:orientation val="minMax"/>
        </c:scaling>
        <c:delete val="1"/>
        <c:axPos val="l"/>
        <c:majorGridlines/>
        <c:numFmt formatCode="0%" sourceLinked="1"/>
        <c:tickLblPos val="nextTo"/>
        <c:crossAx val="207803904"/>
        <c:crosses val="autoZero"/>
        <c:crossBetween val="between"/>
      </c:valAx>
      <c:spPr>
        <a:solidFill>
          <a:srgbClr val="92D050"/>
        </a:solidFill>
      </c:spPr>
    </c:plotArea>
    <c:plotVisOnly val="1"/>
    <c:dispBlanksAs val="gap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 b="1"/>
      </a:pPr>
      <a:endParaRPr lang="en-US"/>
    </a:p>
  </c:txPr>
  <c:externalData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3.3221675415573311E-2"/>
          <c:y val="0"/>
          <c:w val="0.96677832458443003"/>
          <c:h val="0.78138297527623013"/>
        </c:manualLayout>
      </c:layout>
      <c:barChart>
        <c:barDir val="col"/>
        <c:grouping val="clustered"/>
        <c:ser>
          <c:idx val="0"/>
          <c:order val="0"/>
          <c:spPr>
            <a:solidFill>
              <a:srgbClr val="00B0F0"/>
            </a:solidFill>
          </c:spPr>
          <c:dPt>
            <c:idx val="12"/>
            <c:spPr>
              <a:solidFill>
                <a:srgbClr val="00B050"/>
              </a:solidFill>
            </c:spPr>
          </c:dPt>
          <c:dLbls>
            <c:dLbl>
              <c:idx val="12"/>
              <c:layout>
                <c:manualLayout>
                  <c:x val="-1.1111111111111125E-2"/>
                  <c:y val="5.0205761316872415E-3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Sheet1!$A$3:$A$15</c:f>
              <c:strCache>
                <c:ptCount val="1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  <c:pt idx="12">
                  <c:v>Average </c:v>
                </c:pt>
              </c:strCache>
            </c:strRef>
          </c:cat>
          <c:val>
            <c:numRef>
              <c:f>Sheet1!$B$3:$B$15</c:f>
              <c:numCache>
                <c:formatCode>General</c:formatCode>
                <c:ptCount val="13"/>
                <c:pt idx="0">
                  <c:v>9.49</c:v>
                </c:pt>
                <c:pt idx="1">
                  <c:v>9.7800000000000011</c:v>
                </c:pt>
                <c:pt idx="2">
                  <c:v>10.84</c:v>
                </c:pt>
                <c:pt idx="3">
                  <c:v>14.11</c:v>
                </c:pt>
                <c:pt idx="4">
                  <c:v>14.88</c:v>
                </c:pt>
                <c:pt idx="5">
                  <c:v>12.8</c:v>
                </c:pt>
                <c:pt idx="6">
                  <c:v>18.07</c:v>
                </c:pt>
                <c:pt idx="7">
                  <c:v>11.78</c:v>
                </c:pt>
                <c:pt idx="8">
                  <c:v>10.68</c:v>
                </c:pt>
                <c:pt idx="9">
                  <c:v>11.41</c:v>
                </c:pt>
                <c:pt idx="10">
                  <c:v>12.78</c:v>
                </c:pt>
                <c:pt idx="11">
                  <c:v>10.84</c:v>
                </c:pt>
                <c:pt idx="12">
                  <c:v>11.82</c:v>
                </c:pt>
              </c:numCache>
            </c:numRef>
          </c:val>
        </c:ser>
        <c:axId val="79743616"/>
        <c:axId val="79749888"/>
      </c:barChart>
      <c:catAx>
        <c:axId val="79743616"/>
        <c:scaling>
          <c:orientation val="minMax"/>
        </c:scaling>
        <c:axPos val="b"/>
        <c:tickLblPos val="nextTo"/>
        <c:txPr>
          <a:bodyPr/>
          <a:lstStyle/>
          <a:p>
            <a:pPr>
              <a:defRPr sz="2000" b="1" baseline="0">
                <a:solidFill>
                  <a:srgbClr val="7030A0"/>
                </a:solidFill>
              </a:defRPr>
            </a:pPr>
            <a:endParaRPr lang="en-US"/>
          </a:p>
        </c:txPr>
        <c:crossAx val="79749888"/>
        <c:crosses val="autoZero"/>
        <c:auto val="1"/>
        <c:lblAlgn val="ctr"/>
        <c:lblOffset val="100"/>
      </c:catAx>
      <c:valAx>
        <c:axId val="79749888"/>
        <c:scaling>
          <c:orientation val="minMax"/>
        </c:scaling>
        <c:delete val="1"/>
        <c:axPos val="l"/>
        <c:numFmt formatCode="General" sourceLinked="1"/>
        <c:tickLblPos val="nextTo"/>
        <c:crossAx val="79743616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</c:chart>
  <c:externalData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7"/>
  <c:chart>
    <c:autoTitleDeleted val="1"/>
    <c:view3D>
      <c:rotX val="0"/>
      <c:rotY val="0"/>
      <c:depthPercent val="150"/>
      <c:perspective val="0"/>
    </c:view3D>
    <c:sideWall>
      <c:spPr>
        <a:solidFill>
          <a:srgbClr val="FFC000"/>
        </a:solidFill>
      </c:spPr>
    </c:sideWall>
    <c:backWall>
      <c:spPr>
        <a:solidFill>
          <a:srgbClr val="FFC000"/>
        </a:solidFill>
      </c:spPr>
    </c:backWall>
    <c:plotArea>
      <c:layout>
        <c:manualLayout>
          <c:layoutTarget val="inner"/>
          <c:xMode val="edge"/>
          <c:yMode val="edge"/>
          <c:x val="1.3205380577427821E-3"/>
          <c:y val="3.3947759542105431E-2"/>
          <c:w val="0.9986794619422551"/>
          <c:h val="0.87521333461366113"/>
        </c:manualLayout>
      </c:layout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Pt>
            <c:idx val="1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11001E-2"/>
                </c:manualLayout>
              </c:layout>
              <c:showVal val="1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Val val="1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Val val="1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Val val="1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Val val="1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977</c:v>
                </c:pt>
                <c:pt idx="1">
                  <c:v>1294</c:v>
                </c:pt>
                <c:pt idx="2">
                  <c:v>1339</c:v>
                </c:pt>
                <c:pt idx="3">
                  <c:v>1582</c:v>
                </c:pt>
                <c:pt idx="4">
                  <c:v>1383</c:v>
                </c:pt>
                <c:pt idx="5">
                  <c:v>1578</c:v>
                </c:pt>
                <c:pt idx="6">
                  <c:v>1385</c:v>
                </c:pt>
                <c:pt idx="7">
                  <c:v>1496</c:v>
                </c:pt>
                <c:pt idx="8">
                  <c:v>1445</c:v>
                </c:pt>
                <c:pt idx="9">
                  <c:v>1445</c:v>
                </c:pt>
              </c:numCache>
            </c:numRef>
          </c:val>
        </c:ser>
        <c:shape val="cylinder"/>
        <c:axId val="207645312"/>
        <c:axId val="207655296"/>
        <c:axId val="0"/>
      </c:bar3DChart>
      <c:catAx>
        <c:axId val="207645312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2000" b="1" baseline="0"/>
            </a:pPr>
            <a:endParaRPr lang="en-US"/>
          </a:p>
        </c:txPr>
        <c:crossAx val="207655296"/>
        <c:crosses val="autoZero"/>
        <c:auto val="1"/>
        <c:lblAlgn val="ctr"/>
        <c:lblOffset val="100"/>
      </c:catAx>
      <c:valAx>
        <c:axId val="207655296"/>
        <c:scaling>
          <c:orientation val="minMax"/>
        </c:scaling>
        <c:delete val="1"/>
        <c:axPos val="l"/>
        <c:numFmt formatCode="General" sourceLinked="1"/>
        <c:tickLblPos val="nextTo"/>
        <c:crossAx val="207645312"/>
        <c:crosses val="autoZero"/>
        <c:crossBetween val="between"/>
      </c:valAx>
      <c:spPr>
        <a:solidFill>
          <a:srgbClr val="FFC000"/>
        </a:solidFill>
      </c:spPr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"/>
          <c:y val="1.2361182124961652E-2"/>
          <c:w val="1"/>
          <c:h val="0.86441762961448065"/>
        </c:manualLayout>
      </c:layout>
      <c:barChart>
        <c:barDir val="col"/>
        <c:grouping val="clustered"/>
        <c:ser>
          <c:idx val="0"/>
          <c:order val="0"/>
          <c:tx>
            <c:strRef>
              <c:f>Sheet1!$I$3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FF0000"/>
            </a:solidFill>
          </c:spPr>
          <c:dLbls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Sheet1!$I$4:$I$9</c:f>
              <c:numCache>
                <c:formatCode>General</c:formatCode>
                <c:ptCount val="6"/>
                <c:pt idx="0">
                  <c:v>226</c:v>
                </c:pt>
                <c:pt idx="1">
                  <c:v>904</c:v>
                </c:pt>
                <c:pt idx="2">
                  <c:v>315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Sheet1!$J$3</c:f>
              <c:strCache>
                <c:ptCount val="1"/>
                <c:pt idx="0">
                  <c:v>Minor</c:v>
                </c:pt>
              </c:strCache>
            </c:strRef>
          </c:tx>
          <c:spPr>
            <a:solidFill>
              <a:srgbClr val="0070C0"/>
            </a:solidFill>
          </c:spPr>
          <c:dLbls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Sheet1!$J$4:$J$9</c:f>
              <c:numCache>
                <c:formatCode>General</c:formatCode>
                <c:ptCount val="6"/>
                <c:pt idx="0">
                  <c:v>1547</c:v>
                </c:pt>
                <c:pt idx="1">
                  <c:v>1698</c:v>
                </c:pt>
                <c:pt idx="2">
                  <c:v>3305</c:v>
                </c:pt>
                <c:pt idx="3">
                  <c:v>0</c:v>
                </c:pt>
                <c:pt idx="4">
                  <c:v>251</c:v>
                </c:pt>
                <c:pt idx="5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Sheet1!$K$3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</c:spPr>
          <c:dLbls>
            <c:dLbl>
              <c:idx val="4"/>
              <c:layout>
                <c:manualLayout>
                  <c:x val="-5.6497175141242938E-3"/>
                  <c:y val="4.5662100456621869E-3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sz="2000" baseline="0"/>
                </a:pPr>
                <a:endParaRPr lang="en-US"/>
              </a:p>
            </c:txPr>
            <c:showVal val="1"/>
          </c:dLbls>
          <c:cat>
            <c:strRef>
              <c:f>Sheet1!$H$4:$H$9</c:f>
              <c:strCache>
                <c:ptCount val="6"/>
                <c:pt idx="0">
                  <c:v>G.Surgery</c:v>
                </c:pt>
                <c:pt idx="1">
                  <c:v>Gyn.&amp; Obs.</c:v>
                </c:pt>
                <c:pt idx="2">
                  <c:v>Orthopedic</c:v>
                </c:pt>
                <c:pt idx="3">
                  <c:v>ENT</c:v>
                </c:pt>
                <c:pt idx="4">
                  <c:v>Dental</c:v>
                </c:pt>
                <c:pt idx="5">
                  <c:v>Eye</c:v>
                </c:pt>
              </c:strCache>
            </c:strRef>
          </c:cat>
          <c:val>
            <c:numRef>
              <c:f>Sheet1!$K$4:$K$9</c:f>
              <c:numCache>
                <c:formatCode>General</c:formatCode>
                <c:ptCount val="6"/>
                <c:pt idx="0">
                  <c:v>1773</c:v>
                </c:pt>
                <c:pt idx="1">
                  <c:v>2602</c:v>
                </c:pt>
                <c:pt idx="2">
                  <c:v>3620</c:v>
                </c:pt>
                <c:pt idx="3">
                  <c:v>0</c:v>
                </c:pt>
                <c:pt idx="4">
                  <c:v>251</c:v>
                </c:pt>
                <c:pt idx="5">
                  <c:v>4</c:v>
                </c:pt>
              </c:numCache>
            </c:numRef>
          </c:val>
        </c:ser>
        <c:gapWidth val="177"/>
        <c:axId val="80111488"/>
        <c:axId val="80121856"/>
      </c:barChart>
      <c:catAx>
        <c:axId val="80111488"/>
        <c:scaling>
          <c:orientation val="minMax"/>
        </c:scaling>
        <c:axPos val="b"/>
        <c:tickLblPos val="nextTo"/>
        <c:spPr>
          <a:solidFill>
            <a:srgbClr val="FFC000"/>
          </a:solidFill>
        </c:spPr>
        <c:txPr>
          <a:bodyPr/>
          <a:lstStyle/>
          <a:p>
            <a:pPr>
              <a:defRPr sz="2000" baseline="0">
                <a:solidFill>
                  <a:srgbClr val="0070C0"/>
                </a:solidFill>
              </a:defRPr>
            </a:pPr>
            <a:endParaRPr lang="en-US"/>
          </a:p>
        </c:txPr>
        <c:crossAx val="80121856"/>
        <c:crosses val="autoZero"/>
        <c:auto val="1"/>
        <c:lblAlgn val="ctr"/>
        <c:lblOffset val="100"/>
      </c:catAx>
      <c:valAx>
        <c:axId val="80121856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8011148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</c:chart>
  <c:spPr>
    <a:solidFill>
      <a:schemeClr val="accent3">
        <a:lumMod val="40000"/>
        <a:lumOff val="60000"/>
      </a:schemeClr>
    </a:solidFill>
  </c:spPr>
  <c:externalData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Sheet2!$A$3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dLbls>
            <c:showVal val="1"/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Sheet2!$B$3:$H$3</c:f>
              <c:numCache>
                <c:formatCode>General</c:formatCode>
                <c:ptCount val="7"/>
                <c:pt idx="0">
                  <c:v>1090</c:v>
                </c:pt>
                <c:pt idx="1">
                  <c:v>1016</c:v>
                </c:pt>
                <c:pt idx="2">
                  <c:v>1143</c:v>
                </c:pt>
                <c:pt idx="3">
                  <c:v>887</c:v>
                </c:pt>
                <c:pt idx="4">
                  <c:v>1019</c:v>
                </c:pt>
                <c:pt idx="5">
                  <c:v>945</c:v>
                </c:pt>
                <c:pt idx="6">
                  <c:v>870</c:v>
                </c:pt>
              </c:numCache>
            </c:numRef>
          </c:val>
        </c:ser>
        <c:ser>
          <c:idx val="1"/>
          <c:order val="1"/>
          <c:tx>
            <c:strRef>
              <c:f>Sheet2!$A$4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33CC33"/>
            </a:solidFill>
          </c:spPr>
          <c:dLbls>
            <c:showVal val="1"/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Sheet2!$B$4:$H$4</c:f>
              <c:numCache>
                <c:formatCode>General</c:formatCode>
                <c:ptCount val="7"/>
                <c:pt idx="0">
                  <c:v>1944</c:v>
                </c:pt>
                <c:pt idx="1">
                  <c:v>1920</c:v>
                </c:pt>
                <c:pt idx="2">
                  <c:v>1854</c:v>
                </c:pt>
                <c:pt idx="3">
                  <c:v>1803</c:v>
                </c:pt>
                <c:pt idx="4">
                  <c:v>1731</c:v>
                </c:pt>
                <c:pt idx="5">
                  <c:v>1552</c:v>
                </c:pt>
                <c:pt idx="6">
                  <c:v>1654</c:v>
                </c:pt>
              </c:numCache>
            </c:numRef>
          </c:val>
        </c:ser>
        <c:ser>
          <c:idx val="2"/>
          <c:order val="2"/>
          <c:tx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</c:spPr>
          <c:dLbls>
            <c:showVal val="1"/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Sheet2!$B$5:$H$5</c:f>
              <c:numCache>
                <c:formatCode>General</c:formatCode>
                <c:ptCount val="7"/>
                <c:pt idx="0">
                  <c:v>3034</c:v>
                </c:pt>
                <c:pt idx="1">
                  <c:v>2936</c:v>
                </c:pt>
                <c:pt idx="2">
                  <c:v>2997</c:v>
                </c:pt>
                <c:pt idx="3">
                  <c:v>2690</c:v>
                </c:pt>
                <c:pt idx="4">
                  <c:v>2750</c:v>
                </c:pt>
                <c:pt idx="5">
                  <c:v>2497</c:v>
                </c:pt>
                <c:pt idx="6">
                  <c:v>2524</c:v>
                </c:pt>
              </c:numCache>
            </c:numRef>
          </c:val>
        </c:ser>
        <c:gapWidth val="59"/>
        <c:axId val="108092416"/>
        <c:axId val="108131072"/>
      </c:barChart>
      <c:catAx>
        <c:axId val="108092416"/>
        <c:scaling>
          <c:orientation val="minMax"/>
        </c:scaling>
        <c:axPos val="b"/>
        <c:numFmt formatCode="General" sourceLinked="1"/>
        <c:tickLblPos val="nextTo"/>
        <c:crossAx val="108131072"/>
        <c:crosses val="autoZero"/>
        <c:auto val="1"/>
        <c:lblAlgn val="ctr"/>
        <c:lblOffset val="100"/>
      </c:catAx>
      <c:valAx>
        <c:axId val="108131072"/>
        <c:scaling>
          <c:orientation val="minMax"/>
        </c:scaling>
        <c:axPos val="l"/>
        <c:majorGridlines/>
        <c:numFmt formatCode="General" sourceLinked="1"/>
        <c:tickLblPos val="nextTo"/>
        <c:crossAx val="108092416"/>
        <c:crosses val="autoZero"/>
        <c:crossBetween val="between"/>
      </c:valAx>
      <c:spPr>
        <a:ln cap="sq">
          <a:miter lim="800000"/>
        </a:ln>
      </c:spPr>
    </c:plotArea>
    <c:legend>
      <c:legendPos val="t"/>
      <c:layout/>
    </c:legend>
    <c:plotVisOnly val="1"/>
  </c:chart>
  <c:spPr>
    <a:blipFill dpi="0" rotWithShape="1">
      <a:blip xmlns:r="http://schemas.openxmlformats.org/officeDocument/2006/relationships" r:embed="rId1"/>
      <a:srcRect/>
      <a:tile tx="19050" ty="0" sx="100000" sy="100000" flip="none" algn="tl"/>
    </a:blipFill>
  </c:spPr>
  <c:txPr>
    <a:bodyPr/>
    <a:lstStyle/>
    <a:p>
      <a:pPr>
        <a:defRPr sz="2000" b="1" i="0" baseline="0"/>
      </a:pPr>
      <a:endParaRPr lang="en-US"/>
    </a:p>
  </c:txPr>
  <c:externalData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"/>
          <c:y val="0"/>
          <c:w val="1"/>
          <c:h val="0.7709206974128329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1290</c:v>
                </c:pt>
                <c:pt idx="1">
                  <c:v>870</c:v>
                </c:pt>
                <c:pt idx="2">
                  <c:v>1115</c:v>
                </c:pt>
                <c:pt idx="3">
                  <c:v>499</c:v>
                </c:pt>
                <c:pt idx="4">
                  <c:v>298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70C0"/>
            </a:solidFill>
          </c:spPr>
          <c:dLbls>
            <c:dLbl>
              <c:idx val="0"/>
              <c:layout>
                <c:manualLayout>
                  <c:x val="-4.6296296296297014E-3"/>
                  <c:y val="-4.9751234036270143E-3"/>
                </c:manualLayout>
              </c:layout>
              <c:showVal val="1"/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Val val="1"/>
            </c:dLbl>
            <c:dLbl>
              <c:idx val="2"/>
              <c:layout>
                <c:manualLayout>
                  <c:x val="-3.0864197530864872E-3"/>
                  <c:y val="1.058721929971845E-2"/>
                </c:manualLayout>
              </c:layout>
              <c:showVal val="1"/>
            </c:dLbl>
            <c:dLbl>
              <c:idx val="3"/>
              <c:layout>
                <c:manualLayout>
                  <c:x val="-3.0864197530864872E-3"/>
                  <c:y val="9.9502468072540512E-3"/>
                </c:manualLayout>
              </c:layout>
              <c:showVal val="1"/>
            </c:dLbl>
            <c:dLbl>
              <c:idx val="4"/>
              <c:layout>
                <c:manualLayout>
                  <c:x val="-3.0864197530864872E-3"/>
                  <c:y val="2.4875617018135354E-3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1502</c:v>
                </c:pt>
                <c:pt idx="1">
                  <c:v>1654</c:v>
                </c:pt>
                <c:pt idx="2">
                  <c:v>1214</c:v>
                </c:pt>
                <c:pt idx="3">
                  <c:v>1013</c:v>
                </c:pt>
                <c:pt idx="4">
                  <c:v>1174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rgbClr val="00B050"/>
            </a:solidFill>
          </c:spPr>
          <c:dLbls>
            <c:dLbl>
              <c:idx val="0"/>
              <c:layout>
                <c:manualLayout>
                  <c:x val="-3.0864197530864803E-3"/>
                  <c:y val="9.3625796775407015E-4"/>
                </c:manualLayout>
              </c:layout>
              <c:showVal val="1"/>
            </c:dLbl>
            <c:dLbl>
              <c:idx val="1"/>
              <c:layout>
                <c:manualLayout>
                  <c:x val="0"/>
                  <c:y val="-3.6949756280465497E-3"/>
                </c:manualLayout>
              </c:layout>
              <c:spPr/>
              <c:txPr>
                <a:bodyPr rot="-5400000" vert="horz"/>
                <a:lstStyle/>
                <a:p>
                  <a:pPr>
                    <a:defRPr sz="2400" b="1"/>
                  </a:pPr>
                  <a:endParaRPr lang="en-US"/>
                </a:p>
              </c:txPr>
              <c:showVal val="1"/>
            </c:dLbl>
            <c:dLbl>
              <c:idx val="2"/>
              <c:layout>
                <c:manualLayout>
                  <c:x val="3.0864197530865063E-3"/>
                  <c:y val="-3.0866359269839376E-2"/>
                </c:manualLayout>
              </c:layout>
              <c:showVal val="1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2792</c:v>
                </c:pt>
                <c:pt idx="1">
                  <c:v>2524</c:v>
                </c:pt>
                <c:pt idx="2">
                  <c:v>2329</c:v>
                </c:pt>
                <c:pt idx="3">
                  <c:v>1512</c:v>
                </c:pt>
                <c:pt idx="4">
                  <c:v>1472</c:v>
                </c:pt>
              </c:numCache>
            </c:numRef>
          </c:val>
        </c:ser>
        <c:axId val="207863168"/>
        <c:axId val="207963264"/>
      </c:barChart>
      <c:catAx>
        <c:axId val="207863168"/>
        <c:scaling>
          <c:orientation val="minMax"/>
        </c:scaling>
        <c:axPos val="b"/>
        <c:tickLblPos val="nextTo"/>
        <c:spPr>
          <a:blipFill>
            <a:blip xmlns:r="http://schemas.openxmlformats.org/officeDocument/2006/relationships" r:embed="rId1"/>
            <a:tile tx="0" ty="0" sx="100000" sy="100000" flip="none" algn="tl"/>
          </a:blipFill>
        </c:spPr>
        <c:txPr>
          <a:bodyPr/>
          <a:lstStyle/>
          <a:p>
            <a:pPr>
              <a:defRPr b="1"/>
            </a:pPr>
            <a:endParaRPr lang="en-US"/>
          </a:p>
        </c:txPr>
        <c:crossAx val="207963264"/>
        <c:crosses val="autoZero"/>
        <c:auto val="1"/>
        <c:lblAlgn val="ctr"/>
        <c:lblOffset val="100"/>
      </c:catAx>
      <c:valAx>
        <c:axId val="20796326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207863168"/>
        <c:crosses val="autoZero"/>
        <c:crossBetween val="between"/>
      </c:valAx>
      <c:spPr>
        <a:blipFill>
          <a:blip xmlns:r="http://schemas.openxmlformats.org/officeDocument/2006/relationships" r:embed="rId2"/>
          <a:tile tx="0" ty="0" sx="100000" sy="100000" flip="none" algn="tl"/>
        </a:blipFill>
      </c:spPr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3"/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7.6619203849518924E-2"/>
          <c:y val="3.4974553485692346E-2"/>
          <c:w val="0.77338079615048361"/>
          <c:h val="0.85532856411241276"/>
        </c:manualLayout>
      </c:layout>
      <c:barChart>
        <c:barDir val="col"/>
        <c:grouping val="clustered"/>
        <c:ser>
          <c:idx val="0"/>
          <c:order val="0"/>
          <c:tx>
            <c:strRef>
              <c:f>Sheet1!$H$3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FF0000"/>
            </a:solidFill>
          </c:spPr>
          <c:dLbls>
            <c:showVal val="1"/>
          </c:dLbls>
          <c:cat>
            <c:numRef>
              <c:f>Sheet1!$G$4:$G$10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Sheet1!$H$4:$H$10</c:f>
              <c:numCache>
                <c:formatCode>General</c:formatCode>
                <c:ptCount val="7"/>
                <c:pt idx="0">
                  <c:v>1.35</c:v>
                </c:pt>
                <c:pt idx="1">
                  <c:v>1.43</c:v>
                </c:pt>
                <c:pt idx="2">
                  <c:v>1.4</c:v>
                </c:pt>
                <c:pt idx="3">
                  <c:v>1.33</c:v>
                </c:pt>
                <c:pt idx="4">
                  <c:v>1.1900000000000033</c:v>
                </c:pt>
                <c:pt idx="5">
                  <c:v>2.02</c:v>
                </c:pt>
                <c:pt idx="6">
                  <c:v>2.65</c:v>
                </c:pt>
              </c:numCache>
            </c:numRef>
          </c:val>
        </c:ser>
        <c:axId val="118632832"/>
        <c:axId val="118634368"/>
      </c:barChart>
      <c:catAx>
        <c:axId val="118632832"/>
        <c:scaling>
          <c:orientation val="minMax"/>
        </c:scaling>
        <c:axPos val="b"/>
        <c:numFmt formatCode="General" sourceLinked="1"/>
        <c:tickLblPos val="nextTo"/>
        <c:crossAx val="118634368"/>
        <c:crosses val="autoZero"/>
        <c:auto val="1"/>
        <c:lblAlgn val="ctr"/>
        <c:lblOffset val="100"/>
      </c:catAx>
      <c:valAx>
        <c:axId val="118634368"/>
        <c:scaling>
          <c:orientation val="minMax"/>
        </c:scaling>
        <c:axPos val="l"/>
        <c:majorGridlines/>
        <c:numFmt formatCode="General" sourceLinked="1"/>
        <c:tickLblPos val="nextTo"/>
        <c:crossAx val="118632832"/>
        <c:crosses val="autoZero"/>
        <c:crossBetween val="between"/>
      </c:valAx>
      <c:spPr>
        <a:solidFill>
          <a:srgbClr val="3EEE00"/>
        </a:solidFill>
      </c:spPr>
    </c:plotArea>
    <c:plotVisOnly val="1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2000" b="1" i="0" baseline="0"/>
      </a:pPr>
      <a:endParaRPr lang="en-US"/>
    </a:p>
  </c:txPr>
  <c:externalData r:id="rId2"/>
  <c:userShapes r:id="rId3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"/>
          <c:y val="0.15657069221768966"/>
          <c:w val="1"/>
          <c:h val="0.72643297599848211"/>
        </c:manualLayout>
      </c:layout>
      <c:barChart>
        <c:barDir val="col"/>
        <c:grouping val="clustered"/>
        <c:ser>
          <c:idx val="0"/>
          <c:order val="0"/>
          <c:tx>
            <c:strRef>
              <c:f>Sheet1!$B$3</c:f>
              <c:strCache>
                <c:ptCount val="1"/>
                <c:pt idx="0">
                  <c:v>Discharge</c:v>
                </c:pt>
              </c:strCache>
            </c:strRef>
          </c:tx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Sheet1!$B$4:$B$10</c:f>
              <c:numCache>
                <c:formatCode>General</c:formatCode>
                <c:ptCount val="7"/>
                <c:pt idx="0">
                  <c:v>4507</c:v>
                </c:pt>
                <c:pt idx="1">
                  <c:v>2836</c:v>
                </c:pt>
                <c:pt idx="2">
                  <c:v>6109</c:v>
                </c:pt>
                <c:pt idx="3">
                  <c:v>2360</c:v>
                </c:pt>
                <c:pt idx="4">
                  <c:v>4241</c:v>
                </c:pt>
                <c:pt idx="5">
                  <c:v>3253</c:v>
                </c:pt>
                <c:pt idx="6">
                  <c:v>4347</c:v>
                </c:pt>
              </c:numCache>
            </c:numRef>
          </c:val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DORB</c:v>
                </c:pt>
              </c:strCache>
            </c:strRef>
          </c:tx>
          <c:spPr>
            <a:solidFill>
              <a:srgbClr val="FFC000"/>
            </a:solidFill>
          </c:spPr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Sheet1!$C$4:$C$10</c:f>
              <c:numCache>
                <c:formatCode>General</c:formatCode>
                <c:ptCount val="7"/>
                <c:pt idx="0">
                  <c:v>812</c:v>
                </c:pt>
                <c:pt idx="1">
                  <c:v>191</c:v>
                </c:pt>
                <c:pt idx="2">
                  <c:v>467</c:v>
                </c:pt>
                <c:pt idx="3">
                  <c:v>145</c:v>
                </c:pt>
                <c:pt idx="4">
                  <c:v>900</c:v>
                </c:pt>
                <c:pt idx="5">
                  <c:v>97</c:v>
                </c:pt>
                <c:pt idx="6">
                  <c:v>231</c:v>
                </c:pt>
              </c:numCache>
            </c:numRef>
          </c:val>
        </c:ser>
        <c:ser>
          <c:idx val="2"/>
          <c:order val="2"/>
          <c:tx>
            <c:strRef>
              <c:f>Sheet1!$D$3</c:f>
              <c:strCache>
                <c:ptCount val="1"/>
                <c:pt idx="0">
                  <c:v>ABS.</c:v>
                </c:pt>
              </c:strCache>
            </c:strRef>
          </c:tx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Sheet1!$D$4:$D$10</c:f>
              <c:numCache>
                <c:formatCode>General</c:formatCode>
                <c:ptCount val="7"/>
                <c:pt idx="0">
                  <c:v>263</c:v>
                </c:pt>
                <c:pt idx="1">
                  <c:v>709</c:v>
                </c:pt>
                <c:pt idx="2">
                  <c:v>291</c:v>
                </c:pt>
                <c:pt idx="3">
                  <c:v>628</c:v>
                </c:pt>
                <c:pt idx="4">
                  <c:v>1216</c:v>
                </c:pt>
                <c:pt idx="5">
                  <c:v>60</c:v>
                </c:pt>
                <c:pt idx="6">
                  <c:v>133</c:v>
                </c:pt>
              </c:numCache>
            </c:numRef>
          </c:val>
        </c:ser>
        <c:ser>
          <c:idx val="3"/>
          <c:order val="3"/>
          <c:tx>
            <c:strRef>
              <c:f>Sheet1!$E$3</c:f>
              <c:strCache>
                <c:ptCount val="1"/>
                <c:pt idx="0">
                  <c:v>Ref.</c:v>
                </c:pt>
              </c:strCache>
            </c:strRef>
          </c:tx>
          <c:spPr>
            <a:solidFill>
              <a:schemeClr val="tx1"/>
            </a:solidFill>
          </c:spPr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Sheet1!$E$4:$E$10</c:f>
              <c:numCache>
                <c:formatCode>General</c:formatCode>
                <c:ptCount val="7"/>
                <c:pt idx="0">
                  <c:v>392</c:v>
                </c:pt>
                <c:pt idx="1">
                  <c:v>384</c:v>
                </c:pt>
                <c:pt idx="2">
                  <c:v>158</c:v>
                </c:pt>
                <c:pt idx="3">
                  <c:v>208</c:v>
                </c:pt>
                <c:pt idx="4">
                  <c:v>237</c:v>
                </c:pt>
                <c:pt idx="5">
                  <c:v>16</c:v>
                </c:pt>
                <c:pt idx="6">
                  <c:v>97</c:v>
                </c:pt>
              </c:numCache>
            </c:numRef>
          </c:val>
        </c:ser>
        <c:ser>
          <c:idx val="4"/>
          <c:order val="4"/>
          <c:tx>
            <c:strRef>
              <c:f>Sheet1!$F$3</c:f>
              <c:strCache>
                <c:ptCount val="1"/>
                <c:pt idx="0">
                  <c:v>Death </c:v>
                </c:pt>
              </c:strCache>
            </c:strRef>
          </c:tx>
          <c:spPr>
            <a:solidFill>
              <a:srgbClr val="FF0000"/>
            </a:solidFill>
          </c:spPr>
          <c:dLbls>
            <c:txPr>
              <a:bodyPr rot="-5400000" vert="horz"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Sheet1!$F$4:$F$10</c:f>
              <c:numCache>
                <c:formatCode>General</c:formatCode>
                <c:ptCount val="7"/>
                <c:pt idx="0">
                  <c:v>433</c:v>
                </c:pt>
                <c:pt idx="1">
                  <c:v>18</c:v>
                </c:pt>
                <c:pt idx="2">
                  <c:v>345</c:v>
                </c:pt>
                <c:pt idx="3">
                  <c:v>10</c:v>
                </c:pt>
                <c:pt idx="4">
                  <c:v>3</c:v>
                </c:pt>
                <c:pt idx="5">
                  <c:v>0</c:v>
                </c:pt>
                <c:pt idx="6">
                  <c:v>114</c:v>
                </c:pt>
              </c:numCache>
            </c:numRef>
          </c:val>
        </c:ser>
        <c:ser>
          <c:idx val="5"/>
          <c:order val="5"/>
          <c:tx>
            <c:strRef>
              <c:f>Sheet1!$G$3</c:f>
              <c:strCache>
                <c:ptCount val="1"/>
              </c:strCache>
            </c:strRef>
          </c:tx>
          <c:cat>
            <c:strRef>
              <c:f>Sheet1!$A$4:$A$10</c:f>
              <c:strCache>
                <c:ptCount val="7"/>
                <c:pt idx="0">
                  <c:v>MMW</c:v>
                </c:pt>
                <c:pt idx="1">
                  <c:v>MSW</c:v>
                </c:pt>
                <c:pt idx="2">
                  <c:v>FMW</c:v>
                </c:pt>
                <c:pt idx="3">
                  <c:v>FSW</c:v>
                </c:pt>
                <c:pt idx="4">
                  <c:v>EOC</c:v>
                </c:pt>
                <c:pt idx="5">
                  <c:v>DIARRHEA</c:v>
                </c:pt>
                <c:pt idx="6">
                  <c:v>CHILD </c:v>
                </c:pt>
              </c:strCache>
            </c:strRef>
          </c:cat>
          <c:val>
            <c:numRef>
              <c:f>Sheet1!$G$4:$G$10</c:f>
              <c:numCache>
                <c:formatCode>General</c:formatCode>
                <c:ptCount val="7"/>
              </c:numCache>
            </c:numRef>
          </c:val>
        </c:ser>
        <c:axId val="106448768"/>
        <c:axId val="106450304"/>
      </c:barChart>
      <c:catAx>
        <c:axId val="106448768"/>
        <c:scaling>
          <c:orientation val="minMax"/>
        </c:scaling>
        <c:axPos val="b"/>
        <c:tickLblPos val="nextTo"/>
        <c:txPr>
          <a:bodyPr/>
          <a:lstStyle/>
          <a:p>
            <a:pPr>
              <a:defRPr sz="2200" baseline="0">
                <a:latin typeface="Franklin Gothic Medium" pitchFamily="34" charset="0"/>
              </a:defRPr>
            </a:pPr>
            <a:endParaRPr lang="en-US"/>
          </a:p>
        </c:txPr>
        <c:crossAx val="106450304"/>
        <c:crosses val="autoZero"/>
        <c:auto val="1"/>
        <c:lblAlgn val="ctr"/>
        <c:lblOffset val="100"/>
      </c:catAx>
      <c:valAx>
        <c:axId val="10645030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106448768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legend>
      <c:legendPos val="t"/>
      <c:legendEntry>
        <c:idx val="5"/>
        <c:delete val="1"/>
      </c:legendEntry>
      <c:layout>
        <c:manualLayout>
          <c:xMode val="edge"/>
          <c:yMode val="edge"/>
          <c:x val="0"/>
          <c:y val="7.6916739574219892E-2"/>
          <c:w val="0.9989280402449694"/>
          <c:h val="6.5434529017206533E-2"/>
        </c:manualLayout>
      </c:layout>
      <c:spPr>
        <a:blipFill>
          <a:blip xmlns:r="http://schemas.openxmlformats.org/officeDocument/2006/relationships" r:embed="rId2"/>
          <a:tile tx="0" ty="0" sx="100000" sy="100000" flip="none" algn="tl"/>
        </a:blipFill>
        <a:effectLst>
          <a:glow rad="63500">
            <a:schemeClr val="accent2">
              <a:satMod val="175000"/>
              <a:alpha val="40000"/>
            </a:schemeClr>
          </a:glow>
        </a:effectLst>
      </c:spPr>
      <c:txPr>
        <a:bodyPr/>
        <a:lstStyle/>
        <a:p>
          <a:pPr>
            <a:defRPr sz="1800" baseline="0"/>
          </a:pPr>
          <a:endParaRPr lang="en-US"/>
        </a:p>
      </c:txPr>
    </c:legend>
    <c:plotVisOnly val="1"/>
  </c:chart>
  <c:externalData r:id="rId3"/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pieChart>
        <c:varyColors val="1"/>
        <c:ser>
          <c:idx val="0"/>
          <c:order val="0"/>
          <c:explosion val="4"/>
          <c:dPt>
            <c:idx val="0"/>
            <c:spPr>
              <a:solidFill>
                <a:srgbClr val="0C7E17"/>
              </a:solidFill>
            </c:spPr>
          </c:dPt>
          <c:dPt>
            <c:idx val="1"/>
            <c:explosion val="2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002060"/>
              </a:solidFill>
            </c:spPr>
          </c:dPt>
          <c:dPt>
            <c:idx val="3"/>
            <c:spPr>
              <a:solidFill>
                <a:srgbClr val="00B0F0"/>
              </a:solidFill>
            </c:spPr>
          </c:dPt>
          <c:dPt>
            <c:idx val="4"/>
            <c:spPr>
              <a:solidFill>
                <a:srgbClr val="FF0000"/>
              </a:solidFill>
            </c:spPr>
          </c:dPt>
          <c:dLbls>
            <c:dLbl>
              <c:idx val="0"/>
              <c:layout>
                <c:manualLayout>
                  <c:x val="1.8852252843394576E-2"/>
                  <c:y val="-1.8136649058108242E-2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00B050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1"/>
              <c:layout>
                <c:manualLayout>
                  <c:x val="-6.4747812773403329E-2"/>
                  <c:y val="3.287897701811679E-2"/>
                </c:manualLayout>
              </c:layout>
              <c:showVal val="1"/>
              <c:showCatName val="1"/>
              <c:showPercent val="1"/>
            </c:dLbl>
            <c:dLbl>
              <c:idx val="2"/>
              <c:layout>
                <c:manualLayout>
                  <c:x val="-0.10190376202974613"/>
                  <c:y val="7.1614653351257926E-2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002060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3"/>
              <c:layout>
                <c:manualLayout>
                  <c:x val="-0.11080632108486438"/>
                  <c:y val="1.0162601626016389E-3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00B0F0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dLbl>
              <c:idx val="4"/>
              <c:layout>
                <c:manualLayout>
                  <c:x val="0.23925000000000021"/>
                  <c:y val="2.1929824561403512E-3"/>
                </c:manualLayout>
              </c:layout>
              <c:numFmt formatCode="General" sourceLinked="0"/>
              <c:spPr/>
              <c:txPr>
                <a:bodyPr/>
                <a:lstStyle/>
                <a:p>
                  <a:pPr>
                    <a:defRPr sz="2200" b="1" baseline="0">
                      <a:solidFill>
                        <a:srgbClr val="FF0000"/>
                      </a:solidFill>
                    </a:defRPr>
                  </a:pPr>
                  <a:endParaRPr lang="en-US"/>
                </a:p>
              </c:txPr>
              <c:showVal val="1"/>
              <c:showCatName val="1"/>
              <c:showPercent val="1"/>
            </c:dLbl>
            <c:numFmt formatCode="General" sourceLinked="0"/>
            <c:txPr>
              <a:bodyPr/>
              <a:lstStyle/>
              <a:p>
                <a:pPr>
                  <a:defRPr sz="2200" b="1" baseline="0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Val val="1"/>
            <c:showCatName val="1"/>
            <c:showPercent val="1"/>
            <c:showLeaderLines val="1"/>
          </c:dLbls>
          <c:cat>
            <c:strRef>
              <c:f>Sheet2!$B$3:$F$3</c:f>
              <c:strCache>
                <c:ptCount val="5"/>
                <c:pt idx="0">
                  <c:v>Discharge</c:v>
                </c:pt>
                <c:pt idx="1">
                  <c:v>DORB</c:v>
                </c:pt>
                <c:pt idx="2">
                  <c:v>ABS.</c:v>
                </c:pt>
                <c:pt idx="3">
                  <c:v>Ref.</c:v>
                </c:pt>
                <c:pt idx="4">
                  <c:v>Death </c:v>
                </c:pt>
              </c:strCache>
            </c:strRef>
          </c:cat>
          <c:val>
            <c:numRef>
              <c:f>Sheet2!$B$4:$F$4</c:f>
              <c:numCache>
                <c:formatCode>General</c:formatCode>
                <c:ptCount val="5"/>
                <c:pt idx="0">
                  <c:v>27653</c:v>
                </c:pt>
                <c:pt idx="1">
                  <c:v>2843</c:v>
                </c:pt>
                <c:pt idx="2">
                  <c:v>3300</c:v>
                </c:pt>
                <c:pt idx="3">
                  <c:v>1492</c:v>
                </c:pt>
                <c:pt idx="4">
                  <c:v>923</c:v>
                </c:pt>
              </c:numCache>
            </c:numRef>
          </c:val>
        </c:ser>
        <c:dLbls>
          <c:showVal val="1"/>
        </c:dLbls>
        <c:firstSliceAng val="0"/>
      </c:pieChart>
    </c:plotArea>
    <c:plotVisOnly val="1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/>
  <c:userShapes r:id="rId3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0"/>
      <c:rotY val="0"/>
      <c:depthPercent val="110"/>
      <c:rAngAx val="1"/>
    </c:view3D>
    <c:side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"/>
          <c:y val="3.2163742690058485E-2"/>
          <c:w val="0.98514599737532804"/>
          <c:h val="0.83777362204724415"/>
        </c:manualLayout>
      </c:layout>
      <c:bar3DChart>
        <c:barDir val="col"/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Val val="1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Val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#,##0</c:formatCode>
                <c:ptCount val="7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  <c:pt idx="6" formatCode="General">
                  <c:v>8629296</c:v>
                </c:pt>
              </c:numCache>
            </c:numRef>
          </c:val>
        </c:ser>
        <c:gapWidth val="335"/>
        <c:gapDepth val="228"/>
        <c:shape val="cone"/>
        <c:axId val="207997568"/>
        <c:axId val="207999360"/>
        <c:axId val="207603008"/>
      </c:bar3DChart>
      <c:catAx>
        <c:axId val="207997568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2800" b="1" baseline="0"/>
            </a:pPr>
            <a:endParaRPr lang="en-US"/>
          </a:p>
        </c:txPr>
        <c:crossAx val="207999360"/>
        <c:crosses val="autoZero"/>
        <c:auto val="1"/>
        <c:lblAlgn val="ctr"/>
        <c:lblOffset val="100"/>
      </c:catAx>
      <c:valAx>
        <c:axId val="207999360"/>
        <c:scaling>
          <c:orientation val="minMax"/>
        </c:scaling>
        <c:delete val="1"/>
        <c:axPos val="l"/>
        <c:numFmt formatCode="#,##0" sourceLinked="1"/>
        <c:tickLblPos val="nextTo"/>
        <c:crossAx val="207997568"/>
        <c:crosses val="autoZero"/>
        <c:crossBetween val="between"/>
      </c:valAx>
      <c:serAx>
        <c:axId val="207603008"/>
        <c:scaling>
          <c:orientation val="minMax"/>
        </c:scaling>
        <c:delete val="1"/>
        <c:axPos val="b"/>
        <c:tickLblPos val="nextTo"/>
        <c:crossAx val="207999360"/>
        <c:crosses val="autoZero"/>
      </c:serAx>
      <c:spPr>
        <a:noFill/>
        <a:ln w="25386">
          <a:noFill/>
        </a:ln>
      </c:spPr>
    </c:plotArea>
    <c:plotVisOnly val="1"/>
    <c:dispBlanksAs val="gap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view3D>
      <c:rAngAx val="1"/>
    </c:view3D>
    <c:backWall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/>
      <c:bar3DChart>
        <c:barDir val="col"/>
        <c:grouping val="clustered"/>
        <c:ser>
          <c:idx val="0"/>
          <c:order val="0"/>
          <c:dLbls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Val val="1"/>
          </c:dLbls>
          <c:cat>
            <c:strRef>
              <c:f>Sheet2!$A$3:$A$13</c:f>
              <c:strCache>
                <c:ptCount val="11"/>
                <c:pt idx="0">
                  <c:v>Ambulance </c:v>
                </c:pt>
                <c:pt idx="1">
                  <c:v>B. Bank</c:v>
                </c:pt>
                <c:pt idx="2">
                  <c:v>Cabin &amp; Paying fee </c:v>
                </c:pt>
                <c:pt idx="3">
                  <c:v>ECG </c:v>
                </c:pt>
                <c:pt idx="4">
                  <c:v>MSR</c:v>
                </c:pt>
                <c:pt idx="5">
                  <c:v>OPD &amp; Emer. (Ticket)</c:v>
                </c:pt>
                <c:pt idx="6">
                  <c:v>Operation Charge </c:v>
                </c:pt>
                <c:pt idx="7">
                  <c:v>Pat. Admission fee</c:v>
                </c:pt>
                <c:pt idx="8">
                  <c:v>Pathology</c:v>
                </c:pt>
                <c:pt idx="9">
                  <c:v>Ultrasono.</c:v>
                </c:pt>
                <c:pt idx="10">
                  <c:v>X-ray</c:v>
                </c:pt>
              </c:strCache>
            </c:strRef>
          </c:cat>
          <c:val>
            <c:numRef>
              <c:f>Sheet2!$B$3:$B$13</c:f>
              <c:numCache>
                <c:formatCode>General</c:formatCode>
                <c:ptCount val="11"/>
                <c:pt idx="0">
                  <c:v>1399300</c:v>
                </c:pt>
                <c:pt idx="1">
                  <c:v>700200</c:v>
                </c:pt>
                <c:pt idx="2">
                  <c:v>776950</c:v>
                </c:pt>
                <c:pt idx="3">
                  <c:v>394120</c:v>
                </c:pt>
                <c:pt idx="4">
                  <c:v>277000</c:v>
                </c:pt>
                <c:pt idx="5">
                  <c:v>1494420</c:v>
                </c:pt>
                <c:pt idx="6">
                  <c:v>117400</c:v>
                </c:pt>
                <c:pt idx="7">
                  <c:v>304025</c:v>
                </c:pt>
                <c:pt idx="8">
                  <c:v>2186806</c:v>
                </c:pt>
                <c:pt idx="9">
                  <c:v>298360</c:v>
                </c:pt>
                <c:pt idx="10">
                  <c:v>680930</c:v>
                </c:pt>
              </c:numCache>
            </c:numRef>
          </c:val>
        </c:ser>
        <c:shape val="box"/>
        <c:axId val="81033088"/>
        <c:axId val="81034624"/>
        <c:axId val="0"/>
      </c:bar3DChart>
      <c:catAx>
        <c:axId val="81033088"/>
        <c:scaling>
          <c:orientation val="minMax"/>
        </c:scaling>
        <c:axPos val="b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81034624"/>
        <c:crosses val="autoZero"/>
        <c:auto val="1"/>
        <c:lblAlgn val="ctr"/>
        <c:lblOffset val="100"/>
      </c:catAx>
      <c:valAx>
        <c:axId val="81034624"/>
        <c:scaling>
          <c:orientation val="minMax"/>
        </c:scaling>
        <c:delete val="1"/>
        <c:axPos val="l"/>
        <c:majorGridlines/>
        <c:numFmt formatCode="General" sourceLinked="1"/>
        <c:tickLblPos val="nextTo"/>
        <c:crossAx val="81033088"/>
        <c:crosses val="autoZero"/>
        <c:crossBetween val="between"/>
      </c:valAx>
      <c:spPr>
        <a:solidFill>
          <a:srgbClr val="FFC000"/>
        </a:solidFill>
      </c:spPr>
    </c:plotArea>
    <c:plotVisOnly val="1"/>
  </c:chart>
  <c:externalData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486400" y="0"/>
          <a:ext cx="3657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000" dirty="0" smtClean="0"/>
            <a:t>Total Positive Admitted - 1299</a:t>
          </a:r>
          <a:endParaRPr lang="en-US" sz="2000" dirty="0"/>
        </a:p>
      </cdr:txBody>
    </cdr:sp>
  </cdr:relSizeAnchor>
  <cdr:relSizeAnchor xmlns:cdr="http://schemas.openxmlformats.org/drawingml/2006/chartDrawing">
    <cdr:from>
      <cdr:x>0.925</cdr:x>
      <cdr:y>0.14458</cdr:y>
    </cdr:from>
    <cdr:to>
      <cdr:x>0.975</cdr:x>
      <cdr:y>0.6747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8458200" y="914400"/>
          <a:ext cx="457200" cy="3352800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</cdr:spPr>
      <cdr:txBody>
        <a:bodyPr xmlns:a="http://schemas.openxmlformats.org/drawingml/2006/main" vert="vert270" wrap="square" rtlCol="0"/>
        <a:lstStyle xmlns:a="http://schemas.openxmlformats.org/drawingml/2006/main"/>
        <a:p xmlns:a="http://schemas.openxmlformats.org/drawingml/2006/main">
          <a:r>
            <a:rPr lang="en-US" sz="2000" b="1" dirty="0" smtClean="0"/>
            <a:t>Total suspected</a:t>
          </a:r>
          <a:r>
            <a:rPr lang="en-US" sz="2000" dirty="0" smtClean="0"/>
            <a:t>  </a:t>
          </a:r>
          <a:r>
            <a:rPr lang="en-US" sz="2000" b="1" dirty="0" smtClean="0"/>
            <a:t>Patient</a:t>
          </a:r>
          <a:r>
            <a:rPr lang="en-US" sz="2000" dirty="0" smtClean="0"/>
            <a:t> -</a:t>
          </a:r>
          <a:r>
            <a:rPr lang="en-US" sz="2000" b="1" dirty="0" smtClean="0"/>
            <a:t>2523</a:t>
          </a:r>
          <a:endParaRPr lang="en-US" sz="20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0.54167</cdr:x>
      <cdr:y>0.4</cdr:y>
    </cdr:from>
    <cdr:to>
      <cdr:x>0.60001</cdr:x>
      <cdr:y>0.44445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953000" y="2743200"/>
          <a:ext cx="533460" cy="30483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3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0.38333</cdr:x>
      <cdr:y>0.56667</cdr:y>
    </cdr:from>
    <cdr:to>
      <cdr:x>0.43333</cdr:x>
      <cdr:y>0.62223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3505200" y="3886200"/>
          <a:ext cx="457200" cy="38103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>
              <a:solidFill>
                <a:srgbClr val="FFFF00"/>
              </a:solidFill>
            </a:rPr>
            <a:t>2</a:t>
          </a:r>
        </a:p>
      </cdr:txBody>
    </cdr:sp>
  </cdr:relSizeAnchor>
  <cdr:relSizeAnchor xmlns:cdr="http://schemas.openxmlformats.org/drawingml/2006/chartDrawing">
    <cdr:from>
      <cdr:x>0.43333</cdr:x>
      <cdr:y>0.37778</cdr:y>
    </cdr:from>
    <cdr:to>
      <cdr:x>0.48333</cdr:x>
      <cdr:y>0.41111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2590800"/>
          <a:ext cx="457200" cy="2285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>
              <a:solidFill>
                <a:srgbClr val="FFFF00"/>
              </a:solidFill>
            </a:rPr>
            <a:t>4</a:t>
          </a:r>
        </a:p>
      </cdr:txBody>
    </cdr:sp>
  </cdr:relSizeAnchor>
  <cdr:relSizeAnchor xmlns:cdr="http://schemas.openxmlformats.org/drawingml/2006/chartDrawing">
    <cdr:from>
      <cdr:x>0.59167</cdr:x>
      <cdr:y>0.5</cdr:y>
    </cdr:from>
    <cdr:to>
      <cdr:x>0.63333</cdr:x>
      <cdr:y>0.53333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410200" y="3429000"/>
          <a:ext cx="380940" cy="22857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>
              <a:solidFill>
                <a:srgbClr val="FFFF00"/>
              </a:solidFill>
            </a:rPr>
            <a:t>5</a:t>
          </a:r>
        </a:p>
      </cdr:txBody>
    </cdr:sp>
  </cdr:relSizeAnchor>
  <cdr:relSizeAnchor xmlns:cdr="http://schemas.openxmlformats.org/drawingml/2006/chartDrawing">
    <cdr:from>
      <cdr:x>0.36667</cdr:x>
      <cdr:y>0.45556</cdr:y>
    </cdr:from>
    <cdr:to>
      <cdr:x>0.40833</cdr:x>
      <cdr:y>0.48889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3352800" y="3124200"/>
          <a:ext cx="380940" cy="22857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>
              <a:solidFill>
                <a:srgbClr val="FFFF00"/>
              </a:solidFill>
            </a:rPr>
            <a:t>6</a:t>
          </a:r>
        </a:p>
      </cdr:txBody>
    </cdr:sp>
  </cdr:relSizeAnchor>
  <cdr:relSizeAnchor xmlns:cdr="http://schemas.openxmlformats.org/drawingml/2006/chartDrawing">
    <cdr:from>
      <cdr:x>0.45</cdr:x>
      <cdr:y>0.67778</cdr:y>
    </cdr:from>
    <cdr:to>
      <cdr:x>0.475</cdr:x>
      <cdr:y>0.71112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4114800" y="4648200"/>
          <a:ext cx="228600" cy="2286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>
              <a:solidFill>
                <a:srgbClr val="FFFF00"/>
              </a:solidFill>
            </a:rPr>
            <a:t>7</a:t>
          </a:r>
          <a:endParaRPr lang="en-US" sz="2400" dirty="0">
            <a:solidFill>
              <a:srgbClr val="FFFF00"/>
            </a:solidFill>
          </a:endParaRPr>
        </a:p>
      </cdr:txBody>
    </cdr:sp>
  </cdr:relSizeAnchor>
  <cdr:relSizeAnchor xmlns:cdr="http://schemas.openxmlformats.org/drawingml/2006/chartDrawing">
    <cdr:from>
      <cdr:x>0.9</cdr:x>
      <cdr:y>0.36667</cdr:y>
    </cdr:from>
    <cdr:to>
      <cdr:x>0.96667</cdr:x>
      <cdr:y>0.71111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8229600" y="2514600"/>
          <a:ext cx="609600" cy="23622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0.91667</cdr:x>
      <cdr:y>0.2</cdr:y>
    </cdr:from>
    <cdr:to>
      <cdr:x>0.975</cdr:x>
      <cdr:y>0.67778</cdr:y>
    </cdr:to>
    <cdr:sp macro="" textlink="">
      <cdr:nvSpPr>
        <cdr:cNvPr id="9" name="TextBox 8"/>
        <cdr:cNvSpPr txBox="1"/>
      </cdr:nvSpPr>
      <cdr:spPr>
        <a:xfrm xmlns:a="http://schemas.openxmlformats.org/drawingml/2006/main">
          <a:off x="8382000" y="1371600"/>
          <a:ext cx="533400" cy="3276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vert270" wrap="square" rtlCol="0"/>
        <a:lstStyle xmlns:a="http://schemas.openxmlformats.org/drawingml/2006/main"/>
        <a:p xmlns:a="http://schemas.openxmlformats.org/drawingml/2006/main">
          <a:r>
            <a:rPr lang="en-US" sz="2400" b="1" dirty="0" smtClean="0">
              <a:solidFill>
                <a:srgbClr val="00B050"/>
              </a:solidFill>
            </a:rPr>
            <a:t>Total Admission- 36114</a:t>
          </a:r>
          <a:endParaRPr lang="en-US" sz="2400" b="1" dirty="0">
            <a:solidFill>
              <a:srgbClr val="00B050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0.43333</cdr:x>
      <cdr:y>0.90278</cdr:y>
    </cdr:from>
    <cdr:to>
      <cdr:x>0.5537</cdr:x>
      <cdr:y>0.96249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4953000"/>
          <a:ext cx="1100663" cy="3275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0.84167</cdr:x>
      <cdr:y>0.91667</cdr:y>
    </cdr:from>
    <cdr:to>
      <cdr:x>0.96204</cdr:x>
      <cdr:y>0.97222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7696200" y="5029200"/>
          <a:ext cx="1100667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0.84167</cdr:x>
      <cdr:y>0</cdr:y>
    </cdr:from>
    <cdr:to>
      <cdr:x>1</cdr:x>
      <cdr:y>0.39024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7696230" y="-152400"/>
          <a:ext cx="1447770" cy="2438376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Total Death</a:t>
          </a:r>
        </a:p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2015 -385</a:t>
          </a:r>
        </a:p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2016 -440</a:t>
          </a:r>
        </a:p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2017 -493</a:t>
          </a:r>
        </a:p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2018 -486</a:t>
          </a:r>
        </a:p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2019 -506</a:t>
          </a:r>
        </a:p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2020 -542</a:t>
          </a:r>
        </a:p>
        <a:p xmlns:a="http://schemas.openxmlformats.org/drawingml/2006/main">
          <a:r>
            <a:rPr lang="en-US" sz="2000" dirty="0" smtClean="0">
              <a:solidFill>
                <a:srgbClr val="FF0000"/>
              </a:solidFill>
            </a:rPr>
            <a:t>2021-923</a:t>
          </a:r>
          <a:endParaRPr lang="en-US" sz="2000" dirty="0">
            <a:solidFill>
              <a:srgbClr val="FF0000"/>
            </a:solidFill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0.07778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0" y="0"/>
          <a:ext cx="9144000" cy="533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</cdr:x>
      <cdr:y>0</cdr:y>
    </cdr:from>
    <cdr:to>
      <cdr:x>1</cdr:x>
      <cdr:y>0.07778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0" y="0"/>
          <a:ext cx="9144000" cy="533400"/>
        </a:xfrm>
        <a:prstGeom xmlns:a="http://schemas.openxmlformats.org/drawingml/2006/main" prst="rect">
          <a:avLst/>
        </a:prstGeom>
        <a:gradFill xmlns:a="http://schemas.openxmlformats.org/drawingml/2006/main"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8100000" scaled="1"/>
          <a:tileRect/>
        </a:gra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pPr algn="ctr"/>
          <a:r>
            <a:rPr lang="en-US" sz="3200" dirty="0" smtClean="0"/>
            <a:t>Ward Wise Outcome Report 2021</a:t>
          </a:r>
          <a:endParaRPr lang="en-US" sz="3200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0.64167</cdr:x>
      <cdr:y>0.93671</cdr:y>
    </cdr:from>
    <cdr:to>
      <cdr:x>0.95833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867400" y="6134100"/>
          <a:ext cx="2895600" cy="3810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0.8</cdr:x>
      <cdr:y>0</cdr:y>
    </cdr:from>
    <cdr:to>
      <cdr:x>1</cdr:x>
      <cdr:y>0.11688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7315200" y="0"/>
          <a:ext cx="1828800" cy="73031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b="1" dirty="0" smtClean="0">
              <a:solidFill>
                <a:srgbClr val="0070C0"/>
              </a:solidFill>
            </a:rPr>
            <a:t>Total  36211</a:t>
          </a:r>
          <a:endParaRPr lang="en-US" sz="2400" b="1" dirty="0">
            <a:solidFill>
              <a:srgbClr val="0070C0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CDF27-F1D8-43DB-AE1E-79EA73E8C6AD}" type="datetimeFigureOut">
              <a:rPr lang="en-US" smtClean="0"/>
              <a:pPr/>
              <a:t>1/16/2022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E1DF0-C833-486A-BCF7-538A0E23170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1/16/2022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8D161-2428-4ACF-BABB-CFA0748B32B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9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30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31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60225600"/>
      </p:ext>
    </p:extLst>
  </p:cSld>
  <p:clrMapOvr>
    <a:masterClrMapping/>
  </p:clrMapOvr>
  <p:transition spd="slow"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502701646"/>
      </p:ext>
    </p:extLst>
  </p:cSld>
  <p:clrMapOvr>
    <a:masterClrMapping/>
  </p:clrMapOvr>
  <p:transition spd="slow"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2497357455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533524804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3404422511"/>
      </p:ext>
    </p:extLst>
  </p:cSld>
  <p:clrMapOvr>
    <a:masterClrMapping/>
  </p:clrMapOvr>
  <p:transition spd="slow"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2492215992"/>
      </p:ext>
    </p:extLst>
  </p:cSld>
  <p:clrMapOvr>
    <a:masterClrMapping/>
  </p:clrMapOvr>
  <p:transition spd="slow"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3152141982"/>
      </p:ext>
    </p:extLst>
  </p:cSld>
  <p:clrMapOvr>
    <a:masterClrMapping/>
  </p:clrMapOvr>
  <p:transition spd="slow"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4201818746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71350678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88620595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735080306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83569369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2022/1/16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ransition spd="slow">
    <p:strips dir="r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jpe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828800"/>
            <a:ext cx="9144000" cy="5029200"/>
          </a:xfrm>
          <a:solidFill>
            <a:srgbClr val="3EEE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800" dirty="0" err="1" smtClean="0">
                <a:solidFill>
                  <a:srgbClr val="002060"/>
                </a:solidFill>
                <a:latin typeface="SutonnyMJ" pitchFamily="2" charset="0"/>
              </a:rPr>
              <a:t>wi‡cvU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© ‰</a:t>
            </a:r>
            <a:r>
              <a:rPr lang="en-US" sz="2800" dirty="0" err="1" smtClean="0">
                <a:solidFill>
                  <a:srgbClr val="002060"/>
                </a:solidFill>
                <a:latin typeface="SutonnyMJ" pitchFamily="2" charset="0"/>
              </a:rPr>
              <a:t>Zix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 I </a:t>
            </a:r>
            <a:r>
              <a:rPr lang="en-US" sz="2800" dirty="0" err="1" smtClean="0">
                <a:solidFill>
                  <a:srgbClr val="002060"/>
                </a:solidFill>
                <a:latin typeface="SutonnyMJ" pitchFamily="2" charset="0"/>
              </a:rPr>
              <a:t>Dc¯’&amp;vcbvq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 t 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†</a:t>
            </a:r>
            <a:r>
              <a:rPr lang="en-US" sz="3600" dirty="0" err="1" smtClean="0">
                <a:solidFill>
                  <a:srgbClr val="002060"/>
                </a:solidFill>
                <a:latin typeface="SutonnyMJ" pitchFamily="2" charset="0"/>
              </a:rPr>
              <a:t>gvt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SutonnyMJ" pitchFamily="2" charset="0"/>
              </a:rPr>
              <a:t>Avãyj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SutonnyMJ" pitchFamily="2" charset="0"/>
              </a:rPr>
              <a:t>Kv‡`i</a:t>
            </a:r>
            <a:r>
              <a:rPr lang="en-US" sz="2800" dirty="0" err="1" smtClean="0">
                <a:solidFill>
                  <a:srgbClr val="002060"/>
                </a:solidFill>
                <a:latin typeface="SutonnyMJ" pitchFamily="2" charset="0"/>
              </a:rPr>
              <a:t>,cwimsL¨vb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latin typeface="SutonnyMJ" pitchFamily="2" charset="0"/>
              </a:rPr>
              <a:t>Kg©KZ©v</a:t>
            </a:r>
            <a:endParaRPr lang="en-US" sz="2800" dirty="0" smtClean="0">
              <a:solidFill>
                <a:srgbClr val="002060"/>
              </a:solidFill>
              <a:latin typeface="SutonnyMJ" pitchFamily="2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solidFill>
                  <a:srgbClr val="002060"/>
                </a:solidFill>
                <a:latin typeface="SutonnyMJ" pitchFamily="2" charset="0"/>
              </a:rPr>
              <a:t>      </a:t>
            </a:r>
          </a:p>
          <a:p>
            <a:pPr>
              <a:spcBef>
                <a:spcPts val="0"/>
              </a:spcBef>
            </a:pPr>
            <a:r>
              <a:rPr lang="en-US" sz="2800" dirty="0" err="1" smtClean="0">
                <a:solidFill>
                  <a:srgbClr val="002060"/>
                </a:solidFill>
                <a:latin typeface="SutonnyMJ" pitchFamily="2" charset="0"/>
              </a:rPr>
              <a:t>w`K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latin typeface="SutonnyMJ" pitchFamily="2" charset="0"/>
              </a:rPr>
              <a:t>wb‡`©kbv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  t </a:t>
            </a:r>
            <a:r>
              <a:rPr lang="en-US" sz="3600" dirty="0" err="1" smtClean="0">
                <a:solidFill>
                  <a:srgbClr val="002060"/>
                </a:solidFill>
                <a:latin typeface="SutonnyMJ" pitchFamily="2" charset="0"/>
              </a:rPr>
              <a:t>Wvt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SutonnyMJ" pitchFamily="2" charset="0"/>
              </a:rPr>
              <a:t>wgw_jv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SutonnyMJ" pitchFamily="2" charset="0"/>
              </a:rPr>
              <a:t>Bmjvg</a:t>
            </a:r>
            <a:r>
              <a:rPr lang="en-US" sz="36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,</a:t>
            </a:r>
            <a:r>
              <a:rPr lang="en-US" dirty="0" err="1" smtClean="0">
                <a:solidFill>
                  <a:srgbClr val="002060"/>
                </a:solidFill>
                <a:latin typeface="SutonnyMJ" pitchFamily="2" charset="0"/>
              </a:rPr>
              <a:t>Bb‡Wvi</a:t>
            </a:r>
            <a:r>
              <a:rPr lang="en-US" sz="2800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SutonnyMJ" pitchFamily="2" charset="0"/>
              </a:rPr>
              <a:t>†</a:t>
            </a:r>
            <a:r>
              <a:rPr lang="en-US" dirty="0" err="1" smtClean="0">
                <a:solidFill>
                  <a:srgbClr val="002060"/>
                </a:solidFill>
                <a:latin typeface="SutonnyMJ" pitchFamily="2" charset="0"/>
              </a:rPr>
              <a:t>gwW‡Kj</a:t>
            </a:r>
            <a:r>
              <a:rPr lang="en-US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SutonnyMJ" pitchFamily="2" charset="0"/>
              </a:rPr>
              <a:t>Awdmvi</a:t>
            </a:r>
            <a:r>
              <a:rPr lang="en-US" dirty="0" smtClean="0">
                <a:solidFill>
                  <a:srgbClr val="002060"/>
                </a:solidFill>
                <a:latin typeface="SutonnyMJ" pitchFamily="2" charset="0"/>
              </a:rPr>
              <a:t> </a:t>
            </a:r>
          </a:p>
          <a:p>
            <a:pPr algn="ctr">
              <a:buNone/>
            </a:pPr>
            <a:r>
              <a:rPr lang="en-US" dirty="0" smtClean="0">
                <a:solidFill>
                  <a:srgbClr val="002060"/>
                </a:solidFill>
                <a:latin typeface="SutonnyMJ" pitchFamily="2" charset="0"/>
              </a:rPr>
              <a:t>     </a:t>
            </a:r>
            <a:r>
              <a:rPr lang="en-US" sz="6000" b="1" dirty="0" err="1" smtClean="0">
                <a:solidFill>
                  <a:srgbClr val="002060"/>
                </a:solidFill>
                <a:latin typeface="SumeshwariMJ" pitchFamily="2" charset="0"/>
                <a:cs typeface="SumeshwariMJ" pitchFamily="2" charset="0"/>
              </a:rPr>
              <a:t>mvwe©K</a:t>
            </a:r>
            <a:r>
              <a:rPr lang="en-US" sz="6000" b="1" dirty="0" smtClean="0">
                <a:solidFill>
                  <a:srgbClr val="002060"/>
                </a:solidFill>
                <a:latin typeface="SumeshwariMJ" pitchFamily="2" charset="0"/>
                <a:cs typeface="SumeshwariMJ" pitchFamily="2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SumeshwariMJ" pitchFamily="2" charset="0"/>
                <a:cs typeface="SumeshwariMJ" pitchFamily="2" charset="0"/>
              </a:rPr>
              <a:t>ZË¡veav‡b</a:t>
            </a:r>
            <a:r>
              <a:rPr lang="en-US" sz="6000" b="1" dirty="0" smtClean="0">
                <a:solidFill>
                  <a:srgbClr val="002060"/>
                </a:solidFill>
                <a:latin typeface="SumeshwariMJ" pitchFamily="2" charset="0"/>
                <a:cs typeface="SumeshwariMJ" pitchFamily="2" charset="0"/>
              </a:rPr>
              <a:t> </a:t>
            </a:r>
            <a:r>
              <a:rPr lang="en-US" sz="4800" dirty="0" smtClean="0">
                <a:solidFill>
                  <a:srgbClr val="002060"/>
                </a:solidFill>
                <a:latin typeface="SutonnyMJ" pitchFamily="2" charset="0"/>
              </a:rPr>
              <a:t>t</a:t>
            </a:r>
            <a:endParaRPr lang="en-US" dirty="0" smtClean="0">
              <a:solidFill>
                <a:srgbClr val="002060"/>
              </a:solidFill>
              <a:latin typeface="SutonnyMJ" pitchFamily="2" charset="0"/>
            </a:endParaRPr>
          </a:p>
          <a:p>
            <a:pPr algn="ctr"/>
            <a:r>
              <a:rPr lang="en-US" dirty="0" smtClean="0">
                <a:latin typeface="SutonnyMJ" pitchFamily="2" charset="0"/>
              </a:rPr>
              <a:t> </a:t>
            </a:r>
            <a:r>
              <a:rPr lang="en-US" sz="5400" i="1" dirty="0" err="1" smtClean="0">
                <a:solidFill>
                  <a:srgbClr val="0070C0"/>
                </a:solidFill>
                <a:latin typeface="SutonnyMJ" pitchFamily="2" charset="0"/>
              </a:rPr>
              <a:t>Wvt</a:t>
            </a:r>
            <a:r>
              <a:rPr lang="en-US" sz="5400" i="1" dirty="0" smtClean="0">
                <a:solidFill>
                  <a:srgbClr val="0070C0"/>
                </a:solidFill>
                <a:latin typeface="SutonnyMJ" pitchFamily="2" charset="0"/>
              </a:rPr>
              <a:t> †</a:t>
            </a:r>
            <a:r>
              <a:rPr lang="en-US" sz="5400" i="1" dirty="0" err="1" smtClean="0">
                <a:solidFill>
                  <a:srgbClr val="0070C0"/>
                </a:solidFill>
                <a:latin typeface="SutonnyMJ" pitchFamily="2" charset="0"/>
              </a:rPr>
              <a:t>gvt</a:t>
            </a:r>
            <a:r>
              <a:rPr lang="en-US" sz="5400" i="1" dirty="0" smtClean="0">
                <a:solidFill>
                  <a:srgbClr val="0070C0"/>
                </a:solidFill>
                <a:latin typeface="SutonnyMJ" pitchFamily="2" charset="0"/>
              </a:rPr>
              <a:t> </a:t>
            </a:r>
            <a:r>
              <a:rPr lang="en-US" sz="5400" i="1" dirty="0" err="1" smtClean="0">
                <a:solidFill>
                  <a:srgbClr val="0070C0"/>
                </a:solidFill>
                <a:latin typeface="SutonnyMJ" pitchFamily="2" charset="0"/>
              </a:rPr>
              <a:t>nviæb</a:t>
            </a:r>
            <a:r>
              <a:rPr lang="en-US" sz="5400" i="1" dirty="0" smtClean="0">
                <a:solidFill>
                  <a:srgbClr val="0070C0"/>
                </a:solidFill>
                <a:latin typeface="SutonnyMJ" pitchFamily="2" charset="0"/>
              </a:rPr>
              <a:t>-Ai-</a:t>
            </a:r>
            <a:r>
              <a:rPr lang="en-US" sz="5400" i="1" dirty="0" err="1" smtClean="0">
                <a:solidFill>
                  <a:srgbClr val="0070C0"/>
                </a:solidFill>
                <a:latin typeface="SutonnyMJ" pitchFamily="2" charset="0"/>
              </a:rPr>
              <a:t>ikx</a:t>
            </a:r>
            <a:r>
              <a:rPr lang="en-US" sz="5400" i="1" dirty="0" smtClean="0">
                <a:solidFill>
                  <a:srgbClr val="0070C0"/>
                </a:solidFill>
                <a:latin typeface="SutonnyMJ" pitchFamily="2" charset="0"/>
              </a:rPr>
              <a:t>`, </a:t>
            </a:r>
            <a:r>
              <a:rPr lang="en-US" sz="5400" i="1" dirty="0" err="1" smtClean="0">
                <a:solidFill>
                  <a:srgbClr val="0070C0"/>
                </a:solidFill>
                <a:latin typeface="SutonnyMJ" pitchFamily="2" charset="0"/>
              </a:rPr>
              <a:t>ZË¡veavqK</a:t>
            </a:r>
            <a:endParaRPr lang="en-US" i="1" dirty="0" smtClean="0">
              <a:solidFill>
                <a:srgbClr val="0070C0"/>
              </a:solidFill>
              <a:latin typeface="SutonnyMJ" pitchFamily="2" charset="0"/>
            </a:endParaRPr>
          </a:p>
          <a:p>
            <a:pPr>
              <a:buNone/>
            </a:pPr>
            <a:endParaRPr lang="en-US" dirty="0">
              <a:latin typeface="SutonnyMJ" pitchFamily="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828800"/>
          </a:xfrm>
          <a:blipFill>
            <a:blip r:embed="rId3"/>
            <a:tile tx="0" ty="0" sx="100000" sy="100000" flip="none" algn="tl"/>
          </a:blipFill>
        </p:spPr>
        <p:txBody>
          <a:bodyPr>
            <a:normAutofit fontScale="90000"/>
          </a:bodyPr>
          <a:lstStyle/>
          <a:p>
            <a:pPr algn="ctr"/>
            <a:r>
              <a:rPr lang="en-US" sz="4400" dirty="0" err="1" smtClean="0">
                <a:solidFill>
                  <a:srgbClr val="FF0000"/>
                </a:solidFill>
                <a:latin typeface="SutonnyMJ" pitchFamily="2" charset="0"/>
                <a:cs typeface="SumeshwariMJ" pitchFamily="2" charset="0"/>
              </a:rPr>
              <a:t>evwl</a:t>
            </a:r>
            <a:r>
              <a:rPr lang="en-US" dirty="0" err="1" smtClean="0">
                <a:solidFill>
                  <a:srgbClr val="FF0000"/>
                </a:solidFill>
                <a:latin typeface="SutonnyMJ" pitchFamily="2" charset="0"/>
                <a:cs typeface="SumeshwariMJ" pitchFamily="2" charset="0"/>
              </a:rPr>
              <a:t>©K</a:t>
            </a:r>
            <a:r>
              <a:rPr sz="4400" smtClean="0">
                <a:solidFill>
                  <a:srgbClr val="FF0000"/>
                </a:solidFill>
                <a:latin typeface="SutonnyMJ" pitchFamily="2" charset="0"/>
                <a:cs typeface="SumeshwariMJ" pitchFamily="2" charset="0"/>
              </a:rPr>
              <a:t>  mfv</a:t>
            </a:r>
            <a:r>
              <a:rPr lang="en-US" sz="4400" dirty="0" smtClean="0">
                <a:solidFill>
                  <a:srgbClr val="FF0000"/>
                </a:solidFill>
                <a:latin typeface="SutonnyMJ" pitchFamily="2" charset="0"/>
                <a:cs typeface="SumeshwariMJ" pitchFamily="2" charset="0"/>
              </a:rPr>
              <a:t>-</a:t>
            </a:r>
            <a:r>
              <a:rPr lang="en-US" sz="4400" dirty="0" smtClean="0">
                <a:solidFill>
                  <a:srgbClr val="FF0000"/>
                </a:solidFill>
                <a:latin typeface="NikoshBAN" pitchFamily="2" charset="0"/>
                <a:cs typeface="NikoshBAN" pitchFamily="2" charset="0"/>
              </a:rPr>
              <a:t> 20</a:t>
            </a:r>
            <a:r>
              <a:rPr lang="en-US" sz="4400" dirty="0" smtClean="0">
                <a:solidFill>
                  <a:srgbClr val="FF0000"/>
                </a:solidFill>
                <a:latin typeface="SutonnyMJ" pitchFamily="2" charset="0"/>
                <a:cs typeface="SumeshwariMJ" pitchFamily="2" charset="0"/>
              </a:rPr>
              <a:t>22</a:t>
            </a:r>
            <a:r>
              <a:rPr smtClean="0">
                <a:latin typeface="SutonnyMJ" pitchFamily="2" charset="0"/>
                <a:cs typeface="SumeshwariMJ" pitchFamily="2" charset="0"/>
              </a:rPr>
              <a:t/>
            </a:r>
            <a:br>
              <a:rPr smtClean="0">
                <a:latin typeface="SutonnyMJ" pitchFamily="2" charset="0"/>
                <a:cs typeface="SumeshwariMJ" pitchFamily="2" charset="0"/>
              </a:rPr>
            </a:br>
            <a:r>
              <a:rPr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ZvwiL t </a:t>
            </a:r>
            <a:r>
              <a:rPr lang="en-US" dirty="0"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26</a:t>
            </a:r>
            <a:r>
              <a:rPr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/</a:t>
            </a:r>
            <a:r>
              <a:rPr lang="en-US" dirty="0"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01</a:t>
            </a:r>
            <a:r>
              <a:rPr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/</a:t>
            </a:r>
            <a:r>
              <a:rPr lang="en-US" dirty="0"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22</a:t>
            </a:r>
            <a:r>
              <a:rPr smtClean="0">
                <a:solidFill>
                  <a:srgbClr val="00B050"/>
                </a:solidFill>
                <a:latin typeface="SutonnyMJ" pitchFamily="2" charset="0"/>
                <a:cs typeface="SumeshwariMJ" pitchFamily="2" charset="0"/>
              </a:rPr>
              <a:t>, mgq t mKvj 8.30 NwUKv </a:t>
            </a:r>
            <a:r>
              <a:rPr smtClean="0">
                <a:latin typeface="SutonnyMJ" pitchFamily="2" charset="0"/>
                <a:cs typeface="SumeshwariMJ" pitchFamily="2" charset="0"/>
              </a:rPr>
              <a:t> </a:t>
            </a:r>
            <a:br>
              <a:rPr smtClean="0">
                <a:latin typeface="SutonnyMJ" pitchFamily="2" charset="0"/>
                <a:cs typeface="SumeshwariMJ" pitchFamily="2" charset="0"/>
              </a:rPr>
            </a:br>
            <a:r>
              <a:rPr sz="3600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¯’vb- m‡¤§jb Kÿ, </a:t>
            </a:r>
            <a:r>
              <a:rPr lang="en-US" sz="3600" dirty="0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250 </a:t>
            </a:r>
            <a:r>
              <a:rPr lang="en-US" sz="3600" dirty="0" err="1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kh¨v</a:t>
            </a:r>
            <a:r>
              <a:rPr lang="en-US" sz="3600" dirty="0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 </a:t>
            </a:r>
            <a:r>
              <a:rPr lang="en-US" sz="3600" dirty="0" err="1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wewkó</a:t>
            </a:r>
            <a:r>
              <a:rPr lang="en-US" sz="3600" dirty="0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 †</a:t>
            </a:r>
            <a:r>
              <a:rPr lang="en-US" sz="3600" dirty="0" err="1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Rbv‡ij</a:t>
            </a:r>
            <a:r>
              <a:rPr sz="3600" smtClean="0">
                <a:solidFill>
                  <a:srgbClr val="00B0F0"/>
                </a:solidFill>
                <a:latin typeface="SutonnyMJ" pitchFamily="2" charset="0"/>
                <a:cs typeface="SumeshwariMJ" pitchFamily="2" charset="0"/>
              </a:rPr>
              <a:t> nvmcZvj, wSbvB`n |</a:t>
            </a:r>
            <a:endParaRPr lang="en-US" sz="3600" dirty="0">
              <a:solidFill>
                <a:srgbClr val="00B0F0"/>
              </a:solidFill>
              <a:latin typeface="SutonnyMJ" pitchFamily="2" charset="0"/>
              <a:cs typeface="SumeshwariMJ" pitchFamily="2" charset="0"/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rgbClr val="FF0000"/>
          </a:solidFill>
        </p:spPr>
        <p:txBody>
          <a:bodyPr>
            <a:no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সভায়</a:t>
            </a:r>
            <a:r>
              <a:rPr lang="en-US" sz="28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উপস্থিতির</a:t>
            </a:r>
            <a:r>
              <a:rPr lang="en-US" sz="28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জন্য</a:t>
            </a:r>
            <a:r>
              <a:rPr lang="en-US" sz="28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সকলকে</a:t>
            </a:r>
            <a:r>
              <a:rPr lang="en-US" sz="28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32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নববর্ষের</a:t>
            </a:r>
            <a:r>
              <a:rPr lang="en-US" sz="28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2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ফুলেল</a:t>
            </a:r>
            <a:r>
              <a:rPr lang="en-US" sz="3200" dirty="0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3200" dirty="0" err="1" smtClean="0">
                <a:solidFill>
                  <a:srgbClr val="002060"/>
                </a:solidFill>
                <a:latin typeface="NikoshBAN" pitchFamily="2" charset="0"/>
                <a:cs typeface="NikoshBAN" pitchFamily="2" charset="0"/>
              </a:rPr>
              <a:t>শুভেচ্ছা</a:t>
            </a:r>
            <a:endParaRPr lang="en-US" sz="4000" dirty="0">
              <a:solidFill>
                <a:srgbClr val="00B050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2" name="Picture 2" descr="F:\Hospital Picture\New 2022\IMG_526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5800"/>
            <a:ext cx="9143999" cy="61722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6934200" y="6457890"/>
            <a:ext cx="19992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sz="2000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2000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sz="2000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2000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sz="2000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err="1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Avgv‡`i</a:t>
            </a:r>
            <a:r>
              <a:rPr lang="en-US" sz="3600" dirty="0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evMv‡bi</a:t>
            </a:r>
            <a:r>
              <a:rPr lang="en-US" sz="3600" dirty="0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bZzb</a:t>
            </a:r>
            <a:r>
              <a:rPr lang="en-US" sz="3600" dirty="0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dzj</a:t>
            </a:r>
            <a:r>
              <a:rPr lang="en-US" sz="3600" dirty="0" smtClean="0">
                <a:solidFill>
                  <a:schemeClr val="bg1"/>
                </a:solidFill>
                <a:latin typeface="SutonnyMJ" pitchFamily="2" charset="0"/>
                <a:cs typeface="Arial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SutonnyMJ" pitchFamily="2" charset="0"/>
              <a:cs typeface="Arial" pitchFamily="34" charset="0"/>
            </a:endParaRPr>
          </a:p>
        </p:txBody>
      </p:sp>
      <p:pic>
        <p:nvPicPr>
          <p:cNvPr id="1028" name="Picture 4" descr="C:\Users\USER\Downloads\rsz_img_4788[1]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533400"/>
            <a:ext cx="4572000" cy="2819400"/>
          </a:xfrm>
          <a:prstGeom prst="rect">
            <a:avLst/>
          </a:prstGeom>
          <a:noFill/>
        </p:spPr>
      </p:pic>
      <p:pic>
        <p:nvPicPr>
          <p:cNvPr id="1029" name="Picture 5" descr="C:\Users\USER\Downloads\rsz_img_4781[1]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3429000"/>
            <a:ext cx="4572000" cy="3429000"/>
          </a:xfrm>
          <a:prstGeom prst="rect">
            <a:avLst/>
          </a:prstGeom>
          <a:noFill/>
        </p:spPr>
      </p:pic>
      <p:pic>
        <p:nvPicPr>
          <p:cNvPr id="2057" name="Picture 9" descr="C:\Users\USER\Desktop\rsz_img_525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" y="3429000"/>
            <a:ext cx="4419601" cy="3429000"/>
          </a:xfrm>
          <a:prstGeom prst="rect">
            <a:avLst/>
          </a:prstGeom>
          <a:noFill/>
        </p:spPr>
      </p:pic>
      <p:pic>
        <p:nvPicPr>
          <p:cNvPr id="2058" name="Picture 10" descr="F:\Hospital Picture\New 2022\IMG_5260.JPG"/>
          <p:cNvPicPr>
            <a:picLocks noGrp="1" noChangeAspect="1" noChangeArrowheads="1"/>
          </p:cNvPicPr>
          <p:nvPr>
            <p:ph idx="1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533400"/>
            <a:ext cx="4419600" cy="2819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120986247"/>
      </p:ext>
    </p:extLst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বিশিষ্ট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জেনারেল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, </a:t>
            </a:r>
            <a:r>
              <a:rPr lang="en-US" sz="3600" dirty="0" err="1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ঝিনাইদহ</a:t>
            </a:r>
            <a:r>
              <a:rPr lang="en-US" sz="3600" dirty="0" smtClean="0">
                <a:solidFill>
                  <a:schemeClr val="bg1"/>
                </a:solidFill>
                <a:latin typeface="NikoshBAN" pitchFamily="2" charset="0"/>
                <a:cs typeface="NikoshBAN" pitchFamily="2" charset="0"/>
              </a:rPr>
              <a:t> </a:t>
            </a:r>
            <a:endParaRPr lang="en-US" sz="3600" dirty="0">
              <a:solidFill>
                <a:schemeClr val="bg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3076" name="Picture 4" descr="C:\Users\USER\Desktop\IMG_429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597"/>
          </a:xfrm>
          <a:blipFill>
            <a:blip r:embed="rId2"/>
            <a:tile tx="0" ty="0" sx="100000" sy="100000" flip="none" algn="tl"/>
          </a:blipFill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250 </a:t>
            </a:r>
            <a:r>
              <a:rPr lang="en-US" sz="3600" dirty="0" err="1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3600" dirty="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বিশিষ্ট</a:t>
            </a:r>
            <a:r>
              <a:rPr lang="en-US" sz="3600" dirty="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জেনারেল</a:t>
            </a:r>
            <a:r>
              <a:rPr sz="360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 হাসপাতাল,ঝিনাইদহ </a:t>
            </a:r>
            <a:endParaRPr lang="en-US" sz="3600" dirty="0">
              <a:solidFill>
                <a:schemeClr val="tx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7" name="Content Placeholder 6" descr="Hospital garden side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371600"/>
            <a:ext cx="4953000" cy="5486400"/>
          </a:xfrm>
        </p:spPr>
      </p:pic>
      <p:sp>
        <p:nvSpPr>
          <p:cNvPr id="9" name="TextBox 8"/>
          <p:cNvSpPr txBox="1"/>
          <p:nvPr/>
        </p:nvSpPr>
        <p:spPr>
          <a:xfrm>
            <a:off x="5105400" y="685800"/>
            <a:ext cx="40386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নতুন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685800"/>
            <a:ext cx="37338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পুরাতন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400" dirty="0"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5122" name="Picture 2" descr="C:\Users\USER\Desktop\IMG_429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067300" y="1371600"/>
            <a:ext cx="4076700" cy="5486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lus/>
    <p:sndAc>
      <p:endSnd/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0" y="1"/>
            <a:ext cx="9144000" cy="77867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Jhenaidah</a:t>
            </a:r>
            <a:r>
              <a:rPr kumimoji="0" lang="en-US" sz="2000" b="1" i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District Hospital Information-2021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Hospital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Establist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date			:  1968 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population in District			:  21,01,587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District Hospital				:  1 (100 Bedded)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Upazilla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Health Complex			:  6 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Medical Assistant Training School		:  1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Institute Of Health Technology			:  1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25 Bedded Child Hospital			:  1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Community Clinic			:   175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paying Bed          	                  	:  20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Cabin  Bed				:  10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Ward 				: 07	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Daily Outdoor Patient			:  305325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Total Indoor Patient 				:  36114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Bed Occupancy Rate 			:  251%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Neonatal Mortality Rate (0-28  days) 		:  34.15  (Per 1000 live birth)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Infant Mortality Rate (0-5 Years)		:  41.38 % (Per 1000 live birth)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Maternal Mortality Ratio			: 120.53 % (Per 100000 live birth)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Average length of Stay			:  2.65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Hospital Death Rate				:  2.66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Admission Rate in Hospital 	   		:  11.82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495800" y="457200"/>
            <a:ext cx="184731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2400" algn="l"/>
                <a:tab pos="4733925" algn="l"/>
              </a:tabLst>
            </a:pP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2400" algn="l"/>
                <a:tab pos="4733925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" y="457200"/>
          <a:ext cx="8763002" cy="816610"/>
        </p:xfrm>
        <a:graphic>
          <a:graphicData uri="http://schemas.openxmlformats.org/drawingml/2006/table">
            <a:tbl>
              <a:tblPr/>
              <a:tblGrid>
                <a:gridCol w="799849"/>
                <a:gridCol w="547818"/>
                <a:gridCol w="785847"/>
                <a:gridCol w="407802"/>
                <a:gridCol w="806849"/>
                <a:gridCol w="876860"/>
                <a:gridCol w="556568"/>
                <a:gridCol w="598574"/>
                <a:gridCol w="799849"/>
                <a:gridCol w="799849"/>
                <a:gridCol w="799849"/>
                <a:gridCol w="586803"/>
                <a:gridCol w="396485"/>
              </a:tblGrid>
              <a:tr h="263525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kh¨v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msL¨v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IqvW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©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msL¨v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eW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AKz‡cÝx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IwU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¤^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y‡jÝ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mPj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Rbv‡iUi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mPj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cwqs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eW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Kweb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wPwKrmK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bvm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©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SutonnyMJ"/>
                        </a:rPr>
                        <a:t>gšÍe¨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2736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gÄyixK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c~iYK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gÄyixK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SutonnyMJ"/>
                        </a:rPr>
                        <a:t>c~iYK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SutonnyMJ"/>
                        </a:rPr>
                        <a:t>…Z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100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07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251 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%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2wU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3</a:t>
                      </a: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wU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3</a:t>
                      </a: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wU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20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10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41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22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73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69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SutonnyMJ"/>
                        <a:ea typeface="Times New Roman"/>
                        <a:cs typeface="SutonnyMJ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8601" y="1905000"/>
          <a:ext cx="8915399" cy="1143001"/>
        </p:xfrm>
        <a:graphic>
          <a:graphicData uri="http://schemas.openxmlformats.org/drawingml/2006/table">
            <a:tbl>
              <a:tblPr/>
              <a:tblGrid>
                <a:gridCol w="457199"/>
                <a:gridCol w="593624"/>
                <a:gridCol w="585565"/>
                <a:gridCol w="553133"/>
                <a:gridCol w="578357"/>
                <a:gridCol w="589168"/>
                <a:gridCol w="398183"/>
                <a:gridCol w="399986"/>
                <a:gridCol w="425210"/>
                <a:gridCol w="572952"/>
                <a:gridCol w="587365"/>
                <a:gridCol w="616323"/>
                <a:gridCol w="632279"/>
                <a:gridCol w="672048"/>
                <a:gridCol w="576555"/>
                <a:gridCol w="677452"/>
              </a:tblGrid>
              <a:tr h="303845">
                <a:tc gridSpan="1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AšÍtwefvM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Riæix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I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ewnt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wefvM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3845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fwZ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©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QvocÖvß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733925" algn="l"/>
                        </a:tabLs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‰`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wbK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Ae¯</a:t>
                      </a:r>
                      <a:r>
                        <a:rPr lang="en-US" sz="1400" dirty="0" err="1" smtClean="0">
                          <a:latin typeface="SutonnyMJ"/>
                          <a:ea typeface="Times New Roman"/>
                          <a:cs typeface="SutonnyMJ"/>
                        </a:rPr>
                        <a:t>’vbK</a:t>
                      </a: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…Z 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ivMx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38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SutonnyMJ"/>
                          <a:ea typeface="Times New Roman"/>
                          <a:cs typeface="SutonnyMJ"/>
                        </a:rPr>
                        <a:t>cy~t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SutonnyMJ"/>
                          <a:ea typeface="Times New Roman"/>
                          <a:cs typeface="SutonnyMJ"/>
                        </a:rPr>
                        <a:t>cy~t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SutonnyMJ"/>
                          <a:ea typeface="Times New Roman"/>
                          <a:cs typeface="SutonnyMJ"/>
                        </a:rPr>
                        <a:t>cy~t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SutonnyMJ"/>
                          <a:ea typeface="Times New Roman"/>
                          <a:cs typeface="SutonnyMJ"/>
                        </a:rPr>
                        <a:t>cy~t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SutonnyMJ"/>
                          <a:ea typeface="Times New Roman"/>
                          <a:cs typeface="SutonnyMJ"/>
                        </a:rPr>
                        <a:t>cy~t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gt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wkï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gvU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2314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11332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24782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36114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10323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23485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33808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451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472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923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27230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64509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91739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102633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140384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latin typeface="SutonnyMJ" pitchFamily="2" charset="0"/>
                        </a:rPr>
                        <a:t>62308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latin typeface="SutonnyMJ" pitchFamily="2" charset="0"/>
                        </a:rPr>
                        <a:t>305325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u="sng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250 </a:t>
            </a:r>
            <a:r>
              <a:rPr lang="en-US" sz="2400" u="sng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wewkó</a:t>
            </a:r>
            <a:r>
              <a:rPr lang="en-US" sz="2400" u="sng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†</a:t>
            </a:r>
            <a:r>
              <a:rPr lang="en-US" sz="2400" u="sng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Rbv‡ij</a:t>
            </a:r>
            <a:r>
              <a:rPr lang="en-US" sz="2400" u="sng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nvmcvZvj,wSbvB`‡ni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- 2021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mv‡ji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Kvh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©µ‡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gi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Z_vw</a:t>
            </a:r>
            <a:r>
              <a:rPr kumimoji="0" lang="en-US" sz="2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utonnyMJ" pitchFamily="2" charset="0"/>
                <a:ea typeface="Times New Roman" pitchFamily="18" charset="0"/>
                <a:cs typeface="SutonnyMJ" pitchFamily="2" charset="0"/>
              </a:rPr>
              <a:t>` |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utonnyMJ" pitchFamily="2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381000" y="1447800"/>
            <a:ext cx="8763000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nvmcvZv‡j</a:t>
            </a:r>
            <a:r>
              <a:rPr kumimoji="0" lang="en-US" sz="2400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AvMZ</a:t>
            </a:r>
            <a:r>
              <a:rPr kumimoji="0" lang="en-US" sz="2400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‡</a:t>
            </a: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ivMxi</a:t>
            </a:r>
            <a:r>
              <a:rPr kumimoji="0" lang="en-US" sz="2400" b="0" i="1" u="sng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NikoshBAN" pitchFamily="2" charset="0"/>
                <a:ea typeface="Times New Roman" pitchFamily="18" charset="0"/>
                <a:cs typeface="NikoshBAN" pitchFamily="2" charset="0"/>
              </a:rPr>
              <a:t>তথ্য</a:t>
            </a:r>
            <a:r>
              <a:rPr kumimoji="0" lang="en-US" sz="2400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b="0" i="1" u="sng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t</a:t>
            </a:r>
            <a:endParaRPr kumimoji="0" lang="en-US" b="0" i="0" u="sng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SutonnyMJ" pitchFamily="2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28598" y="3505200"/>
          <a:ext cx="8915402" cy="1440507"/>
        </p:xfrm>
        <a:graphic>
          <a:graphicData uri="http://schemas.openxmlformats.org/drawingml/2006/table">
            <a:tbl>
              <a:tblPr/>
              <a:tblGrid>
                <a:gridCol w="476534"/>
                <a:gridCol w="420543"/>
                <a:gridCol w="395660"/>
                <a:gridCol w="431742"/>
                <a:gridCol w="395660"/>
                <a:gridCol w="373885"/>
                <a:gridCol w="395660"/>
                <a:gridCol w="396903"/>
                <a:gridCol w="418677"/>
                <a:gridCol w="408723"/>
                <a:gridCol w="330337"/>
                <a:gridCol w="360199"/>
                <a:gridCol w="372643"/>
                <a:gridCol w="361444"/>
                <a:gridCol w="360199"/>
                <a:gridCol w="444183"/>
                <a:gridCol w="372019"/>
                <a:gridCol w="444183"/>
                <a:gridCol w="583536"/>
                <a:gridCol w="585403"/>
                <a:gridCol w="587269"/>
              </a:tblGrid>
              <a:tr h="164364">
                <a:tc gridSpan="1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AvZ¥nZ¨v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 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gqbv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Z`šÍ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64364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Arial"/>
                        </a:rPr>
                        <a:t>welcv‡b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Mjvq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smtClean="0">
                          <a:latin typeface="SutonnyMJ"/>
                          <a:ea typeface="Times New Roman"/>
                          <a:cs typeface="Arial"/>
                        </a:rPr>
                        <a:t>`</a:t>
                      </a:r>
                      <a:r>
                        <a:rPr lang="en-US" sz="1400" dirty="0" err="1" smtClean="0">
                          <a:latin typeface="SutonnyMJ"/>
                          <a:ea typeface="Times New Roman"/>
                          <a:cs typeface="Arial"/>
                        </a:rPr>
                        <a:t>wo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Ny‡gi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 smtClean="0">
                          <a:latin typeface="SutonnyMJ"/>
                          <a:ea typeface="Times New Roman"/>
                          <a:cs typeface="Arial"/>
                        </a:rPr>
                        <a:t>ewo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`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yN©Ubv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nZ¨v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/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Lyb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/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gvivgvwi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436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Arial"/>
                        </a:rPr>
                        <a:t>cyi“l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87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g„Zz¨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SutonnyMJ"/>
                          <a:ea typeface="Times New Roman"/>
                          <a:cs typeface="Arial"/>
                        </a:rPr>
                        <a:t>Avt</a:t>
                      </a:r>
                      <a:endParaRPr lang="en-US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latin typeface="SutonnyMJ"/>
                          <a:ea typeface="Times New Roman"/>
                          <a:cs typeface="Arial"/>
                        </a:rPr>
                        <a:t>g„Zz</a:t>
                      </a:r>
                      <a:r>
                        <a:rPr lang="en-US" sz="1200" dirty="0">
                          <a:latin typeface="SutonnyMJ"/>
                          <a:ea typeface="Times New Roman"/>
                          <a:cs typeface="Arial"/>
                        </a:rPr>
                        <a:t>¨</a:t>
                      </a:r>
                      <a:endParaRPr lang="en-US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940" marR="459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568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312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590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9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13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latin typeface="SutonnyMJ"/>
                        </a:rPr>
                        <a:t>64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77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81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1158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7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498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4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975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2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latin typeface="SutonnyMJ"/>
                        </a:rPr>
                        <a:t>604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latin typeface="SutonnyMJ"/>
                        </a:rPr>
                        <a:t>189</a:t>
                      </a:r>
                      <a:endParaRPr lang="en-US" sz="1200" b="0" i="0" u="none" strike="noStrike" dirty="0">
                        <a:latin typeface="SutonnyMJ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28599" y="5410200"/>
          <a:ext cx="8915401" cy="736092"/>
        </p:xfrm>
        <a:graphic>
          <a:graphicData uri="http://schemas.openxmlformats.org/drawingml/2006/table">
            <a:tbl>
              <a:tblPr/>
              <a:tblGrid>
                <a:gridCol w="923226"/>
                <a:gridCol w="823821"/>
                <a:gridCol w="906450"/>
                <a:gridCol w="906450"/>
                <a:gridCol w="823821"/>
                <a:gridCol w="823821"/>
                <a:gridCol w="741811"/>
                <a:gridCol w="741811"/>
                <a:gridCol w="659180"/>
                <a:gridCol w="659180"/>
                <a:gridCol w="905830"/>
              </a:tblGrid>
              <a:tr h="18756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Wvqwiqv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GAviAvB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(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IMCI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Times New Roman"/>
                        </a:rPr>
                        <a:t>KY©vi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Times New Roman"/>
                        </a:rPr>
                        <a:t>mn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)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mv‡ci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Kvgo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cvwb‡Z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Wz‡e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SutonnyMJ"/>
                        </a:rPr>
                        <a:t>WM </a:t>
                      </a:r>
                      <a:r>
                        <a:rPr lang="en-US" sz="1400" dirty="0" err="1" smtClean="0">
                          <a:latin typeface="SutonnyMJ"/>
                          <a:ea typeface="Times New Roman"/>
                          <a:cs typeface="SutonnyMJ"/>
                        </a:rPr>
                        <a:t>evBU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SutonnyMJ"/>
                        <a:ea typeface="Times New Roman"/>
                        <a:cs typeface="SutonnyMJ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660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SutonnyMJ"/>
                        </a:rPr>
                        <a:t>Avt</a:t>
                      </a:r>
                      <a:endParaRPr lang="en-US" sz="14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SutonnyMJ"/>
                        </a:rPr>
                        <a:t>g„Z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21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11336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 pitchFamily="2" charset="0"/>
                          <a:ea typeface="Times New Roman"/>
                          <a:cs typeface="Times New Roman"/>
                        </a:rPr>
                        <a:t>5461</a:t>
                      </a:r>
                      <a:endParaRPr lang="en-US" sz="1400" dirty="0">
                        <a:latin typeface="SutonnyMJ" pitchFamily="2" charset="0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 pitchFamily="2" charset="0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400" dirty="0">
                        <a:latin typeface="SutonnyMJ" pitchFamily="2" charset="0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90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 pitchFamily="2" charset="0"/>
                          <a:ea typeface="Times New Roman"/>
                          <a:cs typeface="Times New Roman"/>
                        </a:rPr>
                        <a:t>7</a:t>
                      </a:r>
                      <a:endParaRPr lang="en-US" sz="1400" dirty="0">
                        <a:latin typeface="SutonnyMJ" pitchFamily="2" charset="0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10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1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SutonnyMJ"/>
                          <a:ea typeface="Times New Roman"/>
                          <a:cs typeface="Times New Roman"/>
                        </a:rPr>
                        <a:t>13904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SutonnyMJ"/>
                        </a:rPr>
                        <a:t>0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latin typeface="SutonnyMJ"/>
                        <a:ea typeface="Times New Roman"/>
                        <a:cs typeface="SutonnyMJ"/>
                      </a:endParaRPr>
                    </a:p>
                  </a:txBody>
                  <a:tcPr marL="45873" marR="45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2400" y="381000"/>
          <a:ext cx="8763001" cy="1455674"/>
        </p:xfrm>
        <a:graphic>
          <a:graphicData uri="http://schemas.openxmlformats.org/drawingml/2006/table">
            <a:tbl>
              <a:tblPr/>
              <a:tblGrid>
                <a:gridCol w="620391"/>
                <a:gridCol w="465292"/>
                <a:gridCol w="542841"/>
                <a:gridCol w="697938"/>
                <a:gridCol w="620389"/>
                <a:gridCol w="542841"/>
                <a:gridCol w="465292"/>
                <a:gridCol w="697938"/>
                <a:gridCol w="542841"/>
                <a:gridCol w="387743"/>
                <a:gridCol w="697938"/>
                <a:gridCol w="465292"/>
                <a:gridCol w="387743"/>
                <a:gridCol w="542841"/>
                <a:gridCol w="387743"/>
                <a:gridCol w="697938"/>
              </a:tblGrid>
              <a:tr h="33528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ANC Services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Admitted Patients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Complications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libri"/>
                          <a:ea typeface="Times New Roman"/>
                          <a:cs typeface="Times New Roman"/>
                        </a:rPr>
                        <a:t>Type of Delivery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Calibri"/>
                          <a:ea typeface="Times New Roman"/>
                          <a:cs typeface="Calibri"/>
                        </a:rPr>
                        <a:t>Total Delivery</a:t>
                      </a:r>
                      <a:endParaRPr lang="en-US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Live Birth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Still Birth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Other Operations 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Times New Roman"/>
                        </a:rPr>
                        <a:t>Referred 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Times New Roman"/>
                          <a:cs typeface="Times New Roman"/>
                        </a:rPr>
                        <a:t>PNC Services 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Calibri"/>
                          <a:ea typeface="Times New Roman"/>
                          <a:cs typeface="Calibri"/>
                        </a:rPr>
                        <a:t>Maternal Death 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Calibri"/>
                          <a:ea typeface="Times New Roman"/>
                          <a:cs typeface="Times New Roman"/>
                        </a:rPr>
                        <a:t>Neonatal  Death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6991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Normal Delivery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smtClean="0">
                          <a:latin typeface="Calibri"/>
                          <a:ea typeface="Times New Roman"/>
                          <a:cs typeface="Calibri"/>
                        </a:rPr>
                        <a:t>Forceps/ Vacuum</a:t>
                      </a: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/ </a:t>
                      </a:r>
                      <a:r>
                        <a:rPr lang="en-US" sz="1100" dirty="0" err="1">
                          <a:latin typeface="Calibri"/>
                          <a:ea typeface="Times New Roman"/>
                          <a:cs typeface="Calibri"/>
                        </a:rPr>
                        <a:t>Dest</a:t>
                      </a: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 Operation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Vaginal Breech/ Face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Calibri"/>
                          <a:ea typeface="Times New Roman"/>
                          <a:cs typeface="Calibri"/>
                        </a:rPr>
                        <a:t>Caesarean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IN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Times New Roman"/>
                        </a:rPr>
                        <a:t>OUT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0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2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3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4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6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>
                        <a:latin typeface="ADMUI3Sm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7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8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9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10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11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12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13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14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15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latin typeface="ADMUI3Sm"/>
                          <a:ea typeface="Times New Roman"/>
                          <a:cs typeface="Arial"/>
                        </a:rPr>
                        <a:t>16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23317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6570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5005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1636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870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2524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2489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868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4971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" y="2133600"/>
          <a:ext cx="8839200" cy="851027"/>
        </p:xfrm>
        <a:graphic>
          <a:graphicData uri="http://schemas.openxmlformats.org/drawingml/2006/table">
            <a:tbl>
              <a:tblPr/>
              <a:tblGrid>
                <a:gridCol w="1477914"/>
                <a:gridCol w="1325879"/>
                <a:gridCol w="1150864"/>
                <a:gridCol w="1239255"/>
                <a:gridCol w="1060705"/>
                <a:gridCol w="1149096"/>
                <a:gridCol w="1435487"/>
              </a:tblGrid>
              <a:tr h="21971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gRi</a:t>
                      </a: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Acv‡ikb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    gvBbi  Acv‡ikb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me©‡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gvU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cyiæl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‡gvU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SutonnyMJ"/>
                          <a:ea typeface="Times New Roman"/>
                          <a:cs typeface="Arial"/>
                        </a:rPr>
                        <a:t>cyiæl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gwnjv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600" dirty="0" err="1">
                          <a:latin typeface="SutonnyMJ"/>
                          <a:ea typeface="Times New Roman"/>
                          <a:cs typeface="Arial"/>
                        </a:rPr>
                        <a:t>gvU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01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latin typeface="SutonnyMJ"/>
                        </a:rPr>
                        <a:t>338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latin typeface="SutonnyMJ"/>
                        </a:rPr>
                        <a:t>1107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latin typeface="SutonnyMJ"/>
                        </a:rPr>
                        <a:t>1445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latin typeface="SutonnyMJ"/>
                        </a:rPr>
                        <a:t>3021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latin typeface="SutonnyMJ"/>
                        </a:rPr>
                        <a:t>3784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latin typeface="SutonnyMJ"/>
                        </a:rPr>
                        <a:t>6805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SutonnyMJ"/>
                          <a:ea typeface="Times New Roman"/>
                          <a:cs typeface="Arial"/>
                        </a:rPr>
                        <a:t>8250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3276600"/>
          <a:ext cx="8839200" cy="1380744"/>
        </p:xfrm>
        <a:graphic>
          <a:graphicData uri="http://schemas.openxmlformats.org/drawingml/2006/table">
            <a:tbl>
              <a:tblPr/>
              <a:tblGrid>
                <a:gridCol w="609600"/>
                <a:gridCol w="732064"/>
                <a:gridCol w="631372"/>
                <a:gridCol w="868136"/>
                <a:gridCol w="789214"/>
                <a:gridCol w="631372"/>
                <a:gridCol w="868136"/>
                <a:gridCol w="1183822"/>
                <a:gridCol w="710292"/>
                <a:gridCol w="789214"/>
                <a:gridCol w="1025978"/>
              </a:tblGrid>
              <a:tr h="19538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G·‡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i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BwmwR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AvjUªvm‡bvMÖvg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c¨v_jwRK¨vj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cixÿvi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msL¨v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09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i³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gj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g~Î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Kd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eøvW MÖæc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i³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mÂvjb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ev‡qvt</a:t>
                      </a:r>
                      <a:endParaRPr lang="en-US" sz="11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‡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gvU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SutonnyMJ"/>
                          <a:ea typeface="Times New Roman"/>
                          <a:cs typeface="Calibri"/>
                        </a:rPr>
                        <a:t> t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Times New Roman"/>
                        </a:rPr>
                        <a:t>10865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SutonnyMJ"/>
                          <a:ea typeface="Times New Roman"/>
                          <a:cs typeface="Times New Roman"/>
                        </a:rPr>
                        <a:t>5515</a:t>
                      </a:r>
                      <a:endParaRPr lang="en-US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Times New Roman"/>
                        </a:rPr>
                        <a:t>2176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10800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4513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1653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8746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3004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SutonnyMJ"/>
                        </a:rPr>
                        <a:t>10010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SutonnyMJ"/>
                        </a:rPr>
                        <a:t>38726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1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SutonnyMJ" pitchFamily="2" charset="0"/>
              </a:rPr>
              <a:t>BIwm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wi‡cvU</a:t>
            </a:r>
            <a:r>
              <a:rPr lang="en-US" sz="2400" dirty="0" smtClean="0">
                <a:latin typeface="SutonnyMJ" pitchFamily="2" charset="0"/>
              </a:rPr>
              <a:t>©</a:t>
            </a:r>
            <a:endParaRPr lang="en-US" sz="2400" dirty="0">
              <a:latin typeface="SutonnyMJ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05200" y="1752600"/>
            <a:ext cx="2819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err="1" smtClean="0">
                <a:solidFill>
                  <a:srgbClr val="FF0000"/>
                </a:solidFill>
                <a:latin typeface="SutonnyMJ" pitchFamily="2" charset="0"/>
              </a:rPr>
              <a:t>Acv‡ikb</a:t>
            </a:r>
            <a:r>
              <a:rPr lang="en-US" sz="2400" i="1" dirty="0" smtClean="0">
                <a:solidFill>
                  <a:srgbClr val="FF0000"/>
                </a:solidFill>
                <a:latin typeface="SutonnyMJ" pitchFamily="2" charset="0"/>
              </a:rPr>
              <a:t> t</a:t>
            </a:r>
            <a:endParaRPr lang="en-US" sz="2400" dirty="0" smtClean="0">
              <a:solidFill>
                <a:srgbClr val="FF0000"/>
              </a:solidFill>
              <a:latin typeface="SutonnyMJ" pitchFamily="2" charset="0"/>
            </a:endParaRP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12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latin typeface="SutonnyMJ" pitchFamily="2" charset="0"/>
              </a:rPr>
              <a:t>wewfbœ</a:t>
            </a:r>
            <a:r>
              <a:rPr lang="en-US" i="1" dirty="0" smtClean="0">
                <a:latin typeface="SutonnyMJ" pitchFamily="2" charset="0"/>
              </a:rPr>
              <a:t> </a:t>
            </a:r>
            <a:r>
              <a:rPr lang="en-US" i="1" dirty="0" err="1" smtClean="0">
                <a:latin typeface="SutonnyMJ" pitchFamily="2" charset="0"/>
              </a:rPr>
              <a:t>cixÿv</a:t>
            </a:r>
            <a:r>
              <a:rPr lang="en-US" i="1" dirty="0" smtClean="0">
                <a:latin typeface="SutonnyMJ" pitchFamily="2" charset="0"/>
              </a:rPr>
              <a:t> t</a:t>
            </a:r>
            <a:endParaRPr lang="en-US" dirty="0" smtClean="0">
              <a:latin typeface="SutonnyMJ" pitchFamily="2" charset="0"/>
            </a:endParaRPr>
          </a:p>
          <a:p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4953000"/>
          <a:ext cx="8839200" cy="1855470"/>
        </p:xfrm>
        <a:graphic>
          <a:graphicData uri="http://schemas.openxmlformats.org/drawingml/2006/table">
            <a:tbl>
              <a:tblPr/>
              <a:tblGrid>
                <a:gridCol w="866242"/>
                <a:gridCol w="1267540"/>
                <a:gridCol w="942260"/>
                <a:gridCol w="1186222"/>
                <a:gridCol w="954634"/>
                <a:gridCol w="855634"/>
                <a:gridCol w="1341790"/>
                <a:gridCol w="995293"/>
                <a:gridCol w="429585"/>
              </a:tblGrid>
              <a:tr h="990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ivMx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fwZ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©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ewntwefvM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I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Riyix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wefv‡M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wPwKrmv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 (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wU‡KU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)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Kweb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I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cwqs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†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SutonnyMJ"/>
                          <a:ea typeface="Times New Roman"/>
                          <a:cs typeface="Arial"/>
                        </a:rPr>
                        <a:t>BwmwR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,   G·-‡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,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c¨v_jRx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,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AvjUªvm‡bv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I 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eøvW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e¨vsK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G¨v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¤^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y‡jÝ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Acv‡ikb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wd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Ab¨vb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¨,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GgGmAvi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jvB‡mÝ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bevqb†UÛvi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wmwWDj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weµq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BZ¨vw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`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‡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gvU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UvKv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SutonnyMJ"/>
                          <a:ea typeface="Times New Roman"/>
                          <a:cs typeface="Arial"/>
                        </a:rPr>
                        <a:t>gšÍe</a:t>
                      </a:r>
                      <a:r>
                        <a:rPr lang="en-US" sz="1400" dirty="0">
                          <a:latin typeface="SutonnyMJ"/>
                          <a:ea typeface="Times New Roman"/>
                          <a:cs typeface="Arial"/>
                        </a:rPr>
                        <a:t>¨</a:t>
                      </a:r>
                      <a:endParaRPr lang="en-US" sz="14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SutonnyMJ"/>
                        </a:rPr>
                        <a:t>304025.00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SutonnyMJ"/>
                        </a:rPr>
                        <a:t>1494420.00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SutonnyMJ"/>
                        </a:rPr>
                        <a:t>776950.00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SutonnyMJ"/>
                        </a:rPr>
                        <a:t>4260201.00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SutonnyMJ"/>
                        </a:rPr>
                        <a:t>1399300.00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SutonnyMJ"/>
                        </a:rPr>
                        <a:t>117400.00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SutonnyMJ"/>
                        </a:rPr>
                        <a:t>277000.00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latin typeface="SutonnyMJ"/>
                        </a:rPr>
                        <a:t>8629296.00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400" dirty="0">
                        <a:latin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3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latin typeface="SutonnyMJ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962400" y="4648200"/>
            <a:ext cx="18918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733925" algn="l"/>
              </a:tabLst>
            </a:pPr>
            <a:r>
              <a:rPr kumimoji="0" 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Av‡qi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</a:t>
            </a:r>
            <a:r>
              <a:rPr kumimoji="0" 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wnmve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 t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(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UvKvq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utonnyMJ" pitchFamily="2" charset="0"/>
                <a:ea typeface="Times New Roman" pitchFamily="18" charset="0"/>
                <a:cs typeface="SutonnyMJ" pitchFamily="2" charset="0"/>
              </a:rPr>
              <a:t>)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utonnyMJ" pitchFamily="2" charset="0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80107218"/>
              </p:ext>
            </p:extLst>
          </p:nvPr>
        </p:nvGraphicFramePr>
        <p:xfrm>
          <a:off x="148988" y="1105771"/>
          <a:ext cx="8894763" cy="506642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Afghanistan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Covid-19 Admitted Patient Report 7/5/20  to 31/12/2021 </a:t>
            </a:r>
            <a:endParaRPr lang="en-US" sz="2800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457200"/>
          <a:ext cx="9144000" cy="64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</a:t>
            </a:r>
            <a:r>
              <a:rPr lang="en-US" sz="2800" dirty="0" err="1" smtClean="0"/>
              <a:t>Covid</a:t>
            </a:r>
            <a:r>
              <a:rPr lang="en-US" sz="2800" dirty="0" smtClean="0"/>
              <a:t> -19 Outcome Report - 2020-21</a:t>
            </a:r>
            <a:endParaRPr lang="en-US" dirty="0"/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8038"/>
          </a:xfrm>
          <a:solidFill>
            <a:srgbClr val="3EEE00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Emergency + Outdoor &amp; Indoor  Service 1998 to 2021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="" xmlns:p14="http://schemas.microsoft.com/office/powerpoint/2010/main" val="1590283279"/>
              </p:ext>
            </p:extLst>
          </p:nvPr>
        </p:nvGraphicFramePr>
        <p:xfrm>
          <a:off x="0" y="1219200"/>
          <a:ext cx="9144000" cy="563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8382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4191000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FF00"/>
                </a:solidFill>
              </a:rPr>
              <a:t>1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264558568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solidFill>
            <a:srgbClr val="00B0F0"/>
          </a:solid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2015 to 2021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222667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0" y="0"/>
            <a:ext cx="9144000" cy="60960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2021</a:t>
            </a:r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0"/>
            <a:ext cx="8229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endParaRPr lang="en-US" sz="43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="" xmlns:p14="http://schemas.microsoft.com/office/powerpoint/2010/main" val="1929509912"/>
              </p:ext>
            </p:extLst>
          </p:nvPr>
        </p:nvGraphicFramePr>
        <p:xfrm>
          <a:off x="0" y="685800"/>
          <a:ext cx="9144000" cy="6126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Algerian" pitchFamily="82" charset="0"/>
              </a:rPr>
              <a:t>Monthly  Bed Occupancy Rate  2021</a:t>
            </a:r>
            <a:endParaRPr lang="en-US" sz="2400" dirty="0">
              <a:latin typeface="Algerian" pitchFamily="82" charset="0"/>
            </a:endParaRPr>
          </a:p>
        </p:txBody>
      </p:sp>
      <p:pic>
        <p:nvPicPr>
          <p:cNvPr id="1026" name="Picture 2" descr="C:\Users\USER\Desktop\Screenshot_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"/>
            <a:ext cx="9144000" cy="6324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1"/>
            <a:ext cx="9144000" cy="646331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3600" b="1" dirty="0" smtClean="0">
                <a:solidFill>
                  <a:prstClr val="black"/>
                </a:solidFill>
              </a:rPr>
              <a:t>Patient admission Rate -2021 </a:t>
            </a:r>
            <a:endParaRPr lang="en-US" sz="36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-304800" y="533400"/>
          <a:ext cx="94488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769441"/>
          </a:xfrm>
          <a:prstGeom prst="rect">
            <a:avLst/>
          </a:prstGeom>
          <a:solidFill>
            <a:srgbClr val="3EEE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Top 15 Morbidity Profile from cumulative admission records in 2021</a:t>
            </a: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Main Diagnosis No. of Morbidity (%)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C:\Users\USER\Desktop\Main diagnosi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  <a:blipFill>
            <a:blip r:embed="rId2"/>
            <a:tile tx="0" ty="0" sx="100000" sy="100000" flip="none" algn="tl"/>
          </a:blipFill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0000"/>
                </a:solidFill>
              </a:rPr>
              <a:t>Operation Service (Major) 2012 to 2021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534442999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 smtClean="0">
                <a:solidFill>
                  <a:prstClr val="black"/>
                </a:solidFill>
              </a:rPr>
              <a:t>Department wise Operation report - 2021</a:t>
            </a:r>
          </a:p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srgbClr val="0C7E17"/>
                </a:solidFill>
              </a:rPr>
              <a:t>Total  operation – 8250  </a:t>
            </a:r>
            <a:r>
              <a:rPr lang="en-US" b="1" dirty="0" smtClean="0">
                <a:solidFill>
                  <a:srgbClr val="FF0000"/>
                </a:solidFill>
              </a:rPr>
              <a:t>( Major-1445, </a:t>
            </a:r>
            <a:r>
              <a:rPr lang="en-US" b="1" dirty="0" smtClean="0">
                <a:solidFill>
                  <a:srgbClr val="0070C0"/>
                </a:solidFill>
              </a:rPr>
              <a:t>Minor- 6805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838200"/>
          <a:ext cx="9144000" cy="601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 smtClean="0">
                <a:solidFill>
                  <a:prstClr val="black"/>
                </a:solidFill>
              </a:rPr>
              <a:t> EOC performance 2015 to 2021</a:t>
            </a:r>
            <a:endParaRPr lang="en-US" sz="28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89255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Monthly  C-section &amp; NVD  Rate 2021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Total % C-section- 34 , NVD – 66 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USER\Desktop\Emoc 2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14400"/>
            <a:ext cx="9144000" cy="5943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ea typeface="Calibri"/>
                <a:cs typeface="Vrinda"/>
              </a:rPr>
              <a:t>5 Best Performing EOC District Hospital </a:t>
            </a:r>
            <a:r>
              <a:rPr lang="en-US" sz="2400" b="1" dirty="0">
                <a:ea typeface="Calibri"/>
                <a:cs typeface="Vrinda"/>
              </a:rPr>
              <a:t>in Khulna </a:t>
            </a:r>
            <a:r>
              <a:rPr lang="en-US" sz="2400" b="1" dirty="0" smtClean="0">
                <a:ea typeface="Calibri"/>
                <a:cs typeface="Vrinda"/>
              </a:rPr>
              <a:t>Division </a:t>
            </a:r>
            <a:r>
              <a:rPr lang="en-US" sz="2400" b="1" dirty="0">
                <a:ea typeface="Calibri"/>
                <a:cs typeface="Vrinda"/>
              </a:rPr>
              <a:t>- </a:t>
            </a:r>
            <a:r>
              <a:rPr lang="en-US" sz="2400" b="1" dirty="0" smtClean="0">
                <a:ea typeface="Calibri"/>
                <a:cs typeface="Vrinda"/>
              </a:rPr>
              <a:t>2021</a:t>
            </a:r>
            <a:endParaRPr lang="en-US" sz="24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533851720"/>
              </p:ext>
            </p:extLst>
          </p:nvPr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096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C-Section</a:t>
            </a:r>
            <a:r>
              <a:rPr lang="en-US" b="1" dirty="0" smtClean="0">
                <a:solidFill>
                  <a:srgbClr val="0070C0"/>
                </a:solidFill>
              </a:rPr>
              <a:t>,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NVD</a:t>
            </a:r>
            <a:r>
              <a:rPr lang="en-US" b="1" dirty="0" smtClean="0"/>
              <a:t>,  </a:t>
            </a:r>
            <a:r>
              <a:rPr lang="en-US" b="1" dirty="0" smtClean="0">
                <a:solidFill>
                  <a:srgbClr val="00B050"/>
                </a:solidFill>
              </a:rPr>
              <a:t>Total Delivery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9453608"/>
      </p:ext>
    </p:extLst>
  </p:cSld>
  <p:clrMapOvr>
    <a:masterClrMapping/>
  </p:clrMapOvr>
  <p:transition spd="slow" advClick="0">
    <p:circl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latin typeface="Algerian" pitchFamily="82" charset="0"/>
              </a:rPr>
              <a:t>Hospital Death Rate 2015 - 2020</a:t>
            </a:r>
            <a:endParaRPr lang="en-US" sz="2800" dirty="0">
              <a:solidFill>
                <a:srgbClr val="FF0000"/>
              </a:solidFill>
              <a:latin typeface="Algerian" pitchFamily="82" charset="0"/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comb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DH, </a:t>
            </a:r>
            <a:r>
              <a:rPr lang="en-US" sz="3200" dirty="0" err="1" smtClean="0"/>
              <a:t>Jhenaidah</a:t>
            </a:r>
            <a:r>
              <a:rPr lang="en-US" sz="3200" dirty="0" smtClean="0"/>
              <a:t> Monthly  death report- 2021</a:t>
            </a:r>
            <a:endParaRPr lang="en-US" sz="3200" dirty="0"/>
          </a:p>
        </p:txBody>
      </p:sp>
      <p:pic>
        <p:nvPicPr>
          <p:cNvPr id="2" name="Picture 3" descr="C:\Users\USER\Desktop\Screenshot_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/>
        </p:nvGraphicFramePr>
        <p:xfrm>
          <a:off x="0" y="609600"/>
          <a:ext cx="9144000" cy="624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Outcome  Report 2021</a:t>
            </a:r>
            <a:endParaRPr lang="en-US" sz="3200" b="1" dirty="0"/>
          </a:p>
        </p:txBody>
      </p:sp>
    </p:spTree>
  </p:cSld>
  <p:clrMapOvr>
    <a:masterClrMapping/>
  </p:clrMapOvr>
  <p:transition spd="slow" advClick="0">
    <p:diamond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2021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991290331"/>
              </p:ext>
            </p:extLst>
          </p:nvPr>
        </p:nvGraphicFramePr>
        <p:xfrm>
          <a:off x="0" y="914400"/>
          <a:ext cx="91440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53200" y="914400"/>
            <a:ext cx="25908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Increase( +) 15,23,345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184797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685800"/>
          <a:ext cx="9144000" cy="617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prstClr val="black"/>
                </a:solidFill>
              </a:rPr>
              <a:t>Category Wise Revenue Collection report 2021</a:t>
            </a:r>
          </a:p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 smtClean="0">
                <a:solidFill>
                  <a:prstClr val="black"/>
                </a:solidFill>
              </a:rPr>
              <a:t>Total Collection- 86,29,296 Taka</a:t>
            </a:r>
            <a:endParaRPr lang="en-US" sz="2400" dirty="0"/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838200"/>
            <a:ext cx="9144000" cy="601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1400" b="1" dirty="0" smtClean="0"/>
              <a:t>1. Active </a:t>
            </a:r>
            <a:r>
              <a:rPr lang="en-US" sz="1400" b="1" dirty="0"/>
              <a:t>C</a:t>
            </a:r>
            <a:r>
              <a:rPr lang="en-US" sz="1400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sz="1400" dirty="0" smtClean="0"/>
              <a:t> </a:t>
            </a:r>
          </a:p>
          <a:p>
            <a:pPr marL="0" algn="just">
              <a:defRPr/>
            </a:pPr>
            <a:r>
              <a:rPr lang="en-US" sz="1400" b="1" dirty="0" smtClean="0"/>
              <a:t>2. Improved Neonatal services in Pediatrics ward (3 Radiant warmer, 2 LED phototherapy machine,18 baby cots by local initiatives.) </a:t>
            </a:r>
          </a:p>
          <a:p>
            <a:pPr marL="0" algn="just">
              <a:defRPr/>
            </a:pPr>
            <a:r>
              <a:rPr lang="en-US" sz="1400" b="1" dirty="0" smtClean="0"/>
              <a:t>    </a:t>
            </a:r>
            <a:endParaRPr lang="en-US" sz="1400" b="1" dirty="0"/>
          </a:p>
          <a:p>
            <a:pPr marL="0" algn="just">
              <a:defRPr/>
            </a:pPr>
            <a:r>
              <a:rPr lang="en-US" sz="1400" b="1" dirty="0" smtClean="0"/>
              <a:t>3. Improved   performance  of all services specially obstetric, operation and outdoor service.</a:t>
            </a:r>
          </a:p>
          <a:p>
            <a:pPr marL="0">
              <a:defRPr/>
            </a:pPr>
            <a:endParaRPr lang="en-US" sz="1400" b="1" dirty="0" smtClean="0"/>
          </a:p>
          <a:p>
            <a:pPr marL="0">
              <a:defRPr/>
            </a:pPr>
            <a:r>
              <a:rPr lang="en-US" sz="1400" b="1" dirty="0" smtClean="0"/>
              <a:t>4. </a:t>
            </a:r>
            <a:r>
              <a:rPr lang="en-US" sz="1400" b="1" dirty="0"/>
              <a:t>Improved Cleanliness and </a:t>
            </a:r>
            <a:r>
              <a:rPr lang="en-US" sz="1400" b="1" dirty="0" smtClean="0"/>
              <a:t>Beautification of Campus.</a:t>
            </a:r>
            <a:endParaRPr lang="en-US" sz="1400" b="1" dirty="0"/>
          </a:p>
          <a:p>
            <a:pPr marL="0" algn="just">
              <a:defRPr/>
            </a:pPr>
            <a:endParaRPr lang="en-US" sz="1400" b="1" dirty="0" smtClean="0"/>
          </a:p>
          <a:p>
            <a:pPr marL="0">
              <a:defRPr/>
            </a:pPr>
            <a:r>
              <a:rPr lang="en-US" sz="1400" b="1" dirty="0" smtClean="0"/>
              <a:t>5. </a:t>
            </a:r>
            <a:r>
              <a:rPr lang="en-US" sz="1400" b="1" dirty="0"/>
              <a:t>Functioning </a:t>
            </a:r>
            <a:r>
              <a:rPr lang="en-US" sz="1400" b="1" dirty="0" smtClean="0"/>
              <a:t>of X-Ray service and starting of Biochemistry investigation by local initiatives.</a:t>
            </a:r>
            <a:endParaRPr lang="en-US" sz="1400" dirty="0"/>
          </a:p>
          <a:p>
            <a:pPr marL="0" algn="just">
              <a:defRPr/>
            </a:pPr>
            <a:endParaRPr lang="en-US" sz="1400" b="1" dirty="0" smtClean="0"/>
          </a:p>
          <a:p>
            <a:pPr marL="0" algn="just">
              <a:defRPr/>
            </a:pPr>
            <a:r>
              <a:rPr lang="en-US" sz="1400" b="1" dirty="0" smtClean="0"/>
              <a:t>6. </a:t>
            </a:r>
            <a:r>
              <a:rPr lang="en-US" sz="1400" b="1" dirty="0"/>
              <a:t>Improved </a:t>
            </a:r>
            <a:r>
              <a:rPr lang="en-US" sz="1400" b="1" dirty="0" smtClean="0"/>
              <a:t>Security.</a:t>
            </a:r>
            <a:endParaRPr lang="en-US" sz="1400" dirty="0"/>
          </a:p>
          <a:p>
            <a:pPr marL="0" algn="just">
              <a:defRPr/>
            </a:pPr>
            <a:endParaRPr lang="en-US" sz="1400" b="1" dirty="0" smtClean="0"/>
          </a:p>
          <a:p>
            <a:pPr marL="0" algn="just">
              <a:defRPr/>
            </a:pPr>
            <a:r>
              <a:rPr lang="en-US" sz="1400" b="1" dirty="0" smtClean="0"/>
              <a:t>7. </a:t>
            </a:r>
            <a:r>
              <a:rPr lang="en-US" sz="1400" b="1" dirty="0"/>
              <a:t>Improved Financial Management</a:t>
            </a:r>
          </a:p>
          <a:p>
            <a:pPr marL="0" algn="just">
              <a:defRPr/>
            </a:pPr>
            <a:endParaRPr lang="en-US" sz="1400" b="1" dirty="0" smtClean="0"/>
          </a:p>
          <a:p>
            <a:pPr marL="0" algn="just">
              <a:defRPr/>
            </a:pPr>
            <a:r>
              <a:rPr lang="en-US" sz="1400" b="1" dirty="0"/>
              <a:t>8</a:t>
            </a:r>
            <a:r>
              <a:rPr lang="en-US" sz="1400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sz="1400" b="1" dirty="0"/>
          </a:p>
          <a:p>
            <a:pPr marL="0" algn="just">
              <a:defRPr/>
            </a:pPr>
            <a:r>
              <a:rPr lang="en-US" sz="1400" b="1" dirty="0" smtClean="0"/>
              <a:t>9. </a:t>
            </a:r>
            <a:r>
              <a:rPr lang="en-US" sz="1400" b="1" dirty="0"/>
              <a:t>The hospital is </a:t>
            </a:r>
            <a:r>
              <a:rPr lang="en-US" sz="1400" b="1" dirty="0" smtClean="0"/>
              <a:t>awarded 7 </a:t>
            </a:r>
            <a:r>
              <a:rPr lang="en-US" sz="1400" b="1" dirty="0"/>
              <a:t>times from 2013 to </a:t>
            </a:r>
            <a:r>
              <a:rPr lang="en-US" sz="1400" b="1" dirty="0" smtClean="0"/>
              <a:t>2019. </a:t>
            </a:r>
          </a:p>
          <a:p>
            <a:pPr marL="0" algn="just">
              <a:defRPr/>
            </a:pPr>
            <a:endParaRPr lang="en-US" sz="1400" b="1" dirty="0" smtClean="0"/>
          </a:p>
          <a:p>
            <a:pPr marL="342900" indent="-342900" algn="just">
              <a:defRPr/>
            </a:pPr>
            <a:r>
              <a:rPr lang="en-US" sz="1400" b="1" dirty="0" smtClean="0"/>
              <a:t>10. Improved gate pass system. </a:t>
            </a:r>
          </a:p>
          <a:p>
            <a:pPr marL="342900" indent="-342900" algn="just">
              <a:buAutoNum type="arabicPeriod" startAt="9"/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sz="1400" b="1" dirty="0" smtClean="0"/>
              <a:t>11. The dining place of the relatives of the patient has been improved</a:t>
            </a:r>
            <a:endParaRPr lang="en-US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6838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HSSI  Health  Minister’s  National  Award 2019</a:t>
            </a:r>
            <a:endParaRPr lang="en-US" sz="3200" dirty="0"/>
          </a:p>
        </p:txBody>
      </p:sp>
      <p:pic>
        <p:nvPicPr>
          <p:cNvPr id="3074" name="Picture 2" descr="C:\Users\USER\Desktop\Award 13.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95300"/>
            <a:ext cx="9144000" cy="63627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Click="0">
    <p:wheel spokes="3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/>
          <a:lstStyle/>
          <a:p>
            <a:r>
              <a:rPr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4 New Innovation</a:t>
            </a:r>
            <a:r>
              <a:rPr lang="en-US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-20</a:t>
            </a:r>
            <a:endParaRPr lang="en-US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3075" name="Picture 3" descr="C:\Users\USER\Desktop\Ticket counter new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4648200" cy="2895600"/>
          </a:xfrm>
          <a:prstGeom prst="rect">
            <a:avLst/>
          </a:prstGeom>
          <a:noFill/>
        </p:spPr>
      </p:pic>
      <p:pic>
        <p:nvPicPr>
          <p:cNvPr id="1027" name="Picture 3" descr="C:\Users\USER\Desktop\Information desk new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609600"/>
            <a:ext cx="4419600" cy="28956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0" y="609600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নতুন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টিকিট</a:t>
            </a:r>
            <a:r>
              <a:rPr lang="en-US" sz="20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000" dirty="0" err="1" smtClean="0">
                <a:latin typeface="Nikosh" pitchFamily="2" charset="0"/>
                <a:cs typeface="Nikosh" pitchFamily="2" charset="0"/>
              </a:rPr>
              <a:t>কাউন্টার</a:t>
            </a:r>
            <a:endParaRPr lang="en-US" sz="20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9" name="Picture 8" descr="C:\Users\USER\Downloads\rsz_img_477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648200" cy="3200400"/>
          </a:xfrm>
          <a:prstGeom prst="rect">
            <a:avLst/>
          </a:prstGeom>
          <a:noFill/>
        </p:spPr>
      </p:pic>
      <p:pic>
        <p:nvPicPr>
          <p:cNvPr id="10" name="Picture 3" descr="C:\Users\USER\Downloads\rsz_img_477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00600" y="3657600"/>
            <a:ext cx="4343400" cy="32004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029200" y="3657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SutonnyMJ" pitchFamily="2" charset="0"/>
              </a:rPr>
              <a:t> †</a:t>
            </a:r>
            <a:r>
              <a:rPr lang="en-US" sz="2400" dirty="0" err="1" smtClean="0">
                <a:latin typeface="SutonnyMJ" pitchFamily="2" charset="0"/>
              </a:rPr>
              <a:t>ivMxi</a:t>
            </a:r>
            <a:r>
              <a:rPr lang="en-US" sz="2400" dirty="0" smtClean="0">
                <a:latin typeface="SutonnyMJ" pitchFamily="2" charset="0"/>
              </a:rPr>
              <a:t> ¯^</a:t>
            </a:r>
            <a:r>
              <a:rPr lang="en-US" sz="2400" dirty="0" err="1" smtClean="0">
                <a:latin typeface="SutonnyMJ" pitchFamily="2" charset="0"/>
              </a:rPr>
              <a:t>Rb‡`i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Lvevi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RvqMv</a:t>
            </a:r>
            <a:endParaRPr lang="en-US" sz="2400" dirty="0">
              <a:latin typeface="SutonnyMJ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35814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SutonnyMJ" pitchFamily="2" charset="0"/>
              </a:rPr>
              <a:t> †</a:t>
            </a:r>
            <a:r>
              <a:rPr lang="en-US" sz="2400" dirty="0" err="1" smtClean="0">
                <a:latin typeface="SutonnyMJ" pitchFamily="2" charset="0"/>
              </a:rPr>
              <a:t>ivMxi</a:t>
            </a:r>
            <a:r>
              <a:rPr lang="en-US" sz="2400" dirty="0" smtClean="0">
                <a:latin typeface="SutonnyMJ" pitchFamily="2" charset="0"/>
              </a:rPr>
              <a:t> ¯^</a:t>
            </a:r>
            <a:r>
              <a:rPr lang="en-US" sz="2400" dirty="0" err="1" smtClean="0">
                <a:latin typeface="SutonnyMJ" pitchFamily="2" charset="0"/>
              </a:rPr>
              <a:t>Rb‡`i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Lvevi</a:t>
            </a:r>
            <a:r>
              <a:rPr lang="en-US" sz="2400" dirty="0" smtClean="0">
                <a:latin typeface="SutonnyMJ" pitchFamily="2" charset="0"/>
              </a:rPr>
              <a:t> </a:t>
            </a:r>
            <a:r>
              <a:rPr lang="en-US" sz="2400" dirty="0" err="1" smtClean="0">
                <a:latin typeface="SutonnyMJ" pitchFamily="2" charset="0"/>
              </a:rPr>
              <a:t>RvqMv</a:t>
            </a:r>
            <a:endParaRPr lang="en-US" sz="2400" dirty="0">
              <a:latin typeface="SutonnyMJ" pitchFamily="2" charset="0"/>
            </a:endParaRP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3074" name="Picture 2" descr="F:\Hospital Picture\New 2022\IMG_526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2000"/>
            <a:ext cx="4419600" cy="2819400"/>
          </a:xfrm>
          <a:prstGeom prst="rect">
            <a:avLst/>
          </a:prstGeom>
          <a:noFill/>
        </p:spPr>
      </p:pic>
      <p:pic>
        <p:nvPicPr>
          <p:cNvPr id="3077" name="Picture 5" descr="F:\Hospital Picture\New 2022\IMG_5270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685800"/>
            <a:ext cx="4489450" cy="2909888"/>
          </a:xfrm>
          <a:prstGeom prst="rect">
            <a:avLst/>
          </a:prstGeom>
          <a:noFill/>
        </p:spPr>
      </p:pic>
      <p:pic>
        <p:nvPicPr>
          <p:cNvPr id="3081" name="Picture 9" descr="C:\Users\USER\Desktop\rsz_1img_527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657600"/>
            <a:ext cx="4419600" cy="3200400"/>
          </a:xfrm>
          <a:prstGeom prst="rect">
            <a:avLst/>
          </a:prstGeom>
          <a:noFill/>
        </p:spPr>
      </p:pic>
      <p:pic>
        <p:nvPicPr>
          <p:cNvPr id="1026" name="Picture 2" descr="C:\Users\USER\Desktop\Screenshot_1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5800" y="3657601"/>
            <a:ext cx="4648200" cy="32004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lang="as-IN" sz="36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জাহেদী ফাউন্ডেশন কর্তৃক পিকআপ ভ্যান প্রদান</a:t>
            </a:r>
            <a:endParaRPr lang="en-US" sz="36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8" name="Picture 4" descr="C:\Users\USER\Desktop\46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4648200" cy="3048000"/>
          </a:xfrm>
          <a:prstGeom prst="rect">
            <a:avLst/>
          </a:prstGeom>
          <a:noFill/>
        </p:spPr>
      </p:pic>
      <p:pic>
        <p:nvPicPr>
          <p:cNvPr id="1029" name="Picture 5" descr="C:\Users\USER\Desktop\462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92041" y="3657600"/>
            <a:ext cx="4451959" cy="3200400"/>
          </a:xfrm>
          <a:prstGeom prst="rect">
            <a:avLst/>
          </a:prstGeom>
          <a:noFill/>
        </p:spPr>
      </p:pic>
      <p:pic>
        <p:nvPicPr>
          <p:cNvPr id="1030" name="Picture 6" descr="C:\Users\USER\Desktop\462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7600"/>
            <a:ext cx="4648200" cy="3200400"/>
          </a:xfrm>
          <a:prstGeom prst="rect">
            <a:avLst/>
          </a:prstGeom>
          <a:noFill/>
        </p:spPr>
      </p:pic>
      <p:pic>
        <p:nvPicPr>
          <p:cNvPr id="1032" name="Picture 8" descr="C:\Users\USER\Desktop\rsz_img_460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533400"/>
            <a:ext cx="4419600" cy="30480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s-IN" sz="2400" b="1" dirty="0" smtClean="0">
                <a:solidFill>
                  <a:srgbClr val="00B050"/>
                </a:solidFill>
                <a:latin typeface="Nikosh" pitchFamily="2" charset="0"/>
                <a:cs typeface="Nikosh" pitchFamily="2" charset="0"/>
              </a:rPr>
              <a:t>সদর হাসপাতাল,ঝিনাইদহে জাহেদী ফাউন্ডেশন কর্তৃক পিকআপ ভ্যান প্রদান অনুষ্ঠান । প্রধান অতিথি ছিলেন মাননীয় জাতীয় সাংসদ জনাব মোঃ আব্দুল হাই,বিশেষ অতিথি হিসাবে উপস্থিত ছিলেন পুলিশ সুপার, পৌরসভার সুযোগ্য মেয়র ও অন্যান্য অতিথিবৃন্দ</a:t>
            </a:r>
            <a:r>
              <a:rPr lang="as-IN" sz="24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</a:t>
            </a:r>
            <a:endParaRPr lang="en-US" sz="2400" dirty="0"/>
          </a:p>
        </p:txBody>
      </p:sp>
      <p:pic>
        <p:nvPicPr>
          <p:cNvPr id="3" name="Content Placeholder 6" descr="IMG_462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19200"/>
            <a:ext cx="9144000" cy="5638800"/>
          </a:xfrm>
          <a:prstGeom prst="rect">
            <a:avLst/>
          </a:prstGeom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জনাব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তাহজীব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আলম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সিদ্দীকি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মাননীয়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সংসদ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সদস্য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সহধর্মীনি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সদর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হাসপতপাল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ঝিনাইদহে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২টি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ইনকিউবেটর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মেশিন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প্রদান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800" dirty="0" err="1" smtClean="0">
                <a:latin typeface="Nikosh" pitchFamily="2" charset="0"/>
                <a:cs typeface="Nikosh" pitchFamily="2" charset="0"/>
              </a:rPr>
              <a:t>করেন</a:t>
            </a:r>
            <a:r>
              <a:rPr lang="en-US" sz="2800" dirty="0" smtClean="0">
                <a:latin typeface="Nikosh" pitchFamily="2" charset="0"/>
                <a:cs typeface="Nikosh" pitchFamily="2" charset="0"/>
              </a:rPr>
              <a:t> </a:t>
            </a:r>
            <a:endParaRPr lang="en-US" sz="28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6" name="Picture 2" descr="F:\Incubetor Machine pic\IMG_4906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48706"/>
            <a:ext cx="4038600" cy="3028950"/>
          </a:xfrm>
          <a:prstGeom prst="rect">
            <a:avLst/>
          </a:prstGeom>
          <a:noFill/>
        </p:spPr>
      </p:pic>
      <p:pic>
        <p:nvPicPr>
          <p:cNvPr id="1027" name="Picture 3" descr="F:\Incubetor Machine pic\IMG_4907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348706"/>
            <a:ext cx="4038600" cy="302895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9600"/>
            <a:ext cx="4419600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33800"/>
            <a:ext cx="4419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733800"/>
            <a:ext cx="4495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410200" y="3886200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0" y="38101"/>
            <a:ext cx="9143999" cy="419099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1" y="609600"/>
            <a:ext cx="449580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5181600" y="609600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975220147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83109367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87810031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1310155"/>
      </p:ext>
    </p:extLst>
  </p:cSld>
  <p:clrMapOvr>
    <a:masterClrMapping/>
  </p:clrMapOvr>
  <p:transition spd="slow">
    <p:split orient="vert" dir="in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700088"/>
            <a:ext cx="44958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36987"/>
            <a:ext cx="44958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0"/>
            <a:ext cx="9144000" cy="762000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0070C0"/>
                </a:solidFill>
                <a:latin typeface="NikoshBAN" pitchFamily="2" charset="0"/>
                <a:cs typeface="NikoshBAN" pitchFamily="2" charset="0"/>
              </a:rPr>
              <a:t>সকলকে</a:t>
            </a:r>
            <a:r>
              <a:rPr lang="en-US" b="1" dirty="0" smtClean="0">
                <a:solidFill>
                  <a:srgbClr val="0070C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NikoshBAN" pitchFamily="2" charset="0"/>
                <a:cs typeface="NikoshBAN" pitchFamily="2" charset="0"/>
              </a:rPr>
              <a:t>আবারো</a:t>
            </a:r>
            <a:r>
              <a:rPr lang="en-US" b="1" dirty="0" smtClean="0">
                <a:solidFill>
                  <a:srgbClr val="0070C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NikoshBAN" pitchFamily="2" charset="0"/>
                <a:cs typeface="NikoshBAN" pitchFamily="2" charset="0"/>
              </a:rPr>
              <a:t>ধন্যবাদ</a:t>
            </a:r>
            <a:r>
              <a:rPr lang="en-US" b="1" dirty="0" smtClean="0">
                <a:solidFill>
                  <a:srgbClr val="0070C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2052" name="Picture 4" descr="F:\Hospital Picture\New 2022\IMG_5265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3999" cy="612616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6352</TotalTime>
  <Words>1307</Words>
  <Application>Microsoft Office PowerPoint</Application>
  <PresentationFormat>On-screen Show (4:3)</PresentationFormat>
  <Paragraphs>479</Paragraphs>
  <Slides>45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evwl©K  mfv- 2022 ZvwiL t 26/01/22, mgq t mKvj 8.30 NwUKv   ¯’vb- m‡¤§jb Kÿ, 250 kh¨v wewkó †Rbv‡ij nvmcZvj, wSbvB`n |</vt:lpstr>
      <vt:lpstr> সভায় উপস্থিতির জন্য সকলকে নববর্ষের  ফুলেল শুভেচ্ছা</vt:lpstr>
      <vt:lpstr>Avgv‡`i evMv‡bi bZzb dzj </vt:lpstr>
      <vt:lpstr>Slide 4</vt:lpstr>
      <vt:lpstr>250 শয্যা বিশিষ্ট জেনারেল হাসপাতাল,ঝিনাইদহ </vt:lpstr>
      <vt:lpstr>Slide 6</vt:lpstr>
      <vt:lpstr>Slide 7</vt:lpstr>
      <vt:lpstr>Slide 8</vt:lpstr>
      <vt:lpstr>Slide 9</vt:lpstr>
      <vt:lpstr>Slide 10</vt:lpstr>
      <vt:lpstr>Slide 11</vt:lpstr>
      <vt:lpstr>Emergency + Outdoor &amp; Indoor  Service 1998 to 2021</vt:lpstr>
      <vt:lpstr>Slide 13</vt:lpstr>
      <vt:lpstr>Slide 14</vt:lpstr>
      <vt:lpstr>Slide 15</vt:lpstr>
      <vt:lpstr>Slide 16</vt:lpstr>
      <vt:lpstr>Slide 17</vt:lpstr>
      <vt:lpstr>Slide 18</vt:lpstr>
      <vt:lpstr>Operation Service (Major) 2012 to 2021</vt:lpstr>
      <vt:lpstr>Slide 20</vt:lpstr>
      <vt:lpstr>Slide 21</vt:lpstr>
      <vt:lpstr>Slide 22</vt:lpstr>
      <vt:lpstr>5 Best Performing EOC District Hospital in Khulna Division - 2021</vt:lpstr>
      <vt:lpstr>Slide 24</vt:lpstr>
      <vt:lpstr>Slide 25</vt:lpstr>
      <vt:lpstr>Slide 26</vt:lpstr>
      <vt:lpstr>Slide 27</vt:lpstr>
      <vt:lpstr>  Comparative data of revenue income (in Taka) from 2015 to 2021 </vt:lpstr>
      <vt:lpstr>Slide 29</vt:lpstr>
      <vt:lpstr>Slide 30</vt:lpstr>
      <vt:lpstr>Slide 31</vt:lpstr>
      <vt:lpstr>Slide 32</vt:lpstr>
      <vt:lpstr>4 New Innovation-20</vt:lpstr>
      <vt:lpstr>Slide 34</vt:lpstr>
      <vt:lpstr>জাহেদী ফাউন্ডেশন কর্তৃক পিকআপ ভ্যান প্রদান</vt:lpstr>
      <vt:lpstr>Slide 36</vt:lpstr>
      <vt:lpstr>জনাব তাহজীব আলম সিদ্দীকি মাননীয় জাতীয় সংসদ সদস্য এর সহধর্মীনি সদর হাসপতপাল ঝিনাইদহে ২টি ইনকিউবেটর মেশিন প্রদান করেন </vt:lpstr>
      <vt:lpstr>Innovative activities of Jhenaidah Sadar Hospital - 1</vt:lpstr>
      <vt:lpstr>Slide 39</vt:lpstr>
      <vt:lpstr>Slide 40</vt:lpstr>
      <vt:lpstr>Innovative activities of Jhenaidah Sadar Hospital - 4</vt:lpstr>
      <vt:lpstr>Innovative activities of Jhenaidah Sadar Hospital - 5</vt:lpstr>
      <vt:lpstr>Internal Monitoring System</vt:lpstr>
      <vt:lpstr>Hospital Environment</vt:lpstr>
      <vt:lpstr>সকলকে আবারো ধন্যবাদ  </vt:lpstr>
    </vt:vector>
  </TitlesOfParts>
  <Company>UNICEF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USER</cp:lastModifiedBy>
  <cp:revision>896</cp:revision>
  <cp:lastPrinted>2017-03-18T23:47:54Z</cp:lastPrinted>
  <dcterms:created xsi:type="dcterms:W3CDTF">2013-05-05T09:56:19Z</dcterms:created>
  <dcterms:modified xsi:type="dcterms:W3CDTF">2022-01-16T03:12:31Z</dcterms:modified>
</cp:coreProperties>
</file>