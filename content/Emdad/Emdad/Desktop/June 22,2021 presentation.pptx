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charts/chart4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21.xml" ContentType="application/vnd.openxmlformats-officedocument.presentationml.notesSlide+xml"/>
  <Override PartName="/ppt/charts/chart12.xml" ContentType="application/vnd.openxmlformats-officedocument.drawingml.chart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69"/>
  </p:notesMasterIdLst>
  <p:sldIdLst>
    <p:sldId id="385" r:id="rId2"/>
    <p:sldId id="386" r:id="rId3"/>
    <p:sldId id="416" r:id="rId4"/>
    <p:sldId id="415" r:id="rId5"/>
    <p:sldId id="452" r:id="rId6"/>
    <p:sldId id="442" r:id="rId7"/>
    <p:sldId id="439" r:id="rId8"/>
    <p:sldId id="440" r:id="rId9"/>
    <p:sldId id="441" r:id="rId10"/>
    <p:sldId id="443" r:id="rId11"/>
    <p:sldId id="444" r:id="rId12"/>
    <p:sldId id="445" r:id="rId13"/>
    <p:sldId id="446" r:id="rId14"/>
    <p:sldId id="447" r:id="rId15"/>
    <p:sldId id="448" r:id="rId16"/>
    <p:sldId id="449" r:id="rId17"/>
    <p:sldId id="450" r:id="rId18"/>
    <p:sldId id="451" r:id="rId19"/>
    <p:sldId id="417" r:id="rId20"/>
    <p:sldId id="418" r:id="rId21"/>
    <p:sldId id="388" r:id="rId22"/>
    <p:sldId id="389" r:id="rId23"/>
    <p:sldId id="390" r:id="rId24"/>
    <p:sldId id="428" r:id="rId25"/>
    <p:sldId id="455" r:id="rId26"/>
    <p:sldId id="429" r:id="rId27"/>
    <p:sldId id="430" r:id="rId28"/>
    <p:sldId id="431" r:id="rId29"/>
    <p:sldId id="432" r:id="rId30"/>
    <p:sldId id="454" r:id="rId31"/>
    <p:sldId id="434" r:id="rId32"/>
    <p:sldId id="391" r:id="rId33"/>
    <p:sldId id="425" r:id="rId34"/>
    <p:sldId id="376" r:id="rId35"/>
    <p:sldId id="405" r:id="rId36"/>
    <p:sldId id="379" r:id="rId37"/>
    <p:sldId id="377" r:id="rId38"/>
    <p:sldId id="375" r:id="rId39"/>
    <p:sldId id="328" r:id="rId40"/>
    <p:sldId id="383" r:id="rId41"/>
    <p:sldId id="381" r:id="rId42"/>
    <p:sldId id="392" r:id="rId43"/>
    <p:sldId id="397" r:id="rId44"/>
    <p:sldId id="403" r:id="rId45"/>
    <p:sldId id="406" r:id="rId46"/>
    <p:sldId id="369" r:id="rId47"/>
    <p:sldId id="287" r:id="rId48"/>
    <p:sldId id="288" r:id="rId49"/>
    <p:sldId id="291" r:id="rId50"/>
    <p:sldId id="413" r:id="rId51"/>
    <p:sldId id="308" r:id="rId52"/>
    <p:sldId id="412" r:id="rId53"/>
    <p:sldId id="312" r:id="rId54"/>
    <p:sldId id="366" r:id="rId55"/>
    <p:sldId id="363" r:id="rId56"/>
    <p:sldId id="364" r:id="rId57"/>
    <p:sldId id="370" r:id="rId58"/>
    <p:sldId id="372" r:id="rId59"/>
    <p:sldId id="371" r:id="rId60"/>
    <p:sldId id="297" r:id="rId61"/>
    <p:sldId id="293" r:id="rId62"/>
    <p:sldId id="401" r:id="rId63"/>
    <p:sldId id="330" r:id="rId64"/>
    <p:sldId id="410" r:id="rId65"/>
    <p:sldId id="344" r:id="rId66"/>
    <p:sldId id="437" r:id="rId67"/>
    <p:sldId id="438" r:id="rId6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1459" autoAdjust="0"/>
  </p:normalViewPr>
  <p:slideViewPr>
    <p:cSldViewPr>
      <p:cViewPr>
        <p:scale>
          <a:sx n="70" d="100"/>
          <a:sy n="70" d="100"/>
        </p:scale>
        <p:origin x="-1632" y="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image" Target="../media/image53.jpeg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image" Target="../media/image55.jpeg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.xlsx"/><Relationship Id="rId1" Type="http://schemas.openxmlformats.org/officeDocument/2006/relationships/image" Target="../media/image56.jpeg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image" Target="../media/image53.jpeg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image" Target="../media/image49.jpeg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Chart\Covid-19%20report%2020.xlsx" TargetMode="External"/><Relationship Id="rId2" Type="http://schemas.openxmlformats.org/officeDocument/2006/relationships/image" Target="../media/image58.jpeg"/><Relationship Id="rId1" Type="http://schemas.openxmlformats.org/officeDocument/2006/relationships/themeOverride" Target="../theme/themeOverrid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3890347039953401E-2"/>
          <c:y val="8.0954601022027506E-2"/>
          <c:w val="0.79749431321084863"/>
          <c:h val="0.788539579741881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4413</c:v>
                </c:pt>
                <c:pt idx="1">
                  <c:v>3506</c:v>
                </c:pt>
                <c:pt idx="2">
                  <c:v>3246</c:v>
                </c:pt>
                <c:pt idx="3">
                  <c:v>3418</c:v>
                </c:pt>
                <c:pt idx="4">
                  <c:v>3486</c:v>
                </c:pt>
                <c:pt idx="5">
                  <c:v>3001</c:v>
                </c:pt>
                <c:pt idx="6">
                  <c:v>2926</c:v>
                </c:pt>
                <c:pt idx="7">
                  <c:v>2756</c:v>
                </c:pt>
                <c:pt idx="8">
                  <c:v>2957</c:v>
                </c:pt>
                <c:pt idx="9">
                  <c:v>2615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753-4410-A092-6E61458D3C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C-section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1007</c:v>
                </c:pt>
                <c:pt idx="1">
                  <c:v>785</c:v>
                </c:pt>
                <c:pt idx="2">
                  <c:v>900</c:v>
                </c:pt>
                <c:pt idx="3">
                  <c:v>979</c:v>
                </c:pt>
                <c:pt idx="4">
                  <c:v>1039</c:v>
                </c:pt>
                <c:pt idx="5">
                  <c:v>727</c:v>
                </c:pt>
                <c:pt idx="6">
                  <c:v>759</c:v>
                </c:pt>
                <c:pt idx="7">
                  <c:v>790</c:v>
                </c:pt>
                <c:pt idx="8">
                  <c:v>854</c:v>
                </c:pt>
                <c:pt idx="9">
                  <c:v>795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753-4410-A092-6E61458D3C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9026560"/>
        <c:axId val="239028096"/>
      </c:barChart>
      <c:catAx>
        <c:axId val="2390265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39028096"/>
        <c:crosses val="autoZero"/>
        <c:auto val="1"/>
        <c:lblAlgn val="ctr"/>
        <c:lblOffset val="100"/>
        <c:noMultiLvlLbl val="0"/>
      </c:catAx>
      <c:valAx>
        <c:axId val="2390280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3902656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2474617235345604"/>
          <c:y val="5.3978707543213912E-2"/>
          <c:w val="0.17386493875765535"/>
          <c:h val="0.244113590830732"/>
        </c:manualLayout>
      </c:layout>
      <c:overlay val="0"/>
      <c:spPr>
        <a:solidFill>
          <a:schemeClr val="bg1"/>
        </a:solidFill>
        <a:ln>
          <a:solidFill>
            <a:schemeClr val="accent1"/>
          </a:solidFill>
        </a:ln>
      </c:sp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Emergency+Outdoor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97956</c:v>
                </c:pt>
                <c:pt idx="1">
                  <c:v>87611</c:v>
                </c:pt>
                <c:pt idx="2">
                  <c:v>99955</c:v>
                </c:pt>
                <c:pt idx="3">
                  <c:v>105057</c:v>
                </c:pt>
                <c:pt idx="4">
                  <c:v>87456</c:v>
                </c:pt>
                <c:pt idx="5">
                  <c:v>134195</c:v>
                </c:pt>
                <c:pt idx="6">
                  <c:v>142869</c:v>
                </c:pt>
                <c:pt idx="7">
                  <c:v>136611</c:v>
                </c:pt>
                <c:pt idx="8">
                  <c:v>145592</c:v>
                </c:pt>
                <c:pt idx="9">
                  <c:v>135820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D9F-4306-8585-8E53C9687A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14819</c:v>
                </c:pt>
                <c:pt idx="1">
                  <c:v>14112</c:v>
                </c:pt>
                <c:pt idx="2">
                  <c:v>13708</c:v>
                </c:pt>
                <c:pt idx="3">
                  <c:v>14349</c:v>
                </c:pt>
                <c:pt idx="4">
                  <c:v>14140</c:v>
                </c:pt>
                <c:pt idx="5">
                  <c:v>13933</c:v>
                </c:pt>
                <c:pt idx="6">
                  <c:v>15125</c:v>
                </c:pt>
                <c:pt idx="7">
                  <c:v>12836</c:v>
                </c:pt>
                <c:pt idx="8">
                  <c:v>16915</c:v>
                </c:pt>
                <c:pt idx="9">
                  <c:v>10139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D9F-4306-8585-8E53C9687A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2859648"/>
        <c:axId val="162869632"/>
      </c:barChart>
      <c:catAx>
        <c:axId val="1628596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2869632"/>
        <c:crosses val="autoZero"/>
        <c:auto val="1"/>
        <c:lblAlgn val="ctr"/>
        <c:lblOffset val="100"/>
        <c:noMultiLvlLbl val="0"/>
      </c:catAx>
      <c:valAx>
        <c:axId val="1628696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28596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471577565962166"/>
          <c:y val="0.38908298468477376"/>
          <c:w val="0.25333494497398351"/>
          <c:h val="0.21411916567323974"/>
        </c:manualLayout>
      </c:layout>
      <c:overlay val="0"/>
      <c:txPr>
        <a:bodyPr/>
        <a:lstStyle/>
        <a:p>
          <a:pPr>
            <a:defRPr sz="1500" baseline="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Total</a:t>
            </a:r>
            <a:r>
              <a:rPr lang="en-US" baseline="0" dirty="0" smtClean="0"/>
              <a:t> Number of Beds = 50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Occupancy Rate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207.47</c:v>
                </c:pt>
                <c:pt idx="1">
                  <c:v>184</c:v>
                </c:pt>
                <c:pt idx="2">
                  <c:v>181</c:v>
                </c:pt>
                <c:pt idx="3">
                  <c:v>188.52</c:v>
                </c:pt>
                <c:pt idx="4">
                  <c:v>187.93</c:v>
                </c:pt>
                <c:pt idx="5">
                  <c:v>157.87</c:v>
                </c:pt>
                <c:pt idx="6">
                  <c:v>170.59</c:v>
                </c:pt>
                <c:pt idx="7">
                  <c:v>158.85000000000002</c:v>
                </c:pt>
                <c:pt idx="8">
                  <c:v>207.02</c:v>
                </c:pt>
                <c:pt idx="9">
                  <c:v>112.09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5B4-4213-B6AF-A87D1F9E56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16269568"/>
        <c:axId val="216272256"/>
      </c:barChart>
      <c:catAx>
        <c:axId val="216269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6272256"/>
        <c:crosses val="autoZero"/>
        <c:auto val="1"/>
        <c:lblAlgn val="ctr"/>
        <c:lblOffset val="100"/>
        <c:noMultiLvlLbl val="0"/>
      </c:catAx>
      <c:valAx>
        <c:axId val="21627225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16269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Sheet1!$A$7:$A$16</c:f>
              <c:numCache>
                <c:formatCode>General</c:formatCode>
                <c:ptCount val="10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Sheet1!$B$7:$B$16</c:f>
              <c:numCache>
                <c:formatCode>General</c:formatCode>
                <c:ptCount val="10"/>
                <c:pt idx="0">
                  <c:v>8935</c:v>
                </c:pt>
                <c:pt idx="1">
                  <c:v>7442</c:v>
                </c:pt>
                <c:pt idx="2">
                  <c:v>7210</c:v>
                </c:pt>
                <c:pt idx="3">
                  <c:v>6919</c:v>
                </c:pt>
                <c:pt idx="4">
                  <c:v>7194</c:v>
                </c:pt>
                <c:pt idx="5">
                  <c:v>6756</c:v>
                </c:pt>
                <c:pt idx="6">
                  <c:v>6632</c:v>
                </c:pt>
                <c:pt idx="7">
                  <c:v>6348</c:v>
                </c:pt>
                <c:pt idx="8">
                  <c:v>7349</c:v>
                </c:pt>
                <c:pt idx="9">
                  <c:v>6995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487-44CC-864A-78852C4785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39768320"/>
        <c:axId val="239771008"/>
      </c:barChart>
      <c:catAx>
        <c:axId val="239768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9771008"/>
        <c:crosses val="autoZero"/>
        <c:auto val="1"/>
        <c:lblAlgn val="ctr"/>
        <c:lblOffset val="100"/>
        <c:noMultiLvlLbl val="0"/>
      </c:catAx>
      <c:valAx>
        <c:axId val="239771008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39768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Sheet1!$B$2:$B$9</c:f>
              <c:numCache>
                <c:formatCode>0%</c:formatCode>
                <c:ptCount val="8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2.42</c:v>
                </c:pt>
                <c:pt idx="5">
                  <c:v>2.5099999999999998</c:v>
                </c:pt>
                <c:pt idx="6">
                  <c:v>2.88</c:v>
                </c:pt>
                <c:pt idx="7">
                  <c:v>1.85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7792000"/>
        <c:axId val="247793536"/>
      </c:barChart>
      <c:catAx>
        <c:axId val="247792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aseline="0"/>
            </a:pPr>
            <a:endParaRPr lang="en-US"/>
          </a:p>
        </c:txPr>
        <c:crossAx val="247793536"/>
        <c:crosses val="autoZero"/>
        <c:auto val="1"/>
        <c:lblAlgn val="ctr"/>
        <c:lblOffset val="100"/>
        <c:noMultiLvlLbl val="0"/>
      </c:catAx>
      <c:valAx>
        <c:axId val="24779353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4779200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2.5792207312114252E-2"/>
          <c:w val="0.87858091957255369"/>
          <c:h val="0.86933495989057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340932</c:v>
                </c:pt>
                <c:pt idx="6">
                  <c:v>384928</c:v>
                </c:pt>
                <c:pt idx="7">
                  <c:v>407474</c:v>
                </c:pt>
                <c:pt idx="8">
                  <c:v>267724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6646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6.2305295950156646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-6.5370734908137547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35569</c:v>
                </c:pt>
                <c:pt idx="6">
                  <c:v>37096</c:v>
                </c:pt>
                <c:pt idx="7">
                  <c:v>42551</c:v>
                </c:pt>
                <c:pt idx="8">
                  <c:v>27989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6138496"/>
        <c:axId val="216140032"/>
      </c:barChart>
      <c:catAx>
        <c:axId val="2161384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6140032"/>
        <c:crosses val="autoZero"/>
        <c:auto val="1"/>
        <c:lblAlgn val="ctr"/>
        <c:lblOffset val="100"/>
        <c:noMultiLvlLbl val="0"/>
      </c:catAx>
      <c:valAx>
        <c:axId val="2161400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216138496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.10934240566213922"/>
          <c:y val="5.0614472425047033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0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1578</c:v>
                </c:pt>
                <c:pt idx="6">
                  <c:v>1385</c:v>
                </c:pt>
                <c:pt idx="7">
                  <c:v>1496</c:v>
                </c:pt>
                <c:pt idx="8">
                  <c:v>1445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48468224"/>
        <c:axId val="248469760"/>
        <c:axId val="0"/>
      </c:bar3DChart>
      <c:catAx>
        <c:axId val="248468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8469760"/>
        <c:crosses val="autoZero"/>
        <c:auto val="1"/>
        <c:lblAlgn val="ctr"/>
        <c:lblOffset val="100"/>
        <c:noMultiLvlLbl val="0"/>
      </c:catAx>
      <c:valAx>
        <c:axId val="2484697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484682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4"/>
              <c:layout>
                <c:manualLayout>
                  <c:x val="-8.6206896551724223E-3"/>
                  <c:y val="1.08481456077396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709</c:v>
                </c:pt>
                <c:pt idx="1">
                  <c:v>766</c:v>
                </c:pt>
                <c:pt idx="2">
                  <c:v>876</c:v>
                </c:pt>
                <c:pt idx="3">
                  <c:v>1028</c:v>
                </c:pt>
                <c:pt idx="4">
                  <c:v>1000</c:v>
                </c:pt>
                <c:pt idx="5">
                  <c:v>804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1127</c:v>
                </c:pt>
                <c:pt idx="1">
                  <c:v>923</c:v>
                </c:pt>
                <c:pt idx="2">
                  <c:v>1493</c:v>
                </c:pt>
                <c:pt idx="3">
                  <c:v>1535</c:v>
                </c:pt>
                <c:pt idx="4">
                  <c:v>2014</c:v>
                </c:pt>
                <c:pt idx="5">
                  <c:v>910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848</c:v>
                </c:pt>
                <c:pt idx="1">
                  <c:v>806</c:v>
                </c:pt>
                <c:pt idx="2">
                  <c:v>1297</c:v>
                </c:pt>
                <c:pt idx="3">
                  <c:v>1029</c:v>
                </c:pt>
                <c:pt idx="4">
                  <c:v>1648</c:v>
                </c:pt>
                <c:pt idx="5">
                  <c:v>861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Sheet1!$E$2:$E$7</c:f>
              <c:numCache>
                <c:formatCode>General</c:formatCode>
                <c:ptCount val="6"/>
                <c:pt idx="0">
                  <c:v>2684</c:v>
                </c:pt>
                <c:pt idx="1">
                  <c:v>2495</c:v>
                </c:pt>
                <c:pt idx="2">
                  <c:v>3666</c:v>
                </c:pt>
                <c:pt idx="3">
                  <c:v>3592</c:v>
                </c:pt>
                <c:pt idx="4">
                  <c:v>4662</c:v>
                </c:pt>
                <c:pt idx="5">
                  <c:v>2575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3852288"/>
        <c:axId val="253862272"/>
      </c:barChart>
      <c:catAx>
        <c:axId val="2538522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53862272"/>
        <c:crosses val="autoZero"/>
        <c:auto val="1"/>
        <c:lblAlgn val="ctr"/>
        <c:lblOffset val="100"/>
        <c:noMultiLvlLbl val="0"/>
      </c:catAx>
      <c:valAx>
        <c:axId val="2538622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53852288"/>
        <c:crosses val="autoZero"/>
        <c:crossBetween val="between"/>
      </c:valAx>
    </c:plotArea>
    <c:legend>
      <c:legendPos val="r"/>
      <c:legendEntry>
        <c:idx val="1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400" b="1" baseline="0"/>
            </a:pPr>
            <a:endParaRPr lang="en-US"/>
          </a:p>
        </c:txPr>
      </c:legendEntry>
      <c:layout>
        <c:manualLayout>
          <c:xMode val="edge"/>
          <c:yMode val="edge"/>
          <c:x val="0.83649142456331094"/>
          <c:y val="0.11661286726738625"/>
          <c:w val="0.16350857543669114"/>
          <c:h val="0.40693306595745965"/>
        </c:manualLayout>
      </c:layout>
      <c:overlay val="0"/>
      <c:txPr>
        <a:bodyPr/>
        <a:lstStyle/>
        <a:p>
          <a:pPr>
            <a:defRPr sz="1600" b="1" baseline="0"/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621293866044522"/>
          <c:y val="4.4861391929187228E-2"/>
          <c:w val="0.69983231262758827"/>
          <c:h val="0.857203428309069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0802590648391173E-2"/>
                  <c:y val="-1.68361959653668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1354</c:v>
                </c:pt>
                <c:pt idx="1">
                  <c:v>2268</c:v>
                </c:pt>
                <c:pt idx="2">
                  <c:v>7096</c:v>
                </c:pt>
                <c:pt idx="3">
                  <c:v>13251</c:v>
                </c:pt>
                <c:pt idx="4">
                  <c:v>15309</c:v>
                </c:pt>
                <c:pt idx="5">
                  <c:v>14191</c:v>
                </c:pt>
                <c:pt idx="6">
                  <c:v>14712</c:v>
                </c:pt>
                <c:pt idx="7">
                  <c:v>14646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432098765432098E-3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8518518518518576E-2"/>
                  <c:y val="1.4030163304472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0061728395061727E-2"/>
                  <c:y val="1.1224130643577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1.6975308641975308E-2"/>
                  <c:y val="-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1.697530864197530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4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2015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2375</c:v>
                </c:pt>
                <c:pt idx="1">
                  <c:v>2379</c:v>
                </c:pt>
                <c:pt idx="2">
                  <c:v>2796</c:v>
                </c:pt>
                <c:pt idx="3">
                  <c:v>3034</c:v>
                </c:pt>
                <c:pt idx="4">
                  <c:v>2981</c:v>
                </c:pt>
                <c:pt idx="5">
                  <c:v>2737</c:v>
                </c:pt>
                <c:pt idx="6">
                  <c:v>2753</c:v>
                </c:pt>
                <c:pt idx="7">
                  <c:v>2501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8577408"/>
        <c:axId val="255530112"/>
      </c:barChart>
      <c:catAx>
        <c:axId val="2485774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55530112"/>
        <c:crosses val="autoZero"/>
        <c:auto val="1"/>
        <c:lblAlgn val="ctr"/>
        <c:lblOffset val="100"/>
        <c:noMultiLvlLbl val="0"/>
      </c:catAx>
      <c:valAx>
        <c:axId val="2555301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4857740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Sheet1!$B$2:$B$7</c:f>
              <c:numCache>
                <c:formatCode>#,##0</c:formatCode>
                <c:ptCount val="6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  <c:pt idx="5" formatCode="General">
                  <c:v>7105951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255568128"/>
        <c:axId val="255582208"/>
        <c:axId val="253847744"/>
      </c:bar3DChart>
      <c:catAx>
        <c:axId val="2555681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255582208"/>
        <c:crosses val="autoZero"/>
        <c:auto val="1"/>
        <c:lblAlgn val="ctr"/>
        <c:lblOffset val="100"/>
        <c:noMultiLvlLbl val="0"/>
      </c:catAx>
      <c:valAx>
        <c:axId val="255582208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255568128"/>
        <c:crosses val="autoZero"/>
        <c:crossBetween val="between"/>
      </c:valAx>
      <c:serAx>
        <c:axId val="253847744"/>
        <c:scaling>
          <c:orientation val="minMax"/>
        </c:scaling>
        <c:delete val="1"/>
        <c:axPos val="b"/>
        <c:majorTickMark val="out"/>
        <c:minorTickMark val="none"/>
        <c:tickLblPos val="nextTo"/>
        <c:crossAx val="255582208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ANC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Khulna Medical Collage Hospital</c:v>
                </c:pt>
                <c:pt idx="1">
                  <c:v>Jashore Medical Collage Hospital</c:v>
                </c:pt>
                <c:pt idx="2">
                  <c:v>Kushtia Medical Collage Hospital</c:v>
                </c:pt>
                <c:pt idx="3">
                  <c:v>Jhenidah Sadar Hospital 100 beded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8582</c:v>
                </c:pt>
                <c:pt idx="1">
                  <c:v>16981</c:v>
                </c:pt>
                <c:pt idx="2">
                  <c:v>8145</c:v>
                </c:pt>
                <c:pt idx="3">
                  <c:v>14812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9.259259259259258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1604938271604937E-2"/>
                  <c:y val="-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88888888888888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543209876543209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Khulna Medical Collage Hospital</c:v>
                </c:pt>
                <c:pt idx="1">
                  <c:v>Jashore Medical Collage Hospital</c:v>
                </c:pt>
                <c:pt idx="2">
                  <c:v>Kushtia Medical Collage Hospital</c:v>
                </c:pt>
                <c:pt idx="3">
                  <c:v>Jhenidah Sadar Hospital 100 beded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4174</c:v>
                </c:pt>
                <c:pt idx="1">
                  <c:v>3058</c:v>
                </c:pt>
                <c:pt idx="2">
                  <c:v>3658</c:v>
                </c:pt>
                <c:pt idx="3">
                  <c:v>2737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2.0061728395061755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2.8060326608944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3888888888888888E-2"/>
                  <c:y val="-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543209876543209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Khulna Medical Collage Hospital</c:v>
                </c:pt>
                <c:pt idx="1">
                  <c:v>Jashore Medical Collage Hospital</c:v>
                </c:pt>
                <c:pt idx="2">
                  <c:v>Kushtia Medical Collage Hospital</c:v>
                </c:pt>
                <c:pt idx="3">
                  <c:v>Jhenidah Sadar Hospital 100 beded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1828</c:v>
                </c:pt>
                <c:pt idx="1">
                  <c:v>1503</c:v>
                </c:pt>
                <c:pt idx="2">
                  <c:v>1616</c:v>
                </c:pt>
                <c:pt idx="3">
                  <c:v>1019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5639936"/>
        <c:axId val="255641472"/>
      </c:barChart>
      <c:catAx>
        <c:axId val="255639936"/>
        <c:scaling>
          <c:orientation val="minMax"/>
        </c:scaling>
        <c:delete val="0"/>
        <c:axPos val="b"/>
        <c:majorTickMark val="out"/>
        <c:minorTickMark val="none"/>
        <c:tickLblPos val="nextTo"/>
        <c:crossAx val="255641472"/>
        <c:crosses val="autoZero"/>
        <c:auto val="1"/>
        <c:lblAlgn val="ctr"/>
        <c:lblOffset val="100"/>
        <c:noMultiLvlLbl val="0"/>
      </c:catAx>
      <c:valAx>
        <c:axId val="2556414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5563993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B050"/>
              </a:solidFill>
            </c:spPr>
          </c:dPt>
          <c:dPt>
            <c:idx val="1"/>
            <c:bubble3D val="0"/>
            <c:spPr>
              <a:solidFill>
                <a:srgbClr val="00B0F0"/>
              </a:solidFill>
            </c:spPr>
          </c:dPt>
          <c:dPt>
            <c:idx val="2"/>
            <c:bubble3D val="0"/>
            <c:spPr>
              <a:solidFill>
                <a:srgbClr val="FFFF00"/>
              </a:solidFill>
            </c:spPr>
          </c:dPt>
          <c:dPt>
            <c:idx val="3"/>
            <c:bubble3D val="0"/>
            <c:spPr>
              <a:solidFill>
                <a:srgbClr val="FFC000"/>
              </a:solidFill>
            </c:spPr>
          </c:dPt>
          <c:dPt>
            <c:idx val="4"/>
            <c:bubble3D val="0"/>
            <c:spPr>
              <a:solidFill>
                <a:srgbClr val="FF0000"/>
              </a:solidFill>
            </c:spPr>
          </c:dPt>
          <c:dLbls>
            <c:dLbl>
              <c:idx val="1"/>
              <c:layout>
                <c:manualLayout>
                  <c:x val="-9.4279965004374744E-2"/>
                  <c:y val="0.18361961699232246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2"/>
              <c:layout>
                <c:manualLayout>
                  <c:x val="-0.13692432195975487"/>
                  <c:y val="8.5345419785490748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3"/>
              <c:layout>
                <c:manualLayout>
                  <c:x val="-3.1284886264217014E-2"/>
                  <c:y val="-2.7777939794562938E-2"/>
                </c:manualLayout>
              </c:layout>
              <c:spPr/>
              <c:txPr>
                <a:bodyPr rot="-5400000" vert="horz"/>
                <a:lstStyle/>
                <a:p>
                  <a:pPr>
                    <a:defRPr sz="1800"/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4"/>
              <c:layout>
                <c:manualLayout>
                  <c:x val="3.0641951006124293E-2"/>
                  <c:y val="1.2048192771084338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Sheet1!$C$4:$C$8</c:f>
              <c:numCache>
                <c:formatCode>General</c:formatCode>
                <c:ptCount val="5"/>
                <c:pt idx="0">
                  <c:v>341</c:v>
                </c:pt>
                <c:pt idx="1">
                  <c:v>35</c:v>
                </c:pt>
                <c:pt idx="2">
                  <c:v>35</c:v>
                </c:pt>
                <c:pt idx="3">
                  <c:v>15</c:v>
                </c:pt>
                <c:pt idx="4">
                  <c:v>34</c:v>
                </c:pt>
              </c:numCache>
            </c:numRef>
          </c:val>
        </c:ser>
        <c:ser>
          <c:idx val="1"/>
          <c:order val="1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Sheet1!$D$4:$D$8</c:f>
              <c:numCache>
                <c:formatCode>General</c:formatCode>
                <c:ptCount val="5"/>
              </c:numCache>
            </c:numRef>
          </c:val>
        </c:ser>
        <c:ser>
          <c:idx val="2"/>
          <c:order val="2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Sheet1!$E$4:$E$8</c:f>
              <c:numCache>
                <c:formatCode>General</c:formatCode>
                <c:ptCount val="5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spPr>
    <a:blipFill>
      <a:blip xmlns:r="http://schemas.openxmlformats.org/officeDocument/2006/relationships" r:embed="rId2"/>
      <a:tile tx="0" ty="0" sx="100000" sy="100000" flip="none" algn="tl"/>
    </a:blipFill>
  </c:spPr>
  <c:externalData r:id="rId3">
    <c:autoUpdate val="0"/>
  </c:externalData>
  <c:userShapes r:id="rId4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0.725</cdr:x>
      <cdr:y>0</cdr:y>
    </cdr:from>
    <cdr:to>
      <cdr:x>1</cdr:x>
      <cdr:y>0.06173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6629400" y="0"/>
          <a:ext cx="2514600" cy="390418"/>
        </a:xfrm>
        <a:prstGeom xmlns:a="http://schemas.openxmlformats.org/drawingml/2006/main" prst="rect">
          <a:avLst/>
        </a:prstGeom>
        <a:solidFill xmlns:a="http://schemas.openxmlformats.org/drawingml/2006/main">
          <a:srgbClr val="CCFFFF"/>
        </a:solidFill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400" dirty="0" smtClean="0"/>
            <a:t>Total  Admit -460</a:t>
          </a:r>
          <a:endParaRPr lang="en-US" sz="2400" dirty="0"/>
        </a:p>
      </cdr:txBody>
    </cdr:sp>
  </cdr:relSizeAnchor>
  <cdr:relSizeAnchor xmlns:cdr="http://schemas.openxmlformats.org/drawingml/2006/chartDrawing">
    <cdr:from>
      <cdr:x>0.90576</cdr:x>
      <cdr:y>0.11111</cdr:y>
    </cdr:from>
    <cdr:to>
      <cdr:x>0.96635</cdr:x>
      <cdr:y>0.88889</cdr:y>
    </cdr:to>
    <cdr:sp macro="" textlink="">
      <cdr:nvSpPr>
        <cdr:cNvPr id="3" name="TextBox 4"/>
        <cdr:cNvSpPr txBox="1"/>
      </cdr:nvSpPr>
      <cdr:spPr>
        <a:xfrm xmlns:a="http://schemas.openxmlformats.org/drawingml/2006/main">
          <a:off x="8282269" y="702726"/>
          <a:ext cx="553998" cy="4919148"/>
        </a:xfrm>
        <a:prstGeom xmlns:a="http://schemas.openxmlformats.org/drawingml/2006/main" prst="rect">
          <a:avLst/>
        </a:prstGeom>
        <a:solidFill xmlns:a="http://schemas.openxmlformats.org/drawingml/2006/main">
          <a:srgbClr val="00B0F0"/>
        </a:solidFill>
      </cdr:spPr>
      <cdr:txBody>
        <a:bodyPr xmlns:a="http://schemas.openxmlformats.org/drawingml/2006/main" vert="vert270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1pPr>
          <a:lvl2pPr marL="389185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2pPr>
          <a:lvl3pPr marL="778371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3pPr>
          <a:lvl4pPr marL="1167556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4pPr>
          <a:lvl5pPr marL="1556742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5pPr>
          <a:lvl6pPr marL="1945927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6pPr>
          <a:lvl7pPr marL="2335112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7pPr>
          <a:lvl8pPr marL="2724298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8pPr>
          <a:lvl9pPr marL="3113483" algn="l" defTabSz="778371" rtl="0" eaLnBrk="1" latinLnBrk="0" hangingPunct="1">
            <a:defRPr sz="1500" kern="1200">
              <a:solidFill>
                <a:sysClr val="windowText" lastClr="000000"/>
              </a:solidFill>
              <a:latin typeface="Cambria"/>
            </a:defRPr>
          </a:lvl9pPr>
        </a:lstStyle>
        <a:p xmlns:a="http://schemas.openxmlformats.org/drawingml/2006/main"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Total Health Staff positive   -  </a:t>
          </a:r>
          <a:r>
            <a:rPr lang="en-US" sz="2400" b="1" dirty="0" smtClean="0">
              <a:latin typeface="Times New Roman" pitchFamily="18" charset="0"/>
              <a:cs typeface="Times New Roman" pitchFamily="18" charset="0"/>
            </a:rPr>
            <a:t>108</a:t>
          </a:r>
          <a:endParaRPr lang="en-US" sz="2400" b="1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1/31/2022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23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96493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32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57066" indent="-291179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64717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30604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96491" indent="-232943" defTabSz="94148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62377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3028264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94151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960038" indent="-232943" defTabSz="94148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0EF894-5C7A-4186-AC86-C2AA879455C3}" type="slidenum">
              <a:rPr lang="en-US" altLang="en-US">
                <a:latin typeface="Arial" panose="020B0604020202020204" pitchFamily="34" charset="0"/>
              </a:rPr>
              <a:pPr/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971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71450" indent="-296711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86847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61585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136324" indent="-23736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611062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85801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560540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4035279" indent="-23736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19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9488" y="758825"/>
            <a:ext cx="5051425" cy="3789363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802939"/>
            <a:ext cx="5605074" cy="455015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100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3E39231-8217-41F6-A7AC-B872BBF35343}" type="slidenum">
              <a:rPr lang="en-US" smtClean="0"/>
              <a:pPr eaLnBrk="1" hangingPunct="1"/>
              <a:t>20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79488" y="758825"/>
            <a:ext cx="5051425" cy="3789363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5" y="4802939"/>
            <a:ext cx="5605074" cy="4550153"/>
          </a:xfrm>
          <a:noFill/>
        </p:spPr>
        <p:txBody>
          <a:bodyPr/>
          <a:lstStyle/>
          <a:p>
            <a:pPr eaLnBrk="1" hangingPunct="1"/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003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21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407D7908-9E4A-4E88-A26C-DD1E66ACA437}" type="slidenum">
              <a:rPr lang="en-US" smtClean="0"/>
              <a:pPr eaLnBrk="1" hangingPunct="1"/>
              <a:t>25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33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3755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45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63</a:t>
            </a:fld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65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86854558-25E2-41C2-8EDF-A9189FA05F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04131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2022/1/31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  <p:sldLayoutId id="2147484036" r:id="rId14"/>
  </p:sldLayoutIdLst>
  <p:transition spd="slow">
    <p:zoom dir="in"/>
    <p:sndAc>
      <p:stSnd>
        <p:snd r:embed="rId16" name="chimes.wav"/>
      </p:stSnd>
    </p:sndAc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1.emf"/><Relationship Id="rId4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3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jpeg"/><Relationship Id="rId4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6.jpeg"/><Relationship Id="rId4" Type="http://schemas.openxmlformats.org/officeDocument/2006/relationships/image" Target="../media/image65.jpe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jpeg"/><Relationship Id="rId7" Type="http://schemas.openxmlformats.org/officeDocument/2006/relationships/image" Target="../media/image72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2.png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jpeg"/><Relationship Id="rId4" Type="http://schemas.openxmlformats.org/officeDocument/2006/relationships/image" Target="../media/image92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96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1.jpeg"/><Relationship Id="rId4" Type="http://schemas.openxmlformats.org/officeDocument/2006/relationships/image" Target="../media/image100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jpeg"/><Relationship Id="rId4" Type="http://schemas.openxmlformats.org/officeDocument/2006/relationships/image" Target="../media/image10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eg"/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jpeg"/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1.jpeg"/><Relationship Id="rId4" Type="http://schemas.openxmlformats.org/officeDocument/2006/relationships/image" Target="../media/image12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jpeg"/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5.jpeg"/><Relationship Id="rId4" Type="http://schemas.openxmlformats.org/officeDocument/2006/relationships/image" Target="../media/image12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-</a:t>
            </a:r>
            <a:r>
              <a:rPr lang="en-US" sz="3200" b="1" dirty="0" err="1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Ex Senior Consultant (</a:t>
            </a:r>
            <a:r>
              <a:rPr lang="en-US" sz="2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Obs&amp;Gyne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) </a:t>
            </a:r>
          </a:p>
          <a:p>
            <a:pPr algn="ctr">
              <a:defRPr/>
            </a:pPr>
            <a:r>
              <a:rPr lang="en-US" sz="2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Jhenidah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  <a:r>
              <a:rPr lang="en-US" sz="2000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</a:t>
            </a: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Hospital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38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041865"/>
              </p:ext>
            </p:extLst>
          </p:nvPr>
        </p:nvGraphicFramePr>
        <p:xfrm>
          <a:off x="144439" y="1295400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/>
                <a:gridCol w="1777358"/>
                <a:gridCol w="1295400"/>
                <a:gridCol w="1295400"/>
                <a:gridCol w="1371600"/>
                <a:gridCol w="1295400"/>
                <a:gridCol w="1200150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 smtClean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35387" y="6026060"/>
            <a:ext cx="2419350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2535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74639"/>
            <a:ext cx="61722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2700" b="1" dirty="0"/>
              <a:t>A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354115" y="2019300"/>
            <a:ext cx="234315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200" b="1" dirty="0"/>
              <a:t>Maximum utilization of Govt.</a:t>
            </a:r>
          </a:p>
          <a:p>
            <a:pPr algn="ctr" eaLnBrk="0" hangingPunct="0"/>
            <a:r>
              <a:rPr lang="en-US" sz="1200" b="1" dirty="0"/>
              <a:t>resources with </a:t>
            </a:r>
          </a:p>
          <a:p>
            <a:pPr algn="ctr" eaLnBrk="0" hangingPunct="0"/>
            <a:r>
              <a:rPr lang="en-US" sz="1200" b="1" dirty="0"/>
              <a:t>honesty and sincerity.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354115" y="5105400"/>
            <a:ext cx="24003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200" b="1" dirty="0"/>
              <a:t>Providing Effective  services </a:t>
            </a:r>
          </a:p>
          <a:p>
            <a:pPr algn="ctr" eaLnBrk="0" hangingPunct="0"/>
            <a:r>
              <a:rPr lang="en-US" sz="1200" b="1" dirty="0"/>
              <a:t>through improved </a:t>
            </a:r>
          </a:p>
          <a:p>
            <a:pPr algn="ctr" eaLnBrk="0" hangingPunct="0"/>
            <a:r>
              <a:rPr lang="en-US" sz="1200" b="1" dirty="0"/>
              <a:t>management system.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2228850" y="2438400"/>
            <a:ext cx="188595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150269" y="5486400"/>
            <a:ext cx="18288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354115" y="3619500"/>
            <a:ext cx="24003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200" b="1" dirty="0"/>
              <a:t>Integrated approach of </a:t>
            </a:r>
          </a:p>
          <a:p>
            <a:pPr algn="ctr" eaLnBrk="0" hangingPunct="0"/>
            <a:r>
              <a:rPr lang="en-US" sz="1200" b="1" dirty="0"/>
              <a:t>Administration, Community</a:t>
            </a:r>
          </a:p>
          <a:p>
            <a:pPr algn="ctr" eaLnBrk="0" hangingPunct="0"/>
            <a:r>
              <a:rPr lang="en-US" sz="12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2139553" y="4000500"/>
            <a:ext cx="18288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6866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915793"/>
            <a:ext cx="3248553" cy="2924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</a:t>
            </a:r>
            <a:r>
              <a:rPr lang="en-US" sz="2700" b="1" dirty="0" smtClean="0">
                <a:solidFill>
                  <a:schemeClr val="tx1"/>
                </a:solidFill>
              </a:rPr>
              <a:t>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972261"/>
            <a:ext cx="3072205" cy="2761539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1" y="3886200"/>
            <a:ext cx="307220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990600"/>
            <a:ext cx="95619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835400"/>
            <a:ext cx="1427535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 smtClean="0">
                <a:solidFill>
                  <a:schemeClr val="tx1"/>
                </a:solidFill>
              </a:rPr>
              <a:t>31-bedded </a:t>
            </a:r>
            <a:r>
              <a:rPr lang="en-US" sz="1350" b="1" dirty="0">
                <a:solidFill>
                  <a:schemeClr val="tx1"/>
                </a:solidFill>
              </a:rPr>
              <a:t>UHC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0" y="3937000"/>
            <a:ext cx="1311578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1350" b="1" dirty="0" smtClean="0">
                <a:solidFill>
                  <a:schemeClr val="tx1"/>
                </a:solidFill>
              </a:rPr>
              <a:t>50-bedded </a:t>
            </a:r>
            <a:r>
              <a:rPr lang="en-US" sz="1350" b="1" dirty="0">
                <a:solidFill>
                  <a:schemeClr val="tx1"/>
                </a:solidFill>
              </a:rPr>
              <a:t>UHC</a:t>
            </a:r>
            <a:endParaRPr lang="en-US" sz="1350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972263"/>
            <a:ext cx="3286014" cy="272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965012"/>
            <a:ext cx="933736" cy="30008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1350" b="1" dirty="0">
                <a:solidFill>
                  <a:schemeClr val="tx1"/>
                </a:solidFill>
              </a:rPr>
              <a:t>Old UHC</a:t>
            </a:r>
            <a:endParaRPr lang="en-US" sz="13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62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1295401"/>
            <a:ext cx="37338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Blood donation program stared in 16 December, 1996 in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UHC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4648200"/>
            <a:ext cx="4267200" cy="175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</a:t>
            </a:r>
            <a:r>
              <a:rPr lang="en-US" dirty="0" smtClean="0">
                <a:latin typeface="Calibri" pitchFamily="34" charset="0"/>
              </a:rPr>
              <a:t>on ‘Importance of birth &amp; death registration and prevention of early marriage’ at </a:t>
            </a:r>
            <a:r>
              <a:rPr lang="en-US" dirty="0" err="1">
                <a:latin typeface="Calibri" pitchFamily="34" charset="0"/>
              </a:rPr>
              <a:t>Chowgacha</a:t>
            </a:r>
            <a:r>
              <a:rPr lang="en-US" dirty="0">
                <a:latin typeface="Calibri" pitchFamily="34" charset="0"/>
              </a:rPr>
              <a:t> Degree College in 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guest. </a:t>
            </a:r>
            <a:endParaRPr lang="en-GB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805283"/>
            <a:ext cx="2743200" cy="3052717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600"/>
            <a:ext cx="9144000" cy="2861469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810000"/>
            <a:ext cx="2967777" cy="3048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835400"/>
            <a:ext cx="3429000" cy="302260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0"/>
            <a:ext cx="6172200" cy="7874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erlin Sans FB" pitchFamily="34" charset="0"/>
              </a:rPr>
              <a:t>Beautification of the Premises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erlin Sans FB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0454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389445" y="1524567"/>
            <a:ext cx="3623930" cy="684851"/>
          </a:xfrm>
        </p:spPr>
        <p:txBody>
          <a:bodyPr>
            <a:normAutofit fontScale="92500" lnSpcReduction="10000"/>
          </a:bodyPr>
          <a:lstStyle/>
          <a:p>
            <a:r>
              <a:rPr lang="en-US" sz="2100" dirty="0" smtClean="0"/>
              <a:t>Cycle stand near the entrance</a:t>
            </a: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846180"/>
            <a:ext cx="4127500" cy="3733800"/>
          </a:xfrm>
        </p:spPr>
      </p:pic>
      <p:sp>
        <p:nvSpPr>
          <p:cNvPr id="9" name="Rectangle 8"/>
          <p:cNvSpPr/>
          <p:nvPr/>
        </p:nvSpPr>
        <p:spPr>
          <a:xfrm>
            <a:off x="1295400" y="5666611"/>
            <a:ext cx="472440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 smtClean="0"/>
              <a:t>“</a:t>
            </a:r>
            <a:r>
              <a:rPr lang="en-US" sz="1700" b="1" dirty="0" err="1" smtClean="0"/>
              <a:t>Pushti</a:t>
            </a:r>
            <a:r>
              <a:rPr lang="en-US" sz="1700" b="1" dirty="0" smtClean="0"/>
              <a:t> Tray” – Nutritional Education</a:t>
            </a:r>
            <a:endParaRPr lang="en-US" sz="17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295400" y="251685"/>
            <a:ext cx="693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Innovations of Chowgacha Health Complex</a:t>
            </a:r>
            <a:endParaRPr lang="en-US" sz="24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90099"/>
            <a:ext cx="3962399" cy="326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961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8" t="9450" r="28330" b="26843"/>
          <a:stretch/>
        </p:blipFill>
        <p:spPr>
          <a:xfrm>
            <a:off x="5105400" y="3672953"/>
            <a:ext cx="4038600" cy="3216137"/>
          </a:xfrm>
          <a:prstGeom prst="rect">
            <a:avLst/>
          </a:prstGeom>
        </p:spPr>
      </p:pic>
      <p:sp>
        <p:nvSpPr>
          <p:cNvPr id="8" name="Text Placeholder 2"/>
          <p:cNvSpPr txBox="1">
            <a:spLocks/>
          </p:cNvSpPr>
          <p:nvPr/>
        </p:nvSpPr>
        <p:spPr>
          <a:xfrm>
            <a:off x="1981200" y="5562600"/>
            <a:ext cx="3531496" cy="639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 smtClean="0"/>
              <a:t>Cell phone-based Health Service</a:t>
            </a:r>
            <a:endParaRPr lang="en-US" sz="17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337523" y="1067811"/>
            <a:ext cx="3972508" cy="471487"/>
          </a:xfrm>
        </p:spPr>
        <p:txBody>
          <a:bodyPr>
            <a:noAutofit/>
          </a:bodyPr>
          <a:lstStyle/>
          <a:p>
            <a:pPr algn="ctr"/>
            <a:r>
              <a:rPr lang="en-US" sz="2000" dirty="0" smtClean="0"/>
              <a:t>Rest room for pregnant mothers</a:t>
            </a:r>
            <a:endParaRPr lang="en-US" sz="2000" dirty="0"/>
          </a:p>
        </p:txBody>
      </p:sp>
      <p:pic>
        <p:nvPicPr>
          <p:cNvPr id="9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953978"/>
            <a:ext cx="3842671" cy="3795823"/>
          </a:xfrm>
        </p:spPr>
      </p:pic>
      <p:sp>
        <p:nvSpPr>
          <p:cNvPr id="11" name="TextBox 10"/>
          <p:cNvSpPr txBox="1"/>
          <p:nvPr/>
        </p:nvSpPr>
        <p:spPr>
          <a:xfrm>
            <a:off x="1981200" y="177801"/>
            <a:ext cx="601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Innovations of Chowgacha Health Complex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65855204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Newly Decorated Conference Room</a:t>
            </a:r>
            <a:endParaRPr lang="en-US" b="1" dirty="0"/>
          </a:p>
        </p:txBody>
      </p:sp>
      <p:pic>
        <p:nvPicPr>
          <p:cNvPr id="8" name="Picture 7" descr="CONF R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1600200"/>
            <a:ext cx="4089400" cy="4673600"/>
          </a:xfrm>
          <a:prstGeom prst="rect">
            <a:avLst/>
          </a:prstGeom>
        </p:spPr>
      </p:pic>
      <p:pic>
        <p:nvPicPr>
          <p:cNvPr id="9" name="Picture 8" descr="CONF ROOM 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00200"/>
            <a:ext cx="46482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2503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 txBox="1">
            <a:spLocks/>
          </p:cNvSpPr>
          <p:nvPr/>
        </p:nvSpPr>
        <p:spPr>
          <a:xfrm>
            <a:off x="417786" y="4740676"/>
            <a:ext cx="3773214" cy="6397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Developed ER with Sterile Workplace</a:t>
            </a:r>
            <a:endParaRPr lang="en-US" sz="1800" dirty="0"/>
          </a:p>
        </p:txBody>
      </p:sp>
      <p:pic>
        <p:nvPicPr>
          <p:cNvPr id="8" name="Content Placeholder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0"/>
          <a:stretch/>
        </p:blipFill>
        <p:spPr>
          <a:xfrm>
            <a:off x="5410200" y="3200415"/>
            <a:ext cx="3733800" cy="365758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Text Placeholder 17"/>
          <p:cNvSpPr txBox="1">
            <a:spLocks/>
          </p:cNvSpPr>
          <p:nvPr/>
        </p:nvSpPr>
        <p:spPr>
          <a:xfrm>
            <a:off x="5785821" y="1430977"/>
            <a:ext cx="3352800" cy="6397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Separate line for females</a:t>
            </a:r>
            <a:endParaRPr lang="en-US" sz="1800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177" y="889001"/>
            <a:ext cx="4509977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eft Arrow 8"/>
          <p:cNvSpPr/>
          <p:nvPr/>
        </p:nvSpPr>
        <p:spPr>
          <a:xfrm>
            <a:off x="4985637" y="1627764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eft Arrow 10"/>
          <p:cNvSpPr/>
          <p:nvPr/>
        </p:nvSpPr>
        <p:spPr>
          <a:xfrm rot="10800000">
            <a:off x="4312029" y="494482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86759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2817965" y="5021547"/>
            <a:ext cx="1447800" cy="6397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 IMCI corner</a:t>
            </a:r>
            <a:endParaRPr lang="en-US" sz="1800" dirty="0"/>
          </a:p>
        </p:txBody>
      </p:sp>
      <p:pic>
        <p:nvPicPr>
          <p:cNvPr id="12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987" y="3696272"/>
            <a:ext cx="4040188" cy="303014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415" y="1336777"/>
            <a:ext cx="1984374" cy="6397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ANC Corner</a:t>
            </a:r>
            <a:endParaRPr lang="en-US" sz="1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5" y="1193801"/>
            <a:ext cx="3810000" cy="3333641"/>
          </a:xfrm>
        </p:spPr>
      </p:pic>
      <p:sp>
        <p:nvSpPr>
          <p:cNvPr id="6" name="Rectangle 5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Left Arrow 7"/>
          <p:cNvSpPr/>
          <p:nvPr/>
        </p:nvSpPr>
        <p:spPr>
          <a:xfrm>
            <a:off x="4045866" y="1533564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eft Arrow 8"/>
          <p:cNvSpPr/>
          <p:nvPr/>
        </p:nvSpPr>
        <p:spPr>
          <a:xfrm rot="10800000">
            <a:off x="4216823" y="521833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99075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>
            <a:spLocks/>
          </p:cNvSpPr>
          <p:nvPr/>
        </p:nvSpPr>
        <p:spPr>
          <a:xfrm>
            <a:off x="5029201" y="1273533"/>
            <a:ext cx="3368807" cy="6397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Breast feeding &amp; EPI Corner </a:t>
            </a:r>
            <a:endParaRPr lang="en-US" sz="1800" dirty="0"/>
          </a:p>
        </p:txBody>
      </p:sp>
      <p:pic>
        <p:nvPicPr>
          <p:cNvPr id="8" name="Content Placeholder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472" y="1300619"/>
            <a:ext cx="4203454" cy="3022600"/>
          </a:xfrm>
          <a:prstGeom prst="rect">
            <a:avLst/>
          </a:prstGeom>
        </p:spPr>
      </p:pic>
      <p:sp>
        <p:nvSpPr>
          <p:cNvPr id="9" name="Text Placeholder 2"/>
          <p:cNvSpPr txBox="1">
            <a:spLocks/>
          </p:cNvSpPr>
          <p:nvPr/>
        </p:nvSpPr>
        <p:spPr>
          <a:xfrm>
            <a:off x="2669783" y="5139450"/>
            <a:ext cx="1336812" cy="5156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NCD Corner</a:t>
            </a:r>
            <a:endParaRPr lang="en-US" sz="1800" dirty="0"/>
          </a:p>
        </p:txBody>
      </p:sp>
      <p:pic>
        <p:nvPicPr>
          <p:cNvPr id="10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1" y="3604483"/>
            <a:ext cx="4114801" cy="32612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1" name="Left Arrow 10"/>
          <p:cNvSpPr/>
          <p:nvPr/>
        </p:nvSpPr>
        <p:spPr>
          <a:xfrm rot="10800000">
            <a:off x="4006596" y="521210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Left Arrow 11"/>
          <p:cNvSpPr/>
          <p:nvPr/>
        </p:nvSpPr>
        <p:spPr>
          <a:xfrm>
            <a:off x="4340709" y="148162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7760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4511" y="1383815"/>
            <a:ext cx="3657600" cy="6397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Separation of male and female patients in Outdoor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5400"/>
            <a:ext cx="4130128" cy="3225800"/>
          </a:xfrm>
        </p:spPr>
      </p:pic>
      <p:sp>
        <p:nvSpPr>
          <p:cNvPr id="6" name="Text Placeholder 4"/>
          <p:cNvSpPr txBox="1">
            <a:spLocks/>
          </p:cNvSpPr>
          <p:nvPr/>
        </p:nvSpPr>
        <p:spPr>
          <a:xfrm>
            <a:off x="698079" y="4906314"/>
            <a:ext cx="3352800" cy="877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Dispensary with</a:t>
            </a:r>
            <a:r>
              <a:rPr kumimoji="0" lang="en-US" sz="19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separated male and female </a:t>
            </a:r>
            <a:endParaRPr kumimoji="0" lang="en-US" sz="1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Content Placeholder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62" y="3736888"/>
            <a:ext cx="4299098" cy="31403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0" name="Left Arrow 9"/>
          <p:cNvSpPr/>
          <p:nvPr/>
        </p:nvSpPr>
        <p:spPr>
          <a:xfrm>
            <a:off x="4315515" y="1482208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eft Arrow 10"/>
          <p:cNvSpPr/>
          <p:nvPr/>
        </p:nvSpPr>
        <p:spPr>
          <a:xfrm rot="10800000">
            <a:off x="3752895" y="5062343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9219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998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775857" y="1285910"/>
            <a:ext cx="3962400" cy="471487"/>
          </a:xfrm>
        </p:spPr>
        <p:txBody>
          <a:bodyPr>
            <a:noAutofit/>
          </a:bodyPr>
          <a:lstStyle/>
          <a:p>
            <a:pPr algn="ctr"/>
            <a:r>
              <a:rPr lang="en-US" sz="1800" dirty="0" err="1" smtClean="0"/>
              <a:t>Labour</a:t>
            </a:r>
            <a:r>
              <a:rPr lang="en-US" sz="1800" dirty="0" smtClean="0"/>
              <a:t> Ward  with 41=(11+30) beds</a:t>
            </a:r>
            <a:endParaRPr lang="en-US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03812" y="4119002"/>
            <a:ext cx="4040188" cy="2643057"/>
          </a:xfrm>
          <a:prstGeom prst="rect">
            <a:avLst/>
          </a:prstGeom>
        </p:spPr>
      </p:pic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ight Arrow 13"/>
          <p:cNvSpPr/>
          <p:nvPr/>
        </p:nvSpPr>
        <p:spPr>
          <a:xfrm>
            <a:off x="3945804" y="5469479"/>
            <a:ext cx="629412" cy="442976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  <a:endParaRPr lang="en-US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5292" y="5440531"/>
            <a:ext cx="38862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/>
              <a:t> Developed Waste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276600" y="2616200"/>
            <a:ext cx="2592572" cy="781928"/>
          </a:xfrm>
        </p:spPr>
        <p:txBody>
          <a:bodyPr>
            <a:normAutofit/>
          </a:bodyPr>
          <a:lstStyle/>
          <a:p>
            <a:pPr algn="ctr"/>
            <a:r>
              <a:rPr lang="en-US" sz="2100" dirty="0" smtClean="0"/>
              <a:t>Citizen Charter</a:t>
            </a:r>
            <a:endParaRPr lang="en-US" sz="21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12405" y="-25400"/>
            <a:ext cx="3441700" cy="68834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5715000" y="-14177"/>
            <a:ext cx="3429000" cy="687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249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4419601" y="1534677"/>
            <a:ext cx="3841886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700" dirty="0" smtClean="0"/>
              <a:t>Volunteer </a:t>
            </a:r>
            <a:r>
              <a:rPr lang="en-US" sz="1700" dirty="0"/>
              <a:t> </a:t>
            </a:r>
            <a:r>
              <a:rPr lang="en-US" sz="1700" dirty="0" smtClean="0"/>
              <a:t>working in Reception </a:t>
            </a:r>
            <a:r>
              <a:rPr lang="en-US" sz="1700" dirty="0"/>
              <a:t>d</a:t>
            </a:r>
            <a:r>
              <a:rPr lang="en-US" sz="1700" dirty="0" smtClean="0"/>
              <a:t>esk </a:t>
            </a:r>
            <a:endParaRPr lang="en-US" sz="1700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169" y="1295401"/>
            <a:ext cx="3995569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382396" y="165893"/>
            <a:ext cx="83792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Community Participation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Text Placeholder 4"/>
          <p:cNvSpPr>
            <a:spLocks noGrp="1"/>
          </p:cNvSpPr>
          <p:nvPr>
            <p:ph type="body" idx="1"/>
          </p:nvPr>
        </p:nvSpPr>
        <p:spPr>
          <a:xfrm>
            <a:off x="758826" y="5472909"/>
            <a:ext cx="4041775" cy="63976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Ultrasonography machine donated by the </a:t>
            </a:r>
            <a:r>
              <a:rPr lang="en-US" dirty="0" err="1" smtClean="0"/>
              <a:t>Upazila</a:t>
            </a:r>
            <a:r>
              <a:rPr lang="en-US" dirty="0" smtClean="0"/>
              <a:t> </a:t>
            </a:r>
            <a:r>
              <a:rPr lang="en-US" dirty="0" err="1" smtClean="0"/>
              <a:t>Porishod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3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319" y="3806249"/>
            <a:ext cx="4040188" cy="3030141"/>
          </a:xfrm>
        </p:spPr>
      </p:pic>
    </p:spTree>
    <p:extLst>
      <p:ext uri="{BB962C8B-B14F-4D97-AF65-F5344CB8AC3E}">
        <p14:creationId xmlns:p14="http://schemas.microsoft.com/office/powerpoint/2010/main" val="42398420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82396" y="-25400"/>
            <a:ext cx="83792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Community Participation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191064"/>
            <a:ext cx="3581400" cy="32059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1" y="3022601"/>
            <a:ext cx="4057839" cy="3746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0" y="1383051"/>
            <a:ext cx="243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Nebuliser</a:t>
            </a:r>
            <a:r>
              <a:rPr lang="en-US" dirty="0" smtClean="0"/>
              <a:t> donated to the hospital by </a:t>
            </a:r>
            <a:r>
              <a:rPr lang="en-US" dirty="0" err="1" smtClean="0"/>
              <a:t>Upazila</a:t>
            </a:r>
            <a:r>
              <a:rPr lang="en-US" dirty="0" smtClean="0"/>
              <a:t> </a:t>
            </a:r>
            <a:r>
              <a:rPr lang="en-US" dirty="0" err="1" smtClean="0"/>
              <a:t>Porishod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19300" y="5613433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Oxygen Cylinders donated by </a:t>
            </a:r>
            <a:r>
              <a:rPr lang="en-US" dirty="0" err="1" smtClean="0"/>
              <a:t>Upazila</a:t>
            </a:r>
            <a:r>
              <a:rPr lang="en-US" dirty="0" smtClean="0"/>
              <a:t> </a:t>
            </a:r>
            <a:r>
              <a:rPr lang="en-US" dirty="0" err="1" smtClean="0"/>
              <a:t>Porishod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18745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8"/>
          <p:cNvSpPr>
            <a:spLocks noChangeArrowheads="1"/>
          </p:cNvSpPr>
          <p:nvPr/>
        </p:nvSpPr>
        <p:spPr bwMode="auto">
          <a:xfrm>
            <a:off x="228600" y="4168568"/>
            <a:ext cx="4724400" cy="1474509"/>
          </a:xfrm>
          <a:prstGeom prst="rect">
            <a:avLst/>
          </a:prstGeom>
          <a:noFill/>
          <a:ln>
            <a:noFill/>
            <a:headEnd/>
            <a:tailEnd/>
          </a:ln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 smtClean="0"/>
              <a:t>Secretary of MOHFW A.K.M. </a:t>
            </a:r>
            <a:r>
              <a:rPr lang="en-US" altLang="en-US" sz="1400" b="1" dirty="0" err="1" smtClean="0"/>
              <a:t>Zaforullah</a:t>
            </a:r>
            <a:r>
              <a:rPr lang="en-US" altLang="en-US" sz="1400" b="1" dirty="0" smtClean="0"/>
              <a:t> Khan </a:t>
            </a:r>
          </a:p>
          <a:p>
            <a:pPr algn="ctr"/>
            <a:r>
              <a:rPr lang="en-US" altLang="en-US" sz="1400" b="1" dirty="0" smtClean="0"/>
              <a:t>declared “</a:t>
            </a:r>
            <a:r>
              <a:rPr lang="en-US" altLang="en-US" sz="1400" b="1" dirty="0" err="1" smtClean="0"/>
              <a:t>Chowgacha</a:t>
            </a:r>
            <a:r>
              <a:rPr lang="en-US" altLang="en-US" sz="1400" b="1" dirty="0" smtClean="0"/>
              <a:t> UHC model” in DSF</a:t>
            </a:r>
          </a:p>
          <a:p>
            <a:pPr algn="ctr"/>
            <a:r>
              <a:rPr lang="en-US" altLang="en-US" sz="1400" b="1" dirty="0" smtClean="0"/>
              <a:t> voucher distribution ceremony</a:t>
            </a:r>
            <a:r>
              <a:rPr lang="en-US" altLang="en-US" sz="1400" b="1" dirty="0"/>
              <a:t> </a:t>
            </a:r>
            <a:r>
              <a:rPr lang="en-US" altLang="en-US" sz="1400" b="1" dirty="0" smtClean="0"/>
              <a:t>on </a:t>
            </a:r>
            <a:r>
              <a:rPr lang="en-US" altLang="en-US" sz="1400" b="1" dirty="0"/>
              <a:t>20 </a:t>
            </a:r>
            <a:r>
              <a:rPr lang="en-US" altLang="en-US" sz="1400" b="1" dirty="0" smtClean="0"/>
              <a:t>June-2008</a:t>
            </a:r>
            <a:endParaRPr lang="en-US" altLang="en-US" sz="1400" b="1" dirty="0"/>
          </a:p>
        </p:txBody>
      </p:sp>
      <p:pic>
        <p:nvPicPr>
          <p:cNvPr id="13315" name="Picture 4" descr="IMGP238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652472"/>
            <a:ext cx="3651324" cy="3205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11358" y="1295400"/>
            <a:ext cx="4337124" cy="1730895"/>
          </a:xfrm>
          <a:prstGeom prst="rect">
            <a:avLst/>
          </a:prstGeom>
          <a:noFill/>
          <a:ln>
            <a:noFill/>
            <a:headEnd/>
            <a:tailEnd/>
          </a:ln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sz="1400" b="1" dirty="0" smtClean="0"/>
              <a:t>Honorable </a:t>
            </a:r>
            <a:r>
              <a:rPr lang="en-US" sz="1400" b="1" dirty="0"/>
              <a:t>Health </a:t>
            </a:r>
            <a:r>
              <a:rPr lang="en-US" sz="1400" b="1" dirty="0" smtClean="0"/>
              <a:t>Minister</a:t>
            </a:r>
            <a:r>
              <a:rPr lang="en-US" sz="1400" b="1" dirty="0"/>
              <a:t> </a:t>
            </a:r>
            <a:r>
              <a:rPr lang="en-US" sz="1400" b="1" dirty="0" smtClean="0"/>
              <a:t>Prof </a:t>
            </a:r>
            <a:r>
              <a:rPr lang="en-US" sz="1400" b="1" dirty="0" smtClean="0">
                <a:latin typeface="+mn-lt"/>
              </a:rPr>
              <a:t>Dr. </a:t>
            </a:r>
            <a:r>
              <a:rPr lang="en-US" sz="1400" b="1" dirty="0" err="1" smtClean="0">
                <a:latin typeface="+mn-lt"/>
              </a:rPr>
              <a:t>Ruhul</a:t>
            </a:r>
            <a:r>
              <a:rPr lang="en-US" sz="1400" b="1" dirty="0" smtClean="0">
                <a:latin typeface="+mn-lt"/>
              </a:rPr>
              <a:t> </a:t>
            </a:r>
            <a:r>
              <a:rPr lang="en-US" sz="1400" b="1" dirty="0" err="1" smtClean="0">
                <a:latin typeface="+mn-lt"/>
              </a:rPr>
              <a:t>Haque</a:t>
            </a:r>
            <a:endParaRPr lang="en-US" sz="1400" b="1" dirty="0" smtClean="0">
              <a:latin typeface="+mn-lt"/>
            </a:endParaRPr>
          </a:p>
          <a:p>
            <a:pPr algn="ctr"/>
            <a:r>
              <a:rPr lang="en-US" sz="1400" b="1" dirty="0" smtClean="0">
                <a:latin typeface="+mn-lt"/>
              </a:rPr>
              <a:t> MP with WHO Representative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smtClean="0">
                <a:latin typeface="+mn-lt"/>
              </a:rPr>
              <a:t>handing over </a:t>
            </a:r>
          </a:p>
          <a:p>
            <a:pPr algn="ctr"/>
            <a:r>
              <a:rPr lang="en-US" sz="1400" b="1" dirty="0" smtClean="0">
                <a:latin typeface="+mn-lt"/>
              </a:rPr>
              <a:t>money and </a:t>
            </a:r>
            <a:r>
              <a:rPr lang="en-US" sz="1400" b="1" dirty="0">
                <a:latin typeface="+mn-lt"/>
              </a:rPr>
              <a:t>gift of voucher scheme of </a:t>
            </a:r>
            <a:r>
              <a:rPr lang="en-US" sz="1400" b="1" dirty="0"/>
              <a:t>DSF</a:t>
            </a:r>
            <a:endParaRPr lang="en-US" altLang="en-US" sz="1400" b="1" dirty="0"/>
          </a:p>
        </p:txBody>
      </p:sp>
      <p:pic>
        <p:nvPicPr>
          <p:cNvPr id="6" name="Picture 4" descr="Razzak_Remove (Mama)"/>
          <p:cNvPicPr>
            <a:picLocks noGrp="1" noChangeAspect="1" noChangeArrowheads="1"/>
          </p:cNvPicPr>
          <p:nvPr>
            <p:ph type="body" sz="half"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38004"/>
            <a:ext cx="3790749" cy="2837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371600" y="0"/>
            <a:ext cx="6215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Visit by Dignitaries – UHC Chowgacha</a:t>
            </a:r>
            <a:endParaRPr lang="en-US" sz="2800" b="1" dirty="0"/>
          </a:p>
        </p:txBody>
      </p:sp>
      <p:sp>
        <p:nvSpPr>
          <p:cNvPr id="8" name="Left Arrow 7"/>
          <p:cNvSpPr/>
          <p:nvPr/>
        </p:nvSpPr>
        <p:spPr>
          <a:xfrm>
            <a:off x="4113545" y="1717871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eft Arrow 9"/>
          <p:cNvSpPr/>
          <p:nvPr/>
        </p:nvSpPr>
        <p:spPr>
          <a:xfrm rot="10800000">
            <a:off x="4546092" y="4684335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9335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6172200" cy="1066800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/>
            <a:r>
              <a:rPr lang="en-US" sz="2800" b="1" dirty="0"/>
              <a:t>Background History </a:t>
            </a:r>
            <a:r>
              <a:rPr lang="en-US" sz="2800" b="1" dirty="0" smtClean="0"/>
              <a:t>of </a:t>
            </a:r>
            <a:r>
              <a:rPr lang="en-US" sz="2800" b="1" dirty="0" err="1"/>
              <a:t>Chowgacha</a:t>
            </a:r>
            <a:r>
              <a:rPr lang="en-US" sz="2800" b="1" dirty="0"/>
              <a:t> Health </a:t>
            </a:r>
            <a:r>
              <a:rPr lang="en-US" sz="2800" b="1" dirty="0" smtClean="0"/>
              <a:t>Complex Model, </a:t>
            </a:r>
            <a:r>
              <a:rPr lang="en-US" sz="2800" b="1" dirty="0" err="1"/>
              <a:t>Jessore</a:t>
            </a:r>
            <a:endParaRPr lang="en-US" sz="2800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7848600" cy="50292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 smtClean="0"/>
              <a:t>Basically started in 1995.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dirty="0" smtClean="0"/>
              <a:t>Effectively started in </a:t>
            </a:r>
            <a:r>
              <a:rPr lang="en-US" sz="2400" b="1" dirty="0"/>
              <a:t>Feb. 1996</a:t>
            </a:r>
            <a:r>
              <a:rPr lang="en-US" sz="2400" b="1" dirty="0" smtClean="0"/>
              <a:t>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u="sng" dirty="0" smtClean="0"/>
              <a:t>From </a:t>
            </a:r>
            <a:r>
              <a:rPr lang="en-US" sz="2400" b="1" u="sng" dirty="0"/>
              <a:t>January 1995 to 1997 </a:t>
            </a:r>
            <a:r>
              <a:rPr lang="en-US" sz="2400" b="1" u="sng" dirty="0">
                <a:solidFill>
                  <a:srgbClr val="0000FF"/>
                </a:solidFill>
              </a:rPr>
              <a:t>JICA</a:t>
            </a:r>
            <a:r>
              <a:rPr lang="en-US" sz="2400" b="1" u="sng" dirty="0"/>
              <a:t> helped </a:t>
            </a:r>
            <a:r>
              <a:rPr lang="en-US" sz="2400" b="1" u="sng" dirty="0" smtClean="0"/>
              <a:t> </a:t>
            </a:r>
            <a:r>
              <a:rPr lang="en-US" sz="2400" b="1" u="sng" dirty="0"/>
              <a:t>by Frontline MCH Program </a:t>
            </a:r>
            <a:r>
              <a:rPr lang="en-US" sz="2400" b="1" u="sng" dirty="0" smtClean="0"/>
              <a:t> </a:t>
            </a:r>
            <a:r>
              <a:rPr lang="en-US" sz="2400" b="1" u="sng" dirty="0"/>
              <a:t>by giving technical and logistic supports</a:t>
            </a:r>
            <a:r>
              <a:rPr lang="en-US" sz="2400" b="1" u="sng" dirty="0" smtClean="0"/>
              <a:t>.</a:t>
            </a:r>
          </a:p>
          <a:p>
            <a:pPr marL="0" indent="0" algn="just">
              <a:lnSpc>
                <a:spcPct val="110000"/>
              </a:lnSpc>
              <a:buClr>
                <a:schemeClr val="tx1"/>
              </a:buClr>
              <a:buNone/>
            </a:pPr>
            <a:r>
              <a:rPr lang="en-US" sz="2400" b="1" u="sng" dirty="0" smtClean="0"/>
              <a:t> </a:t>
            </a:r>
            <a:r>
              <a:rPr lang="en-US" sz="2400" b="1" u="sng" dirty="0"/>
              <a:t>Since 1998 </a:t>
            </a:r>
            <a:r>
              <a:rPr lang="en-US" sz="2400" b="1" u="sng" dirty="0">
                <a:solidFill>
                  <a:srgbClr val="0000FF"/>
                </a:solidFill>
              </a:rPr>
              <a:t>DGHS</a:t>
            </a:r>
            <a:r>
              <a:rPr lang="en-US" sz="2400" b="1" u="sng" dirty="0"/>
              <a:t> &amp; </a:t>
            </a:r>
            <a:r>
              <a:rPr lang="en-US" sz="2400" b="1" u="sng" dirty="0">
                <a:solidFill>
                  <a:srgbClr val="0000FF"/>
                </a:solidFill>
              </a:rPr>
              <a:t>UNICEF</a:t>
            </a:r>
            <a:r>
              <a:rPr lang="en-US" sz="2400" b="1" u="sng" dirty="0"/>
              <a:t> have continued the </a:t>
            </a:r>
            <a:r>
              <a:rPr lang="en-US" sz="2400" b="1" u="sng" dirty="0" smtClean="0"/>
              <a:t>support</a:t>
            </a:r>
            <a:r>
              <a:rPr lang="en-US" sz="2400" b="1" u="sng" dirty="0"/>
              <a:t>.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0000FF"/>
                </a:solidFill>
              </a:rPr>
              <a:t>&lt;4 Special activities&gt;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ANC-Corner</a:t>
            </a:r>
            <a:endParaRPr lang="en-US" sz="2400" b="1" dirty="0"/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Basic EOC service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Under 5 corner for under 5 children</a:t>
            </a:r>
            <a:r>
              <a:rPr lang="en-US" sz="2400" b="1" dirty="0"/>
              <a:t> </a:t>
            </a:r>
          </a:p>
          <a:p>
            <a:pPr marL="0" indent="0">
              <a:spcBef>
                <a:spcPts val="450"/>
              </a:spcBef>
              <a:buClr>
                <a:schemeClr val="tx1"/>
              </a:buClr>
              <a:buFontTx/>
              <a:buAutoNum type="arabicParenR"/>
            </a:pPr>
            <a:r>
              <a:rPr lang="en-US" sz="2400" b="1" dirty="0">
                <a:solidFill>
                  <a:srgbClr val="0000FF"/>
                </a:solidFill>
              </a:rPr>
              <a:t>Monthly birth and death record</a:t>
            </a:r>
            <a:endParaRPr lang="en-US" sz="2400" b="1" dirty="0"/>
          </a:p>
          <a:p>
            <a:pPr marL="0" indent="0">
              <a:lnSpc>
                <a:spcPct val="80000"/>
              </a:lnSpc>
              <a:buNone/>
            </a:pP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81457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1845"/>
            <a:ext cx="6172200" cy="866775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sz="3200" b="1" dirty="0" smtClean="0"/>
              <a:t>Background History Contd</a:t>
            </a:r>
            <a:r>
              <a:rPr lang="en-US" sz="3200" b="1" dirty="0"/>
              <a:t>.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838201"/>
            <a:ext cx="8077200" cy="5562600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sz="1800" b="1" dirty="0"/>
              <a:t> </a:t>
            </a:r>
            <a:r>
              <a:rPr lang="en-US" sz="1800" b="1" dirty="0" smtClean="0"/>
              <a:t>     </a:t>
            </a:r>
            <a:r>
              <a:rPr lang="en-US" sz="2000" b="1" dirty="0" smtClean="0">
                <a:solidFill>
                  <a:srgbClr val="FF0000"/>
                </a:solidFill>
              </a:rPr>
              <a:t>November </a:t>
            </a:r>
            <a:r>
              <a:rPr lang="en-US" sz="2000" b="1" dirty="0">
                <a:solidFill>
                  <a:srgbClr val="FF0000"/>
                </a:solidFill>
              </a:rPr>
              <a:t>2000 </a:t>
            </a:r>
            <a:r>
              <a:rPr lang="en-US" sz="2000" b="1" dirty="0"/>
              <a:t>started Comprehensive EOC program </a:t>
            </a:r>
            <a:r>
              <a:rPr lang="en-US" sz="2000" b="1" dirty="0" smtClean="0"/>
              <a:t> </a:t>
            </a:r>
            <a:endParaRPr lang="en-US" sz="2000" b="1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>
                <a:solidFill>
                  <a:srgbClr val="FF0000"/>
                </a:solidFill>
              </a:rPr>
              <a:t>April 2007</a:t>
            </a:r>
            <a:r>
              <a:rPr lang="en-US" sz="2000" b="1" dirty="0" smtClean="0"/>
              <a:t>-Demand </a:t>
            </a:r>
            <a:r>
              <a:rPr lang="en-US" sz="2000" b="1" dirty="0"/>
              <a:t>Side Financing (DSF) program started.   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Hospital  </a:t>
            </a:r>
            <a:r>
              <a:rPr lang="en-US" sz="2000" b="1" dirty="0"/>
              <a:t>declared as model health complex on </a:t>
            </a:r>
            <a:r>
              <a:rPr lang="en-US" sz="2000" b="1" dirty="0">
                <a:solidFill>
                  <a:srgbClr val="FF0000"/>
                </a:solidFill>
              </a:rPr>
              <a:t>20 June 2008 </a:t>
            </a:r>
            <a:r>
              <a:rPr lang="en-US" sz="2000" b="1" dirty="0"/>
              <a:t>and upgraded to 50 bedded hospital by </a:t>
            </a:r>
            <a:r>
              <a:rPr lang="en-US" sz="2000" b="1" dirty="0" smtClean="0"/>
              <a:t>MOH&amp;FW.</a:t>
            </a:r>
            <a:endParaRPr lang="en-US" sz="2000" b="1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“Chowgacha </a:t>
            </a:r>
            <a:r>
              <a:rPr lang="en-US" sz="2000" b="1" dirty="0"/>
              <a:t>health complex Model is replicable through out the </a:t>
            </a:r>
            <a:r>
              <a:rPr lang="en-US" sz="2000" b="1" dirty="0" smtClean="0"/>
              <a:t>country”  Declared </a:t>
            </a:r>
            <a:r>
              <a:rPr lang="en-US" sz="2000" b="1" dirty="0"/>
              <a:t>by Dr. Margaret Chan, D.G. WHO on </a:t>
            </a:r>
            <a:r>
              <a:rPr lang="en-US" sz="2000" b="1" dirty="0">
                <a:solidFill>
                  <a:srgbClr val="FF0000"/>
                </a:solidFill>
              </a:rPr>
              <a:t>8</a:t>
            </a:r>
            <a:r>
              <a:rPr lang="en-US" sz="2000" b="1" baseline="30000" dirty="0">
                <a:solidFill>
                  <a:srgbClr val="FF0000"/>
                </a:solidFill>
              </a:rPr>
              <a:t>th</a:t>
            </a:r>
            <a:r>
              <a:rPr lang="en-US" sz="2000" b="1" dirty="0">
                <a:solidFill>
                  <a:srgbClr val="FF0000"/>
                </a:solidFill>
              </a:rPr>
              <a:t> March 2010</a:t>
            </a:r>
            <a:r>
              <a:rPr lang="en-US" sz="2000" b="1" dirty="0" smtClean="0"/>
              <a:t>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Piloting  to replication C-J model launched  in 10 district hospital by HEU of MOH&amp;FW in 2016.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Prime minister's office  issues order to replicate the model throughout the country in2017.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sz="2000" b="1" dirty="0" smtClean="0"/>
              <a:t>DGHS  started to replicate  C-J model in all upazilla UHC &amp; DH  in </a:t>
            </a:r>
            <a:r>
              <a:rPr lang="en-US" sz="2000" b="1" dirty="0" err="1" smtClean="0"/>
              <a:t>june</a:t>
            </a:r>
            <a:r>
              <a:rPr lang="en-US" sz="2000" b="1" dirty="0" smtClean="0"/>
              <a:t> 2018</a:t>
            </a:r>
            <a:r>
              <a:rPr lang="en-US" sz="1850" b="1" dirty="0" smtClean="0"/>
              <a:t>.</a:t>
            </a:r>
            <a:endParaRPr lang="en-US" sz="1850" b="1" dirty="0"/>
          </a:p>
        </p:txBody>
      </p:sp>
    </p:spTree>
    <p:extLst>
      <p:ext uri="{BB962C8B-B14F-4D97-AF65-F5344CB8AC3E}">
        <p14:creationId xmlns:p14="http://schemas.microsoft.com/office/powerpoint/2010/main" val="59904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405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2888399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1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07273125"/>
              </p:ext>
            </p:extLst>
          </p:nvPr>
        </p:nvGraphicFramePr>
        <p:xfrm>
          <a:off x="0" y="1092200"/>
          <a:ext cx="9144000" cy="5723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 46"/>
          <p:cNvSpPr>
            <a:spLocks noChangeArrowheads="1"/>
          </p:cNvSpPr>
          <p:nvPr/>
        </p:nvSpPr>
        <p:spPr bwMode="auto">
          <a:xfrm>
            <a:off x="469900" y="482600"/>
            <a:ext cx="8229600" cy="609600"/>
          </a:xfrm>
          <a:prstGeom prst="rect">
            <a:avLst/>
          </a:prstGeom>
          <a:gradFill>
            <a:gsLst>
              <a:gs pos="100000">
                <a:schemeClr val="bg1"/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  <a:ln>
            <a:solidFill>
              <a:schemeClr val="tx1"/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EOC Activities :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2011- 2020 (Total Hospital Delivery &amp; C-section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5124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16" name="Group 7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883302"/>
              </p:ext>
            </p:extLst>
          </p:nvPr>
        </p:nvGraphicFramePr>
        <p:xfrm>
          <a:off x="-1" y="1425171"/>
          <a:ext cx="9144000" cy="565711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615460"/>
                <a:gridCol w="2286000"/>
                <a:gridCol w="1143000"/>
                <a:gridCol w="879231"/>
                <a:gridCol w="1230923"/>
                <a:gridCol w="879231"/>
                <a:gridCol w="1143000"/>
                <a:gridCol w="967155"/>
              </a:tblGrid>
              <a:tr h="516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2011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2017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2019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7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65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No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Name of institute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Section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Total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itchFamily="34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itchFamily="34" charset="0"/>
                        </a:rPr>
                        <a:t>Section</a:t>
                      </a:r>
                      <a:endParaRPr kumimoji="0" lang="en-US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itchFamily="34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itchFamily="34" charset="0"/>
                        </a:rPr>
                        <a:t>Total</a:t>
                      </a:r>
                      <a:endParaRPr kumimoji="0" lang="en-US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itchFamily="34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itchFamily="34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itchFamily="34" charset="0"/>
                        </a:rPr>
                        <a:t>Section</a:t>
                      </a:r>
                      <a:endParaRPr kumimoji="0" lang="en-US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itchFamily="34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100" u="none" strike="noStrike" kern="1200" cap="none" spc="0" normalizeH="0" baseline="0" noProof="0" dirty="0" smtClean="0">
                          <a:ln>
                            <a:noFill/>
                          </a:ln>
                          <a:effectLst/>
                          <a:uLnTx/>
                          <a:uFillTx/>
                          <a:latin typeface="Arial Rounded MT Bold" pitchFamily="34" charset="0"/>
                        </a:rPr>
                        <a:t>Total</a:t>
                      </a:r>
                      <a:endParaRPr kumimoji="0" lang="en-US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Rounded MT Bold" pitchFamily="34" charset="0"/>
                        <a:ea typeface="+mn-ea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7261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01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Khulna </a:t>
                      </a: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Meidcal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College Hospital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1356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3013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1228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2683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1828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*4362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9451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02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Jashore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</a:t>
                      </a: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Meidcal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College Hospital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1498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2852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1778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2967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1503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3078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7261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03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Kustia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</a:t>
                      </a: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Meidcal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College Hospital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915</a:t>
                      </a:r>
                      <a:endParaRPr kumimoji="0" lang="en-US" sz="2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2677</a:t>
                      </a:r>
                      <a:endParaRPr kumimoji="0" lang="en-US" sz="2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1030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2781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1616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3674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815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04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100 </a:t>
                      </a: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bed,Jhenaidah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</a:t>
                      </a: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Sadae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Hospital</a:t>
                      </a:r>
                      <a:endParaRPr kumimoji="0" lang="en-US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430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2375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1143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*2997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1019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2753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6716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05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u="none" strike="noStrike" cap="none" normalizeH="0" baseline="0" dirty="0" err="1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Chowgacha</a:t>
                      </a:r>
                      <a:r>
                        <a:rPr kumimoji="0" lang="en-US" sz="19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 UHC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Arial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1007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*4413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759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2922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854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Arial Rounded MT Bold" pitchFamily="34" charset="0"/>
                        </a:rPr>
                        <a:t>2957</a:t>
                      </a:r>
                      <a:endParaRPr kumimoji="0" lang="en-US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Rounded MT Bold" pitchFamily="34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3544" y="-431800"/>
            <a:ext cx="8229600" cy="1752600"/>
          </a:xfrm>
        </p:spPr>
        <p:txBody>
          <a:bodyPr>
            <a:noAutofit/>
          </a:bodyPr>
          <a:lstStyle/>
          <a:p>
            <a:pPr algn="just">
              <a:defRPr/>
            </a:pPr>
            <a:r>
              <a:rPr lang="en-US" sz="2700" b="1" dirty="0">
                <a:solidFill>
                  <a:srgbClr val="FF0000"/>
                </a:solidFill>
                <a:latin typeface="Arial" charset="0"/>
                <a:cs typeface="Arial" charset="0"/>
              </a:rPr>
              <a:t>Comparative Data of Delivery of best performing EOC center of Khulna Division in </a:t>
            </a:r>
            <a:r>
              <a:rPr lang="en-US" sz="2700" b="1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2011,2017,2019</a:t>
            </a:r>
            <a:endParaRPr lang="en-US" sz="27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04080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600" b="1" smtClean="0"/>
              <a:t>Upazila Health  Complex</a:t>
            </a:r>
            <a:br>
              <a:rPr lang="en-US" sz="3600" b="1" smtClean="0"/>
            </a:br>
            <a:r>
              <a:rPr lang="en-US" sz="2800" b="1" smtClean="0"/>
              <a:t>CHOWGACHA , JESSORE.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7200" y="1524000"/>
            <a:ext cx="8153400" cy="660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graphicFrame>
        <p:nvGraphicFramePr>
          <p:cNvPr id="7" name="Group 7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882857"/>
              </p:ext>
            </p:extLst>
          </p:nvPr>
        </p:nvGraphicFramePr>
        <p:xfrm>
          <a:off x="533400" y="2362200"/>
          <a:ext cx="8153400" cy="3513107"/>
        </p:xfrm>
        <a:graphic>
          <a:graphicData uri="http://schemas.openxmlformats.org/drawingml/2006/table">
            <a:tbl>
              <a:tblPr/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9681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 of institute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NVD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Vacuum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Del.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Breech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Section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Chowgacha UHC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3346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4413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Ad-din Hospital Jessore.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1124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1864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3492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9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Khulna Medical College Hospital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1581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1356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3013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8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Jessore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1327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1498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2852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09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05.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Kustia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1728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915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2677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14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Emergency + Outdoor </a:t>
            </a:r>
            <a:r>
              <a:rPr lang="en-US" sz="3000" b="1" dirty="0"/>
              <a:t>&amp; </a:t>
            </a:r>
            <a:r>
              <a:rPr lang="en-US" sz="3000" b="1" dirty="0" smtClean="0"/>
              <a:t>Indoor 2011-2020</a:t>
            </a:r>
            <a:br>
              <a:rPr lang="en-US" sz="3000" b="1" dirty="0" smtClean="0"/>
            </a:br>
            <a:r>
              <a:rPr lang="en-US" sz="3000" b="1" dirty="0" smtClean="0"/>
              <a:t>UHC Chowgacha</a:t>
            </a:r>
            <a:endParaRPr lang="en-GB" sz="3000" dirty="0"/>
          </a:p>
        </p:txBody>
      </p:sp>
      <p:graphicFrame>
        <p:nvGraphicFramePr>
          <p:cNvPr id="9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84552563"/>
              </p:ext>
            </p:extLst>
          </p:nvPr>
        </p:nvGraphicFramePr>
        <p:xfrm>
          <a:off x="457200" y="1934634"/>
          <a:ext cx="8686800" cy="4389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376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12840886"/>
              </p:ext>
            </p:extLst>
          </p:nvPr>
        </p:nvGraphicFramePr>
        <p:xfrm>
          <a:off x="457200" y="1600201"/>
          <a:ext cx="8229600" cy="4525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342900" y="279400"/>
            <a:ext cx="8458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Bed Occupancy Rate (in percentage) of </a:t>
            </a:r>
            <a:r>
              <a:rPr kumimoji="0" lang="en-US" sz="44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Chowgacha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 UHC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2486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965200"/>
          </a:xfrm>
          <a:noFill/>
          <a:ln>
            <a:noFill/>
          </a:ln>
        </p:spPr>
        <p:txBody>
          <a:bodyPr>
            <a:normAutofit/>
          </a:bodyPr>
          <a:lstStyle/>
          <a:p>
            <a:pPr eaLnBrk="1" hangingPunct="1"/>
            <a:r>
              <a:rPr lang="en-US" sz="3200" b="1" dirty="0" smtClean="0"/>
              <a:t>EOC Activities Chowgacha UHC 2011-2020</a:t>
            </a:r>
          </a:p>
        </p:txBody>
      </p:sp>
      <p:graphicFrame>
        <p:nvGraphicFramePr>
          <p:cNvPr id="5" name="Content Placeholder 1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36178619"/>
              </p:ext>
            </p:extLst>
          </p:nvPr>
        </p:nvGraphicFramePr>
        <p:xfrm>
          <a:off x="457200" y="1600201"/>
          <a:ext cx="8229600" cy="45254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42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EOC Activities :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2011 – 2020  (ANC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First Visit)</a:t>
            </a:r>
          </a:p>
        </p:txBody>
      </p:sp>
    </p:spTree>
    <p:extLst>
      <p:ext uri="{BB962C8B-B14F-4D97-AF65-F5344CB8AC3E}">
        <p14:creationId xmlns:p14="http://schemas.microsoft.com/office/powerpoint/2010/main" val="253112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76200" y="274637"/>
            <a:ext cx="9067800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800" b="1" dirty="0" smtClean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Community </a:t>
            </a:r>
            <a:r>
              <a:rPr lang="en-US" sz="2800" b="1" dirty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b="1" dirty="0" smtClean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articipation in </a:t>
            </a:r>
            <a:r>
              <a:rPr lang="en-US" sz="2800" b="1" dirty="0" err="1" smtClean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Chowgacha</a:t>
            </a:r>
            <a:r>
              <a:rPr lang="en-US" sz="2800" b="1" dirty="0" smtClean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 UHC</a:t>
            </a:r>
            <a:endParaRPr lang="en-US" sz="2800" b="1" dirty="0"/>
          </a:p>
        </p:txBody>
      </p:sp>
      <p:sp>
        <p:nvSpPr>
          <p:cNvPr id="45058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eaLnBrk="1" hangingPunct="1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 Human resources support (by service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providers,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Pouroshova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others).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Upazilla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Porishod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Pouroshova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Devine Group and elite persons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involvement.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donated by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Upazila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Porishod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honorable MP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Dengue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control and VIA program supported by Devine Group.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Blood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donation by the community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803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1143000" y="23884"/>
            <a:ext cx="6858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ACHIEVEMENTS 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 </a:t>
            </a:r>
            <a:r>
              <a:rPr lang="en-US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HEALTH COMPLEX</a:t>
            </a:r>
            <a:endParaRPr lang="en-US" sz="27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7400"/>
            <a:ext cx="4572000" cy="54864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77500" lnSpcReduction="20000"/>
          </a:bodyPr>
          <a:lstStyle/>
          <a:p>
            <a:pPr algn="just">
              <a:spcBef>
                <a:spcPts val="0"/>
              </a:spcBef>
              <a:defRPr/>
            </a:pPr>
            <a:endParaRPr lang="en-US" sz="1800" b="1" dirty="0"/>
          </a:p>
          <a:p>
            <a:pPr algn="just">
              <a:spcBef>
                <a:spcPts val="0"/>
              </a:spcBef>
              <a:defRPr/>
            </a:pPr>
            <a:r>
              <a:rPr lang="en-US" sz="1800" b="1" dirty="0"/>
              <a:t>In </a:t>
            </a:r>
            <a:r>
              <a:rPr lang="en-US" sz="1800" b="1" dirty="0">
                <a:solidFill>
                  <a:srgbClr val="FF0000"/>
                </a:solidFill>
              </a:rPr>
              <a:t>2008</a:t>
            </a:r>
            <a:r>
              <a:rPr lang="en-US" sz="1800" b="1" dirty="0"/>
              <a:t>, Chowgacha Health Complex declared as the </a:t>
            </a:r>
            <a:r>
              <a:rPr lang="en-US" sz="1800" b="1" u="sng" dirty="0" smtClean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18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1800" b="1" u="sng" dirty="0">
                <a:solidFill>
                  <a:srgbClr val="FF0000"/>
                </a:solidFill>
                <a:latin typeface="Century Schoolbook" pitchFamily="18" charset="0"/>
              </a:rPr>
              <a:t> </a:t>
            </a:r>
            <a:r>
              <a:rPr lang="en-US" sz="1800" b="1" u="sng" dirty="0" smtClean="0">
                <a:solidFill>
                  <a:srgbClr val="FF0000"/>
                </a:solidFill>
                <a:latin typeface="Century Schoolbook" pitchFamily="18" charset="0"/>
              </a:rPr>
              <a:t>Health Complex</a:t>
            </a:r>
            <a:endParaRPr lang="en-US" sz="21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>
                <a:solidFill>
                  <a:srgbClr val="002060"/>
                </a:solidFill>
              </a:rPr>
              <a:t>EOC Beds increased from 11 to 41</a:t>
            </a: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>
                <a:solidFill>
                  <a:srgbClr val="FF0000"/>
                </a:solidFill>
              </a:rPr>
              <a:t>Chowgacha </a:t>
            </a:r>
            <a:r>
              <a:rPr lang="en-US" b="1" dirty="0">
                <a:solidFill>
                  <a:srgbClr val="FF0000"/>
                </a:solidFill>
              </a:rPr>
              <a:t>UHC achieved MDG target in 2009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Chowgacha UHC  became the </a:t>
            </a:r>
            <a:r>
              <a:rPr lang="en-US" b="1" dirty="0" smtClean="0">
                <a:solidFill>
                  <a:srgbClr val="FF0000"/>
                </a:solidFill>
              </a:rPr>
              <a:t>Best EOC center  with 98.4% delivery rate in 2011</a:t>
            </a:r>
            <a:endParaRPr lang="en-US" b="1" dirty="0" smtClean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Chowgacha Health complex is awarded for best performance in </a:t>
            </a:r>
            <a:r>
              <a:rPr lang="en-US" b="1" dirty="0" smtClean="0">
                <a:solidFill>
                  <a:srgbClr val="FF0000"/>
                </a:solidFill>
              </a:rPr>
              <a:t>EOC form 2005 to 2014</a:t>
            </a:r>
            <a:endParaRPr lang="en-US" b="1" dirty="0" smtClean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Achieve </a:t>
            </a:r>
            <a:r>
              <a:rPr lang="en-US" b="1" dirty="0" smtClean="0">
                <a:solidFill>
                  <a:srgbClr val="FF0000"/>
                </a:solidFill>
              </a:rPr>
              <a:t>Health Ministers Award</a:t>
            </a:r>
            <a:r>
              <a:rPr lang="en-US" b="1" dirty="0" smtClean="0"/>
              <a:t> for its best performances in</a:t>
            </a:r>
            <a:r>
              <a:rPr lang="en-US" b="1" dirty="0" smtClean="0">
                <a:solidFill>
                  <a:srgbClr val="FF0000"/>
                </a:solidFill>
              </a:rPr>
              <a:t> 2017 and 2018</a:t>
            </a:r>
            <a:endParaRPr lang="en-US" b="1" dirty="0" smtClean="0"/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The UHC starts upgrade to 100  bedded hospital</a:t>
            </a:r>
          </a:p>
          <a:p>
            <a:pPr marL="300038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b="1" dirty="0" smtClean="0"/>
              <a:t>The UHC model is being replicated throughout the country by MOH &amp; FW since 2016 by the order of Prime Ministers office</a:t>
            </a: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2" b="3461"/>
          <a:stretch/>
        </p:blipFill>
        <p:spPr>
          <a:xfrm>
            <a:off x="4572000" y="787400"/>
            <a:ext cx="4648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9597"/>
          </a:xfrm>
          <a:blipFill>
            <a:blip r:embed="rId2"/>
            <a:tile tx="0" ty="0" sx="100000" sy="100000" flip="none" algn="tl"/>
          </a:blipFill>
        </p:spPr>
        <p:txBody>
          <a:bodyPr>
            <a:noAutofit/>
          </a:bodyPr>
          <a:lstStyle/>
          <a:p>
            <a:pPr algn="ctr"/>
            <a:r>
              <a:rPr sz="4000" smtClean="0">
                <a:solidFill>
                  <a:schemeClr val="tx1"/>
                </a:solidFill>
                <a:latin typeface="NikoshBAN" pitchFamily="2" charset="0"/>
                <a:cs typeface="NikoshBAN" pitchFamily="2" charset="0"/>
              </a:rPr>
              <a:t>সদর হাসপাতাল,ঝিনাইদহ </a:t>
            </a:r>
            <a:endParaRPr lang="en-US" sz="4000" dirty="0">
              <a:solidFill>
                <a:schemeClr val="tx1"/>
              </a:solidFill>
              <a:latin typeface="NikoshBAN" pitchFamily="2" charset="0"/>
              <a:cs typeface="NikoshBAN" pitchFamily="2" charset="0"/>
            </a:endParaRPr>
          </a:p>
        </p:txBody>
      </p:sp>
      <p:pic>
        <p:nvPicPr>
          <p:cNvPr id="7" name="Content Placeholder 6" descr="Hospital garden side.jpg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1876068"/>
            <a:ext cx="4038600" cy="3974227"/>
          </a:xfrm>
        </p:spPr>
      </p:pic>
      <p:pic>
        <p:nvPicPr>
          <p:cNvPr id="5122" name="Picture 2" descr="C:\Users\USER\Desktop\IMG_429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 bwMode="auto">
          <a:xfrm>
            <a:off x="5067300" y="2765901"/>
            <a:ext cx="3200400" cy="219456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5105400" y="838200"/>
            <a:ext cx="403860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নতুন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ভবন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২৫০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হাসপাতাল</a:t>
            </a:r>
            <a:r>
              <a:rPr lang="en-US" dirty="0" smtClean="0">
                <a:latin typeface="NikoshBAN" pitchFamily="2" charset="0"/>
                <a:cs typeface="NikoshBAN" pitchFamily="2" charset="0"/>
              </a:rPr>
              <a:t>, </a:t>
            </a:r>
            <a:r>
              <a:rPr lang="en-US" dirty="0" err="1" smtClean="0">
                <a:latin typeface="NikoshBAN" pitchFamily="2" charset="0"/>
                <a:cs typeface="NikoshBAN" pitchFamily="2" charset="0"/>
              </a:rPr>
              <a:t>ঝিনাইদ</a:t>
            </a:r>
            <a:r>
              <a:rPr lang="en-US" sz="2000" dirty="0" err="1" smtClean="0">
                <a:latin typeface="NikoshBAN" pitchFamily="2" charset="0"/>
                <a:cs typeface="NikoshBAN" pitchFamily="2" charset="0"/>
              </a:rPr>
              <a:t>হ</a:t>
            </a:r>
            <a:r>
              <a:rPr lang="en-US" sz="2000" dirty="0" smtClean="0">
                <a:latin typeface="NikoshBAN" pitchFamily="2" charset="0"/>
                <a:cs typeface="NikoshBAN" pitchFamily="2" charset="0"/>
              </a:rPr>
              <a:t> 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304800" y="762000"/>
            <a:ext cx="3733800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পুরাতন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ভবন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- ১০০ </a:t>
            </a:r>
            <a:r>
              <a:rPr lang="en-US" sz="2400" dirty="0" err="1" smtClean="0">
                <a:latin typeface="NikoshBAN" pitchFamily="2" charset="0"/>
                <a:cs typeface="NikoshBAN" pitchFamily="2" charset="0"/>
              </a:rPr>
              <a:t>শয্যা</a:t>
            </a:r>
            <a:r>
              <a:rPr lang="en-US" sz="2400" dirty="0" smtClean="0">
                <a:latin typeface="NikoshBAN" pitchFamily="2" charset="0"/>
                <a:cs typeface="NikoshBAN" pitchFamily="2" charset="0"/>
              </a:rPr>
              <a:t> </a:t>
            </a:r>
            <a:endParaRPr lang="en-US" sz="2400" dirty="0"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975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25000" lnSpcReduction="20000"/>
          </a:bodyPr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11200" b="1" dirty="0" smtClean="0"/>
              <a:t>Insecure  hospital environment.</a:t>
            </a:r>
          </a:p>
          <a:p>
            <a:pPr marL="0" indent="0">
              <a:buNone/>
              <a:defRPr/>
            </a:pPr>
            <a:r>
              <a:rPr lang="en-US" sz="11200" dirty="0" smtClean="0"/>
              <a:t>	</a:t>
            </a:r>
            <a:endParaRPr lang="en-US" sz="11200" dirty="0"/>
          </a:p>
          <a:p>
            <a:pPr>
              <a:defRPr/>
            </a:pPr>
            <a:r>
              <a:rPr lang="en-US" sz="11200" b="1" dirty="0" smtClean="0"/>
              <a:t>Performance of all activities</a:t>
            </a:r>
            <a:r>
              <a:rPr lang="en-US" sz="8000" b="1" dirty="0" smtClean="0"/>
              <a:t> </a:t>
            </a:r>
            <a:r>
              <a:rPr lang="en-US" sz="11200" b="1" dirty="0" smtClean="0"/>
              <a:t>was very low.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r>
              <a:rPr lang="en-US" sz="11200" b="1" dirty="0" smtClean="0"/>
              <a:t>Very limited support staff. </a:t>
            </a:r>
          </a:p>
          <a:p>
            <a:pPr>
              <a:defRPr/>
            </a:pPr>
            <a:endParaRPr lang="en-US" sz="11200" b="1" dirty="0"/>
          </a:p>
          <a:p>
            <a:pPr>
              <a:defRPr/>
            </a:pPr>
            <a:r>
              <a:rPr lang="en-US" sz="11200" b="1" dirty="0" smtClean="0"/>
              <a:t>Receiving money from the patients by non-</a:t>
            </a:r>
            <a:r>
              <a:rPr lang="en-US" sz="11200" b="1" dirty="0" err="1" smtClean="0"/>
              <a:t>gov.</a:t>
            </a:r>
            <a:r>
              <a:rPr lang="en-US" sz="11200" b="1" dirty="0" smtClean="0"/>
              <a:t> staff.</a:t>
            </a:r>
          </a:p>
          <a:p>
            <a:pPr>
              <a:defRPr/>
            </a:pPr>
            <a:endParaRPr lang="en-US" sz="11200" b="1" dirty="0" smtClean="0"/>
          </a:p>
          <a:p>
            <a:pPr>
              <a:defRPr/>
            </a:pPr>
            <a:r>
              <a:rPr lang="en-US" sz="11200" b="1" dirty="0" smtClean="0"/>
              <a:t>Waste management system was poor.</a:t>
            </a:r>
          </a:p>
          <a:p>
            <a:pPr>
              <a:defRPr/>
            </a:pPr>
            <a:endParaRPr lang="en-US" sz="11200" b="1" dirty="0" smtClean="0"/>
          </a:p>
          <a:p>
            <a:pPr>
              <a:defRPr/>
            </a:pPr>
            <a:r>
              <a:rPr lang="en-US" sz="11200" b="1" dirty="0" smtClean="0"/>
              <a:t>Monitoring  </a:t>
            </a:r>
            <a:r>
              <a:rPr lang="en-US" sz="11200" b="1" dirty="0"/>
              <a:t>m</a:t>
            </a:r>
            <a:r>
              <a:rPr lang="en-US" sz="11200" b="1" dirty="0" smtClean="0"/>
              <a:t>eeting was not performed regularly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>
              <a:defRPr/>
            </a:pP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 smtClean="0"/>
              <a:t>	</a:t>
            </a:r>
            <a:endParaRPr lang="en-US" sz="18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  <a:endParaRPr 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117611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2020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4" y="-304800"/>
            <a:ext cx="8442325" cy="1620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294083708"/>
              </p:ext>
            </p:extLst>
          </p:nvPr>
        </p:nvGraphicFramePr>
        <p:xfrm>
          <a:off x="381000" y="1676400"/>
          <a:ext cx="8305800" cy="4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2413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534400" cy="655638"/>
          </a:xfrm>
          <a:blipFill>
            <a:blip r:embed="rId2"/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+ Out Door &amp; Indoor  Service 1998 to 2020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4135524881"/>
              </p:ext>
            </p:extLst>
          </p:nvPr>
        </p:nvGraphicFramePr>
        <p:xfrm>
          <a:off x="228600" y="1219200"/>
          <a:ext cx="8534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4800" y="838200"/>
            <a:ext cx="8610600" cy="369332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,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41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2020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671967"/>
              </p:ext>
            </p:extLst>
          </p:nvPr>
        </p:nvGraphicFramePr>
        <p:xfrm>
          <a:off x="3048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9522276"/>
              </p:ext>
            </p:extLst>
          </p:nvPr>
        </p:nvGraphicFramePr>
        <p:xfrm>
          <a:off x="152400" y="1371601"/>
          <a:ext cx="8839200" cy="4682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152400" y="0"/>
            <a:ext cx="8991600" cy="7620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52400" y="762000"/>
            <a:ext cx="8991600" cy="46166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2020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816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 sz="2400" dirty="0" smtClean="0"/>
              <a:t>Total ANC and Delivery in Jhenaidah District Hospital 2011-2020</a:t>
            </a:r>
            <a:endParaRPr lang="en-GB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5242111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218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2020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157531"/>
              </p:ext>
            </p:extLst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8947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GB" sz="2800" dirty="0" smtClean="0"/>
              <a:t>Comparative data of 4 best performing EOC Centre of Khulna division 2019</a:t>
            </a:r>
            <a:endParaRPr lang="en-GB" sz="28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314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722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Covid-19 Admitted Patient Report 7/5/20  to 12/06/2021 </a:t>
            </a:r>
            <a:endParaRPr lang="en-US" sz="2800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67600" y="1371600"/>
            <a:ext cx="553998" cy="4800600"/>
          </a:xfrm>
          <a:prstGeom prst="rect">
            <a:avLst/>
          </a:prstGeom>
          <a:solidFill>
            <a:srgbClr val="FFC000"/>
          </a:solidFill>
        </p:spPr>
        <p:txBody>
          <a:bodyPr vert="vert270"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Total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possitive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Jhenaidah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District - 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3037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45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58 manpower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(Cleaner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26,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19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12 manpower and an intercom system, and a pickup for carrying oxygen with a cost of nearly 10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Biswas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builders supports 7 manpower &amp; 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10 man power.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Different kind of instruments donated by community leaders in </a:t>
            </a:r>
            <a:r>
              <a:rPr lang="en-US" sz="28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</a:t>
            </a:r>
            <a:r>
              <a:rPr lang="en-US" sz="28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ovid-19 situation .(About 70 lac taka)</a:t>
            </a:r>
            <a:endParaRPr lang="en-US" sz="28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765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558" y="3938588"/>
            <a:ext cx="2855884" cy="21875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dirty="0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25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04800" y="1"/>
            <a:ext cx="8305800" cy="685800"/>
          </a:xfrm>
        </p:spPr>
        <p:txBody>
          <a:bodyPr anchor="t"/>
          <a:lstStyle/>
          <a:p>
            <a:r>
              <a:rPr sz="32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Innovation </a:t>
            </a:r>
            <a:r>
              <a:rPr lang="en-IN" sz="32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in</a:t>
            </a:r>
            <a:r>
              <a:rPr sz="3200" dirty="0" smtClean="0">
                <a:solidFill>
                  <a:srgbClr val="0070C0"/>
                </a:solidFill>
                <a:latin typeface="Nikosh" pitchFamily="2" charset="0"/>
                <a:cs typeface="Nikosh" pitchFamily="2" charset="0"/>
              </a:rPr>
              <a:t> Medicine Ward </a:t>
            </a:r>
            <a:endParaRPr lang="en-US" sz="3200" dirty="0">
              <a:solidFill>
                <a:srgbClr val="0070C0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00600" y="533400"/>
            <a:ext cx="4343400" cy="2895600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33400"/>
            <a:ext cx="4724400" cy="2895600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05200"/>
            <a:ext cx="4724400" cy="33528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00600" y="3505200"/>
            <a:ext cx="4343400" cy="3352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311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DSC0240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642937"/>
            <a:ext cx="4257675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666750"/>
            <a:ext cx="443230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86200"/>
            <a:ext cx="4133850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00" y="3886200"/>
            <a:ext cx="4127500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6" descr="G:\101MSDCF 1\DSC02621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385" y="3853099"/>
            <a:ext cx="4480071" cy="2909551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4706303" y="767571"/>
            <a:ext cx="4151765" cy="2909551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669638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IN" sz="3600" dirty="0" smtClean="0"/>
              <a:t>Community participation during covid-19 management</a:t>
            </a:r>
            <a:endParaRPr lang="en-GB" sz="3600" dirty="0"/>
          </a:p>
        </p:txBody>
      </p:sp>
      <p:pic>
        <p:nvPicPr>
          <p:cNvPr id="10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3838"/>
            <a:ext cx="4191000" cy="302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5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6000"/>
            <a:ext cx="41910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950" y="3962400"/>
            <a:ext cx="3956050" cy="292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023" y="1143000"/>
            <a:ext cx="3950290" cy="2718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21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</a:t>
            </a:r>
          </a:p>
          <a:p>
            <a:pPr marL="0" algn="just">
              <a:defRPr/>
            </a:pPr>
            <a:r>
              <a:rPr lang="en-US" b="1" dirty="0" smtClean="0"/>
              <a:t>    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4.. </a:t>
            </a:r>
            <a:r>
              <a:rPr lang="en-US" b="1" dirty="0"/>
              <a:t>The hospital is awarded 6 times from 2013 to 2018. </a:t>
            </a:r>
            <a:endParaRPr lang="en-US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Replication of C- J Model by DGHS in 20 District hospital &amp; 40 UHC of the country.</a:t>
            </a:r>
          </a:p>
          <a:p>
            <a:pPr marL="0" algn="just">
              <a:defRPr/>
            </a:pPr>
            <a:r>
              <a:rPr lang="en-US" b="1" dirty="0" smtClean="0"/>
              <a:t> 8. Nearly 70 lacks </a:t>
            </a:r>
            <a:r>
              <a:rPr lang="en-US" b="1" dirty="0"/>
              <a:t>Taka support  for 6 high flow   oxygen  nasal cannula, central </a:t>
            </a:r>
            <a:r>
              <a:rPr lang="en-US" b="1" dirty="0" err="1"/>
              <a:t>oxgen</a:t>
            </a:r>
            <a:r>
              <a:rPr lang="en-US" b="1" dirty="0"/>
              <a:t> supplying </a:t>
            </a:r>
            <a:r>
              <a:rPr lang="en-US" b="1" dirty="0" smtClean="0"/>
              <a:t>system , a pic up </a:t>
            </a:r>
            <a:r>
              <a:rPr lang="en-US" b="1" dirty="0"/>
              <a:t>for </a:t>
            </a:r>
            <a:r>
              <a:rPr lang="en-US" b="1" dirty="0" err="1"/>
              <a:t>covid</a:t>
            </a:r>
            <a:r>
              <a:rPr lang="en-US" b="1" dirty="0"/>
              <a:t> patient </a:t>
            </a:r>
            <a:endParaRPr lang="en-US" b="1" dirty="0" smtClean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HSSI  Health  Minister’s  National  Award 2019</a:t>
            </a:r>
            <a:endParaRPr lang="en-US" sz="3200" dirty="0"/>
          </a:p>
        </p:txBody>
      </p:sp>
      <p:pic>
        <p:nvPicPr>
          <p:cNvPr id="3074" name="Picture 2" descr="C:\Users\USER\Desktop\Award 13.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95300"/>
            <a:ext cx="9144000" cy="63627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7155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198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594360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 smtClean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/>
          </p:nvPr>
        </p:nvSpPr>
        <p:spPr>
          <a:xfrm>
            <a:off x="1485900" y="1295400"/>
            <a:ext cx="61722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1" dirty="0"/>
          </a:p>
          <a:p>
            <a:pPr lvl="0" algn="just"/>
            <a:r>
              <a:rPr lang="en-GB" sz="1575" dirty="0"/>
              <a:t>Successful leadership in health </a:t>
            </a:r>
            <a:r>
              <a:rPr lang="en-GB" sz="1575" dirty="0" smtClean="0"/>
              <a:t>management</a:t>
            </a:r>
          </a:p>
          <a:p>
            <a:pPr lvl="0" algn="just"/>
            <a:r>
              <a:rPr lang="en-GB" sz="1575" dirty="0" smtClean="0"/>
              <a:t>All the </a:t>
            </a:r>
            <a:r>
              <a:rPr lang="en-GB" sz="1575" b="1" dirty="0" smtClean="0"/>
              <a:t>Components of Primary Health Care</a:t>
            </a:r>
            <a:r>
              <a:rPr lang="en-GB" sz="1575" dirty="0" smtClean="0"/>
              <a:t> are successfully implemented here</a:t>
            </a:r>
            <a:endParaRPr lang="en-GB" sz="1575" dirty="0"/>
          </a:p>
          <a:p>
            <a:pPr lvl="0" algn="just"/>
            <a:r>
              <a:rPr lang="en-GB" sz="1575" dirty="0"/>
              <a:t>Personal and group skills in health care</a:t>
            </a:r>
          </a:p>
          <a:p>
            <a:pPr lvl="0" algn="just"/>
            <a:r>
              <a:rPr lang="en-GB" sz="1575" dirty="0"/>
              <a:t>Community engaged health management</a:t>
            </a:r>
          </a:p>
          <a:p>
            <a:pPr lvl="0" algn="just"/>
            <a:r>
              <a:rPr lang="en-GB" sz="1575" dirty="0"/>
              <a:t>Optimum use of government resources</a:t>
            </a:r>
          </a:p>
          <a:p>
            <a:pPr lvl="0" algn="just"/>
            <a:r>
              <a:rPr lang="en-GB" sz="1575" dirty="0"/>
              <a:t>Effective relation with local administration and with other government organizations</a:t>
            </a:r>
          </a:p>
          <a:p>
            <a:pPr lvl="0" algn="just"/>
            <a:r>
              <a:rPr lang="en-GB" sz="1575" dirty="0"/>
              <a:t>Improvement of security by community engagement</a:t>
            </a:r>
          </a:p>
          <a:p>
            <a:pPr lvl="0" algn="just"/>
            <a:r>
              <a:rPr lang="en-GB" sz="1575" dirty="0"/>
              <a:t>Improved maternal </a:t>
            </a:r>
            <a:r>
              <a:rPr lang="en-GB" sz="1575" dirty="0" smtClean="0"/>
              <a:t> and  child health </a:t>
            </a:r>
            <a:r>
              <a:rPr lang="en-GB" sz="1575" dirty="0"/>
              <a:t>care </a:t>
            </a:r>
            <a:r>
              <a:rPr lang="en-GB" sz="1575" dirty="0" smtClean="0"/>
              <a:t>activities</a:t>
            </a:r>
            <a:endParaRPr lang="en-GB" sz="1575" dirty="0"/>
          </a:p>
          <a:p>
            <a:pPr lvl="0" algn="just"/>
            <a:r>
              <a:rPr lang="en-GB" sz="1575" dirty="0"/>
              <a:t>Ensuring corner-based health </a:t>
            </a:r>
            <a:r>
              <a:rPr lang="en-GB" sz="1575" dirty="0" smtClean="0"/>
              <a:t>care</a:t>
            </a:r>
          </a:p>
          <a:p>
            <a:pPr algn="just"/>
            <a:r>
              <a:rPr lang="en-GB" sz="1575" dirty="0"/>
              <a:t>Woman and </a:t>
            </a:r>
            <a:r>
              <a:rPr lang="en-GB" sz="1575" dirty="0" smtClean="0"/>
              <a:t>Baby Friendly Hospital.</a:t>
            </a:r>
            <a:endParaRPr lang="en-GB" sz="1575" dirty="0"/>
          </a:p>
          <a:p>
            <a:endParaRPr lang="en-GB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1143000" y="177800"/>
            <a:ext cx="7010400" cy="17272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3600" b="1" dirty="0" smtClean="0"/>
              <a:t>Reason why </a:t>
            </a:r>
            <a:r>
              <a:rPr lang="en-GB" sz="3600" b="1" dirty="0"/>
              <a:t>Chowgacha Health </a:t>
            </a:r>
            <a:r>
              <a:rPr lang="en-GB" sz="3600" b="1" dirty="0" smtClean="0"/>
              <a:t>Complex is </a:t>
            </a:r>
            <a:r>
              <a:rPr lang="en-GB" sz="3600" b="1" dirty="0"/>
              <a:t>Model-1</a:t>
            </a:r>
          </a:p>
        </p:txBody>
      </p:sp>
    </p:spTree>
    <p:extLst>
      <p:ext uri="{BB962C8B-B14F-4D97-AF65-F5344CB8AC3E}">
        <p14:creationId xmlns:p14="http://schemas.microsoft.com/office/powerpoint/2010/main" val="82262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485900" y="1905001"/>
            <a:ext cx="6172200" cy="4830763"/>
          </a:xfrm>
        </p:spPr>
        <p:txBody>
          <a:bodyPr/>
          <a:lstStyle/>
          <a:p>
            <a:pPr algn="just"/>
            <a:r>
              <a:rPr lang="en-GB" sz="1575" dirty="0"/>
              <a:t>Birth and death recording, progress assessment and accountability by collecting information on all health </a:t>
            </a:r>
            <a:r>
              <a:rPr lang="en-GB" sz="1575" dirty="0" smtClean="0"/>
              <a:t>indicators</a:t>
            </a:r>
          </a:p>
          <a:p>
            <a:pPr lvl="0" algn="just"/>
            <a:r>
              <a:rPr lang="en-GB" sz="1575" dirty="0" smtClean="0"/>
              <a:t>Improving </a:t>
            </a:r>
            <a:r>
              <a:rPr lang="en-GB" sz="1575" dirty="0"/>
              <a:t>healthcare by unit management</a:t>
            </a:r>
          </a:p>
          <a:p>
            <a:pPr lvl="0" algn="just"/>
            <a:r>
              <a:rPr lang="en-GB" sz="1575" dirty="0"/>
              <a:t>Health awareness by health </a:t>
            </a:r>
            <a:r>
              <a:rPr lang="en-GB" sz="1575" dirty="0" smtClean="0"/>
              <a:t>education in outdoor, indoor, ante-natal registration room and pregnant women restroom</a:t>
            </a:r>
            <a:endParaRPr lang="en-GB" sz="1575" dirty="0"/>
          </a:p>
          <a:p>
            <a:pPr lvl="0" algn="just"/>
            <a:r>
              <a:rPr lang="en-GB" sz="1575" dirty="0"/>
              <a:t>Cleanliness (Waste management) and beautification of the facility and premises</a:t>
            </a:r>
          </a:p>
          <a:p>
            <a:pPr lvl="0" algn="just"/>
            <a:r>
              <a:rPr lang="en-GB" sz="1575" dirty="0"/>
              <a:t>Provision of safe blood transfusion for emergency needs</a:t>
            </a:r>
          </a:p>
          <a:p>
            <a:pPr lvl="0" algn="just"/>
            <a:r>
              <a:rPr lang="en-GB" sz="1575" dirty="0"/>
              <a:t>Zero tolerance against corruption</a:t>
            </a:r>
          </a:p>
          <a:p>
            <a:pPr lvl="0" algn="just"/>
            <a:r>
              <a:rPr lang="en-GB" sz="1575" dirty="0"/>
              <a:t>Implementation of the 5S KAIZEN-TQM for the improvement of health care</a:t>
            </a:r>
          </a:p>
          <a:p>
            <a:pPr lvl="0" algn="just"/>
            <a:r>
              <a:rPr lang="en-GB" sz="1575" dirty="0"/>
              <a:t>Improved financial management by establishing cash counter</a:t>
            </a:r>
          </a:p>
          <a:p>
            <a:endParaRPr lang="en-GB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143000" y="177800"/>
            <a:ext cx="7010400" cy="17272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3600" b="1" dirty="0" smtClean="0"/>
              <a:t>Reason why </a:t>
            </a:r>
            <a:r>
              <a:rPr lang="en-GB" sz="3600" b="1" dirty="0"/>
              <a:t>Chowgacha Health </a:t>
            </a:r>
            <a:r>
              <a:rPr lang="en-GB" sz="3600" b="1" dirty="0" smtClean="0"/>
              <a:t>Complex is Model-2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140911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5220</TotalTime>
  <Words>1814</Words>
  <Application>Microsoft Office PowerPoint</Application>
  <PresentationFormat>On-screen Show (4:3)</PresentationFormat>
  <Paragraphs>475</Paragraphs>
  <Slides>67</Slides>
  <Notes>25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9" baseType="lpstr">
      <vt:lpstr>Office Theme</vt:lpstr>
      <vt:lpstr>Chart</vt:lpstr>
      <vt:lpstr>PowerPoint Presentation</vt:lpstr>
      <vt:lpstr>PowerPoint Presentation</vt:lpstr>
      <vt:lpstr>A Hospital with a Vision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Newly Decorated Conference 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Background History of Chowgacha Health Complex Model, Jessore</vt:lpstr>
      <vt:lpstr>Background History Contd.</vt:lpstr>
      <vt:lpstr>PowerPoint Presentation</vt:lpstr>
      <vt:lpstr>Upazila Health  Complex CHOWGACHA , JESSORE.</vt:lpstr>
      <vt:lpstr>Upazila Health  Complex CHOWGACHA , JESSORE.</vt:lpstr>
      <vt:lpstr>PowerPoint Presentation</vt:lpstr>
      <vt:lpstr>Comparative Data of Delivery of best performing EOC center of Khulna Division in 2011,2017,2019</vt:lpstr>
      <vt:lpstr>Upazila Health  Complex CHOWGACHA , JESSORE.</vt:lpstr>
      <vt:lpstr>Emergency + Outdoor &amp; Indoor 2011-2020 UHC Chowgacha</vt:lpstr>
      <vt:lpstr>PowerPoint Presentation</vt:lpstr>
      <vt:lpstr>EOC Activities Chowgacha UHC 2011-2020</vt:lpstr>
      <vt:lpstr>Community Participation in Chowgacha UHC</vt:lpstr>
      <vt:lpstr>Upazilla Health  Complex CHOWGACHA , JESSORE.</vt:lpstr>
      <vt:lpstr>PowerPoint Presentation</vt:lpstr>
      <vt:lpstr>ACHIEVEMENTS of CHOWGACHA HEALTH COMPLEX</vt:lpstr>
      <vt:lpstr>100 kh¨v wewkó m`i nvmcvZvj, wSbvB`n</vt:lpstr>
      <vt:lpstr>সদর হাসপাতাল,ঝিনাইদহ </vt:lpstr>
      <vt:lpstr>Challenges of the hospital in 2012</vt:lpstr>
      <vt:lpstr>PowerPoint Presentation</vt:lpstr>
      <vt:lpstr>Emergency + Out Door &amp; Indoor  Service 1998 to 2020</vt:lpstr>
      <vt:lpstr>Operation Service (Major) 2011 to 2020</vt:lpstr>
      <vt:lpstr>PowerPoint Presentation</vt:lpstr>
      <vt:lpstr>Total ANC and Delivery in Jhenaidah District Hospital 2011-2020</vt:lpstr>
      <vt:lpstr>  Comparative data of revenue income (in Taka) from 2015 to 2020 </vt:lpstr>
      <vt:lpstr>Comparative data of 4 best performing EOC Centre of Khulna division 2019</vt:lpstr>
      <vt:lpstr>PowerPoint Presentation</vt:lpstr>
      <vt:lpstr>PowerPoint Presentation</vt:lpstr>
      <vt:lpstr>PowerPoint Presentation</vt:lpstr>
      <vt:lpstr>Changes in EOC Ward</vt:lpstr>
      <vt:lpstr>PowerPoint Presentation</vt:lpstr>
      <vt:lpstr>PowerPoint Presentation</vt:lpstr>
      <vt:lpstr>Use of color code, alignment of picture &amp; continuous big cleaning day</vt:lpstr>
      <vt:lpstr>Use of direction sign, labeling of rooms, clean latrine and waste segregation</vt:lpstr>
      <vt:lpstr>Innovation in Medicine Ward 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Community participation during covid-19 management</vt:lpstr>
      <vt:lpstr>PowerPoint Presentation</vt:lpstr>
      <vt:lpstr>PowerPoint Presentation</vt:lpstr>
      <vt:lpstr>Thank You 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813</cp:revision>
  <cp:lastPrinted>2017-03-18T23:47:54Z</cp:lastPrinted>
  <dcterms:created xsi:type="dcterms:W3CDTF">2013-05-05T09:56:19Z</dcterms:created>
  <dcterms:modified xsi:type="dcterms:W3CDTF">2022-01-31T16:12:32Z</dcterms:modified>
</cp:coreProperties>
</file>