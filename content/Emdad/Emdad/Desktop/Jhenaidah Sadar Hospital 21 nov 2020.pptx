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36"/>
  </p:notesMasterIdLst>
  <p:sldIdLst>
    <p:sldId id="385" r:id="rId2"/>
    <p:sldId id="379" r:id="rId3"/>
    <p:sldId id="419" r:id="rId4"/>
    <p:sldId id="420" r:id="rId5"/>
    <p:sldId id="377" r:id="rId6"/>
    <p:sldId id="375" r:id="rId7"/>
    <p:sldId id="328" r:id="rId8"/>
    <p:sldId id="383" r:id="rId9"/>
    <p:sldId id="381" r:id="rId10"/>
    <p:sldId id="411" r:id="rId11"/>
    <p:sldId id="392" r:id="rId12"/>
    <p:sldId id="412" r:id="rId13"/>
    <p:sldId id="369" r:id="rId14"/>
    <p:sldId id="414" r:id="rId15"/>
    <p:sldId id="287" r:id="rId16"/>
    <p:sldId id="288" r:id="rId17"/>
    <p:sldId id="291" r:id="rId18"/>
    <p:sldId id="308" r:id="rId19"/>
    <p:sldId id="323" r:id="rId20"/>
    <p:sldId id="416" r:id="rId21"/>
    <p:sldId id="418" r:id="rId22"/>
    <p:sldId id="366" r:id="rId23"/>
    <p:sldId id="363" r:id="rId24"/>
    <p:sldId id="364" r:id="rId25"/>
    <p:sldId id="370" r:id="rId26"/>
    <p:sldId id="372" r:id="rId27"/>
    <p:sldId id="371" r:id="rId28"/>
    <p:sldId id="297" r:id="rId29"/>
    <p:sldId id="293" r:id="rId30"/>
    <p:sldId id="401" r:id="rId31"/>
    <p:sldId id="405" r:id="rId32"/>
    <p:sldId id="330" r:id="rId33"/>
    <p:sldId id="415" r:id="rId34"/>
    <p:sldId id="344" r:id="rId3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91846" autoAdjust="0"/>
  </p:normalViewPr>
  <p:slideViewPr>
    <p:cSldViewPr>
      <p:cViewPr>
        <p:scale>
          <a:sx n="70" d="100"/>
          <a:sy n="70" d="100"/>
        </p:scale>
        <p:origin x="-1614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58" y="1105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3.jpeg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5.jpe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image" Target="../media/image6.jpeg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image" Target="../media/image3.jpeg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image" Target="../media/image8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2224000"/>
        <c:axId val="40703104"/>
      </c:barChart>
      <c:catAx>
        <c:axId val="122224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40703104"/>
        <c:crosses val="autoZero"/>
        <c:auto val="1"/>
        <c:lblAlgn val="ctr"/>
        <c:lblOffset val="100"/>
        <c:noMultiLvlLbl val="0"/>
      </c:catAx>
      <c:valAx>
        <c:axId val="4070310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22240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1737600"/>
        <c:axId val="121739136"/>
      </c:barChart>
      <c:catAx>
        <c:axId val="1217376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1739136"/>
        <c:crosses val="autoZero"/>
        <c:auto val="1"/>
        <c:lblAlgn val="ctr"/>
        <c:lblOffset val="100"/>
        <c:noMultiLvlLbl val="0"/>
      </c:catAx>
      <c:valAx>
        <c:axId val="1217391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17376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  <c:pt idx="8">
                  <c:v>1496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22769792"/>
        <c:axId val="122771328"/>
        <c:axId val="0"/>
      </c:bar3DChart>
      <c:catAx>
        <c:axId val="12276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2771328"/>
        <c:crosses val="autoZero"/>
        <c:auto val="1"/>
        <c:lblAlgn val="ctr"/>
        <c:lblOffset val="100"/>
        <c:noMultiLvlLbl val="0"/>
      </c:catAx>
      <c:valAx>
        <c:axId val="1227713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27697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6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  <c:pt idx="4">
                  <c:v>1028</c:v>
                </c:pt>
                <c:pt idx="5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  <c:pt idx="4">
                  <c:v>1535</c:v>
                </c:pt>
                <c:pt idx="5">
                  <c:v>2014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  <c:pt idx="4">
                  <c:v>1029</c:v>
                </c:pt>
                <c:pt idx="5">
                  <c:v>1648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  <c:pt idx="4">
                  <c:v>3592</c:v>
                </c:pt>
                <c:pt idx="5">
                  <c:v>4662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1768192"/>
        <c:axId val="121774080"/>
      </c:barChart>
      <c:catAx>
        <c:axId val="121768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1774080"/>
        <c:crosses val="autoZero"/>
        <c:auto val="1"/>
        <c:lblAlgn val="ctr"/>
        <c:lblOffset val="100"/>
        <c:noMultiLvlLbl val="0"/>
      </c:catAx>
      <c:valAx>
        <c:axId val="1217740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1768192"/>
        <c:crosses val="autoZero"/>
        <c:crossBetween val="between"/>
      </c:valAx>
    </c:plotArea>
    <c:legend>
      <c:legendPos val="r"/>
      <c:legendEntry>
        <c:idx val="1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ayout>
        <c:manualLayout>
          <c:xMode val="edge"/>
          <c:yMode val="edge"/>
          <c:x val="0.83649142456331094"/>
          <c:y val="0.11661286726738625"/>
          <c:w val="0.16350857543669114"/>
          <c:h val="0.40693306595745965"/>
        </c:manualLayout>
      </c:layout>
      <c:overlay val="0"/>
      <c:txPr>
        <a:bodyPr/>
        <a:lstStyle/>
        <a:p>
          <a:pPr>
            <a:defRPr sz="16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1863168"/>
        <c:axId val="121864960"/>
      </c:barChart>
      <c:catAx>
        <c:axId val="121863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1864960"/>
        <c:crosses val="autoZero"/>
        <c:auto val="1"/>
        <c:lblAlgn val="ctr"/>
        <c:lblOffset val="100"/>
        <c:noMultiLvlLbl val="0"/>
      </c:catAx>
      <c:valAx>
        <c:axId val="1218649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186316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22868864"/>
        <c:axId val="122870400"/>
        <c:axId val="122789376"/>
      </c:bar3DChart>
      <c:catAx>
        <c:axId val="122868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22870400"/>
        <c:crosses val="autoZero"/>
        <c:auto val="1"/>
        <c:lblAlgn val="ctr"/>
        <c:lblOffset val="100"/>
        <c:noMultiLvlLbl val="0"/>
      </c:catAx>
      <c:valAx>
        <c:axId val="12287040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22868864"/>
        <c:crosses val="autoZero"/>
        <c:crossBetween val="between"/>
      </c:valAx>
      <c:serAx>
        <c:axId val="122789376"/>
        <c:scaling>
          <c:orientation val="minMax"/>
        </c:scaling>
        <c:delete val="1"/>
        <c:axPos val="b"/>
        <c:majorTickMark val="out"/>
        <c:minorTickMark val="none"/>
        <c:tickLblPos val="nextTo"/>
        <c:crossAx val="122870400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21154-DD83-45F1-A0A6-59611F8D3B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9751C-3B62-4B33-81E9-C11B694D9446}">
      <dgm:prSet/>
      <dgm:spPr/>
      <dgm:t>
        <a:bodyPr/>
        <a:lstStyle/>
        <a:p>
          <a:pPr rtl="0"/>
          <a:r>
            <a:rPr lang="en-GB" dirty="0" smtClean="0"/>
            <a:t>Central oxygen system 	- 1</a:t>
          </a:r>
          <a:endParaRPr lang="en-GB" dirty="0"/>
        </a:p>
      </dgm:t>
    </dgm:pt>
    <dgm:pt modelId="{9B18A42C-0BA2-41CC-BAE1-B8A7E351EFFF}" type="parTrans" cxnId="{62419439-C95E-4013-B6C7-5500B1C5694B}">
      <dgm:prSet/>
      <dgm:spPr/>
      <dgm:t>
        <a:bodyPr/>
        <a:lstStyle/>
        <a:p>
          <a:endParaRPr lang="en-GB"/>
        </a:p>
      </dgm:t>
    </dgm:pt>
    <dgm:pt modelId="{443683C2-1AE6-4A81-954A-430C3F3E2BBF}" type="sibTrans" cxnId="{62419439-C95E-4013-B6C7-5500B1C5694B}">
      <dgm:prSet/>
      <dgm:spPr/>
      <dgm:t>
        <a:bodyPr/>
        <a:lstStyle/>
        <a:p>
          <a:endParaRPr lang="en-GB"/>
        </a:p>
      </dgm:t>
    </dgm:pt>
    <dgm:pt modelId="{64DC4C56-D733-4353-AC4A-B55F22024702}">
      <dgm:prSet/>
      <dgm:spPr/>
      <dgm:t>
        <a:bodyPr/>
        <a:lstStyle/>
        <a:p>
          <a:pPr rtl="0"/>
          <a:r>
            <a:rPr lang="en-GB" dirty="0" smtClean="0"/>
            <a:t>High flow nasal cannula	- 5</a:t>
          </a:r>
          <a:endParaRPr lang="en-GB" dirty="0"/>
        </a:p>
      </dgm:t>
    </dgm:pt>
    <dgm:pt modelId="{94CF4D94-4818-47AB-A823-23F05697EF76}" type="parTrans" cxnId="{1C21FFBF-CD23-4AD6-BC05-5B0C85A96AB1}">
      <dgm:prSet/>
      <dgm:spPr/>
      <dgm:t>
        <a:bodyPr/>
        <a:lstStyle/>
        <a:p>
          <a:endParaRPr lang="en-GB"/>
        </a:p>
      </dgm:t>
    </dgm:pt>
    <dgm:pt modelId="{22EE8EEA-169C-4E6C-B0C9-DB93B9C4DD7E}" type="sibTrans" cxnId="{1C21FFBF-CD23-4AD6-BC05-5B0C85A96AB1}">
      <dgm:prSet/>
      <dgm:spPr/>
      <dgm:t>
        <a:bodyPr/>
        <a:lstStyle/>
        <a:p>
          <a:endParaRPr lang="en-GB"/>
        </a:p>
      </dgm:t>
    </dgm:pt>
    <dgm:pt modelId="{E72DC5B8-FF43-4864-9B3D-4D5C1B7EED89}">
      <dgm:prSet/>
      <dgm:spPr/>
      <dgm:t>
        <a:bodyPr/>
        <a:lstStyle/>
        <a:p>
          <a:pPr rtl="0"/>
          <a:r>
            <a:rPr lang="en-GB" dirty="0" smtClean="0"/>
            <a:t>Oxygen concentrator	- 3</a:t>
          </a:r>
          <a:endParaRPr lang="en-GB" dirty="0"/>
        </a:p>
      </dgm:t>
    </dgm:pt>
    <dgm:pt modelId="{60AC6C80-5308-42B7-8CAB-57F51CF8DC3B}" type="parTrans" cxnId="{5259394A-7032-4B5C-BF39-A634876A54AF}">
      <dgm:prSet/>
      <dgm:spPr/>
      <dgm:t>
        <a:bodyPr/>
        <a:lstStyle/>
        <a:p>
          <a:endParaRPr lang="en-GB"/>
        </a:p>
      </dgm:t>
    </dgm:pt>
    <dgm:pt modelId="{42A4E20B-61DC-4E71-B5AF-2DC120041BD5}" type="sibTrans" cxnId="{5259394A-7032-4B5C-BF39-A634876A54AF}">
      <dgm:prSet/>
      <dgm:spPr/>
      <dgm:t>
        <a:bodyPr/>
        <a:lstStyle/>
        <a:p>
          <a:endParaRPr lang="en-GB"/>
        </a:p>
      </dgm:t>
    </dgm:pt>
    <dgm:pt modelId="{7DD33E70-A5C1-4937-BEC7-5E7B423E1466}">
      <dgm:prSet/>
      <dgm:spPr/>
      <dgm:t>
        <a:bodyPr/>
        <a:lstStyle/>
        <a:p>
          <a:pPr rtl="0"/>
          <a:r>
            <a:rPr lang="en-GB" smtClean="0"/>
            <a:t>Large oxygen cylinder	- 48 </a:t>
          </a:r>
          <a:endParaRPr lang="en-GB"/>
        </a:p>
      </dgm:t>
    </dgm:pt>
    <dgm:pt modelId="{F23E8BF4-6635-4CE1-B4D1-75836B6E3820}" type="parTrans" cxnId="{D6F0057D-13F8-4622-B4BF-12290B61476E}">
      <dgm:prSet/>
      <dgm:spPr/>
      <dgm:t>
        <a:bodyPr/>
        <a:lstStyle/>
        <a:p>
          <a:endParaRPr lang="en-GB"/>
        </a:p>
      </dgm:t>
    </dgm:pt>
    <dgm:pt modelId="{BCA29651-9E81-4C0B-AF05-D9A7DCFBD21B}" type="sibTrans" cxnId="{D6F0057D-13F8-4622-B4BF-12290B61476E}">
      <dgm:prSet/>
      <dgm:spPr/>
      <dgm:t>
        <a:bodyPr/>
        <a:lstStyle/>
        <a:p>
          <a:endParaRPr lang="en-GB"/>
        </a:p>
      </dgm:t>
    </dgm:pt>
    <dgm:pt modelId="{A7355A04-39B4-4540-B677-910EA43D0274}">
      <dgm:prSet/>
      <dgm:spPr/>
      <dgm:t>
        <a:bodyPr/>
        <a:lstStyle/>
        <a:p>
          <a:pPr rtl="0"/>
          <a:r>
            <a:rPr lang="en-GB" smtClean="0"/>
            <a:t>C-PAP machine		- 1</a:t>
          </a:r>
          <a:endParaRPr lang="en-GB"/>
        </a:p>
      </dgm:t>
    </dgm:pt>
    <dgm:pt modelId="{28BD80BD-2CD1-4232-AA94-CC254F351732}" type="parTrans" cxnId="{6CEEB0CF-E32C-4283-9DF0-F7A284838672}">
      <dgm:prSet/>
      <dgm:spPr/>
      <dgm:t>
        <a:bodyPr/>
        <a:lstStyle/>
        <a:p>
          <a:endParaRPr lang="en-GB"/>
        </a:p>
      </dgm:t>
    </dgm:pt>
    <dgm:pt modelId="{4060D010-324E-41D9-8B8F-14000C1D486F}" type="sibTrans" cxnId="{6CEEB0CF-E32C-4283-9DF0-F7A284838672}">
      <dgm:prSet/>
      <dgm:spPr/>
      <dgm:t>
        <a:bodyPr/>
        <a:lstStyle/>
        <a:p>
          <a:endParaRPr lang="en-GB"/>
        </a:p>
      </dgm:t>
    </dgm:pt>
    <dgm:pt modelId="{65BCF39B-F011-41D6-A1FA-228244CE055A}">
      <dgm:prSet/>
      <dgm:spPr/>
      <dgm:t>
        <a:bodyPr/>
        <a:lstStyle/>
        <a:p>
          <a:pPr rtl="0"/>
          <a:r>
            <a:rPr lang="en-GB" dirty="0" smtClean="0"/>
            <a:t>Pick-up </a:t>
          </a:r>
          <a:r>
            <a:rPr lang="en-GB" dirty="0" err="1" smtClean="0"/>
            <a:t>caverd</a:t>
          </a:r>
          <a:r>
            <a:rPr lang="en-GB" dirty="0" smtClean="0"/>
            <a:t> van	- 1</a:t>
          </a:r>
          <a:endParaRPr lang="en-GB" dirty="0"/>
        </a:p>
      </dgm:t>
    </dgm:pt>
    <dgm:pt modelId="{EBBDA495-D9FA-4A07-AB7C-7A8E4E6778F2}" type="parTrans" cxnId="{932C2C0E-B530-4391-958A-0FAA2E10CDA1}">
      <dgm:prSet/>
      <dgm:spPr/>
      <dgm:t>
        <a:bodyPr/>
        <a:lstStyle/>
        <a:p>
          <a:endParaRPr lang="en-GB"/>
        </a:p>
      </dgm:t>
    </dgm:pt>
    <dgm:pt modelId="{7A4617D4-940A-482D-B3B9-37EF771E04AD}" type="sibTrans" cxnId="{932C2C0E-B530-4391-958A-0FAA2E10CDA1}">
      <dgm:prSet/>
      <dgm:spPr/>
      <dgm:t>
        <a:bodyPr/>
        <a:lstStyle/>
        <a:p>
          <a:endParaRPr lang="en-GB"/>
        </a:p>
      </dgm:t>
    </dgm:pt>
    <dgm:pt modelId="{8FEB2AA0-3F4F-423C-AD91-5B9785EE46C4}" type="pres">
      <dgm:prSet presAssocID="{D2121154-DD83-45F1-A0A6-59611F8D3BD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E2622F9-F07C-4B23-BC93-E0F03E146D01}" type="pres">
      <dgm:prSet presAssocID="{4FB9751C-3B62-4B33-81E9-C11B694D9446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22F2F0-9A12-494F-BE7C-65E95988AA28}" type="pres">
      <dgm:prSet presAssocID="{443683C2-1AE6-4A81-954A-430C3F3E2BBF}" presName="spacer" presStyleCnt="0"/>
      <dgm:spPr/>
    </dgm:pt>
    <dgm:pt modelId="{336BD10C-9BB5-469F-8BD4-A3494E0C75E9}" type="pres">
      <dgm:prSet presAssocID="{64DC4C56-D733-4353-AC4A-B55F22024702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24B8033-A930-4A9F-B82E-3557B060E25F}" type="pres">
      <dgm:prSet presAssocID="{22EE8EEA-169C-4E6C-B0C9-DB93B9C4DD7E}" presName="spacer" presStyleCnt="0"/>
      <dgm:spPr/>
    </dgm:pt>
    <dgm:pt modelId="{A893A7A7-CC28-4404-AD1A-6638F1AA5451}" type="pres">
      <dgm:prSet presAssocID="{E72DC5B8-FF43-4864-9B3D-4D5C1B7EED89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14B8B32-0DAE-4CF1-8EC1-BCC1541F7B61}" type="pres">
      <dgm:prSet presAssocID="{42A4E20B-61DC-4E71-B5AF-2DC120041BD5}" presName="spacer" presStyleCnt="0"/>
      <dgm:spPr/>
    </dgm:pt>
    <dgm:pt modelId="{CD71DDF5-A775-4A4F-B429-2F449530DD1D}" type="pres">
      <dgm:prSet presAssocID="{7DD33E70-A5C1-4937-BEC7-5E7B423E1466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2A511F5-86EF-44B9-976B-BE435FBA14C1}" type="pres">
      <dgm:prSet presAssocID="{BCA29651-9E81-4C0B-AF05-D9A7DCFBD21B}" presName="spacer" presStyleCnt="0"/>
      <dgm:spPr/>
    </dgm:pt>
    <dgm:pt modelId="{DD6FDA14-5D81-4D91-815D-EF411B6DA3BB}" type="pres">
      <dgm:prSet presAssocID="{A7355A04-39B4-4540-B677-910EA43D0274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38473C0-9027-4523-83A9-D05A403B38F5}" type="pres">
      <dgm:prSet presAssocID="{4060D010-324E-41D9-8B8F-14000C1D486F}" presName="spacer" presStyleCnt="0"/>
      <dgm:spPr/>
    </dgm:pt>
    <dgm:pt modelId="{6325200D-4401-4F68-8132-B7BA410A12E6}" type="pres">
      <dgm:prSet presAssocID="{65BCF39B-F011-41D6-A1FA-228244CE055A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932C2C0E-B530-4391-958A-0FAA2E10CDA1}" srcId="{D2121154-DD83-45F1-A0A6-59611F8D3BD3}" destId="{65BCF39B-F011-41D6-A1FA-228244CE055A}" srcOrd="5" destOrd="0" parTransId="{EBBDA495-D9FA-4A07-AB7C-7A8E4E6778F2}" sibTransId="{7A4617D4-940A-482D-B3B9-37EF771E04AD}"/>
    <dgm:cxn modelId="{5259394A-7032-4B5C-BF39-A634876A54AF}" srcId="{D2121154-DD83-45F1-A0A6-59611F8D3BD3}" destId="{E72DC5B8-FF43-4864-9B3D-4D5C1B7EED89}" srcOrd="2" destOrd="0" parTransId="{60AC6C80-5308-42B7-8CAB-57F51CF8DC3B}" sibTransId="{42A4E20B-61DC-4E71-B5AF-2DC120041BD5}"/>
    <dgm:cxn modelId="{D6F0057D-13F8-4622-B4BF-12290B61476E}" srcId="{D2121154-DD83-45F1-A0A6-59611F8D3BD3}" destId="{7DD33E70-A5C1-4937-BEC7-5E7B423E1466}" srcOrd="3" destOrd="0" parTransId="{F23E8BF4-6635-4CE1-B4D1-75836B6E3820}" sibTransId="{BCA29651-9E81-4C0B-AF05-D9A7DCFBD21B}"/>
    <dgm:cxn modelId="{62419439-C95E-4013-B6C7-5500B1C5694B}" srcId="{D2121154-DD83-45F1-A0A6-59611F8D3BD3}" destId="{4FB9751C-3B62-4B33-81E9-C11B694D9446}" srcOrd="0" destOrd="0" parTransId="{9B18A42C-0BA2-41CC-BAE1-B8A7E351EFFF}" sibTransId="{443683C2-1AE6-4A81-954A-430C3F3E2BBF}"/>
    <dgm:cxn modelId="{70957FDF-E2F0-4CD6-B609-744C73881C9A}" type="presOf" srcId="{64DC4C56-D733-4353-AC4A-B55F22024702}" destId="{336BD10C-9BB5-469F-8BD4-A3494E0C75E9}" srcOrd="0" destOrd="0" presId="urn:microsoft.com/office/officeart/2005/8/layout/vList2"/>
    <dgm:cxn modelId="{1C21FFBF-CD23-4AD6-BC05-5B0C85A96AB1}" srcId="{D2121154-DD83-45F1-A0A6-59611F8D3BD3}" destId="{64DC4C56-D733-4353-AC4A-B55F22024702}" srcOrd="1" destOrd="0" parTransId="{94CF4D94-4818-47AB-A823-23F05697EF76}" sibTransId="{22EE8EEA-169C-4E6C-B0C9-DB93B9C4DD7E}"/>
    <dgm:cxn modelId="{12176390-5032-4B2D-948D-98A3D3DDF0E7}" type="presOf" srcId="{7DD33E70-A5C1-4937-BEC7-5E7B423E1466}" destId="{CD71DDF5-A775-4A4F-B429-2F449530DD1D}" srcOrd="0" destOrd="0" presId="urn:microsoft.com/office/officeart/2005/8/layout/vList2"/>
    <dgm:cxn modelId="{6CEEB0CF-E32C-4283-9DF0-F7A284838672}" srcId="{D2121154-DD83-45F1-A0A6-59611F8D3BD3}" destId="{A7355A04-39B4-4540-B677-910EA43D0274}" srcOrd="4" destOrd="0" parTransId="{28BD80BD-2CD1-4232-AA94-CC254F351732}" sibTransId="{4060D010-324E-41D9-8B8F-14000C1D486F}"/>
    <dgm:cxn modelId="{07AB95DA-426D-49AF-B8F0-BB93A51EC17C}" type="presOf" srcId="{A7355A04-39B4-4540-B677-910EA43D0274}" destId="{DD6FDA14-5D81-4D91-815D-EF411B6DA3BB}" srcOrd="0" destOrd="0" presId="urn:microsoft.com/office/officeart/2005/8/layout/vList2"/>
    <dgm:cxn modelId="{C6B70F0D-D991-4F23-B3ED-CA085642F39A}" type="presOf" srcId="{E72DC5B8-FF43-4864-9B3D-4D5C1B7EED89}" destId="{A893A7A7-CC28-4404-AD1A-6638F1AA5451}" srcOrd="0" destOrd="0" presId="urn:microsoft.com/office/officeart/2005/8/layout/vList2"/>
    <dgm:cxn modelId="{A27635C4-06F5-46C3-8571-556DC641687D}" type="presOf" srcId="{D2121154-DD83-45F1-A0A6-59611F8D3BD3}" destId="{8FEB2AA0-3F4F-423C-AD91-5B9785EE46C4}" srcOrd="0" destOrd="0" presId="urn:microsoft.com/office/officeart/2005/8/layout/vList2"/>
    <dgm:cxn modelId="{0990D07C-AA34-45DC-B6B6-F0315F264DE0}" type="presOf" srcId="{65BCF39B-F011-41D6-A1FA-228244CE055A}" destId="{6325200D-4401-4F68-8132-B7BA410A12E6}" srcOrd="0" destOrd="0" presId="urn:microsoft.com/office/officeart/2005/8/layout/vList2"/>
    <dgm:cxn modelId="{373FCE52-73B9-49B0-A601-FC538D901F71}" type="presOf" srcId="{4FB9751C-3B62-4B33-81E9-C11B694D9446}" destId="{CE2622F9-F07C-4B23-BC93-E0F03E146D01}" srcOrd="0" destOrd="0" presId="urn:microsoft.com/office/officeart/2005/8/layout/vList2"/>
    <dgm:cxn modelId="{F99E9DE0-D70D-45AC-8ADF-E35B5106A0C9}" type="presParOf" srcId="{8FEB2AA0-3F4F-423C-AD91-5B9785EE46C4}" destId="{CE2622F9-F07C-4B23-BC93-E0F03E146D01}" srcOrd="0" destOrd="0" presId="urn:microsoft.com/office/officeart/2005/8/layout/vList2"/>
    <dgm:cxn modelId="{3595AB8A-97E4-4E46-8673-7AC717F8D9C6}" type="presParOf" srcId="{8FEB2AA0-3F4F-423C-AD91-5B9785EE46C4}" destId="{5422F2F0-9A12-494F-BE7C-65E95988AA28}" srcOrd="1" destOrd="0" presId="urn:microsoft.com/office/officeart/2005/8/layout/vList2"/>
    <dgm:cxn modelId="{343D90CF-8A07-4BB9-A763-8FE7504F6591}" type="presParOf" srcId="{8FEB2AA0-3F4F-423C-AD91-5B9785EE46C4}" destId="{336BD10C-9BB5-469F-8BD4-A3494E0C75E9}" srcOrd="2" destOrd="0" presId="urn:microsoft.com/office/officeart/2005/8/layout/vList2"/>
    <dgm:cxn modelId="{9B6927FF-1922-4AAA-80CA-883B4E07FE2A}" type="presParOf" srcId="{8FEB2AA0-3F4F-423C-AD91-5B9785EE46C4}" destId="{424B8033-A930-4A9F-B82E-3557B060E25F}" srcOrd="3" destOrd="0" presId="urn:microsoft.com/office/officeart/2005/8/layout/vList2"/>
    <dgm:cxn modelId="{D46AFF8A-B758-4642-B835-B05F0CC0D3D6}" type="presParOf" srcId="{8FEB2AA0-3F4F-423C-AD91-5B9785EE46C4}" destId="{A893A7A7-CC28-4404-AD1A-6638F1AA5451}" srcOrd="4" destOrd="0" presId="urn:microsoft.com/office/officeart/2005/8/layout/vList2"/>
    <dgm:cxn modelId="{23A2C807-2BB5-4B0F-B85A-F1E8C6C3E4DE}" type="presParOf" srcId="{8FEB2AA0-3F4F-423C-AD91-5B9785EE46C4}" destId="{E14B8B32-0DAE-4CF1-8EC1-BCC1541F7B61}" srcOrd="5" destOrd="0" presId="urn:microsoft.com/office/officeart/2005/8/layout/vList2"/>
    <dgm:cxn modelId="{3F3F7C00-935B-4A6B-A8C6-1793C881F6B2}" type="presParOf" srcId="{8FEB2AA0-3F4F-423C-AD91-5B9785EE46C4}" destId="{CD71DDF5-A775-4A4F-B429-2F449530DD1D}" srcOrd="6" destOrd="0" presId="urn:microsoft.com/office/officeart/2005/8/layout/vList2"/>
    <dgm:cxn modelId="{DAB80BA0-9BF6-4273-9026-48DB621BFE55}" type="presParOf" srcId="{8FEB2AA0-3F4F-423C-AD91-5B9785EE46C4}" destId="{D2A511F5-86EF-44B9-976B-BE435FBA14C1}" srcOrd="7" destOrd="0" presId="urn:microsoft.com/office/officeart/2005/8/layout/vList2"/>
    <dgm:cxn modelId="{EBF75664-93DB-42CF-91E2-FE7C25F65C86}" type="presParOf" srcId="{8FEB2AA0-3F4F-423C-AD91-5B9785EE46C4}" destId="{DD6FDA14-5D81-4D91-815D-EF411B6DA3BB}" srcOrd="8" destOrd="0" presId="urn:microsoft.com/office/officeart/2005/8/layout/vList2"/>
    <dgm:cxn modelId="{8FFCFBC3-2EAE-4501-8559-9F6F3FF7AEF1}" type="presParOf" srcId="{8FEB2AA0-3F4F-423C-AD91-5B9785EE46C4}" destId="{738473C0-9027-4523-83A9-D05A403B38F5}" srcOrd="9" destOrd="0" presId="urn:microsoft.com/office/officeart/2005/8/layout/vList2"/>
    <dgm:cxn modelId="{C11046FF-2215-4CCC-A511-C995391826B5}" type="presParOf" srcId="{8FEB2AA0-3F4F-423C-AD91-5B9785EE46C4}" destId="{6325200D-4401-4F68-8132-B7BA410A12E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D80E6-6809-4689-8355-F701AC128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ADC0028-4587-4C12-AA1F-B3FE2A794B1F}">
      <dgm:prSet/>
      <dgm:spPr/>
      <dgm:t>
        <a:bodyPr/>
        <a:lstStyle/>
        <a:p>
          <a:pPr rtl="0"/>
          <a:r>
            <a:rPr lang="en-GB" smtClean="0"/>
            <a:t>Prime minister’s relief fund.</a:t>
          </a:r>
          <a:endParaRPr lang="en-GB"/>
        </a:p>
      </dgm:t>
    </dgm:pt>
    <dgm:pt modelId="{E19D67D5-7399-49ED-A7B2-9C91EE799442}" type="parTrans" cxnId="{4B3FD876-976C-4D1F-9A0A-DC02CC469A5D}">
      <dgm:prSet/>
      <dgm:spPr/>
      <dgm:t>
        <a:bodyPr/>
        <a:lstStyle/>
        <a:p>
          <a:endParaRPr lang="en-GB"/>
        </a:p>
      </dgm:t>
    </dgm:pt>
    <dgm:pt modelId="{82C1AC1D-23BE-437F-9111-5EAFCF5A8265}" type="sibTrans" cxnId="{4B3FD876-976C-4D1F-9A0A-DC02CC469A5D}">
      <dgm:prSet/>
      <dgm:spPr/>
      <dgm:t>
        <a:bodyPr/>
        <a:lstStyle/>
        <a:p>
          <a:endParaRPr lang="en-GB"/>
        </a:p>
      </dgm:t>
    </dgm:pt>
    <dgm:pt modelId="{C7F08E02-3120-4CA8-A96A-519ADF4B41D8}">
      <dgm:prSet/>
      <dgm:spPr/>
      <dgm:t>
        <a:bodyPr/>
        <a:lstStyle/>
        <a:p>
          <a:pPr rtl="0"/>
          <a:r>
            <a:rPr lang="en-GB" smtClean="0"/>
            <a:t>MP, Jhenaidah-2.</a:t>
          </a:r>
          <a:endParaRPr lang="en-GB"/>
        </a:p>
      </dgm:t>
    </dgm:pt>
    <dgm:pt modelId="{BB701834-38DE-4D50-9138-BE36B0AF13DF}" type="parTrans" cxnId="{C683CF76-4F5A-4BD5-B3CF-99F9F4583627}">
      <dgm:prSet/>
      <dgm:spPr/>
      <dgm:t>
        <a:bodyPr/>
        <a:lstStyle/>
        <a:p>
          <a:endParaRPr lang="en-GB"/>
        </a:p>
      </dgm:t>
    </dgm:pt>
    <dgm:pt modelId="{0E880F49-9502-4518-9AFB-CD8A2E5B7765}" type="sibTrans" cxnId="{C683CF76-4F5A-4BD5-B3CF-99F9F4583627}">
      <dgm:prSet/>
      <dgm:spPr/>
      <dgm:t>
        <a:bodyPr/>
        <a:lstStyle/>
        <a:p>
          <a:endParaRPr lang="en-GB"/>
        </a:p>
      </dgm:t>
    </dgm:pt>
    <dgm:pt modelId="{5AD6B90F-9083-408E-A794-2991B86BCF5D}">
      <dgm:prSet/>
      <dgm:spPr/>
      <dgm:t>
        <a:bodyPr/>
        <a:lstStyle/>
        <a:p>
          <a:pPr rtl="0"/>
          <a:r>
            <a:rPr lang="en-GB" dirty="0" smtClean="0"/>
            <a:t>Mayor, </a:t>
          </a:r>
          <a:r>
            <a:rPr lang="en-GB" dirty="0" err="1" smtClean="0"/>
            <a:t>Jhenaidah</a:t>
          </a:r>
          <a:r>
            <a:rPr lang="en-GB" dirty="0" smtClean="0"/>
            <a:t> </a:t>
          </a:r>
          <a:r>
            <a:rPr lang="en-GB" dirty="0" err="1" smtClean="0"/>
            <a:t>pourosova</a:t>
          </a:r>
          <a:r>
            <a:rPr lang="en-GB" dirty="0" smtClean="0"/>
            <a:t>.</a:t>
          </a:r>
          <a:endParaRPr lang="en-GB" dirty="0"/>
        </a:p>
      </dgm:t>
    </dgm:pt>
    <dgm:pt modelId="{577E4D54-DCA5-4A0B-9949-71EA6EB100C7}" type="parTrans" cxnId="{9869E879-9D20-4E3A-88E6-F824C3755487}">
      <dgm:prSet/>
      <dgm:spPr/>
      <dgm:t>
        <a:bodyPr/>
        <a:lstStyle/>
        <a:p>
          <a:endParaRPr lang="en-GB"/>
        </a:p>
      </dgm:t>
    </dgm:pt>
    <dgm:pt modelId="{7A0C1DEE-6724-4C3E-AE5C-E612B1393D4E}" type="sibTrans" cxnId="{9869E879-9D20-4E3A-88E6-F824C3755487}">
      <dgm:prSet/>
      <dgm:spPr/>
      <dgm:t>
        <a:bodyPr/>
        <a:lstStyle/>
        <a:p>
          <a:endParaRPr lang="en-GB"/>
        </a:p>
      </dgm:t>
    </dgm:pt>
    <dgm:pt modelId="{3FEE24C6-CE85-45B8-850E-D4EE6860F9D3}">
      <dgm:prSet/>
      <dgm:spPr/>
      <dgm:t>
        <a:bodyPr/>
        <a:lstStyle/>
        <a:p>
          <a:pPr rtl="0"/>
          <a:r>
            <a:rPr lang="en-GB" smtClean="0"/>
            <a:t>Jaheedi Foundation.</a:t>
          </a:r>
          <a:endParaRPr lang="en-GB"/>
        </a:p>
      </dgm:t>
    </dgm:pt>
    <dgm:pt modelId="{7C0C76C5-C115-4C2D-95CE-FA5D79831362}" type="parTrans" cxnId="{2E4F4598-2F9B-4133-A67F-97FF67AC1EBE}">
      <dgm:prSet/>
      <dgm:spPr/>
      <dgm:t>
        <a:bodyPr/>
        <a:lstStyle/>
        <a:p>
          <a:endParaRPr lang="en-GB"/>
        </a:p>
      </dgm:t>
    </dgm:pt>
    <dgm:pt modelId="{29A33AD3-BD5D-4782-B1F2-0C3D712012DE}" type="sibTrans" cxnId="{2E4F4598-2F9B-4133-A67F-97FF67AC1EBE}">
      <dgm:prSet/>
      <dgm:spPr/>
      <dgm:t>
        <a:bodyPr/>
        <a:lstStyle/>
        <a:p>
          <a:endParaRPr lang="en-GB"/>
        </a:p>
      </dgm:t>
    </dgm:pt>
    <dgm:pt modelId="{26F90953-42C6-43BF-A499-FBB77A723DD6}">
      <dgm:prSet/>
      <dgm:spPr/>
      <dgm:t>
        <a:bodyPr/>
        <a:lstStyle/>
        <a:p>
          <a:pPr rtl="0"/>
          <a:r>
            <a:rPr lang="en-GB" smtClean="0"/>
            <a:t>Navana group.</a:t>
          </a:r>
          <a:endParaRPr lang="en-GB"/>
        </a:p>
      </dgm:t>
    </dgm:pt>
    <dgm:pt modelId="{CC2B5356-6A02-4CC1-9B7F-99E5A93503D3}" type="parTrans" cxnId="{3B23A490-8A96-483B-ACD5-66CD6701BE45}">
      <dgm:prSet/>
      <dgm:spPr/>
      <dgm:t>
        <a:bodyPr/>
        <a:lstStyle/>
        <a:p>
          <a:endParaRPr lang="en-GB"/>
        </a:p>
      </dgm:t>
    </dgm:pt>
    <dgm:pt modelId="{50511D2C-A017-43E8-879B-2BED343D6967}" type="sibTrans" cxnId="{3B23A490-8A96-483B-ACD5-66CD6701BE45}">
      <dgm:prSet/>
      <dgm:spPr/>
      <dgm:t>
        <a:bodyPr/>
        <a:lstStyle/>
        <a:p>
          <a:endParaRPr lang="en-GB"/>
        </a:p>
      </dgm:t>
    </dgm:pt>
    <dgm:pt modelId="{8DEF001F-9526-425D-A304-364FD2A32D09}" type="pres">
      <dgm:prSet presAssocID="{E5ED80E6-6809-4689-8355-F701AC12805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F322EB3B-4393-4F62-9896-6CAC1D8C7C9F}" type="pres">
      <dgm:prSet presAssocID="{6ADC0028-4587-4C12-AA1F-B3FE2A794B1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0E5320E-11AB-43A7-9D24-5AB88107839E}" type="pres">
      <dgm:prSet presAssocID="{82C1AC1D-23BE-437F-9111-5EAFCF5A8265}" presName="spacer" presStyleCnt="0"/>
      <dgm:spPr/>
    </dgm:pt>
    <dgm:pt modelId="{4957D60D-9A48-45C1-BAC6-F3D37092E3B1}" type="pres">
      <dgm:prSet presAssocID="{C7F08E02-3120-4CA8-A96A-519ADF4B41D8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6280F85-D5B7-45C3-A4D2-BA70B77BB121}" type="pres">
      <dgm:prSet presAssocID="{0E880F49-9502-4518-9AFB-CD8A2E5B7765}" presName="spacer" presStyleCnt="0"/>
      <dgm:spPr/>
    </dgm:pt>
    <dgm:pt modelId="{648756C2-CBEA-4503-B679-343ADD8DA048}" type="pres">
      <dgm:prSet presAssocID="{5AD6B90F-9083-408E-A794-2991B86BCF5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B1360F5-7A90-451C-918B-9DE1897A5330}" type="pres">
      <dgm:prSet presAssocID="{7A0C1DEE-6724-4C3E-AE5C-E612B1393D4E}" presName="spacer" presStyleCnt="0"/>
      <dgm:spPr/>
    </dgm:pt>
    <dgm:pt modelId="{67D1A4F1-4413-4A6E-B170-3E78BE79127C}" type="pres">
      <dgm:prSet presAssocID="{3FEE24C6-CE85-45B8-850E-D4EE6860F9D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3780C74-FC6D-47EF-8E2B-33A4236B1781}" type="pres">
      <dgm:prSet presAssocID="{29A33AD3-BD5D-4782-B1F2-0C3D712012DE}" presName="spacer" presStyleCnt="0"/>
      <dgm:spPr/>
    </dgm:pt>
    <dgm:pt modelId="{CA20AB46-4D56-4B7A-B508-C9C3AA679FFD}" type="pres">
      <dgm:prSet presAssocID="{26F90953-42C6-43BF-A499-FBB77A723DD6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B23A490-8A96-483B-ACD5-66CD6701BE45}" srcId="{E5ED80E6-6809-4689-8355-F701AC128059}" destId="{26F90953-42C6-43BF-A499-FBB77A723DD6}" srcOrd="4" destOrd="0" parTransId="{CC2B5356-6A02-4CC1-9B7F-99E5A93503D3}" sibTransId="{50511D2C-A017-43E8-879B-2BED343D6967}"/>
    <dgm:cxn modelId="{43608C05-F76C-4BC4-808F-58E3AAC2A141}" type="presOf" srcId="{5AD6B90F-9083-408E-A794-2991B86BCF5D}" destId="{648756C2-CBEA-4503-B679-343ADD8DA048}" srcOrd="0" destOrd="0" presId="urn:microsoft.com/office/officeart/2005/8/layout/vList2"/>
    <dgm:cxn modelId="{2E4F4598-2F9B-4133-A67F-97FF67AC1EBE}" srcId="{E5ED80E6-6809-4689-8355-F701AC128059}" destId="{3FEE24C6-CE85-45B8-850E-D4EE6860F9D3}" srcOrd="3" destOrd="0" parTransId="{7C0C76C5-C115-4C2D-95CE-FA5D79831362}" sibTransId="{29A33AD3-BD5D-4782-B1F2-0C3D712012DE}"/>
    <dgm:cxn modelId="{65A7431F-9DA0-46BB-9168-2F44F4CC767C}" type="presOf" srcId="{26F90953-42C6-43BF-A499-FBB77A723DD6}" destId="{CA20AB46-4D56-4B7A-B508-C9C3AA679FFD}" srcOrd="0" destOrd="0" presId="urn:microsoft.com/office/officeart/2005/8/layout/vList2"/>
    <dgm:cxn modelId="{845972D5-FF1F-464E-9CD9-9A302F6CEB2D}" type="presOf" srcId="{C7F08E02-3120-4CA8-A96A-519ADF4B41D8}" destId="{4957D60D-9A48-45C1-BAC6-F3D37092E3B1}" srcOrd="0" destOrd="0" presId="urn:microsoft.com/office/officeart/2005/8/layout/vList2"/>
    <dgm:cxn modelId="{C683CF76-4F5A-4BD5-B3CF-99F9F4583627}" srcId="{E5ED80E6-6809-4689-8355-F701AC128059}" destId="{C7F08E02-3120-4CA8-A96A-519ADF4B41D8}" srcOrd="1" destOrd="0" parTransId="{BB701834-38DE-4D50-9138-BE36B0AF13DF}" sibTransId="{0E880F49-9502-4518-9AFB-CD8A2E5B7765}"/>
    <dgm:cxn modelId="{9869E879-9D20-4E3A-88E6-F824C3755487}" srcId="{E5ED80E6-6809-4689-8355-F701AC128059}" destId="{5AD6B90F-9083-408E-A794-2991B86BCF5D}" srcOrd="2" destOrd="0" parTransId="{577E4D54-DCA5-4A0B-9949-71EA6EB100C7}" sibTransId="{7A0C1DEE-6724-4C3E-AE5C-E612B1393D4E}"/>
    <dgm:cxn modelId="{8DBFDD37-C88B-46AA-9C34-4215E6B03565}" type="presOf" srcId="{3FEE24C6-CE85-45B8-850E-D4EE6860F9D3}" destId="{67D1A4F1-4413-4A6E-B170-3E78BE79127C}" srcOrd="0" destOrd="0" presId="urn:microsoft.com/office/officeart/2005/8/layout/vList2"/>
    <dgm:cxn modelId="{4B3FD876-976C-4D1F-9A0A-DC02CC469A5D}" srcId="{E5ED80E6-6809-4689-8355-F701AC128059}" destId="{6ADC0028-4587-4C12-AA1F-B3FE2A794B1F}" srcOrd="0" destOrd="0" parTransId="{E19D67D5-7399-49ED-A7B2-9C91EE799442}" sibTransId="{82C1AC1D-23BE-437F-9111-5EAFCF5A8265}"/>
    <dgm:cxn modelId="{15AB3E72-8E1A-42C7-A158-AA43911A699E}" type="presOf" srcId="{E5ED80E6-6809-4689-8355-F701AC128059}" destId="{8DEF001F-9526-425D-A304-364FD2A32D09}" srcOrd="0" destOrd="0" presId="urn:microsoft.com/office/officeart/2005/8/layout/vList2"/>
    <dgm:cxn modelId="{EBA1F962-DE1F-4CA0-A704-5B8D17731EBB}" type="presOf" srcId="{6ADC0028-4587-4C12-AA1F-B3FE2A794B1F}" destId="{F322EB3B-4393-4F62-9896-6CAC1D8C7C9F}" srcOrd="0" destOrd="0" presId="urn:microsoft.com/office/officeart/2005/8/layout/vList2"/>
    <dgm:cxn modelId="{CF0C3DDD-B73F-4E55-AE3B-54E16F4843CC}" type="presParOf" srcId="{8DEF001F-9526-425D-A304-364FD2A32D09}" destId="{F322EB3B-4393-4F62-9896-6CAC1D8C7C9F}" srcOrd="0" destOrd="0" presId="urn:microsoft.com/office/officeart/2005/8/layout/vList2"/>
    <dgm:cxn modelId="{23C31C32-BF97-4DED-901F-860C129C4E38}" type="presParOf" srcId="{8DEF001F-9526-425D-A304-364FD2A32D09}" destId="{60E5320E-11AB-43A7-9D24-5AB88107839E}" srcOrd="1" destOrd="0" presId="urn:microsoft.com/office/officeart/2005/8/layout/vList2"/>
    <dgm:cxn modelId="{791F724C-155C-4F3E-8D23-923B3F40FA4C}" type="presParOf" srcId="{8DEF001F-9526-425D-A304-364FD2A32D09}" destId="{4957D60D-9A48-45C1-BAC6-F3D37092E3B1}" srcOrd="2" destOrd="0" presId="urn:microsoft.com/office/officeart/2005/8/layout/vList2"/>
    <dgm:cxn modelId="{1CE2B9C1-5EE7-4513-A2CA-F920C8759861}" type="presParOf" srcId="{8DEF001F-9526-425D-A304-364FD2A32D09}" destId="{16280F85-D5B7-45C3-A4D2-BA70B77BB121}" srcOrd="3" destOrd="0" presId="urn:microsoft.com/office/officeart/2005/8/layout/vList2"/>
    <dgm:cxn modelId="{DC8916F9-5C36-43D2-AA49-0EE4DFF0A206}" type="presParOf" srcId="{8DEF001F-9526-425D-A304-364FD2A32D09}" destId="{648756C2-CBEA-4503-B679-343ADD8DA048}" srcOrd="4" destOrd="0" presId="urn:microsoft.com/office/officeart/2005/8/layout/vList2"/>
    <dgm:cxn modelId="{BDBAD711-9103-449F-8553-8C9B56046EED}" type="presParOf" srcId="{8DEF001F-9526-425D-A304-364FD2A32D09}" destId="{9B1360F5-7A90-451C-918B-9DE1897A5330}" srcOrd="5" destOrd="0" presId="urn:microsoft.com/office/officeart/2005/8/layout/vList2"/>
    <dgm:cxn modelId="{3ABA51A7-8EB2-40D3-8E03-5DBA386ACE52}" type="presParOf" srcId="{8DEF001F-9526-425D-A304-364FD2A32D09}" destId="{67D1A4F1-4413-4A6E-B170-3E78BE79127C}" srcOrd="6" destOrd="0" presId="urn:microsoft.com/office/officeart/2005/8/layout/vList2"/>
    <dgm:cxn modelId="{A19C42B1-0EFB-4C8E-8EFA-02F8E9572AB2}" type="presParOf" srcId="{8DEF001F-9526-425D-A304-364FD2A32D09}" destId="{C3780C74-FC6D-47EF-8E2B-33A4236B1781}" srcOrd="7" destOrd="0" presId="urn:microsoft.com/office/officeart/2005/8/layout/vList2"/>
    <dgm:cxn modelId="{98A7B389-529E-400D-BD18-D3F90A22E2A0}" type="presParOf" srcId="{8DEF001F-9526-425D-A304-364FD2A32D09}" destId="{CA20AB46-4D56-4B7A-B508-C9C3AA679F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6F7FE-2300-4A17-A15B-6A7F7491AD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2E5693D-0EFD-458E-98CF-DCA495A2118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rtl="0"/>
          <a:r>
            <a:rPr lang="en-GB" dirty="0" smtClean="0"/>
            <a:t>Value – Nearly 52 Lac taka </a:t>
          </a:r>
          <a:endParaRPr lang="en-GB" dirty="0"/>
        </a:p>
      </dgm:t>
    </dgm:pt>
    <dgm:pt modelId="{204FC4FA-25E8-412D-8193-19DEFA885865}" type="parTrans" cxnId="{86008C12-7CFE-4652-B54F-3578BBD24D01}">
      <dgm:prSet/>
      <dgm:spPr/>
      <dgm:t>
        <a:bodyPr/>
        <a:lstStyle/>
        <a:p>
          <a:endParaRPr lang="en-GB"/>
        </a:p>
      </dgm:t>
    </dgm:pt>
    <dgm:pt modelId="{C9FCD6DB-3844-458E-97C2-E98846834BC0}" type="sibTrans" cxnId="{86008C12-7CFE-4652-B54F-3578BBD24D01}">
      <dgm:prSet/>
      <dgm:spPr/>
      <dgm:t>
        <a:bodyPr/>
        <a:lstStyle/>
        <a:p>
          <a:endParaRPr lang="en-GB"/>
        </a:p>
      </dgm:t>
    </dgm:pt>
    <dgm:pt modelId="{5EF4972E-4643-43E2-B3AB-113B9B2E4FEA}" type="pres">
      <dgm:prSet presAssocID="{3316F7FE-2300-4A17-A15B-6A7F7491AD5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DA508CE-5441-40F4-BF43-22D7E4368061}" type="pres">
      <dgm:prSet presAssocID="{F2E5693D-0EFD-458E-98CF-DCA495A21184}" presName="parentText" presStyleLbl="node1" presStyleIdx="0" presStyleCnt="1" custLinFactNeighborY="8174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B5A0FD4C-DE4D-4A6B-B0E5-52F7990ED734}" type="presOf" srcId="{3316F7FE-2300-4A17-A15B-6A7F7491AD5C}" destId="{5EF4972E-4643-43E2-B3AB-113B9B2E4FEA}" srcOrd="0" destOrd="0" presId="urn:microsoft.com/office/officeart/2005/8/layout/vList2"/>
    <dgm:cxn modelId="{A1EC6AA3-8D11-4E09-A469-A60F78FCD857}" type="presOf" srcId="{F2E5693D-0EFD-458E-98CF-DCA495A21184}" destId="{EDA508CE-5441-40F4-BF43-22D7E4368061}" srcOrd="0" destOrd="0" presId="urn:microsoft.com/office/officeart/2005/8/layout/vList2"/>
    <dgm:cxn modelId="{86008C12-7CFE-4652-B54F-3578BBD24D01}" srcId="{3316F7FE-2300-4A17-A15B-6A7F7491AD5C}" destId="{F2E5693D-0EFD-458E-98CF-DCA495A21184}" srcOrd="0" destOrd="0" parTransId="{204FC4FA-25E8-412D-8193-19DEFA885865}" sibTransId="{C9FCD6DB-3844-458E-97C2-E98846834BC0}"/>
    <dgm:cxn modelId="{224BBAE5-C656-472F-BABC-76B7509ECAB4}" type="presParOf" srcId="{5EF4972E-4643-43E2-B3AB-113B9B2E4FEA}" destId="{EDA508CE-5441-40F4-BF43-22D7E43680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22F9-F07C-4B23-BC93-E0F03E146D01}">
      <dsp:nvSpPr>
        <dsp:cNvPr id="0" name=""/>
        <dsp:cNvSpPr/>
      </dsp:nvSpPr>
      <dsp:spPr>
        <a:xfrm>
          <a:off x="0" y="18047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Central oxygen system 	- 1</a:t>
          </a:r>
          <a:endParaRPr lang="en-GB" sz="1700" kern="1200" dirty="0"/>
        </a:p>
      </dsp:txBody>
      <dsp:txXfrm>
        <a:off x="19904" y="37951"/>
        <a:ext cx="4379791" cy="367937"/>
      </dsp:txXfrm>
    </dsp:sp>
    <dsp:sp modelId="{336BD10C-9BB5-469F-8BD4-A3494E0C75E9}">
      <dsp:nvSpPr>
        <dsp:cNvPr id="0" name=""/>
        <dsp:cNvSpPr/>
      </dsp:nvSpPr>
      <dsp:spPr>
        <a:xfrm>
          <a:off x="0" y="474752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High flow nasal cannula	- 5</a:t>
          </a:r>
          <a:endParaRPr lang="en-GB" sz="1700" kern="1200" dirty="0"/>
        </a:p>
      </dsp:txBody>
      <dsp:txXfrm>
        <a:off x="19904" y="494656"/>
        <a:ext cx="4379791" cy="367937"/>
      </dsp:txXfrm>
    </dsp:sp>
    <dsp:sp modelId="{A893A7A7-CC28-4404-AD1A-6638F1AA5451}">
      <dsp:nvSpPr>
        <dsp:cNvPr id="0" name=""/>
        <dsp:cNvSpPr/>
      </dsp:nvSpPr>
      <dsp:spPr>
        <a:xfrm>
          <a:off x="0" y="931457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Oxygen concentrator	- 3</a:t>
          </a:r>
          <a:endParaRPr lang="en-GB" sz="1700" kern="1200" dirty="0"/>
        </a:p>
      </dsp:txBody>
      <dsp:txXfrm>
        <a:off x="19904" y="951361"/>
        <a:ext cx="4379791" cy="367937"/>
      </dsp:txXfrm>
    </dsp:sp>
    <dsp:sp modelId="{CD71DDF5-A775-4A4F-B429-2F449530DD1D}">
      <dsp:nvSpPr>
        <dsp:cNvPr id="0" name=""/>
        <dsp:cNvSpPr/>
      </dsp:nvSpPr>
      <dsp:spPr>
        <a:xfrm>
          <a:off x="0" y="1388162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smtClean="0"/>
            <a:t>Large oxygen cylinder	- 48 </a:t>
          </a:r>
          <a:endParaRPr lang="en-GB" sz="1700" kern="1200"/>
        </a:p>
      </dsp:txBody>
      <dsp:txXfrm>
        <a:off x="19904" y="1408066"/>
        <a:ext cx="4379791" cy="367937"/>
      </dsp:txXfrm>
    </dsp:sp>
    <dsp:sp modelId="{DD6FDA14-5D81-4D91-815D-EF411B6DA3BB}">
      <dsp:nvSpPr>
        <dsp:cNvPr id="0" name=""/>
        <dsp:cNvSpPr/>
      </dsp:nvSpPr>
      <dsp:spPr>
        <a:xfrm>
          <a:off x="0" y="1844867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smtClean="0"/>
            <a:t>C-PAP machine		- 1</a:t>
          </a:r>
          <a:endParaRPr lang="en-GB" sz="1700" kern="1200"/>
        </a:p>
      </dsp:txBody>
      <dsp:txXfrm>
        <a:off x="19904" y="1864771"/>
        <a:ext cx="4379791" cy="367937"/>
      </dsp:txXfrm>
    </dsp:sp>
    <dsp:sp modelId="{6325200D-4401-4F68-8132-B7BA410A12E6}">
      <dsp:nvSpPr>
        <dsp:cNvPr id="0" name=""/>
        <dsp:cNvSpPr/>
      </dsp:nvSpPr>
      <dsp:spPr>
        <a:xfrm>
          <a:off x="0" y="2301573"/>
          <a:ext cx="4419599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Pick-up </a:t>
          </a:r>
          <a:r>
            <a:rPr lang="en-GB" sz="1700" kern="1200" dirty="0" err="1" smtClean="0"/>
            <a:t>caverd</a:t>
          </a:r>
          <a:r>
            <a:rPr lang="en-GB" sz="1700" kern="1200" dirty="0" smtClean="0"/>
            <a:t> van	- 1</a:t>
          </a:r>
          <a:endParaRPr lang="en-GB" sz="1700" kern="1200" dirty="0"/>
        </a:p>
      </dsp:txBody>
      <dsp:txXfrm>
        <a:off x="19904" y="2321477"/>
        <a:ext cx="4379791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2EB3B-4393-4F62-9896-6CAC1D8C7C9F}">
      <dsp:nvSpPr>
        <dsp:cNvPr id="0" name=""/>
        <dsp:cNvSpPr/>
      </dsp:nvSpPr>
      <dsp:spPr>
        <a:xfrm>
          <a:off x="0" y="77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Prime minister’s relief fund.</a:t>
          </a:r>
          <a:endParaRPr lang="en-GB" sz="1500" kern="1200"/>
        </a:p>
      </dsp:txBody>
      <dsp:txXfrm>
        <a:off x="17563" y="25325"/>
        <a:ext cx="4232073" cy="324648"/>
      </dsp:txXfrm>
    </dsp:sp>
    <dsp:sp modelId="{4957D60D-9A48-45C1-BAC6-F3D37092E3B1}">
      <dsp:nvSpPr>
        <dsp:cNvPr id="0" name=""/>
        <dsp:cNvSpPr/>
      </dsp:nvSpPr>
      <dsp:spPr>
        <a:xfrm>
          <a:off x="0" y="41073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MP, Jhenaidah-2.</a:t>
          </a:r>
          <a:endParaRPr lang="en-GB" sz="1500" kern="1200"/>
        </a:p>
      </dsp:txBody>
      <dsp:txXfrm>
        <a:off x="17563" y="428300"/>
        <a:ext cx="4232073" cy="324648"/>
      </dsp:txXfrm>
    </dsp:sp>
    <dsp:sp modelId="{648756C2-CBEA-4503-B679-343ADD8DA048}">
      <dsp:nvSpPr>
        <dsp:cNvPr id="0" name=""/>
        <dsp:cNvSpPr/>
      </dsp:nvSpPr>
      <dsp:spPr>
        <a:xfrm>
          <a:off x="0" y="81371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 smtClean="0"/>
            <a:t>Mayor, </a:t>
          </a:r>
          <a:r>
            <a:rPr lang="en-GB" sz="1500" kern="1200" dirty="0" err="1" smtClean="0"/>
            <a:t>Jhenaidah</a:t>
          </a:r>
          <a:r>
            <a:rPr lang="en-GB" sz="1500" kern="1200" dirty="0" smtClean="0"/>
            <a:t> </a:t>
          </a:r>
          <a:r>
            <a:rPr lang="en-GB" sz="1500" kern="1200" dirty="0" err="1" smtClean="0"/>
            <a:t>pourosova</a:t>
          </a:r>
          <a:r>
            <a:rPr lang="en-GB" sz="1500" kern="1200" dirty="0" smtClean="0"/>
            <a:t>.</a:t>
          </a:r>
          <a:endParaRPr lang="en-GB" sz="1500" kern="1200" dirty="0"/>
        </a:p>
      </dsp:txBody>
      <dsp:txXfrm>
        <a:off x="17563" y="831275"/>
        <a:ext cx="4232073" cy="324648"/>
      </dsp:txXfrm>
    </dsp:sp>
    <dsp:sp modelId="{67D1A4F1-4413-4A6E-B170-3E78BE79127C}">
      <dsp:nvSpPr>
        <dsp:cNvPr id="0" name=""/>
        <dsp:cNvSpPr/>
      </dsp:nvSpPr>
      <dsp:spPr>
        <a:xfrm>
          <a:off x="0" y="121668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Jaheedi Foundation.</a:t>
          </a:r>
          <a:endParaRPr lang="en-GB" sz="1500" kern="1200"/>
        </a:p>
      </dsp:txBody>
      <dsp:txXfrm>
        <a:off x="17563" y="1234250"/>
        <a:ext cx="4232073" cy="324648"/>
      </dsp:txXfrm>
    </dsp:sp>
    <dsp:sp modelId="{CA20AB46-4D56-4B7A-B508-C9C3AA679FFD}">
      <dsp:nvSpPr>
        <dsp:cNvPr id="0" name=""/>
        <dsp:cNvSpPr/>
      </dsp:nvSpPr>
      <dsp:spPr>
        <a:xfrm>
          <a:off x="0" y="16196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Navana group.</a:t>
          </a:r>
          <a:endParaRPr lang="en-GB" sz="1500" kern="1200"/>
        </a:p>
      </dsp:txBody>
      <dsp:txXfrm>
        <a:off x="17563" y="1637225"/>
        <a:ext cx="4232073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508CE-5441-40F4-BF43-22D7E4368061}">
      <dsp:nvSpPr>
        <dsp:cNvPr id="0" name=""/>
        <dsp:cNvSpPr/>
      </dsp:nvSpPr>
      <dsp:spPr>
        <a:xfrm>
          <a:off x="0" y="254619"/>
          <a:ext cx="3962399" cy="647594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dirty="0" smtClean="0"/>
            <a:t>Value – Nearly 52 Lac taka </a:t>
          </a:r>
          <a:endParaRPr lang="en-GB" sz="2700" kern="1200" dirty="0"/>
        </a:p>
      </dsp:txBody>
      <dsp:txXfrm>
        <a:off x="31613" y="286232"/>
        <a:ext cx="3899173" cy="584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4/12/2022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07D7908-9E4A-4E88-A26C-DD1E66ACA437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12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32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4/12/2022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0586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2022/4/12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  <p:sldLayoutId id="2147484020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8.jpe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2.jpeg"/><Relationship Id="rId4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Haque</a:t>
            </a:r>
            <a:endParaRPr lang="en-US" sz="16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C-J Model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R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eplication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1"/>
            <a:ext cx="6410438" cy="386919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105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 algn="just">
              <a:defRPr/>
            </a:pPr>
            <a:r>
              <a:rPr lang="en-US" sz="3000" b="1" dirty="0" smtClean="0"/>
              <a:t>Insecure  hospital environment.</a:t>
            </a:r>
          </a:p>
          <a:p>
            <a:pPr algn="just">
              <a:defRPr/>
            </a:pPr>
            <a:r>
              <a:rPr lang="en-US" sz="3000" b="1" dirty="0" smtClean="0"/>
              <a:t>Performance of all activities was very low.</a:t>
            </a:r>
          </a:p>
          <a:p>
            <a:pPr algn="just">
              <a:defRPr/>
            </a:pPr>
            <a:r>
              <a:rPr lang="en-US" sz="3000" b="1" dirty="0" smtClean="0"/>
              <a:t>Very limited support staff.</a:t>
            </a:r>
          </a:p>
          <a:p>
            <a:pPr algn="just">
              <a:defRPr/>
            </a:pPr>
            <a:r>
              <a:rPr lang="en-US" sz="3000" b="1" dirty="0" smtClean="0"/>
              <a:t>3 doctors including RMO was suspended. </a:t>
            </a:r>
            <a:endParaRPr lang="en-US" sz="3000" b="1" dirty="0"/>
          </a:p>
          <a:p>
            <a:pPr algn="just">
              <a:defRPr/>
            </a:pPr>
            <a:r>
              <a:rPr lang="en-US" sz="3000" b="1" dirty="0" smtClean="0"/>
              <a:t>Non-</a:t>
            </a:r>
            <a:r>
              <a:rPr lang="en-US" sz="3000" b="1" dirty="0" err="1" smtClean="0"/>
              <a:t>gov</a:t>
            </a:r>
            <a:r>
              <a:rPr lang="en-US" sz="3000" b="1" dirty="0" err="1"/>
              <a:t>.</a:t>
            </a:r>
            <a:r>
              <a:rPr lang="en-US" sz="3000" b="1" dirty="0"/>
              <a:t> staff</a:t>
            </a:r>
            <a:r>
              <a:rPr lang="en-US" sz="3000" b="1" dirty="0" smtClean="0"/>
              <a:t>. demanding money from the patients.</a:t>
            </a:r>
          </a:p>
          <a:p>
            <a:pPr algn="just">
              <a:defRPr/>
            </a:pPr>
            <a:r>
              <a:rPr lang="en-US" sz="3000" b="1" dirty="0" smtClean="0"/>
              <a:t>Waste management system was poor.</a:t>
            </a:r>
          </a:p>
          <a:p>
            <a:pPr algn="just">
              <a:defRPr/>
            </a:pPr>
            <a:r>
              <a:rPr lang="en-US" sz="3000" b="1" dirty="0" smtClean="0"/>
              <a:t>Monitoring meeting was not performed regularl</a:t>
            </a:r>
            <a:r>
              <a:rPr lang="en-US" sz="2800" b="1" dirty="0" smtClean="0"/>
              <a:t>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17611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609600" y="1905000"/>
            <a:ext cx="8229600" cy="46482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endParaRPr lang="en-GB" b="1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Successful leadership in health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Personal and group skills in health </a:t>
            </a:r>
            <a:r>
              <a:rPr lang="en-GB" sz="1800" dirty="0" smtClean="0"/>
              <a:t>care.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Community engaged health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Optimum use of government </a:t>
            </a:r>
            <a:r>
              <a:rPr lang="en-GB" sz="1800" dirty="0" smtClean="0"/>
              <a:t>resources.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Effective relation with local administration and with other government </a:t>
            </a:r>
            <a:r>
              <a:rPr lang="en-GB" sz="1800" dirty="0" smtClean="0"/>
              <a:t>organizations.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Improvement of security by community </a:t>
            </a:r>
            <a:r>
              <a:rPr lang="en-GB" sz="1800" dirty="0" smtClean="0"/>
              <a:t>engagement.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Improved maternal health care </a:t>
            </a:r>
            <a:r>
              <a:rPr lang="en-GB" sz="1800" dirty="0" smtClean="0"/>
              <a:t>activities.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Improved child health care </a:t>
            </a:r>
            <a:r>
              <a:rPr lang="en-GB" sz="1800" dirty="0" smtClean="0"/>
              <a:t>activities.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 smtClean="0"/>
              <a:t>Ensuring corner-based health care.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609600" y="304800"/>
            <a:ext cx="8229600" cy="997424"/>
          </a:xfrm>
          <a:prstGeom prst="rect">
            <a:avLst/>
          </a:prstGeom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dirty="0"/>
              <a:t>Characteristics of Jhenaidah Sadar Hospital Model-1</a:t>
            </a:r>
          </a:p>
          <a:p>
            <a:pPr marL="0" indent="0"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4170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1905001"/>
            <a:ext cx="8153400" cy="42672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Woman and Baby Friendly Hospital</a:t>
            </a:r>
            <a:r>
              <a:rPr lang="en-GB" sz="1800" dirty="0" smtClean="0"/>
              <a:t>.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Birth </a:t>
            </a:r>
            <a:r>
              <a:rPr lang="en-GB" sz="1800" dirty="0"/>
              <a:t>and death recording, progress assessment and </a:t>
            </a:r>
            <a:r>
              <a:rPr lang="en-GB" sz="1800" dirty="0" smtClean="0"/>
              <a:t>develop accountability </a:t>
            </a:r>
            <a:r>
              <a:rPr lang="en-GB" sz="1800" dirty="0"/>
              <a:t>by collecting information on all health </a:t>
            </a:r>
            <a:r>
              <a:rPr lang="en-GB" sz="1800" dirty="0" smtClean="0"/>
              <a:t>indicators.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Improving </a:t>
            </a:r>
            <a:r>
              <a:rPr lang="en-GB" sz="1800" dirty="0"/>
              <a:t>healthcare by unit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Health awareness by health </a:t>
            </a:r>
            <a:r>
              <a:rPr lang="en-GB" sz="1800" dirty="0" smtClean="0"/>
              <a:t>education.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Cleanliness </a:t>
            </a:r>
            <a:r>
              <a:rPr lang="en-GB" sz="1800" dirty="0"/>
              <a:t>(Waste management) and beautification of the facility and </a:t>
            </a:r>
            <a:r>
              <a:rPr lang="en-GB" sz="1800" dirty="0" smtClean="0"/>
              <a:t>premises.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Provision of safe blood transfusion for emergency needs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Zero tolerance against </a:t>
            </a:r>
            <a:r>
              <a:rPr lang="en-GB" sz="1800" dirty="0" smtClean="0"/>
              <a:t>corruption.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Implementation of the 5S KAIZEN-TQM for the improvement of </a:t>
            </a:r>
            <a:r>
              <a:rPr lang="en-GB" sz="1800" dirty="0" smtClean="0"/>
              <a:t>health quality.</a:t>
            </a:r>
            <a:endParaRPr lang="en-GB" sz="1800" dirty="0"/>
          </a:p>
          <a:p>
            <a:pPr marL="514350" indent="-514350">
              <a:buFont typeface="+mj-lt"/>
              <a:buAutoNum type="arabicPeriod" startAt="10"/>
            </a:pPr>
            <a:endParaRPr lang="en-GB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609600" y="304800"/>
            <a:ext cx="8229600" cy="997424"/>
          </a:xfrm>
          <a:prstGeom prst="rect">
            <a:avLst/>
          </a:prstGeom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dirty="0"/>
              <a:t>Characteristics of Jhenaidah Sadar Hospital </a:t>
            </a:r>
            <a:r>
              <a:rPr lang="en-GB" dirty="0" smtClean="0"/>
              <a:t>Model-2</a:t>
            </a:r>
            <a:endParaRPr lang="en-GB" dirty="0"/>
          </a:p>
          <a:p>
            <a:pPr marL="0" indent="0"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8178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2019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060224493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2413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407633567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41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2019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681107"/>
              </p:ext>
            </p:extLst>
          </p:nvPr>
        </p:nvGraphicFramePr>
        <p:xfrm>
          <a:off x="152400" y="1371601"/>
          <a:ext cx="8839200" cy="468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0"/>
            <a:ext cx="8991600" cy="7620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52400" y="762000"/>
            <a:ext cx="89916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2019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81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 smtClean="0"/>
              <a:t>Total ANC and Delivery in Jhenaidah District Hospital 2011-2019</a:t>
            </a:r>
            <a:endParaRPr lang="en-GB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87417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218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16" name="Group 7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580480"/>
              </p:ext>
            </p:extLst>
          </p:nvPr>
        </p:nvGraphicFramePr>
        <p:xfrm>
          <a:off x="762000" y="1066800"/>
          <a:ext cx="7848600" cy="517415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27888"/>
                <a:gridCol w="1810512"/>
                <a:gridCol w="914400"/>
                <a:gridCol w="838200"/>
                <a:gridCol w="914400"/>
                <a:gridCol w="859536"/>
                <a:gridCol w="941832"/>
                <a:gridCol w="941832"/>
              </a:tblGrid>
              <a:tr h="927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2011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2017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2019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7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Section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Total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Section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Total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554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1828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*4362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7884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Jashore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1503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3078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375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Kustia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915</a:t>
                      </a: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2677</a:t>
                      </a: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1030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2781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1616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3674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6862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bed,Jhenaidah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Hoapitals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430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2375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*2997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1019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2753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6862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Chowgacha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*4413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854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2957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3544" y="-431800"/>
            <a:ext cx="8229600" cy="17526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sz="2700" b="1" dirty="0">
                <a:solidFill>
                  <a:srgbClr val="FF0000"/>
                </a:solidFill>
                <a:latin typeface="Arial" charset="0"/>
                <a:cs typeface="Arial" charset="0"/>
              </a:rPr>
              <a:t>Comparative Data of Delivery of best performing EOC center of Khulna Division in </a:t>
            </a:r>
            <a:r>
              <a:rPr lang="en-US" sz="2700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2011,2017,2019</a:t>
            </a:r>
            <a:endParaRPr lang="en-US" sz="27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7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2019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880335"/>
              </p:ext>
            </p:extLst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894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Cleaner:	20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boy:	21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guard:	6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Volunteer:	3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Dining space for patients.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 smtClean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56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A team of Jhenaidah  </a:t>
            </a:r>
            <a:r>
              <a:rPr lang="en-US" sz="2000" dirty="0" err="1" smtClean="0"/>
              <a:t>sadar</a:t>
            </a:r>
            <a:r>
              <a:rPr lang="en-US" sz="2000" dirty="0" smtClean="0"/>
              <a:t> hospital visited to </a:t>
            </a:r>
            <a:r>
              <a:rPr lang="en-US" sz="2000" dirty="0" err="1" smtClean="0"/>
              <a:t>Shatkhira</a:t>
            </a:r>
            <a:r>
              <a:rPr lang="en-US" sz="2000" dirty="0" smtClean="0"/>
              <a:t> </a:t>
            </a:r>
            <a:r>
              <a:rPr lang="en-US" sz="2000" dirty="0" err="1" smtClean="0"/>
              <a:t>sadar</a:t>
            </a:r>
            <a:r>
              <a:rPr lang="en-US" sz="2000" dirty="0" smtClean="0"/>
              <a:t> hospital in 2014</a:t>
            </a:r>
            <a:endParaRPr lang="en-US" sz="20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 smtClean="0"/>
              <a:t>A meeting was held in </a:t>
            </a:r>
            <a:r>
              <a:rPr lang="en-US" sz="2000" dirty="0" err="1" smtClean="0"/>
              <a:t>Shatkhira</a:t>
            </a:r>
            <a:r>
              <a:rPr lang="en-US" sz="2000" dirty="0" smtClean="0"/>
              <a:t> </a:t>
            </a:r>
            <a:r>
              <a:rPr lang="en-US" sz="2000" dirty="0" err="1" smtClean="0"/>
              <a:t>sadar</a:t>
            </a:r>
            <a:r>
              <a:rPr lang="en-US" sz="2000" dirty="0" smtClean="0"/>
              <a:t> conference room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175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5S KAIZEN-TQM Program Started in Jhenaidah Sadar Hospital in 2014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013" y="3934820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9019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7620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TQM program started in Jhenaidah Sadar Hospital</a:t>
            </a:r>
            <a:endParaRPr lang="en-US" sz="20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7795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A meeting of QIC was held in Jhenaidah Sadar Hospital Conference room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7597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Alignment of pictures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41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xtLst/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612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DSC0240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642937"/>
            <a:ext cx="42576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642937"/>
            <a:ext cx="44323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69875" y="38100"/>
            <a:ext cx="8229600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1407" y="685800"/>
            <a:ext cx="278794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Repaired boundary wall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362700" y="642937"/>
            <a:ext cx="2667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Campus beautification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198231" y="3886200"/>
            <a:ext cx="212883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Cycle stand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6036573" y="3927929"/>
            <a:ext cx="299312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Recovery of hospital land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255560" cy="28956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886200"/>
            <a:ext cx="4127426" cy="28956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685800"/>
            <a:ext cx="4038599" cy="2743200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685800"/>
            <a:ext cx="4281168" cy="274320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269875" y="38100"/>
            <a:ext cx="8229600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6184" y="697468"/>
            <a:ext cx="351891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Digitalization of patient profile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6371857" y="689212"/>
            <a:ext cx="246734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Organized pharmacy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246184" y="3886200"/>
            <a:ext cx="315983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Improved conference room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6695998" y="3916907"/>
            <a:ext cx="216822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Visitor Restriction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050" y="3886200"/>
            <a:ext cx="4503693" cy="2971800"/>
          </a:xfrm>
        </p:spPr>
      </p:pic>
      <p:pic>
        <p:nvPicPr>
          <p:cNvPr id="1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3955"/>
            <a:ext cx="4267200" cy="3101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4800600" y="1676400"/>
            <a:ext cx="342900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Reception </a:t>
            </a:r>
            <a:r>
              <a:rPr lang="en-US" b="1" dirty="0" smtClean="0">
                <a:solidFill>
                  <a:srgbClr val="FF0000"/>
                </a:solidFill>
              </a:rPr>
              <a:t>room provided by community support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221794" y="5079242"/>
            <a:ext cx="390356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rgbClr val="FF0000"/>
                </a:solidFill>
              </a:rPr>
              <a:t>ECG facility in </a:t>
            </a:r>
            <a:r>
              <a:rPr lang="en-US" b="1" dirty="0" err="1" smtClean="0">
                <a:solidFill>
                  <a:srgbClr val="FF0000"/>
                </a:solidFill>
              </a:rPr>
              <a:t>enemrgency</a:t>
            </a:r>
            <a:r>
              <a:rPr lang="en-US" b="1" dirty="0" smtClean="0">
                <a:solidFill>
                  <a:srgbClr val="FF0000"/>
                </a:solidFill>
              </a:rPr>
              <a:t> department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729734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2518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9" y="3943451"/>
            <a:ext cx="4532312" cy="291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5278839" y="3929051"/>
            <a:ext cx="38651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Dining facility by community sup.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Extension </a:t>
            </a:r>
            <a:r>
              <a:rPr lang="en-US" b="1" dirty="0" smtClean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Sadar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47725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 smtClean="0">
                <a:solidFill>
                  <a:srgbClr val="FF0000"/>
                </a:solidFill>
              </a:rPr>
              <a:t>Perticipation</a:t>
            </a:r>
            <a:r>
              <a:rPr lang="en-US" sz="1500" b="1" dirty="0" smtClean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1" name="Rectangle 10"/>
          <p:cNvSpPr/>
          <p:nvPr/>
        </p:nvSpPr>
        <p:spPr>
          <a:xfrm>
            <a:off x="4343401" y="847725"/>
            <a:ext cx="4805362" cy="3308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50" b="1" dirty="0">
                <a:solidFill>
                  <a:srgbClr val="FF0000"/>
                </a:solidFill>
              </a:rPr>
              <a:t> </a:t>
            </a:r>
            <a:r>
              <a:rPr lang="en-US" sz="1550" b="1" dirty="0" err="1" smtClean="0">
                <a:solidFill>
                  <a:srgbClr val="FF0000"/>
                </a:solidFill>
              </a:rPr>
              <a:t>Perticipation</a:t>
            </a:r>
            <a:r>
              <a:rPr lang="en-US" sz="1550" b="1" dirty="0" smtClean="0">
                <a:solidFill>
                  <a:srgbClr val="FF0000"/>
                </a:solidFill>
              </a:rPr>
              <a:t> of Previous </a:t>
            </a:r>
            <a:r>
              <a:rPr lang="en-US" sz="1550" b="1" dirty="0" err="1" smtClean="0">
                <a:solidFill>
                  <a:srgbClr val="FF0000"/>
                </a:solidFill>
              </a:rPr>
              <a:t>Zilla</a:t>
            </a:r>
            <a:r>
              <a:rPr lang="en-US" sz="1550" b="1" dirty="0" smtClean="0">
                <a:solidFill>
                  <a:srgbClr val="FF0000"/>
                </a:solidFill>
              </a:rPr>
              <a:t> </a:t>
            </a:r>
            <a:r>
              <a:rPr lang="en-US" sz="1550" b="1" dirty="0" err="1" smtClean="0">
                <a:solidFill>
                  <a:srgbClr val="FF0000"/>
                </a:solidFill>
              </a:rPr>
              <a:t>parishad</a:t>
            </a:r>
            <a:r>
              <a:rPr lang="en-US" sz="1550" b="1" dirty="0" smtClean="0">
                <a:solidFill>
                  <a:srgbClr val="FF0000"/>
                </a:solidFill>
              </a:rPr>
              <a:t> chairman</a:t>
            </a:r>
            <a:endParaRPr lang="en-GB" sz="155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6819279" y="3985289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5281" y="609600"/>
            <a:ext cx="3740919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Blood donation camp by district judge </a:t>
            </a:r>
            <a:endParaRPr lang="en-GB" sz="1500" dirty="0"/>
          </a:p>
        </p:txBody>
      </p:sp>
      <p:sp>
        <p:nvSpPr>
          <p:cNvPr id="11" name="Rectangle 10"/>
          <p:cNvSpPr/>
          <p:nvPr/>
        </p:nvSpPr>
        <p:spPr>
          <a:xfrm>
            <a:off x="6904431" y="618699"/>
            <a:ext cx="2094487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Hospital visit by DC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26158" y="3620069"/>
            <a:ext cx="2094487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Hospital visit by SP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4800600" y="3599597"/>
            <a:ext cx="4219927" cy="323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500" b="1" dirty="0" err="1" smtClean="0">
                <a:solidFill>
                  <a:srgbClr val="FF0000"/>
                </a:solidFill>
              </a:rPr>
              <a:t>Manobota</a:t>
            </a:r>
            <a:r>
              <a:rPr lang="en-US" sz="1500" b="1" dirty="0" smtClean="0">
                <a:solidFill>
                  <a:srgbClr val="FF0000"/>
                </a:solidFill>
              </a:rPr>
              <a:t> blood donor group opened by CS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Meting of health improvement committee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Meting of community support group committee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QIC meeting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Monthly meeting schedule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066800"/>
            <a:ext cx="41592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114800"/>
            <a:ext cx="41148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066800"/>
            <a:ext cx="3962401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038600"/>
            <a:ext cx="3886200" cy="2697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3200" b="1" dirty="0" smtClean="0">
                <a:solidFill>
                  <a:schemeClr val="bg1"/>
                </a:solidFill>
              </a:rPr>
              <a:t>Community support in COVID -19 Management-1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1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3200" b="1" dirty="0" smtClean="0">
                <a:solidFill>
                  <a:schemeClr val="bg1"/>
                </a:solidFill>
              </a:rPr>
              <a:t>Community support in COVID -19 Management-2</a:t>
            </a:r>
            <a:endParaRPr lang="en-GB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4245058"/>
              </p:ext>
            </p:extLst>
          </p:nvPr>
        </p:nvGraphicFramePr>
        <p:xfrm>
          <a:off x="381000" y="1158834"/>
          <a:ext cx="4419600" cy="272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4708091"/>
          <a:ext cx="4267199" cy="19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778411560"/>
              </p:ext>
            </p:extLst>
          </p:nvPr>
        </p:nvGraphicFramePr>
        <p:xfrm>
          <a:off x="4876800" y="1920834"/>
          <a:ext cx="3962400" cy="105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846615" y="3909139"/>
            <a:ext cx="4317856" cy="815261"/>
            <a:chOff x="0" y="8342"/>
            <a:chExt cx="3962399" cy="1034280"/>
          </a:xfrm>
        </p:grpSpPr>
        <p:sp>
          <p:nvSpPr>
            <p:cNvPr id="14" name="Rounded Rectangle 13"/>
            <p:cNvSpPr/>
            <p:nvPr/>
          </p:nvSpPr>
          <p:spPr>
            <a:xfrm>
              <a:off x="0" y="8342"/>
              <a:ext cx="3962399" cy="1034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50489" y="58831"/>
              <a:ext cx="3861421" cy="9333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l" defTabSz="1155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600" b="1" kern="1200" dirty="0" smtClean="0"/>
                <a:t>Source of Donation</a:t>
              </a:r>
              <a:endParaRPr lang="en-GB" sz="26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630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</a:t>
            </a:r>
          </a:p>
          <a:p>
            <a:pPr marL="0" algn="just">
              <a:defRPr/>
            </a:pPr>
            <a:r>
              <a:rPr lang="en-US" b="1" dirty="0" smtClean="0"/>
              <a:t>    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</a:t>
            </a:r>
            <a:r>
              <a:rPr lang="en-US" b="1" dirty="0" smtClean="0"/>
              <a:t>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4.. </a:t>
            </a:r>
            <a:r>
              <a:rPr lang="en-US" b="1" dirty="0"/>
              <a:t>The hospital is awarded 6 times from 2013 to 2018. </a:t>
            </a:r>
            <a:endParaRPr lang="en-US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Replication of C- J Model by DGHS in 20 District hospital &amp; 40 UHC of the country.</a:t>
            </a:r>
          </a:p>
          <a:p>
            <a:pPr marL="0" algn="just">
              <a:defRPr/>
            </a:pPr>
            <a:r>
              <a:rPr lang="en-US" b="1" dirty="0" smtClean="0"/>
              <a:t> 8. Nearly </a:t>
            </a:r>
            <a:r>
              <a:rPr lang="en-US" b="1" dirty="0"/>
              <a:t>45 </a:t>
            </a:r>
            <a:r>
              <a:rPr lang="en-US" b="1" dirty="0" err="1" smtClean="0"/>
              <a:t>lacs</a:t>
            </a:r>
            <a:r>
              <a:rPr lang="en-US" b="1" dirty="0" smtClean="0"/>
              <a:t> </a:t>
            </a:r>
            <a:r>
              <a:rPr lang="en-US" b="1" dirty="0"/>
              <a:t>Taka support  for 6 high flow   oxygen  nasal cannula, central </a:t>
            </a:r>
            <a:r>
              <a:rPr lang="en-US" b="1" dirty="0" smtClean="0"/>
              <a:t>oxygen </a:t>
            </a:r>
            <a:r>
              <a:rPr lang="en-US" b="1" dirty="0"/>
              <a:t>supplying system for </a:t>
            </a:r>
            <a:r>
              <a:rPr lang="en-US" b="1" dirty="0" err="1"/>
              <a:t>covid</a:t>
            </a:r>
            <a:r>
              <a:rPr lang="en-US" b="1" dirty="0"/>
              <a:t> patient </a:t>
            </a:r>
            <a:endParaRPr lang="en-US" b="1" dirty="0" smtClean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228600"/>
            <a:ext cx="8839199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/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Lessons learned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88069" name="Rectangle 2"/>
          <p:cNvSpPr>
            <a:spLocks noChangeArrowheads="1"/>
          </p:cNvSpPr>
          <p:nvPr/>
        </p:nvSpPr>
        <p:spPr bwMode="auto">
          <a:xfrm>
            <a:off x="152400" y="1219200"/>
            <a:ext cx="8839200" cy="55626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Public health and hospital services and resources are inadequate vis-à-vis the need specially for the poor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This gap can be minimized through local participation.</a:t>
            </a:r>
          </a:p>
          <a:p>
            <a:pPr marL="514350" indent="-514350" algn="just" eaLnBrk="0" hangingPunct="0">
              <a:buFontTx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Effective health service and hospital management require local support and participation.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Health personnel, specially the local health manager should take the role of catalyst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Local support can be attracted through improved services, and visible efforts and morality of the health managers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MOHFW can take initiative to roll out the model and the message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Jhenaidah-</a:t>
            </a:r>
            <a:r>
              <a:rPr lang="en-US" sz="2000" dirty="0" err="1"/>
              <a:t>Chowgacha</a:t>
            </a:r>
            <a:r>
              <a:rPr lang="en-US" sz="2000" dirty="0"/>
              <a:t> team will happy to volunteer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000" dirty="0"/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000" dirty="0"/>
          </a:p>
          <a:p>
            <a:pPr marL="514350" indent="-514350" algn="just" eaLnBrk="0" hangingPunct="0">
              <a:buFontTx/>
              <a:buAutoNum type="arabicPeriod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0097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198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5943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5073</TotalTime>
  <Words>1051</Words>
  <Application>Microsoft Office PowerPoint</Application>
  <PresentationFormat>On-screen Show (4:3)</PresentationFormat>
  <Paragraphs>267</Paragraphs>
  <Slides>34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Challenges of the hospital in 2012</vt:lpstr>
      <vt:lpstr>PowerPoint Presentation</vt:lpstr>
      <vt:lpstr>PowerPoint Presentation</vt:lpstr>
      <vt:lpstr>PowerPoint Presentation</vt:lpstr>
      <vt:lpstr>Emergency + Out Door &amp; Indoor  Service 1998 to 2019</vt:lpstr>
      <vt:lpstr>Operation Service (Major) 2011 to 2019</vt:lpstr>
      <vt:lpstr>PowerPoint Presentation</vt:lpstr>
      <vt:lpstr>Total ANC and Delivery in Jhenaidah District Hospital 2011-2019</vt:lpstr>
      <vt:lpstr>Comparative Data of Delivery of best performing EOC center of Khulna Division in 2011,2017,2019</vt:lpstr>
      <vt:lpstr>  Comparative data of revenue income (in Taka) from 2015 to 2019 </vt:lpstr>
      <vt:lpstr>PowerPoint Presentation</vt:lpstr>
      <vt:lpstr>PowerPoint Presentation</vt:lpstr>
      <vt:lpstr>PowerPoint Presentation</vt:lpstr>
      <vt:lpstr>Changes in EOC Ward</vt:lpstr>
      <vt:lpstr>PowerPoint Presentation</vt:lpstr>
      <vt:lpstr>PowerPoint Presentation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Innovative activities community supported manpower -  2</vt:lpstr>
      <vt:lpstr>PowerPoint Presentation</vt:lpstr>
      <vt:lpstr>PowerPoint Presentation</vt:lpstr>
      <vt:lpstr>Innovative activities of Jhenaidah Sadar Hospital - 5</vt:lpstr>
      <vt:lpstr>Innovative activities of Jhenaidah Sadar Hospital - 6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Community support in COVID -19 Management-1</vt:lpstr>
      <vt:lpstr>Community support in COVID -19 Management-2</vt:lpstr>
      <vt:lpstr>PowerPoint Presentation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791</cp:revision>
  <cp:lastPrinted>2017-03-18T23:47:54Z</cp:lastPrinted>
  <dcterms:created xsi:type="dcterms:W3CDTF">2013-05-05T09:56:19Z</dcterms:created>
  <dcterms:modified xsi:type="dcterms:W3CDTF">2022-04-12T15:26:24Z</dcterms:modified>
</cp:coreProperties>
</file>