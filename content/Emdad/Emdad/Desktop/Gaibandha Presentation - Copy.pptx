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55"/>
  </p:notesMasterIdLst>
  <p:sldIdLst>
    <p:sldId id="385" r:id="rId2"/>
    <p:sldId id="416" r:id="rId3"/>
    <p:sldId id="415" r:id="rId4"/>
    <p:sldId id="471" r:id="rId5"/>
    <p:sldId id="470" r:id="rId6"/>
    <p:sldId id="452" r:id="rId7"/>
    <p:sldId id="448" r:id="rId8"/>
    <p:sldId id="439" r:id="rId9"/>
    <p:sldId id="444" r:id="rId10"/>
    <p:sldId id="445" r:id="rId11"/>
    <p:sldId id="446" r:id="rId12"/>
    <p:sldId id="447" r:id="rId13"/>
    <p:sldId id="449" r:id="rId14"/>
    <p:sldId id="469" r:id="rId15"/>
    <p:sldId id="472" r:id="rId16"/>
    <p:sldId id="451" r:id="rId17"/>
    <p:sldId id="389" r:id="rId18"/>
    <p:sldId id="390" r:id="rId19"/>
    <p:sldId id="434" r:id="rId20"/>
    <p:sldId id="391" r:id="rId21"/>
    <p:sldId id="425" r:id="rId22"/>
    <p:sldId id="376" r:id="rId23"/>
    <p:sldId id="477" r:id="rId24"/>
    <p:sldId id="478" r:id="rId25"/>
    <p:sldId id="479" r:id="rId26"/>
    <p:sldId id="480" r:id="rId27"/>
    <p:sldId id="481" r:id="rId28"/>
    <p:sldId id="482" r:id="rId29"/>
    <p:sldId id="483" r:id="rId30"/>
    <p:sldId id="484" r:id="rId31"/>
    <p:sldId id="485" r:id="rId32"/>
    <p:sldId id="486" r:id="rId33"/>
    <p:sldId id="487" r:id="rId34"/>
    <p:sldId id="488" r:id="rId35"/>
    <p:sldId id="489" r:id="rId36"/>
    <p:sldId id="490" r:id="rId37"/>
    <p:sldId id="491" r:id="rId38"/>
    <p:sldId id="492" r:id="rId39"/>
    <p:sldId id="493" r:id="rId40"/>
    <p:sldId id="494" r:id="rId41"/>
    <p:sldId id="495" r:id="rId42"/>
    <p:sldId id="496" r:id="rId43"/>
    <p:sldId id="497" r:id="rId44"/>
    <p:sldId id="498" r:id="rId45"/>
    <p:sldId id="499" r:id="rId46"/>
    <p:sldId id="500" r:id="rId47"/>
    <p:sldId id="501" r:id="rId48"/>
    <p:sldId id="502" r:id="rId49"/>
    <p:sldId id="503" r:id="rId50"/>
    <p:sldId id="504" r:id="rId51"/>
    <p:sldId id="507" r:id="rId52"/>
    <p:sldId id="508" r:id="rId53"/>
    <p:sldId id="509" r:id="rId5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1459" autoAdjust="0"/>
  </p:normalViewPr>
  <p:slideViewPr>
    <p:cSldViewPr>
      <p:cViewPr>
        <p:scale>
          <a:sx n="70" d="100"/>
          <a:sy n="70" d="100"/>
        </p:scale>
        <p:origin x="-1632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40.jpeg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42.jpeg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image" Target="../media/image43.jpeg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image" Target="../media/image40.jpeg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image" Target="../media/image45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8364800"/>
        <c:axId val="288370688"/>
      </c:barChart>
      <c:catAx>
        <c:axId val="288364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288370688"/>
        <c:crosses val="autoZero"/>
        <c:auto val="1"/>
        <c:lblAlgn val="ctr"/>
        <c:lblOffset val="100"/>
        <c:noMultiLvlLbl val="0"/>
      </c:catAx>
      <c:valAx>
        <c:axId val="28837068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883648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40000"/>
        <c:axId val="14270464"/>
      </c:barChart>
      <c:catAx>
        <c:axId val="1424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270464"/>
        <c:crosses val="autoZero"/>
        <c:auto val="1"/>
        <c:lblAlgn val="ctr"/>
        <c:lblOffset val="100"/>
        <c:noMultiLvlLbl val="0"/>
      </c:catAx>
      <c:valAx>
        <c:axId val="142704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42400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.10934240566213922"/>
          <c:y val="5.0614472425047033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0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  <c:pt idx="7">
                  <c:v>1385</c:v>
                </c:pt>
                <c:pt idx="8">
                  <c:v>1496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61315072"/>
        <c:axId val="161320960"/>
        <c:axId val="0"/>
      </c:bar3DChart>
      <c:catAx>
        <c:axId val="161315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1320960"/>
        <c:crosses val="autoZero"/>
        <c:auto val="1"/>
        <c:lblAlgn val="ctr"/>
        <c:lblOffset val="100"/>
        <c:noMultiLvlLbl val="0"/>
      </c:catAx>
      <c:valAx>
        <c:axId val="1613209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13150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6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  <c:pt idx="4">
                  <c:v>1028</c:v>
                </c:pt>
                <c:pt idx="5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  <c:pt idx="4">
                  <c:v>1535</c:v>
                </c:pt>
                <c:pt idx="5">
                  <c:v>2014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  <c:pt idx="4">
                  <c:v>1029</c:v>
                </c:pt>
                <c:pt idx="5">
                  <c:v>1648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  <c:pt idx="4">
                  <c:v>3592</c:v>
                </c:pt>
                <c:pt idx="5">
                  <c:v>4662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438656"/>
        <c:axId val="170440192"/>
      </c:barChart>
      <c:catAx>
        <c:axId val="170438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70440192"/>
        <c:crosses val="autoZero"/>
        <c:auto val="1"/>
        <c:lblAlgn val="ctr"/>
        <c:lblOffset val="100"/>
        <c:noMultiLvlLbl val="0"/>
      </c:catAx>
      <c:valAx>
        <c:axId val="1704401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70438656"/>
        <c:crosses val="autoZero"/>
        <c:crossBetween val="between"/>
      </c:valAx>
    </c:plotArea>
    <c:legend>
      <c:legendPos val="r"/>
      <c:legendEntry>
        <c:idx val="1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ayout>
        <c:manualLayout>
          <c:xMode val="edge"/>
          <c:yMode val="edge"/>
          <c:x val="0.83649142456331094"/>
          <c:y val="0.11661286726738625"/>
          <c:w val="0.16350857543669114"/>
          <c:h val="0.40693306595745965"/>
        </c:manualLayout>
      </c:layout>
      <c:overlay val="0"/>
      <c:txPr>
        <a:bodyPr/>
        <a:lstStyle/>
        <a:p>
          <a:pPr>
            <a:defRPr sz="16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0569984"/>
        <c:axId val="200571520"/>
      </c:barChart>
      <c:catAx>
        <c:axId val="200569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00571520"/>
        <c:crosses val="autoZero"/>
        <c:auto val="1"/>
        <c:lblAlgn val="ctr"/>
        <c:lblOffset val="100"/>
        <c:noMultiLvlLbl val="0"/>
      </c:catAx>
      <c:valAx>
        <c:axId val="2005715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05699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201787264"/>
        <c:axId val="201788800"/>
        <c:axId val="200566976"/>
      </c:bar3DChart>
      <c:catAx>
        <c:axId val="2017872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201788800"/>
        <c:crosses val="autoZero"/>
        <c:auto val="1"/>
        <c:lblAlgn val="ctr"/>
        <c:lblOffset val="100"/>
        <c:noMultiLvlLbl val="0"/>
      </c:catAx>
      <c:valAx>
        <c:axId val="20178880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201787264"/>
        <c:crosses val="autoZero"/>
        <c:crossBetween val="between"/>
      </c:valAx>
      <c:serAx>
        <c:axId val="200566976"/>
        <c:scaling>
          <c:orientation val="minMax"/>
        </c:scaling>
        <c:delete val="1"/>
        <c:axPos val="b"/>
        <c:majorTickMark val="out"/>
        <c:minorTickMark val="none"/>
        <c:tickLblPos val="nextTo"/>
        <c:crossAx val="201788800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2/13/2022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23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6493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71450" indent="-296711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86847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61585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136324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611062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85801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560540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4035279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9488" y="758825"/>
            <a:ext cx="5051425" cy="3789363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802939"/>
            <a:ext cx="5605074" cy="455015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100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3E39231-8217-41F6-A7AC-B872BBF35343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9488" y="758825"/>
            <a:ext cx="5051425" cy="37893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5" y="4802939"/>
            <a:ext cx="5605074" cy="4550153"/>
          </a:xfrm>
          <a:noFill/>
        </p:spPr>
        <p:txBody>
          <a:bodyPr/>
          <a:lstStyle/>
          <a:p>
            <a:pPr eaLnBrk="1" hangingPunct="1"/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003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32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57066" indent="-291179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64717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30604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96491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62377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28264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94151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960038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0EF894-5C7A-4186-AC86-C2AA879455C3}" type="slidenum">
              <a:rPr lang="en-US" altLang="en-US">
                <a:latin typeface="Arial" panose="020B0604020202020204" pitchFamily="34" charset="0"/>
              </a:rPr>
              <a:pPr/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971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375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07D7908-9E4A-4E88-A26C-DD1E66ACA437}" type="slidenum">
              <a:rPr lang="en-US" smtClean="0"/>
              <a:pPr eaLnBrk="1" hangingPunct="1"/>
              <a:t>31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33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51</a:t>
            </a:fld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53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04131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2022/2/13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  <p:sldLayoutId id="2147484036" r:id="rId14"/>
  </p:sldLayoutIdLst>
  <p:transition spd="slow">
    <p:zoom dir="in"/>
    <p:sndAc>
      <p:stSnd>
        <p:snd r:embed="rId16" name="chimes.wav"/>
      </p:stSnd>
    </p:sndAc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jpeg"/><Relationship Id="rId7" Type="http://schemas.openxmlformats.org/officeDocument/2006/relationships/image" Target="../media/image59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3.png"/><Relationship Id="rId5" Type="http://schemas.openxmlformats.org/officeDocument/2006/relationships/image" Target="../media/image72.jpeg"/><Relationship Id="rId4" Type="http://schemas.openxmlformats.org/officeDocument/2006/relationships/image" Target="../media/image71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jpeg"/><Relationship Id="rId4" Type="http://schemas.openxmlformats.org/officeDocument/2006/relationships/image" Target="../media/image86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5.jpeg"/><Relationship Id="rId4" Type="http://schemas.openxmlformats.org/officeDocument/2006/relationships/image" Target="../media/image10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9.jpeg"/><Relationship Id="rId4" Type="http://schemas.openxmlformats.org/officeDocument/2006/relationships/image" Target="../media/image10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Ex Senior Consultant (</a:t>
            </a:r>
            <a:r>
              <a:rPr lang="en-US" sz="2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Obs&amp;Gyne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) </a:t>
            </a:r>
          </a:p>
          <a:p>
            <a:pPr algn="ctr">
              <a:defRPr/>
            </a:pPr>
            <a:r>
              <a:rPr lang="en-US" sz="2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Jhenidah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Hospital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74639"/>
            <a:ext cx="61722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2700" b="1" dirty="0"/>
              <a:t>A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189972" y="1545600"/>
            <a:ext cx="2835212" cy="172417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4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400" b="1" dirty="0"/>
              <a:t>Maximum utilization of Govt.</a:t>
            </a:r>
          </a:p>
          <a:p>
            <a:pPr algn="ctr" eaLnBrk="0" hangingPunct="0"/>
            <a:r>
              <a:rPr lang="en-US" sz="1400" b="1" dirty="0"/>
              <a:t>resources with </a:t>
            </a:r>
          </a:p>
          <a:p>
            <a:pPr algn="ctr" eaLnBrk="0" hangingPunct="0"/>
            <a:r>
              <a:rPr lang="en-US" sz="1400" b="1" dirty="0"/>
              <a:t>honesty and sincerity.</a:t>
            </a:r>
          </a:p>
          <a:p>
            <a:pPr algn="ctr" eaLnBrk="0" hangingPunct="0"/>
            <a:endParaRPr lang="en-US" sz="14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102084" y="4977384"/>
            <a:ext cx="2904363" cy="14752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400" b="1" dirty="0"/>
              <a:t>Providing Effective  services </a:t>
            </a:r>
          </a:p>
          <a:p>
            <a:pPr algn="ctr" eaLnBrk="0" hangingPunct="0"/>
            <a:r>
              <a:rPr lang="en-US" sz="1400" b="1" dirty="0"/>
              <a:t>through improved </a:t>
            </a:r>
          </a:p>
          <a:p>
            <a:pPr algn="ctr" eaLnBrk="0" hangingPunct="0"/>
            <a:r>
              <a:rPr lang="en-US" sz="1400" b="1" dirty="0"/>
              <a:t>management system.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2051426" y="2165440"/>
            <a:ext cx="188595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150269" y="5486400"/>
            <a:ext cx="18288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61396" y="3322187"/>
            <a:ext cx="2640330" cy="162275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400" b="1" dirty="0"/>
              <a:t>Integrated approach of </a:t>
            </a:r>
          </a:p>
          <a:p>
            <a:pPr algn="ctr" eaLnBrk="0" hangingPunct="0"/>
            <a:r>
              <a:rPr lang="en-US" sz="1400" b="1" dirty="0"/>
              <a:t>Administration, Community</a:t>
            </a:r>
          </a:p>
          <a:p>
            <a:pPr algn="ctr" eaLnBrk="0" hangingPunct="0"/>
            <a:r>
              <a:rPr lang="en-US" sz="14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139553" y="4000500"/>
            <a:ext cx="18288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6866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915793"/>
            <a:ext cx="3248553" cy="292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</a:t>
            </a:r>
            <a:r>
              <a:rPr lang="en-US" sz="2700" b="1" dirty="0" smtClean="0">
                <a:solidFill>
                  <a:schemeClr val="tx1"/>
                </a:solidFill>
              </a:rPr>
              <a:t>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972261"/>
            <a:ext cx="3072205" cy="2761539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3886200"/>
            <a:ext cx="307220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990600"/>
            <a:ext cx="95619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835400"/>
            <a:ext cx="1427535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 smtClean="0">
                <a:solidFill>
                  <a:schemeClr val="tx1"/>
                </a:solidFill>
              </a:rPr>
              <a:t>31-bedded </a:t>
            </a:r>
            <a:r>
              <a:rPr lang="en-US" sz="1350" b="1" dirty="0">
                <a:solidFill>
                  <a:schemeClr val="tx1"/>
                </a:solidFill>
              </a:rPr>
              <a:t>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0" y="3937000"/>
            <a:ext cx="1311578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350" b="1" dirty="0" smtClean="0">
                <a:solidFill>
                  <a:schemeClr val="tx1"/>
                </a:solidFill>
              </a:rPr>
              <a:t>50-bedded </a:t>
            </a:r>
            <a:r>
              <a:rPr lang="en-US" sz="1350" b="1" dirty="0">
                <a:solidFill>
                  <a:schemeClr val="tx1"/>
                </a:solidFill>
              </a:rPr>
              <a:t>UHC</a:t>
            </a:r>
            <a:endParaRPr lang="en-US" sz="1350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972263"/>
            <a:ext cx="3286014" cy="272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965012"/>
            <a:ext cx="93373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62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6172200" cy="10668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/>
            <a:r>
              <a:rPr lang="en-US" sz="2800" b="1" dirty="0"/>
              <a:t>Background History </a:t>
            </a:r>
            <a:r>
              <a:rPr lang="en-US" sz="2800" b="1" dirty="0" smtClean="0"/>
              <a:t>of </a:t>
            </a:r>
            <a:r>
              <a:rPr lang="en-US" sz="2800" b="1" dirty="0" err="1"/>
              <a:t>Chowgacha</a:t>
            </a:r>
            <a:r>
              <a:rPr lang="en-US" sz="2800" b="1" dirty="0"/>
              <a:t> Health </a:t>
            </a:r>
            <a:r>
              <a:rPr lang="en-US" sz="2800" b="1" dirty="0" smtClean="0"/>
              <a:t>Complex Model, </a:t>
            </a:r>
            <a:r>
              <a:rPr lang="en-US" sz="2800" b="1" dirty="0" err="1"/>
              <a:t>Jessore</a:t>
            </a:r>
            <a:endParaRPr lang="en-US" sz="28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7848600" cy="50292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 smtClean="0"/>
              <a:t>Basically started in 1995.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 smtClean="0"/>
              <a:t>Effectively started in </a:t>
            </a:r>
            <a:r>
              <a:rPr lang="en-US" sz="2400" b="1" dirty="0"/>
              <a:t>Feb. 1996</a:t>
            </a:r>
            <a:r>
              <a:rPr lang="en-US" sz="2400" b="1" dirty="0" smtClean="0"/>
              <a:t>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u="sng" dirty="0" smtClean="0"/>
              <a:t>From </a:t>
            </a:r>
            <a:r>
              <a:rPr lang="en-US" sz="2400" b="1" u="sng" dirty="0"/>
              <a:t>January 1995 to 1997 </a:t>
            </a:r>
            <a:r>
              <a:rPr lang="en-US" sz="2400" b="1" u="sng" dirty="0">
                <a:solidFill>
                  <a:srgbClr val="0000FF"/>
                </a:solidFill>
              </a:rPr>
              <a:t>JICA</a:t>
            </a:r>
            <a:r>
              <a:rPr lang="en-US" sz="2400" b="1" u="sng" dirty="0"/>
              <a:t> helped </a:t>
            </a:r>
            <a:r>
              <a:rPr lang="en-US" sz="2400" b="1" u="sng" dirty="0" smtClean="0"/>
              <a:t> </a:t>
            </a:r>
            <a:r>
              <a:rPr lang="en-US" sz="2400" b="1" u="sng" dirty="0"/>
              <a:t>by Frontline MCH Program </a:t>
            </a:r>
            <a:r>
              <a:rPr lang="en-US" sz="2400" b="1" u="sng" dirty="0" smtClean="0"/>
              <a:t> </a:t>
            </a:r>
            <a:r>
              <a:rPr lang="en-US" sz="2400" b="1" u="sng" dirty="0"/>
              <a:t>by giving technical and logistic supports</a:t>
            </a:r>
            <a:r>
              <a:rPr lang="en-US" sz="2400" b="1" u="sng" dirty="0" smtClean="0"/>
              <a:t>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u="sng" dirty="0" smtClean="0"/>
              <a:t> </a:t>
            </a:r>
            <a:r>
              <a:rPr lang="en-US" sz="2400" b="1" u="sng" dirty="0"/>
              <a:t>Since 1998 </a:t>
            </a:r>
            <a:r>
              <a:rPr lang="en-US" sz="2400" b="1" u="sng" dirty="0">
                <a:solidFill>
                  <a:srgbClr val="0000FF"/>
                </a:solidFill>
              </a:rPr>
              <a:t>DGHS</a:t>
            </a:r>
            <a:r>
              <a:rPr lang="en-US" sz="2400" b="1" u="sng" dirty="0"/>
              <a:t> &amp; </a:t>
            </a:r>
            <a:r>
              <a:rPr lang="en-US" sz="2400" b="1" u="sng" dirty="0">
                <a:solidFill>
                  <a:srgbClr val="0000FF"/>
                </a:solidFill>
              </a:rPr>
              <a:t>UNICEF</a:t>
            </a:r>
            <a:r>
              <a:rPr lang="en-US" sz="2400" b="1" u="sng" dirty="0"/>
              <a:t> have continued the </a:t>
            </a:r>
            <a:r>
              <a:rPr lang="en-US" sz="2400" b="1" u="sng" dirty="0" smtClean="0"/>
              <a:t>support</a:t>
            </a:r>
            <a:r>
              <a:rPr lang="en-US" sz="2400" b="1" u="sng" dirty="0"/>
              <a:t>.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0000FF"/>
                </a:solidFill>
              </a:rPr>
              <a:t>&lt;4 Special activities&gt;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ANC-Corner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Basic EOC service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Monthly birth and death record</a:t>
            </a:r>
            <a:endParaRPr lang="en-US" sz="2400" b="1" dirty="0"/>
          </a:p>
          <a:p>
            <a:pPr marL="0" indent="0">
              <a:lnSpc>
                <a:spcPct val="80000"/>
              </a:lnSpc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4703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1845"/>
            <a:ext cx="6172200" cy="866775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sz="3200" b="1" dirty="0" smtClean="0"/>
              <a:t>Background History Contd</a:t>
            </a:r>
            <a:r>
              <a:rPr lang="en-US" sz="3200" b="1" dirty="0"/>
              <a:t>.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838201"/>
            <a:ext cx="8077200" cy="5562600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sz="1800" b="1" dirty="0"/>
              <a:t> </a:t>
            </a:r>
            <a:r>
              <a:rPr lang="en-US" sz="1800" b="1" dirty="0" smtClean="0"/>
              <a:t>     </a:t>
            </a:r>
            <a:r>
              <a:rPr lang="en-US" sz="2000" b="1" dirty="0" smtClean="0">
                <a:solidFill>
                  <a:srgbClr val="FF0000"/>
                </a:solidFill>
              </a:rPr>
              <a:t>November </a:t>
            </a:r>
            <a:r>
              <a:rPr lang="en-US" sz="2000" b="1" dirty="0">
                <a:solidFill>
                  <a:srgbClr val="FF0000"/>
                </a:solidFill>
              </a:rPr>
              <a:t>2000 </a:t>
            </a:r>
            <a:r>
              <a:rPr lang="en-US" sz="2000" b="1" dirty="0"/>
              <a:t>started Comprehensive EOC program </a:t>
            </a:r>
            <a:r>
              <a:rPr lang="en-US" sz="2000" b="1" dirty="0" smtClean="0"/>
              <a:t> </a:t>
            </a:r>
            <a:endParaRPr lang="en-US" sz="2000" b="1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>
                <a:solidFill>
                  <a:srgbClr val="FF0000"/>
                </a:solidFill>
              </a:rPr>
              <a:t>April 2007</a:t>
            </a:r>
            <a:r>
              <a:rPr lang="en-US" sz="2000" b="1" dirty="0" smtClean="0"/>
              <a:t>-Demand </a:t>
            </a:r>
            <a:r>
              <a:rPr lang="en-US" sz="2000" b="1" dirty="0"/>
              <a:t>Side Financing (DSF) program started.   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Hospital  </a:t>
            </a:r>
            <a:r>
              <a:rPr lang="en-US" sz="2000" b="1" dirty="0"/>
              <a:t>declared as model health complex on </a:t>
            </a:r>
            <a:r>
              <a:rPr lang="en-US" sz="2000" b="1" dirty="0">
                <a:solidFill>
                  <a:srgbClr val="FF0000"/>
                </a:solidFill>
              </a:rPr>
              <a:t>20 June 2008 </a:t>
            </a:r>
            <a:r>
              <a:rPr lang="en-US" sz="2000" b="1" dirty="0"/>
              <a:t>and upgraded to 50 bedded hospital by </a:t>
            </a:r>
            <a:r>
              <a:rPr lang="en-US" sz="2000" b="1" dirty="0" smtClean="0"/>
              <a:t>MOH&amp;FW.</a:t>
            </a:r>
            <a:endParaRPr lang="en-US" sz="2000" b="1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“Chowgacha </a:t>
            </a:r>
            <a:r>
              <a:rPr lang="en-US" sz="2000" b="1" dirty="0"/>
              <a:t>health complex Model is replicable through out the </a:t>
            </a:r>
            <a:r>
              <a:rPr lang="en-US" sz="2000" b="1" dirty="0" smtClean="0"/>
              <a:t>country”  Declared </a:t>
            </a:r>
            <a:r>
              <a:rPr lang="en-US" sz="2000" b="1" dirty="0"/>
              <a:t>by Dr. Margaret Chan, D.G. WHO on </a:t>
            </a:r>
            <a:r>
              <a:rPr lang="en-US" sz="2000" b="1" dirty="0">
                <a:solidFill>
                  <a:srgbClr val="FF0000"/>
                </a:solidFill>
              </a:rPr>
              <a:t>8</a:t>
            </a:r>
            <a:r>
              <a:rPr lang="en-US" sz="2000" b="1" baseline="30000" dirty="0">
                <a:solidFill>
                  <a:srgbClr val="FF0000"/>
                </a:solidFill>
              </a:rPr>
              <a:t>th</a:t>
            </a:r>
            <a:r>
              <a:rPr lang="en-US" sz="2000" b="1" dirty="0">
                <a:solidFill>
                  <a:srgbClr val="FF0000"/>
                </a:solidFill>
              </a:rPr>
              <a:t> March 2010</a:t>
            </a:r>
            <a:r>
              <a:rPr lang="en-US" sz="2000" b="1" dirty="0" smtClean="0"/>
              <a:t>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Piloting  to replication C-J model launched  in 10 district hospital by HEU of MOH&amp;FW in 2016.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Prime minister's office  issues order to replicate the model throughout the country in2017.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DGHS  started to replicate  C-J model in all upazilla UHC &amp; DH  in </a:t>
            </a:r>
            <a:r>
              <a:rPr lang="en-US" sz="2000" b="1" dirty="0" err="1" smtClean="0"/>
              <a:t>june</a:t>
            </a:r>
            <a:r>
              <a:rPr lang="en-US" sz="2000" b="1" dirty="0" smtClean="0"/>
              <a:t> 2018</a:t>
            </a:r>
            <a:r>
              <a:rPr lang="en-US" sz="1850" b="1" dirty="0" smtClean="0"/>
              <a:t>.</a:t>
            </a:r>
            <a:endParaRPr lang="en-US" sz="1850" b="1" dirty="0"/>
          </a:p>
        </p:txBody>
      </p:sp>
    </p:spTree>
    <p:extLst>
      <p:ext uri="{BB962C8B-B14F-4D97-AF65-F5344CB8AC3E}">
        <p14:creationId xmlns:p14="http://schemas.microsoft.com/office/powerpoint/2010/main" val="352553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1295401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Blood donation program stared in 16 December, 1996 in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UHC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</a:t>
            </a:r>
            <a:r>
              <a:rPr lang="en-US" dirty="0" smtClean="0">
                <a:latin typeface="Calibri" pitchFamily="34" charset="0"/>
              </a:rPr>
              <a:t>on ‘Importance of birth &amp; death registration and prevention of early marriage’ at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Degree College in 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276600" y="2616200"/>
            <a:ext cx="2592572" cy="781928"/>
          </a:xfrm>
        </p:spPr>
        <p:txBody>
          <a:bodyPr>
            <a:normAutofit/>
          </a:bodyPr>
          <a:lstStyle/>
          <a:p>
            <a:pPr algn="ctr"/>
            <a:r>
              <a:rPr lang="en-US" sz="2100" dirty="0" smtClean="0"/>
              <a:t>Citizen Charter</a:t>
            </a:r>
            <a:endParaRPr lang="en-US" sz="21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-25400"/>
            <a:ext cx="3441700" cy="68834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-14177"/>
            <a:ext cx="3429000" cy="687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249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1524567"/>
            <a:ext cx="3623930" cy="684851"/>
          </a:xfrm>
        </p:spPr>
        <p:txBody>
          <a:bodyPr>
            <a:normAutofit fontScale="92500" lnSpcReduction="10000"/>
          </a:bodyPr>
          <a:lstStyle/>
          <a:p>
            <a:r>
              <a:rPr lang="en-US" sz="2100" dirty="0" smtClean="0"/>
              <a:t>Cycle stand near the entrance</a:t>
            </a: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46180"/>
            <a:ext cx="4127500" cy="3733800"/>
          </a:xfrm>
        </p:spPr>
      </p:pic>
      <p:sp>
        <p:nvSpPr>
          <p:cNvPr id="7" name="TextBox 6"/>
          <p:cNvSpPr txBox="1"/>
          <p:nvPr/>
        </p:nvSpPr>
        <p:spPr>
          <a:xfrm>
            <a:off x="1295400" y="251685"/>
            <a:ext cx="693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Innovations of Chowgacha Health Complex</a:t>
            </a:r>
            <a:endParaRPr lang="en-US" sz="2400" b="1" dirty="0"/>
          </a:p>
        </p:txBody>
      </p:sp>
      <p:pic>
        <p:nvPicPr>
          <p:cNvPr id="9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62868" y="4114800"/>
            <a:ext cx="4040188" cy="2643057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3945804" y="5469479"/>
            <a:ext cx="629412" cy="44297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13" name="Rectangle 12"/>
          <p:cNvSpPr/>
          <p:nvPr/>
        </p:nvSpPr>
        <p:spPr>
          <a:xfrm>
            <a:off x="205292" y="5440531"/>
            <a:ext cx="38862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 Developed Waste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570961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817965" y="5021547"/>
            <a:ext cx="1447800" cy="6397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 IMCI corner</a:t>
            </a:r>
            <a:endParaRPr lang="en-US" sz="1800" dirty="0"/>
          </a:p>
        </p:txBody>
      </p:sp>
      <p:pic>
        <p:nvPicPr>
          <p:cNvPr id="12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987" y="3696272"/>
            <a:ext cx="4040188" cy="303014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415" y="1336777"/>
            <a:ext cx="1984374" cy="6397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ANC Corner</a:t>
            </a:r>
            <a:endParaRPr lang="en-US" sz="1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5" y="1193801"/>
            <a:ext cx="3810000" cy="3333641"/>
          </a:xfrm>
        </p:spPr>
      </p:pic>
      <p:sp>
        <p:nvSpPr>
          <p:cNvPr id="6" name="Rectangle 5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Left Arrow 7"/>
          <p:cNvSpPr/>
          <p:nvPr/>
        </p:nvSpPr>
        <p:spPr>
          <a:xfrm>
            <a:off x="4045866" y="1533564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Arrow 8"/>
          <p:cNvSpPr/>
          <p:nvPr/>
        </p:nvSpPr>
        <p:spPr>
          <a:xfrm rot="10800000">
            <a:off x="4216823" y="521833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9907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>
            <a:spLocks/>
          </p:cNvSpPr>
          <p:nvPr/>
        </p:nvSpPr>
        <p:spPr>
          <a:xfrm>
            <a:off x="5029201" y="1273533"/>
            <a:ext cx="3368807" cy="6397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Breast feeding &amp; EPI Corner </a:t>
            </a:r>
            <a:endParaRPr lang="en-US" sz="1800" dirty="0"/>
          </a:p>
        </p:txBody>
      </p:sp>
      <p:pic>
        <p:nvPicPr>
          <p:cNvPr id="8" name="Content Placeholder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8" y="1109547"/>
            <a:ext cx="4203454" cy="3022600"/>
          </a:xfrm>
          <a:prstGeom prst="rect">
            <a:avLst/>
          </a:prstGeom>
        </p:spPr>
      </p:pic>
      <p:sp>
        <p:nvSpPr>
          <p:cNvPr id="9" name="Text Placeholder 2"/>
          <p:cNvSpPr txBox="1">
            <a:spLocks/>
          </p:cNvSpPr>
          <p:nvPr/>
        </p:nvSpPr>
        <p:spPr>
          <a:xfrm>
            <a:off x="2669783" y="5139450"/>
            <a:ext cx="1336812" cy="5156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NCD Corner</a:t>
            </a:r>
            <a:endParaRPr lang="en-US" sz="1800" dirty="0"/>
          </a:p>
        </p:txBody>
      </p:sp>
      <p:pic>
        <p:nvPicPr>
          <p:cNvPr id="10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369" y="3522595"/>
            <a:ext cx="4114801" cy="32612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Left Arrow 10"/>
          <p:cNvSpPr/>
          <p:nvPr/>
        </p:nvSpPr>
        <p:spPr>
          <a:xfrm rot="10800000">
            <a:off x="4006596" y="521210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Left Arrow 11"/>
          <p:cNvSpPr/>
          <p:nvPr/>
        </p:nvSpPr>
        <p:spPr>
          <a:xfrm>
            <a:off x="4340709" y="148162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7760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4511" y="1383815"/>
            <a:ext cx="3657600" cy="6397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Separation of male and female patients in Outdoor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4130128" cy="3225800"/>
          </a:xfrm>
        </p:spPr>
      </p:pic>
      <p:sp>
        <p:nvSpPr>
          <p:cNvPr id="6" name="Text Placeholder 4"/>
          <p:cNvSpPr txBox="1">
            <a:spLocks/>
          </p:cNvSpPr>
          <p:nvPr/>
        </p:nvSpPr>
        <p:spPr>
          <a:xfrm>
            <a:off x="698079" y="4906314"/>
            <a:ext cx="3352800" cy="877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Dispensary with</a:t>
            </a:r>
            <a:r>
              <a:rPr kumimoji="0" lang="en-US" sz="19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separated male and female </a:t>
            </a:r>
            <a:endParaRPr kumimoji="0" lang="en-US" sz="1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Content Placeholder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62" y="3736888"/>
            <a:ext cx="4299098" cy="31403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Left Arrow 9"/>
          <p:cNvSpPr/>
          <p:nvPr/>
        </p:nvSpPr>
        <p:spPr>
          <a:xfrm>
            <a:off x="4315515" y="1482208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Arrow 10"/>
          <p:cNvSpPr/>
          <p:nvPr/>
        </p:nvSpPr>
        <p:spPr>
          <a:xfrm rot="10800000">
            <a:off x="3752895" y="506234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9219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775857" y="1285910"/>
            <a:ext cx="3962400" cy="471487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 smtClean="0"/>
              <a:t>Labour</a:t>
            </a:r>
            <a:r>
              <a:rPr lang="en-US" sz="1800" dirty="0" smtClean="0"/>
              <a:t> Ward  with 41=(11+30) beds</a:t>
            </a:r>
            <a:endParaRPr lang="en-US" sz="1800" dirty="0"/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1066800" y="5791200"/>
            <a:ext cx="3972508" cy="471487"/>
          </a:xfrm>
        </p:spPr>
        <p:txBody>
          <a:bodyPr>
            <a:noAutofit/>
          </a:bodyPr>
          <a:lstStyle/>
          <a:p>
            <a:pPr algn="ctr"/>
            <a:r>
              <a:rPr lang="en-US" sz="2000" dirty="0" smtClean="0"/>
              <a:t>Rest room for pregnant mothers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39814" y="165893"/>
            <a:ext cx="68643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Community Participation</a:t>
            </a:r>
            <a:endParaRPr 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Text Placeholder 4"/>
          <p:cNvSpPr>
            <a:spLocks noGrp="1"/>
          </p:cNvSpPr>
          <p:nvPr>
            <p:ph type="body" idx="1"/>
          </p:nvPr>
        </p:nvSpPr>
        <p:spPr>
          <a:xfrm>
            <a:off x="1447800" y="6096001"/>
            <a:ext cx="6324600" cy="381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Ultrasonography machine donated by the </a:t>
            </a:r>
            <a:r>
              <a:rPr lang="en-US" dirty="0" err="1" smtClean="0"/>
              <a:t>Upazila</a:t>
            </a:r>
            <a:r>
              <a:rPr lang="en-US" dirty="0" smtClean="0"/>
              <a:t> </a:t>
            </a:r>
            <a:r>
              <a:rPr lang="en-US" dirty="0" err="1" smtClean="0"/>
              <a:t>Porishod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3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990600"/>
            <a:ext cx="6553204" cy="4914903"/>
          </a:xfrm>
        </p:spPr>
      </p:pic>
    </p:spTree>
    <p:extLst>
      <p:ext uri="{BB962C8B-B14F-4D97-AF65-F5344CB8AC3E}">
        <p14:creationId xmlns:p14="http://schemas.microsoft.com/office/powerpoint/2010/main" val="42398420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Newly Decorated Conference Room</a:t>
            </a:r>
            <a:endParaRPr lang="en-US" b="1" dirty="0"/>
          </a:p>
        </p:txBody>
      </p:sp>
      <p:pic>
        <p:nvPicPr>
          <p:cNvPr id="8" name="Picture 7" descr="CONF R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32" y="1600200"/>
            <a:ext cx="800100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8180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228600" y="4168568"/>
            <a:ext cx="4724400" cy="1474509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 smtClean="0"/>
              <a:t>Secretary of MOHFW A.K.M. </a:t>
            </a:r>
            <a:r>
              <a:rPr lang="en-US" altLang="en-US" sz="1400" b="1" dirty="0" err="1" smtClean="0"/>
              <a:t>Zaforullah</a:t>
            </a:r>
            <a:r>
              <a:rPr lang="en-US" altLang="en-US" sz="1400" b="1" dirty="0" smtClean="0"/>
              <a:t> Khan </a:t>
            </a:r>
          </a:p>
          <a:p>
            <a:pPr algn="ctr"/>
            <a:r>
              <a:rPr lang="en-US" altLang="en-US" sz="1400" b="1" dirty="0" smtClean="0"/>
              <a:t>declared “</a:t>
            </a:r>
            <a:r>
              <a:rPr lang="en-US" altLang="en-US" sz="1400" b="1" dirty="0" err="1" smtClean="0"/>
              <a:t>Chowgacha</a:t>
            </a:r>
            <a:r>
              <a:rPr lang="en-US" altLang="en-US" sz="1400" b="1" dirty="0" smtClean="0"/>
              <a:t> UHC model” in DSF</a:t>
            </a:r>
          </a:p>
          <a:p>
            <a:pPr algn="ctr"/>
            <a:r>
              <a:rPr lang="en-US" altLang="en-US" sz="1400" b="1" dirty="0" smtClean="0"/>
              <a:t> voucher distribution ceremony</a:t>
            </a:r>
            <a:r>
              <a:rPr lang="en-US" altLang="en-US" sz="1400" b="1" dirty="0"/>
              <a:t> </a:t>
            </a:r>
            <a:r>
              <a:rPr lang="en-US" altLang="en-US" sz="1400" b="1" dirty="0" smtClean="0"/>
              <a:t>on </a:t>
            </a:r>
            <a:r>
              <a:rPr lang="en-US" altLang="en-US" sz="1400" b="1" dirty="0"/>
              <a:t>20 </a:t>
            </a:r>
            <a:r>
              <a:rPr lang="en-US" altLang="en-US" sz="1400" b="1" dirty="0" smtClean="0"/>
              <a:t>June-2008</a:t>
            </a:r>
            <a:endParaRPr lang="en-US" altLang="en-US" sz="1400" b="1" dirty="0"/>
          </a:p>
        </p:txBody>
      </p:sp>
      <p:pic>
        <p:nvPicPr>
          <p:cNvPr id="13315" name="Picture 4" descr="IMGP23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2472"/>
            <a:ext cx="3651324" cy="320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11358" y="1295400"/>
            <a:ext cx="4337124" cy="1730895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400" b="1" dirty="0" smtClean="0"/>
              <a:t>Honorable </a:t>
            </a:r>
            <a:r>
              <a:rPr lang="en-US" sz="1400" b="1" dirty="0"/>
              <a:t>Health </a:t>
            </a:r>
            <a:r>
              <a:rPr lang="en-US" sz="1400" b="1" dirty="0" smtClean="0"/>
              <a:t>Minister</a:t>
            </a:r>
            <a:r>
              <a:rPr lang="en-US" sz="1400" b="1" dirty="0"/>
              <a:t> </a:t>
            </a:r>
            <a:r>
              <a:rPr lang="en-US" sz="1400" b="1" dirty="0" smtClean="0"/>
              <a:t>Prof </a:t>
            </a:r>
            <a:r>
              <a:rPr lang="en-US" sz="1400" b="1" dirty="0" smtClean="0">
                <a:latin typeface="+mn-lt"/>
              </a:rPr>
              <a:t>Dr. </a:t>
            </a:r>
            <a:r>
              <a:rPr lang="en-US" sz="1400" b="1" dirty="0" err="1" smtClean="0">
                <a:latin typeface="+mn-lt"/>
              </a:rPr>
              <a:t>Ruhul</a:t>
            </a:r>
            <a:r>
              <a:rPr lang="en-US" sz="1400" b="1" dirty="0" smtClean="0">
                <a:latin typeface="+mn-lt"/>
              </a:rPr>
              <a:t> </a:t>
            </a:r>
            <a:r>
              <a:rPr lang="en-US" sz="1400" b="1" dirty="0" err="1" smtClean="0">
                <a:latin typeface="+mn-lt"/>
              </a:rPr>
              <a:t>Haque</a:t>
            </a:r>
            <a:endParaRPr lang="en-US" sz="1400" b="1" dirty="0" smtClean="0">
              <a:latin typeface="+mn-lt"/>
            </a:endParaRPr>
          </a:p>
          <a:p>
            <a:pPr algn="ctr"/>
            <a:r>
              <a:rPr lang="en-US" sz="1400" b="1" dirty="0" smtClean="0">
                <a:latin typeface="+mn-lt"/>
              </a:rPr>
              <a:t> MP with WHO Representative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smtClean="0">
                <a:latin typeface="+mn-lt"/>
              </a:rPr>
              <a:t>handing over </a:t>
            </a:r>
          </a:p>
          <a:p>
            <a:pPr algn="ctr"/>
            <a:r>
              <a:rPr lang="en-US" sz="1400" b="1" dirty="0" smtClean="0">
                <a:latin typeface="+mn-lt"/>
              </a:rPr>
              <a:t>money and </a:t>
            </a:r>
            <a:r>
              <a:rPr lang="en-US" sz="1400" b="1" dirty="0">
                <a:latin typeface="+mn-lt"/>
              </a:rPr>
              <a:t>gift of voucher scheme of </a:t>
            </a:r>
            <a:r>
              <a:rPr lang="en-US" sz="1400" b="1" dirty="0"/>
              <a:t>DSF</a:t>
            </a:r>
            <a:endParaRPr lang="en-US" altLang="en-US" sz="1400" b="1" dirty="0"/>
          </a:p>
        </p:txBody>
      </p:sp>
      <p:pic>
        <p:nvPicPr>
          <p:cNvPr id="6" name="Picture 4" descr="Razzak_Remove (Mama)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38004"/>
            <a:ext cx="3790749" cy="2837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0"/>
            <a:ext cx="621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Visit by Dignitaries – UHC Chowgacha</a:t>
            </a:r>
            <a:endParaRPr lang="en-US" sz="2800" b="1" dirty="0"/>
          </a:p>
        </p:txBody>
      </p:sp>
      <p:sp>
        <p:nvSpPr>
          <p:cNvPr id="8" name="Left Arrow 7"/>
          <p:cNvSpPr/>
          <p:nvPr/>
        </p:nvSpPr>
        <p:spPr>
          <a:xfrm>
            <a:off x="4113545" y="171787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Arrow 9"/>
          <p:cNvSpPr/>
          <p:nvPr/>
        </p:nvSpPr>
        <p:spPr>
          <a:xfrm rot="10800000">
            <a:off x="4546092" y="4684335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9335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288839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1143000" y="23884"/>
            <a:ext cx="6858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ACHIEVEMENTS 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 </a:t>
            </a:r>
            <a:r>
              <a:rPr lang="en-US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 COMPLEX</a:t>
            </a:r>
            <a:endParaRPr lang="en-US" sz="27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7400"/>
            <a:ext cx="4572000" cy="54864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70000" lnSpcReduction="20000"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1800" b="1" dirty="0"/>
          </a:p>
          <a:p>
            <a:pPr algn="just">
              <a:spcBef>
                <a:spcPts val="0"/>
              </a:spcBef>
              <a:defRPr/>
            </a:pPr>
            <a:r>
              <a:rPr lang="en-US" sz="2900" b="1" dirty="0"/>
              <a:t>In </a:t>
            </a:r>
            <a:r>
              <a:rPr lang="en-US" sz="2900" b="1" dirty="0">
                <a:solidFill>
                  <a:srgbClr val="FF0000"/>
                </a:solidFill>
              </a:rPr>
              <a:t>2008</a:t>
            </a:r>
            <a:r>
              <a:rPr lang="en-US" sz="2900" b="1" dirty="0"/>
              <a:t>, Chowgacha Health Complex declared as the </a:t>
            </a:r>
            <a:r>
              <a:rPr lang="en-US" sz="2900" b="1" u="sng" dirty="0" smtClean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29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2900" b="1" u="sng" dirty="0">
                <a:solidFill>
                  <a:srgbClr val="FF0000"/>
                </a:solidFill>
                <a:latin typeface="Century Schoolbook" pitchFamily="18" charset="0"/>
              </a:rPr>
              <a:t> </a:t>
            </a:r>
            <a:r>
              <a:rPr lang="en-US" sz="2900" b="1" u="sng" dirty="0" smtClean="0">
                <a:solidFill>
                  <a:srgbClr val="FF0000"/>
                </a:solidFill>
                <a:latin typeface="Century Schoolbook" pitchFamily="18" charset="0"/>
              </a:rPr>
              <a:t>Health Complex</a:t>
            </a:r>
            <a:endParaRPr lang="en-US" sz="29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 err="1" smtClean="0">
                <a:solidFill>
                  <a:srgbClr val="FF0000"/>
                </a:solidFill>
              </a:rPr>
              <a:t>Chowgacha</a:t>
            </a:r>
            <a:r>
              <a:rPr lang="en-US" sz="2900" b="1" dirty="0" smtClean="0">
                <a:solidFill>
                  <a:srgbClr val="FF0000"/>
                </a:solidFill>
              </a:rPr>
              <a:t> </a:t>
            </a:r>
            <a:r>
              <a:rPr lang="en-US" sz="2900" b="1" dirty="0">
                <a:solidFill>
                  <a:srgbClr val="FF0000"/>
                </a:solidFill>
              </a:rPr>
              <a:t>UHC achieved MDG target in 2009</a:t>
            </a:r>
            <a:endParaRPr lang="en-US" sz="2900" b="1" dirty="0" smtClean="0">
              <a:solidFill>
                <a:srgbClr val="FF0000"/>
              </a:solidFill>
            </a:endParaRP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 smtClean="0"/>
              <a:t>Chowgacha UHC  became the </a:t>
            </a:r>
            <a:r>
              <a:rPr lang="en-US" sz="2900" b="1" dirty="0" smtClean="0">
                <a:solidFill>
                  <a:srgbClr val="FF0000"/>
                </a:solidFill>
              </a:rPr>
              <a:t>Best EOC center  with 98.4% delivery rate in 2011</a:t>
            </a:r>
            <a:endParaRPr lang="en-US" sz="2900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 smtClean="0"/>
              <a:t>Chowgacha Health complex is awarded for best performance in </a:t>
            </a:r>
            <a:r>
              <a:rPr lang="en-US" sz="2900" b="1" dirty="0" smtClean="0">
                <a:solidFill>
                  <a:srgbClr val="FF0000"/>
                </a:solidFill>
              </a:rPr>
              <a:t>EOC form 2005 to 2014</a:t>
            </a:r>
            <a:endParaRPr lang="en-US" sz="2900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 smtClean="0"/>
              <a:t>Achieve </a:t>
            </a:r>
            <a:r>
              <a:rPr lang="en-US" sz="2900" b="1" dirty="0" smtClean="0">
                <a:solidFill>
                  <a:srgbClr val="FF0000"/>
                </a:solidFill>
              </a:rPr>
              <a:t>Health Ministers Award</a:t>
            </a:r>
            <a:r>
              <a:rPr lang="en-US" sz="2900" b="1" dirty="0" smtClean="0"/>
              <a:t> for its best performances in</a:t>
            </a:r>
            <a:r>
              <a:rPr lang="en-US" sz="2900" b="1" dirty="0" smtClean="0">
                <a:solidFill>
                  <a:srgbClr val="FF0000"/>
                </a:solidFill>
              </a:rPr>
              <a:t> 2017 and 2018</a:t>
            </a:r>
            <a:endParaRPr lang="en-US" sz="2900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 smtClean="0"/>
              <a:t>The UHC starts upgrade to 100  bedded hospital</a:t>
            </a: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900" b="1" dirty="0" smtClean="0"/>
              <a:t>The UHC model is being replicated throughout the country by DGHS, MOH &amp; FW since 2016 by the order of Prime Ministers office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2" b="3461"/>
          <a:stretch/>
        </p:blipFill>
        <p:spPr>
          <a:xfrm>
            <a:off x="4572000" y="787400"/>
            <a:ext cx="4648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105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 algn="just">
              <a:defRPr/>
            </a:pPr>
            <a:r>
              <a:rPr lang="en-US" sz="3000" b="1" dirty="0" smtClean="0"/>
              <a:t>Insecure  hospital environment.</a:t>
            </a:r>
          </a:p>
          <a:p>
            <a:pPr algn="just">
              <a:defRPr/>
            </a:pPr>
            <a:r>
              <a:rPr lang="en-US" sz="3000" b="1" dirty="0" smtClean="0"/>
              <a:t>Performance of all activities was very low.</a:t>
            </a:r>
          </a:p>
          <a:p>
            <a:pPr algn="just">
              <a:defRPr/>
            </a:pPr>
            <a:r>
              <a:rPr lang="en-US" sz="3000" b="1" dirty="0" smtClean="0"/>
              <a:t>Very limited support staff.</a:t>
            </a:r>
          </a:p>
          <a:p>
            <a:pPr algn="just">
              <a:defRPr/>
            </a:pPr>
            <a:r>
              <a:rPr lang="en-US" sz="3000" b="1" dirty="0" smtClean="0"/>
              <a:t>3 doctors including RMO was suspended. </a:t>
            </a:r>
            <a:endParaRPr lang="en-US" sz="3000" b="1" dirty="0"/>
          </a:p>
          <a:p>
            <a:pPr algn="just">
              <a:defRPr/>
            </a:pPr>
            <a:r>
              <a:rPr lang="en-US" sz="3000" b="1" dirty="0" smtClean="0"/>
              <a:t>Non-</a:t>
            </a:r>
            <a:r>
              <a:rPr lang="en-US" sz="3000" b="1" dirty="0" err="1" smtClean="0"/>
              <a:t>gov</a:t>
            </a:r>
            <a:r>
              <a:rPr lang="en-US" sz="3000" b="1" dirty="0" err="1"/>
              <a:t>.</a:t>
            </a:r>
            <a:r>
              <a:rPr lang="en-US" sz="3000" b="1" dirty="0"/>
              <a:t> staff</a:t>
            </a:r>
            <a:r>
              <a:rPr lang="en-US" sz="3000" b="1" dirty="0" smtClean="0"/>
              <a:t>. demanding money from the patients.</a:t>
            </a:r>
          </a:p>
          <a:p>
            <a:pPr algn="just">
              <a:defRPr/>
            </a:pPr>
            <a:r>
              <a:rPr lang="en-US" sz="3000" b="1" dirty="0" smtClean="0"/>
              <a:t>Waste management system was poor.</a:t>
            </a:r>
          </a:p>
          <a:p>
            <a:pPr algn="just">
              <a:defRPr/>
            </a:pPr>
            <a:r>
              <a:rPr lang="en-US" sz="3000" b="1" dirty="0" smtClean="0"/>
              <a:t>Monitoring meeting was not performed regularl</a:t>
            </a:r>
            <a:r>
              <a:rPr lang="en-US" sz="2800" b="1" dirty="0" smtClean="0"/>
              <a:t>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635536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609600" y="1905000"/>
            <a:ext cx="8229600" cy="46482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endParaRPr lang="en-GB" b="1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Successful leadership in health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Personal and group skills in health </a:t>
            </a:r>
            <a:r>
              <a:rPr lang="en-GB" sz="1800" dirty="0" smtClean="0"/>
              <a:t>care.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Community engaged health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Optimum use of government </a:t>
            </a:r>
            <a:r>
              <a:rPr lang="en-GB" sz="1800" dirty="0" smtClean="0"/>
              <a:t>resources.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Effective relation with local administration and with other government </a:t>
            </a:r>
            <a:r>
              <a:rPr lang="en-GB" sz="1800" dirty="0" smtClean="0"/>
              <a:t>organizations.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Improvement of security by community </a:t>
            </a:r>
            <a:r>
              <a:rPr lang="en-GB" sz="1800" dirty="0" smtClean="0"/>
              <a:t>engagement.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Improved maternal health care </a:t>
            </a:r>
            <a:r>
              <a:rPr lang="en-GB" sz="1800" dirty="0" smtClean="0"/>
              <a:t>activities.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Improved child health care </a:t>
            </a:r>
            <a:r>
              <a:rPr lang="en-GB" sz="1800" dirty="0" smtClean="0"/>
              <a:t>activities.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 smtClean="0"/>
              <a:t>Ensuring corner-based health care.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609600" y="304800"/>
            <a:ext cx="8229600" cy="997424"/>
          </a:xfrm>
          <a:prstGeom prst="rect">
            <a:avLst/>
          </a:prstGeom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GB" dirty="0"/>
              <a:t>Characteristics of Jhenaidah Sadar Hospital Model-1</a:t>
            </a:r>
          </a:p>
          <a:p>
            <a:pPr marL="0" indent="0"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2681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1905001"/>
            <a:ext cx="8153400" cy="42672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Woman and Baby Friendly Hospital</a:t>
            </a:r>
            <a:r>
              <a:rPr lang="en-GB" sz="1800" dirty="0" smtClean="0"/>
              <a:t>.</a:t>
            </a:r>
          </a:p>
          <a:p>
            <a:pPr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Birth </a:t>
            </a:r>
            <a:r>
              <a:rPr lang="en-GB" sz="1800" dirty="0"/>
              <a:t>and death recording, progress assessment and </a:t>
            </a:r>
            <a:r>
              <a:rPr lang="en-GB" sz="1800" dirty="0" smtClean="0"/>
              <a:t>develop accountability </a:t>
            </a:r>
            <a:r>
              <a:rPr lang="en-GB" sz="1800" dirty="0"/>
              <a:t>by collecting information on all health </a:t>
            </a:r>
            <a:r>
              <a:rPr lang="en-GB" sz="1800" dirty="0" smtClean="0"/>
              <a:t>indicators.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Improving </a:t>
            </a:r>
            <a:r>
              <a:rPr lang="en-GB" sz="1800" dirty="0"/>
              <a:t>healthcare by unit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Health awareness by health </a:t>
            </a:r>
            <a:r>
              <a:rPr lang="en-GB" sz="1800" dirty="0" smtClean="0"/>
              <a:t>education.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Cleanliness </a:t>
            </a:r>
            <a:r>
              <a:rPr lang="en-GB" sz="1800" dirty="0"/>
              <a:t>(Waste management) and beautification of the facility and </a:t>
            </a:r>
            <a:r>
              <a:rPr lang="en-GB" sz="1800" dirty="0" smtClean="0"/>
              <a:t>premises.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Provision of safe blood transfusion for emergency needs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Zero tolerance against </a:t>
            </a:r>
            <a:r>
              <a:rPr lang="en-GB" sz="1800" dirty="0" smtClean="0"/>
              <a:t>corruption.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Implementation of the 5S KAIZEN-TQM for the improvement of </a:t>
            </a:r>
            <a:r>
              <a:rPr lang="en-GB" sz="1800" dirty="0" smtClean="0"/>
              <a:t>health quality.</a:t>
            </a:r>
            <a:endParaRPr lang="en-GB" sz="1800" dirty="0"/>
          </a:p>
          <a:p>
            <a:pPr marL="514350" indent="-514350">
              <a:buFont typeface="+mj-lt"/>
              <a:buAutoNum type="arabicPeriod" startAt="10"/>
            </a:pPr>
            <a:endParaRPr lang="en-GB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609600" y="304800"/>
            <a:ext cx="8229600" cy="997424"/>
          </a:xfrm>
          <a:prstGeom prst="rect">
            <a:avLst/>
          </a:prstGeom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GB" dirty="0"/>
              <a:t>Characteristics of Jhenaidah Sadar Hospital </a:t>
            </a:r>
            <a:r>
              <a:rPr lang="en-GB" dirty="0" smtClean="0"/>
              <a:t>Model-2</a:t>
            </a:r>
            <a:endParaRPr lang="en-GB" dirty="0"/>
          </a:p>
          <a:p>
            <a:pPr marL="0" indent="0"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0395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2019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572270648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3068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645567418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,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0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2019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3124466"/>
              </p:ext>
            </p:extLst>
          </p:nvPr>
        </p:nvGraphicFramePr>
        <p:xfrm>
          <a:off x="3048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</a:t>
            </a: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296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5892413"/>
              </p:ext>
            </p:extLst>
          </p:nvPr>
        </p:nvGraphicFramePr>
        <p:xfrm>
          <a:off x="152400" y="1371601"/>
          <a:ext cx="8839200" cy="4682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152400" y="0"/>
            <a:ext cx="8991600" cy="7620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52400" y="762000"/>
            <a:ext cx="89916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2019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04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 smtClean="0"/>
              <a:t>Total ANC and Delivery in Jhenaidah District Hospital 2011-2019</a:t>
            </a:r>
            <a:endParaRPr lang="en-GB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69916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280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16" name="Group 7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901046"/>
              </p:ext>
            </p:extLst>
          </p:nvPr>
        </p:nvGraphicFramePr>
        <p:xfrm>
          <a:off x="762000" y="1066800"/>
          <a:ext cx="7848600" cy="517415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627888"/>
                <a:gridCol w="1810512"/>
                <a:gridCol w="914400"/>
                <a:gridCol w="838200"/>
                <a:gridCol w="914400"/>
                <a:gridCol w="859536"/>
                <a:gridCol w="941832"/>
                <a:gridCol w="941832"/>
              </a:tblGrid>
              <a:tr h="927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2011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2017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2019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7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Section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Total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Section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Total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554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1828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*4362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7884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Jashore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1503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3078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375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Kustia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915</a:t>
                      </a: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2677</a:t>
                      </a: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1030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2781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1616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3674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6862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bed,Jhenaidah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Hoapitals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430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2375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*2997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1019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2753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6862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Chowgacha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*4413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854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2957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3544" y="-431800"/>
            <a:ext cx="8229600" cy="175260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US" sz="2700" b="1" dirty="0">
                <a:solidFill>
                  <a:srgbClr val="FF0000"/>
                </a:solidFill>
                <a:latin typeface="Arial" charset="0"/>
                <a:cs typeface="Arial" charset="0"/>
              </a:rPr>
              <a:t>Comparative Data of Delivery of best performing EOC center of Khulna Division in </a:t>
            </a:r>
            <a:r>
              <a:rPr lang="en-US" sz="2700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2011,2017,2019</a:t>
            </a:r>
            <a:endParaRPr lang="en-US" sz="27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98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2019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5325105"/>
              </p:ext>
            </p:extLst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281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Cleaner:	20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boy:	21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guard:	6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Volunteer:	3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Dining space for patients.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 smtClean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6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A team of Jhenaidah  </a:t>
            </a:r>
            <a:r>
              <a:rPr lang="en-US" sz="2000" dirty="0" err="1" smtClean="0"/>
              <a:t>sadar</a:t>
            </a:r>
            <a:r>
              <a:rPr lang="en-US" sz="2000" dirty="0" smtClean="0"/>
              <a:t> hospital visited to </a:t>
            </a:r>
            <a:r>
              <a:rPr lang="en-US" sz="2000" dirty="0" err="1" smtClean="0"/>
              <a:t>Shatkhira</a:t>
            </a:r>
            <a:r>
              <a:rPr lang="en-US" sz="2000" dirty="0" smtClean="0"/>
              <a:t> </a:t>
            </a:r>
            <a:r>
              <a:rPr lang="en-US" sz="2000" dirty="0" err="1" smtClean="0"/>
              <a:t>sadar</a:t>
            </a:r>
            <a:r>
              <a:rPr lang="en-US" sz="2000" dirty="0" smtClean="0"/>
              <a:t> hospital in 2014</a:t>
            </a:r>
            <a:endParaRPr lang="en-US" sz="20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 smtClean="0"/>
              <a:t>A meeting was held in </a:t>
            </a:r>
            <a:r>
              <a:rPr lang="en-US" sz="2000" dirty="0" err="1" smtClean="0"/>
              <a:t>Shatkhira</a:t>
            </a:r>
            <a:r>
              <a:rPr lang="en-US" sz="2000" dirty="0" smtClean="0"/>
              <a:t> </a:t>
            </a:r>
            <a:r>
              <a:rPr lang="en-US" sz="2000" dirty="0" err="1" smtClean="0"/>
              <a:t>sadar</a:t>
            </a:r>
            <a:r>
              <a:rPr lang="en-US" sz="2000" dirty="0" smtClean="0"/>
              <a:t> conference room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131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175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5S KAIZEN-TQM Program Started in Jhenaidah Sadar Hospital in 2014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013" y="3934820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9019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7620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TQM program started in Jhenaidah Sadar Hospital</a:t>
            </a:r>
            <a:endParaRPr lang="en-US" sz="20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7795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A meeting of QIC was held in Jhenaidah Sadar Hospital Conference room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6252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3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828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65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Alignment of pictures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44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47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799"/>
            <a:ext cx="4424362" cy="2996821"/>
          </a:xfrm>
        </p:spPr>
      </p:pic>
      <p:pic>
        <p:nvPicPr>
          <p:cNvPr id="7577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4495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38600"/>
            <a:ext cx="449897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4259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community supported manpower - 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88813" y="4038600"/>
            <a:ext cx="864339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  <a:extLst/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Guard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8817" y="685800"/>
            <a:ext cx="14671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Trolley man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8112949" y="685800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Cleaner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689756" y="4038600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Nursing aid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57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DSC0240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642937"/>
            <a:ext cx="42576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642937"/>
            <a:ext cx="443230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69875" y="38100"/>
            <a:ext cx="8229600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1407" y="685800"/>
            <a:ext cx="278794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Repaired boundary wall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362700" y="642937"/>
            <a:ext cx="26670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Campus beautification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198231" y="3886200"/>
            <a:ext cx="212883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Cycle stand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6036573" y="3927929"/>
            <a:ext cx="299312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Recovery of hospital land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677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255560" cy="28956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886200"/>
            <a:ext cx="4127426" cy="28956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685800"/>
            <a:ext cx="4038599" cy="2743200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685800"/>
            <a:ext cx="4281168" cy="274320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269875" y="38100"/>
            <a:ext cx="8229600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6184" y="697468"/>
            <a:ext cx="351891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Digitalization of patient profile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6371857" y="689212"/>
            <a:ext cx="246734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Organized pharmacy</a:t>
            </a:r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246184" y="3886200"/>
            <a:ext cx="315983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Improved conference room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6695998" y="3916907"/>
            <a:ext cx="216822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Visitor Restriction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3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050" y="3886200"/>
            <a:ext cx="4503693" cy="2971800"/>
          </a:xfrm>
        </p:spPr>
      </p:pic>
      <p:pic>
        <p:nvPicPr>
          <p:cNvPr id="1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3955"/>
            <a:ext cx="4267200" cy="3101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4800600" y="1676400"/>
            <a:ext cx="342900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Reception </a:t>
            </a:r>
            <a:r>
              <a:rPr lang="en-US" b="1" dirty="0" smtClean="0">
                <a:solidFill>
                  <a:srgbClr val="FF0000"/>
                </a:solidFill>
              </a:rPr>
              <a:t>room provided by community support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221794" y="5079242"/>
            <a:ext cx="390356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rgbClr val="FF0000"/>
                </a:solidFill>
              </a:rPr>
              <a:t>ECG facility in </a:t>
            </a:r>
            <a:r>
              <a:rPr lang="en-US" b="1" dirty="0" err="1" smtClean="0">
                <a:solidFill>
                  <a:srgbClr val="FF0000"/>
                </a:solidFill>
              </a:rPr>
              <a:t>enemrgency</a:t>
            </a:r>
            <a:r>
              <a:rPr lang="en-US" b="1" dirty="0" smtClean="0">
                <a:solidFill>
                  <a:srgbClr val="FF0000"/>
                </a:solidFill>
              </a:rPr>
              <a:t> department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02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729734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12518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9" y="3943451"/>
            <a:ext cx="4532312" cy="291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5278839" y="3929051"/>
            <a:ext cx="38651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Dining facility by community sup.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Extension </a:t>
            </a:r>
            <a:r>
              <a:rPr lang="en-US" b="1" dirty="0" smtClean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305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Sadar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47725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 smtClean="0">
                <a:solidFill>
                  <a:srgbClr val="FF0000"/>
                </a:solidFill>
              </a:rPr>
              <a:t>Perticipation</a:t>
            </a:r>
            <a:r>
              <a:rPr lang="en-US" sz="1500" b="1" dirty="0" smtClean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1" name="Rectangle 10"/>
          <p:cNvSpPr/>
          <p:nvPr/>
        </p:nvSpPr>
        <p:spPr>
          <a:xfrm>
            <a:off x="4343401" y="847725"/>
            <a:ext cx="4805362" cy="3308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50" b="1" dirty="0">
                <a:solidFill>
                  <a:srgbClr val="FF0000"/>
                </a:solidFill>
              </a:rPr>
              <a:t> </a:t>
            </a:r>
            <a:r>
              <a:rPr lang="en-US" sz="1550" b="1" dirty="0" err="1" smtClean="0">
                <a:solidFill>
                  <a:srgbClr val="FF0000"/>
                </a:solidFill>
              </a:rPr>
              <a:t>Perticipation</a:t>
            </a:r>
            <a:r>
              <a:rPr lang="en-US" sz="1550" b="1" dirty="0" smtClean="0">
                <a:solidFill>
                  <a:srgbClr val="FF0000"/>
                </a:solidFill>
              </a:rPr>
              <a:t> of Previous </a:t>
            </a:r>
            <a:r>
              <a:rPr lang="en-US" sz="1550" b="1" dirty="0" err="1" smtClean="0">
                <a:solidFill>
                  <a:srgbClr val="FF0000"/>
                </a:solidFill>
              </a:rPr>
              <a:t>Zilla</a:t>
            </a:r>
            <a:r>
              <a:rPr lang="en-US" sz="1550" b="1" dirty="0" smtClean="0">
                <a:solidFill>
                  <a:srgbClr val="FF0000"/>
                </a:solidFill>
              </a:rPr>
              <a:t> </a:t>
            </a:r>
            <a:r>
              <a:rPr lang="en-US" sz="1550" b="1" dirty="0" err="1" smtClean="0">
                <a:solidFill>
                  <a:srgbClr val="FF0000"/>
                </a:solidFill>
              </a:rPr>
              <a:t>parishad</a:t>
            </a:r>
            <a:r>
              <a:rPr lang="en-US" sz="1550" b="1" dirty="0" smtClean="0">
                <a:solidFill>
                  <a:srgbClr val="FF0000"/>
                </a:solidFill>
              </a:rPr>
              <a:t> chairman</a:t>
            </a:r>
            <a:endParaRPr lang="en-GB" sz="155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6819279" y="3985289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258401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5281" y="609600"/>
            <a:ext cx="3740919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Blood donation camp by district judge </a:t>
            </a:r>
            <a:endParaRPr lang="en-GB" sz="1500" dirty="0"/>
          </a:p>
        </p:txBody>
      </p:sp>
      <p:sp>
        <p:nvSpPr>
          <p:cNvPr id="11" name="Rectangle 10"/>
          <p:cNvSpPr/>
          <p:nvPr/>
        </p:nvSpPr>
        <p:spPr>
          <a:xfrm>
            <a:off x="6904431" y="618699"/>
            <a:ext cx="2094487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Hospital visit by DC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26158" y="3620069"/>
            <a:ext cx="2094487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Hospital visit by SP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4800600" y="3599597"/>
            <a:ext cx="4219927" cy="323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500" b="1" dirty="0" err="1" smtClean="0">
                <a:solidFill>
                  <a:srgbClr val="FF0000"/>
                </a:solidFill>
              </a:rPr>
              <a:t>Manobota</a:t>
            </a:r>
            <a:r>
              <a:rPr lang="en-US" sz="1500" b="1" dirty="0" smtClean="0">
                <a:solidFill>
                  <a:srgbClr val="FF0000"/>
                </a:solidFill>
              </a:rPr>
              <a:t> blood donor group opened by CS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344702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Meting of health improvement committee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Meting of community support group committee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QIC meeting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Monthly meeting schedule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44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302505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</a:t>
            </a:r>
          </a:p>
          <a:p>
            <a:pPr marL="0" algn="just">
              <a:defRPr/>
            </a:pPr>
            <a:r>
              <a:rPr lang="en-US" b="1" dirty="0" smtClean="0"/>
              <a:t>    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4.. </a:t>
            </a:r>
            <a:r>
              <a:rPr lang="en-US" b="1" dirty="0"/>
              <a:t>The hospital is awarded 6 times from 2013 to 2018. </a:t>
            </a:r>
            <a:endParaRPr lang="en-US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Replication of C- J Model by DGHS in 20 District hospital &amp; 40 UHC of the country.</a:t>
            </a:r>
          </a:p>
          <a:p>
            <a:pPr marL="0" algn="just">
              <a:defRPr/>
            </a:pPr>
            <a:r>
              <a:rPr lang="en-US" b="1" dirty="0" smtClean="0"/>
              <a:t> </a:t>
            </a:r>
            <a:endParaRPr lang="en-US" b="1" dirty="0"/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66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228600"/>
            <a:ext cx="8839199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/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Lessons learned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88069" name="Rectangle 2"/>
          <p:cNvSpPr>
            <a:spLocks noChangeArrowheads="1"/>
          </p:cNvSpPr>
          <p:nvPr/>
        </p:nvSpPr>
        <p:spPr bwMode="auto">
          <a:xfrm>
            <a:off x="152400" y="1219200"/>
            <a:ext cx="8839200" cy="55626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Public health and hospital services and resources are inadequate vis-à-vis the need specially for the poor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This gap can be minimized through local participation.</a:t>
            </a:r>
          </a:p>
          <a:p>
            <a:pPr marL="514350" indent="-514350" algn="just" eaLnBrk="0" hangingPunct="0">
              <a:buFontTx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Effective health service and hospital management require local support and participation.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Health personnel, specially the local health manager should take the role of catalyst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Local support can be attracted through improved services, and visible efforts and morality of the health managers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MOHFW can take initiative to roll out the model and the message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Jhenaidah-</a:t>
            </a:r>
            <a:r>
              <a:rPr lang="en-US" sz="2000" dirty="0" err="1"/>
              <a:t>Chowgacha</a:t>
            </a:r>
            <a:r>
              <a:rPr lang="en-US" sz="2000" dirty="0"/>
              <a:t> team will happy to volunteer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000" dirty="0"/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000" dirty="0"/>
          </a:p>
          <a:p>
            <a:pPr marL="514350" indent="-514350" algn="just" eaLnBrk="0" hangingPunct="0">
              <a:buFontTx/>
              <a:buAutoNum type="arabicPeriod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3589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198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5943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5318</TotalTime>
  <Words>1521</Words>
  <Application>Microsoft Office PowerPoint</Application>
  <PresentationFormat>On-screen Show (4:3)</PresentationFormat>
  <Paragraphs>346</Paragraphs>
  <Slides>53</Slides>
  <Notes>19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5" baseType="lpstr">
      <vt:lpstr>Office Theme</vt:lpstr>
      <vt:lpstr>Chart</vt:lpstr>
      <vt:lpstr>PowerPoint Presentation</vt:lpstr>
      <vt:lpstr>A Hospital with a Vision …</vt:lpstr>
      <vt:lpstr>PowerPoint Presentation</vt:lpstr>
      <vt:lpstr>Background History of Chowgacha Health Complex Model, Jessore</vt:lpstr>
      <vt:lpstr>Background History Contd.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Newly Decorated Conference Room</vt:lpstr>
      <vt:lpstr>PowerPoint Presentation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ACHIEVEMENTS of CHOWGACHA HEALTH COMPLEX</vt:lpstr>
      <vt:lpstr>100 kh¨v wewkó m`i nvmcvZvj, wSbvB`n</vt:lpstr>
      <vt:lpstr>Challenges of the hospital in 2012</vt:lpstr>
      <vt:lpstr>PowerPoint Presentation</vt:lpstr>
      <vt:lpstr>PowerPoint Presentation</vt:lpstr>
      <vt:lpstr>PowerPoint Presentation</vt:lpstr>
      <vt:lpstr>Emergency + Out Door &amp; Indoor  Service 1998 to 2019</vt:lpstr>
      <vt:lpstr>Operation Service (Major) 2011 to 2019</vt:lpstr>
      <vt:lpstr>PowerPoint Presentation</vt:lpstr>
      <vt:lpstr>Total ANC and Delivery in Jhenaidah District Hospital 2011-2019</vt:lpstr>
      <vt:lpstr>Comparative Data of Delivery of best performing EOC center of Khulna Division in 2011,2017,2019</vt:lpstr>
      <vt:lpstr>  Comparative data of revenue income (in Taka) from 2015 to 2019 </vt:lpstr>
      <vt:lpstr>PowerPoint Presentation</vt:lpstr>
      <vt:lpstr>PowerPoint Presentation</vt:lpstr>
      <vt:lpstr>PowerPoint Presentation</vt:lpstr>
      <vt:lpstr>Changes in EOC Ward</vt:lpstr>
      <vt:lpstr>PowerPoint Presentation</vt:lpstr>
      <vt:lpstr>PowerPoint Presentation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Innovative activities community supported manpower -  2</vt:lpstr>
      <vt:lpstr>PowerPoint Presentation</vt:lpstr>
      <vt:lpstr>PowerPoint Presentation</vt:lpstr>
      <vt:lpstr>Innovative activities of Jhenaidah Sadar Hospital - 5</vt:lpstr>
      <vt:lpstr>Innovative activities of Jhenaidah Sadar Hospital - 6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PowerPoint Presentation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836</cp:revision>
  <cp:lastPrinted>2017-03-18T23:47:54Z</cp:lastPrinted>
  <dcterms:created xsi:type="dcterms:W3CDTF">2013-05-05T09:56:19Z</dcterms:created>
  <dcterms:modified xsi:type="dcterms:W3CDTF">2022-02-13T17:19:32Z</dcterms:modified>
</cp:coreProperties>
</file>