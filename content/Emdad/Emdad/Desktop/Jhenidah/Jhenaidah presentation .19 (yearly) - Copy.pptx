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56"/>
  </p:notesMasterIdLst>
  <p:sldIdLst>
    <p:sldId id="385" r:id="rId2"/>
    <p:sldId id="386" r:id="rId3"/>
    <p:sldId id="415" r:id="rId4"/>
    <p:sldId id="416" r:id="rId5"/>
    <p:sldId id="417" r:id="rId6"/>
    <p:sldId id="418" r:id="rId7"/>
    <p:sldId id="388" r:id="rId8"/>
    <p:sldId id="389" r:id="rId9"/>
    <p:sldId id="390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7" r:id="rId18"/>
    <p:sldId id="438" r:id="rId19"/>
    <p:sldId id="391" r:id="rId20"/>
    <p:sldId id="425" r:id="rId21"/>
    <p:sldId id="376" r:id="rId22"/>
    <p:sldId id="405" r:id="rId23"/>
    <p:sldId id="379" r:id="rId24"/>
    <p:sldId id="377" r:id="rId25"/>
    <p:sldId id="375" r:id="rId26"/>
    <p:sldId id="328" r:id="rId27"/>
    <p:sldId id="383" r:id="rId28"/>
    <p:sldId id="381" r:id="rId29"/>
    <p:sldId id="392" r:id="rId30"/>
    <p:sldId id="397" r:id="rId31"/>
    <p:sldId id="403" r:id="rId32"/>
    <p:sldId id="406" r:id="rId33"/>
    <p:sldId id="369" r:id="rId34"/>
    <p:sldId id="287" r:id="rId35"/>
    <p:sldId id="288" r:id="rId36"/>
    <p:sldId id="291" r:id="rId37"/>
    <p:sldId id="413" r:id="rId38"/>
    <p:sldId id="308" r:id="rId39"/>
    <p:sldId id="411" r:id="rId40"/>
    <p:sldId id="412" r:id="rId41"/>
    <p:sldId id="312" r:id="rId42"/>
    <p:sldId id="366" r:id="rId43"/>
    <p:sldId id="363" r:id="rId44"/>
    <p:sldId id="364" r:id="rId45"/>
    <p:sldId id="370" r:id="rId46"/>
    <p:sldId id="372" r:id="rId47"/>
    <p:sldId id="371" r:id="rId48"/>
    <p:sldId id="297" r:id="rId49"/>
    <p:sldId id="293" r:id="rId50"/>
    <p:sldId id="401" r:id="rId51"/>
    <p:sldId id="409" r:id="rId52"/>
    <p:sldId id="330" r:id="rId53"/>
    <p:sldId id="410" r:id="rId54"/>
    <p:sldId id="344" r:id="rId5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1459" autoAdjust="0"/>
  </p:normalViewPr>
  <p:slideViewPr>
    <p:cSldViewPr>
      <p:cViewPr>
        <p:scale>
          <a:sx n="70" d="100"/>
          <a:sy n="70" d="100"/>
        </p:scale>
        <p:origin x="-1614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image" Target="../media/image26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28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image" Target="../media/image29.jpeg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image" Target="../media/image26.jpeg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image" Target="../media/image22.jpeg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Covid-19%20report%2020.xlsx" TargetMode="External"/><Relationship Id="rId2" Type="http://schemas.openxmlformats.org/officeDocument/2006/relationships/image" Target="../media/image31.jpeg"/><Relationship Id="rId1" Type="http://schemas.openxmlformats.org/officeDocument/2006/relationships/themeOverride" Target="../theme/themeOverrid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890347039953401E-2"/>
          <c:y val="8.0954601022027506E-2"/>
          <c:w val="0.79749431321084863"/>
          <c:h val="0.788539579741881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4413</c:v>
                </c:pt>
                <c:pt idx="1">
                  <c:v>3506</c:v>
                </c:pt>
                <c:pt idx="2">
                  <c:v>3246</c:v>
                </c:pt>
                <c:pt idx="3">
                  <c:v>3418</c:v>
                </c:pt>
                <c:pt idx="4">
                  <c:v>3486</c:v>
                </c:pt>
                <c:pt idx="5">
                  <c:v>3001</c:v>
                </c:pt>
                <c:pt idx="6">
                  <c:v>2926</c:v>
                </c:pt>
                <c:pt idx="7">
                  <c:v>2756</c:v>
                </c:pt>
                <c:pt idx="8">
                  <c:v>2957</c:v>
                </c:pt>
                <c:pt idx="9">
                  <c:v>2615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753-4410-A092-6E61458D3C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1039</c:v>
                </c:pt>
                <c:pt idx="5">
                  <c:v>727</c:v>
                </c:pt>
                <c:pt idx="6">
                  <c:v>759</c:v>
                </c:pt>
                <c:pt idx="7">
                  <c:v>790</c:v>
                </c:pt>
                <c:pt idx="8">
                  <c:v>854</c:v>
                </c:pt>
                <c:pt idx="9">
                  <c:v>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753-4410-A092-6E61458D3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721408"/>
        <c:axId val="151298048"/>
      </c:barChart>
      <c:catAx>
        <c:axId val="126721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1298048"/>
        <c:crosses val="autoZero"/>
        <c:auto val="1"/>
        <c:lblAlgn val="ctr"/>
        <c:lblOffset val="100"/>
        <c:noMultiLvlLbl val="0"/>
      </c:catAx>
      <c:valAx>
        <c:axId val="151298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67214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474617235345604"/>
          <c:y val="5.3978707543213912E-2"/>
          <c:w val="0.17386493875765535"/>
          <c:h val="0.244113590830732"/>
        </c:manualLayout>
      </c:layout>
      <c:overlay val="0"/>
      <c:spPr>
        <a:solidFill>
          <a:schemeClr val="bg1"/>
        </a:solidFill>
        <a:ln>
          <a:solidFill>
            <a:schemeClr val="accent1"/>
          </a:solidFill>
        </a:ln>
      </c:sp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Emergency+Outdoor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97956</c:v>
                </c:pt>
                <c:pt idx="1">
                  <c:v>87611</c:v>
                </c:pt>
                <c:pt idx="2">
                  <c:v>99955</c:v>
                </c:pt>
                <c:pt idx="3">
                  <c:v>105057</c:v>
                </c:pt>
                <c:pt idx="4">
                  <c:v>87456</c:v>
                </c:pt>
                <c:pt idx="5">
                  <c:v>134195</c:v>
                </c:pt>
                <c:pt idx="6">
                  <c:v>142869</c:v>
                </c:pt>
                <c:pt idx="7">
                  <c:v>136611</c:v>
                </c:pt>
                <c:pt idx="8">
                  <c:v>145592</c:v>
                </c:pt>
                <c:pt idx="9">
                  <c:v>135820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9F-4306-8585-8E53C9687A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14819</c:v>
                </c:pt>
                <c:pt idx="1">
                  <c:v>14112</c:v>
                </c:pt>
                <c:pt idx="2">
                  <c:v>13708</c:v>
                </c:pt>
                <c:pt idx="3">
                  <c:v>14349</c:v>
                </c:pt>
                <c:pt idx="4">
                  <c:v>14140</c:v>
                </c:pt>
                <c:pt idx="5">
                  <c:v>13933</c:v>
                </c:pt>
                <c:pt idx="6">
                  <c:v>15125</c:v>
                </c:pt>
                <c:pt idx="7">
                  <c:v>12836</c:v>
                </c:pt>
                <c:pt idx="8">
                  <c:v>16915</c:v>
                </c:pt>
                <c:pt idx="9">
                  <c:v>10139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D9F-4306-8585-8E53C9687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522624"/>
        <c:axId val="182524160"/>
      </c:barChart>
      <c:catAx>
        <c:axId val="182522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2524160"/>
        <c:crosses val="autoZero"/>
        <c:auto val="1"/>
        <c:lblAlgn val="ctr"/>
        <c:lblOffset val="100"/>
        <c:noMultiLvlLbl val="0"/>
      </c:catAx>
      <c:valAx>
        <c:axId val="1825241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25226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471577565962166"/>
          <c:y val="0.38908298468477376"/>
          <c:w val="0.25333494497398351"/>
          <c:h val="0.21411916567323974"/>
        </c:manualLayout>
      </c:layout>
      <c:overlay val="0"/>
      <c:txPr>
        <a:bodyPr/>
        <a:lstStyle/>
        <a:p>
          <a:pPr>
            <a:defRPr sz="1500" baseline="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Number of Beds = 50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Occupancy Rate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207.47</c:v>
                </c:pt>
                <c:pt idx="1">
                  <c:v>184</c:v>
                </c:pt>
                <c:pt idx="2">
                  <c:v>181</c:v>
                </c:pt>
                <c:pt idx="3">
                  <c:v>188.52</c:v>
                </c:pt>
                <c:pt idx="4">
                  <c:v>187.93</c:v>
                </c:pt>
                <c:pt idx="5">
                  <c:v>157.87</c:v>
                </c:pt>
                <c:pt idx="6">
                  <c:v>170.59</c:v>
                </c:pt>
                <c:pt idx="7">
                  <c:v>158.85000000000002</c:v>
                </c:pt>
                <c:pt idx="8">
                  <c:v>207.02</c:v>
                </c:pt>
                <c:pt idx="9">
                  <c:v>112.09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5B4-4213-B6AF-A87D1F9E56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33101824"/>
        <c:axId val="202927104"/>
      </c:barChart>
      <c:catAx>
        <c:axId val="133101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27104"/>
        <c:crosses val="autoZero"/>
        <c:auto val="1"/>
        <c:lblAlgn val="ctr"/>
        <c:lblOffset val="100"/>
        <c:noMultiLvlLbl val="0"/>
      </c:catAx>
      <c:valAx>
        <c:axId val="20292710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3101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Sheet1!$A$7:$A$16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Sheet1!$B$7:$B$16</c:f>
              <c:numCache>
                <c:formatCode>General</c:formatCode>
                <c:ptCount val="10"/>
                <c:pt idx="0">
                  <c:v>8935</c:v>
                </c:pt>
                <c:pt idx="1">
                  <c:v>7442</c:v>
                </c:pt>
                <c:pt idx="2">
                  <c:v>7210</c:v>
                </c:pt>
                <c:pt idx="3">
                  <c:v>6919</c:v>
                </c:pt>
                <c:pt idx="4">
                  <c:v>7194</c:v>
                </c:pt>
                <c:pt idx="5">
                  <c:v>6756</c:v>
                </c:pt>
                <c:pt idx="6">
                  <c:v>6632</c:v>
                </c:pt>
                <c:pt idx="7">
                  <c:v>6348</c:v>
                </c:pt>
                <c:pt idx="8">
                  <c:v>7349</c:v>
                </c:pt>
                <c:pt idx="9">
                  <c:v>6995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487-44CC-864A-78852C478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3341440"/>
        <c:axId val="203464064"/>
      </c:barChart>
      <c:catAx>
        <c:axId val="18334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464064"/>
        <c:crosses val="autoZero"/>
        <c:auto val="1"/>
        <c:lblAlgn val="ctr"/>
        <c:lblOffset val="100"/>
        <c:noMultiLvlLbl val="0"/>
      </c:catAx>
      <c:valAx>
        <c:axId val="2034640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341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2.42</c:v>
                </c:pt>
                <c:pt idx="5">
                  <c:v>2.5099999999999998</c:v>
                </c:pt>
                <c:pt idx="6">
                  <c:v>2.88</c:v>
                </c:pt>
                <c:pt idx="7">
                  <c:v>1.85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0304"/>
        <c:axId val="14292096"/>
      </c:barChart>
      <c:catAx>
        <c:axId val="14290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14292096"/>
        <c:crosses val="autoZero"/>
        <c:auto val="1"/>
        <c:lblAlgn val="ctr"/>
        <c:lblOffset val="100"/>
        <c:noMultiLvlLbl val="0"/>
      </c:catAx>
      <c:valAx>
        <c:axId val="1429209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290304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484288"/>
        <c:axId val="41485824"/>
      </c:barChart>
      <c:catAx>
        <c:axId val="41484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1485824"/>
        <c:crosses val="autoZero"/>
        <c:auto val="1"/>
        <c:lblAlgn val="ctr"/>
        <c:lblOffset val="100"/>
        <c:noMultiLvlLbl val="0"/>
      </c:catAx>
      <c:valAx>
        <c:axId val="414858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4148428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41504128"/>
        <c:axId val="125580416"/>
        <c:axId val="0"/>
      </c:bar3DChart>
      <c:catAx>
        <c:axId val="41504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5580416"/>
        <c:crosses val="autoZero"/>
        <c:auto val="1"/>
        <c:lblAlgn val="ctr"/>
        <c:lblOffset val="100"/>
        <c:noMultiLvlLbl val="0"/>
      </c:catAx>
      <c:valAx>
        <c:axId val="1255804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15041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076416"/>
        <c:axId val="126077952"/>
      </c:barChart>
      <c:catAx>
        <c:axId val="126076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6077952"/>
        <c:crosses val="autoZero"/>
        <c:auto val="1"/>
        <c:lblAlgn val="ctr"/>
        <c:lblOffset val="100"/>
        <c:noMultiLvlLbl val="0"/>
      </c:catAx>
      <c:valAx>
        <c:axId val="126077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6076416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  <c:pt idx="7">
                  <c:v>14646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  <c:pt idx="7">
                  <c:v>2501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671680"/>
        <c:axId val="125677568"/>
      </c:barChart>
      <c:catAx>
        <c:axId val="125671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5677568"/>
        <c:crosses val="autoZero"/>
        <c:auto val="1"/>
        <c:lblAlgn val="ctr"/>
        <c:lblOffset val="100"/>
        <c:noMultiLvlLbl val="0"/>
      </c:catAx>
      <c:valAx>
        <c:axId val="1256775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567168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6018688"/>
        <c:axId val="126020224"/>
        <c:axId val="125586944"/>
      </c:bar3DChart>
      <c:catAx>
        <c:axId val="126018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6020224"/>
        <c:crosses val="autoZero"/>
        <c:auto val="1"/>
        <c:lblAlgn val="ctr"/>
        <c:lblOffset val="100"/>
        <c:noMultiLvlLbl val="0"/>
      </c:catAx>
      <c:valAx>
        <c:axId val="12602022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6018688"/>
        <c:crosses val="autoZero"/>
        <c:crossBetween val="between"/>
      </c:valAx>
      <c:serAx>
        <c:axId val="125586944"/>
        <c:scaling>
          <c:orientation val="minMax"/>
        </c:scaling>
        <c:delete val="1"/>
        <c:axPos val="b"/>
        <c:majorTickMark val="out"/>
        <c:minorTickMark val="none"/>
        <c:tickLblPos val="nextTo"/>
        <c:crossAx val="126020224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8582</c:v>
                </c:pt>
                <c:pt idx="1">
                  <c:v>16981</c:v>
                </c:pt>
                <c:pt idx="2">
                  <c:v>8145</c:v>
                </c:pt>
                <c:pt idx="3">
                  <c:v>14812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259259259259258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4174</c:v>
                </c:pt>
                <c:pt idx="1">
                  <c:v>3058</c:v>
                </c:pt>
                <c:pt idx="2">
                  <c:v>3658</c:v>
                </c:pt>
                <c:pt idx="3">
                  <c:v>2737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00617283950617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-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1828</c:v>
                </c:pt>
                <c:pt idx="1">
                  <c:v>1503</c:v>
                </c:pt>
                <c:pt idx="2">
                  <c:v>1616</c:v>
                </c:pt>
                <c:pt idx="3">
                  <c:v>1019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807616"/>
        <c:axId val="125817600"/>
      </c:barChart>
      <c:catAx>
        <c:axId val="125807616"/>
        <c:scaling>
          <c:orientation val="minMax"/>
        </c:scaling>
        <c:delete val="0"/>
        <c:axPos val="b"/>
        <c:majorTickMark val="out"/>
        <c:minorTickMark val="none"/>
        <c:tickLblPos val="nextTo"/>
        <c:crossAx val="125817600"/>
        <c:crosses val="autoZero"/>
        <c:auto val="1"/>
        <c:lblAlgn val="ctr"/>
        <c:lblOffset val="100"/>
        <c:noMultiLvlLbl val="0"/>
      </c:catAx>
      <c:valAx>
        <c:axId val="1258176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580761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FFFF00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24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3.1284886264217014E-2"/>
                  <c:y val="-2.777793979456293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3.0641951006124293E-2"/>
                  <c:y val="1.204819277108433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341</c:v>
                </c:pt>
                <c:pt idx="1">
                  <c:v>35</c:v>
                </c:pt>
                <c:pt idx="2">
                  <c:v>35</c:v>
                </c:pt>
                <c:pt idx="3">
                  <c:v>15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2"/>
      <a:tile tx="0" ty="0" sx="100000" sy="100000" flip="none" algn="tl"/>
    </a:blipFill>
  </c:spPr>
  <c:externalData r:id="rId3">
    <c:autoUpdate val="0"/>
  </c:externalData>
  <c:userShapes r:id="rId4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0.725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629400" y="0"/>
          <a:ext cx="2514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CCFFFF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/>
            <a:t>Total  Admit -460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0.90576</cdr:x>
      <cdr:y>0.11111</cdr:y>
    </cdr:from>
    <cdr:to>
      <cdr:x>0.96635</cdr:x>
      <cdr:y>0.88889</cdr:y>
    </cdr:to>
    <cdr:sp macro="" textlink="">
      <cdr:nvSpPr>
        <cdr:cNvPr id="3" name="TextBox 4"/>
        <cdr:cNvSpPr txBox="1"/>
      </cdr:nvSpPr>
      <cdr:spPr>
        <a:xfrm xmlns:a="http://schemas.openxmlformats.org/drawingml/2006/main">
          <a:off x="8282269" y="702726"/>
          <a:ext cx="553998" cy="4919148"/>
        </a:xfrm>
        <a:prstGeom xmlns:a="http://schemas.openxmlformats.org/drawingml/2006/main" prst="rect">
          <a:avLst/>
        </a:prstGeom>
        <a:solidFill xmlns:a="http://schemas.openxmlformats.org/drawingml/2006/main">
          <a:srgbClr val="00B0F0"/>
        </a:solidFill>
      </cdr:spPr>
      <cdr:txBody>
        <a:bodyPr xmlns:a="http://schemas.openxmlformats.org/drawingml/2006/main" vert="vert270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1pPr>
          <a:lvl2pPr marL="389185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2pPr>
          <a:lvl3pPr marL="778371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3pPr>
          <a:lvl4pPr marL="1167556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4pPr>
          <a:lvl5pPr marL="155674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5pPr>
          <a:lvl6pPr marL="1945927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6pPr>
          <a:lvl7pPr marL="233511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7pPr>
          <a:lvl8pPr marL="2724298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8pPr>
          <a:lvl9pPr marL="3113483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9pPr>
        </a:lstStyle>
        <a:p xmlns:a="http://schemas.openxmlformats.org/drawingml/2006/main"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Total Health Staff positive   -  </a:t>
          </a:r>
          <a:r>
            <a:rPr lang="en-US" sz="2400" b="1" dirty="0" smtClean="0">
              <a:latin typeface="Times New Roman" pitchFamily="18" charset="0"/>
              <a:cs typeface="Times New Roman" pitchFamily="18" charset="0"/>
            </a:rPr>
            <a:t>108</a:t>
          </a:r>
          <a:endParaRPr lang="en-US" sz="2400" b="1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6/22/2021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3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71450" indent="-296711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86847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61585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36324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11062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5801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60540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35279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802939"/>
            <a:ext cx="5605074" cy="45501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0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5" y="4802939"/>
            <a:ext cx="5605074" cy="4550153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3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75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54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6/22/2021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41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2021/6/22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  <p:sldLayoutId id="2147484020" r:id="rId13"/>
    <p:sldLayoutId id="2147484021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1.jpeg"/><Relationship Id="rId4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jpeg"/><Relationship Id="rId4" Type="http://schemas.openxmlformats.org/officeDocument/2006/relationships/image" Target="../media/image108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is the best example of community participation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Senior National Consultant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C-J Model </a:t>
            </a:r>
            <a:r>
              <a:rPr lang="en-US" sz="200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</a:t>
            </a: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eplication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</a:t>
            </a: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41865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5358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915793"/>
            <a:ext cx="3248553" cy="292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</a:t>
            </a:r>
            <a:r>
              <a:rPr lang="en-US" sz="2700" b="1" dirty="0" smtClean="0">
                <a:solidFill>
                  <a:schemeClr val="tx1"/>
                </a:solidFill>
              </a:rPr>
              <a:t>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972261"/>
            <a:ext cx="3072205" cy="2761539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3886200"/>
            <a:ext cx="307220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9906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8354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31-bedded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937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50-bedded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972263"/>
            <a:ext cx="3286014" cy="272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965012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2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4639"/>
            <a:ext cx="61722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54115" y="2019300"/>
            <a:ext cx="234315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200" b="1" dirty="0"/>
              <a:t>Maximum utilization of Govt.</a:t>
            </a:r>
          </a:p>
          <a:p>
            <a:pPr algn="ctr" eaLnBrk="0" hangingPunct="0"/>
            <a:r>
              <a:rPr lang="en-US" sz="1200" b="1" dirty="0"/>
              <a:t>resources with </a:t>
            </a:r>
          </a:p>
          <a:p>
            <a:pPr algn="ctr" eaLnBrk="0" hangingPunct="0"/>
            <a:r>
              <a:rPr lang="en-US" sz="12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54115" y="51054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Providing Effective  services </a:t>
            </a:r>
          </a:p>
          <a:p>
            <a:pPr algn="ctr" eaLnBrk="0" hangingPunct="0"/>
            <a:r>
              <a:rPr lang="en-US" sz="1200" b="1" dirty="0"/>
              <a:t>through improved </a:t>
            </a:r>
          </a:p>
          <a:p>
            <a:pPr algn="ctr" eaLnBrk="0" hangingPunct="0"/>
            <a:r>
              <a:rPr lang="en-US" sz="12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228850" y="2438400"/>
            <a:ext cx="188595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54864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354115" y="36195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Integrated approach of </a:t>
            </a:r>
          </a:p>
          <a:p>
            <a:pPr algn="ctr" eaLnBrk="0" hangingPunct="0"/>
            <a:r>
              <a:rPr lang="en-US" sz="1200" b="1" dirty="0"/>
              <a:t>Administration, Community</a:t>
            </a:r>
          </a:p>
          <a:p>
            <a:pPr algn="ctr" eaLnBrk="0" hangingPunct="0"/>
            <a:r>
              <a:rPr lang="en-US" sz="12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40005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8663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6172200" cy="9144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2800" b="1" dirty="0"/>
              <a:t>Background History of MCH services of </a:t>
            </a:r>
            <a:r>
              <a:rPr lang="en-US" sz="2800" b="1" dirty="0" err="1"/>
              <a:t>Chowgacha</a:t>
            </a:r>
            <a:r>
              <a:rPr lang="en-US" sz="2800" b="1" dirty="0"/>
              <a:t> Health Complex,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848600" cy="5486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2400" b="1" u="sng" dirty="0"/>
              <a:t>from January 1995 to 1997 </a:t>
            </a:r>
            <a:r>
              <a:rPr lang="en-US" sz="2400" b="1" u="sng" dirty="0">
                <a:solidFill>
                  <a:srgbClr val="0000FF"/>
                </a:solidFill>
              </a:rPr>
              <a:t>JICA</a:t>
            </a:r>
            <a:r>
              <a:rPr lang="en-US" sz="2400" b="1" u="sng" dirty="0"/>
              <a:t> helped us by Frontline MCH Program to implement the program by giving technical and logistic supports. Since 1998 </a:t>
            </a:r>
            <a:r>
              <a:rPr lang="en-US" sz="2400" b="1" u="sng" dirty="0">
                <a:solidFill>
                  <a:srgbClr val="0000FF"/>
                </a:solidFill>
              </a:rPr>
              <a:t>DGHS</a:t>
            </a:r>
            <a:r>
              <a:rPr lang="en-US" sz="2400" b="1" u="sng" dirty="0"/>
              <a:t> &amp; </a:t>
            </a:r>
            <a:r>
              <a:rPr lang="en-US" sz="2400" b="1" u="sng" dirty="0">
                <a:solidFill>
                  <a:srgbClr val="0000FF"/>
                </a:solidFill>
              </a:rPr>
              <a:t>UNICEF</a:t>
            </a:r>
            <a:r>
              <a:rPr lang="en-US" sz="2400" b="1" u="sng" dirty="0"/>
              <a:t> have continued the </a:t>
            </a:r>
            <a:r>
              <a:rPr lang="en-US" sz="2400" b="1" u="sng" dirty="0" smtClean="0"/>
              <a:t>support</a:t>
            </a:r>
            <a:r>
              <a:rPr lang="en-US" sz="2400" b="1" u="sng" dirty="0"/>
              <a:t>.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14573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1845"/>
            <a:ext cx="6172200" cy="8667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Background History Contd</a:t>
            </a:r>
            <a:r>
              <a:rPr lang="en-US" sz="3200" b="1" dirty="0"/>
              <a:t>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8077200" cy="5791199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>
                <a:solidFill>
                  <a:srgbClr val="FF0000"/>
                </a:solidFill>
              </a:rPr>
              <a:t>Dec</a:t>
            </a:r>
            <a:r>
              <a:rPr lang="en-US" sz="1800" b="1" dirty="0">
                <a:solidFill>
                  <a:srgbClr val="FF0000"/>
                </a:solidFill>
              </a:rPr>
              <a:t>. 1999 </a:t>
            </a:r>
            <a:r>
              <a:rPr lang="en-US" sz="1800" b="1" dirty="0" smtClean="0"/>
              <a:t>– DGHS &amp; UNICEF provides logistic &amp; </a:t>
            </a:r>
            <a:r>
              <a:rPr lang="en-US" sz="1800" b="1" dirty="0" err="1" smtClean="0"/>
              <a:t>Anaesthesia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Trg</a:t>
            </a:r>
            <a:r>
              <a:rPr lang="en-US" sz="1800" b="1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>
                <a:solidFill>
                  <a:srgbClr val="FF0000"/>
                </a:solidFill>
              </a:rPr>
              <a:t>November </a:t>
            </a:r>
            <a:r>
              <a:rPr lang="en-US" sz="1800" b="1" dirty="0">
                <a:solidFill>
                  <a:srgbClr val="FF0000"/>
                </a:solidFill>
              </a:rPr>
              <a:t>2000 </a:t>
            </a:r>
            <a:r>
              <a:rPr lang="en-US" sz="1800" b="1" dirty="0"/>
              <a:t>started Comprehensive EOC program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>
                <a:solidFill>
                  <a:srgbClr val="FF0000"/>
                </a:solidFill>
              </a:rPr>
              <a:t>2004—2014</a:t>
            </a:r>
            <a:r>
              <a:rPr lang="en-US" sz="1800" b="1" dirty="0" smtClean="0"/>
              <a:t> - the </a:t>
            </a:r>
            <a:r>
              <a:rPr lang="en-US" sz="1800" b="1" dirty="0"/>
              <a:t>UHC was awarded by the Bangladesh Government and UNICEF for best performance on EOC Service.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>
                <a:solidFill>
                  <a:srgbClr val="FF0000"/>
                </a:solidFill>
              </a:rPr>
              <a:t>August 2006</a:t>
            </a:r>
            <a:r>
              <a:rPr lang="en-US" sz="1800" b="1" dirty="0" smtClean="0"/>
              <a:t>-Safe </a:t>
            </a:r>
            <a:r>
              <a:rPr lang="en-US" sz="1800" b="1" dirty="0"/>
              <a:t>Blood Transfusion unit established with the aid of UNICEF.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>
                <a:solidFill>
                  <a:srgbClr val="FF0000"/>
                </a:solidFill>
              </a:rPr>
              <a:t>April 2007</a:t>
            </a:r>
            <a:r>
              <a:rPr lang="en-US" sz="1800" b="1" dirty="0" smtClean="0"/>
              <a:t>-Demand </a:t>
            </a:r>
            <a:r>
              <a:rPr lang="en-US" sz="1800" b="1" dirty="0"/>
              <a:t>Side Financing (DSF) program started.  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/>
              <a:t>Women friendly Hospital declared in </a:t>
            </a:r>
            <a:r>
              <a:rPr lang="en-US" sz="1800" b="1" dirty="0">
                <a:solidFill>
                  <a:srgbClr val="FF0000"/>
                </a:solidFill>
              </a:rPr>
              <a:t>2008</a:t>
            </a:r>
            <a:r>
              <a:rPr lang="en-US" sz="1800" b="1" dirty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/>
              <a:t>Hospital </a:t>
            </a:r>
            <a:r>
              <a:rPr lang="en-US" sz="1800" b="1" dirty="0" smtClean="0"/>
              <a:t> </a:t>
            </a:r>
            <a:r>
              <a:rPr lang="en-US" sz="1800" b="1" dirty="0"/>
              <a:t>declared as model health complex on </a:t>
            </a:r>
            <a:r>
              <a:rPr lang="en-US" sz="1800" b="1" dirty="0">
                <a:solidFill>
                  <a:srgbClr val="FF0000"/>
                </a:solidFill>
              </a:rPr>
              <a:t>20 June 2008 </a:t>
            </a:r>
            <a:r>
              <a:rPr lang="en-US" sz="1800" b="1" dirty="0"/>
              <a:t>and upgraded to 50 bedded hospital by Secretary of Ministry of Health &amp; family welfare.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1800" b="1" dirty="0" smtClean="0"/>
              <a:t>“</a:t>
            </a:r>
            <a:r>
              <a:rPr lang="en-US" sz="2400" b="1" dirty="0" smtClean="0"/>
              <a:t>Chowgacha </a:t>
            </a:r>
            <a:r>
              <a:rPr lang="en-US" sz="2400" b="1" dirty="0"/>
              <a:t>health complex Model is replicable through out the </a:t>
            </a:r>
            <a:r>
              <a:rPr lang="en-US" sz="2400" b="1" dirty="0" smtClean="0"/>
              <a:t>country”  </a:t>
            </a:r>
            <a:r>
              <a:rPr lang="en-US" sz="1800" b="1" dirty="0" smtClean="0"/>
              <a:t>Declared </a:t>
            </a:r>
            <a:r>
              <a:rPr lang="en-US" sz="2400" b="1" dirty="0"/>
              <a:t>by Dr. Margaret Chan, D.G. WHO on </a:t>
            </a:r>
            <a:r>
              <a:rPr lang="en-US" sz="2400" b="1" dirty="0">
                <a:solidFill>
                  <a:srgbClr val="FF0000"/>
                </a:solidFill>
              </a:rPr>
              <a:t>8</a:t>
            </a:r>
            <a:r>
              <a:rPr lang="en-US" sz="2400" b="1" baseline="30000" dirty="0">
                <a:solidFill>
                  <a:srgbClr val="FF0000"/>
                </a:solidFill>
              </a:rPr>
              <a:t>th</a:t>
            </a:r>
            <a:r>
              <a:rPr lang="en-US" sz="2400" b="1" dirty="0">
                <a:solidFill>
                  <a:srgbClr val="FF0000"/>
                </a:solidFill>
              </a:rPr>
              <a:t> March 2010</a:t>
            </a:r>
            <a:r>
              <a:rPr lang="en-US" sz="24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99043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05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273125"/>
              </p:ext>
            </p:extLst>
          </p:nvPr>
        </p:nvGraphicFramePr>
        <p:xfrm>
          <a:off x="0" y="1092200"/>
          <a:ext cx="9144000" cy="572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469900" y="482600"/>
            <a:ext cx="8229600" cy="609600"/>
          </a:xfrm>
          <a:prstGeom prst="rect">
            <a:avLst/>
          </a:prstGeom>
          <a:gradFill>
            <a:gsLst>
              <a:gs pos="100000">
                <a:schemeClr val="bg1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  <a:ln>
            <a:solidFill>
              <a:schemeClr val="tx1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2011- 2020 (Total Hospital Delivery &amp; C-section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1249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Upazila Health  Complex</a:t>
            </a:r>
            <a:br>
              <a:rPr lang="en-US" sz="3600" b="1" smtClean="0"/>
            </a:br>
            <a:r>
              <a:rPr lang="en-US" sz="2800" b="1" smtClean="0"/>
              <a:t>CHOWGACHA , JESSORE.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524000"/>
            <a:ext cx="81534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7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82857"/>
              </p:ext>
            </p:extLst>
          </p:nvPr>
        </p:nvGraphicFramePr>
        <p:xfrm>
          <a:off x="533400" y="2362200"/>
          <a:ext cx="8153400" cy="3513107"/>
        </p:xfrm>
        <a:graphic>
          <a:graphicData uri="http://schemas.openxmlformats.org/drawingml/2006/table">
            <a:tbl>
              <a:tblPr/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968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8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Kustia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4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Emergency + Outdoor </a:t>
            </a:r>
            <a:r>
              <a:rPr lang="en-US" sz="3000" b="1" dirty="0"/>
              <a:t>&amp; </a:t>
            </a:r>
            <a:r>
              <a:rPr lang="en-US" sz="3000" b="1" dirty="0" smtClean="0"/>
              <a:t>Indoor 2011-2020</a:t>
            </a:r>
            <a:br>
              <a:rPr lang="en-US" sz="3000" b="1" dirty="0" smtClean="0"/>
            </a:br>
            <a:r>
              <a:rPr lang="en-US" sz="3000" b="1" dirty="0" smtClean="0"/>
              <a:t>UHC Chowgacha</a:t>
            </a:r>
            <a:endParaRPr lang="en-GB" sz="3000" dirty="0"/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552563"/>
              </p:ext>
            </p:extLst>
          </p:nvPr>
        </p:nvGraphicFramePr>
        <p:xfrm>
          <a:off x="457200" y="1934634"/>
          <a:ext cx="8686800" cy="4389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3766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840886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42900" y="27940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Bed Occupancy Rate (in percentage) of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Chowgacha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2486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178619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 – 2020  (ANC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First Visit)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9652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sz="3200" b="1" dirty="0" smtClean="0"/>
              <a:t>EOC Activities Chowgacha UHC 2011-2020</a:t>
            </a:r>
          </a:p>
        </p:txBody>
      </p:sp>
    </p:spTree>
    <p:extLst>
      <p:ext uri="{BB962C8B-B14F-4D97-AF65-F5344CB8AC3E}">
        <p14:creationId xmlns:p14="http://schemas.microsoft.com/office/powerpoint/2010/main" val="2531126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46856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COVID-19 Response of UHC Chowgacha</a:t>
            </a:r>
            <a:endParaRPr lang="en-US" b="1" u="sng" dirty="0"/>
          </a:p>
        </p:txBody>
      </p:sp>
      <p:graphicFrame>
        <p:nvGraphicFramePr>
          <p:cNvPr id="10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609900"/>
              </p:ext>
            </p:extLst>
          </p:nvPr>
        </p:nvGraphicFramePr>
        <p:xfrm>
          <a:off x="304800" y="1674037"/>
          <a:ext cx="403860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4919">
                <a:tc>
                  <a:txBody>
                    <a:bodyPr/>
                    <a:lstStyle/>
                    <a:p>
                      <a:pPr algn="ctr"/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NUMBER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COMMENT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0731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Total Specimen</a:t>
                      </a:r>
                      <a:r>
                        <a:rPr lang="en-US" sz="1900" b="1" baseline="0" dirty="0" smtClean="0"/>
                        <a:t> Collected 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1341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 smtClean="0"/>
                        <a:t>Upto</a:t>
                      </a:r>
                      <a:r>
                        <a:rPr lang="en-US" sz="1900" b="1" dirty="0" smtClean="0"/>
                        <a:t> 31/05/2021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8637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Total Detected Patient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213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 smtClean="0"/>
                        <a:t>Upto</a:t>
                      </a:r>
                      <a:r>
                        <a:rPr lang="en-US" sz="1900" b="1" dirty="0" smtClean="0"/>
                        <a:t> 31/05/2021</a:t>
                      </a:r>
                    </a:p>
                    <a:p>
                      <a:pPr algn="ctr"/>
                      <a:endParaRPr lang="en-US" sz="1900" b="1" dirty="0"/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28637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Death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০3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 smtClean="0"/>
                        <a:t>Upto</a:t>
                      </a:r>
                      <a:r>
                        <a:rPr lang="en-US" sz="1900" b="1" dirty="0" smtClean="0"/>
                        <a:t> 31/05/2021</a:t>
                      </a:r>
                    </a:p>
                    <a:p>
                      <a:pPr algn="ctr"/>
                      <a:endParaRPr lang="en-US" sz="1900" b="1" dirty="0"/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28637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Affected</a:t>
                      </a:r>
                      <a:r>
                        <a:rPr lang="en-US" sz="1900" b="1" baseline="0" dirty="0" smtClean="0"/>
                        <a:t> Healthcare workers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/>
                        <a:t>27</a:t>
                      </a:r>
                      <a:endParaRPr lang="en-US" sz="1900" b="1" dirty="0"/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 smtClean="0"/>
                        <a:t>Upto</a:t>
                      </a:r>
                      <a:r>
                        <a:rPr lang="en-US" sz="1900" b="1" dirty="0" smtClean="0"/>
                        <a:t> 31/05/2021</a:t>
                      </a:r>
                    </a:p>
                    <a:p>
                      <a:pPr algn="ctr"/>
                      <a:endParaRPr lang="en-US" sz="1900" b="1" dirty="0"/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11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319319"/>
            <a:ext cx="3951816" cy="3804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57400" y="1212371"/>
            <a:ext cx="4913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FF0000"/>
                </a:solidFill>
              </a:rPr>
              <a:t>COVID-19 Sample Collection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733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1485900" y="1295400"/>
            <a:ext cx="61722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1575" dirty="0"/>
              <a:t>Successful leadership in health </a:t>
            </a:r>
            <a:r>
              <a:rPr lang="en-GB" sz="1575" dirty="0" smtClean="0"/>
              <a:t>management</a:t>
            </a:r>
          </a:p>
          <a:p>
            <a:pPr lvl="0" algn="just"/>
            <a:r>
              <a:rPr lang="en-GB" sz="1575" dirty="0" smtClean="0"/>
              <a:t>All the </a:t>
            </a:r>
            <a:r>
              <a:rPr lang="en-GB" sz="1575" b="1" dirty="0" smtClean="0"/>
              <a:t>Components of Primary Health Care</a:t>
            </a:r>
            <a:r>
              <a:rPr lang="en-GB" sz="1575" dirty="0" smtClean="0"/>
              <a:t> are successfully implemented here</a:t>
            </a:r>
            <a:endParaRPr lang="en-GB" sz="1575" dirty="0"/>
          </a:p>
          <a:p>
            <a:pPr lvl="0" algn="just"/>
            <a:r>
              <a:rPr lang="en-GB" sz="1575" dirty="0"/>
              <a:t>Personal and group skills in health care</a:t>
            </a:r>
          </a:p>
          <a:p>
            <a:pPr lvl="0" algn="just"/>
            <a:r>
              <a:rPr lang="en-GB" sz="1575" dirty="0"/>
              <a:t>Community engaged health management</a:t>
            </a:r>
          </a:p>
          <a:p>
            <a:pPr lvl="0" algn="just"/>
            <a:r>
              <a:rPr lang="en-GB" sz="1575" dirty="0"/>
              <a:t>Optimum use of government resources</a:t>
            </a:r>
          </a:p>
          <a:p>
            <a:pPr lvl="0" algn="just"/>
            <a:r>
              <a:rPr lang="en-GB" sz="1575" dirty="0"/>
              <a:t>Effective relation with local administration and with other government organizations</a:t>
            </a:r>
          </a:p>
          <a:p>
            <a:pPr lvl="0" algn="just"/>
            <a:r>
              <a:rPr lang="en-GB" sz="1575" dirty="0"/>
              <a:t>Improvement of security by community engagement</a:t>
            </a:r>
          </a:p>
          <a:p>
            <a:pPr lvl="0" algn="just"/>
            <a:r>
              <a:rPr lang="en-GB" sz="1575" dirty="0"/>
              <a:t>Improved maternal </a:t>
            </a:r>
            <a:r>
              <a:rPr lang="en-GB" sz="1575" dirty="0" smtClean="0"/>
              <a:t> and  child health </a:t>
            </a:r>
            <a:r>
              <a:rPr lang="en-GB" sz="1575" dirty="0"/>
              <a:t>care </a:t>
            </a:r>
            <a:r>
              <a:rPr lang="en-GB" sz="1575" dirty="0" smtClean="0"/>
              <a:t>activities</a:t>
            </a:r>
            <a:endParaRPr lang="en-GB" sz="1575" dirty="0"/>
          </a:p>
          <a:p>
            <a:pPr lvl="0" algn="just"/>
            <a:r>
              <a:rPr lang="en-GB" sz="1575" dirty="0"/>
              <a:t>Ensuring corner-based health </a:t>
            </a:r>
            <a:r>
              <a:rPr lang="en-GB" sz="1575" dirty="0" smtClean="0"/>
              <a:t>care</a:t>
            </a:r>
          </a:p>
          <a:p>
            <a:pPr algn="just"/>
            <a:r>
              <a:rPr lang="en-GB" sz="1575" dirty="0"/>
              <a:t>Woman and </a:t>
            </a:r>
            <a:r>
              <a:rPr lang="en-GB" sz="1575" dirty="0" smtClean="0"/>
              <a:t>Baby Friendly Hospital.</a:t>
            </a:r>
            <a:endParaRPr lang="en-GB" sz="1575" dirty="0"/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</a:t>
            </a:r>
            <a:r>
              <a:rPr lang="en-GB" sz="3600" b="1" dirty="0"/>
              <a:t>Model-1</a:t>
            </a:r>
          </a:p>
        </p:txBody>
      </p:sp>
    </p:spTree>
    <p:extLst>
      <p:ext uri="{BB962C8B-B14F-4D97-AF65-F5344CB8AC3E}">
        <p14:creationId xmlns:p14="http://schemas.microsoft.com/office/powerpoint/2010/main" val="822620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485900" y="1905001"/>
            <a:ext cx="6172200" cy="4830763"/>
          </a:xfrm>
        </p:spPr>
        <p:txBody>
          <a:bodyPr/>
          <a:lstStyle/>
          <a:p>
            <a:pPr algn="just"/>
            <a:r>
              <a:rPr lang="en-GB" sz="1575" dirty="0"/>
              <a:t>Birth and death recording, progress assessment and accountability by collecting information on all health </a:t>
            </a:r>
            <a:r>
              <a:rPr lang="en-GB" sz="1575" dirty="0" smtClean="0"/>
              <a:t>indicators</a:t>
            </a:r>
          </a:p>
          <a:p>
            <a:pPr lvl="0" algn="just"/>
            <a:r>
              <a:rPr lang="en-GB" sz="1575" dirty="0" smtClean="0"/>
              <a:t>Improving </a:t>
            </a:r>
            <a:r>
              <a:rPr lang="en-GB" sz="1575" dirty="0"/>
              <a:t>healthcare by unit management</a:t>
            </a:r>
          </a:p>
          <a:p>
            <a:pPr lvl="0" algn="just"/>
            <a:r>
              <a:rPr lang="en-GB" sz="1575" dirty="0"/>
              <a:t>Health awareness by health </a:t>
            </a:r>
            <a:r>
              <a:rPr lang="en-GB" sz="1575" dirty="0" smtClean="0"/>
              <a:t>education in outdoor, indoor, ante-natal registration room and pregnant women restroom</a:t>
            </a:r>
            <a:endParaRPr lang="en-GB" sz="1575" dirty="0"/>
          </a:p>
          <a:p>
            <a:pPr lvl="0" algn="just"/>
            <a:r>
              <a:rPr lang="en-GB" sz="1575" dirty="0"/>
              <a:t>Cleanliness (Waste management) and beautification of the facility and premises</a:t>
            </a:r>
          </a:p>
          <a:p>
            <a:pPr lvl="0" algn="just"/>
            <a:r>
              <a:rPr lang="en-GB" sz="1575" dirty="0"/>
              <a:t>Provision of safe blood transfusion for emergency needs</a:t>
            </a:r>
          </a:p>
          <a:p>
            <a:pPr lvl="0" algn="just"/>
            <a:r>
              <a:rPr lang="en-GB" sz="1575" dirty="0"/>
              <a:t>Zero tolerance against corruption</a:t>
            </a:r>
          </a:p>
          <a:p>
            <a:pPr lvl="0" algn="just"/>
            <a:r>
              <a:rPr lang="en-GB" sz="1575" dirty="0"/>
              <a:t>Implementation of the 5S KAIZEN-TQM for the improvement of health care</a:t>
            </a:r>
          </a:p>
          <a:p>
            <a:pPr lvl="0" algn="just"/>
            <a:r>
              <a:rPr lang="en-GB" sz="1575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Model-2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409119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3884"/>
            <a:ext cx="6858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 </a:t>
            </a: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2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400"/>
            <a:ext cx="4572000" cy="54864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70000" lnSpcReduction="20000"/>
          </a:bodyPr>
          <a:lstStyle/>
          <a:p>
            <a:pPr algn="just">
              <a:spcBef>
                <a:spcPts val="0"/>
              </a:spcBef>
              <a:defRPr/>
            </a:pPr>
            <a:endParaRPr lang="en-US" sz="1800" b="1" dirty="0"/>
          </a:p>
          <a:p>
            <a:pPr algn="just">
              <a:spcBef>
                <a:spcPts val="0"/>
              </a:spcBef>
              <a:defRPr/>
            </a:pPr>
            <a:r>
              <a:rPr lang="en-US" sz="1800" b="1" dirty="0"/>
              <a:t>In </a:t>
            </a:r>
            <a:r>
              <a:rPr lang="en-US" sz="1800" b="1" dirty="0">
                <a:solidFill>
                  <a:srgbClr val="FF0000"/>
                </a:solidFill>
              </a:rPr>
              <a:t>2008</a:t>
            </a:r>
            <a:r>
              <a:rPr lang="en-US" sz="1800" b="1" dirty="0"/>
              <a:t>, Chowgacha Health Complex declared as the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18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1800" b="1" u="sng" dirty="0">
                <a:solidFill>
                  <a:srgbClr val="FF0000"/>
                </a:solidFill>
                <a:latin typeface="Century Schoolbook" pitchFamily="18" charset="0"/>
              </a:rPr>
              <a:t>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Health Complex</a:t>
            </a:r>
            <a:endParaRPr lang="en-US" sz="21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002060"/>
                </a:solidFill>
              </a:rPr>
              <a:t>EOC Beds increased from 11 to 41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FF0000"/>
                </a:solidFill>
              </a:rPr>
              <a:t>Chowgacha </a:t>
            </a:r>
            <a:r>
              <a:rPr lang="en-US" b="1" dirty="0">
                <a:solidFill>
                  <a:srgbClr val="FF0000"/>
                </a:solidFill>
              </a:rPr>
              <a:t>UHC achieved MDG target in 2009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UHC  became the </a:t>
            </a:r>
            <a:r>
              <a:rPr lang="en-US" b="1" dirty="0" smtClean="0">
                <a:solidFill>
                  <a:srgbClr val="FF0000"/>
                </a:solidFill>
              </a:rPr>
              <a:t>Best EOC center  with 98.4% delivery rate in 2011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Health complex is awarded for best performance in </a:t>
            </a:r>
            <a:r>
              <a:rPr lang="en-US" b="1" dirty="0" smtClean="0">
                <a:solidFill>
                  <a:srgbClr val="FF0000"/>
                </a:solidFill>
              </a:rPr>
              <a:t>EOC form 2005 to 2014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Achieve </a:t>
            </a:r>
            <a:r>
              <a:rPr lang="en-US" b="1" dirty="0" smtClean="0">
                <a:solidFill>
                  <a:srgbClr val="FF0000"/>
                </a:solidFill>
              </a:rPr>
              <a:t>Health Ministers Award</a:t>
            </a:r>
            <a:r>
              <a:rPr lang="en-US" b="1" dirty="0" smtClean="0"/>
              <a:t> for its best performances in</a:t>
            </a:r>
            <a:r>
              <a:rPr lang="en-US" b="1" dirty="0" smtClean="0">
                <a:solidFill>
                  <a:srgbClr val="FF0000"/>
                </a:solidFill>
              </a:rPr>
              <a:t> 2017 and 2018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starts upgrade to 100  bedded hospital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model is being replicated throughout the country by MOH &amp; FW and DGHS since 2016 by the order of Prime Ministers office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2" b="3461"/>
          <a:stretch/>
        </p:blipFill>
        <p:spPr>
          <a:xfrm>
            <a:off x="4572000" y="787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371600"/>
            <a:ext cx="4953000" cy="5486400"/>
          </a:xfrm>
        </p:spPr>
      </p:pic>
      <p:sp>
        <p:nvSpPr>
          <p:cNvPr id="9" name="TextBox 8"/>
          <p:cNvSpPr txBox="1"/>
          <p:nvPr/>
        </p:nvSpPr>
        <p:spPr>
          <a:xfrm>
            <a:off x="5105400" y="838200"/>
            <a:ext cx="40386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,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ঝিনাইদ</a:t>
            </a:r>
            <a:r>
              <a:rPr lang="en-US" sz="2000" dirty="0" err="1" smtClean="0">
                <a:latin typeface="NikoshBAN" pitchFamily="2" charset="0"/>
                <a:cs typeface="NikoshBAN" pitchFamily="2" charset="0"/>
              </a:rPr>
              <a:t>হ</a:t>
            </a:r>
            <a:r>
              <a:rPr lang="en-US" sz="20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7620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- ১০০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067300" y="1371600"/>
            <a:ext cx="4076700" cy="548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4975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 smtClean="0"/>
              <a:t>Insecure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</a:t>
            </a:r>
            <a:r>
              <a:rPr lang="en-US" sz="2800" b="1" smtClean="0"/>
              <a:t>money from </a:t>
            </a:r>
            <a:r>
              <a:rPr lang="en-US" sz="2800" b="1" dirty="0" smtClean="0"/>
              <a:t>the patients by non-</a:t>
            </a:r>
            <a:r>
              <a:rPr lang="en-US" sz="2800" b="1" dirty="0" err="1" smtClean="0"/>
              <a:t>gov.</a:t>
            </a:r>
            <a:r>
              <a:rPr lang="en-US" sz="2800" b="1" dirty="0" smtClean="0"/>
              <a:t> 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2020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4" y="-304800"/>
            <a:ext cx="8442325" cy="162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29408370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</a:t>
            </a: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2020</a:t>
            </a:r>
            <a:endParaRPr lang="en-US" sz="2800" dirty="0" smtClean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35524881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</a:t>
            </a:r>
            <a:r>
              <a:rPr lang="en-US" sz="2800" b="1" dirty="0" smtClean="0">
                <a:solidFill>
                  <a:srgbClr val="FFFFFF"/>
                </a:solidFill>
              </a:rPr>
              <a:t>2020</a:t>
            </a:r>
            <a:endParaRPr lang="en-US" sz="2800" b="1" dirty="0" smtClean="0">
              <a:solidFill>
                <a:srgbClr val="FFFFFF"/>
              </a:solidFill>
            </a:endParaRP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671967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522276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</a:t>
            </a:r>
            <a:r>
              <a:rPr lang="en-US" sz="2400" b="1" dirty="0" smtClean="0">
                <a:solidFill>
                  <a:srgbClr val="FFFFFF"/>
                </a:solidFill>
              </a:rPr>
              <a:t>2020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</a:t>
            </a:r>
            <a:r>
              <a:rPr lang="en-GB" sz="2400" dirty="0" smtClean="0"/>
              <a:t>2011-2020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24211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</a:t>
            </a:r>
            <a:r>
              <a:rPr lang="en-US" sz="2600" b="1" dirty="0" smtClean="0">
                <a:solidFill>
                  <a:srgbClr val="00B050"/>
                </a:solidFill>
              </a:rPr>
              <a:t>2020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57531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Comparative data of 4 best performing EOC Centre of Khulna division </a:t>
            </a:r>
            <a:r>
              <a:rPr lang="en-GB" sz="2800" dirty="0" smtClean="0"/>
              <a:t>2019</a:t>
            </a:r>
            <a:endParaRPr lang="en-GB" sz="2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31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7225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12/06/2021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1371600"/>
            <a:ext cx="553998" cy="4800600"/>
          </a:xfrm>
          <a:prstGeom prst="rect">
            <a:avLst/>
          </a:prstGeom>
          <a:solidFill>
            <a:srgbClr val="FFC000"/>
          </a:solidFill>
        </p:spPr>
        <p:txBody>
          <a:bodyPr vert="vert270"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possitive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Jhenaidah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District -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3037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58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58 manpower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26,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Different kind of instruments donated by community leaders in </a:t>
            </a:r>
            <a:r>
              <a:rPr lang="en-US" sz="2000" b="1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covid</a:t>
            </a:r>
            <a:r>
              <a:rPr lang="en-US" sz="2000" b="1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-19 situation .(About 7000000 taka)</a:t>
            </a:r>
            <a:endParaRPr lang="en-US" sz="2000" b="1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65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53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24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Female Medicine Ward  </a:t>
            </a:r>
            <a:endParaRPr lang="en-US" sz="24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1" name="Picture 3" descr="C:\Users\USER\Desktop\rsz_received_32055181917513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81000"/>
            <a:ext cx="4495800" cy="3200399"/>
          </a:xfrm>
          <a:prstGeom prst="rect">
            <a:avLst/>
          </a:prstGeom>
          <a:noFill/>
        </p:spPr>
      </p:pic>
      <p:pic>
        <p:nvPicPr>
          <p:cNvPr id="2052" name="Picture 4" descr="C:\Users\USER\Desktop\New folder (2)\FMW new\rsz_received_632309657443608_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81000"/>
            <a:ext cx="4572000" cy="3200400"/>
          </a:xfrm>
          <a:prstGeom prst="rect">
            <a:avLst/>
          </a:prstGeom>
          <a:noFill/>
        </p:spPr>
      </p:pic>
      <p:pic>
        <p:nvPicPr>
          <p:cNvPr id="2053" name="Picture 5" descr="C:\Users\USER\Desktop\New folder (2)\FMW new\rsz_received_32055181917513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57601"/>
            <a:ext cx="4572000" cy="3200399"/>
          </a:xfrm>
          <a:prstGeom prst="rect">
            <a:avLst/>
          </a:prstGeom>
          <a:noFill/>
        </p:spPr>
      </p:pic>
      <p:pic>
        <p:nvPicPr>
          <p:cNvPr id="2054" name="Picture 6" descr="C:\Users\USER\Desktop\New folder (2)\FMW new\rsz_received_95429046173423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3657600"/>
            <a:ext cx="4495800" cy="3200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1864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Male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113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66750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3943350"/>
            <a:ext cx="4159250" cy="311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456" y="457200"/>
            <a:ext cx="3962399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457200"/>
            <a:ext cx="4267199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696" y="4038600"/>
            <a:ext cx="3800104" cy="285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lang="as-IN" sz="36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জাহেদী ফাউন্ডেশন কর্তৃক পিকআপ ভ্যান প্রদান</a:t>
            </a:r>
            <a:endParaRPr lang="en-US" sz="36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8" name="Picture 4" descr="C:\Users\USER\Desktop\46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4648200" cy="3048000"/>
          </a:xfrm>
          <a:prstGeom prst="rect">
            <a:avLst/>
          </a:prstGeom>
          <a:noFill/>
        </p:spPr>
      </p:pic>
      <p:pic>
        <p:nvPicPr>
          <p:cNvPr id="1029" name="Picture 5" descr="C:\Users\USER\Desktop\462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2041" y="3657600"/>
            <a:ext cx="4451959" cy="3200400"/>
          </a:xfrm>
          <a:prstGeom prst="rect">
            <a:avLst/>
          </a:prstGeom>
          <a:noFill/>
        </p:spPr>
      </p:pic>
      <p:pic>
        <p:nvPicPr>
          <p:cNvPr id="1030" name="Picture 6" descr="C:\Users\USER\Desktop\46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32" name="Picture 8" descr="C:\Users\USER\Desktop\rsz_img_460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533400"/>
            <a:ext cx="4419600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1559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</a:t>
            </a:r>
            <a:r>
              <a:rPr lang="en-US" b="1" dirty="0"/>
              <a:t>45 </a:t>
            </a:r>
            <a:r>
              <a:rPr lang="en-US" b="1" dirty="0" err="1"/>
              <a:t>laks</a:t>
            </a:r>
            <a:r>
              <a:rPr lang="en-US" b="1" dirty="0"/>
              <a:t> Taka support  for 6 high flow   oxygen  nasal cannula, central </a:t>
            </a:r>
            <a:r>
              <a:rPr lang="en-US" b="1" dirty="0" err="1"/>
              <a:t>oxgen</a:t>
            </a:r>
            <a:r>
              <a:rPr lang="en-US" b="1" dirty="0"/>
              <a:t> supplying system 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7155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5089</TotalTime>
  <Words>1509</Words>
  <Application>Microsoft Office PowerPoint</Application>
  <PresentationFormat>On-screen Show (4:3)</PresentationFormat>
  <Paragraphs>386</Paragraphs>
  <Slides>54</Slides>
  <Notes>23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Office Theme</vt:lpstr>
      <vt:lpstr>Chart</vt:lpstr>
      <vt:lpstr>PowerPoint Presentation</vt:lpstr>
      <vt:lpstr>PowerPoint Presentation</vt:lpstr>
      <vt:lpstr>PowerPoint Presentation</vt:lpstr>
      <vt:lpstr>A Hospital with a Vision …</vt:lpstr>
      <vt:lpstr>Background History of MCH services of Chowgacha Health Complex, Jessore</vt:lpstr>
      <vt:lpstr>Background History Contd.</vt:lpstr>
      <vt:lpstr>PowerPoint Presentation</vt:lpstr>
      <vt:lpstr>Upazila Health  Complex CHOWGACHA , JESSORE.</vt:lpstr>
      <vt:lpstr>Upazila Health  Complex CHOWGACHA , JESSORE.</vt:lpstr>
      <vt:lpstr>PowerPoint Presentation</vt:lpstr>
      <vt:lpstr>Upazila Health  Complex CHOWGACHA , JESSORE.</vt:lpstr>
      <vt:lpstr>Emergency + Outdoor &amp; Indoor 2011-2020 UHC Chowgacha</vt:lpstr>
      <vt:lpstr>PowerPoint Presentation</vt:lpstr>
      <vt:lpstr>EOC Activities Chowgacha UHC 2011-2020</vt:lpstr>
      <vt:lpstr>COVID-19 Response of UHC Chowgacha</vt:lpstr>
      <vt:lpstr>Upazilla Health  Complex CHOWGACHA , JESSORE.</vt:lpstr>
      <vt:lpstr>PowerPoint Presentation</vt:lpstr>
      <vt:lpstr>PowerPoint Presentation</vt:lpstr>
      <vt:lpstr>PowerPoint Presentation</vt:lpstr>
      <vt:lpstr>ACHIEVEMENTS of CHOWGACHA HEALTH COMPLEX</vt:lpstr>
      <vt:lpstr>100 kh¨v wewkó m`i nvmcvZvj, wSbvB`n</vt:lpstr>
      <vt:lpstr>সদর হাসপাতাল,ঝিনাইদহ </vt:lpstr>
      <vt:lpstr>Challenges of the hospital in 2012</vt:lpstr>
      <vt:lpstr>PowerPoint Presentation</vt:lpstr>
      <vt:lpstr>Emergency + Out Door &amp; Indoor  Service 1998 to 2020</vt:lpstr>
      <vt:lpstr>Operation Service (Major) 2011 to 2020</vt:lpstr>
      <vt:lpstr>PowerPoint Presentation</vt:lpstr>
      <vt:lpstr>Total ANC and Delivery in Jhenaidah District Hospital 2011-2020</vt:lpstr>
      <vt:lpstr>  Comparative data of revenue income (in Taka) from 2015 to 2020 </vt:lpstr>
      <vt:lpstr>Comparative data of 4 best performing EOC Centre of Khulna division 2019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color code, alignment of picture &amp; continuous big cleaning day</vt:lpstr>
      <vt:lpstr>Use of direction sign, labeling of rooms, clean latrine and waste segregation</vt:lpstr>
      <vt:lpstr>Female Medicine Ward  </vt:lpstr>
      <vt:lpstr>Innovation Male Medicine Ward 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PowerPoint Presentation</vt:lpstr>
      <vt:lpstr>জাহেদী ফাউন্ডেশন কর্তৃক পিকআপ ভ্যান প্রদান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791</cp:revision>
  <cp:lastPrinted>2017-03-18T23:47:54Z</cp:lastPrinted>
  <dcterms:created xsi:type="dcterms:W3CDTF">2013-05-05T09:56:19Z</dcterms:created>
  <dcterms:modified xsi:type="dcterms:W3CDTF">2021-06-22T04:53:35Z</dcterms:modified>
</cp:coreProperties>
</file>