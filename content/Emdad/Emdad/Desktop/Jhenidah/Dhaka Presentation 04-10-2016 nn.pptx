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4781" r:id="rId2"/>
    <p:sldMasterId id="2147487080" r:id="rId3"/>
    <p:sldMasterId id="2147487909" r:id="rId4"/>
  </p:sldMasterIdLst>
  <p:notesMasterIdLst>
    <p:notesMasterId r:id="rId58"/>
  </p:notesMasterIdLst>
  <p:sldIdLst>
    <p:sldId id="620" r:id="rId5"/>
    <p:sldId id="619" r:id="rId6"/>
    <p:sldId id="617" r:id="rId7"/>
    <p:sldId id="618" r:id="rId8"/>
    <p:sldId id="622" r:id="rId9"/>
    <p:sldId id="624" r:id="rId10"/>
    <p:sldId id="625" r:id="rId11"/>
    <p:sldId id="614" r:id="rId12"/>
    <p:sldId id="611" r:id="rId13"/>
    <p:sldId id="612" r:id="rId14"/>
    <p:sldId id="601" r:id="rId15"/>
    <p:sldId id="605" r:id="rId16"/>
    <p:sldId id="606" r:id="rId17"/>
    <p:sldId id="621" r:id="rId18"/>
    <p:sldId id="522" r:id="rId19"/>
    <p:sldId id="530" r:id="rId20"/>
    <p:sldId id="535" r:id="rId21"/>
    <p:sldId id="603" r:id="rId22"/>
    <p:sldId id="596" r:id="rId23"/>
    <p:sldId id="539" r:id="rId24"/>
    <p:sldId id="540" r:id="rId25"/>
    <p:sldId id="541" r:id="rId26"/>
    <p:sldId id="542" r:id="rId27"/>
    <p:sldId id="594" r:id="rId28"/>
    <p:sldId id="544" r:id="rId29"/>
    <p:sldId id="545" r:id="rId30"/>
    <p:sldId id="546" r:id="rId31"/>
    <p:sldId id="547" r:id="rId32"/>
    <p:sldId id="548" r:id="rId33"/>
    <p:sldId id="549" r:id="rId34"/>
    <p:sldId id="550" r:id="rId35"/>
    <p:sldId id="551" r:id="rId36"/>
    <p:sldId id="552" r:id="rId37"/>
    <p:sldId id="553" r:id="rId38"/>
    <p:sldId id="554" r:id="rId39"/>
    <p:sldId id="555" r:id="rId40"/>
    <p:sldId id="556" r:id="rId41"/>
    <p:sldId id="557" r:id="rId42"/>
    <p:sldId id="598" r:id="rId43"/>
    <p:sldId id="558" r:id="rId44"/>
    <p:sldId id="559" r:id="rId45"/>
    <p:sldId id="560" r:id="rId46"/>
    <p:sldId id="561" r:id="rId47"/>
    <p:sldId id="563" r:id="rId48"/>
    <p:sldId id="609" r:id="rId49"/>
    <p:sldId id="585" r:id="rId50"/>
    <p:sldId id="607" r:id="rId51"/>
    <p:sldId id="608" r:id="rId52"/>
    <p:sldId id="593" r:id="rId53"/>
    <p:sldId id="564" r:id="rId54"/>
    <p:sldId id="600" r:id="rId55"/>
    <p:sldId id="604" r:id="rId56"/>
    <p:sldId id="586" r:id="rId57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70" d="100"/>
          <a:sy n="70" d="100"/>
        </p:scale>
        <p:origin x="-150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125285504"/>
        <c:axId val="125287040"/>
        <c:axId val="0"/>
      </c:bar3DChart>
      <c:catAx>
        <c:axId val="125285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1252870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252870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252855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35714560"/>
        <c:axId val="35716096"/>
        <c:axId val="0"/>
      </c:bar3DChart>
      <c:catAx>
        <c:axId val="35714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5716096"/>
        <c:crosses val="autoZero"/>
        <c:auto val="1"/>
        <c:lblAlgn val="ctr"/>
        <c:lblOffset val="100"/>
        <c:noMultiLvlLbl val="0"/>
      </c:catAx>
      <c:valAx>
        <c:axId val="35716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5714560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4010,380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5934,815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23306880"/>
        <c:axId val="223308416"/>
        <c:axId val="0"/>
      </c:bar3DChart>
      <c:catAx>
        <c:axId val="223306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3308416"/>
        <c:crosses val="autoZero"/>
        <c:auto val="1"/>
        <c:lblAlgn val="ctr"/>
        <c:lblOffset val="100"/>
        <c:noMultiLvlLbl val="0"/>
      </c:catAx>
      <c:valAx>
        <c:axId val="22330841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22330688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1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745588"/>
            <a:ext cx="4544046" cy="3727934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378B699-9CD7-4034-93A8-8779838FDE38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06F478A-D878-4541-A85A-174BA668C4A1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AECC4A6-0612-49D4-AB6F-E3A589BA731B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B0ADFE8-C5E6-4667-AC7B-20B9E70B887F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EAE7D3-9C06-4DB4-ACCC-B74DA316F7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616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4F9B31F-D5A8-4A46-8135-19E8C2F84E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401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055934-D297-40AE-8C31-BFCB2B4E6D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4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8B06743-DA15-4070-A89F-CC5978BE4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312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81075B-84F4-44BB-B6B0-F41F6F9CC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7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9A4AB0D-D421-4477-BF7B-5A15C8FE9E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2498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323683-94BC-464C-B011-79E24853D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8937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1D0C94-EECA-4073-ABF8-E8F1DD0C8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24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5FCB9C9-A122-4F06-9CE9-CDB89ECB3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35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55BA85-89C2-41EF-800E-E5FCE9081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499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1261DB-600E-4EEF-8312-AA280A095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04053BB-C880-4006-8C81-C55060432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23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CF0295-3EB3-480E-BAF9-EA9E3BCB7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4205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582D2ED-70B4-4171-83C5-AB59F2B0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492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0FFF-BE2E-4760-A71F-9011BA418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724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FAA30FA-874C-4377-84D9-B4FBB78A31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57" r:id="rId1"/>
    <p:sldLayoutId id="2147487858" r:id="rId2"/>
    <p:sldLayoutId id="2147487859" r:id="rId3"/>
    <p:sldLayoutId id="2147487860" r:id="rId4"/>
    <p:sldLayoutId id="2147487861" r:id="rId5"/>
    <p:sldLayoutId id="2147487862" r:id="rId6"/>
    <p:sldLayoutId id="2147487863" r:id="rId7"/>
    <p:sldLayoutId id="2147487864" r:id="rId8"/>
    <p:sldLayoutId id="2147487865" r:id="rId9"/>
    <p:sldLayoutId id="2147487866" r:id="rId10"/>
    <p:sldLayoutId id="2147487867" r:id="rId11"/>
    <p:sldLayoutId id="2147487868" r:id="rId12"/>
    <p:sldLayoutId id="2147487869" r:id="rId13"/>
    <p:sldLayoutId id="2147487870" r:id="rId14"/>
    <p:sldLayoutId id="2147487871" r:id="rId15"/>
    <p:sldLayoutId id="2147487922" r:id="rId16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92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3.jpeg"/><Relationship Id="rId4" Type="http://schemas.openxmlformats.org/officeDocument/2006/relationships/image" Target="../media/image9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6.jpeg"/><Relationship Id="rId4" Type="http://schemas.openxmlformats.org/officeDocument/2006/relationships/image" Target="../media/image10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jpeg"/><Relationship Id="rId4" Type="http://schemas.openxmlformats.org/officeDocument/2006/relationships/image" Target="../media/image103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67925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62425"/>
            <a:ext cx="3709988" cy="2572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581" y="0"/>
            <a:ext cx="84328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 smtClean="0">
                <a:solidFill>
                  <a:schemeClr val="bg1"/>
                </a:solidFill>
              </a:rPr>
              <a:t>CHOWGACHA U</a:t>
            </a:r>
            <a:r>
              <a:rPr lang="en-US" sz="3600" b="1" dirty="0" smtClean="0">
                <a:solidFill>
                  <a:schemeClr val="bg1"/>
                </a:solidFill>
              </a:rPr>
              <a:t>H</a:t>
            </a:r>
            <a:r>
              <a:rPr lang="en-US" sz="3600" b="1" dirty="0" smtClean="0">
                <a:solidFill>
                  <a:schemeClr val="bg1"/>
                </a:solidFill>
              </a:rPr>
              <a:t>C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8" y="1095508"/>
            <a:ext cx="4041940" cy="2724909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558" y="3886201"/>
            <a:ext cx="399724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225773" y="1095509"/>
            <a:ext cx="1167307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Old UHC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010400" y="1121849"/>
            <a:ext cx="1679306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31 </a:t>
            </a:r>
            <a:r>
              <a:rPr lang="en-US" b="1" dirty="0" err="1" smtClean="0">
                <a:solidFill>
                  <a:srgbClr val="FF0000"/>
                </a:solidFill>
              </a:rPr>
              <a:t>beded</a:t>
            </a:r>
            <a:r>
              <a:rPr lang="en-US" b="1" dirty="0" smtClean="0">
                <a:solidFill>
                  <a:srgbClr val="FF0000"/>
                </a:solidFill>
              </a:rPr>
              <a:t> UHC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78826" y="3891208"/>
            <a:ext cx="1726755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50 </a:t>
            </a:r>
            <a:r>
              <a:rPr lang="en-US" b="1" dirty="0" err="1" smtClean="0">
                <a:solidFill>
                  <a:srgbClr val="FF0000"/>
                </a:solidFill>
              </a:rPr>
              <a:t>beded</a:t>
            </a:r>
            <a:r>
              <a:rPr lang="en-US" b="1" dirty="0" smtClean="0">
                <a:solidFill>
                  <a:srgbClr val="FF0000"/>
                </a:solidFill>
              </a:rPr>
              <a:t> UHC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1771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8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8768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2400" b="1" u="sng" dirty="0" smtClean="0"/>
              <a:t>from January 1995 to 1997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helped us by Frontline MCH Program to implement the program by giving technical and logistic supports. Since 1998 </a:t>
            </a:r>
            <a:r>
              <a:rPr lang="en-US" sz="2400" b="1" u="sng" dirty="0" smtClean="0">
                <a:solidFill>
                  <a:srgbClr val="0000FF"/>
                </a:solidFill>
              </a:rPr>
              <a:t>DGHS</a:t>
            </a:r>
            <a:r>
              <a:rPr lang="en-US" sz="2400" b="1" u="sng" dirty="0" smtClean="0"/>
              <a:t> &amp; </a:t>
            </a:r>
            <a:r>
              <a:rPr lang="en-US" sz="2400" b="1" u="sng" dirty="0" smtClean="0">
                <a:solidFill>
                  <a:srgbClr val="0000FF"/>
                </a:solidFill>
              </a:rPr>
              <a:t>UNICEF</a:t>
            </a:r>
            <a:r>
              <a:rPr lang="en-US" sz="2400" b="1" u="sng" dirty="0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300" b="1" u="sng" dirty="0" smtClean="0"/>
          </a:p>
          <a:p>
            <a:pPr marL="0" indent="0" algn="just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support.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</a:t>
            </a:r>
            <a:endParaRPr lang="en-US" sz="2400" b="1" dirty="0" smtClean="0"/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511863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0" y="2811463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Blood donation program stared in 16 December, 1996 in Chowgacha UHC</a:t>
            </a:r>
            <a:endParaRPr lang="en-GB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4800600" y="2825750"/>
            <a:ext cx="4267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A seminar held on basic information system at Chowgacha Degree College in June, 1997. DC Jessore was the chief guest . </a:t>
            </a:r>
            <a:endParaRPr lang="en-GB">
              <a:latin typeface="Calibri" pitchFamily="34" charset="0"/>
            </a:endParaRPr>
          </a:p>
        </p:txBody>
      </p:sp>
      <p:pic>
        <p:nvPicPr>
          <p:cNvPr id="37894" name="Picture 4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163" y="3684588"/>
            <a:ext cx="425767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256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00600" y="1285874"/>
            <a:ext cx="403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reception desk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ANC corner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32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394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25" y="3483401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05400" y="1356268"/>
            <a:ext cx="4038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ticket counter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 smtClean="0">
                <a:solidFill>
                  <a:srgbClr val="000000"/>
                </a:solidFill>
              </a:rPr>
              <a:t>Volunteer working in EPI corner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894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530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mtClean="0"/>
              <a:t>Dr. Salina and nurses who working in ANC corner  &amp; labour  word.</a:t>
            </a:r>
          </a:p>
        </p:txBody>
      </p:sp>
      <p:pic>
        <p:nvPicPr>
          <p:cNvPr id="33795" name="Picture 3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6629400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64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WordArt 2"/>
          <p:cNvSpPr>
            <a:spLocks noChangeArrowheads="1" noChangeShapeType="1" noTextEdit="1"/>
          </p:cNvSpPr>
          <p:nvPr/>
        </p:nvSpPr>
        <p:spPr bwMode="auto">
          <a:xfrm>
            <a:off x="0" y="685800"/>
            <a:ext cx="3962400" cy="2286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Òevsjv‡`‡ki Rb¨ ewnt we‡k¦i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†Kvb g‡W‡ji cÖ‡qvRb †bB|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†PŠMvQv g‡WjB h‡_ó , 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†PŠMvQv ¯^v¯’¨ †mevq `w¶Y</a:t>
            </a:r>
          </a:p>
          <a:p>
            <a:pPr algn="ctr"/>
            <a:r>
              <a:rPr lang="en-GB" sz="3600" kern="10">
                <a:solidFill>
                  <a:srgbClr val="000000"/>
                </a:solidFill>
                <a:latin typeface="SutonnyMJ"/>
                <a:cs typeface="SutonnyMJ"/>
              </a:rPr>
              <a:t> c~e© Gwkqv‡Z GKwU `„óvšÍ ¯’vcb K‡i‡Q|Ó</a:t>
            </a:r>
          </a:p>
        </p:txBody>
      </p:sp>
      <p:pic>
        <p:nvPicPr>
          <p:cNvPr id="20483" name="Picture 3" descr="SHAMIM PHOTO (3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3962400" y="457200"/>
            <a:ext cx="4572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WordArt 4"/>
          <p:cNvSpPr>
            <a:spLocks noChangeArrowheads="1" noChangeShapeType="1" noTextEdit="1"/>
          </p:cNvSpPr>
          <p:nvPr/>
        </p:nvSpPr>
        <p:spPr bwMode="auto">
          <a:xfrm>
            <a:off x="3657600" y="3429000"/>
            <a:ext cx="5105400" cy="1385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</a:p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†PŠMvQv g‡Wj nvmcvZvj cwi`k©bKv‡j</a:t>
            </a:r>
          </a:p>
          <a:p>
            <a:pPr algn="ctr"/>
            <a:r>
              <a:rPr lang="en-GB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W. gvM©v‡iU P¨vb (gnvcwiPvjK, wek¦ ¯^v¯’¨ ms¯’v)</a:t>
            </a:r>
          </a:p>
        </p:txBody>
      </p:sp>
      <p:pic>
        <p:nvPicPr>
          <p:cNvPr id="20485" name="Picture 5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41738"/>
            <a:ext cx="3124200" cy="212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761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495800"/>
            <a:ext cx="5334000" cy="6858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S.S.N working ANC corner</a:t>
            </a:r>
            <a:endParaRPr lang="en-US" sz="4000" dirty="0" smtClean="0"/>
          </a:p>
        </p:txBody>
      </p:sp>
      <p:pic>
        <p:nvPicPr>
          <p:cNvPr id="32771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1000"/>
            <a:ext cx="5715000" cy="366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490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Community engagement is the basic element to run a health institution efficiently and effectively.</a:t>
            </a:r>
          </a:p>
          <a:p>
            <a:pPr algn="just"/>
            <a:r>
              <a:rPr lang="en-US" dirty="0" smtClean="0"/>
              <a:t>Initiation of community engagement started in the year of 1996 in </a:t>
            </a:r>
            <a:r>
              <a:rPr lang="en-US" dirty="0" err="1" smtClean="0"/>
              <a:t>Chowgacha</a:t>
            </a:r>
            <a:r>
              <a:rPr lang="en-US" dirty="0" smtClean="0"/>
              <a:t>  and 2012 in </a:t>
            </a:r>
            <a:r>
              <a:rPr lang="en-US" dirty="0" err="1" smtClean="0"/>
              <a:t>Jhenaidah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Sensitization of the service providers and community leaders on the basis of identified problem.</a:t>
            </a:r>
          </a:p>
          <a:p>
            <a:pPr algn="just"/>
            <a:r>
              <a:rPr lang="en-US" dirty="0" smtClean="0"/>
              <a:t>Inviting community how they can engage in the hospital management process.</a:t>
            </a:r>
          </a:p>
          <a:p>
            <a:pPr algn="just"/>
            <a:r>
              <a:rPr lang="en-US" dirty="0" smtClean="0"/>
              <a:t>Discussion initiated with the community for identification of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7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29715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0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1726951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8229600" cy="1131888"/>
          </a:xfrm>
        </p:spPr>
        <p:txBody>
          <a:bodyPr/>
          <a:lstStyle/>
          <a:p>
            <a:pPr eaLnBrk="1" hangingPunct="1"/>
            <a:r>
              <a:rPr lang="en-US" sz="2400" smtClean="0"/>
              <a:t>Hon’ble Health Minister for Health &amp; Family Welfare with WHO Representative at Chowgacha handing over money and gift of voucher scheme of DSF</a:t>
            </a:r>
            <a:endParaRPr lang="en-US" sz="4000" smtClean="0"/>
          </a:p>
        </p:txBody>
      </p:sp>
      <p:pic>
        <p:nvPicPr>
          <p:cNvPr id="3075" name="Picture 4" descr="Razzak_Remove (Mama)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905000"/>
            <a:ext cx="8061325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84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0"/>
            <a:ext cx="4395716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Untitled-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3581400"/>
            <a:ext cx="49530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before starting community participation !!</a:t>
            </a:r>
            <a:endParaRPr lang="en-US" altLang="ja-JP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Limited human resources specially 4th class cleaner only </a:t>
            </a:r>
            <a:r>
              <a:rPr lang="en-US" sz="2800" dirty="0" smtClean="0">
                <a:latin typeface="+mn-lt"/>
                <a:cs typeface="+mn-cs"/>
              </a:rPr>
              <a:t>(7).</a:t>
            </a:r>
          </a:p>
          <a:p>
            <a:pPr algn="just" eaLnBrk="0" hangingPunct="0">
              <a:defRPr/>
            </a:pPr>
            <a:r>
              <a:rPr lang="en-US" sz="2800" dirty="0">
                <a:latin typeface="+mn-lt"/>
                <a:cs typeface="+mn-cs"/>
              </a:rPr>
              <a:t> </a:t>
            </a:r>
            <a:r>
              <a:rPr lang="en-US" sz="2800" dirty="0" smtClean="0">
                <a:latin typeface="+mn-lt"/>
                <a:cs typeface="+mn-cs"/>
              </a:rPr>
              <a:t>     </a:t>
            </a:r>
            <a:r>
              <a:rPr lang="en-US" sz="2800" dirty="0">
                <a:latin typeface="+mn-lt"/>
                <a:cs typeface="+mn-cs"/>
              </a:rPr>
              <a:t>No guard , gardener , ayah , ward boy , trolley man and </a:t>
            </a:r>
            <a:r>
              <a:rPr lang="en-US" sz="2800" dirty="0" smtClean="0">
                <a:latin typeface="+mn-lt"/>
                <a:cs typeface="+mn-cs"/>
              </a:rPr>
              <a:t>   	electrician </a:t>
            </a:r>
            <a:r>
              <a:rPr lang="en-US" sz="2800" dirty="0">
                <a:latin typeface="+mn-lt"/>
                <a:cs typeface="+mn-cs"/>
              </a:rPr>
              <a:t>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all the services especially EOC and pediatric service.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 overall  cleanliness.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Less coordination with local administration and community leaders 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documentation and reporting System.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Insecure situation for the staff and hospital.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Hospital environment was not conducive </a:t>
            </a:r>
            <a:r>
              <a:rPr lang="en-US" sz="2400" dirty="0"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of Community participant in </a:t>
            </a:r>
            <a:r>
              <a:rPr lang="en-US" dirty="0" err="1" smtClean="0"/>
              <a:t>Jhenaidah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sz="2000" dirty="0" smtClean="0"/>
              <a:t>Holding meeting with the service providers  and hospital authority</a:t>
            </a:r>
          </a:p>
          <a:p>
            <a:r>
              <a:rPr lang="en-US" sz="2000" dirty="0" smtClean="0"/>
              <a:t>Introduction of 5S KAIZEN in EOC ward</a:t>
            </a:r>
          </a:p>
          <a:p>
            <a:r>
              <a:rPr lang="en-US" sz="2000" dirty="0" smtClean="0"/>
              <a:t>Baseline assessment </a:t>
            </a:r>
          </a:p>
          <a:p>
            <a:r>
              <a:rPr lang="en-US" sz="2000" dirty="0" smtClean="0"/>
              <a:t>Dialogue with the local MP ,Mayor, local elites, Reporters and local administration </a:t>
            </a:r>
          </a:p>
          <a:p>
            <a:r>
              <a:rPr lang="en-US" sz="2000" dirty="0" smtClean="0"/>
              <a:t>Forming “ Community Support group committee “ in </a:t>
            </a:r>
            <a:r>
              <a:rPr lang="en-US" sz="2000" dirty="0" err="1" smtClean="0"/>
              <a:t>Jhenaidah</a:t>
            </a:r>
            <a:r>
              <a:rPr lang="en-US" sz="2000" dirty="0" smtClean="0"/>
              <a:t> for improvement of district hospital.</a:t>
            </a:r>
          </a:p>
          <a:p>
            <a:r>
              <a:rPr lang="en-US" sz="2000" dirty="0" smtClean="0"/>
              <a:t>Opening a bank account for the </a:t>
            </a:r>
            <a:r>
              <a:rPr lang="en-US" sz="2000" dirty="0"/>
              <a:t>“ Community Support group “ </a:t>
            </a:r>
            <a:endParaRPr lang="en-US" sz="2000" dirty="0" smtClean="0"/>
          </a:p>
          <a:p>
            <a:r>
              <a:rPr lang="en-US" sz="2000" dirty="0" smtClean="0"/>
              <a:t>Identification and sharing the type of support with the local community elite </a:t>
            </a:r>
          </a:p>
          <a:p>
            <a:r>
              <a:rPr lang="en-US" sz="2000" dirty="0" smtClean="0"/>
              <a:t>Engagement of necessary support staff ( cleaners, </a:t>
            </a:r>
            <a:r>
              <a:rPr lang="en-US" sz="2000" dirty="0" err="1" smtClean="0"/>
              <a:t>Aya</a:t>
            </a:r>
            <a:r>
              <a:rPr lang="en-US" sz="2000" dirty="0" smtClean="0"/>
              <a:t>, ward boy, trolley man &amp; security guards </a:t>
            </a:r>
            <a:r>
              <a:rPr lang="en-US" sz="2000" dirty="0" err="1" smtClean="0"/>
              <a:t>etc</a:t>
            </a:r>
            <a:r>
              <a:rPr lang="en-US" sz="2000" dirty="0" smtClean="0"/>
              <a:t>).</a:t>
            </a:r>
          </a:p>
          <a:p>
            <a:r>
              <a:rPr lang="en-US" sz="2000" dirty="0" smtClean="0"/>
              <a:t>Holding monthly meeting with the local community support group.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638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Present  support status !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3) 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MP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Jhenaidah-2 himself providing support of 14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Doctors of the hospital and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cleanliness, repaired the boundary wall,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</a:p>
          <a:p>
            <a:pPr marL="0" algn="just"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5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155248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/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352800"/>
            <a:ext cx="3962400" cy="2641600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505200"/>
            <a:ext cx="4495800" cy="3051175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429000"/>
            <a:ext cx="4549775" cy="3200400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429000"/>
            <a:ext cx="4267200" cy="3225800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5105400" y="3910013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After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8713" y="3657600"/>
            <a:ext cx="3976687" cy="304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33800"/>
            <a:ext cx="4038600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err="1" smtClean="0">
                <a:solidFill>
                  <a:srgbClr val="FFFFFF"/>
                </a:solidFill>
              </a:rPr>
              <a:t>Padietric</a:t>
            </a:r>
            <a:r>
              <a:rPr lang="en-US" sz="2800" b="1" dirty="0" smtClean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87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38200"/>
            <a:ext cx="4022501" cy="2743200"/>
          </a:xfrm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889483"/>
            <a:ext cx="3995668" cy="2691917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778155"/>
            <a:ext cx="3993023" cy="292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778155"/>
            <a:ext cx="4038600" cy="297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889375"/>
            <a:ext cx="38496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362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52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3814584"/>
            <a:ext cx="4267200" cy="298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32805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1</a:t>
            </a:r>
            <a:r>
              <a:rPr lang="en-US" sz="2000" b="1" dirty="0">
                <a:solidFill>
                  <a:prstClr val="black"/>
                </a:solidFill>
              </a:rPr>
              <a:t>. Active Community </a:t>
            </a:r>
            <a:r>
              <a:rPr lang="en-US" sz="2000" b="1" dirty="0" smtClean="0">
                <a:solidFill>
                  <a:prstClr val="black"/>
                </a:solidFill>
              </a:rPr>
              <a:t>Participation established for the hospital service improvement . 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2. Improved   performance  of all services specially </a:t>
            </a:r>
            <a:r>
              <a:rPr lang="en-US" sz="2000" b="1" dirty="0" smtClean="0">
                <a:solidFill>
                  <a:prstClr val="black"/>
                </a:solidFill>
              </a:rPr>
              <a:t>pediatric</a:t>
            </a:r>
            <a:r>
              <a:rPr lang="en-US" sz="2000" b="1" dirty="0">
                <a:solidFill>
                  <a:prstClr val="black"/>
                </a:solidFill>
              </a:rPr>
              <a:t>, </a:t>
            </a:r>
            <a:r>
              <a:rPr lang="en-US" sz="2000" b="1" dirty="0" smtClean="0">
                <a:solidFill>
                  <a:prstClr val="black"/>
                </a:solidFill>
              </a:rPr>
              <a:t>obstetric and operation.</a:t>
            </a: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prstClr val="black"/>
                </a:solidFill>
              </a:rPr>
              <a:t>3. Improved cleanliness and beautification of </a:t>
            </a:r>
            <a:r>
              <a:rPr lang="en-US" sz="2000" b="1" dirty="0" smtClean="0">
                <a:solidFill>
                  <a:prstClr val="black"/>
                </a:solidFill>
              </a:rPr>
              <a:t>the hospital.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4. Functioning of X-Ray service by local </a:t>
            </a:r>
            <a:r>
              <a:rPr lang="en-US" sz="2000" b="1" dirty="0" smtClean="0">
                <a:solidFill>
                  <a:prstClr val="black"/>
                </a:solidFill>
              </a:rPr>
              <a:t>initiatives.</a:t>
            </a: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5. Improved </a:t>
            </a:r>
            <a:r>
              <a:rPr lang="en-US" sz="2000" b="1" dirty="0" smtClean="0">
                <a:solidFill>
                  <a:prstClr val="black"/>
                </a:solidFill>
              </a:rPr>
              <a:t> security</a:t>
            </a:r>
            <a:r>
              <a:rPr lang="en-US" sz="2000" b="1" dirty="0">
                <a:solidFill>
                  <a:prstClr val="black"/>
                </a:solidFill>
              </a:rPr>
              <a:t>.</a:t>
            </a:r>
            <a:endParaRPr lang="en-US" sz="100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6. Improved </a:t>
            </a:r>
            <a:r>
              <a:rPr lang="en-US" sz="2000" b="1" dirty="0" smtClean="0">
                <a:solidFill>
                  <a:prstClr val="black"/>
                </a:solidFill>
              </a:rPr>
              <a:t>financial management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7. </a:t>
            </a:r>
            <a:r>
              <a:rPr lang="en-US" sz="2000" b="1" dirty="0">
                <a:solidFill>
                  <a:prstClr val="black"/>
                </a:solidFill>
              </a:rPr>
              <a:t>The hospital is awarded 4 times from 2013 to 2016. </a:t>
            </a:r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1050" b="1" dirty="0">
              <a:solidFill>
                <a:srgbClr val="17375E"/>
              </a:solidFill>
            </a:endParaRPr>
          </a:p>
          <a:p>
            <a:pPr algn="just"/>
            <a:endParaRPr lang="en-US" dirty="0">
              <a:solidFill>
                <a:srgbClr val="17375E"/>
              </a:solidFill>
            </a:endParaRPr>
          </a:p>
          <a:p>
            <a:pPr algn="just"/>
            <a:r>
              <a:rPr lang="en-US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Involvement of   community for hospital service improvement</a:t>
            </a:r>
          </a:p>
          <a:p>
            <a:r>
              <a:rPr lang="en-US" dirty="0" smtClean="0"/>
              <a:t>Leadership of health manager</a:t>
            </a:r>
          </a:p>
          <a:p>
            <a:r>
              <a:rPr lang="en-US" dirty="0" smtClean="0"/>
              <a:t>Motivation of the service providers</a:t>
            </a:r>
          </a:p>
          <a:p>
            <a:r>
              <a:rPr lang="en-US" dirty="0" smtClean="0"/>
              <a:t>Ownership of the community support group.</a:t>
            </a:r>
          </a:p>
          <a:p>
            <a:r>
              <a:rPr lang="en-US" dirty="0" smtClean="0"/>
              <a:t>Support from the local administration.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3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4740</TotalTime>
  <Words>1532</Words>
  <Application>Microsoft Office PowerPoint</Application>
  <PresentationFormat>On-screen Show (4:3)</PresentationFormat>
  <Paragraphs>244</Paragraphs>
  <Slides>53</Slides>
  <Notes>17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1_Default Design</vt:lpstr>
      <vt:lpstr>Office Theme</vt:lpstr>
      <vt:lpstr>Flow</vt:lpstr>
      <vt:lpstr>3_Default Design</vt:lpstr>
      <vt:lpstr>Chart</vt:lpstr>
      <vt:lpstr>PowerPoint Presentation</vt:lpstr>
      <vt:lpstr>PowerPoint Presentation</vt:lpstr>
      <vt:lpstr>A Hospital with a Vision …</vt:lpstr>
      <vt:lpstr>Background History of MCH services of Chowgacha Health Complex, Jessore</vt:lpstr>
      <vt:lpstr>PowerPoint Presentation</vt:lpstr>
      <vt:lpstr>PowerPoint Presentation</vt:lpstr>
      <vt:lpstr>PowerPoint Presentation</vt:lpstr>
      <vt:lpstr>Dr. Salina and nurses who working in ANC corner  &amp; labour  word.</vt:lpstr>
      <vt:lpstr>PowerPoint Presentation</vt:lpstr>
      <vt:lpstr>S.S.N working ANC corner</vt:lpstr>
      <vt:lpstr>Introduction</vt:lpstr>
      <vt:lpstr>Upazila Health  Complex CHOWGACHA , JESSORE.</vt:lpstr>
      <vt:lpstr>Upazila Health  Complex CHOWGACHA , JESSORE.</vt:lpstr>
      <vt:lpstr>Hon’ble Health Minister for Health &amp; Family Welfare with WHO Representative at Chowgacha handing over money and gift of voucher scheme of DSF</vt:lpstr>
      <vt:lpstr>PowerPoint Presentation</vt:lpstr>
      <vt:lpstr>PowerPoint Presentation</vt:lpstr>
      <vt:lpstr>PowerPoint Presentation</vt:lpstr>
      <vt:lpstr>Event of Community participant in Jhenaidah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PowerPoint Presentation</vt:lpstr>
      <vt:lpstr>Changes in Gardens of The Hospital</vt:lpstr>
      <vt:lpstr>Changes in office and hospital internal environment</vt:lpstr>
      <vt:lpstr>Internal Monitoring System</vt:lpstr>
      <vt:lpstr>Use of direction sign, labeling of rooms, clean latrine and waist segregation</vt:lpstr>
      <vt:lpstr>PowerPoint Presentation</vt:lpstr>
      <vt:lpstr>Hospital Environment</vt:lpstr>
      <vt:lpstr>PowerPoint Presentation</vt:lpstr>
      <vt:lpstr>Way forward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1105</cp:revision>
  <cp:lastPrinted>2015-07-23T02:45:36Z</cp:lastPrinted>
  <dcterms:created xsi:type="dcterms:W3CDTF">1601-01-01T00:00:00Z</dcterms:created>
  <dcterms:modified xsi:type="dcterms:W3CDTF">2020-10-27T00:49:22Z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