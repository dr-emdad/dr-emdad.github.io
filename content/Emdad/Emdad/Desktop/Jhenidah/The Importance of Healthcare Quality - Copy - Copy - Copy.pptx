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0"/>
  </p:notesMasterIdLst>
  <p:sldIdLst>
    <p:sldId id="256" r:id="rId3"/>
    <p:sldId id="257" r:id="rId4"/>
    <p:sldId id="261" r:id="rId5"/>
    <p:sldId id="260" r:id="rId6"/>
    <p:sldId id="259" r:id="rId7"/>
    <p:sldId id="258" r:id="rId8"/>
    <p:sldId id="265" r:id="rId9"/>
    <p:sldId id="269" r:id="rId10"/>
    <p:sldId id="270" r:id="rId11"/>
    <p:sldId id="281" r:id="rId12"/>
    <p:sldId id="280" r:id="rId13"/>
    <p:sldId id="275" r:id="rId14"/>
    <p:sldId id="276" r:id="rId15"/>
    <p:sldId id="277" r:id="rId16"/>
    <p:sldId id="278" r:id="rId17"/>
    <p:sldId id="279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05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7383F-BBD2-48DA-AD51-5E78AA70D031}" type="datetimeFigureOut">
              <a:rPr lang="en-GB" smtClean="0"/>
              <a:t>01/09/2020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22EBFC-E7A0-4099-9DED-DCE35DDBEC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474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1pPr>
            <a:lvl2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2pPr>
            <a:lvl3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3pPr>
            <a:lvl4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4pPr>
            <a:lvl5pPr eaLnBrk="0" hangingPunct="0"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5pPr>
            <a:lvl6pPr marL="2467577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6pPr>
            <a:lvl7pPr marL="2916227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7pPr>
            <a:lvl8pPr marL="3364878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8pPr>
            <a:lvl9pPr marL="3813528" indent="-224325" defTabSz="440862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391012" algn="l"/>
                <a:tab pos="785138" algn="l"/>
                <a:tab pos="1179265" algn="l"/>
                <a:tab pos="1573392" algn="l"/>
                <a:tab pos="1967519" algn="l"/>
                <a:tab pos="2361646" algn="l"/>
                <a:tab pos="2754215" algn="l"/>
                <a:tab pos="3148342" algn="l"/>
                <a:tab pos="3542468" algn="l"/>
                <a:tab pos="3936596" algn="l"/>
                <a:tab pos="4330722" algn="l"/>
                <a:tab pos="4724850" algn="l"/>
                <a:tab pos="5117419" algn="l"/>
                <a:tab pos="5511545" algn="l"/>
                <a:tab pos="5905672" algn="l"/>
                <a:tab pos="6299799" algn="l"/>
                <a:tab pos="6693926" algn="l"/>
                <a:tab pos="7088053" algn="l"/>
                <a:tab pos="7480622" algn="l"/>
                <a:tab pos="7874749" algn="l"/>
              </a:tabLst>
              <a:defRPr sz="800">
                <a:solidFill>
                  <a:schemeClr val="bg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/>
            <a:fld id="{067C116D-9CB3-42FB-BAA8-F1AACF7FCA97}" type="slidenum">
              <a:rPr lang="en-US" sz="1300">
                <a:solidFill>
                  <a:srgbClr val="000000"/>
                </a:solidFill>
                <a:latin typeface="Times New Roman" pitchFamily="18" charset="0"/>
                <a:ea typeface="ＭＳ Ｐ明朝"/>
                <a:cs typeface="ＭＳ Ｐ明朝"/>
              </a:rPr>
              <a:pPr eaLnBrk="1"/>
              <a:t>12</a:t>
            </a:fld>
            <a:endParaRPr lang="en-US" sz="1300">
              <a:solidFill>
                <a:srgbClr val="000000"/>
              </a:solidFill>
              <a:latin typeface="Times New Roman" pitchFamily="18" charset="0"/>
              <a:ea typeface="ＭＳ Ｐ明朝"/>
              <a:cs typeface="ＭＳ Ｐ明朝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7849" y="718279"/>
            <a:ext cx="4519198" cy="3407139"/>
          </a:xfrm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1" y="4370570"/>
            <a:ext cx="5031685" cy="4084820"/>
          </a:xfrm>
          <a:noFill/>
        </p:spPr>
        <p:txBody>
          <a:bodyPr lIns="91428" tIns="45714" rIns="91428" bIns="45714"/>
          <a:lstStyle/>
          <a:p>
            <a:pPr defTabSz="800716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7849" y="718279"/>
            <a:ext cx="4519198" cy="3407139"/>
          </a:xfrm>
        </p:spPr>
      </p:sp>
      <p:sp>
        <p:nvSpPr>
          <p:cNvPr id="5017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711" y="4370570"/>
            <a:ext cx="5031685" cy="4084820"/>
          </a:xfrm>
          <a:noFill/>
        </p:spPr>
        <p:txBody>
          <a:bodyPr lIns="91428" tIns="45714" rIns="91428" bIns="45714"/>
          <a:lstStyle/>
          <a:p>
            <a:pPr defTabSz="89730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7849" y="718279"/>
            <a:ext cx="4519198" cy="3407139"/>
          </a:xfrm>
          <a:ln/>
          <a:extLs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51203" name="Rectangle 1028"/>
          <p:cNvSpPr>
            <a:spLocks noGrp="1" noChangeArrowheads="1"/>
          </p:cNvSpPr>
          <p:nvPr>
            <p:ph type="body" idx="1"/>
          </p:nvPr>
        </p:nvSpPr>
        <p:spPr>
          <a:xfrm>
            <a:off x="914711" y="4370570"/>
            <a:ext cx="5031685" cy="4084820"/>
          </a:xfrm>
          <a:noFill/>
        </p:spPr>
        <p:txBody>
          <a:bodyPr lIns="91428" tIns="45714" rIns="91428" bIns="45714"/>
          <a:lstStyle/>
          <a:p>
            <a:pPr defTabSz="89730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B0919-9684-4400-BBCB-93DD4DAC2399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A5FD1-66CC-4960-9AA9-CFCD7D7A42E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086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F56CB-55B6-4D14-9725-674F6D56A04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A73D5-DF41-47FD-9C4E-550254C7A4B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749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ED693-CBF4-4B11-B692-5D667AA2CB3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9D400-12B2-495B-B0AA-E66D23241C0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166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72D7A-37C2-424D-A26E-5BE9B16E7C07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B431F-B0D8-4241-9987-C913E6F4764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787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1D85F-1C0C-4D39-987E-4B71CB38FB5A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FC59B-569A-4D59-8828-74E93A13751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338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38C1F-CF3E-404F-95BB-501139BB908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19A6D-4DD8-4520-9B2D-4891833E42A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352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C27B9-B631-4C29-B8BA-7F2C07EEB03C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9C0A-2198-4BB4-BD2C-9C4CF030278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5441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D8679-C261-410D-A1B5-966FA4914F2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49D3-8E8E-4ACE-9B26-19F9E2A48002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47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34041-8579-41D2-BA7E-D0C7DF620675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EBDEE-FB86-4827-AACA-C5B8174C112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915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D2217-7454-4056-AB51-D442E837963B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43889-7143-4B61-8073-DB60027F39F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3597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DE1D3-7726-4FA7-9EF2-57D304A95E18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9B772-BC4B-46F4-B691-B65CE913A3B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3936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13F95-13FA-4F6B-B2BA-4D6BC5C6EEC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55664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C67B8E3-97D5-42CB-9E66-0C32C6EC3114}" type="datetimeFigureOut">
              <a:rPr lang="en-US" smtClean="0"/>
              <a:t>9/1/2020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9136B6-CD83-4EC0-9CEB-09C776D1E1B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9/1/2020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54B987-C91B-4304-9BFF-446EA7CA19E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66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9.wmf"/><Relationship Id="rId10" Type="http://schemas.openxmlformats.org/officeDocument/2006/relationships/image" Target="../media/image11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notesSlide" Target="../notesSlides/notesSlide2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7772400" cy="2187674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/>
              <a:t>The Importance of Healthcare</a:t>
            </a:r>
            <a:br>
              <a:rPr lang="en-US" sz="4800" dirty="0" smtClean="0"/>
            </a:br>
            <a:r>
              <a:rPr lang="en-US" sz="4800" dirty="0" smtClean="0"/>
              <a:t>Quality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475" y="3703177"/>
            <a:ext cx="7854696" cy="1752600"/>
          </a:xfrm>
        </p:spPr>
        <p:txBody>
          <a:bodyPr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Dr. Md. </a:t>
            </a:r>
            <a:r>
              <a:rPr lang="en-US" dirty="0" err="1" smtClean="0"/>
              <a:t>Emdadul</a:t>
            </a:r>
            <a:r>
              <a:rPr lang="en-US" dirty="0" smtClean="0"/>
              <a:t> </a:t>
            </a:r>
            <a:r>
              <a:rPr lang="en-US" dirty="0" err="1" smtClean="0"/>
              <a:t>Haque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8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/>
            <a:r>
              <a:rPr lang="en-US" dirty="0" smtClean="0"/>
              <a:t>Why does Quality matter?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Increases the health status of individuals  and the  population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Poor quality can do harm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Social and economic benefits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Increases the efficiency of the health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47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05" y="1484784"/>
            <a:ext cx="8568952" cy="455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8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755" y="99508"/>
            <a:ext cx="8229600" cy="1143000"/>
          </a:xfrm>
        </p:spPr>
        <p:txBody>
          <a:bodyPr/>
          <a:lstStyle/>
          <a:p>
            <a:pPr algn="l"/>
            <a:r>
              <a:rPr lang="en-US" dirty="0" smtClean="0"/>
              <a:t>Oh dear!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17" y="1242508"/>
            <a:ext cx="7766477" cy="506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457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Who should care!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1"/>
            <a:ext cx="8496944" cy="53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745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Solve priority </a:t>
            </a:r>
            <a:br>
              <a:rPr lang="en-US" dirty="0" smtClean="0"/>
            </a:br>
            <a:r>
              <a:rPr lang="en-US" dirty="0" smtClean="0"/>
              <a:t>	   Quality problems …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8290124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20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Deming Cycle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72816"/>
            <a:ext cx="7488832" cy="442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349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People connect the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en-US" sz="2400" dirty="0"/>
              <a:t>No quality management system works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unless </a:t>
            </a:r>
            <a:r>
              <a:rPr lang="en-US" sz="2400" dirty="0"/>
              <a:t>people are empowered and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committed </a:t>
            </a:r>
            <a:r>
              <a:rPr lang="en-US" sz="2400" dirty="0"/>
              <a:t>to take responsibility for quality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-</a:t>
            </a:r>
            <a:r>
              <a:rPr lang="en-US" sz="2400" dirty="0"/>
              <a:t>as an ongoing process –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 in </a:t>
            </a:r>
            <a:r>
              <a:rPr lang="en-US" sz="2400" dirty="0"/>
              <a:t>the end, quality becomes part of people's </a:t>
            </a:r>
            <a:r>
              <a:rPr lang="en-US" sz="2400" dirty="0" smtClean="0"/>
              <a:t>behavior  and  attitudes</a:t>
            </a:r>
            <a:r>
              <a:rPr lang="en-US" sz="2400" dirty="0"/>
              <a:t>” </a:t>
            </a:r>
            <a:endParaRPr lang="en-US" sz="2400" dirty="0" smtClean="0"/>
          </a:p>
          <a:p>
            <a:pPr marL="0" indent="0">
              <a:buNone/>
            </a:pPr>
            <a:r>
              <a:rPr lang="en-US" sz="3200" dirty="0" smtClean="0"/>
              <a:t>Dr</a:t>
            </a:r>
            <a:r>
              <a:rPr lang="en-US" sz="3200" dirty="0"/>
              <a:t>. Joseph </a:t>
            </a:r>
            <a:r>
              <a:rPr lang="en-US" sz="3200" dirty="0" err="1"/>
              <a:t>Juran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1548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dirty="0"/>
              <a:t>The Paradigm Shift in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800" i="1" dirty="0" smtClean="0">
                <a:solidFill>
                  <a:srgbClr val="00B0F0"/>
                </a:solidFill>
              </a:rPr>
              <a:t>from </a:t>
            </a:r>
            <a:r>
              <a:rPr lang="en-US" sz="1800" i="1" dirty="0" smtClean="0">
                <a:solidFill>
                  <a:srgbClr val="00B0F0"/>
                </a:solidFill>
              </a:rPr>
              <a:t>we</a:t>
            </a:r>
            <a:r>
              <a:rPr lang="en-US" sz="2800" i="1" dirty="0" smtClean="0">
                <a:solidFill>
                  <a:srgbClr val="00B0F0"/>
                </a:solidFill>
              </a:rPr>
              <a:t> </a:t>
            </a:r>
            <a:r>
              <a:rPr lang="en-US" sz="2800" i="1" dirty="0">
                <a:solidFill>
                  <a:srgbClr val="00B0F0"/>
                </a:solidFill>
              </a:rPr>
              <a:t>know best what is good for you </a:t>
            </a:r>
            <a:endParaRPr lang="en-US" sz="2800" i="1" dirty="0" smtClean="0">
              <a:solidFill>
                <a:srgbClr val="00B0F0"/>
              </a:solidFill>
            </a:endParaRPr>
          </a:p>
          <a:p>
            <a:pPr marL="640080" lvl="2" indent="0">
              <a:buNone/>
            </a:pPr>
            <a:r>
              <a:rPr lang="en-US" sz="2400" dirty="0" smtClean="0">
                <a:solidFill>
                  <a:srgbClr val="00B0F0"/>
                </a:solidFill>
              </a:rPr>
              <a:t>			</a:t>
            </a:r>
            <a:r>
              <a:rPr lang="en-US" sz="2800" b="1" dirty="0" smtClean="0">
                <a:solidFill>
                  <a:srgbClr val="00B0F0"/>
                </a:solidFill>
              </a:rPr>
              <a:t>to </a:t>
            </a:r>
            <a:r>
              <a:rPr lang="en-US" sz="2800" b="1" dirty="0">
                <a:solidFill>
                  <a:srgbClr val="00B0F0"/>
                </a:solidFill>
              </a:rPr>
              <a:t>customer orientation </a:t>
            </a:r>
            <a:endParaRPr lang="en-US" sz="2800" b="1" dirty="0" smtClean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2.   </a:t>
            </a:r>
            <a:r>
              <a:rPr lang="en-US" sz="2800" i="1" dirty="0" smtClean="0">
                <a:solidFill>
                  <a:schemeClr val="accent4">
                    <a:lumMod val="75000"/>
                  </a:schemeClr>
                </a:solidFill>
              </a:rPr>
              <a:t>from </a:t>
            </a:r>
            <a:r>
              <a:rPr lang="en-US" sz="2800" i="1" dirty="0">
                <a:solidFill>
                  <a:schemeClr val="accent4">
                    <a:lumMod val="75000"/>
                  </a:schemeClr>
                </a:solidFill>
              </a:rPr>
              <a:t>post-production </a:t>
            </a:r>
            <a:r>
              <a:rPr lang="en-US" sz="2800" i="1" dirty="0" smtClean="0">
                <a:solidFill>
                  <a:schemeClr val="accent4">
                    <a:lumMod val="75000"/>
                  </a:schemeClr>
                </a:solidFill>
              </a:rPr>
              <a:t>evaluation                  </a:t>
            </a:r>
            <a:r>
              <a:rPr lang="en-US" sz="2800" b="1" i="1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4">
                    <a:lumMod val="75000"/>
                  </a:schemeClr>
                </a:solidFill>
              </a:rPr>
              <a:t>		                       to prevention and continuous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improvement </a:t>
            </a:r>
            <a:endParaRPr lang="en-US" sz="2800" b="1" dirty="0" smtClean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>
                <a:solidFill>
                  <a:srgbClr val="0070C0"/>
                </a:solidFill>
              </a:rPr>
              <a:t>3</a:t>
            </a:r>
            <a:r>
              <a:rPr lang="en-US" sz="2800" dirty="0">
                <a:solidFill>
                  <a:srgbClr val="0070C0"/>
                </a:solidFill>
              </a:rPr>
              <a:t>. </a:t>
            </a:r>
            <a:r>
              <a:rPr lang="en-US" sz="2800" i="1" dirty="0">
                <a:solidFill>
                  <a:srgbClr val="FF0000"/>
                </a:solidFill>
              </a:rPr>
              <a:t>from external focus on control through </a:t>
            </a:r>
            <a:r>
              <a:rPr lang="en-US" sz="2800" i="1" dirty="0" smtClean="0">
                <a:solidFill>
                  <a:srgbClr val="FF0000"/>
                </a:solidFill>
              </a:rPr>
              <a:t>inspection </a:t>
            </a:r>
            <a:r>
              <a:rPr lang="en-US" sz="2800" dirty="0" smtClean="0">
                <a:solidFill>
                  <a:srgbClr val="FF0000"/>
                </a:solidFill>
              </a:rPr>
              <a:t>			</a:t>
            </a:r>
            <a:r>
              <a:rPr lang="en-US" sz="2800" b="1" dirty="0" smtClean="0">
                <a:solidFill>
                  <a:srgbClr val="FF0000"/>
                </a:solidFill>
              </a:rPr>
              <a:t>to </a:t>
            </a:r>
            <a:r>
              <a:rPr lang="en-US" sz="2800" b="1" dirty="0">
                <a:solidFill>
                  <a:srgbClr val="FF0000"/>
                </a:solidFill>
              </a:rPr>
              <a:t>design and self assessment</a:t>
            </a:r>
          </a:p>
        </p:txBody>
      </p:sp>
    </p:spTree>
    <p:extLst>
      <p:ext uri="{BB962C8B-B14F-4D97-AF65-F5344CB8AC3E}">
        <p14:creationId xmlns:p14="http://schemas.microsoft.com/office/powerpoint/2010/main" val="250652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018" y="0"/>
            <a:ext cx="9193017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196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Our usual solution: </a:t>
            </a:r>
            <a:br>
              <a:rPr lang="en-US" sz="3600" dirty="0" smtClean="0"/>
            </a:br>
            <a:r>
              <a:rPr lang="en-US" sz="3600" dirty="0" smtClean="0"/>
              <a:t>We need more RESOURCES!!!!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532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8"/>
          <p:cNvGrpSpPr>
            <a:grpSpLocks/>
          </p:cNvGrpSpPr>
          <p:nvPr/>
        </p:nvGrpSpPr>
        <p:grpSpPr bwMode="auto">
          <a:xfrm>
            <a:off x="-1440" y="1905320"/>
            <a:ext cx="9145440" cy="4952680"/>
            <a:chOff x="-1" y="1200"/>
            <a:chExt cx="5761" cy="3120"/>
          </a:xfrm>
        </p:grpSpPr>
        <p:sp>
          <p:nvSpPr>
            <p:cNvPr id="25638" name="Freeform 2"/>
            <p:cNvSpPr>
              <a:spLocks/>
            </p:cNvSpPr>
            <p:nvPr/>
          </p:nvSpPr>
          <p:spPr bwMode="auto">
            <a:xfrm>
              <a:off x="1248" y="2427"/>
              <a:ext cx="4512" cy="1893"/>
            </a:xfrm>
            <a:custGeom>
              <a:avLst/>
              <a:gdLst>
                <a:gd name="T0" fmla="*/ 4511 w 4512"/>
                <a:gd name="T1" fmla="*/ 0 h 1893"/>
                <a:gd name="T2" fmla="*/ 4147 w 4512"/>
                <a:gd name="T3" fmla="*/ 194 h 1893"/>
                <a:gd name="T4" fmla="*/ 4120 w 4512"/>
                <a:gd name="T5" fmla="*/ 335 h 1893"/>
                <a:gd name="T6" fmla="*/ 3933 w 4512"/>
                <a:gd name="T7" fmla="*/ 557 h 1893"/>
                <a:gd name="T8" fmla="*/ 3713 w 4512"/>
                <a:gd name="T9" fmla="*/ 588 h 1893"/>
                <a:gd name="T10" fmla="*/ 3525 w 4512"/>
                <a:gd name="T11" fmla="*/ 599 h 1893"/>
                <a:gd name="T12" fmla="*/ 3482 w 4512"/>
                <a:gd name="T13" fmla="*/ 817 h 1893"/>
                <a:gd name="T14" fmla="*/ 3350 w 4512"/>
                <a:gd name="T15" fmla="*/ 726 h 1893"/>
                <a:gd name="T16" fmla="*/ 3118 w 4512"/>
                <a:gd name="T17" fmla="*/ 726 h 1893"/>
                <a:gd name="T18" fmla="*/ 2916 w 4512"/>
                <a:gd name="T19" fmla="*/ 678 h 1893"/>
                <a:gd name="T20" fmla="*/ 2799 w 4512"/>
                <a:gd name="T21" fmla="*/ 805 h 1893"/>
                <a:gd name="T22" fmla="*/ 2711 w 4512"/>
                <a:gd name="T23" fmla="*/ 1025 h 1893"/>
                <a:gd name="T24" fmla="*/ 2655 w 4512"/>
                <a:gd name="T25" fmla="*/ 931 h 1893"/>
                <a:gd name="T26" fmla="*/ 2538 w 4512"/>
                <a:gd name="T27" fmla="*/ 884 h 1893"/>
                <a:gd name="T28" fmla="*/ 2233 w 4512"/>
                <a:gd name="T29" fmla="*/ 1282 h 1893"/>
                <a:gd name="T30" fmla="*/ 2057 w 4512"/>
                <a:gd name="T31" fmla="*/ 1267 h 1893"/>
                <a:gd name="T32" fmla="*/ 1811 w 4512"/>
                <a:gd name="T33" fmla="*/ 1388 h 1893"/>
                <a:gd name="T34" fmla="*/ 1582 w 4512"/>
                <a:gd name="T35" fmla="*/ 1357 h 1893"/>
                <a:gd name="T36" fmla="*/ 1375 w 4512"/>
                <a:gd name="T37" fmla="*/ 1230 h 1893"/>
                <a:gd name="T38" fmla="*/ 1204 w 4512"/>
                <a:gd name="T39" fmla="*/ 1372 h 1893"/>
                <a:gd name="T40" fmla="*/ 970 w 4512"/>
                <a:gd name="T41" fmla="*/ 1357 h 1893"/>
                <a:gd name="T42" fmla="*/ 738 w 4512"/>
                <a:gd name="T43" fmla="*/ 1704 h 1893"/>
                <a:gd name="T44" fmla="*/ 507 w 4512"/>
                <a:gd name="T45" fmla="*/ 1700 h 1893"/>
                <a:gd name="T46" fmla="*/ 243 w 4512"/>
                <a:gd name="T47" fmla="*/ 1751 h 1893"/>
                <a:gd name="T48" fmla="*/ 73 w 4512"/>
                <a:gd name="T49" fmla="*/ 1851 h 1893"/>
                <a:gd name="T50" fmla="*/ 0 w 4512"/>
                <a:gd name="T51" fmla="*/ 1889 h 1893"/>
                <a:gd name="T52" fmla="*/ 4511 w 4512"/>
                <a:gd name="T53" fmla="*/ 1892 h 1893"/>
                <a:gd name="T54" fmla="*/ 4511 w 4512"/>
                <a:gd name="T55" fmla="*/ 0 h 1893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512"/>
                <a:gd name="T85" fmla="*/ 0 h 1893"/>
                <a:gd name="T86" fmla="*/ 4512 w 4512"/>
                <a:gd name="T87" fmla="*/ 1893 h 1893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512" h="1893">
                  <a:moveTo>
                    <a:pt x="4511" y="0"/>
                  </a:moveTo>
                  <a:lnTo>
                    <a:pt x="4147" y="194"/>
                  </a:lnTo>
                  <a:lnTo>
                    <a:pt x="4120" y="335"/>
                  </a:lnTo>
                  <a:lnTo>
                    <a:pt x="3933" y="557"/>
                  </a:lnTo>
                  <a:lnTo>
                    <a:pt x="3713" y="588"/>
                  </a:lnTo>
                  <a:lnTo>
                    <a:pt x="3525" y="599"/>
                  </a:lnTo>
                  <a:lnTo>
                    <a:pt x="3482" y="817"/>
                  </a:lnTo>
                  <a:lnTo>
                    <a:pt x="3350" y="726"/>
                  </a:lnTo>
                  <a:lnTo>
                    <a:pt x="3118" y="726"/>
                  </a:lnTo>
                  <a:lnTo>
                    <a:pt x="2916" y="678"/>
                  </a:lnTo>
                  <a:lnTo>
                    <a:pt x="2799" y="805"/>
                  </a:lnTo>
                  <a:lnTo>
                    <a:pt x="2711" y="1025"/>
                  </a:lnTo>
                  <a:lnTo>
                    <a:pt x="2655" y="931"/>
                  </a:lnTo>
                  <a:lnTo>
                    <a:pt x="2538" y="884"/>
                  </a:lnTo>
                  <a:lnTo>
                    <a:pt x="2233" y="1282"/>
                  </a:lnTo>
                  <a:lnTo>
                    <a:pt x="2057" y="1267"/>
                  </a:lnTo>
                  <a:lnTo>
                    <a:pt x="1811" y="1388"/>
                  </a:lnTo>
                  <a:lnTo>
                    <a:pt x="1582" y="1357"/>
                  </a:lnTo>
                  <a:lnTo>
                    <a:pt x="1375" y="1230"/>
                  </a:lnTo>
                  <a:lnTo>
                    <a:pt x="1204" y="1372"/>
                  </a:lnTo>
                  <a:lnTo>
                    <a:pt x="970" y="1357"/>
                  </a:lnTo>
                  <a:lnTo>
                    <a:pt x="738" y="1704"/>
                  </a:lnTo>
                  <a:lnTo>
                    <a:pt x="507" y="1700"/>
                  </a:lnTo>
                  <a:lnTo>
                    <a:pt x="243" y="1751"/>
                  </a:lnTo>
                  <a:lnTo>
                    <a:pt x="73" y="1851"/>
                  </a:lnTo>
                  <a:lnTo>
                    <a:pt x="0" y="1889"/>
                  </a:lnTo>
                  <a:lnTo>
                    <a:pt x="4511" y="1892"/>
                  </a:lnTo>
                  <a:lnTo>
                    <a:pt x="4511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39" name="Object 3"/>
            <p:cNvGraphicFramePr>
              <a:graphicFrameLocks/>
            </p:cNvGraphicFramePr>
            <p:nvPr/>
          </p:nvGraphicFramePr>
          <p:xfrm>
            <a:off x="2587" y="3462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6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7" y="3462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0" name="Object 4"/>
            <p:cNvGraphicFramePr>
              <a:graphicFrameLocks/>
            </p:cNvGraphicFramePr>
            <p:nvPr/>
          </p:nvGraphicFramePr>
          <p:xfrm>
            <a:off x="4075" y="3463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7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5" y="3463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41" name="Object 5"/>
            <p:cNvGraphicFramePr>
              <a:graphicFrameLocks/>
            </p:cNvGraphicFramePr>
            <p:nvPr/>
          </p:nvGraphicFramePr>
          <p:xfrm>
            <a:off x="5035" y="3079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8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35" y="3079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42" name="Freeform 6"/>
            <p:cNvSpPr>
              <a:spLocks/>
            </p:cNvSpPr>
            <p:nvPr/>
          </p:nvSpPr>
          <p:spPr bwMode="auto">
            <a:xfrm>
              <a:off x="-1" y="1200"/>
              <a:ext cx="1920" cy="816"/>
            </a:xfrm>
            <a:custGeom>
              <a:avLst/>
              <a:gdLst>
                <a:gd name="T0" fmla="*/ 0 w 1920"/>
                <a:gd name="T1" fmla="*/ 0 h 816"/>
                <a:gd name="T2" fmla="*/ 155 w 1920"/>
                <a:gd name="T3" fmla="*/ 84 h 816"/>
                <a:gd name="T4" fmla="*/ 166 w 1920"/>
                <a:gd name="T5" fmla="*/ 145 h 816"/>
                <a:gd name="T6" fmla="*/ 246 w 1920"/>
                <a:gd name="T7" fmla="*/ 240 h 816"/>
                <a:gd name="T8" fmla="*/ 340 w 1920"/>
                <a:gd name="T9" fmla="*/ 253 h 816"/>
                <a:gd name="T10" fmla="*/ 420 w 1920"/>
                <a:gd name="T11" fmla="*/ 258 h 816"/>
                <a:gd name="T12" fmla="*/ 438 w 1920"/>
                <a:gd name="T13" fmla="*/ 352 h 816"/>
                <a:gd name="T14" fmla="*/ 494 w 1920"/>
                <a:gd name="T15" fmla="*/ 313 h 816"/>
                <a:gd name="T16" fmla="*/ 593 w 1920"/>
                <a:gd name="T17" fmla="*/ 313 h 816"/>
                <a:gd name="T18" fmla="*/ 679 w 1920"/>
                <a:gd name="T19" fmla="*/ 292 h 816"/>
                <a:gd name="T20" fmla="*/ 729 w 1920"/>
                <a:gd name="T21" fmla="*/ 347 h 816"/>
                <a:gd name="T22" fmla="*/ 766 w 1920"/>
                <a:gd name="T23" fmla="*/ 442 h 816"/>
                <a:gd name="T24" fmla="*/ 790 w 1920"/>
                <a:gd name="T25" fmla="*/ 401 h 816"/>
                <a:gd name="T26" fmla="*/ 840 w 1920"/>
                <a:gd name="T27" fmla="*/ 381 h 816"/>
                <a:gd name="T28" fmla="*/ 969 w 1920"/>
                <a:gd name="T29" fmla="*/ 552 h 816"/>
                <a:gd name="T30" fmla="*/ 1044 w 1920"/>
                <a:gd name="T31" fmla="*/ 546 h 816"/>
                <a:gd name="T32" fmla="*/ 1149 w 1920"/>
                <a:gd name="T33" fmla="*/ 598 h 816"/>
                <a:gd name="T34" fmla="*/ 1246 w 1920"/>
                <a:gd name="T35" fmla="*/ 585 h 816"/>
                <a:gd name="T36" fmla="*/ 1334 w 1920"/>
                <a:gd name="T37" fmla="*/ 530 h 816"/>
                <a:gd name="T38" fmla="*/ 1407 w 1920"/>
                <a:gd name="T39" fmla="*/ 591 h 816"/>
                <a:gd name="T40" fmla="*/ 1507 w 1920"/>
                <a:gd name="T41" fmla="*/ 585 h 816"/>
                <a:gd name="T42" fmla="*/ 1605 w 1920"/>
                <a:gd name="T43" fmla="*/ 734 h 816"/>
                <a:gd name="T44" fmla="*/ 1704 w 1920"/>
                <a:gd name="T45" fmla="*/ 732 h 816"/>
                <a:gd name="T46" fmla="*/ 1816 w 1920"/>
                <a:gd name="T47" fmla="*/ 754 h 816"/>
                <a:gd name="T48" fmla="*/ 1888 w 1920"/>
                <a:gd name="T49" fmla="*/ 797 h 816"/>
                <a:gd name="T50" fmla="*/ 1919 w 1920"/>
                <a:gd name="T51" fmla="*/ 814 h 816"/>
                <a:gd name="T52" fmla="*/ 0 w 1920"/>
                <a:gd name="T53" fmla="*/ 815 h 816"/>
                <a:gd name="T54" fmla="*/ 0 w 1920"/>
                <a:gd name="T55" fmla="*/ 0 h 81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920"/>
                <a:gd name="T85" fmla="*/ 0 h 816"/>
                <a:gd name="T86" fmla="*/ 1920 w 1920"/>
                <a:gd name="T87" fmla="*/ 816 h 81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920" h="816">
                  <a:moveTo>
                    <a:pt x="0" y="0"/>
                  </a:moveTo>
                  <a:lnTo>
                    <a:pt x="155" y="84"/>
                  </a:lnTo>
                  <a:lnTo>
                    <a:pt x="166" y="145"/>
                  </a:lnTo>
                  <a:lnTo>
                    <a:pt x="246" y="240"/>
                  </a:lnTo>
                  <a:lnTo>
                    <a:pt x="340" y="253"/>
                  </a:lnTo>
                  <a:lnTo>
                    <a:pt x="420" y="258"/>
                  </a:lnTo>
                  <a:lnTo>
                    <a:pt x="438" y="352"/>
                  </a:lnTo>
                  <a:lnTo>
                    <a:pt x="494" y="313"/>
                  </a:lnTo>
                  <a:lnTo>
                    <a:pt x="593" y="313"/>
                  </a:lnTo>
                  <a:lnTo>
                    <a:pt x="679" y="292"/>
                  </a:lnTo>
                  <a:lnTo>
                    <a:pt x="729" y="347"/>
                  </a:lnTo>
                  <a:lnTo>
                    <a:pt x="766" y="442"/>
                  </a:lnTo>
                  <a:lnTo>
                    <a:pt x="790" y="401"/>
                  </a:lnTo>
                  <a:lnTo>
                    <a:pt x="840" y="381"/>
                  </a:lnTo>
                  <a:lnTo>
                    <a:pt x="969" y="552"/>
                  </a:lnTo>
                  <a:lnTo>
                    <a:pt x="1044" y="546"/>
                  </a:lnTo>
                  <a:lnTo>
                    <a:pt x="1149" y="598"/>
                  </a:lnTo>
                  <a:lnTo>
                    <a:pt x="1246" y="585"/>
                  </a:lnTo>
                  <a:lnTo>
                    <a:pt x="1334" y="530"/>
                  </a:lnTo>
                  <a:lnTo>
                    <a:pt x="1407" y="591"/>
                  </a:lnTo>
                  <a:lnTo>
                    <a:pt x="1507" y="585"/>
                  </a:lnTo>
                  <a:lnTo>
                    <a:pt x="1605" y="734"/>
                  </a:lnTo>
                  <a:lnTo>
                    <a:pt x="1704" y="732"/>
                  </a:lnTo>
                  <a:lnTo>
                    <a:pt x="1816" y="754"/>
                  </a:lnTo>
                  <a:lnTo>
                    <a:pt x="1888" y="797"/>
                  </a:lnTo>
                  <a:lnTo>
                    <a:pt x="1919" y="814"/>
                  </a:lnTo>
                  <a:lnTo>
                    <a:pt x="0" y="815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5643" name="Object 7"/>
            <p:cNvGraphicFramePr>
              <a:graphicFrameLocks/>
            </p:cNvGraphicFramePr>
            <p:nvPr/>
          </p:nvGraphicFramePr>
          <p:xfrm>
            <a:off x="700" y="1206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9" name="ｸﾘｯﾌﾟ" r:id="rId8" imgW="2527911" imgH="3658757" progId="MS_ClipArt_Gallery.2">
                    <p:embed/>
                  </p:oleObj>
                </mc:Choice>
                <mc:Fallback>
                  <p:oleObj name="ｸﾘｯﾌﾟ" r:id="rId8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" y="1206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297" name="Rectangle 9"/>
          <p:cNvSpPr>
            <a:spLocks noChangeArrowheads="1"/>
          </p:cNvSpPr>
          <p:nvPr/>
        </p:nvSpPr>
        <p:spPr bwMode="auto">
          <a:xfrm>
            <a:off x="381601" y="228987"/>
            <a:ext cx="5181120" cy="832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 dirty="0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KAIZEN(CQI)</a:t>
            </a:r>
          </a:p>
        </p:txBody>
      </p:sp>
      <p:grpSp>
        <p:nvGrpSpPr>
          <p:cNvPr id="25604" name="Group 42"/>
          <p:cNvGrpSpPr>
            <a:grpSpLocks/>
          </p:cNvGrpSpPr>
          <p:nvPr/>
        </p:nvGrpSpPr>
        <p:grpSpPr bwMode="auto">
          <a:xfrm>
            <a:off x="152640" y="1857795"/>
            <a:ext cx="8838720" cy="4818746"/>
            <a:chOff x="96" y="1170"/>
            <a:chExt cx="5568" cy="3036"/>
          </a:xfrm>
        </p:grpSpPr>
        <p:grpSp>
          <p:nvGrpSpPr>
            <p:cNvPr id="25606" name="Group 20"/>
            <p:cNvGrpSpPr>
              <a:grpSpLocks/>
            </p:cNvGrpSpPr>
            <p:nvPr/>
          </p:nvGrpSpPr>
          <p:grpSpPr bwMode="auto">
            <a:xfrm>
              <a:off x="227" y="2514"/>
              <a:ext cx="1753" cy="1692"/>
              <a:chOff x="227" y="2514"/>
              <a:chExt cx="1753" cy="1692"/>
            </a:xfrm>
          </p:grpSpPr>
          <p:sp>
            <p:nvSpPr>
              <p:cNvPr id="25628" name="Oval 10"/>
              <p:cNvSpPr>
                <a:spLocks noChangeArrowheads="1"/>
              </p:cNvSpPr>
              <p:nvPr/>
            </p:nvSpPr>
            <p:spPr bwMode="auto">
              <a:xfrm>
                <a:off x="227" y="2514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9" name="Group 19"/>
              <p:cNvGrpSpPr>
                <a:grpSpLocks/>
              </p:cNvGrpSpPr>
              <p:nvPr/>
            </p:nvGrpSpPr>
            <p:grpSpPr bwMode="auto">
              <a:xfrm>
                <a:off x="489" y="2772"/>
                <a:ext cx="1229" cy="1177"/>
                <a:chOff x="489" y="2772"/>
                <a:chExt cx="1229" cy="1177"/>
              </a:xfrm>
            </p:grpSpPr>
            <p:grpSp>
              <p:nvGrpSpPr>
                <p:cNvPr id="25630" name="Group 13"/>
                <p:cNvGrpSpPr>
                  <a:grpSpLocks/>
                </p:cNvGrpSpPr>
                <p:nvPr/>
              </p:nvGrpSpPr>
              <p:grpSpPr bwMode="auto">
                <a:xfrm>
                  <a:off x="489" y="2869"/>
                  <a:ext cx="1229" cy="1080"/>
                  <a:chOff x="489" y="2869"/>
                  <a:chExt cx="1229" cy="1080"/>
                </a:xfrm>
              </p:grpSpPr>
              <p:pic>
                <p:nvPicPr>
                  <p:cNvPr id="25636" name="Picture 1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89" y="2869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37" name="AutoShape 1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796" y="3027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31" name="Group 18"/>
                <p:cNvGrpSpPr>
                  <a:grpSpLocks/>
                </p:cNvGrpSpPr>
                <p:nvPr/>
              </p:nvGrpSpPr>
              <p:grpSpPr bwMode="auto">
                <a:xfrm>
                  <a:off x="1139" y="2772"/>
                  <a:ext cx="467" cy="125"/>
                  <a:chOff x="1139" y="2772"/>
                  <a:chExt cx="467" cy="125"/>
                </a:xfrm>
              </p:grpSpPr>
              <p:sp>
                <p:nvSpPr>
                  <p:cNvPr id="25632" name="Freeform 14"/>
                  <p:cNvSpPr>
                    <a:spLocks/>
                  </p:cNvSpPr>
                  <p:nvPr/>
                </p:nvSpPr>
                <p:spPr bwMode="auto">
                  <a:xfrm>
                    <a:off x="1556" y="2853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3" name="Freeform 15"/>
                  <p:cNvSpPr>
                    <a:spLocks/>
                  </p:cNvSpPr>
                  <p:nvPr/>
                </p:nvSpPr>
                <p:spPr bwMode="auto">
                  <a:xfrm>
                    <a:off x="1139" y="2875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4" name="Freeform 16"/>
                  <p:cNvSpPr>
                    <a:spLocks/>
                  </p:cNvSpPr>
                  <p:nvPr/>
                </p:nvSpPr>
                <p:spPr bwMode="auto">
                  <a:xfrm>
                    <a:off x="1447" y="2772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35" name="Freeform 17"/>
                  <p:cNvSpPr>
                    <a:spLocks/>
                  </p:cNvSpPr>
                  <p:nvPr/>
                </p:nvSpPr>
                <p:spPr bwMode="auto">
                  <a:xfrm>
                    <a:off x="1203" y="2778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7" name="Group 29"/>
            <p:cNvGrpSpPr>
              <a:grpSpLocks/>
            </p:cNvGrpSpPr>
            <p:nvPr/>
          </p:nvGrpSpPr>
          <p:grpSpPr bwMode="auto">
            <a:xfrm>
              <a:off x="1845" y="1588"/>
              <a:ext cx="1782" cy="1720"/>
              <a:chOff x="1845" y="1588"/>
              <a:chExt cx="1782" cy="1720"/>
            </a:xfrm>
          </p:grpSpPr>
          <p:sp>
            <p:nvSpPr>
              <p:cNvPr id="25620" name="Oval 21"/>
              <p:cNvSpPr>
                <a:spLocks noChangeArrowheads="1"/>
              </p:cNvSpPr>
              <p:nvPr/>
            </p:nvSpPr>
            <p:spPr bwMode="auto">
              <a:xfrm>
                <a:off x="1845" y="1588"/>
                <a:ext cx="1782" cy="172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21" name="Group 28"/>
              <p:cNvGrpSpPr>
                <a:grpSpLocks/>
              </p:cNvGrpSpPr>
              <p:nvPr/>
            </p:nvGrpSpPr>
            <p:grpSpPr bwMode="auto">
              <a:xfrm>
                <a:off x="2208" y="1788"/>
                <a:ext cx="1056" cy="1320"/>
                <a:chOff x="2208" y="1788"/>
                <a:chExt cx="1056" cy="1320"/>
              </a:xfrm>
            </p:grpSpPr>
            <p:pic>
              <p:nvPicPr>
                <p:cNvPr id="25622" name="Picture 22"/>
                <p:cNvPicPr>
                  <a:picLocks noChangeArrowheads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208" y="1855"/>
                  <a:ext cx="1056" cy="125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5623" name="Group 27"/>
                <p:cNvGrpSpPr>
                  <a:grpSpLocks/>
                </p:cNvGrpSpPr>
                <p:nvPr/>
              </p:nvGrpSpPr>
              <p:grpSpPr bwMode="auto">
                <a:xfrm>
                  <a:off x="2690" y="1788"/>
                  <a:ext cx="516" cy="136"/>
                  <a:chOff x="2690" y="1788"/>
                  <a:chExt cx="516" cy="136"/>
                </a:xfrm>
              </p:grpSpPr>
              <p:sp>
                <p:nvSpPr>
                  <p:cNvPr id="25624" name="Freeform 23"/>
                  <p:cNvSpPr>
                    <a:spLocks/>
                  </p:cNvSpPr>
                  <p:nvPr/>
                </p:nvSpPr>
                <p:spPr bwMode="auto">
                  <a:xfrm>
                    <a:off x="3151" y="1876"/>
                    <a:ext cx="55" cy="25"/>
                  </a:xfrm>
                  <a:custGeom>
                    <a:avLst/>
                    <a:gdLst>
                      <a:gd name="T0" fmla="*/ 0 w 55"/>
                      <a:gd name="T1" fmla="*/ 24 h 25"/>
                      <a:gd name="T2" fmla="*/ 13 w 55"/>
                      <a:gd name="T3" fmla="*/ 10 h 25"/>
                      <a:gd name="T4" fmla="*/ 17 w 55"/>
                      <a:gd name="T5" fmla="*/ 7 h 25"/>
                      <a:gd name="T6" fmla="*/ 19 w 55"/>
                      <a:gd name="T7" fmla="*/ 6 h 25"/>
                      <a:gd name="T8" fmla="*/ 22 w 55"/>
                      <a:gd name="T9" fmla="*/ 4 h 25"/>
                      <a:gd name="T10" fmla="*/ 25 w 55"/>
                      <a:gd name="T11" fmla="*/ 2 h 25"/>
                      <a:gd name="T12" fmla="*/ 28 w 55"/>
                      <a:gd name="T13" fmla="*/ 1 h 25"/>
                      <a:gd name="T14" fmla="*/ 31 w 55"/>
                      <a:gd name="T15" fmla="*/ 0 h 25"/>
                      <a:gd name="T16" fmla="*/ 34 w 55"/>
                      <a:gd name="T17" fmla="*/ 0 h 25"/>
                      <a:gd name="T18" fmla="*/ 38 w 55"/>
                      <a:gd name="T19" fmla="*/ 0 h 25"/>
                      <a:gd name="T20" fmla="*/ 41 w 55"/>
                      <a:gd name="T21" fmla="*/ 0 h 25"/>
                      <a:gd name="T22" fmla="*/ 42 w 55"/>
                      <a:gd name="T23" fmla="*/ 0 h 25"/>
                      <a:gd name="T24" fmla="*/ 46 w 55"/>
                      <a:gd name="T25" fmla="*/ 0 h 25"/>
                      <a:gd name="T26" fmla="*/ 47 w 55"/>
                      <a:gd name="T27" fmla="*/ 1 h 25"/>
                      <a:gd name="T28" fmla="*/ 50 w 55"/>
                      <a:gd name="T29" fmla="*/ 4 h 25"/>
                      <a:gd name="T30" fmla="*/ 52 w 55"/>
                      <a:gd name="T31" fmla="*/ 6 h 25"/>
                      <a:gd name="T32" fmla="*/ 53 w 55"/>
                      <a:gd name="T33" fmla="*/ 8 h 25"/>
                      <a:gd name="T34" fmla="*/ 54 w 55"/>
                      <a:gd name="T35" fmla="*/ 12 h 25"/>
                      <a:gd name="T36" fmla="*/ 53 w 55"/>
                      <a:gd name="T37" fmla="*/ 17 h 25"/>
                      <a:gd name="T38" fmla="*/ 52 w 55"/>
                      <a:gd name="T39" fmla="*/ 19 h 25"/>
                      <a:gd name="T40" fmla="*/ 50 w 55"/>
                      <a:gd name="T41" fmla="*/ 20 h 25"/>
                      <a:gd name="T42" fmla="*/ 46 w 55"/>
                      <a:gd name="T43" fmla="*/ 22 h 25"/>
                      <a:gd name="T44" fmla="*/ 42 w 55"/>
                      <a:gd name="T45" fmla="*/ 23 h 25"/>
                      <a:gd name="T46" fmla="*/ 38 w 55"/>
                      <a:gd name="T47" fmla="*/ 23 h 25"/>
                      <a:gd name="T48" fmla="*/ 34 w 55"/>
                      <a:gd name="T49" fmla="*/ 21 h 25"/>
                      <a:gd name="T50" fmla="*/ 28 w 55"/>
                      <a:gd name="T51" fmla="*/ 19 h 25"/>
                      <a:gd name="T52" fmla="*/ 24 w 55"/>
                      <a:gd name="T53" fmla="*/ 19 h 25"/>
                      <a:gd name="T54" fmla="*/ 18 w 55"/>
                      <a:gd name="T55" fmla="*/ 19 h 25"/>
                      <a:gd name="T56" fmla="*/ 11 w 55"/>
                      <a:gd name="T57" fmla="*/ 20 h 25"/>
                      <a:gd name="T58" fmla="*/ 0 w 55"/>
                      <a:gd name="T59" fmla="*/ 24 h 25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5"/>
                      <a:gd name="T91" fmla="*/ 0 h 25"/>
                      <a:gd name="T92" fmla="*/ 55 w 55"/>
                      <a:gd name="T93" fmla="*/ 25 h 25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5" h="25">
                        <a:moveTo>
                          <a:pt x="0" y="24"/>
                        </a:moveTo>
                        <a:lnTo>
                          <a:pt x="13" y="10"/>
                        </a:lnTo>
                        <a:lnTo>
                          <a:pt x="17" y="7"/>
                        </a:lnTo>
                        <a:lnTo>
                          <a:pt x="19" y="6"/>
                        </a:lnTo>
                        <a:lnTo>
                          <a:pt x="22" y="4"/>
                        </a:lnTo>
                        <a:lnTo>
                          <a:pt x="25" y="2"/>
                        </a:lnTo>
                        <a:lnTo>
                          <a:pt x="28" y="1"/>
                        </a:lnTo>
                        <a:lnTo>
                          <a:pt x="31" y="0"/>
                        </a:lnTo>
                        <a:lnTo>
                          <a:pt x="34" y="0"/>
                        </a:lnTo>
                        <a:lnTo>
                          <a:pt x="38" y="0"/>
                        </a:lnTo>
                        <a:lnTo>
                          <a:pt x="41" y="0"/>
                        </a:lnTo>
                        <a:lnTo>
                          <a:pt x="42" y="0"/>
                        </a:lnTo>
                        <a:lnTo>
                          <a:pt x="46" y="0"/>
                        </a:lnTo>
                        <a:lnTo>
                          <a:pt x="47" y="1"/>
                        </a:lnTo>
                        <a:lnTo>
                          <a:pt x="50" y="4"/>
                        </a:lnTo>
                        <a:lnTo>
                          <a:pt x="52" y="6"/>
                        </a:lnTo>
                        <a:lnTo>
                          <a:pt x="53" y="8"/>
                        </a:lnTo>
                        <a:lnTo>
                          <a:pt x="54" y="12"/>
                        </a:lnTo>
                        <a:lnTo>
                          <a:pt x="53" y="17"/>
                        </a:lnTo>
                        <a:lnTo>
                          <a:pt x="52" y="19"/>
                        </a:lnTo>
                        <a:lnTo>
                          <a:pt x="50" y="20"/>
                        </a:lnTo>
                        <a:lnTo>
                          <a:pt x="46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4" y="21"/>
                        </a:lnTo>
                        <a:lnTo>
                          <a:pt x="28" y="19"/>
                        </a:lnTo>
                        <a:lnTo>
                          <a:pt x="24" y="19"/>
                        </a:lnTo>
                        <a:lnTo>
                          <a:pt x="18" y="19"/>
                        </a:lnTo>
                        <a:lnTo>
                          <a:pt x="11" y="20"/>
                        </a:lnTo>
                        <a:lnTo>
                          <a:pt x="0" y="2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5" name="Freeform 24"/>
                  <p:cNvSpPr>
                    <a:spLocks/>
                  </p:cNvSpPr>
                  <p:nvPr/>
                </p:nvSpPr>
                <p:spPr bwMode="auto">
                  <a:xfrm>
                    <a:off x="2690" y="1901"/>
                    <a:ext cx="36" cy="23"/>
                  </a:xfrm>
                  <a:custGeom>
                    <a:avLst/>
                    <a:gdLst>
                      <a:gd name="T0" fmla="*/ 35 w 36"/>
                      <a:gd name="T1" fmla="*/ 22 h 23"/>
                      <a:gd name="T2" fmla="*/ 25 w 36"/>
                      <a:gd name="T3" fmla="*/ 9 h 23"/>
                      <a:gd name="T4" fmla="*/ 24 w 36"/>
                      <a:gd name="T5" fmla="*/ 6 h 23"/>
                      <a:gd name="T6" fmla="*/ 22 w 36"/>
                      <a:gd name="T7" fmla="*/ 5 h 23"/>
                      <a:gd name="T8" fmla="*/ 21 w 36"/>
                      <a:gd name="T9" fmla="*/ 4 h 23"/>
                      <a:gd name="T10" fmla="*/ 18 w 36"/>
                      <a:gd name="T11" fmla="*/ 1 h 23"/>
                      <a:gd name="T12" fmla="*/ 15 w 36"/>
                      <a:gd name="T13" fmla="*/ 1 h 23"/>
                      <a:gd name="T14" fmla="*/ 14 w 36"/>
                      <a:gd name="T15" fmla="*/ 1 h 23"/>
                      <a:gd name="T16" fmla="*/ 13 w 36"/>
                      <a:gd name="T17" fmla="*/ 0 h 23"/>
                      <a:gd name="T18" fmla="*/ 10 w 36"/>
                      <a:gd name="T19" fmla="*/ 0 h 23"/>
                      <a:gd name="T20" fmla="*/ 9 w 36"/>
                      <a:gd name="T21" fmla="*/ 0 h 23"/>
                      <a:gd name="T22" fmla="*/ 7 w 36"/>
                      <a:gd name="T23" fmla="*/ 0 h 23"/>
                      <a:gd name="T24" fmla="*/ 5 w 36"/>
                      <a:gd name="T25" fmla="*/ 1 h 23"/>
                      <a:gd name="T26" fmla="*/ 3 w 36"/>
                      <a:gd name="T27" fmla="*/ 1 h 23"/>
                      <a:gd name="T28" fmla="*/ 1 w 36"/>
                      <a:gd name="T29" fmla="*/ 3 h 23"/>
                      <a:gd name="T30" fmla="*/ 1 w 36"/>
                      <a:gd name="T31" fmla="*/ 5 h 23"/>
                      <a:gd name="T32" fmla="*/ 0 w 36"/>
                      <a:gd name="T33" fmla="*/ 6 h 23"/>
                      <a:gd name="T34" fmla="*/ 0 w 36"/>
                      <a:gd name="T35" fmla="*/ 12 h 23"/>
                      <a:gd name="T36" fmla="*/ 0 w 36"/>
                      <a:gd name="T37" fmla="*/ 15 h 23"/>
                      <a:gd name="T38" fmla="*/ 1 w 36"/>
                      <a:gd name="T39" fmla="*/ 16 h 23"/>
                      <a:gd name="T40" fmla="*/ 1 w 36"/>
                      <a:gd name="T41" fmla="*/ 19 h 23"/>
                      <a:gd name="T42" fmla="*/ 5 w 36"/>
                      <a:gd name="T43" fmla="*/ 19 h 23"/>
                      <a:gd name="T44" fmla="*/ 7 w 36"/>
                      <a:gd name="T45" fmla="*/ 19 h 23"/>
                      <a:gd name="T46" fmla="*/ 10 w 36"/>
                      <a:gd name="T47" fmla="*/ 19 h 23"/>
                      <a:gd name="T48" fmla="*/ 13 w 36"/>
                      <a:gd name="T49" fmla="*/ 19 h 23"/>
                      <a:gd name="T50" fmla="*/ 15 w 36"/>
                      <a:gd name="T51" fmla="*/ 18 h 23"/>
                      <a:gd name="T52" fmla="*/ 19 w 36"/>
                      <a:gd name="T53" fmla="*/ 18 h 23"/>
                      <a:gd name="T54" fmla="*/ 23 w 36"/>
                      <a:gd name="T55" fmla="*/ 18 h 23"/>
                      <a:gd name="T56" fmla="*/ 28 w 36"/>
                      <a:gd name="T57" fmla="*/ 19 h 23"/>
                      <a:gd name="T58" fmla="*/ 35 w 36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6"/>
                      <a:gd name="T91" fmla="*/ 0 h 23"/>
                      <a:gd name="T92" fmla="*/ 36 w 36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6" h="23">
                        <a:moveTo>
                          <a:pt x="35" y="22"/>
                        </a:moveTo>
                        <a:lnTo>
                          <a:pt x="25" y="9"/>
                        </a:lnTo>
                        <a:lnTo>
                          <a:pt x="24" y="6"/>
                        </a:lnTo>
                        <a:lnTo>
                          <a:pt x="22" y="5"/>
                        </a:lnTo>
                        <a:lnTo>
                          <a:pt x="21" y="4"/>
                        </a:lnTo>
                        <a:lnTo>
                          <a:pt x="18" y="1"/>
                        </a:lnTo>
                        <a:lnTo>
                          <a:pt x="15" y="1"/>
                        </a:lnTo>
                        <a:lnTo>
                          <a:pt x="14" y="1"/>
                        </a:lnTo>
                        <a:lnTo>
                          <a:pt x="13" y="0"/>
                        </a:lnTo>
                        <a:lnTo>
                          <a:pt x="10" y="0"/>
                        </a:lnTo>
                        <a:lnTo>
                          <a:pt x="9" y="0"/>
                        </a:lnTo>
                        <a:lnTo>
                          <a:pt x="7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2"/>
                        </a:lnTo>
                        <a:lnTo>
                          <a:pt x="0" y="15"/>
                        </a:lnTo>
                        <a:lnTo>
                          <a:pt x="1" y="16"/>
                        </a:lnTo>
                        <a:lnTo>
                          <a:pt x="1" y="19"/>
                        </a:lnTo>
                        <a:lnTo>
                          <a:pt x="5" y="19"/>
                        </a:lnTo>
                        <a:lnTo>
                          <a:pt x="7" y="19"/>
                        </a:lnTo>
                        <a:lnTo>
                          <a:pt x="10" y="19"/>
                        </a:lnTo>
                        <a:lnTo>
                          <a:pt x="13" y="19"/>
                        </a:lnTo>
                        <a:lnTo>
                          <a:pt x="15" y="18"/>
                        </a:lnTo>
                        <a:lnTo>
                          <a:pt x="19" y="18"/>
                        </a:lnTo>
                        <a:lnTo>
                          <a:pt x="23" y="18"/>
                        </a:lnTo>
                        <a:lnTo>
                          <a:pt x="28" y="19"/>
                        </a:lnTo>
                        <a:lnTo>
                          <a:pt x="35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6" name="Freeform 25"/>
                  <p:cNvSpPr>
                    <a:spLocks/>
                  </p:cNvSpPr>
                  <p:nvPr/>
                </p:nvSpPr>
                <p:spPr bwMode="auto">
                  <a:xfrm>
                    <a:off x="3031" y="1788"/>
                    <a:ext cx="59" cy="44"/>
                  </a:xfrm>
                  <a:custGeom>
                    <a:avLst/>
                    <a:gdLst>
                      <a:gd name="T0" fmla="*/ 0 w 59"/>
                      <a:gd name="T1" fmla="*/ 43 h 44"/>
                      <a:gd name="T2" fmla="*/ 2 w 59"/>
                      <a:gd name="T3" fmla="*/ 37 h 44"/>
                      <a:gd name="T4" fmla="*/ 4 w 59"/>
                      <a:gd name="T5" fmla="*/ 28 h 44"/>
                      <a:gd name="T6" fmla="*/ 8 w 59"/>
                      <a:gd name="T7" fmla="*/ 22 h 44"/>
                      <a:gd name="T8" fmla="*/ 12 w 59"/>
                      <a:gd name="T9" fmla="*/ 15 h 44"/>
                      <a:gd name="T10" fmla="*/ 16 w 59"/>
                      <a:gd name="T11" fmla="*/ 9 h 44"/>
                      <a:gd name="T12" fmla="*/ 19 w 59"/>
                      <a:gd name="T13" fmla="*/ 6 h 44"/>
                      <a:gd name="T14" fmla="*/ 24 w 59"/>
                      <a:gd name="T15" fmla="*/ 3 h 44"/>
                      <a:gd name="T16" fmla="*/ 29 w 59"/>
                      <a:gd name="T17" fmla="*/ 1 h 44"/>
                      <a:gd name="T18" fmla="*/ 33 w 59"/>
                      <a:gd name="T19" fmla="*/ 0 h 44"/>
                      <a:gd name="T20" fmla="*/ 39 w 59"/>
                      <a:gd name="T21" fmla="*/ 0 h 44"/>
                      <a:gd name="T22" fmla="*/ 45 w 59"/>
                      <a:gd name="T23" fmla="*/ 0 h 44"/>
                      <a:gd name="T24" fmla="*/ 51 w 59"/>
                      <a:gd name="T25" fmla="*/ 0 h 44"/>
                      <a:gd name="T26" fmla="*/ 53 w 59"/>
                      <a:gd name="T27" fmla="*/ 2 h 44"/>
                      <a:gd name="T28" fmla="*/ 56 w 59"/>
                      <a:gd name="T29" fmla="*/ 3 h 44"/>
                      <a:gd name="T30" fmla="*/ 56 w 59"/>
                      <a:gd name="T31" fmla="*/ 5 h 44"/>
                      <a:gd name="T32" fmla="*/ 58 w 59"/>
                      <a:gd name="T33" fmla="*/ 7 h 44"/>
                      <a:gd name="T34" fmla="*/ 58 w 59"/>
                      <a:gd name="T35" fmla="*/ 9 h 44"/>
                      <a:gd name="T36" fmla="*/ 58 w 59"/>
                      <a:gd name="T37" fmla="*/ 13 h 44"/>
                      <a:gd name="T38" fmla="*/ 56 w 59"/>
                      <a:gd name="T39" fmla="*/ 17 h 44"/>
                      <a:gd name="T40" fmla="*/ 55 w 59"/>
                      <a:gd name="T41" fmla="*/ 19 h 44"/>
                      <a:gd name="T42" fmla="*/ 53 w 59"/>
                      <a:gd name="T43" fmla="*/ 20 h 44"/>
                      <a:gd name="T44" fmla="*/ 51 w 59"/>
                      <a:gd name="T45" fmla="*/ 20 h 44"/>
                      <a:gd name="T46" fmla="*/ 48 w 59"/>
                      <a:gd name="T47" fmla="*/ 22 h 44"/>
                      <a:gd name="T48" fmla="*/ 45 w 59"/>
                      <a:gd name="T49" fmla="*/ 22 h 44"/>
                      <a:gd name="T50" fmla="*/ 42 w 59"/>
                      <a:gd name="T51" fmla="*/ 23 h 44"/>
                      <a:gd name="T52" fmla="*/ 38 w 59"/>
                      <a:gd name="T53" fmla="*/ 23 h 44"/>
                      <a:gd name="T54" fmla="*/ 35 w 59"/>
                      <a:gd name="T55" fmla="*/ 22 h 44"/>
                      <a:gd name="T56" fmla="*/ 31 w 59"/>
                      <a:gd name="T57" fmla="*/ 22 h 44"/>
                      <a:gd name="T58" fmla="*/ 26 w 59"/>
                      <a:gd name="T59" fmla="*/ 23 h 44"/>
                      <a:gd name="T60" fmla="*/ 22 w 59"/>
                      <a:gd name="T61" fmla="*/ 24 h 44"/>
                      <a:gd name="T62" fmla="*/ 19 w 59"/>
                      <a:gd name="T63" fmla="*/ 27 h 44"/>
                      <a:gd name="T64" fmla="*/ 15 w 59"/>
                      <a:gd name="T65" fmla="*/ 28 h 44"/>
                      <a:gd name="T66" fmla="*/ 10 w 59"/>
                      <a:gd name="T67" fmla="*/ 33 h 44"/>
                      <a:gd name="T68" fmla="*/ 5 w 59"/>
                      <a:gd name="T69" fmla="*/ 35 h 44"/>
                      <a:gd name="T70" fmla="*/ 4 w 59"/>
                      <a:gd name="T71" fmla="*/ 38 h 44"/>
                      <a:gd name="T72" fmla="*/ 0 w 59"/>
                      <a:gd name="T73" fmla="*/ 43 h 44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9"/>
                      <a:gd name="T112" fmla="*/ 0 h 44"/>
                      <a:gd name="T113" fmla="*/ 59 w 59"/>
                      <a:gd name="T114" fmla="*/ 44 h 44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9" h="44">
                        <a:moveTo>
                          <a:pt x="0" y="43"/>
                        </a:moveTo>
                        <a:lnTo>
                          <a:pt x="2" y="37"/>
                        </a:lnTo>
                        <a:lnTo>
                          <a:pt x="4" y="28"/>
                        </a:lnTo>
                        <a:lnTo>
                          <a:pt x="8" y="22"/>
                        </a:lnTo>
                        <a:lnTo>
                          <a:pt x="12" y="15"/>
                        </a:lnTo>
                        <a:lnTo>
                          <a:pt x="16" y="9"/>
                        </a:lnTo>
                        <a:lnTo>
                          <a:pt x="19" y="6"/>
                        </a:lnTo>
                        <a:lnTo>
                          <a:pt x="24" y="3"/>
                        </a:lnTo>
                        <a:lnTo>
                          <a:pt x="29" y="1"/>
                        </a:lnTo>
                        <a:lnTo>
                          <a:pt x="33" y="0"/>
                        </a:lnTo>
                        <a:lnTo>
                          <a:pt x="39" y="0"/>
                        </a:lnTo>
                        <a:lnTo>
                          <a:pt x="45" y="0"/>
                        </a:lnTo>
                        <a:lnTo>
                          <a:pt x="51" y="0"/>
                        </a:lnTo>
                        <a:lnTo>
                          <a:pt x="53" y="2"/>
                        </a:lnTo>
                        <a:lnTo>
                          <a:pt x="56" y="3"/>
                        </a:lnTo>
                        <a:lnTo>
                          <a:pt x="56" y="5"/>
                        </a:lnTo>
                        <a:lnTo>
                          <a:pt x="58" y="7"/>
                        </a:lnTo>
                        <a:lnTo>
                          <a:pt x="58" y="9"/>
                        </a:lnTo>
                        <a:lnTo>
                          <a:pt x="58" y="13"/>
                        </a:lnTo>
                        <a:lnTo>
                          <a:pt x="56" y="17"/>
                        </a:lnTo>
                        <a:lnTo>
                          <a:pt x="55" y="19"/>
                        </a:lnTo>
                        <a:lnTo>
                          <a:pt x="53" y="20"/>
                        </a:lnTo>
                        <a:lnTo>
                          <a:pt x="51" y="20"/>
                        </a:lnTo>
                        <a:lnTo>
                          <a:pt x="48" y="22"/>
                        </a:lnTo>
                        <a:lnTo>
                          <a:pt x="45" y="22"/>
                        </a:lnTo>
                        <a:lnTo>
                          <a:pt x="42" y="23"/>
                        </a:lnTo>
                        <a:lnTo>
                          <a:pt x="38" y="23"/>
                        </a:lnTo>
                        <a:lnTo>
                          <a:pt x="35" y="22"/>
                        </a:lnTo>
                        <a:lnTo>
                          <a:pt x="31" y="22"/>
                        </a:lnTo>
                        <a:lnTo>
                          <a:pt x="26" y="23"/>
                        </a:lnTo>
                        <a:lnTo>
                          <a:pt x="22" y="24"/>
                        </a:lnTo>
                        <a:lnTo>
                          <a:pt x="19" y="27"/>
                        </a:lnTo>
                        <a:lnTo>
                          <a:pt x="15" y="28"/>
                        </a:lnTo>
                        <a:lnTo>
                          <a:pt x="10" y="33"/>
                        </a:lnTo>
                        <a:lnTo>
                          <a:pt x="5" y="35"/>
                        </a:lnTo>
                        <a:lnTo>
                          <a:pt x="4" y="38"/>
                        </a:lnTo>
                        <a:lnTo>
                          <a:pt x="0" y="43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27" name="Freeform 26"/>
                  <p:cNvSpPr>
                    <a:spLocks/>
                  </p:cNvSpPr>
                  <p:nvPr/>
                </p:nvSpPr>
                <p:spPr bwMode="auto">
                  <a:xfrm>
                    <a:off x="2762" y="1794"/>
                    <a:ext cx="62" cy="45"/>
                  </a:xfrm>
                  <a:custGeom>
                    <a:avLst/>
                    <a:gdLst>
                      <a:gd name="T0" fmla="*/ 61 w 62"/>
                      <a:gd name="T1" fmla="*/ 44 h 45"/>
                      <a:gd name="T2" fmla="*/ 57 w 62"/>
                      <a:gd name="T3" fmla="*/ 38 h 45"/>
                      <a:gd name="T4" fmla="*/ 55 w 62"/>
                      <a:gd name="T5" fmla="*/ 29 h 45"/>
                      <a:gd name="T6" fmla="*/ 53 w 62"/>
                      <a:gd name="T7" fmla="*/ 22 h 45"/>
                      <a:gd name="T8" fmla="*/ 48 w 62"/>
                      <a:gd name="T9" fmla="*/ 16 h 45"/>
                      <a:gd name="T10" fmla="*/ 42 w 62"/>
                      <a:gd name="T11" fmla="*/ 11 h 45"/>
                      <a:gd name="T12" fmla="*/ 39 w 62"/>
                      <a:gd name="T13" fmla="*/ 7 h 45"/>
                      <a:gd name="T14" fmla="*/ 35 w 62"/>
                      <a:gd name="T15" fmla="*/ 4 h 45"/>
                      <a:gd name="T16" fmla="*/ 30 w 62"/>
                      <a:gd name="T17" fmla="*/ 2 h 45"/>
                      <a:gd name="T18" fmla="*/ 24 w 62"/>
                      <a:gd name="T19" fmla="*/ 0 h 45"/>
                      <a:gd name="T20" fmla="*/ 18 w 62"/>
                      <a:gd name="T21" fmla="*/ 0 h 45"/>
                      <a:gd name="T22" fmla="*/ 12 w 62"/>
                      <a:gd name="T23" fmla="*/ 0 h 45"/>
                      <a:gd name="T24" fmla="*/ 6 w 62"/>
                      <a:gd name="T25" fmla="*/ 1 h 45"/>
                      <a:gd name="T26" fmla="*/ 4 w 62"/>
                      <a:gd name="T27" fmla="*/ 2 h 45"/>
                      <a:gd name="T28" fmla="*/ 0 w 62"/>
                      <a:gd name="T29" fmla="*/ 4 h 45"/>
                      <a:gd name="T30" fmla="*/ 0 w 62"/>
                      <a:gd name="T31" fmla="*/ 5 h 45"/>
                      <a:gd name="T32" fmla="*/ 0 w 62"/>
                      <a:gd name="T33" fmla="*/ 7 h 45"/>
                      <a:gd name="T34" fmla="*/ 0 w 62"/>
                      <a:gd name="T35" fmla="*/ 11 h 45"/>
                      <a:gd name="T36" fmla="*/ 0 w 62"/>
                      <a:gd name="T37" fmla="*/ 14 h 45"/>
                      <a:gd name="T38" fmla="*/ 0 w 62"/>
                      <a:gd name="T39" fmla="*/ 17 h 45"/>
                      <a:gd name="T40" fmla="*/ 3 w 62"/>
                      <a:gd name="T41" fmla="*/ 18 h 45"/>
                      <a:gd name="T42" fmla="*/ 4 w 62"/>
                      <a:gd name="T43" fmla="*/ 21 h 45"/>
                      <a:gd name="T44" fmla="*/ 6 w 62"/>
                      <a:gd name="T45" fmla="*/ 22 h 45"/>
                      <a:gd name="T46" fmla="*/ 10 w 62"/>
                      <a:gd name="T47" fmla="*/ 22 h 45"/>
                      <a:gd name="T48" fmla="*/ 12 w 62"/>
                      <a:gd name="T49" fmla="*/ 22 h 45"/>
                      <a:gd name="T50" fmla="*/ 16 w 62"/>
                      <a:gd name="T51" fmla="*/ 24 h 45"/>
                      <a:gd name="T52" fmla="*/ 18 w 62"/>
                      <a:gd name="T53" fmla="*/ 24 h 45"/>
                      <a:gd name="T54" fmla="*/ 23 w 62"/>
                      <a:gd name="T55" fmla="*/ 24 h 45"/>
                      <a:gd name="T56" fmla="*/ 26 w 62"/>
                      <a:gd name="T57" fmla="*/ 22 h 45"/>
                      <a:gd name="T58" fmla="*/ 32 w 62"/>
                      <a:gd name="T59" fmla="*/ 24 h 45"/>
                      <a:gd name="T60" fmla="*/ 36 w 62"/>
                      <a:gd name="T61" fmla="*/ 25 h 45"/>
                      <a:gd name="T62" fmla="*/ 41 w 62"/>
                      <a:gd name="T63" fmla="*/ 27 h 45"/>
                      <a:gd name="T64" fmla="*/ 44 w 62"/>
                      <a:gd name="T65" fmla="*/ 29 h 45"/>
                      <a:gd name="T66" fmla="*/ 49 w 62"/>
                      <a:gd name="T67" fmla="*/ 33 h 45"/>
                      <a:gd name="T68" fmla="*/ 53 w 62"/>
                      <a:gd name="T69" fmla="*/ 36 h 45"/>
                      <a:gd name="T70" fmla="*/ 55 w 62"/>
                      <a:gd name="T71" fmla="*/ 39 h 45"/>
                      <a:gd name="T72" fmla="*/ 61 w 62"/>
                      <a:gd name="T73" fmla="*/ 44 h 45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62"/>
                      <a:gd name="T112" fmla="*/ 0 h 45"/>
                      <a:gd name="T113" fmla="*/ 62 w 62"/>
                      <a:gd name="T114" fmla="*/ 45 h 45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62" h="45">
                        <a:moveTo>
                          <a:pt x="61" y="44"/>
                        </a:moveTo>
                        <a:lnTo>
                          <a:pt x="57" y="38"/>
                        </a:lnTo>
                        <a:lnTo>
                          <a:pt x="55" y="29"/>
                        </a:lnTo>
                        <a:lnTo>
                          <a:pt x="53" y="22"/>
                        </a:lnTo>
                        <a:lnTo>
                          <a:pt x="48" y="16"/>
                        </a:lnTo>
                        <a:lnTo>
                          <a:pt x="42" y="11"/>
                        </a:lnTo>
                        <a:lnTo>
                          <a:pt x="39" y="7"/>
                        </a:lnTo>
                        <a:lnTo>
                          <a:pt x="35" y="4"/>
                        </a:lnTo>
                        <a:lnTo>
                          <a:pt x="30" y="2"/>
                        </a:lnTo>
                        <a:lnTo>
                          <a:pt x="24" y="0"/>
                        </a:lnTo>
                        <a:lnTo>
                          <a:pt x="18" y="0"/>
                        </a:lnTo>
                        <a:lnTo>
                          <a:pt x="12" y="0"/>
                        </a:lnTo>
                        <a:lnTo>
                          <a:pt x="6" y="1"/>
                        </a:lnTo>
                        <a:lnTo>
                          <a:pt x="4" y="2"/>
                        </a:lnTo>
                        <a:lnTo>
                          <a:pt x="0" y="4"/>
                        </a:lnTo>
                        <a:lnTo>
                          <a:pt x="0" y="5"/>
                        </a:lnTo>
                        <a:lnTo>
                          <a:pt x="0" y="7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0" y="17"/>
                        </a:lnTo>
                        <a:lnTo>
                          <a:pt x="3" y="18"/>
                        </a:lnTo>
                        <a:lnTo>
                          <a:pt x="4" y="21"/>
                        </a:lnTo>
                        <a:lnTo>
                          <a:pt x="6" y="22"/>
                        </a:lnTo>
                        <a:lnTo>
                          <a:pt x="10" y="22"/>
                        </a:lnTo>
                        <a:lnTo>
                          <a:pt x="12" y="22"/>
                        </a:lnTo>
                        <a:lnTo>
                          <a:pt x="16" y="24"/>
                        </a:lnTo>
                        <a:lnTo>
                          <a:pt x="18" y="24"/>
                        </a:lnTo>
                        <a:lnTo>
                          <a:pt x="23" y="24"/>
                        </a:lnTo>
                        <a:lnTo>
                          <a:pt x="26" y="22"/>
                        </a:lnTo>
                        <a:lnTo>
                          <a:pt x="32" y="24"/>
                        </a:lnTo>
                        <a:lnTo>
                          <a:pt x="36" y="25"/>
                        </a:lnTo>
                        <a:lnTo>
                          <a:pt x="41" y="27"/>
                        </a:lnTo>
                        <a:lnTo>
                          <a:pt x="44" y="29"/>
                        </a:lnTo>
                        <a:lnTo>
                          <a:pt x="49" y="33"/>
                        </a:lnTo>
                        <a:lnTo>
                          <a:pt x="53" y="36"/>
                        </a:lnTo>
                        <a:lnTo>
                          <a:pt x="55" y="39"/>
                        </a:lnTo>
                        <a:lnTo>
                          <a:pt x="61" y="44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grpSp>
          <p:nvGrpSpPr>
            <p:cNvPr id="25608" name="Group 40"/>
            <p:cNvGrpSpPr>
              <a:grpSpLocks/>
            </p:cNvGrpSpPr>
            <p:nvPr/>
          </p:nvGrpSpPr>
          <p:grpSpPr bwMode="auto">
            <a:xfrm>
              <a:off x="3683" y="1170"/>
              <a:ext cx="1753" cy="1692"/>
              <a:chOff x="3683" y="1170"/>
              <a:chExt cx="1753" cy="1692"/>
            </a:xfrm>
          </p:grpSpPr>
          <p:sp>
            <p:nvSpPr>
              <p:cNvPr id="25610" name="Oval 30"/>
              <p:cNvSpPr>
                <a:spLocks noChangeArrowheads="1"/>
              </p:cNvSpPr>
              <p:nvPr/>
            </p:nvSpPr>
            <p:spPr bwMode="auto">
              <a:xfrm>
                <a:off x="3683" y="1170"/>
                <a:ext cx="1753" cy="16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100794" tIns="50397" rIns="100794" bIns="50397" anchor="ctr"/>
              <a:lstStyle/>
              <a:p>
                <a:pPr defTabSz="914414"/>
                <a:endParaRPr lang="en-US"/>
              </a:p>
            </p:txBody>
          </p:sp>
          <p:grpSp>
            <p:nvGrpSpPr>
              <p:cNvPr id="25611" name="Group 39"/>
              <p:cNvGrpSpPr>
                <a:grpSpLocks/>
              </p:cNvGrpSpPr>
              <p:nvPr/>
            </p:nvGrpSpPr>
            <p:grpSpPr bwMode="auto">
              <a:xfrm>
                <a:off x="3945" y="1428"/>
                <a:ext cx="1229" cy="1177"/>
                <a:chOff x="3945" y="1428"/>
                <a:chExt cx="1229" cy="1177"/>
              </a:xfrm>
            </p:grpSpPr>
            <p:grpSp>
              <p:nvGrpSpPr>
                <p:cNvPr id="25612" name="Group 33"/>
                <p:cNvGrpSpPr>
                  <a:grpSpLocks/>
                </p:cNvGrpSpPr>
                <p:nvPr/>
              </p:nvGrpSpPr>
              <p:grpSpPr bwMode="auto">
                <a:xfrm>
                  <a:off x="3945" y="1525"/>
                  <a:ext cx="1229" cy="1080"/>
                  <a:chOff x="3945" y="1525"/>
                  <a:chExt cx="1229" cy="1080"/>
                </a:xfrm>
              </p:grpSpPr>
              <p:pic>
                <p:nvPicPr>
                  <p:cNvPr id="25618" name="Picture 31"/>
                  <p:cNvPicPr>
                    <a:picLocks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3945" y="1525"/>
                    <a:ext cx="1229" cy="108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25619" name="AutoShape 32"/>
                  <p:cNvSpPr>
                    <a:spLocks noChangeArrowheads="1"/>
                  </p:cNvSpPr>
                  <p:nvPr/>
                </p:nvSpPr>
                <p:spPr bwMode="auto">
                  <a:xfrm rot="-5400000">
                    <a:off x="4252" y="1683"/>
                    <a:ext cx="614" cy="1228"/>
                  </a:xfrm>
                  <a:prstGeom prst="rtTriangle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100794" tIns="50397" rIns="100794" bIns="50397" anchor="ctr"/>
                  <a:lstStyle/>
                  <a:p>
                    <a:pPr defTabSz="914414"/>
                    <a:endParaRPr lang="en-US"/>
                  </a:p>
                </p:txBody>
              </p:sp>
            </p:grpSp>
            <p:grpSp>
              <p:nvGrpSpPr>
                <p:cNvPr id="25613" name="Group 38"/>
                <p:cNvGrpSpPr>
                  <a:grpSpLocks/>
                </p:cNvGrpSpPr>
                <p:nvPr/>
              </p:nvGrpSpPr>
              <p:grpSpPr bwMode="auto">
                <a:xfrm>
                  <a:off x="4595" y="1428"/>
                  <a:ext cx="467" cy="125"/>
                  <a:chOff x="4595" y="1428"/>
                  <a:chExt cx="467" cy="125"/>
                </a:xfrm>
              </p:grpSpPr>
              <p:sp>
                <p:nvSpPr>
                  <p:cNvPr id="25614" name="Freeform 34"/>
                  <p:cNvSpPr>
                    <a:spLocks/>
                  </p:cNvSpPr>
                  <p:nvPr/>
                </p:nvSpPr>
                <p:spPr bwMode="auto">
                  <a:xfrm>
                    <a:off x="5012" y="1509"/>
                    <a:ext cx="50" cy="23"/>
                  </a:xfrm>
                  <a:custGeom>
                    <a:avLst/>
                    <a:gdLst>
                      <a:gd name="T0" fmla="*/ 0 w 50"/>
                      <a:gd name="T1" fmla="*/ 22 h 23"/>
                      <a:gd name="T2" fmla="*/ 12 w 50"/>
                      <a:gd name="T3" fmla="*/ 9 h 23"/>
                      <a:gd name="T4" fmla="*/ 15 w 50"/>
                      <a:gd name="T5" fmla="*/ 6 h 23"/>
                      <a:gd name="T6" fmla="*/ 17 w 50"/>
                      <a:gd name="T7" fmla="*/ 6 h 23"/>
                      <a:gd name="T8" fmla="*/ 20 w 50"/>
                      <a:gd name="T9" fmla="*/ 4 h 23"/>
                      <a:gd name="T10" fmla="*/ 23 w 50"/>
                      <a:gd name="T11" fmla="*/ 2 h 23"/>
                      <a:gd name="T12" fmla="*/ 25 w 50"/>
                      <a:gd name="T13" fmla="*/ 1 h 23"/>
                      <a:gd name="T14" fmla="*/ 28 w 50"/>
                      <a:gd name="T15" fmla="*/ 0 h 23"/>
                      <a:gd name="T16" fmla="*/ 31 w 50"/>
                      <a:gd name="T17" fmla="*/ 0 h 23"/>
                      <a:gd name="T18" fmla="*/ 35 w 50"/>
                      <a:gd name="T19" fmla="*/ 0 h 23"/>
                      <a:gd name="T20" fmla="*/ 37 w 50"/>
                      <a:gd name="T21" fmla="*/ 0 h 23"/>
                      <a:gd name="T22" fmla="*/ 38 w 50"/>
                      <a:gd name="T23" fmla="*/ 0 h 23"/>
                      <a:gd name="T24" fmla="*/ 42 w 50"/>
                      <a:gd name="T25" fmla="*/ 0 h 23"/>
                      <a:gd name="T26" fmla="*/ 42 w 50"/>
                      <a:gd name="T27" fmla="*/ 1 h 23"/>
                      <a:gd name="T28" fmla="*/ 45 w 50"/>
                      <a:gd name="T29" fmla="*/ 3 h 23"/>
                      <a:gd name="T30" fmla="*/ 47 w 50"/>
                      <a:gd name="T31" fmla="*/ 6 h 23"/>
                      <a:gd name="T32" fmla="*/ 48 w 50"/>
                      <a:gd name="T33" fmla="*/ 7 h 23"/>
                      <a:gd name="T34" fmla="*/ 49 w 50"/>
                      <a:gd name="T35" fmla="*/ 11 h 23"/>
                      <a:gd name="T36" fmla="*/ 48 w 50"/>
                      <a:gd name="T37" fmla="*/ 15 h 23"/>
                      <a:gd name="T38" fmla="*/ 47 w 50"/>
                      <a:gd name="T39" fmla="*/ 17 h 23"/>
                      <a:gd name="T40" fmla="*/ 45 w 50"/>
                      <a:gd name="T41" fmla="*/ 18 h 23"/>
                      <a:gd name="T42" fmla="*/ 42 w 50"/>
                      <a:gd name="T43" fmla="*/ 20 h 23"/>
                      <a:gd name="T44" fmla="*/ 38 w 50"/>
                      <a:gd name="T45" fmla="*/ 21 h 23"/>
                      <a:gd name="T46" fmla="*/ 35 w 50"/>
                      <a:gd name="T47" fmla="*/ 21 h 23"/>
                      <a:gd name="T48" fmla="*/ 31 w 50"/>
                      <a:gd name="T49" fmla="*/ 19 h 23"/>
                      <a:gd name="T50" fmla="*/ 25 w 50"/>
                      <a:gd name="T51" fmla="*/ 18 h 23"/>
                      <a:gd name="T52" fmla="*/ 22 w 50"/>
                      <a:gd name="T53" fmla="*/ 18 h 23"/>
                      <a:gd name="T54" fmla="*/ 16 w 50"/>
                      <a:gd name="T55" fmla="*/ 18 h 23"/>
                      <a:gd name="T56" fmla="*/ 10 w 50"/>
                      <a:gd name="T57" fmla="*/ 18 h 23"/>
                      <a:gd name="T58" fmla="*/ 0 w 50"/>
                      <a:gd name="T59" fmla="*/ 22 h 23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50"/>
                      <a:gd name="T91" fmla="*/ 0 h 23"/>
                      <a:gd name="T92" fmla="*/ 50 w 50"/>
                      <a:gd name="T93" fmla="*/ 23 h 23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50" h="23">
                        <a:moveTo>
                          <a:pt x="0" y="22"/>
                        </a:moveTo>
                        <a:lnTo>
                          <a:pt x="12" y="9"/>
                        </a:lnTo>
                        <a:lnTo>
                          <a:pt x="15" y="6"/>
                        </a:lnTo>
                        <a:lnTo>
                          <a:pt x="17" y="6"/>
                        </a:lnTo>
                        <a:lnTo>
                          <a:pt x="20" y="4"/>
                        </a:lnTo>
                        <a:lnTo>
                          <a:pt x="23" y="2"/>
                        </a:lnTo>
                        <a:lnTo>
                          <a:pt x="25" y="1"/>
                        </a:lnTo>
                        <a:lnTo>
                          <a:pt x="28" y="0"/>
                        </a:lnTo>
                        <a:lnTo>
                          <a:pt x="31" y="0"/>
                        </a:lnTo>
                        <a:lnTo>
                          <a:pt x="35" y="0"/>
                        </a:lnTo>
                        <a:lnTo>
                          <a:pt x="37" y="0"/>
                        </a:lnTo>
                        <a:lnTo>
                          <a:pt x="38" y="0"/>
                        </a:lnTo>
                        <a:lnTo>
                          <a:pt x="42" y="0"/>
                        </a:lnTo>
                        <a:lnTo>
                          <a:pt x="42" y="1"/>
                        </a:lnTo>
                        <a:lnTo>
                          <a:pt x="45" y="3"/>
                        </a:lnTo>
                        <a:lnTo>
                          <a:pt x="47" y="6"/>
                        </a:lnTo>
                        <a:lnTo>
                          <a:pt x="48" y="7"/>
                        </a:lnTo>
                        <a:lnTo>
                          <a:pt x="49" y="11"/>
                        </a:lnTo>
                        <a:lnTo>
                          <a:pt x="48" y="15"/>
                        </a:lnTo>
                        <a:lnTo>
                          <a:pt x="47" y="17"/>
                        </a:lnTo>
                        <a:lnTo>
                          <a:pt x="45" y="18"/>
                        </a:lnTo>
                        <a:lnTo>
                          <a:pt x="42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1" y="19"/>
                        </a:lnTo>
                        <a:lnTo>
                          <a:pt x="25" y="18"/>
                        </a:lnTo>
                        <a:lnTo>
                          <a:pt x="22" y="18"/>
                        </a:lnTo>
                        <a:lnTo>
                          <a:pt x="16" y="18"/>
                        </a:lnTo>
                        <a:lnTo>
                          <a:pt x="10" y="18"/>
                        </a:lnTo>
                        <a:lnTo>
                          <a:pt x="0" y="22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5" name="Freeform 35"/>
                  <p:cNvSpPr>
                    <a:spLocks/>
                  </p:cNvSpPr>
                  <p:nvPr/>
                </p:nvSpPr>
                <p:spPr bwMode="auto">
                  <a:xfrm>
                    <a:off x="4595" y="1531"/>
                    <a:ext cx="33" cy="22"/>
                  </a:xfrm>
                  <a:custGeom>
                    <a:avLst/>
                    <a:gdLst>
                      <a:gd name="T0" fmla="*/ 32 w 33"/>
                      <a:gd name="T1" fmla="*/ 21 h 22"/>
                      <a:gd name="T2" fmla="*/ 23 w 33"/>
                      <a:gd name="T3" fmla="*/ 9 h 22"/>
                      <a:gd name="T4" fmla="*/ 22 w 33"/>
                      <a:gd name="T5" fmla="*/ 6 h 22"/>
                      <a:gd name="T6" fmla="*/ 20 w 33"/>
                      <a:gd name="T7" fmla="*/ 5 h 22"/>
                      <a:gd name="T8" fmla="*/ 19 w 33"/>
                      <a:gd name="T9" fmla="*/ 4 h 22"/>
                      <a:gd name="T10" fmla="*/ 16 w 33"/>
                      <a:gd name="T11" fmla="*/ 1 h 22"/>
                      <a:gd name="T12" fmla="*/ 14 w 33"/>
                      <a:gd name="T13" fmla="*/ 1 h 22"/>
                      <a:gd name="T14" fmla="*/ 12 w 33"/>
                      <a:gd name="T15" fmla="*/ 1 h 22"/>
                      <a:gd name="T16" fmla="*/ 12 w 33"/>
                      <a:gd name="T17" fmla="*/ 0 h 22"/>
                      <a:gd name="T18" fmla="*/ 9 w 33"/>
                      <a:gd name="T19" fmla="*/ 0 h 22"/>
                      <a:gd name="T20" fmla="*/ 8 w 33"/>
                      <a:gd name="T21" fmla="*/ 0 h 22"/>
                      <a:gd name="T22" fmla="*/ 6 w 33"/>
                      <a:gd name="T23" fmla="*/ 0 h 22"/>
                      <a:gd name="T24" fmla="*/ 5 w 33"/>
                      <a:gd name="T25" fmla="*/ 1 h 22"/>
                      <a:gd name="T26" fmla="*/ 3 w 33"/>
                      <a:gd name="T27" fmla="*/ 1 h 22"/>
                      <a:gd name="T28" fmla="*/ 1 w 33"/>
                      <a:gd name="T29" fmla="*/ 3 h 22"/>
                      <a:gd name="T30" fmla="*/ 1 w 33"/>
                      <a:gd name="T31" fmla="*/ 5 h 22"/>
                      <a:gd name="T32" fmla="*/ 0 w 33"/>
                      <a:gd name="T33" fmla="*/ 6 h 22"/>
                      <a:gd name="T34" fmla="*/ 0 w 33"/>
                      <a:gd name="T35" fmla="*/ 11 h 22"/>
                      <a:gd name="T36" fmla="*/ 0 w 33"/>
                      <a:gd name="T37" fmla="*/ 14 h 22"/>
                      <a:gd name="T38" fmla="*/ 1 w 33"/>
                      <a:gd name="T39" fmla="*/ 15 h 22"/>
                      <a:gd name="T40" fmla="*/ 1 w 33"/>
                      <a:gd name="T41" fmla="*/ 18 h 22"/>
                      <a:gd name="T42" fmla="*/ 4 w 33"/>
                      <a:gd name="T43" fmla="*/ 18 h 22"/>
                      <a:gd name="T44" fmla="*/ 6 w 33"/>
                      <a:gd name="T45" fmla="*/ 18 h 22"/>
                      <a:gd name="T46" fmla="*/ 9 w 33"/>
                      <a:gd name="T47" fmla="*/ 18 h 22"/>
                      <a:gd name="T48" fmla="*/ 12 w 33"/>
                      <a:gd name="T49" fmla="*/ 18 h 22"/>
                      <a:gd name="T50" fmla="*/ 14 w 33"/>
                      <a:gd name="T51" fmla="*/ 17 h 22"/>
                      <a:gd name="T52" fmla="*/ 17 w 33"/>
                      <a:gd name="T53" fmla="*/ 17 h 22"/>
                      <a:gd name="T54" fmla="*/ 21 w 33"/>
                      <a:gd name="T55" fmla="*/ 17 h 22"/>
                      <a:gd name="T56" fmla="*/ 25 w 33"/>
                      <a:gd name="T57" fmla="*/ 18 h 22"/>
                      <a:gd name="T58" fmla="*/ 32 w 33"/>
                      <a:gd name="T59" fmla="*/ 21 h 22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w 33"/>
                      <a:gd name="T91" fmla="*/ 0 h 22"/>
                      <a:gd name="T92" fmla="*/ 33 w 33"/>
                      <a:gd name="T93" fmla="*/ 22 h 22"/>
                    </a:gdLst>
                    <a:ahLst/>
                    <a:cxnLst>
                      <a:cxn ang="T60">
                        <a:pos x="T0" y="T1"/>
                      </a:cxn>
                      <a:cxn ang="T61">
                        <a:pos x="T2" y="T3"/>
                      </a:cxn>
                      <a:cxn ang="T62">
                        <a:pos x="T4" y="T5"/>
                      </a:cxn>
                      <a:cxn ang="T63">
                        <a:pos x="T6" y="T7"/>
                      </a:cxn>
                      <a:cxn ang="T64">
                        <a:pos x="T8" y="T9"/>
                      </a:cxn>
                      <a:cxn ang="T65">
                        <a:pos x="T10" y="T11"/>
                      </a:cxn>
                      <a:cxn ang="T66">
                        <a:pos x="T12" y="T13"/>
                      </a:cxn>
                      <a:cxn ang="T67">
                        <a:pos x="T14" y="T15"/>
                      </a:cxn>
                      <a:cxn ang="T68">
                        <a:pos x="T16" y="T17"/>
                      </a:cxn>
                      <a:cxn ang="T69">
                        <a:pos x="T18" y="T19"/>
                      </a:cxn>
                      <a:cxn ang="T70">
                        <a:pos x="T20" y="T21"/>
                      </a:cxn>
                      <a:cxn ang="T71">
                        <a:pos x="T22" y="T23"/>
                      </a:cxn>
                      <a:cxn ang="T72">
                        <a:pos x="T24" y="T25"/>
                      </a:cxn>
                      <a:cxn ang="T73">
                        <a:pos x="T26" y="T27"/>
                      </a:cxn>
                      <a:cxn ang="T74">
                        <a:pos x="T28" y="T29"/>
                      </a:cxn>
                      <a:cxn ang="T75">
                        <a:pos x="T30" y="T31"/>
                      </a:cxn>
                      <a:cxn ang="T76">
                        <a:pos x="T32" y="T33"/>
                      </a:cxn>
                      <a:cxn ang="T77">
                        <a:pos x="T34" y="T35"/>
                      </a:cxn>
                      <a:cxn ang="T78">
                        <a:pos x="T36" y="T37"/>
                      </a:cxn>
                      <a:cxn ang="T79">
                        <a:pos x="T38" y="T39"/>
                      </a:cxn>
                      <a:cxn ang="T80">
                        <a:pos x="T40" y="T41"/>
                      </a:cxn>
                      <a:cxn ang="T81">
                        <a:pos x="T42" y="T43"/>
                      </a:cxn>
                      <a:cxn ang="T82">
                        <a:pos x="T44" y="T45"/>
                      </a:cxn>
                      <a:cxn ang="T83">
                        <a:pos x="T46" y="T47"/>
                      </a:cxn>
                      <a:cxn ang="T84">
                        <a:pos x="T48" y="T49"/>
                      </a:cxn>
                      <a:cxn ang="T85">
                        <a:pos x="T50" y="T51"/>
                      </a:cxn>
                      <a:cxn ang="T86">
                        <a:pos x="T52" y="T53"/>
                      </a:cxn>
                      <a:cxn ang="T87">
                        <a:pos x="T54" y="T55"/>
                      </a:cxn>
                      <a:cxn ang="T88">
                        <a:pos x="T56" y="T57"/>
                      </a:cxn>
                      <a:cxn ang="T89">
                        <a:pos x="T58" y="T59"/>
                      </a:cxn>
                    </a:cxnLst>
                    <a:rect l="T90" t="T91" r="T92" b="T93"/>
                    <a:pathLst>
                      <a:path w="33" h="22">
                        <a:moveTo>
                          <a:pt x="32" y="21"/>
                        </a:moveTo>
                        <a:lnTo>
                          <a:pt x="23" y="9"/>
                        </a:lnTo>
                        <a:lnTo>
                          <a:pt x="22" y="6"/>
                        </a:lnTo>
                        <a:lnTo>
                          <a:pt x="20" y="5"/>
                        </a:lnTo>
                        <a:lnTo>
                          <a:pt x="19" y="4"/>
                        </a:lnTo>
                        <a:lnTo>
                          <a:pt x="16" y="1"/>
                        </a:lnTo>
                        <a:lnTo>
                          <a:pt x="14" y="1"/>
                        </a:lnTo>
                        <a:lnTo>
                          <a:pt x="12" y="1"/>
                        </a:lnTo>
                        <a:lnTo>
                          <a:pt x="12" y="0"/>
                        </a:lnTo>
                        <a:lnTo>
                          <a:pt x="9" y="0"/>
                        </a:lnTo>
                        <a:lnTo>
                          <a:pt x="8" y="0"/>
                        </a:lnTo>
                        <a:lnTo>
                          <a:pt x="6" y="0"/>
                        </a:lnTo>
                        <a:lnTo>
                          <a:pt x="5" y="1"/>
                        </a:lnTo>
                        <a:lnTo>
                          <a:pt x="3" y="1"/>
                        </a:lnTo>
                        <a:lnTo>
                          <a:pt x="1" y="3"/>
                        </a:lnTo>
                        <a:lnTo>
                          <a:pt x="1" y="5"/>
                        </a:lnTo>
                        <a:lnTo>
                          <a:pt x="0" y="6"/>
                        </a:lnTo>
                        <a:lnTo>
                          <a:pt x="0" y="11"/>
                        </a:lnTo>
                        <a:lnTo>
                          <a:pt x="0" y="14"/>
                        </a:lnTo>
                        <a:lnTo>
                          <a:pt x="1" y="15"/>
                        </a:lnTo>
                        <a:lnTo>
                          <a:pt x="1" y="18"/>
                        </a:lnTo>
                        <a:lnTo>
                          <a:pt x="4" y="18"/>
                        </a:lnTo>
                        <a:lnTo>
                          <a:pt x="6" y="18"/>
                        </a:lnTo>
                        <a:lnTo>
                          <a:pt x="9" y="18"/>
                        </a:lnTo>
                        <a:lnTo>
                          <a:pt x="12" y="18"/>
                        </a:lnTo>
                        <a:lnTo>
                          <a:pt x="14" y="17"/>
                        </a:lnTo>
                        <a:lnTo>
                          <a:pt x="17" y="17"/>
                        </a:lnTo>
                        <a:lnTo>
                          <a:pt x="21" y="17"/>
                        </a:lnTo>
                        <a:lnTo>
                          <a:pt x="25" y="18"/>
                        </a:lnTo>
                        <a:lnTo>
                          <a:pt x="32" y="21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6" name="Freeform 36"/>
                  <p:cNvSpPr>
                    <a:spLocks/>
                  </p:cNvSpPr>
                  <p:nvPr/>
                </p:nvSpPr>
                <p:spPr bwMode="auto">
                  <a:xfrm>
                    <a:off x="4903" y="1428"/>
                    <a:ext cx="54" cy="40"/>
                  </a:xfrm>
                  <a:custGeom>
                    <a:avLst/>
                    <a:gdLst>
                      <a:gd name="T0" fmla="*/ 0 w 54"/>
                      <a:gd name="T1" fmla="*/ 39 h 40"/>
                      <a:gd name="T2" fmla="*/ 2 w 54"/>
                      <a:gd name="T3" fmla="*/ 33 h 40"/>
                      <a:gd name="T4" fmla="*/ 3 w 54"/>
                      <a:gd name="T5" fmla="*/ 25 h 40"/>
                      <a:gd name="T6" fmla="*/ 7 w 54"/>
                      <a:gd name="T7" fmla="*/ 20 h 40"/>
                      <a:gd name="T8" fmla="*/ 11 w 54"/>
                      <a:gd name="T9" fmla="*/ 14 h 40"/>
                      <a:gd name="T10" fmla="*/ 15 w 54"/>
                      <a:gd name="T11" fmla="*/ 9 h 40"/>
                      <a:gd name="T12" fmla="*/ 18 w 54"/>
                      <a:gd name="T13" fmla="*/ 6 h 40"/>
                      <a:gd name="T14" fmla="*/ 21 w 54"/>
                      <a:gd name="T15" fmla="*/ 3 h 40"/>
                      <a:gd name="T16" fmla="*/ 26 w 54"/>
                      <a:gd name="T17" fmla="*/ 1 h 40"/>
                      <a:gd name="T18" fmla="*/ 31 w 54"/>
                      <a:gd name="T19" fmla="*/ 0 h 40"/>
                      <a:gd name="T20" fmla="*/ 36 w 54"/>
                      <a:gd name="T21" fmla="*/ 0 h 40"/>
                      <a:gd name="T22" fmla="*/ 41 w 54"/>
                      <a:gd name="T23" fmla="*/ 0 h 40"/>
                      <a:gd name="T24" fmla="*/ 46 w 54"/>
                      <a:gd name="T25" fmla="*/ 0 h 40"/>
                      <a:gd name="T26" fmla="*/ 48 w 54"/>
                      <a:gd name="T27" fmla="*/ 2 h 40"/>
                      <a:gd name="T28" fmla="*/ 51 w 54"/>
                      <a:gd name="T29" fmla="*/ 3 h 40"/>
                      <a:gd name="T30" fmla="*/ 51 w 54"/>
                      <a:gd name="T31" fmla="*/ 5 h 40"/>
                      <a:gd name="T32" fmla="*/ 53 w 54"/>
                      <a:gd name="T33" fmla="*/ 6 h 40"/>
                      <a:gd name="T34" fmla="*/ 53 w 54"/>
                      <a:gd name="T35" fmla="*/ 9 h 40"/>
                      <a:gd name="T36" fmla="*/ 53 w 54"/>
                      <a:gd name="T37" fmla="*/ 12 h 40"/>
                      <a:gd name="T38" fmla="*/ 51 w 54"/>
                      <a:gd name="T39" fmla="*/ 15 h 40"/>
                      <a:gd name="T40" fmla="*/ 50 w 54"/>
                      <a:gd name="T41" fmla="*/ 17 h 40"/>
                      <a:gd name="T42" fmla="*/ 48 w 54"/>
                      <a:gd name="T43" fmla="*/ 18 h 40"/>
                      <a:gd name="T44" fmla="*/ 46 w 54"/>
                      <a:gd name="T45" fmla="*/ 18 h 40"/>
                      <a:gd name="T46" fmla="*/ 44 w 54"/>
                      <a:gd name="T47" fmla="*/ 20 h 40"/>
                      <a:gd name="T48" fmla="*/ 41 w 54"/>
                      <a:gd name="T49" fmla="*/ 20 h 40"/>
                      <a:gd name="T50" fmla="*/ 38 w 54"/>
                      <a:gd name="T51" fmla="*/ 21 h 40"/>
                      <a:gd name="T52" fmla="*/ 35 w 54"/>
                      <a:gd name="T53" fmla="*/ 21 h 40"/>
                      <a:gd name="T54" fmla="*/ 32 w 54"/>
                      <a:gd name="T55" fmla="*/ 20 h 40"/>
                      <a:gd name="T56" fmla="*/ 28 w 54"/>
                      <a:gd name="T57" fmla="*/ 20 h 40"/>
                      <a:gd name="T58" fmla="*/ 24 w 54"/>
                      <a:gd name="T59" fmla="*/ 21 h 40"/>
                      <a:gd name="T60" fmla="*/ 20 w 54"/>
                      <a:gd name="T61" fmla="*/ 22 h 40"/>
                      <a:gd name="T62" fmla="*/ 18 w 54"/>
                      <a:gd name="T63" fmla="*/ 24 h 40"/>
                      <a:gd name="T64" fmla="*/ 14 w 54"/>
                      <a:gd name="T65" fmla="*/ 26 h 40"/>
                      <a:gd name="T66" fmla="*/ 9 w 54"/>
                      <a:gd name="T67" fmla="*/ 30 h 40"/>
                      <a:gd name="T68" fmla="*/ 5 w 54"/>
                      <a:gd name="T69" fmla="*/ 32 h 40"/>
                      <a:gd name="T70" fmla="*/ 3 w 54"/>
                      <a:gd name="T71" fmla="*/ 35 h 40"/>
                      <a:gd name="T72" fmla="*/ 0 w 54"/>
                      <a:gd name="T73" fmla="*/ 39 h 40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4"/>
                      <a:gd name="T112" fmla="*/ 0 h 40"/>
                      <a:gd name="T113" fmla="*/ 54 w 54"/>
                      <a:gd name="T114" fmla="*/ 40 h 40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4" h="40">
                        <a:moveTo>
                          <a:pt x="0" y="39"/>
                        </a:moveTo>
                        <a:lnTo>
                          <a:pt x="2" y="33"/>
                        </a:lnTo>
                        <a:lnTo>
                          <a:pt x="3" y="25"/>
                        </a:lnTo>
                        <a:lnTo>
                          <a:pt x="7" y="20"/>
                        </a:lnTo>
                        <a:lnTo>
                          <a:pt x="11" y="14"/>
                        </a:lnTo>
                        <a:lnTo>
                          <a:pt x="15" y="9"/>
                        </a:lnTo>
                        <a:lnTo>
                          <a:pt x="18" y="6"/>
                        </a:lnTo>
                        <a:lnTo>
                          <a:pt x="21" y="3"/>
                        </a:lnTo>
                        <a:lnTo>
                          <a:pt x="26" y="1"/>
                        </a:lnTo>
                        <a:lnTo>
                          <a:pt x="31" y="0"/>
                        </a:lnTo>
                        <a:lnTo>
                          <a:pt x="36" y="0"/>
                        </a:lnTo>
                        <a:lnTo>
                          <a:pt x="41" y="0"/>
                        </a:lnTo>
                        <a:lnTo>
                          <a:pt x="46" y="0"/>
                        </a:lnTo>
                        <a:lnTo>
                          <a:pt x="48" y="2"/>
                        </a:lnTo>
                        <a:lnTo>
                          <a:pt x="51" y="3"/>
                        </a:lnTo>
                        <a:lnTo>
                          <a:pt x="51" y="5"/>
                        </a:lnTo>
                        <a:lnTo>
                          <a:pt x="53" y="6"/>
                        </a:lnTo>
                        <a:lnTo>
                          <a:pt x="53" y="9"/>
                        </a:lnTo>
                        <a:lnTo>
                          <a:pt x="53" y="12"/>
                        </a:lnTo>
                        <a:lnTo>
                          <a:pt x="51" y="15"/>
                        </a:lnTo>
                        <a:lnTo>
                          <a:pt x="50" y="17"/>
                        </a:lnTo>
                        <a:lnTo>
                          <a:pt x="48" y="18"/>
                        </a:lnTo>
                        <a:lnTo>
                          <a:pt x="46" y="18"/>
                        </a:lnTo>
                        <a:lnTo>
                          <a:pt x="44" y="20"/>
                        </a:lnTo>
                        <a:lnTo>
                          <a:pt x="41" y="20"/>
                        </a:lnTo>
                        <a:lnTo>
                          <a:pt x="38" y="21"/>
                        </a:lnTo>
                        <a:lnTo>
                          <a:pt x="35" y="21"/>
                        </a:lnTo>
                        <a:lnTo>
                          <a:pt x="32" y="20"/>
                        </a:lnTo>
                        <a:lnTo>
                          <a:pt x="28" y="20"/>
                        </a:lnTo>
                        <a:lnTo>
                          <a:pt x="24" y="21"/>
                        </a:lnTo>
                        <a:lnTo>
                          <a:pt x="20" y="22"/>
                        </a:lnTo>
                        <a:lnTo>
                          <a:pt x="18" y="24"/>
                        </a:lnTo>
                        <a:lnTo>
                          <a:pt x="14" y="26"/>
                        </a:lnTo>
                        <a:lnTo>
                          <a:pt x="9" y="30"/>
                        </a:lnTo>
                        <a:lnTo>
                          <a:pt x="5" y="32"/>
                        </a:lnTo>
                        <a:lnTo>
                          <a:pt x="3" y="35"/>
                        </a:lnTo>
                        <a:lnTo>
                          <a:pt x="0" y="39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  <p:sp>
                <p:nvSpPr>
                  <p:cNvPr id="25617" name="Freeform 37"/>
                  <p:cNvSpPr>
                    <a:spLocks/>
                  </p:cNvSpPr>
                  <p:nvPr/>
                </p:nvSpPr>
                <p:spPr bwMode="auto">
                  <a:xfrm>
                    <a:off x="4659" y="1434"/>
                    <a:ext cx="56" cy="41"/>
                  </a:xfrm>
                  <a:custGeom>
                    <a:avLst/>
                    <a:gdLst>
                      <a:gd name="T0" fmla="*/ 55 w 56"/>
                      <a:gd name="T1" fmla="*/ 40 h 41"/>
                      <a:gd name="T2" fmla="*/ 51 w 56"/>
                      <a:gd name="T3" fmla="*/ 34 h 41"/>
                      <a:gd name="T4" fmla="*/ 50 w 56"/>
                      <a:gd name="T5" fmla="*/ 26 h 41"/>
                      <a:gd name="T6" fmla="*/ 48 w 56"/>
                      <a:gd name="T7" fmla="*/ 20 h 41"/>
                      <a:gd name="T8" fmla="*/ 43 w 56"/>
                      <a:gd name="T9" fmla="*/ 15 h 41"/>
                      <a:gd name="T10" fmla="*/ 38 w 56"/>
                      <a:gd name="T11" fmla="*/ 10 h 41"/>
                      <a:gd name="T12" fmla="*/ 35 w 56"/>
                      <a:gd name="T13" fmla="*/ 6 h 41"/>
                      <a:gd name="T14" fmla="*/ 31 w 56"/>
                      <a:gd name="T15" fmla="*/ 3 h 41"/>
                      <a:gd name="T16" fmla="*/ 27 w 56"/>
                      <a:gd name="T17" fmla="*/ 2 h 41"/>
                      <a:gd name="T18" fmla="*/ 22 w 56"/>
                      <a:gd name="T19" fmla="*/ 0 h 41"/>
                      <a:gd name="T20" fmla="*/ 17 w 56"/>
                      <a:gd name="T21" fmla="*/ 0 h 41"/>
                      <a:gd name="T22" fmla="*/ 10 w 56"/>
                      <a:gd name="T23" fmla="*/ 0 h 41"/>
                      <a:gd name="T24" fmla="*/ 6 w 56"/>
                      <a:gd name="T25" fmla="*/ 1 h 41"/>
                      <a:gd name="T26" fmla="*/ 3 w 56"/>
                      <a:gd name="T27" fmla="*/ 2 h 41"/>
                      <a:gd name="T28" fmla="*/ 0 w 56"/>
                      <a:gd name="T29" fmla="*/ 3 h 41"/>
                      <a:gd name="T30" fmla="*/ 0 w 56"/>
                      <a:gd name="T31" fmla="*/ 5 h 41"/>
                      <a:gd name="T32" fmla="*/ 0 w 56"/>
                      <a:gd name="T33" fmla="*/ 6 h 41"/>
                      <a:gd name="T34" fmla="*/ 0 w 56"/>
                      <a:gd name="T35" fmla="*/ 10 h 41"/>
                      <a:gd name="T36" fmla="*/ 0 w 56"/>
                      <a:gd name="T37" fmla="*/ 13 h 41"/>
                      <a:gd name="T38" fmla="*/ 0 w 56"/>
                      <a:gd name="T39" fmla="*/ 16 h 41"/>
                      <a:gd name="T40" fmla="*/ 3 w 56"/>
                      <a:gd name="T41" fmla="*/ 16 h 41"/>
                      <a:gd name="T42" fmla="*/ 3 w 56"/>
                      <a:gd name="T43" fmla="*/ 19 h 41"/>
                      <a:gd name="T44" fmla="*/ 6 w 56"/>
                      <a:gd name="T45" fmla="*/ 20 h 41"/>
                      <a:gd name="T46" fmla="*/ 9 w 56"/>
                      <a:gd name="T47" fmla="*/ 20 h 41"/>
                      <a:gd name="T48" fmla="*/ 11 w 56"/>
                      <a:gd name="T49" fmla="*/ 20 h 41"/>
                      <a:gd name="T50" fmla="*/ 14 w 56"/>
                      <a:gd name="T51" fmla="*/ 22 h 41"/>
                      <a:gd name="T52" fmla="*/ 17 w 56"/>
                      <a:gd name="T53" fmla="*/ 22 h 41"/>
                      <a:gd name="T54" fmla="*/ 20 w 56"/>
                      <a:gd name="T55" fmla="*/ 22 h 41"/>
                      <a:gd name="T56" fmla="*/ 24 w 56"/>
                      <a:gd name="T57" fmla="*/ 20 h 41"/>
                      <a:gd name="T58" fmla="*/ 29 w 56"/>
                      <a:gd name="T59" fmla="*/ 22 h 41"/>
                      <a:gd name="T60" fmla="*/ 33 w 56"/>
                      <a:gd name="T61" fmla="*/ 23 h 41"/>
                      <a:gd name="T62" fmla="*/ 37 w 56"/>
                      <a:gd name="T63" fmla="*/ 25 h 41"/>
                      <a:gd name="T64" fmla="*/ 40 w 56"/>
                      <a:gd name="T65" fmla="*/ 26 h 41"/>
                      <a:gd name="T66" fmla="*/ 44 w 56"/>
                      <a:gd name="T67" fmla="*/ 30 h 41"/>
                      <a:gd name="T68" fmla="*/ 48 w 56"/>
                      <a:gd name="T69" fmla="*/ 33 h 41"/>
                      <a:gd name="T70" fmla="*/ 50 w 56"/>
                      <a:gd name="T71" fmla="*/ 36 h 41"/>
                      <a:gd name="T72" fmla="*/ 55 w 56"/>
                      <a:gd name="T73" fmla="*/ 40 h 41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w 56"/>
                      <a:gd name="T112" fmla="*/ 0 h 41"/>
                      <a:gd name="T113" fmla="*/ 56 w 56"/>
                      <a:gd name="T114" fmla="*/ 41 h 41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T111" t="T112" r="T113" b="T114"/>
                    <a:pathLst>
                      <a:path w="56" h="41">
                        <a:moveTo>
                          <a:pt x="55" y="40"/>
                        </a:moveTo>
                        <a:lnTo>
                          <a:pt x="51" y="34"/>
                        </a:lnTo>
                        <a:lnTo>
                          <a:pt x="50" y="26"/>
                        </a:lnTo>
                        <a:lnTo>
                          <a:pt x="48" y="20"/>
                        </a:lnTo>
                        <a:lnTo>
                          <a:pt x="43" y="15"/>
                        </a:lnTo>
                        <a:lnTo>
                          <a:pt x="38" y="10"/>
                        </a:lnTo>
                        <a:lnTo>
                          <a:pt x="35" y="6"/>
                        </a:lnTo>
                        <a:lnTo>
                          <a:pt x="31" y="3"/>
                        </a:lnTo>
                        <a:lnTo>
                          <a:pt x="27" y="2"/>
                        </a:lnTo>
                        <a:lnTo>
                          <a:pt x="22" y="0"/>
                        </a:lnTo>
                        <a:lnTo>
                          <a:pt x="17" y="0"/>
                        </a:lnTo>
                        <a:lnTo>
                          <a:pt x="10" y="0"/>
                        </a:lnTo>
                        <a:lnTo>
                          <a:pt x="6" y="1"/>
                        </a:lnTo>
                        <a:lnTo>
                          <a:pt x="3" y="2"/>
                        </a:lnTo>
                        <a:lnTo>
                          <a:pt x="0" y="3"/>
                        </a:lnTo>
                        <a:lnTo>
                          <a:pt x="0" y="5"/>
                        </a:lnTo>
                        <a:lnTo>
                          <a:pt x="0" y="6"/>
                        </a:lnTo>
                        <a:lnTo>
                          <a:pt x="0" y="10"/>
                        </a:lnTo>
                        <a:lnTo>
                          <a:pt x="0" y="13"/>
                        </a:lnTo>
                        <a:lnTo>
                          <a:pt x="0" y="16"/>
                        </a:lnTo>
                        <a:lnTo>
                          <a:pt x="3" y="16"/>
                        </a:lnTo>
                        <a:lnTo>
                          <a:pt x="3" y="19"/>
                        </a:lnTo>
                        <a:lnTo>
                          <a:pt x="6" y="20"/>
                        </a:lnTo>
                        <a:lnTo>
                          <a:pt x="9" y="20"/>
                        </a:lnTo>
                        <a:lnTo>
                          <a:pt x="11" y="20"/>
                        </a:lnTo>
                        <a:lnTo>
                          <a:pt x="14" y="22"/>
                        </a:lnTo>
                        <a:lnTo>
                          <a:pt x="17" y="22"/>
                        </a:lnTo>
                        <a:lnTo>
                          <a:pt x="20" y="22"/>
                        </a:lnTo>
                        <a:lnTo>
                          <a:pt x="24" y="20"/>
                        </a:lnTo>
                        <a:lnTo>
                          <a:pt x="29" y="22"/>
                        </a:lnTo>
                        <a:lnTo>
                          <a:pt x="33" y="23"/>
                        </a:lnTo>
                        <a:lnTo>
                          <a:pt x="37" y="25"/>
                        </a:lnTo>
                        <a:lnTo>
                          <a:pt x="40" y="26"/>
                        </a:lnTo>
                        <a:lnTo>
                          <a:pt x="44" y="30"/>
                        </a:lnTo>
                        <a:lnTo>
                          <a:pt x="48" y="33"/>
                        </a:lnTo>
                        <a:lnTo>
                          <a:pt x="50" y="36"/>
                        </a:lnTo>
                        <a:lnTo>
                          <a:pt x="55" y="40"/>
                        </a:lnTo>
                      </a:path>
                    </a:pathLst>
                  </a:custGeom>
                  <a:solidFill>
                    <a:srgbClr val="C0FFFF"/>
                  </a:solidFill>
                  <a:ln w="12700" cap="rnd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 lIns="100794" tIns="50397" rIns="100794" bIns="50397"/>
                  <a:lstStyle/>
                  <a:p>
                    <a:endParaRPr lang="en-GB"/>
                  </a:p>
                </p:txBody>
              </p:sp>
            </p:grpSp>
          </p:grpSp>
        </p:grpSp>
        <p:sp>
          <p:nvSpPr>
            <p:cNvPr id="25609" name="Line 41"/>
            <p:cNvSpPr>
              <a:spLocks noChangeShapeType="1"/>
            </p:cNvSpPr>
            <p:nvPr/>
          </p:nvSpPr>
          <p:spPr bwMode="auto">
            <a:xfrm flipV="1">
              <a:off x="96" y="1943"/>
              <a:ext cx="5568" cy="2160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</p:grpSp>
      <p:sp>
        <p:nvSpPr>
          <p:cNvPr id="25605" name="Rectangle 43"/>
          <p:cNvSpPr>
            <a:spLocks noChangeArrowheads="1"/>
          </p:cNvSpPr>
          <p:nvPr/>
        </p:nvSpPr>
        <p:spPr bwMode="auto">
          <a:xfrm>
            <a:off x="1828800" y="990825"/>
            <a:ext cx="7162560" cy="1608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lang="en-US" sz="2900" b="1">
                <a:solidFill>
                  <a:srgbClr val="B000B0"/>
                </a:solidFill>
                <a:ea typeface="MS Gothic" pitchFamily="49" charset="-128"/>
              </a:rPr>
              <a:t>A frontline-based problem solving approach </a:t>
            </a:r>
          </a:p>
          <a:p>
            <a:pPr defTabSz="914414">
              <a:spcBef>
                <a:spcPct val="50000"/>
              </a:spcBef>
            </a:pPr>
            <a:r>
              <a:rPr kumimoji="1" lang="en-US" altLang="ja-JP" sz="2700" b="1">
                <a:solidFill>
                  <a:srgbClr val="820082"/>
                </a:solidFill>
                <a:ea typeface="HG明朝B"/>
                <a:cs typeface="HG明朝B"/>
              </a:rPr>
              <a:t>Incremental but continuous progress</a:t>
            </a:r>
          </a:p>
        </p:txBody>
      </p:sp>
    </p:spTree>
    <p:extLst>
      <p:ext uri="{BB962C8B-B14F-4D97-AF65-F5344CB8AC3E}">
        <p14:creationId xmlns:p14="http://schemas.microsoft.com/office/powerpoint/2010/main" val="34120827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401760" y="417646"/>
            <a:ext cx="289584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6627" name="Group 12"/>
          <p:cNvGrpSpPr>
            <a:grpSpLocks/>
          </p:cNvGrpSpPr>
          <p:nvPr/>
        </p:nvGrpSpPr>
        <p:grpSpPr bwMode="auto">
          <a:xfrm>
            <a:off x="1441" y="1990291"/>
            <a:ext cx="9142560" cy="4867711"/>
            <a:chOff x="1" y="1254"/>
            <a:chExt cx="5759" cy="3066"/>
          </a:xfrm>
        </p:grpSpPr>
        <p:grpSp>
          <p:nvGrpSpPr>
            <p:cNvPr id="26655" name="Group 5"/>
            <p:cNvGrpSpPr>
              <a:grpSpLocks/>
            </p:cNvGrpSpPr>
            <p:nvPr/>
          </p:nvGrpSpPr>
          <p:grpSpPr bwMode="auto">
            <a:xfrm>
              <a:off x="3840" y="2688"/>
              <a:ext cx="1920" cy="816"/>
              <a:chOff x="3840" y="2688"/>
              <a:chExt cx="1920" cy="816"/>
            </a:xfrm>
          </p:grpSpPr>
          <p:sp>
            <p:nvSpPr>
              <p:cNvPr id="26662" name="Freeform 3"/>
              <p:cNvSpPr>
                <a:spLocks/>
              </p:cNvSpPr>
              <p:nvPr/>
            </p:nvSpPr>
            <p:spPr bwMode="auto">
              <a:xfrm>
                <a:off x="3840" y="2688"/>
                <a:ext cx="1920" cy="816"/>
              </a:xfrm>
              <a:custGeom>
                <a:avLst/>
                <a:gdLst>
                  <a:gd name="T0" fmla="*/ 1919 w 1920"/>
                  <a:gd name="T1" fmla="*/ 0 h 816"/>
                  <a:gd name="T2" fmla="*/ 1764 w 1920"/>
                  <a:gd name="T3" fmla="*/ 83 h 816"/>
                  <a:gd name="T4" fmla="*/ 1753 w 1920"/>
                  <a:gd name="T5" fmla="*/ 144 h 816"/>
                  <a:gd name="T6" fmla="*/ 1673 w 1920"/>
                  <a:gd name="T7" fmla="*/ 240 h 816"/>
                  <a:gd name="T8" fmla="*/ 1579 w 1920"/>
                  <a:gd name="T9" fmla="*/ 253 h 816"/>
                  <a:gd name="T10" fmla="*/ 1499 w 1920"/>
                  <a:gd name="T11" fmla="*/ 258 h 816"/>
                  <a:gd name="T12" fmla="*/ 1481 w 1920"/>
                  <a:gd name="T13" fmla="*/ 352 h 816"/>
                  <a:gd name="T14" fmla="*/ 1425 w 1920"/>
                  <a:gd name="T15" fmla="*/ 312 h 816"/>
                  <a:gd name="T16" fmla="*/ 1326 w 1920"/>
                  <a:gd name="T17" fmla="*/ 312 h 816"/>
                  <a:gd name="T18" fmla="*/ 1240 w 1920"/>
                  <a:gd name="T19" fmla="*/ 292 h 816"/>
                  <a:gd name="T20" fmla="*/ 1190 w 1920"/>
                  <a:gd name="T21" fmla="*/ 346 h 816"/>
                  <a:gd name="T22" fmla="*/ 1153 w 1920"/>
                  <a:gd name="T23" fmla="*/ 441 h 816"/>
                  <a:gd name="T24" fmla="*/ 1129 w 1920"/>
                  <a:gd name="T25" fmla="*/ 401 h 816"/>
                  <a:gd name="T26" fmla="*/ 1079 w 1920"/>
                  <a:gd name="T27" fmla="*/ 380 h 816"/>
                  <a:gd name="T28" fmla="*/ 950 w 1920"/>
                  <a:gd name="T29" fmla="*/ 552 h 816"/>
                  <a:gd name="T30" fmla="*/ 875 w 1920"/>
                  <a:gd name="T31" fmla="*/ 546 h 816"/>
                  <a:gd name="T32" fmla="*/ 770 w 1920"/>
                  <a:gd name="T33" fmla="*/ 598 h 816"/>
                  <a:gd name="T34" fmla="*/ 673 w 1920"/>
                  <a:gd name="T35" fmla="*/ 584 h 816"/>
                  <a:gd name="T36" fmla="*/ 585 w 1920"/>
                  <a:gd name="T37" fmla="*/ 530 h 816"/>
                  <a:gd name="T38" fmla="*/ 512 w 1920"/>
                  <a:gd name="T39" fmla="*/ 591 h 816"/>
                  <a:gd name="T40" fmla="*/ 412 w 1920"/>
                  <a:gd name="T41" fmla="*/ 584 h 816"/>
                  <a:gd name="T42" fmla="*/ 314 w 1920"/>
                  <a:gd name="T43" fmla="*/ 734 h 816"/>
                  <a:gd name="T44" fmla="*/ 215 w 1920"/>
                  <a:gd name="T45" fmla="*/ 732 h 816"/>
                  <a:gd name="T46" fmla="*/ 103 w 1920"/>
                  <a:gd name="T47" fmla="*/ 754 h 816"/>
                  <a:gd name="T48" fmla="*/ 31 w 1920"/>
                  <a:gd name="T49" fmla="*/ 797 h 816"/>
                  <a:gd name="T50" fmla="*/ 0 w 1920"/>
                  <a:gd name="T51" fmla="*/ 813 h 816"/>
                  <a:gd name="T52" fmla="*/ 1919 w 1920"/>
                  <a:gd name="T53" fmla="*/ 815 h 816"/>
                  <a:gd name="T54" fmla="*/ 1919 w 1920"/>
                  <a:gd name="T55" fmla="*/ 0 h 81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920"/>
                  <a:gd name="T85" fmla="*/ 0 h 816"/>
                  <a:gd name="T86" fmla="*/ 1920 w 1920"/>
                  <a:gd name="T87" fmla="*/ 816 h 81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920" h="816">
                    <a:moveTo>
                      <a:pt x="1919" y="0"/>
                    </a:moveTo>
                    <a:lnTo>
                      <a:pt x="1764" y="83"/>
                    </a:lnTo>
                    <a:lnTo>
                      <a:pt x="1753" y="144"/>
                    </a:lnTo>
                    <a:lnTo>
                      <a:pt x="1673" y="240"/>
                    </a:lnTo>
                    <a:lnTo>
                      <a:pt x="1579" y="253"/>
                    </a:lnTo>
                    <a:lnTo>
                      <a:pt x="1499" y="258"/>
                    </a:lnTo>
                    <a:lnTo>
                      <a:pt x="1481" y="352"/>
                    </a:lnTo>
                    <a:lnTo>
                      <a:pt x="1425" y="312"/>
                    </a:lnTo>
                    <a:lnTo>
                      <a:pt x="1326" y="312"/>
                    </a:lnTo>
                    <a:lnTo>
                      <a:pt x="1240" y="292"/>
                    </a:lnTo>
                    <a:lnTo>
                      <a:pt x="1190" y="346"/>
                    </a:lnTo>
                    <a:lnTo>
                      <a:pt x="1153" y="441"/>
                    </a:lnTo>
                    <a:lnTo>
                      <a:pt x="1129" y="401"/>
                    </a:lnTo>
                    <a:lnTo>
                      <a:pt x="1079" y="380"/>
                    </a:lnTo>
                    <a:lnTo>
                      <a:pt x="950" y="552"/>
                    </a:lnTo>
                    <a:lnTo>
                      <a:pt x="875" y="546"/>
                    </a:lnTo>
                    <a:lnTo>
                      <a:pt x="770" y="598"/>
                    </a:lnTo>
                    <a:lnTo>
                      <a:pt x="673" y="584"/>
                    </a:lnTo>
                    <a:lnTo>
                      <a:pt x="585" y="530"/>
                    </a:lnTo>
                    <a:lnTo>
                      <a:pt x="512" y="591"/>
                    </a:lnTo>
                    <a:lnTo>
                      <a:pt x="412" y="584"/>
                    </a:lnTo>
                    <a:lnTo>
                      <a:pt x="314" y="734"/>
                    </a:lnTo>
                    <a:lnTo>
                      <a:pt x="215" y="732"/>
                    </a:lnTo>
                    <a:lnTo>
                      <a:pt x="103" y="754"/>
                    </a:lnTo>
                    <a:lnTo>
                      <a:pt x="31" y="797"/>
                    </a:lnTo>
                    <a:lnTo>
                      <a:pt x="0" y="813"/>
                    </a:lnTo>
                    <a:lnTo>
                      <a:pt x="1919" y="815"/>
                    </a:lnTo>
                    <a:lnTo>
                      <a:pt x="1919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3" name="Object 4"/>
              <p:cNvGraphicFramePr>
                <a:graphicFrameLocks/>
              </p:cNvGraphicFramePr>
              <p:nvPr/>
            </p:nvGraphicFramePr>
            <p:xfrm>
              <a:off x="4540" y="269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2" name="ｸﾘｯﾌﾟ" r:id="rId4" imgW="2527911" imgH="3658757" progId="MS_ClipArt_Gallery.2">
                      <p:embed/>
                    </p:oleObj>
                  </mc:Choice>
                  <mc:Fallback>
                    <p:oleObj name="ｸﾘｯﾌﾟ" r:id="rId4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40" y="269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6" name="Group 8"/>
            <p:cNvGrpSpPr>
              <a:grpSpLocks/>
            </p:cNvGrpSpPr>
            <p:nvPr/>
          </p:nvGrpSpPr>
          <p:grpSpPr bwMode="auto">
            <a:xfrm>
              <a:off x="4367" y="1254"/>
              <a:ext cx="1393" cy="763"/>
              <a:chOff x="4367" y="1254"/>
              <a:chExt cx="1393" cy="763"/>
            </a:xfrm>
          </p:grpSpPr>
          <p:sp>
            <p:nvSpPr>
              <p:cNvPr id="26660" name="Freeform 6"/>
              <p:cNvSpPr>
                <a:spLocks/>
              </p:cNvSpPr>
              <p:nvPr/>
            </p:nvSpPr>
            <p:spPr bwMode="auto">
              <a:xfrm>
                <a:off x="4367" y="1344"/>
                <a:ext cx="1393" cy="673"/>
              </a:xfrm>
              <a:custGeom>
                <a:avLst/>
                <a:gdLst>
                  <a:gd name="T0" fmla="*/ 1392 w 1393"/>
                  <a:gd name="T1" fmla="*/ 0 h 673"/>
                  <a:gd name="T2" fmla="*/ 1279 w 1393"/>
                  <a:gd name="T3" fmla="*/ 69 h 673"/>
                  <a:gd name="T4" fmla="*/ 1271 w 1393"/>
                  <a:gd name="T5" fmla="*/ 119 h 673"/>
                  <a:gd name="T6" fmla="*/ 1213 w 1393"/>
                  <a:gd name="T7" fmla="*/ 198 h 673"/>
                  <a:gd name="T8" fmla="*/ 1145 w 1393"/>
                  <a:gd name="T9" fmla="*/ 209 h 673"/>
                  <a:gd name="T10" fmla="*/ 1088 w 1393"/>
                  <a:gd name="T11" fmla="*/ 213 h 673"/>
                  <a:gd name="T12" fmla="*/ 1074 w 1393"/>
                  <a:gd name="T13" fmla="*/ 290 h 673"/>
                  <a:gd name="T14" fmla="*/ 1033 w 1393"/>
                  <a:gd name="T15" fmla="*/ 257 h 673"/>
                  <a:gd name="T16" fmla="*/ 962 w 1393"/>
                  <a:gd name="T17" fmla="*/ 257 h 673"/>
                  <a:gd name="T18" fmla="*/ 899 w 1393"/>
                  <a:gd name="T19" fmla="*/ 241 h 673"/>
                  <a:gd name="T20" fmla="*/ 863 w 1393"/>
                  <a:gd name="T21" fmla="*/ 285 h 673"/>
                  <a:gd name="T22" fmla="*/ 836 w 1393"/>
                  <a:gd name="T23" fmla="*/ 364 h 673"/>
                  <a:gd name="T24" fmla="*/ 819 w 1393"/>
                  <a:gd name="T25" fmla="*/ 330 h 673"/>
                  <a:gd name="T26" fmla="*/ 783 w 1393"/>
                  <a:gd name="T27" fmla="*/ 314 h 673"/>
                  <a:gd name="T28" fmla="*/ 689 w 1393"/>
                  <a:gd name="T29" fmla="*/ 455 h 673"/>
                  <a:gd name="T30" fmla="*/ 635 w 1393"/>
                  <a:gd name="T31" fmla="*/ 450 h 673"/>
                  <a:gd name="T32" fmla="*/ 559 w 1393"/>
                  <a:gd name="T33" fmla="*/ 493 h 673"/>
                  <a:gd name="T34" fmla="*/ 488 w 1393"/>
                  <a:gd name="T35" fmla="*/ 482 h 673"/>
                  <a:gd name="T36" fmla="*/ 424 w 1393"/>
                  <a:gd name="T37" fmla="*/ 437 h 673"/>
                  <a:gd name="T38" fmla="*/ 371 w 1393"/>
                  <a:gd name="T39" fmla="*/ 487 h 673"/>
                  <a:gd name="T40" fmla="*/ 299 w 1393"/>
                  <a:gd name="T41" fmla="*/ 482 h 673"/>
                  <a:gd name="T42" fmla="*/ 227 w 1393"/>
                  <a:gd name="T43" fmla="*/ 605 h 673"/>
                  <a:gd name="T44" fmla="*/ 156 w 1393"/>
                  <a:gd name="T45" fmla="*/ 603 h 673"/>
                  <a:gd name="T46" fmla="*/ 75 w 1393"/>
                  <a:gd name="T47" fmla="*/ 622 h 673"/>
                  <a:gd name="T48" fmla="*/ 22 w 1393"/>
                  <a:gd name="T49" fmla="*/ 657 h 673"/>
                  <a:gd name="T50" fmla="*/ 0 w 1393"/>
                  <a:gd name="T51" fmla="*/ 671 h 673"/>
                  <a:gd name="T52" fmla="*/ 1392 w 1393"/>
                  <a:gd name="T53" fmla="*/ 672 h 673"/>
                  <a:gd name="T54" fmla="*/ 1392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1392" y="0"/>
                    </a:moveTo>
                    <a:lnTo>
                      <a:pt x="1279" y="69"/>
                    </a:lnTo>
                    <a:lnTo>
                      <a:pt x="1271" y="119"/>
                    </a:lnTo>
                    <a:lnTo>
                      <a:pt x="1213" y="198"/>
                    </a:lnTo>
                    <a:lnTo>
                      <a:pt x="1145" y="209"/>
                    </a:lnTo>
                    <a:lnTo>
                      <a:pt x="1088" y="213"/>
                    </a:lnTo>
                    <a:lnTo>
                      <a:pt x="1074" y="290"/>
                    </a:lnTo>
                    <a:lnTo>
                      <a:pt x="1033" y="257"/>
                    </a:lnTo>
                    <a:lnTo>
                      <a:pt x="962" y="257"/>
                    </a:lnTo>
                    <a:lnTo>
                      <a:pt x="899" y="241"/>
                    </a:lnTo>
                    <a:lnTo>
                      <a:pt x="863" y="285"/>
                    </a:lnTo>
                    <a:lnTo>
                      <a:pt x="836" y="364"/>
                    </a:lnTo>
                    <a:lnTo>
                      <a:pt x="819" y="330"/>
                    </a:lnTo>
                    <a:lnTo>
                      <a:pt x="783" y="314"/>
                    </a:lnTo>
                    <a:lnTo>
                      <a:pt x="689" y="455"/>
                    </a:lnTo>
                    <a:lnTo>
                      <a:pt x="635" y="450"/>
                    </a:lnTo>
                    <a:lnTo>
                      <a:pt x="559" y="493"/>
                    </a:lnTo>
                    <a:lnTo>
                      <a:pt x="488" y="482"/>
                    </a:lnTo>
                    <a:lnTo>
                      <a:pt x="424" y="437"/>
                    </a:lnTo>
                    <a:lnTo>
                      <a:pt x="371" y="487"/>
                    </a:lnTo>
                    <a:lnTo>
                      <a:pt x="299" y="482"/>
                    </a:lnTo>
                    <a:lnTo>
                      <a:pt x="227" y="605"/>
                    </a:lnTo>
                    <a:lnTo>
                      <a:pt x="156" y="603"/>
                    </a:lnTo>
                    <a:lnTo>
                      <a:pt x="75" y="622"/>
                    </a:lnTo>
                    <a:lnTo>
                      <a:pt x="22" y="657"/>
                    </a:lnTo>
                    <a:lnTo>
                      <a:pt x="0" y="671"/>
                    </a:lnTo>
                    <a:lnTo>
                      <a:pt x="1392" y="672"/>
                    </a:lnTo>
                    <a:lnTo>
                      <a:pt x="1392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61" name="Object 7"/>
              <p:cNvGraphicFramePr>
                <a:graphicFrameLocks/>
              </p:cNvGraphicFramePr>
              <p:nvPr/>
            </p:nvGraphicFramePr>
            <p:xfrm>
              <a:off x="4925" y="1254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3" name="ｸﾘｯﾌﾟ" r:id="rId6" imgW="2527911" imgH="3658757" progId="MS_ClipArt_Gallery.2">
                      <p:embed/>
                    </p:oleObj>
                  </mc:Choice>
                  <mc:Fallback>
                    <p:oleObj name="ｸﾘｯﾌﾟ" r:id="rId6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25" y="1254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26657" name="Group 11"/>
            <p:cNvGrpSpPr>
              <a:grpSpLocks/>
            </p:cNvGrpSpPr>
            <p:nvPr/>
          </p:nvGrpSpPr>
          <p:grpSpPr bwMode="auto">
            <a:xfrm>
              <a:off x="1" y="3339"/>
              <a:ext cx="1393" cy="981"/>
              <a:chOff x="1" y="3339"/>
              <a:chExt cx="1393" cy="981"/>
            </a:xfrm>
          </p:grpSpPr>
          <p:sp>
            <p:nvSpPr>
              <p:cNvPr id="26658" name="Freeform 9"/>
              <p:cNvSpPr>
                <a:spLocks/>
              </p:cNvSpPr>
              <p:nvPr/>
            </p:nvSpPr>
            <p:spPr bwMode="auto">
              <a:xfrm>
                <a:off x="1" y="3647"/>
                <a:ext cx="1393" cy="673"/>
              </a:xfrm>
              <a:custGeom>
                <a:avLst/>
                <a:gdLst>
                  <a:gd name="T0" fmla="*/ 0 w 1393"/>
                  <a:gd name="T1" fmla="*/ 0 h 673"/>
                  <a:gd name="T2" fmla="*/ 112 w 1393"/>
                  <a:gd name="T3" fmla="*/ 69 h 673"/>
                  <a:gd name="T4" fmla="*/ 120 w 1393"/>
                  <a:gd name="T5" fmla="*/ 120 h 673"/>
                  <a:gd name="T6" fmla="*/ 178 w 1393"/>
                  <a:gd name="T7" fmla="*/ 198 h 673"/>
                  <a:gd name="T8" fmla="*/ 246 w 1393"/>
                  <a:gd name="T9" fmla="*/ 209 h 673"/>
                  <a:gd name="T10" fmla="*/ 304 w 1393"/>
                  <a:gd name="T11" fmla="*/ 213 h 673"/>
                  <a:gd name="T12" fmla="*/ 318 w 1393"/>
                  <a:gd name="T13" fmla="*/ 291 h 673"/>
                  <a:gd name="T14" fmla="*/ 358 w 1393"/>
                  <a:gd name="T15" fmla="*/ 258 h 673"/>
                  <a:gd name="T16" fmla="*/ 430 w 1393"/>
                  <a:gd name="T17" fmla="*/ 258 h 673"/>
                  <a:gd name="T18" fmla="*/ 492 w 1393"/>
                  <a:gd name="T19" fmla="*/ 241 h 673"/>
                  <a:gd name="T20" fmla="*/ 528 w 1393"/>
                  <a:gd name="T21" fmla="*/ 286 h 673"/>
                  <a:gd name="T22" fmla="*/ 555 w 1393"/>
                  <a:gd name="T23" fmla="*/ 365 h 673"/>
                  <a:gd name="T24" fmla="*/ 573 w 1393"/>
                  <a:gd name="T25" fmla="*/ 331 h 673"/>
                  <a:gd name="T26" fmla="*/ 609 w 1393"/>
                  <a:gd name="T27" fmla="*/ 314 h 673"/>
                  <a:gd name="T28" fmla="*/ 703 w 1393"/>
                  <a:gd name="T29" fmla="*/ 456 h 673"/>
                  <a:gd name="T30" fmla="*/ 757 w 1393"/>
                  <a:gd name="T31" fmla="*/ 450 h 673"/>
                  <a:gd name="T32" fmla="*/ 833 w 1393"/>
                  <a:gd name="T33" fmla="*/ 493 h 673"/>
                  <a:gd name="T34" fmla="*/ 904 w 1393"/>
                  <a:gd name="T35" fmla="*/ 482 h 673"/>
                  <a:gd name="T36" fmla="*/ 968 w 1393"/>
                  <a:gd name="T37" fmla="*/ 437 h 673"/>
                  <a:gd name="T38" fmla="*/ 1020 w 1393"/>
                  <a:gd name="T39" fmla="*/ 488 h 673"/>
                  <a:gd name="T40" fmla="*/ 1093 w 1393"/>
                  <a:gd name="T41" fmla="*/ 482 h 673"/>
                  <a:gd name="T42" fmla="*/ 1164 w 1393"/>
                  <a:gd name="T43" fmla="*/ 606 h 673"/>
                  <a:gd name="T44" fmla="*/ 1235 w 1393"/>
                  <a:gd name="T45" fmla="*/ 604 h 673"/>
                  <a:gd name="T46" fmla="*/ 1317 w 1393"/>
                  <a:gd name="T47" fmla="*/ 622 h 673"/>
                  <a:gd name="T48" fmla="*/ 1369 w 1393"/>
                  <a:gd name="T49" fmla="*/ 658 h 673"/>
                  <a:gd name="T50" fmla="*/ 1392 w 1393"/>
                  <a:gd name="T51" fmla="*/ 671 h 673"/>
                  <a:gd name="T52" fmla="*/ 0 w 1393"/>
                  <a:gd name="T53" fmla="*/ 672 h 673"/>
                  <a:gd name="T54" fmla="*/ 0 w 1393"/>
                  <a:gd name="T55" fmla="*/ 0 h 67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393"/>
                  <a:gd name="T85" fmla="*/ 0 h 673"/>
                  <a:gd name="T86" fmla="*/ 1393 w 1393"/>
                  <a:gd name="T87" fmla="*/ 673 h 673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393" h="673">
                    <a:moveTo>
                      <a:pt x="0" y="0"/>
                    </a:moveTo>
                    <a:lnTo>
                      <a:pt x="112" y="69"/>
                    </a:lnTo>
                    <a:lnTo>
                      <a:pt x="120" y="120"/>
                    </a:lnTo>
                    <a:lnTo>
                      <a:pt x="178" y="198"/>
                    </a:lnTo>
                    <a:lnTo>
                      <a:pt x="246" y="209"/>
                    </a:lnTo>
                    <a:lnTo>
                      <a:pt x="304" y="213"/>
                    </a:lnTo>
                    <a:lnTo>
                      <a:pt x="318" y="291"/>
                    </a:lnTo>
                    <a:lnTo>
                      <a:pt x="358" y="258"/>
                    </a:lnTo>
                    <a:lnTo>
                      <a:pt x="430" y="258"/>
                    </a:lnTo>
                    <a:lnTo>
                      <a:pt x="492" y="241"/>
                    </a:lnTo>
                    <a:lnTo>
                      <a:pt x="528" y="286"/>
                    </a:lnTo>
                    <a:lnTo>
                      <a:pt x="555" y="365"/>
                    </a:lnTo>
                    <a:lnTo>
                      <a:pt x="573" y="331"/>
                    </a:lnTo>
                    <a:lnTo>
                      <a:pt x="609" y="314"/>
                    </a:lnTo>
                    <a:lnTo>
                      <a:pt x="703" y="456"/>
                    </a:lnTo>
                    <a:lnTo>
                      <a:pt x="757" y="450"/>
                    </a:lnTo>
                    <a:lnTo>
                      <a:pt x="833" y="493"/>
                    </a:lnTo>
                    <a:lnTo>
                      <a:pt x="904" y="482"/>
                    </a:lnTo>
                    <a:lnTo>
                      <a:pt x="968" y="437"/>
                    </a:lnTo>
                    <a:lnTo>
                      <a:pt x="1020" y="488"/>
                    </a:lnTo>
                    <a:lnTo>
                      <a:pt x="1093" y="482"/>
                    </a:lnTo>
                    <a:lnTo>
                      <a:pt x="1164" y="606"/>
                    </a:lnTo>
                    <a:lnTo>
                      <a:pt x="1235" y="604"/>
                    </a:lnTo>
                    <a:lnTo>
                      <a:pt x="1317" y="622"/>
                    </a:lnTo>
                    <a:lnTo>
                      <a:pt x="1369" y="658"/>
                    </a:lnTo>
                    <a:lnTo>
                      <a:pt x="1392" y="671"/>
                    </a:lnTo>
                    <a:lnTo>
                      <a:pt x="0" y="67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CBCB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100794" tIns="50397" rIns="100794" bIns="50397"/>
              <a:lstStyle/>
              <a:p>
                <a:endParaRPr lang="en-GB"/>
              </a:p>
            </p:txBody>
          </p:sp>
          <p:graphicFrame>
            <p:nvGraphicFramePr>
              <p:cNvPr id="26659" name="Object 10"/>
              <p:cNvGraphicFramePr>
                <a:graphicFrameLocks/>
              </p:cNvGraphicFramePr>
              <p:nvPr/>
            </p:nvGraphicFramePr>
            <p:xfrm>
              <a:off x="268" y="3339"/>
              <a:ext cx="478" cy="6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64" name="ｸﾘｯﾌﾟ" r:id="rId7" imgW="2527911" imgH="3658757" progId="MS_ClipArt_Gallery.2">
                      <p:embed/>
                    </p:oleObj>
                  </mc:Choice>
                  <mc:Fallback>
                    <p:oleObj name="ｸﾘｯﾌﾟ" r:id="rId7" imgW="2527911" imgH="3658757" progId="MS_ClipArt_Gallery.2">
                      <p:embed/>
                      <p:pic>
                        <p:nvPicPr>
                          <p:cNvPr id="0" name="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" y="3339"/>
                            <a:ext cx="478" cy="6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4349" name="Rectangle 13"/>
          <p:cNvSpPr>
            <a:spLocks noChangeArrowheads="1"/>
          </p:cNvSpPr>
          <p:nvPr/>
        </p:nvSpPr>
        <p:spPr bwMode="auto">
          <a:xfrm>
            <a:off x="401761" y="264988"/>
            <a:ext cx="49320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grpSp>
        <p:nvGrpSpPr>
          <p:cNvPr id="26629" name="Group 37"/>
          <p:cNvGrpSpPr>
            <a:grpSpLocks/>
          </p:cNvGrpSpPr>
          <p:nvPr/>
        </p:nvGrpSpPr>
        <p:grpSpPr bwMode="auto">
          <a:xfrm>
            <a:off x="28801" y="1309098"/>
            <a:ext cx="9059040" cy="4710734"/>
            <a:chOff x="18" y="825"/>
            <a:chExt cx="5707" cy="2967"/>
          </a:xfrm>
        </p:grpSpPr>
        <p:grpSp>
          <p:nvGrpSpPr>
            <p:cNvPr id="26632" name="Group 23"/>
            <p:cNvGrpSpPr>
              <a:grpSpLocks/>
            </p:cNvGrpSpPr>
            <p:nvPr/>
          </p:nvGrpSpPr>
          <p:grpSpPr bwMode="auto">
            <a:xfrm>
              <a:off x="18" y="825"/>
              <a:ext cx="4368" cy="2141"/>
              <a:chOff x="18" y="825"/>
              <a:chExt cx="4368" cy="2141"/>
            </a:xfrm>
          </p:grpSpPr>
          <p:grpSp>
            <p:nvGrpSpPr>
              <p:cNvPr id="26646" name="Group 16"/>
              <p:cNvGrpSpPr>
                <a:grpSpLocks/>
              </p:cNvGrpSpPr>
              <p:nvPr/>
            </p:nvGrpSpPr>
            <p:grpSpPr bwMode="auto">
              <a:xfrm>
                <a:off x="2706" y="825"/>
                <a:ext cx="1680" cy="1613"/>
                <a:chOff x="2706" y="825"/>
                <a:chExt cx="1680" cy="1613"/>
              </a:xfrm>
            </p:grpSpPr>
            <p:sp>
              <p:nvSpPr>
                <p:cNvPr id="26653" name="Oval 14"/>
                <p:cNvSpPr>
                  <a:spLocks noChangeArrowheads="1"/>
                </p:cNvSpPr>
                <p:nvPr/>
              </p:nvSpPr>
              <p:spPr bwMode="auto">
                <a:xfrm>
                  <a:off x="2706" y="825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4" name="Picture 15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62" y="1096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7" name="Group 19"/>
              <p:cNvGrpSpPr>
                <a:grpSpLocks/>
              </p:cNvGrpSpPr>
              <p:nvPr/>
            </p:nvGrpSpPr>
            <p:grpSpPr bwMode="auto">
              <a:xfrm>
                <a:off x="18" y="1353"/>
                <a:ext cx="1680" cy="1613"/>
                <a:chOff x="18" y="1353"/>
                <a:chExt cx="1680" cy="1613"/>
              </a:xfrm>
            </p:grpSpPr>
            <p:sp>
              <p:nvSpPr>
                <p:cNvPr id="26651" name="Oval 17"/>
                <p:cNvSpPr>
                  <a:spLocks noChangeArrowheads="1"/>
                </p:cNvSpPr>
                <p:nvPr/>
              </p:nvSpPr>
              <p:spPr bwMode="auto">
                <a:xfrm>
                  <a:off x="18" y="1353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2" name="Picture 18"/>
                <p:cNvPicPr>
                  <a:picLocks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1624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6648" name="Group 22"/>
              <p:cNvGrpSpPr>
                <a:grpSpLocks/>
              </p:cNvGrpSpPr>
              <p:nvPr/>
            </p:nvGrpSpPr>
            <p:grpSpPr bwMode="auto">
              <a:xfrm>
                <a:off x="1704" y="1296"/>
                <a:ext cx="1008" cy="1344"/>
                <a:chOff x="1704" y="1296"/>
                <a:chExt cx="1008" cy="1344"/>
              </a:xfrm>
            </p:grpSpPr>
            <p:sp>
              <p:nvSpPr>
                <p:cNvPr id="26649" name="Rectangle 20"/>
                <p:cNvSpPr>
                  <a:spLocks noChangeArrowheads="1"/>
                </p:cNvSpPr>
                <p:nvPr/>
              </p:nvSpPr>
              <p:spPr bwMode="auto">
                <a:xfrm>
                  <a:off x="1704" y="1296"/>
                  <a:ext cx="1008" cy="13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6650" name="Picture 21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74" y="1348"/>
                  <a:ext cx="868" cy="12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26633" name="Group 36"/>
            <p:cNvGrpSpPr>
              <a:grpSpLocks/>
            </p:cNvGrpSpPr>
            <p:nvPr/>
          </p:nvGrpSpPr>
          <p:grpSpPr bwMode="auto">
            <a:xfrm>
              <a:off x="994" y="2160"/>
              <a:ext cx="4731" cy="1632"/>
              <a:chOff x="994" y="2160"/>
              <a:chExt cx="4731" cy="1632"/>
            </a:xfrm>
          </p:grpSpPr>
          <p:sp>
            <p:nvSpPr>
              <p:cNvPr id="26634" name="Rectangle 24"/>
              <p:cNvSpPr>
                <a:spLocks noChangeArrowheads="1"/>
              </p:cNvSpPr>
              <p:nvPr/>
            </p:nvSpPr>
            <p:spPr bwMode="auto">
              <a:xfrm>
                <a:off x="2287" y="2711"/>
                <a:ext cx="1103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algn="ctr"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THE IDEAL</a:t>
                </a:r>
              </a:p>
            </p:txBody>
          </p:sp>
          <p:sp>
            <p:nvSpPr>
              <p:cNvPr id="26635" name="Rectangle 25"/>
              <p:cNvSpPr>
                <a:spLocks noChangeArrowheads="1"/>
              </p:cNvSpPr>
              <p:nvPr/>
            </p:nvSpPr>
            <p:spPr bwMode="auto">
              <a:xfrm rot="660000">
                <a:off x="1819" y="3050"/>
                <a:ext cx="908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01494" tIns="50748" rIns="101494" bIns="50748">
                <a:spAutoFit/>
              </a:bodyPr>
              <a:lstStyle/>
              <a:p>
                <a:pPr defTabSz="914414">
                  <a:spcBef>
                    <a:spcPct val="50000"/>
                  </a:spcBef>
                </a:pPr>
                <a:r>
                  <a:rPr kumimoji="1" lang="en-US" altLang="ja-JP" sz="1400" b="1">
                    <a:latin typeface="Times New Roman" pitchFamily="18" charset="0"/>
                    <a:ea typeface="HG明朝B"/>
                    <a:cs typeface="HG明朝B"/>
                  </a:rPr>
                  <a:t>ACTUALITY</a:t>
                </a:r>
              </a:p>
            </p:txBody>
          </p:sp>
          <p:grpSp>
            <p:nvGrpSpPr>
              <p:cNvPr id="26636" name="Group 35"/>
              <p:cNvGrpSpPr>
                <a:grpSpLocks/>
              </p:cNvGrpSpPr>
              <p:nvPr/>
            </p:nvGrpSpPr>
            <p:grpSpPr bwMode="auto">
              <a:xfrm>
                <a:off x="994" y="2160"/>
                <a:ext cx="4731" cy="1632"/>
                <a:chOff x="994" y="2160"/>
                <a:chExt cx="4731" cy="1632"/>
              </a:xfrm>
            </p:grpSpPr>
            <p:grpSp>
              <p:nvGrpSpPr>
                <p:cNvPr id="26637" name="Group 32"/>
                <p:cNvGrpSpPr>
                  <a:grpSpLocks/>
                </p:cNvGrpSpPr>
                <p:nvPr/>
              </p:nvGrpSpPr>
              <p:grpSpPr bwMode="auto">
                <a:xfrm>
                  <a:off x="994" y="2183"/>
                  <a:ext cx="4608" cy="1609"/>
                  <a:chOff x="994" y="2183"/>
                  <a:chExt cx="4608" cy="1609"/>
                </a:xfrm>
              </p:grpSpPr>
              <p:grpSp>
                <p:nvGrpSpPr>
                  <p:cNvPr id="26640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3691" y="2183"/>
                    <a:ext cx="1911" cy="1090"/>
                    <a:chOff x="3691" y="2183"/>
                    <a:chExt cx="1911" cy="1090"/>
                  </a:xfrm>
                </p:grpSpPr>
                <p:sp>
                  <p:nvSpPr>
                    <p:cNvPr id="26644" name="Line 2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691" y="2183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5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691" y="2200"/>
                      <a:ext cx="1911" cy="36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  <p:grpSp>
                <p:nvGrpSpPr>
                  <p:cNvPr id="26641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994" y="2702"/>
                    <a:ext cx="2696" cy="1090"/>
                    <a:chOff x="994" y="2702"/>
                    <a:chExt cx="2696" cy="1090"/>
                  </a:xfrm>
                </p:grpSpPr>
                <p:sp>
                  <p:nvSpPr>
                    <p:cNvPr id="26642" name="Line 2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994" y="2702"/>
                      <a:ext cx="0" cy="1090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6643" name="Line 3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994" y="2719"/>
                      <a:ext cx="2696" cy="554"/>
                    </a:xfrm>
                    <a:prstGeom prst="line">
                      <a:avLst/>
                    </a:prstGeom>
                    <a:noFill/>
                    <a:ln w="127000">
                      <a:solidFill>
                        <a:schemeClr val="tx1"/>
                      </a:solidFill>
                      <a:round/>
                      <a:headEnd type="none" w="sm" len="sm"/>
                      <a:tailEnd type="stealth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GB"/>
                    </a:p>
                  </p:txBody>
                </p:sp>
              </p:grpSp>
            </p:grpSp>
            <p:sp>
              <p:nvSpPr>
                <p:cNvPr id="26638" name="Line 33"/>
                <p:cNvSpPr>
                  <a:spLocks noChangeShapeType="1"/>
                </p:cNvSpPr>
                <p:nvPr/>
              </p:nvSpPr>
              <p:spPr bwMode="auto">
                <a:xfrm>
                  <a:off x="994" y="2688"/>
                  <a:ext cx="268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6639" name="Line 34"/>
                <p:cNvSpPr>
                  <a:spLocks noChangeShapeType="1"/>
                </p:cNvSpPr>
                <p:nvPr/>
              </p:nvSpPr>
              <p:spPr bwMode="auto">
                <a:xfrm>
                  <a:off x="3709" y="2160"/>
                  <a:ext cx="2016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prstDash val="sysDot"/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</p:grpSp>
      <p:sp>
        <p:nvSpPr>
          <p:cNvPr id="26630" name="Rectangle 38"/>
          <p:cNvSpPr>
            <a:spLocks noChangeArrowheads="1"/>
          </p:cNvSpPr>
          <p:nvPr/>
        </p:nvSpPr>
        <p:spPr bwMode="auto">
          <a:xfrm>
            <a:off x="6189121" y="341319"/>
            <a:ext cx="2671200" cy="120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algn="ctr"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A7E8"/>
                </a:solidFill>
                <a:ea typeface="HG明朝B"/>
                <a:cs typeface="HG明朝B"/>
              </a:rPr>
              <a:t>Dramatic but intermittent progress</a:t>
            </a:r>
          </a:p>
        </p:txBody>
      </p:sp>
      <p:sp>
        <p:nvSpPr>
          <p:cNvPr id="26631" name="Rectangle 39"/>
          <p:cNvSpPr>
            <a:spLocks noChangeArrowheads="1"/>
          </p:cNvSpPr>
          <p:nvPr/>
        </p:nvSpPr>
        <p:spPr bwMode="auto">
          <a:xfrm>
            <a:off x="1772640" y="5594990"/>
            <a:ext cx="7273440" cy="1200963"/>
          </a:xfrm>
          <a:prstGeom prst="rect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solidFill>
                  <a:srgbClr val="FFFFFF"/>
                </a:solidFill>
                <a:ea typeface="HG明朝B"/>
                <a:cs typeface="HG明朝B"/>
              </a:rPr>
              <a:t>Higher standard achieved through innovation is subject to deterioration unless continuing efforts are made first to maintain it and then to improve it</a:t>
            </a:r>
          </a:p>
        </p:txBody>
      </p:sp>
    </p:spTree>
    <p:extLst>
      <p:ext uri="{BB962C8B-B14F-4D97-AF65-F5344CB8AC3E}">
        <p14:creationId xmlns:p14="http://schemas.microsoft.com/office/powerpoint/2010/main" val="39110646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401760" y="417646"/>
            <a:ext cx="2895840" cy="462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endParaRPr kumimoji="1" lang="en-US" sz="2400">
              <a:solidFill>
                <a:srgbClr val="000000"/>
              </a:solidFill>
            </a:endParaRPr>
          </a:p>
        </p:txBody>
      </p:sp>
      <p:grpSp>
        <p:nvGrpSpPr>
          <p:cNvPr id="27651" name="Group 3"/>
          <p:cNvGrpSpPr>
            <a:grpSpLocks/>
          </p:cNvGrpSpPr>
          <p:nvPr/>
        </p:nvGrpSpPr>
        <p:grpSpPr bwMode="auto">
          <a:xfrm>
            <a:off x="0" y="5148543"/>
            <a:ext cx="9142560" cy="1709459"/>
            <a:chOff x="0" y="3243"/>
            <a:chExt cx="5759" cy="1077"/>
          </a:xfrm>
        </p:grpSpPr>
        <p:sp>
          <p:nvSpPr>
            <p:cNvPr id="27685" name="Freeform 4"/>
            <p:cNvSpPr>
              <a:spLocks/>
            </p:cNvSpPr>
            <p:nvPr/>
          </p:nvSpPr>
          <p:spPr bwMode="auto">
            <a:xfrm>
              <a:off x="0" y="3936"/>
              <a:ext cx="1104" cy="384"/>
            </a:xfrm>
            <a:custGeom>
              <a:avLst/>
              <a:gdLst>
                <a:gd name="T0" fmla="*/ 0 w 1104"/>
                <a:gd name="T1" fmla="*/ 0 h 384"/>
                <a:gd name="T2" fmla="*/ 88 w 1104"/>
                <a:gd name="T3" fmla="*/ 39 h 384"/>
                <a:gd name="T4" fmla="*/ 95 w 1104"/>
                <a:gd name="T5" fmla="*/ 68 h 384"/>
                <a:gd name="T6" fmla="*/ 141 w 1104"/>
                <a:gd name="T7" fmla="*/ 112 h 384"/>
                <a:gd name="T8" fmla="*/ 194 w 1104"/>
                <a:gd name="T9" fmla="*/ 119 h 384"/>
                <a:gd name="T10" fmla="*/ 240 w 1104"/>
                <a:gd name="T11" fmla="*/ 121 h 384"/>
                <a:gd name="T12" fmla="*/ 251 w 1104"/>
                <a:gd name="T13" fmla="*/ 165 h 384"/>
                <a:gd name="T14" fmla="*/ 283 w 1104"/>
                <a:gd name="T15" fmla="*/ 147 h 384"/>
                <a:gd name="T16" fmla="*/ 340 w 1104"/>
                <a:gd name="T17" fmla="*/ 147 h 384"/>
                <a:gd name="T18" fmla="*/ 389 w 1104"/>
                <a:gd name="T19" fmla="*/ 137 h 384"/>
                <a:gd name="T20" fmla="*/ 418 w 1104"/>
                <a:gd name="T21" fmla="*/ 163 h 384"/>
                <a:gd name="T22" fmla="*/ 439 w 1104"/>
                <a:gd name="T23" fmla="*/ 208 h 384"/>
                <a:gd name="T24" fmla="*/ 454 w 1104"/>
                <a:gd name="T25" fmla="*/ 188 h 384"/>
                <a:gd name="T26" fmla="*/ 482 w 1104"/>
                <a:gd name="T27" fmla="*/ 178 h 384"/>
                <a:gd name="T28" fmla="*/ 557 w 1104"/>
                <a:gd name="T29" fmla="*/ 259 h 384"/>
                <a:gd name="T30" fmla="*/ 599 w 1104"/>
                <a:gd name="T31" fmla="*/ 256 h 384"/>
                <a:gd name="T32" fmla="*/ 660 w 1104"/>
                <a:gd name="T33" fmla="*/ 280 h 384"/>
                <a:gd name="T34" fmla="*/ 716 w 1104"/>
                <a:gd name="T35" fmla="*/ 274 h 384"/>
                <a:gd name="T36" fmla="*/ 767 w 1104"/>
                <a:gd name="T37" fmla="*/ 249 h 384"/>
                <a:gd name="T38" fmla="*/ 808 w 1104"/>
                <a:gd name="T39" fmla="*/ 278 h 384"/>
                <a:gd name="T40" fmla="*/ 866 w 1104"/>
                <a:gd name="T41" fmla="*/ 274 h 384"/>
                <a:gd name="T42" fmla="*/ 922 w 1104"/>
                <a:gd name="T43" fmla="*/ 345 h 384"/>
                <a:gd name="T44" fmla="*/ 978 w 1104"/>
                <a:gd name="T45" fmla="*/ 344 h 384"/>
                <a:gd name="T46" fmla="*/ 1043 w 1104"/>
                <a:gd name="T47" fmla="*/ 354 h 384"/>
                <a:gd name="T48" fmla="*/ 1084 w 1104"/>
                <a:gd name="T49" fmla="*/ 375 h 384"/>
                <a:gd name="T50" fmla="*/ 1103 w 1104"/>
                <a:gd name="T51" fmla="*/ 382 h 384"/>
                <a:gd name="T52" fmla="*/ 0 w 1104"/>
                <a:gd name="T53" fmla="*/ 383 h 384"/>
                <a:gd name="T54" fmla="*/ 0 w 1104"/>
                <a:gd name="T55" fmla="*/ 0 h 38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1104"/>
                <a:gd name="T85" fmla="*/ 0 h 384"/>
                <a:gd name="T86" fmla="*/ 1104 w 1104"/>
                <a:gd name="T87" fmla="*/ 384 h 384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1104" h="384">
                  <a:moveTo>
                    <a:pt x="0" y="0"/>
                  </a:moveTo>
                  <a:lnTo>
                    <a:pt x="88" y="39"/>
                  </a:lnTo>
                  <a:lnTo>
                    <a:pt x="95" y="68"/>
                  </a:lnTo>
                  <a:lnTo>
                    <a:pt x="141" y="112"/>
                  </a:lnTo>
                  <a:lnTo>
                    <a:pt x="194" y="119"/>
                  </a:lnTo>
                  <a:lnTo>
                    <a:pt x="240" y="121"/>
                  </a:lnTo>
                  <a:lnTo>
                    <a:pt x="251" y="165"/>
                  </a:lnTo>
                  <a:lnTo>
                    <a:pt x="283" y="147"/>
                  </a:lnTo>
                  <a:lnTo>
                    <a:pt x="340" y="147"/>
                  </a:lnTo>
                  <a:lnTo>
                    <a:pt x="389" y="137"/>
                  </a:lnTo>
                  <a:lnTo>
                    <a:pt x="418" y="163"/>
                  </a:lnTo>
                  <a:lnTo>
                    <a:pt x="439" y="208"/>
                  </a:lnTo>
                  <a:lnTo>
                    <a:pt x="454" y="188"/>
                  </a:lnTo>
                  <a:lnTo>
                    <a:pt x="482" y="178"/>
                  </a:lnTo>
                  <a:lnTo>
                    <a:pt x="557" y="259"/>
                  </a:lnTo>
                  <a:lnTo>
                    <a:pt x="599" y="256"/>
                  </a:lnTo>
                  <a:lnTo>
                    <a:pt x="660" y="280"/>
                  </a:lnTo>
                  <a:lnTo>
                    <a:pt x="716" y="274"/>
                  </a:lnTo>
                  <a:lnTo>
                    <a:pt x="767" y="249"/>
                  </a:lnTo>
                  <a:lnTo>
                    <a:pt x="808" y="278"/>
                  </a:lnTo>
                  <a:lnTo>
                    <a:pt x="866" y="274"/>
                  </a:lnTo>
                  <a:lnTo>
                    <a:pt x="922" y="345"/>
                  </a:lnTo>
                  <a:lnTo>
                    <a:pt x="978" y="344"/>
                  </a:lnTo>
                  <a:lnTo>
                    <a:pt x="1043" y="354"/>
                  </a:lnTo>
                  <a:lnTo>
                    <a:pt x="1084" y="375"/>
                  </a:lnTo>
                  <a:lnTo>
                    <a:pt x="1103" y="382"/>
                  </a:lnTo>
                  <a:lnTo>
                    <a:pt x="0" y="383"/>
                  </a:lnTo>
                  <a:lnTo>
                    <a:pt x="0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sp>
          <p:nvSpPr>
            <p:cNvPr id="27686" name="Freeform 5"/>
            <p:cNvSpPr>
              <a:spLocks/>
            </p:cNvSpPr>
            <p:nvPr/>
          </p:nvSpPr>
          <p:spPr bwMode="auto">
            <a:xfrm>
              <a:off x="1006" y="3243"/>
              <a:ext cx="4753" cy="1077"/>
            </a:xfrm>
            <a:custGeom>
              <a:avLst/>
              <a:gdLst>
                <a:gd name="T0" fmla="*/ 4752 w 4753"/>
                <a:gd name="T1" fmla="*/ 0 h 1077"/>
                <a:gd name="T2" fmla="*/ 4369 w 4753"/>
                <a:gd name="T3" fmla="*/ 110 h 1077"/>
                <a:gd name="T4" fmla="*/ 4341 w 4753"/>
                <a:gd name="T5" fmla="*/ 191 h 1077"/>
                <a:gd name="T6" fmla="*/ 4143 w 4753"/>
                <a:gd name="T7" fmla="*/ 317 h 1077"/>
                <a:gd name="T8" fmla="*/ 3912 w 4753"/>
                <a:gd name="T9" fmla="*/ 334 h 1077"/>
                <a:gd name="T10" fmla="*/ 3714 w 4753"/>
                <a:gd name="T11" fmla="*/ 341 h 1077"/>
                <a:gd name="T12" fmla="*/ 3668 w 4753"/>
                <a:gd name="T13" fmla="*/ 464 h 1077"/>
                <a:gd name="T14" fmla="*/ 3529 w 4753"/>
                <a:gd name="T15" fmla="*/ 413 h 1077"/>
                <a:gd name="T16" fmla="*/ 3285 w 4753"/>
                <a:gd name="T17" fmla="*/ 413 h 1077"/>
                <a:gd name="T18" fmla="*/ 3072 w 4753"/>
                <a:gd name="T19" fmla="*/ 385 h 1077"/>
                <a:gd name="T20" fmla="*/ 2948 w 4753"/>
                <a:gd name="T21" fmla="*/ 457 h 1077"/>
                <a:gd name="T22" fmla="*/ 2856 w 4753"/>
                <a:gd name="T23" fmla="*/ 583 h 1077"/>
                <a:gd name="T24" fmla="*/ 2797 w 4753"/>
                <a:gd name="T25" fmla="*/ 529 h 1077"/>
                <a:gd name="T26" fmla="*/ 2673 w 4753"/>
                <a:gd name="T27" fmla="*/ 502 h 1077"/>
                <a:gd name="T28" fmla="*/ 2352 w 4753"/>
                <a:gd name="T29" fmla="*/ 729 h 1077"/>
                <a:gd name="T30" fmla="*/ 2167 w 4753"/>
                <a:gd name="T31" fmla="*/ 720 h 1077"/>
                <a:gd name="T32" fmla="*/ 1908 w 4753"/>
                <a:gd name="T33" fmla="*/ 789 h 1077"/>
                <a:gd name="T34" fmla="*/ 1667 w 4753"/>
                <a:gd name="T35" fmla="*/ 771 h 1077"/>
                <a:gd name="T36" fmla="*/ 1448 w 4753"/>
                <a:gd name="T37" fmla="*/ 700 h 1077"/>
                <a:gd name="T38" fmla="*/ 1268 w 4753"/>
                <a:gd name="T39" fmla="*/ 780 h 1077"/>
                <a:gd name="T40" fmla="*/ 1022 w 4753"/>
                <a:gd name="T41" fmla="*/ 771 h 1077"/>
                <a:gd name="T42" fmla="*/ 778 w 4753"/>
                <a:gd name="T43" fmla="*/ 969 h 1077"/>
                <a:gd name="T44" fmla="*/ 534 w 4753"/>
                <a:gd name="T45" fmla="*/ 966 h 1077"/>
                <a:gd name="T46" fmla="*/ 256 w 4753"/>
                <a:gd name="T47" fmla="*/ 996 h 1077"/>
                <a:gd name="T48" fmla="*/ 77 w 4753"/>
                <a:gd name="T49" fmla="*/ 1052 h 1077"/>
                <a:gd name="T50" fmla="*/ 0 w 4753"/>
                <a:gd name="T51" fmla="*/ 1074 h 1077"/>
                <a:gd name="T52" fmla="*/ 4752 w 4753"/>
                <a:gd name="T53" fmla="*/ 1076 h 1077"/>
                <a:gd name="T54" fmla="*/ 4752 w 4753"/>
                <a:gd name="T55" fmla="*/ 0 h 10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4753"/>
                <a:gd name="T85" fmla="*/ 0 h 1077"/>
                <a:gd name="T86" fmla="*/ 4753 w 4753"/>
                <a:gd name="T87" fmla="*/ 1077 h 10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4753" h="1077">
                  <a:moveTo>
                    <a:pt x="4752" y="0"/>
                  </a:moveTo>
                  <a:lnTo>
                    <a:pt x="4369" y="110"/>
                  </a:lnTo>
                  <a:lnTo>
                    <a:pt x="4341" y="191"/>
                  </a:lnTo>
                  <a:lnTo>
                    <a:pt x="4143" y="317"/>
                  </a:lnTo>
                  <a:lnTo>
                    <a:pt x="3912" y="334"/>
                  </a:lnTo>
                  <a:lnTo>
                    <a:pt x="3714" y="341"/>
                  </a:lnTo>
                  <a:lnTo>
                    <a:pt x="3668" y="464"/>
                  </a:lnTo>
                  <a:lnTo>
                    <a:pt x="3529" y="413"/>
                  </a:lnTo>
                  <a:lnTo>
                    <a:pt x="3285" y="413"/>
                  </a:lnTo>
                  <a:lnTo>
                    <a:pt x="3072" y="385"/>
                  </a:lnTo>
                  <a:lnTo>
                    <a:pt x="2948" y="457"/>
                  </a:lnTo>
                  <a:lnTo>
                    <a:pt x="2856" y="583"/>
                  </a:lnTo>
                  <a:lnTo>
                    <a:pt x="2797" y="529"/>
                  </a:lnTo>
                  <a:lnTo>
                    <a:pt x="2673" y="502"/>
                  </a:lnTo>
                  <a:lnTo>
                    <a:pt x="2352" y="729"/>
                  </a:lnTo>
                  <a:lnTo>
                    <a:pt x="2167" y="720"/>
                  </a:lnTo>
                  <a:lnTo>
                    <a:pt x="1908" y="789"/>
                  </a:lnTo>
                  <a:lnTo>
                    <a:pt x="1667" y="771"/>
                  </a:lnTo>
                  <a:lnTo>
                    <a:pt x="1448" y="700"/>
                  </a:lnTo>
                  <a:lnTo>
                    <a:pt x="1268" y="780"/>
                  </a:lnTo>
                  <a:lnTo>
                    <a:pt x="1022" y="771"/>
                  </a:lnTo>
                  <a:lnTo>
                    <a:pt x="778" y="969"/>
                  </a:lnTo>
                  <a:lnTo>
                    <a:pt x="534" y="966"/>
                  </a:lnTo>
                  <a:lnTo>
                    <a:pt x="256" y="996"/>
                  </a:lnTo>
                  <a:lnTo>
                    <a:pt x="77" y="1052"/>
                  </a:lnTo>
                  <a:lnTo>
                    <a:pt x="0" y="1074"/>
                  </a:lnTo>
                  <a:lnTo>
                    <a:pt x="4752" y="1076"/>
                  </a:lnTo>
                  <a:lnTo>
                    <a:pt x="4752" y="0"/>
                  </a:lnTo>
                </a:path>
              </a:pathLst>
            </a:custGeom>
            <a:solidFill>
              <a:srgbClr val="CBCB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100794" tIns="50397" rIns="100794" bIns="50397"/>
            <a:lstStyle/>
            <a:p>
              <a:endParaRPr lang="en-GB"/>
            </a:p>
          </p:txBody>
        </p:sp>
        <p:graphicFrame>
          <p:nvGraphicFramePr>
            <p:cNvPr id="27687" name="Object 6"/>
            <p:cNvGraphicFramePr>
              <a:graphicFrameLocks/>
            </p:cNvGraphicFramePr>
            <p:nvPr/>
          </p:nvGraphicFramePr>
          <p:xfrm>
            <a:off x="4779" y="3414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ｸﾘｯﾌﾟ" r:id="rId4" imgW="2527911" imgH="3658757" progId="MS_ClipArt_Gallery.2">
                    <p:embed/>
                  </p:oleObj>
                </mc:Choice>
                <mc:Fallback>
                  <p:oleObj name="ｸﾘｯﾌﾟ" r:id="rId4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9" y="3414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8" name="Object 7"/>
            <p:cNvGraphicFramePr>
              <a:graphicFrameLocks/>
            </p:cNvGraphicFramePr>
            <p:nvPr/>
          </p:nvGraphicFramePr>
          <p:xfrm>
            <a:off x="219" y="3531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ｸﾘｯﾌﾟ" r:id="rId6" imgW="2527911" imgH="3658757" progId="MS_ClipArt_Gallery.2">
                    <p:embed/>
                  </p:oleObj>
                </mc:Choice>
                <mc:Fallback>
                  <p:oleObj name="ｸﾘｯﾌﾟ" r:id="rId6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" y="3531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689" name="Object 8"/>
            <p:cNvGraphicFramePr>
              <a:graphicFrameLocks/>
            </p:cNvGraphicFramePr>
            <p:nvPr/>
          </p:nvGraphicFramePr>
          <p:xfrm>
            <a:off x="3100" y="3558"/>
            <a:ext cx="478" cy="6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ｸﾘｯﾌﾟ" r:id="rId7" imgW="2527911" imgH="3658757" progId="MS_ClipArt_Gallery.2">
                    <p:embed/>
                  </p:oleObj>
                </mc:Choice>
                <mc:Fallback>
                  <p:oleObj name="ｸﾘｯﾌﾟ" r:id="rId7" imgW="2527911" imgH="3658757" progId="MS_ClipArt_Gallery.2">
                    <p:embed/>
                    <p:pic>
                      <p:nvPicPr>
                        <p:cNvPr id="0" name="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0" y="3558"/>
                          <a:ext cx="478" cy="6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652" name="Group 9"/>
          <p:cNvGrpSpPr>
            <a:grpSpLocks/>
          </p:cNvGrpSpPr>
          <p:nvPr/>
        </p:nvGrpSpPr>
        <p:grpSpPr bwMode="auto">
          <a:xfrm>
            <a:off x="28800" y="776242"/>
            <a:ext cx="9038880" cy="5812450"/>
            <a:chOff x="18" y="489"/>
            <a:chExt cx="5694" cy="3661"/>
          </a:xfrm>
        </p:grpSpPr>
        <p:grpSp>
          <p:nvGrpSpPr>
            <p:cNvPr id="27655" name="Group 10"/>
            <p:cNvGrpSpPr>
              <a:grpSpLocks/>
            </p:cNvGrpSpPr>
            <p:nvPr/>
          </p:nvGrpSpPr>
          <p:grpSpPr bwMode="auto">
            <a:xfrm>
              <a:off x="18" y="489"/>
              <a:ext cx="4896" cy="3005"/>
              <a:chOff x="18" y="489"/>
              <a:chExt cx="4896" cy="3005"/>
            </a:xfrm>
          </p:grpSpPr>
          <p:grpSp>
            <p:nvGrpSpPr>
              <p:cNvPr id="27670" name="Group 11"/>
              <p:cNvGrpSpPr>
                <a:grpSpLocks/>
              </p:cNvGrpSpPr>
              <p:nvPr/>
            </p:nvGrpSpPr>
            <p:grpSpPr bwMode="auto">
              <a:xfrm>
                <a:off x="1741" y="1482"/>
                <a:ext cx="1702" cy="1643"/>
                <a:chOff x="1741" y="1482"/>
                <a:chExt cx="1702" cy="1643"/>
              </a:xfrm>
            </p:grpSpPr>
            <p:sp>
              <p:nvSpPr>
                <p:cNvPr id="27677" name="Oval 12"/>
                <p:cNvSpPr>
                  <a:spLocks noChangeArrowheads="1"/>
                </p:cNvSpPr>
                <p:nvPr/>
              </p:nvSpPr>
              <p:spPr bwMode="auto">
                <a:xfrm>
                  <a:off x="1741" y="1482"/>
                  <a:ext cx="1702" cy="164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grpSp>
              <p:nvGrpSpPr>
                <p:cNvPr id="27678" name="Group 13"/>
                <p:cNvGrpSpPr>
                  <a:grpSpLocks/>
                </p:cNvGrpSpPr>
                <p:nvPr/>
              </p:nvGrpSpPr>
              <p:grpSpPr bwMode="auto">
                <a:xfrm>
                  <a:off x="2088" y="1673"/>
                  <a:ext cx="1008" cy="1261"/>
                  <a:chOff x="2088" y="1673"/>
                  <a:chExt cx="1008" cy="1261"/>
                </a:xfrm>
              </p:grpSpPr>
              <p:pic>
                <p:nvPicPr>
                  <p:cNvPr id="27679" name="Picture 14"/>
                  <p:cNvPicPr>
                    <a:picLocks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088" y="1737"/>
                    <a:ext cx="1008" cy="119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grpSp>
                <p:nvGrpSpPr>
                  <p:cNvPr id="27680" name="Group 15"/>
                  <p:cNvGrpSpPr>
                    <a:grpSpLocks/>
                  </p:cNvGrpSpPr>
                  <p:nvPr/>
                </p:nvGrpSpPr>
                <p:grpSpPr bwMode="auto">
                  <a:xfrm>
                    <a:off x="2549" y="1673"/>
                    <a:ext cx="492" cy="131"/>
                    <a:chOff x="2549" y="1673"/>
                    <a:chExt cx="492" cy="131"/>
                  </a:xfrm>
                </p:grpSpPr>
                <p:sp>
                  <p:nvSpPr>
                    <p:cNvPr id="27681" name="Freeform 16"/>
                    <p:cNvSpPr>
                      <a:spLocks/>
                    </p:cNvSpPr>
                    <p:nvPr/>
                  </p:nvSpPr>
                  <p:spPr bwMode="auto">
                    <a:xfrm>
                      <a:off x="2988" y="1756"/>
                      <a:ext cx="53" cy="24"/>
                    </a:xfrm>
                    <a:custGeom>
                      <a:avLst/>
                      <a:gdLst>
                        <a:gd name="T0" fmla="*/ 0 w 53"/>
                        <a:gd name="T1" fmla="*/ 23 h 24"/>
                        <a:gd name="T2" fmla="*/ 13 w 53"/>
                        <a:gd name="T3" fmla="*/ 10 h 24"/>
                        <a:gd name="T4" fmla="*/ 16 w 53"/>
                        <a:gd name="T5" fmla="*/ 7 h 24"/>
                        <a:gd name="T6" fmla="*/ 18 w 53"/>
                        <a:gd name="T7" fmla="*/ 6 h 24"/>
                        <a:gd name="T8" fmla="*/ 21 w 53"/>
                        <a:gd name="T9" fmla="*/ 4 h 24"/>
                        <a:gd name="T10" fmla="*/ 24 w 53"/>
                        <a:gd name="T11" fmla="*/ 2 h 24"/>
                        <a:gd name="T12" fmla="*/ 27 w 53"/>
                        <a:gd name="T13" fmla="*/ 1 h 24"/>
                        <a:gd name="T14" fmla="*/ 30 w 53"/>
                        <a:gd name="T15" fmla="*/ 0 h 24"/>
                        <a:gd name="T16" fmla="*/ 33 w 53"/>
                        <a:gd name="T17" fmla="*/ 0 h 24"/>
                        <a:gd name="T18" fmla="*/ 37 w 53"/>
                        <a:gd name="T19" fmla="*/ 0 h 24"/>
                        <a:gd name="T20" fmla="*/ 39 w 53"/>
                        <a:gd name="T21" fmla="*/ 0 h 24"/>
                        <a:gd name="T22" fmla="*/ 41 w 53"/>
                        <a:gd name="T23" fmla="*/ 0 h 24"/>
                        <a:gd name="T24" fmla="*/ 44 w 53"/>
                        <a:gd name="T25" fmla="*/ 0 h 24"/>
                        <a:gd name="T26" fmla="*/ 45 w 53"/>
                        <a:gd name="T27" fmla="*/ 1 h 24"/>
                        <a:gd name="T28" fmla="*/ 48 w 53"/>
                        <a:gd name="T29" fmla="*/ 3 h 24"/>
                        <a:gd name="T30" fmla="*/ 50 w 53"/>
                        <a:gd name="T31" fmla="*/ 6 h 24"/>
                        <a:gd name="T32" fmla="*/ 51 w 53"/>
                        <a:gd name="T33" fmla="*/ 7 h 24"/>
                        <a:gd name="T34" fmla="*/ 52 w 53"/>
                        <a:gd name="T35" fmla="*/ 11 h 24"/>
                        <a:gd name="T36" fmla="*/ 51 w 53"/>
                        <a:gd name="T37" fmla="*/ 16 h 24"/>
                        <a:gd name="T38" fmla="*/ 50 w 53"/>
                        <a:gd name="T39" fmla="*/ 18 h 24"/>
                        <a:gd name="T40" fmla="*/ 48 w 53"/>
                        <a:gd name="T41" fmla="*/ 19 h 24"/>
                        <a:gd name="T42" fmla="*/ 44 w 53"/>
                        <a:gd name="T43" fmla="*/ 21 h 24"/>
                        <a:gd name="T44" fmla="*/ 41 w 53"/>
                        <a:gd name="T45" fmla="*/ 22 h 24"/>
                        <a:gd name="T46" fmla="*/ 37 w 53"/>
                        <a:gd name="T47" fmla="*/ 22 h 24"/>
                        <a:gd name="T48" fmla="*/ 33 w 53"/>
                        <a:gd name="T49" fmla="*/ 20 h 24"/>
                        <a:gd name="T50" fmla="*/ 27 w 53"/>
                        <a:gd name="T51" fmla="*/ 19 h 24"/>
                        <a:gd name="T52" fmla="*/ 23 w 53"/>
                        <a:gd name="T53" fmla="*/ 19 h 24"/>
                        <a:gd name="T54" fmla="*/ 17 w 53"/>
                        <a:gd name="T55" fmla="*/ 19 h 24"/>
                        <a:gd name="T56" fmla="*/ 10 w 53"/>
                        <a:gd name="T57" fmla="*/ 19 h 24"/>
                        <a:gd name="T58" fmla="*/ 0 w 53"/>
                        <a:gd name="T59" fmla="*/ 23 h 24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53"/>
                        <a:gd name="T91" fmla="*/ 0 h 24"/>
                        <a:gd name="T92" fmla="*/ 53 w 53"/>
                        <a:gd name="T93" fmla="*/ 24 h 24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53" h="24">
                          <a:moveTo>
                            <a:pt x="0" y="23"/>
                          </a:moveTo>
                          <a:lnTo>
                            <a:pt x="13" y="10"/>
                          </a:lnTo>
                          <a:lnTo>
                            <a:pt x="16" y="7"/>
                          </a:lnTo>
                          <a:lnTo>
                            <a:pt x="18" y="6"/>
                          </a:lnTo>
                          <a:lnTo>
                            <a:pt x="21" y="4"/>
                          </a:lnTo>
                          <a:lnTo>
                            <a:pt x="24" y="2"/>
                          </a:lnTo>
                          <a:lnTo>
                            <a:pt x="27" y="1"/>
                          </a:lnTo>
                          <a:lnTo>
                            <a:pt x="30" y="0"/>
                          </a:lnTo>
                          <a:lnTo>
                            <a:pt x="33" y="0"/>
                          </a:lnTo>
                          <a:lnTo>
                            <a:pt x="37" y="0"/>
                          </a:lnTo>
                          <a:lnTo>
                            <a:pt x="39" y="0"/>
                          </a:lnTo>
                          <a:lnTo>
                            <a:pt x="41" y="0"/>
                          </a:lnTo>
                          <a:lnTo>
                            <a:pt x="44" y="0"/>
                          </a:lnTo>
                          <a:lnTo>
                            <a:pt x="45" y="1"/>
                          </a:lnTo>
                          <a:lnTo>
                            <a:pt x="48" y="3"/>
                          </a:lnTo>
                          <a:lnTo>
                            <a:pt x="50" y="6"/>
                          </a:lnTo>
                          <a:lnTo>
                            <a:pt x="51" y="7"/>
                          </a:lnTo>
                          <a:lnTo>
                            <a:pt x="52" y="11"/>
                          </a:lnTo>
                          <a:lnTo>
                            <a:pt x="51" y="16"/>
                          </a:lnTo>
                          <a:lnTo>
                            <a:pt x="50" y="18"/>
                          </a:lnTo>
                          <a:lnTo>
                            <a:pt x="48" y="19"/>
                          </a:lnTo>
                          <a:lnTo>
                            <a:pt x="44" y="21"/>
                          </a:lnTo>
                          <a:lnTo>
                            <a:pt x="41" y="22"/>
                          </a:lnTo>
                          <a:lnTo>
                            <a:pt x="37" y="22"/>
                          </a:lnTo>
                          <a:lnTo>
                            <a:pt x="33" y="20"/>
                          </a:lnTo>
                          <a:lnTo>
                            <a:pt x="27" y="19"/>
                          </a:lnTo>
                          <a:lnTo>
                            <a:pt x="23" y="19"/>
                          </a:lnTo>
                          <a:lnTo>
                            <a:pt x="17" y="19"/>
                          </a:lnTo>
                          <a:lnTo>
                            <a:pt x="10" y="19"/>
                          </a:lnTo>
                          <a:lnTo>
                            <a:pt x="0" y="23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2" name="Freeform 17"/>
                    <p:cNvSpPr>
                      <a:spLocks/>
                    </p:cNvSpPr>
                    <p:nvPr/>
                  </p:nvSpPr>
                  <p:spPr bwMode="auto">
                    <a:xfrm>
                      <a:off x="2549" y="1781"/>
                      <a:ext cx="35" cy="23"/>
                    </a:xfrm>
                    <a:custGeom>
                      <a:avLst/>
                      <a:gdLst>
                        <a:gd name="T0" fmla="*/ 34 w 35"/>
                        <a:gd name="T1" fmla="*/ 22 h 23"/>
                        <a:gd name="T2" fmla="*/ 25 w 35"/>
                        <a:gd name="T3" fmla="*/ 9 h 23"/>
                        <a:gd name="T4" fmla="*/ 23 w 35"/>
                        <a:gd name="T5" fmla="*/ 6 h 23"/>
                        <a:gd name="T6" fmla="*/ 21 w 35"/>
                        <a:gd name="T7" fmla="*/ 5 h 23"/>
                        <a:gd name="T8" fmla="*/ 21 w 35"/>
                        <a:gd name="T9" fmla="*/ 4 h 23"/>
                        <a:gd name="T10" fmla="*/ 17 w 35"/>
                        <a:gd name="T11" fmla="*/ 1 h 23"/>
                        <a:gd name="T12" fmla="*/ 15 w 35"/>
                        <a:gd name="T13" fmla="*/ 1 h 23"/>
                        <a:gd name="T14" fmla="*/ 13 w 35"/>
                        <a:gd name="T15" fmla="*/ 1 h 23"/>
                        <a:gd name="T16" fmla="*/ 12 w 35"/>
                        <a:gd name="T17" fmla="*/ 0 h 23"/>
                        <a:gd name="T18" fmla="*/ 10 w 35"/>
                        <a:gd name="T19" fmla="*/ 0 h 23"/>
                        <a:gd name="T20" fmla="*/ 8 w 35"/>
                        <a:gd name="T21" fmla="*/ 0 h 23"/>
                        <a:gd name="T22" fmla="*/ 7 w 35"/>
                        <a:gd name="T23" fmla="*/ 0 h 23"/>
                        <a:gd name="T24" fmla="*/ 5 w 35"/>
                        <a:gd name="T25" fmla="*/ 1 h 23"/>
                        <a:gd name="T26" fmla="*/ 3 w 35"/>
                        <a:gd name="T27" fmla="*/ 1 h 23"/>
                        <a:gd name="T28" fmla="*/ 1 w 35"/>
                        <a:gd name="T29" fmla="*/ 3 h 23"/>
                        <a:gd name="T30" fmla="*/ 1 w 35"/>
                        <a:gd name="T31" fmla="*/ 5 h 23"/>
                        <a:gd name="T32" fmla="*/ 0 w 35"/>
                        <a:gd name="T33" fmla="*/ 6 h 23"/>
                        <a:gd name="T34" fmla="*/ 0 w 35"/>
                        <a:gd name="T35" fmla="*/ 12 h 23"/>
                        <a:gd name="T36" fmla="*/ 0 w 35"/>
                        <a:gd name="T37" fmla="*/ 15 h 23"/>
                        <a:gd name="T38" fmla="*/ 1 w 35"/>
                        <a:gd name="T39" fmla="*/ 16 h 23"/>
                        <a:gd name="T40" fmla="*/ 1 w 35"/>
                        <a:gd name="T41" fmla="*/ 19 h 23"/>
                        <a:gd name="T42" fmla="*/ 4 w 35"/>
                        <a:gd name="T43" fmla="*/ 19 h 23"/>
                        <a:gd name="T44" fmla="*/ 7 w 35"/>
                        <a:gd name="T45" fmla="*/ 19 h 23"/>
                        <a:gd name="T46" fmla="*/ 10 w 35"/>
                        <a:gd name="T47" fmla="*/ 19 h 23"/>
                        <a:gd name="T48" fmla="*/ 12 w 35"/>
                        <a:gd name="T49" fmla="*/ 19 h 23"/>
                        <a:gd name="T50" fmla="*/ 15 w 35"/>
                        <a:gd name="T51" fmla="*/ 18 h 23"/>
                        <a:gd name="T52" fmla="*/ 18 w 35"/>
                        <a:gd name="T53" fmla="*/ 18 h 23"/>
                        <a:gd name="T54" fmla="*/ 22 w 35"/>
                        <a:gd name="T55" fmla="*/ 18 h 23"/>
                        <a:gd name="T56" fmla="*/ 27 w 35"/>
                        <a:gd name="T57" fmla="*/ 19 h 23"/>
                        <a:gd name="T58" fmla="*/ 34 w 35"/>
                        <a:gd name="T59" fmla="*/ 22 h 23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w 35"/>
                        <a:gd name="T91" fmla="*/ 0 h 23"/>
                        <a:gd name="T92" fmla="*/ 35 w 35"/>
                        <a:gd name="T93" fmla="*/ 23 h 23"/>
                      </a:gdLst>
                      <a:ahLst/>
                      <a:cxnLst>
                        <a:cxn ang="T60">
                          <a:pos x="T0" y="T1"/>
                        </a:cxn>
                        <a:cxn ang="T61">
                          <a:pos x="T2" y="T3"/>
                        </a:cxn>
                        <a:cxn ang="T62">
                          <a:pos x="T4" y="T5"/>
                        </a:cxn>
                        <a:cxn ang="T63">
                          <a:pos x="T6" y="T7"/>
                        </a:cxn>
                        <a:cxn ang="T64">
                          <a:pos x="T8" y="T9"/>
                        </a:cxn>
                        <a:cxn ang="T65">
                          <a:pos x="T10" y="T11"/>
                        </a:cxn>
                        <a:cxn ang="T66">
                          <a:pos x="T12" y="T13"/>
                        </a:cxn>
                        <a:cxn ang="T67">
                          <a:pos x="T14" y="T15"/>
                        </a:cxn>
                        <a:cxn ang="T68">
                          <a:pos x="T16" y="T17"/>
                        </a:cxn>
                        <a:cxn ang="T69">
                          <a:pos x="T18" y="T19"/>
                        </a:cxn>
                        <a:cxn ang="T70">
                          <a:pos x="T20" y="T21"/>
                        </a:cxn>
                        <a:cxn ang="T71">
                          <a:pos x="T22" y="T23"/>
                        </a:cxn>
                        <a:cxn ang="T72">
                          <a:pos x="T24" y="T25"/>
                        </a:cxn>
                        <a:cxn ang="T73">
                          <a:pos x="T26" y="T27"/>
                        </a:cxn>
                        <a:cxn ang="T74">
                          <a:pos x="T28" y="T29"/>
                        </a:cxn>
                        <a:cxn ang="T75">
                          <a:pos x="T30" y="T31"/>
                        </a:cxn>
                        <a:cxn ang="T76">
                          <a:pos x="T32" y="T33"/>
                        </a:cxn>
                        <a:cxn ang="T77">
                          <a:pos x="T34" y="T35"/>
                        </a:cxn>
                        <a:cxn ang="T78">
                          <a:pos x="T36" y="T37"/>
                        </a:cxn>
                        <a:cxn ang="T79">
                          <a:pos x="T38" y="T39"/>
                        </a:cxn>
                        <a:cxn ang="T80">
                          <a:pos x="T40" y="T41"/>
                        </a:cxn>
                        <a:cxn ang="T81">
                          <a:pos x="T42" y="T43"/>
                        </a:cxn>
                        <a:cxn ang="T82">
                          <a:pos x="T44" y="T45"/>
                        </a:cxn>
                        <a:cxn ang="T83">
                          <a:pos x="T46" y="T47"/>
                        </a:cxn>
                        <a:cxn ang="T84">
                          <a:pos x="T48" y="T49"/>
                        </a:cxn>
                        <a:cxn ang="T85">
                          <a:pos x="T50" y="T51"/>
                        </a:cxn>
                        <a:cxn ang="T86">
                          <a:pos x="T52" y="T53"/>
                        </a:cxn>
                        <a:cxn ang="T87">
                          <a:pos x="T54" y="T55"/>
                        </a:cxn>
                        <a:cxn ang="T88">
                          <a:pos x="T56" y="T57"/>
                        </a:cxn>
                        <a:cxn ang="T89">
                          <a:pos x="T58" y="T59"/>
                        </a:cxn>
                      </a:cxnLst>
                      <a:rect l="T90" t="T91" r="T92" b="T93"/>
                      <a:pathLst>
                        <a:path w="35" h="23">
                          <a:moveTo>
                            <a:pt x="34" y="22"/>
                          </a:moveTo>
                          <a:lnTo>
                            <a:pt x="25" y="9"/>
                          </a:lnTo>
                          <a:lnTo>
                            <a:pt x="23" y="6"/>
                          </a:lnTo>
                          <a:lnTo>
                            <a:pt x="21" y="5"/>
                          </a:lnTo>
                          <a:lnTo>
                            <a:pt x="21" y="4"/>
                          </a:lnTo>
                          <a:lnTo>
                            <a:pt x="17" y="1"/>
                          </a:lnTo>
                          <a:lnTo>
                            <a:pt x="15" y="1"/>
                          </a:lnTo>
                          <a:lnTo>
                            <a:pt x="13" y="1"/>
                          </a:lnTo>
                          <a:lnTo>
                            <a:pt x="12" y="0"/>
                          </a:lnTo>
                          <a:lnTo>
                            <a:pt x="10" y="0"/>
                          </a:lnTo>
                          <a:lnTo>
                            <a:pt x="8" y="0"/>
                          </a:lnTo>
                          <a:lnTo>
                            <a:pt x="7" y="0"/>
                          </a:lnTo>
                          <a:lnTo>
                            <a:pt x="5" y="1"/>
                          </a:lnTo>
                          <a:lnTo>
                            <a:pt x="3" y="1"/>
                          </a:lnTo>
                          <a:lnTo>
                            <a:pt x="1" y="3"/>
                          </a:lnTo>
                          <a:lnTo>
                            <a:pt x="1" y="5"/>
                          </a:lnTo>
                          <a:lnTo>
                            <a:pt x="0" y="6"/>
                          </a:lnTo>
                          <a:lnTo>
                            <a:pt x="0" y="12"/>
                          </a:lnTo>
                          <a:lnTo>
                            <a:pt x="0" y="15"/>
                          </a:lnTo>
                          <a:lnTo>
                            <a:pt x="1" y="16"/>
                          </a:lnTo>
                          <a:lnTo>
                            <a:pt x="1" y="19"/>
                          </a:lnTo>
                          <a:lnTo>
                            <a:pt x="4" y="19"/>
                          </a:lnTo>
                          <a:lnTo>
                            <a:pt x="7" y="19"/>
                          </a:lnTo>
                          <a:lnTo>
                            <a:pt x="10" y="19"/>
                          </a:lnTo>
                          <a:lnTo>
                            <a:pt x="12" y="19"/>
                          </a:lnTo>
                          <a:lnTo>
                            <a:pt x="15" y="18"/>
                          </a:lnTo>
                          <a:lnTo>
                            <a:pt x="18" y="18"/>
                          </a:lnTo>
                          <a:lnTo>
                            <a:pt x="22" y="18"/>
                          </a:lnTo>
                          <a:lnTo>
                            <a:pt x="27" y="19"/>
                          </a:lnTo>
                          <a:lnTo>
                            <a:pt x="34" y="2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3" name="Freeform 18"/>
                    <p:cNvSpPr>
                      <a:spLocks/>
                    </p:cNvSpPr>
                    <p:nvPr/>
                  </p:nvSpPr>
                  <p:spPr bwMode="auto">
                    <a:xfrm>
                      <a:off x="2873" y="1673"/>
                      <a:ext cx="56" cy="42"/>
                    </a:xfrm>
                    <a:custGeom>
                      <a:avLst/>
                      <a:gdLst>
                        <a:gd name="T0" fmla="*/ 0 w 56"/>
                        <a:gd name="T1" fmla="*/ 41 h 42"/>
                        <a:gd name="T2" fmla="*/ 2 w 56"/>
                        <a:gd name="T3" fmla="*/ 35 h 42"/>
                        <a:gd name="T4" fmla="*/ 3 w 56"/>
                        <a:gd name="T5" fmla="*/ 26 h 42"/>
                        <a:gd name="T6" fmla="*/ 7 w 56"/>
                        <a:gd name="T7" fmla="*/ 21 h 42"/>
                        <a:gd name="T8" fmla="*/ 11 w 56"/>
                        <a:gd name="T9" fmla="*/ 14 h 42"/>
                        <a:gd name="T10" fmla="*/ 15 w 56"/>
                        <a:gd name="T11" fmla="*/ 9 h 42"/>
                        <a:gd name="T12" fmla="*/ 18 w 56"/>
                        <a:gd name="T13" fmla="*/ 6 h 42"/>
                        <a:gd name="T14" fmla="*/ 22 w 56"/>
                        <a:gd name="T15" fmla="*/ 3 h 42"/>
                        <a:gd name="T16" fmla="*/ 27 w 56"/>
                        <a:gd name="T17" fmla="*/ 1 h 42"/>
                        <a:gd name="T18" fmla="*/ 32 w 56"/>
                        <a:gd name="T19" fmla="*/ 0 h 42"/>
                        <a:gd name="T20" fmla="*/ 37 w 56"/>
                        <a:gd name="T21" fmla="*/ 0 h 42"/>
                        <a:gd name="T22" fmla="*/ 43 w 56"/>
                        <a:gd name="T23" fmla="*/ 0 h 42"/>
                        <a:gd name="T24" fmla="*/ 48 w 56"/>
                        <a:gd name="T25" fmla="*/ 0 h 42"/>
                        <a:gd name="T26" fmla="*/ 50 w 56"/>
                        <a:gd name="T27" fmla="*/ 2 h 42"/>
                        <a:gd name="T28" fmla="*/ 53 w 56"/>
                        <a:gd name="T29" fmla="*/ 3 h 42"/>
                        <a:gd name="T30" fmla="*/ 53 w 56"/>
                        <a:gd name="T31" fmla="*/ 5 h 42"/>
                        <a:gd name="T32" fmla="*/ 55 w 56"/>
                        <a:gd name="T33" fmla="*/ 7 h 42"/>
                        <a:gd name="T34" fmla="*/ 55 w 56"/>
                        <a:gd name="T35" fmla="*/ 9 h 42"/>
                        <a:gd name="T36" fmla="*/ 55 w 56"/>
                        <a:gd name="T37" fmla="*/ 12 h 42"/>
                        <a:gd name="T38" fmla="*/ 53 w 56"/>
                        <a:gd name="T39" fmla="*/ 16 h 42"/>
                        <a:gd name="T40" fmla="*/ 52 w 56"/>
                        <a:gd name="T41" fmla="*/ 18 h 42"/>
                        <a:gd name="T42" fmla="*/ 50 w 56"/>
                        <a:gd name="T43" fmla="*/ 19 h 42"/>
                        <a:gd name="T44" fmla="*/ 48 w 56"/>
                        <a:gd name="T45" fmla="*/ 19 h 42"/>
                        <a:gd name="T46" fmla="*/ 46 w 56"/>
                        <a:gd name="T47" fmla="*/ 21 h 42"/>
                        <a:gd name="T48" fmla="*/ 43 w 56"/>
                        <a:gd name="T49" fmla="*/ 21 h 42"/>
                        <a:gd name="T50" fmla="*/ 40 w 56"/>
                        <a:gd name="T51" fmla="*/ 22 h 42"/>
                        <a:gd name="T52" fmla="*/ 36 w 56"/>
                        <a:gd name="T53" fmla="*/ 22 h 42"/>
                        <a:gd name="T54" fmla="*/ 33 w 56"/>
                        <a:gd name="T55" fmla="*/ 21 h 42"/>
                        <a:gd name="T56" fmla="*/ 29 w 56"/>
                        <a:gd name="T57" fmla="*/ 21 h 42"/>
                        <a:gd name="T58" fmla="*/ 25 w 56"/>
                        <a:gd name="T59" fmla="*/ 22 h 42"/>
                        <a:gd name="T60" fmla="*/ 21 w 56"/>
                        <a:gd name="T61" fmla="*/ 23 h 42"/>
                        <a:gd name="T62" fmla="*/ 18 w 56"/>
                        <a:gd name="T63" fmla="*/ 26 h 42"/>
                        <a:gd name="T64" fmla="*/ 14 w 56"/>
                        <a:gd name="T65" fmla="*/ 27 h 42"/>
                        <a:gd name="T66" fmla="*/ 10 w 56"/>
                        <a:gd name="T67" fmla="*/ 31 h 42"/>
                        <a:gd name="T68" fmla="*/ 5 w 56"/>
                        <a:gd name="T69" fmla="*/ 33 h 42"/>
                        <a:gd name="T70" fmla="*/ 3 w 56"/>
                        <a:gd name="T71" fmla="*/ 37 h 42"/>
                        <a:gd name="T72" fmla="*/ 0 w 56"/>
                        <a:gd name="T73" fmla="*/ 41 h 42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6"/>
                        <a:gd name="T112" fmla="*/ 0 h 42"/>
                        <a:gd name="T113" fmla="*/ 56 w 56"/>
                        <a:gd name="T114" fmla="*/ 42 h 42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6" h="42">
                          <a:moveTo>
                            <a:pt x="0" y="41"/>
                          </a:moveTo>
                          <a:lnTo>
                            <a:pt x="2" y="35"/>
                          </a:lnTo>
                          <a:lnTo>
                            <a:pt x="3" y="26"/>
                          </a:lnTo>
                          <a:lnTo>
                            <a:pt x="7" y="21"/>
                          </a:lnTo>
                          <a:lnTo>
                            <a:pt x="11" y="14"/>
                          </a:lnTo>
                          <a:lnTo>
                            <a:pt x="15" y="9"/>
                          </a:lnTo>
                          <a:lnTo>
                            <a:pt x="18" y="6"/>
                          </a:lnTo>
                          <a:lnTo>
                            <a:pt x="22" y="3"/>
                          </a:lnTo>
                          <a:lnTo>
                            <a:pt x="27" y="1"/>
                          </a:lnTo>
                          <a:lnTo>
                            <a:pt x="32" y="0"/>
                          </a:lnTo>
                          <a:lnTo>
                            <a:pt x="37" y="0"/>
                          </a:lnTo>
                          <a:lnTo>
                            <a:pt x="43" y="0"/>
                          </a:lnTo>
                          <a:lnTo>
                            <a:pt x="48" y="0"/>
                          </a:lnTo>
                          <a:lnTo>
                            <a:pt x="50" y="2"/>
                          </a:lnTo>
                          <a:lnTo>
                            <a:pt x="53" y="3"/>
                          </a:lnTo>
                          <a:lnTo>
                            <a:pt x="53" y="5"/>
                          </a:lnTo>
                          <a:lnTo>
                            <a:pt x="55" y="7"/>
                          </a:lnTo>
                          <a:lnTo>
                            <a:pt x="55" y="9"/>
                          </a:lnTo>
                          <a:lnTo>
                            <a:pt x="55" y="12"/>
                          </a:lnTo>
                          <a:lnTo>
                            <a:pt x="53" y="16"/>
                          </a:lnTo>
                          <a:lnTo>
                            <a:pt x="52" y="18"/>
                          </a:lnTo>
                          <a:lnTo>
                            <a:pt x="50" y="19"/>
                          </a:lnTo>
                          <a:lnTo>
                            <a:pt x="48" y="19"/>
                          </a:lnTo>
                          <a:lnTo>
                            <a:pt x="46" y="21"/>
                          </a:lnTo>
                          <a:lnTo>
                            <a:pt x="43" y="21"/>
                          </a:lnTo>
                          <a:lnTo>
                            <a:pt x="40" y="22"/>
                          </a:lnTo>
                          <a:lnTo>
                            <a:pt x="36" y="22"/>
                          </a:lnTo>
                          <a:lnTo>
                            <a:pt x="33" y="21"/>
                          </a:lnTo>
                          <a:lnTo>
                            <a:pt x="29" y="21"/>
                          </a:lnTo>
                          <a:lnTo>
                            <a:pt x="25" y="22"/>
                          </a:lnTo>
                          <a:lnTo>
                            <a:pt x="21" y="23"/>
                          </a:lnTo>
                          <a:lnTo>
                            <a:pt x="18" y="26"/>
                          </a:lnTo>
                          <a:lnTo>
                            <a:pt x="14" y="27"/>
                          </a:lnTo>
                          <a:lnTo>
                            <a:pt x="10" y="31"/>
                          </a:lnTo>
                          <a:lnTo>
                            <a:pt x="5" y="33"/>
                          </a:lnTo>
                          <a:lnTo>
                            <a:pt x="3" y="37"/>
                          </a:lnTo>
                          <a:lnTo>
                            <a:pt x="0" y="41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  <p:sp>
                  <p:nvSpPr>
                    <p:cNvPr id="27684" name="Freeform 19"/>
                    <p:cNvSpPr>
                      <a:spLocks/>
                    </p:cNvSpPr>
                    <p:nvPr/>
                  </p:nvSpPr>
                  <p:spPr bwMode="auto">
                    <a:xfrm>
                      <a:off x="2617" y="1678"/>
                      <a:ext cx="59" cy="43"/>
                    </a:xfrm>
                    <a:custGeom>
                      <a:avLst/>
                      <a:gdLst>
                        <a:gd name="T0" fmla="*/ 58 w 59"/>
                        <a:gd name="T1" fmla="*/ 42 h 43"/>
                        <a:gd name="T2" fmla="*/ 54 w 59"/>
                        <a:gd name="T3" fmla="*/ 36 h 43"/>
                        <a:gd name="T4" fmla="*/ 53 w 59"/>
                        <a:gd name="T5" fmla="*/ 28 h 43"/>
                        <a:gd name="T6" fmla="*/ 50 w 59"/>
                        <a:gd name="T7" fmla="*/ 21 h 43"/>
                        <a:gd name="T8" fmla="*/ 45 w 59"/>
                        <a:gd name="T9" fmla="*/ 16 h 43"/>
                        <a:gd name="T10" fmla="*/ 40 w 59"/>
                        <a:gd name="T11" fmla="*/ 10 h 43"/>
                        <a:gd name="T12" fmla="*/ 37 w 59"/>
                        <a:gd name="T13" fmla="*/ 7 h 43"/>
                        <a:gd name="T14" fmla="*/ 33 w 59"/>
                        <a:gd name="T15" fmla="*/ 4 h 43"/>
                        <a:gd name="T16" fmla="*/ 28 w 59"/>
                        <a:gd name="T17" fmla="*/ 2 h 43"/>
                        <a:gd name="T18" fmla="*/ 23 w 59"/>
                        <a:gd name="T19" fmla="*/ 0 h 43"/>
                        <a:gd name="T20" fmla="*/ 17 w 59"/>
                        <a:gd name="T21" fmla="*/ 0 h 43"/>
                        <a:gd name="T22" fmla="*/ 11 w 59"/>
                        <a:gd name="T23" fmla="*/ 0 h 43"/>
                        <a:gd name="T24" fmla="*/ 6 w 59"/>
                        <a:gd name="T25" fmla="*/ 1 h 43"/>
                        <a:gd name="T26" fmla="*/ 4 w 59"/>
                        <a:gd name="T27" fmla="*/ 2 h 43"/>
                        <a:gd name="T28" fmla="*/ 0 w 59"/>
                        <a:gd name="T29" fmla="*/ 4 h 43"/>
                        <a:gd name="T30" fmla="*/ 0 w 59"/>
                        <a:gd name="T31" fmla="*/ 5 h 43"/>
                        <a:gd name="T32" fmla="*/ 0 w 59"/>
                        <a:gd name="T33" fmla="*/ 7 h 43"/>
                        <a:gd name="T34" fmla="*/ 0 w 59"/>
                        <a:gd name="T35" fmla="*/ 10 h 43"/>
                        <a:gd name="T36" fmla="*/ 0 w 59"/>
                        <a:gd name="T37" fmla="*/ 13 h 43"/>
                        <a:gd name="T38" fmla="*/ 0 w 59"/>
                        <a:gd name="T39" fmla="*/ 16 h 43"/>
                        <a:gd name="T40" fmla="*/ 3 w 59"/>
                        <a:gd name="T41" fmla="*/ 17 h 43"/>
                        <a:gd name="T42" fmla="*/ 4 w 59"/>
                        <a:gd name="T43" fmla="*/ 20 h 43"/>
                        <a:gd name="T44" fmla="*/ 6 w 59"/>
                        <a:gd name="T45" fmla="*/ 21 h 43"/>
                        <a:gd name="T46" fmla="*/ 9 w 59"/>
                        <a:gd name="T47" fmla="*/ 21 h 43"/>
                        <a:gd name="T48" fmla="*/ 12 w 59"/>
                        <a:gd name="T49" fmla="*/ 21 h 43"/>
                        <a:gd name="T50" fmla="*/ 15 w 59"/>
                        <a:gd name="T51" fmla="*/ 23 h 43"/>
                        <a:gd name="T52" fmla="*/ 17 w 59"/>
                        <a:gd name="T53" fmla="*/ 23 h 43"/>
                        <a:gd name="T54" fmla="*/ 22 w 59"/>
                        <a:gd name="T55" fmla="*/ 23 h 43"/>
                        <a:gd name="T56" fmla="*/ 25 w 59"/>
                        <a:gd name="T57" fmla="*/ 21 h 43"/>
                        <a:gd name="T58" fmla="*/ 31 w 59"/>
                        <a:gd name="T59" fmla="*/ 23 h 43"/>
                        <a:gd name="T60" fmla="*/ 35 w 59"/>
                        <a:gd name="T61" fmla="*/ 24 h 43"/>
                        <a:gd name="T62" fmla="*/ 39 w 59"/>
                        <a:gd name="T63" fmla="*/ 26 h 43"/>
                        <a:gd name="T64" fmla="*/ 42 w 59"/>
                        <a:gd name="T65" fmla="*/ 28 h 43"/>
                        <a:gd name="T66" fmla="*/ 47 w 59"/>
                        <a:gd name="T67" fmla="*/ 31 h 43"/>
                        <a:gd name="T68" fmla="*/ 50 w 59"/>
                        <a:gd name="T69" fmla="*/ 34 h 43"/>
                        <a:gd name="T70" fmla="*/ 53 w 59"/>
                        <a:gd name="T71" fmla="*/ 37 h 43"/>
                        <a:gd name="T72" fmla="*/ 58 w 59"/>
                        <a:gd name="T73" fmla="*/ 42 h 43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60000 65536"/>
                        <a:gd name="T82" fmla="*/ 0 60000 65536"/>
                        <a:gd name="T83" fmla="*/ 0 60000 65536"/>
                        <a:gd name="T84" fmla="*/ 0 60000 65536"/>
                        <a:gd name="T85" fmla="*/ 0 60000 65536"/>
                        <a:gd name="T86" fmla="*/ 0 60000 65536"/>
                        <a:gd name="T87" fmla="*/ 0 60000 65536"/>
                        <a:gd name="T88" fmla="*/ 0 60000 65536"/>
                        <a:gd name="T89" fmla="*/ 0 60000 65536"/>
                        <a:gd name="T90" fmla="*/ 0 60000 65536"/>
                        <a:gd name="T91" fmla="*/ 0 60000 65536"/>
                        <a:gd name="T92" fmla="*/ 0 60000 65536"/>
                        <a:gd name="T93" fmla="*/ 0 60000 65536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w 59"/>
                        <a:gd name="T112" fmla="*/ 0 h 43"/>
                        <a:gd name="T113" fmla="*/ 59 w 59"/>
                        <a:gd name="T114" fmla="*/ 43 h 43"/>
                      </a:gdLst>
                      <a:ahLst/>
                      <a:cxnLst>
                        <a:cxn ang="T74">
                          <a:pos x="T0" y="T1"/>
                        </a:cxn>
                        <a:cxn ang="T75">
                          <a:pos x="T2" y="T3"/>
                        </a:cxn>
                        <a:cxn ang="T76">
                          <a:pos x="T4" y="T5"/>
                        </a:cxn>
                        <a:cxn ang="T77">
                          <a:pos x="T6" y="T7"/>
                        </a:cxn>
                        <a:cxn ang="T78">
                          <a:pos x="T8" y="T9"/>
                        </a:cxn>
                        <a:cxn ang="T79">
                          <a:pos x="T10" y="T11"/>
                        </a:cxn>
                        <a:cxn ang="T80">
                          <a:pos x="T12" y="T13"/>
                        </a:cxn>
                        <a:cxn ang="T81">
                          <a:pos x="T14" y="T15"/>
                        </a:cxn>
                        <a:cxn ang="T82">
                          <a:pos x="T16" y="T17"/>
                        </a:cxn>
                        <a:cxn ang="T83">
                          <a:pos x="T18" y="T19"/>
                        </a:cxn>
                        <a:cxn ang="T84">
                          <a:pos x="T20" y="T21"/>
                        </a:cxn>
                        <a:cxn ang="T85">
                          <a:pos x="T22" y="T23"/>
                        </a:cxn>
                        <a:cxn ang="T86">
                          <a:pos x="T24" y="T25"/>
                        </a:cxn>
                        <a:cxn ang="T87">
                          <a:pos x="T26" y="T27"/>
                        </a:cxn>
                        <a:cxn ang="T88">
                          <a:pos x="T28" y="T29"/>
                        </a:cxn>
                        <a:cxn ang="T89">
                          <a:pos x="T30" y="T31"/>
                        </a:cxn>
                        <a:cxn ang="T90">
                          <a:pos x="T32" y="T33"/>
                        </a:cxn>
                        <a:cxn ang="T91">
                          <a:pos x="T34" y="T35"/>
                        </a:cxn>
                        <a:cxn ang="T92">
                          <a:pos x="T36" y="T37"/>
                        </a:cxn>
                        <a:cxn ang="T93">
                          <a:pos x="T38" y="T39"/>
                        </a:cxn>
                        <a:cxn ang="T94">
                          <a:pos x="T40" y="T41"/>
                        </a:cxn>
                        <a:cxn ang="T95">
                          <a:pos x="T42" y="T43"/>
                        </a:cxn>
                        <a:cxn ang="T96">
                          <a:pos x="T44" y="T45"/>
                        </a:cxn>
                        <a:cxn ang="T97">
                          <a:pos x="T46" y="T47"/>
                        </a:cxn>
                        <a:cxn ang="T98">
                          <a:pos x="T48" y="T49"/>
                        </a:cxn>
                        <a:cxn ang="T99">
                          <a:pos x="T50" y="T51"/>
                        </a:cxn>
                        <a:cxn ang="T100">
                          <a:pos x="T52" y="T53"/>
                        </a:cxn>
                        <a:cxn ang="T101">
                          <a:pos x="T54" y="T55"/>
                        </a:cxn>
                        <a:cxn ang="T102">
                          <a:pos x="T56" y="T57"/>
                        </a:cxn>
                        <a:cxn ang="T103">
                          <a:pos x="T58" y="T59"/>
                        </a:cxn>
                        <a:cxn ang="T104">
                          <a:pos x="T60" y="T61"/>
                        </a:cxn>
                        <a:cxn ang="T105">
                          <a:pos x="T62" y="T63"/>
                        </a:cxn>
                        <a:cxn ang="T106">
                          <a:pos x="T64" y="T65"/>
                        </a:cxn>
                        <a:cxn ang="T107">
                          <a:pos x="T66" y="T67"/>
                        </a:cxn>
                        <a:cxn ang="T108">
                          <a:pos x="T68" y="T69"/>
                        </a:cxn>
                        <a:cxn ang="T109">
                          <a:pos x="T70" y="T71"/>
                        </a:cxn>
                        <a:cxn ang="T110">
                          <a:pos x="T72" y="T73"/>
                        </a:cxn>
                      </a:cxnLst>
                      <a:rect l="T111" t="T112" r="T113" b="T114"/>
                      <a:pathLst>
                        <a:path w="59" h="43">
                          <a:moveTo>
                            <a:pt x="58" y="42"/>
                          </a:moveTo>
                          <a:lnTo>
                            <a:pt x="54" y="36"/>
                          </a:lnTo>
                          <a:lnTo>
                            <a:pt x="53" y="28"/>
                          </a:lnTo>
                          <a:lnTo>
                            <a:pt x="50" y="21"/>
                          </a:lnTo>
                          <a:lnTo>
                            <a:pt x="45" y="16"/>
                          </a:lnTo>
                          <a:lnTo>
                            <a:pt x="40" y="10"/>
                          </a:lnTo>
                          <a:lnTo>
                            <a:pt x="37" y="7"/>
                          </a:lnTo>
                          <a:lnTo>
                            <a:pt x="33" y="4"/>
                          </a:lnTo>
                          <a:lnTo>
                            <a:pt x="28" y="2"/>
                          </a:lnTo>
                          <a:lnTo>
                            <a:pt x="23" y="0"/>
                          </a:lnTo>
                          <a:lnTo>
                            <a:pt x="17" y="0"/>
                          </a:lnTo>
                          <a:lnTo>
                            <a:pt x="11" y="0"/>
                          </a:lnTo>
                          <a:lnTo>
                            <a:pt x="6" y="1"/>
                          </a:lnTo>
                          <a:lnTo>
                            <a:pt x="4" y="2"/>
                          </a:lnTo>
                          <a:lnTo>
                            <a:pt x="0" y="4"/>
                          </a:lnTo>
                          <a:lnTo>
                            <a:pt x="0" y="5"/>
                          </a:lnTo>
                          <a:lnTo>
                            <a:pt x="0" y="7"/>
                          </a:lnTo>
                          <a:lnTo>
                            <a:pt x="0" y="10"/>
                          </a:lnTo>
                          <a:lnTo>
                            <a:pt x="0" y="13"/>
                          </a:lnTo>
                          <a:lnTo>
                            <a:pt x="0" y="16"/>
                          </a:lnTo>
                          <a:lnTo>
                            <a:pt x="3" y="17"/>
                          </a:lnTo>
                          <a:lnTo>
                            <a:pt x="4" y="20"/>
                          </a:lnTo>
                          <a:lnTo>
                            <a:pt x="6" y="21"/>
                          </a:lnTo>
                          <a:lnTo>
                            <a:pt x="9" y="21"/>
                          </a:lnTo>
                          <a:lnTo>
                            <a:pt x="12" y="21"/>
                          </a:lnTo>
                          <a:lnTo>
                            <a:pt x="15" y="23"/>
                          </a:lnTo>
                          <a:lnTo>
                            <a:pt x="17" y="23"/>
                          </a:lnTo>
                          <a:lnTo>
                            <a:pt x="22" y="23"/>
                          </a:lnTo>
                          <a:lnTo>
                            <a:pt x="25" y="21"/>
                          </a:lnTo>
                          <a:lnTo>
                            <a:pt x="31" y="23"/>
                          </a:lnTo>
                          <a:lnTo>
                            <a:pt x="35" y="24"/>
                          </a:lnTo>
                          <a:lnTo>
                            <a:pt x="39" y="26"/>
                          </a:lnTo>
                          <a:lnTo>
                            <a:pt x="42" y="28"/>
                          </a:lnTo>
                          <a:lnTo>
                            <a:pt x="47" y="31"/>
                          </a:lnTo>
                          <a:lnTo>
                            <a:pt x="50" y="34"/>
                          </a:lnTo>
                          <a:lnTo>
                            <a:pt x="53" y="37"/>
                          </a:lnTo>
                          <a:lnTo>
                            <a:pt x="58" y="42"/>
                          </a:lnTo>
                        </a:path>
                      </a:pathLst>
                    </a:custGeom>
                    <a:solidFill>
                      <a:srgbClr val="C0FFFF"/>
                    </a:solidFill>
                    <a:ln w="12700" cap="rnd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 lIns="100794" tIns="50397" rIns="100794" bIns="50397"/>
                    <a:lstStyle/>
                    <a:p>
                      <a:endParaRPr lang="en-GB"/>
                    </a:p>
                  </p:txBody>
                </p:sp>
              </p:grpSp>
            </p:grpSp>
          </p:grpSp>
          <p:grpSp>
            <p:nvGrpSpPr>
              <p:cNvPr id="27671" name="Group 20"/>
              <p:cNvGrpSpPr>
                <a:grpSpLocks/>
              </p:cNvGrpSpPr>
              <p:nvPr/>
            </p:nvGrpSpPr>
            <p:grpSpPr bwMode="auto">
              <a:xfrm>
                <a:off x="3234" y="489"/>
                <a:ext cx="1680" cy="1613"/>
                <a:chOff x="3234" y="489"/>
                <a:chExt cx="1680" cy="1613"/>
              </a:xfrm>
            </p:grpSpPr>
            <p:sp>
              <p:nvSpPr>
                <p:cNvPr id="27675" name="Oval 21"/>
                <p:cNvSpPr>
                  <a:spLocks noChangeArrowheads="1"/>
                </p:cNvSpPr>
                <p:nvPr/>
              </p:nvSpPr>
              <p:spPr bwMode="auto">
                <a:xfrm>
                  <a:off x="3234" y="489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6" name="Picture 22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490" y="760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27672" name="Group 23"/>
              <p:cNvGrpSpPr>
                <a:grpSpLocks/>
              </p:cNvGrpSpPr>
              <p:nvPr/>
            </p:nvGrpSpPr>
            <p:grpSpPr bwMode="auto">
              <a:xfrm>
                <a:off x="18" y="1881"/>
                <a:ext cx="1680" cy="1613"/>
                <a:chOff x="18" y="1881"/>
                <a:chExt cx="1680" cy="1613"/>
              </a:xfrm>
            </p:grpSpPr>
            <p:sp>
              <p:nvSpPr>
                <p:cNvPr id="27673" name="Oval 24"/>
                <p:cNvSpPr>
                  <a:spLocks noChangeArrowheads="1"/>
                </p:cNvSpPr>
                <p:nvPr/>
              </p:nvSpPr>
              <p:spPr bwMode="auto">
                <a:xfrm>
                  <a:off x="18" y="1881"/>
                  <a:ext cx="1680" cy="1613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100794" tIns="50397" rIns="100794" bIns="50397" anchor="ctr"/>
                <a:lstStyle/>
                <a:p>
                  <a:pPr defTabSz="914414"/>
                  <a:endParaRPr lang="en-US"/>
                </a:p>
              </p:txBody>
            </p:sp>
            <p:pic>
              <p:nvPicPr>
                <p:cNvPr id="27674" name="Picture 25"/>
                <p:cNvPicPr>
                  <a:picLocks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4" y="2152"/>
                  <a:ext cx="1178" cy="10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sp>
          <p:nvSpPr>
            <p:cNvPr id="27656" name="Rectangle 26"/>
            <p:cNvSpPr>
              <a:spLocks noChangeArrowheads="1"/>
            </p:cNvSpPr>
            <p:nvPr/>
          </p:nvSpPr>
          <p:spPr bwMode="auto">
            <a:xfrm rot="21120000">
              <a:off x="2868" y="2446"/>
              <a:ext cx="142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NEW STANDARD</a:t>
              </a:r>
            </a:p>
          </p:txBody>
        </p:sp>
        <p:sp>
          <p:nvSpPr>
            <p:cNvPr id="27657" name="Rectangle 27"/>
            <p:cNvSpPr>
              <a:spLocks noChangeArrowheads="1"/>
            </p:cNvSpPr>
            <p:nvPr/>
          </p:nvSpPr>
          <p:spPr bwMode="auto">
            <a:xfrm>
              <a:off x="2001" y="3238"/>
              <a:ext cx="1248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58" name="Line 28"/>
            <p:cNvSpPr>
              <a:spLocks noChangeShapeType="1"/>
            </p:cNvSpPr>
            <p:nvPr/>
          </p:nvSpPr>
          <p:spPr bwMode="auto">
            <a:xfrm>
              <a:off x="1089" y="3216"/>
              <a:ext cx="3768" cy="0"/>
            </a:xfrm>
            <a:prstGeom prst="line">
              <a:avLst/>
            </a:prstGeom>
            <a:noFill/>
            <a:ln w="25400">
              <a:solidFill>
                <a:srgbClr val="CCFFFF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59" name="Rectangle 29"/>
            <p:cNvSpPr>
              <a:spLocks noChangeArrowheads="1"/>
            </p:cNvSpPr>
            <p:nvPr/>
          </p:nvSpPr>
          <p:spPr bwMode="auto">
            <a:xfrm>
              <a:off x="1137" y="3670"/>
              <a:ext cx="134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0" name="Rectangle 30"/>
            <p:cNvSpPr>
              <a:spLocks noChangeArrowheads="1"/>
            </p:cNvSpPr>
            <p:nvPr/>
          </p:nvSpPr>
          <p:spPr bwMode="auto">
            <a:xfrm>
              <a:off x="4352" y="2160"/>
              <a:ext cx="1360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INNOVATION</a:t>
              </a:r>
            </a:p>
          </p:txBody>
        </p:sp>
        <p:sp>
          <p:nvSpPr>
            <p:cNvPr id="27661" name="Rectangle 31"/>
            <p:cNvSpPr>
              <a:spLocks noChangeArrowheads="1"/>
            </p:cNvSpPr>
            <p:nvPr/>
          </p:nvSpPr>
          <p:spPr bwMode="auto">
            <a:xfrm>
              <a:off x="4305" y="2854"/>
              <a:ext cx="864" cy="2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defTabSz="914414">
                <a:spcBef>
                  <a:spcPct val="50000"/>
                </a:spcBef>
              </a:pPr>
              <a:r>
                <a:rPr kumimoji="1" lang="en-US" altLang="ja-JP" sz="2000" b="1" i="1">
                  <a:latin typeface="Arial Black" pitchFamily="34" charset="0"/>
                  <a:ea typeface="HG明朝B"/>
                  <a:cs typeface="HG明朝B"/>
                </a:rPr>
                <a:t>KAIZEN</a:t>
              </a:r>
            </a:p>
          </p:txBody>
        </p:sp>
        <p:sp>
          <p:nvSpPr>
            <p:cNvPr id="27662" name="Line 32"/>
            <p:cNvSpPr>
              <a:spLocks noChangeShapeType="1"/>
            </p:cNvSpPr>
            <p:nvPr/>
          </p:nvSpPr>
          <p:spPr bwMode="auto">
            <a:xfrm>
              <a:off x="4272" y="2688"/>
              <a:ext cx="0" cy="528"/>
            </a:xfrm>
            <a:prstGeom prst="line">
              <a:avLst/>
            </a:prstGeom>
            <a:noFill/>
            <a:ln w="25400">
              <a:solidFill>
                <a:srgbClr val="CCFFCC"/>
              </a:solidFill>
              <a:prstDash val="sysDot"/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3" name="Line 33"/>
            <p:cNvSpPr>
              <a:spLocks noChangeShapeType="1"/>
            </p:cNvSpPr>
            <p:nvPr/>
          </p:nvSpPr>
          <p:spPr bwMode="auto">
            <a:xfrm flipV="1">
              <a:off x="4272" y="1776"/>
              <a:ext cx="0" cy="912"/>
            </a:xfrm>
            <a:prstGeom prst="line">
              <a:avLst/>
            </a:prstGeom>
            <a:noFill/>
            <a:ln w="127000">
              <a:solidFill>
                <a:srgbClr val="99CC00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4" name="Rectangle 34"/>
            <p:cNvSpPr>
              <a:spLocks noChangeArrowheads="1"/>
            </p:cNvSpPr>
            <p:nvPr/>
          </p:nvSpPr>
          <p:spPr bwMode="auto">
            <a:xfrm>
              <a:off x="4400" y="1838"/>
              <a:ext cx="120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494" tIns="50748" rIns="101494" bIns="50748">
              <a:spAutoFit/>
            </a:bodyPr>
            <a:lstStyle/>
            <a:p>
              <a:pPr algn="ctr" defTabSz="914414">
                <a:spcBef>
                  <a:spcPct val="50000"/>
                </a:spcBef>
              </a:pPr>
              <a:r>
                <a:rPr kumimoji="1" lang="en-US" altLang="ja-JP" sz="1600" b="1">
                  <a:latin typeface="Times New Roman" pitchFamily="18" charset="0"/>
                  <a:ea typeface="HG明朝B"/>
                  <a:cs typeface="HG明朝B"/>
                </a:rPr>
                <a:t>MAINTENANCE</a:t>
              </a:r>
            </a:p>
          </p:txBody>
        </p:sp>
        <p:sp>
          <p:nvSpPr>
            <p:cNvPr id="27665" name="Line 35"/>
            <p:cNvSpPr>
              <a:spLocks noChangeShapeType="1"/>
            </p:cNvSpPr>
            <p:nvPr/>
          </p:nvSpPr>
          <p:spPr bwMode="auto">
            <a:xfrm flipV="1">
              <a:off x="4272" y="1598"/>
              <a:ext cx="1251" cy="192"/>
            </a:xfrm>
            <a:prstGeom prst="line">
              <a:avLst/>
            </a:prstGeom>
            <a:noFill/>
            <a:ln w="1270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7666" name="Line 36"/>
            <p:cNvSpPr>
              <a:spLocks noChangeShapeType="1"/>
            </p:cNvSpPr>
            <p:nvPr/>
          </p:nvSpPr>
          <p:spPr bwMode="auto">
            <a:xfrm>
              <a:off x="4272" y="1838"/>
              <a:ext cx="142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27667" name="Group 37"/>
            <p:cNvGrpSpPr>
              <a:grpSpLocks/>
            </p:cNvGrpSpPr>
            <p:nvPr/>
          </p:nvGrpSpPr>
          <p:grpSpPr bwMode="auto">
            <a:xfrm>
              <a:off x="1063" y="2678"/>
              <a:ext cx="3259" cy="1472"/>
              <a:chOff x="1063" y="2678"/>
              <a:chExt cx="3259" cy="1472"/>
            </a:xfrm>
          </p:grpSpPr>
          <p:sp>
            <p:nvSpPr>
              <p:cNvPr id="27668" name="Line 38"/>
              <p:cNvSpPr>
                <a:spLocks noChangeShapeType="1"/>
              </p:cNvSpPr>
              <p:nvPr/>
            </p:nvSpPr>
            <p:spPr bwMode="auto">
              <a:xfrm flipV="1">
                <a:off x="1063" y="3142"/>
                <a:ext cx="0" cy="1008"/>
              </a:xfrm>
              <a:prstGeom prst="line">
                <a:avLst/>
              </a:prstGeom>
              <a:noFill/>
              <a:ln w="127000">
                <a:solidFill>
                  <a:srgbClr val="99CC00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27669" name="Line 39"/>
              <p:cNvSpPr>
                <a:spLocks noChangeShapeType="1"/>
              </p:cNvSpPr>
              <p:nvPr/>
            </p:nvSpPr>
            <p:spPr bwMode="auto">
              <a:xfrm flipV="1">
                <a:off x="1063" y="2678"/>
                <a:ext cx="3259" cy="512"/>
              </a:xfrm>
              <a:prstGeom prst="line">
                <a:avLst/>
              </a:prstGeom>
              <a:noFill/>
              <a:ln w="127000">
                <a:solidFill>
                  <a:schemeClr val="tx1"/>
                </a:solidFill>
                <a:round/>
                <a:headEnd type="none" w="sm" len="sm"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</p:grpSp>
      <p:sp>
        <p:nvSpPr>
          <p:cNvPr id="624680" name="Rectangle 40"/>
          <p:cNvSpPr>
            <a:spLocks noChangeArrowheads="1"/>
          </p:cNvSpPr>
          <p:nvPr/>
        </p:nvSpPr>
        <p:spPr bwMode="auto">
          <a:xfrm>
            <a:off x="228961" y="228985"/>
            <a:ext cx="8762400" cy="82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defRPr/>
            </a:pP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KAIZEN </a:t>
            </a:r>
            <a:r>
              <a:rPr kumimoji="1" lang="en-US" altLang="ja-JP" sz="2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PLUS </a:t>
            </a:r>
            <a:r>
              <a:rPr kumimoji="1" lang="en-US" altLang="ja-JP" sz="4800" b="1" i="1">
                <a:effectLst>
                  <a:outerShdw blurRad="38100" dist="38100" dir="2700000" algn="tl">
                    <a:srgbClr val="FFFFFF"/>
                  </a:outerShdw>
                </a:effectLst>
                <a:latin typeface="Arial Black" pitchFamily="34" charset="0"/>
                <a:ea typeface="HG明朝B"/>
                <a:cs typeface="HG明朝B"/>
              </a:rPr>
              <a:t>INNOVATION</a:t>
            </a:r>
          </a:p>
        </p:txBody>
      </p:sp>
      <p:sp>
        <p:nvSpPr>
          <p:cNvPr id="27654" name="Rectangle 41"/>
          <p:cNvSpPr>
            <a:spLocks noChangeArrowheads="1"/>
          </p:cNvSpPr>
          <p:nvPr/>
        </p:nvSpPr>
        <p:spPr bwMode="auto">
          <a:xfrm>
            <a:off x="305280" y="1103158"/>
            <a:ext cx="4343040" cy="120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65" tIns="46034" rIns="92065" bIns="46034">
            <a:spAutoFit/>
          </a:bodyPr>
          <a:lstStyle/>
          <a:p>
            <a:pPr defTabSz="914414">
              <a:spcBef>
                <a:spcPct val="50000"/>
              </a:spcBef>
            </a:pPr>
            <a:r>
              <a:rPr kumimoji="1" lang="en-US" altLang="ja-JP" sz="2400">
                <a:ea typeface="HG明朝B"/>
                <a:cs typeface="HG明朝B"/>
              </a:rPr>
              <a:t>Desirable progress by combination of two opposing approaches</a:t>
            </a:r>
          </a:p>
        </p:txBody>
      </p:sp>
    </p:spTree>
    <p:extLst>
      <p:ext uri="{BB962C8B-B14F-4D97-AF65-F5344CB8AC3E}">
        <p14:creationId xmlns:p14="http://schemas.microsoft.com/office/powerpoint/2010/main" val="24008565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601" y="319714"/>
            <a:ext cx="8380800" cy="600543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553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4876800" y="3733800"/>
            <a:ext cx="4038600" cy="29718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88900" y="3733800"/>
            <a:ext cx="4102100" cy="295275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88900" y="955098"/>
            <a:ext cx="4038600" cy="2667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76800" y="889794"/>
            <a:ext cx="4038600" cy="26670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097" y="4948599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0" y="-286061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Changes in Surgery &amp; Pediatric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Word in Jhenaidah Sadar Hospital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251520" y="1123589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51520" y="38347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5056950" y="1091045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056949" y="3834750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065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5013176"/>
            <a:ext cx="3823320" cy="1080120"/>
          </a:xfrm>
        </p:spPr>
        <p:txBody>
          <a:bodyPr/>
          <a:lstStyle/>
          <a:p>
            <a:pPr marL="0" indent="0">
              <a:buNone/>
            </a:pPr>
            <a:r>
              <a:rPr lang="en-US" sz="4400" dirty="0" smtClean="0">
                <a:solidFill>
                  <a:srgbClr val="00B0F0"/>
                </a:solidFill>
              </a:rPr>
              <a:t>Thank You</a:t>
            </a:r>
            <a:endParaRPr lang="en-US" sz="4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77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86</TotalTime>
  <Words>167</Words>
  <Application>Microsoft Office PowerPoint</Application>
  <PresentationFormat>On-screen Show (4:3)</PresentationFormat>
  <Paragraphs>54</Paragraphs>
  <Slides>17</Slides>
  <Notes>3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Flow</vt:lpstr>
      <vt:lpstr>Office Theme</vt:lpstr>
      <vt:lpstr>ｸﾘｯﾌﾟ</vt:lpstr>
      <vt:lpstr>The Importance of Healthcare Quality</vt:lpstr>
      <vt:lpstr>Why does Quality matter?</vt:lpstr>
      <vt:lpstr>PowerPoint Presentation</vt:lpstr>
      <vt:lpstr>Oh dear!</vt:lpstr>
      <vt:lpstr>Who should care!</vt:lpstr>
      <vt:lpstr>Solve priority      Quality problems …</vt:lpstr>
      <vt:lpstr>Deming Cycle </vt:lpstr>
      <vt:lpstr>People connect the links</vt:lpstr>
      <vt:lpstr>The Paradigm Shift in Quality</vt:lpstr>
      <vt:lpstr>PowerPoint Presentation</vt:lpstr>
      <vt:lpstr>Our usual solution:  We need more RESOURCES!!!!</vt:lpstr>
      <vt:lpstr>PowerPoint Presentation</vt:lpstr>
      <vt:lpstr>PowerPoint Presentation</vt:lpstr>
      <vt:lpstr>PowerPoint Presentation</vt:lpstr>
      <vt:lpstr>PowerPoint Presentation</vt:lpstr>
      <vt:lpstr>Changes in Surgery &amp; Pediatric Word in Jhenaidah Sadar Hospital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Importance of Healthcare Quality</dc:title>
  <dc:creator>Emdad</dc:creator>
  <cp:lastModifiedBy>Emdad</cp:lastModifiedBy>
  <cp:revision>22</cp:revision>
  <dcterms:created xsi:type="dcterms:W3CDTF">2016-09-12T00:18:27Z</dcterms:created>
  <dcterms:modified xsi:type="dcterms:W3CDTF">2020-09-01T15:12:07Z</dcterms:modified>
</cp:coreProperties>
</file>