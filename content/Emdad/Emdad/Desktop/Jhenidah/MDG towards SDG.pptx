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style20.xml" ContentType="application/vnd.ms-office.chartstyle+xml"/>
  <Override PartName="/ppt/charts/colors20.xml" ContentType="application/vnd.ms-office.chartcolorstyle+xml"/>
  <Override PartName="/ppt/charts/style21.xml" ContentType="application/vnd.ms-office.chartstyle+xml"/>
  <Override PartName="/ppt/charts/colors21.xml" ContentType="application/vnd.ms-office.chartcolorstyle+xml"/>
  <Override PartName="/ppt/charts/style22.xml" ContentType="application/vnd.ms-office.chartstyle+xml"/>
  <Override PartName="/ppt/charts/colors22.xml" ContentType="application/vnd.ms-office.chartcolorstyle+xml"/>
  <Override PartName="/ppt/charts/style23.xml" ContentType="application/vnd.ms-office.chartstyle+xml"/>
  <Override PartName="/ppt/charts/colors23.xml" ContentType="application/vnd.ms-office.chartcolorstyle+xml"/>
  <Override PartName="/ppt/charts/style25.xml" ContentType="application/vnd.ms-office.chartstyle+xml"/>
  <Override PartName="/ppt/charts/colors25.xml" ContentType="application/vnd.ms-office.chartcolorstyle+xml"/>
  <Override PartName="/ppt/charts/style26.xml" ContentType="application/vnd.ms-office.chartstyle+xml"/>
  <Override PartName="/ppt/charts/colors26.xml" ContentType="application/vnd.ms-office.chartcolorstyle+xml"/>
  <Override PartName="/ppt/charts/style27.xml" ContentType="application/vnd.ms-office.chartstyle+xml"/>
  <Override PartName="/ppt/charts/colors27.xml" ContentType="application/vnd.ms-office.chartcolorstyle+xml"/>
  <Override PartName="/ppt/charts/style28.xml" ContentType="application/vnd.ms-office.chartstyle+xml"/>
  <Override PartName="/ppt/charts/colors28.xml" ContentType="application/vnd.ms-office.chartcolorstyle+xml"/>
  <Override PartName="/ppt/charts/style29.xml" ContentType="application/vnd.ms-office.chartstyle+xml"/>
  <Override PartName="/ppt/charts/colors29.xml" ContentType="application/vnd.ms-office.chartcolorstyle+xml"/>
  <Override PartName="/ppt/charts/style30.xml" ContentType="application/vnd.ms-office.chartstyle+xml"/>
  <Override PartName="/ppt/charts/colors30.xml" ContentType="application/vnd.ms-office.chartcolorstyle+xml"/>
  <Override PartName="/ppt/charts/style31.xml" ContentType="application/vnd.ms-office.chartstyle+xml"/>
  <Override PartName="/ppt/charts/colors31.xml" ContentType="application/vnd.ms-office.chartcolorstyle+xml"/>
  <Override PartName="/ppt/charts/style32.xml" ContentType="application/vnd.ms-office.chartstyle+xml"/>
  <Override PartName="/ppt/charts/colors32.xml" ContentType="application/vnd.ms-office.chartcolorstyle+xml"/>
  <Override PartName="/ppt/charts/style33.xml" ContentType="application/vnd.ms-office.chartstyle+xml"/>
  <Override PartName="/ppt/charts/colors33.xml" ContentType="application/vnd.ms-office.chartcolorstyle+xml"/>
  <Override PartName="/ppt/charts/style34.xml" ContentType="application/vnd.ms-office.chartstyle+xml"/>
  <Override PartName="/ppt/charts/colors34.xml" ContentType="application/vnd.ms-office.chartcolorstyle+xml"/>
  <Override PartName="/ppt/charts/style35.xml" ContentType="application/vnd.ms-office.chartstyle+xml"/>
  <Override PartName="/ppt/charts/colors35.xml" ContentType="application/vnd.ms-office.chartcolorstyle+xml"/>
  <Override PartName="/ppt/charts/style36.xml" ContentType="application/vnd.ms-office.chartstyle+xml"/>
  <Override PartName="/ppt/charts/colors36.xml" ContentType="application/vnd.ms-office.chartcolorstyle+xml"/>
  <Override PartName="/ppt/charts/style37.xml" ContentType="application/vnd.ms-office.chartstyle+xml"/>
  <Override PartName="/ppt/charts/colors37.xml" ContentType="application/vnd.ms-office.chartcolorstyle+xml"/>
  <Override PartName="/ppt/charts/style42.xml" ContentType="application/vnd.ms-office.chartstyle+xml"/>
  <Override PartName="/ppt/charts/colors42.xml" ContentType="application/vnd.ms-office.chartcolorstyle+xml"/>
  <Override PartName="/ppt/charts/style43.xml" ContentType="application/vnd.ms-office.chartstyle+xml"/>
  <Override PartName="/ppt/charts/colors43.xml" ContentType="application/vnd.ms-office.chartcolorstyle+xml"/>
  <Override PartName="/ppt/charts/style44.xml" ContentType="application/vnd.ms-office.chartstyle+xml"/>
  <Override PartName="/ppt/charts/colors44.xml" ContentType="application/vnd.ms-office.chartcolorstyle+xml"/>
  <Override PartName="/ppt/charts/style45.xml" ContentType="application/vnd.ms-office.chartstyle+xml"/>
  <Override PartName="/ppt/charts/colors45.xml" ContentType="application/vnd.ms-office.chartcolorstyle+xml"/>
  <Override PartName="/ppt/charts/style46.xml" ContentType="application/vnd.ms-office.chartstyle+xml"/>
  <Override PartName="/ppt/charts/colors46.xml" ContentType="application/vnd.ms-office.chartcolorstyle+xml"/>
  <Override PartName="/ppt/charts/style47.xml" ContentType="application/vnd.ms-office.chartstyle+xml"/>
  <Override PartName="/ppt/charts/colors47.xml" ContentType="application/vnd.ms-office.chartcolorstyle+xml"/>
  <Override PartName="/ppt/charts/style48.xml" ContentType="application/vnd.ms-office.chartstyle+xml"/>
  <Override PartName="/ppt/charts/colors48.xml" ContentType="application/vnd.ms-office.chartcolorstyle+xml"/>
  <Override PartName="/ppt/charts/style49.xml" ContentType="application/vnd.ms-office.chartstyle+xml"/>
  <Override PartName="/ppt/charts/colors49.xml" ContentType="application/vnd.ms-office.chartcolorstyle+xml"/>
  <Override PartName="/ppt/charts/style50.xml" ContentType="application/vnd.ms-office.chartstyle+xml"/>
  <Override PartName="/ppt/charts/colors50.xml" ContentType="application/vnd.ms-office.chartcolorstyle+xml"/>
  <Override PartName="/ppt/charts/style51.xml" ContentType="application/vnd.ms-office.chartstyle+xml"/>
  <Override PartName="/ppt/charts/colors51.xml" ContentType="application/vnd.ms-office.chartcolor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35"/>
  </p:notesMasterIdLst>
  <p:sldIdLst>
    <p:sldId id="256" r:id="rId2"/>
    <p:sldId id="613" r:id="rId3"/>
    <p:sldId id="685" r:id="rId4"/>
    <p:sldId id="688" r:id="rId5"/>
    <p:sldId id="616" r:id="rId6"/>
    <p:sldId id="680" r:id="rId7"/>
    <p:sldId id="681" r:id="rId8"/>
    <p:sldId id="629" r:id="rId9"/>
    <p:sldId id="630" r:id="rId10"/>
    <p:sldId id="632" r:id="rId11"/>
    <p:sldId id="633" r:id="rId12"/>
    <p:sldId id="634" r:id="rId13"/>
    <p:sldId id="635" r:id="rId14"/>
    <p:sldId id="636" r:id="rId15"/>
    <p:sldId id="637" r:id="rId16"/>
    <p:sldId id="638" r:id="rId17"/>
    <p:sldId id="639" r:id="rId18"/>
    <p:sldId id="640" r:id="rId19"/>
    <p:sldId id="641" r:id="rId20"/>
    <p:sldId id="642" r:id="rId21"/>
    <p:sldId id="643" r:id="rId22"/>
    <p:sldId id="644" r:id="rId23"/>
    <p:sldId id="646" r:id="rId24"/>
    <p:sldId id="647" r:id="rId25"/>
    <p:sldId id="648" r:id="rId26"/>
    <p:sldId id="649" r:id="rId27"/>
    <p:sldId id="650" r:id="rId28"/>
    <p:sldId id="651" r:id="rId29"/>
    <p:sldId id="652" r:id="rId30"/>
    <p:sldId id="653" r:id="rId31"/>
    <p:sldId id="654" r:id="rId32"/>
    <p:sldId id="568" r:id="rId33"/>
    <p:sldId id="68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72" autoAdjust="0"/>
    <p:restoredTop sz="94660"/>
  </p:normalViewPr>
  <p:slideViewPr>
    <p:cSldViewPr snapToGrid="0">
      <p:cViewPr varScale="1">
        <p:scale>
          <a:sx n="79" d="100"/>
          <a:sy n="79" d="100"/>
        </p:scale>
        <p:origin x="-108" y="-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107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20.xml"/><Relationship Id="rId2" Type="http://schemas.microsoft.com/office/2011/relationships/chartColorStyle" Target="colors20.xml"/><Relationship Id="rId1" Type="http://schemas.openxmlformats.org/officeDocument/2006/relationships/oleObject" Target="file:///G:\1_Sustainable%20Development%20Goals\3_SDGs_M&amp;E\M&amp;E%20Framework\M&amp;E%20Framework_all%20goals_31_08_2017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Style" Target="style21.xml"/><Relationship Id="rId2" Type="http://schemas.microsoft.com/office/2011/relationships/chartColorStyle" Target="colors21.xml"/><Relationship Id="rId1" Type="http://schemas.openxmlformats.org/officeDocument/2006/relationships/oleObject" Target="file:///G:\1_Sustainable%20Development%20Goals\3_SDGs_M&amp;E\M&amp;E%20Framework\M&amp;E%20Framework_all%20goals_31_08_2017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Style" Target="style22.xml"/><Relationship Id="rId2" Type="http://schemas.microsoft.com/office/2011/relationships/chartColorStyle" Target="colors22.xml"/><Relationship Id="rId1" Type="http://schemas.openxmlformats.org/officeDocument/2006/relationships/oleObject" Target="file:///G:\1_Sustainable%20Development%20Goals\3_SDGs_M&amp;E\M&amp;E%20Framework\M&amp;E%20Framework_all%20goals_31_08_2017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Style" Target="style23.xml"/><Relationship Id="rId2" Type="http://schemas.microsoft.com/office/2011/relationships/chartColorStyle" Target="colors23.xml"/><Relationship Id="rId1" Type="http://schemas.openxmlformats.org/officeDocument/2006/relationships/oleObject" Target="file:///G:\1_Sustainable%20Development%20Goals\3_SDGs_M&amp;E\M&amp;E%20Framework_all%20goals_08_03_2017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Style" Target="style25.xml"/><Relationship Id="rId2" Type="http://schemas.microsoft.com/office/2011/relationships/chartColorStyle" Target="colors25.xml"/><Relationship Id="rId1" Type="http://schemas.openxmlformats.org/officeDocument/2006/relationships/oleObject" Target="file:///G:\1_Sustainable%20Development%20Goals\3_SDGs_M&amp;E\M&amp;E%20Framework\M&amp;E%20Framework_all%20goals_31_08_2017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Style" Target="style26.xml"/><Relationship Id="rId2" Type="http://schemas.microsoft.com/office/2011/relationships/chartColorStyle" Target="colors26.xml"/><Relationship Id="rId1" Type="http://schemas.openxmlformats.org/officeDocument/2006/relationships/oleObject" Target="file:///G:\1_Sustainable%20Development%20Goals\3_SDGs_M&amp;E\M&amp;E%20Framework\M&amp;E%20Framework_all%20goals_19_04_2017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Style" Target="style27.xml"/><Relationship Id="rId2" Type="http://schemas.microsoft.com/office/2011/relationships/chartColorStyle" Target="colors27.xml"/><Relationship Id="rId1" Type="http://schemas.openxmlformats.org/officeDocument/2006/relationships/oleObject" Target="file:///G:\1_Sustainable%20Development%20Goals\3_SDGs_M&amp;E\M&amp;E%20Framework\M&amp;E%20Framework_all%20goals_31_08_2017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microsoft.com/office/2011/relationships/chartStyle" Target="style28.xml"/><Relationship Id="rId2" Type="http://schemas.microsoft.com/office/2011/relationships/chartColorStyle" Target="colors28.xml"/><Relationship Id="rId1" Type="http://schemas.openxmlformats.org/officeDocument/2006/relationships/oleObject" Target="file:///G:\1_Sustainable%20Development%20Goals\3_SDGs_M&amp;E\M&amp;E%20Framework_all%20goals_08_03_2017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microsoft.com/office/2011/relationships/chartStyle" Target="style29.xml"/><Relationship Id="rId2" Type="http://schemas.microsoft.com/office/2011/relationships/chartColorStyle" Target="colors29.xml"/><Relationship Id="rId1" Type="http://schemas.openxmlformats.org/officeDocument/2006/relationships/oleObject" Target="file:///G:\1_Sustainable%20Development%20Goals\3_SDGs_M&amp;E\M&amp;E%20Framework_all%20goals_08_03_2017.xlsx" TargetMode="External"/></Relationships>
</file>

<file path=ppt/charts/_rels/chart10.xml.rels><?xml version="1.0" encoding="UTF-8" standalone="yes"?>
<Relationships xmlns="http://schemas.openxmlformats.org/package/2006/relationships"><Relationship Id="rId3" Type="http://schemas.microsoft.com/office/2011/relationships/chartStyle" Target="style30.xml"/><Relationship Id="rId2" Type="http://schemas.microsoft.com/office/2011/relationships/chartColorStyle" Target="colors30.xml"/><Relationship Id="rId1" Type="http://schemas.openxmlformats.org/officeDocument/2006/relationships/oleObject" Target="file:///G:\1_Sustainable%20Development%20Goals\3_SDGs_M&amp;E\M&amp;E%20Framework\M&amp;E%20Framework_all%20goals_31_08_2017.xlsx" TargetMode="External"/></Relationships>
</file>

<file path=ppt/charts/_rels/chart11.xml.rels><?xml version="1.0" encoding="UTF-8" standalone="yes"?>
<Relationships xmlns="http://schemas.openxmlformats.org/package/2006/relationships"><Relationship Id="rId3" Type="http://schemas.microsoft.com/office/2011/relationships/chartStyle" Target="style31.xml"/><Relationship Id="rId2" Type="http://schemas.microsoft.com/office/2011/relationships/chartColorStyle" Target="colors31.xml"/><Relationship Id="rId1" Type="http://schemas.openxmlformats.org/officeDocument/2006/relationships/oleObject" Target="file:///G:\1_Sustainable%20Development%20Goals\3_SDGs_M&amp;E\M&amp;E%20Framework\M&amp;E%20Framework_all%20goals_31_08_2017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microsoft.com/office/2011/relationships/chartStyle" Target="style32.xml"/><Relationship Id="rId2" Type="http://schemas.microsoft.com/office/2011/relationships/chartColorStyle" Target="colors32.xml"/><Relationship Id="rId1" Type="http://schemas.openxmlformats.org/officeDocument/2006/relationships/oleObject" Target="file:///G:\1_Sustainable%20Development%20Goals\3_SDGs_M&amp;E\M&amp;E%20Framework\M&amp;E%20Framework_all%20goals_31_08_2017.xlsx" TargetMode="External"/></Relationships>
</file>

<file path=ppt/charts/_rels/chart13.xml.rels><?xml version="1.0" encoding="UTF-8" standalone="yes"?>
<Relationships xmlns="http://schemas.openxmlformats.org/package/2006/relationships"><Relationship Id="rId3" Type="http://schemas.microsoft.com/office/2011/relationships/chartStyle" Target="style33.xml"/><Relationship Id="rId2" Type="http://schemas.microsoft.com/office/2011/relationships/chartColorStyle" Target="colors33.xml"/><Relationship Id="rId1" Type="http://schemas.openxmlformats.org/officeDocument/2006/relationships/oleObject" Target="file:///G:\1_Sustainable%20Development%20Goals\3_SDGs_M&amp;E\M&amp;E%20Framework_all%20goals_08_03_2017.xlsx" TargetMode="External"/></Relationships>
</file>

<file path=ppt/charts/_rels/chart14.xml.rels><?xml version="1.0" encoding="UTF-8" standalone="yes"?>
<Relationships xmlns="http://schemas.openxmlformats.org/package/2006/relationships"><Relationship Id="rId3" Type="http://schemas.microsoft.com/office/2011/relationships/chartStyle" Target="style34.xml"/><Relationship Id="rId2" Type="http://schemas.microsoft.com/office/2011/relationships/chartColorStyle" Target="colors34.xml"/><Relationship Id="rId1" Type="http://schemas.openxmlformats.org/officeDocument/2006/relationships/oleObject" Target="file:///G:\1_Sustainable%20Development%20Goals\3_SDGs_M&amp;E\M&amp;E%20Framework\M&amp;E%20Framework_all%20goals_31_08_2017.xlsx" TargetMode="External"/></Relationships>
</file>

<file path=ppt/charts/_rels/chart15.xml.rels><?xml version="1.0" encoding="UTF-8" standalone="yes"?>
<Relationships xmlns="http://schemas.openxmlformats.org/package/2006/relationships"><Relationship Id="rId3" Type="http://schemas.microsoft.com/office/2011/relationships/chartStyle" Target="style35.xml"/><Relationship Id="rId2" Type="http://schemas.microsoft.com/office/2011/relationships/chartColorStyle" Target="colors35.xml"/><Relationship Id="rId1" Type="http://schemas.openxmlformats.org/officeDocument/2006/relationships/oleObject" Target="file:///G:\1_Sustainable%20Development%20Goals\3_SDGs_M&amp;E\M&amp;E%20Framework\M&amp;E%20Framework_all%20goals_31_08_2017.xlsx" TargetMode="External"/></Relationships>
</file>

<file path=ppt/charts/_rels/chart16.xml.rels><?xml version="1.0" encoding="UTF-8" standalone="yes"?>
<Relationships xmlns="http://schemas.openxmlformats.org/package/2006/relationships"><Relationship Id="rId3" Type="http://schemas.microsoft.com/office/2011/relationships/chartStyle" Target="style36.xml"/><Relationship Id="rId2" Type="http://schemas.microsoft.com/office/2011/relationships/chartColorStyle" Target="colors36.xml"/><Relationship Id="rId1" Type="http://schemas.openxmlformats.org/officeDocument/2006/relationships/oleObject" Target="file:///G:\1_Sustainable%20Development%20Goals\3_SDGs_M&amp;E\M&amp;E%20Framework\M&amp;E%20Framework_all%20goals_31_08_2017.xlsx" TargetMode="External"/></Relationships>
</file>

<file path=ppt/charts/_rels/chart17.xml.rels><?xml version="1.0" encoding="UTF-8" standalone="yes"?>
<Relationships xmlns="http://schemas.openxmlformats.org/package/2006/relationships"><Relationship Id="rId3" Type="http://schemas.microsoft.com/office/2011/relationships/chartStyle" Target="style37.xml"/><Relationship Id="rId2" Type="http://schemas.microsoft.com/office/2011/relationships/chartColorStyle" Target="colors37.xml"/><Relationship Id="rId1" Type="http://schemas.openxmlformats.org/officeDocument/2006/relationships/oleObject" Target="file:///G:\1_Sustainable%20Development%20Goals\3_SDGs_M&amp;E\M&amp;E%20Framework_all%20goals_08_03_2017.xlsx" TargetMode="External"/></Relationships>
</file>

<file path=ppt/charts/_rels/chart18.xml.rels><?xml version="1.0" encoding="UTF-8" standalone="yes"?>
<Relationships xmlns="http://schemas.openxmlformats.org/package/2006/relationships"><Relationship Id="rId3" Type="http://schemas.microsoft.com/office/2011/relationships/chartStyle" Target="style42.xml"/><Relationship Id="rId2" Type="http://schemas.microsoft.com/office/2011/relationships/chartColorStyle" Target="colors42.xml"/><Relationship Id="rId1" Type="http://schemas.openxmlformats.org/officeDocument/2006/relationships/oleObject" Target="file:///G:\1_Sustainable%20Development%20Goals\3_SDGs_M&amp;E\M&amp;E%20Framework_all%20goals_08_03_2017.xlsx" TargetMode="External"/></Relationships>
</file>

<file path=ppt/charts/_rels/chart19.xml.rels><?xml version="1.0" encoding="UTF-8" standalone="yes"?>
<Relationships xmlns="http://schemas.openxmlformats.org/package/2006/relationships"><Relationship Id="rId3" Type="http://schemas.microsoft.com/office/2011/relationships/chartStyle" Target="style43.xml"/><Relationship Id="rId2" Type="http://schemas.microsoft.com/office/2011/relationships/chartColorStyle" Target="colors43.xml"/><Relationship Id="rId1" Type="http://schemas.openxmlformats.org/officeDocument/2006/relationships/oleObject" Target="file:///G:\1_Sustainable%20Development%20Goals\3_SDGs_M&amp;E\M&amp;E%20Framework_all%20goals_08_03_2017.xlsx" TargetMode="External"/></Relationships>
</file>

<file path=ppt/charts/_rels/chart20.xml.rels><?xml version="1.0" encoding="UTF-8" standalone="yes"?>
<Relationships xmlns="http://schemas.openxmlformats.org/package/2006/relationships"><Relationship Id="rId3" Type="http://schemas.microsoft.com/office/2011/relationships/chartStyle" Target="style44.xml"/><Relationship Id="rId2" Type="http://schemas.microsoft.com/office/2011/relationships/chartColorStyle" Target="colors44.xml"/><Relationship Id="rId1" Type="http://schemas.openxmlformats.org/officeDocument/2006/relationships/oleObject" Target="file:///G:\1_Sustainable%20Development%20Goals\3_SDGs_M&amp;E\M&amp;E%20Framework_all%20goals_08_03_2017.xlsx" TargetMode="External"/></Relationships>
</file>

<file path=ppt/charts/_rels/chart21.xml.rels><?xml version="1.0" encoding="UTF-8" standalone="yes"?>
<Relationships xmlns="http://schemas.openxmlformats.org/package/2006/relationships"><Relationship Id="rId3" Type="http://schemas.microsoft.com/office/2011/relationships/chartStyle" Target="style45.xml"/><Relationship Id="rId2" Type="http://schemas.microsoft.com/office/2011/relationships/chartColorStyle" Target="colors45.xml"/><Relationship Id="rId1" Type="http://schemas.openxmlformats.org/officeDocument/2006/relationships/oleObject" Target="file:///G:\1_Sustainable%20Development%20Goals\3_SDGs_M&amp;E\M&amp;E%20Framework_all%20goals_08_03_2017.xlsx" TargetMode="External"/></Relationships>
</file>

<file path=ppt/charts/_rels/chart22.xml.rels><?xml version="1.0" encoding="UTF-8" standalone="yes"?>
<Relationships xmlns="http://schemas.openxmlformats.org/package/2006/relationships"><Relationship Id="rId3" Type="http://schemas.microsoft.com/office/2011/relationships/chartStyle" Target="style46.xml"/><Relationship Id="rId2" Type="http://schemas.microsoft.com/office/2011/relationships/chartColorStyle" Target="colors46.xml"/><Relationship Id="rId1" Type="http://schemas.openxmlformats.org/officeDocument/2006/relationships/oleObject" Target="file:///G:\1_Sustainable%20Development%20Goals\3_SDGs_M&amp;E\M&amp;E%20Framework_all%20goals_08_03_2017.xlsx" TargetMode="External"/></Relationships>
</file>

<file path=ppt/charts/_rels/chart23.xml.rels><?xml version="1.0" encoding="UTF-8" standalone="yes"?>
<Relationships xmlns="http://schemas.openxmlformats.org/package/2006/relationships"><Relationship Id="rId3" Type="http://schemas.microsoft.com/office/2011/relationships/chartStyle" Target="style47.xml"/><Relationship Id="rId2" Type="http://schemas.microsoft.com/office/2011/relationships/chartColorStyle" Target="colors47.xml"/><Relationship Id="rId1" Type="http://schemas.openxmlformats.org/officeDocument/2006/relationships/oleObject" Target="file:///G:\1_Sustainable%20Development%20Goals\3_SDGs_M&amp;E\M&amp;E%20Framework_all%20goals_08_03_2017.xlsx" TargetMode="External"/></Relationships>
</file>

<file path=ppt/charts/_rels/chart24.xml.rels><?xml version="1.0" encoding="UTF-8" standalone="yes"?>
<Relationships xmlns="http://schemas.openxmlformats.org/package/2006/relationships"><Relationship Id="rId3" Type="http://schemas.microsoft.com/office/2011/relationships/chartStyle" Target="style48.xml"/><Relationship Id="rId2" Type="http://schemas.microsoft.com/office/2011/relationships/chartColorStyle" Target="colors48.xml"/><Relationship Id="rId1" Type="http://schemas.openxmlformats.org/officeDocument/2006/relationships/oleObject" Target="file:///G:\1_Sustainable%20Development%20Goals\3_SDGs_M&amp;E\M&amp;E%20Framework\M&amp;E%20Framework_all%20goals_09_05_2017.xlsx" TargetMode="External"/></Relationships>
</file>

<file path=ppt/charts/_rels/chart25.xml.rels><?xml version="1.0" encoding="UTF-8" standalone="yes"?>
<Relationships xmlns="http://schemas.openxmlformats.org/package/2006/relationships"><Relationship Id="rId3" Type="http://schemas.microsoft.com/office/2011/relationships/chartStyle" Target="style49.xml"/><Relationship Id="rId2" Type="http://schemas.microsoft.com/office/2011/relationships/chartColorStyle" Target="colors49.xml"/><Relationship Id="rId1" Type="http://schemas.openxmlformats.org/officeDocument/2006/relationships/oleObject" Target="file:///G:\1_Sustainable%20Development%20Goals\3_SDGs_M&amp;E\M&amp;E%20Framework\M&amp;E%20Framework_all%20goals_31_08_2017.xlsx" TargetMode="External"/></Relationships>
</file>

<file path=ppt/charts/_rels/chart26.xml.rels><?xml version="1.0" encoding="UTF-8" standalone="yes"?>
<Relationships xmlns="http://schemas.openxmlformats.org/package/2006/relationships"><Relationship Id="rId3" Type="http://schemas.microsoft.com/office/2011/relationships/chartStyle" Target="style50.xml"/><Relationship Id="rId2" Type="http://schemas.microsoft.com/office/2011/relationships/chartColorStyle" Target="colors50.xml"/><Relationship Id="rId1" Type="http://schemas.openxmlformats.org/officeDocument/2006/relationships/oleObject" Target="file:///G:\1_Sustainable%20Development%20Goals\3_SDGs_M&amp;E\M&amp;E%20Framework_all%20goals_08_03_2017.xlsx" TargetMode="External"/></Relationships>
</file>

<file path=ppt/charts/_rels/chart27.xml.rels><?xml version="1.0" encoding="UTF-8" standalone="yes"?>
<Relationships xmlns="http://schemas.openxmlformats.org/package/2006/relationships"><Relationship Id="rId3" Type="http://schemas.microsoft.com/office/2011/relationships/chartStyle" Target="style51.xml"/><Relationship Id="rId2" Type="http://schemas.microsoft.com/office/2011/relationships/chartColorStyle" Target="colors51.xml"/><Relationship Id="rId1" Type="http://schemas.openxmlformats.org/officeDocument/2006/relationships/oleObject" Target="file:///G:\1_Sustainable%20Development%20Goals\3_SDGs_M&amp;E\M&amp;E%20Framework_all%20goals_08_03_2017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Prevalence of stunting among children under 5 years of age, %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'2.2.1'!$B$3:$AA$3</c:f>
              <c:strCache>
                <c:ptCount val="26"/>
                <c:pt idx="0">
                  <c:v>1986</c:v>
                </c:pt>
                <c:pt idx="1">
                  <c:v>1990</c:v>
                </c:pt>
                <c:pt idx="2">
                  <c:v>1991</c:v>
                </c:pt>
                <c:pt idx="3">
                  <c:v>1992</c:v>
                </c:pt>
                <c:pt idx="4">
                  <c:v>1993</c:v>
                </c:pt>
                <c:pt idx="5">
                  <c:v>1994</c:v>
                </c:pt>
                <c:pt idx="6">
                  <c:v>1995</c:v>
                </c:pt>
                <c:pt idx="7">
                  <c:v>1996</c:v>
                </c:pt>
                <c:pt idx="8">
                  <c:v>1997</c:v>
                </c:pt>
                <c:pt idx="9">
                  <c:v>1998</c:v>
                </c:pt>
                <c:pt idx="10">
                  <c:v>1999</c:v>
                </c:pt>
                <c:pt idx="11">
                  <c:v>2000</c:v>
                </c:pt>
                <c:pt idx="12">
                  <c:v>2001</c:v>
                </c:pt>
                <c:pt idx="13">
                  <c:v>2002</c:v>
                </c:pt>
                <c:pt idx="14">
                  <c:v>2003</c:v>
                </c:pt>
                <c:pt idx="15">
                  <c:v>2004</c:v>
                </c:pt>
                <c:pt idx="16">
                  <c:v>2005</c:v>
                </c:pt>
                <c:pt idx="17">
                  <c:v>2006</c:v>
                </c:pt>
                <c:pt idx="18">
                  <c:v>2007</c:v>
                </c:pt>
                <c:pt idx="19">
                  <c:v>2011</c:v>
                </c:pt>
                <c:pt idx="20">
                  <c:v>2012</c:v>
                </c:pt>
                <c:pt idx="21">
                  <c:v>2013</c:v>
                </c:pt>
                <c:pt idx="22">
                  <c:v>2014 (Base)</c:v>
                </c:pt>
                <c:pt idx="23">
                  <c:v>2020 (T)</c:v>
                </c:pt>
                <c:pt idx="24">
                  <c:v>2025 (T)</c:v>
                </c:pt>
                <c:pt idx="25">
                  <c:v>2030 (Target)</c:v>
                </c:pt>
              </c:strCache>
            </c:strRef>
          </c:cat>
          <c:val>
            <c:numRef>
              <c:f>'2.2.1'!$B$4:$AA$4</c:f>
              <c:numCache>
                <c:formatCode>General</c:formatCode>
                <c:ptCount val="26"/>
                <c:pt idx="0">
                  <c:v>70.900000000000006</c:v>
                </c:pt>
                <c:pt idx="1">
                  <c:v>63.4</c:v>
                </c:pt>
                <c:pt idx="2">
                  <c:v>73.599999999999994</c:v>
                </c:pt>
                <c:pt idx="3">
                  <c:v>71.5</c:v>
                </c:pt>
                <c:pt idx="4">
                  <c:v>69.2</c:v>
                </c:pt>
                <c:pt idx="5">
                  <c:v>67.3</c:v>
                </c:pt>
                <c:pt idx="6">
                  <c:v>65.8</c:v>
                </c:pt>
                <c:pt idx="7">
                  <c:v>63.8</c:v>
                </c:pt>
                <c:pt idx="8">
                  <c:v>59.7</c:v>
                </c:pt>
                <c:pt idx="9">
                  <c:v>59.3</c:v>
                </c:pt>
                <c:pt idx="10">
                  <c:v>59.9</c:v>
                </c:pt>
                <c:pt idx="11">
                  <c:v>50.8</c:v>
                </c:pt>
                <c:pt idx="12">
                  <c:v>53.2</c:v>
                </c:pt>
                <c:pt idx="13">
                  <c:v>51.4</c:v>
                </c:pt>
                <c:pt idx="14">
                  <c:v>47.8</c:v>
                </c:pt>
                <c:pt idx="15">
                  <c:v>50.6</c:v>
                </c:pt>
                <c:pt idx="16">
                  <c:v>45.9</c:v>
                </c:pt>
                <c:pt idx="17">
                  <c:v>45.1</c:v>
                </c:pt>
                <c:pt idx="18">
                  <c:v>43.2</c:v>
                </c:pt>
                <c:pt idx="19">
                  <c:v>41.3</c:v>
                </c:pt>
                <c:pt idx="20">
                  <c:v>42</c:v>
                </c:pt>
                <c:pt idx="21">
                  <c:v>38.700000000000003</c:v>
                </c:pt>
                <c:pt idx="22">
                  <c:v>36.1</c:v>
                </c:pt>
                <c:pt idx="23">
                  <c:v>25</c:v>
                </c:pt>
                <c:pt idx="24">
                  <c:v>16.8</c:v>
                </c:pt>
                <c:pt idx="25">
                  <c:v>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3169280"/>
        <c:axId val="173171072"/>
      </c:barChart>
      <c:catAx>
        <c:axId val="173169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171072"/>
        <c:crosses val="autoZero"/>
        <c:auto val="1"/>
        <c:lblAlgn val="ctr"/>
        <c:lblOffset val="100"/>
        <c:noMultiLvlLbl val="0"/>
      </c:catAx>
      <c:valAx>
        <c:axId val="173171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169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600" b="1" dirty="0">
                <a:solidFill>
                  <a:schemeClr val="accent2"/>
                </a:solidFill>
              </a:rPr>
              <a:t>Proportion of wasted children under the age of 5 years, %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'2.2.2'!$B$3:$AA$3</c:f>
              <c:strCache>
                <c:ptCount val="26"/>
                <c:pt idx="0">
                  <c:v>1986</c:v>
                </c:pt>
                <c:pt idx="1">
                  <c:v>1990</c:v>
                </c:pt>
                <c:pt idx="2">
                  <c:v>1991</c:v>
                </c:pt>
                <c:pt idx="3">
                  <c:v>1992</c:v>
                </c:pt>
                <c:pt idx="4">
                  <c:v>1993</c:v>
                </c:pt>
                <c:pt idx="5">
                  <c:v>1994</c:v>
                </c:pt>
                <c:pt idx="6">
                  <c:v>1995</c:v>
                </c:pt>
                <c:pt idx="7">
                  <c:v>1996</c:v>
                </c:pt>
                <c:pt idx="8">
                  <c:v>1997</c:v>
                </c:pt>
                <c:pt idx="9">
                  <c:v>1998</c:v>
                </c:pt>
                <c:pt idx="10">
                  <c:v>1999</c:v>
                </c:pt>
                <c:pt idx="11">
                  <c:v>2000</c:v>
                </c:pt>
                <c:pt idx="12">
                  <c:v>2001</c:v>
                </c:pt>
                <c:pt idx="13">
                  <c:v>2002</c:v>
                </c:pt>
                <c:pt idx="14">
                  <c:v>2003</c:v>
                </c:pt>
                <c:pt idx="15">
                  <c:v>2004</c:v>
                </c:pt>
                <c:pt idx="16">
                  <c:v>2005</c:v>
                </c:pt>
                <c:pt idx="17">
                  <c:v>2006</c:v>
                </c:pt>
                <c:pt idx="18">
                  <c:v>2007</c:v>
                </c:pt>
                <c:pt idx="19">
                  <c:v>2011</c:v>
                </c:pt>
                <c:pt idx="20">
                  <c:v>2012</c:v>
                </c:pt>
                <c:pt idx="21">
                  <c:v>2013</c:v>
                </c:pt>
                <c:pt idx="22">
                  <c:v>2014 (Base)</c:v>
                </c:pt>
                <c:pt idx="23">
                  <c:v>2020 (T)</c:v>
                </c:pt>
                <c:pt idx="24">
                  <c:v>2025 (T)</c:v>
                </c:pt>
                <c:pt idx="25">
                  <c:v>2030 (Target)</c:v>
                </c:pt>
              </c:strCache>
            </c:strRef>
          </c:cat>
          <c:val>
            <c:numRef>
              <c:f>'2.2.2'!$B$4:$AA$4</c:f>
              <c:numCache>
                <c:formatCode>General</c:formatCode>
                <c:ptCount val="26"/>
                <c:pt idx="0">
                  <c:v>17.3</c:v>
                </c:pt>
                <c:pt idx="1">
                  <c:v>17.5</c:v>
                </c:pt>
                <c:pt idx="2">
                  <c:v>15.2</c:v>
                </c:pt>
                <c:pt idx="3">
                  <c:v>16.100000000000001</c:v>
                </c:pt>
                <c:pt idx="4">
                  <c:v>14</c:v>
                </c:pt>
                <c:pt idx="5">
                  <c:v>16.7</c:v>
                </c:pt>
                <c:pt idx="6">
                  <c:v>15.1</c:v>
                </c:pt>
                <c:pt idx="7">
                  <c:v>15.5</c:v>
                </c:pt>
                <c:pt idx="8">
                  <c:v>20.6</c:v>
                </c:pt>
                <c:pt idx="9">
                  <c:v>15</c:v>
                </c:pt>
                <c:pt idx="10">
                  <c:v>13.7</c:v>
                </c:pt>
                <c:pt idx="11">
                  <c:v>12.5</c:v>
                </c:pt>
                <c:pt idx="12">
                  <c:v>12.7</c:v>
                </c:pt>
                <c:pt idx="13">
                  <c:v>12.4</c:v>
                </c:pt>
                <c:pt idx="14">
                  <c:v>12.5</c:v>
                </c:pt>
                <c:pt idx="15">
                  <c:v>14.5</c:v>
                </c:pt>
                <c:pt idx="16">
                  <c:v>11.8</c:v>
                </c:pt>
                <c:pt idx="17">
                  <c:v>11.9</c:v>
                </c:pt>
                <c:pt idx="18">
                  <c:v>17.399999999999999</c:v>
                </c:pt>
                <c:pt idx="19">
                  <c:v>15.6</c:v>
                </c:pt>
                <c:pt idx="20">
                  <c:v>9.6</c:v>
                </c:pt>
                <c:pt idx="21">
                  <c:v>18.100000000000001</c:v>
                </c:pt>
                <c:pt idx="22">
                  <c:v>14.3</c:v>
                </c:pt>
                <c:pt idx="23">
                  <c:v>12</c:v>
                </c:pt>
                <c:pt idx="24">
                  <c:v>10</c:v>
                </c:pt>
                <c:pt idx="25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222144"/>
        <c:axId val="173223936"/>
      </c:barChart>
      <c:catAx>
        <c:axId val="173222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223936"/>
        <c:crosses val="autoZero"/>
        <c:auto val="1"/>
        <c:lblAlgn val="ctr"/>
        <c:lblOffset val="100"/>
        <c:noMultiLvlLbl val="0"/>
      </c:catAx>
      <c:valAx>
        <c:axId val="1732239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222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'3.1.1'!$C$49</c:f>
              <c:strCache>
                <c:ptCount val="1"/>
                <c:pt idx="0">
                  <c:v>National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1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'3.1.1'!$B$50:$B$60</c:f>
              <c:strCache>
                <c:ptCount val="11"/>
                <c:pt idx="0">
                  <c:v>1986</c:v>
                </c:pt>
                <c:pt idx="1">
                  <c:v>1988</c:v>
                </c:pt>
                <c:pt idx="2">
                  <c:v>1990</c:v>
                </c:pt>
                <c:pt idx="3">
                  <c:v>1995</c:v>
                </c:pt>
                <c:pt idx="4">
                  <c:v>2000</c:v>
                </c:pt>
                <c:pt idx="5">
                  <c:v>2005</c:v>
                </c:pt>
                <c:pt idx="6">
                  <c:v>2010</c:v>
                </c:pt>
                <c:pt idx="7">
                  <c:v>2015</c:v>
                </c:pt>
                <c:pt idx="8">
                  <c:v>2020 (T)</c:v>
                </c:pt>
                <c:pt idx="9">
                  <c:v>2025 (T)</c:v>
                </c:pt>
                <c:pt idx="10">
                  <c:v>2030 (Target)</c:v>
                </c:pt>
              </c:strCache>
            </c:strRef>
          </c:cat>
          <c:val>
            <c:numRef>
              <c:f>'3.1.1'!$C$50:$C$60</c:f>
              <c:numCache>
                <c:formatCode>General</c:formatCode>
                <c:ptCount val="11"/>
                <c:pt idx="0">
                  <c:v>648</c:v>
                </c:pt>
                <c:pt idx="1">
                  <c:v>572</c:v>
                </c:pt>
                <c:pt idx="2">
                  <c:v>478</c:v>
                </c:pt>
                <c:pt idx="3">
                  <c:v>447</c:v>
                </c:pt>
                <c:pt idx="4">
                  <c:v>318</c:v>
                </c:pt>
                <c:pt idx="5">
                  <c:v>348</c:v>
                </c:pt>
                <c:pt idx="6">
                  <c:v>216</c:v>
                </c:pt>
                <c:pt idx="7">
                  <c:v>181</c:v>
                </c:pt>
                <c:pt idx="8">
                  <c:v>105</c:v>
                </c:pt>
                <c:pt idx="9">
                  <c:v>85</c:v>
                </c:pt>
                <c:pt idx="10">
                  <c:v>70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258240"/>
        <c:axId val="173259776"/>
      </c:barChart>
      <c:catAx>
        <c:axId val="173258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259776"/>
        <c:crosses val="autoZero"/>
        <c:auto val="1"/>
        <c:lblAlgn val="ctr"/>
        <c:lblOffset val="100"/>
        <c:noMultiLvlLbl val="0"/>
      </c:catAx>
      <c:valAx>
        <c:axId val="173259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258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1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1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'3.1.2'!$C$2:$Q$2</c:f>
              <c:strCache>
                <c:ptCount val="15"/>
                <c:pt idx="0">
                  <c:v>1991</c:v>
                </c:pt>
                <c:pt idx="1">
                  <c:v>1994</c:v>
                </c:pt>
                <c:pt idx="2">
                  <c:v>2000</c:v>
                </c:pt>
                <c:pt idx="3">
                  <c:v>2001</c:v>
                </c:pt>
                <c:pt idx="4">
                  <c:v>2004</c:v>
                </c:pt>
                <c:pt idx="5">
                  <c:v>2006</c:v>
                </c:pt>
                <c:pt idx="6">
                  <c:v>2007</c:v>
                </c:pt>
                <c:pt idx="7">
                  <c:v>2009</c:v>
                </c:pt>
                <c:pt idx="8">
                  <c:v>2010</c:v>
                </c:pt>
                <c:pt idx="9">
                  <c:v>2011</c:v>
                </c:pt>
                <c:pt idx="10">
                  <c:v>2013</c:v>
                </c:pt>
                <c:pt idx="11">
                  <c:v>2014</c:v>
                </c:pt>
                <c:pt idx="12">
                  <c:v>2020 (T)</c:v>
                </c:pt>
                <c:pt idx="13">
                  <c:v>2025(T)</c:v>
                </c:pt>
                <c:pt idx="14">
                  <c:v>2030 (Target)</c:v>
                </c:pt>
              </c:strCache>
            </c:strRef>
          </c:cat>
          <c:val>
            <c:numRef>
              <c:f>'3.1.2'!$C$3:$Q$3</c:f>
              <c:numCache>
                <c:formatCode>General</c:formatCode>
                <c:ptCount val="15"/>
                <c:pt idx="0">
                  <c:v>5</c:v>
                </c:pt>
                <c:pt idx="1">
                  <c:v>9.5</c:v>
                </c:pt>
                <c:pt idx="2">
                  <c:v>13.9</c:v>
                </c:pt>
                <c:pt idx="3">
                  <c:v>11.6</c:v>
                </c:pt>
                <c:pt idx="4">
                  <c:v>15.6</c:v>
                </c:pt>
                <c:pt idx="5">
                  <c:v>20.100000000000001</c:v>
                </c:pt>
                <c:pt idx="6">
                  <c:v>20.9</c:v>
                </c:pt>
                <c:pt idx="7">
                  <c:v>24.4</c:v>
                </c:pt>
                <c:pt idx="8">
                  <c:v>26.5</c:v>
                </c:pt>
                <c:pt idx="9">
                  <c:v>31.7</c:v>
                </c:pt>
                <c:pt idx="10">
                  <c:v>43.5</c:v>
                </c:pt>
                <c:pt idx="11">
                  <c:v>42.1</c:v>
                </c:pt>
                <c:pt idx="12">
                  <c:v>65</c:v>
                </c:pt>
                <c:pt idx="13">
                  <c:v>72</c:v>
                </c:pt>
                <c:pt idx="14">
                  <c:v>80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323008"/>
        <c:axId val="173324544"/>
      </c:barChart>
      <c:catAx>
        <c:axId val="1733230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324544"/>
        <c:crosses val="autoZero"/>
        <c:auto val="1"/>
        <c:lblAlgn val="ctr"/>
        <c:lblOffset val="100"/>
        <c:noMultiLvlLbl val="0"/>
      </c:catAx>
      <c:valAx>
        <c:axId val="173324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3230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NMR/1000</a:t>
            </a:r>
            <a:r>
              <a:rPr lang="en-US" baseline="0"/>
              <a:t> LB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'3.2.2'!$C$48</c:f>
              <c:strCache>
                <c:ptCount val="1"/>
                <c:pt idx="0">
                  <c:v>National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1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'3.2.2'!$B$49:$B$59</c:f>
              <c:strCache>
                <c:ptCount val="11"/>
                <c:pt idx="0">
                  <c:v>1981</c:v>
                </c:pt>
                <c:pt idx="1">
                  <c:v>1985</c:v>
                </c:pt>
                <c:pt idx="2">
                  <c:v>1990</c:v>
                </c:pt>
                <c:pt idx="3">
                  <c:v>1995</c:v>
                </c:pt>
                <c:pt idx="4">
                  <c:v>2000</c:v>
                </c:pt>
                <c:pt idx="5">
                  <c:v>2005</c:v>
                </c:pt>
                <c:pt idx="6">
                  <c:v>2010</c:v>
                </c:pt>
                <c:pt idx="7">
                  <c:v>2015 (Base)</c:v>
                </c:pt>
                <c:pt idx="8">
                  <c:v>2020 (T)</c:v>
                </c:pt>
                <c:pt idx="9">
                  <c:v>2025 (T)</c:v>
                </c:pt>
                <c:pt idx="10">
                  <c:v>2030 (Target)</c:v>
                </c:pt>
              </c:strCache>
            </c:strRef>
          </c:cat>
          <c:val>
            <c:numRef>
              <c:f>'3.2.2'!$C$49:$C$59</c:f>
              <c:numCache>
                <c:formatCode>General</c:formatCode>
                <c:ptCount val="11"/>
                <c:pt idx="0">
                  <c:v>81</c:v>
                </c:pt>
                <c:pt idx="1">
                  <c:v>64</c:v>
                </c:pt>
                <c:pt idx="2">
                  <c:v>67</c:v>
                </c:pt>
                <c:pt idx="3">
                  <c:v>52</c:v>
                </c:pt>
                <c:pt idx="4">
                  <c:v>39</c:v>
                </c:pt>
                <c:pt idx="5">
                  <c:v>33</c:v>
                </c:pt>
                <c:pt idx="6">
                  <c:v>26</c:v>
                </c:pt>
                <c:pt idx="7">
                  <c:v>20</c:v>
                </c:pt>
                <c:pt idx="8">
                  <c:v>18</c:v>
                </c:pt>
                <c:pt idx="9">
                  <c:v>16</c:v>
                </c:pt>
                <c:pt idx="10">
                  <c:v>12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363200"/>
        <c:axId val="173364736"/>
      </c:barChart>
      <c:catAx>
        <c:axId val="173363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364736"/>
        <c:crosses val="autoZero"/>
        <c:auto val="1"/>
        <c:lblAlgn val="ctr"/>
        <c:lblOffset val="100"/>
        <c:noMultiLvlLbl val="0"/>
      </c:catAx>
      <c:valAx>
        <c:axId val="173364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363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'3.3.1'!$C$33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'3.3.1'!$D$32:$J$32</c:f>
              <c:strCache>
                <c:ptCount val="7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2020(T)</c:v>
                </c:pt>
                <c:pt idx="5">
                  <c:v>2025(T)</c:v>
                </c:pt>
                <c:pt idx="6">
                  <c:v>2030 (Target)</c:v>
                </c:pt>
              </c:strCache>
            </c:strRef>
          </c:cat>
          <c:val>
            <c:numRef>
              <c:f>'3.3.1'!$D$33:$J$33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1.0000000000000005E-2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ser>
          <c:idx val="1"/>
          <c:order val="1"/>
          <c:tx>
            <c:strRef>
              <c:f>'3.3.1'!$C$34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'3.3.1'!$D$32:$J$32</c:f>
              <c:strCache>
                <c:ptCount val="7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2020(T)</c:v>
                </c:pt>
                <c:pt idx="5">
                  <c:v>2025(T)</c:v>
                </c:pt>
                <c:pt idx="6">
                  <c:v>2030 (Target)</c:v>
                </c:pt>
              </c:strCache>
            </c:strRef>
          </c:cat>
          <c:val>
            <c:numRef>
              <c:f>'3.3.1'!$D$34:$J$34</c:f>
              <c:numCache>
                <c:formatCode>General</c:formatCode>
                <c:ptCount val="7"/>
                <c:pt idx="0">
                  <c:v>0</c:v>
                </c:pt>
                <c:pt idx="1">
                  <c:v>1.0000000000000005E-2</c:v>
                </c:pt>
                <c:pt idx="2">
                  <c:v>1.0000000000000005E-2</c:v>
                </c:pt>
                <c:pt idx="3">
                  <c:v>1.0000000000000005E-2</c:v>
                </c:pt>
                <c:pt idx="4">
                  <c:v>1.0000000000000005E-2</c:v>
                </c:pt>
                <c:pt idx="5">
                  <c:v>2.0000000000000018E-3</c:v>
                </c:pt>
                <c:pt idx="6">
                  <c:v>1.0000000000000009E-3</c:v>
                </c:pt>
              </c:numCache>
            </c:numRef>
          </c:val>
        </c:ser>
        <c:ser>
          <c:idx val="2"/>
          <c:order val="2"/>
          <c:tx>
            <c:strRef>
              <c:f>'3.3.1'!$C$35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'3.3.1'!$D$32:$J$32</c:f>
              <c:strCache>
                <c:ptCount val="7"/>
                <c:pt idx="0">
                  <c:v>2000</c:v>
                </c:pt>
                <c:pt idx="1">
                  <c:v>2005</c:v>
                </c:pt>
                <c:pt idx="2">
                  <c:v>2010</c:v>
                </c:pt>
                <c:pt idx="3">
                  <c:v>2015</c:v>
                </c:pt>
                <c:pt idx="4">
                  <c:v>2020(T)</c:v>
                </c:pt>
                <c:pt idx="5">
                  <c:v>2025(T)</c:v>
                </c:pt>
                <c:pt idx="6">
                  <c:v>2030 (Target)</c:v>
                </c:pt>
              </c:strCache>
            </c:strRef>
          </c:cat>
          <c:val>
            <c:numRef>
              <c:f>'3.3.1'!$D$35:$J$35</c:f>
              <c:numCache>
                <c:formatCode>General</c:formatCode>
                <c:ptCount val="7"/>
                <c:pt idx="0">
                  <c:v>0</c:v>
                </c:pt>
                <c:pt idx="1">
                  <c:v>1.0000000000000005E-2</c:v>
                </c:pt>
                <c:pt idx="2">
                  <c:v>1.0000000000000005E-2</c:v>
                </c:pt>
                <c:pt idx="3">
                  <c:v>1.0000000000000005E-2</c:v>
                </c:pt>
                <c:pt idx="4">
                  <c:v>1.0000000000000005E-2</c:v>
                </c:pt>
                <c:pt idx="5">
                  <c:v>2.0000000000000018E-3</c:v>
                </c:pt>
                <c:pt idx="6">
                  <c:v>1.0000000000000009E-3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416832"/>
        <c:axId val="173418368"/>
      </c:barChart>
      <c:catAx>
        <c:axId val="173416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418368"/>
        <c:crosses val="autoZero"/>
        <c:auto val="1"/>
        <c:lblAlgn val="ctr"/>
        <c:lblOffset val="100"/>
        <c:noMultiLvlLbl val="0"/>
      </c:catAx>
      <c:valAx>
        <c:axId val="173418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416832"/>
        <c:crosses val="autoZero"/>
        <c:crossBetween val="between"/>
        <c:majorUnit val="1.0000000000000011E-3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Tuberculosis incidence per 100,000 population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1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1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'3.3.2'!$C$3:$T$3</c:f>
              <c:strCache>
                <c:ptCount val="18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2008</c:v>
                </c:pt>
                <c:pt idx="9">
                  <c:v>2009</c:v>
                </c:pt>
                <c:pt idx="10">
                  <c:v>2010</c:v>
                </c:pt>
                <c:pt idx="11">
                  <c:v>2011</c:v>
                </c:pt>
                <c:pt idx="12">
                  <c:v>2012</c:v>
                </c:pt>
                <c:pt idx="13">
                  <c:v>2013</c:v>
                </c:pt>
                <c:pt idx="14">
                  <c:v>2014</c:v>
                </c:pt>
                <c:pt idx="15">
                  <c:v>2020 (T)</c:v>
                </c:pt>
                <c:pt idx="16">
                  <c:v>2025 (T)</c:v>
                </c:pt>
                <c:pt idx="17">
                  <c:v>2030 (Target)</c:v>
                </c:pt>
              </c:strCache>
            </c:strRef>
          </c:cat>
          <c:val>
            <c:numRef>
              <c:f>'3.3.2'!$C$4:$T$4</c:f>
              <c:numCache>
                <c:formatCode>General</c:formatCode>
                <c:ptCount val="18"/>
                <c:pt idx="0">
                  <c:v>225</c:v>
                </c:pt>
                <c:pt idx="1">
                  <c:v>225</c:v>
                </c:pt>
                <c:pt idx="2">
                  <c:v>225</c:v>
                </c:pt>
                <c:pt idx="3">
                  <c:v>225</c:v>
                </c:pt>
                <c:pt idx="4">
                  <c:v>225</c:v>
                </c:pt>
                <c:pt idx="5">
                  <c:v>225</c:v>
                </c:pt>
                <c:pt idx="6">
                  <c:v>225</c:v>
                </c:pt>
                <c:pt idx="7">
                  <c:v>225</c:v>
                </c:pt>
                <c:pt idx="8">
                  <c:v>225</c:v>
                </c:pt>
                <c:pt idx="9">
                  <c:v>225</c:v>
                </c:pt>
                <c:pt idx="10">
                  <c:v>225</c:v>
                </c:pt>
                <c:pt idx="11">
                  <c:v>225</c:v>
                </c:pt>
                <c:pt idx="12">
                  <c:v>225</c:v>
                </c:pt>
                <c:pt idx="13">
                  <c:v>224</c:v>
                </c:pt>
                <c:pt idx="14">
                  <c:v>227</c:v>
                </c:pt>
                <c:pt idx="15">
                  <c:v>220</c:v>
                </c:pt>
                <c:pt idx="16" formatCode="0">
                  <c:v>200</c:v>
                </c:pt>
                <c:pt idx="17">
                  <c:v>150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3490176"/>
        <c:axId val="173491712"/>
      </c:barChart>
      <c:catAx>
        <c:axId val="1734901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491712"/>
        <c:crosses val="autoZero"/>
        <c:auto val="1"/>
        <c:lblAlgn val="ctr"/>
        <c:lblOffset val="100"/>
        <c:noMultiLvlLbl val="0"/>
      </c:catAx>
      <c:valAx>
        <c:axId val="173491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490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'3.3.3'!$B$3:$G$3</c:f>
              <c:strCache>
                <c:ptCount val="6"/>
                <c:pt idx="0">
                  <c:v>2000</c:v>
                </c:pt>
                <c:pt idx="1">
                  <c:v>2005</c:v>
                </c:pt>
                <c:pt idx="2">
                  <c:v>2014</c:v>
                </c:pt>
                <c:pt idx="3">
                  <c:v>2020 (T)</c:v>
                </c:pt>
                <c:pt idx="4">
                  <c:v>2025 (T)</c:v>
                </c:pt>
                <c:pt idx="5">
                  <c:v>2030 (Target)</c:v>
                </c:pt>
              </c:strCache>
            </c:strRef>
          </c:cat>
          <c:val>
            <c:numRef>
              <c:f>'3.3.3'!$B$4:$G$4</c:f>
              <c:numCache>
                <c:formatCode>General</c:formatCode>
                <c:ptCount val="6"/>
                <c:pt idx="0">
                  <c:v>4.4000000000000004</c:v>
                </c:pt>
                <c:pt idx="1">
                  <c:v>4.4000000000000004</c:v>
                </c:pt>
                <c:pt idx="2">
                  <c:v>4.3</c:v>
                </c:pt>
                <c:pt idx="3" formatCode="0.0">
                  <c:v>3</c:v>
                </c:pt>
                <c:pt idx="4">
                  <c:v>1.5</c:v>
                </c:pt>
                <c:pt idx="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517824"/>
        <c:axId val="173523712"/>
      </c:barChart>
      <c:catAx>
        <c:axId val="173517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523712"/>
        <c:crosses val="autoZero"/>
        <c:auto val="1"/>
        <c:lblAlgn val="ctr"/>
        <c:lblOffset val="100"/>
        <c:noMultiLvlLbl val="0"/>
      </c:catAx>
      <c:valAx>
        <c:axId val="173523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5178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'3.3.4'!$F$3:$I$3</c:f>
              <c:strCache>
                <c:ptCount val="4"/>
                <c:pt idx="0">
                  <c:v>2014</c:v>
                </c:pt>
                <c:pt idx="1">
                  <c:v>2020 (T)</c:v>
                </c:pt>
                <c:pt idx="2">
                  <c:v>2025 (T)</c:v>
                </c:pt>
                <c:pt idx="3">
                  <c:v>2030 (Target)</c:v>
                </c:pt>
              </c:strCache>
            </c:strRef>
          </c:cat>
          <c:val>
            <c:numRef>
              <c:f>'3.3.4'!$F$4:$I$4</c:f>
              <c:numCache>
                <c:formatCode>General</c:formatCode>
                <c:ptCount val="4"/>
                <c:pt idx="0">
                  <c:v>546</c:v>
                </c:pt>
                <c:pt idx="1">
                  <c:v>450</c:v>
                </c:pt>
                <c:pt idx="2">
                  <c:v>350</c:v>
                </c:pt>
                <c:pt idx="3">
                  <c:v>250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623552"/>
        <c:axId val="173629440"/>
      </c:barChart>
      <c:catAx>
        <c:axId val="173623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629440"/>
        <c:crosses val="autoZero"/>
        <c:auto val="1"/>
        <c:lblAlgn val="ctr"/>
        <c:lblOffset val="100"/>
        <c:noMultiLvlLbl val="0"/>
      </c:catAx>
      <c:valAx>
        <c:axId val="173629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6235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Number of people requiring interventions against neglected tropical diseases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'3.3.5'!$D$4:$G$4</c:f>
              <c:strCache>
                <c:ptCount val="4"/>
                <c:pt idx="0">
                  <c:v>2014</c:v>
                </c:pt>
                <c:pt idx="1">
                  <c:v>2020 (T)</c:v>
                </c:pt>
                <c:pt idx="2">
                  <c:v>2025 (T)</c:v>
                </c:pt>
                <c:pt idx="3">
                  <c:v>2030 (Target)</c:v>
                </c:pt>
              </c:strCache>
            </c:strRef>
          </c:cat>
          <c:val>
            <c:numRef>
              <c:f>'3.3.5'!$D$5:$G$5</c:f>
              <c:numCache>
                <c:formatCode>_(* #,##0_);_(* \(#,##0\);_(* "-"??_);_(@_)</c:formatCode>
                <c:ptCount val="4"/>
                <c:pt idx="0">
                  <c:v>49873889</c:v>
                </c:pt>
                <c:pt idx="1">
                  <c:v>45000000</c:v>
                </c:pt>
                <c:pt idx="2">
                  <c:v>40000000</c:v>
                </c:pt>
                <c:pt idx="3">
                  <c:v>35000000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671936"/>
        <c:axId val="173673472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'3.3.5'!$D$4:$G$4</c15:sqref>
                        </c15:formulaRef>
                      </c:ext>
                    </c:extLst>
                    <c:strCache>
                      <c:ptCount val="4"/>
                      <c:pt idx="0">
                        <c:v>2014</c:v>
                      </c:pt>
                      <c:pt idx="1">
                        <c:v>2020 (T)</c:v>
                      </c:pt>
                      <c:pt idx="2">
                        <c:v>2025 (T)</c:v>
                      </c:pt>
                      <c:pt idx="3">
                        <c:v>2030 (Target)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'3.3.5'!$D$6:$G$6</c15:sqref>
                        </c15:formulaRef>
                      </c:ext>
                    </c:extLst>
                    <c:numCache>
                      <c:formatCode>General</c:formatCode>
                      <c:ptCount val="4"/>
                    </c:numCache>
                  </c:numRef>
                </c:val>
              </c15:ser>
            </c15:filteredBarSeries>
          </c:ext>
        </c:extLst>
      </c:barChart>
      <c:catAx>
        <c:axId val="1736719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673472"/>
        <c:crosses val="autoZero"/>
        <c:auto val="1"/>
        <c:lblAlgn val="ctr"/>
        <c:lblOffset val="100"/>
        <c:noMultiLvlLbl val="0"/>
      </c:catAx>
      <c:valAx>
        <c:axId val="173673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6719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Mortality between 30 and 70 years of age from cardiovascular disease, cancer, diabetes or chronic respiratory disease (%)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'3.4.1'!$B$4:$G$4</c:f>
              <c:strCache>
                <c:ptCount val="6"/>
                <c:pt idx="0">
                  <c:v>2000</c:v>
                </c:pt>
                <c:pt idx="1">
                  <c:v>2012</c:v>
                </c:pt>
                <c:pt idx="2">
                  <c:v>2014</c:v>
                </c:pt>
                <c:pt idx="3">
                  <c:v>2020 (T)</c:v>
                </c:pt>
                <c:pt idx="4">
                  <c:v>2025 (T)</c:v>
                </c:pt>
                <c:pt idx="5">
                  <c:v>2030 (T)</c:v>
                </c:pt>
              </c:strCache>
            </c:strRef>
          </c:cat>
          <c:val>
            <c:numRef>
              <c:f>'3.4.1'!$B$5:$G$5</c:f>
              <c:numCache>
                <c:formatCode>General</c:formatCode>
                <c:ptCount val="6"/>
                <c:pt idx="0">
                  <c:v>18.68</c:v>
                </c:pt>
                <c:pt idx="1">
                  <c:v>17.52</c:v>
                </c:pt>
                <c:pt idx="2">
                  <c:v>18</c:v>
                </c:pt>
                <c:pt idx="3">
                  <c:v>15</c:v>
                </c:pt>
                <c:pt idx="4">
                  <c:v>10</c:v>
                </c:pt>
                <c:pt idx="5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716608"/>
        <c:axId val="173718144"/>
      </c:barChart>
      <c:catAx>
        <c:axId val="1737166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718144"/>
        <c:crosses val="autoZero"/>
        <c:auto val="1"/>
        <c:lblAlgn val="ctr"/>
        <c:lblOffset val="100"/>
        <c:noMultiLvlLbl val="0"/>
      </c:catAx>
      <c:valAx>
        <c:axId val="173718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7166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Suicide mortality rate (per 100,000 population)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2"/>
          <c:order val="0"/>
          <c:tx>
            <c:strRef>
              <c:f>'3.4.2'!$C$6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1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'3.4.2'!$D$3:$N$3</c:f>
              <c:strCache>
                <c:ptCount val="11"/>
                <c:pt idx="0">
                  <c:v>2000</c:v>
                </c:pt>
                <c:pt idx="1">
                  <c:v>2010</c:v>
                </c:pt>
                <c:pt idx="2">
                  <c:v>2011</c:v>
                </c:pt>
                <c:pt idx="3">
                  <c:v>2012</c:v>
                </c:pt>
                <c:pt idx="4">
                  <c:v>2013</c:v>
                </c:pt>
                <c:pt idx="5">
                  <c:v>2014</c:v>
                </c:pt>
                <c:pt idx="6">
                  <c:v>2015 (Base)</c:v>
                </c:pt>
                <c:pt idx="7">
                  <c:v>2016</c:v>
                </c:pt>
                <c:pt idx="8">
                  <c:v>2020 (T)</c:v>
                </c:pt>
                <c:pt idx="9">
                  <c:v>2025 (T)</c:v>
                </c:pt>
                <c:pt idx="10">
                  <c:v>2030 (Target)</c:v>
                </c:pt>
              </c:strCache>
            </c:strRef>
          </c:cat>
          <c:val>
            <c:numRef>
              <c:f>'3.4.2'!$D$6:$N$6</c:f>
              <c:numCache>
                <c:formatCode>0.0</c:formatCode>
                <c:ptCount val="11"/>
                <c:pt idx="0">
                  <c:v>6.1099999999999985</c:v>
                </c:pt>
                <c:pt idx="1">
                  <c:v>6.84</c:v>
                </c:pt>
                <c:pt idx="2">
                  <c:v>6.7</c:v>
                </c:pt>
                <c:pt idx="3">
                  <c:v>6.8599999999999985</c:v>
                </c:pt>
                <c:pt idx="4">
                  <c:v>7</c:v>
                </c:pt>
                <c:pt idx="5">
                  <c:v>6.96</c:v>
                </c:pt>
                <c:pt idx="6">
                  <c:v>7.08</c:v>
                </c:pt>
                <c:pt idx="7">
                  <c:v>7.21</c:v>
                </c:pt>
                <c:pt idx="8" formatCode="General">
                  <c:v>5.5</c:v>
                </c:pt>
                <c:pt idx="9" formatCode="General">
                  <c:v>3.5</c:v>
                </c:pt>
                <c:pt idx="10">
                  <c:v>2.36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1213568"/>
        <c:axId val="171215104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'3.4.2'!$C$4</c15:sqref>
                        </c15:formulaRef>
                      </c:ext>
                    </c:extLst>
                    <c:strCache>
                      <c:ptCount val="1"/>
                      <c:pt idx="0">
                        <c:v>Female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'3.4.2'!$D$3:$N$3</c15:sqref>
                        </c15:formulaRef>
                      </c:ext>
                    </c:extLst>
                    <c:strCache>
                      <c:ptCount val="11"/>
                      <c:pt idx="0">
                        <c:v>2000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 (Base)</c:v>
                      </c:pt>
                      <c:pt idx="7">
                        <c:v>2016</c:v>
                      </c:pt>
                      <c:pt idx="8">
                        <c:v>2020 (T)</c:v>
                      </c:pt>
                      <c:pt idx="9">
                        <c:v>2025 (T)</c:v>
                      </c:pt>
                      <c:pt idx="10">
                        <c:v>2030 (Target)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'3.4.2'!$D$4:$N$4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 formatCode="0.0">
                        <c:v>6.76</c:v>
                      </c:pt>
                      <c:pt idx="8">
                        <c:v>5</c:v>
                      </c:pt>
                      <c:pt idx="9">
                        <c:v>3</c:v>
                      </c:pt>
                      <c:pt idx="10" formatCode="0.0">
                        <c:v>2.52</c:v>
                      </c:pt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'3.4.2'!$C$5</c15:sqref>
                        </c15:formulaRef>
                      </c:ext>
                    </c:extLst>
                    <c:strCache>
                      <c:ptCount val="1"/>
                      <c:pt idx="0">
                        <c:v>Male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'3.4.2'!$D$3:$N$3</c15:sqref>
                        </c15:formulaRef>
                      </c:ext>
                    </c:extLst>
                    <c:strCache>
                      <c:ptCount val="11"/>
                      <c:pt idx="0">
                        <c:v>2000</c:v>
                      </c:pt>
                      <c:pt idx="1">
                        <c:v>2010</c:v>
                      </c:pt>
                      <c:pt idx="2">
                        <c:v>2011</c:v>
                      </c:pt>
                      <c:pt idx="3">
                        <c:v>2012</c:v>
                      </c:pt>
                      <c:pt idx="4">
                        <c:v>2013</c:v>
                      </c:pt>
                      <c:pt idx="5">
                        <c:v>2014</c:v>
                      </c:pt>
                      <c:pt idx="6">
                        <c:v>2015 (Base)</c:v>
                      </c:pt>
                      <c:pt idx="7">
                        <c:v>2016</c:v>
                      </c:pt>
                      <c:pt idx="8">
                        <c:v>2020 (T)</c:v>
                      </c:pt>
                      <c:pt idx="9">
                        <c:v>2025 (T)</c:v>
                      </c:pt>
                      <c:pt idx="10">
                        <c:v>2030 (Target)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'3.4.2'!$D$5:$N$5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 formatCode="0.0">
                        <c:v>5.5</c:v>
                      </c:pt>
                      <c:pt idx="8">
                        <c:v>4</c:v>
                      </c:pt>
                      <c:pt idx="9">
                        <c:v>2</c:v>
                      </c:pt>
                      <c:pt idx="10" formatCode="0.0">
                        <c:v>1.87</c:v>
                      </c:pt>
                    </c:numCache>
                  </c:numRef>
                </c:val>
              </c15:ser>
            </c15:filteredBarSeries>
          </c:ext>
        </c:extLst>
      </c:barChart>
      <c:catAx>
        <c:axId val="1712135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15104"/>
        <c:crosses val="autoZero"/>
        <c:auto val="1"/>
        <c:lblAlgn val="ctr"/>
        <c:lblOffset val="100"/>
        <c:noMultiLvlLbl val="0"/>
      </c:catAx>
      <c:valAx>
        <c:axId val="1712151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135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/>
              <a:t>Total alcohol per capita (age 15+ years) consumption, Litres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'3.5.2'!$C$4:$H$4</c:f>
              <c:strCache>
                <c:ptCount val="6"/>
                <c:pt idx="0">
                  <c:v>2005</c:v>
                </c:pt>
                <c:pt idx="1">
                  <c:v>2010</c:v>
                </c:pt>
                <c:pt idx="2">
                  <c:v>2015</c:v>
                </c:pt>
                <c:pt idx="3">
                  <c:v>2020 (T)</c:v>
                </c:pt>
                <c:pt idx="4">
                  <c:v>2025 (T)</c:v>
                </c:pt>
                <c:pt idx="5">
                  <c:v>2030 (Target)</c:v>
                </c:pt>
              </c:strCache>
            </c:strRef>
          </c:cat>
          <c:val>
            <c:numRef>
              <c:f>'3.5.2'!$C$5:$H$5</c:f>
              <c:numCache>
                <c:formatCode>General</c:formatCode>
                <c:ptCount val="6"/>
                <c:pt idx="0">
                  <c:v>0.2</c:v>
                </c:pt>
                <c:pt idx="1">
                  <c:v>0.2</c:v>
                </c:pt>
                <c:pt idx="2">
                  <c:v>0.2</c:v>
                </c:pt>
                <c:pt idx="3">
                  <c:v>0.2</c:v>
                </c:pt>
                <c:pt idx="4">
                  <c:v>0.15000000000000011</c:v>
                </c:pt>
                <c:pt idx="5">
                  <c:v>0.1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1267200"/>
        <c:axId val="171268736"/>
      </c:barChart>
      <c:catAx>
        <c:axId val="1712672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68736"/>
        <c:crosses val="autoZero"/>
        <c:auto val="1"/>
        <c:lblAlgn val="ctr"/>
        <c:lblOffset val="100"/>
        <c:noMultiLvlLbl val="0"/>
      </c:catAx>
      <c:valAx>
        <c:axId val="171268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2672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Mortality rate from road traffic injuries (per 100000 population)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5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1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1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'3.6.1'!$B$6:$S$6</c:f>
              <c:strCache>
                <c:ptCount val="18"/>
                <c:pt idx="0">
                  <c:v>2000</c:v>
                </c:pt>
                <c:pt idx="1">
                  <c:v>2001</c:v>
                </c:pt>
                <c:pt idx="2">
                  <c:v>2002</c:v>
                </c:pt>
                <c:pt idx="3">
                  <c:v>2003</c:v>
                </c:pt>
                <c:pt idx="4">
                  <c:v>2004</c:v>
                </c:pt>
                <c:pt idx="5">
                  <c:v>2005</c:v>
                </c:pt>
                <c:pt idx="6">
                  <c:v>2006</c:v>
                </c:pt>
                <c:pt idx="7">
                  <c:v>2007</c:v>
                </c:pt>
                <c:pt idx="8">
                  <c:v>2010</c:v>
                </c:pt>
                <c:pt idx="9">
                  <c:v>2011</c:v>
                </c:pt>
                <c:pt idx="10">
                  <c:v>2012</c:v>
                </c:pt>
                <c:pt idx="11">
                  <c:v>2013</c:v>
                </c:pt>
                <c:pt idx="12">
                  <c:v>2014</c:v>
                </c:pt>
                <c:pt idx="13">
                  <c:v>2015 (Base)</c:v>
                </c:pt>
                <c:pt idx="14">
                  <c:v>2016</c:v>
                </c:pt>
                <c:pt idx="15">
                  <c:v>2020 (T)</c:v>
                </c:pt>
                <c:pt idx="16">
                  <c:v>2025 (T)</c:v>
                </c:pt>
                <c:pt idx="17">
                  <c:v>2030 (Target)</c:v>
                </c:pt>
              </c:strCache>
            </c:strRef>
          </c:cat>
          <c:val>
            <c:numRef>
              <c:f>'3.6.1'!$B$7:$S$7</c:f>
              <c:numCache>
                <c:formatCode>General</c:formatCode>
                <c:ptCount val="18"/>
                <c:pt idx="0">
                  <c:v>14.3</c:v>
                </c:pt>
                <c:pt idx="1">
                  <c:v>14.2</c:v>
                </c:pt>
                <c:pt idx="2">
                  <c:v>14.2</c:v>
                </c:pt>
                <c:pt idx="3">
                  <c:v>14</c:v>
                </c:pt>
                <c:pt idx="4">
                  <c:v>14.4</c:v>
                </c:pt>
                <c:pt idx="5">
                  <c:v>14.4</c:v>
                </c:pt>
                <c:pt idx="6">
                  <c:v>14.3</c:v>
                </c:pt>
                <c:pt idx="7">
                  <c:v>14.4</c:v>
                </c:pt>
                <c:pt idx="8">
                  <c:v>2.12</c:v>
                </c:pt>
                <c:pt idx="9">
                  <c:v>2.2000000000000002</c:v>
                </c:pt>
                <c:pt idx="10">
                  <c:v>2.2400000000000002</c:v>
                </c:pt>
                <c:pt idx="11">
                  <c:v>1.81</c:v>
                </c:pt>
                <c:pt idx="12">
                  <c:v>2.11</c:v>
                </c:pt>
                <c:pt idx="13">
                  <c:v>2.29</c:v>
                </c:pt>
                <c:pt idx="14">
                  <c:v>2.44</c:v>
                </c:pt>
                <c:pt idx="15">
                  <c:v>2</c:v>
                </c:pt>
                <c:pt idx="16">
                  <c:v>1.5</c:v>
                </c:pt>
                <c:pt idx="17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71307776"/>
        <c:axId val="171309312"/>
      </c:barChart>
      <c:catAx>
        <c:axId val="171307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309312"/>
        <c:crosses val="autoZero"/>
        <c:auto val="1"/>
        <c:lblAlgn val="ctr"/>
        <c:lblOffset val="100"/>
        <c:noMultiLvlLbl val="0"/>
      </c:catAx>
      <c:valAx>
        <c:axId val="171309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3077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Demand for family planning satisfied with modern methods (%)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'3.7.1'!$C$7:$K$7</c:f>
              <c:strCache>
                <c:ptCount val="9"/>
                <c:pt idx="0">
                  <c:v>2000</c:v>
                </c:pt>
                <c:pt idx="1">
                  <c:v>2004</c:v>
                </c:pt>
                <c:pt idx="2">
                  <c:v>2007</c:v>
                </c:pt>
                <c:pt idx="3">
                  <c:v>2011</c:v>
                </c:pt>
                <c:pt idx="4">
                  <c:v>2013</c:v>
                </c:pt>
                <c:pt idx="5">
                  <c:v>2014</c:v>
                </c:pt>
                <c:pt idx="6">
                  <c:v>2020 (T)</c:v>
                </c:pt>
                <c:pt idx="7">
                  <c:v>2025 (T)</c:v>
                </c:pt>
                <c:pt idx="8">
                  <c:v>2030 (Target)</c:v>
                </c:pt>
              </c:strCache>
            </c:strRef>
          </c:cat>
          <c:val>
            <c:numRef>
              <c:f>'3.7.1'!$C$8:$K$8</c:f>
              <c:numCache>
                <c:formatCode>General</c:formatCode>
                <c:ptCount val="9"/>
                <c:pt idx="0">
                  <c:v>60.7</c:v>
                </c:pt>
                <c:pt idx="1">
                  <c:v>64.8</c:v>
                </c:pt>
                <c:pt idx="2">
                  <c:v>65.400000000000006</c:v>
                </c:pt>
                <c:pt idx="3">
                  <c:v>69.7</c:v>
                </c:pt>
                <c:pt idx="4">
                  <c:v>78.3</c:v>
                </c:pt>
                <c:pt idx="5">
                  <c:v>72.599999999999994</c:v>
                </c:pt>
                <c:pt idx="6">
                  <c:v>75</c:v>
                </c:pt>
                <c:pt idx="7">
                  <c:v>80</c:v>
                </c:pt>
                <c:pt idx="8">
                  <c:v>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1360640"/>
        <c:axId val="171362176"/>
      </c:barChart>
      <c:catAx>
        <c:axId val="1713606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362176"/>
        <c:crosses val="autoZero"/>
        <c:auto val="1"/>
        <c:lblAlgn val="ctr"/>
        <c:lblOffset val="100"/>
        <c:noMultiLvlLbl val="0"/>
      </c:catAx>
      <c:valAx>
        <c:axId val="1713621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3606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'3.7.2'!$J$42</c:f>
              <c:strCache>
                <c:ptCount val="1"/>
                <c:pt idx="0">
                  <c:v>AFR (Na)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'3.7.2'!$I$43:$I$53</c:f>
              <c:strCache>
                <c:ptCount val="11"/>
                <c:pt idx="0">
                  <c:v>1981</c:v>
                </c:pt>
                <c:pt idx="1">
                  <c:v>1985</c:v>
                </c:pt>
                <c:pt idx="2">
                  <c:v>1990</c:v>
                </c:pt>
                <c:pt idx="3">
                  <c:v>1995</c:v>
                </c:pt>
                <c:pt idx="4">
                  <c:v>2000</c:v>
                </c:pt>
                <c:pt idx="5">
                  <c:v>2005</c:v>
                </c:pt>
                <c:pt idx="6">
                  <c:v>2010</c:v>
                </c:pt>
                <c:pt idx="7">
                  <c:v>2015 (Base)</c:v>
                </c:pt>
                <c:pt idx="8">
                  <c:v>2020 (T)</c:v>
                </c:pt>
                <c:pt idx="9">
                  <c:v>2025 (T)</c:v>
                </c:pt>
                <c:pt idx="10">
                  <c:v>2030 (Target)</c:v>
                </c:pt>
              </c:strCache>
            </c:strRef>
          </c:cat>
          <c:val>
            <c:numRef>
              <c:f>'3.7.2'!$J$43:$J$53</c:f>
              <c:numCache>
                <c:formatCode>General</c:formatCode>
                <c:ptCount val="11"/>
                <c:pt idx="0">
                  <c:v>133</c:v>
                </c:pt>
                <c:pt idx="1">
                  <c:v>89</c:v>
                </c:pt>
                <c:pt idx="2">
                  <c:v>79</c:v>
                </c:pt>
                <c:pt idx="3">
                  <c:v>55</c:v>
                </c:pt>
                <c:pt idx="4">
                  <c:v>39</c:v>
                </c:pt>
                <c:pt idx="5">
                  <c:v>57</c:v>
                </c:pt>
                <c:pt idx="6">
                  <c:v>59</c:v>
                </c:pt>
                <c:pt idx="7">
                  <c:v>75</c:v>
                </c:pt>
                <c:pt idx="8">
                  <c:v>60</c:v>
                </c:pt>
                <c:pt idx="9">
                  <c:v>50</c:v>
                </c:pt>
                <c:pt idx="10">
                  <c:v>40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1400576"/>
        <c:axId val="171406464"/>
      </c:barChart>
      <c:catAx>
        <c:axId val="171400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406464"/>
        <c:crosses val="autoZero"/>
        <c:auto val="1"/>
        <c:lblAlgn val="ctr"/>
        <c:lblOffset val="100"/>
        <c:noMultiLvlLbl val="0"/>
      </c:catAx>
      <c:valAx>
        <c:axId val="171406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4005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UHC Serive Coverage Index 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'3.8.1'!$B$5</c:f>
              <c:strCache>
                <c:ptCount val="1"/>
                <c:pt idx="0">
                  <c:v>UHC Service Coverage Index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'3.8.1'!$C$4:$F$4</c:f>
              <c:strCache>
                <c:ptCount val="4"/>
                <c:pt idx="0">
                  <c:v>2015</c:v>
                </c:pt>
                <c:pt idx="1">
                  <c:v>2020 (T)</c:v>
                </c:pt>
                <c:pt idx="2">
                  <c:v>2025 (T)</c:v>
                </c:pt>
                <c:pt idx="3">
                  <c:v>2030 (Target)</c:v>
                </c:pt>
              </c:strCache>
            </c:strRef>
          </c:cat>
          <c:val>
            <c:numRef>
              <c:f>'3.8.1'!$C$5:$F$5</c:f>
              <c:numCache>
                <c:formatCode>General</c:formatCode>
                <c:ptCount val="4"/>
                <c:pt idx="0">
                  <c:v>52</c:v>
                </c:pt>
                <c:pt idx="1">
                  <c:v>65</c:v>
                </c:pt>
                <c:pt idx="2">
                  <c:v>80</c:v>
                </c:pt>
                <c:pt idx="3">
                  <c:v>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4013440"/>
        <c:axId val="174023424"/>
      </c:barChart>
      <c:catAx>
        <c:axId val="174013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023424"/>
        <c:crosses val="autoZero"/>
        <c:auto val="1"/>
        <c:lblAlgn val="ctr"/>
        <c:lblOffset val="100"/>
        <c:noMultiLvlLbl val="0"/>
      </c:catAx>
      <c:valAx>
        <c:axId val="174023424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0134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/>
              <a:t>O</a:t>
            </a:r>
            <a:r>
              <a:rPr lang="en-US" sz="1600" b="1" dirty="0" smtClean="0"/>
              <a:t>ut</a:t>
            </a:r>
            <a:r>
              <a:rPr lang="en-US" sz="1600" b="1" baseline="0" dirty="0" smtClean="0"/>
              <a:t> </a:t>
            </a:r>
            <a:r>
              <a:rPr lang="en-US" sz="1600" b="1" baseline="0" dirty="0"/>
              <a:t>of pocket expenditure, as % of the health expenditure </a:t>
            </a:r>
            <a:endParaRPr lang="en-US" sz="1600" b="1" dirty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'3.8.2'!$C$13:$C$14</c:f>
              <c:strCache>
                <c:ptCount val="2"/>
                <c:pt idx="0">
                  <c:v>Out of Pocket expenditure, as % of the health expenditure </c:v>
                </c:pt>
                <c:pt idx="1">
                  <c:v>Public health expenditure, as % of the health expenditure </c:v>
                </c:pt>
              </c:strCache>
            </c:strRef>
          </c:cat>
          <c:val>
            <c:numRef>
              <c:f>'3.8.2'!$D$13:$D$14</c:f>
              <c:numCache>
                <c:formatCode>0%</c:formatCode>
                <c:ptCount val="2"/>
                <c:pt idx="0">
                  <c:v>0.67000000000000071</c:v>
                </c:pt>
                <c:pt idx="1">
                  <c:v>0.33000000000000035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6.3457801304187919E-2"/>
          <c:y val="0.76345555908044593"/>
          <c:w val="0.8840426547146305"/>
          <c:h val="0.2210782227326209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400" b="1"/>
              <a:t>Public spending on health 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2"/>
          <c:order val="0"/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'3.8.2'!$C$28</c:f>
              <c:strCache>
                <c:ptCount val="1"/>
                <c:pt idx="0">
                  <c:v>Public spending on health </c:v>
                </c:pt>
              </c:strCache>
            </c:strRef>
          </c:cat>
          <c:val>
            <c:numRef>
              <c:f>'3.8.2'!$F$28</c:f>
              <c:numCache>
                <c:formatCode>0.00%</c:formatCode>
                <c:ptCount val="1"/>
                <c:pt idx="0">
                  <c:v>5.7000000000000023E-2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835392"/>
        <c:axId val="17383692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'3.8.2'!$C$28</c15:sqref>
                        </c15:formulaRef>
                      </c:ext>
                    </c:extLst>
                    <c:strCache>
                      <c:ptCount val="1"/>
                      <c:pt idx="0">
                        <c:v>Public spending on health 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'3.8.2'!$D$28</c15:sqref>
                        </c15:formulaRef>
                      </c:ext>
                    </c:extLst>
                    <c:numCache>
                      <c:formatCode>General</c:formatCode>
                      <c:ptCount val="1"/>
                    </c:numCache>
                  </c:numRef>
                </c:val>
              </c15:ser>
            </c15:filteredBarSeries>
            <c15:filteredBarSeries>
              <c15:ser>
                <c:idx val="1"/>
                <c:order val="1"/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'3.8.2'!$C$28</c15:sqref>
                        </c15:formulaRef>
                      </c:ext>
                    </c:extLst>
                    <c:strCache>
                      <c:ptCount val="1"/>
                      <c:pt idx="0">
                        <c:v>Public spending on health 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'3.8.2'!$E$28</c15:sqref>
                        </c15:formulaRef>
                      </c:ext>
                    </c:extLst>
                    <c:numCache>
                      <c:formatCode>General</c:formatCode>
                      <c:ptCount val="1"/>
                    </c:numCache>
                  </c:numRef>
                </c:val>
              </c15:ser>
            </c15:filteredBarSeries>
          </c:ext>
        </c:extLst>
      </c:barChart>
      <c:catAx>
        <c:axId val="17383539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73836928"/>
        <c:crosses val="autoZero"/>
        <c:auto val="1"/>
        <c:lblAlgn val="ctr"/>
        <c:lblOffset val="100"/>
        <c:noMultiLvlLbl val="0"/>
      </c:catAx>
      <c:valAx>
        <c:axId val="173836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835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'3.9.1'!$C$5:$F$5</c:f>
              <c:strCache>
                <c:ptCount val="4"/>
                <c:pt idx="0">
                  <c:v>2012</c:v>
                </c:pt>
                <c:pt idx="1">
                  <c:v>2020 (T)</c:v>
                </c:pt>
                <c:pt idx="2">
                  <c:v>2025 (T)</c:v>
                </c:pt>
                <c:pt idx="3">
                  <c:v>2030 (Target)</c:v>
                </c:pt>
              </c:strCache>
            </c:strRef>
          </c:cat>
          <c:val>
            <c:numRef>
              <c:f>'3.9.1'!$C$6:$F$6</c:f>
              <c:numCache>
                <c:formatCode>General</c:formatCode>
                <c:ptCount val="4"/>
                <c:pt idx="0">
                  <c:v>68</c:v>
                </c:pt>
                <c:pt idx="1">
                  <c:v>65</c:v>
                </c:pt>
                <c:pt idx="2">
                  <c:v>60</c:v>
                </c:pt>
                <c:pt idx="3">
                  <c:v>55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945600"/>
        <c:axId val="173947136"/>
      </c:barChart>
      <c:catAx>
        <c:axId val="173945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947136"/>
        <c:crosses val="autoZero"/>
        <c:auto val="1"/>
        <c:lblAlgn val="ctr"/>
        <c:lblOffset val="100"/>
        <c:noMultiLvlLbl val="0"/>
      </c:catAx>
      <c:valAx>
        <c:axId val="173947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945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'3.9.2'!$C$3:$F$3</c:f>
              <c:strCache>
                <c:ptCount val="4"/>
                <c:pt idx="0">
                  <c:v>2012</c:v>
                </c:pt>
                <c:pt idx="1">
                  <c:v>2020 (T)</c:v>
                </c:pt>
                <c:pt idx="2">
                  <c:v>2025 (T)</c:v>
                </c:pt>
                <c:pt idx="3">
                  <c:v>2030 (Target)</c:v>
                </c:pt>
              </c:strCache>
            </c:strRef>
          </c:cat>
          <c:val>
            <c:numRef>
              <c:f>'3.9.2'!$C$4:$F$4</c:f>
              <c:numCache>
                <c:formatCode>General</c:formatCode>
                <c:ptCount val="4"/>
                <c:pt idx="0">
                  <c:v>5.96</c:v>
                </c:pt>
                <c:pt idx="1">
                  <c:v>5.5</c:v>
                </c:pt>
                <c:pt idx="2" formatCode="0.0">
                  <c:v>5</c:v>
                </c:pt>
                <c:pt idx="3">
                  <c:v>4.5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977600"/>
        <c:axId val="173979136"/>
      </c:barChart>
      <c:catAx>
        <c:axId val="1739776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979136"/>
        <c:crosses val="autoZero"/>
        <c:auto val="1"/>
        <c:lblAlgn val="ctr"/>
        <c:lblOffset val="100"/>
        <c:noMultiLvlLbl val="0"/>
      </c:catAx>
      <c:valAx>
        <c:axId val="1739791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977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'3.9.3'!$C$4:$F$4</c:f>
              <c:strCache>
                <c:ptCount val="4"/>
                <c:pt idx="0">
                  <c:v>2012</c:v>
                </c:pt>
                <c:pt idx="1">
                  <c:v>2020 (T)</c:v>
                </c:pt>
                <c:pt idx="2">
                  <c:v>2025 (T)</c:v>
                </c:pt>
                <c:pt idx="3">
                  <c:v>2030 (Target)</c:v>
                </c:pt>
              </c:strCache>
            </c:strRef>
          </c:cat>
          <c:val>
            <c:numRef>
              <c:f>'3.9.3'!$C$5:$F$5</c:f>
              <c:numCache>
                <c:formatCode>0.0</c:formatCode>
                <c:ptCount val="4"/>
                <c:pt idx="0" formatCode="General">
                  <c:v>5.72</c:v>
                </c:pt>
                <c:pt idx="1">
                  <c:v>5</c:v>
                </c:pt>
                <c:pt idx="2" formatCode="General">
                  <c:v>4.5</c:v>
                </c:pt>
                <c:pt idx="3">
                  <c:v>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3898752"/>
        <c:axId val="173908736"/>
      </c:barChart>
      <c:catAx>
        <c:axId val="1738987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908736"/>
        <c:crosses val="autoZero"/>
        <c:auto val="1"/>
        <c:lblAlgn val="ctr"/>
        <c:lblOffset val="100"/>
        <c:noMultiLvlLbl val="0"/>
      </c:catAx>
      <c:valAx>
        <c:axId val="173908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38987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solidFill>
                  <a:schemeClr val="accent2"/>
                </a:solidFill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'3.a.1'!$C$5:$F$5</c:f>
              <c:strCache>
                <c:ptCount val="4"/>
                <c:pt idx="0">
                  <c:v>2009</c:v>
                </c:pt>
                <c:pt idx="1">
                  <c:v>2020 (T)</c:v>
                </c:pt>
                <c:pt idx="2">
                  <c:v>2025 (T)</c:v>
                </c:pt>
                <c:pt idx="3">
                  <c:v>2030 (Target)</c:v>
                </c:pt>
              </c:strCache>
            </c:strRef>
          </c:cat>
          <c:val>
            <c:numRef>
              <c:f>'3.a.1'!$C$6:$F$6</c:f>
              <c:numCache>
                <c:formatCode>0%</c:formatCode>
                <c:ptCount val="4"/>
                <c:pt idx="0" formatCode="0.00%">
                  <c:v>0.43300000000000022</c:v>
                </c:pt>
                <c:pt idx="1">
                  <c:v>0.3500000000000002</c:v>
                </c:pt>
                <c:pt idx="2">
                  <c:v>0.30000000000000021</c:v>
                </c:pt>
                <c:pt idx="3">
                  <c:v>0.25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4344448"/>
        <c:axId val="174354432"/>
      </c:barChart>
      <c:catAx>
        <c:axId val="174344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354432"/>
        <c:crosses val="autoZero"/>
        <c:auto val="1"/>
        <c:lblAlgn val="ctr"/>
        <c:lblOffset val="100"/>
        <c:noMultiLvlLbl val="0"/>
      </c:catAx>
      <c:valAx>
        <c:axId val="174354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3444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/>
              <a:t>Proportion of the population with access to vaccines on a sustainable basis, %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'3.b.1'!$B$8:$K$8</c:f>
              <c:strCache>
                <c:ptCount val="10"/>
                <c:pt idx="0">
                  <c:v>1993-94</c:v>
                </c:pt>
                <c:pt idx="1">
                  <c:v>1996-97</c:v>
                </c:pt>
                <c:pt idx="2">
                  <c:v>1999-00</c:v>
                </c:pt>
                <c:pt idx="3">
                  <c:v>2004</c:v>
                </c:pt>
                <c:pt idx="4">
                  <c:v>2007</c:v>
                </c:pt>
                <c:pt idx="5">
                  <c:v>2011</c:v>
                </c:pt>
                <c:pt idx="6">
                  <c:v>2014</c:v>
                </c:pt>
                <c:pt idx="7">
                  <c:v>2020 (T)</c:v>
                </c:pt>
                <c:pt idx="8">
                  <c:v>2025 (T)</c:v>
                </c:pt>
                <c:pt idx="9">
                  <c:v>2030 (Target)</c:v>
                </c:pt>
              </c:strCache>
            </c:strRef>
          </c:cat>
          <c:val>
            <c:numRef>
              <c:f>'3.b.1'!$B$9:$K$9</c:f>
              <c:numCache>
                <c:formatCode>General</c:formatCode>
                <c:ptCount val="10"/>
                <c:pt idx="0">
                  <c:v>46.2</c:v>
                </c:pt>
                <c:pt idx="1">
                  <c:v>46.9</c:v>
                </c:pt>
                <c:pt idx="2">
                  <c:v>52.8</c:v>
                </c:pt>
                <c:pt idx="3">
                  <c:v>68.400000000000006</c:v>
                </c:pt>
                <c:pt idx="4">
                  <c:v>76</c:v>
                </c:pt>
                <c:pt idx="5">
                  <c:v>82.6</c:v>
                </c:pt>
                <c:pt idx="6">
                  <c:v>78</c:v>
                </c:pt>
                <c:pt idx="7">
                  <c:v>95</c:v>
                </c:pt>
                <c:pt idx="8">
                  <c:v>98</c:v>
                </c:pt>
                <c:pt idx="9">
                  <c:v>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4487040"/>
        <c:axId val="174488576"/>
      </c:barChart>
      <c:catAx>
        <c:axId val="174487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488576"/>
        <c:crosses val="autoZero"/>
        <c:auto val="1"/>
        <c:lblAlgn val="ctr"/>
        <c:lblOffset val="100"/>
        <c:noMultiLvlLbl val="0"/>
      </c:catAx>
      <c:valAx>
        <c:axId val="1744885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4870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>
                <a:effectLst/>
              </a:rPr>
              <a:t>Total ODA to medical research and basic health sectors, US$ Million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'3.b.2'!$F$24</c:f>
              <c:strCache>
                <c:ptCount val="1"/>
                <c:pt idx="0">
                  <c:v>US$M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1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1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'3.b.2'!$G$23:$S$23</c:f>
              <c:strCache>
                <c:ptCount val="13"/>
                <c:pt idx="0">
                  <c:v>FY 07</c:v>
                </c:pt>
                <c:pt idx="1">
                  <c:v>FY 08</c:v>
                </c:pt>
                <c:pt idx="2">
                  <c:v>FY 09</c:v>
                </c:pt>
                <c:pt idx="3">
                  <c:v>FY 10</c:v>
                </c:pt>
                <c:pt idx="4">
                  <c:v>FY 11</c:v>
                </c:pt>
                <c:pt idx="5">
                  <c:v>FY 12</c:v>
                </c:pt>
                <c:pt idx="6">
                  <c:v>FY 13</c:v>
                </c:pt>
                <c:pt idx="7">
                  <c:v>FY 14</c:v>
                </c:pt>
                <c:pt idx="8">
                  <c:v>FY 15 (Base)</c:v>
                </c:pt>
                <c:pt idx="9">
                  <c:v>FY 16</c:v>
                </c:pt>
                <c:pt idx="10">
                  <c:v>FY 20 (T)</c:v>
                </c:pt>
                <c:pt idx="11">
                  <c:v>FY 25 (T)</c:v>
                </c:pt>
                <c:pt idx="12">
                  <c:v>FY 30 (Target)</c:v>
                </c:pt>
              </c:strCache>
            </c:strRef>
          </c:cat>
          <c:val>
            <c:numRef>
              <c:f>'3.b.2'!$G$24:$S$24</c:f>
              <c:numCache>
                <c:formatCode>General</c:formatCode>
                <c:ptCount val="13"/>
                <c:pt idx="0">
                  <c:v>249.5</c:v>
                </c:pt>
                <c:pt idx="1">
                  <c:v>193.9</c:v>
                </c:pt>
                <c:pt idx="2">
                  <c:v>172.9</c:v>
                </c:pt>
                <c:pt idx="3">
                  <c:v>176.2</c:v>
                </c:pt>
                <c:pt idx="4">
                  <c:v>224.5</c:v>
                </c:pt>
                <c:pt idx="5">
                  <c:v>274.10000000000002</c:v>
                </c:pt>
                <c:pt idx="6">
                  <c:v>224.1</c:v>
                </c:pt>
                <c:pt idx="7">
                  <c:v>242.7</c:v>
                </c:pt>
                <c:pt idx="8">
                  <c:v>177.4</c:v>
                </c:pt>
                <c:pt idx="9">
                  <c:v>206.2</c:v>
                </c:pt>
                <c:pt idx="10">
                  <c:v>300</c:v>
                </c:pt>
                <c:pt idx="11">
                  <c:v>400</c:v>
                </c:pt>
                <c:pt idx="12">
                  <c:v>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4544000"/>
        <c:axId val="174545536"/>
      </c:barChart>
      <c:catAx>
        <c:axId val="174544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545536"/>
        <c:crosses val="autoZero"/>
        <c:auto val="1"/>
        <c:lblAlgn val="ctr"/>
        <c:lblOffset val="100"/>
        <c:noMultiLvlLbl val="0"/>
      </c:catAx>
      <c:valAx>
        <c:axId val="1745455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544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'3.c.1'!$C$5:$L$5</c:f>
              <c:strCache>
                <c:ptCount val="10"/>
                <c:pt idx="0">
                  <c:v>2003</c:v>
                </c:pt>
                <c:pt idx="1">
                  <c:v>2004</c:v>
                </c:pt>
                <c:pt idx="2">
                  <c:v>2005</c:v>
                </c:pt>
                <c:pt idx="3">
                  <c:v>2006</c:v>
                </c:pt>
                <c:pt idx="4">
                  <c:v>2007</c:v>
                </c:pt>
                <c:pt idx="5">
                  <c:v>2011</c:v>
                </c:pt>
                <c:pt idx="6">
                  <c:v>2016</c:v>
                </c:pt>
                <c:pt idx="7">
                  <c:v>2020 (T)</c:v>
                </c:pt>
                <c:pt idx="8">
                  <c:v>2025 (T)</c:v>
                </c:pt>
                <c:pt idx="9">
                  <c:v>2030 (Target)</c:v>
                </c:pt>
              </c:strCache>
            </c:strRef>
          </c:cat>
          <c:val>
            <c:numRef>
              <c:f>'3.c.1'!$C$6:$L$6</c:f>
              <c:numCache>
                <c:formatCode>General</c:formatCode>
                <c:ptCount val="10"/>
                <c:pt idx="0" formatCode="0.0">
                  <c:v>5</c:v>
                </c:pt>
                <c:pt idx="1">
                  <c:v>5.7</c:v>
                </c:pt>
                <c:pt idx="2">
                  <c:v>5.8</c:v>
                </c:pt>
                <c:pt idx="3">
                  <c:v>5.9</c:v>
                </c:pt>
                <c:pt idx="4">
                  <c:v>5.7</c:v>
                </c:pt>
                <c:pt idx="5">
                  <c:v>5.7</c:v>
                </c:pt>
                <c:pt idx="6">
                  <c:v>7.4</c:v>
                </c:pt>
                <c:pt idx="7">
                  <c:v>7.5</c:v>
                </c:pt>
                <c:pt idx="8" formatCode="0.0">
                  <c:v>8</c:v>
                </c:pt>
                <c:pt idx="9" formatCode="0.0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4404352"/>
        <c:axId val="174405888"/>
      </c:barChart>
      <c:catAx>
        <c:axId val="174404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405888"/>
        <c:crosses val="autoZero"/>
        <c:auto val="1"/>
        <c:lblAlgn val="ctr"/>
        <c:lblOffset val="100"/>
        <c:noMultiLvlLbl val="0"/>
      </c:catAx>
      <c:valAx>
        <c:axId val="174405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4043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/>
              <a:t>International Health Regulations Core Capacity Index 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'3.d.1'!$C$5:$K$5</c:f>
              <c:strCache>
                <c:ptCount val="9"/>
                <c:pt idx="0">
                  <c:v>2010</c:v>
                </c:pt>
                <c:pt idx="1">
                  <c:v>2011</c:v>
                </c:pt>
                <c:pt idx="2">
                  <c:v>2012</c:v>
                </c:pt>
                <c:pt idx="3">
                  <c:v>2013</c:v>
                </c:pt>
                <c:pt idx="4">
                  <c:v>2014</c:v>
                </c:pt>
                <c:pt idx="5">
                  <c:v>2015</c:v>
                </c:pt>
                <c:pt idx="6">
                  <c:v>2020 (T)</c:v>
                </c:pt>
                <c:pt idx="7">
                  <c:v>2025 (T)</c:v>
                </c:pt>
                <c:pt idx="8">
                  <c:v>2030 (Target)</c:v>
                </c:pt>
              </c:strCache>
            </c:strRef>
          </c:cat>
          <c:val>
            <c:numRef>
              <c:f>'3.d.1'!$C$6:$K$6</c:f>
              <c:numCache>
                <c:formatCode>General</c:formatCode>
                <c:ptCount val="9"/>
                <c:pt idx="0">
                  <c:v>67.5</c:v>
                </c:pt>
                <c:pt idx="1">
                  <c:v>59.9</c:v>
                </c:pt>
                <c:pt idx="2">
                  <c:v>67.099999999999994</c:v>
                </c:pt>
                <c:pt idx="3">
                  <c:v>77.3</c:v>
                </c:pt>
                <c:pt idx="4">
                  <c:v>81.599999999999994</c:v>
                </c:pt>
                <c:pt idx="5">
                  <c:v>87.5</c:v>
                </c:pt>
                <c:pt idx="6" formatCode="0.0">
                  <c:v>90</c:v>
                </c:pt>
                <c:pt idx="7" formatCode="0.0">
                  <c:v>95</c:v>
                </c:pt>
                <c:pt idx="8" formatCode="0.0">
                  <c:v>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74432256"/>
        <c:axId val="174433792"/>
      </c:barChart>
      <c:catAx>
        <c:axId val="174432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433792"/>
        <c:crosses val="autoZero"/>
        <c:auto val="1"/>
        <c:lblAlgn val="ctr"/>
        <c:lblOffset val="100"/>
        <c:noMultiLvlLbl val="0"/>
      </c:catAx>
      <c:valAx>
        <c:axId val="1744337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4322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20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50B44-DFFA-4990-AE61-E36826D43EDD}" type="datetimeFigureOut">
              <a:rPr lang="en-US" smtClean="0"/>
              <a:pPr/>
              <a:t>9/1/2020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DB236-AB09-490C-89BF-AEC87EE729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56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4D1538-A622-4A38-B469-4F5E81620869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08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90CF-7702-4BEB-80AD-56C9CF6F4BBA}" type="datetimeFigureOut">
              <a:rPr lang="en-US" smtClean="0"/>
              <a:pPr/>
              <a:t>9/1/2020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A828-C459-4F5D-906B-49022D795B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827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90CF-7702-4BEB-80AD-56C9CF6F4BBA}" type="datetimeFigureOut">
              <a:rPr lang="en-US" smtClean="0"/>
              <a:pPr/>
              <a:t>9/1/2020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A828-C459-4F5D-906B-49022D795B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798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90CF-7702-4BEB-80AD-56C9CF6F4BBA}" type="datetimeFigureOut">
              <a:rPr lang="en-US" smtClean="0"/>
              <a:pPr/>
              <a:t>9/1/2020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A828-C459-4F5D-906B-49022D795B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021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90CF-7702-4BEB-80AD-56C9CF6F4BBA}" type="datetimeFigureOut">
              <a:rPr lang="en-US" smtClean="0"/>
              <a:pPr/>
              <a:t>9/1/2020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A828-C459-4F5D-906B-49022D795B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99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90CF-7702-4BEB-80AD-56C9CF6F4BBA}" type="datetimeFigureOut">
              <a:rPr lang="en-US" smtClean="0"/>
              <a:pPr/>
              <a:t>9/1/2020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A828-C459-4F5D-906B-49022D795B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03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90CF-7702-4BEB-80AD-56C9CF6F4BBA}" type="datetimeFigureOut">
              <a:rPr lang="en-US" smtClean="0"/>
              <a:pPr/>
              <a:t>9/1/2020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A828-C459-4F5D-906B-49022D795B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193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90CF-7702-4BEB-80AD-56C9CF6F4BBA}" type="datetimeFigureOut">
              <a:rPr lang="en-US" smtClean="0"/>
              <a:pPr/>
              <a:t>9/1/2020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A828-C459-4F5D-906B-49022D795B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969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90CF-7702-4BEB-80AD-56C9CF6F4BBA}" type="datetimeFigureOut">
              <a:rPr lang="en-US" smtClean="0"/>
              <a:pPr/>
              <a:t>9/1/2020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A828-C459-4F5D-906B-49022D795B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6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90CF-7702-4BEB-80AD-56C9CF6F4BBA}" type="datetimeFigureOut">
              <a:rPr lang="en-US" smtClean="0"/>
              <a:pPr/>
              <a:t>9/1/2020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A828-C459-4F5D-906B-49022D795B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129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90CF-7702-4BEB-80AD-56C9CF6F4BBA}" type="datetimeFigureOut">
              <a:rPr lang="en-US" smtClean="0"/>
              <a:pPr/>
              <a:t>9/1/2020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A828-C459-4F5D-906B-49022D795B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563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290CF-7702-4BEB-80AD-56C9CF6F4BBA}" type="datetimeFigureOut">
              <a:rPr lang="en-US" smtClean="0"/>
              <a:pPr/>
              <a:t>9/1/2020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4A828-C459-4F5D-906B-49022D795B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276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F290CF-7702-4BEB-80AD-56C9CF6F4BBA}" type="datetimeFigureOut">
              <a:rPr lang="en-US" smtClean="0"/>
              <a:pPr/>
              <a:t>9/1/2020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74A828-C459-4F5D-906B-49022D795B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89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26" Type="http://schemas.openxmlformats.org/officeDocument/2006/relationships/image" Target="../media/image25.jpeg"/><Relationship Id="rId3" Type="http://schemas.openxmlformats.org/officeDocument/2006/relationships/image" Target="../media/image2.jpeg"/><Relationship Id="rId21" Type="http://schemas.openxmlformats.org/officeDocument/2006/relationships/image" Target="../media/image20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5" Type="http://schemas.openxmlformats.org/officeDocument/2006/relationships/image" Target="../media/image24.jpeg"/><Relationship Id="rId2" Type="http://schemas.openxmlformats.org/officeDocument/2006/relationships/image" Target="../media/image1.jpeg"/><Relationship Id="rId16" Type="http://schemas.openxmlformats.org/officeDocument/2006/relationships/image" Target="../media/image15.jpeg"/><Relationship Id="rId20" Type="http://schemas.openxmlformats.org/officeDocument/2006/relationships/image" Target="../media/image1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24" Type="http://schemas.openxmlformats.org/officeDocument/2006/relationships/image" Target="../media/image23.jpeg"/><Relationship Id="rId5" Type="http://schemas.openxmlformats.org/officeDocument/2006/relationships/image" Target="../media/image4.jpeg"/><Relationship Id="rId15" Type="http://schemas.openxmlformats.org/officeDocument/2006/relationships/image" Target="../media/image14.jpeg"/><Relationship Id="rId23" Type="http://schemas.openxmlformats.org/officeDocument/2006/relationships/image" Target="../media/image22.jpe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jpeg"/><Relationship Id="rId22" Type="http://schemas.openxmlformats.org/officeDocument/2006/relationships/image" Target="../media/image21.jpeg"/><Relationship Id="rId27" Type="http://schemas.openxmlformats.org/officeDocument/2006/relationships/image" Target="../media/image2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image" Target="../media/image26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0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2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3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4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5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6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7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81825"/>
            <a:ext cx="12191999" cy="1596981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r>
              <a:rPr lang="en-US" b="1" dirty="0" smtClean="0"/>
              <a:t>Achievement of MDGs and Adaptation of SDGs: Context Bangladesh 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4638029"/>
            <a:ext cx="12192000" cy="2234486"/>
          </a:xfrm>
          <a:solidFill>
            <a:schemeClr val="accent5"/>
          </a:solidFill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sz="2800" b="1" dirty="0" smtClean="0"/>
              <a:t>Dr. </a:t>
            </a:r>
            <a:r>
              <a:rPr lang="en-US" sz="2800" b="1" dirty="0" err="1" smtClean="0"/>
              <a:t>Arafatur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Rahman</a:t>
            </a:r>
            <a:endParaRPr lang="en-US" sz="2800" b="1" dirty="0" smtClean="0"/>
          </a:p>
          <a:p>
            <a:pPr>
              <a:spcBef>
                <a:spcPts val="600"/>
              </a:spcBef>
            </a:pPr>
            <a:r>
              <a:rPr lang="en-US" sz="2800" b="1" dirty="0" smtClean="0"/>
              <a:t>Deputy Program Manager, DGHS</a:t>
            </a:r>
          </a:p>
          <a:p>
            <a:pPr>
              <a:spcBef>
                <a:spcPts val="600"/>
              </a:spcBef>
            </a:pPr>
            <a:r>
              <a:rPr lang="en-US" sz="2800" b="1" dirty="0" smtClean="0"/>
              <a:t>Ph: 01717862078 </a:t>
            </a:r>
            <a:endParaRPr lang="en-US" sz="2800" b="1" dirty="0"/>
          </a:p>
        </p:txBody>
      </p:sp>
      <p:pic>
        <p:nvPicPr>
          <p:cNvPr id="4" name="Picture 3" descr="C:\Documents and Settings\Mahbub_GED\Desktop\thumbnailCANEU9IU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519707" cy="1094704"/>
          </a:xfrm>
          <a:prstGeom prst="rect">
            <a:avLst/>
          </a:prstGeom>
          <a:solidFill>
            <a:srgbClr val="EBE591"/>
          </a:solidFill>
          <a:ln w="9525">
            <a:noFill/>
            <a:miter lim="800000"/>
            <a:headEnd/>
            <a:tailEnd/>
          </a:ln>
        </p:spPr>
      </p:pic>
      <p:pic>
        <p:nvPicPr>
          <p:cNvPr id="5" name="Picture 7" descr="C:\Documents and Settings\Mahbub_GED\Desktop\thumbnailCAUKA1Q8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19707" y="0"/>
            <a:ext cx="1402637" cy="1094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8" descr="C:\Documents and Settings\Mahbub_GED\Desktop\thumbnailCAXZMWFI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14401" y="0"/>
            <a:ext cx="1412899" cy="10947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9" descr="C:\Documents and Settings\Mahbub_GED\Desktop\thumbnailCAZTFEOT.jp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327300" y="-1"/>
            <a:ext cx="1394694" cy="1081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13" descr="C:\Documents and Settings\Mahbub_GED\Desktop\thumbnailCA3X891M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21994" y="0"/>
            <a:ext cx="1404956" cy="1081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11" descr="C:\Documents and Settings\Mahbub_GED\Desktop\thumbnailCASLT5K4.jp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126949" y="-2"/>
            <a:ext cx="1566289" cy="1081826"/>
          </a:xfrm>
          <a:prstGeom prst="rect">
            <a:avLst/>
          </a:prstGeom>
          <a:solidFill>
            <a:srgbClr val="E95155"/>
          </a:solidFill>
          <a:ln w="9525">
            <a:noFill/>
            <a:miter lim="800000"/>
            <a:headEnd/>
            <a:tailEnd/>
          </a:ln>
        </p:spPr>
      </p:pic>
      <p:pic>
        <p:nvPicPr>
          <p:cNvPr id="10" name="Picture 12" descr="C:\Documents and Settings\Mahbub_GED\Desktop\thumbnailCA259FV7.jpg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8677456" y="0"/>
            <a:ext cx="1664279" cy="1098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10" descr="C:\Documents and Settings\Mahbub_GED\Desktop\thumbnailCASTUZ21.jpg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0341735" y="0"/>
            <a:ext cx="1850264" cy="10818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http://unstats.un.org/sdgs/assets/img/sliders/goal1_menu_icon.jpg"/>
          <p:cNvPicPr/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2678806"/>
            <a:ext cx="1210614" cy="862885"/>
          </a:xfrm>
          <a:prstGeom prst="rect">
            <a:avLst/>
          </a:prstGeom>
          <a:noFill/>
          <a:extLst/>
        </p:spPr>
      </p:pic>
      <p:pic>
        <p:nvPicPr>
          <p:cNvPr id="13" name="Picture 12"/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615" y="2678806"/>
            <a:ext cx="1229360" cy="862885"/>
          </a:xfrm>
          <a:prstGeom prst="rect">
            <a:avLst/>
          </a:prstGeom>
        </p:spPr>
      </p:pic>
      <p:pic>
        <p:nvPicPr>
          <p:cNvPr id="14" name="Picture 13"/>
          <p:cNvPicPr/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975" y="2678806"/>
            <a:ext cx="1285875" cy="862885"/>
          </a:xfrm>
          <a:prstGeom prst="rect">
            <a:avLst/>
          </a:prstGeom>
        </p:spPr>
      </p:pic>
      <p:pic>
        <p:nvPicPr>
          <p:cNvPr id="15" name="Picture 14"/>
          <p:cNvPicPr/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5850" y="2678806"/>
            <a:ext cx="1425699" cy="862885"/>
          </a:xfrm>
          <a:prstGeom prst="rect">
            <a:avLst/>
          </a:prstGeom>
        </p:spPr>
      </p:pic>
      <p:pic>
        <p:nvPicPr>
          <p:cNvPr id="16" name="Picture 15"/>
          <p:cNvPicPr/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1549" y="2678806"/>
            <a:ext cx="1450340" cy="862885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1889" y="2663724"/>
            <a:ext cx="1183640" cy="877967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5529" y="2663726"/>
            <a:ext cx="1285875" cy="877966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497" y="2663726"/>
            <a:ext cx="1590163" cy="877965"/>
          </a:xfrm>
          <a:prstGeom prst="rect">
            <a:avLst/>
          </a:prstGeom>
        </p:spPr>
      </p:pic>
      <p:pic>
        <p:nvPicPr>
          <p:cNvPr id="20" name="Picture 19"/>
          <p:cNvPicPr/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661" y="2663727"/>
            <a:ext cx="1530431" cy="877964"/>
          </a:xfrm>
          <a:prstGeom prst="rect">
            <a:avLst/>
          </a:prstGeom>
        </p:spPr>
      </p:pic>
      <p:pic>
        <p:nvPicPr>
          <p:cNvPr id="21" name="Picture 20"/>
          <p:cNvPicPr/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541691"/>
            <a:ext cx="1210616" cy="1081824"/>
          </a:xfrm>
          <a:prstGeom prst="rect">
            <a:avLst/>
          </a:prstGeom>
        </p:spPr>
      </p:pic>
      <p:pic>
        <p:nvPicPr>
          <p:cNvPr id="22" name="Picture 21"/>
          <p:cNvPicPr/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550" y="3541691"/>
            <a:ext cx="1233425" cy="1081824"/>
          </a:xfrm>
          <a:prstGeom prst="rect">
            <a:avLst/>
          </a:prstGeom>
        </p:spPr>
      </p:pic>
      <p:pic>
        <p:nvPicPr>
          <p:cNvPr id="23" name="Picture 22"/>
          <p:cNvPicPr/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412" y="3541691"/>
            <a:ext cx="1303532" cy="1081824"/>
          </a:xfrm>
          <a:prstGeom prst="rect">
            <a:avLst/>
          </a:prstGeom>
        </p:spPr>
      </p:pic>
      <p:pic>
        <p:nvPicPr>
          <p:cNvPr id="24" name="Picture 23"/>
          <p:cNvPicPr/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692" y="3541691"/>
            <a:ext cx="1423857" cy="1081823"/>
          </a:xfrm>
          <a:prstGeom prst="rect">
            <a:avLst/>
          </a:prstGeom>
        </p:spPr>
      </p:pic>
      <p:pic>
        <p:nvPicPr>
          <p:cNvPr id="25" name="Picture 24"/>
          <p:cNvPicPr/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455" y="3528808"/>
            <a:ext cx="1450339" cy="1094706"/>
          </a:xfrm>
          <a:prstGeom prst="rect">
            <a:avLst/>
          </a:prstGeom>
        </p:spPr>
      </p:pic>
      <p:pic>
        <p:nvPicPr>
          <p:cNvPr id="26" name="Picture 25"/>
          <p:cNvPicPr/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7794" y="3541690"/>
            <a:ext cx="1197735" cy="1081823"/>
          </a:xfrm>
          <a:prstGeom prst="rect">
            <a:avLst/>
          </a:prstGeom>
        </p:spPr>
      </p:pic>
      <p:pic>
        <p:nvPicPr>
          <p:cNvPr id="27" name="Picture 26"/>
          <p:cNvPicPr/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5529" y="3541691"/>
            <a:ext cx="1299966" cy="1081822"/>
          </a:xfrm>
          <a:prstGeom prst="rect">
            <a:avLst/>
          </a:prstGeom>
        </p:spPr>
      </p:pic>
      <p:pic>
        <p:nvPicPr>
          <p:cNvPr id="28" name="Picture 27"/>
          <p:cNvPicPr/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496" y="3541690"/>
            <a:ext cx="1590163" cy="1081823"/>
          </a:xfrm>
          <a:prstGeom prst="rect">
            <a:avLst/>
          </a:prstGeom>
        </p:spPr>
      </p:pic>
      <p:pic>
        <p:nvPicPr>
          <p:cNvPr id="30" name="Picture 29"/>
          <p:cNvPicPr/>
          <p:nvPr/>
        </p:nvPicPr>
        <p:blipFill>
          <a:blip r:embed="rId27"/>
          <a:stretch>
            <a:fillRect/>
          </a:stretch>
        </p:blipFill>
        <p:spPr>
          <a:xfrm>
            <a:off x="10823656" y="3541690"/>
            <a:ext cx="1234440" cy="1081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20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25" y="1637283"/>
            <a:ext cx="5405520" cy="356397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952" y="17374"/>
            <a:ext cx="1416674" cy="161991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3626" y="17375"/>
            <a:ext cx="1531486" cy="161990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090" y="17376"/>
            <a:ext cx="1216254" cy="16199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0344" y="17379"/>
            <a:ext cx="1327884" cy="16199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8228" y="17374"/>
            <a:ext cx="1350921" cy="163728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9150" y="17374"/>
            <a:ext cx="1327884" cy="16372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09149" y="1654661"/>
            <a:ext cx="1327884" cy="100854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09148" y="2663208"/>
            <a:ext cx="1327886" cy="1223593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09147" y="3886801"/>
            <a:ext cx="1327888" cy="133184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09146" y="5218644"/>
            <a:ext cx="1327890" cy="160252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18409" y="5218643"/>
            <a:ext cx="1290736" cy="160252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3862" y="5218642"/>
            <a:ext cx="1254546" cy="160252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93420" y="5218642"/>
            <a:ext cx="1470442" cy="160252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03627" y="5218641"/>
            <a:ext cx="1416676" cy="160252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86951" y="5218643"/>
            <a:ext cx="1416675" cy="160252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69848" y="3477296"/>
            <a:ext cx="1433777" cy="174134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69848" y="1654659"/>
            <a:ext cx="1433777" cy="182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671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58" y="1"/>
            <a:ext cx="9997442" cy="1075969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sz="4000" b="1" dirty="0" smtClean="0">
                <a:latin typeface="Avenir Next Condensed" charset="0"/>
                <a:ea typeface="Avenir Next Condensed" charset="0"/>
                <a:cs typeface="Avenir Next Condensed" charset="0"/>
              </a:rPr>
              <a:t>SDG # 3: Targets (13 including 4 </a:t>
            </a:r>
            <a:r>
              <a:rPr lang="en-US" sz="4000" b="1" dirty="0" err="1" smtClean="0">
                <a:latin typeface="Avenir Next Condensed" charset="0"/>
                <a:ea typeface="Avenir Next Condensed" charset="0"/>
                <a:cs typeface="Avenir Next Condensed" charset="0"/>
              </a:rPr>
              <a:t>MoI</a:t>
            </a:r>
            <a:r>
              <a:rPr lang="en-US" sz="4000" b="1" dirty="0" smtClean="0">
                <a:latin typeface="Avenir Next Condensed" charset="0"/>
                <a:ea typeface="Avenir Next Condensed" charset="0"/>
                <a:cs typeface="Avenir Next Condensed" charset="0"/>
              </a:rPr>
              <a:t>)</a:t>
            </a:r>
            <a:endParaRPr lang="en-US" sz="40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075970"/>
            <a:ext cx="12192000" cy="5782029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5354" y="1112215"/>
            <a:ext cx="6425515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Target 3.1: By 2030, reduce the global </a:t>
            </a:r>
            <a:r>
              <a:rPr lang="en-GB" sz="1400" u="sng" dirty="0" smtClean="0"/>
              <a:t>MMR</a:t>
            </a:r>
            <a:r>
              <a:rPr lang="en-GB" sz="1400" dirty="0" smtClean="0"/>
              <a:t> </a:t>
            </a:r>
            <a:r>
              <a:rPr lang="en-GB" sz="1400" dirty="0"/>
              <a:t>to less than 70 per 100,000 live births</a:t>
            </a:r>
            <a:endParaRPr 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35355" y="1435260"/>
            <a:ext cx="6425514" cy="83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 dirty="0"/>
              <a:t>Target 3.2: By 2030, end preventable deaths of </a:t>
            </a:r>
            <a:r>
              <a:rPr lang="en-GB" sz="1600" u="sng" dirty="0"/>
              <a:t>new-borns and children under 5 years</a:t>
            </a:r>
            <a:r>
              <a:rPr lang="en-GB" sz="1600" dirty="0"/>
              <a:t> of age, with all countries aiming to reduce </a:t>
            </a:r>
            <a:r>
              <a:rPr lang="en-GB" sz="1600" dirty="0" smtClean="0"/>
              <a:t>NMR to </a:t>
            </a:r>
            <a:r>
              <a:rPr lang="en-GB" sz="1600" dirty="0"/>
              <a:t>at least as low as 12 per 1,000 </a:t>
            </a:r>
            <a:r>
              <a:rPr lang="en-GB" sz="1600" dirty="0" smtClean="0"/>
              <a:t>LB </a:t>
            </a:r>
            <a:r>
              <a:rPr lang="en-GB" sz="1600" dirty="0"/>
              <a:t>and </a:t>
            </a:r>
            <a:r>
              <a:rPr lang="en-GB" sz="1600" dirty="0" smtClean="0"/>
              <a:t>U5MR </a:t>
            </a:r>
            <a:r>
              <a:rPr lang="en-GB" sz="1600" dirty="0"/>
              <a:t>to at least as low as 25 per 1,000 </a:t>
            </a:r>
            <a:r>
              <a:rPr lang="en-GB" sz="1600" dirty="0" smtClean="0"/>
              <a:t>LB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35356" y="2291491"/>
            <a:ext cx="6425514" cy="83099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sz="1600" dirty="0"/>
              <a:t>Target 3.3: By 2030, end the epidemics of </a:t>
            </a:r>
            <a:r>
              <a:rPr lang="en-GB" sz="1600" u="sng" dirty="0"/>
              <a:t>AIDS, tuberculosis, malaria </a:t>
            </a:r>
            <a:r>
              <a:rPr lang="en-GB" sz="1600" dirty="0"/>
              <a:t>and neglected tropical diseases and combat hepatitis, water-borne diseases and other communicable </a:t>
            </a:r>
            <a:r>
              <a:rPr lang="en-GB" sz="1600" dirty="0" smtClean="0"/>
              <a:t>diseases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 rot="10800000" flipV="1">
            <a:off x="35355" y="3138356"/>
            <a:ext cx="6425514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GB" sz="1600" dirty="0"/>
              <a:t>Target 3.4: By 2030, reduce by </a:t>
            </a:r>
            <a:r>
              <a:rPr lang="en-GB" sz="1600" u="sng" dirty="0"/>
              <a:t>one third premature mortality from </a:t>
            </a:r>
            <a:r>
              <a:rPr lang="en-GB" sz="1600" u="sng" dirty="0" smtClean="0"/>
              <a:t>NCD </a:t>
            </a:r>
            <a:r>
              <a:rPr lang="en-GB" sz="1600" dirty="0"/>
              <a:t>through prevention and treatment and promote mental health and </a:t>
            </a:r>
            <a:r>
              <a:rPr lang="en-GB" sz="1600" dirty="0" smtClean="0"/>
              <a:t>well-being</a:t>
            </a:r>
            <a:endParaRPr 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35355" y="4002231"/>
            <a:ext cx="6425509" cy="584775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GB" sz="1600" dirty="0"/>
              <a:t>Target 3.5: Strengthen the prevention and treatment of substance abuse, including </a:t>
            </a:r>
            <a:r>
              <a:rPr lang="en-GB" sz="1600" u="sng" dirty="0"/>
              <a:t>narcotic drug abuse and harmful use of alcohol</a:t>
            </a:r>
            <a:endParaRPr lang="en-US" sz="1600" u="sng" dirty="0"/>
          </a:p>
        </p:txBody>
      </p:sp>
      <p:sp>
        <p:nvSpPr>
          <p:cNvPr id="10" name="TextBox 9"/>
          <p:cNvSpPr txBox="1"/>
          <p:nvPr/>
        </p:nvSpPr>
        <p:spPr>
          <a:xfrm>
            <a:off x="35354" y="4615889"/>
            <a:ext cx="6425510" cy="584775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GB" sz="1600" dirty="0"/>
              <a:t>Target 3.6: By 2020, </a:t>
            </a:r>
            <a:r>
              <a:rPr lang="en-GB" sz="1600" u="sng" dirty="0"/>
              <a:t>halve the number of global deaths and injuries </a:t>
            </a:r>
            <a:r>
              <a:rPr lang="en-GB" sz="1600" dirty="0"/>
              <a:t>from road traffic accidents</a:t>
            </a:r>
            <a:endParaRPr 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35355" y="5235220"/>
            <a:ext cx="6425510" cy="830997"/>
          </a:xfrm>
          <a:prstGeom prst="rect">
            <a:avLst/>
          </a:prstGeom>
          <a:solidFill>
            <a:schemeClr val="accent5"/>
          </a:solidFill>
        </p:spPr>
        <p:txBody>
          <a:bodyPr wrap="square" rtlCol="0">
            <a:spAutoFit/>
          </a:bodyPr>
          <a:lstStyle/>
          <a:p>
            <a:r>
              <a:rPr lang="en-GB" sz="1600" dirty="0"/>
              <a:t>Target 3.7: By 2030, ensure universal </a:t>
            </a:r>
            <a:r>
              <a:rPr lang="en-GB" sz="1600" u="sng" dirty="0"/>
              <a:t>access to </a:t>
            </a:r>
            <a:r>
              <a:rPr lang="en-GB" sz="1600" u="sng" dirty="0" smtClean="0"/>
              <a:t>SRH-care </a:t>
            </a:r>
            <a:r>
              <a:rPr lang="en-GB" sz="1600" u="sng" dirty="0"/>
              <a:t>services</a:t>
            </a:r>
            <a:r>
              <a:rPr lang="en-GB" sz="1600" dirty="0"/>
              <a:t>, including for </a:t>
            </a:r>
            <a:r>
              <a:rPr lang="en-GB" sz="1600" dirty="0" smtClean="0"/>
              <a:t>FP, </a:t>
            </a:r>
            <a:r>
              <a:rPr lang="en-GB" sz="1600" dirty="0"/>
              <a:t>information and education, and the integration of </a:t>
            </a:r>
            <a:r>
              <a:rPr lang="en-GB" sz="1600" dirty="0" smtClean="0"/>
              <a:t>RH </a:t>
            </a:r>
            <a:r>
              <a:rPr lang="en-GB" sz="1600" dirty="0"/>
              <a:t>into national strategies and programmes</a:t>
            </a:r>
            <a:endParaRPr 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35349" y="6052126"/>
            <a:ext cx="6425515" cy="83099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GB" sz="1600" dirty="0"/>
              <a:t>Target 3.8: </a:t>
            </a:r>
            <a:r>
              <a:rPr lang="en-GB" sz="1600" u="sng" dirty="0"/>
              <a:t>Achieve </a:t>
            </a:r>
            <a:r>
              <a:rPr lang="en-GB" sz="1600" u="sng" dirty="0" smtClean="0"/>
              <a:t>UHC</a:t>
            </a:r>
            <a:r>
              <a:rPr lang="en-GB" sz="1600" dirty="0" smtClean="0"/>
              <a:t>, </a:t>
            </a:r>
            <a:r>
              <a:rPr lang="en-GB" sz="1600" dirty="0"/>
              <a:t>including financial risk protection, access to quality essential health-care services and access to safe, effective, quality and affordable essential medicines and vaccines for all</a:t>
            </a:r>
            <a:r>
              <a:rPr lang="en-US" sz="1600" dirty="0" smtClean="0"/>
              <a:t> </a:t>
            </a:r>
            <a:endParaRPr 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6496223" y="1135470"/>
            <a:ext cx="5695774" cy="83099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GB" sz="1600" dirty="0"/>
              <a:t>Target 3.9: By 2030, substantially reduce the number of deaths and illnesses from </a:t>
            </a:r>
            <a:r>
              <a:rPr lang="en-GB" sz="1600" u="sng" dirty="0"/>
              <a:t>hazardous chemicals and air, water and soil pollution</a:t>
            </a:r>
            <a:r>
              <a:rPr lang="en-GB" sz="1600" dirty="0"/>
              <a:t> and contamination</a:t>
            </a:r>
            <a:endParaRPr lang="en-US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6531579" y="1993404"/>
            <a:ext cx="5660417" cy="584775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GB" sz="1600" dirty="0"/>
              <a:t>Target 3.a: Strengthen the implementation of the </a:t>
            </a:r>
            <a:r>
              <a:rPr lang="en-GB" sz="1600" u="sng" dirty="0" smtClean="0"/>
              <a:t>WHO FCTC  </a:t>
            </a:r>
            <a:r>
              <a:rPr lang="en-GB" sz="1600" dirty="0" smtClean="0"/>
              <a:t>in </a:t>
            </a:r>
            <a:r>
              <a:rPr lang="en-GB" sz="1600" dirty="0"/>
              <a:t>all countries, as appropriate</a:t>
            </a:r>
            <a:endParaRPr lang="en-US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6460869" y="2638628"/>
            <a:ext cx="5731126" cy="2062103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GB" sz="1600" dirty="0"/>
              <a:t>Target 3.b: Support the </a:t>
            </a:r>
            <a:r>
              <a:rPr lang="en-GB" sz="1600" u="sng" dirty="0" smtClean="0"/>
              <a:t>R&amp;D </a:t>
            </a:r>
            <a:r>
              <a:rPr lang="en-GB" sz="1600" u="sng" dirty="0"/>
              <a:t>of vaccines and medicines </a:t>
            </a:r>
            <a:r>
              <a:rPr lang="en-GB" sz="1600" dirty="0"/>
              <a:t>for the communicable and </a:t>
            </a:r>
            <a:r>
              <a:rPr lang="en-GB" sz="1600" dirty="0" smtClean="0"/>
              <a:t>NCD </a:t>
            </a:r>
            <a:r>
              <a:rPr lang="en-GB" sz="1600" dirty="0"/>
              <a:t>that primarily affect developing countries, provide access to affordable essential medicines and vaccines, in accordance with the Doha Declaration on the TRIPS Agreement and </a:t>
            </a:r>
            <a:r>
              <a:rPr lang="en-GB" sz="1600" dirty="0" smtClean="0"/>
              <a:t>PH, </a:t>
            </a:r>
            <a:r>
              <a:rPr lang="en-GB" sz="1600" dirty="0"/>
              <a:t>which affirms the right of developing countries to use to the full the provisions in the Agreement on Trade Related Aspects of </a:t>
            </a:r>
            <a:r>
              <a:rPr lang="en-GB" sz="1600" dirty="0" smtClean="0"/>
              <a:t>IPRs </a:t>
            </a:r>
            <a:r>
              <a:rPr lang="en-GB" sz="1600" dirty="0"/>
              <a:t>regarding flexibilities to protect </a:t>
            </a:r>
            <a:r>
              <a:rPr lang="en-GB" sz="1600" dirty="0" smtClean="0"/>
              <a:t>PH, </a:t>
            </a:r>
            <a:r>
              <a:rPr lang="en-GB" sz="1600" dirty="0"/>
              <a:t>and, in  particular, provide access to medicines for all</a:t>
            </a:r>
            <a:endParaRPr lang="en-US" sz="1600" dirty="0"/>
          </a:p>
        </p:txBody>
      </p:sp>
      <p:sp>
        <p:nvSpPr>
          <p:cNvPr id="16" name="TextBox 15"/>
          <p:cNvSpPr txBox="1"/>
          <p:nvPr/>
        </p:nvSpPr>
        <p:spPr>
          <a:xfrm>
            <a:off x="6496223" y="4736243"/>
            <a:ext cx="5695772" cy="954107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GB" sz="1400" dirty="0"/>
              <a:t>Target 3.c: Substantially increase </a:t>
            </a:r>
            <a:r>
              <a:rPr lang="en-GB" sz="1400" u="sng" dirty="0"/>
              <a:t>health financing and the recruitment</a:t>
            </a:r>
            <a:r>
              <a:rPr lang="en-GB" sz="1400" dirty="0"/>
              <a:t>, development, training and retention of the health  workforce in developing countries, especially in least developed countries and small island developing States</a:t>
            </a:r>
            <a:endParaRPr lang="en-US" sz="14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2194558" cy="10759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96213" y="5711483"/>
            <a:ext cx="5695782" cy="1200329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Target 3.d: </a:t>
            </a:r>
            <a:r>
              <a:rPr lang="en-GB" u="sng" dirty="0"/>
              <a:t>Strengthen the capacity </a:t>
            </a:r>
            <a:r>
              <a:rPr lang="en-GB" dirty="0"/>
              <a:t>of all countries, in particular developing countries, for early warning, risk reduction and management of national and global health risks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37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1086" y="1"/>
            <a:ext cx="10580914" cy="1139555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sz="4000" b="1" dirty="0" smtClean="0">
                <a:latin typeface="Avenir Next Condensed" charset="0"/>
                <a:ea typeface="Avenir Next Condensed" charset="0"/>
                <a:cs typeface="Avenir Next Condensed" charset="0"/>
              </a:rPr>
              <a:t>SDG # 3: Data Availability (27 indicators) </a:t>
            </a:r>
            <a:endParaRPr lang="en-US" sz="40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0" y="1139556"/>
            <a:ext cx="12192000" cy="5718443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pPr marL="0" indent="0">
              <a:buNone/>
            </a:pPr>
            <a:endParaRPr 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173421" y="1223133"/>
            <a:ext cx="2969829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Data Readily Available (12) </a:t>
            </a:r>
            <a:endParaRPr lang="en-US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3486150" y="1181748"/>
            <a:ext cx="306705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Data Partially Available (10) </a:t>
            </a:r>
            <a:endParaRPr lang="en-US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6629399" y="1180204"/>
            <a:ext cx="333169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Data Not Available (5) </a:t>
            </a:r>
            <a:endParaRPr lang="en-US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10191750" y="1166082"/>
            <a:ext cx="1769591" cy="369332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Tier III (4)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10191750" y="1601660"/>
            <a:ext cx="1769591" cy="1477328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3.5.1</a:t>
            </a:r>
          </a:p>
          <a:p>
            <a:pPr algn="ctr"/>
            <a:r>
              <a:rPr lang="en-US" dirty="0" smtClean="0"/>
              <a:t>3.8.1</a:t>
            </a:r>
          </a:p>
          <a:p>
            <a:pPr algn="ctr"/>
            <a:r>
              <a:rPr lang="en-US" dirty="0" smtClean="0"/>
              <a:t>3.8.2</a:t>
            </a:r>
          </a:p>
          <a:p>
            <a:pPr algn="ctr"/>
            <a:r>
              <a:rPr lang="en-US" dirty="0" smtClean="0"/>
              <a:t>3.b.1</a:t>
            </a:r>
          </a:p>
          <a:p>
            <a:pPr algn="ctr"/>
            <a:r>
              <a:rPr lang="en-US" dirty="0" smtClean="0"/>
              <a:t>3.b.3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421" y="1742997"/>
            <a:ext cx="2969829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3.1.1: MMR</a:t>
            </a:r>
            <a:endParaRPr lang="en-US" sz="1600" dirty="0"/>
          </a:p>
        </p:txBody>
      </p:sp>
      <p:sp>
        <p:nvSpPr>
          <p:cNvPr id="24" name="TextBox 23"/>
          <p:cNvSpPr txBox="1"/>
          <p:nvPr/>
        </p:nvSpPr>
        <p:spPr>
          <a:xfrm>
            <a:off x="191143" y="2203228"/>
            <a:ext cx="2952107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3.1.2: Births AB SHP</a:t>
            </a:r>
            <a:endParaRPr lang="en-US" sz="1600" dirty="0"/>
          </a:p>
        </p:txBody>
      </p:sp>
      <p:sp>
        <p:nvSpPr>
          <p:cNvPr id="27" name="TextBox 26"/>
          <p:cNvSpPr txBox="1"/>
          <p:nvPr/>
        </p:nvSpPr>
        <p:spPr>
          <a:xfrm rot="10800000" flipV="1">
            <a:off x="191317" y="2640412"/>
            <a:ext cx="2951932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sz="1600" dirty="0" smtClean="0"/>
              <a:t>3.2.1: U5 mortality </a:t>
            </a:r>
            <a:r>
              <a:rPr lang="en-GB" sz="1600" dirty="0"/>
              <a:t>rate </a:t>
            </a:r>
            <a:r>
              <a:rPr lang="en-US" sz="1600" dirty="0" smtClean="0"/>
              <a:t> </a:t>
            </a:r>
            <a:endParaRPr lang="en-US" sz="1600" dirty="0"/>
          </a:p>
        </p:txBody>
      </p:sp>
      <p:sp>
        <p:nvSpPr>
          <p:cNvPr id="28" name="TextBox 27"/>
          <p:cNvSpPr txBox="1"/>
          <p:nvPr/>
        </p:nvSpPr>
        <p:spPr>
          <a:xfrm>
            <a:off x="191144" y="3057320"/>
            <a:ext cx="2952106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3.2.2: Neonatal </a:t>
            </a:r>
            <a:r>
              <a:rPr lang="en-US" sz="1600" dirty="0"/>
              <a:t>mortality rate </a:t>
            </a:r>
            <a:r>
              <a:rPr lang="en-US" sz="1600" dirty="0" smtClean="0"/>
              <a:t> </a:t>
            </a:r>
            <a:endParaRPr lang="en-US"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207085" y="3489769"/>
            <a:ext cx="2936163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3.3.1: New </a:t>
            </a:r>
            <a:r>
              <a:rPr lang="en-US" sz="1600" dirty="0"/>
              <a:t>HIV infections </a:t>
            </a:r>
            <a:r>
              <a:rPr lang="en-US" sz="1600" dirty="0" smtClean="0"/>
              <a:t> </a:t>
            </a:r>
            <a:endParaRPr lang="en-US" sz="1600" dirty="0"/>
          </a:p>
        </p:txBody>
      </p:sp>
      <p:sp>
        <p:nvSpPr>
          <p:cNvPr id="30" name="TextBox 29"/>
          <p:cNvSpPr txBox="1"/>
          <p:nvPr/>
        </p:nvSpPr>
        <p:spPr>
          <a:xfrm>
            <a:off x="207077" y="3877328"/>
            <a:ext cx="2936171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3.3.2: Tuberculosis incidence</a:t>
            </a:r>
            <a:endParaRPr lang="en-US" sz="1600" dirty="0"/>
          </a:p>
        </p:txBody>
      </p:sp>
      <p:sp>
        <p:nvSpPr>
          <p:cNvPr id="31" name="TextBox 30"/>
          <p:cNvSpPr txBox="1"/>
          <p:nvPr/>
        </p:nvSpPr>
        <p:spPr>
          <a:xfrm>
            <a:off x="191142" y="4271676"/>
            <a:ext cx="2952106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3.3.3: Malaria incidence</a:t>
            </a:r>
            <a:endParaRPr lang="en-US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191308" y="4666593"/>
            <a:ext cx="2961787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3.3.4: Hepatitis </a:t>
            </a:r>
            <a:r>
              <a:rPr lang="en-US" sz="1600" dirty="0"/>
              <a:t>B </a:t>
            </a:r>
            <a:r>
              <a:rPr lang="en-US" sz="1600" dirty="0" smtClean="0"/>
              <a:t>incidence</a:t>
            </a:r>
            <a:endParaRPr lang="en-US" sz="1600" dirty="0"/>
          </a:p>
        </p:txBody>
      </p:sp>
      <p:sp>
        <p:nvSpPr>
          <p:cNvPr id="33" name="TextBox 32"/>
          <p:cNvSpPr txBox="1"/>
          <p:nvPr/>
        </p:nvSpPr>
        <p:spPr>
          <a:xfrm>
            <a:off x="191306" y="5063505"/>
            <a:ext cx="2961789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3.3.5: Neglected </a:t>
            </a:r>
            <a:r>
              <a:rPr lang="en-US" sz="1600" dirty="0"/>
              <a:t>tropical diseases </a:t>
            </a:r>
            <a:r>
              <a:rPr lang="en-US" sz="1600" dirty="0" smtClean="0"/>
              <a:t> </a:t>
            </a:r>
            <a:endParaRPr lang="en-US" sz="1600" dirty="0"/>
          </a:p>
        </p:txBody>
      </p:sp>
      <p:sp>
        <p:nvSpPr>
          <p:cNvPr id="34" name="TextBox 33"/>
          <p:cNvSpPr txBox="1"/>
          <p:nvPr/>
        </p:nvSpPr>
        <p:spPr>
          <a:xfrm>
            <a:off x="3486151" y="1596661"/>
            <a:ext cx="3067050" cy="1077218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3.4.1: Mortality </a:t>
            </a:r>
            <a:r>
              <a:rPr lang="en-US" sz="1600" dirty="0"/>
              <a:t>rate attributed to cardiovascular disease, cancer, diabetes or chronic respiratory disease </a:t>
            </a:r>
            <a:r>
              <a:rPr lang="en-US" sz="1600" dirty="0" smtClean="0"/>
              <a:t> </a:t>
            </a:r>
            <a:endParaRPr lang="en-US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3486151" y="2727415"/>
            <a:ext cx="3067050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3.4.2: Suicide </a:t>
            </a:r>
            <a:r>
              <a:rPr lang="en-US" sz="1600" dirty="0"/>
              <a:t>mortality rate </a:t>
            </a:r>
            <a:r>
              <a:rPr lang="en-US" sz="1600" dirty="0" smtClean="0"/>
              <a:t> </a:t>
            </a:r>
            <a:endParaRPr lang="en-US" sz="1600" dirty="0"/>
          </a:p>
        </p:txBody>
      </p:sp>
      <p:sp>
        <p:nvSpPr>
          <p:cNvPr id="36" name="TextBox 35"/>
          <p:cNvSpPr txBox="1"/>
          <p:nvPr/>
        </p:nvSpPr>
        <p:spPr>
          <a:xfrm>
            <a:off x="3486151" y="3101938"/>
            <a:ext cx="3067049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3.5.1: Treatment </a:t>
            </a:r>
            <a:r>
              <a:rPr lang="en-US" sz="1600" dirty="0">
                <a:solidFill>
                  <a:srgbClr val="FF0000"/>
                </a:solidFill>
              </a:rPr>
              <a:t>interventions </a:t>
            </a:r>
            <a:r>
              <a:rPr lang="en-US" sz="1600" dirty="0" smtClean="0">
                <a:solidFill>
                  <a:srgbClr val="FF0000"/>
                </a:solidFill>
              </a:rPr>
              <a:t>for </a:t>
            </a:r>
            <a:r>
              <a:rPr lang="en-US" sz="1600" dirty="0">
                <a:solidFill>
                  <a:srgbClr val="FF0000"/>
                </a:solidFill>
              </a:rPr>
              <a:t>substance use disorders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399" y="1619602"/>
            <a:ext cx="3331692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3.5.2: Harmful </a:t>
            </a:r>
            <a:r>
              <a:rPr lang="en-US" dirty="0"/>
              <a:t>use of </a:t>
            </a:r>
            <a:r>
              <a:rPr lang="en-US" dirty="0" smtClean="0"/>
              <a:t>alcohol 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486151" y="3736120"/>
            <a:ext cx="3067050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3.6.1: Death </a:t>
            </a:r>
            <a:r>
              <a:rPr lang="en-US" sz="1600" dirty="0"/>
              <a:t>rate due to road traffic injuries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1309" y="5454049"/>
            <a:ext cx="2961786" cy="338554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3.7.1: Need </a:t>
            </a:r>
            <a:r>
              <a:rPr lang="en-US" sz="1600" dirty="0"/>
              <a:t>for </a:t>
            </a:r>
            <a:r>
              <a:rPr lang="en-US" sz="1600" dirty="0" smtClean="0"/>
              <a:t>FP satisfied</a:t>
            </a:r>
            <a:endParaRPr lang="en-US" sz="1600" dirty="0"/>
          </a:p>
        </p:txBody>
      </p:sp>
      <p:sp>
        <p:nvSpPr>
          <p:cNvPr id="40" name="TextBox 39"/>
          <p:cNvSpPr txBox="1"/>
          <p:nvPr/>
        </p:nvSpPr>
        <p:spPr>
          <a:xfrm>
            <a:off x="175538" y="5837123"/>
            <a:ext cx="2977558" cy="33962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3.7.2: Adolescent </a:t>
            </a:r>
            <a:r>
              <a:rPr lang="en-US" sz="1600" dirty="0"/>
              <a:t>birth </a:t>
            </a:r>
            <a:r>
              <a:rPr lang="en-US" sz="1600" dirty="0" smtClean="0"/>
              <a:t>rate</a:t>
            </a:r>
            <a:endParaRPr lang="en-US" sz="1600" dirty="0"/>
          </a:p>
        </p:txBody>
      </p:sp>
      <p:sp>
        <p:nvSpPr>
          <p:cNvPr id="41" name="TextBox 40"/>
          <p:cNvSpPr txBox="1"/>
          <p:nvPr/>
        </p:nvSpPr>
        <p:spPr>
          <a:xfrm>
            <a:off x="3486307" y="4372630"/>
            <a:ext cx="3066893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3.8.1: Coverage </a:t>
            </a:r>
            <a:r>
              <a:rPr lang="en-US" sz="1600" dirty="0">
                <a:solidFill>
                  <a:srgbClr val="FF0000"/>
                </a:solidFill>
              </a:rPr>
              <a:t>of </a:t>
            </a:r>
            <a:r>
              <a:rPr lang="en-US" sz="1600" dirty="0" smtClean="0">
                <a:solidFill>
                  <a:srgbClr val="FF0000"/>
                </a:solidFill>
              </a:rPr>
              <a:t>EHS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486151" y="4762450"/>
            <a:ext cx="3067049" cy="58477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FF0000"/>
                </a:solidFill>
              </a:rPr>
              <a:t>3.8.2: people </a:t>
            </a:r>
            <a:r>
              <a:rPr lang="en-US" sz="1600" dirty="0">
                <a:solidFill>
                  <a:srgbClr val="FF0000"/>
                </a:solidFill>
              </a:rPr>
              <a:t>covered by health </a:t>
            </a:r>
            <a:r>
              <a:rPr lang="en-US" sz="1600" dirty="0" smtClean="0">
                <a:solidFill>
                  <a:srgbClr val="FF0000"/>
                </a:solidFill>
              </a:rPr>
              <a:t>insurance/ </a:t>
            </a:r>
            <a:r>
              <a:rPr lang="en-US" sz="1600" dirty="0">
                <a:solidFill>
                  <a:srgbClr val="FF0000"/>
                </a:solidFill>
              </a:rPr>
              <a:t>a public health </a:t>
            </a:r>
            <a:r>
              <a:rPr lang="en-US" sz="1600" dirty="0" smtClean="0">
                <a:solidFill>
                  <a:srgbClr val="FF0000"/>
                </a:solidFill>
              </a:rPr>
              <a:t>system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629399" y="2105516"/>
            <a:ext cx="3331692" cy="92333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3.9.1: Mortality </a:t>
            </a:r>
            <a:r>
              <a:rPr lang="en-US" dirty="0"/>
              <a:t>rate attributed to household and ambient air pollution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398" y="3193068"/>
            <a:ext cx="5331943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3.9.2: Mortality </a:t>
            </a:r>
            <a:r>
              <a:rPr lang="en-US" dirty="0"/>
              <a:t>rate attributed to unsafe water, unsafe sanitation and lack of hygiene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399" y="3917198"/>
            <a:ext cx="5331942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3.9.3: Mortality </a:t>
            </a:r>
            <a:r>
              <a:rPr lang="en-US" dirty="0"/>
              <a:t>rate attributed to unintentional poisoning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86150" y="5370369"/>
            <a:ext cx="5768209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3.a.1: Prevalence of current tobacco use</a:t>
            </a:r>
            <a:endParaRPr lang="en-US" sz="1600" dirty="0"/>
          </a:p>
        </p:txBody>
      </p:sp>
      <p:sp>
        <p:nvSpPr>
          <p:cNvPr id="47" name="TextBox 46"/>
          <p:cNvSpPr txBox="1"/>
          <p:nvPr/>
        </p:nvSpPr>
        <p:spPr>
          <a:xfrm>
            <a:off x="3486151" y="5736715"/>
            <a:ext cx="5768208" cy="310686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</a:rPr>
              <a:t>3.b.1: population covered by all vaccines 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486150" y="6099313"/>
            <a:ext cx="5768209" cy="34709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3.b.2: Total </a:t>
            </a:r>
            <a:r>
              <a:rPr lang="en-US" sz="1600" dirty="0"/>
              <a:t>net </a:t>
            </a:r>
            <a:r>
              <a:rPr lang="en-US" sz="1600" dirty="0" smtClean="0"/>
              <a:t>ODA to </a:t>
            </a:r>
            <a:r>
              <a:rPr lang="en-US" sz="1600" dirty="0"/>
              <a:t>medical research and basic health sectors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1299" y="6240706"/>
            <a:ext cx="2961796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GB" dirty="0" smtClean="0"/>
              <a:t>3.c.1: Health </a:t>
            </a:r>
            <a:r>
              <a:rPr lang="en-GB" dirty="0"/>
              <a:t>worker density and distribution </a:t>
            </a:r>
            <a:endParaRPr lang="en-US" dirty="0"/>
          </a:p>
        </p:txBody>
      </p:sp>
      <p:sp>
        <p:nvSpPr>
          <p:cNvPr id="50" name="TextBox 49"/>
          <p:cNvSpPr txBox="1"/>
          <p:nvPr/>
        </p:nvSpPr>
        <p:spPr>
          <a:xfrm>
            <a:off x="3486150" y="6487057"/>
            <a:ext cx="5768209" cy="33855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3.d.1: IHR </a:t>
            </a:r>
            <a:r>
              <a:rPr lang="en-US" sz="1600" dirty="0"/>
              <a:t>capacity and health emergency preparedness </a:t>
            </a:r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611086" cy="1181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39247" y="4667250"/>
            <a:ext cx="5322094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3.b.3 Proportion of health facilities that have core set of essential medicine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235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4"/>
          </a:solidFill>
        </p:spPr>
      </p:pic>
      <p:sp>
        <p:nvSpPr>
          <p:cNvPr id="5" name="TextBox 4"/>
          <p:cNvSpPr txBox="1"/>
          <p:nvPr/>
        </p:nvSpPr>
        <p:spPr>
          <a:xfrm>
            <a:off x="4107976" y="5322631"/>
            <a:ext cx="7970293" cy="1200329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Draft Monitoring and Evaluation (M&amp;E) of Sustainable Development Goal-3 </a:t>
            </a:r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552117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15800" cy="951469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r>
              <a:rPr lang="en-US" b="1" dirty="0"/>
              <a:t>2.2.1 Prevalence of stunting among children under 5 years of age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9304061"/>
              </p:ext>
            </p:extLst>
          </p:nvPr>
        </p:nvGraphicFramePr>
        <p:xfrm>
          <a:off x="0" y="1226126"/>
          <a:ext cx="12192000" cy="5631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06775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6736484"/>
              </p:ext>
            </p:extLst>
          </p:nvPr>
        </p:nvGraphicFramePr>
        <p:xfrm>
          <a:off x="172995" y="0"/>
          <a:ext cx="12019005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69548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sz="4000" dirty="0" smtClean="0"/>
              <a:t>3.1.1: Maternal mortality ratio (per 100,000 LB)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6355572"/>
              </p:ext>
            </p:extLst>
          </p:nvPr>
        </p:nvGraphicFramePr>
        <p:xfrm>
          <a:off x="0" y="1390918"/>
          <a:ext cx="12192000" cy="54670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1131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sz="4000" dirty="0" smtClean="0"/>
              <a:t>3.1.2:Proportion of births attended by skilled health personnel 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/>
          </p:nvPr>
        </p:nvGraphicFramePr>
        <p:xfrm>
          <a:off x="193183" y="1558344"/>
          <a:ext cx="11822806" cy="51129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887182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sz="4000" dirty="0" smtClean="0"/>
              <a:t>3.2.2: Neonatal mortality rate (per 1000 LB)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5362047"/>
              </p:ext>
            </p:extLst>
          </p:nvPr>
        </p:nvGraphicFramePr>
        <p:xfrm>
          <a:off x="0" y="1390918"/>
          <a:ext cx="12192000" cy="5467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2090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sz="4000" dirty="0" smtClean="0"/>
              <a:t>3.3.1: Number of new HIV infections per 1,000 uninfected population, by sex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7578919"/>
              </p:ext>
            </p:extLst>
          </p:nvPr>
        </p:nvGraphicFramePr>
        <p:xfrm>
          <a:off x="180304" y="1390918"/>
          <a:ext cx="11887200" cy="53318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43542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sz="4000" dirty="0" smtClean="0"/>
              <a:t>3.3.2: Tuberculosis incidence per 100,000 population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2975412"/>
              </p:ext>
            </p:extLst>
          </p:nvPr>
        </p:nvGraphicFramePr>
        <p:xfrm>
          <a:off x="0" y="1390918"/>
          <a:ext cx="12192000" cy="5467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99617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sz="4000" dirty="0" smtClean="0"/>
              <a:t>3.3.3: Malaria incidence per 1,000 population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/>
          </p:nvPr>
        </p:nvGraphicFramePr>
        <p:xfrm>
          <a:off x="206062" y="1532586"/>
          <a:ext cx="11797048" cy="5190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73456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sz="4000" dirty="0" smtClean="0"/>
              <a:t>3.3.4: Hepatitis B incidence per 100,000 population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/>
          </p:nvPr>
        </p:nvGraphicFramePr>
        <p:xfrm>
          <a:off x="141668" y="1596980"/>
          <a:ext cx="11809926" cy="5074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47350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r>
              <a:rPr lang="en-US" sz="4000" dirty="0" smtClean="0"/>
              <a:t>3.3.5: Number of people requiring interventions against neglected tropical diseases 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77279"/>
              </p:ext>
            </p:extLst>
          </p:nvPr>
        </p:nvGraphicFramePr>
        <p:xfrm>
          <a:off x="0" y="1481070"/>
          <a:ext cx="12192000" cy="53769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62998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r>
              <a:rPr lang="en-US" sz="4000" dirty="0" smtClean="0"/>
              <a:t>3.4.1: Mortality rate attributed to cardiovascular disease, cancer, diabetes or chronic respiratory disease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2786510"/>
              </p:ext>
            </p:extLst>
          </p:nvPr>
        </p:nvGraphicFramePr>
        <p:xfrm>
          <a:off x="0" y="1390918"/>
          <a:ext cx="12192000" cy="5467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88575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sz="4000" dirty="0" smtClean="0"/>
              <a:t>3.4.2: Suicide mortality rate (per 100,000 population)  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3071688"/>
              </p:ext>
            </p:extLst>
          </p:nvPr>
        </p:nvGraphicFramePr>
        <p:xfrm>
          <a:off x="0" y="1390918"/>
          <a:ext cx="12192000" cy="5467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2214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r>
              <a:rPr lang="en-US" sz="3600" dirty="0" smtClean="0"/>
              <a:t>3.5.2: Harmful use of alcohol, defined according to the national context as alcohol per capita consumption (aged 15 years and older) within a calendar year in </a:t>
            </a:r>
            <a:r>
              <a:rPr lang="en-US" sz="3600" dirty="0" err="1" smtClean="0"/>
              <a:t>litres</a:t>
            </a:r>
            <a:r>
              <a:rPr lang="en-US" sz="3600" dirty="0" smtClean="0"/>
              <a:t> of pure alcohol</a:t>
            </a:r>
            <a:r>
              <a:rPr lang="en-US" sz="4000" dirty="0" smtClean="0"/>
              <a:t> 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/>
          </p:nvPr>
        </p:nvGraphicFramePr>
        <p:xfrm>
          <a:off x="168811" y="1547446"/>
          <a:ext cx="11844997" cy="51769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156846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rmAutofit/>
          </a:bodyPr>
          <a:lstStyle/>
          <a:p>
            <a:r>
              <a:rPr lang="en-US" sz="3600" dirty="0" smtClean="0"/>
              <a:t>3.6.1: Death rate due to road traffic injuries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893994"/>
              </p:ext>
            </p:extLst>
          </p:nvPr>
        </p:nvGraphicFramePr>
        <p:xfrm>
          <a:off x="0" y="1390918"/>
          <a:ext cx="12192000" cy="5467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68312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r>
              <a:rPr lang="en-US" sz="3600" dirty="0" smtClean="0"/>
              <a:t>3.7.1: Proportion of women of reproductive age (aged 15-49 years) who have their need for family planning satisfied with modern methods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3674657"/>
              </p:ext>
            </p:extLst>
          </p:nvPr>
        </p:nvGraphicFramePr>
        <p:xfrm>
          <a:off x="0" y="1390918"/>
          <a:ext cx="12192000" cy="5467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525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rmAutofit fontScale="90000"/>
          </a:bodyPr>
          <a:lstStyle/>
          <a:p>
            <a:r>
              <a:rPr lang="en-US" sz="3600" dirty="0" smtClean="0"/>
              <a:t>3.7.2: Adolescent birth rate (aged 10-14 years; aged 15-19 years) per 1,000 women in that age group 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5983641"/>
              </p:ext>
            </p:extLst>
          </p:nvPr>
        </p:nvGraphicFramePr>
        <p:xfrm>
          <a:off x="0" y="1390918"/>
          <a:ext cx="12192000" cy="5467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28491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Autofit/>
          </a:bodyPr>
          <a:lstStyle/>
          <a:p>
            <a:r>
              <a:rPr lang="en-US" sz="2000" dirty="0" smtClean="0"/>
              <a:t>3.8.1 Coverage of essential health services (defined as the average coverage of essential services based on tracer interventions that include reproductive, maternal, new-born and child health, infectious diseases, non-communicable diseases and service capacity and access, among the general and the most disadvantaged population)</a:t>
            </a:r>
            <a:endParaRPr lang="en-US" sz="2800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/>
          </p:nvPr>
        </p:nvGraphicFramePr>
        <p:xfrm>
          <a:off x="182880" y="1575582"/>
          <a:ext cx="11802794" cy="51347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17281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2" y="1"/>
            <a:ext cx="10686757" cy="1390917"/>
          </a:xfrm>
          <a:solidFill>
            <a:schemeClr val="accent1"/>
          </a:solidFill>
        </p:spPr>
        <p:txBody>
          <a:bodyPr>
            <a:noAutofit/>
          </a:bodyPr>
          <a:lstStyle/>
          <a:p>
            <a:r>
              <a:rPr lang="en-US" sz="3600" dirty="0" smtClean="0"/>
              <a:t>3.8.2: Number of people covered by health insurance or a public health system per 1,000 population 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8" name="Content Placeholder 7"/>
          <p:cNvGraphicFramePr>
            <a:graphicFrameLocks noGrp="1"/>
          </p:cNvGraphicFramePr>
          <p:nvPr>
            <p:ph sz="half" idx="1"/>
            <p:extLst/>
          </p:nvPr>
        </p:nvGraphicFramePr>
        <p:xfrm>
          <a:off x="126609" y="1561514"/>
          <a:ext cx="5893191" cy="51909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  <p:extLst/>
          </p:nvPr>
        </p:nvGraphicFramePr>
        <p:xfrm>
          <a:off x="6172199" y="1631852"/>
          <a:ext cx="5855677" cy="5078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6606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Autofit/>
          </a:bodyPr>
          <a:lstStyle/>
          <a:p>
            <a:r>
              <a:rPr lang="en-US" sz="3600" dirty="0" smtClean="0"/>
              <a:t>3.9.1: Mortality rate attributed to household and ambient air pollution (per 100000 population)</a:t>
            </a:r>
            <a:endParaRPr lang="en-US" sz="3600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/>
          </p:nvPr>
        </p:nvGraphicFramePr>
        <p:xfrm>
          <a:off x="126609" y="1589650"/>
          <a:ext cx="11873133" cy="5064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67625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Autofit/>
          </a:bodyPr>
          <a:lstStyle/>
          <a:p>
            <a:r>
              <a:rPr lang="en-US" sz="3600" dirty="0" smtClean="0"/>
              <a:t>3.9.2: Mortality rate attributed to unsafe water, unsafe sanitation and lack of hygiene (per 100,000 population)</a:t>
            </a:r>
            <a:endParaRPr lang="en-US" sz="3600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/>
          </p:nvPr>
        </p:nvGraphicFramePr>
        <p:xfrm>
          <a:off x="154745" y="1603718"/>
          <a:ext cx="11859064" cy="50784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494431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Autofit/>
          </a:bodyPr>
          <a:lstStyle/>
          <a:p>
            <a:r>
              <a:rPr lang="en-US" sz="3600" dirty="0" smtClean="0"/>
              <a:t>3.9.3:  Mortality rate attributed to unintentional poisoning (per 100,000 population)</a:t>
            </a:r>
            <a:endParaRPr lang="en-US" sz="3600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/>
          </p:nvPr>
        </p:nvGraphicFramePr>
        <p:xfrm>
          <a:off x="211015" y="1533378"/>
          <a:ext cx="11718388" cy="5148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8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Autofit/>
          </a:bodyPr>
          <a:lstStyle/>
          <a:p>
            <a:r>
              <a:rPr lang="en-US" sz="3600" dirty="0" smtClean="0"/>
              <a:t>3.a.1: Age-standardized prevalence of current tobacco use among persons aged 15 years and older</a:t>
            </a:r>
            <a:endParaRPr lang="en-US" sz="3600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/>
          </p:nvPr>
        </p:nvGraphicFramePr>
        <p:xfrm>
          <a:off x="196947" y="1547446"/>
          <a:ext cx="11746523" cy="51347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276916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Autofit/>
          </a:bodyPr>
          <a:lstStyle/>
          <a:p>
            <a:r>
              <a:rPr lang="en-US" sz="3600" dirty="0" smtClean="0"/>
              <a:t>3.b.1: Proportion of the population with access to affordable medicines and vaccines on a sustainable basis </a:t>
            </a:r>
            <a:endParaRPr lang="en-US" sz="3600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7085638"/>
              </p:ext>
            </p:extLst>
          </p:nvPr>
        </p:nvGraphicFramePr>
        <p:xfrm>
          <a:off x="0" y="1390918"/>
          <a:ext cx="12192000" cy="54670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6680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Autofit/>
          </a:bodyPr>
          <a:lstStyle/>
          <a:p>
            <a:r>
              <a:rPr lang="en-US" sz="3600" dirty="0" smtClean="0"/>
              <a:t>3.b.2: Total net official development assistance to medical research and basic health sectors</a:t>
            </a:r>
            <a:endParaRPr lang="en-US" sz="3600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3987084"/>
              </p:ext>
            </p:extLst>
          </p:nvPr>
        </p:nvGraphicFramePr>
        <p:xfrm>
          <a:off x="0" y="1390918"/>
          <a:ext cx="12192000" cy="54670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65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Autofit/>
          </a:bodyPr>
          <a:lstStyle/>
          <a:p>
            <a:r>
              <a:rPr lang="en-US" sz="3600" dirty="0" smtClean="0"/>
              <a:t>3.c.1: Health worker density and distribution (per 10,000 population)</a:t>
            </a:r>
            <a:endParaRPr lang="en-US" sz="3600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/>
          </p:nvPr>
        </p:nvGraphicFramePr>
        <p:xfrm>
          <a:off x="239151" y="1603718"/>
          <a:ext cx="11718387" cy="5064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94558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5243" y="1"/>
            <a:ext cx="10686757" cy="1390917"/>
          </a:xfrm>
          <a:solidFill>
            <a:schemeClr val="accent1"/>
          </a:solidFill>
        </p:spPr>
        <p:txBody>
          <a:bodyPr>
            <a:noAutofit/>
          </a:bodyPr>
          <a:lstStyle/>
          <a:p>
            <a:r>
              <a:rPr lang="en-US" sz="3600" dirty="0" smtClean="0"/>
              <a:t>3.d.1: International Health Regulations (IHR) capacity and health emergency preparedness</a:t>
            </a:r>
            <a:endParaRPr lang="en-US" sz="3600" dirty="0"/>
          </a:p>
        </p:txBody>
      </p:sp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505243" cy="1390917"/>
          </a:xfrm>
          <a:prstGeom prst="rect">
            <a:avLst/>
          </a:prstGeom>
        </p:spPr>
      </p:pic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/>
          </p:nvPr>
        </p:nvGraphicFramePr>
        <p:xfrm>
          <a:off x="140677" y="1603717"/>
          <a:ext cx="11859065" cy="510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11209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Content Placeholder 2"/>
          <p:cNvSpPr>
            <a:spLocks noGrp="1"/>
          </p:cNvSpPr>
          <p:nvPr>
            <p:ph idx="1"/>
          </p:nvPr>
        </p:nvSpPr>
        <p:spPr>
          <a:xfrm>
            <a:off x="5357611" y="420915"/>
            <a:ext cx="6834389" cy="6226628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just" eaLnBrk="1" hangingPunct="1">
              <a:buNone/>
            </a:pPr>
            <a:r>
              <a:rPr lang="en-US" sz="2902" b="1" dirty="0">
                <a:solidFill>
                  <a:schemeClr val="accent3">
                    <a:lumMod val="50000"/>
                  </a:schemeClr>
                </a:solidFill>
              </a:rPr>
              <a:t>	"Let us together create a world that can eradicate poverty, hunger, war and human sufferings and achieve global peace and security for the well being of humanity."</a:t>
            </a:r>
          </a:p>
          <a:p>
            <a:pPr algn="r" eaLnBrk="1" hangingPunct="1">
              <a:buNone/>
            </a:pPr>
            <a:r>
              <a:rPr lang="en-US" sz="2902" b="1" i="1" dirty="0" err="1">
                <a:solidFill>
                  <a:srgbClr val="C00000"/>
                </a:solidFill>
              </a:rPr>
              <a:t>Bangabandhu</a:t>
            </a:r>
            <a:r>
              <a:rPr lang="en-US" sz="2902" b="1" i="1" dirty="0">
                <a:solidFill>
                  <a:srgbClr val="C00000"/>
                </a:solidFill>
              </a:rPr>
              <a:t> Sheikh </a:t>
            </a:r>
            <a:r>
              <a:rPr lang="en-US" sz="2902" b="1" i="1" dirty="0" err="1">
                <a:solidFill>
                  <a:srgbClr val="C00000"/>
                </a:solidFill>
              </a:rPr>
              <a:t>Mujibur</a:t>
            </a:r>
            <a:r>
              <a:rPr lang="en-US" sz="2902" b="1" i="1" dirty="0">
                <a:solidFill>
                  <a:srgbClr val="C00000"/>
                </a:solidFill>
              </a:rPr>
              <a:t> Rahman, </a:t>
            </a:r>
          </a:p>
          <a:p>
            <a:pPr marL="0" indent="0" algn="r">
              <a:buNone/>
            </a:pPr>
            <a:r>
              <a:rPr lang="en-US" sz="2902" b="1" i="1" dirty="0">
                <a:solidFill>
                  <a:srgbClr val="C00000"/>
                </a:solidFill>
              </a:rPr>
              <a:t>Founding Father of Bangladesh</a:t>
            </a:r>
          </a:p>
          <a:p>
            <a:pPr marL="0" indent="0" algn="ctr">
              <a:buNone/>
            </a:pPr>
            <a:endParaRPr lang="en-US" sz="1632" b="1" i="1" dirty="0">
              <a:solidFill>
                <a:srgbClr val="C00000"/>
              </a:solidFill>
            </a:endParaRPr>
          </a:p>
          <a:p>
            <a:pPr algn="ctr" eaLnBrk="1" hangingPunct="1">
              <a:buFont typeface="Arial" charset="0"/>
              <a:buNone/>
            </a:pPr>
            <a:endParaRPr lang="en-US" sz="2539" b="1" dirty="0">
              <a:solidFill>
                <a:schemeClr val="accent3">
                  <a:lumMod val="50000"/>
                </a:schemeClr>
              </a:solidFill>
            </a:endParaRPr>
          </a:p>
          <a:p>
            <a:pPr algn="ctr" eaLnBrk="1" hangingPunct="1">
              <a:buFont typeface="Arial" charset="0"/>
              <a:buNone/>
            </a:pPr>
            <a:endParaRPr lang="en-US" sz="2176" b="1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D919D77-3D50-4BDD-B5A0-76D17DAAD287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357611" cy="6857999"/>
          </a:xfrm>
          <a:prstGeom prst="rect">
            <a:avLst/>
          </a:prstGeom>
        </p:spPr>
      </p:pic>
      <p:pic>
        <p:nvPicPr>
          <p:cNvPr id="110595" name="Picture 3" descr="C:\Users\USER\Desktop\download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07086" y="3730171"/>
            <a:ext cx="3541486" cy="28384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5208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82" y="0"/>
            <a:ext cx="11428612" cy="6847914"/>
          </a:xfrm>
          <a:prstGeom prst="rect">
            <a:avLst/>
          </a:prstGeom>
        </p:spPr>
      </p:pic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1798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1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kern="1200" dirty="0" smtClean="0">
                          <a:solidFill>
                            <a:schemeClr val="bg1"/>
                          </a:solidFill>
                        </a:rPr>
                        <a:t>The woods are lovely, dark and deep,</a:t>
                      </a:r>
                      <a:br>
                        <a:rPr lang="en-US" sz="2800" kern="1200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2800" kern="1200" dirty="0" smtClean="0">
                          <a:solidFill>
                            <a:schemeClr val="bg1"/>
                          </a:solidFill>
                        </a:rPr>
                        <a:t>But I have promises to keep,</a:t>
                      </a:r>
                      <a:br>
                        <a:rPr lang="en-US" sz="2800" kern="1200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2800" kern="1200" dirty="0" smtClean="0">
                          <a:solidFill>
                            <a:schemeClr val="bg1"/>
                          </a:solidFill>
                        </a:rPr>
                        <a:t>And miles to go before I sleep,</a:t>
                      </a:r>
                      <a:br>
                        <a:rPr lang="en-US" sz="2800" kern="1200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en-US" sz="2800" kern="1200" dirty="0" smtClean="0">
                          <a:solidFill>
                            <a:schemeClr val="bg1"/>
                          </a:solidFill>
                        </a:rPr>
                        <a:t>And miles to go before I sleep.</a:t>
                      </a:r>
                      <a:r>
                        <a:rPr lang="en-US" sz="28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endParaRPr lang="en-US" sz="2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997631" y="4775200"/>
            <a:ext cx="4491385" cy="650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27" b="1" dirty="0">
                <a:solidFill>
                  <a:srgbClr val="FF0000"/>
                </a:solidFill>
              </a:rPr>
              <a:t>THANK YOU ALL</a:t>
            </a:r>
            <a:endParaRPr lang="en-US" sz="1632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3106</TotalTime>
  <Words>1250</Words>
  <Application>Microsoft Office PowerPoint</Application>
  <PresentationFormat>Custom</PresentationFormat>
  <Paragraphs>106</Paragraphs>
  <Slides>33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Achievement of MDGs and Adaptation of SDGs: Context Bangladesh </vt:lpstr>
      <vt:lpstr>PowerPoint Presentation</vt:lpstr>
      <vt:lpstr>SDG # 3: Targets (13 including 4 MoI)</vt:lpstr>
      <vt:lpstr>SDG # 3: Data Availability (27 indicators) </vt:lpstr>
      <vt:lpstr>PowerPoint Presentation</vt:lpstr>
      <vt:lpstr>2.2.1 Prevalence of stunting among children under 5 years of age</vt:lpstr>
      <vt:lpstr>PowerPoint Presentation</vt:lpstr>
      <vt:lpstr>3.1.1: Maternal mortality ratio (per 100,000 LB)</vt:lpstr>
      <vt:lpstr>3.1.2:Proportion of births attended by skilled health personnel </vt:lpstr>
      <vt:lpstr>3.2.2: Neonatal mortality rate (per 1000 LB)</vt:lpstr>
      <vt:lpstr>3.3.1: Number of new HIV infections per 1,000 uninfected population, by sex</vt:lpstr>
      <vt:lpstr>3.3.2: Tuberculosis incidence per 100,000 population</vt:lpstr>
      <vt:lpstr>3.3.3: Malaria incidence per 1,000 population</vt:lpstr>
      <vt:lpstr>3.3.4: Hepatitis B incidence per 100,000 population</vt:lpstr>
      <vt:lpstr>3.3.5: Number of people requiring interventions against neglected tropical diseases </vt:lpstr>
      <vt:lpstr>3.4.1: Mortality rate attributed to cardiovascular disease, cancer, diabetes or chronic respiratory disease</vt:lpstr>
      <vt:lpstr>3.4.2: Suicide mortality rate (per 100,000 population)  </vt:lpstr>
      <vt:lpstr>3.5.2: Harmful use of alcohol, defined according to the national context as alcohol per capita consumption (aged 15 years and older) within a calendar year in litres of pure alcohol </vt:lpstr>
      <vt:lpstr>3.6.1: Death rate due to road traffic injuries</vt:lpstr>
      <vt:lpstr>3.7.1: Proportion of women of reproductive age (aged 15-49 years) who have their need for family planning satisfied with modern methods</vt:lpstr>
      <vt:lpstr>3.7.2: Adolescent birth rate (aged 10-14 years; aged 15-19 years) per 1,000 women in that age group </vt:lpstr>
      <vt:lpstr>3.8.1 Coverage of essential health services (defined as the average coverage of essential services based on tracer interventions that include reproductive, maternal, new-born and child health, infectious diseases, non-communicable diseases and service capacity and access, among the general and the most disadvantaged population)</vt:lpstr>
      <vt:lpstr>3.8.2: Number of people covered by health insurance or a public health system per 1,000 population </vt:lpstr>
      <vt:lpstr>3.9.1: Mortality rate attributed to household and ambient air pollution (per 100000 population)</vt:lpstr>
      <vt:lpstr>3.9.2: Mortality rate attributed to unsafe water, unsafe sanitation and lack of hygiene (per 100,000 population)</vt:lpstr>
      <vt:lpstr>3.9.3:  Mortality rate attributed to unintentional poisoning (per 100,000 population)</vt:lpstr>
      <vt:lpstr>3.a.1: Age-standardized prevalence of current tobacco use among persons aged 15 years and older</vt:lpstr>
      <vt:lpstr>3.b.1: Proportion of the population with access to affordable medicines and vaccines on a sustainable basis </vt:lpstr>
      <vt:lpstr>3.b.2: Total net official development assistance to medical research and basic health sectors</vt:lpstr>
      <vt:lpstr>3.c.1: Health worker density and distribution (per 10,000 population)</vt:lpstr>
      <vt:lpstr>3.d.1: International Health Regulations (IHR) capacity and health emergency preparedness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Achievement of MDGs and Adaptation of SDGs: Context Bangladesh</dc:title>
  <dc:creator>User</dc:creator>
  <cp:lastModifiedBy>Emdad</cp:lastModifiedBy>
  <cp:revision>175</cp:revision>
  <dcterms:created xsi:type="dcterms:W3CDTF">2016-12-25T04:16:03Z</dcterms:created>
  <dcterms:modified xsi:type="dcterms:W3CDTF">2020-09-01T15:40:52Z</dcterms:modified>
</cp:coreProperties>
</file>