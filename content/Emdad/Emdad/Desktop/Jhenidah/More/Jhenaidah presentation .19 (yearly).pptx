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9" r:id="rId1"/>
  </p:sldMasterIdLst>
  <p:notesMasterIdLst>
    <p:notesMasterId r:id="rId29"/>
  </p:notesMasterIdLst>
  <p:sldIdLst>
    <p:sldId id="376" r:id="rId2"/>
    <p:sldId id="377" r:id="rId3"/>
    <p:sldId id="375" r:id="rId4"/>
    <p:sldId id="328" r:id="rId5"/>
    <p:sldId id="352" r:id="rId6"/>
    <p:sldId id="346" r:id="rId7"/>
    <p:sldId id="362" r:id="rId8"/>
    <p:sldId id="369" r:id="rId9"/>
    <p:sldId id="287" r:id="rId10"/>
    <p:sldId id="288" r:id="rId11"/>
    <p:sldId id="290" r:id="rId12"/>
    <p:sldId id="291" r:id="rId13"/>
    <p:sldId id="292" r:id="rId14"/>
    <p:sldId id="308" r:id="rId15"/>
    <p:sldId id="323" r:id="rId16"/>
    <p:sldId id="312" r:id="rId17"/>
    <p:sldId id="366" r:id="rId18"/>
    <p:sldId id="363" r:id="rId19"/>
    <p:sldId id="364" r:id="rId20"/>
    <p:sldId id="370" r:id="rId21"/>
    <p:sldId id="372" r:id="rId22"/>
    <p:sldId id="371" r:id="rId23"/>
    <p:sldId id="297" r:id="rId24"/>
    <p:sldId id="293" r:id="rId25"/>
    <p:sldId id="294" r:id="rId26"/>
    <p:sldId id="330" r:id="rId27"/>
    <p:sldId id="344" r:id="rId28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EEE00"/>
    <a:srgbClr val="33CC33"/>
    <a:srgbClr val="0C7E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29" autoAdjust="0"/>
    <p:restoredTop sz="91815" autoAdjust="0"/>
  </p:normalViewPr>
  <p:slideViewPr>
    <p:cSldViewPr>
      <p:cViewPr varScale="1">
        <p:scale>
          <a:sx n="79" d="100"/>
          <a:sy n="79" d="100"/>
        </p:scale>
        <p:origin x="-1344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image" Target="../media/image3.jpeg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image" Target="../media/image5.jpeg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.xlsx"/><Relationship Id="rId1" Type="http://schemas.openxmlformats.org/officeDocument/2006/relationships/image" Target="../media/image6.jpeg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4.xlsx"/><Relationship Id="rId1" Type="http://schemas.openxmlformats.org/officeDocument/2006/relationships/image" Target="../media/image3.jpeg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5.xlsx"/><Relationship Id="rId1" Type="http://schemas.openxmlformats.org/officeDocument/2006/relationships/image" Target="../media/image8.jpe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</c:numCache>
            </c:numRef>
          </c:cat>
          <c:val>
            <c:numRef>
              <c:f>Sheet1!$B$2:$B$9</c:f>
              <c:numCache>
                <c:formatCode>0%</c:formatCode>
                <c:ptCount val="8"/>
                <c:pt idx="0">
                  <c:v>1.26</c:v>
                </c:pt>
                <c:pt idx="1">
                  <c:v>1.46</c:v>
                </c:pt>
                <c:pt idx="2">
                  <c:v>1.6500000000000001</c:v>
                </c:pt>
                <c:pt idx="3">
                  <c:v>1.930000000000003</c:v>
                </c:pt>
                <c:pt idx="4">
                  <c:v>2.14</c:v>
                </c:pt>
                <c:pt idx="5">
                  <c:v>2.42</c:v>
                </c:pt>
                <c:pt idx="6">
                  <c:v>2.5099999999999998</c:v>
                </c:pt>
                <c:pt idx="7">
                  <c:v>2.88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5545472"/>
        <c:axId val="125596416"/>
      </c:barChart>
      <c:catAx>
        <c:axId val="1255454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000" baseline="0"/>
            </a:pPr>
            <a:endParaRPr lang="en-US"/>
          </a:p>
        </c:txPr>
        <c:crossAx val="125596416"/>
        <c:crosses val="autoZero"/>
        <c:auto val="1"/>
        <c:lblAlgn val="ctr"/>
        <c:lblOffset val="100"/>
        <c:noMultiLvlLbl val="0"/>
      </c:catAx>
      <c:valAx>
        <c:axId val="125596416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25545472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</c:spPr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141903990973091"/>
          <c:y val="2.5792207312114252E-2"/>
          <c:w val="0.87858091957255369"/>
          <c:h val="0.869334959890577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sz="16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  <c:pt idx="7">
                  <c:v>384928</c:v>
                </c:pt>
                <c:pt idx="8">
                  <c:v>407474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dLbl>
              <c:idx val="4"/>
              <c:layout>
                <c:manualLayout>
                  <c:x val="6.2305295950156646E-3"/>
                  <c:y val="-1.11111111111112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6.2305295950156646E-3"/>
                  <c:y val="8.333333333333336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-1.0708427071616101E-3"/>
                  <c:y val="-1.38564222440944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>
                <c:manualLayout>
                  <c:x val="-6.5370734908137547E-4"/>
                  <c:y val="-1.25793553149606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 sz="16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</c:numCache>
            </c:num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  <c:pt idx="7">
                  <c:v>37096</c:v>
                </c:pt>
                <c:pt idx="8">
                  <c:v>42551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9654912"/>
        <c:axId val="169902464"/>
      </c:barChart>
      <c:catAx>
        <c:axId val="169654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69902464"/>
        <c:crosses val="autoZero"/>
        <c:auto val="1"/>
        <c:lblAlgn val="ctr"/>
        <c:lblOffset val="100"/>
        <c:noMultiLvlLbl val="0"/>
      </c:catAx>
      <c:valAx>
        <c:axId val="16990246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69654912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sideWall>
    <c:back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backWall>
    <c:plotArea>
      <c:layout>
        <c:manualLayout>
          <c:layoutTarget val="inner"/>
          <c:xMode val="edge"/>
          <c:yMode val="edge"/>
          <c:x val="0.10934240566213922"/>
          <c:y val="5.0614472425047033E-2"/>
          <c:w val="0.87051107128595528"/>
          <c:h val="0.83049790530628376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dLbl>
              <c:idx val="0"/>
              <c:layout>
                <c:manualLayout>
                  <c:x val="4.4941168575518865E-3"/>
                  <c:y val="-5.5772496453609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41E-3"/>
                  <c:y val="-4.43983470734565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101E-3"/>
                  <c:y val="-4.26781932937233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524E-3"/>
                  <c:y val="-5.220040706399949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292E-3"/>
                  <c:y val="-3.44067761764768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  <c:pt idx="5">
                  <c:v>1383</c:v>
                </c:pt>
                <c:pt idx="6">
                  <c:v>1578</c:v>
                </c:pt>
                <c:pt idx="7">
                  <c:v>1385</c:v>
                </c:pt>
                <c:pt idx="8">
                  <c:v>1496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117464448"/>
        <c:axId val="117466240"/>
        <c:axId val="0"/>
      </c:bar3DChart>
      <c:catAx>
        <c:axId val="1174644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17466240"/>
        <c:crosses val="autoZero"/>
        <c:auto val="1"/>
        <c:lblAlgn val="ctr"/>
        <c:lblOffset val="100"/>
        <c:noMultiLvlLbl val="0"/>
      </c:catAx>
      <c:valAx>
        <c:axId val="1174662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1746444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0-28 days</c:v>
                </c:pt>
              </c:strCache>
            </c:strRef>
          </c:tx>
          <c:spPr>
            <a:solidFill>
              <a:srgbClr val="00B0F0"/>
            </a:solidFill>
          </c:spPr>
          <c:invertIfNegative val="0"/>
          <c:dLbls>
            <c:dLbl>
              <c:idx val="4"/>
              <c:layout>
                <c:manualLayout>
                  <c:x val="-8.6206896551724223E-3"/>
                  <c:y val="1.08481456077396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709</c:v>
                </c:pt>
                <c:pt idx="1">
                  <c:v>766</c:v>
                </c:pt>
                <c:pt idx="2">
                  <c:v>835</c:v>
                </c:pt>
                <c:pt idx="3">
                  <c:v>876</c:v>
                </c:pt>
                <c:pt idx="4">
                  <c:v>1028</c:v>
                </c:pt>
                <c:pt idx="5">
                  <c:v>1000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29 days-1 year</c:v>
                </c:pt>
              </c:strCache>
            </c:strRef>
          </c:tx>
          <c:invertIfNegative val="0"/>
          <c:dLbls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1127</c:v>
                </c:pt>
                <c:pt idx="1">
                  <c:v>923</c:v>
                </c:pt>
                <c:pt idx="2">
                  <c:v>1595</c:v>
                </c:pt>
                <c:pt idx="3">
                  <c:v>1493</c:v>
                </c:pt>
                <c:pt idx="4">
                  <c:v>1535</c:v>
                </c:pt>
                <c:pt idx="5">
                  <c:v>2014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– 5 years</c:v>
                </c:pt>
              </c:strCache>
            </c:strRef>
          </c:tx>
          <c:invertIfNegative val="0"/>
          <c:dLbls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Sheet1!$D$2:$D$7</c:f>
              <c:numCache>
                <c:formatCode>General</c:formatCode>
                <c:ptCount val="6"/>
                <c:pt idx="0">
                  <c:v>848</c:v>
                </c:pt>
                <c:pt idx="1">
                  <c:v>806</c:v>
                </c:pt>
                <c:pt idx="2">
                  <c:v>1123</c:v>
                </c:pt>
                <c:pt idx="3">
                  <c:v>1297</c:v>
                </c:pt>
                <c:pt idx="4">
                  <c:v>1029</c:v>
                </c:pt>
                <c:pt idx="5">
                  <c:v>1648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Admission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Sheet1!$E$2:$E$7</c:f>
              <c:numCache>
                <c:formatCode>General</c:formatCode>
                <c:ptCount val="6"/>
                <c:pt idx="0">
                  <c:v>2684</c:v>
                </c:pt>
                <c:pt idx="1">
                  <c:v>2495</c:v>
                </c:pt>
                <c:pt idx="2">
                  <c:v>3553</c:v>
                </c:pt>
                <c:pt idx="3">
                  <c:v>3666</c:v>
                </c:pt>
                <c:pt idx="4">
                  <c:v>3592</c:v>
                </c:pt>
                <c:pt idx="5">
                  <c:v>4662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7302784"/>
        <c:axId val="117304320"/>
      </c:barChart>
      <c:catAx>
        <c:axId val="1173027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17304320"/>
        <c:crosses val="autoZero"/>
        <c:auto val="1"/>
        <c:lblAlgn val="ctr"/>
        <c:lblOffset val="100"/>
        <c:noMultiLvlLbl val="0"/>
      </c:catAx>
      <c:valAx>
        <c:axId val="1173043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17302784"/>
        <c:crosses val="autoZero"/>
        <c:crossBetween val="between"/>
      </c:valAx>
    </c:plotArea>
    <c:legend>
      <c:legendPos val="r"/>
      <c:legendEntry>
        <c:idx val="1"/>
        <c:txPr>
          <a:bodyPr/>
          <a:lstStyle/>
          <a:p>
            <a:pPr>
              <a:defRPr sz="1400" b="1" baseline="0"/>
            </a:pPr>
            <a:endParaRPr lang="en-US"/>
          </a:p>
        </c:txPr>
      </c:legendEntry>
      <c:legendEntry>
        <c:idx val="3"/>
        <c:txPr>
          <a:bodyPr/>
          <a:lstStyle/>
          <a:p>
            <a:pPr>
              <a:defRPr sz="1400" b="1" baseline="0"/>
            </a:pPr>
            <a:endParaRPr lang="en-US"/>
          </a:p>
        </c:txPr>
      </c:legendEntry>
      <c:layout>
        <c:manualLayout>
          <c:xMode val="edge"/>
          <c:yMode val="edge"/>
          <c:x val="0.83649142456331094"/>
          <c:y val="0.11661286726738625"/>
          <c:w val="0.16350857543669114"/>
          <c:h val="0.40693306595745965"/>
        </c:manualLayout>
      </c:layout>
      <c:overlay val="0"/>
      <c:txPr>
        <a:bodyPr/>
        <a:lstStyle/>
        <a:p>
          <a:pPr>
            <a:defRPr sz="1600" b="1" baseline="0"/>
          </a:pPr>
          <a:endParaRPr lang="en-US"/>
        </a:p>
      </c:txPr>
    </c:legend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10"/>
      <c:rAngAx val="1"/>
    </c:view3D>
    <c:floor>
      <c:thickness val="0"/>
    </c:floor>
    <c:side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sideWall>
    <c:back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backWall>
    <c:plotArea>
      <c:layout>
        <c:manualLayout>
          <c:layoutTarget val="inner"/>
          <c:xMode val="edge"/>
          <c:yMode val="edge"/>
          <c:x val="4.2372881355932999E-2"/>
          <c:y val="3.2163742690058485E-2"/>
          <c:w val="0.94209039548022599"/>
          <c:h val="0.82278998019984362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4"/>
              <c:layout>
                <c:manualLayout>
                  <c:x val="4.1666666666666683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numCache>
            </c:numRef>
          </c:cat>
          <c:val>
            <c:numRef>
              <c:f>Sheet1!$B$2:$B$6</c:f>
              <c:numCache>
                <c:formatCode>#,##0</c:formatCode>
                <c:ptCount val="5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  <c:pt idx="3">
                  <c:v>7265145</c:v>
                </c:pt>
                <c:pt idx="4" formatCode="General">
                  <c:v>8903675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one"/>
        <c:axId val="117220864"/>
        <c:axId val="117222400"/>
        <c:axId val="169909312"/>
      </c:bar3DChart>
      <c:catAx>
        <c:axId val="1172208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900" b="1" baseline="0"/>
            </a:pPr>
            <a:endParaRPr lang="en-US"/>
          </a:p>
        </c:txPr>
        <c:crossAx val="117222400"/>
        <c:crosses val="autoZero"/>
        <c:auto val="1"/>
        <c:lblAlgn val="ctr"/>
        <c:lblOffset val="100"/>
        <c:noMultiLvlLbl val="0"/>
      </c:catAx>
      <c:valAx>
        <c:axId val="117222400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extTo"/>
        <c:crossAx val="117220864"/>
        <c:crosses val="autoZero"/>
        <c:crossBetween val="between"/>
      </c:valAx>
      <c:serAx>
        <c:axId val="169909312"/>
        <c:scaling>
          <c:orientation val="minMax"/>
        </c:scaling>
        <c:delete val="1"/>
        <c:axPos val="b"/>
        <c:majorTickMark val="out"/>
        <c:minorTickMark val="none"/>
        <c:tickLblPos val="nextTo"/>
        <c:crossAx val="117222400"/>
        <c:crosses val="autoZero"/>
      </c:serAx>
      <c:spPr>
        <a:noFill/>
        <a:ln w="25386">
          <a:noFill/>
        </a:ln>
      </c:spPr>
    </c:plotArea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797"/>
      </a:pPr>
      <a:endParaRPr lang="en-US"/>
    </a:p>
  </c:txPr>
  <c:externalData r:id="rId2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3/9/2020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7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26</a:t>
            </a:fld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27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3/9/2020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3/9/2020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3/9/2020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3/9/2020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3/9/2020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3/9/2020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3/9/2020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3/9/2020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3/9/2020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3/9/2020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3/9/2020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wav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2020/3/9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9" r:id="rId12"/>
  </p:sldLayoutIdLst>
  <p:transition spd="slow">
    <p:zoom dir="in"/>
    <p:sndAc>
      <p:stSnd>
        <p:snd r:embed="rId14" name="chimes.wav"/>
      </p:stSnd>
    </p:sndAc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jpeg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jpeg"/><Relationship Id="rId7" Type="http://schemas.openxmlformats.org/officeDocument/2006/relationships/image" Target="../media/image2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jpeg"/><Relationship Id="rId9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jpe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jpeg"/><Relationship Id="rId5" Type="http://schemas.openxmlformats.org/officeDocument/2006/relationships/image" Target="../media/image36.jpe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jpeg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jpeg"/><Relationship Id="rId5" Type="http://schemas.openxmlformats.org/officeDocument/2006/relationships/image" Target="../media/image48.jpeg"/><Relationship Id="rId4" Type="http://schemas.openxmlformats.org/officeDocument/2006/relationships/image" Target="../media/image4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jpeg"/><Relationship Id="rId5" Type="http://schemas.openxmlformats.org/officeDocument/2006/relationships/image" Target="../media/image52.jpeg"/><Relationship Id="rId4" Type="http://schemas.openxmlformats.org/officeDocument/2006/relationships/image" Target="../media/image5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jpeg"/><Relationship Id="rId5" Type="http://schemas.openxmlformats.org/officeDocument/2006/relationships/image" Target="../media/image56.jpeg"/><Relationship Id="rId4" Type="http://schemas.openxmlformats.org/officeDocument/2006/relationships/image" Target="../media/image5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1.jpeg"/><Relationship Id="rId5" Type="http://schemas.openxmlformats.org/officeDocument/2006/relationships/image" Target="../media/image60.jpeg"/><Relationship Id="rId4" Type="http://schemas.openxmlformats.org/officeDocument/2006/relationships/image" Target="../media/image59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jpe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7.jpe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1.jpeg"/><Relationship Id="rId5" Type="http://schemas.openxmlformats.org/officeDocument/2006/relationships/image" Target="../media/image80.png"/><Relationship Id="rId4" Type="http://schemas.openxmlformats.org/officeDocument/2006/relationships/image" Target="../media/image79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jpeg"/><Relationship Id="rId5" Type="http://schemas.openxmlformats.org/officeDocument/2006/relationships/image" Target="../media/image84.jpeg"/><Relationship Id="rId4" Type="http://schemas.openxmlformats.org/officeDocument/2006/relationships/image" Target="../media/image83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7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6320954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2019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060224493"/>
              </p:ext>
            </p:extLst>
          </p:nvPr>
        </p:nvGraphicFramePr>
        <p:xfrm>
          <a:off x="381000" y="1676400"/>
          <a:ext cx="8305800" cy="436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924131276"/>
      </p:ext>
    </p:extLst>
  </p:cSld>
  <p:clrMapOvr>
    <a:masterClrMapping/>
  </p:clrMapOvr>
  <p:transition spd="slow">
    <p:strips dir="ru"/>
    <p:sndAc>
      <p:stSnd>
        <p:snd r:embed="rId3" name="explode.wav"/>
      </p:stSnd>
    </p:sndAc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534400" cy="655638"/>
          </a:xfrm>
          <a:blipFill>
            <a:blip r:embed="rId3"/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+ Out Door &amp; Indoor  Service 1998 to 2019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2407633567"/>
              </p:ext>
            </p:extLst>
          </p:nvPr>
        </p:nvGraphicFramePr>
        <p:xfrm>
          <a:off x="228600" y="1219200"/>
          <a:ext cx="8534400" cy="541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04800" y="838200"/>
            <a:ext cx="8610600" cy="369332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     </a:t>
            </a:r>
            <a:r>
              <a:rPr lang="en-US" b="1" dirty="0" smtClean="0">
                <a:solidFill>
                  <a:srgbClr val="0070C0"/>
                </a:solidFill>
              </a:rPr>
              <a:t>Emergency + Outdoor visit</a:t>
            </a:r>
            <a:r>
              <a:rPr lang="en-US" dirty="0" smtClean="0"/>
              <a:t>,       </a:t>
            </a:r>
            <a:r>
              <a:rPr lang="en-US" dirty="0" smtClean="0">
                <a:solidFill>
                  <a:srgbClr val="C00000"/>
                </a:solidFill>
              </a:rPr>
              <a:t>Indoor (admission)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52600" y="990600"/>
            <a:ext cx="1524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257800" y="990600"/>
            <a:ext cx="152400" cy="1524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415189"/>
      </p:ext>
    </p:extLst>
  </p:cSld>
  <p:clrMapOvr>
    <a:masterClrMapping/>
  </p:clrMapOvr>
  <p:transition spd="slow">
    <p:split orient="vert" dir="in"/>
    <p:sndAc>
      <p:stSnd>
        <p:snd r:embed="rId2" name="drumroll.wav"/>
      </p:stSnd>
    </p:sndAc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90600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FFFF"/>
                </a:solidFill>
              </a:rPr>
              <a:t>Operation Service (Major) 2011 to 2019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4442999"/>
              </p:ext>
            </p:extLst>
          </p:nvPr>
        </p:nvGraphicFramePr>
        <p:xfrm>
          <a:off x="304800" y="1676400"/>
          <a:ext cx="86868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</a:t>
            </a: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Hosital</a:t>
            </a: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slow">
    <p:dissolve/>
    <p:sndAc>
      <p:stSnd>
        <p:snd r:embed="rId2" name="push.wav"/>
      </p:stSnd>
    </p:sndAc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4558568"/>
              </p:ext>
            </p:extLst>
          </p:nvPr>
        </p:nvGraphicFramePr>
        <p:xfrm>
          <a:off x="152400" y="1371601"/>
          <a:ext cx="8839200" cy="46828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152400" y="0"/>
            <a:ext cx="8991600" cy="762000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152400" y="762000"/>
            <a:ext cx="8991600" cy="461665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dirty="0" smtClean="0">
                <a:solidFill>
                  <a:srgbClr val="FFFFFF"/>
                </a:solidFill>
              </a:rPr>
              <a:t>Admitted Under 5 children in  indoor from 2014 to 2019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266799"/>
      </p:ext>
    </p:extLst>
  </p:cSld>
  <p:clrMapOvr>
    <a:masterClrMapping/>
  </p:clrMapOvr>
  <p:transition spd="slow">
    <p:blinds dir="vert"/>
    <p:sndAc>
      <p:stSnd>
        <p:snd r:embed="rId2" name="breeze.wav"/>
      </p:stSnd>
    </p:sndAc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990600"/>
            <a:ext cx="9144000" cy="808038"/>
          </a:xfrm>
          <a:blipFill>
            <a:blip r:embed="rId3"/>
            <a:tile tx="0" ty="0" sx="100000" sy="100000" flip="none" algn="tl"/>
          </a:blip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500" b="1" dirty="0" smtClean="0">
                <a:solidFill>
                  <a:srgbClr val="00B050"/>
                </a:solidFill>
              </a:rPr>
              <a:t>Comparative </a:t>
            </a:r>
            <a:r>
              <a:rPr lang="en-US" sz="2500" b="1" dirty="0">
                <a:solidFill>
                  <a:srgbClr val="00B050"/>
                </a:solidFill>
              </a:rPr>
              <a:t>data of revenue </a:t>
            </a:r>
            <a:r>
              <a:rPr lang="en-US" sz="2500" b="1" dirty="0" smtClean="0">
                <a:solidFill>
                  <a:srgbClr val="00B050"/>
                </a:solidFill>
              </a:rPr>
              <a:t>income </a:t>
            </a:r>
            <a:r>
              <a:rPr lang="en-US" sz="2800" b="1" dirty="0" smtClean="0">
                <a:solidFill>
                  <a:srgbClr val="00B050"/>
                </a:solidFill>
              </a:rPr>
              <a:t>(</a:t>
            </a:r>
            <a:r>
              <a:rPr lang="en-US" sz="2200" b="1" dirty="0" smtClean="0">
                <a:solidFill>
                  <a:srgbClr val="00B050"/>
                </a:solidFill>
              </a:rPr>
              <a:t>in Taka</a:t>
            </a:r>
            <a:r>
              <a:rPr lang="en-US" sz="2800" b="1" dirty="0" smtClean="0">
                <a:solidFill>
                  <a:srgbClr val="00B050"/>
                </a:solidFill>
              </a:rPr>
              <a:t>) from </a:t>
            </a:r>
            <a:r>
              <a:rPr lang="en-US" sz="2600" b="1" dirty="0" smtClean="0">
                <a:solidFill>
                  <a:srgbClr val="00B050"/>
                </a:solidFill>
              </a:rPr>
              <a:t>2015 to 2019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1290331"/>
              </p:ext>
            </p:extLst>
          </p:nvPr>
        </p:nvGraphicFramePr>
        <p:xfrm>
          <a:off x="0" y="1752600"/>
          <a:ext cx="9144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8479770"/>
      </p:ext>
    </p:extLst>
  </p:cSld>
  <p:clrMapOvr>
    <a:masterClrMapping/>
  </p:clrMapOvr>
  <p:transition spd="slow">
    <p:zoom dir="in"/>
    <p:sndAc>
      <p:stSnd>
        <p:snd r:embed="rId2" name="cashreg.wav"/>
      </p:stSnd>
    </p:sndAc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53 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20, Ayah &amp; ward boy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21,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6, Volunteer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is supported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by the community.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MP of Jhenaidah-2 donated 14 manpower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Chairman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 supports 10 manpower and an intercom with a cost of nearly two lac taka. 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of Jhenaidah Paurasava plays an important role in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 , cleanliness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repaired the boundary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wall and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5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power and renovation of pediatric word and donation of a biochemistry analyzer at a cost of 1,15,000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Taka. </a:t>
            </a: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Retired secretary donated a generator for 24 hours OT service    with a cost of nearly 33 thousand taka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marL="457200" indent="-457200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Former-chairman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Jhenidah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Pourosova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supports 2 manpower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of the hospital and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town supports 17 man power.</a:t>
            </a:r>
            <a:endParaRPr lang="en-US" sz="2600" b="1" dirty="0" smtClean="0">
              <a:solidFill>
                <a:srgbClr val="1F497D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838665"/>
      </p:ext>
    </p:extLst>
  </p:cSld>
  <p:clrMapOvr>
    <a:masterClrMapping/>
  </p:clrMapOvr>
  <p:transition spd="slow">
    <p:zoom dir="in"/>
    <p:sndAc>
      <p:stSnd>
        <p:snd r:embed="rId3" name="chimes.wav"/>
      </p:stSnd>
    </p:sndAc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30" y="685800"/>
            <a:ext cx="4309243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Visit to </a:t>
            </a:r>
            <a:r>
              <a:rPr lang="en-US" sz="2000" b="1" dirty="0" err="1">
                <a:solidFill>
                  <a:schemeClr val="bg1"/>
                </a:solidFill>
              </a:rPr>
              <a:t>Shatkhira</a:t>
            </a:r>
            <a:r>
              <a:rPr lang="en-US" sz="2000" b="1" dirty="0">
                <a:solidFill>
                  <a:schemeClr val="bg1"/>
                </a:solidFill>
              </a:rPr>
              <a:t> District </a:t>
            </a:r>
            <a:r>
              <a:rPr lang="en-US" sz="2000" b="1" dirty="0" smtClean="0">
                <a:solidFill>
                  <a:schemeClr val="bg1"/>
                </a:solidFill>
              </a:rPr>
              <a:t>Hospital and Introduction </a:t>
            </a:r>
            <a:r>
              <a:rPr lang="en-US" sz="2000" b="1" dirty="0">
                <a:solidFill>
                  <a:schemeClr val="bg1"/>
                </a:solidFill>
              </a:rPr>
              <a:t>of TQM </a:t>
            </a:r>
            <a:r>
              <a:rPr lang="en-US" sz="2000" b="1" dirty="0" smtClean="0">
                <a:solidFill>
                  <a:schemeClr val="bg1"/>
                </a:solidFill>
              </a:rPr>
              <a:t>activities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3" y="3814916"/>
            <a:ext cx="430371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27206"/>
            <a:ext cx="4303713" cy="29527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4" name="Picture 2" descr="DSC0319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4" y="685801"/>
            <a:ext cx="4281094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8861772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29200" y="3733800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Content Placeholder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88900" y="3733800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itle 1"/>
          <p:cNvSpPr txBox="1">
            <a:spLocks/>
          </p:cNvSpPr>
          <p:nvPr/>
        </p:nvSpPr>
        <p:spPr bwMode="auto">
          <a:xfrm>
            <a:off x="228600" y="152400"/>
            <a:ext cx="86868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smtClean="0">
                <a:solidFill>
                  <a:schemeClr val="bg1"/>
                </a:solidFill>
              </a:rPr>
              <a:t>Changes in Surgery &amp; Pediatric Word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17475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876800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24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363" y="4953000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884613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1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629025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15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Gardens of The Hospital</a:t>
            </a:r>
          </a:p>
        </p:txBody>
      </p:sp>
      <p:pic>
        <p:nvPicPr>
          <p:cNvPr id="47107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811588"/>
            <a:ext cx="3886200" cy="2894012"/>
          </a:xfrm>
        </p:spPr>
      </p:pic>
      <p:pic>
        <p:nvPicPr>
          <p:cNvPr id="47108" name="Picture 4" descr="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38" y="703263"/>
            <a:ext cx="4033837" cy="2743200"/>
          </a:xfrm>
        </p:spPr>
      </p:pic>
      <p:pic>
        <p:nvPicPr>
          <p:cNvPr id="47109" name="Picture 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75" y="3740150"/>
            <a:ext cx="4114800" cy="2971800"/>
          </a:xfrm>
          <a:noFill/>
        </p:spPr>
      </p:pic>
      <p:pic>
        <p:nvPicPr>
          <p:cNvPr id="47110" name="Picture 1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696913"/>
            <a:ext cx="3883025" cy="2743200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47111" name="Right Arrow 9"/>
          <p:cNvSpPr>
            <a:spLocks noChangeArrowheads="1"/>
          </p:cNvSpPr>
          <p:nvPr/>
        </p:nvSpPr>
        <p:spPr bwMode="auto">
          <a:xfrm>
            <a:off x="44735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2" name="Right Arrow 10"/>
          <p:cNvSpPr>
            <a:spLocks noChangeArrowheads="1"/>
          </p:cNvSpPr>
          <p:nvPr/>
        </p:nvSpPr>
        <p:spPr bwMode="auto">
          <a:xfrm>
            <a:off x="4291013" y="488791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3" name="Rectangle 11"/>
          <p:cNvSpPr>
            <a:spLocks noChangeArrowheads="1"/>
          </p:cNvSpPr>
          <p:nvPr/>
        </p:nvSpPr>
        <p:spPr bwMode="auto">
          <a:xfrm>
            <a:off x="250825" y="696913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7114" name="Rectangle 14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56175" y="3811588"/>
            <a:ext cx="6731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68288" y="3690938"/>
            <a:ext cx="10668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 smtClean="0">
                <a:solidFill>
                  <a:srgbClr val="FFFFFF"/>
                </a:solidFill>
              </a:rPr>
              <a:t>Waste </a:t>
            </a:r>
            <a:r>
              <a:rPr lang="en-US" sz="2800" b="1" dirty="0">
                <a:solidFill>
                  <a:srgbClr val="FFFFFF"/>
                </a:solidFill>
              </a:rPr>
              <a:t>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8134" name="Right Arrow 9"/>
          <p:cNvSpPr>
            <a:spLocks noChangeArrowheads="1"/>
          </p:cNvSpPr>
          <p:nvPr/>
        </p:nvSpPr>
        <p:spPr bwMode="auto">
          <a:xfrm>
            <a:off x="426720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9097" name="Picture 1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2400" y="3856038"/>
            <a:ext cx="40132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89098" name="Picture 1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876800" y="3856038"/>
            <a:ext cx="41148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169863" y="3886200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899025" y="3884613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Office and Hospital </a:t>
            </a:r>
            <a:r>
              <a:rPr lang="en-US" sz="2800" b="1" dirty="0">
                <a:solidFill>
                  <a:schemeClr val="bg1"/>
                </a:solidFill>
              </a:rPr>
              <a:t>I</a:t>
            </a:r>
            <a:r>
              <a:rPr lang="en-US" sz="2800" b="1" dirty="0" smtClean="0">
                <a:solidFill>
                  <a:schemeClr val="bg1"/>
                </a:solidFill>
              </a:rPr>
              <a:t>nternal </a:t>
            </a:r>
            <a:r>
              <a:rPr lang="en-US" sz="2800" b="1" dirty="0">
                <a:solidFill>
                  <a:schemeClr val="bg1"/>
                </a:solidFill>
              </a:rPr>
              <a:t>E</a:t>
            </a:r>
            <a:r>
              <a:rPr lang="en-US" sz="2800" b="1" dirty="0" smtClean="0">
                <a:solidFill>
                  <a:schemeClr val="bg1"/>
                </a:solidFill>
              </a:rPr>
              <a:t>nvironment</a:t>
            </a:r>
          </a:p>
        </p:txBody>
      </p:sp>
      <p:pic>
        <p:nvPicPr>
          <p:cNvPr id="23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832350" y="3781425"/>
            <a:ext cx="3994150" cy="292100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9156" name="Picture 12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288" y="838200"/>
            <a:ext cx="4021137" cy="2743200"/>
          </a:xfrm>
        </p:spPr>
      </p:pic>
      <p:pic>
        <p:nvPicPr>
          <p:cNvPr id="49157" name="Picture 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46638" y="889000"/>
            <a:ext cx="4297362" cy="2616200"/>
          </a:xfrm>
        </p:spPr>
      </p:pic>
      <p:pic>
        <p:nvPicPr>
          <p:cNvPr id="25" name="Content Placeholder 6"/>
          <p:cNvPicPr>
            <a:picLocks noGrp="1" noChangeAspect="1"/>
          </p:cNvPicPr>
          <p:nvPr>
            <p:ph sz="quarter" idx="4294967295"/>
          </p:nvPr>
        </p:nvPicPr>
        <p:blipFill>
          <a:blip r:embed="rId6"/>
          <a:stretch>
            <a:fillRect/>
          </a:stretch>
        </p:blipFill>
        <p:spPr>
          <a:xfrm>
            <a:off x="0" y="3778250"/>
            <a:ext cx="4038600" cy="29781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76200" y="971550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846638" y="1003300"/>
            <a:ext cx="67151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4897438" y="3933825"/>
            <a:ext cx="671512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After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76200" y="3895725"/>
            <a:ext cx="903288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Before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</p:spTree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5344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dirty="0" smtClean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waste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200" y="3998913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3962400" cy="26035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0"/>
            <a:ext cx="41148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809999"/>
            <a:ext cx="4038600" cy="2908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zoom dir="in"/>
    <p:sndAc>
      <p:stSnd>
        <p:snd r:embed="rId3" name="chimes.wav"/>
      </p:stSnd>
    </p:sndAc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609600"/>
            <a:ext cx="39973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733800"/>
            <a:ext cx="401320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733800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84162" y="669925"/>
            <a:ext cx="1709738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Reception room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39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Health education session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459288" y="3762375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86275" y="6096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495800" y="644525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Creation  of nursing aid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3927929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5" descr="DSC0249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10100" y="852487"/>
            <a:ext cx="4419600" cy="2705100"/>
          </a:xfrm>
          <a:prstGeom prst="rect">
            <a:avLst/>
          </a:prstGeom>
          <a:noFill/>
          <a:ln/>
        </p:spPr>
      </p:pic>
      <p:pic>
        <p:nvPicPr>
          <p:cNvPr id="5" name="Picture 4" descr="DSC0254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1407" y="852487"/>
            <a:ext cx="4257675" cy="2705100"/>
          </a:xfrm>
          <a:prstGeom prst="rect">
            <a:avLst/>
          </a:prstGeom>
          <a:noFill/>
          <a:ln/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91407" y="152400"/>
            <a:ext cx="8838293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- 2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07" y="3886200"/>
            <a:ext cx="4257675" cy="278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220147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10" y="3886200"/>
            <a:ext cx="4133973" cy="2590800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86" y="3886200"/>
            <a:ext cx="4127426" cy="2590800"/>
          </a:xfrm>
        </p:spPr>
      </p:pic>
      <p:pic>
        <p:nvPicPr>
          <p:cNvPr id="11" name="Content Placeholder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219200"/>
            <a:ext cx="4038599" cy="2514268"/>
          </a:xfrm>
          <a:prstGeom prst="rect">
            <a:avLst/>
          </a:prstGeom>
        </p:spPr>
      </p:pic>
      <p:pic>
        <p:nvPicPr>
          <p:cNvPr id="7" name="Content Placeholder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84" y="1219200"/>
            <a:ext cx="4114800" cy="2563359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 bwMode="auto">
          <a:xfrm>
            <a:off x="246184" y="464343"/>
            <a:ext cx="8593015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  <a:ex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- 3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109367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36" y="1066800"/>
            <a:ext cx="4342829" cy="2514599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990600"/>
            <a:ext cx="4041775" cy="2667000"/>
          </a:xfrm>
        </p:spPr>
      </p:pic>
      <p:pic>
        <p:nvPicPr>
          <p:cNvPr id="12" name="Content Placeholder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3886198"/>
            <a:ext cx="4041606" cy="2819401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04798" y="457200"/>
            <a:ext cx="8537491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- 4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Content Placeholder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71" y="3886198"/>
            <a:ext cx="4293029" cy="281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1003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4400"/>
            <a:ext cx="4176713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688" y="914400"/>
            <a:ext cx="4532312" cy="2876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114800"/>
            <a:ext cx="44958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val 8"/>
          <p:cNvSpPr/>
          <p:nvPr/>
        </p:nvSpPr>
        <p:spPr>
          <a:xfrm>
            <a:off x="7345363" y="2335213"/>
            <a:ext cx="1524000" cy="1447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4800"/>
            <a:ext cx="4257675" cy="2743200"/>
          </a:xfr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- 5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310155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847725"/>
            <a:ext cx="4652963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838200"/>
            <a:ext cx="4343400" cy="2862263"/>
          </a:xfrm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3981451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3962400"/>
            <a:ext cx="4662489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MP, District 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dministrator &amp; Mayor in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986247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69490" y="601354"/>
            <a:ext cx="4191000" cy="2827646"/>
          </a:xfrm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81" y="3599597"/>
            <a:ext cx="4343401" cy="2846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69" y="609600"/>
            <a:ext cx="4183626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581400"/>
            <a:ext cx="4237232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district high officials in hospital activities 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26840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41837" y="3895725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3900487"/>
            <a:ext cx="43068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health improvement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community support group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122237" y="3886200"/>
            <a:ext cx="417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QIC meeting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4637087" y="3930816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836987"/>
            <a:ext cx="4502150" cy="2994026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6" y="684213"/>
            <a:ext cx="4524375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6987"/>
            <a:ext cx="42672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6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</a:t>
            </a:r>
            <a:r>
              <a:rPr lang="en-US" altLang="ja-JP" sz="36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of the Hospit</a:t>
            </a: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1. Active </a:t>
            </a:r>
            <a:r>
              <a:rPr lang="en-US" b="1" dirty="0"/>
              <a:t>C</a:t>
            </a:r>
            <a:r>
              <a:rPr lang="en-US" b="1" dirty="0" smtClean="0"/>
              <a:t>ommunity Participation in health service is an example in Bangladesh.</a:t>
            </a:r>
          </a:p>
          <a:p>
            <a:pPr marL="0" algn="just">
              <a:defRPr/>
            </a:pPr>
            <a:r>
              <a:rPr lang="en-US" dirty="0" smtClean="0"/>
              <a:t> </a:t>
            </a:r>
          </a:p>
          <a:p>
            <a:pPr marL="0" algn="just">
              <a:defRPr/>
            </a:pPr>
            <a:r>
              <a:rPr lang="en-US" b="1" dirty="0" smtClean="0"/>
              <a:t>2. Improved   </a:t>
            </a:r>
            <a:r>
              <a:rPr lang="en-US" b="1" dirty="0"/>
              <a:t>p</a:t>
            </a:r>
            <a:r>
              <a:rPr lang="en-US" b="1" dirty="0" smtClean="0"/>
              <a:t>erformance  of all services specially Pediatric, </a:t>
            </a:r>
            <a:r>
              <a:rPr lang="en-US" b="1" dirty="0"/>
              <a:t>o</a:t>
            </a:r>
            <a:r>
              <a:rPr lang="en-US" b="1" dirty="0" smtClean="0"/>
              <a:t>bstetric, operation</a:t>
            </a:r>
          </a:p>
          <a:p>
            <a:pPr marL="0" algn="just">
              <a:defRPr/>
            </a:pPr>
            <a:r>
              <a:rPr lang="en-US" b="1" dirty="0" smtClean="0"/>
              <a:t>     and outdoor service.</a:t>
            </a:r>
            <a:endParaRPr lang="en-US" b="1" dirty="0"/>
          </a:p>
          <a:p>
            <a:pPr marL="0">
              <a:defRPr/>
            </a:pPr>
            <a:endParaRPr lang="en-US" b="1" dirty="0" smtClean="0"/>
          </a:p>
          <a:p>
            <a:pPr marL="0">
              <a:defRPr/>
            </a:pPr>
            <a:r>
              <a:rPr lang="en-US" b="1" dirty="0" smtClean="0"/>
              <a:t>3</a:t>
            </a:r>
            <a:r>
              <a:rPr lang="en-US" b="1" dirty="0"/>
              <a:t>. Improved Cleanliness and </a:t>
            </a:r>
            <a:r>
              <a:rPr lang="en-US" b="1" dirty="0" smtClean="0"/>
              <a:t>Beautification of Campus.</a:t>
            </a:r>
            <a:endParaRPr lang="en-US" b="1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4. </a:t>
            </a:r>
            <a:r>
              <a:rPr lang="en-US" b="1" dirty="0"/>
              <a:t>Functioning </a:t>
            </a:r>
            <a:r>
              <a:rPr lang="en-US" b="1" dirty="0" smtClean="0"/>
              <a:t>of X-Ray service and starting of Biochemistry investigation by local</a:t>
            </a:r>
          </a:p>
          <a:p>
            <a:pPr marL="0" algn="just">
              <a:defRPr/>
            </a:pPr>
            <a:r>
              <a:rPr lang="en-US" b="1" dirty="0" smtClean="0"/>
              <a:t>     initiatives.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5. </a:t>
            </a:r>
            <a:r>
              <a:rPr lang="en-US" b="1" dirty="0"/>
              <a:t>Improved </a:t>
            </a:r>
            <a:r>
              <a:rPr lang="en-US" b="1" dirty="0" smtClean="0"/>
              <a:t>Security.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6. </a:t>
            </a:r>
            <a:r>
              <a:rPr lang="en-US" b="1" dirty="0"/>
              <a:t>Improved Financial Management</a:t>
            </a:r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/>
              <a:t>7</a:t>
            </a:r>
            <a:r>
              <a:rPr lang="en-US" b="1" dirty="0" smtClean="0"/>
              <a:t>. Piloting of “Model  District Hospital” is running in Jhenaidah Sadar Hospital.</a:t>
            </a:r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r>
              <a:rPr lang="en-US" b="1" dirty="0" smtClean="0"/>
              <a:t>8. </a:t>
            </a:r>
            <a:r>
              <a:rPr lang="en-US" b="1" dirty="0"/>
              <a:t>The hospital is </a:t>
            </a:r>
            <a:r>
              <a:rPr lang="en-US" b="1" dirty="0" smtClean="0"/>
              <a:t>awarded 6 </a:t>
            </a:r>
            <a:r>
              <a:rPr lang="en-US" b="1" dirty="0"/>
              <a:t>times from 2013 to </a:t>
            </a:r>
            <a:r>
              <a:rPr lang="en-US" b="1" dirty="0" smtClean="0"/>
              <a:t>2018. </a:t>
            </a:r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9. Improved gate pass system.</a:t>
            </a:r>
            <a:endParaRPr lang="en-US" b="1" dirty="0"/>
          </a:p>
          <a:p>
            <a:pPr marL="0" algn="just">
              <a:defRPr/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slow">
    <p:zoom dir="in"/>
    <p:sndAc>
      <p:stSnd>
        <p:snd r:embed="rId3" name="chimes.wav"/>
      </p:stSnd>
    </p:sndAc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19800"/>
            <a:ext cx="8229600" cy="1219200"/>
          </a:xfrm>
        </p:spPr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dirty="0"/>
          </a:p>
        </p:txBody>
      </p:sp>
      <p:pic>
        <p:nvPicPr>
          <p:cNvPr id="2051" name="Picture 3" descr="C:\Users\USER\Desktop\New folder (2)\IMG_4289.JPG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59436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228600" y="53340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আমাদের</a:t>
            </a:r>
            <a:r>
              <a:rPr lang="en-US" dirty="0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বাগানের</a:t>
            </a:r>
            <a:r>
              <a:rPr lang="en-US" dirty="0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ফুল</a:t>
            </a:r>
            <a:endParaRPr lang="en-US" dirty="0">
              <a:solidFill>
                <a:srgbClr val="FFFF00"/>
              </a:solidFill>
              <a:latin typeface="NikoshBAN" pitchFamily="2" charset="0"/>
              <a:cs typeface="NikoshBAN" pitchFamily="2" charset="0"/>
            </a:endParaRPr>
          </a:p>
        </p:txBody>
      </p:sp>
    </p:spTree>
  </p:cSld>
  <p:clrMapOvr>
    <a:masterClrMapping/>
  </p:clrMapOvr>
  <p:transition spd="slow">
    <p:checker/>
    <p:sndAc>
      <p:stSnd>
        <p:snd r:embed="rId3" name="suction.wav"/>
      </p:stSnd>
    </p:sndAc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4501</TotalTime>
  <Words>535</Words>
  <Application>Microsoft Office PowerPoint</Application>
  <PresentationFormat>On-screen Show (4:3)</PresentationFormat>
  <Paragraphs>105</Paragraphs>
  <Slides>27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100 kh¨v wewkó m`i nvmcvZvj, wSbvB`n</vt:lpstr>
      <vt:lpstr>PowerPoint Presentation</vt:lpstr>
      <vt:lpstr>Emergency + Out Door &amp; Indoor  Service 1998 to 2019</vt:lpstr>
      <vt:lpstr>Operation Service (Major) 2011 to 2019</vt:lpstr>
      <vt:lpstr>PowerPoint Presentation</vt:lpstr>
      <vt:lpstr>  Comparative data of revenue income (in Taka) from 2015 to 2019 </vt:lpstr>
      <vt:lpstr>PowerPoint Presentation</vt:lpstr>
      <vt:lpstr>PowerPoint Presentation</vt:lpstr>
      <vt:lpstr>Changes in EOC Ward</vt:lpstr>
      <vt:lpstr>PowerPoint Presentation</vt:lpstr>
      <vt:lpstr>Changes in Gardens of The Hospital</vt:lpstr>
      <vt:lpstr>PowerPoint Presentation</vt:lpstr>
      <vt:lpstr>Changes in Office and Hospital Internal Environment</vt:lpstr>
      <vt:lpstr>Use of direction sign, labeling of rooms, clean latrine and waste segregation</vt:lpstr>
      <vt:lpstr>Use of color code, alignment of picture &amp; continuous big cleaning day</vt:lpstr>
      <vt:lpstr>Innovative activities of Jhenaidah Sadar Hospital - 1</vt:lpstr>
      <vt:lpstr>PowerPoint Presentation</vt:lpstr>
      <vt:lpstr>PowerPoint Presentation</vt:lpstr>
      <vt:lpstr>Innovative activities of Jhenaidah Sadar Hospital - 4</vt:lpstr>
      <vt:lpstr>Innovative activities of Jhenaidah Sadar Hospital - 5</vt:lpstr>
      <vt:lpstr>Involvement of MP, District Administrator &amp; Mayor in Sadar Hospital</vt:lpstr>
      <vt:lpstr>Involvement of district high officials in hospital activities </vt:lpstr>
      <vt:lpstr>Internal Monitoring System</vt:lpstr>
      <vt:lpstr>PowerPoint Presentation</vt:lpstr>
      <vt:lpstr>Hospital Environment</vt:lpstr>
      <vt:lpstr>PowerPoint Presentation</vt:lpstr>
      <vt:lpstr>Thank You 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686</cp:revision>
  <cp:lastPrinted>2017-03-18T23:47:54Z</cp:lastPrinted>
  <dcterms:created xsi:type="dcterms:W3CDTF">2013-05-05T09:56:19Z</dcterms:created>
  <dcterms:modified xsi:type="dcterms:W3CDTF">2020-03-09T12:00:38Z</dcterms:modified>
</cp:coreProperties>
</file>