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1"/>
  </p:notesMasterIdLst>
  <p:sldIdLst>
    <p:sldId id="256" r:id="rId2"/>
    <p:sldId id="450" r:id="rId3"/>
    <p:sldId id="445" r:id="rId4"/>
    <p:sldId id="257" r:id="rId5"/>
    <p:sldId id="406" r:id="rId6"/>
    <p:sldId id="341" r:id="rId7"/>
    <p:sldId id="440" r:id="rId8"/>
    <p:sldId id="441" r:id="rId9"/>
    <p:sldId id="442" r:id="rId10"/>
    <p:sldId id="432" r:id="rId11"/>
    <p:sldId id="443" r:id="rId12"/>
    <p:sldId id="431" r:id="rId13"/>
    <p:sldId id="455" r:id="rId14"/>
    <p:sldId id="407" r:id="rId15"/>
    <p:sldId id="452" r:id="rId16"/>
    <p:sldId id="342" r:id="rId17"/>
    <p:sldId id="417" r:id="rId18"/>
    <p:sldId id="403" r:id="rId19"/>
    <p:sldId id="408" r:id="rId20"/>
    <p:sldId id="291" r:id="rId21"/>
    <p:sldId id="412" r:id="rId22"/>
    <p:sldId id="308" r:id="rId23"/>
    <p:sldId id="312" r:id="rId24"/>
    <p:sldId id="293" r:id="rId25"/>
    <p:sldId id="326" r:id="rId26"/>
    <p:sldId id="327" r:id="rId27"/>
    <p:sldId id="351" r:id="rId28"/>
    <p:sldId id="409" r:id="rId29"/>
    <p:sldId id="418" r:id="rId30"/>
    <p:sldId id="276" r:id="rId31"/>
    <p:sldId id="446" r:id="rId32"/>
    <p:sldId id="447" r:id="rId33"/>
    <p:sldId id="448" r:id="rId34"/>
    <p:sldId id="454" r:id="rId35"/>
    <p:sldId id="451" r:id="rId36"/>
    <p:sldId id="453" r:id="rId37"/>
    <p:sldId id="268" r:id="rId38"/>
    <p:sldId id="433" r:id="rId39"/>
    <p:sldId id="44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2545" autoAdjust="0"/>
  </p:normalViewPr>
  <p:slideViewPr>
    <p:cSldViewPr snapToGrid="0">
      <p:cViewPr>
        <p:scale>
          <a:sx n="66" d="100"/>
          <a:sy n="66" d="100"/>
        </p:scale>
        <p:origin x="186" y="-34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38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1228</c:v>
                </c:pt>
                <c:pt idx="1">
                  <c:v>1631</c:v>
                </c:pt>
                <c:pt idx="2">
                  <c:v>1851</c:v>
                </c:pt>
                <c:pt idx="3">
                  <c:v>2861</c:v>
                </c:pt>
                <c:pt idx="4">
                  <c:v>3509</c:v>
                </c:pt>
                <c:pt idx="5">
                  <c:v>3932</c:v>
                </c:pt>
                <c:pt idx="6">
                  <c:v>4484</c:v>
                </c:pt>
                <c:pt idx="7">
                  <c:v>4898</c:v>
                </c:pt>
                <c:pt idx="8">
                  <c:v>4993</c:v>
                </c:pt>
                <c:pt idx="9">
                  <c:v>5644</c:v>
                </c:pt>
                <c:pt idx="10">
                  <c:v>7292</c:v>
                </c:pt>
                <c:pt idx="11">
                  <c:v>8263</c:v>
                </c:pt>
                <c:pt idx="12">
                  <c:v>7499</c:v>
                </c:pt>
                <c:pt idx="13">
                  <c:v>7427</c:v>
                </c:pt>
                <c:pt idx="14">
                  <c:v>8935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5606912"/>
        <c:axId val="125608704"/>
      </c:barChart>
      <c:catAx>
        <c:axId val="125606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5608704"/>
        <c:crosses val="autoZero"/>
        <c:auto val="1"/>
        <c:lblAlgn val="ctr"/>
        <c:lblOffset val="100"/>
        <c:noMultiLvlLbl val="0"/>
      </c:catAx>
      <c:valAx>
        <c:axId val="125608704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25606912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Sheet1!$A$2:$A$16</c:f>
              <c:numCache>
                <c:formatCode>General</c:formatCode>
                <c:ptCount val="15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</c:numCache>
            </c:num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151</c:v>
                </c:pt>
                <c:pt idx="1">
                  <c:v>182</c:v>
                </c:pt>
                <c:pt idx="2">
                  <c:v>228</c:v>
                </c:pt>
                <c:pt idx="3">
                  <c:v>312</c:v>
                </c:pt>
                <c:pt idx="4">
                  <c:v>421</c:v>
                </c:pt>
                <c:pt idx="5">
                  <c:v>422</c:v>
                </c:pt>
                <c:pt idx="6">
                  <c:v>661</c:v>
                </c:pt>
                <c:pt idx="7">
                  <c:v>1030</c:v>
                </c:pt>
                <c:pt idx="8">
                  <c:v>1293</c:v>
                </c:pt>
                <c:pt idx="9">
                  <c:v>1518</c:v>
                </c:pt>
                <c:pt idx="10">
                  <c:v>1899</c:v>
                </c:pt>
                <c:pt idx="11">
                  <c:v>2682</c:v>
                </c:pt>
                <c:pt idx="12">
                  <c:v>3489</c:v>
                </c:pt>
                <c:pt idx="13">
                  <c:v>3755</c:v>
                </c:pt>
                <c:pt idx="14">
                  <c:v>4413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0969984"/>
        <c:axId val="131106688"/>
      </c:barChart>
      <c:catAx>
        <c:axId val="1309699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31106688"/>
        <c:crosses val="autoZero"/>
        <c:auto val="1"/>
        <c:lblAlgn val="ctr"/>
        <c:lblOffset val="100"/>
        <c:noMultiLvlLbl val="0"/>
      </c:catAx>
      <c:valAx>
        <c:axId val="131106688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309699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4665028533334671E-2"/>
          <c:y val="3.1643040757867398E-2"/>
          <c:w val="0.89973529686002107"/>
          <c:h val="0.853443474695726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</c:numCache>
            </c:num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</c:v>
                </c:pt>
                <c:pt idx="1">
                  <c:v>11</c:v>
                </c:pt>
                <c:pt idx="2">
                  <c:v>26</c:v>
                </c:pt>
                <c:pt idx="3">
                  <c:v>36</c:v>
                </c:pt>
                <c:pt idx="4">
                  <c:v>184</c:v>
                </c:pt>
                <c:pt idx="5">
                  <c:v>310</c:v>
                </c:pt>
                <c:pt idx="6">
                  <c:v>363</c:v>
                </c:pt>
                <c:pt idx="7">
                  <c:v>473</c:v>
                </c:pt>
                <c:pt idx="8">
                  <c:v>567</c:v>
                </c:pt>
                <c:pt idx="9">
                  <c:v>842</c:v>
                </c:pt>
                <c:pt idx="10">
                  <c:v>962</c:v>
                </c:pt>
                <c:pt idx="11">
                  <c:v>1007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201216"/>
        <c:axId val="126219392"/>
      </c:barChart>
      <c:catAx>
        <c:axId val="1262012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26219392"/>
        <c:crosses val="autoZero"/>
        <c:auto val="1"/>
        <c:lblAlgn val="ctr"/>
        <c:lblOffset val="100"/>
        <c:noMultiLvlLbl val="0"/>
      </c:catAx>
      <c:valAx>
        <c:axId val="126219392"/>
        <c:scaling>
          <c:orientation val="minMax"/>
        </c:scaling>
        <c:delete val="0"/>
        <c:axPos val="l"/>
        <c:majorGridlines>
          <c:spPr>
            <a:ln>
              <a:gradFill>
                <a:gsLst>
                  <a:gs pos="0">
                    <a:srgbClr val="000082"/>
                  </a:gs>
                  <a:gs pos="30000">
                    <a:srgbClr val="66008F"/>
                  </a:gs>
                  <a:gs pos="64999">
                    <a:srgbClr val="BA0066"/>
                  </a:gs>
                  <a:gs pos="89999">
                    <a:srgbClr val="FF0000"/>
                  </a:gs>
                  <a:gs pos="100000">
                    <a:srgbClr val="FF8200"/>
                  </a:gs>
                </a:gsLst>
                <a:lin ang="5400000" scaled="0"/>
              </a:gradFill>
            </a:ln>
          </c:spPr>
        </c:majorGridlines>
        <c:numFmt formatCode="General" sourceLinked="1"/>
        <c:majorTickMark val="out"/>
        <c:minorTickMark val="none"/>
        <c:tickLblPos val="nextTo"/>
        <c:crossAx val="12620121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0%</c:formatCode>
                <c:ptCount val="7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77BC-4C5D-800A-1F77456ABE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6238464"/>
        <c:axId val="226241152"/>
      </c:barChart>
      <c:catAx>
        <c:axId val="2262384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6241152"/>
        <c:crosses val="autoZero"/>
        <c:auto val="1"/>
        <c:lblAlgn val="ctr"/>
        <c:lblOffset val="100"/>
        <c:noMultiLvlLbl val="0"/>
      </c:catAx>
      <c:valAx>
        <c:axId val="226241152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262384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170854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89ED-450B-B91B-4D3AD0372B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22435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89ED-450B-B91B-4D3AD0372B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6084736"/>
        <c:axId val="226086272"/>
      </c:barChart>
      <c:catAx>
        <c:axId val="22608473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26086272"/>
        <c:crosses val="autoZero"/>
        <c:auto val="1"/>
        <c:lblAlgn val="ctr"/>
        <c:lblOffset val="100"/>
        <c:noMultiLvlLbl val="0"/>
      </c:catAx>
      <c:valAx>
        <c:axId val="22608627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608473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17ED-4E31-A387-BAEE6AE702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17ED-4E31-A387-BAEE6AE702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9-17ED-4E31-A387-BAEE6AE702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A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B-17ED-4E31-A387-BAEE6AE702C4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C-17ED-4E31-A387-BAEE6AE702C4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D-17ED-4E31-A387-BAEE6AE70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30667776"/>
        <c:axId val="230669312"/>
      </c:barChart>
      <c:catAx>
        <c:axId val="2306677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0669312"/>
        <c:crosses val="autoZero"/>
        <c:auto val="1"/>
        <c:lblAlgn val="ctr"/>
        <c:lblOffset val="100"/>
        <c:noMultiLvlLbl val="0"/>
      </c:catAx>
      <c:valAx>
        <c:axId val="2306693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06677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3"/>
              <c:layout/>
              <c:tx>
                <c:rich>
                  <a:bodyPr/>
                  <a:lstStyle/>
                  <a:p>
                    <a:r>
                      <a:rPr lang="en-US" smtClean="0"/>
                      <a:t>7,265,145</a:t>
                    </a:r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tx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Sheet1!$B$2:$B$5</c:f>
              <c:numCache>
                <c:formatCode>#,##0</c:formatCode>
                <c:ptCount val="4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 formatCode="General">
                  <c:v>7265145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230711680"/>
        <c:axId val="230713216"/>
        <c:axId val="0"/>
      </c:bar3DChart>
      <c:catAx>
        <c:axId val="2307116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30713216"/>
        <c:crosses val="autoZero"/>
        <c:auto val="1"/>
        <c:lblAlgn val="ctr"/>
        <c:lblOffset val="100"/>
        <c:noMultiLvlLbl val="0"/>
      </c:catAx>
      <c:valAx>
        <c:axId val="230713216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b="1">
                <a:solidFill>
                  <a:schemeClr val="tx2"/>
                </a:solidFill>
              </a:defRPr>
            </a:pPr>
            <a:endParaRPr lang="en-US"/>
          </a:p>
        </c:txPr>
        <c:crossAx val="230711680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F660D2-7531-4B7B-9DC9-B462E3FDA8AA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D02B9F0-E626-4C8B-BD2A-5010DA3B9508}">
      <dgm:prSet/>
      <dgm:spPr/>
      <dgm:t>
        <a:bodyPr/>
        <a:lstStyle/>
        <a:p>
          <a:r>
            <a:rPr lang="bn-IN" smtClean="0"/>
            <a:t>সম</a:t>
          </a:r>
          <a:r>
            <a:rPr lang="en-GB" smtClean="0"/>
            <a:t>্প্রসারণ</a:t>
          </a:r>
          <a:endParaRPr lang="en-GB" dirty="0" smtClean="0"/>
        </a:p>
      </dgm:t>
    </dgm:pt>
    <dgm:pt modelId="{A4D878FF-3C86-4BF2-B275-5C7CEF968DBF}" type="parTrans" cxnId="{8ABE57D6-2A0A-4702-BB91-B8B245AC27BA}">
      <dgm:prSet/>
      <dgm:spPr/>
      <dgm:t>
        <a:bodyPr/>
        <a:lstStyle/>
        <a:p>
          <a:endParaRPr lang="en-US"/>
        </a:p>
      </dgm:t>
    </dgm:pt>
    <dgm:pt modelId="{B1826330-98C3-41CB-B8D0-2180131A4C37}" type="sibTrans" cxnId="{8ABE57D6-2A0A-4702-BB91-B8B245AC27BA}">
      <dgm:prSet/>
      <dgm:spPr/>
      <dgm:t>
        <a:bodyPr/>
        <a:lstStyle/>
        <a:p>
          <a:endParaRPr lang="en-US"/>
        </a:p>
      </dgm:t>
    </dgm:pt>
    <dgm:pt modelId="{9AEA5E90-4BA3-4DD2-9B18-80F40A809CFB}">
      <dgm:prSet/>
      <dgm:spPr/>
      <dgm:t>
        <a:bodyPr/>
        <a:lstStyle/>
        <a:p>
          <a:r>
            <a:rPr lang="bn-IN" dirty="0" smtClean="0"/>
            <a:t>জনসম্পৃক্ততা</a:t>
          </a:r>
          <a:r>
            <a:rPr lang="en-GB" dirty="0" smtClean="0"/>
            <a:t> ও </a:t>
          </a:r>
          <a:r>
            <a:rPr lang="en-GB" dirty="0" err="1" smtClean="0"/>
            <a:t>কমিটি</a:t>
          </a:r>
          <a:r>
            <a:rPr lang="en-GB" dirty="0" smtClean="0"/>
            <a:t> </a:t>
          </a:r>
          <a:r>
            <a:rPr lang="en-GB" dirty="0" err="1" smtClean="0"/>
            <a:t>গঠন</a:t>
          </a:r>
          <a:r>
            <a:rPr lang="bn-IN" dirty="0" smtClean="0"/>
            <a:t> </a:t>
          </a:r>
          <a:endParaRPr lang="en-US" dirty="0"/>
        </a:p>
      </dgm:t>
    </dgm:pt>
    <dgm:pt modelId="{98546F5B-2118-40CD-B9FE-58E3011189BE}" type="parTrans" cxnId="{791D06BB-C3A8-4658-85D7-528F816FC9FB}">
      <dgm:prSet/>
      <dgm:spPr/>
      <dgm:t>
        <a:bodyPr/>
        <a:lstStyle/>
        <a:p>
          <a:endParaRPr lang="en-US"/>
        </a:p>
      </dgm:t>
    </dgm:pt>
    <dgm:pt modelId="{46721B0D-1AA6-4FC8-A238-D37C5C9FDA2F}" type="sibTrans" cxnId="{791D06BB-C3A8-4658-85D7-528F816FC9FB}">
      <dgm:prSet/>
      <dgm:spPr/>
      <dgm:t>
        <a:bodyPr/>
        <a:lstStyle/>
        <a:p>
          <a:endParaRPr lang="en-US"/>
        </a:p>
      </dgm:t>
    </dgm:pt>
    <dgm:pt modelId="{88D3464D-A729-40F4-BC36-33D77706DB6F}">
      <dgm:prSet/>
      <dgm:spPr/>
      <dgm:t>
        <a:bodyPr/>
        <a:lstStyle/>
        <a:p>
          <a:r>
            <a:rPr lang="en-US" dirty="0" err="1" smtClean="0"/>
            <a:t>স্টাফ</a:t>
          </a:r>
          <a:r>
            <a:rPr lang="en-US" dirty="0" smtClean="0"/>
            <a:t> </a:t>
          </a:r>
          <a:r>
            <a:rPr lang="en-US" dirty="0" err="1" smtClean="0"/>
            <a:t>বৃদ্ধি</a:t>
          </a:r>
          <a:r>
            <a:rPr lang="en-US" dirty="0" smtClean="0"/>
            <a:t>:     ৫৬ </a:t>
          </a:r>
          <a:r>
            <a:rPr lang="en-US" dirty="0" err="1" smtClean="0"/>
            <a:t>জন</a:t>
          </a:r>
          <a:endParaRPr lang="en-US" dirty="0" smtClean="0"/>
        </a:p>
      </dgm:t>
    </dgm:pt>
    <dgm:pt modelId="{7013BDC3-8014-4AF1-B8ED-04FED08A63B1}" type="parTrans" cxnId="{D2DF2B10-F455-4E92-9E93-98A19CBF2C56}">
      <dgm:prSet/>
      <dgm:spPr/>
      <dgm:t>
        <a:bodyPr/>
        <a:lstStyle/>
        <a:p>
          <a:endParaRPr lang="en-US"/>
        </a:p>
      </dgm:t>
    </dgm:pt>
    <dgm:pt modelId="{42B06845-0AB7-47D2-BB61-4A3F6D67E2E2}" type="sibTrans" cxnId="{D2DF2B10-F455-4E92-9E93-98A19CBF2C56}">
      <dgm:prSet/>
      <dgm:spPr/>
      <dgm:t>
        <a:bodyPr/>
        <a:lstStyle/>
        <a:p>
          <a:endParaRPr lang="en-US"/>
        </a:p>
      </dgm:t>
    </dgm:pt>
    <dgm:pt modelId="{610D7153-D836-425E-ABAB-41B69166C8FA}">
      <dgm:prSet/>
      <dgm:spPr/>
      <dgm:t>
        <a:bodyPr/>
        <a:lstStyle/>
        <a:p>
          <a:r>
            <a:rPr lang="bn-IN"/>
            <a:t>সুরক্ষা</a:t>
          </a:r>
          <a:endParaRPr lang="en-US"/>
        </a:p>
      </dgm:t>
    </dgm:pt>
    <dgm:pt modelId="{6CEE0124-3B99-402B-9A12-1318843520CA}" type="parTrans" cxnId="{9CC96D18-66E0-43F7-9580-25FB6CADC4DF}">
      <dgm:prSet/>
      <dgm:spPr/>
      <dgm:t>
        <a:bodyPr/>
        <a:lstStyle/>
        <a:p>
          <a:endParaRPr lang="en-US"/>
        </a:p>
      </dgm:t>
    </dgm:pt>
    <dgm:pt modelId="{8CCF91BC-C031-4D41-A211-F51D8C5F779A}" type="sibTrans" cxnId="{9CC96D18-66E0-43F7-9580-25FB6CADC4DF}">
      <dgm:prSet/>
      <dgm:spPr/>
      <dgm:t>
        <a:bodyPr/>
        <a:lstStyle/>
        <a:p>
          <a:endParaRPr lang="en-US"/>
        </a:p>
      </dgm:t>
    </dgm:pt>
    <dgm:pt modelId="{77B94860-9B07-4F13-B939-C7B0F42EECBC}">
      <dgm:prSet/>
      <dgm:spPr/>
      <dgm:t>
        <a:bodyPr/>
        <a:lstStyle/>
        <a:p>
          <a:r>
            <a:rPr lang="bn-IN" dirty="0"/>
            <a:t>দূর্নীতি </a:t>
          </a:r>
          <a:r>
            <a:rPr lang="bn-IN" dirty="0" smtClean="0"/>
            <a:t>প্রতিরোধ</a:t>
          </a:r>
          <a:r>
            <a:rPr lang="en-GB" dirty="0" smtClean="0"/>
            <a:t>  </a:t>
          </a:r>
          <a:endParaRPr lang="en-US" dirty="0"/>
        </a:p>
      </dgm:t>
    </dgm:pt>
    <dgm:pt modelId="{51C5C389-9023-43AD-BE4D-242654F19991}" type="parTrans" cxnId="{5ECC7277-5B7A-4B43-B7F3-18C191279D21}">
      <dgm:prSet/>
      <dgm:spPr/>
      <dgm:t>
        <a:bodyPr/>
        <a:lstStyle/>
        <a:p>
          <a:endParaRPr lang="en-US"/>
        </a:p>
      </dgm:t>
    </dgm:pt>
    <dgm:pt modelId="{CADCDD1F-286D-489C-AED4-25F7A9A1E31E}" type="sibTrans" cxnId="{5ECC7277-5B7A-4B43-B7F3-18C191279D21}">
      <dgm:prSet/>
      <dgm:spPr/>
      <dgm:t>
        <a:bodyPr/>
        <a:lstStyle/>
        <a:p>
          <a:endParaRPr lang="en-US"/>
        </a:p>
      </dgm:t>
    </dgm:pt>
    <dgm:pt modelId="{4D71D476-FD32-44C8-A5D7-96F395056DC2}">
      <dgm:prSet/>
      <dgm:spPr/>
      <dgm:t>
        <a:bodyPr/>
        <a:lstStyle/>
        <a:p>
          <a:r>
            <a:rPr lang="bn-IN"/>
            <a:t>পরিচ্ছন্নতা</a:t>
          </a:r>
          <a:r>
            <a:rPr lang="bn-IN" b="1"/>
            <a:t> </a:t>
          </a:r>
          <a:r>
            <a:rPr lang="bn-IN"/>
            <a:t>ও</a:t>
          </a:r>
          <a:r>
            <a:rPr lang="bn-IN" b="1"/>
            <a:t> </a:t>
          </a:r>
          <a:r>
            <a:rPr lang="bn-IN"/>
            <a:t>সৌন্দর্যবর্ধন </a:t>
          </a:r>
          <a:endParaRPr lang="en-US" dirty="0"/>
        </a:p>
      </dgm:t>
    </dgm:pt>
    <dgm:pt modelId="{038FB7E5-7686-400C-8BFA-CF6A6DD230D6}" type="parTrans" cxnId="{5F1D6F3C-A09A-4277-9D10-F90228167CA5}">
      <dgm:prSet/>
      <dgm:spPr/>
      <dgm:t>
        <a:bodyPr/>
        <a:lstStyle/>
        <a:p>
          <a:endParaRPr lang="en-US"/>
        </a:p>
      </dgm:t>
    </dgm:pt>
    <dgm:pt modelId="{B4982816-5802-4A0A-BA19-DD21221289D4}" type="sibTrans" cxnId="{5F1D6F3C-A09A-4277-9D10-F90228167CA5}">
      <dgm:prSet/>
      <dgm:spPr/>
      <dgm:t>
        <a:bodyPr/>
        <a:lstStyle/>
        <a:p>
          <a:endParaRPr lang="en-US"/>
        </a:p>
      </dgm:t>
    </dgm:pt>
    <dgm:pt modelId="{A84A2978-2AC1-4303-BCBD-40A8C5C9F7B0}">
      <dgm:prSet/>
      <dgm:spPr/>
      <dgm:t>
        <a:bodyPr/>
        <a:lstStyle/>
        <a:p>
          <a:r>
            <a:rPr lang="en-GB" dirty="0" err="1" smtClean="0"/>
            <a:t>শ্রেষ্ঠ</a:t>
          </a:r>
          <a:r>
            <a:rPr lang="en-GB" dirty="0" smtClean="0"/>
            <a:t> </a:t>
          </a:r>
          <a:r>
            <a:rPr lang="en-GB" dirty="0" err="1" smtClean="0"/>
            <a:t>মান</a:t>
          </a:r>
          <a:r>
            <a:rPr lang="en-GB" dirty="0" smtClean="0"/>
            <a:t> </a:t>
          </a:r>
          <a:r>
            <a:rPr lang="en-GB" dirty="0" err="1" smtClean="0"/>
            <a:t>সম্পন্ন</a:t>
          </a:r>
          <a:r>
            <a:rPr lang="en-GB" dirty="0" smtClean="0"/>
            <a:t> </a:t>
          </a:r>
          <a:r>
            <a:rPr lang="en-GB" dirty="0" err="1" smtClean="0"/>
            <a:t>সেবা</a:t>
          </a:r>
          <a:r>
            <a:rPr lang="en-GB" dirty="0" smtClean="0"/>
            <a:t> </a:t>
          </a:r>
          <a:r>
            <a:rPr lang="en-GB" dirty="0" err="1" smtClean="0"/>
            <a:t>কেন্দ্র</a:t>
          </a:r>
          <a:endParaRPr lang="en-US" dirty="0"/>
        </a:p>
      </dgm:t>
    </dgm:pt>
    <dgm:pt modelId="{4F97281A-802C-4000-8D2A-66142CFFCE3C}" type="sibTrans" cxnId="{166E3F99-1D73-450F-BDAA-30C14BAE59A4}">
      <dgm:prSet/>
      <dgm:spPr/>
      <dgm:t>
        <a:bodyPr/>
        <a:lstStyle/>
        <a:p>
          <a:endParaRPr lang="en-US"/>
        </a:p>
      </dgm:t>
    </dgm:pt>
    <dgm:pt modelId="{E3041B88-5468-4AB9-8D02-E4D51804522F}" type="parTrans" cxnId="{166E3F99-1D73-450F-BDAA-30C14BAE59A4}">
      <dgm:prSet/>
      <dgm:spPr/>
      <dgm:t>
        <a:bodyPr/>
        <a:lstStyle/>
        <a:p>
          <a:endParaRPr lang="en-US"/>
        </a:p>
      </dgm:t>
    </dgm:pt>
    <dgm:pt modelId="{D1F5521C-92B8-4D4D-8EED-39D567818230}" type="pres">
      <dgm:prSet presAssocID="{D9F660D2-7531-4B7B-9DC9-B462E3FDA8A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570E10F7-852E-4DD4-A1D9-BE86AC68401E}" type="pres">
      <dgm:prSet presAssocID="{D9F660D2-7531-4B7B-9DC9-B462E3FDA8AA}" presName="cycle" presStyleCnt="0"/>
      <dgm:spPr/>
    </dgm:pt>
    <dgm:pt modelId="{DF5D109B-C564-497C-B822-FF07AB5AC3EF}" type="pres">
      <dgm:prSet presAssocID="{A84A2978-2AC1-4303-BCBD-40A8C5C9F7B0}" presName="nodeFirst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D046EDB0-D1C9-407A-A55E-5858E1E5D4AF}" type="pres">
      <dgm:prSet presAssocID="{4F97281A-802C-4000-8D2A-66142CFFCE3C}" presName="sibTransFirstNode" presStyleLbl="bgShp" presStyleIdx="0" presStyleCnt="1"/>
      <dgm:spPr/>
      <dgm:t>
        <a:bodyPr/>
        <a:lstStyle/>
        <a:p>
          <a:endParaRPr lang="en-GB"/>
        </a:p>
      </dgm:t>
    </dgm:pt>
    <dgm:pt modelId="{CB4F0E61-DC7F-4119-ABA9-796676CB2FA1}" type="pres">
      <dgm:prSet presAssocID="{3D02B9F0-E626-4C8B-BD2A-5010DA3B9508}" presName="nodeFollowingNodes" presStyleLbl="node1" presStyleIdx="1" presStyleCnt="7" custRadScaleRad="97866" custRadScaleInc="-225393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7FC54FE-E97C-4F29-92CF-2A7248720E8D}" type="pres">
      <dgm:prSet presAssocID="{9AEA5E90-4BA3-4DD2-9B18-80F40A809CFB}" presName="nodeFollowingNodes" presStyleLbl="node1" presStyleIdx="2" presStyleCnt="7" custRadScaleRad="98552" custRadScaleInc="-988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2E5C2CC-16B6-414F-A1E4-8C9432894059}" type="pres">
      <dgm:prSet presAssocID="{88D3464D-A729-40F4-BC36-33D77706DB6F}" presName="nodeFollowingNodes" presStyleLbl="node1" presStyleIdx="3" presStyleCnt="7" custRadScaleRad="101627" custRadScaleInc="12244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C4FF0D0D-74E1-473C-A1E9-CFD413B11028}" type="pres">
      <dgm:prSet presAssocID="{610D7153-D836-425E-ABAB-41B69166C8FA}" presName="nodeFollowingNodes" presStyleLbl="node1" presStyleIdx="4" presStyleCnt="7" custRadScaleRad="99563" custRadScaleInc="-11759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D24C1E3-835B-4535-A9EB-AB5FCDF4505F}" type="pres">
      <dgm:prSet presAssocID="{77B94860-9B07-4F13-B939-C7B0F42EECBC}" presName="nodeFollowingNodes" presStyleLbl="node1" presStyleIdx="5" presStyleCnt="7" custRadScaleRad="98104" custRadScaleInc="15079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173D7A6-1922-458F-9222-CB9A92415CD8}" type="pres">
      <dgm:prSet presAssocID="{4D71D476-FD32-44C8-A5D7-96F395056DC2}" presName="nodeFollowingNodes" presStyleLbl="node1" presStyleIdx="6" presStyleCnt="7" custRadScaleRad="101286" custRadScaleInc="22738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40389EFB-79C6-473A-9652-9C957BF4F0A3}" type="presOf" srcId="{4D71D476-FD32-44C8-A5D7-96F395056DC2}" destId="{8173D7A6-1922-458F-9222-CB9A92415CD8}" srcOrd="0" destOrd="0" presId="urn:microsoft.com/office/officeart/2005/8/layout/cycle3"/>
    <dgm:cxn modelId="{1A7B7DA8-78F7-45CF-BCFF-2D514BCA9371}" type="presOf" srcId="{610D7153-D836-425E-ABAB-41B69166C8FA}" destId="{C4FF0D0D-74E1-473C-A1E9-CFD413B11028}" srcOrd="0" destOrd="0" presId="urn:microsoft.com/office/officeart/2005/8/layout/cycle3"/>
    <dgm:cxn modelId="{D2DF2B10-F455-4E92-9E93-98A19CBF2C56}" srcId="{D9F660D2-7531-4B7B-9DC9-B462E3FDA8AA}" destId="{88D3464D-A729-40F4-BC36-33D77706DB6F}" srcOrd="3" destOrd="0" parTransId="{7013BDC3-8014-4AF1-B8ED-04FED08A63B1}" sibTransId="{42B06845-0AB7-47D2-BB61-4A3F6D67E2E2}"/>
    <dgm:cxn modelId="{9CC96D18-66E0-43F7-9580-25FB6CADC4DF}" srcId="{D9F660D2-7531-4B7B-9DC9-B462E3FDA8AA}" destId="{610D7153-D836-425E-ABAB-41B69166C8FA}" srcOrd="4" destOrd="0" parTransId="{6CEE0124-3B99-402B-9A12-1318843520CA}" sibTransId="{8CCF91BC-C031-4D41-A211-F51D8C5F779A}"/>
    <dgm:cxn modelId="{B312A496-23FC-4EC1-9917-4C6FF45AB17D}" type="presOf" srcId="{3D02B9F0-E626-4C8B-BD2A-5010DA3B9508}" destId="{CB4F0E61-DC7F-4119-ABA9-796676CB2FA1}" srcOrd="0" destOrd="0" presId="urn:microsoft.com/office/officeart/2005/8/layout/cycle3"/>
    <dgm:cxn modelId="{8ABE57D6-2A0A-4702-BB91-B8B245AC27BA}" srcId="{D9F660D2-7531-4B7B-9DC9-B462E3FDA8AA}" destId="{3D02B9F0-E626-4C8B-BD2A-5010DA3B9508}" srcOrd="1" destOrd="0" parTransId="{A4D878FF-3C86-4BF2-B275-5C7CEF968DBF}" sibTransId="{B1826330-98C3-41CB-B8D0-2180131A4C37}"/>
    <dgm:cxn modelId="{791D06BB-C3A8-4658-85D7-528F816FC9FB}" srcId="{D9F660D2-7531-4B7B-9DC9-B462E3FDA8AA}" destId="{9AEA5E90-4BA3-4DD2-9B18-80F40A809CFB}" srcOrd="2" destOrd="0" parTransId="{98546F5B-2118-40CD-B9FE-58E3011189BE}" sibTransId="{46721B0D-1AA6-4FC8-A238-D37C5C9FDA2F}"/>
    <dgm:cxn modelId="{41CF2FE1-F406-4D15-BD41-2FC2F998AD6F}" type="presOf" srcId="{4F97281A-802C-4000-8D2A-66142CFFCE3C}" destId="{D046EDB0-D1C9-407A-A55E-5858E1E5D4AF}" srcOrd="0" destOrd="0" presId="urn:microsoft.com/office/officeart/2005/8/layout/cycle3"/>
    <dgm:cxn modelId="{8432617A-D934-4ADD-A017-28D71B22766E}" type="presOf" srcId="{88D3464D-A729-40F4-BC36-33D77706DB6F}" destId="{E2E5C2CC-16B6-414F-A1E4-8C9432894059}" srcOrd="0" destOrd="0" presId="urn:microsoft.com/office/officeart/2005/8/layout/cycle3"/>
    <dgm:cxn modelId="{166E3F99-1D73-450F-BDAA-30C14BAE59A4}" srcId="{D9F660D2-7531-4B7B-9DC9-B462E3FDA8AA}" destId="{A84A2978-2AC1-4303-BCBD-40A8C5C9F7B0}" srcOrd="0" destOrd="0" parTransId="{E3041B88-5468-4AB9-8D02-E4D51804522F}" sibTransId="{4F97281A-802C-4000-8D2A-66142CFFCE3C}"/>
    <dgm:cxn modelId="{5ECC7277-5B7A-4B43-B7F3-18C191279D21}" srcId="{D9F660D2-7531-4B7B-9DC9-B462E3FDA8AA}" destId="{77B94860-9B07-4F13-B939-C7B0F42EECBC}" srcOrd="5" destOrd="0" parTransId="{51C5C389-9023-43AD-BE4D-242654F19991}" sibTransId="{CADCDD1F-286D-489C-AED4-25F7A9A1E31E}"/>
    <dgm:cxn modelId="{AE388074-7BCE-4DC5-A93D-92DE561DA4A4}" type="presOf" srcId="{77B94860-9B07-4F13-B939-C7B0F42EECBC}" destId="{8D24C1E3-835B-4535-A9EB-AB5FCDF4505F}" srcOrd="0" destOrd="0" presId="urn:microsoft.com/office/officeart/2005/8/layout/cycle3"/>
    <dgm:cxn modelId="{328E3CC5-1A88-4B63-9EA4-AA0C7780C381}" type="presOf" srcId="{9AEA5E90-4BA3-4DD2-9B18-80F40A809CFB}" destId="{57FC54FE-E97C-4F29-92CF-2A7248720E8D}" srcOrd="0" destOrd="0" presId="urn:microsoft.com/office/officeart/2005/8/layout/cycle3"/>
    <dgm:cxn modelId="{BA33D93A-AE1F-4349-BC94-EE1264459AE5}" type="presOf" srcId="{A84A2978-2AC1-4303-BCBD-40A8C5C9F7B0}" destId="{DF5D109B-C564-497C-B822-FF07AB5AC3EF}" srcOrd="0" destOrd="0" presId="urn:microsoft.com/office/officeart/2005/8/layout/cycle3"/>
    <dgm:cxn modelId="{B1C432EA-4813-4747-8615-6D860E20D057}" type="presOf" srcId="{D9F660D2-7531-4B7B-9DC9-B462E3FDA8AA}" destId="{D1F5521C-92B8-4D4D-8EED-39D567818230}" srcOrd="0" destOrd="0" presId="urn:microsoft.com/office/officeart/2005/8/layout/cycle3"/>
    <dgm:cxn modelId="{5F1D6F3C-A09A-4277-9D10-F90228167CA5}" srcId="{D9F660D2-7531-4B7B-9DC9-B462E3FDA8AA}" destId="{4D71D476-FD32-44C8-A5D7-96F395056DC2}" srcOrd="6" destOrd="0" parTransId="{038FB7E5-7686-400C-8BFA-CF6A6DD230D6}" sibTransId="{B4982816-5802-4A0A-BA19-DD21221289D4}"/>
    <dgm:cxn modelId="{BFCD469E-AE63-49A0-AAA9-6EBAD75EEB7F}" type="presParOf" srcId="{D1F5521C-92B8-4D4D-8EED-39D567818230}" destId="{570E10F7-852E-4DD4-A1D9-BE86AC68401E}" srcOrd="0" destOrd="0" presId="urn:microsoft.com/office/officeart/2005/8/layout/cycle3"/>
    <dgm:cxn modelId="{1F38A63D-1766-4EA7-8F6C-B4125C965567}" type="presParOf" srcId="{570E10F7-852E-4DD4-A1D9-BE86AC68401E}" destId="{DF5D109B-C564-497C-B822-FF07AB5AC3EF}" srcOrd="0" destOrd="0" presId="urn:microsoft.com/office/officeart/2005/8/layout/cycle3"/>
    <dgm:cxn modelId="{8C335A4A-0805-4AFD-B0C6-0F8336F0070C}" type="presParOf" srcId="{570E10F7-852E-4DD4-A1D9-BE86AC68401E}" destId="{D046EDB0-D1C9-407A-A55E-5858E1E5D4AF}" srcOrd="1" destOrd="0" presId="urn:microsoft.com/office/officeart/2005/8/layout/cycle3"/>
    <dgm:cxn modelId="{921D464D-80BE-428B-B3B5-BB7A286F0085}" type="presParOf" srcId="{570E10F7-852E-4DD4-A1D9-BE86AC68401E}" destId="{CB4F0E61-DC7F-4119-ABA9-796676CB2FA1}" srcOrd="2" destOrd="0" presId="urn:microsoft.com/office/officeart/2005/8/layout/cycle3"/>
    <dgm:cxn modelId="{494C0E9E-0E71-421C-8032-5C0F96354044}" type="presParOf" srcId="{570E10F7-852E-4DD4-A1D9-BE86AC68401E}" destId="{57FC54FE-E97C-4F29-92CF-2A7248720E8D}" srcOrd="3" destOrd="0" presId="urn:microsoft.com/office/officeart/2005/8/layout/cycle3"/>
    <dgm:cxn modelId="{EF7791DF-23F7-44E8-B03D-7DAC30E26CC6}" type="presParOf" srcId="{570E10F7-852E-4DD4-A1D9-BE86AC68401E}" destId="{E2E5C2CC-16B6-414F-A1E4-8C9432894059}" srcOrd="4" destOrd="0" presId="urn:microsoft.com/office/officeart/2005/8/layout/cycle3"/>
    <dgm:cxn modelId="{4BACE444-A2AE-40F0-9521-6D093E7D43C5}" type="presParOf" srcId="{570E10F7-852E-4DD4-A1D9-BE86AC68401E}" destId="{C4FF0D0D-74E1-473C-A1E9-CFD413B11028}" srcOrd="5" destOrd="0" presId="urn:microsoft.com/office/officeart/2005/8/layout/cycle3"/>
    <dgm:cxn modelId="{E0F56571-1E3D-4460-A050-016D1EB6CA49}" type="presParOf" srcId="{570E10F7-852E-4DD4-A1D9-BE86AC68401E}" destId="{8D24C1E3-835B-4535-A9EB-AB5FCDF4505F}" srcOrd="6" destOrd="0" presId="urn:microsoft.com/office/officeart/2005/8/layout/cycle3"/>
    <dgm:cxn modelId="{8C0C5A0B-0944-4008-AD59-BA46819EE8C0}" type="presParOf" srcId="{570E10F7-852E-4DD4-A1D9-BE86AC68401E}" destId="{8173D7A6-1922-458F-9222-CB9A92415CD8}" srcOrd="7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46EDB0-D1C9-407A-A55E-5858E1E5D4AF}">
      <dsp:nvSpPr>
        <dsp:cNvPr id="0" name=""/>
        <dsp:cNvSpPr/>
      </dsp:nvSpPr>
      <dsp:spPr>
        <a:xfrm>
          <a:off x="436464" y="134228"/>
          <a:ext cx="6078588" cy="6078588"/>
        </a:xfrm>
        <a:prstGeom prst="circularArrow">
          <a:avLst>
            <a:gd name="adj1" fmla="val 5544"/>
            <a:gd name="adj2" fmla="val 330680"/>
            <a:gd name="adj3" fmla="val 14514598"/>
            <a:gd name="adj4" fmla="val 16950906"/>
            <a:gd name="adj5" fmla="val 5757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5D109B-C564-497C-B822-FF07AB5AC3EF}">
      <dsp:nvSpPr>
        <dsp:cNvPr id="0" name=""/>
        <dsp:cNvSpPr/>
      </dsp:nvSpPr>
      <dsp:spPr>
        <a:xfrm>
          <a:off x="2528750" y="175994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900" kern="1200" dirty="0" err="1" smtClean="0"/>
            <a:t>শ্রেষ্ঠ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মান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সম্পন্ন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সেবা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কেন্দ্র</a:t>
          </a:r>
          <a:endParaRPr lang="en-US" sz="1900" kern="1200" dirty="0"/>
        </a:p>
      </dsp:txBody>
      <dsp:txXfrm>
        <a:off x="2574979" y="222223"/>
        <a:ext cx="1801558" cy="854550"/>
      </dsp:txXfrm>
    </dsp:sp>
    <dsp:sp modelId="{CB4F0E61-DC7F-4119-ABA9-796676CB2FA1}">
      <dsp:nvSpPr>
        <dsp:cNvPr id="0" name=""/>
        <dsp:cNvSpPr/>
      </dsp:nvSpPr>
      <dsp:spPr>
        <a:xfrm>
          <a:off x="585473" y="1137439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smtClean="0"/>
            <a:t>সম</a:t>
          </a:r>
          <a:r>
            <a:rPr lang="en-GB" sz="1900" kern="1200" smtClean="0"/>
            <a:t>্প্রসারণ</a:t>
          </a:r>
          <a:endParaRPr lang="en-GB" sz="1900" kern="1200" dirty="0" smtClean="0"/>
        </a:p>
      </dsp:txBody>
      <dsp:txXfrm>
        <a:off x="631702" y="1183668"/>
        <a:ext cx="1801558" cy="854550"/>
      </dsp:txXfrm>
    </dsp:sp>
    <dsp:sp modelId="{57FC54FE-E97C-4F29-92CF-2A7248720E8D}">
      <dsp:nvSpPr>
        <dsp:cNvPr id="0" name=""/>
        <dsp:cNvSpPr/>
      </dsp:nvSpPr>
      <dsp:spPr>
        <a:xfrm>
          <a:off x="5055898" y="3141740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 smtClean="0"/>
            <a:t>জনসম্পৃক্ততা</a:t>
          </a:r>
          <a:r>
            <a:rPr lang="en-GB" sz="1900" kern="1200" dirty="0" smtClean="0"/>
            <a:t> ও </a:t>
          </a:r>
          <a:r>
            <a:rPr lang="en-GB" sz="1900" kern="1200" dirty="0" err="1" smtClean="0"/>
            <a:t>কমিটি</a:t>
          </a:r>
          <a:r>
            <a:rPr lang="en-GB" sz="1900" kern="1200" dirty="0" smtClean="0"/>
            <a:t> </a:t>
          </a:r>
          <a:r>
            <a:rPr lang="en-GB" sz="1900" kern="1200" dirty="0" err="1" smtClean="0"/>
            <a:t>গঠন</a:t>
          </a:r>
          <a:r>
            <a:rPr lang="bn-IN" sz="1900" kern="1200" dirty="0" smtClean="0"/>
            <a:t> </a:t>
          </a:r>
          <a:endParaRPr lang="en-US" sz="1900" kern="1200" dirty="0"/>
        </a:p>
      </dsp:txBody>
      <dsp:txXfrm>
        <a:off x="5102127" y="3187969"/>
        <a:ext cx="1801558" cy="854550"/>
      </dsp:txXfrm>
    </dsp:sp>
    <dsp:sp modelId="{E2E5C2CC-16B6-414F-A1E4-8C9432894059}">
      <dsp:nvSpPr>
        <dsp:cNvPr id="0" name=""/>
        <dsp:cNvSpPr/>
      </dsp:nvSpPr>
      <dsp:spPr>
        <a:xfrm>
          <a:off x="1236041" y="5063476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kern="1200" dirty="0" err="1" smtClean="0"/>
            <a:t>স্টাফ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বৃদ্ধি</a:t>
          </a:r>
          <a:r>
            <a:rPr lang="en-US" sz="1900" kern="1200" dirty="0" smtClean="0"/>
            <a:t>:     ৫৬ </a:t>
          </a:r>
          <a:r>
            <a:rPr lang="en-US" sz="1900" kern="1200" dirty="0" err="1" smtClean="0"/>
            <a:t>জন</a:t>
          </a:r>
          <a:endParaRPr lang="en-US" sz="1900" kern="1200" dirty="0" smtClean="0"/>
        </a:p>
      </dsp:txBody>
      <dsp:txXfrm>
        <a:off x="1282270" y="5109705"/>
        <a:ext cx="1801558" cy="854550"/>
      </dsp:txXfrm>
    </dsp:sp>
    <dsp:sp modelId="{C4FF0D0D-74E1-473C-A1E9-CFD413B11028}">
      <dsp:nvSpPr>
        <dsp:cNvPr id="0" name=""/>
        <dsp:cNvSpPr/>
      </dsp:nvSpPr>
      <dsp:spPr>
        <a:xfrm>
          <a:off x="3708630" y="5063467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সুরক্ষা</a:t>
          </a:r>
          <a:endParaRPr lang="en-US" sz="1900" kern="1200"/>
        </a:p>
      </dsp:txBody>
      <dsp:txXfrm>
        <a:off x="3754859" y="5109696"/>
        <a:ext cx="1801558" cy="854550"/>
      </dsp:txXfrm>
    </dsp:sp>
    <dsp:sp modelId="{8D24C1E3-835B-4535-A9EB-AB5FCDF4505F}">
      <dsp:nvSpPr>
        <dsp:cNvPr id="0" name=""/>
        <dsp:cNvSpPr/>
      </dsp:nvSpPr>
      <dsp:spPr>
        <a:xfrm>
          <a:off x="13" y="3037118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 dirty="0"/>
            <a:t>দূর্নীতি </a:t>
          </a:r>
          <a:r>
            <a:rPr lang="bn-IN" sz="1900" kern="1200" dirty="0" smtClean="0"/>
            <a:t>প্রতিরোধ</a:t>
          </a:r>
          <a:r>
            <a:rPr lang="en-GB" sz="1900" kern="1200" dirty="0" smtClean="0"/>
            <a:t>  </a:t>
          </a:r>
          <a:endParaRPr lang="en-US" sz="1900" kern="1200" dirty="0"/>
        </a:p>
      </dsp:txBody>
      <dsp:txXfrm>
        <a:off x="46242" y="3083347"/>
        <a:ext cx="1801558" cy="854550"/>
      </dsp:txXfrm>
    </dsp:sp>
    <dsp:sp modelId="{8173D7A6-1922-458F-9222-CB9A92415CD8}">
      <dsp:nvSpPr>
        <dsp:cNvPr id="0" name=""/>
        <dsp:cNvSpPr/>
      </dsp:nvSpPr>
      <dsp:spPr>
        <a:xfrm>
          <a:off x="4566132" y="1112172"/>
          <a:ext cx="1894016" cy="9470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1900" kern="1200"/>
            <a:t>পরিচ্ছন্নতা</a:t>
          </a:r>
          <a:r>
            <a:rPr lang="bn-IN" sz="1900" b="1" kern="1200"/>
            <a:t> </a:t>
          </a:r>
          <a:r>
            <a:rPr lang="bn-IN" sz="1900" kern="1200"/>
            <a:t>ও</a:t>
          </a:r>
          <a:r>
            <a:rPr lang="bn-IN" sz="1900" b="1" kern="1200"/>
            <a:t> </a:t>
          </a:r>
          <a:r>
            <a:rPr lang="bn-IN" sz="1900" kern="1200"/>
            <a:t>সৌন্দর্যবর্ধন </a:t>
          </a:r>
          <a:endParaRPr lang="en-US" sz="1900" kern="1200" dirty="0"/>
        </a:p>
      </dsp:txBody>
      <dsp:txXfrm>
        <a:off x="4612361" y="1158401"/>
        <a:ext cx="1801558" cy="854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539AD-9888-444D-B65C-76DECAF1EB84}" type="datetimeFigureOut">
              <a:rPr lang="bn-BD" smtClean="0"/>
              <a:pPr/>
              <a:t>11/7/1441</a:t>
            </a:fld>
            <a:endParaRPr lang="bn-B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n-B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n-B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n-B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6F21FC-2469-4510-B52A-1E80B6F41DF7}" type="slidenum">
              <a:rPr lang="bn-BD" smtClean="0"/>
              <a:pPr/>
              <a:t>‹#›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4269754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29057" indent="-280406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2162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570276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18927" indent="-224325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46757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16227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36487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13528" indent="-224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17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1"/>
            <a:ext cx="5483225" cy="41132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09575" y="700088"/>
            <a:ext cx="6191250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8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7388"/>
            <a:ext cx="6092825" cy="3427412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723" y="4342797"/>
            <a:ext cx="5484556" cy="411439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10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12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3659689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3D5E88F6-21DF-47ED-995E-14693183BF52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1513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6F21FC-2469-4510-B52A-1E80B6F41DF7}" type="slidenum">
              <a:rPr lang="bn-BD" smtClean="0"/>
              <a:pPr/>
              <a:t>28</a:t>
            </a:fld>
            <a:endParaRPr lang="bn-BD"/>
          </a:p>
        </p:txBody>
      </p:sp>
    </p:spTree>
    <p:extLst>
      <p:ext uri="{BB962C8B-B14F-4D97-AF65-F5344CB8AC3E}">
        <p14:creationId xmlns:p14="http://schemas.microsoft.com/office/powerpoint/2010/main" val="1397817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46757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1622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36487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1352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31</a:t>
            </a:fld>
            <a:endParaRPr lang="en-US" sz="130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00716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F074D112-C1F5-4C6B-9E8C-C7CB711A8238}" type="slidenum">
              <a:rPr lang="en-US" smtClean="0">
                <a:solidFill>
                  <a:srgbClr val="000000"/>
                </a:solidFill>
              </a:rPr>
              <a:pPr eaLnBrk="1" hangingPunct="1"/>
              <a:t>38</a:t>
            </a:fld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86303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61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  <p:sldLayoutId id="2147483671" r:id="rId18"/>
    <p:sldLayoutId id="2147483672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0.wmf"/><Relationship Id="rId10" Type="http://schemas.openxmlformats.org/officeDocument/2006/relationships/image" Target="../media/image42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CCED5FC-CC01-4A03-9708-9580A49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411" y="313358"/>
            <a:ext cx="11749177" cy="1314159"/>
          </a:xfrm>
        </p:spPr>
        <p:txBody>
          <a:bodyPr>
            <a:noAutofit/>
          </a:bodyPr>
          <a:lstStyle/>
          <a:p>
            <a:pPr algn="ctr"/>
            <a:r>
              <a:rPr lang="b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জনসম্পৃক্ত স্বাস্থ্য ব্যবস্থাপনা</a:t>
            </a:r>
            <a:endParaRPr lang="bn-BD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129AF61-9AC1-4937-8C6E-F00B0D21A5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821" y="3240793"/>
            <a:ext cx="10850593" cy="3462068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ডা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মো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ইমদাদুল</a:t>
            </a:r>
            <a:r>
              <a:rPr lang="en-GB" sz="21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21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হক</a:t>
            </a:r>
            <a:endParaRPr lang="bn-IN" sz="2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জাতীয় পরামর্শক</a:t>
            </a: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সমন্বয় ও সহায়তা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কেন্দ্র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,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স্বাস্থ্য অধিদপ্তর</a:t>
            </a:r>
            <a:endParaRPr lang="bn-BD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  <a:p>
            <a:pPr algn="ctr"/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এবং</a:t>
            </a:r>
          </a:p>
          <a:p>
            <a:pPr algn="ctr"/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সদস্য, </a:t>
            </a:r>
            <a:r>
              <a:rPr lang="bn-IN" sz="1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সি-জে মডেল স্বাস্থ্য </a:t>
            </a:r>
            <a:r>
              <a:rPr lang="bn-IN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টেকনিক্যাল</a:t>
            </a:r>
            <a:r>
              <a:rPr lang="en-GB" sz="1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1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কমিটি</a:t>
            </a:r>
            <a:endParaRPr lang="bn-IN" sz="1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2" y="5166178"/>
            <a:ext cx="1426514" cy="142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38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43729"/>
              </p:ext>
            </p:extLst>
          </p:nvPr>
        </p:nvGraphicFramePr>
        <p:xfrm>
          <a:off x="198651" y="990600"/>
          <a:ext cx="11859687" cy="433466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10227"/>
                <a:gridCol w="2343923"/>
                <a:gridCol w="2017064"/>
                <a:gridCol w="1751624"/>
                <a:gridCol w="1664043"/>
                <a:gridCol w="1636403"/>
                <a:gridCol w="1636403"/>
              </a:tblGrid>
              <a:tr h="9239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 by  Govt.   ($)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Beds per 10000 population</a:t>
                      </a:r>
                    </a:p>
                  </a:txBody>
                  <a:tcPr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Out of pocket expenditure %</a:t>
                      </a:r>
                    </a:p>
                  </a:txBody>
                  <a:tcPr marT="0" marB="0" anchor="ctr" horzOverflow="overflow"/>
                </a:tc>
              </a:tr>
              <a:tr h="45148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9536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25.5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37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11.08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4356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28.0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30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14.79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386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12.8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36.67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7.3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17.5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31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38.43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63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7.3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20.4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09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65.06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44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4.7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-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60.41</a:t>
                      </a:r>
                    </a:p>
                  </a:txBody>
                  <a:tcPr marT="0" marB="0" horzOverflow="overflow"/>
                </a:tc>
              </a:tr>
              <a:tr h="4184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06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66.40</a:t>
                      </a:r>
                    </a:p>
                  </a:txBody>
                  <a:tcPr marT="0" marB="0" horzOverflow="overflow"/>
                </a:tc>
              </a:tr>
              <a:tr h="42346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3.9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+mn-ea"/>
                          <a:cs typeface="+mn-cs"/>
                        </a:rPr>
                        <a:t>03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03</a:t>
                      </a:r>
                    </a:p>
                  </a:txBody>
                  <a:tcPr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Calibri" pitchFamily="34" charset="0"/>
                          <a:cs typeface="Times New Roman" pitchFamily="18" charset="0"/>
                        </a:rPr>
                        <a:t>67.00</a:t>
                      </a:r>
                    </a:p>
                  </a:txBody>
                  <a:tcPr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9100456" y="6178538"/>
            <a:ext cx="2862943" cy="400110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anchor="ctr">
            <a:spAutoFit/>
          </a:bodyPr>
          <a:lstStyle/>
          <a:p>
            <a:pPr algn="r" eaLnBrk="1" hangingPunct="1"/>
            <a:r>
              <a:rPr lang="en-US" sz="2000" dirty="0" smtClean="0">
                <a:latin typeface="Andalus"/>
                <a:ea typeface="Andalus"/>
                <a:cs typeface="Andalus"/>
              </a:rPr>
              <a:t>From </a:t>
            </a:r>
            <a:r>
              <a:rPr lang="en-US" sz="2000" dirty="0">
                <a:latin typeface="Andalus"/>
                <a:ea typeface="Andalus"/>
                <a:cs typeface="Andalus"/>
              </a:rPr>
              <a:t>internet </a:t>
            </a:r>
            <a:r>
              <a:rPr lang="en-US" sz="2000" dirty="0" smtClean="0">
                <a:latin typeface="Andalus"/>
                <a:ea typeface="Andalus"/>
                <a:cs typeface="Andalus"/>
              </a:rPr>
              <a:t>2018</a:t>
            </a:r>
            <a:endParaRPr lang="en-US" sz="2000" dirty="0">
              <a:latin typeface="Andalus"/>
              <a:ea typeface="Andalus"/>
              <a:cs typeface="Andalus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03200" y="37531"/>
            <a:ext cx="1176020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</a:t>
            </a:r>
            <a:r>
              <a:rPr lang="en-US" sz="28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countries </a:t>
            </a: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r>
              <a:rPr lang="en-US" sz="2400" b="1" dirty="0" smtClean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(2017)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901573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402" y="2362200"/>
            <a:ext cx="5116327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510117" y="838200"/>
            <a:ext cx="11243733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CHOWGACHA UPAZILA  </a:t>
            </a:r>
            <a:r>
              <a:rPr lang="en-US" sz="3200" b="1" dirty="0">
                <a:solidFill>
                  <a:schemeClr val="bg1"/>
                </a:solidFill>
              </a:rPr>
              <a:t>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202" y="2362200"/>
            <a:ext cx="5389253" cy="312420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solidFill>
              <a:schemeClr val="accent1"/>
            </a:solidFill>
          </a:ln>
          <a:extLst/>
        </p:spPr>
      </p:pic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478589" y="5638801"/>
            <a:ext cx="5820612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Previous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6649783" y="5638801"/>
            <a:ext cx="5104068" cy="58477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chemeClr val="bg1"/>
                </a:solidFill>
              </a:rPr>
              <a:t>Present UHC</a:t>
            </a:r>
            <a:endParaRPr 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30694487"/>
      </p:ext>
    </p:extLst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5FD3E7D-C67C-4A49-9ECA-ADEE4EB05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779" y="189782"/>
            <a:ext cx="10131425" cy="1456267"/>
          </a:xfrm>
        </p:spPr>
        <p:txBody>
          <a:bodyPr>
            <a:noAutofit/>
          </a:bodyPr>
          <a:lstStyle/>
          <a:p>
            <a:pPr algn="ctr"/>
            <a:r>
              <a:rPr lang="bn-IN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ভূমিকা</a:t>
            </a:r>
            <a:endParaRPr lang="bn-BD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A9C56B05-E057-4D05-BEC9-A5A176CBD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75" y="1708030"/>
            <a:ext cx="11731923" cy="4525993"/>
          </a:xfrm>
        </p:spPr>
        <p:txBody>
          <a:bodyPr>
            <a:normAutofit/>
          </a:bodyPr>
          <a:lstStyle/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জনসম্পৃক্ততা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সমাদৃত স্বাস্থ্য ব্যবস্থাপনা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একাধিকবার পুরস্কৃত</a:t>
            </a:r>
          </a:p>
          <a:p>
            <a:r>
              <a:rPr lang="b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অপ্রতুল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সম্পদে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সর্বোত্তম </a:t>
            </a:r>
            <a:r>
              <a:rPr lang="bn-IN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ব্যবস্থাপনা</a:t>
            </a:r>
            <a:endParaRPr lang="bn-IN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153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n-BD" sz="6600" dirty="0">
                <a:latin typeface="SolaimanLipi" pitchFamily="65" charset="0"/>
                <a:cs typeface="SolaimanLipi" pitchFamily="65" charset="0"/>
              </a:rPr>
              <a:t>চৌগাছা মডেল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131425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৯৮৬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১৯৯৬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মডেল হিসাবে ঘোষনা: ২০০৮</a:t>
            </a: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ডিজি বিশ্বস্বাস্থ্য সংস্থা এর পরিদর্শন: </a:t>
            </a:r>
            <a:r>
              <a:rPr lang="bn-IN" sz="4400" b="1" dirty="0" smtClean="0">
                <a:latin typeface="SolaimanLipi" pitchFamily="65" charset="0"/>
                <a:cs typeface="SolaimanLipi" pitchFamily="65" charset="0"/>
              </a:rPr>
              <a:t>২০১০</a:t>
            </a:r>
            <a:endParaRPr lang="en-GB" sz="44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সম্প্রসারনের উদ্যোগ : ২০১৬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7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6" y="1113780"/>
            <a:ext cx="4590103" cy="270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29" y="1113780"/>
            <a:ext cx="4243036" cy="2725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895" y="3976911"/>
            <a:ext cx="4590104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130" y="3976911"/>
            <a:ext cx="4243036" cy="2777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86" y="348344"/>
            <a:ext cx="10131425" cy="504180"/>
          </a:xfrm>
        </p:spPr>
        <p:txBody>
          <a:bodyPr>
            <a:normAutofit fontScale="90000"/>
          </a:bodyPr>
          <a:lstStyle/>
          <a:p>
            <a:pPr algn="ctr"/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কলেজ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পড়ুয়া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ছাত্রী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ভলেন্টিয়ার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1237536"/>
            <a:ext cx="1251857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রিসিপশনিস্ট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1172028" y="4249250"/>
            <a:ext cx="1672772" cy="50418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টিকা-দান কার্যক্রম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 txBox="1">
            <a:spLocks/>
          </p:cNvSpPr>
          <p:nvPr/>
        </p:nvSpPr>
        <p:spPr>
          <a:xfrm>
            <a:off x="8767936" y="4018169"/>
            <a:ext cx="1883229" cy="25209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গর্ভবতী পরিচর্যায়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 smtClean="0"/>
          </a:p>
        </p:txBody>
      </p:sp>
      <p:sp>
        <p:nvSpPr>
          <p:cNvPr id="78852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(ANC First Visit)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23319242"/>
              </p:ext>
            </p:extLst>
          </p:nvPr>
        </p:nvGraphicFramePr>
        <p:xfrm>
          <a:off x="957943" y="2332038"/>
          <a:ext cx="9913256" cy="4525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3029536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0E666EE-FB06-4C1F-AED8-5F7043411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9" y="145143"/>
            <a:ext cx="10131425" cy="1451428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dirty="0" err="1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প্রসববৃদ্ধি</a:t>
            </a:r>
            <a: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/>
            </a:r>
            <a:br>
              <a:rPr lang="en-US" sz="4400" dirty="0"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</a:b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600200"/>
            <a:ext cx="53848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  <a:p>
            <a:pPr algn="ctr" eaLnBrk="1" hangingPunct="1">
              <a:buFontTx/>
              <a:buNone/>
            </a:pPr>
            <a:endParaRPr lang="en-US" sz="2800" dirty="0"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68619691"/>
              </p:ext>
            </p:extLst>
          </p:nvPr>
        </p:nvGraphicFramePr>
        <p:xfrm>
          <a:off x="1016001" y="1038981"/>
          <a:ext cx="9608456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45335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609600" y="1600200"/>
            <a:ext cx="108712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Activities : 2000 - 2011 (Caesarian Section)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50731751"/>
              </p:ext>
            </p:extLst>
          </p:nvPr>
        </p:nvGraphicFramePr>
        <p:xfrm>
          <a:off x="1233713" y="2448152"/>
          <a:ext cx="8955315" cy="4409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07317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609600" y="3063875"/>
          <a:ext cx="10871199" cy="26210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66400" y="4049714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28300" y="4443414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solidFill>
            <a:srgbClr val="BBE0E3"/>
          </a:solid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 err="1" smtClean="0">
                <a:solidFill>
                  <a:sysClr val="windowText" lastClr="000000"/>
                </a:solidFill>
              </a:rPr>
              <a:t>Upazila</a:t>
            </a:r>
            <a:r>
              <a:rPr lang="en-US" sz="3200" b="1" kern="0" dirty="0" smtClean="0">
                <a:solidFill>
                  <a:sysClr val="windowText" lastClr="000000"/>
                </a:solidFill>
              </a:rPr>
              <a:t> Health  Complex</a:t>
            </a:r>
            <a:br>
              <a:rPr lang="en-US" sz="3200" b="1" kern="0" dirty="0" smtClean="0">
                <a:solidFill>
                  <a:sysClr val="windowText" lastClr="000000"/>
                </a:solidFill>
              </a:rPr>
            </a:br>
            <a:r>
              <a:rPr lang="en-US" sz="2000" b="1" kern="0" dirty="0" smtClean="0">
                <a:solidFill>
                  <a:sysClr val="windowText" lastClr="000000"/>
                </a:solidFill>
              </a:rPr>
              <a:t>CHOWGACHA , JESSORE.</a:t>
            </a:r>
          </a:p>
        </p:txBody>
      </p: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609600" y="1447800"/>
            <a:ext cx="108712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26952"/>
              </p:ext>
            </p:extLst>
          </p:nvPr>
        </p:nvGraphicFramePr>
        <p:xfrm>
          <a:off x="1015999" y="1219200"/>
          <a:ext cx="10668004" cy="5410200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2658532"/>
                <a:gridCol w="1066801"/>
                <a:gridCol w="1540933"/>
                <a:gridCol w="1422400"/>
                <a:gridCol w="1422400"/>
                <a:gridCol w="1303867"/>
                <a:gridCol w="1253071"/>
              </a:tblGrid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BD" sz="1600" dirty="0">
                          <a:effectLst/>
                        </a:rPr>
                        <a:t>Subject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1996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2007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2017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Bed Occupancy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kern="1200" dirty="0">
                          <a:effectLst/>
                        </a:rPr>
                        <a:t>-</a:t>
                      </a:r>
                      <a:endParaRPr lang="en-GB" sz="16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93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5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208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171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5027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ANC (First Visit)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817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2861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132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7292</a:t>
                      </a:r>
                      <a:r>
                        <a:rPr lang="en-GB" sz="1600">
                          <a:effectLst/>
                        </a:rPr>
                        <a:t>) 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170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8935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130 (6632)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Hospital Delivery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-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   (</a:t>
                      </a:r>
                      <a:r>
                        <a:rPr lang="bn-IN" sz="1600" dirty="0">
                          <a:effectLst/>
                        </a:rPr>
                        <a:t>99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4</a:t>
                      </a:r>
                      <a:r>
                        <a:rPr lang="en-GB" sz="1600" dirty="0">
                          <a:effectLst/>
                        </a:rPr>
                        <a:t> (</a:t>
                      </a:r>
                      <a:r>
                        <a:rPr lang="bn-IN" sz="1600" dirty="0">
                          <a:effectLst/>
                        </a:rPr>
                        <a:t>422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38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1</a:t>
                      </a:r>
                      <a:r>
                        <a:rPr lang="en-GB" sz="1600">
                          <a:effectLst/>
                        </a:rPr>
                        <a:t>    (</a:t>
                      </a:r>
                      <a:r>
                        <a:rPr lang="bn-IN" sz="1600">
                          <a:effectLst/>
                        </a:rPr>
                        <a:t>1899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4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4413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66 (</a:t>
                      </a:r>
                      <a:r>
                        <a:rPr lang="bn-IN" sz="1600">
                          <a:effectLst/>
                        </a:rPr>
                        <a:t>2932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495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C-Section rate %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-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02</a:t>
                      </a:r>
                      <a:r>
                        <a:rPr lang="en-GB" sz="1600" dirty="0">
                          <a:effectLst/>
                        </a:rPr>
                        <a:t>      (</a:t>
                      </a:r>
                      <a:r>
                        <a:rPr lang="bn-IN" sz="1600" dirty="0">
                          <a:effectLst/>
                        </a:rPr>
                        <a:t>1</a:t>
                      </a:r>
                      <a:r>
                        <a:rPr lang="en-GB" sz="1600" dirty="0">
                          <a:effectLst/>
                        </a:rPr>
                        <a:t>)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0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07</a:t>
                      </a:r>
                      <a:r>
                        <a:rPr lang="en-GB" sz="1600">
                          <a:effectLst/>
                        </a:rPr>
                        <a:t>   (</a:t>
                      </a:r>
                      <a:r>
                        <a:rPr lang="bn-IN" sz="1600">
                          <a:effectLst/>
                        </a:rPr>
                        <a:t>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r>
                        <a:rPr lang="en-GB" sz="1600">
                          <a:effectLst/>
                        </a:rPr>
                        <a:t>  (</a:t>
                      </a:r>
                      <a:r>
                        <a:rPr lang="bn-IN" sz="1600">
                          <a:effectLst/>
                        </a:rPr>
                        <a:t>473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22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r>
                        <a:rPr lang="en-GB" sz="1600">
                          <a:effectLst/>
                        </a:rPr>
                        <a:t> (</a:t>
                      </a:r>
                      <a:r>
                        <a:rPr lang="bn-IN" sz="1600">
                          <a:effectLst/>
                        </a:rPr>
                        <a:t>1107</a:t>
                      </a:r>
                      <a:r>
                        <a:rPr lang="en-GB" sz="1600">
                          <a:effectLst/>
                        </a:rPr>
                        <a:t>)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7435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MMR/100,000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599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300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168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160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91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NMR/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42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47</a:t>
                      </a:r>
                      <a:r>
                        <a:rPr lang="en-GB" sz="1600" dirty="0">
                          <a:effectLst/>
                        </a:rPr>
                        <a:t>  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23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21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18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16.6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275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IMR/ </a:t>
                      </a:r>
                      <a:r>
                        <a:rPr lang="en-GB" sz="1600" dirty="0">
                          <a:effectLst/>
                        </a:rPr>
                        <a:t>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65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58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36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29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2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23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>
                          <a:effectLst/>
                        </a:rPr>
                        <a:t>18.6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  <a:tr h="6551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 smtClean="0">
                          <a:effectLst/>
                        </a:rPr>
                        <a:t>U5MR/ 1000 live birth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78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67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44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 dirty="0">
                          <a:effectLst/>
                        </a:rPr>
                        <a:t>33</a:t>
                      </a:r>
                      <a:r>
                        <a:rPr lang="en-GB" sz="1600" dirty="0">
                          <a:effectLst/>
                        </a:rPr>
                        <a:t>.</a:t>
                      </a:r>
                      <a:r>
                        <a:rPr lang="bn-IN" sz="1600" dirty="0">
                          <a:effectLst/>
                        </a:rPr>
                        <a:t>3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n-IN" sz="1600">
                          <a:effectLst/>
                        </a:rPr>
                        <a:t>25</a:t>
                      </a:r>
                      <a:r>
                        <a:rPr lang="en-GB" sz="1600">
                          <a:effectLst/>
                        </a:rPr>
                        <a:t>.</a:t>
                      </a:r>
                      <a:r>
                        <a:rPr lang="bn-IN" sz="1600">
                          <a:effectLst/>
                        </a:rPr>
                        <a:t>7</a:t>
                      </a:r>
                      <a:endParaRPr lang="en-GB" sz="160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600" dirty="0">
                          <a:effectLst/>
                        </a:rPr>
                        <a:t>21.1</a:t>
                      </a:r>
                      <a:endParaRPr lang="en-GB" sz="1600" dirty="0">
                        <a:effectLst/>
                        <a:latin typeface="Calibri"/>
                        <a:ea typeface="Times New Roman"/>
                        <a:cs typeface="Vrinda"/>
                      </a:endParaRPr>
                    </a:p>
                  </a:txBody>
                  <a:tcPr marL="84719" marR="84719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11200" y="342885"/>
            <a:ext cx="10972800" cy="477054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Times New Roman" pitchFamily="18" charset="0"/>
                <a:cs typeface="Calibri" pitchFamily="34" charset="0"/>
              </a:rPr>
              <a:t>Chowgacha Health Complex – improvement evaluation</a:t>
            </a:r>
            <a:r>
              <a:rPr kumimoji="0" lang="en-GB" sz="2800" b="1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 </a:t>
            </a:r>
            <a:r>
              <a:rPr kumimoji="0" lang="bn-IN" sz="2800" b="0" i="0" u="none" strike="noStrike" cap="none" normalizeH="0" baseline="0" dirty="0" smtClean="0" bmk="_Toc531276491">
                <a:ln>
                  <a:noFill/>
                </a:ln>
                <a:solidFill>
                  <a:schemeClr val="bg1"/>
                </a:solidFill>
                <a:effectLst/>
                <a:latin typeface="SolaimanLipi" pitchFamily="65" charset="0"/>
                <a:ea typeface="Times New Roman" pitchFamily="18" charset="0"/>
                <a:cs typeface="SolaimanLipi" pitchFamily="65" charset="0"/>
              </a:rPr>
              <a:t>(1995-2017)</a:t>
            </a:r>
            <a:endParaRPr kumimoji="0" lang="en-GB" sz="2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24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114" y="1865086"/>
            <a:ext cx="10972800" cy="4495800"/>
          </a:xfrm>
          <a:noFill/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>
                <a:solidFill>
                  <a:schemeClr val="tx1"/>
                </a:solidFill>
              </a:rPr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200" b="1" dirty="0" smtClean="0">
                <a:solidFill>
                  <a:schemeClr val="tx1"/>
                </a:solidFill>
              </a:rPr>
              <a:t>TOTAL</a:t>
            </a:r>
            <a:r>
              <a:rPr lang="en-US" sz="3200" dirty="0" smtClean="0">
                <a:solidFill>
                  <a:schemeClr val="tx1"/>
                </a:solidFill>
              </a:rPr>
              <a:t> 			              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Volunteers 		  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Cleaners &amp; guards	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Others			          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3200" dirty="0" smtClean="0">
                <a:solidFill>
                  <a:schemeClr val="tx1"/>
                </a:solidFill>
              </a:rPr>
              <a:t>	Outsourcing       	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>
                <a:solidFill>
                  <a:schemeClr val="tx1"/>
                </a:solidFill>
              </a:rPr>
              <a:t>	</a:t>
            </a:r>
            <a:r>
              <a:rPr lang="en-US" sz="3200" dirty="0" smtClean="0">
                <a:solidFill>
                  <a:schemeClr val="tx1"/>
                </a:solidFill>
              </a:rPr>
              <a:t>Service provider		:21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9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95276"/>
            <a:ext cx="10972800" cy="612775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smtClean="0"/>
              <a:t>Upazila Health  Complex</a:t>
            </a:r>
            <a:br>
              <a:rPr lang="en-US" sz="3200" b="1" smtClean="0"/>
            </a:br>
            <a:r>
              <a:rPr lang="en-US" sz="2000" b="1" smtClean="0"/>
              <a:t>CHOWGACHA , JESSORE.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smtClean="0"/>
          </a:p>
          <a:p>
            <a:pPr algn="ctr" eaLnBrk="1" hangingPunct="1">
              <a:buFontTx/>
              <a:buNone/>
            </a:pPr>
            <a:endParaRPr lang="en-US" sz="2800" smtClean="0"/>
          </a:p>
        </p:txBody>
      </p:sp>
      <p:sp>
        <p:nvSpPr>
          <p:cNvPr id="131076" name="Rectangle 4"/>
          <p:cNvSpPr>
            <a:spLocks noChangeArrowheads="1"/>
          </p:cNvSpPr>
          <p:nvPr/>
        </p:nvSpPr>
        <p:spPr bwMode="auto">
          <a:xfrm>
            <a:off x="609600" y="1422400"/>
            <a:ext cx="108712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ACTVITIES : ( Vision By The Year 2010) </a:t>
            </a:r>
          </a:p>
        </p:txBody>
      </p:sp>
      <p:graphicFrame>
        <p:nvGraphicFramePr>
          <p:cNvPr id="131594" name="Group 522"/>
          <p:cNvGraphicFramePr>
            <a:graphicFrameLocks noGrp="1"/>
          </p:cNvGraphicFramePr>
          <p:nvPr>
            <p:ph sz="half" idx="2"/>
          </p:nvPr>
        </p:nvGraphicFramePr>
        <p:xfrm>
          <a:off x="1219200" y="2057400"/>
          <a:ext cx="9499599" cy="4340268"/>
        </p:xfrm>
        <a:graphic>
          <a:graphicData uri="http://schemas.openxmlformats.org/drawingml/2006/table">
            <a:tbl>
              <a:tblPr/>
              <a:tblGrid>
                <a:gridCol w="609600"/>
                <a:gridCol w="2743200"/>
                <a:gridCol w="812800"/>
                <a:gridCol w="795867"/>
                <a:gridCol w="931333"/>
                <a:gridCol w="778933"/>
                <a:gridCol w="855133"/>
                <a:gridCol w="855133"/>
                <a:gridCol w="1117600"/>
              </a:tblGrid>
              <a:tr h="5713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77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marL="121920" marR="121920" marT="45711" marB="457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1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142.6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118.2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87.6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59.1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84.4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3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16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marL="121920" marR="121920" marT="45711" marB="457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16.7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marL="121920" marR="121920" marT="45711" marB="4571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2236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6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062" y="215659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8000" b="1" dirty="0">
                <a:latin typeface="SolaimanLipi" pitchFamily="65" charset="0"/>
                <a:cs typeface="SolaimanLipi" pitchFamily="65" charset="0"/>
              </a:rPr>
              <a:t>চৌগাছা: অর্জন </a:t>
            </a:r>
            <a:r>
              <a:rPr lang="en-GB" sz="8000" b="1" dirty="0" smtClean="0">
                <a:latin typeface="SolaimanLipi" pitchFamily="65" charset="0"/>
                <a:cs typeface="SolaimanLipi" pitchFamily="65" charset="0"/>
              </a:rPr>
              <a:t>২০১১</a:t>
            </a:r>
            <a:endParaRPr lang="bn-BD" sz="80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A80B7D69-6D00-40EC-9C3C-65B4FF90B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061" y="1817297"/>
            <a:ext cx="11616906" cy="4825043"/>
          </a:xfrm>
        </p:spPr>
        <p:txBody>
          <a:bodyPr>
            <a:normAutofit lnSpcReduction="10000"/>
          </a:bodyPr>
          <a:lstStyle/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স্টাফ বৃদ্ধি: ৪৬</a:t>
            </a: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প্রাথমিক স্বাস্থ্য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পরিচর্যা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: ২০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০০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শ্রেষ্ঠ জরুরী প্রসুতি কেন্দ্র: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২০০৫-২০১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১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;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প্রতিষ্ঠানে প্রসব: 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৯৮.৪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%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(৪৪১৩)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সহস্রাব্দি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লক্ষ্যমাত্রা অর্জন: </a:t>
            </a:r>
            <a:r>
              <a:rPr lang="bn-IN" sz="4800" b="1" dirty="0" smtClean="0">
                <a:latin typeface="SolaimanLipi" pitchFamily="65" charset="0"/>
                <a:cs typeface="SolaimanLipi" pitchFamily="65" charset="0"/>
              </a:rPr>
              <a:t>২০০৯</a:t>
            </a:r>
            <a:endParaRPr lang="en-GB" sz="4800" b="1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স্বাস্থ্যমন্ত্রী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পুরস্কার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 (</a:t>
            </a:r>
            <a:r>
              <a:rPr lang="en-GB" sz="4800" b="1" dirty="0" err="1" smtClean="0">
                <a:latin typeface="SolaimanLipi" pitchFamily="65" charset="0"/>
                <a:cs typeface="SolaimanLipi" pitchFamily="65" charset="0"/>
              </a:rPr>
              <a:t>শ্রেষ্ঠ</a:t>
            </a:r>
            <a:r>
              <a:rPr lang="en-GB" sz="4800" b="1" dirty="0" smtClean="0">
                <a:latin typeface="SolaimanLipi" pitchFamily="65" charset="0"/>
                <a:cs typeface="SolaimanLipi" pitchFamily="65" charset="0"/>
              </a:rPr>
              <a:t>) : ২০১৭,২০১৮</a:t>
            </a:r>
            <a:endParaRPr lang="bn-IN" sz="4800" b="1" dirty="0">
              <a:latin typeface="SolaimanLipi" pitchFamily="65" charset="0"/>
              <a:cs typeface="SolaimanLipi" pitchFamily="65" charset="0"/>
            </a:endParaRPr>
          </a:p>
          <a:p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485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288580" y="246050"/>
            <a:ext cx="5299420" cy="4645264"/>
            <a:chOff x="1148" y="239"/>
            <a:chExt cx="3129" cy="2449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8" y="240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96" y="239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931" y="2567733"/>
            <a:ext cx="6106298" cy="428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445" y="247947"/>
            <a:ext cx="7107783" cy="1456267"/>
          </a:xfrm>
        </p:spPr>
        <p:txBody>
          <a:bodyPr>
            <a:noAutofit/>
          </a:bodyPr>
          <a:lstStyle/>
          <a:p>
            <a:pPr algn="ctr"/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দৈনিক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প্রথম-আলোর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b="1" dirty="0" err="1" smtClean="0">
                <a:latin typeface="SolaimanLipi" pitchFamily="65" charset="0"/>
                <a:cs typeface="SolaimanLipi" pitchFamily="65" charset="0"/>
              </a:rPr>
              <a:t>প্রতিবেদন</a:t>
            </a:r>
            <a:r>
              <a:rPr lang="en-GB" b="1" dirty="0" smtClean="0">
                <a:latin typeface="SolaimanLipi" pitchFamily="65" charset="0"/>
                <a:cs typeface="SolaimanLipi" pitchFamily="65" charset="0"/>
              </a:rPr>
              <a:t/>
            </a:r>
            <a:br>
              <a:rPr lang="en-GB" b="1" dirty="0" smtClean="0">
                <a:latin typeface="SolaimanLipi" pitchFamily="65" charset="0"/>
                <a:cs typeface="SolaimanLipi" pitchFamily="65" charset="0"/>
              </a:rPr>
            </a:b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১৪ </a:t>
            </a:r>
            <a:r>
              <a:rPr lang="en-GB" sz="2800" b="1" dirty="0" err="1" smtClean="0">
                <a:latin typeface="SolaimanLipi" pitchFamily="65" charset="0"/>
                <a:cs typeface="SolaimanLipi" pitchFamily="65" charset="0"/>
              </a:rPr>
              <a:t>অক্টোবর</a:t>
            </a:r>
            <a:r>
              <a:rPr lang="en-GB" sz="2800" b="1" dirty="0" smtClean="0">
                <a:latin typeface="SolaimanLipi" pitchFamily="65" charset="0"/>
                <a:cs typeface="SolaimanLipi" pitchFamily="65" charset="0"/>
              </a:rPr>
              <a:t>, ২০০৫</a:t>
            </a:r>
            <a:endParaRPr lang="bn-BD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xmlns="" id="{8C474670-D0C5-4F5C-A0B6-A6F99CC2474D}"/>
              </a:ext>
            </a:extLst>
          </p:cNvPr>
          <p:cNvSpPr txBox="1">
            <a:spLocks/>
          </p:cNvSpPr>
          <p:nvPr/>
        </p:nvSpPr>
        <p:spPr>
          <a:xfrm>
            <a:off x="696686" y="5431283"/>
            <a:ext cx="511324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3200" b="1" dirty="0" smtClean="0">
                <a:latin typeface="SolaimanLipi" pitchFamily="65" charset="0"/>
                <a:cs typeface="SolaimanLipi" pitchFamily="65" charset="0"/>
              </a:rPr>
              <a:t>চৌগাছা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পরিদর্শন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১০ </a:t>
            </a:r>
            <a:r>
              <a:rPr lang="en-GB" sz="3200" b="1" dirty="0" err="1" smtClean="0">
                <a:latin typeface="SolaimanLipi" pitchFamily="65" charset="0"/>
                <a:cs typeface="SolaimanLipi" pitchFamily="65" charset="0"/>
              </a:rPr>
              <a:t>মার্চ</a:t>
            </a:r>
            <a:r>
              <a:rPr lang="en-GB" sz="3200" b="1" dirty="0" smtClean="0">
                <a:latin typeface="SolaimanLipi" pitchFamily="65" charset="0"/>
                <a:cs typeface="SolaimanLipi" pitchFamily="65" charset="0"/>
              </a:rPr>
              <a:t>, ২০১০</a:t>
            </a:r>
            <a:endParaRPr lang="bn-BD" sz="32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84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668" y="0"/>
            <a:ext cx="11404799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6495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66E21-4226-42D2-8012-90122476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GB" sz="66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6600" dirty="0" err="1" smtClean="0">
                <a:latin typeface="SolaimanLipi" pitchFamily="65" charset="0"/>
                <a:cs typeface="SolaimanLipi" pitchFamily="65" charset="0"/>
              </a:rPr>
              <a:t>মডেল</a:t>
            </a:r>
            <a:endParaRPr lang="bn-BD" sz="6600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8D7B1B53-5742-4EDF-93D5-D2A36AD72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80558"/>
            <a:ext cx="10940142" cy="4796287"/>
          </a:xfrm>
        </p:spPr>
        <p:txBody>
          <a:bodyPr>
            <a:normAutofit/>
          </a:bodyPr>
          <a:lstStyle/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শুরু: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২০১২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400" b="1" dirty="0">
                <a:latin typeface="SolaimanLipi" pitchFamily="65" charset="0"/>
                <a:cs typeface="SolaimanLipi" pitchFamily="65" charset="0"/>
              </a:rPr>
              <a:t>দৃশ্যমান পরিবর্তন: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জানুয়ারি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, ২০১৩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হাসপাতাল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পাইলটিং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২০১৫</a:t>
            </a:r>
            <a:endParaRPr lang="bn-IN" sz="4400" b="1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মডেলের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পরীক্ষামূলক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>
                <a:latin typeface="SolaimanLipi" pitchFamily="65" charset="0"/>
                <a:cs typeface="SolaimanLipi" pitchFamily="65" charset="0"/>
              </a:rPr>
              <a:t>উদ্যোগ</a:t>
            </a:r>
            <a:r>
              <a:rPr lang="en-GB" sz="4400" b="1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: ২০১৬</a:t>
            </a:r>
          </a:p>
          <a:p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উপজেলা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পর্যায়ে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GB" sz="4400" b="1" dirty="0" err="1" smtClean="0"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4400" b="1" dirty="0" smtClean="0">
                <a:latin typeface="SolaimanLipi" pitchFamily="65" charset="0"/>
                <a:cs typeface="SolaimanLipi" pitchFamily="65" charset="0"/>
              </a:rPr>
              <a:t> উদ্যোগ : ২০১৭</a:t>
            </a:r>
            <a:endParaRPr lang="bn-BD" sz="4400" b="1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0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5484D6FA-5BF0-4916-BAE3-6D6457E9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43" y="1552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ি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ন</a:t>
            </a:r>
            <a:r>
              <a:rPr lang="bn-BD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াইদহ: চ্যালেন্জ সমূহ ২০১২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243AF0A6-9EA0-4460-8B16-2206F937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345721"/>
            <a:ext cx="10131425" cy="5428890"/>
          </a:xfrm>
        </p:spPr>
        <p:txBody>
          <a:bodyPr>
            <a:normAutofit/>
          </a:bodyPr>
          <a:lstStyle/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অরক্ষিত হাসপাতাল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স্বাস্থ্য সেবা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অপ্রতুল সেবাদানকারী</a:t>
            </a: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রোগী হতে অর্থ গ্রহন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দ</a:t>
            </a:r>
            <a:r>
              <a:rPr lang="en-GB" sz="4000" dirty="0" smtClean="0">
                <a:latin typeface="SolaimanLipi" pitchFamily="65" charset="0"/>
                <a:cs typeface="SolaimanLipi" pitchFamily="65" charset="0"/>
              </a:rPr>
              <a:t>ু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র্বল </a:t>
            </a:r>
            <a:r>
              <a:rPr lang="bn-BD" sz="4000" dirty="0">
                <a:latin typeface="SolaimanLipi" pitchFamily="65" charset="0"/>
                <a:cs typeface="SolaimanLipi" pitchFamily="65" charset="0"/>
              </a:rPr>
              <a:t>অর্থ ব্যবস্থাপনা</a:t>
            </a:r>
          </a:p>
          <a:p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অপ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রি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চ্ছন্নতা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000" dirty="0">
                <a:latin typeface="SolaimanLipi" pitchFamily="65" charset="0"/>
                <a:cs typeface="SolaimanLipi" pitchFamily="65" charset="0"/>
              </a:rPr>
              <a:t>দুর্বল 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পরি</a:t>
            </a:r>
            <a:r>
              <a:rPr lang="en-GB" sz="4000" dirty="0" err="1" smtClean="0">
                <a:latin typeface="SolaimanLipi" pitchFamily="65" charset="0"/>
                <a:cs typeface="SolaimanLipi" pitchFamily="65" charset="0"/>
              </a:rPr>
              <a:t>বী</a:t>
            </a:r>
            <a:r>
              <a:rPr lang="bn-BD" sz="4000" dirty="0" smtClean="0">
                <a:latin typeface="SolaimanLipi" pitchFamily="65" charset="0"/>
                <a:cs typeface="SolaimanLipi" pitchFamily="65" charset="0"/>
              </a:rPr>
              <a:t>ক্ষণ</a:t>
            </a:r>
            <a:endParaRPr lang="bn-BD" sz="40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0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85FF63-2EE4-42A5-BB64-C9D70E3D7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7476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bn-IN" sz="4800" b="1" dirty="0">
                <a:latin typeface="SolaimanLipi" pitchFamily="65" charset="0"/>
                <a:cs typeface="SolaimanLipi" pitchFamily="65" charset="0"/>
              </a:rPr>
              <a:t>জনসম্পৃক্ততা</a:t>
            </a:r>
            <a:endParaRPr lang="bn-BD" sz="4800" b="1" dirty="0"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FB0DE48-3621-4A1E-9E79-9E4E1837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1" y="1581509"/>
            <a:ext cx="4996923" cy="5152846"/>
          </a:xfrm>
        </p:spPr>
        <p:txBody>
          <a:bodyPr>
            <a:normAutofit lnSpcReduction="10000"/>
          </a:bodyPr>
          <a:lstStyle/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স্টাফ: ৫৬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পরিচ্ছন্নতা কর্মী: ২১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আয়া/ওয়ার্ডবয়: ২২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নিরাপত্তা রক্ষী: ৭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স্বেচ্ছাসেবক: ৩</a:t>
            </a:r>
          </a:p>
          <a:p>
            <a:pPr lvl="1"/>
            <a:r>
              <a:rPr lang="bn-IN" sz="2800" dirty="0">
                <a:latin typeface="SolaimanLipi" pitchFamily="65" charset="0"/>
                <a:cs typeface="SolaimanLipi" pitchFamily="65" charset="0"/>
              </a:rPr>
              <a:t>ট্রলিম্যান: ৩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জেনারেটর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ইন্টারকম</a:t>
            </a:r>
          </a:p>
          <a:p>
            <a:r>
              <a:rPr lang="bn-IN" sz="3200" dirty="0">
                <a:latin typeface="SolaimanLipi" pitchFamily="65" charset="0"/>
                <a:cs typeface="SolaimanLipi" pitchFamily="65" charset="0"/>
              </a:rPr>
              <a:t>বায়োকেমিক্যাল অ্যানালাইজার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6C307B88-65F8-494F-AA33-A28F7B839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990925" y="2697432"/>
            <a:ext cx="4995334" cy="3910401"/>
          </a:xfrm>
        </p:spPr>
        <p:txBody>
          <a:bodyPr>
            <a:normAutofit lnSpcReduction="10000"/>
          </a:bodyPr>
          <a:lstStyle/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সংসদ সদস্য</a:t>
            </a:r>
          </a:p>
          <a:p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জাহে</a:t>
            </a:r>
            <a:r>
              <a:rPr lang="en-GB" sz="4300" dirty="0" err="1" smtClean="0">
                <a:latin typeface="SolaimanLipi" pitchFamily="65" charset="0"/>
                <a:cs typeface="SolaimanLipi" pitchFamily="65" charset="0"/>
              </a:rPr>
              <a:t>দী</a:t>
            </a:r>
            <a:r>
              <a:rPr lang="bn-IN" sz="4300" dirty="0" smtClean="0">
                <a:latin typeface="SolaimanLipi" pitchFamily="65" charset="0"/>
                <a:cs typeface="SolaimanLipi" pitchFamily="65" charset="0"/>
              </a:rPr>
              <a:t> </a:t>
            </a:r>
            <a:r>
              <a:rPr lang="bn-IN" sz="4300" dirty="0">
                <a:latin typeface="SolaimanLipi" pitchFamily="65" charset="0"/>
                <a:cs typeface="SolaimanLipi" pitchFamily="65" charset="0"/>
              </a:rPr>
              <a:t>ফাউন্ডেশন</a:t>
            </a: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মেয়র</a:t>
            </a:r>
          </a:p>
          <a:p>
            <a:r>
              <a:rPr lang="en-GB" sz="4300" dirty="0" smtClean="0">
                <a:latin typeface="SolaimanLipi" pitchFamily="65" charset="0"/>
                <a:cs typeface="SolaimanLipi" pitchFamily="65" charset="0"/>
              </a:rPr>
              <a:t>দানশীল ব্যক্তিবর্গ</a:t>
            </a:r>
            <a:endParaRPr lang="bn-IN" sz="4300" dirty="0">
              <a:latin typeface="SolaimanLipi" pitchFamily="65" charset="0"/>
              <a:cs typeface="SolaimanLipi" pitchFamily="65" charset="0"/>
            </a:endParaRPr>
          </a:p>
          <a:p>
            <a:r>
              <a:rPr lang="bn-IN" sz="4300" dirty="0">
                <a:latin typeface="SolaimanLipi" pitchFamily="65" charset="0"/>
                <a:cs typeface="SolaimanLipi" pitchFamily="65" charset="0"/>
              </a:rPr>
              <a:t>ডাক্তার</a:t>
            </a:r>
            <a:endParaRPr lang="bn-BD" sz="4300" dirty="0">
              <a:latin typeface="SolaimanLipi" pitchFamily="65" charset="0"/>
              <a:cs typeface="SolaimanLipi" pitchFamily="65" charset="0"/>
            </a:endParaRPr>
          </a:p>
          <a:p>
            <a:endParaRPr lang="bn-BD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1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3505201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652363" y="3772090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5920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781034" y="3899646"/>
            <a:ext cx="816570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6748746" y="3922214"/>
            <a:ext cx="672364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7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47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2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020" y="806428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5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শিশু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বর্জব্যবস্থাপনার</a:t>
            </a:r>
            <a:r>
              <a:rPr lang="en-US" sz="3200" b="1" dirty="0" smtClean="0"/>
              <a:t>  </a:t>
            </a:r>
            <a:r>
              <a:rPr lang="en-US" sz="3200" b="1" dirty="0" err="1" smtClean="0"/>
              <a:t>পূর্বের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6821751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3859214"/>
            <a:ext cx="4326467" cy="2895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50057" y="765176"/>
            <a:ext cx="4190859" cy="2926381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84951" y="792616"/>
            <a:ext cx="4350962" cy="296256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5731933" y="1981200"/>
            <a:ext cx="741438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5797851" y="4821238"/>
            <a:ext cx="675519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6584951" y="3859214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05833" y="-1"/>
            <a:ext cx="11679767" cy="79261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/>
            <a:r>
              <a:rPr lang="en-US" sz="3200" b="1" dirty="0" err="1" smtClean="0"/>
              <a:t>প্রসুতি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সার্জারি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ওয়ার্ডের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আগের</a:t>
            </a:r>
            <a:r>
              <a:rPr lang="en-US" sz="3200" b="1" dirty="0" smtClean="0"/>
              <a:t> ও </a:t>
            </a:r>
            <a:r>
              <a:rPr lang="en-US" sz="3200" b="1" dirty="0" err="1" smtClean="0"/>
              <a:t>পরের</a:t>
            </a:r>
            <a:r>
              <a:rPr lang="en-US" sz="3200" b="1" dirty="0" smtClean="0"/>
              <a:t> </a:t>
            </a:r>
            <a:r>
              <a:rPr lang="en-US" sz="3200" b="1" dirty="0" err="1" smtClean="0"/>
              <a:t>অবস্থা</a:t>
            </a:r>
            <a:endParaRPr lang="en-US" sz="3200" dirty="0"/>
          </a:p>
        </p:txBody>
      </p:sp>
      <p:pic>
        <p:nvPicPr>
          <p:cNvPr id="15" name="Picture 5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5241" y="3744913"/>
            <a:ext cx="4296692" cy="291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6910549" y="927616"/>
            <a:ext cx="67236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1435241" y="792617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1435241" y="3859214"/>
            <a:ext cx="81657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84143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52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3998914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1852187" y="4092576"/>
            <a:ext cx="2131353" cy="369332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324600" y="4035427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48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1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1828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400801" y="1001713"/>
            <a:ext cx="1201419" cy="369332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কাইজেন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পদ্ধতির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21993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644525"/>
            <a:ext cx="4162538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968" y="3733800"/>
            <a:ext cx="4136571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13" y="585786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654629" y="669925"/>
            <a:ext cx="1906932" cy="369332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 smtClean="0">
                <a:solidFill>
                  <a:schemeClr val="tx1"/>
                </a:solidFill>
              </a:rPr>
              <a:t>A big cleaning day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763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Health education session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6286501" y="682739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84888" y="37338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6286500" y="3763963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Creation  of nursing aid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524001" y="0"/>
            <a:ext cx="9140825" cy="47148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algn="ctr"/>
            <a:r>
              <a:rPr lang="en-US" sz="3600" b="1" dirty="0" err="1" smtClean="0"/>
              <a:t>নব-উদ্যোগের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মাধ্যমে</a:t>
            </a:r>
            <a:r>
              <a:rPr lang="en-US" sz="3600" b="1" dirty="0" smtClean="0"/>
              <a:t> </a:t>
            </a:r>
            <a:r>
              <a:rPr lang="en-US" sz="3600" b="1" dirty="0" err="1" smtClean="0"/>
              <a:t>পরিবর্তন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25626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82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6607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676400" y="152400"/>
            <a:ext cx="8839200" cy="4572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4000" dirty="0" smtClean="0"/>
              <a:t>স্থানীয় </a:t>
            </a:r>
            <a:r>
              <a:rPr lang="en-US" sz="4000" dirty="0" err="1" smtClean="0"/>
              <a:t>ব্যবস্থাপনায়</a:t>
            </a:r>
            <a:r>
              <a:rPr lang="en-US" sz="4000" dirty="0" smtClean="0"/>
              <a:t> </a:t>
            </a:r>
            <a:r>
              <a:rPr lang="en-US" sz="4000" dirty="0" err="1" smtClean="0"/>
              <a:t>শিশু</a:t>
            </a:r>
            <a:r>
              <a:rPr lang="en-US" sz="4000" dirty="0" smtClean="0"/>
              <a:t> </a:t>
            </a:r>
            <a:r>
              <a:rPr lang="en-US" sz="4000" dirty="0" err="1" smtClean="0"/>
              <a:t>ওয়ার্ডের</a:t>
            </a:r>
            <a:r>
              <a:rPr lang="en-US" sz="4000" dirty="0" smtClean="0"/>
              <a:t> </a:t>
            </a:r>
            <a:r>
              <a:rPr lang="en-US" sz="4000" dirty="0" err="1" smtClean="0"/>
              <a:t>উন্নয়ন</a:t>
            </a:r>
            <a:endParaRPr lang="en-US" sz="4000" b="1" dirty="0"/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676400" y="3732214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10471691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1871157" y="126317"/>
            <a:ext cx="8229600" cy="609601"/>
          </a:xfrm>
          <a:prstGeom prst="rect">
            <a:avLst/>
          </a:prstGeom>
          <a:noFill/>
          <a:ln>
            <a:noFill/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4800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ঝিনাইদহ</a:t>
            </a:r>
            <a:r>
              <a:rPr 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bn-BD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শয্যা ব্যবহার</a:t>
            </a:r>
            <a:endParaRPr lang="en-US" sz="48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785586533"/>
              </p:ext>
            </p:extLst>
          </p:nvPr>
        </p:nvGraphicFramePr>
        <p:xfrm>
          <a:off x="1871157" y="684362"/>
          <a:ext cx="7704164" cy="61736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1626079" y="222848"/>
            <a:ext cx="8534400" cy="1042359"/>
          </a:xfrm>
          <a:noFill/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জরুরী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বহি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অন্ত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বিভাগ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রোগী</a:t>
            </a:r>
            <a:r>
              <a:rPr lang="en-US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SolaimanLipi" pitchFamily="65" charset="0"/>
                <a:cs typeface="SolaimanLipi" pitchFamily="65" charset="0"/>
              </a:rPr>
              <a:t>বৃদ্ধি</a:t>
            </a:r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3415429193"/>
              </p:ext>
            </p:extLst>
          </p:nvPr>
        </p:nvGraphicFramePr>
        <p:xfrm>
          <a:off x="2031521" y="1184693"/>
          <a:ext cx="8534400" cy="55899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8833191"/>
              </p:ext>
            </p:extLst>
          </p:nvPr>
        </p:nvGraphicFramePr>
        <p:xfrm>
          <a:off x="1823049" y="1069675"/>
          <a:ext cx="8798943" cy="57250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xmlns="" id="{56B91B97-7C91-447C-95E9-36143BF78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311" y="63260"/>
            <a:ext cx="10131425" cy="122495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ঝিনাইদহ</a:t>
            </a:r>
            <a:r>
              <a:rPr lang="en-US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: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শ্রেষ্ঠ জরুরী 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প্রস</a:t>
            </a:r>
            <a:r>
              <a:rPr lang="en-GB" sz="4400" b="1" dirty="0" err="1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ুতি</a:t>
            </a:r>
            <a:r>
              <a:rPr lang="bn-BD" sz="4400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4400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সেবা ২০১৭</a:t>
            </a:r>
            <a:endParaRPr lang="bn-BD" sz="44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3536" y="792754"/>
            <a:ext cx="11080465" cy="808038"/>
          </a:xfrm>
          <a:noFill/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4400" b="1" dirty="0" smtClean="0">
                <a:solidFill>
                  <a:schemeClr val="tx1"/>
                </a:solidFill>
              </a:rPr>
              <a:t>হাসপাতালের রাজস্ব আয়ের তুলনামূলক চিত্র (২০১৫ - ২০১৮</a:t>
            </a:r>
            <a:r>
              <a:rPr lang="en-US" b="1" dirty="0" smtClean="0">
                <a:solidFill>
                  <a:schemeClr val="tx1"/>
                </a:solidFill>
              </a:rPr>
              <a:t>)</a:t>
            </a:r>
            <a:r>
              <a:rPr lang="en-US" sz="5300" b="1" dirty="0">
                <a:solidFill>
                  <a:schemeClr val="tx1"/>
                </a:solidFill>
              </a:rPr>
              <a:t/>
            </a:r>
            <a:br>
              <a:rPr lang="en-US" sz="5300" b="1" dirty="0">
                <a:solidFill>
                  <a:schemeClr val="tx1"/>
                </a:solidFill>
              </a:rPr>
            </a:br>
            <a:endParaRPr lang="en-US" sz="67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673408"/>
              </p:ext>
            </p:extLst>
          </p:nvPr>
        </p:nvGraphicFramePr>
        <p:xfrm>
          <a:off x="2235200" y="2133600"/>
          <a:ext cx="74168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2684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Subtitle 2">
            <a:extLst>
              <a:ext uri="{FF2B5EF4-FFF2-40B4-BE49-F238E27FC236}">
                <a16:creationId xmlns="" xmlns:a16="http://schemas.microsoft.com/office/drawing/2014/main" id="{78BD8583-50A9-461F-A1D2-4E6356CBDD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336325"/>
              </p:ext>
            </p:extLst>
          </p:nvPr>
        </p:nvGraphicFramePr>
        <p:xfrm>
          <a:off x="291112" y="391887"/>
          <a:ext cx="6951517" cy="6226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3B1EE1F-6738-485F-A620-2602F7683D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7534657" y="0"/>
            <a:ext cx="4657344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651248FA-D994-40C2-B859-2445811B929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2" y="5451765"/>
            <a:ext cx="1170945" cy="116671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4C11F5C1-A565-4868-8347-AE6839A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8685" y="1257300"/>
            <a:ext cx="4049485" cy="42548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ঝিনাইদহ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: </a:t>
            </a:r>
            <a:r>
              <a:rPr lang="en-GB" b="1" dirty="0" err="1" smtClean="0">
                <a:latin typeface="SolaimanLipi" panose="03000609000000000000" pitchFamily="65" charset="0"/>
                <a:cs typeface="SolaimanLipi" panose="03000609000000000000" pitchFamily="65" charset="0"/>
              </a:rPr>
              <a:t>অর্জন</a:t>
            </a:r>
            <a:r>
              <a:rPr lang="en-GB" b="1" dirty="0" smtClean="0">
                <a:latin typeface="SolaimanLipi" panose="03000609000000000000" pitchFamily="65" charset="0"/>
                <a:cs typeface="SolaimanLipi" panose="03000609000000000000" pitchFamily="65" charset="0"/>
              </a:rPr>
              <a:t> ২০১৮</a:t>
            </a:r>
            <a:endParaRPr lang="en-US" dirty="0">
              <a:latin typeface="SolaimanLipi" panose="03000609000000000000" pitchFamily="65" charset="0"/>
              <a:cs typeface="SolaimanLipi" panose="03000609000000000000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735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43" y="152400"/>
            <a:ext cx="11639910" cy="1469366"/>
          </a:xfrm>
        </p:spPr>
        <p:txBody>
          <a:bodyPr>
            <a:noAutofit/>
          </a:bodyPr>
          <a:lstStyle/>
          <a:p>
            <a:pPr algn="ctr"/>
            <a:r>
              <a:rPr lang="en-GB" sz="60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সম্প্রসারনের</a:t>
            </a:r>
            <a:r>
              <a:rPr lang="en-GB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 </a:t>
            </a:r>
            <a:r>
              <a:rPr lang="bn-BD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laimanLipi" pitchFamily="65" charset="0"/>
                <a:cs typeface="SolaimanLipi" pitchFamily="65" charset="0"/>
              </a:rPr>
              <a:t>পদক্ষেপ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laimanLipi" pitchFamily="65" charset="0"/>
              <a:cs typeface="SolaimanLipi" pitchFamily="65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543" y="1506748"/>
            <a:ext cx="11484634" cy="4970254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কমিটি</a:t>
            </a:r>
            <a:r>
              <a:rPr lang="en-US" sz="4800" dirty="0">
                <a:latin typeface="SolaimanLipi" pitchFamily="65" charset="0"/>
                <a:cs typeface="SolaimanLipi" pitchFamily="65" charset="0"/>
              </a:rPr>
              <a:t> </a:t>
            </a:r>
            <a:r>
              <a:rPr lang="en-US" sz="4800" dirty="0" err="1">
                <a:latin typeface="SolaimanLipi" pitchFamily="65" charset="0"/>
                <a:cs typeface="SolaimanLipi" pitchFamily="65" charset="0"/>
              </a:rPr>
              <a:t>গঠন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পরা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মর্শক </a:t>
            </a:r>
            <a:r>
              <a:rPr lang="bn-BD" sz="4800" dirty="0">
                <a:latin typeface="SolaimanLipi" pitchFamily="65" charset="0"/>
                <a:cs typeface="SolaimanLipi" pitchFamily="65" charset="0"/>
              </a:rPr>
              <a:t>নিয়োগ</a:t>
            </a:r>
          </a:p>
          <a:p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ক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র</a:t>
            </a:r>
            <a:r>
              <a:rPr lang="en-US" sz="4800" dirty="0" smtClean="0">
                <a:latin typeface="SolaimanLipi" pitchFamily="65" charset="0"/>
                <a:cs typeface="SolaimanLipi" pitchFamily="65" charset="0"/>
              </a:rPr>
              <a:t>্</a:t>
            </a:r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মকৌশল ও কর্মপরিকল্পনা প্রণয়ন</a:t>
            </a: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উদ্বুদ্ধকরন</a:t>
            </a:r>
            <a:endParaRPr lang="bn-BD" sz="4800" dirty="0">
              <a:latin typeface="SolaimanLipi" pitchFamily="65" charset="0"/>
              <a:cs typeface="SolaimanLipi" pitchFamily="65" charset="0"/>
            </a:endParaRPr>
          </a:p>
          <a:p>
            <a:r>
              <a:rPr lang="bn-BD" sz="4800" dirty="0" smtClean="0">
                <a:latin typeface="SolaimanLipi" pitchFamily="65" charset="0"/>
                <a:cs typeface="SolaimanLipi" pitchFamily="65" charset="0"/>
              </a:rPr>
              <a:t>প্রশিক্ষণ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বাস্তবায়ন</a:t>
            </a:r>
            <a:endParaRPr lang="en-GB" sz="4800" dirty="0" smtClean="0">
              <a:latin typeface="SolaimanLipi" pitchFamily="65" charset="0"/>
              <a:cs typeface="SolaimanLipi" pitchFamily="65" charset="0"/>
            </a:endParaRPr>
          </a:p>
          <a:p>
            <a:r>
              <a:rPr lang="en-GB" sz="4800" dirty="0" err="1" smtClean="0">
                <a:latin typeface="SolaimanLipi" pitchFamily="65" charset="0"/>
                <a:cs typeface="SolaimanLipi" pitchFamily="65" charset="0"/>
              </a:rPr>
              <a:t>মূল্যায়ন</a:t>
            </a:r>
            <a:endParaRPr lang="en-US" sz="4800" dirty="0">
              <a:latin typeface="SolaimanLipi" pitchFamily="65" charset="0"/>
              <a:cs typeface="SolaimanLipi" pitchFamily="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310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920" y="1905320"/>
            <a:ext cx="1219392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2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3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4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5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508801" y="228986"/>
            <a:ext cx="690816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203520" y="1857795"/>
            <a:ext cx="1178496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2438400" y="990824"/>
            <a:ext cx="9550080" cy="1162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24664858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535680" y="417645"/>
            <a:ext cx="386112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921" y="1990290"/>
            <a:ext cx="1219008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3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4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35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535681" y="264988"/>
            <a:ext cx="6576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38401" y="1309098"/>
            <a:ext cx="1207872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8252161" y="341318"/>
            <a:ext cx="3561600" cy="8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2363520" y="5594989"/>
            <a:ext cx="9697920" cy="831631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130409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535680" y="417645"/>
            <a:ext cx="386112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2"/>
            <a:ext cx="1219008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7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8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9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38400" y="776242"/>
            <a:ext cx="1205184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305281" y="228985"/>
            <a:ext cx="116832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407040" y="1103157"/>
            <a:ext cx="5790720" cy="8316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1591850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8801" y="319714"/>
            <a:ext cx="11174400" cy="60054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448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1356226"/>
            <a:ext cx="10945216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6245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57" y="0"/>
            <a:ext cx="12257356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73208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SolaimanLipi" pitchFamily="65" charset="0"/>
                <a:cs typeface="SolaimanLipi" pitchFamily="65" charset="0"/>
              </a:rPr>
              <a:t>ধন্যবাদ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</p:nvPr>
        </p:nvGraphicFramePr>
        <p:xfrm>
          <a:off x="609600" y="3063875"/>
          <a:ext cx="10871199" cy="262101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880533"/>
                <a:gridCol w="3115733"/>
                <a:gridCol w="1490133"/>
                <a:gridCol w="1405467"/>
                <a:gridCol w="1388533"/>
                <a:gridCol w="1270000"/>
                <a:gridCol w="1320800"/>
              </a:tblGrid>
              <a:tr h="640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365701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57905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</a:tr>
              <a:tr h="67049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L="121920" marR="121920" marT="45695" marB="45695" horzOverflow="overflow"/>
                </a:tc>
              </a:tr>
            </a:tbl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10566400" y="4049714"/>
            <a:ext cx="508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0528300" y="4443414"/>
            <a:ext cx="5588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10972800" cy="990600"/>
          </a:xfrm>
          <a:solidFill>
            <a:srgbClr val="BBE0E3"/>
          </a:solidFill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 err="1" smtClean="0">
                <a:solidFill>
                  <a:sysClr val="windowText" lastClr="000000"/>
                </a:solidFill>
              </a:rPr>
              <a:t>Upazila</a:t>
            </a:r>
            <a:r>
              <a:rPr lang="en-US" sz="3200" b="1" kern="0" dirty="0" smtClean="0">
                <a:solidFill>
                  <a:sysClr val="windowText" lastClr="000000"/>
                </a:solidFill>
              </a:rPr>
              <a:t> Health  Complex</a:t>
            </a:r>
            <a:br>
              <a:rPr lang="en-US" sz="3200" b="1" kern="0" dirty="0" smtClean="0">
                <a:solidFill>
                  <a:sysClr val="windowText" lastClr="000000"/>
                </a:solidFill>
              </a:rPr>
            </a:br>
            <a:r>
              <a:rPr lang="en-US" sz="2000" b="1" kern="0" dirty="0" smtClean="0">
                <a:solidFill>
                  <a:sysClr val="windowText" lastClr="000000"/>
                </a:solidFill>
              </a:rPr>
              <a:t>CHOWGACHA , JESSORE.</a:t>
            </a:r>
          </a:p>
        </p:txBody>
      </p:sp>
      <p:sp>
        <p:nvSpPr>
          <p:cNvPr id="31799" name="Rectangle 4"/>
          <p:cNvSpPr>
            <a:spLocks noChangeArrowheads="1"/>
          </p:cNvSpPr>
          <p:nvPr/>
        </p:nvSpPr>
        <p:spPr bwMode="auto">
          <a:xfrm>
            <a:off x="609600" y="1447800"/>
            <a:ext cx="10871200" cy="990600"/>
          </a:xfrm>
          <a:prstGeom prst="rect">
            <a:avLst/>
          </a:prstGeom>
          <a:solidFill>
            <a:srgbClr val="00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en-US" sz="2400">
                <a:solidFill>
                  <a:srgbClr val="3333CC"/>
                </a:solidFill>
              </a:rPr>
              <a:t>Comparative Data of Delivery of best performing EOC center of Khulna Division in 2011</a:t>
            </a:r>
          </a:p>
        </p:txBody>
      </p:sp>
    </p:spTree>
    <p:extLst>
      <p:ext uri="{BB962C8B-B14F-4D97-AF65-F5344CB8AC3E}">
        <p14:creationId xmlns:p14="http://schemas.microsoft.com/office/powerpoint/2010/main" val="377513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D154C379-12FB-4ED3-BD93-8FC5D6E9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28" y="0"/>
            <a:ext cx="8603374" cy="667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0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731</TotalTime>
  <Words>1030</Words>
  <Application>Microsoft Office PowerPoint</Application>
  <PresentationFormat>Custom</PresentationFormat>
  <Paragraphs>453</Paragraphs>
  <Slides>39</Slides>
  <Notes>15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1" baseType="lpstr">
      <vt:lpstr>Celestial</vt:lpstr>
      <vt:lpstr>ｸﾘｯﾌﾟ</vt:lpstr>
      <vt:lpstr>সি-জে জনসম্পৃক্ত স্বাস্থ্য ব্যবস্থাপনা</vt:lpstr>
      <vt:lpstr>PowerPoint Presentation</vt:lpstr>
      <vt:lpstr>PowerPoint Presentation</vt:lpstr>
      <vt:lpstr>ভূমিকা</vt:lpstr>
      <vt:lpstr>চৌগাছা মডেল</vt:lpstr>
      <vt:lpstr>কলেজ পড়ুয়া ছাত্রী ভলেন্টিয়ার</vt:lpstr>
      <vt:lpstr>Upazila Health  Complex CHOWGACHA , JESSORE.</vt:lpstr>
      <vt:lpstr>চৌগাছা হাসপাতাল: প্রসববৃদ্ধি 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Upazila Health  Complex CHOWGACHA , JESSORE.</vt:lpstr>
      <vt:lpstr>চৌগাছা: অর্জন ২০১১</vt:lpstr>
      <vt:lpstr>দৈনিক প্রথম-আলোর প্রতিবেদন ১৪ অক্টোবর, ২০০৫</vt:lpstr>
      <vt:lpstr>PowerPoint Presentation</vt:lpstr>
      <vt:lpstr>ঝিনাইদহ মডেল</vt:lpstr>
      <vt:lpstr>ঝিনাইদহ: চ্যালেন্জ সমূহ ২০১২</vt:lpstr>
      <vt:lpstr>জনসম্পৃক্ততা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জরুরী বহি: অন্ত বিভাগ: রোগী বৃদ্ধি</vt:lpstr>
      <vt:lpstr>ঝিনাইদহ: শ্রেষ্ঠ জরুরী প্রসুতি সেবা ২০১৭</vt:lpstr>
      <vt:lpstr>  হাসপাতালের রাজস্ব আয়ের তুলনামূলক চিত্র (২০১৫ - ২০১৮) </vt:lpstr>
      <vt:lpstr>ঝিনাইদহ: অর্জন ২০১৮</vt:lpstr>
      <vt:lpstr>সম্প্রসারনের পদক্ষেপ</vt:lpstr>
      <vt:lpstr>PowerPoint Presentation</vt:lpstr>
      <vt:lpstr>PowerPoint Presentation</vt:lpstr>
      <vt:lpstr>PowerPoint Presentation</vt:lpstr>
      <vt:lpstr>PowerPoint Presentation</vt:lpstr>
      <vt:lpstr>Our usual solution:  We need more RESOURCES!!!!</vt:lpstr>
      <vt:lpstr>PowerPoint Presentation</vt:lpstr>
      <vt:lpstr>ধন্যবাদ</vt:lpstr>
      <vt:lpstr>Upazila Health  Complex CHOWGACHA , JESSORE.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নেতা</dc:title>
  <dc:creator>Prof. Be-nazir Ahmed</dc:creator>
  <cp:lastModifiedBy>Emdad</cp:lastModifiedBy>
  <cp:revision>161</cp:revision>
  <dcterms:created xsi:type="dcterms:W3CDTF">2018-04-08T00:56:33Z</dcterms:created>
  <dcterms:modified xsi:type="dcterms:W3CDTF">2020-03-05T06:14:29Z</dcterms:modified>
</cp:coreProperties>
</file>