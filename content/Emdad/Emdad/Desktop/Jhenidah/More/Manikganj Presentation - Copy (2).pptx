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73" r:id="rId2"/>
    <p:sldMasterId id="2147483687" r:id="rId3"/>
  </p:sldMasterIdLst>
  <p:notesMasterIdLst>
    <p:notesMasterId r:id="rId57"/>
  </p:notesMasterIdLst>
  <p:sldIdLst>
    <p:sldId id="256" r:id="rId4"/>
    <p:sldId id="450" r:id="rId5"/>
    <p:sldId id="445" r:id="rId6"/>
    <p:sldId id="257" r:id="rId7"/>
    <p:sldId id="406" r:id="rId8"/>
    <p:sldId id="341" r:id="rId9"/>
    <p:sldId id="441" r:id="rId10"/>
    <p:sldId id="432" r:id="rId11"/>
    <p:sldId id="431" r:id="rId12"/>
    <p:sldId id="407" r:id="rId13"/>
    <p:sldId id="452" r:id="rId14"/>
    <p:sldId id="342" r:id="rId15"/>
    <p:sldId id="417" r:id="rId16"/>
    <p:sldId id="403" r:id="rId17"/>
    <p:sldId id="408" r:id="rId18"/>
    <p:sldId id="291" r:id="rId19"/>
    <p:sldId id="412" r:id="rId20"/>
    <p:sldId id="308" r:id="rId21"/>
    <p:sldId id="312" r:id="rId22"/>
    <p:sldId id="326" r:id="rId23"/>
    <p:sldId id="327" r:id="rId24"/>
    <p:sldId id="351" r:id="rId25"/>
    <p:sldId id="409" r:id="rId26"/>
    <p:sldId id="418" r:id="rId27"/>
    <p:sldId id="276" r:id="rId28"/>
    <p:sldId id="454" r:id="rId29"/>
    <p:sldId id="455" r:id="rId30"/>
    <p:sldId id="268" r:id="rId31"/>
    <p:sldId id="456" r:id="rId32"/>
    <p:sldId id="457" r:id="rId33"/>
    <p:sldId id="459" r:id="rId34"/>
    <p:sldId id="460" r:id="rId35"/>
    <p:sldId id="461" r:id="rId36"/>
    <p:sldId id="462" r:id="rId37"/>
    <p:sldId id="463" r:id="rId38"/>
    <p:sldId id="464" r:id="rId39"/>
    <p:sldId id="465" r:id="rId40"/>
    <p:sldId id="466" r:id="rId41"/>
    <p:sldId id="467" r:id="rId42"/>
    <p:sldId id="469" r:id="rId43"/>
    <p:sldId id="470" r:id="rId44"/>
    <p:sldId id="472" r:id="rId45"/>
    <p:sldId id="473" r:id="rId46"/>
    <p:sldId id="474" r:id="rId47"/>
    <p:sldId id="475" r:id="rId48"/>
    <p:sldId id="476" r:id="rId49"/>
    <p:sldId id="477" r:id="rId50"/>
    <p:sldId id="478" r:id="rId51"/>
    <p:sldId id="481" r:id="rId52"/>
    <p:sldId id="484" r:id="rId53"/>
    <p:sldId id="485" r:id="rId54"/>
    <p:sldId id="486" r:id="rId55"/>
    <p:sldId id="487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2545" autoAdjust="0"/>
  </p:normalViewPr>
  <p:slideViewPr>
    <p:cSldViewPr snapToGrid="0">
      <p:cViewPr>
        <p:scale>
          <a:sx n="66" d="100"/>
          <a:sy n="66" d="100"/>
        </p:scale>
        <p:origin x="-696" y="-3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3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Sheet1!$A$2:$A$16</c:f>
              <c:numCache>
                <c:formatCode>General</c:formatCode>
                <c:ptCount val="15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151</c:v>
                </c:pt>
                <c:pt idx="1">
                  <c:v>182</c:v>
                </c:pt>
                <c:pt idx="2">
                  <c:v>228</c:v>
                </c:pt>
                <c:pt idx="3">
                  <c:v>312</c:v>
                </c:pt>
                <c:pt idx="4">
                  <c:v>421</c:v>
                </c:pt>
                <c:pt idx="5">
                  <c:v>422</c:v>
                </c:pt>
                <c:pt idx="6">
                  <c:v>661</c:v>
                </c:pt>
                <c:pt idx="7">
                  <c:v>1030</c:v>
                </c:pt>
                <c:pt idx="8">
                  <c:v>1293</c:v>
                </c:pt>
                <c:pt idx="9">
                  <c:v>1518</c:v>
                </c:pt>
                <c:pt idx="10">
                  <c:v>1899</c:v>
                </c:pt>
                <c:pt idx="11">
                  <c:v>2682</c:v>
                </c:pt>
                <c:pt idx="12">
                  <c:v>3489</c:v>
                </c:pt>
                <c:pt idx="13">
                  <c:v>3755</c:v>
                </c:pt>
                <c:pt idx="14">
                  <c:v>4413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7059072"/>
        <c:axId val="237060864"/>
      </c:barChart>
      <c:catAx>
        <c:axId val="237059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7060864"/>
        <c:crosses val="autoZero"/>
        <c:auto val="1"/>
        <c:lblAlgn val="ctr"/>
        <c:lblOffset val="100"/>
        <c:noMultiLvlLbl val="0"/>
      </c:catAx>
      <c:valAx>
        <c:axId val="237060864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2370590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7BC-4C5D-800A-1F77456AB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9717376"/>
        <c:axId val="240191744"/>
      </c:barChart>
      <c:catAx>
        <c:axId val="239717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0191744"/>
        <c:crosses val="autoZero"/>
        <c:auto val="1"/>
        <c:lblAlgn val="ctr"/>
        <c:lblOffset val="100"/>
        <c:noMultiLvlLbl val="0"/>
      </c:catAx>
      <c:valAx>
        <c:axId val="2401917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397173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2E-2"/>
          <c:w val="0.65834289989452266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170854</c:v>
                </c:pt>
                <c:pt idx="1">
                  <c:v>192791</c:v>
                </c:pt>
                <c:pt idx="2">
                  <c:v>233868</c:v>
                </c:pt>
                <c:pt idx="3">
                  <c:v>277301</c:v>
                </c:pt>
                <c:pt idx="4">
                  <c:v>296235</c:v>
                </c:pt>
                <c:pt idx="5">
                  <c:v>340932</c:v>
                </c:pt>
                <c:pt idx="6">
                  <c:v>384928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9ED-450B-B91B-4D3AD0372B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22435</c:v>
                </c:pt>
                <c:pt idx="1">
                  <c:v>24643</c:v>
                </c:pt>
                <c:pt idx="2">
                  <c:v>27905</c:v>
                </c:pt>
                <c:pt idx="3">
                  <c:v>29562</c:v>
                </c:pt>
                <c:pt idx="4">
                  <c:v>32300</c:v>
                </c:pt>
                <c:pt idx="5">
                  <c:v>35569</c:v>
                </c:pt>
                <c:pt idx="6">
                  <c:v>37096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9ED-450B-B91B-4D3AD0372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087808"/>
        <c:axId val="240089344"/>
      </c:barChart>
      <c:catAx>
        <c:axId val="240087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0089344"/>
        <c:crosses val="autoZero"/>
        <c:auto val="1"/>
        <c:lblAlgn val="ctr"/>
        <c:lblOffset val="100"/>
        <c:noMultiLvlLbl val="0"/>
      </c:catAx>
      <c:valAx>
        <c:axId val="2400893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008780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19"/>
          <c:y val="0.42290223097112861"/>
          <c:w val="0.20621936860696158"/>
          <c:h val="0.2764177602799651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1"/>
          <c:y val="3.6443293946503766E-2"/>
          <c:w val="0.64635972586759993"/>
          <c:h val="0.781510586807713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7ED-4E31-A387-BAEE6AE702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51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3888888888888892E-2"/>
                  <c:y val="8.41809798268346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2345679012345682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17ED-4E31-A387-BAEE6AE702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3148148148148199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08641975308642E-3"/>
                  <c:y val="-3.08663592698393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9-17ED-4E31-A387-BAEE6AE702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6E-3"/>
                  <c:y val="-1.96422286262614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17ED-4E31-A387-BAEE6AE70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214400"/>
        <c:axId val="240215936"/>
      </c:barChart>
      <c:catAx>
        <c:axId val="2402144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0215936"/>
        <c:crosses val="autoZero"/>
        <c:auto val="1"/>
        <c:lblAlgn val="ctr"/>
        <c:lblOffset val="100"/>
        <c:noMultiLvlLbl val="0"/>
      </c:catAx>
      <c:valAx>
        <c:axId val="2402159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02144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51"/>
          <c:y val="0.37195288604878135"/>
          <c:w val="0.14578327014678721"/>
          <c:h val="0.31152795548704232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7,265,145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 formatCode="General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41404928"/>
        <c:axId val="241406720"/>
        <c:axId val="0"/>
      </c:bar3DChart>
      <c:catAx>
        <c:axId val="241404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1406720"/>
        <c:crosses val="autoZero"/>
        <c:auto val="1"/>
        <c:lblAlgn val="ctr"/>
        <c:lblOffset val="100"/>
        <c:noMultiLvlLbl val="0"/>
      </c:catAx>
      <c:valAx>
        <c:axId val="24140672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4140492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4"/>
    </mc:Choice>
    <mc:Fallback>
      <c:style val="24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6724</c:v>
                </c:pt>
                <c:pt idx="1">
                  <c:v>8650</c:v>
                </c:pt>
                <c:pt idx="2">
                  <c:v>3200</c:v>
                </c:pt>
                <c:pt idx="3">
                  <c:v>6422</c:v>
                </c:pt>
                <c:pt idx="4">
                  <c:v>7665</c:v>
                </c:pt>
                <c:pt idx="5">
                  <c:v>15300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315773696"/>
        <c:axId val="315775232"/>
      </c:barChart>
      <c:catAx>
        <c:axId val="315773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315775232"/>
        <c:crosses val="autoZero"/>
        <c:auto val="1"/>
        <c:lblAlgn val="ctr"/>
        <c:lblOffset val="100"/>
        <c:noMultiLvlLbl val="0"/>
      </c:catAx>
      <c:valAx>
        <c:axId val="315775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3157736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bn-IN" smtClean="0"/>
            <a:t>সম</a:t>
          </a:r>
          <a:r>
            <a:rPr lang="en-GB" smtClean="0"/>
            <a:t>্প্রসারণ</a:t>
          </a:r>
          <a:endParaRPr lang="en-GB" dirty="0" smtClean="0"/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bn-IN" dirty="0" smtClean="0"/>
            <a:t>জনসম্পৃক্ততা</a:t>
          </a:r>
          <a:r>
            <a:rPr lang="en-GB" dirty="0" smtClean="0"/>
            <a:t> ও </a:t>
          </a:r>
          <a:r>
            <a:rPr lang="en-GB" dirty="0" err="1" smtClean="0"/>
            <a:t>কমিটি</a:t>
          </a:r>
          <a:r>
            <a:rPr lang="en-GB" dirty="0" smtClean="0"/>
            <a:t> </a:t>
          </a:r>
          <a:r>
            <a:rPr lang="en-GB" dirty="0" err="1" smtClean="0"/>
            <a:t>গঠন</a:t>
          </a:r>
          <a:r>
            <a:rPr lang="bn-IN" dirty="0" smtClean="0"/>
            <a:t> </a:t>
          </a:r>
          <a:endParaRPr lang="en-US" dirty="0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en-US" dirty="0" err="1" smtClean="0"/>
            <a:t>স্টাফ</a:t>
          </a:r>
          <a:r>
            <a:rPr lang="en-US" dirty="0" smtClean="0"/>
            <a:t> </a:t>
          </a:r>
          <a:r>
            <a:rPr lang="en-US" dirty="0" err="1" smtClean="0"/>
            <a:t>বৃদ্ধি</a:t>
          </a:r>
          <a:r>
            <a:rPr lang="en-US" dirty="0" smtClean="0"/>
            <a:t>:     ৫৬ </a:t>
          </a:r>
          <a:r>
            <a:rPr lang="en-US" dirty="0" err="1" smtClean="0"/>
            <a:t>জন</a:t>
          </a:r>
          <a:endParaRPr lang="en-US" dirty="0" smtClean="0"/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bn-IN"/>
            <a:t>সুরক্ষা</a:t>
          </a:r>
          <a:endParaRPr lang="en-US"/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bn-IN" dirty="0"/>
            <a:t>দূর্নীতি </a:t>
          </a:r>
          <a:r>
            <a:rPr lang="bn-IN" dirty="0" smtClean="0"/>
            <a:t>প্রতিরোধ</a:t>
          </a:r>
          <a:r>
            <a:rPr lang="en-GB" dirty="0" smtClean="0"/>
            <a:t>  </a:t>
          </a:r>
          <a:endParaRPr lang="en-US" dirty="0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bn-IN"/>
            <a:t>পরিচ্ছন্নতা</a:t>
          </a:r>
          <a:r>
            <a:rPr lang="bn-IN" b="1"/>
            <a:t> </a:t>
          </a:r>
          <a:r>
            <a:rPr lang="bn-IN"/>
            <a:t>ও</a:t>
          </a:r>
          <a:r>
            <a:rPr lang="bn-IN" b="1"/>
            <a:t> </a:t>
          </a:r>
          <a:r>
            <a:rPr lang="bn-IN"/>
            <a:t>সৌন্দর্যবর্ধন </a:t>
          </a:r>
          <a:endParaRPr lang="en-US" dirty="0"/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en-GB" dirty="0" err="1" smtClean="0"/>
            <a:t>শ্রেষ্ঠ</a:t>
          </a:r>
          <a:r>
            <a:rPr lang="en-GB" dirty="0" smtClean="0"/>
            <a:t> </a:t>
          </a:r>
          <a:r>
            <a:rPr lang="en-GB" dirty="0" err="1" smtClean="0"/>
            <a:t>মান</a:t>
          </a:r>
          <a:r>
            <a:rPr lang="en-GB" dirty="0" smtClean="0"/>
            <a:t> </a:t>
          </a:r>
          <a:r>
            <a:rPr lang="en-GB" dirty="0" err="1" smtClean="0"/>
            <a:t>সম্পন্ন</a:t>
          </a:r>
          <a:r>
            <a:rPr lang="en-GB" dirty="0" smtClean="0"/>
            <a:t> </a:t>
          </a:r>
          <a:r>
            <a:rPr lang="en-GB" dirty="0" err="1" smtClean="0"/>
            <a:t>সেবা</a:t>
          </a:r>
          <a:r>
            <a:rPr lang="en-GB" dirty="0" smtClean="0"/>
            <a:t> </a:t>
          </a:r>
          <a:r>
            <a:rPr lang="en-GB" dirty="0" err="1" smtClean="0"/>
            <a:t>কেন্দ্র</a:t>
          </a:r>
          <a:endParaRPr lang="en-US" dirty="0"/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46EDB0-D1C9-407A-A55E-5858E1E5D4AF}" type="pres">
      <dgm:prSet presAssocID="{4F97281A-802C-4000-8D2A-66142CFFCE3C}" presName="sibTransFirstNode" presStyleLbl="bgShp" presStyleIdx="0" presStyleCnt="1"/>
      <dgm:spPr/>
      <dgm:t>
        <a:bodyPr/>
        <a:lstStyle/>
        <a:p>
          <a:endParaRPr lang="en-GB"/>
        </a:p>
      </dgm:t>
    </dgm:pt>
    <dgm:pt modelId="{CB4F0E61-DC7F-4119-ABA9-796676CB2FA1}" type="pres">
      <dgm:prSet presAssocID="{3D02B9F0-E626-4C8B-BD2A-5010DA3B9508}" presName="nodeFollowingNodes" presStyleLbl="node1" presStyleIdx="1" presStyleCnt="7" custRadScaleRad="97866" custRadScaleInc="-22539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FC54FE-E97C-4F29-92CF-2A7248720E8D}" type="pres">
      <dgm:prSet presAssocID="{9AEA5E90-4BA3-4DD2-9B18-80F40A809CFB}" presName="nodeFollowingNodes" presStyleLbl="node1" presStyleIdx="2" presStyleCnt="7" custRadScaleRad="98552" custRadScaleInc="-988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2E5C2CC-16B6-414F-A1E4-8C9432894059}" type="pres">
      <dgm:prSet presAssocID="{88D3464D-A729-40F4-BC36-33D77706DB6F}" presName="nodeFollowingNodes" presStyleLbl="node1" presStyleIdx="3" presStyleCnt="7" custRadScaleRad="101627" custRadScaleInc="12244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4FF0D0D-74E1-473C-A1E9-CFD413B11028}" type="pres">
      <dgm:prSet presAssocID="{610D7153-D836-425E-ABAB-41B69166C8FA}" presName="nodeFollowingNodes" presStyleLbl="node1" presStyleIdx="4" presStyleCnt="7" custRadScaleRad="99563" custRadScaleInc="-11759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D24C1E3-835B-4535-A9EB-AB5FCDF4505F}" type="pres">
      <dgm:prSet presAssocID="{77B94860-9B07-4F13-B939-C7B0F42EECBC}" presName="nodeFollowingNodes" presStyleLbl="node1" presStyleIdx="5" presStyleCnt="7" custRadScaleRad="98104" custRadScaleInc="1507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173D7A6-1922-458F-9222-CB9A92415CD8}" type="pres">
      <dgm:prSet presAssocID="{4D71D476-FD32-44C8-A5D7-96F395056DC2}" presName="nodeFollowingNodes" presStyleLbl="node1" presStyleIdx="6" presStyleCnt="7" custRadScaleRad="101286" custRadScaleInc="22738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0389EFB-79C6-473A-9652-9C957BF4F0A3}" type="presOf" srcId="{4D71D476-FD32-44C8-A5D7-96F395056DC2}" destId="{8173D7A6-1922-458F-9222-CB9A92415CD8}" srcOrd="0" destOrd="0" presId="urn:microsoft.com/office/officeart/2005/8/layout/cycle3"/>
    <dgm:cxn modelId="{1A7B7DA8-78F7-45CF-BCFF-2D514BCA9371}" type="presOf" srcId="{610D7153-D836-425E-ABAB-41B69166C8FA}" destId="{C4FF0D0D-74E1-473C-A1E9-CFD413B11028}" srcOrd="0" destOrd="0" presId="urn:microsoft.com/office/officeart/2005/8/layout/cycle3"/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B312A496-23FC-4EC1-9917-4C6FF45AB17D}" type="presOf" srcId="{3D02B9F0-E626-4C8B-BD2A-5010DA3B9508}" destId="{CB4F0E61-DC7F-4119-ABA9-796676CB2FA1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41CF2FE1-F406-4D15-BD41-2FC2F998AD6F}" type="presOf" srcId="{4F97281A-802C-4000-8D2A-66142CFFCE3C}" destId="{D046EDB0-D1C9-407A-A55E-5858E1E5D4AF}" srcOrd="0" destOrd="0" presId="urn:microsoft.com/office/officeart/2005/8/layout/cycle3"/>
    <dgm:cxn modelId="{8432617A-D934-4ADD-A017-28D71B22766E}" type="presOf" srcId="{88D3464D-A729-40F4-BC36-33D77706DB6F}" destId="{E2E5C2CC-16B6-414F-A1E4-8C9432894059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AE388074-7BCE-4DC5-A93D-92DE561DA4A4}" type="presOf" srcId="{77B94860-9B07-4F13-B939-C7B0F42EECBC}" destId="{8D24C1E3-835B-4535-A9EB-AB5FCDF4505F}" srcOrd="0" destOrd="0" presId="urn:microsoft.com/office/officeart/2005/8/layout/cycle3"/>
    <dgm:cxn modelId="{328E3CC5-1A88-4B63-9EA4-AA0C7780C381}" type="presOf" srcId="{9AEA5E90-4BA3-4DD2-9B18-80F40A809CFB}" destId="{57FC54FE-E97C-4F29-92CF-2A7248720E8D}" srcOrd="0" destOrd="0" presId="urn:microsoft.com/office/officeart/2005/8/layout/cycle3"/>
    <dgm:cxn modelId="{BA33D93A-AE1F-4349-BC94-EE1264459AE5}" type="presOf" srcId="{A84A2978-2AC1-4303-BCBD-40A8C5C9F7B0}" destId="{DF5D109B-C564-497C-B822-FF07AB5AC3EF}" srcOrd="0" destOrd="0" presId="urn:microsoft.com/office/officeart/2005/8/layout/cycle3"/>
    <dgm:cxn modelId="{B1C432EA-4813-4747-8615-6D860E20D057}" type="presOf" srcId="{D9F660D2-7531-4B7B-9DC9-B462E3FDA8AA}" destId="{D1F5521C-92B8-4D4D-8EED-39D567818230}" srcOrd="0" destOrd="0" presId="urn:microsoft.com/office/officeart/2005/8/layout/cycle3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BFCD469E-AE63-49A0-AAA9-6EBAD75EEB7F}" type="presParOf" srcId="{D1F5521C-92B8-4D4D-8EED-39D567818230}" destId="{570E10F7-852E-4DD4-A1D9-BE86AC68401E}" srcOrd="0" destOrd="0" presId="urn:microsoft.com/office/officeart/2005/8/layout/cycle3"/>
    <dgm:cxn modelId="{1F38A63D-1766-4EA7-8F6C-B4125C965567}" type="presParOf" srcId="{570E10F7-852E-4DD4-A1D9-BE86AC68401E}" destId="{DF5D109B-C564-497C-B822-FF07AB5AC3EF}" srcOrd="0" destOrd="0" presId="urn:microsoft.com/office/officeart/2005/8/layout/cycle3"/>
    <dgm:cxn modelId="{8C335A4A-0805-4AFD-B0C6-0F8336F0070C}" type="presParOf" srcId="{570E10F7-852E-4DD4-A1D9-BE86AC68401E}" destId="{D046EDB0-D1C9-407A-A55E-5858E1E5D4AF}" srcOrd="1" destOrd="0" presId="urn:microsoft.com/office/officeart/2005/8/layout/cycle3"/>
    <dgm:cxn modelId="{921D464D-80BE-428B-B3B5-BB7A286F0085}" type="presParOf" srcId="{570E10F7-852E-4DD4-A1D9-BE86AC68401E}" destId="{CB4F0E61-DC7F-4119-ABA9-796676CB2FA1}" srcOrd="2" destOrd="0" presId="urn:microsoft.com/office/officeart/2005/8/layout/cycle3"/>
    <dgm:cxn modelId="{494C0E9E-0E71-421C-8032-5C0F96354044}" type="presParOf" srcId="{570E10F7-852E-4DD4-A1D9-BE86AC68401E}" destId="{57FC54FE-E97C-4F29-92CF-2A7248720E8D}" srcOrd="3" destOrd="0" presId="urn:microsoft.com/office/officeart/2005/8/layout/cycle3"/>
    <dgm:cxn modelId="{EF7791DF-23F7-44E8-B03D-7DAC30E26CC6}" type="presParOf" srcId="{570E10F7-852E-4DD4-A1D9-BE86AC68401E}" destId="{E2E5C2CC-16B6-414F-A1E4-8C9432894059}" srcOrd="4" destOrd="0" presId="urn:microsoft.com/office/officeart/2005/8/layout/cycle3"/>
    <dgm:cxn modelId="{4BACE444-A2AE-40F0-9521-6D093E7D43C5}" type="presParOf" srcId="{570E10F7-852E-4DD4-A1D9-BE86AC68401E}" destId="{C4FF0D0D-74E1-473C-A1E9-CFD413B11028}" srcOrd="5" destOrd="0" presId="urn:microsoft.com/office/officeart/2005/8/layout/cycle3"/>
    <dgm:cxn modelId="{E0F56571-1E3D-4460-A050-016D1EB6CA49}" type="presParOf" srcId="{570E10F7-852E-4DD4-A1D9-BE86AC68401E}" destId="{8D24C1E3-835B-4535-A9EB-AB5FCDF4505F}" srcOrd="6" destOrd="0" presId="urn:microsoft.com/office/officeart/2005/8/layout/cycle3"/>
    <dgm:cxn modelId="{8C0C5A0B-0944-4008-AD59-BA46819EE8C0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6EDB0-D1C9-407A-A55E-5858E1E5D4AF}">
      <dsp:nvSpPr>
        <dsp:cNvPr id="0" name=""/>
        <dsp:cNvSpPr/>
      </dsp:nvSpPr>
      <dsp:spPr>
        <a:xfrm>
          <a:off x="436464" y="134228"/>
          <a:ext cx="6078588" cy="6078588"/>
        </a:xfrm>
        <a:prstGeom prst="circularArrow">
          <a:avLst>
            <a:gd name="adj1" fmla="val 5544"/>
            <a:gd name="adj2" fmla="val 330680"/>
            <a:gd name="adj3" fmla="val 14514598"/>
            <a:gd name="adj4" fmla="val 1695090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D109B-C564-497C-B822-FF07AB5AC3EF}">
      <dsp:nvSpPr>
        <dsp:cNvPr id="0" name=""/>
        <dsp:cNvSpPr/>
      </dsp:nvSpPr>
      <dsp:spPr>
        <a:xfrm>
          <a:off x="2528750" y="175994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err="1" smtClean="0"/>
            <a:t>শ্রেষ্ঠ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মান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সম্পন্ন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সেবা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কেন্দ্র</a:t>
          </a:r>
          <a:endParaRPr lang="en-US" sz="1900" kern="1200" dirty="0"/>
        </a:p>
      </dsp:txBody>
      <dsp:txXfrm>
        <a:off x="2574979" y="222223"/>
        <a:ext cx="1801558" cy="854550"/>
      </dsp:txXfrm>
    </dsp:sp>
    <dsp:sp modelId="{CB4F0E61-DC7F-4119-ABA9-796676CB2FA1}">
      <dsp:nvSpPr>
        <dsp:cNvPr id="0" name=""/>
        <dsp:cNvSpPr/>
      </dsp:nvSpPr>
      <dsp:spPr>
        <a:xfrm>
          <a:off x="585473" y="1137439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smtClean="0"/>
            <a:t>সম</a:t>
          </a:r>
          <a:r>
            <a:rPr lang="en-GB" sz="1900" kern="1200" smtClean="0"/>
            <a:t>্প্রসারণ</a:t>
          </a:r>
          <a:endParaRPr lang="en-GB" sz="1900" kern="1200" dirty="0" smtClean="0"/>
        </a:p>
      </dsp:txBody>
      <dsp:txXfrm>
        <a:off x="631702" y="1183668"/>
        <a:ext cx="1801558" cy="854550"/>
      </dsp:txXfrm>
    </dsp:sp>
    <dsp:sp modelId="{57FC54FE-E97C-4F29-92CF-2A7248720E8D}">
      <dsp:nvSpPr>
        <dsp:cNvPr id="0" name=""/>
        <dsp:cNvSpPr/>
      </dsp:nvSpPr>
      <dsp:spPr>
        <a:xfrm>
          <a:off x="5055898" y="3141740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dirty="0" smtClean="0"/>
            <a:t>জনসম্পৃক্ততা</a:t>
          </a:r>
          <a:r>
            <a:rPr lang="en-GB" sz="1900" kern="1200" dirty="0" smtClean="0"/>
            <a:t> ও </a:t>
          </a:r>
          <a:r>
            <a:rPr lang="en-GB" sz="1900" kern="1200" dirty="0" err="1" smtClean="0"/>
            <a:t>কমিটি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গঠন</a:t>
          </a:r>
          <a:r>
            <a:rPr lang="bn-IN" sz="1900" kern="1200" dirty="0" smtClean="0"/>
            <a:t> </a:t>
          </a:r>
          <a:endParaRPr lang="en-US" sz="1900" kern="1200" dirty="0"/>
        </a:p>
      </dsp:txBody>
      <dsp:txXfrm>
        <a:off x="5102127" y="3187969"/>
        <a:ext cx="1801558" cy="854550"/>
      </dsp:txXfrm>
    </dsp:sp>
    <dsp:sp modelId="{E2E5C2CC-16B6-414F-A1E4-8C9432894059}">
      <dsp:nvSpPr>
        <dsp:cNvPr id="0" name=""/>
        <dsp:cNvSpPr/>
      </dsp:nvSpPr>
      <dsp:spPr>
        <a:xfrm>
          <a:off x="1236041" y="5063476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স্টাফ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বৃদ্ধি</a:t>
          </a:r>
          <a:r>
            <a:rPr lang="en-US" sz="1900" kern="1200" dirty="0" smtClean="0"/>
            <a:t>:     ৫৬ </a:t>
          </a:r>
          <a:r>
            <a:rPr lang="en-US" sz="1900" kern="1200" dirty="0" err="1" smtClean="0"/>
            <a:t>জন</a:t>
          </a:r>
          <a:endParaRPr lang="en-US" sz="1900" kern="1200" dirty="0" smtClean="0"/>
        </a:p>
      </dsp:txBody>
      <dsp:txXfrm>
        <a:off x="1282270" y="5109705"/>
        <a:ext cx="1801558" cy="854550"/>
      </dsp:txXfrm>
    </dsp:sp>
    <dsp:sp modelId="{C4FF0D0D-74E1-473C-A1E9-CFD413B11028}">
      <dsp:nvSpPr>
        <dsp:cNvPr id="0" name=""/>
        <dsp:cNvSpPr/>
      </dsp:nvSpPr>
      <dsp:spPr>
        <a:xfrm>
          <a:off x="3708630" y="5063467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সুরক্ষা</a:t>
          </a:r>
          <a:endParaRPr lang="en-US" sz="1900" kern="1200"/>
        </a:p>
      </dsp:txBody>
      <dsp:txXfrm>
        <a:off x="3754859" y="5109696"/>
        <a:ext cx="1801558" cy="854550"/>
      </dsp:txXfrm>
    </dsp:sp>
    <dsp:sp modelId="{8D24C1E3-835B-4535-A9EB-AB5FCDF4505F}">
      <dsp:nvSpPr>
        <dsp:cNvPr id="0" name=""/>
        <dsp:cNvSpPr/>
      </dsp:nvSpPr>
      <dsp:spPr>
        <a:xfrm>
          <a:off x="13" y="3037118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dirty="0"/>
            <a:t>দূর্নীতি </a:t>
          </a:r>
          <a:r>
            <a:rPr lang="bn-IN" sz="1900" kern="1200" dirty="0" smtClean="0"/>
            <a:t>প্রতিরোধ</a:t>
          </a:r>
          <a:r>
            <a:rPr lang="en-GB" sz="1900" kern="1200" dirty="0" smtClean="0"/>
            <a:t>  </a:t>
          </a:r>
          <a:endParaRPr lang="en-US" sz="1900" kern="1200" dirty="0"/>
        </a:p>
      </dsp:txBody>
      <dsp:txXfrm>
        <a:off x="46242" y="3083347"/>
        <a:ext cx="1801558" cy="854550"/>
      </dsp:txXfrm>
    </dsp:sp>
    <dsp:sp modelId="{8173D7A6-1922-458F-9222-CB9A92415CD8}">
      <dsp:nvSpPr>
        <dsp:cNvPr id="0" name=""/>
        <dsp:cNvSpPr/>
      </dsp:nvSpPr>
      <dsp:spPr>
        <a:xfrm>
          <a:off x="4566132" y="1112172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পরিচ্ছন্নতা</a:t>
          </a:r>
          <a:r>
            <a:rPr lang="bn-IN" sz="1900" b="1" kern="1200"/>
            <a:t> </a:t>
          </a:r>
          <a:r>
            <a:rPr lang="bn-IN" sz="1900" kern="1200"/>
            <a:t>ও</a:t>
          </a:r>
          <a:r>
            <a:rPr lang="bn-IN" sz="1900" b="1" kern="1200"/>
            <a:t> </a:t>
          </a:r>
          <a:r>
            <a:rPr lang="bn-IN" sz="1900" kern="1200"/>
            <a:t>সৌন্দর্যবর্ধন </a:t>
          </a:r>
          <a:endParaRPr lang="en-US" sz="1900" kern="1200" dirty="0"/>
        </a:p>
      </dsp:txBody>
      <dsp:txXfrm>
        <a:off x="4612361" y="1158401"/>
        <a:ext cx="1801558" cy="854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39AD-9888-444D-B65C-76DECAF1EB84}" type="datetimeFigureOut">
              <a:rPr lang="bn-BD" smtClean="0"/>
              <a:pPr/>
              <a:t>24/7/1441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F21FC-2469-4510-B52A-1E80B6F41DF7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6975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17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74D112-C1F5-4C6B-9E8C-C7CB711A8238}" type="slidenum">
              <a:rPr lang="en-US" smtClean="0">
                <a:solidFill>
                  <a:srgbClr val="000000"/>
                </a:solidFill>
              </a:rPr>
              <a:pPr eaLnBrk="1" hangingPunct="1"/>
              <a:t>8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9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59689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513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23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39781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6303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677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308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872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69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9839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2853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6228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9805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0364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7037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1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1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850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7D0788-3784-4EA7-A650-39D6506898C1}" type="slidenum">
              <a:rPr lang="en-US" altLang="en-US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911666"/>
      </p:ext>
    </p:extLst>
  </p:cSld>
  <p:clrMapOvr>
    <a:masterClrMapping/>
  </p:clrMapOvr>
  <p:transition spd="slow">
    <p:zoom dir="in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F549E-DDB3-4F8E-B3F4-BC7B4533DDC1}" type="slidenum">
              <a:rPr lang="en-US" altLang="en-US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alt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39643"/>
      </p:ext>
    </p:extLst>
  </p:cSld>
  <p:clrMapOvr>
    <a:masterClrMapping/>
  </p:clrMapOvr>
  <p:transition spd="slow">
    <p:zoom dir="in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9206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949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1442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0555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176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876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221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2598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5044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2711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36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  <p:sldLayoutId id="2147483671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3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defTabSz="914400"/>
            <a:fld id="{126BB9A5-0185-4C4A-9117-9337DC6A83FA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 defTabSz="914400"/>
              <a:t>3/18/2020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defTabSz="914400"/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defTabSz="914400"/>
            <a:fld id="{B1C4909B-8F0E-4BE2-A81D-6BFA6AC3F438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 defTabSz="914400"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defTabSz="9144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defTabSz="914400"/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203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3/18/2020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25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8.jpeg"/><Relationship Id="rId4" Type="http://schemas.openxmlformats.org/officeDocument/2006/relationships/image" Target="../media/image4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8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5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54.png"/><Relationship Id="rId9" Type="http://schemas.openxmlformats.org/officeDocument/2006/relationships/image" Target="../media/image38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60.jpeg"/><Relationship Id="rId7" Type="http://schemas.openxmlformats.org/officeDocument/2006/relationships/image" Target="../media/image58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7.png"/><Relationship Id="rId10" Type="http://schemas.openxmlformats.org/officeDocument/2006/relationships/image" Target="../media/image38.jpeg"/><Relationship Id="rId4" Type="http://schemas.openxmlformats.org/officeDocument/2006/relationships/oleObject" Target="../embeddings/oleObject4.bin"/><Relationship Id="rId9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8.jpeg"/><Relationship Id="rId4" Type="http://schemas.openxmlformats.org/officeDocument/2006/relationships/image" Target="../media/image63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3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CED5FC-CC01-4A03-9708-9580A492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11" y="313358"/>
            <a:ext cx="11749177" cy="1314159"/>
          </a:xfrm>
        </p:spPr>
        <p:txBody>
          <a:bodyPr>
            <a:noAutofit/>
          </a:bodyPr>
          <a:lstStyle/>
          <a:p>
            <a:pPr algn="ctr"/>
            <a:r>
              <a:rPr lang="b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জনসম্পৃক্ত স্বাস্থ্য ব্যবস্থাপনা</a:t>
            </a:r>
            <a:endParaRPr lang="bn-BD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129AF61-9AC1-4937-8C6E-F00B0D21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821" y="3240793"/>
            <a:ext cx="10850593" cy="3462068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ডা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মো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ইমদাদুল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হক</a:t>
            </a:r>
            <a:endParaRPr lang="bn-IN" sz="2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জাতীয় পরামর্শক</a:t>
            </a: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সমন্বয় ও সহায়তা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স্বাস্থ্য অধিদপ্তর</a:t>
            </a:r>
            <a:endParaRPr lang="bn-BD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এবং</a:t>
            </a:r>
          </a:p>
          <a:p>
            <a:pPr algn="ctr"/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সদস্য,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মডেল স্বাস্থ্য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টেকনিক্যাল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কমিটি</a:t>
            </a:r>
            <a:endParaRPr lang="bn-IN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2" y="5166178"/>
            <a:ext cx="1426514" cy="142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3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243729"/>
              </p:ext>
            </p:extLst>
          </p:nvPr>
        </p:nvGraphicFramePr>
        <p:xfrm>
          <a:off x="198651" y="990600"/>
          <a:ext cx="11859687" cy="433466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10227"/>
                <a:gridCol w="2343923"/>
                <a:gridCol w="2017064"/>
                <a:gridCol w="1751624"/>
                <a:gridCol w="1664043"/>
                <a:gridCol w="1636403"/>
                <a:gridCol w="1636403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 %</a:t>
                      </a:r>
                    </a:p>
                  </a:txBody>
                  <a:tcPr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11.08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14.79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36.67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38.43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65.06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60.41</a:t>
                      </a:r>
                    </a:p>
                  </a:txBody>
                  <a:tcPr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66.40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67.00</a:t>
                      </a:r>
                    </a:p>
                  </a:txBody>
                  <a:tcPr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9100456" y="6178538"/>
            <a:ext cx="2862943" cy="40011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 smtClean="0">
                <a:latin typeface="Andalus"/>
                <a:ea typeface="Andalus"/>
                <a:cs typeface="Andalus"/>
              </a:rPr>
              <a:t>From </a:t>
            </a:r>
            <a:r>
              <a:rPr lang="en-US" sz="2000" dirty="0">
                <a:latin typeface="Andalus"/>
                <a:ea typeface="Andalus"/>
                <a:cs typeface="Andalus"/>
              </a:rPr>
              <a:t>internet </a:t>
            </a:r>
            <a:r>
              <a:rPr lang="en-US" sz="2000" dirty="0" smtClean="0"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3200" y="37531"/>
            <a:ext cx="1176020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</a:t>
            </a:r>
            <a:r>
              <a:rPr lang="en-US" sz="2800" b="1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countries </a:t>
            </a: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r>
              <a:rPr lang="en-US" sz="2400" b="1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(2017)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90157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402" y="2362200"/>
            <a:ext cx="511632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510117" y="838200"/>
            <a:ext cx="11243733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202" y="2362200"/>
            <a:ext cx="5389253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478589" y="5638801"/>
            <a:ext cx="5820612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6649783" y="5638801"/>
            <a:ext cx="5104068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069448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5FD3E7D-C67C-4A49-9ECA-ADEE4EB0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79" y="189782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b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ভূমিকা</a:t>
            </a:r>
            <a:endParaRPr lang="bn-BD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A9C56B05-E057-4D05-BEC9-A5A176CB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1708030"/>
            <a:ext cx="11731923" cy="4525993"/>
          </a:xfrm>
        </p:spPr>
        <p:txBody>
          <a:bodyPr>
            <a:normAutofit/>
          </a:bodyPr>
          <a:lstStyle/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জনসম্পৃক্ততা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সমাদৃত স্বাস্থ্য ব্যবস্থাপনা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একাধিকবার পুরস্কৃত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অপ্রতুল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সম্পদে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সর্বোত্তম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endParaRPr lang="bn-I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5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sz="6600" dirty="0">
                <a:latin typeface="SolaimanLipi" pitchFamily="65" charset="0"/>
                <a:cs typeface="SolaimanLipi" pitchFamily="65" charset="0"/>
              </a:rPr>
              <a:t>চৌগাছা মডেল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131425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৯৮৬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১৯৯৬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মডেল হিসাবে ঘোষনা: ২০০৮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ডিজি বিশ্বস্বাস্থ্য সংস্থা এর পরিদর্শন: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২০১০</a:t>
            </a:r>
            <a:endParaRPr lang="en-GB" sz="44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সম্প্রসারনের উদ্যোগ : ২০১৬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7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6" y="1113780"/>
            <a:ext cx="4590103" cy="270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29" y="1113780"/>
            <a:ext cx="4243036" cy="272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5" y="3976911"/>
            <a:ext cx="4590104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30" y="3976911"/>
            <a:ext cx="4243036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86" y="348344"/>
            <a:ext cx="10131425" cy="50418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কলেজ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পড়ুয়া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ছাত্রী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ভলেন্টিয়ার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1237536"/>
            <a:ext cx="1251857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রিসিপশনিস্ট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4249250"/>
            <a:ext cx="1672772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টিকা-দান কার্যক্রম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8767936" y="4018169"/>
            <a:ext cx="1883229" cy="25209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গর্ভবতী পরিচর্যায়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0E666EE-FB06-4C1F-AED8-5F704341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9" y="145143"/>
            <a:ext cx="10131425" cy="1451428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প্রসববৃদ্ধি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/>
            </a:r>
            <a:b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</a:b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53848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68619691"/>
              </p:ext>
            </p:extLst>
          </p:nvPr>
        </p:nvGraphicFramePr>
        <p:xfrm>
          <a:off x="1016001" y="1038981"/>
          <a:ext cx="9608456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45335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609600" y="3063875"/>
          <a:ext cx="10871199" cy="262101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80533"/>
                <a:gridCol w="3115733"/>
                <a:gridCol w="1490133"/>
                <a:gridCol w="1405467"/>
                <a:gridCol w="1388533"/>
                <a:gridCol w="1270000"/>
                <a:gridCol w="1320800"/>
              </a:tblGrid>
              <a:tr h="640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57905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6704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0566400" y="4049714"/>
            <a:ext cx="508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528300" y="4443414"/>
            <a:ext cx="5588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10972800" cy="990600"/>
          </a:xfrm>
          <a:solidFill>
            <a:srgbClr val="BBE0E3"/>
          </a:solid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 err="1" smtClean="0">
                <a:solidFill>
                  <a:sysClr val="windowText" lastClr="000000"/>
                </a:solidFill>
              </a:rPr>
              <a:t>Upazila</a:t>
            </a:r>
            <a:r>
              <a:rPr lang="en-US" sz="3200" b="1" kern="0" dirty="0" smtClean="0">
                <a:solidFill>
                  <a:sysClr val="windowText" lastClr="000000"/>
                </a:solidFill>
              </a:rPr>
              <a:t> Health  Complex</a:t>
            </a:r>
            <a:br>
              <a:rPr lang="en-US" sz="3200" b="1" kern="0" dirty="0" smtClean="0">
                <a:solidFill>
                  <a:sysClr val="windowText" lastClr="000000"/>
                </a:solidFill>
              </a:rPr>
            </a:br>
            <a:r>
              <a:rPr lang="en-US" sz="2000" b="1" kern="0" dirty="0" smtClean="0">
                <a:solidFill>
                  <a:sysClr val="windowText" lastClr="000000"/>
                </a:solidFill>
              </a:rPr>
              <a:t>CHOWGACHA , JESSORE.</a:t>
            </a:r>
          </a:p>
        </p:txBody>
      </p:sp>
      <p:sp>
        <p:nvSpPr>
          <p:cNvPr id="31799" name="Rectangle 4"/>
          <p:cNvSpPr>
            <a:spLocks noChangeArrowheads="1"/>
          </p:cNvSpPr>
          <p:nvPr/>
        </p:nvSpPr>
        <p:spPr bwMode="auto">
          <a:xfrm>
            <a:off x="609600" y="1447800"/>
            <a:ext cx="108712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400">
                <a:solidFill>
                  <a:srgbClr val="3333CC"/>
                </a:solidFill>
              </a:rPr>
              <a:t>Comparative Data of Delivery of best performing EOC center of Khulna Division in 2011</a:t>
            </a:r>
          </a:p>
        </p:txBody>
      </p:sp>
    </p:spTree>
    <p:extLst>
      <p:ext uri="{BB962C8B-B14F-4D97-AF65-F5344CB8AC3E}">
        <p14:creationId xmlns:p14="http://schemas.microsoft.com/office/powerpoint/2010/main" val="37751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14" y="1865086"/>
            <a:ext cx="10972800" cy="4495800"/>
          </a:xfr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>
                <a:solidFill>
                  <a:schemeClr val="tx1"/>
                </a:solidFill>
              </a:rPr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200" b="1" dirty="0" smtClean="0">
                <a:solidFill>
                  <a:schemeClr val="tx1"/>
                </a:solidFill>
              </a:rPr>
              <a:t>TOTAL</a:t>
            </a:r>
            <a:r>
              <a:rPr lang="en-US" sz="3200" dirty="0" smtClean="0">
                <a:solidFill>
                  <a:schemeClr val="tx1"/>
                </a:solidFill>
              </a:rPr>
              <a:t> 			              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Volunteers 		  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Cleaners &amp; guards	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Others			          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	Outsourcing       	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	</a:t>
            </a:r>
            <a:r>
              <a:rPr lang="en-US" sz="3200" dirty="0" smtClean="0">
                <a:solidFill>
                  <a:schemeClr val="tx1"/>
                </a:solidFill>
              </a:rPr>
              <a:t>Service provider		:21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69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62" y="21565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8000" b="1" dirty="0">
                <a:latin typeface="SolaimanLipi" pitchFamily="65" charset="0"/>
                <a:cs typeface="SolaimanLipi" pitchFamily="65" charset="0"/>
              </a:rPr>
              <a:t>চৌগাছা: অর্জন </a:t>
            </a:r>
            <a:r>
              <a:rPr lang="en-GB" sz="8000" b="1" dirty="0" smtClean="0">
                <a:latin typeface="SolaimanLipi" pitchFamily="65" charset="0"/>
                <a:cs typeface="SolaimanLipi" pitchFamily="65" charset="0"/>
              </a:rPr>
              <a:t>২০১১</a:t>
            </a:r>
            <a:endParaRPr lang="bn-BD" sz="80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A80B7D69-6D00-40EC-9C3C-65B4FF90B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061" y="1817297"/>
            <a:ext cx="11616906" cy="4825043"/>
          </a:xfrm>
        </p:spPr>
        <p:txBody>
          <a:bodyPr>
            <a:normAutofit lnSpcReduction="10000"/>
          </a:bodyPr>
          <a:lstStyle/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স্টাফ বৃদ্ধি: ৪৬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প্রাথমিক স্বাস্থ্য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পরিচর্যা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: ২০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০০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শ্রেষ্ঠ জরুরী প্রসুতি কেন্দ্র: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২০০৫-২০১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;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প্রতিষ্ঠানে প্রসব: 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৯৮.৪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%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(৪৪১৩)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সহস্রাব্দি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লক্ষ্যমাত্রা অর্জন: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২০০৯</a:t>
            </a:r>
            <a:endParaRPr lang="en-GB" sz="48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স্বাস্থ্যমন্ত্রী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পুরস্কার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) : ২০১৭,২০১৮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8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88580" y="246050"/>
            <a:ext cx="5299420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931" y="2567733"/>
            <a:ext cx="6106298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445" y="247947"/>
            <a:ext cx="7107783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প্রথম-আলোর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প্রতিবেদন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/>
            </a:r>
            <a:br>
              <a:rPr lang="en-GB" b="1" dirty="0" smtClean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 smtClean="0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696686" y="5431283"/>
            <a:ext cx="511324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 smtClean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8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68" y="0"/>
            <a:ext cx="114047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649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মডেল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940142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২০১২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জানুয়ারি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২০১৩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পাইলটিং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২০১৫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পরীক্ষামূলক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উদ্যোগ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২০১৬</a:t>
            </a: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উপজেলা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পর্যায়ে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উদ্যোগ : ২০১৭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0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5484D6FA-5BF0-4916-BAE3-6D6457E9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43" y="15527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ি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ন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াইদহ: চ্যালেন্জ সমূহ ২০১২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243AF0A6-9EA0-4460-8B16-2206F9374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45721"/>
            <a:ext cx="10131425" cy="5428890"/>
          </a:xfrm>
        </p:spPr>
        <p:txBody>
          <a:bodyPr>
            <a:normAutofit/>
          </a:bodyPr>
          <a:lstStyle/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অরক্ষিত হাসপাতাল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স্বাস্থ্য সেবা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সেবাদানকারী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রোগী হতে অর্থ গ্রহন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দ</a:t>
            </a:r>
            <a:r>
              <a:rPr lang="en-GB" sz="4000" dirty="0" smtClean="0">
                <a:latin typeface="SolaimanLipi" pitchFamily="65" charset="0"/>
                <a:cs typeface="SolaimanLipi" pitchFamily="65" charset="0"/>
              </a:rPr>
              <a:t>ু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র্বল </a:t>
            </a:r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অর্থ ব্যবস্থাপনা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অপ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রি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চ্ছন্নতা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দুর্বল 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পরি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বী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ক্ষণ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B85FF63-2EE4-42A5-BB64-C9D70E3D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7476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জনসম্পৃক্ততা</a:t>
            </a:r>
            <a:endParaRPr lang="bn-BD" sz="48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FB0DE48-3621-4A1E-9E79-9E4E1837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1581509"/>
            <a:ext cx="4996923" cy="5152846"/>
          </a:xfrm>
        </p:spPr>
        <p:txBody>
          <a:bodyPr>
            <a:normAutofit lnSpcReduction="10000"/>
          </a:bodyPr>
          <a:lstStyle/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স্টাফ: ৫৬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পরিচ্ছন্নতা কর্মী: ২১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আয়া/ওয়ার্ডবয়: ২২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নিরাপত্তা রক্ষী: ৭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স্বেচ্ছাসেবক: ৩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ট্রলিম্যান: ৩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জেনারেটর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ইন্টারকম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বায়োকেমিক্যাল অ্যানালাইজার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6C307B88-65F8-494F-AA33-A28F7B839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0925" y="2697432"/>
            <a:ext cx="4995334" cy="3910401"/>
          </a:xfrm>
        </p:spPr>
        <p:txBody>
          <a:bodyPr>
            <a:normAutofit lnSpcReduction="10000"/>
          </a:bodyPr>
          <a:lstStyle/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সংসদ সদস্য</a:t>
            </a:r>
          </a:p>
          <a:p>
            <a:r>
              <a:rPr lang="bn-IN" sz="4300" dirty="0" smtClean="0">
                <a:latin typeface="SolaimanLipi" pitchFamily="65" charset="0"/>
                <a:cs typeface="SolaimanLipi" pitchFamily="65" charset="0"/>
              </a:rPr>
              <a:t>জাহে</a:t>
            </a:r>
            <a:r>
              <a:rPr lang="en-GB" sz="4300" dirty="0" err="1" smtClean="0">
                <a:latin typeface="SolaimanLipi" pitchFamily="65" charset="0"/>
                <a:cs typeface="SolaimanLipi" pitchFamily="65" charset="0"/>
              </a:rPr>
              <a:t>দী</a:t>
            </a:r>
            <a:r>
              <a:rPr lang="bn-IN" sz="43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300" dirty="0">
                <a:latin typeface="SolaimanLipi" pitchFamily="65" charset="0"/>
                <a:cs typeface="SolaimanLipi" pitchFamily="65" charset="0"/>
              </a:rPr>
              <a:t>ফাউন্ডেশন</a:t>
            </a: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মেয়র</a:t>
            </a:r>
          </a:p>
          <a:p>
            <a:r>
              <a:rPr lang="en-GB" sz="4300" dirty="0" smtClean="0">
                <a:latin typeface="SolaimanLipi" pitchFamily="65" charset="0"/>
                <a:cs typeface="SolaimanLipi" pitchFamily="65" charset="0"/>
              </a:rPr>
              <a:t>দানশীল ব্যক্তিবর্গ</a:t>
            </a:r>
            <a:endParaRPr lang="bn-IN" sz="4300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ডাক্তার</a:t>
            </a:r>
            <a:endParaRPr lang="bn-BD" sz="4300" dirty="0">
              <a:latin typeface="SolaimanLipi" pitchFamily="65" charset="0"/>
              <a:cs typeface="SolaimanLipi" pitchFamily="65" charset="0"/>
            </a:endParaRPr>
          </a:p>
          <a:p>
            <a:endParaRPr lang="bn-BD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3505201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52363" y="3772090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5920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781034" y="3899646"/>
            <a:ext cx="816570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6748746" y="3922214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7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47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20" y="806428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শিশু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বর্জব্যবস্থাপনার</a:t>
            </a:r>
            <a:r>
              <a:rPr lang="en-US" sz="3200" b="1" dirty="0" smtClean="0"/>
              <a:t>  </a:t>
            </a:r>
            <a:r>
              <a:rPr lang="en-US" sz="3200" b="1" dirty="0" err="1" smtClean="0"/>
              <a:t>পূর্বের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821751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3859214"/>
            <a:ext cx="4326467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0057" y="765176"/>
            <a:ext cx="4190859" cy="2926381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792616"/>
            <a:ext cx="4350962" cy="296256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5731933" y="1981200"/>
            <a:ext cx="741438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5797851" y="4821238"/>
            <a:ext cx="675519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6584951" y="3859214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5833" y="-1"/>
            <a:ext cx="11679767" cy="7926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প্রসুতি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সার্জারি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আগের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  <p:pic>
        <p:nvPicPr>
          <p:cNvPr id="1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5241" y="3744913"/>
            <a:ext cx="4296692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6910549" y="927616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1435241" y="792617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1435241" y="3859214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414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2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3998914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1852187" y="4092576"/>
            <a:ext cx="2131353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324600" y="4035427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1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828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400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কাইজেন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পদ্ধতির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2199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644525"/>
            <a:ext cx="4162538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968" y="3733800"/>
            <a:ext cx="4136571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3" y="585786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654629" y="669925"/>
            <a:ext cx="1906932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tx1"/>
                </a:solidFill>
              </a:rPr>
              <a:t>A big cleaning day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763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Health education session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286501" y="682739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84888" y="37338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286500" y="3763963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Creation  of nursing aid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নব-উদ্যোগের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562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1871157" y="126317"/>
            <a:ext cx="8229600" cy="609601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4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ঝিনাইদহ</a:t>
            </a: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</a:t>
            </a:r>
            <a:r>
              <a:rPr lang="bn-BD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শয্যা ব্যবহার</a:t>
            </a:r>
            <a:endParaRPr 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785586533"/>
              </p:ext>
            </p:extLst>
          </p:nvPr>
        </p:nvGraphicFramePr>
        <p:xfrm>
          <a:off x="1871157" y="684362"/>
          <a:ext cx="7704164" cy="6173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1626079" y="222848"/>
            <a:ext cx="8534400" cy="1042359"/>
          </a:xfr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algn="ctr">
              <a:defRPr/>
            </a:pP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জরুরী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বহি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অন্ত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রোগী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বৃদ্ধি</a:t>
            </a:r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415429193"/>
              </p:ext>
            </p:extLst>
          </p:nvPr>
        </p:nvGraphicFramePr>
        <p:xfrm>
          <a:off x="2031521" y="1184693"/>
          <a:ext cx="8534400" cy="5589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833191"/>
              </p:ext>
            </p:extLst>
          </p:nvPr>
        </p:nvGraphicFramePr>
        <p:xfrm>
          <a:off x="1823049" y="1069675"/>
          <a:ext cx="8798943" cy="5725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xmlns="" id="{56B91B97-7C91-447C-95E9-36143BF7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1" y="63260"/>
            <a:ext cx="10131425" cy="122495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US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শ্রেষ্ঠ জরুরী 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প্রস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ুতি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সেবা ২০১৭</a:t>
            </a: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3536" y="792754"/>
            <a:ext cx="11080465" cy="808038"/>
          </a:xfr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4400" b="1" dirty="0" smtClean="0">
                <a:solidFill>
                  <a:schemeClr val="tx1"/>
                </a:solidFill>
              </a:rPr>
              <a:t>হাসপাতালের রাজস্ব আয়ের তুলনামূলক চিত্র (২০১৫ - ২০১৮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r>
              <a:rPr lang="en-US" sz="5300" b="1" dirty="0">
                <a:solidFill>
                  <a:schemeClr val="tx1"/>
                </a:solidFill>
              </a:rPr>
              <a:t/>
            </a:r>
            <a:br>
              <a:rPr lang="en-US" sz="5300" b="1" dirty="0">
                <a:solidFill>
                  <a:schemeClr val="tx1"/>
                </a:solidFill>
              </a:rPr>
            </a:br>
            <a:endParaRPr lang="en-US" sz="67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673408"/>
              </p:ext>
            </p:extLst>
          </p:nvPr>
        </p:nvGraphicFramePr>
        <p:xfrm>
          <a:off x="2235200" y="2133600"/>
          <a:ext cx="74168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2684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ubtitle 2">
            <a:extLst>
              <a:ext uri="{FF2B5EF4-FFF2-40B4-BE49-F238E27FC236}">
                <a16:creationId xmlns="" xmlns:a16="http://schemas.microsoft.com/office/drawing/2014/main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336325"/>
              </p:ext>
            </p:extLst>
          </p:nvPr>
        </p:nvGraphicFramePr>
        <p:xfrm>
          <a:off x="291112" y="391887"/>
          <a:ext cx="6951517" cy="622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3B1EE1F-6738-485F-A620-2602F7683D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7534657" y="0"/>
            <a:ext cx="465734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2" y="5451765"/>
            <a:ext cx="1170945" cy="116671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685" y="1257300"/>
            <a:ext cx="4049485" cy="425486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ঝিনাইদহ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: </a:t>
            </a:r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অর্জন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২০১৮</a:t>
            </a:r>
            <a:endParaRPr lang="en-US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73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43" y="152400"/>
            <a:ext cx="11639910" cy="1469366"/>
          </a:xfrm>
        </p:spPr>
        <p:txBody>
          <a:bodyPr>
            <a:noAutofit/>
          </a:bodyPr>
          <a:lstStyle/>
          <a:p>
            <a:pPr algn="ctr"/>
            <a:r>
              <a:rPr lang="en-GB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পদক্ষেপ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543" y="1506748"/>
            <a:ext cx="11484634" cy="4970254"/>
          </a:xfrm>
        </p:spPr>
        <p:txBody>
          <a:bodyPr>
            <a:normAutofit fontScale="92500" lnSpcReduction="20000"/>
          </a:bodyPr>
          <a:lstStyle/>
          <a:p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কমিটি</a:t>
            </a:r>
            <a:r>
              <a:rPr lang="en-US" sz="4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গঠন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পরা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মর্শক </a:t>
            </a:r>
            <a:r>
              <a:rPr lang="bn-BD" sz="4800" dirty="0">
                <a:latin typeface="SolaimanLipi" pitchFamily="65" charset="0"/>
                <a:cs typeface="SolaimanLipi" pitchFamily="65" charset="0"/>
              </a:rPr>
              <a:t>নিয়োগ</a:t>
            </a:r>
          </a:p>
          <a:p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ক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্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মকৌশল ও কর্মপরিকল্পনা প্রণয়ন</a:t>
            </a: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উদ্বুদ্ধকরন</a:t>
            </a:r>
            <a:endParaRPr lang="bn-BD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প্রশিক্ষণ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মূল্যায়ন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539245"/>
              </p:ext>
            </p:extLst>
          </p:nvPr>
        </p:nvGraphicFramePr>
        <p:xfrm>
          <a:off x="2218938" y="540382"/>
          <a:ext cx="8012456" cy="5675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5435">
                  <a:extLst>
                    <a:ext uri="{9D8B030D-6E8A-4147-A177-3AD203B41FA5}">
                      <a16:colId xmlns:a16="http://schemas.microsoft.com/office/drawing/2014/main" xmlns="" val="3042377228"/>
                    </a:ext>
                  </a:extLst>
                </a:gridCol>
                <a:gridCol w="731581">
                  <a:extLst>
                    <a:ext uri="{9D8B030D-6E8A-4147-A177-3AD203B41FA5}">
                      <a16:colId xmlns:a16="http://schemas.microsoft.com/office/drawing/2014/main" xmlns="" val="995439371"/>
                    </a:ext>
                  </a:extLst>
                </a:gridCol>
                <a:gridCol w="1474968">
                  <a:extLst>
                    <a:ext uri="{9D8B030D-6E8A-4147-A177-3AD203B41FA5}">
                      <a16:colId xmlns:a16="http://schemas.microsoft.com/office/drawing/2014/main" xmlns="" val="2271061345"/>
                    </a:ext>
                  </a:extLst>
                </a:gridCol>
                <a:gridCol w="2286693">
                  <a:extLst>
                    <a:ext uri="{9D8B030D-6E8A-4147-A177-3AD203B41FA5}">
                      <a16:colId xmlns:a16="http://schemas.microsoft.com/office/drawing/2014/main" xmlns="" val="3196215646"/>
                    </a:ext>
                  </a:extLst>
                </a:gridCol>
                <a:gridCol w="1942137">
                  <a:extLst>
                    <a:ext uri="{9D8B030D-6E8A-4147-A177-3AD203B41FA5}">
                      <a16:colId xmlns:a16="http://schemas.microsoft.com/office/drawing/2014/main" xmlns="" val="678265037"/>
                    </a:ext>
                  </a:extLst>
                </a:gridCol>
                <a:gridCol w="961642">
                  <a:extLst>
                    <a:ext uri="{9D8B030D-6E8A-4147-A177-3AD203B41FA5}">
                      <a16:colId xmlns:a16="http://schemas.microsoft.com/office/drawing/2014/main" xmlns="" val="2297451083"/>
                    </a:ext>
                  </a:extLst>
                </a:gridCol>
              </a:tblGrid>
              <a:tr h="7941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নং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লক্ষ্যমাত্রা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নির্দেশক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457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সূচক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প্রভাব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/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ফলাফল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সূচনা বছরের তথ্য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সূচনা বর্ষ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২০৩০ সাল নাগাদ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3933995809"/>
                  </a:ext>
                </a:extLst>
              </a:tr>
              <a:tr h="646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মাতৃমৃত্যুর হার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লক্ষ জীবিত জন্মে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১৭৬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বিশ্ব স্বাস্থ্য সংস্থা ২০১৬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৭০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3186326481"/>
                  </a:ext>
                </a:extLst>
              </a:tr>
              <a:tr h="5678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চিকিৎসক ও প্রশিক্ষিত ব্যক্তি দ্বারা প্রসবকৃত শিশু জন্মের অনুপাত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(%) 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৪২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বিডিএইচএস ২০১৪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2573314468"/>
                  </a:ext>
                </a:extLst>
              </a:tr>
              <a:tr h="6489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পাঁচ বছরের কম বয়সী শিশুদের মৃত্যুহার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১০০০ জীবিত জন্মে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বিডিএইচএস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২৫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640993533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নবজাতকের মৃত্যু হার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২৫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২০১৪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১২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1403221860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৫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এইচআইভি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/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এইডস সংক্রমণের হার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০১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931815692"/>
                  </a:ext>
                </a:extLst>
              </a:tr>
              <a:tr h="4867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যক্ষ্মা সনাক্তকরণের হার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৫৩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 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২০১৪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১০০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1074090070"/>
                  </a:ext>
                </a:extLst>
              </a:tr>
              <a:tr h="828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ম্যালেরিয়া সংক্রমণের হার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হাই এন্ডেমিক ৩ জেলা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-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/ 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১০০০০ জনসংখ্যা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২০১৫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জনস্বাস্থ্য সমস্যা হিসেবে না থাকা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3546195970"/>
                  </a:ext>
                </a:extLst>
              </a:tr>
              <a:tr h="6317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হেপাটাইটিস বি সংক্রমণের হার 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1114770408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18941" y="140274"/>
            <a:ext cx="686598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ct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28700" algn="ctr"/>
              </a:tabLst>
            </a:pPr>
            <a:r>
              <a:rPr kumimoji="0" lang="bn-IN" altLang="en-US" sz="2000" b="1" i="0" u="none" strike="noStrike" cap="none" normalizeH="0" baseline="0" dirty="0" smtClean="0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স</a:t>
            </a:r>
            <a:r>
              <a:rPr kumimoji="0" lang="bn-IN" altLang="en-US" sz="2000" b="1" i="0" u="none" strike="noStrike" cap="none" normalizeH="0" baseline="0" dirty="0" smtClean="0" bmk="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ারণি ৮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.</a:t>
            </a:r>
            <a:r>
              <a:rPr kumimoji="0" lang="bn-IN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 স্বাস্থ্য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 সংক্রান্ত এসডিজি লক্ষ্য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, 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লক্ষ্যমাত্রা 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(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১৩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), 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ও নির্দেশক 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(</a:t>
            </a:r>
            <a:r>
              <a:rPr kumimoji="0" lang="bn-IN" altLang="en-US" sz="2000" b="1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২৭</a:t>
            </a:r>
            <a:r>
              <a:rPr kumimoji="0" lang="en-US" altLang="en-US" sz="2000" b="0" i="0" u="none" strike="noStrike" cap="none" normalizeH="0" baseline="0" dirty="0" smtClean="0" bmk="_Toc4194903">
                <a:ln>
                  <a:noFill/>
                </a:ln>
                <a:solidFill>
                  <a:srgbClr val="3366FF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97916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398218"/>
              </p:ext>
            </p:extLst>
          </p:nvPr>
        </p:nvGraphicFramePr>
        <p:xfrm>
          <a:off x="1270687" y="206890"/>
          <a:ext cx="8973063" cy="63184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9389">
                  <a:extLst>
                    <a:ext uri="{9D8B030D-6E8A-4147-A177-3AD203B41FA5}">
                      <a16:colId xmlns:a16="http://schemas.microsoft.com/office/drawing/2014/main" xmlns="" val="4227262324"/>
                    </a:ext>
                  </a:extLst>
                </a:gridCol>
                <a:gridCol w="1638201">
                  <a:extLst>
                    <a:ext uri="{9D8B030D-6E8A-4147-A177-3AD203B41FA5}">
                      <a16:colId xmlns:a16="http://schemas.microsoft.com/office/drawing/2014/main" xmlns="" val="1082010769"/>
                    </a:ext>
                  </a:extLst>
                </a:gridCol>
                <a:gridCol w="1699427">
                  <a:extLst>
                    <a:ext uri="{9D8B030D-6E8A-4147-A177-3AD203B41FA5}">
                      <a16:colId xmlns:a16="http://schemas.microsoft.com/office/drawing/2014/main" xmlns="" val="3048887242"/>
                    </a:ext>
                  </a:extLst>
                </a:gridCol>
                <a:gridCol w="2085468">
                  <a:extLst>
                    <a:ext uri="{9D8B030D-6E8A-4147-A177-3AD203B41FA5}">
                      <a16:colId xmlns:a16="http://schemas.microsoft.com/office/drawing/2014/main" xmlns="" val="1784463147"/>
                    </a:ext>
                  </a:extLst>
                </a:gridCol>
                <a:gridCol w="1771231">
                  <a:extLst>
                    <a:ext uri="{9D8B030D-6E8A-4147-A177-3AD203B41FA5}">
                      <a16:colId xmlns:a16="http://schemas.microsoft.com/office/drawing/2014/main" xmlns="" val="2873165647"/>
                    </a:ext>
                  </a:extLst>
                </a:gridCol>
                <a:gridCol w="899347">
                  <a:extLst>
                    <a:ext uri="{9D8B030D-6E8A-4147-A177-3AD203B41FA5}">
                      <a16:colId xmlns:a16="http://schemas.microsoft.com/office/drawing/2014/main" xmlns="" val="3848347762"/>
                    </a:ext>
                  </a:extLst>
                </a:gridCol>
              </a:tblGrid>
              <a:tr h="3444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নং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লক্ষ্যমাত্রা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নির্দেশক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45720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সূচক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প্রভাব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/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ফলাফল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সূচনা বছরের তথ্য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সূচনা বর্ষ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২০৩০ সাল নাগাদ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1564788600"/>
                  </a:ext>
                </a:extLst>
              </a:tr>
              <a:tr h="408619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 smtClean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৯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cs typeface="SolaimanLipi" panose="03000609000000000000" pitchFamily="65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cs typeface="SolaimanLipi" panose="03000609000000000000" pitchFamily="65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দশ হাজার জনসংখ্যায় এনসিডিতে মৃত্যুহার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-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৬৯ বছর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১৮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বিশ্ব স্বাস্থ্য সংস্থা ২০১৪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%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2237459148"/>
                  </a:ext>
                </a:extLst>
              </a:tr>
              <a:tr h="301089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হৃদরোগ 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2713031389"/>
                  </a:ext>
                </a:extLst>
              </a:tr>
              <a:tr h="387113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ক্যান্সার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3711610213"/>
                  </a:ext>
                </a:extLst>
              </a:tr>
              <a:tr h="286646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ডায়াবেটিস 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2699695490"/>
                  </a:ext>
                </a:extLst>
              </a:tr>
              <a:tr h="225816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দীর্ঘমেয়াদী শ্বাসকষ্ট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3619441244"/>
                  </a:ext>
                </a:extLst>
              </a:tr>
              <a:tr h="254387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১০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আত্মহত্যা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লক্ষ জনসংখ্যায়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২০১৪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৬৭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3553371438"/>
                  </a:ext>
                </a:extLst>
              </a:tr>
              <a:tr h="188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পুরুষ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1790024098"/>
                  </a:ext>
                </a:extLst>
              </a:tr>
              <a:tr h="188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নারী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4039467962"/>
                  </a:ext>
                </a:extLst>
              </a:tr>
              <a:tr h="5694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৫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৫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মাদকাসক্ত রোগীর সংখ্যা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১০ হাজার জনসংখ্যায়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3770107459"/>
                  </a:ext>
                </a:extLst>
              </a:tr>
              <a:tr h="390803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সড়ক দুর্ঘটনায় মৃত্যুহার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 লক্ষ জনসংখ্যায়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৮৫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বিশ্ব ব্যাংক ২০০২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অর্ধেক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২০২০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2275084714"/>
                  </a:ext>
                </a:extLst>
              </a:tr>
              <a:tr h="188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পুরুষ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1314251594"/>
                  </a:ext>
                </a:extLst>
              </a:tr>
              <a:tr h="1880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নারী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2605679458"/>
                  </a:ext>
                </a:extLst>
              </a:tr>
              <a:tr h="3974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১৩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জন্মনিয়ন্ত্রণ সামগ্রী ব্যবহারের হার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(%)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৬২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বিডিএইচএস ২০১৪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2582258556"/>
                  </a:ext>
                </a:extLst>
              </a:tr>
              <a:tr h="3974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 smtClean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১৪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৭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1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কিশোরীদের উর্বরতার হার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১৫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-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১৯ ব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.) (</a:t>
                      </a: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ঐ বয়সে প্রতি হাজারে</a:t>
                      </a:r>
                      <a:r>
                        <a:rPr lang="en-US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1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৩১</a:t>
                      </a:r>
                      <a:endParaRPr lang="en-US" sz="110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1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24757929"/>
                  </a:ext>
                </a:extLst>
              </a:tr>
              <a:tr h="5295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১৫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৮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২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সর্বজনীন স্বাস্থ্য সুরক্ষা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১০০০ জনসংখায়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 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1052674420"/>
                  </a:ext>
                </a:extLst>
              </a:tr>
              <a:tr h="874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১৬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৯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৩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৯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.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১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পানি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, 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বায়ু ও মাটি দূষণে মৃত্যুর হার কমানো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 (</a:t>
                      </a:r>
                      <a:r>
                        <a:rPr lang="bn-IN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প্রতি ১০০০ জনসংখায়</a:t>
                      </a: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)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SolaimanLipi" panose="03000609000000000000" pitchFamily="65" charset="0"/>
                          <a:cs typeface="SolaimanLipi" panose="03000609000000000000" pitchFamily="65" charset="0"/>
                        </a:rPr>
                        <a:t> </a:t>
                      </a:r>
                      <a:endParaRPr lang="en-US" sz="1200" dirty="0">
                        <a:effectLst/>
                        <a:latin typeface="SolaimanLipi" panose="03000609000000000000" pitchFamily="65" charset="0"/>
                        <a:ea typeface="Calibri" panose="020F0502020204030204" pitchFamily="34" charset="0"/>
                        <a:cs typeface="SolaimanLipi" panose="03000609000000000000" pitchFamily="65" charset="0"/>
                      </a:endParaRPr>
                    </a:p>
                  </a:txBody>
                  <a:tcPr marL="21041" marR="21041" marT="0" marB="0"/>
                </a:tc>
                <a:extLst>
                  <a:ext uri="{0D108BD9-81ED-4DB2-BD59-A6C34878D82A}">
                    <a16:rowId xmlns:a16="http://schemas.microsoft.com/office/drawing/2014/main" xmlns="" val="1497467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986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SolaimanLipi" pitchFamily="65" charset="0"/>
                <a:cs typeface="SolaimanLipi" pitchFamily="65" charset="0"/>
              </a:rPr>
              <a:t>ধন্যবাদ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smtClean="0"/>
              <a:t>An introduction to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sz="6000" dirty="0" err="1" smtClean="0"/>
              <a:t>Ad-din</a:t>
            </a:r>
            <a:r>
              <a:rPr lang="en-US" altLang="en-US" sz="6000" dirty="0"/>
              <a:t> </a:t>
            </a:r>
            <a:r>
              <a:rPr lang="en-US" altLang="en-US" sz="6000" dirty="0" smtClean="0"/>
              <a:t>Foundation      </a:t>
            </a:r>
            <a:endParaRPr lang="en-US" altLang="en-US" dirty="0" smtClean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19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54536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3251200" y="3200400"/>
            <a:ext cx="28448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8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Ad-din Sakina Medical College Hospital, Jessore</a:t>
            </a:r>
          </a:p>
          <a:p>
            <a:pPr defTabSz="914400">
              <a:lnSpc>
                <a:spcPct val="8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Estd. 4 April 1985</a:t>
            </a:r>
          </a:p>
          <a:p>
            <a:pPr defTabSz="914400">
              <a:lnSpc>
                <a:spcPct val="8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300-Bed</a:t>
            </a:r>
          </a:p>
          <a:p>
            <a:pPr defTabSz="914400">
              <a:lnSpc>
                <a:spcPct val="8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Annual Delivery: 3445</a:t>
            </a: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1117600" y="76200"/>
            <a:ext cx="9956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>
                <a:solidFill>
                  <a:prstClr val="black"/>
                </a:solidFill>
              </a:rPr>
              <a:t>Ad-din Hospitals</a:t>
            </a:r>
          </a:p>
        </p:txBody>
      </p:sp>
      <p:pic>
        <p:nvPicPr>
          <p:cNvPr id="36868" name="Picture 5" descr="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4267200"/>
            <a:ext cx="33528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101600" y="3200400"/>
            <a:ext cx="2844800" cy="1277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Ad-din Medical College Hospital, Dhaka </a:t>
            </a:r>
          </a:p>
          <a:p>
            <a:pPr defTabSz="914400">
              <a:lnSpc>
                <a:spcPct val="11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Estd. 1 Nov 1997</a:t>
            </a:r>
          </a:p>
          <a:p>
            <a:pPr defTabSz="914400">
              <a:lnSpc>
                <a:spcPct val="11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500-Bed</a:t>
            </a:r>
          </a:p>
          <a:p>
            <a:pPr defTabSz="914400">
              <a:lnSpc>
                <a:spcPct val="11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Annual Delivery : 10848</a:t>
            </a: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2641600" y="5638800"/>
            <a:ext cx="3657600" cy="95408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Ad-din Hospital, Kushtia </a:t>
            </a:r>
          </a:p>
          <a:p>
            <a:pPr defTabSz="914400"/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Estd. 1 Nov 1999; 100-Bed</a:t>
            </a:r>
          </a:p>
          <a:p>
            <a:pPr defTabSz="914400"/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Annual Delivery: 2199</a:t>
            </a:r>
          </a:p>
          <a:p>
            <a:pPr defTabSz="914400"/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 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0" y="762000"/>
            <a:ext cx="12192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pPr defTabSz="914400"/>
            <a:endParaRPr lang="en-US">
              <a:solidFill>
                <a:prstClr val="black"/>
              </a:solidFill>
            </a:endParaRPr>
          </a:p>
        </p:txBody>
      </p:sp>
      <p:sp>
        <p:nvSpPr>
          <p:cNvPr id="36872" name="Text Box 11"/>
          <p:cNvSpPr txBox="1">
            <a:spLocks noChangeArrowheads="1"/>
          </p:cNvSpPr>
          <p:nvPr/>
        </p:nvSpPr>
        <p:spPr bwMode="auto">
          <a:xfrm>
            <a:off x="9144000" y="3200402"/>
            <a:ext cx="2743200" cy="83099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en-US" sz="1200" b="1">
                <a:solidFill>
                  <a:prstClr val="black"/>
                </a:solidFill>
                <a:latin typeface="Corbel" pitchFamily="34" charset="0"/>
              </a:rPr>
              <a:t>Bashundhara Ad-din Medical College Hospital, Keraniganj, Dhaka </a:t>
            </a:r>
          </a:p>
          <a:p>
            <a:pPr defTabSz="914400"/>
            <a:r>
              <a:rPr lang="en-US" altLang="en-US" sz="1200" b="1">
                <a:solidFill>
                  <a:prstClr val="black"/>
                </a:solidFill>
                <a:latin typeface="Corbel" pitchFamily="34" charset="0"/>
              </a:rPr>
              <a:t>Estd. 25 Feb 2012</a:t>
            </a:r>
          </a:p>
          <a:p>
            <a:pPr defTabSz="914400"/>
            <a:r>
              <a:rPr lang="en-US" altLang="en-US" sz="1200" b="1">
                <a:solidFill>
                  <a:prstClr val="black"/>
                </a:solidFill>
                <a:latin typeface="Corbel" pitchFamily="34" charset="0"/>
              </a:rPr>
              <a:t>300-Bed:</a:t>
            </a:r>
          </a:p>
        </p:txBody>
      </p:sp>
      <p:pic>
        <p:nvPicPr>
          <p:cNvPr id="36873" name="Picture 12" descr="IMG"/>
          <p:cNvPicPr>
            <a:picLocks noChangeAspect="1" noChangeArrowheads="1"/>
          </p:cNvPicPr>
          <p:nvPr/>
        </p:nvPicPr>
        <p:blipFill>
          <a:blip r:embed="rId3"/>
          <a:srcRect l="4898" r="2040"/>
          <a:stretch>
            <a:fillRect/>
          </a:stretch>
        </p:blipFill>
        <p:spPr bwMode="auto">
          <a:xfrm>
            <a:off x="0" y="762000"/>
            <a:ext cx="12192000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4" name="Text Box 13"/>
          <p:cNvSpPr txBox="1">
            <a:spLocks noChangeArrowheads="1"/>
          </p:cNvSpPr>
          <p:nvPr/>
        </p:nvSpPr>
        <p:spPr bwMode="auto">
          <a:xfrm>
            <a:off x="6400800" y="3200402"/>
            <a:ext cx="2641600" cy="1018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8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Ad-din Akij Medical College Hospital, Khulna</a:t>
            </a:r>
          </a:p>
          <a:p>
            <a:pPr defTabSz="914400">
              <a:lnSpc>
                <a:spcPct val="9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Estd. 8 Feb 2013</a:t>
            </a:r>
          </a:p>
          <a:p>
            <a:pPr defTabSz="914400">
              <a:lnSpc>
                <a:spcPct val="9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500-Bed: </a:t>
            </a:r>
          </a:p>
          <a:p>
            <a:pPr defTabSz="914400">
              <a:lnSpc>
                <a:spcPct val="90000"/>
              </a:lnSpc>
            </a:pPr>
            <a:r>
              <a:rPr lang="en-US" altLang="en-US" sz="1400" b="1">
                <a:solidFill>
                  <a:prstClr val="black"/>
                </a:solidFill>
                <a:latin typeface="Corbel" pitchFamily="34" charset="0"/>
              </a:rPr>
              <a:t>Annual Delivery: 2844</a:t>
            </a:r>
          </a:p>
        </p:txBody>
      </p:sp>
      <p:pic>
        <p:nvPicPr>
          <p:cNvPr id="36875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15102" y="4332288"/>
            <a:ext cx="3136900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6502400" y="5638800"/>
            <a:ext cx="37592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Ad-din Barrister Rofique-Ul Huq  Hospital, Postogola, Dhaka </a:t>
            </a:r>
          </a:p>
          <a:p>
            <a:pPr defTabSz="914400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Estd. May 2017; 300-Bed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>
            <a:off x="0" y="4495801"/>
            <a:ext cx="1930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80000"/>
              </a:lnSpc>
            </a:pPr>
            <a:r>
              <a:rPr lang="as-IN" altLang="en-US" sz="1200" b="1">
                <a:solidFill>
                  <a:prstClr val="black"/>
                </a:solidFill>
                <a:latin typeface="SutonnyMJ" pitchFamily="2" charset="0"/>
              </a:rPr>
              <a:t>আদ-দ্বীন ব্যারিস্টার রফিক-উল-হক হাসপাতাল</a:t>
            </a:r>
            <a:r>
              <a:rPr lang="en-US" altLang="en-US" sz="1200" b="1">
                <a:solidFill>
                  <a:prstClr val="black"/>
                </a:solidFill>
                <a:latin typeface="SutonnyMJ" pitchFamily="2" charset="0"/>
              </a:rPr>
              <a:t>, †cv¯Í‡Mvjv,  XvKv|</a:t>
            </a:r>
          </a:p>
          <a:p>
            <a:pPr defTabSz="914400">
              <a:lnSpc>
                <a:spcPct val="80000"/>
              </a:lnSpc>
            </a:pPr>
            <a:r>
              <a:rPr lang="en-US" altLang="en-US" sz="1200" b="1">
                <a:solidFill>
                  <a:prstClr val="black"/>
                </a:solidFill>
                <a:latin typeface="SutonnyMJ" pitchFamily="2" charset="0"/>
              </a:rPr>
              <a:t>¯’vwcZ : ‡gÕ 2017</a:t>
            </a:r>
          </a:p>
          <a:p>
            <a:pPr defTabSz="914400">
              <a:lnSpc>
                <a:spcPct val="80000"/>
              </a:lnSpc>
            </a:pPr>
            <a:r>
              <a:rPr lang="en-US" altLang="en-US" sz="1200" b="1">
                <a:solidFill>
                  <a:prstClr val="black"/>
                </a:solidFill>
                <a:latin typeface="SutonnyMJ" pitchFamily="2" charset="0"/>
              </a:rPr>
              <a:t>300 </a:t>
            </a:r>
            <a:r>
              <a:rPr lang="en-US" altLang="en-US" sz="1200">
                <a:solidFill>
                  <a:prstClr val="black"/>
                </a:solidFill>
                <a:latin typeface="SutonnyMJ" pitchFamily="2" charset="0"/>
              </a:rPr>
              <a:t>kh</a:t>
            </a:r>
            <a:r>
              <a:rPr lang="en-US" altLang="en-US" sz="1200">
                <a:solidFill>
                  <a:prstClr val="black"/>
                </a:solidFill>
                <a:latin typeface="IchamotiAMJ" pitchFamily="2" charset="0"/>
              </a:rPr>
              <a:t>¨</a:t>
            </a:r>
            <a:r>
              <a:rPr lang="en-US" altLang="en-US" sz="1200">
                <a:solidFill>
                  <a:prstClr val="black"/>
                </a:solidFill>
                <a:latin typeface="SutonnyMJ" pitchFamily="2" charset="0"/>
              </a:rPr>
              <a:t> wewkó, 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88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9823621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466088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Eye Care Cataract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09600" y="1935165"/>
          <a:ext cx="109728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839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10363200" cy="8382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Yearly MCH Services</a:t>
            </a:r>
          </a:p>
        </p:txBody>
      </p:sp>
      <p:graphicFrame>
        <p:nvGraphicFramePr>
          <p:cNvPr id="514093" name="Group 45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731915877"/>
              </p:ext>
            </p:extLst>
          </p:nvPr>
        </p:nvGraphicFramePr>
        <p:xfrm>
          <a:off x="203200" y="1219200"/>
          <a:ext cx="11480800" cy="4811574"/>
        </p:xfrm>
        <a:graphic>
          <a:graphicData uri="http://schemas.openxmlformats.org/drawingml/2006/table">
            <a:tbl>
              <a:tblPr/>
              <a:tblGrid>
                <a:gridCol w="1320800"/>
                <a:gridCol w="5080000"/>
                <a:gridCol w="5080000"/>
              </a:tblGrid>
              <a:tr h="89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Sl.no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Name of activities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Number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0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Antenatal care (ANC)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25325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TT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1228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0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Family Planning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600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2400" dirty="0" smtClean="0">
                          <a:solidFill>
                            <a:srgbClr val="3333FF"/>
                          </a:solidFill>
                        </a:rPr>
                        <a:t>Expanded program on </a:t>
                      </a:r>
                      <a:r>
                        <a:rPr lang="en-US" altLang="en-US" sz="2800" dirty="0" smtClean="0">
                          <a:solidFill>
                            <a:srgbClr val="3333FF"/>
                          </a:solidFill>
                        </a:rPr>
                        <a:t>Immunization</a:t>
                      </a:r>
                      <a:endParaRPr 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9447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0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Postnatal Care (PNC)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2934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36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Delivery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4008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347176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06403" y="1371603"/>
            <a:ext cx="5250373" cy="132343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lang="en-US" sz="4000" b="1" dirty="0">
                <a:ln>
                  <a:solidFill>
                    <a:srgbClr val="0F6FC6">
                      <a:lumMod val="20000"/>
                      <a:lumOff val="80000"/>
                    </a:srgbClr>
                  </a:solidFill>
                </a:ln>
                <a:solidFill>
                  <a:srgbClr val="7030A0"/>
                </a:solidFill>
                <a:latin typeface="Calibri"/>
                <a:cs typeface="Times New Roman" pitchFamily="18" charset="0"/>
              </a:rPr>
              <a:t>Basic Information Of MFP</a:t>
            </a:r>
            <a:r>
              <a:rPr lang="en-US" sz="4000" b="1" dirty="0">
                <a:ln>
                  <a:solidFill>
                    <a:srgbClr val="0F6FC6">
                      <a:lumMod val="20000"/>
                      <a:lumOff val="80000"/>
                    </a:srgbClr>
                  </a:solidFill>
                </a:ln>
                <a:solidFill>
                  <a:srgbClr val="7030A0"/>
                </a:solidFill>
                <a:latin typeface="Calibri"/>
                <a:cs typeface="SutonnyMJ" pitchFamily="2" charset="0"/>
              </a:rPr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3200" y="4191003"/>
          <a:ext cx="11684000" cy="15589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253"/>
                <a:gridCol w="2850405"/>
                <a:gridCol w="3090803"/>
                <a:gridCol w="3365539"/>
              </a:tblGrid>
              <a:tr h="85941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Total Member</a:t>
                      </a:r>
                    </a:p>
                  </a:txBody>
                  <a:tcPr marL="121920" marR="121920" marT="45718" marB="45718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Total Borrower</a:t>
                      </a:r>
                    </a:p>
                  </a:txBody>
                  <a:tcPr marL="121920" marR="121920" marT="45718" marB="45718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Member`s</a:t>
                      </a:r>
                      <a:r>
                        <a:rPr lang="en-US" sz="24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Savings</a:t>
                      </a:r>
                      <a:endParaRPr lang="en-US" sz="2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718" marB="45718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Lon Outstanding</a:t>
                      </a:r>
                      <a:r>
                        <a:rPr lang="en-US" sz="24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in the field</a:t>
                      </a:r>
                      <a:endParaRPr lang="en-US" sz="2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718" marB="45718" anchor="ctr">
                    <a:solidFill>
                      <a:srgbClr val="D2DEEF"/>
                    </a:solidFill>
                  </a:tcPr>
                </a:tc>
              </a:tr>
              <a:tr h="69950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297771</a:t>
                      </a:r>
                    </a:p>
                  </a:txBody>
                  <a:tcPr marL="121920" marR="121920"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217666</a:t>
                      </a:r>
                    </a:p>
                  </a:txBody>
                  <a:tcPr marL="121920" marR="121920"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155.10</a:t>
                      </a:r>
                      <a:r>
                        <a:rPr lang="en-US" sz="2800" baseline="0" dirty="0">
                          <a:latin typeface="+mj-lt"/>
                        </a:rPr>
                        <a:t> </a:t>
                      </a:r>
                      <a:r>
                        <a:rPr lang="en-US" sz="2800" baseline="0" dirty="0">
                          <a:latin typeface="+mj-lt"/>
                          <a:cs typeface="Times New Roman" pitchFamily="18" charset="0"/>
                        </a:rPr>
                        <a:t>Crore</a:t>
                      </a:r>
                      <a:r>
                        <a:rPr lang="en-US" sz="2800" baseline="0" dirty="0">
                          <a:latin typeface="+mj-lt"/>
                        </a:rPr>
                        <a:t> </a:t>
                      </a:r>
                      <a:endParaRPr lang="en-US" sz="2800" dirty="0">
                        <a:latin typeface="+mj-lt"/>
                      </a:endParaRPr>
                    </a:p>
                  </a:txBody>
                  <a:tcPr marL="121920" marR="121920"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310 </a:t>
                      </a:r>
                      <a:r>
                        <a:rPr lang="en-US" sz="2800" dirty="0">
                          <a:latin typeface="+mj-lt"/>
                          <a:cs typeface="Times New Roman" pitchFamily="18" charset="0"/>
                        </a:rPr>
                        <a:t>Crore</a:t>
                      </a:r>
                      <a:r>
                        <a:rPr lang="en-US" sz="2800" baseline="0" dirty="0">
                          <a:latin typeface="+mj-lt"/>
                        </a:rPr>
                        <a:t> </a:t>
                      </a:r>
                      <a:endParaRPr lang="en-US" sz="2800" dirty="0">
                        <a:latin typeface="+mj-lt"/>
                      </a:endParaRPr>
                    </a:p>
                  </a:txBody>
                  <a:tcPr marL="121920" marR="121920" marT="45718" marB="45718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0" y="304800"/>
          <a:ext cx="5486400" cy="36882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89460"/>
                <a:gridCol w="2096940"/>
              </a:tblGrid>
              <a:tr h="526890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+mj-lt"/>
                          <a:cs typeface="SugondhaMJ" pitchFamily="2" charset="0"/>
                        </a:rPr>
                        <a:t>District</a:t>
                      </a:r>
                      <a:endParaRPr lang="en-US" sz="2800" dirty="0">
                        <a:solidFill>
                          <a:schemeClr val="tx1"/>
                        </a:solidFill>
                        <a:latin typeface="+mj-lt"/>
                        <a:cs typeface="SugondhaMJ" pitchFamily="2" charset="0"/>
                      </a:endParaRPr>
                    </a:p>
                  </a:txBody>
                  <a:tcPr marL="121929" marR="121929" marT="45725" marB="45725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121929" marR="121929" marT="45725" marB="45725" anchor="ctr">
                    <a:solidFill>
                      <a:srgbClr val="D2DEEF"/>
                    </a:solidFill>
                  </a:tcPr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+mj-lt"/>
                          <a:cs typeface="SugondhaMJ" pitchFamily="2" charset="0"/>
                        </a:rPr>
                        <a:t>Upazilla</a:t>
                      </a:r>
                      <a:endParaRPr lang="en-US" sz="2800" dirty="0">
                        <a:latin typeface="+mj-lt"/>
                        <a:cs typeface="SugondhaMJ" pitchFamily="2" charset="0"/>
                      </a:endParaRPr>
                    </a:p>
                  </a:txBody>
                  <a:tcPr marL="121929" marR="121929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</a:p>
                  </a:txBody>
                  <a:tcPr marL="121929" marR="121929" marT="45725" marB="45725" anchor="ctr"/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Union</a:t>
                      </a:r>
                    </a:p>
                  </a:txBody>
                  <a:tcPr marL="121929" marR="121929" marT="45725" marB="45725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643</a:t>
                      </a:r>
                    </a:p>
                  </a:txBody>
                  <a:tcPr marL="121929" marR="121929" marT="45725" marB="45725" anchor="ctr">
                    <a:solidFill>
                      <a:srgbClr val="D2DEEF"/>
                    </a:solidFill>
                  </a:tcPr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Village</a:t>
                      </a:r>
                    </a:p>
                  </a:txBody>
                  <a:tcPr marL="121929" marR="121929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3815</a:t>
                      </a:r>
                    </a:p>
                  </a:txBody>
                  <a:tcPr marL="121929" marR="121929" marT="45725" marB="45725" anchor="ctr"/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+mj-lt"/>
                          <a:cs typeface="SugondhaMJ" pitchFamily="2" charset="0"/>
                        </a:rPr>
                        <a:t>Zonal</a:t>
                      </a:r>
                      <a:endParaRPr lang="en-US" sz="2800" dirty="0">
                        <a:latin typeface="+mj-lt"/>
                        <a:cs typeface="SugondhaMJ" pitchFamily="2" charset="0"/>
                      </a:endParaRPr>
                    </a:p>
                  </a:txBody>
                  <a:tcPr marL="121929" marR="121929" marT="45725" marB="45725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121929" marR="121929" marT="45725" marB="45725" anchor="ctr">
                    <a:solidFill>
                      <a:srgbClr val="D2DEEF"/>
                    </a:solidFill>
                  </a:tcPr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Regional</a:t>
                      </a:r>
                    </a:p>
                  </a:txBody>
                  <a:tcPr marL="121929" marR="121929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121929" marR="121929" marT="45725" marB="45725" anchor="ctr"/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Branch Office</a:t>
                      </a:r>
                    </a:p>
                  </a:txBody>
                  <a:tcPr marL="121929" marR="121929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</a:p>
                  </a:txBody>
                  <a:tcPr marL="121929" marR="121929" marT="45725" marB="45725" anchor="ctr"/>
                </a:tc>
              </a:tr>
            </a:tbl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456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8509508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12335" y="457200"/>
            <a:ext cx="9190567" cy="76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>
                <a:solidFill>
                  <a:srgbClr val="FF0000"/>
                </a:solidFill>
              </a:rPr>
              <a:t>Agriculture, Fisheries &amp; Livestock Project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3036" y="2209800"/>
          <a:ext cx="4220633" cy="347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633"/>
              </a:tblGrid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 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Skill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Training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2540" marR="112540" marT="45712" marB="4571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401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New Technology Demonstration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0" marR="112540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Vaccination  &amp;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Deworming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0" marR="112540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Skill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Training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0" marR="112540" marT="45712" marB="4571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Income Generating</a:t>
                      </a:r>
                      <a:r>
                        <a:rPr lang="en-US" sz="1800" baseline="0" dirty="0">
                          <a:latin typeface="+mj-lt"/>
                        </a:rPr>
                        <a:t> Activities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40" marR="112540" marT="45712" marB="45712" anchor="ctr"/>
                </a:tc>
              </a:tr>
              <a:tr h="640154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New Technology</a:t>
                      </a:r>
                      <a:r>
                        <a:rPr lang="en-US" sz="1800" baseline="0" dirty="0">
                          <a:latin typeface="+mj-lt"/>
                        </a:rPr>
                        <a:t> Dissemination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40" marR="112540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Agricultural Logistic</a:t>
                      </a:r>
                      <a:r>
                        <a:rPr lang="en-US" sz="1800" baseline="0" dirty="0">
                          <a:latin typeface="+mj-lt"/>
                        </a:rPr>
                        <a:t> Support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40" marR="112540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Free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Seed distribution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40" marR="112540" marT="45712" marB="4571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4551" y="1676400"/>
            <a:ext cx="3282949" cy="369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lang="en-US" b="1" dirty="0">
                <a:solidFill>
                  <a:prstClr val="black"/>
                </a:solidFill>
              </a:rPr>
              <a:t>Major Activities</a:t>
            </a:r>
          </a:p>
        </p:txBody>
      </p:sp>
      <p:pic>
        <p:nvPicPr>
          <p:cNvPr id="2255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3368" y="1828800"/>
            <a:ext cx="7080251" cy="383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55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3400183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3200" cy="838200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solidFill>
                  <a:srgbClr val="FF0066"/>
                </a:solidFill>
              </a:rPr>
              <a:t>Learning &amp; Innovation Fund to Test New Ideas (LIFT)</a:t>
            </a:r>
            <a:endParaRPr lang="en-US" altLang="en-US" sz="2800" smtClean="0">
              <a:solidFill>
                <a:srgbClr val="0066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6168" y="1828800"/>
          <a:ext cx="5026269" cy="146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6269"/>
              </a:tblGrid>
              <a:tr h="36578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 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Black Bengal Breeding Farm</a:t>
                      </a:r>
                    </a:p>
                  </a:txBody>
                  <a:tcPr marL="112505" marR="112505" marT="45728" marB="4572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Pituitary Gland Possessing Centre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05" marR="112505" marT="45728" marB="45728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Eel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Kuchia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Culture  &amp; Fattening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05" marR="112505" marT="45728" marB="45728" anchor="ctr"/>
                </a:tc>
              </a:tr>
              <a:tr h="3657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Water Plant in Coastal Area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05" marR="112505" marT="45728" marB="4572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567" name="TextBox 5"/>
          <p:cNvSpPr txBox="1">
            <a:spLocks noChangeArrowheads="1"/>
          </p:cNvSpPr>
          <p:nvPr/>
        </p:nvSpPr>
        <p:spPr bwMode="auto">
          <a:xfrm>
            <a:off x="937685" y="1371600"/>
            <a:ext cx="337608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en-US" b="1">
                <a:solidFill>
                  <a:prstClr val="black"/>
                </a:solidFill>
              </a:rPr>
              <a:t>Major Component</a:t>
            </a:r>
          </a:p>
        </p:txBody>
      </p:sp>
      <p:pic>
        <p:nvPicPr>
          <p:cNvPr id="23568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4333" y="3482975"/>
            <a:ext cx="4783667" cy="240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9" name="Picture 9"/>
          <p:cNvPicPr>
            <a:picLocks noChangeAspect="1"/>
          </p:cNvPicPr>
          <p:nvPr/>
        </p:nvPicPr>
        <p:blipFill>
          <a:blip r:embed="rId3" cstate="print"/>
          <a:srcRect t="16667" r="4688" b="8333"/>
          <a:stretch>
            <a:fillRect/>
          </a:stretch>
        </p:blipFill>
        <p:spPr bwMode="auto">
          <a:xfrm>
            <a:off x="6074833" y="1573213"/>
            <a:ext cx="5461000" cy="261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572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375664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3562353" y="169863"/>
            <a:ext cx="5065183" cy="685800"/>
          </a:xfrm>
        </p:spPr>
        <p:txBody>
          <a:bodyPr/>
          <a:lstStyle/>
          <a:p>
            <a:r>
              <a:rPr lang="en-US" altLang="en-US" sz="3200" b="1" smtClean="0">
                <a:solidFill>
                  <a:srgbClr val="0000CC"/>
                </a:solidFill>
                <a:cs typeface="RinkiyMJ" pitchFamily="2" charset="0"/>
              </a:rPr>
              <a:t>Enrich Program</a:t>
            </a:r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type="tbl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065186" y="1676400"/>
            <a:ext cx="6752167" cy="4114800"/>
          </a:xfrm>
          <a:noFill/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3035" y="1295400"/>
          <a:ext cx="4313767" cy="504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3767"/>
              </a:tblGrid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+mj-lt"/>
                        </a:rPr>
                        <a:t>  House hold Visit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2523" marR="112523" marT="45733" marB="4573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aseline="0" dirty="0">
                          <a:latin typeface="+mj-lt"/>
                        </a:rPr>
                        <a:t>  Satellite clinic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23" marR="112523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Special Health Camp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23" marR="112523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Special Eye Camp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23" marR="112523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Skill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Training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23" marR="112523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Income Generating</a:t>
                      </a:r>
                      <a:r>
                        <a:rPr lang="en-US" sz="1800" baseline="0" dirty="0">
                          <a:latin typeface="+mj-lt"/>
                        </a:rPr>
                        <a:t> Activities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23" marR="112523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Water &amp; Sanitation</a:t>
                      </a:r>
                    </a:p>
                  </a:txBody>
                  <a:tcPr marL="112523" marR="112523" marT="45733" marB="45733" anchor="ctr"/>
                </a:tc>
              </a:tr>
              <a:tr h="640143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Awareness Development</a:t>
                      </a:r>
                      <a:r>
                        <a:rPr lang="en-US" sz="1800" baseline="0" dirty="0">
                          <a:latin typeface="+mj-lt"/>
                        </a:rPr>
                        <a:t> Training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23" marR="112523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Beggar</a:t>
                      </a:r>
                      <a:r>
                        <a:rPr lang="en-US" sz="1800" baseline="0" dirty="0">
                          <a:latin typeface="+mj-lt"/>
                        </a:rPr>
                        <a:t> rehabilitation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23" marR="112523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Youth Development</a:t>
                      </a:r>
                      <a:r>
                        <a:rPr lang="en-US" sz="1800" baseline="0" dirty="0">
                          <a:latin typeface="+mj-lt"/>
                        </a:rPr>
                        <a:t>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23" marR="112523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Free</a:t>
                      </a:r>
                      <a:r>
                        <a:rPr lang="en-US" sz="1800" baseline="0" dirty="0">
                          <a:latin typeface="+mj-lt"/>
                        </a:rPr>
                        <a:t> Medicine distribution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23" marR="112523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aseline="0" dirty="0">
                          <a:latin typeface="+mj-lt"/>
                        </a:rPr>
                        <a:t>  Education support Program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23" marR="112523" marT="45733" marB="45733" anchor="ctr"/>
                </a:tc>
              </a:tr>
              <a:tr h="380852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Nutrition </a:t>
                      </a:r>
                    </a:p>
                  </a:txBody>
                  <a:tcPr marL="112523" marR="112523" marT="45733" marB="45733" anchor="ctr"/>
                </a:tc>
              </a:tr>
            </a:tbl>
          </a:graphicData>
        </a:graphic>
      </p:graphicFrame>
      <p:sp>
        <p:nvSpPr>
          <p:cNvPr id="24610" name="TextBox 4"/>
          <p:cNvSpPr txBox="1">
            <a:spLocks noChangeArrowheads="1"/>
          </p:cNvSpPr>
          <p:nvPr/>
        </p:nvSpPr>
        <p:spPr bwMode="auto">
          <a:xfrm>
            <a:off x="609600" y="838200"/>
            <a:ext cx="375073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en-US" b="1">
                <a:solidFill>
                  <a:prstClr val="black"/>
                </a:solidFill>
              </a:rPr>
              <a:t>Major Activities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613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9014846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782235" y="184150"/>
            <a:ext cx="787823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</a:pPr>
            <a:r>
              <a:rPr lang="en-US" altLang="en-US" sz="3200" b="1">
                <a:solidFill>
                  <a:srgbClr val="0070C0"/>
                </a:solidFill>
              </a:rPr>
              <a:t>Community Health Services</a:t>
            </a:r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4978400" y="876302"/>
            <a:ext cx="61976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00050" indent="-400050" algn="ctr" defTabSz="914400">
              <a:lnSpc>
                <a:spcPct val="120000"/>
              </a:lnSpc>
              <a:spcBef>
                <a:spcPct val="50000"/>
              </a:spcBef>
              <a:buFont typeface="Candid" pitchFamily="18" charset="2"/>
              <a:buNone/>
            </a:pPr>
            <a:r>
              <a:rPr lang="en-US" altLang="en-US" sz="2400">
                <a:solidFill>
                  <a:prstClr val="black"/>
                </a:solidFill>
              </a:rPr>
              <a:t>Working Area: 14 Districts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3036" y="1752603"/>
          <a:ext cx="4220634" cy="439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5131"/>
                <a:gridCol w="1125503"/>
              </a:tblGrid>
              <a:tr h="701098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Community Midwife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2540" marR="11254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</a:p>
                  </a:txBody>
                  <a:tcPr marL="112540" marR="112540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6650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Satellite clinic held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112540" marR="112540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2156</a:t>
                      </a:r>
                    </a:p>
                  </a:txBody>
                  <a:tcPr marL="112540" marR="112540" marT="45725" marB="45725" anchor="ctr"/>
                </a:tc>
              </a:tr>
              <a:tr h="4310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ANC 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0" marR="112540" marT="45725" marB="45725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20000</a:t>
                      </a:r>
                    </a:p>
                  </a:txBody>
                  <a:tcPr marL="112540" marR="112540" marT="45725" marB="45725" anchor="ctr"/>
                </a:tc>
              </a:tr>
              <a:tr h="5061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PNC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0" marR="112540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+mj-lt"/>
                        </a:rPr>
                        <a:t>3300</a:t>
                      </a:r>
                    </a:p>
                  </a:txBody>
                  <a:tcPr marL="112540" marR="112540" marT="45725" marB="45725" anchor="ctr"/>
                </a:tc>
              </a:tr>
              <a:tr h="4483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Pathological Test </a:t>
                      </a:r>
                    </a:p>
                  </a:txBody>
                  <a:tcPr marL="112540" marR="112540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26000</a:t>
                      </a:r>
                    </a:p>
                  </a:txBody>
                  <a:tcPr marL="112540" marR="112540" marT="45725" marB="45725" anchor="ctr"/>
                </a:tc>
              </a:tr>
              <a:tr h="52653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General Patient</a:t>
                      </a:r>
                      <a:r>
                        <a:rPr lang="en-US" sz="2000" baseline="0" dirty="0">
                          <a:latin typeface="+mj-lt"/>
                        </a:rPr>
                        <a:t>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112540" marR="112540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19500</a:t>
                      </a:r>
                    </a:p>
                  </a:txBody>
                  <a:tcPr marL="112540" marR="112540" marT="45725" marB="45725" anchor="ctr"/>
                </a:tc>
              </a:tr>
              <a:tr h="701098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>
                          <a:latin typeface="+mj-lt"/>
                        </a:rPr>
                        <a:t>Average Growth Monitoring  (0-3 Yrs)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112540" marR="112540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12300</a:t>
                      </a:r>
                    </a:p>
                  </a:txBody>
                  <a:tcPr marL="112540" marR="112540" marT="45725" marB="45725" anchor="ctr"/>
                </a:tc>
              </a:tr>
              <a:tr h="64800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Refer</a:t>
                      </a:r>
                      <a:r>
                        <a:rPr lang="en-US" sz="2000" baseline="0" dirty="0">
                          <a:latin typeface="+mj-lt"/>
                        </a:rPr>
                        <a:t> to Hospital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112540" marR="112540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2500</a:t>
                      </a:r>
                    </a:p>
                  </a:txBody>
                  <a:tcPr marL="112540" marR="112540" marT="45725" marB="45725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563036" y="1066800"/>
            <a:ext cx="4220633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defTabSz="914400">
              <a:defRPr/>
            </a:pPr>
            <a:r>
              <a:rPr lang="en-US" dirty="0">
                <a:solidFill>
                  <a:prstClr val="white"/>
                </a:solidFill>
              </a:rPr>
              <a:t>Monthly Performance</a:t>
            </a:r>
          </a:p>
        </p:txBody>
      </p:sp>
      <p:pic>
        <p:nvPicPr>
          <p:cNvPr id="2563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2" y="1676400"/>
            <a:ext cx="7109884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923369" y="5791203"/>
            <a:ext cx="4322233" cy="360363"/>
          </a:xfrm>
          <a:prstGeom prst="rect">
            <a:avLst/>
          </a:prstGeom>
        </p:spPr>
        <p:txBody>
          <a:bodyPr/>
          <a:lstStyle/>
          <a:p>
            <a:pPr algn="ctr" defTabSz="914400">
              <a:defRPr/>
            </a:pPr>
            <a:r>
              <a:rPr lang="en-US" kern="0" dirty="0">
                <a:solidFill>
                  <a:srgbClr val="A5C249">
                    <a:lumMod val="50000"/>
                  </a:srgbClr>
                </a:solidFill>
                <a:cs typeface="SutonnyMJ" pitchFamily="2" charset="0"/>
              </a:rPr>
              <a:t>Picture of</a:t>
            </a:r>
            <a:r>
              <a:rPr lang="en-US" kern="0" dirty="0">
                <a:solidFill>
                  <a:srgbClr val="A5C249">
                    <a:lumMod val="50000"/>
                  </a:srgbClr>
                </a:solidFill>
                <a:latin typeface="Calibri"/>
                <a:cs typeface="SutonnyMJ" pitchFamily="2" charset="0"/>
              </a:rPr>
              <a:t> Satellite Clinic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63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599568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968501" y="609600"/>
            <a:ext cx="8441267" cy="762000"/>
          </a:xfrm>
        </p:spPr>
        <p:txBody>
          <a:bodyPr/>
          <a:lstStyle/>
          <a:p>
            <a:r>
              <a:rPr lang="en-US" altLang="en-US" sz="2800" b="1" smtClean="0">
                <a:solidFill>
                  <a:srgbClr val="0000CC"/>
                </a:solidFill>
                <a:cs typeface="RinkiyMJ" pitchFamily="2" charset="0"/>
              </a:rPr>
              <a:t>Food Assistance for Poor Disabled People</a:t>
            </a:r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type="tbl" idx="1"/>
          </p:nvPr>
        </p:nvPicPr>
        <p:blipFill>
          <a:blip r:embed="rId2"/>
          <a:srcRect l="2695"/>
          <a:stretch>
            <a:fillRect/>
          </a:stretch>
        </p:blipFill>
        <p:spPr>
          <a:xfrm>
            <a:off x="4688419" y="1981200"/>
            <a:ext cx="7128933" cy="3657600"/>
          </a:xfrm>
          <a:noFill/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8386" y="1981202"/>
          <a:ext cx="4220633" cy="2693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380"/>
                <a:gridCol w="1688253"/>
              </a:tblGrid>
              <a:tr h="699207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Food Receiver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2540" marR="112540" marT="45742" marB="4574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350</a:t>
                      </a:r>
                    </a:p>
                  </a:txBody>
                  <a:tcPr marL="112540" marR="112540" marT="45742" marB="4574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05937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Total Budget per person per month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112540" marR="112540" marT="45742" marB="45742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tk. 1200</a:t>
                      </a:r>
                    </a:p>
                  </a:txBody>
                  <a:tcPr marL="112540" marR="112540" marT="45742" marB="45742" anchor="ctr"/>
                </a:tc>
              </a:tr>
              <a:tr h="5924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Early Budget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0" marR="112540" marT="45742" marB="45742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63,70,000</a:t>
                      </a:r>
                    </a:p>
                  </a:txBody>
                  <a:tcPr marL="112540" marR="112540" marT="45742" marB="45742" anchor="ctr"/>
                </a:tc>
              </a:tr>
              <a:tr h="396379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+mj-lt"/>
                      </a:endParaRPr>
                    </a:p>
                  </a:txBody>
                  <a:tcPr marL="112540" marR="112540" marT="45742" marB="45742" anchor="ctr"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+mj-lt"/>
                      </a:endParaRPr>
                    </a:p>
                  </a:txBody>
                  <a:tcPr marL="112540" marR="112540" marT="45742" marB="45742" anchor="ctr"/>
                </a:tc>
              </a:tr>
            </a:tbl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64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006809864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219202" y="609600"/>
            <a:ext cx="9565217" cy="685800"/>
          </a:xfrm>
        </p:spPr>
        <p:txBody>
          <a:bodyPr/>
          <a:lstStyle/>
          <a:p>
            <a:r>
              <a:rPr lang="en-US" altLang="en-US" sz="2800" b="1" smtClean="0">
                <a:solidFill>
                  <a:srgbClr val="0070C0"/>
                </a:solidFill>
                <a:cs typeface="SutonnyMJ" pitchFamily="2" charset="0"/>
              </a:rPr>
              <a:t>Scholarship Program for Poor &amp; Merit Student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/>
          <a:srcRect l="10883"/>
          <a:stretch>
            <a:fillRect/>
          </a:stretch>
        </p:blipFill>
        <p:spPr bwMode="auto">
          <a:xfrm>
            <a:off x="4220633" y="1828800"/>
            <a:ext cx="7679267" cy="393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656169" y="1828801"/>
            <a:ext cx="318981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en-US" sz="2000">
                <a:solidFill>
                  <a:prstClr val="black"/>
                </a:solidFill>
              </a:rPr>
              <a:t>376 poor students in our Microfinance  Beneficiary`s Family are got  GPA 5 in SSC Exam 2018 and every body received tk. 10,000-12,000/-  under Scholarship Progam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65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763325005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997200" y="533400"/>
            <a:ext cx="6377517" cy="609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914400">
              <a:spcBef>
                <a:spcPct val="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003300"/>
                </a:solidFill>
              </a:rPr>
              <a:t>Housing Assistance </a:t>
            </a:r>
          </a:p>
        </p:txBody>
      </p:sp>
      <p:pic>
        <p:nvPicPr>
          <p:cNvPr id="29699" name="Picture 2"/>
          <p:cNvPicPr>
            <a:picLocks noChangeAspect="1"/>
          </p:cNvPicPr>
          <p:nvPr/>
        </p:nvPicPr>
        <p:blipFill>
          <a:blip r:embed="rId2"/>
          <a:srcRect l="2287" r="9004"/>
          <a:stretch>
            <a:fillRect/>
          </a:stretch>
        </p:blipFill>
        <p:spPr bwMode="auto">
          <a:xfrm>
            <a:off x="469900" y="1524000"/>
            <a:ext cx="515620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0" name="Picture 3"/>
          <p:cNvPicPr>
            <a:picLocks noChangeAspect="1"/>
          </p:cNvPicPr>
          <p:nvPr/>
        </p:nvPicPr>
        <p:blipFill>
          <a:blip r:embed="rId3"/>
          <a:srcRect l="3899" r="2551"/>
          <a:stretch>
            <a:fillRect/>
          </a:stretch>
        </p:blipFill>
        <p:spPr bwMode="auto">
          <a:xfrm>
            <a:off x="6377520" y="1524000"/>
            <a:ext cx="5439833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1543052" y="5119689"/>
            <a:ext cx="18879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/>
            <a:r>
              <a:rPr lang="en-US" altLang="en-US">
                <a:solidFill>
                  <a:prstClr val="black"/>
                </a:solidFill>
              </a:rPr>
              <a:t>Before Condition</a:t>
            </a:r>
          </a:p>
        </p:txBody>
      </p:sp>
      <p:sp>
        <p:nvSpPr>
          <p:cNvPr id="29702" name="TextBox 5"/>
          <p:cNvSpPr txBox="1">
            <a:spLocks noChangeArrowheads="1"/>
          </p:cNvSpPr>
          <p:nvPr/>
        </p:nvSpPr>
        <p:spPr bwMode="auto">
          <a:xfrm>
            <a:off x="7975600" y="5119689"/>
            <a:ext cx="17511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/>
            <a:r>
              <a:rPr lang="en-US" altLang="en-US">
                <a:solidFill>
                  <a:prstClr val="black"/>
                </a:solidFill>
              </a:rPr>
              <a:t>After Condition</a:t>
            </a: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70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3591577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2032000" y="609600"/>
            <a:ext cx="7620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defTabSz="914400">
              <a:defRPr/>
            </a:pPr>
            <a:r>
              <a:rPr lang="en-US" sz="2400" b="1" dirty="0">
                <a:solidFill>
                  <a:prstClr val="black"/>
                </a:solidFill>
              </a:rPr>
              <a:t>Community Base Ambulance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752600"/>
            <a:ext cx="4775200" cy="2738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defTabSz="914400">
              <a:defRPr/>
            </a:pPr>
            <a:r>
              <a:rPr lang="en-US" dirty="0">
                <a:solidFill>
                  <a:srgbClr val="0000CC"/>
                </a:solidFill>
              </a:rPr>
              <a:t>12 Ambulance are serving in different area in community.</a:t>
            </a:r>
          </a:p>
          <a:p>
            <a:pPr defTabSz="914400">
              <a:defRPr/>
            </a:pPr>
            <a:endParaRPr lang="en-US" dirty="0">
              <a:solidFill>
                <a:prstClr val="black"/>
              </a:solidFill>
            </a:endParaRPr>
          </a:p>
          <a:p>
            <a:pPr defTabSz="914400">
              <a:defRPr/>
            </a:pPr>
            <a:r>
              <a:rPr lang="en-US" b="1" u="sng" dirty="0">
                <a:solidFill>
                  <a:srgbClr val="A5C249">
                    <a:lumMod val="50000"/>
                  </a:srgbClr>
                </a:solidFill>
              </a:rPr>
              <a:t>Specialty</a:t>
            </a:r>
          </a:p>
          <a:p>
            <a:pPr defTabSz="914400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</a:rPr>
              <a:t> Very low cost service (Less than 50% of market Price)</a:t>
            </a:r>
          </a:p>
          <a:p>
            <a:pPr defTabSz="914400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</a:rPr>
              <a:t> Full free at 8.00pm to 6.00am for Pregnant Mother</a:t>
            </a:r>
          </a:p>
          <a:p>
            <a:pPr defTabSz="914400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</a:rPr>
              <a:t> Easy &amp; Quick</a:t>
            </a: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2" y="1524000"/>
            <a:ext cx="6517217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2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3220504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ChangeArrowheads="1"/>
          </p:cNvSpPr>
          <p:nvPr/>
        </p:nvSpPr>
        <p:spPr bwMode="auto">
          <a:xfrm>
            <a:off x="3750735" y="533400"/>
            <a:ext cx="4313767" cy="609600"/>
          </a:xfrm>
          <a:prstGeom prst="rect">
            <a:avLst/>
          </a:prstGeom>
          <a:solidFill>
            <a:srgbClr val="FFCC66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 defTabSz="914400"/>
            <a:r>
              <a:rPr lang="en-US" altLang="en-US">
                <a:solidFill>
                  <a:prstClr val="black"/>
                </a:solidFill>
              </a:rPr>
              <a:t>Fistula Care Project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9902" y="2209800"/>
          <a:ext cx="4313767" cy="1738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3767"/>
              </a:tblGrid>
              <a:tr h="6402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Awareness Development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Training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23" marR="112523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Patient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Screening  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23" marR="112523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Treatment</a:t>
                      </a:r>
                      <a:r>
                        <a:rPr lang="en-US" sz="1800" baseline="0" dirty="0">
                          <a:latin typeface="+mj-lt"/>
                        </a:rPr>
                        <a:t> 223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23" marR="112523" marT="45756" marB="45756" anchor="ctr"/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Rehabilitation</a:t>
                      </a:r>
                      <a:r>
                        <a:rPr lang="en-US" sz="1800" baseline="0" dirty="0">
                          <a:latin typeface="+mj-lt"/>
                        </a:rPr>
                        <a:t> 61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112523" marR="112523" marT="45756" marB="45756"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563033" y="4648200"/>
            <a:ext cx="4125384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914400">
              <a:defRPr/>
            </a:pPr>
            <a:r>
              <a:rPr lang="en-US" sz="2000" dirty="0">
                <a:solidFill>
                  <a:prstClr val="black"/>
                </a:solidFill>
              </a:rPr>
              <a:t>All Services are free of cost</a:t>
            </a:r>
          </a:p>
        </p:txBody>
      </p:sp>
      <p:pic>
        <p:nvPicPr>
          <p:cNvPr id="3483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58317" y="2057400"/>
            <a:ext cx="6612467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83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0427169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2"/>
          <p:cNvSpPr txBox="1">
            <a:spLocks noChangeArrowheads="1"/>
          </p:cNvSpPr>
          <p:nvPr/>
        </p:nvSpPr>
        <p:spPr bwMode="auto">
          <a:xfrm>
            <a:off x="3149602" y="609600"/>
            <a:ext cx="5814484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en-US" sz="2800">
                <a:solidFill>
                  <a:prstClr val="black"/>
                </a:solidFill>
              </a:rPr>
              <a:t>Orphanage Program</a:t>
            </a:r>
          </a:p>
          <a:p>
            <a:pPr algn="ctr" defTabSz="914400"/>
            <a:r>
              <a:rPr lang="en-US" altLang="en-US">
                <a:solidFill>
                  <a:prstClr val="black"/>
                </a:solidFill>
              </a:rPr>
              <a:t>Total Student 50</a:t>
            </a:r>
          </a:p>
        </p:txBody>
      </p:sp>
      <p:pic>
        <p:nvPicPr>
          <p:cNvPr id="3584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51102" y="2057401"/>
            <a:ext cx="7948084" cy="362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846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9005165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2"/>
          <p:cNvSpPr txBox="1">
            <a:spLocks noChangeArrowheads="1"/>
          </p:cNvSpPr>
          <p:nvPr/>
        </p:nvSpPr>
        <p:spPr bwMode="auto">
          <a:xfrm>
            <a:off x="304800" y="4648200"/>
            <a:ext cx="26416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solidFill>
                  <a:prstClr val="black"/>
                </a:solidFill>
                <a:latin typeface="Corbel" pitchFamily="34" charset="0"/>
              </a:rPr>
              <a:t>Ad-din Nursing Institute, Jessore</a:t>
            </a:r>
          </a:p>
          <a:p>
            <a:pPr algn="ctr" defTabSz="914400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solidFill>
                  <a:prstClr val="black"/>
                </a:solidFill>
                <a:latin typeface="Corbel" pitchFamily="34" charset="0"/>
              </a:rPr>
              <a:t>Estd. Aug 1997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1727200" y="304800"/>
            <a:ext cx="9144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>
                <a:solidFill>
                  <a:prstClr val="black"/>
                </a:solidFill>
                <a:latin typeface="Corbel" pitchFamily="34" charset="0"/>
              </a:rPr>
              <a:t>Nursing Institutes</a:t>
            </a: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4222751" y="4727577"/>
            <a:ext cx="264160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</a:pPr>
            <a:r>
              <a:rPr lang="en-US" altLang="en-US" sz="1600" b="1">
                <a:solidFill>
                  <a:prstClr val="black"/>
                </a:solidFill>
                <a:latin typeface="Corbel" pitchFamily="34" charset="0"/>
              </a:rPr>
              <a:t>Fatema Nursing Institute, Dhaka Estd. Jul 2006</a:t>
            </a:r>
          </a:p>
        </p:txBody>
      </p:sp>
      <p:sp>
        <p:nvSpPr>
          <p:cNvPr id="4104" name="Text Box 5"/>
          <p:cNvSpPr txBox="1">
            <a:spLocks noChangeArrowheads="1"/>
          </p:cNvSpPr>
          <p:nvPr/>
        </p:nvSpPr>
        <p:spPr bwMode="auto">
          <a:xfrm>
            <a:off x="8331200" y="5057777"/>
            <a:ext cx="2641600" cy="584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</a:pPr>
            <a:r>
              <a:rPr lang="en-US" altLang="en-US" sz="1600" b="1">
                <a:solidFill>
                  <a:prstClr val="black"/>
                </a:solidFill>
                <a:latin typeface="Corbel" pitchFamily="34" charset="0"/>
              </a:rPr>
              <a:t>Safina Nursing Institute, Kushtia Estd. Sept 2005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543301" y="2286000"/>
          <a:ext cx="4210051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Photo Editor Photo" r:id="rId3" imgW="6095238" imgH="4571429" progId="">
                  <p:embed/>
                </p:oleObj>
              </mc:Choice>
              <mc:Fallback>
                <p:oleObj name="Photo Editor Photo" r:id="rId3" imgW="6095238" imgH="45714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1" y="2286000"/>
                        <a:ext cx="4210051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01600" y="1295400"/>
          <a:ext cx="3384551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Image" r:id="rId5" imgW="2684584" imgH="3465525" progId="">
                  <p:embed/>
                </p:oleObj>
              </mc:Choice>
              <mc:Fallback>
                <p:oleObj name="Image" r:id="rId5" imgW="2684584" imgH="34655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" y="1295400"/>
                        <a:ext cx="3384551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7861300" y="2667002"/>
          <a:ext cx="42672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Image" r:id="rId7" imgW="3981689" imgH="2998228" progId="">
                  <p:embed/>
                </p:oleObj>
              </mc:Choice>
              <mc:Fallback>
                <p:oleObj name="Image" r:id="rId7" imgW="3981689" imgH="299822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0" y="2667002"/>
                        <a:ext cx="4267200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Line 10"/>
          <p:cNvSpPr>
            <a:spLocks noChangeShapeType="1"/>
          </p:cNvSpPr>
          <p:nvPr/>
        </p:nvSpPr>
        <p:spPr bwMode="auto">
          <a:xfrm>
            <a:off x="0" y="1066800"/>
            <a:ext cx="12192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pPr defTabSz="914400"/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0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9599474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Text Box 2"/>
          <p:cNvSpPr txBox="1">
            <a:spLocks noChangeArrowheads="1"/>
          </p:cNvSpPr>
          <p:nvPr/>
        </p:nvSpPr>
        <p:spPr bwMode="auto">
          <a:xfrm>
            <a:off x="609600" y="228602"/>
            <a:ext cx="1127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en-US" sz="2800" b="1">
                <a:solidFill>
                  <a:srgbClr val="0000FF"/>
                </a:solidFill>
                <a:latin typeface="Times New Roman" pitchFamily="18" charset="0"/>
              </a:rPr>
              <a:t>Business Initiatives to Support Other Social Activities</a:t>
            </a:r>
          </a:p>
        </p:txBody>
      </p:sp>
      <p:sp>
        <p:nvSpPr>
          <p:cNvPr id="5126" name="Text Box 3"/>
          <p:cNvSpPr txBox="1">
            <a:spLocks noChangeArrowheads="1"/>
          </p:cNvSpPr>
          <p:nvPr/>
        </p:nvSpPr>
        <p:spPr bwMode="auto">
          <a:xfrm>
            <a:off x="1828800" y="4953000"/>
            <a:ext cx="3657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</a:pP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</a:t>
            </a:r>
            <a:r>
              <a:rPr lang="en-US" altLang="en-US" sz="2400" b="1">
                <a:solidFill>
                  <a:srgbClr val="E2D700"/>
                </a:solidFill>
                <a:latin typeface="Tahoma" pitchFamily="34" charset="0"/>
              </a:rPr>
              <a:t>Ad-din</a:t>
            </a: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Printers</a:t>
            </a:r>
          </a:p>
        </p:txBody>
      </p:sp>
      <p:pic>
        <p:nvPicPr>
          <p:cNvPr id="5127" name="Picture 4" descr="43"/>
          <p:cNvPicPr>
            <a:picLocks noChangeAspect="1" noChangeArrowheads="1"/>
          </p:cNvPicPr>
          <p:nvPr/>
        </p:nvPicPr>
        <p:blipFill>
          <a:blip r:embed="rId3">
            <a:lum bright="-18000" contrast="6000"/>
          </a:blip>
          <a:srcRect l="6818"/>
          <a:stretch>
            <a:fillRect/>
          </a:stretch>
        </p:blipFill>
        <p:spPr bwMode="auto">
          <a:xfrm>
            <a:off x="508000" y="838202"/>
            <a:ext cx="6096000" cy="402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8" name="Text Box 5"/>
          <p:cNvSpPr txBox="1">
            <a:spLocks noChangeArrowheads="1"/>
          </p:cNvSpPr>
          <p:nvPr/>
        </p:nvSpPr>
        <p:spPr bwMode="auto">
          <a:xfrm>
            <a:off x="6908800" y="5410203"/>
            <a:ext cx="4673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</a:pP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</a:t>
            </a:r>
            <a:r>
              <a:rPr lang="en-US" altLang="en-US" sz="2400" b="1">
                <a:solidFill>
                  <a:srgbClr val="E2D700"/>
                </a:solidFill>
                <a:latin typeface="Tahoma" pitchFamily="34" charset="0"/>
              </a:rPr>
              <a:t>Ad-din</a:t>
            </a: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Pharmaceutical</a:t>
            </a:r>
          </a:p>
        </p:txBody>
      </p:sp>
      <p:graphicFrame>
        <p:nvGraphicFramePr>
          <p:cNvPr id="5122" name="Object 6"/>
          <p:cNvGraphicFramePr>
            <a:graphicFrameLocks noChangeAspect="1"/>
          </p:cNvGraphicFramePr>
          <p:nvPr/>
        </p:nvGraphicFramePr>
        <p:xfrm>
          <a:off x="6807200" y="1143002"/>
          <a:ext cx="4978400" cy="324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Bitmap Image" r:id="rId4" imgW="5495238" imgH="4238095" progId="Paint.Picture">
                  <p:embed/>
                </p:oleObj>
              </mc:Choice>
              <mc:Fallback>
                <p:oleObj name="Bitmap Image" r:id="rId4" imgW="5495238" imgH="423809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2000" contrast="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200" y="1143002"/>
                        <a:ext cx="4978400" cy="324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6908800" y="4383091"/>
          <a:ext cx="17272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Bitmap Image" r:id="rId6" imgW="3247619" imgH="3619048" progId="Paint.Picture">
                  <p:embed/>
                </p:oleObj>
              </mc:Choice>
              <mc:Fallback>
                <p:oleObj name="Bitmap Image" r:id="rId6" imgW="3247619" imgH="361904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2631" r="20273" b="20000"/>
                      <a:stretch>
                        <a:fillRect/>
                      </a:stretch>
                    </p:blipFill>
                    <p:spPr bwMode="auto">
                      <a:xfrm>
                        <a:off x="6908800" y="4383091"/>
                        <a:ext cx="17272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8"/>
          <p:cNvGraphicFramePr>
            <a:graphicFrameLocks noChangeAspect="1"/>
          </p:cNvGraphicFramePr>
          <p:nvPr/>
        </p:nvGraphicFramePr>
        <p:xfrm>
          <a:off x="10160000" y="4384675"/>
          <a:ext cx="1524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Bitmap Image" r:id="rId8" imgW="5238095" imgH="3772427" progId="Paint.Picture">
                  <p:embed/>
                </p:oleObj>
              </mc:Choice>
              <mc:Fallback>
                <p:oleObj name="Bitmap Image" r:id="rId8" imgW="5238095" imgH="377242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3817" t="33730" r="29637" b="11617"/>
                      <a:stretch>
                        <a:fillRect/>
                      </a:stretch>
                    </p:blipFill>
                    <p:spPr bwMode="auto">
                      <a:xfrm>
                        <a:off x="10160000" y="4384675"/>
                        <a:ext cx="1524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31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4052941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7416800" y="5124451"/>
            <a:ext cx="4775200" cy="674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914400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altLang="en-US">
                <a:solidFill>
                  <a:srgbClr val="003300"/>
                </a:solidFill>
              </a:rPr>
              <a:t>Established in 9 Oct 1998</a:t>
            </a:r>
          </a:p>
          <a:p>
            <a:pPr marL="342900" indent="-342900" defTabSz="914400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altLang="en-US">
                <a:solidFill>
                  <a:srgbClr val="003300"/>
                </a:solidFill>
              </a:rPr>
              <a:t>Formal Inauguration 31 March 2000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844800" y="228600"/>
            <a:ext cx="6197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/>
            <a:r>
              <a:rPr lang="en-US" altLang="en-US" sz="4000" b="1">
                <a:solidFill>
                  <a:srgbClr val="990033"/>
                </a:solidFill>
                <a:latin typeface="Times New Roman" pitchFamily="18" charset="0"/>
              </a:rPr>
              <a:t>Formal Education</a:t>
            </a:r>
          </a:p>
        </p:txBody>
      </p:sp>
      <p:pic>
        <p:nvPicPr>
          <p:cNvPr id="38916" name="Picture 5" descr="3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24800" y="1543051"/>
            <a:ext cx="3962400" cy="180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6" descr="31"/>
          <p:cNvPicPr>
            <a:picLocks noChangeAspect="1" noChangeArrowheads="1"/>
          </p:cNvPicPr>
          <p:nvPr/>
        </p:nvPicPr>
        <p:blipFill>
          <a:blip r:embed="rId3"/>
          <a:srcRect r="5556"/>
          <a:stretch>
            <a:fillRect/>
          </a:stretch>
        </p:blipFill>
        <p:spPr bwMode="auto">
          <a:xfrm>
            <a:off x="7924800" y="3371850"/>
            <a:ext cx="3962400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914402" y="1295400"/>
            <a:ext cx="23641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/>
            <a:r>
              <a:rPr lang="en-US" altLang="en-US">
                <a:solidFill>
                  <a:srgbClr val="0070C0"/>
                </a:solidFill>
              </a:rPr>
              <a:t>Akij Collegiate School</a:t>
            </a:r>
          </a:p>
        </p:txBody>
      </p:sp>
      <p:sp>
        <p:nvSpPr>
          <p:cNvPr id="38919" name="Rectangle 9"/>
          <p:cNvSpPr>
            <a:spLocks noChangeArrowheads="1"/>
          </p:cNvSpPr>
          <p:nvPr/>
        </p:nvSpPr>
        <p:spPr bwMode="auto">
          <a:xfrm>
            <a:off x="8331200" y="100965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en-US">
                <a:solidFill>
                  <a:srgbClr val="0070C0"/>
                </a:solidFill>
              </a:rPr>
              <a:t>Sakina Grils School</a:t>
            </a:r>
          </a:p>
        </p:txBody>
      </p:sp>
      <p:pic>
        <p:nvPicPr>
          <p:cNvPr id="38920" name="Picture 2" descr="D:\Office\Akij School\School Picture\School Building for online  Pictur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1600200"/>
            <a:ext cx="5825067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21" name="TextBox 11"/>
          <p:cNvSpPr txBox="1">
            <a:spLocks noChangeArrowheads="1"/>
          </p:cNvSpPr>
          <p:nvPr/>
        </p:nvSpPr>
        <p:spPr bwMode="auto">
          <a:xfrm>
            <a:off x="508000" y="5029203"/>
            <a:ext cx="4470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en-US" altLang="en-US">
                <a:solidFill>
                  <a:prstClr val="black"/>
                </a:solidFill>
              </a:rPr>
              <a:t>Established in  1991 </a:t>
            </a:r>
          </a:p>
          <a:p>
            <a:pPr defTabSz="914400"/>
            <a:r>
              <a:rPr lang="en-US" altLang="en-US">
                <a:solidFill>
                  <a:prstClr val="black"/>
                </a:solidFill>
              </a:rPr>
              <a:t>at Navaran, Jashore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06400" y="6019800"/>
            <a:ext cx="11176000" cy="736600"/>
            <a:chOff x="304800" y="6019800"/>
            <a:chExt cx="8382000" cy="7366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924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0485646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 All</a:t>
            </a:r>
            <a:endParaRPr lang="en-US" dirty="0"/>
          </a:p>
        </p:txBody>
      </p:sp>
      <p:pic>
        <p:nvPicPr>
          <p:cNvPr id="4" name="Chart Placeholder 3" descr="42035063772_33e27d5616_b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1983208" y="1981200"/>
            <a:ext cx="8225584" cy="4114800"/>
          </a:xfrm>
        </p:spPr>
      </p:pic>
    </p:spTree>
    <p:extLst>
      <p:ext uri="{BB962C8B-B14F-4D97-AF65-F5344CB8AC3E}">
        <p14:creationId xmlns:p14="http://schemas.microsoft.com/office/powerpoint/2010/main" val="1704676024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3124" y="2"/>
            <a:ext cx="12126809" cy="106914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smtClean="0">
                <a:solidFill>
                  <a:prstClr val="white"/>
                </a:solidFill>
              </a:rPr>
              <a:t>Development of Chowgacha Upazilla by Divine Group</a:t>
            </a:r>
            <a:endParaRPr lang="en-US" sz="3600" b="1" dirty="0">
              <a:solidFill>
                <a:prstClr val="white"/>
              </a:solidFill>
            </a:endParaRPr>
          </a:p>
        </p:txBody>
      </p:sp>
      <p:pic>
        <p:nvPicPr>
          <p:cNvPr id="5" name="Content Placeholder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043" y="4038600"/>
            <a:ext cx="54356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24" y="4000500"/>
            <a:ext cx="5689600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26" y="1069144"/>
            <a:ext cx="5779153" cy="2743201"/>
          </a:xfrm>
          <a:prstGeom prst="rect">
            <a:avLst/>
          </a:prstGeom>
        </p:spPr>
      </p:pic>
      <p:pic>
        <p:nvPicPr>
          <p:cNvPr id="9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00800" y="1143000"/>
            <a:ext cx="5435600" cy="2667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566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03200" y="4267200"/>
            <a:ext cx="6400800" cy="1752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Devine group supports 28 colleges, schools, madrasas and 110 primary schools for educational development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3" descr="G:\G\Picture Chaugachha\New folder\DSC00422.JPG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129867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:\G\Picture Chaugachha\New folder\DSC00432.JPG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657600"/>
            <a:ext cx="54864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itle 8"/>
          <p:cNvSpPr txBox="1">
            <a:spLocks/>
          </p:cNvSpPr>
          <p:nvPr/>
        </p:nvSpPr>
        <p:spPr>
          <a:xfrm>
            <a:off x="6299200" y="914400"/>
            <a:ext cx="5689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 smtClean="0">
                <a:solidFill>
                  <a:prstClr val="black"/>
                </a:solidFill>
              </a:rPr>
              <a:t>ABCD College is a Union level college having 3 </a:t>
            </a:r>
            <a:r>
              <a:rPr lang="en-US" sz="2400" dirty="0" err="1" smtClean="0">
                <a:solidFill>
                  <a:prstClr val="black"/>
                </a:solidFill>
              </a:rPr>
              <a:t>Hons</a:t>
            </a:r>
            <a:r>
              <a:rPr lang="en-US" sz="2400" dirty="0" smtClean="0">
                <a:solidFill>
                  <a:prstClr val="black"/>
                </a:solidFill>
              </a:rPr>
              <a:t>. </a:t>
            </a:r>
            <a:r>
              <a:rPr lang="en-US" sz="2400" dirty="0">
                <a:solidFill>
                  <a:prstClr val="black"/>
                </a:solidFill>
              </a:rPr>
              <a:t>Subject. The College </a:t>
            </a:r>
            <a:r>
              <a:rPr lang="en-US" sz="2400" dirty="0" smtClean="0">
                <a:solidFill>
                  <a:prstClr val="black"/>
                </a:solidFill>
              </a:rPr>
              <a:t>has </a:t>
            </a:r>
            <a:r>
              <a:rPr lang="en-US" sz="2400" dirty="0">
                <a:solidFill>
                  <a:prstClr val="black"/>
                </a:solidFill>
              </a:rPr>
              <a:t>got a large grant from Devine Group.</a:t>
            </a:r>
            <a:endParaRPr lang="en-US" sz="2400" dirty="0" smtClean="0">
              <a:solidFill>
                <a:prstClr val="black"/>
              </a:solidFill>
            </a:endParaRPr>
          </a:p>
          <a:p>
            <a:endParaRPr lang="en-US" sz="1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24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52401"/>
            <a:ext cx="5590672" cy="3124199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3733800"/>
            <a:ext cx="5689600" cy="2885318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6096000" y="1066800"/>
            <a:ext cx="5791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 smtClean="0">
                <a:solidFill>
                  <a:prstClr val="black"/>
                </a:solidFill>
              </a:rPr>
              <a:t>Orphanage Centre supported by Devine Group in Chowgacha.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304800" y="4343400"/>
            <a:ext cx="5791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34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2400"/>
            <a:ext cx="6096000" cy="3048000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406400" y="4572000"/>
            <a:ext cx="5689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ubtitle 8"/>
          <p:cNvSpPr txBox="1">
            <a:spLocks/>
          </p:cNvSpPr>
          <p:nvPr/>
        </p:nvSpPr>
        <p:spPr>
          <a:xfrm>
            <a:off x="6502400" y="914400"/>
            <a:ext cx="5588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 smtClean="0">
                <a:solidFill>
                  <a:prstClr val="black"/>
                </a:solidFill>
              </a:rPr>
              <a:t>A large cold storage for Potato made by </a:t>
            </a:r>
            <a:r>
              <a:rPr lang="en-US" dirty="0">
                <a:solidFill>
                  <a:prstClr val="black"/>
                </a:solidFill>
              </a:rPr>
              <a:t>D</a:t>
            </a:r>
            <a:r>
              <a:rPr lang="en-US" dirty="0" smtClean="0">
                <a:solidFill>
                  <a:prstClr val="black"/>
                </a:solidFill>
              </a:rPr>
              <a:t>evine group.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318654" y="4667250"/>
            <a:ext cx="5865091" cy="9525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200" dirty="0">
                <a:solidFill>
                  <a:prstClr val="black"/>
                </a:solidFill>
              </a:rPr>
              <a:t>A rice cleaning and refine center of Devine group. </a:t>
            </a:r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2" y="3430796"/>
            <a:ext cx="6271489" cy="3300586"/>
          </a:xfrm>
        </p:spPr>
      </p:pic>
    </p:spTree>
    <p:extLst>
      <p:ext uri="{BB962C8B-B14F-4D97-AF65-F5344CB8AC3E}">
        <p14:creationId xmlns:p14="http://schemas.microsoft.com/office/powerpoint/2010/main" val="63523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228600"/>
            <a:ext cx="5791201" cy="2895600"/>
          </a:xfrm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554" y="3352800"/>
            <a:ext cx="5900868" cy="3332018"/>
          </a:xfrm>
          <a:prstGeom prst="rect">
            <a:avLst/>
          </a:prstGeo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6299202" y="914400"/>
            <a:ext cx="575022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 smtClean="0">
                <a:solidFill>
                  <a:prstClr val="black"/>
                </a:solidFill>
              </a:rPr>
              <a:t>Housing service for the poor supported by </a:t>
            </a:r>
            <a:r>
              <a:rPr lang="en-US" dirty="0">
                <a:solidFill>
                  <a:prstClr val="black"/>
                </a:solidFill>
              </a:rPr>
              <a:t>D</a:t>
            </a:r>
            <a:r>
              <a:rPr lang="en-US" dirty="0" smtClean="0">
                <a:solidFill>
                  <a:prstClr val="black"/>
                </a:solidFill>
              </a:rPr>
              <a:t>evine group. Nearly 500 house supported by the group and each costs 3 lac and 20 thousands taka.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ubtitle 8"/>
          <p:cNvSpPr txBox="1">
            <a:spLocks/>
          </p:cNvSpPr>
          <p:nvPr/>
        </p:nvSpPr>
        <p:spPr>
          <a:xfrm>
            <a:off x="203200" y="4419600"/>
            <a:ext cx="5791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 smtClean="0">
                <a:solidFill>
                  <a:prstClr val="black"/>
                </a:solidFill>
              </a:rPr>
              <a:t>A modern brickfield is made by the associates of Devine Group.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42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2971800"/>
            <a:ext cx="5384800" cy="106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 smtClean="0">
                <a:solidFill>
                  <a:schemeClr val="bg1"/>
                </a:solidFill>
              </a:rPr>
              <a:t>Thank You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27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753</TotalTime>
  <Words>1666</Words>
  <Application>Microsoft Office PowerPoint</Application>
  <PresentationFormat>Custom</PresentationFormat>
  <Paragraphs>545</Paragraphs>
  <Slides>53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Celestial</vt:lpstr>
      <vt:lpstr>Flow</vt:lpstr>
      <vt:lpstr>Office Theme</vt:lpstr>
      <vt:lpstr>Photo Editor Photo</vt:lpstr>
      <vt:lpstr>Image</vt:lpstr>
      <vt:lpstr>Bitmap Image</vt:lpstr>
      <vt:lpstr>সি-জে জনসম্পৃক্ত স্বাস্থ্য ব্যবস্থাপনা</vt:lpstr>
      <vt:lpstr>PowerPoint Presentation</vt:lpstr>
      <vt:lpstr>PowerPoint Presentation</vt:lpstr>
      <vt:lpstr>ভূমিকা</vt:lpstr>
      <vt:lpstr>চৌগাছা মডেল</vt:lpstr>
      <vt:lpstr>কলেজ পড়ুয়া ছাত্রী ভলেন্টিয়ার</vt:lpstr>
      <vt:lpstr>চৌগাছা হাসপাতাল: প্রসববৃদ্ধি </vt:lpstr>
      <vt:lpstr>Upazila Health  Complex CHOWGACHA , JESSORE.</vt:lpstr>
      <vt:lpstr>Upazilla Health  Complex CHOWGACHA , JESSORE.</vt:lpstr>
      <vt:lpstr>চৌগাছা: অর্জন ২০১১</vt:lpstr>
      <vt:lpstr>দৈনিক প্রথম-আলোর প্রতিবেদন ১৪ অক্টোবর, ২০০৫</vt:lpstr>
      <vt:lpstr>PowerPoint Presentation</vt:lpstr>
      <vt:lpstr>ঝিনাইদহ মডেল</vt:lpstr>
      <vt:lpstr>ঝিনাইদহ: চ্যালেন্জ সমূহ ২০১২</vt:lpstr>
      <vt:lpstr>জনসম্পৃক্ততা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জরুরী বহি: অন্ত বিভাগ: রোগী বৃদ্ধি</vt:lpstr>
      <vt:lpstr>ঝিনাইদহ: শ্রেষ্ঠ জরুরী প্রসুতি সেবা ২০১৭</vt:lpstr>
      <vt:lpstr>  হাসপাতালের রাজস্ব আয়ের তুলনামূলক চিত্র (২০১৫ - ২০১৮) </vt:lpstr>
      <vt:lpstr>ঝিনাইদহ: অর্জন ২০১৮</vt:lpstr>
      <vt:lpstr>সম্প্রসারনের পদক্ষেপ</vt:lpstr>
      <vt:lpstr>PowerPoint Presentation</vt:lpstr>
      <vt:lpstr>PowerPoint Presentation</vt:lpstr>
      <vt:lpstr>ধন্যবাদ</vt:lpstr>
      <vt:lpstr>An introduction to Ad-din Foundation      </vt:lpstr>
      <vt:lpstr>PowerPoint Presentation</vt:lpstr>
      <vt:lpstr>Annual Trend of Eye Care Cataract</vt:lpstr>
      <vt:lpstr>Yearly MCH Services</vt:lpstr>
      <vt:lpstr>PowerPoint Presentation</vt:lpstr>
      <vt:lpstr>Agriculture, Fisheries &amp; Livestock Project</vt:lpstr>
      <vt:lpstr>Learning &amp; Innovation Fund to Test New Ideas (LIFT)</vt:lpstr>
      <vt:lpstr>Enrich Program</vt:lpstr>
      <vt:lpstr>PowerPoint Presentation</vt:lpstr>
      <vt:lpstr>Food Assistance for Poor Disabled People</vt:lpstr>
      <vt:lpstr>Scholarship Program for Poor &amp; Merit Student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নেতা</dc:title>
  <dc:creator>Prof. Be-nazir Ahmed</dc:creator>
  <cp:lastModifiedBy>Emdad</cp:lastModifiedBy>
  <cp:revision>166</cp:revision>
  <dcterms:created xsi:type="dcterms:W3CDTF">2018-04-08T00:56:33Z</dcterms:created>
  <dcterms:modified xsi:type="dcterms:W3CDTF">2020-03-18T11:14:08Z</dcterms:modified>
</cp:coreProperties>
</file>