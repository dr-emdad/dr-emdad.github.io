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48" r:id="rId1"/>
  </p:sldMasterIdLst>
  <p:notesMasterIdLst>
    <p:notesMasterId r:id="rId24"/>
  </p:notesMasterIdLst>
  <p:handoutMasterIdLst>
    <p:handoutMasterId r:id="rId25"/>
  </p:handoutMasterIdLst>
  <p:sldIdLst>
    <p:sldId id="416" r:id="rId2"/>
    <p:sldId id="389" r:id="rId3"/>
    <p:sldId id="361" r:id="rId4"/>
    <p:sldId id="387" r:id="rId5"/>
    <p:sldId id="298" r:id="rId6"/>
    <p:sldId id="395" r:id="rId7"/>
    <p:sldId id="399" r:id="rId8"/>
    <p:sldId id="400" r:id="rId9"/>
    <p:sldId id="401" r:id="rId10"/>
    <p:sldId id="402" r:id="rId11"/>
    <p:sldId id="403" r:id="rId12"/>
    <p:sldId id="404" r:id="rId13"/>
    <p:sldId id="405" r:id="rId14"/>
    <p:sldId id="406" r:id="rId15"/>
    <p:sldId id="407" r:id="rId16"/>
    <p:sldId id="409" r:id="rId17"/>
    <p:sldId id="410" r:id="rId18"/>
    <p:sldId id="411" r:id="rId19"/>
    <p:sldId id="413" r:id="rId20"/>
    <p:sldId id="414" r:id="rId21"/>
    <p:sldId id="415" r:id="rId22"/>
    <p:sldId id="388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F33CC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2" autoAdjust="0"/>
    <p:restoredTop sz="94689" autoAdjust="0"/>
  </p:normalViewPr>
  <p:slideViewPr>
    <p:cSldViewPr>
      <p:cViewPr>
        <p:scale>
          <a:sx n="100" d="100"/>
          <a:sy n="100" d="100"/>
        </p:scale>
        <p:origin x="-516" y="3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08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4"/>
    </mc:Choice>
    <mc:Fallback>
      <c:style val="24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>
                    <a:latin typeface="Times New Roman" pitchFamily="18" charset="0"/>
                    <a:cs typeface="Times New Roman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6724</c:v>
                </c:pt>
                <c:pt idx="1">
                  <c:v>8650</c:v>
                </c:pt>
                <c:pt idx="2">
                  <c:v>3200</c:v>
                </c:pt>
                <c:pt idx="3">
                  <c:v>6422</c:v>
                </c:pt>
                <c:pt idx="4">
                  <c:v>7665</c:v>
                </c:pt>
                <c:pt idx="5">
                  <c:v>15300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100"/>
        <c:axId val="220631808"/>
        <c:axId val="220633344"/>
      </c:barChart>
      <c:catAx>
        <c:axId val="220631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>
                <a:latin typeface="Times New Roman" pitchFamily="18" charset="0"/>
                <a:cs typeface="Times New Roman" pitchFamily="18" charset="0"/>
              </a:defRPr>
            </a:pPr>
            <a:endParaRPr lang="en-US"/>
          </a:p>
        </c:txPr>
        <c:crossAx val="220633344"/>
        <c:crosses val="autoZero"/>
        <c:auto val="1"/>
        <c:lblAlgn val="ctr"/>
        <c:lblOffset val="100"/>
        <c:noMultiLvlLbl val="0"/>
      </c:catAx>
      <c:valAx>
        <c:axId val="2206333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>
                <a:latin typeface="Times New Roman" pitchFamily="18" charset="0"/>
                <a:cs typeface="Times New Roman" pitchFamily="18" charset="0"/>
              </a:defRPr>
            </a:pPr>
            <a:endParaRPr lang="en-US"/>
          </a:p>
        </c:txPr>
        <c:crossAx val="22063180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22427-8CFB-4497-A1CC-B7E42A2B11D0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A5922-62E8-415A-B0C4-509C57D119F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6969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38CAE-D691-4F1B-BFE5-E857D71999D6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412F0-B504-4C90-8F49-F3511EBEC8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25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B9A5-0185-4C4A-9117-9337DC6A83FA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7D0788-3784-4EA7-A650-39D6506898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704950"/>
      </p:ext>
    </p:extLst>
  </p:cSld>
  <p:clrMapOvr>
    <a:masterClrMapping/>
  </p:clrMapOvr>
  <p:transition spd="slow">
    <p:zoom dir="in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FF549E-DDB3-4F8E-B3F4-BC7B4533DD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4920094"/>
      </p:ext>
    </p:extLst>
  </p:cSld>
  <p:clrMapOvr>
    <a:masterClrMapping/>
  </p:clrMapOvr>
  <p:transition spd="slow">
    <p:zoom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26BB9A5-0185-4C4A-9117-9337DC6A83FA}" type="datetimeFigureOut">
              <a:rPr lang="en-US" smtClean="0"/>
              <a:pPr/>
              <a:t>3/18/2020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1C4909B-8F0E-4BE2-A81D-6BFA6AC3F438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9" r:id="rId1"/>
    <p:sldLayoutId id="2147484350" r:id="rId2"/>
    <p:sldLayoutId id="2147484351" r:id="rId3"/>
    <p:sldLayoutId id="2147484352" r:id="rId4"/>
    <p:sldLayoutId id="2147484353" r:id="rId5"/>
    <p:sldLayoutId id="2147484354" r:id="rId6"/>
    <p:sldLayoutId id="2147484355" r:id="rId7"/>
    <p:sldLayoutId id="2147484356" r:id="rId8"/>
    <p:sldLayoutId id="2147484357" r:id="rId9"/>
    <p:sldLayoutId id="2147484358" r:id="rId10"/>
    <p:sldLayoutId id="2147484359" r:id="rId11"/>
    <p:sldLayoutId id="2147484361" r:id="rId12"/>
    <p:sldLayoutId id="2147484362" r:id="rId13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5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4.png"/><Relationship Id="rId9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30.jpeg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27.png"/><Relationship Id="rId10" Type="http://schemas.openxmlformats.org/officeDocument/2006/relationships/image" Target="../media/image2.jpeg"/><Relationship Id="rId4" Type="http://schemas.openxmlformats.org/officeDocument/2006/relationships/oleObject" Target="../embeddings/oleObject4.bin"/><Relationship Id="rId9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33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 smtClean="0"/>
              <a:t>An introduction to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sz="6000" dirty="0" err="1" smtClean="0"/>
              <a:t>Ad-din</a:t>
            </a:r>
            <a:r>
              <a:rPr lang="en-US" altLang="en-US" sz="6000" dirty="0"/>
              <a:t> </a:t>
            </a:r>
            <a:r>
              <a:rPr lang="en-US" altLang="en-US" sz="6000" dirty="0" smtClean="0"/>
              <a:t>Foundation      </a:t>
            </a:r>
            <a:endParaRPr lang="en-US" altLang="en-US" dirty="0" smtClean="0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197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551134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3"/>
          <p:cNvSpPr txBox="1">
            <a:spLocks noChangeArrowheads="1"/>
          </p:cNvSpPr>
          <p:nvPr/>
        </p:nvSpPr>
        <p:spPr bwMode="auto">
          <a:xfrm>
            <a:off x="2438400" y="3200400"/>
            <a:ext cx="21336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1400" b="1">
                <a:latin typeface="Corbel" pitchFamily="34" charset="0"/>
              </a:rPr>
              <a:t>Ad-din Sakina Medical College Hospital, Jessore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400" b="1">
                <a:latin typeface="Corbel" pitchFamily="34" charset="0"/>
              </a:rPr>
              <a:t>Estd. 4 April 1985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400" b="1">
                <a:latin typeface="Corbel" pitchFamily="34" charset="0"/>
              </a:rPr>
              <a:t>300-Bed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400" b="1">
                <a:latin typeface="Corbel" pitchFamily="34" charset="0"/>
              </a:rPr>
              <a:t>Annual Delivery: 3445</a:t>
            </a:r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838200" y="76200"/>
            <a:ext cx="7467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4000" b="1"/>
              <a:t>Ad-din Hospitals</a:t>
            </a:r>
          </a:p>
        </p:txBody>
      </p:sp>
      <p:pic>
        <p:nvPicPr>
          <p:cNvPr id="36868" name="Picture 5" descr="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4267200"/>
            <a:ext cx="251460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9" name="Text Box 6"/>
          <p:cNvSpPr txBox="1">
            <a:spLocks noChangeArrowheads="1"/>
          </p:cNvSpPr>
          <p:nvPr/>
        </p:nvSpPr>
        <p:spPr bwMode="auto">
          <a:xfrm>
            <a:off x="76200" y="3200400"/>
            <a:ext cx="2133600" cy="12779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1400" b="1">
                <a:latin typeface="Corbel" pitchFamily="34" charset="0"/>
              </a:rPr>
              <a:t>Ad-din Medical College Hospital, Dhaka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400" b="1">
                <a:latin typeface="Corbel" pitchFamily="34" charset="0"/>
              </a:rPr>
              <a:t>Estd. 1 Nov 1997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400" b="1">
                <a:latin typeface="Corbel" pitchFamily="34" charset="0"/>
              </a:rPr>
              <a:t>500-Bed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1400" b="1">
                <a:latin typeface="Corbel" pitchFamily="34" charset="0"/>
              </a:rPr>
              <a:t>Annual Delivery : 10848</a:t>
            </a:r>
          </a:p>
        </p:txBody>
      </p:sp>
      <p:sp>
        <p:nvSpPr>
          <p:cNvPr id="36870" name="Text Box 7"/>
          <p:cNvSpPr txBox="1">
            <a:spLocks noChangeArrowheads="1"/>
          </p:cNvSpPr>
          <p:nvPr/>
        </p:nvSpPr>
        <p:spPr bwMode="auto">
          <a:xfrm>
            <a:off x="1981200" y="5638800"/>
            <a:ext cx="2743200" cy="95408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400" b="1">
                <a:latin typeface="Corbel" pitchFamily="34" charset="0"/>
              </a:rPr>
              <a:t>Ad-din Hospital, Kushtia </a:t>
            </a:r>
          </a:p>
          <a:p>
            <a:pPr eaLnBrk="1" hangingPunct="1"/>
            <a:r>
              <a:rPr lang="en-US" altLang="en-US" sz="1400" b="1">
                <a:latin typeface="Corbel" pitchFamily="34" charset="0"/>
              </a:rPr>
              <a:t>Estd. 1 Nov 1999; 100-Bed</a:t>
            </a:r>
          </a:p>
          <a:p>
            <a:pPr eaLnBrk="1" hangingPunct="1"/>
            <a:r>
              <a:rPr lang="en-US" altLang="en-US" sz="1400" b="1">
                <a:latin typeface="Corbel" pitchFamily="34" charset="0"/>
              </a:rPr>
              <a:t>Annual Delivery: 2199</a:t>
            </a:r>
          </a:p>
          <a:p>
            <a:pPr eaLnBrk="1" hangingPunct="1"/>
            <a:r>
              <a:rPr lang="en-US" altLang="en-US" sz="1400" b="1">
                <a:latin typeface="Corbel" pitchFamily="34" charset="0"/>
              </a:rPr>
              <a:t> </a:t>
            </a:r>
          </a:p>
        </p:txBody>
      </p:sp>
      <p:sp>
        <p:nvSpPr>
          <p:cNvPr id="36871" name="Line 8"/>
          <p:cNvSpPr>
            <a:spLocks noChangeShapeType="1"/>
          </p:cNvSpPr>
          <p:nvPr/>
        </p:nvSpPr>
        <p:spPr bwMode="auto">
          <a:xfrm>
            <a:off x="0" y="762000"/>
            <a:ext cx="9144000" cy="0"/>
          </a:xfrm>
          <a:prstGeom prst="line">
            <a:avLst/>
          </a:prstGeom>
          <a:noFill/>
          <a:ln w="76200">
            <a:solidFill>
              <a:srgbClr val="009E75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872" name="Text Box 11"/>
          <p:cNvSpPr txBox="1">
            <a:spLocks noChangeArrowheads="1"/>
          </p:cNvSpPr>
          <p:nvPr/>
        </p:nvSpPr>
        <p:spPr bwMode="auto">
          <a:xfrm>
            <a:off x="6858000" y="3200400"/>
            <a:ext cx="2057400" cy="1016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200" b="1">
                <a:latin typeface="Corbel" pitchFamily="34" charset="0"/>
              </a:rPr>
              <a:t>Bashundhara Ad-din Medical College Hospital, Keraniganj, Dhaka </a:t>
            </a:r>
          </a:p>
          <a:p>
            <a:pPr eaLnBrk="1" hangingPunct="1"/>
            <a:r>
              <a:rPr lang="en-US" altLang="en-US" sz="1200" b="1">
                <a:latin typeface="Corbel" pitchFamily="34" charset="0"/>
              </a:rPr>
              <a:t>Estd. 25 Feb 2012</a:t>
            </a:r>
          </a:p>
          <a:p>
            <a:pPr eaLnBrk="1" hangingPunct="1"/>
            <a:r>
              <a:rPr lang="en-US" altLang="en-US" sz="1200" b="1">
                <a:latin typeface="Corbel" pitchFamily="34" charset="0"/>
              </a:rPr>
              <a:t>300-Bed:</a:t>
            </a:r>
          </a:p>
        </p:txBody>
      </p:sp>
      <p:pic>
        <p:nvPicPr>
          <p:cNvPr id="36873" name="Picture 12" descr="IMG"/>
          <p:cNvPicPr>
            <a:picLocks noChangeAspect="1" noChangeArrowheads="1"/>
          </p:cNvPicPr>
          <p:nvPr/>
        </p:nvPicPr>
        <p:blipFill>
          <a:blip r:embed="rId3"/>
          <a:srcRect l="4898" r="2040"/>
          <a:stretch>
            <a:fillRect/>
          </a:stretch>
        </p:blipFill>
        <p:spPr bwMode="auto">
          <a:xfrm>
            <a:off x="0" y="762000"/>
            <a:ext cx="9144000" cy="241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4" name="Text Box 13"/>
          <p:cNvSpPr txBox="1">
            <a:spLocks noChangeArrowheads="1"/>
          </p:cNvSpPr>
          <p:nvPr/>
        </p:nvSpPr>
        <p:spPr bwMode="auto">
          <a:xfrm>
            <a:off x="4800600" y="3200400"/>
            <a:ext cx="19812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1400" b="1">
                <a:latin typeface="Corbel" pitchFamily="34" charset="0"/>
              </a:rPr>
              <a:t>Ad-din Akij Medical College Hospital, Khulna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400" b="1">
                <a:latin typeface="Corbel" pitchFamily="34" charset="0"/>
              </a:rPr>
              <a:t>Estd. 8 Feb 2013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400" b="1">
                <a:latin typeface="Corbel" pitchFamily="34" charset="0"/>
              </a:rPr>
              <a:t>500-Bed: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1400" b="1">
                <a:latin typeface="Corbel" pitchFamily="34" charset="0"/>
              </a:rPr>
              <a:t>Annual Delivery: 2844</a:t>
            </a:r>
          </a:p>
        </p:txBody>
      </p:sp>
      <p:pic>
        <p:nvPicPr>
          <p:cNvPr id="36875" name="Picture 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86325" y="4332288"/>
            <a:ext cx="2352675" cy="1300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76" name="Rectangle 13"/>
          <p:cNvSpPr>
            <a:spLocks noChangeArrowheads="1"/>
          </p:cNvSpPr>
          <p:nvPr/>
        </p:nvSpPr>
        <p:spPr bwMode="auto">
          <a:xfrm>
            <a:off x="4876800" y="5638800"/>
            <a:ext cx="28194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Corbel" pitchFamily="34" charset="0"/>
              </a:rPr>
              <a:t>Ad-din Barrister Rofique-Ul Huq  Hospital, Postogola, Dhaka </a:t>
            </a:r>
          </a:p>
          <a:p>
            <a:pPr eaLnBrk="1" hangingPunct="1"/>
            <a:r>
              <a:rPr lang="en-US" altLang="en-US" sz="1400" b="1">
                <a:solidFill>
                  <a:srgbClr val="000000"/>
                </a:solidFill>
                <a:latin typeface="Corbel" pitchFamily="34" charset="0"/>
              </a:rPr>
              <a:t>Estd. May 2017; 300-Bed</a:t>
            </a:r>
          </a:p>
        </p:txBody>
      </p:sp>
      <p:sp>
        <p:nvSpPr>
          <p:cNvPr id="36877" name="Rectangle 14"/>
          <p:cNvSpPr>
            <a:spLocks noChangeArrowheads="1"/>
          </p:cNvSpPr>
          <p:nvPr/>
        </p:nvSpPr>
        <p:spPr bwMode="auto">
          <a:xfrm>
            <a:off x="0" y="4495800"/>
            <a:ext cx="1447800" cy="97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as-IN" altLang="en-US" sz="1200" b="1">
                <a:latin typeface="SutonnyMJ" pitchFamily="2" charset="0"/>
              </a:rPr>
              <a:t>আদ-দ্বীন ব্যারিস্টার রফিক-উল-হক হাসপাতাল</a:t>
            </a:r>
            <a:r>
              <a:rPr lang="en-US" altLang="en-US" sz="1200" b="1">
                <a:latin typeface="SutonnyMJ" pitchFamily="2" charset="0"/>
              </a:rPr>
              <a:t>, †cv¯Í‡Mvjv,  XvKv|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200" b="1">
                <a:latin typeface="SutonnyMJ" pitchFamily="2" charset="0"/>
              </a:rPr>
              <a:t>¯’vwcZ : ‡gÕ 2017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1200" b="1">
                <a:latin typeface="SutonnyMJ" pitchFamily="2" charset="0"/>
              </a:rPr>
              <a:t>300 </a:t>
            </a:r>
            <a:r>
              <a:rPr lang="en-US" altLang="en-US" sz="1200">
                <a:latin typeface="SutonnyMJ" pitchFamily="2" charset="0"/>
              </a:rPr>
              <a:t>kh</a:t>
            </a:r>
            <a:r>
              <a:rPr lang="en-US" altLang="en-US" sz="1200">
                <a:latin typeface="IchamotiAMJ" pitchFamily="2" charset="0"/>
              </a:rPr>
              <a:t>¨</a:t>
            </a:r>
            <a:r>
              <a:rPr lang="en-US" altLang="en-US" sz="1200">
                <a:latin typeface="SutonnyMJ" pitchFamily="2" charset="0"/>
              </a:rPr>
              <a:t> wewkó, 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880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4038600" y="1143000"/>
            <a:ext cx="44958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33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4400" dirty="0">
                <a:solidFill>
                  <a:srgbClr val="3333FF"/>
                </a:solidFill>
              </a:rPr>
              <a:t>Eye Care Project</a:t>
            </a:r>
          </a:p>
        </p:txBody>
      </p:sp>
      <p:pic>
        <p:nvPicPr>
          <p:cNvPr id="41988" name="Picture 4" descr="3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092" y="2590800"/>
            <a:ext cx="4962708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0" name="Picture 6" descr="3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2895600" cy="350520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91" name="Picture 7" descr="3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3893507"/>
            <a:ext cx="3390900" cy="2926393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4377862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466088"/>
          </a:xfrm>
        </p:spPr>
        <p:txBody>
          <a:bodyPr>
            <a:noAutofit/>
          </a:bodyPr>
          <a:lstStyle/>
          <a:p>
            <a:r>
              <a:rPr lang="en-US" sz="4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Annual Trend of Eye Care Cataract</a:t>
            </a:r>
            <a:endParaRPr lang="en-US" sz="4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438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pPr algn="ctr" eaLnBrk="1" hangingPunct="1"/>
            <a:r>
              <a:rPr lang="en-US" alt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Yearly MCH Services</a:t>
            </a:r>
          </a:p>
        </p:txBody>
      </p:sp>
      <p:graphicFrame>
        <p:nvGraphicFramePr>
          <p:cNvPr id="514093" name="Group 45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4039471402"/>
              </p:ext>
            </p:extLst>
          </p:nvPr>
        </p:nvGraphicFramePr>
        <p:xfrm>
          <a:off x="152400" y="1219200"/>
          <a:ext cx="8610600" cy="4811574"/>
        </p:xfrm>
        <a:graphic>
          <a:graphicData uri="http://schemas.openxmlformats.org/drawingml/2006/table">
            <a:tbl>
              <a:tblPr/>
              <a:tblGrid>
                <a:gridCol w="990600"/>
                <a:gridCol w="3810000"/>
                <a:gridCol w="3810000"/>
              </a:tblGrid>
              <a:tr h="891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Sl.no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</a:rPr>
                        <a:t>Name of activities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08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</a:rPr>
                        <a:t>Antenatal care (ANC)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25325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95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</a:rPr>
                        <a:t>TT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1228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08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</a:rPr>
                        <a:t>Family Planning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600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8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en-US" sz="2400" dirty="0" smtClean="0">
                          <a:solidFill>
                            <a:srgbClr val="3333FF"/>
                          </a:solidFill>
                        </a:rPr>
                        <a:t>Expanded program on </a:t>
                      </a:r>
                      <a:r>
                        <a:rPr lang="en-US" altLang="en-US" sz="2800" dirty="0" smtClean="0">
                          <a:solidFill>
                            <a:srgbClr val="3333FF"/>
                          </a:solidFill>
                        </a:rPr>
                        <a:t>Immunization</a:t>
                      </a:r>
                      <a:endParaRPr lang="en-US" sz="2400" dirty="0">
                        <a:solidFill>
                          <a:srgbClr val="3333FF"/>
                        </a:solidFill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9447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08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</a:rPr>
                        <a:t>Postnatal Care (PNC)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2934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368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FF"/>
                          </a:solidFill>
                          <a:effectLst/>
                          <a:latin typeface="Times New Roman" pitchFamily="18" charset="0"/>
                        </a:rPr>
                        <a:t>Delivery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</a:rPr>
                        <a:t>4008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4705522"/>
      </p:ext>
    </p:extLst>
  </p:cSld>
  <p:clrMapOvr>
    <a:masterClrMapping/>
  </p:clrMapOvr>
  <p:transition spd="slow">
    <p:pull dir="r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04801" y="1371600"/>
            <a:ext cx="3937780" cy="132343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4000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rgbClr val="7030A0"/>
                </a:solidFill>
                <a:latin typeface="+mj-lt"/>
                <a:cs typeface="Times New Roman" pitchFamily="18" charset="0"/>
              </a:rPr>
              <a:t>Basic Information Of MFP</a:t>
            </a:r>
            <a:r>
              <a:rPr lang="en-US" sz="4000" b="1" dirty="0"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  <a:solidFill>
                  <a:srgbClr val="7030A0"/>
                </a:solidFill>
                <a:latin typeface="+mj-lt"/>
                <a:cs typeface="SutonnyMJ" pitchFamily="2" charset="0"/>
              </a:rPr>
              <a:t>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" y="4191000"/>
          <a:ext cx="8763000" cy="15589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82940"/>
                <a:gridCol w="2137804"/>
                <a:gridCol w="2318102"/>
                <a:gridCol w="2524154"/>
              </a:tblGrid>
              <a:tr h="859419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Total Member</a:t>
                      </a:r>
                    </a:p>
                  </a:txBody>
                  <a:tcPr marT="45718" marB="45718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Total Borrower</a:t>
                      </a:r>
                    </a:p>
                  </a:txBody>
                  <a:tcPr marT="45718" marB="45718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Member`s</a:t>
                      </a:r>
                      <a:r>
                        <a:rPr lang="en-US" sz="2400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Savings</a:t>
                      </a:r>
                      <a:endParaRPr lang="en-US" sz="24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8" marB="45718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Lon Outstanding</a:t>
                      </a:r>
                      <a:r>
                        <a:rPr lang="en-US" sz="2400" baseline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in the field</a:t>
                      </a:r>
                      <a:endParaRPr lang="en-US" sz="240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8" marB="45718" anchor="ctr">
                    <a:solidFill>
                      <a:srgbClr val="D2DEEF"/>
                    </a:solidFill>
                  </a:tcPr>
                </a:tc>
              </a:tr>
              <a:tr h="69950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j-lt"/>
                        </a:rPr>
                        <a:t>297771</a:t>
                      </a:r>
                    </a:p>
                  </a:txBody>
                  <a:tcPr marT="45718" marB="4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j-lt"/>
                        </a:rPr>
                        <a:t>217666</a:t>
                      </a:r>
                    </a:p>
                  </a:txBody>
                  <a:tcPr marT="45718" marB="4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j-lt"/>
                        </a:rPr>
                        <a:t>155.10</a:t>
                      </a:r>
                      <a:r>
                        <a:rPr lang="en-US" sz="2800" baseline="0" dirty="0">
                          <a:latin typeface="+mj-lt"/>
                        </a:rPr>
                        <a:t> </a:t>
                      </a:r>
                      <a:r>
                        <a:rPr lang="en-US" sz="2800" baseline="0" dirty="0">
                          <a:latin typeface="+mj-lt"/>
                          <a:cs typeface="Times New Roman" pitchFamily="18" charset="0"/>
                        </a:rPr>
                        <a:t>Crore</a:t>
                      </a:r>
                      <a:r>
                        <a:rPr lang="en-US" sz="2800" baseline="0" dirty="0">
                          <a:latin typeface="+mj-lt"/>
                        </a:rPr>
                        <a:t> </a:t>
                      </a:r>
                      <a:endParaRPr lang="en-US" sz="2800" dirty="0">
                        <a:latin typeface="+mj-lt"/>
                      </a:endParaRPr>
                    </a:p>
                  </a:txBody>
                  <a:tcPr marT="45718" marB="4571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j-lt"/>
                        </a:rPr>
                        <a:t>310 </a:t>
                      </a:r>
                      <a:r>
                        <a:rPr lang="en-US" sz="2800" dirty="0">
                          <a:latin typeface="+mj-lt"/>
                          <a:cs typeface="Times New Roman" pitchFamily="18" charset="0"/>
                        </a:rPr>
                        <a:t>Crore</a:t>
                      </a:r>
                      <a:r>
                        <a:rPr lang="en-US" sz="2800" baseline="0" dirty="0">
                          <a:latin typeface="+mj-lt"/>
                        </a:rPr>
                        <a:t> </a:t>
                      </a:r>
                      <a:endParaRPr lang="en-US" sz="2800" dirty="0">
                        <a:latin typeface="+mj-lt"/>
                      </a:endParaRPr>
                    </a:p>
                  </a:txBody>
                  <a:tcPr marT="45718" marB="45718"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0" y="304800"/>
          <a:ext cx="4114800" cy="36882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42095"/>
                <a:gridCol w="1572705"/>
              </a:tblGrid>
              <a:tr h="526890">
                <a:tc>
                  <a:txBody>
                    <a:bodyPr/>
                    <a:lstStyle/>
                    <a:p>
                      <a:r>
                        <a:rPr lang="en-US" sz="2800" baseline="0" dirty="0">
                          <a:solidFill>
                            <a:schemeClr val="tx1"/>
                          </a:solidFill>
                          <a:latin typeface="+mj-lt"/>
                          <a:cs typeface="SugondhaMJ" pitchFamily="2" charset="0"/>
                        </a:rPr>
                        <a:t>District</a:t>
                      </a:r>
                      <a:endParaRPr lang="en-US" sz="2800" dirty="0">
                        <a:solidFill>
                          <a:schemeClr val="tx1"/>
                        </a:solidFill>
                        <a:latin typeface="+mj-lt"/>
                        <a:cs typeface="SugondhaMJ" pitchFamily="2" charset="0"/>
                      </a:endParaRPr>
                    </a:p>
                  </a:txBody>
                  <a:tcPr marL="91447" marR="91447" marT="45725" marB="45725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16</a:t>
                      </a:r>
                    </a:p>
                  </a:txBody>
                  <a:tcPr marL="91447" marR="91447" marT="45725" marB="45725" anchor="ctr">
                    <a:solidFill>
                      <a:srgbClr val="D2DEEF"/>
                    </a:solidFill>
                  </a:tcPr>
                </a:tc>
              </a:tr>
              <a:tr h="526890">
                <a:tc>
                  <a:txBody>
                    <a:bodyPr/>
                    <a:lstStyle/>
                    <a:p>
                      <a:r>
                        <a:rPr lang="en-US" sz="2800" dirty="0" err="1">
                          <a:latin typeface="+mj-lt"/>
                          <a:cs typeface="SugondhaMJ" pitchFamily="2" charset="0"/>
                        </a:rPr>
                        <a:t>Upazilla</a:t>
                      </a:r>
                      <a:endParaRPr lang="en-US" sz="2800" dirty="0">
                        <a:latin typeface="+mj-lt"/>
                        <a:cs typeface="SugondhaMJ" pitchFamily="2" charset="0"/>
                      </a:endParaRPr>
                    </a:p>
                  </a:txBody>
                  <a:tcPr marL="91447" marR="91447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64</a:t>
                      </a:r>
                    </a:p>
                  </a:txBody>
                  <a:tcPr marL="91447" marR="91447" marT="45725" marB="45725" anchor="ctr"/>
                </a:tc>
              </a:tr>
              <a:tr h="52689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+mj-lt"/>
                          <a:cs typeface="SugondhaMJ" pitchFamily="2" charset="0"/>
                        </a:rPr>
                        <a:t>Union</a:t>
                      </a:r>
                    </a:p>
                  </a:txBody>
                  <a:tcPr marL="91447" marR="91447" marT="45725" marB="45725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643</a:t>
                      </a:r>
                    </a:p>
                  </a:txBody>
                  <a:tcPr marL="91447" marR="91447" marT="45725" marB="45725" anchor="ctr">
                    <a:solidFill>
                      <a:srgbClr val="D2DEEF"/>
                    </a:solidFill>
                  </a:tcPr>
                </a:tc>
              </a:tr>
              <a:tr h="52689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+mj-lt"/>
                          <a:cs typeface="SugondhaMJ" pitchFamily="2" charset="0"/>
                        </a:rPr>
                        <a:t>Village</a:t>
                      </a:r>
                    </a:p>
                  </a:txBody>
                  <a:tcPr marL="91447" marR="91447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3815</a:t>
                      </a:r>
                    </a:p>
                  </a:txBody>
                  <a:tcPr marL="91447" marR="91447" marT="45725" marB="45725" anchor="ctr"/>
                </a:tc>
              </a:tr>
              <a:tr h="526890">
                <a:tc>
                  <a:txBody>
                    <a:bodyPr/>
                    <a:lstStyle/>
                    <a:p>
                      <a:r>
                        <a:rPr lang="en-US" sz="2800" baseline="0" dirty="0">
                          <a:latin typeface="+mj-lt"/>
                          <a:cs typeface="SugondhaMJ" pitchFamily="2" charset="0"/>
                        </a:rPr>
                        <a:t>Zonal</a:t>
                      </a:r>
                      <a:endParaRPr lang="en-US" sz="2800" dirty="0">
                        <a:latin typeface="+mj-lt"/>
                        <a:cs typeface="SugondhaMJ" pitchFamily="2" charset="0"/>
                      </a:endParaRPr>
                    </a:p>
                  </a:txBody>
                  <a:tcPr marL="91447" marR="91447" marT="45725" marB="45725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 marL="91447" marR="91447" marT="45725" marB="45725" anchor="ctr">
                    <a:solidFill>
                      <a:srgbClr val="D2DEEF"/>
                    </a:solidFill>
                  </a:tcPr>
                </a:tc>
              </a:tr>
              <a:tr h="52689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+mj-lt"/>
                          <a:cs typeface="SugondhaMJ" pitchFamily="2" charset="0"/>
                        </a:rPr>
                        <a:t>Regional</a:t>
                      </a:r>
                    </a:p>
                  </a:txBody>
                  <a:tcPr marL="91447" marR="91447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28</a:t>
                      </a:r>
                    </a:p>
                  </a:txBody>
                  <a:tcPr marL="91447" marR="91447" marT="45725" marB="45725" anchor="ctr"/>
                </a:tc>
              </a:tr>
              <a:tr h="52689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+mj-lt"/>
                          <a:cs typeface="SugondhaMJ" pitchFamily="2" charset="0"/>
                        </a:rPr>
                        <a:t>Branch Office</a:t>
                      </a:r>
                    </a:p>
                  </a:txBody>
                  <a:tcPr marL="91447" marR="91447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145</a:t>
                      </a:r>
                    </a:p>
                  </a:txBody>
                  <a:tcPr marL="91447" marR="91447" marT="45725" marB="45725" anchor="ctr"/>
                </a:tc>
              </a:tr>
            </a:tbl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456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984250" y="457200"/>
            <a:ext cx="6892925" cy="762000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sz="3200" dirty="0">
                <a:solidFill>
                  <a:srgbClr val="FF0000"/>
                </a:solidFill>
              </a:rPr>
              <a:t>Agriculture, Fisheries &amp; Livestock Project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2275" y="2209800"/>
          <a:ext cx="3165475" cy="34750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5475"/>
              </a:tblGrid>
              <a:tr h="365788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j-lt"/>
                        </a:rPr>
                        <a:t> 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Skill</a:t>
                      </a:r>
                      <a:r>
                        <a:rPr lang="en-US" sz="18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Development Training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4405" marR="84405" marT="45712" marB="4571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4015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New Technology Demonstration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405" marR="84405" marT="45712" marB="45712" anchor="ctr"/>
                </a:tc>
              </a:tr>
              <a:tr h="3657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Vaccination  &amp;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Deworming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405" marR="84405" marT="45712" marB="45712" anchor="ctr"/>
                </a:tc>
              </a:tr>
              <a:tr h="36578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Skill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Development Training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405" marR="84405" marT="45712" marB="4571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5788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Income Generating</a:t>
                      </a:r>
                      <a:r>
                        <a:rPr lang="en-US" sz="1800" baseline="0" dirty="0">
                          <a:latin typeface="+mj-lt"/>
                        </a:rPr>
                        <a:t> Activities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405" marR="84405" marT="45712" marB="45712" anchor="ctr"/>
                </a:tc>
              </a:tr>
              <a:tr h="640154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New Technology</a:t>
                      </a:r>
                      <a:r>
                        <a:rPr lang="en-US" sz="1800" baseline="0" dirty="0">
                          <a:latin typeface="+mj-lt"/>
                        </a:rPr>
                        <a:t> Dissemination 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405" marR="84405" marT="45712" marB="45712" anchor="ctr"/>
                </a:tc>
              </a:tr>
              <a:tr h="365788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Agricultural Logistic</a:t>
                      </a:r>
                      <a:r>
                        <a:rPr lang="en-US" sz="1800" baseline="0" dirty="0">
                          <a:latin typeface="+mj-lt"/>
                        </a:rPr>
                        <a:t> Support 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405" marR="84405" marT="45712" marB="45712" anchor="ctr"/>
                </a:tc>
              </a:tr>
              <a:tr h="365788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Free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Seed distribution 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405" marR="84405" marT="45712" marB="45712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3413" y="1676400"/>
            <a:ext cx="2462212" cy="3698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b="1" dirty="0"/>
              <a:t>Major Activities</a:t>
            </a:r>
          </a:p>
        </p:txBody>
      </p:sp>
      <p:pic>
        <p:nvPicPr>
          <p:cNvPr id="22552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92525" y="1828800"/>
            <a:ext cx="5310188" cy="383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2555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38200"/>
          </a:xfrm>
        </p:spPr>
        <p:txBody>
          <a:bodyPr/>
          <a:lstStyle/>
          <a:p>
            <a:pPr eaLnBrk="1" hangingPunct="1"/>
            <a:r>
              <a:rPr lang="en-US" altLang="en-US" sz="2800" smtClean="0">
                <a:solidFill>
                  <a:srgbClr val="FF0066"/>
                </a:solidFill>
              </a:rPr>
              <a:t>Learning &amp; Innovation Fund to Test New Ideas (LIFT)</a:t>
            </a:r>
            <a:endParaRPr lang="en-US" altLang="en-US" sz="2800" smtClean="0">
              <a:solidFill>
                <a:srgbClr val="0066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92125" y="1828800"/>
          <a:ext cx="3769702" cy="1463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9702"/>
              </a:tblGrid>
              <a:tr h="36578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+mj-lt"/>
                        </a:rPr>
                        <a:t> 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+mj-lt"/>
                        </a:rPr>
                        <a:t>Black Bengal Breeding Farm</a:t>
                      </a:r>
                    </a:p>
                  </a:txBody>
                  <a:tcPr marL="84379" marR="84379" marT="45728" marB="4572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Pituitary Gland Possessing Centre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79" marR="84379" marT="45728" marB="45728" anchor="ctr"/>
                </a:tc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Eel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800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Kuchia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 Culture  &amp; Fattening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79" marR="84379" marT="45728" marB="45728" anchor="ctr"/>
                </a:tc>
              </a:tr>
              <a:tr h="36578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Water Plant in Coastal Area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79" marR="84379" marT="45728" marB="4572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3567" name="TextBox 5"/>
          <p:cNvSpPr txBox="1">
            <a:spLocks noChangeArrowheads="1"/>
          </p:cNvSpPr>
          <p:nvPr/>
        </p:nvSpPr>
        <p:spPr bwMode="auto">
          <a:xfrm>
            <a:off x="703263" y="1371600"/>
            <a:ext cx="25320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en-US" b="1"/>
              <a:t>Major Component</a:t>
            </a:r>
          </a:p>
        </p:txBody>
      </p:sp>
      <p:pic>
        <p:nvPicPr>
          <p:cNvPr id="23568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3250" y="3482975"/>
            <a:ext cx="3587750" cy="2408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9" name="Picture 9"/>
          <p:cNvPicPr>
            <a:picLocks noChangeAspect="1"/>
          </p:cNvPicPr>
          <p:nvPr/>
        </p:nvPicPr>
        <p:blipFill>
          <a:blip r:embed="rId3" cstate="print"/>
          <a:srcRect t="16667" r="4688" b="8333"/>
          <a:stretch>
            <a:fillRect/>
          </a:stretch>
        </p:blipFill>
        <p:spPr bwMode="auto">
          <a:xfrm>
            <a:off x="4556125" y="1573213"/>
            <a:ext cx="4095750" cy="2617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572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2671763" y="169863"/>
            <a:ext cx="3798887" cy="685800"/>
          </a:xfrm>
        </p:spPr>
        <p:txBody>
          <a:bodyPr/>
          <a:lstStyle/>
          <a:p>
            <a:r>
              <a:rPr lang="en-US" altLang="en-US" sz="3200" b="1" smtClean="0">
                <a:solidFill>
                  <a:srgbClr val="0000CC"/>
                </a:solidFill>
                <a:cs typeface="RinkiyMJ" pitchFamily="2" charset="0"/>
              </a:rPr>
              <a:t>Enrich Program</a:t>
            </a:r>
          </a:p>
        </p:txBody>
      </p:sp>
      <p:pic>
        <p:nvPicPr>
          <p:cNvPr id="24579" name="Picture 2"/>
          <p:cNvPicPr>
            <a:picLocks noGrp="1" noChangeAspect="1" noChangeArrowheads="1"/>
          </p:cNvPicPr>
          <p:nvPr>
            <p:ph type="tbl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798888" y="1676400"/>
            <a:ext cx="5064125" cy="4114800"/>
          </a:xfrm>
          <a:noFill/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22275" y="1295400"/>
          <a:ext cx="3235325" cy="5045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325"/>
              </a:tblGrid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  <a:latin typeface="+mj-lt"/>
                        </a:rPr>
                        <a:t>  House hold Visit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4392" marR="84392" marT="45733" marB="4573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baseline="0" dirty="0">
                          <a:latin typeface="+mj-lt"/>
                        </a:rPr>
                        <a:t>  Satellite clinic 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Special Health Camp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92" marR="84392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Special Eye Camp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92" marR="84392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Skill</a:t>
                      </a:r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Development Training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92" marR="84392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Income Generating</a:t>
                      </a:r>
                      <a:r>
                        <a:rPr lang="en-US" sz="1800" baseline="0" dirty="0">
                          <a:latin typeface="+mj-lt"/>
                        </a:rPr>
                        <a:t> Activities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Water &amp; Sanitation</a:t>
                      </a:r>
                    </a:p>
                  </a:txBody>
                  <a:tcPr marL="84392" marR="84392" marT="45733" marB="45733" anchor="ctr"/>
                </a:tc>
              </a:tr>
              <a:tr h="640143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Awareness Development</a:t>
                      </a:r>
                      <a:r>
                        <a:rPr lang="en-US" sz="1800" baseline="0" dirty="0">
                          <a:latin typeface="+mj-lt"/>
                        </a:rPr>
                        <a:t> Training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Beggar</a:t>
                      </a:r>
                      <a:r>
                        <a:rPr lang="en-US" sz="1800" baseline="0" dirty="0">
                          <a:latin typeface="+mj-lt"/>
                        </a:rPr>
                        <a:t> rehabilitation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Youth Development</a:t>
                      </a:r>
                      <a:r>
                        <a:rPr lang="en-US" sz="1800" baseline="0" dirty="0">
                          <a:latin typeface="+mj-lt"/>
                        </a:rPr>
                        <a:t> 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Free</a:t>
                      </a:r>
                      <a:r>
                        <a:rPr lang="en-US" sz="1800" baseline="0" dirty="0">
                          <a:latin typeface="+mj-lt"/>
                        </a:rPr>
                        <a:t> Medicine distribution 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33" marB="45733" anchor="ctr"/>
                </a:tc>
              </a:tr>
              <a:tr h="365825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baseline="0" dirty="0">
                          <a:latin typeface="+mj-lt"/>
                        </a:rPr>
                        <a:t>  Education support Program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33" marB="45733" anchor="ctr"/>
                </a:tc>
              </a:tr>
              <a:tr h="380852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Nutrition </a:t>
                      </a:r>
                    </a:p>
                  </a:txBody>
                  <a:tcPr marL="84392" marR="84392" marT="45733" marB="45733" anchor="ctr"/>
                </a:tc>
              </a:tr>
            </a:tbl>
          </a:graphicData>
        </a:graphic>
      </p:graphicFrame>
      <p:sp>
        <p:nvSpPr>
          <p:cNvPr id="24610" name="TextBox 4"/>
          <p:cNvSpPr txBox="1">
            <a:spLocks noChangeArrowheads="1"/>
          </p:cNvSpPr>
          <p:nvPr/>
        </p:nvSpPr>
        <p:spPr bwMode="auto">
          <a:xfrm>
            <a:off x="457200" y="838200"/>
            <a:ext cx="28130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en-US" b="1"/>
              <a:t>Major Activities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613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3"/>
          <p:cNvSpPr txBox="1">
            <a:spLocks noChangeArrowheads="1"/>
          </p:cNvSpPr>
          <p:nvPr/>
        </p:nvSpPr>
        <p:spPr bwMode="auto">
          <a:xfrm>
            <a:off x="1336675" y="184150"/>
            <a:ext cx="59086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0070C0"/>
                </a:solidFill>
              </a:rPr>
              <a:t>Community Health Services</a:t>
            </a:r>
          </a:p>
        </p:txBody>
      </p:sp>
      <p:sp>
        <p:nvSpPr>
          <p:cNvPr id="25603" name="Text Box 6"/>
          <p:cNvSpPr txBox="1">
            <a:spLocks noChangeArrowheads="1"/>
          </p:cNvSpPr>
          <p:nvPr/>
        </p:nvSpPr>
        <p:spPr bwMode="auto">
          <a:xfrm>
            <a:off x="3733800" y="876300"/>
            <a:ext cx="46482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00050" indent="-400050" algn="ctr" eaLnBrk="1" hangingPunct="1">
              <a:lnSpc>
                <a:spcPct val="120000"/>
              </a:lnSpc>
              <a:spcBef>
                <a:spcPct val="50000"/>
              </a:spcBef>
              <a:buFont typeface="Candid" pitchFamily="18" charset="2"/>
              <a:buNone/>
            </a:pPr>
            <a:r>
              <a:rPr lang="en-US" altLang="en-US" sz="2400"/>
              <a:t>Working Area: 14 Districts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2275" y="1752600"/>
          <a:ext cx="3165475" cy="4398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1348"/>
                <a:gridCol w="844127"/>
              </a:tblGrid>
              <a:tr h="701098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+mj-lt"/>
                        </a:rPr>
                        <a:t>Community Midwife</a:t>
                      </a:r>
                      <a:endParaRPr 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4405" marR="84405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+mj-lt"/>
                        </a:rPr>
                        <a:t>98</a:t>
                      </a:r>
                    </a:p>
                  </a:txBody>
                  <a:tcPr marL="84405" marR="84405" marT="45725" marB="4572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36650">
                <a:tc>
                  <a:txBody>
                    <a:bodyPr/>
                    <a:lstStyle/>
                    <a:p>
                      <a:r>
                        <a:rPr lang="en-US" sz="2000" baseline="0" dirty="0">
                          <a:latin typeface="+mj-lt"/>
                        </a:rPr>
                        <a:t>Satellite clinic held 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2156</a:t>
                      </a:r>
                    </a:p>
                  </a:txBody>
                  <a:tcPr marL="84405" marR="84405" marT="45725" marB="45725" anchor="ctr"/>
                </a:tc>
              </a:tr>
              <a:tr h="43107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Average ANC  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20000</a:t>
                      </a:r>
                    </a:p>
                  </a:txBody>
                  <a:tcPr marL="84405" marR="84405" marT="45725" marB="45725" anchor="ctr"/>
                </a:tc>
              </a:tr>
              <a:tr h="50617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Average PNC 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latin typeface="+mj-lt"/>
                        </a:rPr>
                        <a:t>3300</a:t>
                      </a:r>
                    </a:p>
                  </a:txBody>
                  <a:tcPr marL="84405" marR="84405" marT="45725" marB="45725" anchor="ctr"/>
                </a:tc>
              </a:tr>
              <a:tr h="44832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Pathological Test </a:t>
                      </a: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26000</a:t>
                      </a:r>
                    </a:p>
                  </a:txBody>
                  <a:tcPr marL="84405" marR="84405" marT="45725" marB="45725" anchor="ctr"/>
                </a:tc>
              </a:tr>
              <a:tr h="526530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+mj-lt"/>
                        </a:rPr>
                        <a:t>General Patient</a:t>
                      </a:r>
                      <a:r>
                        <a:rPr lang="en-US" sz="2000" baseline="0" dirty="0">
                          <a:latin typeface="+mj-lt"/>
                        </a:rPr>
                        <a:t> 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19500</a:t>
                      </a:r>
                    </a:p>
                  </a:txBody>
                  <a:tcPr marL="84405" marR="84405" marT="45725" marB="45725" anchor="ctr"/>
                </a:tc>
              </a:tr>
              <a:tr h="701098">
                <a:tc>
                  <a:txBody>
                    <a:bodyPr/>
                    <a:lstStyle/>
                    <a:p>
                      <a:pPr algn="l"/>
                      <a:r>
                        <a:rPr lang="en-US" sz="2000" baseline="0" dirty="0">
                          <a:latin typeface="+mj-lt"/>
                        </a:rPr>
                        <a:t>Average Growth Monitoring  (0-3 Yrs) 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12300</a:t>
                      </a:r>
                    </a:p>
                  </a:txBody>
                  <a:tcPr marL="84405" marR="84405" marT="45725" marB="45725" anchor="ctr"/>
                </a:tc>
              </a:tr>
              <a:tr h="648009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+mj-lt"/>
                        </a:rPr>
                        <a:t>Refer</a:t>
                      </a:r>
                      <a:r>
                        <a:rPr lang="en-US" sz="2000" baseline="0" dirty="0">
                          <a:latin typeface="+mj-lt"/>
                        </a:rPr>
                        <a:t> to Hospital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25" marB="457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2500</a:t>
                      </a:r>
                    </a:p>
                  </a:txBody>
                  <a:tcPr marL="84405" marR="84405" marT="45725" marB="45725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 bwMode="auto">
          <a:xfrm>
            <a:off x="422275" y="1066800"/>
            <a:ext cx="3165475" cy="609600"/>
          </a:xfrm>
          <a:prstGeom prst="rect">
            <a:avLst/>
          </a:prstGeom>
          <a:solidFill>
            <a:schemeClr val="accent3">
              <a:lumMod val="50000"/>
            </a:schemeClr>
          </a:solidFill>
          <a:ln w="95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dirty="0">
                <a:solidFill>
                  <a:schemeClr val="bg1"/>
                </a:solidFill>
              </a:rPr>
              <a:t>Monthly Performance</a:t>
            </a:r>
          </a:p>
        </p:txBody>
      </p:sp>
      <p:pic>
        <p:nvPicPr>
          <p:cNvPr id="2563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7600" y="1676400"/>
            <a:ext cx="5332413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3692525" y="5791200"/>
            <a:ext cx="3241675" cy="360363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defRPr/>
            </a:pPr>
            <a:r>
              <a:rPr lang="en-US" kern="0" dirty="0">
                <a:solidFill>
                  <a:schemeClr val="accent6">
                    <a:lumMod val="50000"/>
                  </a:schemeClr>
                </a:solidFill>
                <a:cs typeface="SutonnyMJ" pitchFamily="2" charset="0"/>
              </a:rPr>
              <a:t>Picture of</a:t>
            </a:r>
            <a:r>
              <a:rPr lang="en-US" kern="0" dirty="0">
                <a:solidFill>
                  <a:schemeClr val="accent6">
                    <a:lumMod val="50000"/>
                  </a:schemeClr>
                </a:solidFill>
                <a:latin typeface="+mj-lt"/>
                <a:ea typeface="+mj-ea"/>
                <a:cs typeface="SutonnyMJ" pitchFamily="2" charset="0"/>
              </a:rPr>
              <a:t> Satellite Clinic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638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476375" y="609600"/>
            <a:ext cx="6330950" cy="762000"/>
          </a:xfrm>
        </p:spPr>
        <p:txBody>
          <a:bodyPr/>
          <a:lstStyle/>
          <a:p>
            <a:r>
              <a:rPr lang="en-US" altLang="en-US" sz="2800" b="1" smtClean="0">
                <a:solidFill>
                  <a:srgbClr val="0000CC"/>
                </a:solidFill>
                <a:cs typeface="RinkiyMJ" pitchFamily="2" charset="0"/>
              </a:rPr>
              <a:t>Food Assistance for Poor Disabled People</a:t>
            </a:r>
          </a:p>
        </p:txBody>
      </p:sp>
      <p:pic>
        <p:nvPicPr>
          <p:cNvPr id="26627" name="Picture 2"/>
          <p:cNvPicPr>
            <a:picLocks noGrp="1" noChangeAspect="1" noChangeArrowheads="1"/>
          </p:cNvPicPr>
          <p:nvPr>
            <p:ph type="tbl" idx="1"/>
          </p:nvPr>
        </p:nvPicPr>
        <p:blipFill>
          <a:blip r:embed="rId2"/>
          <a:srcRect l="2695"/>
          <a:stretch>
            <a:fillRect/>
          </a:stretch>
        </p:blipFill>
        <p:spPr>
          <a:xfrm>
            <a:off x="3516313" y="1981200"/>
            <a:ext cx="5346700" cy="3657600"/>
          </a:xfrm>
          <a:noFill/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1288" y="1981200"/>
          <a:ext cx="3165475" cy="2693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9285"/>
                <a:gridCol w="1266190"/>
              </a:tblGrid>
              <a:tr h="699207"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+mj-lt"/>
                        </a:rPr>
                        <a:t>Food Receiver</a:t>
                      </a:r>
                      <a:endParaRPr lang="en-US" sz="20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4405" marR="84405" marT="45742" marB="4574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+mj-lt"/>
                        </a:rPr>
                        <a:t>350</a:t>
                      </a:r>
                    </a:p>
                  </a:txBody>
                  <a:tcPr marL="84405" marR="84405" marT="45742" marB="4574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005937">
                <a:tc>
                  <a:txBody>
                    <a:bodyPr/>
                    <a:lstStyle/>
                    <a:p>
                      <a:r>
                        <a:rPr lang="en-US" sz="2000" baseline="0" dirty="0">
                          <a:latin typeface="+mj-lt"/>
                        </a:rPr>
                        <a:t>Total Budget per person per month</a:t>
                      </a:r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42" marB="45742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latin typeface="+mj-lt"/>
                        </a:rPr>
                        <a:t>tk. 1200</a:t>
                      </a:r>
                    </a:p>
                  </a:txBody>
                  <a:tcPr marL="84405" marR="84405" marT="45742" marB="45742" anchor="ctr"/>
                </a:tc>
              </a:tr>
              <a:tr h="59246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Early Budget 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405" marR="84405" marT="45742" marB="45742" anchor="ctr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63,70,000</a:t>
                      </a:r>
                    </a:p>
                  </a:txBody>
                  <a:tcPr marL="84405" marR="84405" marT="45742" marB="45742" anchor="ctr"/>
                </a:tc>
              </a:tr>
              <a:tr h="396379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42" marB="45742" anchor="ctr"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+mj-lt"/>
                      </a:endParaRPr>
                    </a:p>
                  </a:txBody>
                  <a:tcPr marL="84405" marR="84405" marT="45742" marB="45742" anchor="ctr"/>
                </a:tc>
              </a:tr>
            </a:tbl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647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7173913" cy="685800"/>
          </a:xfrm>
        </p:spPr>
        <p:txBody>
          <a:bodyPr/>
          <a:lstStyle/>
          <a:p>
            <a:r>
              <a:rPr lang="en-US" altLang="en-US" sz="2800" b="1" smtClean="0">
                <a:solidFill>
                  <a:srgbClr val="0070C0"/>
                </a:solidFill>
                <a:cs typeface="SutonnyMJ" pitchFamily="2" charset="0"/>
              </a:rPr>
              <a:t>Scholarship Program for Poor &amp; Merit Student</a:t>
            </a:r>
          </a:p>
        </p:txBody>
      </p:sp>
      <p:pic>
        <p:nvPicPr>
          <p:cNvPr id="27651" name="Picture 2"/>
          <p:cNvPicPr>
            <a:picLocks noChangeAspect="1" noChangeArrowheads="1"/>
          </p:cNvPicPr>
          <p:nvPr/>
        </p:nvPicPr>
        <p:blipFill>
          <a:blip r:embed="rId2"/>
          <a:srcRect l="10883"/>
          <a:stretch>
            <a:fillRect/>
          </a:stretch>
        </p:blipFill>
        <p:spPr bwMode="auto">
          <a:xfrm>
            <a:off x="3165475" y="1828800"/>
            <a:ext cx="5759450" cy="3938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2" name="TextBox 4"/>
          <p:cNvSpPr txBox="1">
            <a:spLocks noChangeArrowheads="1"/>
          </p:cNvSpPr>
          <p:nvPr/>
        </p:nvSpPr>
        <p:spPr bwMode="auto">
          <a:xfrm>
            <a:off x="492125" y="1828800"/>
            <a:ext cx="2392363" cy="317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sz="2000"/>
              <a:t>376 poor students in our Microfinance  Beneficiary`s Family are got  GPA 5 in SSC Exam 2018 and every body received tk. 10,000-12,000/-  under Scholarship Progam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655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6" descr="DSC0962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2425" y="1162050"/>
            <a:ext cx="4008438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5" name="Picture 8" descr="DSC0921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3138" y="1162050"/>
            <a:ext cx="4008437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1284288" y="304800"/>
            <a:ext cx="6716712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en-US" sz="2800" b="1">
                <a:solidFill>
                  <a:srgbClr val="00B050"/>
                </a:solidFill>
              </a:rPr>
              <a:t>Relief &amp; Rehabilitation Program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679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2247900" y="533400"/>
            <a:ext cx="4783138" cy="609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 dirty="0">
                <a:solidFill>
                  <a:srgbClr val="003300"/>
                </a:solidFill>
              </a:rPr>
              <a:t>Housing Assistance </a:t>
            </a:r>
          </a:p>
        </p:txBody>
      </p:sp>
      <p:pic>
        <p:nvPicPr>
          <p:cNvPr id="29699" name="Picture 2"/>
          <p:cNvPicPr>
            <a:picLocks noChangeAspect="1"/>
          </p:cNvPicPr>
          <p:nvPr/>
        </p:nvPicPr>
        <p:blipFill>
          <a:blip r:embed="rId2"/>
          <a:srcRect l="2287" r="9004"/>
          <a:stretch>
            <a:fillRect/>
          </a:stretch>
        </p:blipFill>
        <p:spPr bwMode="auto">
          <a:xfrm>
            <a:off x="352425" y="1524000"/>
            <a:ext cx="3867150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0" name="Picture 3"/>
          <p:cNvPicPr>
            <a:picLocks noChangeAspect="1"/>
          </p:cNvPicPr>
          <p:nvPr/>
        </p:nvPicPr>
        <p:blipFill>
          <a:blip r:embed="rId3"/>
          <a:srcRect l="3899" r="2551"/>
          <a:stretch>
            <a:fillRect/>
          </a:stretch>
        </p:blipFill>
        <p:spPr bwMode="auto">
          <a:xfrm>
            <a:off x="4783138" y="1524000"/>
            <a:ext cx="4079875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1" name="TextBox 4"/>
          <p:cNvSpPr txBox="1">
            <a:spLocks noChangeArrowheads="1"/>
          </p:cNvSpPr>
          <p:nvPr/>
        </p:nvSpPr>
        <p:spPr bwMode="auto">
          <a:xfrm>
            <a:off x="1157288" y="5119688"/>
            <a:ext cx="19240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/>
              <a:t>Before Condition</a:t>
            </a:r>
          </a:p>
        </p:txBody>
      </p:sp>
      <p:sp>
        <p:nvSpPr>
          <p:cNvPr id="29702" name="TextBox 5"/>
          <p:cNvSpPr txBox="1">
            <a:spLocks noChangeArrowheads="1"/>
          </p:cNvSpPr>
          <p:nvPr/>
        </p:nvSpPr>
        <p:spPr bwMode="auto">
          <a:xfrm>
            <a:off x="5981700" y="5119688"/>
            <a:ext cx="17716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/>
              <a:t>After Condition</a:t>
            </a:r>
          </a:p>
        </p:txBody>
      </p: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705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524000" y="609600"/>
            <a:ext cx="5715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sz="2400" b="1" dirty="0"/>
              <a:t>Community Base Ambulance 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1752600"/>
            <a:ext cx="3581400" cy="273843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dirty="0">
                <a:solidFill>
                  <a:srgbClr val="0000CC"/>
                </a:solidFill>
              </a:rPr>
              <a:t>12 Ambulance are serving in different area in community.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b="1" u="sng" dirty="0">
                <a:solidFill>
                  <a:schemeClr val="accent6">
                    <a:lumMod val="50000"/>
                  </a:schemeClr>
                </a:solidFill>
              </a:rPr>
              <a:t>Specialty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/>
              <a:t> Very low cost service (Less than 50% of market Price)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/>
              <a:t> Full free at 8.00pm to 6.00am for Pregnant Mother</a:t>
            </a:r>
          </a:p>
          <a:p>
            <a:pPr eaLnBrk="1" hangingPunct="1">
              <a:buFont typeface="Arial" pitchFamily="34" charset="0"/>
              <a:buChar char="•"/>
              <a:defRPr/>
            </a:pPr>
            <a:r>
              <a:rPr lang="en-US" sz="2000" dirty="0"/>
              <a:t> Easy &amp; Quick</a:t>
            </a:r>
          </a:p>
        </p:txBody>
      </p:sp>
      <p:pic>
        <p:nvPicPr>
          <p:cNvPr id="3072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14800" y="1524000"/>
            <a:ext cx="4887913" cy="397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727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352425" y="228600"/>
            <a:ext cx="8439150" cy="685800"/>
          </a:xfrm>
        </p:spPr>
        <p:txBody>
          <a:bodyPr/>
          <a:lstStyle/>
          <a:p>
            <a:r>
              <a:rPr lang="en-US" altLang="en-US" sz="4000" b="1" smtClean="0">
                <a:solidFill>
                  <a:srgbClr val="FF0000"/>
                </a:solidFill>
                <a:latin typeface="SutonnyMJ" pitchFamily="2" charset="0"/>
              </a:rPr>
              <a:t>†ivwn½v‡`i Rb¨ Riæix ¯^v¯’¨ †mev</a:t>
            </a:r>
          </a:p>
        </p:txBody>
      </p:sp>
      <p:sp>
        <p:nvSpPr>
          <p:cNvPr id="32771" name="TextBox 2"/>
          <p:cNvSpPr txBox="1">
            <a:spLocks noChangeArrowheads="1"/>
          </p:cNvSpPr>
          <p:nvPr/>
        </p:nvSpPr>
        <p:spPr bwMode="auto">
          <a:xfrm>
            <a:off x="352425" y="1066800"/>
            <a:ext cx="84391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en-US" altLang="en-US">
              <a:latin typeface="SutonnyMJ" pitchFamily="2" charset="0"/>
            </a:endParaRPr>
          </a:p>
        </p:txBody>
      </p:sp>
      <p:sp>
        <p:nvSpPr>
          <p:cNvPr id="32772" name="TextBox 4"/>
          <p:cNvSpPr txBox="1">
            <a:spLocks noChangeArrowheads="1"/>
          </p:cNvSpPr>
          <p:nvPr/>
        </p:nvSpPr>
        <p:spPr bwMode="auto">
          <a:xfrm>
            <a:off x="381000" y="1447800"/>
            <a:ext cx="4010025" cy="341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/>
            <a:r>
              <a:rPr lang="en-US" altLang="en-US">
                <a:latin typeface="SutonnyMJ" pitchFamily="2" charset="0"/>
              </a:rPr>
              <a:t>ms¯’v G †`‡ki Av_©-gvbeZvi †mevq wb‡qvwRZ †_‡K wbijmfv‡e KvR K‡i hv‡”Q| hLbB G †`‡ki gvbyl †Kvb eo ai‡bi cÖvK…wZK ev gbyl¨m„ó `~‡hv©‡M AvµvšÍ nq ZLbB ms¯’v Zvi mva¨gZ G †`‡ki gvbyl I miKv‡ii cv‡k †_‡K mva¨gZ gvbeZvi ‡mev K‡i _v‡K| m¤úªwZ G †`‡k AvkÖqiZ †ivwn½v‡`i Rb¨ K·evRv‡ii DwLqv Dc‡Rjvi _vBsLvwj‡Z 2Rb Wv³vi, 4Rb †mweKv, 6Rb wgWIqvBd, 5wU G¨v¤^y‡jÝ I 10Rb ¯’vbxq ¯^v¯’¨Kgx© Øviv A¯’vqx nvmcvZvj ¯’vc‡bi gva¨‡g m¤ú~Y© webvg~‡j¨ 15,000 †ivwn½v‡`i mva¨gZ mKj ai‡bi wPwKrmv I Ilya cÖ`vb Kiv n‡q‡Q|</a:t>
            </a:r>
          </a:p>
        </p:txBody>
      </p:sp>
      <p:pic>
        <p:nvPicPr>
          <p:cNvPr id="32773" name="Picture 5"/>
          <p:cNvPicPr>
            <a:picLocks noChangeAspect="1"/>
          </p:cNvPicPr>
          <p:nvPr/>
        </p:nvPicPr>
        <p:blipFill>
          <a:blip r:embed="rId2"/>
          <a:srcRect t="10545"/>
          <a:stretch>
            <a:fillRect/>
          </a:stretch>
        </p:blipFill>
        <p:spPr bwMode="auto">
          <a:xfrm>
            <a:off x="4559300" y="1295400"/>
            <a:ext cx="4570413" cy="443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776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ChangeArrowheads="1"/>
          </p:cNvSpPr>
          <p:nvPr/>
        </p:nvSpPr>
        <p:spPr bwMode="auto">
          <a:xfrm>
            <a:off x="2813050" y="533400"/>
            <a:ext cx="3235325" cy="609600"/>
          </a:xfrm>
          <a:prstGeom prst="rect">
            <a:avLst/>
          </a:prstGeom>
          <a:solidFill>
            <a:srgbClr val="FFCC66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pPr algn="ctr" eaLnBrk="1" hangingPunct="1"/>
            <a:r>
              <a:rPr lang="en-US" altLang="en-US"/>
              <a:t>Fistula Care Project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52425" y="2209800"/>
          <a:ext cx="3235325" cy="1738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325"/>
              </a:tblGrid>
              <a:tr h="64028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Awareness Development</a:t>
                      </a:r>
                      <a:r>
                        <a:rPr lang="en-US" sz="18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Training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92" marR="84392" marT="45756" marB="457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600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Patient</a:t>
                      </a:r>
                      <a:r>
                        <a:rPr lang="en-US" sz="18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Screening  </a:t>
                      </a:r>
                      <a:endParaRPr lang="en-US" sz="18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392" marR="84392" marT="45756" marB="45756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6009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Treatment</a:t>
                      </a:r>
                      <a:r>
                        <a:rPr lang="en-US" sz="1800" baseline="0" dirty="0">
                          <a:latin typeface="+mj-lt"/>
                        </a:rPr>
                        <a:t> 223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56" marB="45756" anchor="ctr"/>
                </a:tc>
              </a:tr>
              <a:tr h="366009">
                <a:tc>
                  <a:txBody>
                    <a:bodyPr/>
                    <a:lstStyle/>
                    <a:p>
                      <a:pPr algn="l">
                        <a:buFont typeface="Arial" pitchFamily="34" charset="0"/>
                        <a:buChar char="•"/>
                      </a:pPr>
                      <a:r>
                        <a:rPr lang="en-US" sz="1800" dirty="0">
                          <a:latin typeface="+mj-lt"/>
                        </a:rPr>
                        <a:t>  Rehabilitation</a:t>
                      </a:r>
                      <a:r>
                        <a:rPr lang="en-US" sz="1800" baseline="0" dirty="0">
                          <a:latin typeface="+mj-lt"/>
                        </a:rPr>
                        <a:t> 61</a:t>
                      </a:r>
                      <a:endParaRPr lang="en-US" sz="1800" dirty="0">
                        <a:latin typeface="+mj-lt"/>
                      </a:endParaRPr>
                    </a:p>
                  </a:txBody>
                  <a:tcPr marL="84392" marR="84392" marT="45756" marB="45756" anchor="ctr"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 bwMode="auto">
          <a:xfrm>
            <a:off x="422275" y="4648200"/>
            <a:ext cx="3094038" cy="685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r>
              <a:rPr lang="en-US" sz="2000" dirty="0"/>
              <a:t>All Services are free of cost</a:t>
            </a:r>
          </a:p>
        </p:txBody>
      </p:sp>
      <p:pic>
        <p:nvPicPr>
          <p:cNvPr id="34832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68738" y="2057400"/>
            <a:ext cx="495935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835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Box 2"/>
          <p:cNvSpPr txBox="1">
            <a:spLocks noChangeArrowheads="1"/>
          </p:cNvSpPr>
          <p:nvPr/>
        </p:nvSpPr>
        <p:spPr bwMode="auto">
          <a:xfrm>
            <a:off x="2362200" y="609600"/>
            <a:ext cx="4360863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en-US" sz="2800"/>
              <a:t>Orphanage Program</a:t>
            </a:r>
          </a:p>
          <a:p>
            <a:pPr algn="ctr" eaLnBrk="1" hangingPunct="1"/>
            <a:r>
              <a:rPr lang="en-US" altLang="en-US"/>
              <a:t>Total Student 50</a:t>
            </a:r>
          </a:p>
        </p:txBody>
      </p:sp>
      <p:pic>
        <p:nvPicPr>
          <p:cNvPr id="3584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38325" y="2057400"/>
            <a:ext cx="5961063" cy="362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846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2"/>
          <p:cNvSpPr txBox="1">
            <a:spLocks noChangeArrowheads="1"/>
          </p:cNvSpPr>
          <p:nvPr/>
        </p:nvSpPr>
        <p:spPr bwMode="auto">
          <a:xfrm>
            <a:off x="228600" y="4648200"/>
            <a:ext cx="19812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Ad-din Nursing Institute, Jessore</a:t>
            </a:r>
          </a:p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Estd. Aug 1997</a:t>
            </a:r>
          </a:p>
        </p:txBody>
      </p:sp>
      <p:sp>
        <p:nvSpPr>
          <p:cNvPr id="4102" name="Text Box 3"/>
          <p:cNvSpPr txBox="1">
            <a:spLocks noChangeArrowheads="1"/>
          </p:cNvSpPr>
          <p:nvPr/>
        </p:nvSpPr>
        <p:spPr bwMode="auto">
          <a:xfrm>
            <a:off x="1295400" y="304800"/>
            <a:ext cx="68580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en-US" sz="4000" b="1">
                <a:latin typeface="Corbel" pitchFamily="34" charset="0"/>
              </a:rPr>
              <a:t>Nursing Institutes</a:t>
            </a:r>
          </a:p>
        </p:txBody>
      </p:sp>
      <p:sp>
        <p:nvSpPr>
          <p:cNvPr id="4103" name="Text Box 4"/>
          <p:cNvSpPr txBox="1">
            <a:spLocks noChangeArrowheads="1"/>
          </p:cNvSpPr>
          <p:nvPr/>
        </p:nvSpPr>
        <p:spPr bwMode="auto">
          <a:xfrm>
            <a:off x="3167063" y="4727575"/>
            <a:ext cx="19812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Fatema Nursing Institute, Dhaka Estd. Jul 2006</a:t>
            </a:r>
          </a:p>
        </p:txBody>
      </p:sp>
      <p:sp>
        <p:nvSpPr>
          <p:cNvPr id="4104" name="Text Box 5"/>
          <p:cNvSpPr txBox="1">
            <a:spLocks noChangeArrowheads="1"/>
          </p:cNvSpPr>
          <p:nvPr/>
        </p:nvSpPr>
        <p:spPr bwMode="auto">
          <a:xfrm>
            <a:off x="6248400" y="5057775"/>
            <a:ext cx="1981200" cy="8255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1600" b="1">
                <a:latin typeface="Corbel" pitchFamily="34" charset="0"/>
              </a:rPr>
              <a:t>Safina Nursing Institute, Kushtia Estd. Sept 2005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2657475" y="2286000"/>
          <a:ext cx="3157538" cy="236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2" name="Photo Editor Photo" r:id="rId3" imgW="6095238" imgH="4571429" progId="">
                  <p:embed/>
                </p:oleObj>
              </mc:Choice>
              <mc:Fallback>
                <p:oleObj name="Photo Editor Photo" r:id="rId3" imgW="6095238" imgH="4571429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475" y="2286000"/>
                        <a:ext cx="3157538" cy="236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76200" y="1295400"/>
          <a:ext cx="2538413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3" name="Image" r:id="rId5" imgW="2684584" imgH="3465525" progId="">
                  <p:embed/>
                </p:oleObj>
              </mc:Choice>
              <mc:Fallback>
                <p:oleObj name="Image" r:id="rId5" imgW="2684584" imgH="3465525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295400"/>
                        <a:ext cx="2538413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5895975" y="2667000"/>
          <a:ext cx="3200400" cy="240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4" name="Image" r:id="rId7" imgW="3981689" imgH="2998228" progId="">
                  <p:embed/>
                </p:oleObj>
              </mc:Choice>
              <mc:Fallback>
                <p:oleObj name="Image" r:id="rId7" imgW="3981689" imgH="2998228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5975" y="2667000"/>
                        <a:ext cx="3200400" cy="240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5" name="Line 10"/>
          <p:cNvSpPr>
            <a:spLocks noChangeShapeType="1"/>
          </p:cNvSpPr>
          <p:nvPr/>
        </p:nvSpPr>
        <p:spPr bwMode="auto">
          <a:xfrm>
            <a:off x="0" y="1066800"/>
            <a:ext cx="9144000" cy="0"/>
          </a:xfrm>
          <a:prstGeom prst="line">
            <a:avLst/>
          </a:prstGeom>
          <a:noFill/>
          <a:ln w="76200">
            <a:solidFill>
              <a:srgbClr val="009E75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108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Text Box 2"/>
          <p:cNvSpPr txBox="1">
            <a:spLocks noChangeArrowheads="1"/>
          </p:cNvSpPr>
          <p:nvPr/>
        </p:nvSpPr>
        <p:spPr bwMode="auto">
          <a:xfrm>
            <a:off x="457200" y="228600"/>
            <a:ext cx="8458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>
                <a:solidFill>
                  <a:srgbClr val="0000FF"/>
                </a:solidFill>
                <a:latin typeface="Times New Roman" pitchFamily="18" charset="0"/>
              </a:rPr>
              <a:t>Business Initiatives to Support Other Social Activities</a:t>
            </a:r>
          </a:p>
        </p:txBody>
      </p:sp>
      <p:sp>
        <p:nvSpPr>
          <p:cNvPr id="5126" name="Text Box 3"/>
          <p:cNvSpPr txBox="1">
            <a:spLocks noChangeArrowheads="1"/>
          </p:cNvSpPr>
          <p:nvPr/>
        </p:nvSpPr>
        <p:spPr bwMode="auto">
          <a:xfrm>
            <a:off x="1371600" y="4953000"/>
            <a:ext cx="2743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3300"/>
                </a:solidFill>
                <a:latin typeface="Times New Roman" pitchFamily="18" charset="0"/>
              </a:rPr>
              <a:t> </a:t>
            </a:r>
            <a:r>
              <a:rPr lang="en-US" altLang="en-US" sz="2400" b="1">
                <a:solidFill>
                  <a:schemeClr val="hlink"/>
                </a:solidFill>
                <a:latin typeface="Tahoma" pitchFamily="34" charset="0"/>
              </a:rPr>
              <a:t>Ad-din</a:t>
            </a:r>
            <a:r>
              <a:rPr lang="en-US" altLang="en-US" sz="2400" b="1">
                <a:solidFill>
                  <a:srgbClr val="003300"/>
                </a:solidFill>
                <a:latin typeface="Times New Roman" pitchFamily="18" charset="0"/>
              </a:rPr>
              <a:t> Printers</a:t>
            </a:r>
          </a:p>
        </p:txBody>
      </p:sp>
      <p:pic>
        <p:nvPicPr>
          <p:cNvPr id="5127" name="Picture 4" descr="43"/>
          <p:cNvPicPr>
            <a:picLocks noChangeAspect="1" noChangeArrowheads="1"/>
          </p:cNvPicPr>
          <p:nvPr/>
        </p:nvPicPr>
        <p:blipFill>
          <a:blip r:embed="rId3">
            <a:lum bright="-18000" contrast="6000"/>
          </a:blip>
          <a:srcRect l="6818"/>
          <a:stretch>
            <a:fillRect/>
          </a:stretch>
        </p:blipFill>
        <p:spPr bwMode="auto">
          <a:xfrm>
            <a:off x="381000" y="838200"/>
            <a:ext cx="4572000" cy="402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8" name="Text Box 5"/>
          <p:cNvSpPr txBox="1">
            <a:spLocks noChangeArrowheads="1"/>
          </p:cNvSpPr>
          <p:nvPr/>
        </p:nvSpPr>
        <p:spPr bwMode="auto">
          <a:xfrm>
            <a:off x="5181600" y="5410200"/>
            <a:ext cx="350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en-US" sz="2400" b="1">
                <a:solidFill>
                  <a:srgbClr val="003300"/>
                </a:solidFill>
                <a:latin typeface="Times New Roman" pitchFamily="18" charset="0"/>
              </a:rPr>
              <a:t> </a:t>
            </a:r>
            <a:r>
              <a:rPr lang="en-US" altLang="en-US" sz="2400" b="1">
                <a:solidFill>
                  <a:schemeClr val="hlink"/>
                </a:solidFill>
                <a:latin typeface="Tahoma" pitchFamily="34" charset="0"/>
              </a:rPr>
              <a:t>Ad-din</a:t>
            </a:r>
            <a:r>
              <a:rPr lang="en-US" altLang="en-US" sz="2400" b="1">
                <a:solidFill>
                  <a:srgbClr val="003300"/>
                </a:solidFill>
                <a:latin typeface="Times New Roman" pitchFamily="18" charset="0"/>
              </a:rPr>
              <a:t> Pharmaceutical</a:t>
            </a:r>
          </a:p>
        </p:txBody>
      </p:sp>
      <p:graphicFrame>
        <p:nvGraphicFramePr>
          <p:cNvPr id="5122" name="Object 6"/>
          <p:cNvGraphicFramePr>
            <a:graphicFrameLocks noChangeAspect="1"/>
          </p:cNvGraphicFramePr>
          <p:nvPr/>
        </p:nvGraphicFramePr>
        <p:xfrm>
          <a:off x="5105400" y="1143000"/>
          <a:ext cx="3733800" cy="324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6" name="Bitmap Image" r:id="rId4" imgW="5495238" imgH="4238095" progId="Paint.Picture">
                  <p:embed/>
                </p:oleObj>
              </mc:Choice>
              <mc:Fallback>
                <p:oleObj name="Bitmap Image" r:id="rId4" imgW="5495238" imgH="4238095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2000" contrast="12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143000"/>
                        <a:ext cx="3733800" cy="324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7"/>
          <p:cNvGraphicFramePr>
            <a:graphicFrameLocks noChangeAspect="1"/>
          </p:cNvGraphicFramePr>
          <p:nvPr/>
        </p:nvGraphicFramePr>
        <p:xfrm>
          <a:off x="5181600" y="4383088"/>
          <a:ext cx="12954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7" name="Bitmap Image" r:id="rId6" imgW="3247619" imgH="3619048" progId="Paint.Picture">
                  <p:embed/>
                </p:oleObj>
              </mc:Choice>
              <mc:Fallback>
                <p:oleObj name="Bitmap Image" r:id="rId6" imgW="3247619" imgH="3619048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12631" r="20273" b="20000"/>
                      <a:stretch>
                        <a:fillRect/>
                      </a:stretch>
                    </p:blipFill>
                    <p:spPr bwMode="auto">
                      <a:xfrm>
                        <a:off x="5181600" y="4383088"/>
                        <a:ext cx="12954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8"/>
          <p:cNvGraphicFramePr>
            <a:graphicFrameLocks noChangeAspect="1"/>
          </p:cNvGraphicFramePr>
          <p:nvPr/>
        </p:nvGraphicFramePr>
        <p:xfrm>
          <a:off x="7620000" y="4384675"/>
          <a:ext cx="1143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8" name="Bitmap Image" r:id="rId8" imgW="5238095" imgH="3772427" progId="Paint.Picture">
                  <p:embed/>
                </p:oleObj>
              </mc:Choice>
              <mc:Fallback>
                <p:oleObj name="Bitmap Image" r:id="rId8" imgW="5238095" imgH="3772427" progId="Paint.Picture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3817" t="33730" r="29637" b="11617"/>
                      <a:stretch>
                        <a:fillRect/>
                      </a:stretch>
                    </p:blipFill>
                    <p:spPr bwMode="auto">
                      <a:xfrm>
                        <a:off x="7620000" y="4384675"/>
                        <a:ext cx="11430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131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5562600" y="5124450"/>
            <a:ext cx="35814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v"/>
            </a:pPr>
            <a:r>
              <a:rPr lang="en-US" altLang="en-US">
                <a:solidFill>
                  <a:srgbClr val="003300"/>
                </a:solidFill>
              </a:rPr>
              <a:t>Established in 9 Oct 1998</a:t>
            </a:r>
          </a:p>
          <a:p>
            <a:pPr marL="342900" indent="-342900" ea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itchFamily="2" charset="2"/>
              <a:buChar char="v"/>
            </a:pPr>
            <a:r>
              <a:rPr lang="en-US" altLang="en-US">
                <a:solidFill>
                  <a:srgbClr val="003300"/>
                </a:solidFill>
              </a:rPr>
              <a:t>Formal Inauguration 31 March 2000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2133600" y="228600"/>
            <a:ext cx="4648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n-US" altLang="en-US" sz="4000" b="1">
                <a:solidFill>
                  <a:srgbClr val="990033"/>
                </a:solidFill>
                <a:latin typeface="Times New Roman" pitchFamily="18" charset="0"/>
              </a:rPr>
              <a:t>Formal Education</a:t>
            </a:r>
          </a:p>
        </p:txBody>
      </p:sp>
      <p:pic>
        <p:nvPicPr>
          <p:cNvPr id="38916" name="Picture 5" descr="3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43600" y="1543050"/>
            <a:ext cx="2971800" cy="180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6" descr="31"/>
          <p:cNvPicPr>
            <a:picLocks noChangeAspect="1" noChangeArrowheads="1"/>
          </p:cNvPicPr>
          <p:nvPr/>
        </p:nvPicPr>
        <p:blipFill>
          <a:blip r:embed="rId3"/>
          <a:srcRect r="5556"/>
          <a:stretch>
            <a:fillRect/>
          </a:stretch>
        </p:blipFill>
        <p:spPr bwMode="auto">
          <a:xfrm>
            <a:off x="5943600" y="3371850"/>
            <a:ext cx="2971800" cy="176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8" name="TextBox 8"/>
          <p:cNvSpPr txBox="1">
            <a:spLocks noChangeArrowheads="1"/>
          </p:cNvSpPr>
          <p:nvPr/>
        </p:nvSpPr>
        <p:spPr bwMode="auto">
          <a:xfrm>
            <a:off x="685800" y="1295400"/>
            <a:ext cx="24352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en-US">
                <a:solidFill>
                  <a:srgbClr val="0070C0"/>
                </a:solidFill>
              </a:rPr>
              <a:t>Akij Collegiate School</a:t>
            </a:r>
          </a:p>
        </p:txBody>
      </p:sp>
      <p:sp>
        <p:nvSpPr>
          <p:cNvPr id="38919" name="Rectangle 9"/>
          <p:cNvSpPr>
            <a:spLocks noChangeArrowheads="1"/>
          </p:cNvSpPr>
          <p:nvPr/>
        </p:nvSpPr>
        <p:spPr bwMode="auto">
          <a:xfrm>
            <a:off x="6248400" y="1009650"/>
            <a:ext cx="2286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>
                <a:solidFill>
                  <a:srgbClr val="0070C0"/>
                </a:solidFill>
              </a:rPr>
              <a:t>Sakina Grils School</a:t>
            </a:r>
          </a:p>
        </p:txBody>
      </p:sp>
      <p:pic>
        <p:nvPicPr>
          <p:cNvPr id="38920" name="Picture 2" descr="D:\Office\Akij School\School Picture\School Building for online  Picture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600" y="1600200"/>
            <a:ext cx="43688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21" name="TextBox 11"/>
          <p:cNvSpPr txBox="1">
            <a:spLocks noChangeArrowheads="1"/>
          </p:cNvSpPr>
          <p:nvPr/>
        </p:nvSpPr>
        <p:spPr bwMode="auto">
          <a:xfrm>
            <a:off x="381000" y="5029200"/>
            <a:ext cx="33528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/>
              <a:t>Established in  1991 </a:t>
            </a:r>
          </a:p>
          <a:p>
            <a:pPr eaLnBrk="1" hangingPunct="1"/>
            <a:r>
              <a:rPr lang="en-US" altLang="en-US"/>
              <a:t>at Navaran, Jashore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304800" y="6019800"/>
            <a:ext cx="8382000" cy="736600"/>
            <a:chOff x="304800" y="6019800"/>
            <a:chExt cx="8382000" cy="736600"/>
          </a:xfrm>
        </p:grpSpPr>
        <p:cxnSp>
          <p:nvCxnSpPr>
            <p:cNvPr id="13" name="Straight Connector 12"/>
            <p:cNvCxnSpPr/>
            <p:nvPr/>
          </p:nvCxnSpPr>
          <p:spPr>
            <a:xfrm>
              <a:off x="304800" y="6396038"/>
              <a:ext cx="6858000" cy="47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924" name="Picture 6" descr="C:\Users\Akij College\Desktop\Ad-din Logo-1.jpg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688263" y="6019800"/>
              <a:ext cx="998537" cy="7366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3333FF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Thank You All</a:t>
            </a:r>
            <a:endParaRPr lang="en-US" dirty="0"/>
          </a:p>
        </p:txBody>
      </p:sp>
      <p:pic>
        <p:nvPicPr>
          <p:cNvPr id="4" name="Chart Placeholder 3" descr="42035063772_33e27d5616_b.jpg"/>
          <p:cNvPicPr>
            <a:picLocks noGrp="1" noChangeAspect="1"/>
          </p:cNvPicPr>
          <p:nvPr>
            <p:ph type="chart" idx="1"/>
          </p:nvPr>
        </p:nvPicPr>
        <p:blipFill>
          <a:blip r:embed="rId2"/>
          <a:stretch>
            <a:fillRect/>
          </a:stretch>
        </p:blipFill>
        <p:spPr>
          <a:xfrm>
            <a:off x="1487406" y="1981200"/>
            <a:ext cx="6169188" cy="4114800"/>
          </a:xfrm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1630</TotalTime>
  <Words>729</Words>
  <Application>Microsoft Office PowerPoint</Application>
  <PresentationFormat>On-screen Show (4:3)</PresentationFormat>
  <Paragraphs>170</Paragraphs>
  <Slides>22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Flow</vt:lpstr>
      <vt:lpstr>Photo Editor Photo</vt:lpstr>
      <vt:lpstr>Image</vt:lpstr>
      <vt:lpstr>Bitmap Image</vt:lpstr>
      <vt:lpstr>An introduction to Ad-din Foundation      </vt:lpstr>
      <vt:lpstr>PowerPoint Presentation</vt:lpstr>
      <vt:lpstr>PowerPoint Presentation</vt:lpstr>
      <vt:lpstr>Annual Trend of Eye Care Cataract</vt:lpstr>
      <vt:lpstr>Yearly MCH Services</vt:lpstr>
      <vt:lpstr>PowerPoint Presentation</vt:lpstr>
      <vt:lpstr>Agriculture, Fisheries &amp; Livestock Project</vt:lpstr>
      <vt:lpstr>Learning &amp; Innovation Fund to Test New Ideas (LIFT)</vt:lpstr>
      <vt:lpstr>Enrich Program</vt:lpstr>
      <vt:lpstr>PowerPoint Presentation</vt:lpstr>
      <vt:lpstr>Food Assistance for Poor Disabled People</vt:lpstr>
      <vt:lpstr>Scholarship Program for Poor &amp; Merit Student</vt:lpstr>
      <vt:lpstr>PowerPoint Presentation</vt:lpstr>
      <vt:lpstr>PowerPoint Presentation</vt:lpstr>
      <vt:lpstr>PowerPoint Presentation</vt:lpstr>
      <vt:lpstr>†ivwn½v‡`i Rb¨ Riæix ¯^v¯’¨ †mev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All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Ad-din Sakina Medical College Hospital</dc:title>
  <dc:creator>user</dc:creator>
  <cp:lastModifiedBy>Emdad</cp:lastModifiedBy>
  <cp:revision>242</cp:revision>
  <dcterms:created xsi:type="dcterms:W3CDTF">2017-11-25T07:55:21Z</dcterms:created>
  <dcterms:modified xsi:type="dcterms:W3CDTF">2020-03-18T10:40:50Z</dcterms:modified>
</cp:coreProperties>
</file>