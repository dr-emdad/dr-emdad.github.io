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7080" r:id="rId1"/>
    <p:sldMasterId id="2147487937" r:id="rId2"/>
  </p:sldMasterIdLst>
  <p:notesMasterIdLst>
    <p:notesMasterId r:id="rId23"/>
  </p:notesMasterIdLst>
  <p:sldIdLst>
    <p:sldId id="620" r:id="rId3"/>
    <p:sldId id="619" r:id="rId4"/>
    <p:sldId id="617" r:id="rId5"/>
    <p:sldId id="618" r:id="rId6"/>
    <p:sldId id="629" r:id="rId7"/>
    <p:sldId id="634" r:id="rId8"/>
    <p:sldId id="635" r:id="rId9"/>
    <p:sldId id="622" r:id="rId10"/>
    <p:sldId id="624" r:id="rId11"/>
    <p:sldId id="625" r:id="rId12"/>
    <p:sldId id="614" r:id="rId13"/>
    <p:sldId id="636" r:id="rId14"/>
    <p:sldId id="611" r:id="rId15"/>
    <p:sldId id="628" r:id="rId16"/>
    <p:sldId id="605" r:id="rId17"/>
    <p:sldId id="606" r:id="rId18"/>
    <p:sldId id="626" r:id="rId19"/>
    <p:sldId id="586" r:id="rId20"/>
    <p:sldId id="632" r:id="rId21"/>
    <p:sldId id="633" r:id="rId22"/>
  </p:sldIdLst>
  <p:sldSz cx="9144000" cy="6858000" type="screen4x3"/>
  <p:notesSz cx="6858000" cy="9945688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FF66"/>
    <a:srgbClr val="CC3300"/>
    <a:srgbClr val="006600"/>
    <a:srgbClr val="FF9966"/>
    <a:srgbClr val="99FF33"/>
    <a:srgbClr val="1365BF"/>
    <a:srgbClr val="FF33CC"/>
    <a:srgbClr val="FF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722" autoAdjust="0"/>
    <p:restoredTop sz="95382" autoAdjust="0"/>
  </p:normalViewPr>
  <p:slideViewPr>
    <p:cSldViewPr>
      <p:cViewPr>
        <p:scale>
          <a:sx n="70" d="100"/>
          <a:sy n="70" d="100"/>
        </p:scale>
        <p:origin x="-1500" y="-18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15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11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42975" y="744538"/>
            <a:ext cx="4972050" cy="37306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724400"/>
            <a:ext cx="5486400" cy="4476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122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7213"/>
            <a:ext cx="29718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9447213"/>
            <a:ext cx="29718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EF09EFDA-9FA6-4EE9-8768-1BD8A60D3CC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946583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3250D467-FA9D-41D6-91B9-6FD47C763CA0}" type="slidenum">
              <a:rPr lang="en-US" smtClean="0">
                <a:solidFill>
                  <a:srgbClr val="000000"/>
                </a:solidFill>
              </a:rPr>
              <a:pPr eaLnBrk="1" hangingPunct="1"/>
              <a:t>1</a:t>
            </a:fld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E1CFFC81-D30A-48BE-844E-591ABC2E2AC9}" type="slidenum">
              <a:rPr lang="en-US" smtClean="0">
                <a:solidFill>
                  <a:srgbClr val="000000"/>
                </a:solidFill>
              </a:rPr>
              <a:pPr/>
              <a:t>2</a:t>
            </a:fld>
            <a:endParaRPr lang="en-US" dirty="0" smtClean="0">
              <a:solidFill>
                <a:srgbClr val="000000"/>
              </a:solidFill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B36F5E-8ADC-4553-AFDF-0075743DECD4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09193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57066" indent="-291179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64717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30604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96491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DF6B1B4C-4C59-4A03-B638-CFBAD9815A28}" type="slidenum">
              <a:rPr lang="en-US">
                <a:solidFill>
                  <a:prstClr val="black"/>
                </a:solidFill>
              </a:rPr>
              <a:pPr eaLnBrk="1" hangingPunct="1"/>
              <a:t>4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6978" y="745588"/>
            <a:ext cx="4544046" cy="3727934"/>
          </a:xfrm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388" y="4724202"/>
            <a:ext cx="5483225" cy="447556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F3E39231-8217-41F6-A7AC-B872BBF35343}" type="slidenum">
              <a:rPr lang="en-US" smtClean="0"/>
              <a:pPr eaLnBrk="1" hangingPunct="1"/>
              <a:t>5</a:t>
            </a:fld>
            <a:endParaRPr lang="en-US" smtClean="0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44563" y="746125"/>
            <a:ext cx="4968875" cy="3727450"/>
          </a:xfrm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389" y="4724202"/>
            <a:ext cx="5483225" cy="4475560"/>
          </a:xfrm>
          <a:noFill/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795245E5-9100-4885-8E70-993AA1DC8825}" type="slidenum">
              <a:rPr lang="en-US" smtClean="0">
                <a:solidFill>
                  <a:srgbClr val="000000"/>
                </a:solidFill>
              </a:rPr>
              <a:pPr/>
              <a:t>9</a:t>
            </a:fld>
            <a:endParaRPr lang="en-US" dirty="0" smtClean="0">
              <a:solidFill>
                <a:srgbClr val="000000"/>
              </a:solidFill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795245E5-9100-4885-8E70-993AA1DC8825}" type="slidenum">
              <a:rPr lang="en-US" smtClean="0">
                <a:solidFill>
                  <a:srgbClr val="000000"/>
                </a:solidFill>
              </a:rPr>
              <a:pPr/>
              <a:t>10</a:t>
            </a:fld>
            <a:endParaRPr lang="en-US" dirty="0" smtClean="0">
              <a:solidFill>
                <a:srgbClr val="000000"/>
              </a:solidFill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5378B699-9CD7-4034-93A8-8779838FDE38}" type="slidenum">
              <a:rPr lang="en-US" smtClean="0"/>
              <a:pPr eaLnBrk="1" hangingPunct="1"/>
              <a:t>11</a:t>
            </a:fld>
            <a:endParaRPr lang="en-US" smtClean="0"/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9B0ADFE8-C5E6-4667-AC7B-20B9E70B887F}" type="slidenum">
              <a:rPr lang="en-US" smtClean="0"/>
              <a:pPr eaLnBrk="1" hangingPunct="1"/>
              <a:t>12</a:t>
            </a:fld>
            <a:endParaRPr lang="en-US" smtClean="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906F478A-D878-4541-A85A-174BA668C4A1}" type="slidenum">
              <a:rPr lang="en-US" smtClean="0"/>
              <a:pPr eaLnBrk="1" hangingPunct="1"/>
              <a:t>13</a:t>
            </a:fld>
            <a:endParaRPr lang="en-US" smtClean="0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6978" y="748985"/>
            <a:ext cx="4544046" cy="3726236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7975" y="4724881"/>
            <a:ext cx="5482052" cy="447352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6978" y="748985"/>
            <a:ext cx="4544046" cy="3726236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7975" y="4724881"/>
            <a:ext cx="5482052" cy="447352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3A337629-D36D-49E4-ACBA-6A81B0F14D58}" type="slidenum">
              <a:rPr lang="en-US" smtClean="0">
                <a:solidFill>
                  <a:srgbClr val="000000"/>
                </a:solidFill>
              </a:rPr>
              <a:pPr/>
              <a:t>17</a:t>
            </a:fld>
            <a:endParaRPr lang="en-US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tIns="0" rIns="18288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DBF5F9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DBF5F9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DBF5F9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fld id="{F5BA9105-F799-4AD6-BE1D-EB6435D6D4B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4931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A5B395-BB23-4C8E-A0D9-F8B4C9B3C55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463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tIns="0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DBF5F9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DBF5F9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DBF5F9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fld id="{1FF430C5-6C97-4F3C-94EB-87EB3ECB43F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0605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D27DEC-F49A-41DC-8DCC-A0EF0F2626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582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AFCCDD-8E41-4CB2-9E02-12C0557A944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39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5792B5-6862-4E68-B435-F94D139E690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9402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DB91A2-9915-43FB-83F1-4A0174653A3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013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6C0776-B9E3-4701-A0DF-B4BA2C4837B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585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nip and Round Single Corner Rectangle 4"/>
          <p:cNvSpPr/>
          <p:nvPr/>
        </p:nvSpPr>
        <p:spPr>
          <a:xfrm rot="420000" flipV="1">
            <a:off x="3165475" y="1108075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ight Triangle 5"/>
          <p:cNvSpPr/>
          <p:nvPr/>
        </p:nvSpPr>
        <p:spPr>
          <a:xfrm rot="420000" flipV="1">
            <a:off x="8004175" y="5359400"/>
            <a:ext cx="155575" cy="155575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Freeform 6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Constantia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Constanti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lIns="45720" rIns="45720" bIns="45720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BAEE31-88B4-4CC1-858A-0209A32C09E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537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0FCFB7-F822-41CC-8B7E-64830996DE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390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E23BF2-1773-4833-B2B6-836090B580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890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490FFF-BE2E-4760-A71F-9011BA41818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7724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86854558-25E2-41C2-8EDF-A9189FA05FD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352837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45440" y="2942602"/>
            <a:ext cx="7147931" cy="246380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572652" y="2944634"/>
            <a:ext cx="1190348" cy="2459736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7712714" y="3136658"/>
            <a:ext cx="910224" cy="2075688"/>
          </a:xfrm>
          <a:prstGeom prst="rect">
            <a:avLst/>
          </a:prstGeom>
          <a:solidFill>
            <a:schemeClr val="accent3">
              <a:alpha val="70000"/>
            </a:schemeClr>
          </a:solidFill>
          <a:ln w="63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445483" y="3055621"/>
            <a:ext cx="6947845" cy="2245359"/>
          </a:xfrm>
          <a:prstGeom prst="rect">
            <a:avLst/>
          </a:prstGeom>
          <a:solidFill>
            <a:srgbClr val="FFFFFF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86826" y="4625268"/>
            <a:ext cx="762000" cy="457200"/>
          </a:xfrm>
        </p:spPr>
        <p:txBody>
          <a:bodyPr/>
          <a:lstStyle>
            <a:lvl1pPr algn="ctr">
              <a:defRPr sz="28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fld id="{90EAE7D3-9C06-4DB4-ACCC-B74DA316F7C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541822" y="4559276"/>
            <a:ext cx="6755166" cy="664367"/>
          </a:xfrm>
          <a:prstGeom prst="rect">
            <a:avLst/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38971" y="3139440"/>
            <a:ext cx="6760868" cy="2077720"/>
          </a:xfrm>
          <a:prstGeom prst="rect">
            <a:avLst/>
          </a:prstGeom>
          <a:noFill/>
          <a:ln w="6350" cmpd="dbl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2805" y="4648200"/>
            <a:ext cx="6553200" cy="457200"/>
          </a:xfrm>
        </p:spPr>
        <p:txBody>
          <a:bodyPr>
            <a:normAutofit/>
          </a:bodyPr>
          <a:lstStyle>
            <a:lvl1pPr marL="0" indent="0" algn="ctr">
              <a:buNone/>
              <a:defRPr sz="1800" cap="all" spc="300" baseline="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4705" y="3227033"/>
            <a:ext cx="6629400" cy="1219201"/>
          </a:xfrm>
        </p:spPr>
        <p:txBody>
          <a:bodyPr anchor="b" anchorCtr="0">
            <a:noAutofit/>
          </a:bodyPr>
          <a:lstStyle>
            <a:lvl1pPr>
              <a:defRPr sz="4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F9B31F-D5A8-4A46-8135-19E8C2F84E10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451976" y="2946400"/>
            <a:ext cx="8265160" cy="246380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567656" y="3048000"/>
            <a:ext cx="8033800" cy="2245359"/>
          </a:xfrm>
          <a:prstGeom prst="rect">
            <a:avLst/>
          </a:prstGeom>
          <a:solidFill>
            <a:srgbClr val="FFFFFF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055934-D297-40AE-8C31-BFCB2B4E6D00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6" y="3200399"/>
            <a:ext cx="7696200" cy="1295401"/>
          </a:xfrm>
        </p:spPr>
        <p:txBody>
          <a:bodyPr anchor="b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en-US" sz="4000" kern="1200" cap="all" baseline="0" dirty="0">
                <a:solidFill>
                  <a:schemeClr val="accent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675496" y="4541520"/>
            <a:ext cx="7818120" cy="664367"/>
          </a:xfrm>
          <a:prstGeom prst="rect">
            <a:avLst/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4607510"/>
            <a:ext cx="7696200" cy="523783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cap="all" spc="250" baseline="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5757" y="3124200"/>
            <a:ext cx="7817599" cy="2077720"/>
          </a:xfrm>
          <a:prstGeom prst="rect">
            <a:avLst/>
          </a:prstGeom>
          <a:noFill/>
          <a:ln w="6350" cmpd="dbl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128" y="408372"/>
            <a:ext cx="8260672" cy="103942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6128" y="1719071"/>
            <a:ext cx="4038600" cy="440740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071"/>
            <a:ext cx="4038600" cy="440740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8B06743-DA15-4070-A89F-CC5978BE4E89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128" y="408372"/>
            <a:ext cx="8260672" cy="1039427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6128" y="1722438"/>
            <a:ext cx="4040188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128" y="2438400"/>
            <a:ext cx="4040188" cy="36877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722438"/>
            <a:ext cx="4041775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38400"/>
            <a:ext cx="4041775" cy="36877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881075B-84F4-44BB-B6B0-F41F6F9CCED2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9A4AB0D-D421-4477-BF7B-5A15C8FE9E4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ounded Rectangle 10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F323683-94BC-464C-B011-79E24853D84F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ounded Rectangle 11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685800"/>
            <a:ext cx="4572000" cy="52578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81D0C94-EECA-4073-ABF8-E8F1DD0C8B5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560034" y="1505712"/>
            <a:ext cx="2716566" cy="3523488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76690" y="1642472"/>
            <a:ext cx="2483254" cy="3234328"/>
          </a:xfrm>
          <a:prstGeom prst="rect">
            <a:avLst/>
          </a:prstGeom>
          <a:solidFill>
            <a:srgbClr val="FFFFFF"/>
          </a:solidFill>
          <a:ln w="6350" cmpd="dbl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9000" y="2971800"/>
            <a:ext cx="2298634" cy="1752600"/>
          </a:xfrm>
        </p:spPr>
        <p:txBody>
          <a:bodyPr/>
          <a:lstStyle>
            <a:lvl1pPr marL="0" indent="0">
              <a:spcBef>
                <a:spcPts val="4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9000" y="1734312"/>
            <a:ext cx="2298634" cy="1191620"/>
          </a:xfrm>
        </p:spPr>
        <p:txBody>
          <a:bodyPr anchor="b">
            <a:normAutofit/>
          </a:bodyPr>
          <a:lstStyle>
            <a:lvl1pPr algn="l"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5800" y="621437"/>
            <a:ext cx="7772400" cy="4331564"/>
          </a:xfrm>
          <a:solidFill>
            <a:schemeClr val="bg2"/>
          </a:solidFill>
          <a:ln>
            <a:noFill/>
          </a:ln>
          <a:effectLst>
            <a:softEdge rad="12700"/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5FCB9C9-A122-4F06-9CE9-CDB89ECB3A2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685800" y="4953000"/>
            <a:ext cx="7772400" cy="137160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61999" y="5029200"/>
            <a:ext cx="7600765" cy="1202924"/>
          </a:xfrm>
          <a:prstGeom prst="rect">
            <a:avLst/>
          </a:prstGeom>
          <a:solidFill>
            <a:srgbClr val="FFFFFF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914400" y="5638800"/>
            <a:ext cx="7328514" cy="451696"/>
          </a:xfrm>
          <a:prstGeom prst="rect">
            <a:avLst/>
          </a:prstGeom>
          <a:solidFill>
            <a:schemeClr val="accent1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605589" y="5074920"/>
            <a:ext cx="7946136" cy="1097280"/>
          </a:xfrm>
          <a:prstGeom prst="rect">
            <a:avLst/>
          </a:prstGeom>
          <a:noFill/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56289" y="5656556"/>
            <a:ext cx="7244736" cy="40171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" cap="all" spc="250" baseline="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105400"/>
            <a:ext cx="7328514" cy="523043"/>
          </a:xfrm>
        </p:spPr>
        <p:txBody>
          <a:bodyPr anchor="ctr" anchorCtr="0"/>
          <a:lstStyle>
            <a:lvl1pPr algn="ctr"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55BA85-89C2-41EF-800E-E5FCE90811D2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61702" y="228600"/>
            <a:ext cx="1859280" cy="6122634"/>
          </a:xfrm>
          <a:prstGeom prst="rect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955225" y="351409"/>
            <a:ext cx="1672235" cy="5877017"/>
          </a:xfrm>
          <a:prstGeom prst="rect">
            <a:avLst/>
          </a:pr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48577" y="395427"/>
            <a:ext cx="1485531" cy="578898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80999"/>
            <a:ext cx="6172200" cy="579120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1261DB-600E-4EEF-8312-AA280A0955FE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86854558-25E2-41C2-8EDF-A9189FA05FD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046397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938"/>
            <a:ext cx="9163050" cy="104140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Constantia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938"/>
            <a:ext cx="4762500" cy="6381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Constantia"/>
            </a:endParaRPr>
          </a:p>
        </p:txBody>
      </p:sp>
      <p:sp>
        <p:nvSpPr>
          <p:cNvPr id="6148" name="Title Placeholder 8"/>
          <p:cNvSpPr>
            <a:spLocks noGrp="1"/>
          </p:cNvSpPr>
          <p:nvPr>
            <p:ph type="title"/>
          </p:nvPr>
        </p:nvSpPr>
        <p:spPr bwMode="auto"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6149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457200" y="1935163"/>
            <a:ext cx="8229600" cy="438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rgbClr val="04617B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rgbClr val="04617B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rgbClr val="04617B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fld id="{2726899A-B839-4B69-8705-C78473B00DE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grpSp>
        <p:nvGrpSpPr>
          <p:cNvPr id="6153" name="Group 1"/>
          <p:cNvGrpSpPr>
            <a:grpSpLocks/>
          </p:cNvGrpSpPr>
          <p:nvPr/>
        </p:nvGrpSpPr>
        <p:grpSpPr bwMode="auto">
          <a:xfrm>
            <a:off x="-19050" y="203200"/>
            <a:ext cx="9180513" cy="647700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7894" r:id="rId1"/>
    <p:sldLayoutId id="2147487831" r:id="rId2"/>
    <p:sldLayoutId id="2147487895" r:id="rId3"/>
    <p:sldLayoutId id="2147487832" r:id="rId4"/>
    <p:sldLayoutId id="2147487833" r:id="rId5"/>
    <p:sldLayoutId id="2147487834" r:id="rId6"/>
    <p:sldLayoutId id="2147487835" r:id="rId7"/>
    <p:sldLayoutId id="2147487836" r:id="rId8"/>
    <p:sldLayoutId id="2147487896" r:id="rId9"/>
    <p:sldLayoutId id="2147487837" r:id="rId10"/>
    <p:sldLayoutId id="2147487838" r:id="rId11"/>
    <p:sldLayoutId id="2147487923" r:id="rId12"/>
    <p:sldLayoutId id="2147487950" r:id="rId1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5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rgbClr val="0BD0D9"/>
        </a:buClr>
        <a:buSzPct val="95000"/>
        <a:buFont typeface="Wingdings 2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460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 2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0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 2" pitchFamily="18" charset="2"/>
        <a:buChar char="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7450" indent="-209550" algn="l" rtl="0" eaLnBrk="0" fontAlgn="base" hangingPunct="0">
        <a:spcBef>
          <a:spcPct val="20000"/>
        </a:spcBef>
        <a:spcAft>
          <a:spcPct val="0"/>
        </a:spcAft>
        <a:buClr>
          <a:srgbClr val="0BD0D9"/>
        </a:buClr>
        <a:buSzPct val="65000"/>
        <a:buFont typeface="Wingdings 2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2088" indent="-209550" algn="l" rtl="0" eaLnBrk="0" fontAlgn="base" hangingPunct="0">
        <a:spcBef>
          <a:spcPct val="20000"/>
        </a:spcBef>
        <a:spcAft>
          <a:spcPct val="0"/>
        </a:spcAft>
        <a:buClr>
          <a:srgbClr val="10CF9B"/>
        </a:buClr>
        <a:buSzPct val="65000"/>
        <a:buFont typeface="Wingdings 2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7" name="Rounded Rectangle 6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52600"/>
            <a:ext cx="8229600" cy="437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2726899A-B839-4B69-8705-C78473B00DE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74320" y="278166"/>
            <a:ext cx="8595360" cy="132588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72863" y="372862"/>
            <a:ext cx="8380520" cy="1118587"/>
          </a:xfrm>
          <a:prstGeom prst="rect">
            <a:avLst/>
          </a:pr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6128" y="408372"/>
            <a:ext cx="8260672" cy="10394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7938" r:id="rId1"/>
    <p:sldLayoutId id="2147487939" r:id="rId2"/>
    <p:sldLayoutId id="2147487940" r:id="rId3"/>
    <p:sldLayoutId id="2147487941" r:id="rId4"/>
    <p:sldLayoutId id="2147487942" r:id="rId5"/>
    <p:sldLayoutId id="2147487943" r:id="rId6"/>
    <p:sldLayoutId id="2147487944" r:id="rId7"/>
    <p:sldLayoutId id="2147487945" r:id="rId8"/>
    <p:sldLayoutId id="2147487946" r:id="rId9"/>
    <p:sldLayoutId id="2147487947" r:id="rId10"/>
    <p:sldLayoutId id="2147487948" r:id="rId11"/>
    <p:sldLayoutId id="214748794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3500" kern="1200" cap="all" baseline="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19456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37744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jp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jpeg"/><Relationship Id="rId5" Type="http://schemas.openxmlformats.org/officeDocument/2006/relationships/image" Target="../media/image23.jpe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5.emf"/><Relationship Id="rId4" Type="http://schemas.openxmlformats.org/officeDocument/2006/relationships/oleObject" Target="../embeddings/oleObject1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26.emf"/><Relationship Id="rId4" Type="http://schemas.openxmlformats.org/officeDocument/2006/relationships/oleObject" Target="../embeddings/oleObject2.bin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9"/>
          <p:cNvSpPr>
            <a:spLocks noGrp="1" noChangeArrowheads="1"/>
          </p:cNvSpPr>
          <p:nvPr>
            <p:ph type="subTitle" idx="1"/>
          </p:nvPr>
        </p:nvSpPr>
        <p:spPr>
          <a:xfrm>
            <a:off x="1219200" y="2209800"/>
            <a:ext cx="6172200" cy="3886200"/>
          </a:xfrm>
        </p:spPr>
        <p:txBody>
          <a:bodyPr/>
          <a:lstStyle/>
          <a:p>
            <a:pPr marR="0" eaLnBrk="1" hangingPunct="1"/>
            <a:endParaRPr lang="en-US" sz="4000" smtClean="0"/>
          </a:p>
          <a:p>
            <a:pPr marR="0" eaLnBrk="1" hangingPunct="1"/>
            <a:endParaRPr lang="en-US" smtClean="0"/>
          </a:p>
        </p:txBody>
      </p:sp>
      <p:pic>
        <p:nvPicPr>
          <p:cNvPr id="50179" name="Picture 12" descr="Picture 23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1963" y="2209800"/>
            <a:ext cx="5735637" cy="352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33" name="Rectangle 13"/>
          <p:cNvSpPr>
            <a:spLocks noChangeArrowheads="1"/>
          </p:cNvSpPr>
          <p:nvPr/>
        </p:nvSpPr>
        <p:spPr bwMode="auto">
          <a:xfrm>
            <a:off x="330200" y="838200"/>
            <a:ext cx="8432800" cy="1077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3200" b="1" dirty="0">
                <a:solidFill>
                  <a:srgbClr val="FFC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50 BEDED UPAZILA  HEALTH  COMPLEX </a:t>
            </a:r>
            <a:r>
              <a:rPr lang="en-US" sz="3200" b="1" dirty="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/>
            </a:r>
            <a:br>
              <a:rPr lang="en-US" sz="3200" b="1" dirty="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en-US" sz="3200" b="1" dirty="0">
                <a:solidFill>
                  <a:srgbClr val="FFC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Chowgacha, Jessore</a:t>
            </a:r>
            <a:r>
              <a:rPr lang="en-US" sz="2400" b="1" dirty="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19679255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9" name="Picture 12" descr="Picture 23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1162425"/>
            <a:ext cx="3709988" cy="25727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33" name="Rectangle 13"/>
          <p:cNvSpPr>
            <a:spLocks noChangeArrowheads="1"/>
          </p:cNvSpPr>
          <p:nvPr/>
        </p:nvSpPr>
        <p:spPr bwMode="auto">
          <a:xfrm>
            <a:off x="330581" y="0"/>
            <a:ext cx="8432800" cy="646331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3600" b="1" dirty="0" smtClean="0">
                <a:solidFill>
                  <a:schemeClr val="bg1"/>
                </a:solidFill>
              </a:rPr>
              <a:t>CHOWGACHA UHC</a:t>
            </a:r>
            <a:endParaRPr lang="en-US" sz="2800" b="1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2588" y="1095508"/>
            <a:ext cx="4041940" cy="2724909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>
            <a:solidFill>
              <a:schemeClr val="accent1"/>
            </a:solidFill>
          </a:ln>
          <a:extLst/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3558" y="3886201"/>
            <a:ext cx="3997242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10"/>
          <p:cNvSpPr>
            <a:spLocks noChangeArrowheads="1"/>
          </p:cNvSpPr>
          <p:nvPr/>
        </p:nvSpPr>
        <p:spPr bwMode="auto">
          <a:xfrm>
            <a:off x="3225773" y="1095509"/>
            <a:ext cx="1167307" cy="369332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b="1" dirty="0" smtClean="0">
                <a:solidFill>
                  <a:srgbClr val="FF0000"/>
                </a:solidFill>
              </a:rPr>
              <a:t>Old UHC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9" name="Rectangle 10"/>
          <p:cNvSpPr>
            <a:spLocks noChangeArrowheads="1"/>
          </p:cNvSpPr>
          <p:nvPr/>
        </p:nvSpPr>
        <p:spPr bwMode="auto">
          <a:xfrm>
            <a:off x="7010400" y="1121849"/>
            <a:ext cx="1679306" cy="369332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b="1" dirty="0" smtClean="0">
                <a:solidFill>
                  <a:srgbClr val="FF0000"/>
                </a:solidFill>
              </a:rPr>
              <a:t>31 </a:t>
            </a:r>
            <a:r>
              <a:rPr lang="en-US" b="1" dirty="0" err="1" smtClean="0">
                <a:solidFill>
                  <a:srgbClr val="FF0000"/>
                </a:solidFill>
              </a:rPr>
              <a:t>beded</a:t>
            </a:r>
            <a:r>
              <a:rPr lang="en-US" b="1" dirty="0" smtClean="0">
                <a:solidFill>
                  <a:srgbClr val="FF0000"/>
                </a:solidFill>
              </a:rPr>
              <a:t> UHC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4578826" y="3891208"/>
            <a:ext cx="1726755" cy="369332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b="1" dirty="0" smtClean="0">
                <a:solidFill>
                  <a:srgbClr val="FF0000"/>
                </a:solidFill>
              </a:rPr>
              <a:t>50 </a:t>
            </a:r>
            <a:r>
              <a:rPr lang="en-US" b="1" dirty="0" err="1" smtClean="0">
                <a:solidFill>
                  <a:srgbClr val="FF0000"/>
                </a:solidFill>
              </a:rPr>
              <a:t>beded</a:t>
            </a:r>
            <a:r>
              <a:rPr lang="en-US" b="1" dirty="0" smtClean="0">
                <a:solidFill>
                  <a:srgbClr val="FF0000"/>
                </a:solidFill>
              </a:rPr>
              <a:t> UHC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517715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016000"/>
          </a:xfrm>
          <a:solidFill>
            <a:schemeClr val="accent5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sz="3600" b="1" dirty="0" smtClean="0"/>
              <a:t>A </a:t>
            </a:r>
            <a:r>
              <a:rPr lang="en-US" sz="3600" b="1" dirty="0"/>
              <a:t>Hospital with a Vision …</a:t>
            </a:r>
          </a:p>
        </p:txBody>
      </p:sp>
      <p:sp>
        <p:nvSpPr>
          <p:cNvPr id="5" name="Oval 3"/>
          <p:cNvSpPr>
            <a:spLocks noChangeArrowheads="1"/>
          </p:cNvSpPr>
          <p:nvPr/>
        </p:nvSpPr>
        <p:spPr bwMode="auto">
          <a:xfrm>
            <a:off x="4281487" y="2019300"/>
            <a:ext cx="3124200" cy="12954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 sz="1600" b="1" dirty="0">
              <a:solidFill>
                <a:srgbClr val="FF0066"/>
              </a:solidFill>
            </a:endParaRPr>
          </a:p>
          <a:p>
            <a:pPr algn="ctr" eaLnBrk="0" hangingPunct="0"/>
            <a:r>
              <a:rPr lang="en-US" sz="1600" b="1" dirty="0"/>
              <a:t>Maximum utilization of Govt.</a:t>
            </a:r>
          </a:p>
          <a:p>
            <a:pPr algn="ctr" eaLnBrk="0" hangingPunct="0"/>
            <a:r>
              <a:rPr lang="en-US" sz="1600" b="1" dirty="0"/>
              <a:t>resources with </a:t>
            </a:r>
          </a:p>
          <a:p>
            <a:pPr algn="ctr" eaLnBrk="0" hangingPunct="0"/>
            <a:r>
              <a:rPr lang="en-US" sz="1600" b="1" dirty="0"/>
              <a:t>honesty and </a:t>
            </a:r>
            <a:r>
              <a:rPr lang="en-US" sz="1600" b="1" dirty="0" smtClean="0"/>
              <a:t>sincerity.</a:t>
            </a:r>
            <a:endParaRPr lang="en-US" sz="1600" b="1" dirty="0"/>
          </a:p>
          <a:p>
            <a:pPr algn="ctr" eaLnBrk="0" hangingPunct="0"/>
            <a:endParaRPr lang="en-US" sz="1600" b="1" dirty="0"/>
          </a:p>
        </p:txBody>
      </p:sp>
      <p:sp>
        <p:nvSpPr>
          <p:cNvPr id="6" name="Oval 4"/>
          <p:cNvSpPr>
            <a:spLocks noChangeArrowheads="1"/>
          </p:cNvSpPr>
          <p:nvPr/>
        </p:nvSpPr>
        <p:spPr bwMode="auto">
          <a:xfrm>
            <a:off x="4281487" y="5105400"/>
            <a:ext cx="3200400" cy="12192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600" b="1" dirty="0"/>
              <a:t>Providing Effective </a:t>
            </a:r>
            <a:r>
              <a:rPr lang="en-US" sz="1600" b="1" dirty="0" smtClean="0"/>
              <a:t> </a:t>
            </a:r>
            <a:r>
              <a:rPr lang="en-US" sz="1600" b="1" dirty="0"/>
              <a:t>services </a:t>
            </a:r>
          </a:p>
          <a:p>
            <a:pPr algn="ctr" eaLnBrk="0" hangingPunct="0"/>
            <a:r>
              <a:rPr lang="en-US" sz="1600" b="1" dirty="0"/>
              <a:t>through improved </a:t>
            </a:r>
          </a:p>
          <a:p>
            <a:pPr algn="ctr" eaLnBrk="0" hangingPunct="0"/>
            <a:r>
              <a:rPr lang="en-US" sz="1600" b="1" dirty="0"/>
              <a:t>management </a:t>
            </a:r>
            <a:r>
              <a:rPr lang="en-US" sz="1600" b="1" dirty="0" smtClean="0"/>
              <a:t>system.</a:t>
            </a:r>
            <a:endParaRPr lang="en-US" sz="1600" b="1" dirty="0"/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1447800" y="2438400"/>
            <a:ext cx="2514600" cy="457200"/>
          </a:xfrm>
          <a:prstGeom prst="notchedRightArrow">
            <a:avLst>
              <a:gd name="adj1" fmla="val 50000"/>
              <a:gd name="adj2" fmla="val 137500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 dirty="0"/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1343025" y="5486400"/>
            <a:ext cx="2438400" cy="457200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 dirty="0"/>
          </a:p>
        </p:txBody>
      </p:sp>
      <p:sp>
        <p:nvSpPr>
          <p:cNvPr id="11" name="Oval 9"/>
          <p:cNvSpPr>
            <a:spLocks noChangeArrowheads="1"/>
          </p:cNvSpPr>
          <p:nvPr/>
        </p:nvSpPr>
        <p:spPr bwMode="auto">
          <a:xfrm>
            <a:off x="4281487" y="3619500"/>
            <a:ext cx="3200400" cy="12192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600" b="1" dirty="0"/>
              <a:t>Integrated approach of </a:t>
            </a:r>
          </a:p>
          <a:p>
            <a:pPr algn="ctr" eaLnBrk="0" hangingPunct="0"/>
            <a:r>
              <a:rPr lang="en-US" sz="1600" b="1" dirty="0"/>
              <a:t>Administration, Community</a:t>
            </a:r>
          </a:p>
          <a:p>
            <a:pPr algn="ctr" eaLnBrk="0" hangingPunct="0"/>
            <a:r>
              <a:rPr lang="en-US" sz="1600" b="1" dirty="0"/>
              <a:t>Leaders .</a:t>
            </a:r>
          </a:p>
        </p:txBody>
      </p:sp>
      <p:sp>
        <p:nvSpPr>
          <p:cNvPr id="12" name="AutoShape 10"/>
          <p:cNvSpPr>
            <a:spLocks noChangeArrowheads="1"/>
          </p:cNvSpPr>
          <p:nvPr/>
        </p:nvSpPr>
        <p:spPr bwMode="auto">
          <a:xfrm>
            <a:off x="1328737" y="4000500"/>
            <a:ext cx="2438400" cy="457200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5184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914400"/>
          </a:xfrm>
          <a:solidFill>
            <a:schemeClr val="accent1"/>
          </a:solidFill>
        </p:spPr>
        <p:txBody>
          <a:bodyPr/>
          <a:lstStyle/>
          <a:p>
            <a:pPr eaLnBrk="1" hangingPunct="1"/>
            <a:r>
              <a:rPr lang="en-US" sz="2800" b="1" dirty="0" smtClean="0"/>
              <a:t>Background History of MCH services of </a:t>
            </a:r>
            <a:r>
              <a:rPr lang="en-US" sz="2800" b="1" dirty="0" err="1" smtClean="0"/>
              <a:t>Chowgacha</a:t>
            </a:r>
            <a:r>
              <a:rPr lang="en-US" sz="2800" b="1" dirty="0" smtClean="0"/>
              <a:t> Health Complex, </a:t>
            </a:r>
            <a:r>
              <a:rPr lang="en-US" sz="2800" b="1" dirty="0" err="1" smtClean="0"/>
              <a:t>Jessore</a:t>
            </a:r>
            <a:endParaRPr lang="en-US" sz="2800" b="1" dirty="0" smtClean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382000" cy="4876800"/>
          </a:xfrm>
        </p:spPr>
        <p:txBody>
          <a:bodyPr/>
          <a:lstStyle/>
          <a:p>
            <a:pPr marL="0" indent="0" algn="just"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r>
              <a:rPr lang="en-US" sz="2400" b="1" dirty="0" smtClean="0"/>
              <a:t>To reduce Maternal and Child Mortality and Mobility and to ensure the quality services to the mother and child, UHFPO opened 4 special activities headed by medical officers in Feb. 1996. And </a:t>
            </a:r>
            <a:r>
              <a:rPr lang="en-US" sz="2400" b="1" u="sng" dirty="0" smtClean="0"/>
              <a:t>from January 1995 to 1997 </a:t>
            </a:r>
            <a:r>
              <a:rPr lang="en-US" sz="2400" b="1" u="sng" dirty="0" smtClean="0">
                <a:solidFill>
                  <a:srgbClr val="0000FF"/>
                </a:solidFill>
              </a:rPr>
              <a:t>JICA</a:t>
            </a:r>
            <a:r>
              <a:rPr lang="en-US" sz="2400" b="1" u="sng" dirty="0" smtClean="0"/>
              <a:t> helped us by Frontline MCH Program to implement the program by giving technical and logistic supports. Since 1998 </a:t>
            </a:r>
            <a:r>
              <a:rPr lang="en-US" sz="2400" b="1" u="sng" dirty="0" smtClean="0">
                <a:solidFill>
                  <a:srgbClr val="0000FF"/>
                </a:solidFill>
              </a:rPr>
              <a:t>DGHS</a:t>
            </a:r>
            <a:r>
              <a:rPr lang="en-US" sz="2400" b="1" u="sng" dirty="0" smtClean="0"/>
              <a:t> &amp; </a:t>
            </a:r>
            <a:r>
              <a:rPr lang="en-US" sz="2400" b="1" u="sng" dirty="0" smtClean="0">
                <a:solidFill>
                  <a:srgbClr val="0000FF"/>
                </a:solidFill>
              </a:rPr>
              <a:t>UNICEF</a:t>
            </a:r>
            <a:r>
              <a:rPr lang="en-US" sz="2400" b="1" u="sng" dirty="0" smtClean="0"/>
              <a:t> have continued the </a:t>
            </a:r>
          </a:p>
          <a:p>
            <a:pPr marL="0" indent="0" algn="just"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endParaRPr lang="en-US" sz="300" b="1" u="sng" dirty="0" smtClean="0"/>
          </a:p>
          <a:p>
            <a:pPr marL="0" indent="0" algn="just" eaLnBrk="1" hangingPunct="1">
              <a:spcBef>
                <a:spcPts val="600"/>
              </a:spcBef>
              <a:buClr>
                <a:schemeClr val="tx1"/>
              </a:buClr>
              <a:buFontTx/>
              <a:buNone/>
            </a:pPr>
            <a:r>
              <a:rPr lang="en-US" sz="2400" b="1" u="sng" dirty="0" smtClean="0"/>
              <a:t>support.</a:t>
            </a:r>
            <a:endParaRPr lang="en-US" sz="2400" b="1" dirty="0" smtClean="0"/>
          </a:p>
          <a:p>
            <a:pPr marL="0" indent="0" eaLnBrk="1" hangingPunct="1">
              <a:spcBef>
                <a:spcPts val="600"/>
              </a:spcBef>
              <a:buClr>
                <a:schemeClr val="tx1"/>
              </a:buClr>
              <a:buFontTx/>
              <a:buNone/>
            </a:pPr>
            <a:r>
              <a:rPr lang="en-US" sz="2400" b="1" dirty="0" smtClean="0">
                <a:solidFill>
                  <a:srgbClr val="0000FF"/>
                </a:solidFill>
              </a:rPr>
              <a:t>&lt;4 Special activities&gt; </a:t>
            </a:r>
          </a:p>
          <a:p>
            <a:pPr marL="0" indent="0" eaLnBrk="1" hangingPunct="1">
              <a:spcBef>
                <a:spcPts val="600"/>
              </a:spcBef>
              <a:buClr>
                <a:schemeClr val="tx1"/>
              </a:buClr>
              <a:buFontTx/>
              <a:buAutoNum type="arabicParenR"/>
            </a:pPr>
            <a:r>
              <a:rPr lang="en-US" sz="2400" b="1" dirty="0" smtClean="0">
                <a:solidFill>
                  <a:srgbClr val="0000FF"/>
                </a:solidFill>
              </a:rPr>
              <a:t>ANC-Corner</a:t>
            </a:r>
            <a:endParaRPr lang="en-US" sz="2400" b="1" dirty="0" smtClean="0"/>
          </a:p>
          <a:p>
            <a:pPr marL="0" indent="0" eaLnBrk="1" hangingPunct="1">
              <a:spcBef>
                <a:spcPts val="600"/>
              </a:spcBef>
              <a:buClr>
                <a:schemeClr val="tx1"/>
              </a:buClr>
              <a:buFontTx/>
              <a:buAutoNum type="arabicParenR"/>
            </a:pPr>
            <a:r>
              <a:rPr lang="en-US" sz="2400" b="1" dirty="0" smtClean="0">
                <a:solidFill>
                  <a:srgbClr val="0000FF"/>
                </a:solidFill>
              </a:rPr>
              <a:t>Basic EOC service</a:t>
            </a:r>
            <a:r>
              <a:rPr lang="en-US" sz="2400" b="1" dirty="0" smtClean="0"/>
              <a:t> </a:t>
            </a:r>
          </a:p>
          <a:p>
            <a:pPr marL="0" indent="0" eaLnBrk="1" hangingPunct="1">
              <a:spcBef>
                <a:spcPts val="600"/>
              </a:spcBef>
              <a:buClr>
                <a:schemeClr val="tx1"/>
              </a:buClr>
              <a:buFontTx/>
              <a:buAutoNum type="arabicParenR"/>
            </a:pPr>
            <a:r>
              <a:rPr lang="en-US" sz="2400" b="1" dirty="0" smtClean="0">
                <a:solidFill>
                  <a:srgbClr val="0000FF"/>
                </a:solidFill>
              </a:rPr>
              <a:t>Under 5 corner for under 5 children</a:t>
            </a:r>
            <a:r>
              <a:rPr lang="en-US" sz="2400" b="1" dirty="0" smtClean="0"/>
              <a:t> </a:t>
            </a:r>
          </a:p>
          <a:p>
            <a:pPr marL="0" indent="0" eaLnBrk="1" hangingPunct="1">
              <a:spcBef>
                <a:spcPts val="600"/>
              </a:spcBef>
              <a:buClr>
                <a:schemeClr val="tx1"/>
              </a:buClr>
              <a:buFontTx/>
              <a:buAutoNum type="arabicParenR"/>
            </a:pPr>
            <a:r>
              <a:rPr lang="en-US" sz="2400" b="1" dirty="0" smtClean="0">
                <a:solidFill>
                  <a:srgbClr val="0000FF"/>
                </a:solidFill>
              </a:rPr>
              <a:t>Monthly birth and death record</a:t>
            </a:r>
            <a:endParaRPr lang="en-US" sz="2400" b="1" dirty="0" smtClean="0"/>
          </a:p>
          <a:p>
            <a:pPr marL="0" indent="0" eaLnBrk="1" hangingPunct="1">
              <a:lnSpc>
                <a:spcPct val="80000"/>
              </a:lnSpc>
              <a:buFontTx/>
              <a:buNone/>
            </a:pPr>
            <a:endParaRPr lang="en-US" sz="1800" b="1" dirty="0" smtClean="0"/>
          </a:p>
        </p:txBody>
      </p:sp>
    </p:spTree>
    <p:extLst>
      <p:ext uri="{BB962C8B-B14F-4D97-AF65-F5344CB8AC3E}">
        <p14:creationId xmlns:p14="http://schemas.microsoft.com/office/powerpoint/2010/main" val="51186306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66775"/>
          </a:xfrm>
          <a:solidFill>
            <a:schemeClr val="accent1"/>
          </a:solidFill>
        </p:spPr>
        <p:txBody>
          <a:bodyPr/>
          <a:lstStyle/>
          <a:p>
            <a:pPr eaLnBrk="1" hangingPunct="1"/>
            <a:r>
              <a:rPr lang="en-US" sz="3200" b="1" smtClean="0"/>
              <a:t>Contd.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8229600" cy="48006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sz="2000" b="1" dirty="0" smtClean="0"/>
              <a:t>From Dec. 1999 Reproductive Health Department of DGHS and UNICEF gave logistic supports and human resources development (like medical officer trained in anesthesia).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sz="2000" b="1" dirty="0" smtClean="0"/>
              <a:t>Form November 2000 started Comprehensive EOC program 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sz="2000" b="1" dirty="0" smtClean="0"/>
              <a:t>In 2004--2014the UHC was awarded by the Bangladesh Government and UNICEF for best performance on EOC Service.  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sz="2000" b="1" dirty="0" smtClean="0"/>
              <a:t>From August 2006 Safe Blood Transfusion unit established with the aid of UNICEF.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sz="2000" b="1" dirty="0" smtClean="0"/>
              <a:t>From April 2007 Demand Side Financing (DSF) program started.    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sz="2000" b="1" dirty="0" smtClean="0"/>
              <a:t>Women friendly Hospital declared in 2008.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sz="2000" b="1" dirty="0" smtClean="0"/>
              <a:t>Hospital is declared as model health complex on 20 June 2008 and upgraded to 50 bedded hospital by Secretary of Ministry of Health &amp; family welfare.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sz="2000" b="1" dirty="0" smtClean="0"/>
              <a:t>Chowgacha health complex Model is replicable through out the country. Declared by Dr. Margaret Chan, D.G. WHO on 8</a:t>
            </a:r>
            <a:r>
              <a:rPr lang="en-US" sz="2000" b="1" baseline="30000" dirty="0" smtClean="0"/>
              <a:t>th</a:t>
            </a:r>
            <a:r>
              <a:rPr lang="en-US" sz="2000" b="1" dirty="0" smtClean="0"/>
              <a:t> March 2010. </a:t>
            </a:r>
          </a:p>
        </p:txBody>
      </p:sp>
    </p:spTree>
    <p:extLst>
      <p:ext uri="{BB962C8B-B14F-4D97-AF65-F5344CB8AC3E}">
        <p14:creationId xmlns:p14="http://schemas.microsoft.com/office/powerpoint/2010/main" val="233306060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/>
          </p:nvPr>
        </p:nvSpPr>
        <p:spPr>
          <a:xfrm>
            <a:off x="457200" y="1295400"/>
            <a:ext cx="8229600" cy="5257800"/>
          </a:xfrm>
        </p:spPr>
        <p:txBody>
          <a:bodyPr/>
          <a:lstStyle/>
          <a:p>
            <a:pPr marL="0" indent="0">
              <a:buNone/>
            </a:pPr>
            <a:endParaRPr lang="en-GB" b="1" dirty="0"/>
          </a:p>
          <a:p>
            <a:pPr lvl="0" algn="just"/>
            <a:r>
              <a:rPr lang="en-GB" sz="2100" dirty="0"/>
              <a:t>Successful leadership in health management</a:t>
            </a:r>
          </a:p>
          <a:p>
            <a:pPr lvl="0" algn="just"/>
            <a:r>
              <a:rPr lang="en-GB" sz="2100" dirty="0"/>
              <a:t>Personal and group skills in health care</a:t>
            </a:r>
          </a:p>
          <a:p>
            <a:pPr lvl="0" algn="just"/>
            <a:r>
              <a:rPr lang="en-GB" sz="2100" dirty="0"/>
              <a:t>Community engaged health management</a:t>
            </a:r>
          </a:p>
          <a:p>
            <a:pPr lvl="0" algn="just"/>
            <a:r>
              <a:rPr lang="en-GB" sz="2100" dirty="0"/>
              <a:t>Optimum use of government resources</a:t>
            </a:r>
          </a:p>
          <a:p>
            <a:pPr lvl="0" algn="just"/>
            <a:r>
              <a:rPr lang="en-GB" sz="2100" dirty="0"/>
              <a:t>Effective relation with local administration and with other government organizations</a:t>
            </a:r>
          </a:p>
          <a:p>
            <a:pPr lvl="0" algn="just"/>
            <a:r>
              <a:rPr lang="en-GB" sz="2100" dirty="0"/>
              <a:t>Improvement of security by community engagement</a:t>
            </a:r>
          </a:p>
          <a:p>
            <a:pPr lvl="0" algn="just"/>
            <a:r>
              <a:rPr lang="en-GB" sz="2100" dirty="0"/>
              <a:t>Improved maternal health care activities</a:t>
            </a:r>
          </a:p>
          <a:p>
            <a:pPr lvl="0" algn="just"/>
            <a:r>
              <a:rPr lang="en-GB" sz="2100" dirty="0"/>
              <a:t>Improved child health care activities</a:t>
            </a:r>
          </a:p>
          <a:p>
            <a:pPr lvl="0" algn="just"/>
            <a:r>
              <a:rPr lang="en-GB" sz="2100" dirty="0"/>
              <a:t>Ensuring corner-based health care</a:t>
            </a:r>
          </a:p>
          <a:p>
            <a:endParaRPr lang="en-GB" dirty="0"/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457200" y="45720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>
              <a:buNone/>
            </a:pPr>
            <a:r>
              <a:rPr lang="en-GB" b="1" dirty="0"/>
              <a:t>Characteristics of </a:t>
            </a:r>
            <a:r>
              <a:rPr lang="en-GB" b="1" dirty="0" smtClean="0"/>
              <a:t>Chowgacha Health Complex Model-1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2576099532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1905000"/>
            <a:ext cx="8229600" cy="4830763"/>
          </a:xfrm>
        </p:spPr>
        <p:txBody>
          <a:bodyPr/>
          <a:lstStyle/>
          <a:p>
            <a:pPr algn="just"/>
            <a:r>
              <a:rPr lang="en-GB" sz="2100" dirty="0"/>
              <a:t>Birth and death recording, progress assessment and accountability by collecting information on all health </a:t>
            </a:r>
            <a:r>
              <a:rPr lang="en-GB" sz="2100" dirty="0" smtClean="0"/>
              <a:t>indicators</a:t>
            </a:r>
          </a:p>
          <a:p>
            <a:pPr lvl="0" algn="just"/>
            <a:r>
              <a:rPr lang="en-GB" sz="2100" dirty="0" smtClean="0"/>
              <a:t>Improving </a:t>
            </a:r>
            <a:r>
              <a:rPr lang="en-GB" sz="2100" dirty="0"/>
              <a:t>healthcare by unit management</a:t>
            </a:r>
          </a:p>
          <a:p>
            <a:pPr lvl="0" algn="just"/>
            <a:r>
              <a:rPr lang="en-GB" sz="2100" dirty="0"/>
              <a:t>Health awareness by health education</a:t>
            </a:r>
          </a:p>
          <a:p>
            <a:pPr lvl="0" algn="just"/>
            <a:r>
              <a:rPr lang="en-GB" sz="2100" dirty="0"/>
              <a:t>Cleanliness (Waste management) and beautification of the facility and premises</a:t>
            </a:r>
          </a:p>
          <a:p>
            <a:pPr lvl="0" algn="just"/>
            <a:r>
              <a:rPr lang="en-GB" sz="2100" dirty="0"/>
              <a:t>Provision of safe blood transfusion for emergency needs</a:t>
            </a:r>
          </a:p>
          <a:p>
            <a:pPr lvl="0" algn="just"/>
            <a:r>
              <a:rPr lang="en-GB" sz="2100" dirty="0"/>
              <a:t>Zero tolerance against corruption</a:t>
            </a:r>
          </a:p>
          <a:p>
            <a:pPr lvl="0" algn="just"/>
            <a:r>
              <a:rPr lang="en-GB" sz="2100" dirty="0"/>
              <a:t>Implementation of the 5S KAIZEN-TQM for the improvement of health care</a:t>
            </a:r>
          </a:p>
          <a:p>
            <a:pPr lvl="0" algn="just"/>
            <a:r>
              <a:rPr lang="en-GB" sz="2100" dirty="0"/>
              <a:t>Improved financial management by establishing cash counter</a:t>
            </a:r>
          </a:p>
          <a:p>
            <a:endParaRPr lang="en-GB" dirty="0"/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457200" y="38100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>
              <a:buNone/>
            </a:pPr>
            <a:r>
              <a:rPr lang="en-GB" b="1" dirty="0"/>
              <a:t>Characteristics of </a:t>
            </a:r>
            <a:r>
              <a:rPr lang="en-GB" b="1" dirty="0" smtClean="0"/>
              <a:t>Chowgacha Health Complex Model-2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324991923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ubtitle 2"/>
          <p:cNvSpPr>
            <a:spLocks noGrp="1"/>
          </p:cNvSpPr>
          <p:nvPr/>
        </p:nvSpPr>
        <p:spPr bwMode="auto">
          <a:xfrm>
            <a:off x="0" y="2811463"/>
            <a:ext cx="3733800" cy="693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>
                <a:latin typeface="Calibri" pitchFamily="34" charset="0"/>
              </a:rPr>
              <a:t>Blood donation program stared in 16 December, 1996 in Chowgacha UHC</a:t>
            </a:r>
            <a:endParaRPr lang="en-GB">
              <a:latin typeface="Calibri" pitchFamily="34" charset="0"/>
            </a:endParaRPr>
          </a:p>
        </p:txBody>
      </p:sp>
      <p:pic>
        <p:nvPicPr>
          <p:cNvPr id="37891" name="Picture 4" descr="H:\D. S. Islam\ee.jpg"/>
          <p:cNvPicPr>
            <a:picLocks noGrp="1"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0"/>
            <a:ext cx="4191000" cy="276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2" name="Picture 5" descr="H:\D. S. Islam\e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0"/>
            <a:ext cx="4343400" cy="280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3" name="Subtitle 2"/>
          <p:cNvSpPr txBox="1">
            <a:spLocks/>
          </p:cNvSpPr>
          <p:nvPr/>
        </p:nvSpPr>
        <p:spPr bwMode="auto">
          <a:xfrm>
            <a:off x="4800600" y="2825750"/>
            <a:ext cx="4267200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r>
              <a:rPr lang="en-US">
                <a:latin typeface="Calibri" pitchFamily="34" charset="0"/>
              </a:rPr>
              <a:t>A seminar held on basic information system at Chowgacha Degree College in June, 1997. DC Jessore was the chief guest . </a:t>
            </a:r>
            <a:endParaRPr lang="en-GB">
              <a:latin typeface="Calibri" pitchFamily="34" charset="0"/>
            </a:endParaRPr>
          </a:p>
        </p:txBody>
      </p:sp>
      <p:pic>
        <p:nvPicPr>
          <p:cNvPr id="37894" name="Picture 4" descr="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0000">
            <a:off x="2062163" y="3684588"/>
            <a:ext cx="4257675" cy="313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82564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8" y="0"/>
            <a:ext cx="4308475" cy="327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5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6925" y="3505200"/>
            <a:ext cx="4578350" cy="336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4800600" y="1285874"/>
            <a:ext cx="40386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sz="2000" dirty="0" smtClean="0">
                <a:solidFill>
                  <a:srgbClr val="000000"/>
                </a:solidFill>
              </a:rPr>
              <a:t>Volunteer working in reception desk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381000" y="4732338"/>
            <a:ext cx="40386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sz="2000" dirty="0" smtClean="0">
                <a:solidFill>
                  <a:srgbClr val="000000"/>
                </a:solidFill>
              </a:rPr>
              <a:t>Volunteer working in ANC corner</a:t>
            </a:r>
            <a:endParaRPr lang="en-US" sz="20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3432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0394"/>
            <a:ext cx="4572000" cy="327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5525" y="3483401"/>
            <a:ext cx="4308475" cy="336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5105400" y="1356268"/>
            <a:ext cx="40386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sz="2000" dirty="0" smtClean="0">
                <a:solidFill>
                  <a:srgbClr val="000000"/>
                </a:solidFill>
              </a:rPr>
              <a:t>Volunteer working in ticket counter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381000" y="4732338"/>
            <a:ext cx="40386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sz="2000" dirty="0" smtClean="0">
                <a:solidFill>
                  <a:srgbClr val="000000"/>
                </a:solidFill>
              </a:rPr>
              <a:t>Volunteer working in EPI corner</a:t>
            </a:r>
            <a:endParaRPr lang="en-US" sz="20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5894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4766894" y="1562101"/>
            <a:ext cx="4114800" cy="647701"/>
          </a:xfrm>
        </p:spPr>
        <p:txBody>
          <a:bodyPr/>
          <a:lstStyle/>
          <a:p>
            <a:pPr algn="just" eaLnBrk="1" hangingPunct="1"/>
            <a:r>
              <a:rPr lang="en-US" sz="2000" dirty="0"/>
              <a:t>Dr. Salina and nurses who </a:t>
            </a:r>
            <a:r>
              <a:rPr lang="en-US" sz="2000" dirty="0" smtClean="0"/>
              <a:t>worked </a:t>
            </a:r>
            <a:r>
              <a:rPr lang="en-US" sz="2000" dirty="0"/>
              <a:t>in ANC </a:t>
            </a:r>
            <a:r>
              <a:rPr lang="en-US" sz="2000" dirty="0" smtClean="0"/>
              <a:t>corner &amp; </a:t>
            </a:r>
            <a:r>
              <a:rPr lang="en-US" sz="2000" dirty="0" err="1" smtClean="0"/>
              <a:t>labour</a:t>
            </a:r>
            <a:r>
              <a:rPr lang="en-US" sz="2000" dirty="0" smtClean="0"/>
              <a:t>  word</a:t>
            </a:r>
          </a:p>
        </p:txBody>
      </p:sp>
      <p:pic>
        <p:nvPicPr>
          <p:cNvPr id="33795" name="Picture 3" descr="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1609" y="1"/>
            <a:ext cx="4615019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 descr="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4589" y="3581400"/>
            <a:ext cx="4639411" cy="3276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380900" y="4897273"/>
            <a:ext cx="38100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5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itchFamily="34" charset="0"/>
              </a:defRPr>
            </a:lvl9pPr>
          </a:lstStyle>
          <a:p>
            <a:pPr eaLnBrk="1" hangingPunct="1"/>
            <a:r>
              <a:rPr lang="en-US" sz="2400" dirty="0" smtClean="0"/>
              <a:t>S.S.N working ANC corner</a:t>
            </a:r>
          </a:p>
        </p:txBody>
      </p:sp>
    </p:spTree>
    <p:extLst>
      <p:ext uri="{BB962C8B-B14F-4D97-AF65-F5344CB8AC3E}">
        <p14:creationId xmlns:p14="http://schemas.microsoft.com/office/powerpoint/2010/main" val="94645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85750"/>
            <a:ext cx="8229600" cy="1131888"/>
          </a:xfrm>
        </p:spPr>
        <p:txBody>
          <a:bodyPr/>
          <a:lstStyle/>
          <a:p>
            <a:pPr eaLnBrk="1" hangingPunct="1"/>
            <a:r>
              <a:rPr lang="en-US" sz="2400" smtClean="0"/>
              <a:t>Hon’ble Health Minister for Health &amp; Family Welfare with WHO Representative at Chowgacha handing over money and gift of voucher scheme of DSF</a:t>
            </a:r>
            <a:endParaRPr lang="en-US" sz="4000" smtClean="0"/>
          </a:p>
        </p:txBody>
      </p:sp>
      <p:pic>
        <p:nvPicPr>
          <p:cNvPr id="3075" name="Picture 4" descr="Razzak_Remove (Mama)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5800" y="1905000"/>
            <a:ext cx="8061325" cy="45259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85715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WordArt 2"/>
          <p:cNvSpPr>
            <a:spLocks noChangeArrowheads="1" noChangeShapeType="1" noTextEdit="1"/>
          </p:cNvSpPr>
          <p:nvPr/>
        </p:nvSpPr>
        <p:spPr bwMode="auto">
          <a:xfrm>
            <a:off x="0" y="685800"/>
            <a:ext cx="3962400" cy="22860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solidFill>
                  <a:srgbClr val="000000"/>
                </a:solidFill>
                <a:latin typeface="SutonnyMJ"/>
                <a:cs typeface="SutonnyMJ"/>
              </a:rPr>
              <a:t>Òevsjv‡`‡ki Rb¨ ewnt we‡k¦i</a:t>
            </a:r>
          </a:p>
          <a:p>
            <a:pPr algn="ctr"/>
            <a:r>
              <a:rPr lang="en-GB" sz="3600" kern="10">
                <a:solidFill>
                  <a:srgbClr val="000000"/>
                </a:solidFill>
                <a:latin typeface="SutonnyMJ"/>
                <a:cs typeface="SutonnyMJ"/>
              </a:rPr>
              <a:t> †Kvb g‡W‡ji cÖ‡qvRb †bB|</a:t>
            </a:r>
          </a:p>
          <a:p>
            <a:pPr algn="ctr"/>
            <a:r>
              <a:rPr lang="en-GB" sz="3600" kern="10">
                <a:solidFill>
                  <a:srgbClr val="000000"/>
                </a:solidFill>
                <a:latin typeface="SutonnyMJ"/>
                <a:cs typeface="SutonnyMJ"/>
              </a:rPr>
              <a:t> †PŠMvQv g‡WjB h‡_ó , </a:t>
            </a:r>
          </a:p>
          <a:p>
            <a:pPr algn="ctr"/>
            <a:r>
              <a:rPr lang="en-GB" sz="3600" kern="10">
                <a:solidFill>
                  <a:srgbClr val="000000"/>
                </a:solidFill>
                <a:latin typeface="SutonnyMJ"/>
                <a:cs typeface="SutonnyMJ"/>
              </a:rPr>
              <a:t>†PŠMvQv ¯^v¯’¨ †mevq `w¶Y</a:t>
            </a:r>
          </a:p>
          <a:p>
            <a:pPr algn="ctr"/>
            <a:r>
              <a:rPr lang="en-GB" sz="3600" kern="10">
                <a:solidFill>
                  <a:srgbClr val="000000"/>
                </a:solidFill>
                <a:latin typeface="SutonnyMJ"/>
                <a:cs typeface="SutonnyMJ"/>
              </a:rPr>
              <a:t> c~e© Gwkqv‡Z GKwU `„óvšÍ ¯’vcb K‡i‡Q|Ó</a:t>
            </a:r>
          </a:p>
        </p:txBody>
      </p:sp>
      <p:pic>
        <p:nvPicPr>
          <p:cNvPr id="20483" name="Picture 3" descr="SHAMIM PHOTO (3)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474"/>
          <a:stretch>
            <a:fillRect/>
          </a:stretch>
        </p:blipFill>
        <p:spPr bwMode="auto">
          <a:xfrm>
            <a:off x="3962400" y="457200"/>
            <a:ext cx="4572000" cy="3154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4" name="WordArt 4"/>
          <p:cNvSpPr>
            <a:spLocks noChangeArrowheads="1" noChangeShapeType="1" noTextEdit="1"/>
          </p:cNvSpPr>
          <p:nvPr/>
        </p:nvSpPr>
        <p:spPr bwMode="auto">
          <a:xfrm>
            <a:off x="3657600" y="3429000"/>
            <a:ext cx="5105400" cy="138588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latin typeface="SutonnyMJ"/>
                <a:cs typeface="SutonnyMJ"/>
              </a:rPr>
              <a:t> </a:t>
            </a:r>
          </a:p>
          <a:p>
            <a:pPr algn="ctr"/>
            <a:r>
              <a:rPr lang="en-GB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latin typeface="SutonnyMJ"/>
                <a:cs typeface="SutonnyMJ"/>
              </a:rPr>
              <a:t>†PŠMvQv g‡Wj nvmcvZvj cwi`k©bKv‡j</a:t>
            </a:r>
          </a:p>
          <a:p>
            <a:pPr algn="ctr"/>
            <a:r>
              <a:rPr lang="en-GB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latin typeface="SutonnyMJ"/>
                <a:cs typeface="SutonnyMJ"/>
              </a:rPr>
              <a:t>W. gvM©v‡iU P¨vb (gnvcwiPvjK, wek¦ ¯^v¯’¨ ms¯’v)</a:t>
            </a:r>
          </a:p>
        </p:txBody>
      </p:sp>
      <p:pic>
        <p:nvPicPr>
          <p:cNvPr id="20485" name="Picture 5" descr="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3741738"/>
            <a:ext cx="3124200" cy="2125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57613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490" name="Group 6"/>
          <p:cNvGrpSpPr>
            <a:grpSpLocks/>
          </p:cNvGrpSpPr>
          <p:nvPr/>
        </p:nvGrpSpPr>
        <p:grpSpPr bwMode="auto">
          <a:xfrm>
            <a:off x="4738048" y="115818"/>
            <a:ext cx="4267200" cy="3213100"/>
            <a:chOff x="1248" y="288"/>
            <a:chExt cx="3157" cy="2448"/>
          </a:xfrm>
        </p:grpSpPr>
        <p:pic>
          <p:nvPicPr>
            <p:cNvPr id="63494" name="Picture 4" descr="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8" y="288"/>
              <a:ext cx="1782" cy="2448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3495" name="Picture 5" descr="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24" y="288"/>
              <a:ext cx="1381" cy="2448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6349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8048" y="3589714"/>
            <a:ext cx="4384343" cy="32047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4" descr="Untitled-2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200" y="3581400"/>
            <a:ext cx="4391263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4738048" y="141978"/>
            <a:ext cx="2500952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5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itchFamily="34" charset="0"/>
              </a:defRPr>
            </a:lvl9pPr>
          </a:lstStyle>
          <a:p>
            <a:pPr eaLnBrk="1" hangingPunct="1"/>
            <a:r>
              <a:rPr lang="en-US" sz="2400" dirty="0" smtClean="0">
                <a:solidFill>
                  <a:schemeClr val="bg1"/>
                </a:solidFill>
              </a:rPr>
              <a:t>5</a:t>
            </a:r>
            <a:r>
              <a:rPr lang="en-US" sz="2400" baseline="30000" dirty="0" smtClean="0">
                <a:solidFill>
                  <a:schemeClr val="bg1"/>
                </a:solidFill>
              </a:rPr>
              <a:t>th</a:t>
            </a:r>
            <a:r>
              <a:rPr lang="en-US" sz="2400" dirty="0" smtClean="0">
                <a:solidFill>
                  <a:schemeClr val="bg1"/>
                </a:solidFill>
              </a:rPr>
              <a:t> November, 2005</a:t>
            </a:r>
          </a:p>
        </p:txBody>
      </p:sp>
      <p:pic>
        <p:nvPicPr>
          <p:cNvPr id="208899" name="Picture 3" descr="C:\Users\Emdad\Desktop\Picture1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84" y="88427"/>
            <a:ext cx="4000015" cy="3256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1828800" y="6451600"/>
            <a:ext cx="2500952" cy="342900"/>
          </a:xfrm>
          <a:prstGeom prst="rect">
            <a:avLst/>
          </a:prstGeom>
          <a:solidFill>
            <a:schemeClr val="tx1"/>
          </a:solidFill>
          <a:ln>
            <a:noFill/>
          </a:ln>
          <a:extLst/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5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itchFamily="34" charset="0"/>
              </a:defRPr>
            </a:lvl9pPr>
          </a:lstStyle>
          <a:p>
            <a:pPr eaLnBrk="1" hangingPunct="1"/>
            <a:r>
              <a:rPr lang="en-US" sz="2400" dirty="0" smtClean="0">
                <a:solidFill>
                  <a:schemeClr val="bg1"/>
                </a:solidFill>
              </a:rPr>
              <a:t>1</a:t>
            </a:r>
            <a:r>
              <a:rPr lang="en-US" sz="2400" baseline="30000" dirty="0" smtClean="0">
                <a:solidFill>
                  <a:schemeClr val="bg1"/>
                </a:solidFill>
              </a:rPr>
              <a:t>st</a:t>
            </a:r>
            <a:r>
              <a:rPr lang="en-US" sz="2400" dirty="0" smtClean="0">
                <a:solidFill>
                  <a:schemeClr val="bg1"/>
                </a:solidFill>
              </a:rPr>
              <a:t> February, 2010</a:t>
            </a:r>
          </a:p>
        </p:txBody>
      </p:sp>
      <p:sp>
        <p:nvSpPr>
          <p:cNvPr id="11" name="Rectangle 2"/>
          <p:cNvSpPr txBox="1">
            <a:spLocks noChangeArrowheads="1"/>
          </p:cNvSpPr>
          <p:nvPr/>
        </p:nvSpPr>
        <p:spPr bwMode="auto">
          <a:xfrm>
            <a:off x="4854054" y="3589714"/>
            <a:ext cx="2500952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5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itchFamily="34" charset="0"/>
              </a:defRPr>
            </a:lvl9pPr>
          </a:lstStyle>
          <a:p>
            <a:pPr eaLnBrk="1" hangingPunct="1"/>
            <a:r>
              <a:rPr lang="en-US" sz="2400" dirty="0" smtClean="0">
                <a:solidFill>
                  <a:schemeClr val="bg1"/>
                </a:solidFill>
              </a:rPr>
              <a:t>23 July, 2011</a:t>
            </a:r>
          </a:p>
        </p:txBody>
      </p:sp>
    </p:spTree>
    <p:extLst>
      <p:ext uri="{BB962C8B-B14F-4D97-AF65-F5344CB8AC3E}">
        <p14:creationId xmlns:p14="http://schemas.microsoft.com/office/powerpoint/2010/main" val="3969225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accent1"/>
          </a:solidFill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4000" b="1" dirty="0" err="1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Upazila</a:t>
            </a:r>
            <a: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 Health  Complex</a:t>
            </a:r>
            <a:b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US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CHOWGACHA , JESSORE.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>
              <a:buFontTx/>
              <a:buNone/>
            </a:pPr>
            <a:endParaRPr lang="en-US" sz="2800" smtClean="0"/>
          </a:p>
          <a:p>
            <a:pPr algn="ctr">
              <a:buFontTx/>
              <a:buNone/>
            </a:pPr>
            <a:endParaRPr lang="en-US" sz="2800" smtClean="0"/>
          </a:p>
        </p:txBody>
      </p:sp>
      <p:graphicFrame>
        <p:nvGraphicFramePr>
          <p:cNvPr id="31748" name="Object 29"/>
          <p:cNvGraphicFramePr>
            <a:graphicFrameLocks noGrp="1" noChangeAspect="1"/>
          </p:cNvGraphicFramePr>
          <p:nvPr>
            <p:ph sz="half" idx="2"/>
          </p:nvPr>
        </p:nvGraphicFramePr>
        <p:xfrm>
          <a:off x="914400" y="2211388"/>
          <a:ext cx="7694613" cy="438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902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211388"/>
                        <a:ext cx="7694613" cy="438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49" name="Rectangle 5"/>
          <p:cNvSpPr>
            <a:spLocks noChangeArrowheads="1"/>
          </p:cNvSpPr>
          <p:nvPr/>
        </p:nvSpPr>
        <p:spPr bwMode="auto">
          <a:xfrm>
            <a:off x="457200" y="1600200"/>
            <a:ext cx="81534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240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EOC Activities : 1997- 2011 (Hospital Delivery )</a:t>
            </a:r>
          </a:p>
        </p:txBody>
      </p:sp>
    </p:spTree>
    <p:extLst>
      <p:ext uri="{BB962C8B-B14F-4D97-AF65-F5344CB8AC3E}">
        <p14:creationId xmlns:p14="http://schemas.microsoft.com/office/powerpoint/2010/main" val="72971582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960438"/>
          </a:xfrm>
          <a:solidFill>
            <a:schemeClr val="accent1"/>
          </a:solidFill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4000" b="1" dirty="0" err="1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Upazila</a:t>
            </a:r>
            <a: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 Health  Complex</a:t>
            </a:r>
            <a:b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US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CHOWGACHA , JESSORE.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>
              <a:buFontTx/>
              <a:buNone/>
            </a:pPr>
            <a:endParaRPr lang="en-US" sz="3600" smtClean="0">
              <a:solidFill>
                <a:srgbClr val="FF0066"/>
              </a:solidFill>
            </a:endParaRPr>
          </a:p>
          <a:p>
            <a:pPr algn="ctr">
              <a:buFontTx/>
              <a:buNone/>
            </a:pPr>
            <a:endParaRPr lang="en-US" sz="3600" smtClean="0">
              <a:solidFill>
                <a:srgbClr val="FF0066"/>
              </a:solidFill>
            </a:endParaRPr>
          </a:p>
        </p:txBody>
      </p:sp>
      <p:graphicFrame>
        <p:nvGraphicFramePr>
          <p:cNvPr id="32772" name="Object 105"/>
          <p:cNvGraphicFramePr>
            <a:graphicFrameLocks noGrp="1" noChangeAspect="1"/>
          </p:cNvGraphicFramePr>
          <p:nvPr>
            <p:ph sz="half" idx="2"/>
          </p:nvPr>
        </p:nvGraphicFramePr>
        <p:xfrm>
          <a:off x="1447800" y="2724150"/>
          <a:ext cx="6858000" cy="3905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926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2724150"/>
                        <a:ext cx="6858000" cy="3905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996" name="Rectangle 4"/>
          <p:cNvSpPr>
            <a:spLocks noChangeArrowheads="1"/>
          </p:cNvSpPr>
          <p:nvPr/>
        </p:nvSpPr>
        <p:spPr bwMode="auto">
          <a:xfrm>
            <a:off x="457200" y="1524000"/>
            <a:ext cx="8153400" cy="990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3200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EOC Activities : 2000 - 2011 (Caesarian Section)</a:t>
            </a:r>
          </a:p>
        </p:txBody>
      </p:sp>
    </p:spTree>
    <p:extLst>
      <p:ext uri="{BB962C8B-B14F-4D97-AF65-F5344CB8AC3E}">
        <p14:creationId xmlns:p14="http://schemas.microsoft.com/office/powerpoint/2010/main" val="172695179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/>
          <p:cNvSpPr>
            <a:spLocks noGrp="1"/>
          </p:cNvSpPr>
          <p:nvPr>
            <p:ph type="title"/>
          </p:nvPr>
        </p:nvSpPr>
        <p:spPr>
          <a:xfrm>
            <a:off x="0" y="23884"/>
            <a:ext cx="9144000" cy="6096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Achievement of Chowgacha Health Complex</a:t>
            </a:r>
            <a:endParaRPr lang="en-US" sz="36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85800"/>
            <a:ext cx="9144000" cy="6400800"/>
          </a:xfr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algn="just">
              <a:spcBef>
                <a:spcPts val="0"/>
              </a:spcBef>
              <a:defRPr/>
            </a:pPr>
            <a:endParaRPr lang="en-US" sz="2400" b="1" dirty="0" smtClean="0"/>
          </a:p>
          <a:p>
            <a:pPr algn="just">
              <a:spcBef>
                <a:spcPts val="0"/>
              </a:spcBef>
              <a:defRPr/>
            </a:pPr>
            <a:r>
              <a:rPr lang="en-US" sz="2400" b="1" dirty="0" smtClean="0"/>
              <a:t>In 2008, Chowgacha Health Complex declared as the model Upazilla health complex.</a:t>
            </a:r>
            <a:endParaRPr lang="en-US" sz="2800" dirty="0" smtClean="0">
              <a:latin typeface="Symbol" pitchFamily="18" charset="2"/>
            </a:endParaRP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b="1" dirty="0" smtClean="0"/>
              <a:t>EOC Beds increased from 11 to 41</a:t>
            </a: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b="1" dirty="0" smtClean="0"/>
              <a:t>Chowgacha </a:t>
            </a:r>
            <a:r>
              <a:rPr lang="en-US" b="1" dirty="0"/>
              <a:t>UHC achieved MDG target in 2009</a:t>
            </a:r>
            <a:endParaRPr lang="en-US" b="1" dirty="0" smtClean="0"/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b="1" dirty="0" smtClean="0"/>
              <a:t>Chowgacha UHC  became the best EOC center  with 98.4% delivery rate in 2011.</a:t>
            </a: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b="1" dirty="0" smtClean="0"/>
              <a:t>Chowgacha Health complex is awarded for best performance in EOC form 2005 to 2014.</a:t>
            </a: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b="1" dirty="0" smtClean="0"/>
              <a:t>Achieve Health Minister s Award for its best performances in 2017 and 2018.</a:t>
            </a: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b="1" dirty="0" smtClean="0"/>
              <a:t>The UHC starts upgrade to 100  bedded hospital.</a:t>
            </a: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b="1" dirty="0" smtClean="0"/>
              <a:t>The UHC is being replicated throughout the country by MOH &amp; FW and DGHS </a:t>
            </a:r>
            <a:r>
              <a:rPr lang="en-US" b="1" smtClean="0"/>
              <a:t>since </a:t>
            </a:r>
            <a:r>
              <a:rPr lang="en-US" b="1" smtClean="0"/>
              <a:t>20</a:t>
            </a:r>
            <a:r>
              <a:rPr lang="en-US" b="1" smtClean="0"/>
              <a:t>16 </a:t>
            </a:r>
            <a:r>
              <a:rPr lang="en-US" b="1" dirty="0" smtClean="0"/>
              <a:t>by the order of prime ministers office. </a:t>
            </a:r>
          </a:p>
        </p:txBody>
      </p:sp>
    </p:spTree>
    <p:extLst>
      <p:ext uri="{BB962C8B-B14F-4D97-AF65-F5344CB8AC3E}">
        <p14:creationId xmlns:p14="http://schemas.microsoft.com/office/powerpoint/2010/main" val="288472991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Rectangle 4"/>
          <p:cNvSpPr>
            <a:spLocks noGrp="1" noChangeArrowheads="1"/>
          </p:cNvSpPr>
          <p:nvPr>
            <p:ph type="title"/>
          </p:nvPr>
        </p:nvSpPr>
        <p:spPr>
          <a:xfrm>
            <a:off x="838200" y="609600"/>
            <a:ext cx="7793038" cy="5257800"/>
          </a:xfrm>
        </p:spPr>
        <p:txBody>
          <a:bodyPr/>
          <a:lstStyle/>
          <a:p>
            <a:endParaRPr lang="en-US"/>
          </a:p>
        </p:txBody>
      </p:sp>
      <p:pic>
        <p:nvPicPr>
          <p:cNvPr id="13319" name="Picture 7" descr="CampsBaySunse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70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0138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/>
          </p:nvPr>
        </p:nvSpPr>
        <p:spPr>
          <a:xfrm>
            <a:off x="457200" y="1295400"/>
            <a:ext cx="8229600" cy="5257800"/>
          </a:xfrm>
        </p:spPr>
        <p:txBody>
          <a:bodyPr/>
          <a:lstStyle/>
          <a:p>
            <a:pPr marL="0" indent="0">
              <a:buNone/>
            </a:pPr>
            <a:endParaRPr lang="en-GB" b="1" dirty="0"/>
          </a:p>
          <a:p>
            <a:pPr lvl="0" algn="just"/>
            <a:r>
              <a:rPr lang="en-GB" sz="2100" dirty="0"/>
              <a:t>Successful leadership in health management</a:t>
            </a:r>
          </a:p>
          <a:p>
            <a:pPr lvl="0" algn="just"/>
            <a:r>
              <a:rPr lang="en-GB" sz="2100" dirty="0"/>
              <a:t>Personal and group skills in health care</a:t>
            </a:r>
          </a:p>
          <a:p>
            <a:pPr lvl="0" algn="just"/>
            <a:r>
              <a:rPr lang="en-GB" sz="2100" dirty="0"/>
              <a:t>Community engaged health management</a:t>
            </a:r>
          </a:p>
          <a:p>
            <a:pPr lvl="0" algn="just"/>
            <a:r>
              <a:rPr lang="en-GB" sz="2100" dirty="0"/>
              <a:t>Optimum use of government resources</a:t>
            </a:r>
          </a:p>
          <a:p>
            <a:pPr lvl="0" algn="just"/>
            <a:r>
              <a:rPr lang="en-GB" sz="2100" dirty="0"/>
              <a:t>Effective relation with local administration and with other government organizations</a:t>
            </a:r>
          </a:p>
          <a:p>
            <a:pPr lvl="0" algn="just"/>
            <a:r>
              <a:rPr lang="en-GB" sz="2100" dirty="0"/>
              <a:t>Improvement of security by community engagement</a:t>
            </a:r>
          </a:p>
          <a:p>
            <a:pPr lvl="0" algn="just"/>
            <a:r>
              <a:rPr lang="en-GB" sz="2100" dirty="0"/>
              <a:t>Improved maternal health care activities</a:t>
            </a:r>
          </a:p>
          <a:p>
            <a:pPr lvl="0" algn="just"/>
            <a:r>
              <a:rPr lang="en-GB" sz="2100" dirty="0"/>
              <a:t>Improved child health care activities</a:t>
            </a:r>
          </a:p>
          <a:p>
            <a:pPr lvl="0" algn="just"/>
            <a:r>
              <a:rPr lang="en-GB" sz="2100" dirty="0"/>
              <a:t>Ensuring corner-based health care</a:t>
            </a:r>
          </a:p>
          <a:p>
            <a:pPr lvl="0" algn="just"/>
            <a:r>
              <a:rPr lang="en-GB" sz="2100" dirty="0"/>
              <a:t>Birth and death recording, progress assessment and accountability by collecting information on all health indicators</a:t>
            </a:r>
          </a:p>
          <a:p>
            <a:endParaRPr lang="en-GB" dirty="0"/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457200" y="68580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>
              <a:buNone/>
            </a:pPr>
            <a:r>
              <a:rPr lang="en-GB" b="1" dirty="0"/>
              <a:t>Characteristics of C-J Community Involved Health Management Model</a:t>
            </a:r>
          </a:p>
        </p:txBody>
      </p:sp>
    </p:spTree>
    <p:extLst>
      <p:ext uri="{BB962C8B-B14F-4D97-AF65-F5344CB8AC3E}">
        <p14:creationId xmlns:p14="http://schemas.microsoft.com/office/powerpoint/2010/main" val="2559423441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1905000"/>
            <a:ext cx="8229600" cy="4830763"/>
          </a:xfrm>
        </p:spPr>
        <p:txBody>
          <a:bodyPr/>
          <a:lstStyle/>
          <a:p>
            <a:pPr lvl="0" algn="just"/>
            <a:r>
              <a:rPr lang="en-GB" sz="2100" dirty="0"/>
              <a:t>Improving healthcare by unit management</a:t>
            </a:r>
          </a:p>
          <a:p>
            <a:pPr lvl="0" algn="just"/>
            <a:r>
              <a:rPr lang="en-GB" sz="2100" dirty="0"/>
              <a:t>Health awareness by health education</a:t>
            </a:r>
          </a:p>
          <a:p>
            <a:pPr lvl="0" algn="just"/>
            <a:r>
              <a:rPr lang="en-GB" sz="2100" dirty="0"/>
              <a:t>Cleanliness (Waste management) and beautification of the facility and premises</a:t>
            </a:r>
          </a:p>
          <a:p>
            <a:pPr lvl="0" algn="just"/>
            <a:r>
              <a:rPr lang="en-GB" sz="2100" dirty="0"/>
              <a:t>Provision of safe blood transfusion for emergency needs</a:t>
            </a:r>
          </a:p>
          <a:p>
            <a:pPr lvl="0" algn="just"/>
            <a:r>
              <a:rPr lang="en-GB" sz="2100" dirty="0"/>
              <a:t>Zero tolerance against corruption</a:t>
            </a:r>
          </a:p>
          <a:p>
            <a:pPr lvl="0" algn="just"/>
            <a:r>
              <a:rPr lang="en-GB" sz="2100" dirty="0"/>
              <a:t>Implementation of the 5S KAIZEN-TQM for the improvement of health care</a:t>
            </a:r>
          </a:p>
          <a:p>
            <a:pPr lvl="0" algn="just"/>
            <a:r>
              <a:rPr lang="en-GB" sz="2100" dirty="0"/>
              <a:t>Improved financial management by establishing cash counter</a:t>
            </a:r>
          </a:p>
          <a:p>
            <a:endParaRPr lang="en-GB" dirty="0"/>
          </a:p>
        </p:txBody>
      </p:sp>
      <p:sp>
        <p:nvSpPr>
          <p:cNvPr id="3" name="Title 1"/>
          <p:cNvSpPr txBox="1">
            <a:spLocks/>
          </p:cNvSpPr>
          <p:nvPr/>
        </p:nvSpPr>
        <p:spPr bwMode="auto">
          <a:xfrm>
            <a:off x="457200" y="68580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>
              <a:buNone/>
            </a:pPr>
            <a:r>
              <a:rPr lang="en-GB" b="1" dirty="0"/>
              <a:t>Characteristics of C-J Community Involved Health Management Model</a:t>
            </a:r>
          </a:p>
        </p:txBody>
      </p:sp>
    </p:spTree>
    <p:extLst>
      <p:ext uri="{BB962C8B-B14F-4D97-AF65-F5344CB8AC3E}">
        <p14:creationId xmlns:p14="http://schemas.microsoft.com/office/powerpoint/2010/main" val="777578585"/>
      </p:ext>
    </p:extLst>
  </p:cSld>
  <p:clrMapOvr>
    <a:masterClrMapping/>
  </p:clrMapOvr>
  <p:transition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Apothecary">
  <a:themeElements>
    <a:clrScheme name="Apothecary">
      <a:dk1>
        <a:sysClr val="windowText" lastClr="000000"/>
      </a:dk1>
      <a:lt1>
        <a:sysClr val="window" lastClr="FFFFFF"/>
      </a:lt1>
      <a:dk2>
        <a:srgbClr val="564B3C"/>
      </a:dk2>
      <a:lt2>
        <a:srgbClr val="ECEDD1"/>
      </a:lt2>
      <a:accent1>
        <a:srgbClr val="93A299"/>
      </a:accent1>
      <a:accent2>
        <a:srgbClr val="CF543F"/>
      </a:accent2>
      <a:accent3>
        <a:srgbClr val="B5AE53"/>
      </a:accent3>
      <a:accent4>
        <a:srgbClr val="848058"/>
      </a:accent4>
      <a:accent5>
        <a:srgbClr val="E8B54D"/>
      </a:accent5>
      <a:accent6>
        <a:srgbClr val="786C71"/>
      </a:accent6>
      <a:hlink>
        <a:srgbClr val="CCCC00"/>
      </a:hlink>
      <a:folHlink>
        <a:srgbClr val="B2B2B2"/>
      </a:folHlink>
    </a:clrScheme>
    <a:fontScheme name="Apothecary">
      <a:majorFont>
        <a:latin typeface="Book Antiqua"/>
        <a:ea typeface=""/>
        <a:cs typeface=""/>
        <a:font script="Jpan" typeface="HGS明朝B"/>
        <a:font script="Hang" typeface="HY견명조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견명조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pothecary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100000"/>
              </a:schemeClr>
            </a:gs>
            <a:gs pos="68000">
              <a:schemeClr val="phClr">
                <a:tint val="77000"/>
                <a:satMod val="100000"/>
              </a:schemeClr>
            </a:gs>
            <a:gs pos="81000">
              <a:schemeClr val="phClr">
                <a:tint val="79000"/>
                <a:satMod val="100000"/>
              </a:schemeClr>
            </a:gs>
            <a:gs pos="86000">
              <a:schemeClr val="phClr">
                <a:tint val="73000"/>
                <a:satMod val="100000"/>
              </a:schemeClr>
            </a:gs>
            <a:gs pos="100000">
              <a:schemeClr val="phClr">
                <a:tint val="35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3000"/>
                <a:shade val="100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tint val="100000"/>
                <a:shade val="57000"/>
                <a:satMod val="120000"/>
              </a:schemeClr>
            </a:gs>
            <a:gs pos="80000">
              <a:schemeClr val="phClr">
                <a:tint val="100000"/>
                <a:shade val="56000"/>
                <a:satMod val="145000"/>
              </a:schemeClr>
            </a:gs>
            <a:gs pos="88000">
              <a:schemeClr val="phClr">
                <a:tint val="100000"/>
                <a:shade val="63000"/>
                <a:satMod val="160000"/>
              </a:schemeClr>
            </a:gs>
            <a:gs pos="100000">
              <a:schemeClr val="phClr">
                <a:tint val="99000"/>
                <a:shade val="100000"/>
                <a:satMod val="155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glow" dir="tl">
              <a:rot lat="0" lon="0" rev="1800000"/>
            </a:lightRig>
          </a:scene3d>
          <a:sp3d contourW="10160" prstMaterial="dkEdge">
            <a:bevelT w="0" h="0" prst="angle"/>
            <a:contourClr>
              <a:schemeClr val="phClr">
                <a:shade val="30000"/>
                <a:satMod val="150000"/>
              </a:schemeClr>
            </a:contourClr>
          </a:sp3d>
        </a:effectStyle>
        <a:effectStyle>
          <a:effectLst>
            <a:glow rad="50800">
              <a:schemeClr val="phClr">
                <a:tint val="68000"/>
                <a:shade val="93000"/>
                <a:alpha val="37000"/>
                <a:satMod val="25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1800000"/>
            </a:lightRig>
          </a:scene3d>
          <a:sp3d contourW="10160" prstMaterial="dkEdge">
            <a:bevelT w="20320" h="19050" prst="angle"/>
            <a:contourClr>
              <a:schemeClr val="phClr">
                <a:shade val="3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3000"/>
            <a:satMod val="14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atMod val="170000"/>
              </a:schemeClr>
              <a:schemeClr val="phClr">
                <a:shade val="70000"/>
                <a:satMod val="13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Flow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ppt/theme/themeOverride2.xml><?xml version="1.0" encoding="utf-8"?>
<a:themeOverride xmlns:a="http://schemas.openxmlformats.org/drawingml/2006/main">
  <a:clrScheme name="Flow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4841</TotalTime>
  <Words>872</Words>
  <Application>Microsoft Office PowerPoint</Application>
  <PresentationFormat>On-screen Show (4:3)</PresentationFormat>
  <Paragraphs>119</Paragraphs>
  <Slides>20</Slides>
  <Notes>13</Notes>
  <HiddenSlides>0</HiddenSlides>
  <MMClips>0</MMClips>
  <ScaleCrop>false</ScaleCrop>
  <HeadingPairs>
    <vt:vector size="6" baseType="variant"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Flow</vt:lpstr>
      <vt:lpstr>Apothecary</vt:lpstr>
      <vt:lpstr>Chart</vt:lpstr>
      <vt:lpstr>PowerPoint Presentation</vt:lpstr>
      <vt:lpstr>PowerPoint Presentation</vt:lpstr>
      <vt:lpstr>A Hospital with a Vision …</vt:lpstr>
      <vt:lpstr>Background History of MCH services of Chowgacha Health Complex, Jessore</vt:lpstr>
      <vt:lpstr>Contd.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Dr. Salina and nurses who worked in ANC corner &amp; labour  word</vt:lpstr>
      <vt:lpstr>Hon’ble Health Minister for Health &amp; Family Welfare with WHO Representative at Chowgacha handing over money and gift of voucher scheme of DSF</vt:lpstr>
      <vt:lpstr>PowerPoint Presentation</vt:lpstr>
      <vt:lpstr>PowerPoint Presentation</vt:lpstr>
      <vt:lpstr>Upazila Health  Complex CHOWGACHA , JESSORE.</vt:lpstr>
      <vt:lpstr>Upazila Health  Complex CHOWGACHA , JESSORE.</vt:lpstr>
      <vt:lpstr>Achievement of Chowgacha Health Complex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Belal;Labnan</dc:creator>
  <cp:lastModifiedBy>Emdad</cp:lastModifiedBy>
  <cp:revision>1125</cp:revision>
  <cp:lastPrinted>2015-07-23T02:45:36Z</cp:lastPrinted>
  <dcterms:created xsi:type="dcterms:W3CDTF">1601-01-01T00:00:00Z</dcterms:created>
  <dcterms:modified xsi:type="dcterms:W3CDTF">2020-10-27T09:02:17Z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