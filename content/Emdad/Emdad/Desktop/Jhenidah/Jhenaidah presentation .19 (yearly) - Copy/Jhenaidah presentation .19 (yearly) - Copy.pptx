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av" ContentType="audio/wav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8.xml" ContentType="application/vnd.openxmlformats-officedocument.drawingml.chart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09" r:id="rId1"/>
  </p:sldMasterIdLst>
  <p:notesMasterIdLst>
    <p:notesMasterId r:id="rId47"/>
  </p:notesMasterIdLst>
  <p:sldIdLst>
    <p:sldId id="385" r:id="rId2"/>
    <p:sldId id="386" r:id="rId3"/>
    <p:sldId id="387" r:id="rId4"/>
    <p:sldId id="388" r:id="rId5"/>
    <p:sldId id="389" r:id="rId6"/>
    <p:sldId id="390" r:id="rId7"/>
    <p:sldId id="394" r:id="rId8"/>
    <p:sldId id="399" r:id="rId9"/>
    <p:sldId id="391" r:id="rId10"/>
    <p:sldId id="376" r:id="rId11"/>
    <p:sldId id="379" r:id="rId12"/>
    <p:sldId id="377" r:id="rId13"/>
    <p:sldId id="375" r:id="rId14"/>
    <p:sldId id="328" r:id="rId15"/>
    <p:sldId id="383" r:id="rId16"/>
    <p:sldId id="381" r:id="rId17"/>
    <p:sldId id="392" r:id="rId18"/>
    <p:sldId id="397" r:id="rId19"/>
    <p:sldId id="362" r:id="rId20"/>
    <p:sldId id="369" r:id="rId21"/>
    <p:sldId id="287" r:id="rId22"/>
    <p:sldId id="288" r:id="rId23"/>
    <p:sldId id="291" r:id="rId24"/>
    <p:sldId id="308" r:id="rId25"/>
    <p:sldId id="323" r:id="rId26"/>
    <p:sldId id="312" r:id="rId27"/>
    <p:sldId id="366" r:id="rId28"/>
    <p:sldId id="363" r:id="rId29"/>
    <p:sldId id="364" r:id="rId30"/>
    <p:sldId id="370" r:id="rId31"/>
    <p:sldId id="372" r:id="rId32"/>
    <p:sldId id="371" r:id="rId33"/>
    <p:sldId id="297" r:id="rId34"/>
    <p:sldId id="293" r:id="rId35"/>
    <p:sldId id="294" r:id="rId36"/>
    <p:sldId id="405" r:id="rId37"/>
    <p:sldId id="401" r:id="rId38"/>
    <p:sldId id="330" r:id="rId39"/>
    <p:sldId id="344" r:id="rId40"/>
    <p:sldId id="396" r:id="rId41"/>
    <p:sldId id="407" r:id="rId42"/>
    <p:sldId id="408" r:id="rId43"/>
    <p:sldId id="409" r:id="rId44"/>
    <p:sldId id="410" r:id="rId45"/>
    <p:sldId id="411" r:id="rId46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Windows User" initials="WU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7E17"/>
    <a:srgbClr val="3EEE00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00" autoAdjust="0"/>
    <p:restoredTop sz="91846" autoAdjust="0"/>
  </p:normalViewPr>
  <p:slideViewPr>
    <p:cSldViewPr>
      <p:cViewPr>
        <p:scale>
          <a:sx n="70" d="100"/>
          <a:sy n="70" d="100"/>
        </p:scale>
        <p:origin x="-1614" y="-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258" y="11054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commentAuthors" Target="commentAuthors.xml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.xlsx"/><Relationship Id="rId1" Type="http://schemas.openxmlformats.org/officeDocument/2006/relationships/image" Target="../media/image17.jpeg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2.xlsx"/><Relationship Id="rId1" Type="http://schemas.openxmlformats.org/officeDocument/2006/relationships/image" Target="../media/image19.jpeg"/></Relationships>
</file>

<file path=ppt/charts/_rels/chart3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3.xlsx"/><Relationship Id="rId1" Type="http://schemas.openxmlformats.org/officeDocument/2006/relationships/image" Target="../media/image20.jpeg"/></Relationships>
</file>

<file path=ppt/charts/_rels/chart4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4.xlsx"/><Relationship Id="rId1" Type="http://schemas.openxmlformats.org/officeDocument/2006/relationships/image" Target="../media/image17.jpeg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6.xlsx"/><Relationship Id="rId1" Type="http://schemas.openxmlformats.org/officeDocument/2006/relationships/image" Target="../media/image22.jpeg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31"/>
    </mc:Choice>
    <mc:Fallback>
      <c:style val="31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Bed Occupacy Rate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Sheet1!$A$2:$A$9</c:f>
              <c:numCache>
                <c:formatCode>General</c:formatCode>
                <c:ptCount val="8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  <c:pt idx="6">
                  <c:v>2018</c:v>
                </c:pt>
                <c:pt idx="7">
                  <c:v>2019</c:v>
                </c:pt>
              </c:numCache>
            </c:numRef>
          </c:cat>
          <c:val>
            <c:numRef>
              <c:f>Sheet1!$B$2:$B$9</c:f>
              <c:numCache>
                <c:formatCode>0%</c:formatCode>
                <c:ptCount val="8"/>
                <c:pt idx="0">
                  <c:v>1.26</c:v>
                </c:pt>
                <c:pt idx="1">
                  <c:v>1.46</c:v>
                </c:pt>
                <c:pt idx="2">
                  <c:v>1.6500000000000001</c:v>
                </c:pt>
                <c:pt idx="3">
                  <c:v>1.930000000000003</c:v>
                </c:pt>
                <c:pt idx="4">
                  <c:v>2.14</c:v>
                </c:pt>
                <c:pt idx="5">
                  <c:v>2.42</c:v>
                </c:pt>
                <c:pt idx="6">
                  <c:v>2.5099999999999998</c:v>
                </c:pt>
                <c:pt idx="7">
                  <c:v>2.88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38762496"/>
        <c:axId val="138797056"/>
      </c:barChart>
      <c:catAx>
        <c:axId val="13876249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2000" baseline="0"/>
            </a:pPr>
            <a:endParaRPr lang="en-US"/>
          </a:p>
        </c:txPr>
        <c:crossAx val="138797056"/>
        <c:crosses val="autoZero"/>
        <c:auto val="1"/>
        <c:lblAlgn val="ctr"/>
        <c:lblOffset val="100"/>
        <c:noMultiLvlLbl val="0"/>
      </c:catAx>
      <c:valAx>
        <c:axId val="138797056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138762496"/>
        <c:crosses val="autoZero"/>
        <c:crossBetween val="between"/>
      </c:valAx>
      <c:spPr>
        <a:blipFill>
          <a:blip xmlns:r="http://schemas.openxmlformats.org/officeDocument/2006/relationships" r:embed="rId1"/>
          <a:tile tx="0" ty="0" sx="100000" sy="100000" flip="none" algn="tl"/>
        </a:blipFill>
      </c:spPr>
    </c:plotArea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2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2141903990973091"/>
          <c:y val="2.5792207312114252E-2"/>
          <c:w val="0.87858091957255369"/>
          <c:h val="0.8693349598905776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Emergency &amp; Outdoors</c:v>
                </c:pt>
              </c:strCache>
            </c:strRef>
          </c:tx>
          <c:invertIfNegative val="0"/>
          <c:dLbls>
            <c:txPr>
              <a:bodyPr/>
              <a:lstStyle/>
              <a:p>
                <a:pPr>
                  <a:defRPr sz="1600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Sheet1!$A$2:$A$10</c:f>
              <c:numCache>
                <c:formatCode>General</c:formatCode>
                <c:ptCount val="9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  <c:pt idx="7">
                  <c:v>2018</c:v>
                </c:pt>
                <c:pt idx="8">
                  <c:v>2019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81796</c:v>
                </c:pt>
                <c:pt idx="1">
                  <c:v>170854</c:v>
                </c:pt>
                <c:pt idx="2">
                  <c:v>192791</c:v>
                </c:pt>
                <c:pt idx="3">
                  <c:v>233868</c:v>
                </c:pt>
                <c:pt idx="4">
                  <c:v>277301</c:v>
                </c:pt>
                <c:pt idx="5">
                  <c:v>296235</c:v>
                </c:pt>
                <c:pt idx="6">
                  <c:v>340932</c:v>
                </c:pt>
                <c:pt idx="7">
                  <c:v>384928</c:v>
                </c:pt>
                <c:pt idx="8">
                  <c:v>407474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Indoor</c:v>
                </c:pt>
              </c:strCache>
            </c:strRef>
          </c:tx>
          <c:invertIfNegative val="0"/>
          <c:dLbls>
            <c:dLbl>
              <c:idx val="4"/>
              <c:layout>
                <c:manualLayout>
                  <c:x val="6.2305295950156646E-3"/>
                  <c:y val="-1.111111111111122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layout>
                <c:manualLayout>
                  <c:x val="6.2305295950156646E-3"/>
                  <c:y val="8.3333333333333367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layout>
                <c:manualLayout>
                  <c:x val="-1.0708427071616101E-3"/>
                  <c:y val="-1.385642224409449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layout>
                <c:manualLayout>
                  <c:x val="-6.5370734908137547E-4"/>
                  <c:y val="-1.257935531496064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 rot="-5400000" vert="horz"/>
              <a:lstStyle/>
              <a:p>
                <a:pPr>
                  <a:defRPr sz="1600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Sheet1!$A$2:$A$10</c:f>
              <c:numCache>
                <c:formatCode>General</c:formatCode>
                <c:ptCount val="9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  <c:pt idx="7">
                  <c:v>2018</c:v>
                </c:pt>
                <c:pt idx="8">
                  <c:v>2019</c:v>
                </c:pt>
              </c:numCache>
            </c:num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12973</c:v>
                </c:pt>
                <c:pt idx="1">
                  <c:v>22435</c:v>
                </c:pt>
                <c:pt idx="2">
                  <c:v>24643</c:v>
                </c:pt>
                <c:pt idx="3">
                  <c:v>27905</c:v>
                </c:pt>
                <c:pt idx="4">
                  <c:v>29562</c:v>
                </c:pt>
                <c:pt idx="5">
                  <c:v>32300</c:v>
                </c:pt>
                <c:pt idx="6">
                  <c:v>35569</c:v>
                </c:pt>
                <c:pt idx="7">
                  <c:v>37096</c:v>
                </c:pt>
                <c:pt idx="8">
                  <c:v>42551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31570304"/>
        <c:axId val="131902080"/>
      </c:barChart>
      <c:catAx>
        <c:axId val="13157030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31902080"/>
        <c:crosses val="autoZero"/>
        <c:auto val="1"/>
        <c:lblAlgn val="ctr"/>
        <c:lblOffset val="100"/>
        <c:noMultiLvlLbl val="0"/>
      </c:catAx>
      <c:valAx>
        <c:axId val="13190208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crossAx val="131570304"/>
        <c:crosses val="autoZero"/>
        <c:crossBetween val="between"/>
      </c:valAx>
      <c:spPr>
        <a:blipFill>
          <a:blip xmlns:r="http://schemas.openxmlformats.org/officeDocument/2006/relationships" r:embed="rId1"/>
          <a:tile tx="0" ty="0" sx="100000" sy="100000" flip="none" algn="tl"/>
        </a:blipFill>
        <a:ln w="25400">
          <a:noFill/>
        </a:ln>
      </c:spPr>
    </c:plotArea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2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27"/>
    </mc:Choice>
    <mc:Fallback>
      <c:style val="27"/>
    </mc:Fallback>
  </mc:AlternateContent>
  <c:chart>
    <c:autoTitleDeleted val="1"/>
    <c:view3D>
      <c:rotX val="0"/>
      <c:rotY val="0"/>
      <c:depthPercent val="150"/>
      <c:rAngAx val="0"/>
      <c:perspective val="0"/>
    </c:view3D>
    <c:floor>
      <c:thickness val="0"/>
    </c:floor>
    <c:sideWall>
      <c:thickness val="0"/>
      <c:spPr>
        <a:blipFill>
          <a:blip xmlns:r="http://schemas.openxmlformats.org/officeDocument/2006/relationships" r:embed="rId1"/>
          <a:tile tx="0" ty="0" sx="100000" sy="100000" flip="none" algn="tl"/>
        </a:blipFill>
      </c:spPr>
    </c:sideWall>
    <c:backWall>
      <c:thickness val="0"/>
      <c:spPr>
        <a:blipFill>
          <a:blip xmlns:r="http://schemas.openxmlformats.org/officeDocument/2006/relationships" r:embed="rId1"/>
          <a:tile tx="0" ty="0" sx="100000" sy="100000" flip="none" algn="tl"/>
        </a:blipFill>
      </c:spPr>
    </c:backWall>
    <c:plotArea>
      <c:layout>
        <c:manualLayout>
          <c:layoutTarget val="inner"/>
          <c:xMode val="edge"/>
          <c:yMode val="edge"/>
          <c:x val="0.10934240566213922"/>
          <c:y val="5.0614472425047033E-2"/>
          <c:w val="0.87051107128595528"/>
          <c:h val="0.83049790530628376"/>
        </c:manualLayout>
      </c:layout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Major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Pt>
            <c:idx val="1"/>
            <c:invertIfNegative val="0"/>
            <c:bubble3D val="0"/>
            <c:spPr>
              <a:gradFill rotWithShape="1">
                <a:gsLst>
                  <a:gs pos="0">
                    <a:schemeClr val="accent1">
                      <a:shade val="51000"/>
                      <a:satMod val="130000"/>
                    </a:schemeClr>
                  </a:gs>
                  <a:gs pos="80000">
                    <a:schemeClr val="accent1">
                      <a:shade val="93000"/>
                      <a:satMod val="130000"/>
                    </a:schemeClr>
                  </a:gs>
                  <a:gs pos="100000">
                    <a:schemeClr val="accent1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</c:dPt>
          <c:dLbls>
            <c:dLbl>
              <c:idx val="0"/>
              <c:layout>
                <c:manualLayout>
                  <c:x val="4.4941168575518865E-3"/>
                  <c:y val="-5.57724964536098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1.9565363278453841E-3"/>
                  <c:y val="-4.439834707345657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-1.3819792412312101E-3"/>
                  <c:y val="-4.267819329372339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layout>
                <c:manualLayout>
                  <c:x val="-4.5897458840372524E-3"/>
                  <c:y val="-5.220040706399949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layout>
                <c:manualLayout>
                  <c:x val="2.7922557265569292E-3"/>
                  <c:y val="-3.440677617647681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  <c:pt idx="7">
                  <c:v>2018</c:v>
                </c:pt>
                <c:pt idx="8">
                  <c:v>2019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780</c:v>
                </c:pt>
                <c:pt idx="1">
                  <c:v>977</c:v>
                </c:pt>
                <c:pt idx="2">
                  <c:v>1294</c:v>
                </c:pt>
                <c:pt idx="3">
                  <c:v>1339</c:v>
                </c:pt>
                <c:pt idx="4">
                  <c:v>1582</c:v>
                </c:pt>
                <c:pt idx="5">
                  <c:v>1383</c:v>
                </c:pt>
                <c:pt idx="6">
                  <c:v>1578</c:v>
                </c:pt>
                <c:pt idx="7">
                  <c:v>1385</c:v>
                </c:pt>
                <c:pt idx="8">
                  <c:v>1496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cylinder"/>
        <c:axId val="134481024"/>
        <c:axId val="138903936"/>
        <c:axId val="0"/>
      </c:bar3DChart>
      <c:catAx>
        <c:axId val="13448102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138903936"/>
        <c:crosses val="autoZero"/>
        <c:auto val="1"/>
        <c:lblAlgn val="ctr"/>
        <c:lblOffset val="100"/>
        <c:noMultiLvlLbl val="0"/>
      </c:catAx>
      <c:valAx>
        <c:axId val="138903936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13448102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2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0-28 days</c:v>
                </c:pt>
              </c:strCache>
            </c:strRef>
          </c:tx>
          <c:spPr>
            <a:solidFill>
              <a:srgbClr val="00B0F0"/>
            </a:solidFill>
          </c:spPr>
          <c:invertIfNegative val="0"/>
          <c:dLbls>
            <c:dLbl>
              <c:idx val="4"/>
              <c:layout>
                <c:manualLayout>
                  <c:x val="-8.6206896551724223E-3"/>
                  <c:y val="1.084814560773962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 rot="-5400000" vert="horz"/>
              <a:lstStyle/>
              <a:p>
                <a:pPr>
                  <a:defRPr sz="1600" b="1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Sheet1!$A$2:$A$7</c:f>
              <c:numCache>
                <c:formatCode>General</c:formatCode>
                <c:ptCount val="6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</c:numCache>
            </c:numRef>
          </c:cat>
          <c:val>
            <c:numRef>
              <c:f>Sheet1!$B$2:$B$7</c:f>
              <c:numCache>
                <c:formatCode>General</c:formatCode>
                <c:ptCount val="6"/>
                <c:pt idx="0">
                  <c:v>709</c:v>
                </c:pt>
                <c:pt idx="1">
                  <c:v>766</c:v>
                </c:pt>
                <c:pt idx="2">
                  <c:v>835</c:v>
                </c:pt>
                <c:pt idx="3">
                  <c:v>876</c:v>
                </c:pt>
                <c:pt idx="4">
                  <c:v>1028</c:v>
                </c:pt>
                <c:pt idx="5">
                  <c:v>1000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29 days-1 year</c:v>
                </c:pt>
              </c:strCache>
            </c:strRef>
          </c:tx>
          <c:invertIfNegative val="0"/>
          <c:dLbls>
            <c:txPr>
              <a:bodyPr rot="-5400000" vert="horz"/>
              <a:lstStyle/>
              <a:p>
                <a:pPr>
                  <a:defRPr sz="1600" b="1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Sheet1!$A$2:$A$7</c:f>
              <c:numCache>
                <c:formatCode>General</c:formatCode>
                <c:ptCount val="6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</c:numCache>
            </c:numRef>
          </c:cat>
          <c:val>
            <c:numRef>
              <c:f>Sheet1!$C$2:$C$7</c:f>
              <c:numCache>
                <c:formatCode>General</c:formatCode>
                <c:ptCount val="6"/>
                <c:pt idx="0">
                  <c:v>1127</c:v>
                </c:pt>
                <c:pt idx="1">
                  <c:v>923</c:v>
                </c:pt>
                <c:pt idx="2">
                  <c:v>1595</c:v>
                </c:pt>
                <c:pt idx="3">
                  <c:v>1493</c:v>
                </c:pt>
                <c:pt idx="4">
                  <c:v>1535</c:v>
                </c:pt>
                <c:pt idx="5">
                  <c:v>2014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1 – 5 years</c:v>
                </c:pt>
              </c:strCache>
            </c:strRef>
          </c:tx>
          <c:invertIfNegative val="0"/>
          <c:dLbls>
            <c:txPr>
              <a:bodyPr rot="-5400000" vert="horz"/>
              <a:lstStyle/>
              <a:p>
                <a:pPr>
                  <a:defRPr sz="1600" b="1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Sheet1!$A$2:$A$7</c:f>
              <c:numCache>
                <c:formatCode>General</c:formatCode>
                <c:ptCount val="6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</c:numCache>
            </c:numRef>
          </c:cat>
          <c:val>
            <c:numRef>
              <c:f>Sheet1!$D$2:$D$7</c:f>
              <c:numCache>
                <c:formatCode>General</c:formatCode>
                <c:ptCount val="6"/>
                <c:pt idx="0">
                  <c:v>848</c:v>
                </c:pt>
                <c:pt idx="1">
                  <c:v>806</c:v>
                </c:pt>
                <c:pt idx="2">
                  <c:v>1123</c:v>
                </c:pt>
                <c:pt idx="3">
                  <c:v>1297</c:v>
                </c:pt>
                <c:pt idx="4">
                  <c:v>1029</c:v>
                </c:pt>
                <c:pt idx="5">
                  <c:v>1648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Total Admission</c:v>
                </c:pt>
              </c:strCache>
            </c:strRef>
          </c:tx>
          <c:invertIfNegative val="0"/>
          <c:dLbls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Sheet1!$A$2:$A$7</c:f>
              <c:numCache>
                <c:formatCode>General</c:formatCode>
                <c:ptCount val="6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</c:numCache>
            </c:numRef>
          </c:cat>
          <c:val>
            <c:numRef>
              <c:f>Sheet1!$E$2:$E$7</c:f>
              <c:numCache>
                <c:formatCode>General</c:formatCode>
                <c:ptCount val="6"/>
                <c:pt idx="0">
                  <c:v>2684</c:v>
                </c:pt>
                <c:pt idx="1">
                  <c:v>2495</c:v>
                </c:pt>
                <c:pt idx="2">
                  <c:v>3553</c:v>
                </c:pt>
                <c:pt idx="3">
                  <c:v>3666</c:v>
                </c:pt>
                <c:pt idx="4">
                  <c:v>3592</c:v>
                </c:pt>
                <c:pt idx="5">
                  <c:v>4662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63603968"/>
        <c:axId val="163605504"/>
      </c:barChart>
      <c:catAx>
        <c:axId val="16360396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163605504"/>
        <c:crosses val="autoZero"/>
        <c:auto val="1"/>
        <c:lblAlgn val="ctr"/>
        <c:lblOffset val="100"/>
        <c:noMultiLvlLbl val="0"/>
      </c:catAx>
      <c:valAx>
        <c:axId val="16360550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163603968"/>
        <c:crosses val="autoZero"/>
        <c:crossBetween val="between"/>
      </c:valAx>
    </c:plotArea>
    <c:legend>
      <c:legendPos val="r"/>
      <c:legendEntry>
        <c:idx val="1"/>
        <c:txPr>
          <a:bodyPr/>
          <a:lstStyle/>
          <a:p>
            <a:pPr>
              <a:defRPr sz="1400" b="1" baseline="0"/>
            </a:pPr>
            <a:endParaRPr lang="en-US"/>
          </a:p>
        </c:txPr>
      </c:legendEntry>
      <c:legendEntry>
        <c:idx val="3"/>
        <c:txPr>
          <a:bodyPr/>
          <a:lstStyle/>
          <a:p>
            <a:pPr>
              <a:defRPr sz="1400" b="1" baseline="0"/>
            </a:pPr>
            <a:endParaRPr lang="en-US"/>
          </a:p>
        </c:txPr>
      </c:legendEntry>
      <c:layout>
        <c:manualLayout>
          <c:xMode val="edge"/>
          <c:yMode val="edge"/>
          <c:x val="0.83649142456331094"/>
          <c:y val="0.11661286726738625"/>
          <c:w val="0.16350857543669114"/>
          <c:h val="0.40693306595745965"/>
        </c:manualLayout>
      </c:layout>
      <c:overlay val="0"/>
      <c:txPr>
        <a:bodyPr/>
        <a:lstStyle/>
        <a:p>
          <a:pPr>
            <a:defRPr sz="1600" b="1" baseline="0"/>
          </a:pPr>
          <a:endParaRPr lang="en-US"/>
        </a:p>
      </c:txPr>
    </c:legend>
    <c:plotVisOnly val="1"/>
    <c:dispBlanksAs val="gap"/>
    <c:showDLblsOverMax val="0"/>
  </c:chart>
  <c:spPr>
    <a:blipFill>
      <a:blip xmlns:r="http://schemas.openxmlformats.org/officeDocument/2006/relationships" r:embed="rId1"/>
      <a:tile tx="0" ty="0" sx="100000" sy="100000" flip="none" algn="tl"/>
    </a:blipFill>
  </c:spPr>
  <c:txPr>
    <a:bodyPr/>
    <a:lstStyle/>
    <a:p>
      <a:pPr>
        <a:defRPr sz="1800"/>
      </a:pPr>
      <a:endParaRPr lang="en-US"/>
    </a:p>
  </c:txPr>
  <c:externalData r:id="rId2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0621293866044522"/>
          <c:y val="4.4861391929187228E-2"/>
          <c:w val="0.69983231262758827"/>
          <c:h val="0.8572034283090692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ANC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-1.0802590648391173E-2"/>
                  <c:y val="-1.683619596536682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sz="14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Sheet1!$A$2:$A$8</c:f>
              <c:numCache>
                <c:formatCode>General</c:formatCode>
                <c:ptCount val="7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2015</c:v>
                </c:pt>
                <c:pt idx="4">
                  <c:v>2017</c:v>
                </c:pt>
                <c:pt idx="5">
                  <c:v>2018</c:v>
                </c:pt>
                <c:pt idx="6">
                  <c:v>2019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1354</c:v>
                </c:pt>
                <c:pt idx="1">
                  <c:v>2268</c:v>
                </c:pt>
                <c:pt idx="2">
                  <c:v>7096</c:v>
                </c:pt>
                <c:pt idx="3">
                  <c:v>13251</c:v>
                </c:pt>
                <c:pt idx="4">
                  <c:v>15309</c:v>
                </c:pt>
                <c:pt idx="5">
                  <c:v>14191</c:v>
                </c:pt>
                <c:pt idx="6">
                  <c:v>14712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 Delivery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-1.5432098765432098E-3"/>
                  <c:y val="-2.80603266089448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2.1604938271604937E-2"/>
                  <c:y val="-5.61206532178897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1.6975308641975308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layout>
                <c:manualLayout>
                  <c:x val="1.8518518518518576E-2"/>
                  <c:y val="1.40301633044724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layout>
                <c:manualLayout>
                  <c:x val="2.0061728395061727E-2"/>
                  <c:y val="1.122413064357795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layout>
                <c:manualLayout>
                  <c:x val="1.6975308641975308E-2"/>
                  <c:y val="-2.80603266089448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layout>
                <c:manualLayout>
                  <c:x val="1.6975308641975308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sz="14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Sheet1!$A$2:$A$8</c:f>
              <c:numCache>
                <c:formatCode>General</c:formatCode>
                <c:ptCount val="7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2015</c:v>
                </c:pt>
                <c:pt idx="4">
                  <c:v>2017</c:v>
                </c:pt>
                <c:pt idx="5">
                  <c:v>2018</c:v>
                </c:pt>
                <c:pt idx="6">
                  <c:v>2019</c:v>
                </c:pt>
              </c:numCache>
            </c:numRef>
          </c:cat>
          <c:val>
            <c:numRef>
              <c:f>Sheet1!$C$2:$C$8</c:f>
              <c:numCache>
                <c:formatCode>General</c:formatCode>
                <c:ptCount val="7"/>
                <c:pt idx="0">
                  <c:v>2375</c:v>
                </c:pt>
                <c:pt idx="1">
                  <c:v>2379</c:v>
                </c:pt>
                <c:pt idx="2">
                  <c:v>2796</c:v>
                </c:pt>
                <c:pt idx="3">
                  <c:v>3034</c:v>
                </c:pt>
                <c:pt idx="4">
                  <c:v>2981</c:v>
                </c:pt>
                <c:pt idx="5">
                  <c:v>2737</c:v>
                </c:pt>
                <c:pt idx="6">
                  <c:v>2753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64067584"/>
        <c:axId val="164089856"/>
      </c:barChart>
      <c:catAx>
        <c:axId val="16406758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64089856"/>
        <c:crosses val="autoZero"/>
        <c:auto val="1"/>
        <c:lblAlgn val="ctr"/>
        <c:lblOffset val="100"/>
        <c:noMultiLvlLbl val="0"/>
      </c:catAx>
      <c:valAx>
        <c:axId val="16408985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64067584"/>
        <c:crosses val="autoZero"/>
        <c:crossBetween val="between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0"/>
      <c:rotY val="0"/>
      <c:depthPercent val="110"/>
      <c:rAngAx val="1"/>
    </c:view3D>
    <c:floor>
      <c:thickness val="0"/>
    </c:floor>
    <c:sideWall>
      <c:thickness val="0"/>
      <c:spPr>
        <a:blipFill>
          <a:blip xmlns:r="http://schemas.openxmlformats.org/officeDocument/2006/relationships" r:embed="rId1"/>
          <a:tile tx="0" ty="0" sx="100000" sy="100000" flip="none" algn="tl"/>
        </a:blipFill>
      </c:spPr>
    </c:sideWall>
    <c:backWall>
      <c:thickness val="0"/>
      <c:spPr>
        <a:blipFill>
          <a:blip xmlns:r="http://schemas.openxmlformats.org/officeDocument/2006/relationships" r:embed="rId1"/>
          <a:tile tx="0" ty="0" sx="100000" sy="100000" flip="none" algn="tl"/>
        </a:blipFill>
      </c:spPr>
    </c:backWall>
    <c:plotArea>
      <c:layout>
        <c:manualLayout>
          <c:layoutTarget val="inner"/>
          <c:xMode val="edge"/>
          <c:yMode val="edge"/>
          <c:x val="4.2372881355932999E-2"/>
          <c:y val="3.2163742690058485E-2"/>
          <c:w val="0.94209039548022599"/>
          <c:h val="0.82278998019984362"/>
        </c:manualLayout>
      </c:layout>
      <c:bar3DChart>
        <c:barDir val="col"/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dLbls>
            <c:dLbl>
              <c:idx val="4"/>
              <c:layout>
                <c:manualLayout>
                  <c:x val="4.1666666666666683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>
                    <a:solidFill>
                      <a:schemeClr val="accent1">
                        <a:lumMod val="75000"/>
                      </a:schemeClr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Sheet1!$A$2:$A$6</c:f>
              <c:numCache>
                <c:formatCode>General</c:formatCode>
                <c:ptCount val="5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</c:numCache>
            </c:numRef>
          </c:cat>
          <c:val>
            <c:numRef>
              <c:f>Sheet1!$B$2:$B$6</c:f>
              <c:numCache>
                <c:formatCode>#,##0</c:formatCode>
                <c:ptCount val="5"/>
                <c:pt idx="0">
                  <c:v>6044975</c:v>
                </c:pt>
                <c:pt idx="1">
                  <c:v>6330758</c:v>
                </c:pt>
                <c:pt idx="2">
                  <c:v>7059560</c:v>
                </c:pt>
                <c:pt idx="3">
                  <c:v>7265145</c:v>
                </c:pt>
                <c:pt idx="4" formatCode="General">
                  <c:v>8903675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35"/>
        <c:gapDepth val="228"/>
        <c:shape val="cone"/>
        <c:axId val="164115584"/>
        <c:axId val="164117120"/>
        <c:axId val="163542784"/>
      </c:bar3DChart>
      <c:catAx>
        <c:axId val="16411558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900" b="1" baseline="0"/>
            </a:pPr>
            <a:endParaRPr lang="en-US"/>
          </a:p>
        </c:txPr>
        <c:crossAx val="164117120"/>
        <c:crosses val="autoZero"/>
        <c:auto val="1"/>
        <c:lblAlgn val="ctr"/>
        <c:lblOffset val="100"/>
        <c:noMultiLvlLbl val="0"/>
      </c:catAx>
      <c:valAx>
        <c:axId val="164117120"/>
        <c:scaling>
          <c:orientation val="minMax"/>
        </c:scaling>
        <c:delete val="1"/>
        <c:axPos val="l"/>
        <c:numFmt formatCode="#,##0" sourceLinked="1"/>
        <c:majorTickMark val="out"/>
        <c:minorTickMark val="none"/>
        <c:tickLblPos val="nextTo"/>
        <c:crossAx val="164115584"/>
        <c:crosses val="autoZero"/>
        <c:crossBetween val="between"/>
      </c:valAx>
      <c:serAx>
        <c:axId val="163542784"/>
        <c:scaling>
          <c:orientation val="minMax"/>
        </c:scaling>
        <c:delete val="1"/>
        <c:axPos val="b"/>
        <c:majorTickMark val="out"/>
        <c:minorTickMark val="none"/>
        <c:tickLblPos val="nextTo"/>
        <c:crossAx val="164117120"/>
        <c:crosses val="autoZero"/>
      </c:serAx>
      <c:spPr>
        <a:noFill/>
        <a:ln w="25386">
          <a:noFill/>
        </a:ln>
      </c:spPr>
    </c:plotArea>
    <c:plotVisOnly val="1"/>
    <c:dispBlanksAs val="gap"/>
    <c:showDLblsOverMax val="0"/>
  </c:chart>
  <c:spPr>
    <a:blipFill>
      <a:blip xmlns:r="http://schemas.openxmlformats.org/officeDocument/2006/relationships" r:embed="rId1"/>
      <a:tile tx="0" ty="0" sx="100000" sy="100000" flip="none" algn="tl"/>
    </a:blipFill>
  </c:spPr>
  <c:txPr>
    <a:bodyPr/>
    <a:lstStyle/>
    <a:p>
      <a:pPr>
        <a:defRPr sz="1797"/>
      </a:pPr>
      <a:endParaRPr lang="en-US"/>
    </a:p>
  </c:txPr>
  <c:externalData r:id="rId2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ANC</c:v>
                </c:pt>
              </c:strCache>
            </c:strRef>
          </c:tx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Khulna Medical Collage Hospital</c:v>
                </c:pt>
                <c:pt idx="1">
                  <c:v>Jashore Medical Collage Hospital</c:v>
                </c:pt>
                <c:pt idx="2">
                  <c:v>Kushtia Medical Collage Hospital</c:v>
                </c:pt>
                <c:pt idx="3">
                  <c:v>Jhenidah Sadar Hospital 100 beded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8582</c:v>
                </c:pt>
                <c:pt idx="1">
                  <c:v>16981</c:v>
                </c:pt>
                <c:pt idx="2">
                  <c:v>8145</c:v>
                </c:pt>
                <c:pt idx="3">
                  <c:v>14812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 Delivery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9.2592592592592587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2.1604938271604937E-2"/>
                  <c:y val="-5.61206532178897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1.3888888888888888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layout>
                <c:manualLayout>
                  <c:x val="1.5432098765432098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Khulna Medical Collage Hospital</c:v>
                </c:pt>
                <c:pt idx="1">
                  <c:v>Jashore Medical Collage Hospital</c:v>
                </c:pt>
                <c:pt idx="2">
                  <c:v>Kushtia Medical Collage Hospital</c:v>
                </c:pt>
                <c:pt idx="3">
                  <c:v>Jhenidah Sadar Hospital 100 beded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4174</c:v>
                </c:pt>
                <c:pt idx="1">
                  <c:v>3058</c:v>
                </c:pt>
                <c:pt idx="2">
                  <c:v>3658</c:v>
                </c:pt>
                <c:pt idx="3">
                  <c:v>2737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Total C Section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2.0061728395061755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1.3888888888888888E-2"/>
                  <c:y val="2.80603266089448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1.3888888888888888E-2"/>
                  <c:y val="-8.418097982683463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layout>
                <c:manualLayout>
                  <c:x val="1.5432098765432098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Khulna Medical Collage Hospital</c:v>
                </c:pt>
                <c:pt idx="1">
                  <c:v>Jashore Medical Collage Hospital</c:v>
                </c:pt>
                <c:pt idx="2">
                  <c:v>Kushtia Medical Collage Hospital</c:v>
                </c:pt>
                <c:pt idx="3">
                  <c:v>Jhenidah Sadar Hospital 100 beded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1828</c:v>
                </c:pt>
                <c:pt idx="1">
                  <c:v>1503</c:v>
                </c:pt>
                <c:pt idx="2">
                  <c:v>1616</c:v>
                </c:pt>
                <c:pt idx="3">
                  <c:v>1019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17339392"/>
        <c:axId val="217340928"/>
      </c:barChart>
      <c:catAx>
        <c:axId val="217339392"/>
        <c:scaling>
          <c:orientation val="minMax"/>
        </c:scaling>
        <c:delete val="0"/>
        <c:axPos val="b"/>
        <c:majorTickMark val="out"/>
        <c:minorTickMark val="none"/>
        <c:tickLblPos val="nextTo"/>
        <c:crossAx val="217340928"/>
        <c:crosses val="autoZero"/>
        <c:auto val="1"/>
        <c:lblAlgn val="ctr"/>
        <c:lblOffset val="100"/>
        <c:noMultiLvlLbl val="0"/>
      </c:catAx>
      <c:valAx>
        <c:axId val="21734092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17339392"/>
        <c:crosses val="autoZero"/>
        <c:crossBetween val="between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031265189073588"/>
          <c:y val="3.6443293946503759E-2"/>
          <c:w val="0.64635972586759993"/>
          <c:h val="0.7815105868077136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ANC 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0"/>
                  <c:y val="1.683619596536692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15360</c:v>
                </c:pt>
                <c:pt idx="1">
                  <c:v>12178</c:v>
                </c:pt>
                <c:pt idx="2">
                  <c:v>6977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 Section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7.716049382716049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1.3888888888888888E-2"/>
                  <c:y val="8.418097982683463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1.2345679012345678E-2"/>
                  <c:y val="5.61206532178897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1143</c:v>
                </c:pt>
                <c:pt idx="1">
                  <c:v>1778</c:v>
                </c:pt>
                <c:pt idx="2">
                  <c:v>1228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NVD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0"/>
                  <c:y val="-2.525429394805039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2.3148148148148206E-2"/>
                  <c:y val="-6.734478386146770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3.0864197530864196E-3"/>
                  <c:y val="-3.086635926983936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1854</c:v>
                </c:pt>
                <c:pt idx="1">
                  <c:v>1189</c:v>
                </c:pt>
                <c:pt idx="2">
                  <c:v>1455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Total Del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3.0864197530864482E-3"/>
                  <c:y val="-1.964222862626141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1.8518397005929815E-2"/>
                  <c:y val="-3.647842459162834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0"/>
                  <c:y val="-2.806032660894488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2997</c:v>
                </c:pt>
                <c:pt idx="1">
                  <c:v>2967</c:v>
                </c:pt>
                <c:pt idx="2">
                  <c:v>2683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311544064"/>
        <c:axId val="311607296"/>
      </c:barChart>
      <c:catAx>
        <c:axId val="31154406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311607296"/>
        <c:crosses val="autoZero"/>
        <c:auto val="1"/>
        <c:lblAlgn val="ctr"/>
        <c:lblOffset val="100"/>
        <c:noMultiLvlLbl val="0"/>
      </c:catAx>
      <c:valAx>
        <c:axId val="31160729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311544064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4948624477495873"/>
          <c:y val="0.37195288604878124"/>
          <c:w val="0.14578327014678721"/>
          <c:h val="0.31152795548704221"/>
        </c:manualLayout>
      </c:layout>
      <c:overlay val="0"/>
      <c:txPr>
        <a:bodyPr/>
        <a:lstStyle/>
        <a:p>
          <a:pPr>
            <a:defRPr b="1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2121154-DD83-45F1-A0A6-59611F8D3BD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4FB9751C-3B62-4B33-81E9-C11B694D9446}">
      <dgm:prSet/>
      <dgm:spPr/>
      <dgm:t>
        <a:bodyPr/>
        <a:lstStyle/>
        <a:p>
          <a:pPr rtl="0"/>
          <a:r>
            <a:rPr lang="en-GB" dirty="0" smtClean="0"/>
            <a:t>Central oxygen system 	- 1</a:t>
          </a:r>
          <a:endParaRPr lang="en-GB" dirty="0"/>
        </a:p>
      </dgm:t>
    </dgm:pt>
    <dgm:pt modelId="{9B18A42C-0BA2-41CC-BAE1-B8A7E351EFFF}" type="parTrans" cxnId="{62419439-C95E-4013-B6C7-5500B1C5694B}">
      <dgm:prSet/>
      <dgm:spPr/>
      <dgm:t>
        <a:bodyPr/>
        <a:lstStyle/>
        <a:p>
          <a:endParaRPr lang="en-GB"/>
        </a:p>
      </dgm:t>
    </dgm:pt>
    <dgm:pt modelId="{443683C2-1AE6-4A81-954A-430C3F3E2BBF}" type="sibTrans" cxnId="{62419439-C95E-4013-B6C7-5500B1C5694B}">
      <dgm:prSet/>
      <dgm:spPr/>
      <dgm:t>
        <a:bodyPr/>
        <a:lstStyle/>
        <a:p>
          <a:endParaRPr lang="en-GB"/>
        </a:p>
      </dgm:t>
    </dgm:pt>
    <dgm:pt modelId="{64DC4C56-D733-4353-AC4A-B55F22024702}">
      <dgm:prSet/>
      <dgm:spPr/>
      <dgm:t>
        <a:bodyPr/>
        <a:lstStyle/>
        <a:p>
          <a:pPr rtl="0"/>
          <a:r>
            <a:rPr lang="en-GB" dirty="0" smtClean="0"/>
            <a:t>High flow nasal cannula	- 5</a:t>
          </a:r>
          <a:endParaRPr lang="en-GB" dirty="0"/>
        </a:p>
      </dgm:t>
    </dgm:pt>
    <dgm:pt modelId="{94CF4D94-4818-47AB-A823-23F05697EF76}" type="parTrans" cxnId="{1C21FFBF-CD23-4AD6-BC05-5B0C85A96AB1}">
      <dgm:prSet/>
      <dgm:spPr/>
      <dgm:t>
        <a:bodyPr/>
        <a:lstStyle/>
        <a:p>
          <a:endParaRPr lang="en-GB"/>
        </a:p>
      </dgm:t>
    </dgm:pt>
    <dgm:pt modelId="{22EE8EEA-169C-4E6C-B0C9-DB93B9C4DD7E}" type="sibTrans" cxnId="{1C21FFBF-CD23-4AD6-BC05-5B0C85A96AB1}">
      <dgm:prSet/>
      <dgm:spPr/>
      <dgm:t>
        <a:bodyPr/>
        <a:lstStyle/>
        <a:p>
          <a:endParaRPr lang="en-GB"/>
        </a:p>
      </dgm:t>
    </dgm:pt>
    <dgm:pt modelId="{E72DC5B8-FF43-4864-9B3D-4D5C1B7EED89}">
      <dgm:prSet/>
      <dgm:spPr/>
      <dgm:t>
        <a:bodyPr/>
        <a:lstStyle/>
        <a:p>
          <a:pPr rtl="0"/>
          <a:r>
            <a:rPr lang="en-GB" dirty="0" smtClean="0"/>
            <a:t>Oxygen concentrator	- 3</a:t>
          </a:r>
          <a:endParaRPr lang="en-GB" dirty="0"/>
        </a:p>
      </dgm:t>
    </dgm:pt>
    <dgm:pt modelId="{60AC6C80-5308-42B7-8CAB-57F51CF8DC3B}" type="parTrans" cxnId="{5259394A-7032-4B5C-BF39-A634876A54AF}">
      <dgm:prSet/>
      <dgm:spPr/>
      <dgm:t>
        <a:bodyPr/>
        <a:lstStyle/>
        <a:p>
          <a:endParaRPr lang="en-GB"/>
        </a:p>
      </dgm:t>
    </dgm:pt>
    <dgm:pt modelId="{42A4E20B-61DC-4E71-B5AF-2DC120041BD5}" type="sibTrans" cxnId="{5259394A-7032-4B5C-BF39-A634876A54AF}">
      <dgm:prSet/>
      <dgm:spPr/>
      <dgm:t>
        <a:bodyPr/>
        <a:lstStyle/>
        <a:p>
          <a:endParaRPr lang="en-GB"/>
        </a:p>
      </dgm:t>
    </dgm:pt>
    <dgm:pt modelId="{7DD33E70-A5C1-4937-BEC7-5E7B423E1466}">
      <dgm:prSet/>
      <dgm:spPr/>
      <dgm:t>
        <a:bodyPr/>
        <a:lstStyle/>
        <a:p>
          <a:pPr rtl="0"/>
          <a:r>
            <a:rPr lang="en-GB" smtClean="0"/>
            <a:t>Large oxygen cylinder	- 48 </a:t>
          </a:r>
          <a:endParaRPr lang="en-GB"/>
        </a:p>
      </dgm:t>
    </dgm:pt>
    <dgm:pt modelId="{F23E8BF4-6635-4CE1-B4D1-75836B6E3820}" type="parTrans" cxnId="{D6F0057D-13F8-4622-B4BF-12290B61476E}">
      <dgm:prSet/>
      <dgm:spPr/>
      <dgm:t>
        <a:bodyPr/>
        <a:lstStyle/>
        <a:p>
          <a:endParaRPr lang="en-GB"/>
        </a:p>
      </dgm:t>
    </dgm:pt>
    <dgm:pt modelId="{BCA29651-9E81-4C0B-AF05-D9A7DCFBD21B}" type="sibTrans" cxnId="{D6F0057D-13F8-4622-B4BF-12290B61476E}">
      <dgm:prSet/>
      <dgm:spPr/>
      <dgm:t>
        <a:bodyPr/>
        <a:lstStyle/>
        <a:p>
          <a:endParaRPr lang="en-GB"/>
        </a:p>
      </dgm:t>
    </dgm:pt>
    <dgm:pt modelId="{A7355A04-39B4-4540-B677-910EA43D0274}">
      <dgm:prSet/>
      <dgm:spPr/>
      <dgm:t>
        <a:bodyPr/>
        <a:lstStyle/>
        <a:p>
          <a:pPr rtl="0"/>
          <a:r>
            <a:rPr lang="en-GB" smtClean="0"/>
            <a:t>C-PAP machine		- 1</a:t>
          </a:r>
          <a:endParaRPr lang="en-GB"/>
        </a:p>
      </dgm:t>
    </dgm:pt>
    <dgm:pt modelId="{28BD80BD-2CD1-4232-AA94-CC254F351732}" type="parTrans" cxnId="{6CEEB0CF-E32C-4283-9DF0-F7A284838672}">
      <dgm:prSet/>
      <dgm:spPr/>
      <dgm:t>
        <a:bodyPr/>
        <a:lstStyle/>
        <a:p>
          <a:endParaRPr lang="en-GB"/>
        </a:p>
      </dgm:t>
    </dgm:pt>
    <dgm:pt modelId="{4060D010-324E-41D9-8B8F-14000C1D486F}" type="sibTrans" cxnId="{6CEEB0CF-E32C-4283-9DF0-F7A284838672}">
      <dgm:prSet/>
      <dgm:spPr/>
      <dgm:t>
        <a:bodyPr/>
        <a:lstStyle/>
        <a:p>
          <a:endParaRPr lang="en-GB"/>
        </a:p>
      </dgm:t>
    </dgm:pt>
    <dgm:pt modelId="{65BCF39B-F011-41D6-A1FA-228244CE055A}">
      <dgm:prSet/>
      <dgm:spPr/>
      <dgm:t>
        <a:bodyPr/>
        <a:lstStyle/>
        <a:p>
          <a:pPr rtl="0"/>
          <a:r>
            <a:rPr lang="en-GB" dirty="0" smtClean="0"/>
            <a:t>Pick-up </a:t>
          </a:r>
          <a:r>
            <a:rPr lang="en-GB" dirty="0" err="1" smtClean="0"/>
            <a:t>caverd</a:t>
          </a:r>
          <a:r>
            <a:rPr lang="en-GB" dirty="0" smtClean="0"/>
            <a:t> van	- 1</a:t>
          </a:r>
          <a:endParaRPr lang="en-GB" dirty="0"/>
        </a:p>
      </dgm:t>
    </dgm:pt>
    <dgm:pt modelId="{EBBDA495-D9FA-4A07-AB7C-7A8E4E6778F2}" type="parTrans" cxnId="{932C2C0E-B530-4391-958A-0FAA2E10CDA1}">
      <dgm:prSet/>
      <dgm:spPr/>
      <dgm:t>
        <a:bodyPr/>
        <a:lstStyle/>
        <a:p>
          <a:endParaRPr lang="en-GB"/>
        </a:p>
      </dgm:t>
    </dgm:pt>
    <dgm:pt modelId="{7A4617D4-940A-482D-B3B9-37EF771E04AD}" type="sibTrans" cxnId="{932C2C0E-B530-4391-958A-0FAA2E10CDA1}">
      <dgm:prSet/>
      <dgm:spPr/>
      <dgm:t>
        <a:bodyPr/>
        <a:lstStyle/>
        <a:p>
          <a:endParaRPr lang="en-GB"/>
        </a:p>
      </dgm:t>
    </dgm:pt>
    <dgm:pt modelId="{8FEB2AA0-3F4F-423C-AD91-5B9785EE46C4}" type="pres">
      <dgm:prSet presAssocID="{D2121154-DD83-45F1-A0A6-59611F8D3BD3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CE2622F9-F07C-4B23-BC93-E0F03E146D01}" type="pres">
      <dgm:prSet presAssocID="{4FB9751C-3B62-4B33-81E9-C11B694D9446}" presName="parentText" presStyleLbl="node1" presStyleIdx="0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5422F2F0-9A12-494F-BE7C-65E95988AA28}" type="pres">
      <dgm:prSet presAssocID="{443683C2-1AE6-4A81-954A-430C3F3E2BBF}" presName="spacer" presStyleCnt="0"/>
      <dgm:spPr/>
    </dgm:pt>
    <dgm:pt modelId="{336BD10C-9BB5-469F-8BD4-A3494E0C75E9}" type="pres">
      <dgm:prSet presAssocID="{64DC4C56-D733-4353-AC4A-B55F22024702}" presName="parentText" presStyleLbl="node1" presStyleIdx="1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424B8033-A930-4A9F-B82E-3557B060E25F}" type="pres">
      <dgm:prSet presAssocID="{22EE8EEA-169C-4E6C-B0C9-DB93B9C4DD7E}" presName="spacer" presStyleCnt="0"/>
      <dgm:spPr/>
    </dgm:pt>
    <dgm:pt modelId="{A893A7A7-CC28-4404-AD1A-6638F1AA5451}" type="pres">
      <dgm:prSet presAssocID="{E72DC5B8-FF43-4864-9B3D-4D5C1B7EED89}" presName="parentText" presStyleLbl="node1" presStyleIdx="2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E14B8B32-0DAE-4CF1-8EC1-BCC1541F7B61}" type="pres">
      <dgm:prSet presAssocID="{42A4E20B-61DC-4E71-B5AF-2DC120041BD5}" presName="spacer" presStyleCnt="0"/>
      <dgm:spPr/>
    </dgm:pt>
    <dgm:pt modelId="{CD71DDF5-A775-4A4F-B429-2F449530DD1D}" type="pres">
      <dgm:prSet presAssocID="{7DD33E70-A5C1-4937-BEC7-5E7B423E1466}" presName="parentText" presStyleLbl="node1" presStyleIdx="3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D2A511F5-86EF-44B9-976B-BE435FBA14C1}" type="pres">
      <dgm:prSet presAssocID="{BCA29651-9E81-4C0B-AF05-D9A7DCFBD21B}" presName="spacer" presStyleCnt="0"/>
      <dgm:spPr/>
    </dgm:pt>
    <dgm:pt modelId="{DD6FDA14-5D81-4D91-815D-EF411B6DA3BB}" type="pres">
      <dgm:prSet presAssocID="{A7355A04-39B4-4540-B677-910EA43D0274}" presName="parentText" presStyleLbl="node1" presStyleIdx="4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738473C0-9027-4523-83A9-D05A403B38F5}" type="pres">
      <dgm:prSet presAssocID="{4060D010-324E-41D9-8B8F-14000C1D486F}" presName="spacer" presStyleCnt="0"/>
      <dgm:spPr/>
    </dgm:pt>
    <dgm:pt modelId="{6325200D-4401-4F68-8132-B7BA410A12E6}" type="pres">
      <dgm:prSet presAssocID="{65BCF39B-F011-41D6-A1FA-228244CE055A}" presName="parentText" presStyleLbl="node1" presStyleIdx="5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GB"/>
        </a:p>
      </dgm:t>
    </dgm:pt>
  </dgm:ptLst>
  <dgm:cxnLst>
    <dgm:cxn modelId="{932C2C0E-B530-4391-958A-0FAA2E10CDA1}" srcId="{D2121154-DD83-45F1-A0A6-59611F8D3BD3}" destId="{65BCF39B-F011-41D6-A1FA-228244CE055A}" srcOrd="5" destOrd="0" parTransId="{EBBDA495-D9FA-4A07-AB7C-7A8E4E6778F2}" sibTransId="{7A4617D4-940A-482D-B3B9-37EF771E04AD}"/>
    <dgm:cxn modelId="{5259394A-7032-4B5C-BF39-A634876A54AF}" srcId="{D2121154-DD83-45F1-A0A6-59611F8D3BD3}" destId="{E72DC5B8-FF43-4864-9B3D-4D5C1B7EED89}" srcOrd="2" destOrd="0" parTransId="{60AC6C80-5308-42B7-8CAB-57F51CF8DC3B}" sibTransId="{42A4E20B-61DC-4E71-B5AF-2DC120041BD5}"/>
    <dgm:cxn modelId="{D6F0057D-13F8-4622-B4BF-12290B61476E}" srcId="{D2121154-DD83-45F1-A0A6-59611F8D3BD3}" destId="{7DD33E70-A5C1-4937-BEC7-5E7B423E1466}" srcOrd="3" destOrd="0" parTransId="{F23E8BF4-6635-4CE1-B4D1-75836B6E3820}" sibTransId="{BCA29651-9E81-4C0B-AF05-D9A7DCFBD21B}"/>
    <dgm:cxn modelId="{62419439-C95E-4013-B6C7-5500B1C5694B}" srcId="{D2121154-DD83-45F1-A0A6-59611F8D3BD3}" destId="{4FB9751C-3B62-4B33-81E9-C11B694D9446}" srcOrd="0" destOrd="0" parTransId="{9B18A42C-0BA2-41CC-BAE1-B8A7E351EFFF}" sibTransId="{443683C2-1AE6-4A81-954A-430C3F3E2BBF}"/>
    <dgm:cxn modelId="{70957FDF-E2F0-4CD6-B609-744C73881C9A}" type="presOf" srcId="{64DC4C56-D733-4353-AC4A-B55F22024702}" destId="{336BD10C-9BB5-469F-8BD4-A3494E0C75E9}" srcOrd="0" destOrd="0" presId="urn:microsoft.com/office/officeart/2005/8/layout/vList2"/>
    <dgm:cxn modelId="{1C21FFBF-CD23-4AD6-BC05-5B0C85A96AB1}" srcId="{D2121154-DD83-45F1-A0A6-59611F8D3BD3}" destId="{64DC4C56-D733-4353-AC4A-B55F22024702}" srcOrd="1" destOrd="0" parTransId="{94CF4D94-4818-47AB-A823-23F05697EF76}" sibTransId="{22EE8EEA-169C-4E6C-B0C9-DB93B9C4DD7E}"/>
    <dgm:cxn modelId="{12176390-5032-4B2D-948D-98A3D3DDF0E7}" type="presOf" srcId="{7DD33E70-A5C1-4937-BEC7-5E7B423E1466}" destId="{CD71DDF5-A775-4A4F-B429-2F449530DD1D}" srcOrd="0" destOrd="0" presId="urn:microsoft.com/office/officeart/2005/8/layout/vList2"/>
    <dgm:cxn modelId="{6CEEB0CF-E32C-4283-9DF0-F7A284838672}" srcId="{D2121154-DD83-45F1-A0A6-59611F8D3BD3}" destId="{A7355A04-39B4-4540-B677-910EA43D0274}" srcOrd="4" destOrd="0" parTransId="{28BD80BD-2CD1-4232-AA94-CC254F351732}" sibTransId="{4060D010-324E-41D9-8B8F-14000C1D486F}"/>
    <dgm:cxn modelId="{07AB95DA-426D-49AF-B8F0-BB93A51EC17C}" type="presOf" srcId="{A7355A04-39B4-4540-B677-910EA43D0274}" destId="{DD6FDA14-5D81-4D91-815D-EF411B6DA3BB}" srcOrd="0" destOrd="0" presId="urn:microsoft.com/office/officeart/2005/8/layout/vList2"/>
    <dgm:cxn modelId="{C6B70F0D-D991-4F23-B3ED-CA085642F39A}" type="presOf" srcId="{E72DC5B8-FF43-4864-9B3D-4D5C1B7EED89}" destId="{A893A7A7-CC28-4404-AD1A-6638F1AA5451}" srcOrd="0" destOrd="0" presId="urn:microsoft.com/office/officeart/2005/8/layout/vList2"/>
    <dgm:cxn modelId="{A27635C4-06F5-46C3-8571-556DC641687D}" type="presOf" srcId="{D2121154-DD83-45F1-A0A6-59611F8D3BD3}" destId="{8FEB2AA0-3F4F-423C-AD91-5B9785EE46C4}" srcOrd="0" destOrd="0" presId="urn:microsoft.com/office/officeart/2005/8/layout/vList2"/>
    <dgm:cxn modelId="{0990D07C-AA34-45DC-B6B6-F0315F264DE0}" type="presOf" srcId="{65BCF39B-F011-41D6-A1FA-228244CE055A}" destId="{6325200D-4401-4F68-8132-B7BA410A12E6}" srcOrd="0" destOrd="0" presId="urn:microsoft.com/office/officeart/2005/8/layout/vList2"/>
    <dgm:cxn modelId="{373FCE52-73B9-49B0-A601-FC538D901F71}" type="presOf" srcId="{4FB9751C-3B62-4B33-81E9-C11B694D9446}" destId="{CE2622F9-F07C-4B23-BC93-E0F03E146D01}" srcOrd="0" destOrd="0" presId="urn:microsoft.com/office/officeart/2005/8/layout/vList2"/>
    <dgm:cxn modelId="{F99E9DE0-D70D-45AC-8ADF-E35B5106A0C9}" type="presParOf" srcId="{8FEB2AA0-3F4F-423C-AD91-5B9785EE46C4}" destId="{CE2622F9-F07C-4B23-BC93-E0F03E146D01}" srcOrd="0" destOrd="0" presId="urn:microsoft.com/office/officeart/2005/8/layout/vList2"/>
    <dgm:cxn modelId="{3595AB8A-97E4-4E46-8673-7AC717F8D9C6}" type="presParOf" srcId="{8FEB2AA0-3F4F-423C-AD91-5B9785EE46C4}" destId="{5422F2F0-9A12-494F-BE7C-65E95988AA28}" srcOrd="1" destOrd="0" presId="urn:microsoft.com/office/officeart/2005/8/layout/vList2"/>
    <dgm:cxn modelId="{343D90CF-8A07-4BB9-A763-8FE7504F6591}" type="presParOf" srcId="{8FEB2AA0-3F4F-423C-AD91-5B9785EE46C4}" destId="{336BD10C-9BB5-469F-8BD4-A3494E0C75E9}" srcOrd="2" destOrd="0" presId="urn:microsoft.com/office/officeart/2005/8/layout/vList2"/>
    <dgm:cxn modelId="{9B6927FF-1922-4AAA-80CA-883B4E07FE2A}" type="presParOf" srcId="{8FEB2AA0-3F4F-423C-AD91-5B9785EE46C4}" destId="{424B8033-A930-4A9F-B82E-3557B060E25F}" srcOrd="3" destOrd="0" presId="urn:microsoft.com/office/officeart/2005/8/layout/vList2"/>
    <dgm:cxn modelId="{D46AFF8A-B758-4642-B835-B05F0CC0D3D6}" type="presParOf" srcId="{8FEB2AA0-3F4F-423C-AD91-5B9785EE46C4}" destId="{A893A7A7-CC28-4404-AD1A-6638F1AA5451}" srcOrd="4" destOrd="0" presId="urn:microsoft.com/office/officeart/2005/8/layout/vList2"/>
    <dgm:cxn modelId="{23A2C807-2BB5-4B0F-B85A-F1E8C6C3E4DE}" type="presParOf" srcId="{8FEB2AA0-3F4F-423C-AD91-5B9785EE46C4}" destId="{E14B8B32-0DAE-4CF1-8EC1-BCC1541F7B61}" srcOrd="5" destOrd="0" presId="urn:microsoft.com/office/officeart/2005/8/layout/vList2"/>
    <dgm:cxn modelId="{3F3F7C00-935B-4A6B-A8C6-1793C881F6B2}" type="presParOf" srcId="{8FEB2AA0-3F4F-423C-AD91-5B9785EE46C4}" destId="{CD71DDF5-A775-4A4F-B429-2F449530DD1D}" srcOrd="6" destOrd="0" presId="urn:microsoft.com/office/officeart/2005/8/layout/vList2"/>
    <dgm:cxn modelId="{DAB80BA0-9BF6-4273-9026-48DB621BFE55}" type="presParOf" srcId="{8FEB2AA0-3F4F-423C-AD91-5B9785EE46C4}" destId="{D2A511F5-86EF-44B9-976B-BE435FBA14C1}" srcOrd="7" destOrd="0" presId="urn:microsoft.com/office/officeart/2005/8/layout/vList2"/>
    <dgm:cxn modelId="{EBF75664-93DB-42CF-91E2-FE7C25F65C86}" type="presParOf" srcId="{8FEB2AA0-3F4F-423C-AD91-5B9785EE46C4}" destId="{DD6FDA14-5D81-4D91-815D-EF411B6DA3BB}" srcOrd="8" destOrd="0" presId="urn:microsoft.com/office/officeart/2005/8/layout/vList2"/>
    <dgm:cxn modelId="{8FFCFBC3-2EAE-4501-8559-9F6F3FF7AEF1}" type="presParOf" srcId="{8FEB2AA0-3F4F-423C-AD91-5B9785EE46C4}" destId="{738473C0-9027-4523-83A9-D05A403B38F5}" srcOrd="9" destOrd="0" presId="urn:microsoft.com/office/officeart/2005/8/layout/vList2"/>
    <dgm:cxn modelId="{C11046FF-2215-4CCC-A511-C995391826B5}" type="presParOf" srcId="{8FEB2AA0-3F4F-423C-AD91-5B9785EE46C4}" destId="{6325200D-4401-4F68-8132-B7BA410A12E6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5ED80E6-6809-4689-8355-F701AC12805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GB"/>
        </a:p>
      </dgm:t>
    </dgm:pt>
    <dgm:pt modelId="{6ADC0028-4587-4C12-AA1F-B3FE2A794B1F}">
      <dgm:prSet/>
      <dgm:spPr/>
      <dgm:t>
        <a:bodyPr/>
        <a:lstStyle/>
        <a:p>
          <a:pPr rtl="0"/>
          <a:r>
            <a:rPr lang="en-GB" smtClean="0"/>
            <a:t>Prime minister’s relief fund.</a:t>
          </a:r>
          <a:endParaRPr lang="en-GB"/>
        </a:p>
      </dgm:t>
    </dgm:pt>
    <dgm:pt modelId="{E19D67D5-7399-49ED-A7B2-9C91EE799442}" type="parTrans" cxnId="{4B3FD876-976C-4D1F-9A0A-DC02CC469A5D}">
      <dgm:prSet/>
      <dgm:spPr/>
      <dgm:t>
        <a:bodyPr/>
        <a:lstStyle/>
        <a:p>
          <a:endParaRPr lang="en-GB"/>
        </a:p>
      </dgm:t>
    </dgm:pt>
    <dgm:pt modelId="{82C1AC1D-23BE-437F-9111-5EAFCF5A8265}" type="sibTrans" cxnId="{4B3FD876-976C-4D1F-9A0A-DC02CC469A5D}">
      <dgm:prSet/>
      <dgm:spPr/>
      <dgm:t>
        <a:bodyPr/>
        <a:lstStyle/>
        <a:p>
          <a:endParaRPr lang="en-GB"/>
        </a:p>
      </dgm:t>
    </dgm:pt>
    <dgm:pt modelId="{C7F08E02-3120-4CA8-A96A-519ADF4B41D8}">
      <dgm:prSet/>
      <dgm:spPr/>
      <dgm:t>
        <a:bodyPr/>
        <a:lstStyle/>
        <a:p>
          <a:pPr rtl="0"/>
          <a:r>
            <a:rPr lang="en-GB" smtClean="0"/>
            <a:t>MP, Jhenaidah-2.</a:t>
          </a:r>
          <a:endParaRPr lang="en-GB"/>
        </a:p>
      </dgm:t>
    </dgm:pt>
    <dgm:pt modelId="{BB701834-38DE-4D50-9138-BE36B0AF13DF}" type="parTrans" cxnId="{C683CF76-4F5A-4BD5-B3CF-99F9F4583627}">
      <dgm:prSet/>
      <dgm:spPr/>
      <dgm:t>
        <a:bodyPr/>
        <a:lstStyle/>
        <a:p>
          <a:endParaRPr lang="en-GB"/>
        </a:p>
      </dgm:t>
    </dgm:pt>
    <dgm:pt modelId="{0E880F49-9502-4518-9AFB-CD8A2E5B7765}" type="sibTrans" cxnId="{C683CF76-4F5A-4BD5-B3CF-99F9F4583627}">
      <dgm:prSet/>
      <dgm:spPr/>
      <dgm:t>
        <a:bodyPr/>
        <a:lstStyle/>
        <a:p>
          <a:endParaRPr lang="en-GB"/>
        </a:p>
      </dgm:t>
    </dgm:pt>
    <dgm:pt modelId="{5AD6B90F-9083-408E-A794-2991B86BCF5D}">
      <dgm:prSet/>
      <dgm:spPr/>
      <dgm:t>
        <a:bodyPr/>
        <a:lstStyle/>
        <a:p>
          <a:pPr rtl="0"/>
          <a:r>
            <a:rPr lang="en-GB" dirty="0" smtClean="0"/>
            <a:t>Mayor, </a:t>
          </a:r>
          <a:r>
            <a:rPr lang="en-GB" dirty="0" err="1" smtClean="0"/>
            <a:t>Jhenaidah</a:t>
          </a:r>
          <a:r>
            <a:rPr lang="en-GB" dirty="0" smtClean="0"/>
            <a:t> </a:t>
          </a:r>
          <a:r>
            <a:rPr lang="en-GB" dirty="0" err="1" smtClean="0"/>
            <a:t>pourosova</a:t>
          </a:r>
          <a:r>
            <a:rPr lang="en-GB" dirty="0" smtClean="0"/>
            <a:t>.</a:t>
          </a:r>
          <a:endParaRPr lang="en-GB" dirty="0"/>
        </a:p>
      </dgm:t>
    </dgm:pt>
    <dgm:pt modelId="{577E4D54-DCA5-4A0B-9949-71EA6EB100C7}" type="parTrans" cxnId="{9869E879-9D20-4E3A-88E6-F824C3755487}">
      <dgm:prSet/>
      <dgm:spPr/>
      <dgm:t>
        <a:bodyPr/>
        <a:lstStyle/>
        <a:p>
          <a:endParaRPr lang="en-GB"/>
        </a:p>
      </dgm:t>
    </dgm:pt>
    <dgm:pt modelId="{7A0C1DEE-6724-4C3E-AE5C-E612B1393D4E}" type="sibTrans" cxnId="{9869E879-9D20-4E3A-88E6-F824C3755487}">
      <dgm:prSet/>
      <dgm:spPr/>
      <dgm:t>
        <a:bodyPr/>
        <a:lstStyle/>
        <a:p>
          <a:endParaRPr lang="en-GB"/>
        </a:p>
      </dgm:t>
    </dgm:pt>
    <dgm:pt modelId="{3FEE24C6-CE85-45B8-850E-D4EE6860F9D3}">
      <dgm:prSet/>
      <dgm:spPr/>
      <dgm:t>
        <a:bodyPr/>
        <a:lstStyle/>
        <a:p>
          <a:pPr rtl="0"/>
          <a:r>
            <a:rPr lang="en-GB" smtClean="0"/>
            <a:t>Jaheedi Foundation.</a:t>
          </a:r>
          <a:endParaRPr lang="en-GB"/>
        </a:p>
      </dgm:t>
    </dgm:pt>
    <dgm:pt modelId="{7C0C76C5-C115-4C2D-95CE-FA5D79831362}" type="parTrans" cxnId="{2E4F4598-2F9B-4133-A67F-97FF67AC1EBE}">
      <dgm:prSet/>
      <dgm:spPr/>
      <dgm:t>
        <a:bodyPr/>
        <a:lstStyle/>
        <a:p>
          <a:endParaRPr lang="en-GB"/>
        </a:p>
      </dgm:t>
    </dgm:pt>
    <dgm:pt modelId="{29A33AD3-BD5D-4782-B1F2-0C3D712012DE}" type="sibTrans" cxnId="{2E4F4598-2F9B-4133-A67F-97FF67AC1EBE}">
      <dgm:prSet/>
      <dgm:spPr/>
      <dgm:t>
        <a:bodyPr/>
        <a:lstStyle/>
        <a:p>
          <a:endParaRPr lang="en-GB"/>
        </a:p>
      </dgm:t>
    </dgm:pt>
    <dgm:pt modelId="{26F90953-42C6-43BF-A499-FBB77A723DD6}">
      <dgm:prSet/>
      <dgm:spPr/>
      <dgm:t>
        <a:bodyPr/>
        <a:lstStyle/>
        <a:p>
          <a:pPr rtl="0"/>
          <a:r>
            <a:rPr lang="en-GB" smtClean="0"/>
            <a:t>Navana group.</a:t>
          </a:r>
          <a:endParaRPr lang="en-GB"/>
        </a:p>
      </dgm:t>
    </dgm:pt>
    <dgm:pt modelId="{CC2B5356-6A02-4CC1-9B7F-99E5A93503D3}" type="parTrans" cxnId="{3B23A490-8A96-483B-ACD5-66CD6701BE45}">
      <dgm:prSet/>
      <dgm:spPr/>
      <dgm:t>
        <a:bodyPr/>
        <a:lstStyle/>
        <a:p>
          <a:endParaRPr lang="en-GB"/>
        </a:p>
      </dgm:t>
    </dgm:pt>
    <dgm:pt modelId="{50511D2C-A017-43E8-879B-2BED343D6967}" type="sibTrans" cxnId="{3B23A490-8A96-483B-ACD5-66CD6701BE45}">
      <dgm:prSet/>
      <dgm:spPr/>
      <dgm:t>
        <a:bodyPr/>
        <a:lstStyle/>
        <a:p>
          <a:endParaRPr lang="en-GB"/>
        </a:p>
      </dgm:t>
    </dgm:pt>
    <dgm:pt modelId="{8DEF001F-9526-425D-A304-364FD2A32D09}" type="pres">
      <dgm:prSet presAssocID="{E5ED80E6-6809-4689-8355-F701AC128059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F322EB3B-4393-4F62-9896-6CAC1D8C7C9F}" type="pres">
      <dgm:prSet presAssocID="{6ADC0028-4587-4C12-AA1F-B3FE2A794B1F}" presName="parentText" presStyleLbl="node1" presStyleIdx="0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60E5320E-11AB-43A7-9D24-5AB88107839E}" type="pres">
      <dgm:prSet presAssocID="{82C1AC1D-23BE-437F-9111-5EAFCF5A8265}" presName="spacer" presStyleCnt="0"/>
      <dgm:spPr/>
    </dgm:pt>
    <dgm:pt modelId="{4957D60D-9A48-45C1-BAC6-F3D37092E3B1}" type="pres">
      <dgm:prSet presAssocID="{C7F08E02-3120-4CA8-A96A-519ADF4B41D8}" presName="parentText" presStyleLbl="node1" presStyleIdx="1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16280F85-D5B7-45C3-A4D2-BA70B77BB121}" type="pres">
      <dgm:prSet presAssocID="{0E880F49-9502-4518-9AFB-CD8A2E5B7765}" presName="spacer" presStyleCnt="0"/>
      <dgm:spPr/>
    </dgm:pt>
    <dgm:pt modelId="{648756C2-CBEA-4503-B679-343ADD8DA048}" type="pres">
      <dgm:prSet presAssocID="{5AD6B90F-9083-408E-A794-2991B86BCF5D}" presName="parentText" presStyleLbl="node1" presStyleIdx="2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9B1360F5-7A90-451C-918B-9DE1897A5330}" type="pres">
      <dgm:prSet presAssocID="{7A0C1DEE-6724-4C3E-AE5C-E612B1393D4E}" presName="spacer" presStyleCnt="0"/>
      <dgm:spPr/>
    </dgm:pt>
    <dgm:pt modelId="{67D1A4F1-4413-4A6E-B170-3E78BE79127C}" type="pres">
      <dgm:prSet presAssocID="{3FEE24C6-CE85-45B8-850E-D4EE6860F9D3}" presName="parentText" presStyleLbl="node1" presStyleIdx="3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C3780C74-FC6D-47EF-8E2B-33A4236B1781}" type="pres">
      <dgm:prSet presAssocID="{29A33AD3-BD5D-4782-B1F2-0C3D712012DE}" presName="spacer" presStyleCnt="0"/>
      <dgm:spPr/>
    </dgm:pt>
    <dgm:pt modelId="{CA20AB46-4D56-4B7A-B508-C9C3AA679FFD}" type="pres">
      <dgm:prSet presAssocID="{26F90953-42C6-43BF-A499-FBB77A723DD6}" presName="parentText" presStyleLbl="node1" presStyleIdx="4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en-GB"/>
        </a:p>
      </dgm:t>
    </dgm:pt>
  </dgm:ptLst>
  <dgm:cxnLst>
    <dgm:cxn modelId="{3B23A490-8A96-483B-ACD5-66CD6701BE45}" srcId="{E5ED80E6-6809-4689-8355-F701AC128059}" destId="{26F90953-42C6-43BF-A499-FBB77A723DD6}" srcOrd="4" destOrd="0" parTransId="{CC2B5356-6A02-4CC1-9B7F-99E5A93503D3}" sibTransId="{50511D2C-A017-43E8-879B-2BED343D6967}"/>
    <dgm:cxn modelId="{43608C05-F76C-4BC4-808F-58E3AAC2A141}" type="presOf" srcId="{5AD6B90F-9083-408E-A794-2991B86BCF5D}" destId="{648756C2-CBEA-4503-B679-343ADD8DA048}" srcOrd="0" destOrd="0" presId="urn:microsoft.com/office/officeart/2005/8/layout/vList2"/>
    <dgm:cxn modelId="{2E4F4598-2F9B-4133-A67F-97FF67AC1EBE}" srcId="{E5ED80E6-6809-4689-8355-F701AC128059}" destId="{3FEE24C6-CE85-45B8-850E-D4EE6860F9D3}" srcOrd="3" destOrd="0" parTransId="{7C0C76C5-C115-4C2D-95CE-FA5D79831362}" sibTransId="{29A33AD3-BD5D-4782-B1F2-0C3D712012DE}"/>
    <dgm:cxn modelId="{65A7431F-9DA0-46BB-9168-2F44F4CC767C}" type="presOf" srcId="{26F90953-42C6-43BF-A499-FBB77A723DD6}" destId="{CA20AB46-4D56-4B7A-B508-C9C3AA679FFD}" srcOrd="0" destOrd="0" presId="urn:microsoft.com/office/officeart/2005/8/layout/vList2"/>
    <dgm:cxn modelId="{845972D5-FF1F-464E-9CD9-9A302F6CEB2D}" type="presOf" srcId="{C7F08E02-3120-4CA8-A96A-519ADF4B41D8}" destId="{4957D60D-9A48-45C1-BAC6-F3D37092E3B1}" srcOrd="0" destOrd="0" presId="urn:microsoft.com/office/officeart/2005/8/layout/vList2"/>
    <dgm:cxn modelId="{C683CF76-4F5A-4BD5-B3CF-99F9F4583627}" srcId="{E5ED80E6-6809-4689-8355-F701AC128059}" destId="{C7F08E02-3120-4CA8-A96A-519ADF4B41D8}" srcOrd="1" destOrd="0" parTransId="{BB701834-38DE-4D50-9138-BE36B0AF13DF}" sibTransId="{0E880F49-9502-4518-9AFB-CD8A2E5B7765}"/>
    <dgm:cxn modelId="{9869E879-9D20-4E3A-88E6-F824C3755487}" srcId="{E5ED80E6-6809-4689-8355-F701AC128059}" destId="{5AD6B90F-9083-408E-A794-2991B86BCF5D}" srcOrd="2" destOrd="0" parTransId="{577E4D54-DCA5-4A0B-9949-71EA6EB100C7}" sibTransId="{7A0C1DEE-6724-4C3E-AE5C-E612B1393D4E}"/>
    <dgm:cxn modelId="{8DBFDD37-C88B-46AA-9C34-4215E6B03565}" type="presOf" srcId="{3FEE24C6-CE85-45B8-850E-D4EE6860F9D3}" destId="{67D1A4F1-4413-4A6E-B170-3E78BE79127C}" srcOrd="0" destOrd="0" presId="urn:microsoft.com/office/officeart/2005/8/layout/vList2"/>
    <dgm:cxn modelId="{4B3FD876-976C-4D1F-9A0A-DC02CC469A5D}" srcId="{E5ED80E6-6809-4689-8355-F701AC128059}" destId="{6ADC0028-4587-4C12-AA1F-B3FE2A794B1F}" srcOrd="0" destOrd="0" parTransId="{E19D67D5-7399-49ED-A7B2-9C91EE799442}" sibTransId="{82C1AC1D-23BE-437F-9111-5EAFCF5A8265}"/>
    <dgm:cxn modelId="{15AB3E72-8E1A-42C7-A158-AA43911A699E}" type="presOf" srcId="{E5ED80E6-6809-4689-8355-F701AC128059}" destId="{8DEF001F-9526-425D-A304-364FD2A32D09}" srcOrd="0" destOrd="0" presId="urn:microsoft.com/office/officeart/2005/8/layout/vList2"/>
    <dgm:cxn modelId="{EBA1F962-DE1F-4CA0-A704-5B8D17731EBB}" type="presOf" srcId="{6ADC0028-4587-4C12-AA1F-B3FE2A794B1F}" destId="{F322EB3B-4393-4F62-9896-6CAC1D8C7C9F}" srcOrd="0" destOrd="0" presId="urn:microsoft.com/office/officeart/2005/8/layout/vList2"/>
    <dgm:cxn modelId="{CF0C3DDD-B73F-4E55-AE3B-54E16F4843CC}" type="presParOf" srcId="{8DEF001F-9526-425D-A304-364FD2A32D09}" destId="{F322EB3B-4393-4F62-9896-6CAC1D8C7C9F}" srcOrd="0" destOrd="0" presId="urn:microsoft.com/office/officeart/2005/8/layout/vList2"/>
    <dgm:cxn modelId="{23C31C32-BF97-4DED-901F-860C129C4E38}" type="presParOf" srcId="{8DEF001F-9526-425D-A304-364FD2A32D09}" destId="{60E5320E-11AB-43A7-9D24-5AB88107839E}" srcOrd="1" destOrd="0" presId="urn:microsoft.com/office/officeart/2005/8/layout/vList2"/>
    <dgm:cxn modelId="{791F724C-155C-4F3E-8D23-923B3F40FA4C}" type="presParOf" srcId="{8DEF001F-9526-425D-A304-364FD2A32D09}" destId="{4957D60D-9A48-45C1-BAC6-F3D37092E3B1}" srcOrd="2" destOrd="0" presId="urn:microsoft.com/office/officeart/2005/8/layout/vList2"/>
    <dgm:cxn modelId="{1CE2B9C1-5EE7-4513-A2CA-F920C8759861}" type="presParOf" srcId="{8DEF001F-9526-425D-A304-364FD2A32D09}" destId="{16280F85-D5B7-45C3-A4D2-BA70B77BB121}" srcOrd="3" destOrd="0" presId="urn:microsoft.com/office/officeart/2005/8/layout/vList2"/>
    <dgm:cxn modelId="{DC8916F9-5C36-43D2-AA49-0EE4DFF0A206}" type="presParOf" srcId="{8DEF001F-9526-425D-A304-364FD2A32D09}" destId="{648756C2-CBEA-4503-B679-343ADD8DA048}" srcOrd="4" destOrd="0" presId="urn:microsoft.com/office/officeart/2005/8/layout/vList2"/>
    <dgm:cxn modelId="{BDBAD711-9103-449F-8553-8C9B56046EED}" type="presParOf" srcId="{8DEF001F-9526-425D-A304-364FD2A32D09}" destId="{9B1360F5-7A90-451C-918B-9DE1897A5330}" srcOrd="5" destOrd="0" presId="urn:microsoft.com/office/officeart/2005/8/layout/vList2"/>
    <dgm:cxn modelId="{3ABA51A7-8EB2-40D3-8E03-5DBA386ACE52}" type="presParOf" srcId="{8DEF001F-9526-425D-A304-364FD2A32D09}" destId="{67D1A4F1-4413-4A6E-B170-3E78BE79127C}" srcOrd="6" destOrd="0" presId="urn:microsoft.com/office/officeart/2005/8/layout/vList2"/>
    <dgm:cxn modelId="{A19C42B1-0EFB-4C8E-8EFA-02F8E9572AB2}" type="presParOf" srcId="{8DEF001F-9526-425D-A304-364FD2A32D09}" destId="{C3780C74-FC6D-47EF-8E2B-33A4236B1781}" srcOrd="7" destOrd="0" presId="urn:microsoft.com/office/officeart/2005/8/layout/vList2"/>
    <dgm:cxn modelId="{98A7B389-529E-400D-BD18-D3F90A22E2A0}" type="presParOf" srcId="{8DEF001F-9526-425D-A304-364FD2A32D09}" destId="{CA20AB46-4D56-4B7A-B508-C9C3AA679FFD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316F7FE-2300-4A17-A15B-6A7F7491AD5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F2E5693D-0EFD-458E-98CF-DCA495A21184}">
      <dgm:prSet/>
      <dgm:spPr>
        <a:solidFill>
          <a:schemeClr val="accent1">
            <a:lumMod val="50000"/>
          </a:schemeClr>
        </a:solidFill>
      </dgm:spPr>
      <dgm:t>
        <a:bodyPr/>
        <a:lstStyle/>
        <a:p>
          <a:pPr rtl="0"/>
          <a:r>
            <a:rPr lang="en-GB" dirty="0" smtClean="0"/>
            <a:t>Value – Nearly 52 Lac taka </a:t>
          </a:r>
          <a:endParaRPr lang="en-GB" dirty="0"/>
        </a:p>
      </dgm:t>
    </dgm:pt>
    <dgm:pt modelId="{204FC4FA-25E8-412D-8193-19DEFA885865}" type="parTrans" cxnId="{86008C12-7CFE-4652-B54F-3578BBD24D01}">
      <dgm:prSet/>
      <dgm:spPr/>
      <dgm:t>
        <a:bodyPr/>
        <a:lstStyle/>
        <a:p>
          <a:endParaRPr lang="en-GB"/>
        </a:p>
      </dgm:t>
    </dgm:pt>
    <dgm:pt modelId="{C9FCD6DB-3844-458E-97C2-E98846834BC0}" type="sibTrans" cxnId="{86008C12-7CFE-4652-B54F-3578BBD24D01}">
      <dgm:prSet/>
      <dgm:spPr/>
      <dgm:t>
        <a:bodyPr/>
        <a:lstStyle/>
        <a:p>
          <a:endParaRPr lang="en-GB"/>
        </a:p>
      </dgm:t>
    </dgm:pt>
    <dgm:pt modelId="{5EF4972E-4643-43E2-B3AB-113B9B2E4FEA}" type="pres">
      <dgm:prSet presAssocID="{3316F7FE-2300-4A17-A15B-6A7F7491AD5C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EDA508CE-5441-40F4-BF43-22D7E4368061}" type="pres">
      <dgm:prSet presAssocID="{F2E5693D-0EFD-458E-98CF-DCA495A21184}" presName="parentText" presStyleLbl="node1" presStyleIdx="0" presStyleCnt="1" custLinFactNeighborY="8174">
        <dgm:presLayoutVars>
          <dgm:chMax val="0"/>
          <dgm:bulletEnabled val="1"/>
        </dgm:presLayoutVars>
      </dgm:prSet>
      <dgm:spPr/>
      <dgm:t>
        <a:bodyPr/>
        <a:lstStyle/>
        <a:p>
          <a:endParaRPr lang="en-GB"/>
        </a:p>
      </dgm:t>
    </dgm:pt>
  </dgm:ptLst>
  <dgm:cxnLst>
    <dgm:cxn modelId="{B5A0FD4C-DE4D-4A6B-B0E5-52F7990ED734}" type="presOf" srcId="{3316F7FE-2300-4A17-A15B-6A7F7491AD5C}" destId="{5EF4972E-4643-43E2-B3AB-113B9B2E4FEA}" srcOrd="0" destOrd="0" presId="urn:microsoft.com/office/officeart/2005/8/layout/vList2"/>
    <dgm:cxn modelId="{A1EC6AA3-8D11-4E09-A469-A60F78FCD857}" type="presOf" srcId="{F2E5693D-0EFD-458E-98CF-DCA495A21184}" destId="{EDA508CE-5441-40F4-BF43-22D7E4368061}" srcOrd="0" destOrd="0" presId="urn:microsoft.com/office/officeart/2005/8/layout/vList2"/>
    <dgm:cxn modelId="{86008C12-7CFE-4652-B54F-3578BBD24D01}" srcId="{3316F7FE-2300-4A17-A15B-6A7F7491AD5C}" destId="{F2E5693D-0EFD-458E-98CF-DCA495A21184}" srcOrd="0" destOrd="0" parTransId="{204FC4FA-25E8-412D-8193-19DEFA885865}" sibTransId="{C9FCD6DB-3844-458E-97C2-E98846834BC0}"/>
    <dgm:cxn modelId="{224BBAE5-C656-472F-BABC-76B7509ECAB4}" type="presParOf" srcId="{5EF4972E-4643-43E2-B3AB-113B9B2E4FEA}" destId="{EDA508CE-5441-40F4-BF43-22D7E4368061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2622F9-F07C-4B23-BC93-E0F03E146D01}">
      <dsp:nvSpPr>
        <dsp:cNvPr id="0" name=""/>
        <dsp:cNvSpPr/>
      </dsp:nvSpPr>
      <dsp:spPr>
        <a:xfrm>
          <a:off x="0" y="18047"/>
          <a:ext cx="4419600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700" kern="1200" dirty="0" smtClean="0"/>
            <a:t>Central oxygen system 	- 1</a:t>
          </a:r>
          <a:endParaRPr lang="en-GB" sz="1700" kern="1200" dirty="0"/>
        </a:p>
      </dsp:txBody>
      <dsp:txXfrm>
        <a:off x="19904" y="37951"/>
        <a:ext cx="4379792" cy="367937"/>
      </dsp:txXfrm>
    </dsp:sp>
    <dsp:sp modelId="{336BD10C-9BB5-469F-8BD4-A3494E0C75E9}">
      <dsp:nvSpPr>
        <dsp:cNvPr id="0" name=""/>
        <dsp:cNvSpPr/>
      </dsp:nvSpPr>
      <dsp:spPr>
        <a:xfrm>
          <a:off x="0" y="474752"/>
          <a:ext cx="4419600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700" kern="1200" dirty="0" smtClean="0"/>
            <a:t>High flow nasal cannula	- 5</a:t>
          </a:r>
          <a:endParaRPr lang="en-GB" sz="1700" kern="1200" dirty="0"/>
        </a:p>
      </dsp:txBody>
      <dsp:txXfrm>
        <a:off x="19904" y="494656"/>
        <a:ext cx="4379792" cy="367937"/>
      </dsp:txXfrm>
    </dsp:sp>
    <dsp:sp modelId="{A893A7A7-CC28-4404-AD1A-6638F1AA5451}">
      <dsp:nvSpPr>
        <dsp:cNvPr id="0" name=""/>
        <dsp:cNvSpPr/>
      </dsp:nvSpPr>
      <dsp:spPr>
        <a:xfrm>
          <a:off x="0" y="931457"/>
          <a:ext cx="4419600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700" kern="1200" dirty="0" smtClean="0"/>
            <a:t>Oxygen concentrator	- 3</a:t>
          </a:r>
          <a:endParaRPr lang="en-GB" sz="1700" kern="1200" dirty="0"/>
        </a:p>
      </dsp:txBody>
      <dsp:txXfrm>
        <a:off x="19904" y="951361"/>
        <a:ext cx="4379792" cy="367937"/>
      </dsp:txXfrm>
    </dsp:sp>
    <dsp:sp modelId="{CD71DDF5-A775-4A4F-B429-2F449530DD1D}">
      <dsp:nvSpPr>
        <dsp:cNvPr id="0" name=""/>
        <dsp:cNvSpPr/>
      </dsp:nvSpPr>
      <dsp:spPr>
        <a:xfrm>
          <a:off x="0" y="1388163"/>
          <a:ext cx="4419600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700" kern="1200" smtClean="0"/>
            <a:t>Large oxygen cylinder	- 48 </a:t>
          </a:r>
          <a:endParaRPr lang="en-GB" sz="1700" kern="1200"/>
        </a:p>
      </dsp:txBody>
      <dsp:txXfrm>
        <a:off x="19904" y="1408067"/>
        <a:ext cx="4379792" cy="367937"/>
      </dsp:txXfrm>
    </dsp:sp>
    <dsp:sp modelId="{DD6FDA14-5D81-4D91-815D-EF411B6DA3BB}">
      <dsp:nvSpPr>
        <dsp:cNvPr id="0" name=""/>
        <dsp:cNvSpPr/>
      </dsp:nvSpPr>
      <dsp:spPr>
        <a:xfrm>
          <a:off x="0" y="1844868"/>
          <a:ext cx="4419600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700" kern="1200" smtClean="0"/>
            <a:t>C-PAP machine		- 1</a:t>
          </a:r>
          <a:endParaRPr lang="en-GB" sz="1700" kern="1200"/>
        </a:p>
      </dsp:txBody>
      <dsp:txXfrm>
        <a:off x="19904" y="1864772"/>
        <a:ext cx="4379792" cy="367937"/>
      </dsp:txXfrm>
    </dsp:sp>
    <dsp:sp modelId="{6325200D-4401-4F68-8132-B7BA410A12E6}">
      <dsp:nvSpPr>
        <dsp:cNvPr id="0" name=""/>
        <dsp:cNvSpPr/>
      </dsp:nvSpPr>
      <dsp:spPr>
        <a:xfrm>
          <a:off x="0" y="2301573"/>
          <a:ext cx="4419600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700" kern="1200" dirty="0" smtClean="0"/>
            <a:t>Pick-up </a:t>
          </a:r>
          <a:r>
            <a:rPr lang="en-GB" sz="1700" kern="1200" dirty="0" err="1" smtClean="0"/>
            <a:t>caverd</a:t>
          </a:r>
          <a:r>
            <a:rPr lang="en-GB" sz="1700" kern="1200" dirty="0" smtClean="0"/>
            <a:t> van	- 1</a:t>
          </a:r>
          <a:endParaRPr lang="en-GB" sz="1700" kern="1200" dirty="0"/>
        </a:p>
      </dsp:txBody>
      <dsp:txXfrm>
        <a:off x="19904" y="2321477"/>
        <a:ext cx="4379792" cy="36793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22EB3B-4393-4F62-9896-6CAC1D8C7C9F}">
      <dsp:nvSpPr>
        <dsp:cNvPr id="0" name=""/>
        <dsp:cNvSpPr/>
      </dsp:nvSpPr>
      <dsp:spPr>
        <a:xfrm>
          <a:off x="0" y="7762"/>
          <a:ext cx="4267199" cy="3597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500" kern="1200" smtClean="0"/>
            <a:t>Prime minister’s relief fund.</a:t>
          </a:r>
          <a:endParaRPr lang="en-GB" sz="1500" kern="1200"/>
        </a:p>
      </dsp:txBody>
      <dsp:txXfrm>
        <a:off x="17563" y="25325"/>
        <a:ext cx="4232073" cy="324648"/>
      </dsp:txXfrm>
    </dsp:sp>
    <dsp:sp modelId="{4957D60D-9A48-45C1-BAC6-F3D37092E3B1}">
      <dsp:nvSpPr>
        <dsp:cNvPr id="0" name=""/>
        <dsp:cNvSpPr/>
      </dsp:nvSpPr>
      <dsp:spPr>
        <a:xfrm>
          <a:off x="0" y="410737"/>
          <a:ext cx="4267199" cy="3597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500" kern="1200" smtClean="0"/>
            <a:t>MP, Jhenaidah-2.</a:t>
          </a:r>
          <a:endParaRPr lang="en-GB" sz="1500" kern="1200"/>
        </a:p>
      </dsp:txBody>
      <dsp:txXfrm>
        <a:off x="17563" y="428300"/>
        <a:ext cx="4232073" cy="324648"/>
      </dsp:txXfrm>
    </dsp:sp>
    <dsp:sp modelId="{648756C2-CBEA-4503-B679-343ADD8DA048}">
      <dsp:nvSpPr>
        <dsp:cNvPr id="0" name=""/>
        <dsp:cNvSpPr/>
      </dsp:nvSpPr>
      <dsp:spPr>
        <a:xfrm>
          <a:off x="0" y="813712"/>
          <a:ext cx="4267199" cy="3597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500" kern="1200" dirty="0" smtClean="0"/>
            <a:t>Mayor, </a:t>
          </a:r>
          <a:r>
            <a:rPr lang="en-GB" sz="1500" kern="1200" dirty="0" err="1" smtClean="0"/>
            <a:t>Jhenaidah</a:t>
          </a:r>
          <a:r>
            <a:rPr lang="en-GB" sz="1500" kern="1200" dirty="0" smtClean="0"/>
            <a:t> </a:t>
          </a:r>
          <a:r>
            <a:rPr lang="en-GB" sz="1500" kern="1200" dirty="0" err="1" smtClean="0"/>
            <a:t>pourosova</a:t>
          </a:r>
          <a:r>
            <a:rPr lang="en-GB" sz="1500" kern="1200" dirty="0" smtClean="0"/>
            <a:t>.</a:t>
          </a:r>
          <a:endParaRPr lang="en-GB" sz="1500" kern="1200" dirty="0"/>
        </a:p>
      </dsp:txBody>
      <dsp:txXfrm>
        <a:off x="17563" y="831275"/>
        <a:ext cx="4232073" cy="324648"/>
      </dsp:txXfrm>
    </dsp:sp>
    <dsp:sp modelId="{67D1A4F1-4413-4A6E-B170-3E78BE79127C}">
      <dsp:nvSpPr>
        <dsp:cNvPr id="0" name=""/>
        <dsp:cNvSpPr/>
      </dsp:nvSpPr>
      <dsp:spPr>
        <a:xfrm>
          <a:off x="0" y="1216687"/>
          <a:ext cx="4267199" cy="3597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500" kern="1200" smtClean="0"/>
            <a:t>Jaheedi Foundation.</a:t>
          </a:r>
          <a:endParaRPr lang="en-GB" sz="1500" kern="1200"/>
        </a:p>
      </dsp:txBody>
      <dsp:txXfrm>
        <a:off x="17563" y="1234250"/>
        <a:ext cx="4232073" cy="324648"/>
      </dsp:txXfrm>
    </dsp:sp>
    <dsp:sp modelId="{CA20AB46-4D56-4B7A-B508-C9C3AA679FFD}">
      <dsp:nvSpPr>
        <dsp:cNvPr id="0" name=""/>
        <dsp:cNvSpPr/>
      </dsp:nvSpPr>
      <dsp:spPr>
        <a:xfrm>
          <a:off x="0" y="1619662"/>
          <a:ext cx="4267199" cy="3597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500" kern="1200" smtClean="0"/>
            <a:t>Navana group.</a:t>
          </a:r>
          <a:endParaRPr lang="en-GB" sz="1500" kern="1200"/>
        </a:p>
      </dsp:txBody>
      <dsp:txXfrm>
        <a:off x="17563" y="1637225"/>
        <a:ext cx="4232073" cy="32464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A508CE-5441-40F4-BF43-22D7E4368061}">
      <dsp:nvSpPr>
        <dsp:cNvPr id="0" name=""/>
        <dsp:cNvSpPr/>
      </dsp:nvSpPr>
      <dsp:spPr>
        <a:xfrm>
          <a:off x="0" y="254619"/>
          <a:ext cx="3962400" cy="647595"/>
        </a:xfrm>
        <a:prstGeom prst="roundRect">
          <a:avLst/>
        </a:prstGeom>
        <a:solidFill>
          <a:schemeClr val="accent1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lvl="0" algn="l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700" kern="1200" dirty="0" smtClean="0"/>
            <a:t>Value – Nearly 52 Lac taka </a:t>
          </a:r>
          <a:endParaRPr lang="en-GB" sz="2700" kern="1200" dirty="0"/>
        </a:p>
      </dsp:txBody>
      <dsp:txXfrm>
        <a:off x="31613" y="286232"/>
        <a:ext cx="3899174" cy="58436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CB19E7A0-DBE5-4599-AA41-7EF8BE594351}" type="datetimeFigureOut">
              <a:rPr lang="en-US"/>
              <a:pPr>
                <a:defRPr/>
              </a:pPr>
              <a:t>2/13/2022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5B36F5E-8ADC-4553-AFDF-0075743DECD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31381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 smtClean="0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66DE5D76-C7F9-4E73-8FF9-746B2A4AD456}" type="slidenum">
              <a:rPr lang="en-US" smtClean="0"/>
              <a:pPr/>
              <a:t>2</a:t>
            </a:fld>
            <a:endParaRPr lang="en-US" dirty="0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E1CFFC81-D30A-48BE-844E-591ABC2E2AC9}" type="slidenum">
              <a:rPr lang="en-US" smtClean="0">
                <a:solidFill>
                  <a:srgbClr val="000000"/>
                </a:solidFill>
              </a:rPr>
              <a:pPr/>
              <a:t>3</a:t>
            </a:fld>
            <a:endParaRPr lang="en-US" dirty="0" smtClean="0">
              <a:solidFill>
                <a:srgbClr val="000000"/>
              </a:solidFill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795245E5-9100-4885-8E70-993AA1DC8825}" type="slidenum">
              <a:rPr lang="en-US" smtClean="0">
                <a:solidFill>
                  <a:srgbClr val="000000"/>
                </a:solidFill>
              </a:rPr>
              <a:pPr/>
              <a:t>4</a:t>
            </a:fld>
            <a:endParaRPr lang="en-US" dirty="0" smtClean="0">
              <a:solidFill>
                <a:srgbClr val="000000"/>
              </a:solidFill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700088"/>
            <a:ext cx="4645025" cy="34829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16425"/>
            <a:ext cx="5603875" cy="4181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2688" y="698500"/>
            <a:ext cx="4645025" cy="3484563"/>
          </a:xfrm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1983" y="4415177"/>
            <a:ext cx="5606435" cy="418297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57066" indent="-291179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64717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30604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96491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D4DEE82C-D1DE-4D1D-8583-EB02E6F591B4}" type="slidenum">
              <a:rPr lang="en-US" smtClean="0"/>
              <a:pPr eaLnBrk="1" hangingPunct="1"/>
              <a:t>7</a:t>
            </a:fld>
            <a:endParaRPr lang="en-US" smtClean="0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2688" y="696913"/>
            <a:ext cx="4645025" cy="3484562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2664" y="4415790"/>
            <a:ext cx="5605074" cy="418338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06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90005B86-5533-402D-BA49-C1AC2C357B9B}" type="slidenum">
              <a:rPr lang="en-US" smtClean="0">
                <a:solidFill>
                  <a:srgbClr val="000000"/>
                </a:solidFill>
              </a:rPr>
              <a:pPr/>
              <a:t>19</a:t>
            </a:fld>
            <a:endParaRPr lang="en-US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B36F5E-8ADC-4553-AFDF-0075743DECD4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4204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5F89CEDC-CC36-4240-A8E3-18CC66A39448}" type="slidenum">
              <a:rPr lang="en-US" smtClean="0"/>
              <a:pPr/>
              <a:t>38</a:t>
            </a:fld>
            <a:endParaRPr lang="en-US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 txBox="1">
            <a:spLocks noGrp="1" noChangeArrowheads="1"/>
          </p:cNvSpPr>
          <p:nvPr/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eaLnBrk="1" hangingPunct="1"/>
            <a:fld id="{38240DB7-E1FF-45BD-8373-B35F370C8A8C}" type="slidenum">
              <a:rPr lang="en-US" sz="1200">
                <a:solidFill>
                  <a:srgbClr val="000000"/>
                </a:solidFill>
              </a:rPr>
              <a:pPr algn="r" eaLnBrk="1" hangingPunct="1"/>
              <a:t>39</a:t>
            </a:fld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57066" indent="-291179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64717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30604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96491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86761E05-EE1F-4A5F-966C-4E23ADB021F5}" type="slidenum">
              <a:rPr lang="en-US" smtClean="0">
                <a:solidFill>
                  <a:srgbClr val="000000"/>
                </a:solidFill>
              </a:rPr>
              <a:pPr eaLnBrk="1" hangingPunct="1"/>
              <a:t>45</a:t>
            </a:fld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2688" y="696913"/>
            <a:ext cx="4645025" cy="3484562"/>
          </a:xfrm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2664" y="4415790"/>
            <a:ext cx="5605074" cy="418338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C528EF-78D8-49A5-809B-2599B7DD834B}" type="datetimeFigureOut">
              <a:rPr lang="en-US" altLang="en-US"/>
              <a:pPr>
                <a:defRPr/>
              </a:pPr>
              <a:t>2/13/2022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EFA2A5-5979-48A6-9408-4607D4934BE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60225600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C57163-4E2A-442A-AF52-8DCCF3E5F898}" type="datetimeFigureOut">
              <a:rPr lang="en-US" altLang="en-US"/>
              <a:pPr>
                <a:defRPr/>
              </a:pPr>
              <a:t>2/13/2022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14CFB5-2CC1-45EB-A3F2-C919B0329890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02701646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CADFD7-462D-4DC3-B03B-C216ECE8D47D}" type="datetimeFigureOut">
              <a:rPr lang="en-US" altLang="en-US"/>
              <a:pPr>
                <a:defRPr/>
              </a:pPr>
              <a:t>2/13/2022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1B0A13-5CDD-4B02-825E-D5B70CB11E2D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97357455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CFF109-4CB5-4AAD-95FA-C87EB3E04025}" type="datetimeFigureOut">
              <a:rPr lang="en-US" altLang="en-US"/>
              <a:pPr>
                <a:defRPr/>
              </a:pPr>
              <a:t>2/13/2022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13CE82-7117-4891-B558-D1CF2158FB35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33524804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BA6665-6F14-4A40-AA68-DF2D49F6DD20}" type="datetimeFigureOut">
              <a:rPr lang="en-US" altLang="en-US"/>
              <a:pPr>
                <a:defRPr/>
              </a:pPr>
              <a:t>2/13/2022</a:t>
            </a:fld>
            <a:endParaRPr lang="en-US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2395EA-16E2-485C-BE10-C0C30288CF78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04422511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CFB527-45A3-4F1F-BC31-990A27D35CF4}" type="datetimeFigureOut">
              <a:rPr lang="en-US" altLang="en-US"/>
              <a:pPr>
                <a:defRPr/>
              </a:pPr>
              <a:t>2/13/2022</a:t>
            </a:fld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252998-14DA-4294-9809-0671B108F665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92215992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20C454-2AF4-4F56-B134-15CC2881F322}" type="datetimeFigureOut">
              <a:rPr lang="en-US" altLang="en-US"/>
              <a:pPr>
                <a:defRPr/>
              </a:pPr>
              <a:t>2/13/2022</a:t>
            </a:fld>
            <a:endParaRPr lang="en-US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1FBE90-576A-469F-BB2C-57A27D47CF3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52141982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80C9C6-69CB-45B7-9979-6C3E38187D0A}" type="datetimeFigureOut">
              <a:rPr lang="en-US" altLang="en-US"/>
              <a:pPr>
                <a:defRPr/>
              </a:pPr>
              <a:t>2/13/2022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BE9712-EA71-450B-AE72-6EC24D46A791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01818746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E0AD57-2794-4A43-BC3A-6D6DEE633501}" type="datetimeFigureOut">
              <a:rPr lang="en-US" altLang="en-US"/>
              <a:pPr>
                <a:defRPr/>
              </a:pPr>
              <a:t>2/13/2022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B9D0AA-CDC8-41BE-AFF7-7A9CB8C401D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71350678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9D4D3F-EDC6-440C-ABD2-54996654AEC4}" type="datetimeFigureOut">
              <a:rPr lang="en-US" altLang="en-US"/>
              <a:pPr>
                <a:defRPr/>
              </a:pPr>
              <a:t>2/13/2022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C68EAF-25D6-47A5-AF16-8E40A707229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8620595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5DA01-3A8D-4832-86F7-58BF2CA1F9C1}" type="datetimeFigureOut">
              <a:rPr lang="en-US" altLang="en-US"/>
              <a:pPr>
                <a:defRPr/>
              </a:pPr>
              <a:t>2/13/2022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6CA87E-87C4-451A-AA13-2FDE2706BB27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35080306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EB2CD5-9D40-4DFB-8E5D-C6BF1A5B2BF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569369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12BA31-4ADC-4EA2-9C08-0E0505B50D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5313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audio" Target="../media/audio1.wav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FDB412B-A1DC-4656-9B89-0FCB88F4F467}" type="datetimeFigureOut">
              <a:rPr lang="ja-JP" altLang="en-US"/>
              <a:pPr>
                <a:defRPr/>
              </a:pPr>
              <a:t>2022/2/13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B12BA74-9B39-49B3-8E8B-88E185DDBA06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07" r:id="rId1"/>
    <p:sldLayoutId id="2147484008" r:id="rId2"/>
    <p:sldLayoutId id="2147484009" r:id="rId3"/>
    <p:sldLayoutId id="2147484010" r:id="rId4"/>
    <p:sldLayoutId id="2147484011" r:id="rId5"/>
    <p:sldLayoutId id="2147484012" r:id="rId6"/>
    <p:sldLayoutId id="2147484013" r:id="rId7"/>
    <p:sldLayoutId id="2147484014" r:id="rId8"/>
    <p:sldLayoutId id="2147484015" r:id="rId9"/>
    <p:sldLayoutId id="2147484016" r:id="rId10"/>
    <p:sldLayoutId id="2147484017" r:id="rId11"/>
    <p:sldLayoutId id="2147484019" r:id="rId12"/>
    <p:sldLayoutId id="2147484020" r:id="rId13"/>
  </p:sldLayoutIdLst>
  <p:transition spd="slow">
    <p:zoom dir="in"/>
    <p:sndAc>
      <p:stSnd>
        <p:snd r:embed="rId15" name="chimes.wav"/>
      </p:stSnd>
    </p:sndAc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1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9.emf"/><Relationship Id="rId4" Type="http://schemas.openxmlformats.org/officeDocument/2006/relationships/oleObject" Target="../embeddings/oleObject2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7" Type="http://schemas.openxmlformats.org/officeDocument/2006/relationships/image" Target="../media/image14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1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7.jpeg"/><Relationship Id="rId4" Type="http://schemas.openxmlformats.org/officeDocument/2006/relationships/chart" Target="../charts/char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audio" Target="../media/audio5.wav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audio" Target="../media/audio6.wav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jpe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0.jpeg"/><Relationship Id="rId5" Type="http://schemas.openxmlformats.org/officeDocument/2006/relationships/image" Target="../media/image29.jpeg"/><Relationship Id="rId4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jpeg"/><Relationship Id="rId7" Type="http://schemas.openxmlformats.org/officeDocument/2006/relationships/image" Target="../media/image36.pn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9.jpeg"/><Relationship Id="rId5" Type="http://schemas.openxmlformats.org/officeDocument/2006/relationships/image" Target="../media/image48.jpeg"/><Relationship Id="rId4" Type="http://schemas.openxmlformats.org/officeDocument/2006/relationships/image" Target="../media/image47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jpeg"/><Relationship Id="rId5" Type="http://schemas.openxmlformats.org/officeDocument/2006/relationships/image" Target="../media/image53.jpeg"/><Relationship Id="rId4" Type="http://schemas.openxmlformats.org/officeDocument/2006/relationships/image" Target="../media/image52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png"/><Relationship Id="rId5" Type="http://schemas.openxmlformats.org/officeDocument/2006/relationships/image" Target="../media/image57.jpeg"/><Relationship Id="rId4" Type="http://schemas.openxmlformats.org/officeDocument/2006/relationships/image" Target="../media/image56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2.jpeg"/><Relationship Id="rId5" Type="http://schemas.openxmlformats.org/officeDocument/2006/relationships/image" Target="../media/image61.jpeg"/><Relationship Id="rId4" Type="http://schemas.openxmlformats.org/officeDocument/2006/relationships/image" Target="../media/image60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6.jpeg"/><Relationship Id="rId5" Type="http://schemas.openxmlformats.org/officeDocument/2006/relationships/image" Target="../media/image65.jpeg"/><Relationship Id="rId4" Type="http://schemas.openxmlformats.org/officeDocument/2006/relationships/image" Target="../media/image64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jpeg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72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76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2.jpeg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6.jpeg"/><Relationship Id="rId5" Type="http://schemas.openxmlformats.org/officeDocument/2006/relationships/image" Target="../media/image85.png"/><Relationship Id="rId4" Type="http://schemas.openxmlformats.org/officeDocument/2006/relationships/image" Target="../media/image84.jpe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0.jpeg"/><Relationship Id="rId5" Type="http://schemas.openxmlformats.org/officeDocument/2006/relationships/image" Target="../media/image89.jpeg"/><Relationship Id="rId4" Type="http://schemas.openxmlformats.org/officeDocument/2006/relationships/image" Target="../media/image88.jpe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13" Type="http://schemas.openxmlformats.org/officeDocument/2006/relationships/diagramData" Target="../diagrams/data3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17" Type="http://schemas.microsoft.com/office/2007/relationships/diagramDrawing" Target="../diagrams/drawing3.xml"/><Relationship Id="rId2" Type="http://schemas.openxmlformats.org/officeDocument/2006/relationships/audio" Target="../media/audio1.wav"/><Relationship Id="rId16" Type="http://schemas.openxmlformats.org/officeDocument/2006/relationships/diagramColors" Target="../diagrams/colors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5" Type="http://schemas.openxmlformats.org/officeDocument/2006/relationships/diagramQuickStyle" Target="../diagrams/quickStyle1.xml"/><Relationship Id="rId15" Type="http://schemas.openxmlformats.org/officeDocument/2006/relationships/diagramQuickStyle" Target="../diagrams/quickStyle3.xml"/><Relationship Id="rId10" Type="http://schemas.openxmlformats.org/officeDocument/2006/relationships/diagramQuickStyle" Target="../diagrams/quickStyle2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Relationship Id="rId14" Type="http://schemas.openxmlformats.org/officeDocument/2006/relationships/diagramLayout" Target="../diagrams/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4.png"/><Relationship Id="rId5" Type="http://schemas.openxmlformats.org/officeDocument/2006/relationships/image" Target="../media/image93.png"/><Relationship Id="rId4" Type="http://schemas.openxmlformats.org/officeDocument/2006/relationships/image" Target="../media/image9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audio" Target="../media/audio7.wav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5.jpe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4.png"/><Relationship Id="rId5" Type="http://schemas.openxmlformats.org/officeDocument/2006/relationships/image" Target="../media/image96.png"/><Relationship Id="rId4" Type="http://schemas.openxmlformats.org/officeDocument/2006/relationships/image" Target="../media/image9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0.png"/><Relationship Id="rId5" Type="http://schemas.openxmlformats.org/officeDocument/2006/relationships/image" Target="../media/image99.png"/><Relationship Id="rId4" Type="http://schemas.openxmlformats.org/officeDocument/2006/relationships/image" Target="../media/image98.jpe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ChangeArrowheads="1"/>
          </p:cNvSpPr>
          <p:nvPr/>
        </p:nvSpPr>
        <p:spPr bwMode="auto">
          <a:xfrm>
            <a:off x="76200" y="381000"/>
            <a:ext cx="9144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endParaRPr lang="en-US" sz="4000" b="1" dirty="0">
              <a:solidFill>
                <a:srgbClr val="CC00FF"/>
              </a:solidFill>
            </a:endParaRPr>
          </a:p>
        </p:txBody>
      </p:sp>
      <p:sp>
        <p:nvSpPr>
          <p:cNvPr id="27651" name="TextBox 2"/>
          <p:cNvSpPr txBox="1">
            <a:spLocks noChangeArrowheads="1"/>
          </p:cNvSpPr>
          <p:nvPr/>
        </p:nvSpPr>
        <p:spPr bwMode="auto">
          <a:xfrm>
            <a:off x="304800" y="302525"/>
            <a:ext cx="8686800" cy="1569660"/>
          </a:xfrm>
          <a:prstGeom prst="rect">
            <a:avLst/>
          </a:prstGeom>
          <a:ln/>
          <a:ex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 sz="3200" b="1" dirty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Chowgacha UHC </a:t>
            </a:r>
            <a:r>
              <a:rPr lang="en-US" sz="3200" b="1" dirty="0" smtClean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&amp; </a:t>
            </a:r>
            <a:r>
              <a:rPr lang="en-US" sz="3200" b="1" dirty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Jhenaidah Sadar Hospital </a:t>
            </a:r>
            <a:r>
              <a:rPr lang="en-US" sz="3200" b="1" dirty="0" smtClean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model development </a:t>
            </a:r>
            <a:r>
              <a:rPr lang="en-US" sz="3200" b="1" dirty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by local initiatives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267200" y="5491163"/>
            <a:ext cx="4572000" cy="1138773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Dr. Md.Emdadul Haque</a:t>
            </a:r>
            <a:r>
              <a:rPr lang="en-US" sz="16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 </a:t>
            </a:r>
          </a:p>
          <a:p>
            <a:pPr algn="ctr">
              <a:defRPr/>
            </a:pPr>
            <a:r>
              <a:rPr lang="en-US" sz="2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 Senior National Consultant </a:t>
            </a:r>
          </a:p>
          <a:p>
            <a:pPr algn="ctr">
              <a:defRPr/>
            </a:pPr>
            <a:r>
              <a:rPr lang="en-US" sz="200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C-J Model </a:t>
            </a:r>
            <a:r>
              <a:rPr lang="en-US" sz="200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R</a:t>
            </a:r>
            <a:r>
              <a:rPr lang="en-US" sz="200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eplication </a:t>
            </a: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C</a:t>
            </a:r>
            <a:r>
              <a:rPr lang="en-US" sz="200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ommittee</a:t>
            </a:r>
            <a:endParaRPr lang="en-US" sz="2000" dirty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  <a:cs typeface="Arial" charset="0"/>
            </a:endParaRPr>
          </a:p>
        </p:txBody>
      </p:sp>
      <p:pic>
        <p:nvPicPr>
          <p:cNvPr id="27653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2246313"/>
            <a:ext cx="3886200" cy="30114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54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5" y="2217738"/>
            <a:ext cx="4048125" cy="30114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1386951"/>
      </p:ext>
    </p:extLst>
  </p:cSld>
  <p:clrMapOvr>
    <a:masterClrMapping/>
  </p:clrMapOvr>
  <p:transition spd="slow">
    <p:zoom dir="in"/>
    <p:sndAc>
      <p:stSnd>
        <p:snd r:embed="rId3" name="chimes.wav"/>
      </p:stSnd>
    </p:sndAc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85" name="Group 8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1041865"/>
              </p:ext>
            </p:extLst>
          </p:nvPr>
        </p:nvGraphicFramePr>
        <p:xfrm>
          <a:off x="144439" y="1295400"/>
          <a:ext cx="8823562" cy="4639717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588254"/>
                <a:gridCol w="1777358"/>
                <a:gridCol w="1295400"/>
                <a:gridCol w="1295400"/>
                <a:gridCol w="1371600"/>
                <a:gridCol w="1295400"/>
                <a:gridCol w="1200150"/>
              </a:tblGrid>
              <a:tr h="9239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SL  NO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Country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Per capita health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Expenditure per year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 by  Govt.   ($)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Doctors per 10000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Population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Nurse per 10000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Population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Beds per 10000 population</a:t>
                      </a: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Out of pocket expenditure</a:t>
                      </a:r>
                    </a:p>
                  </a:txBody>
                  <a:tcPr marL="68580" marR="68580" marT="0" marB="0" anchor="ctr" horzOverflow="overflow"/>
                </a:tc>
              </a:tr>
              <a:tr h="4514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01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USA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10246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29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119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29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11.08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02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UK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3860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28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82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25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 smtClean="0">
                          <a:effectLst/>
                        </a:rPr>
                        <a:t>14.79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03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Malaysia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384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19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36.67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Sri Lanka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159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10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21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41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38.43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India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69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7.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17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5.3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>
                          <a:effectLst/>
                        </a:rPr>
                        <a:t>65.06</a:t>
                      </a:r>
                      <a:endParaRPr lang="en-GB" sz="3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Nepal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48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7.5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31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-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>
                          <a:effectLst/>
                        </a:rPr>
                        <a:t>60.41</a:t>
                      </a:r>
                      <a:endParaRPr lang="en-GB" sz="3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41848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07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Pakistan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9.8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7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8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66.49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Bangladesh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37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5.3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8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67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28675" name="Rectangle 1"/>
          <p:cNvSpPr>
            <a:spLocks noChangeArrowheads="1"/>
          </p:cNvSpPr>
          <p:nvPr/>
        </p:nvSpPr>
        <p:spPr bwMode="auto">
          <a:xfrm>
            <a:off x="6553200" y="6426170"/>
            <a:ext cx="2419350" cy="40011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r" eaLnBrk="1" hangingPunct="1"/>
            <a:r>
              <a:rPr lang="en-US" sz="2000" dirty="0" smtClean="0">
                <a:solidFill>
                  <a:srgbClr val="000000"/>
                </a:solidFill>
                <a:latin typeface="Andalus"/>
                <a:ea typeface="Andalus"/>
                <a:cs typeface="Andalus"/>
              </a:rPr>
              <a:t> World Bank 2018</a:t>
            </a:r>
            <a:endParaRPr lang="en-US" sz="2000" dirty="0">
              <a:solidFill>
                <a:srgbClr val="000000"/>
              </a:solidFill>
              <a:latin typeface="Andalus"/>
              <a:ea typeface="Andalus"/>
              <a:cs typeface="Andalus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52400" y="37531"/>
            <a:ext cx="8820150" cy="990600"/>
          </a:xfrm>
          <a:prstGeom prst="rect">
            <a:avLst/>
          </a:prstGeom>
          <a:solidFill>
            <a:srgbClr val="0070C0"/>
          </a:solidFill>
          <a:ln w="38100">
            <a:solidFill>
              <a:schemeClr val="accent4">
                <a:lumMod val="40000"/>
                <a:lumOff val="60000"/>
              </a:schemeClr>
            </a:solidFill>
            <a:miter lim="800000"/>
            <a:headEnd/>
            <a:tailEnd/>
          </a:ln>
          <a:extLst/>
        </p:spPr>
        <p:txBody>
          <a:bodyPr/>
          <a:lstStyle/>
          <a:p>
            <a:pPr algn="ctr" eaLnBrk="1" hangingPunct="1">
              <a:defRPr/>
            </a:pPr>
            <a:r>
              <a:rPr lang="en-US" sz="28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Comparative data of health facilities of different country of the world</a:t>
            </a:r>
            <a:r>
              <a:rPr lang="en-US" sz="24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 </a:t>
            </a:r>
            <a:endParaRPr lang="en-US" sz="2400" dirty="0">
              <a:solidFill>
                <a:schemeClr val="bg1"/>
              </a:solidFill>
              <a:latin typeface="Andalus" pitchFamily="18" charset="-78"/>
              <a:cs typeface="Andalus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325358495"/>
      </p:ext>
    </p:extLst>
  </p:cSld>
  <p:clrMapOvr>
    <a:masterClrMapping/>
  </p:clrMapOvr>
  <p:transition spd="slow">
    <p:zoom dir="in"/>
    <p:sndAc>
      <p:stSnd>
        <p:snd r:embed="rId3" name="chimes.wav"/>
      </p:stSnd>
    </p:sndAc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9" name="Picture 12" descr="Picture 23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1963" y="2209800"/>
            <a:ext cx="5735637" cy="3529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33" name="Rectangle 13"/>
          <p:cNvSpPr>
            <a:spLocks noChangeArrowheads="1"/>
          </p:cNvSpPr>
          <p:nvPr/>
        </p:nvSpPr>
        <p:spPr bwMode="auto">
          <a:xfrm>
            <a:off x="382588" y="838200"/>
            <a:ext cx="8432800" cy="1077913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3200" b="1" dirty="0">
                <a:solidFill>
                  <a:schemeClr val="bg1"/>
                </a:solidFill>
              </a:rPr>
              <a:t>50 BEDED UPAZILA  HEALTH  COMPLEX </a:t>
            </a:r>
            <a:br>
              <a:rPr lang="en-US" sz="3200" b="1" dirty="0">
                <a:solidFill>
                  <a:schemeClr val="bg1"/>
                </a:solidFill>
              </a:rPr>
            </a:br>
            <a:r>
              <a:rPr lang="en-US" sz="3200" b="1" dirty="0">
                <a:solidFill>
                  <a:schemeClr val="bg1"/>
                </a:solidFill>
              </a:rPr>
              <a:t>Chowgacha, Jessore</a:t>
            </a:r>
            <a:r>
              <a:rPr 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93678102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8" y="0"/>
            <a:ext cx="4308475" cy="327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3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6925" y="0"/>
            <a:ext cx="4572000" cy="327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4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8" y="3505200"/>
            <a:ext cx="4308475" cy="336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5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6925" y="3505200"/>
            <a:ext cx="4578350" cy="336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54053537"/>
      </p:ext>
    </p:extLst>
  </p:cSld>
  <p:clrMapOvr>
    <a:masterClrMapping/>
  </p:clrMapOvr>
  <p:transition spd="slow">
    <p:zoom dir="in"/>
    <p:sndAc>
      <p:stSnd>
        <p:snd r:embed="rId3" name="chimes.wav"/>
      </p:stSnd>
    </p:sndAc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accent1"/>
          </a:solidFill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Upazila Health  Complex</a:t>
            </a:r>
            <a:br>
              <a:rPr lang="en-US" sz="40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r>
              <a:rPr lang="en-US" sz="28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CHOWGACHA , JESSORE.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endParaRPr lang="en-US" sz="2800" dirty="0" smtClean="0"/>
          </a:p>
          <a:p>
            <a:pPr algn="ctr" eaLnBrk="1" hangingPunct="1">
              <a:buFontTx/>
              <a:buNone/>
            </a:pPr>
            <a:endParaRPr lang="en-US" sz="2800" dirty="0" smtClean="0"/>
          </a:p>
        </p:txBody>
      </p:sp>
      <p:graphicFrame>
        <p:nvGraphicFramePr>
          <p:cNvPr id="31748" name="Object 29"/>
          <p:cNvGraphicFramePr>
            <a:graphicFrameLocks noGrp="1" noChangeAspect="1"/>
          </p:cNvGraphicFramePr>
          <p:nvPr>
            <p:ph sz="half" idx="2"/>
          </p:nvPr>
        </p:nvGraphicFramePr>
        <p:xfrm>
          <a:off x="914400" y="2211388"/>
          <a:ext cx="7694613" cy="438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6" name="Chart" r:id="rId4" imgW="4667402" imgH="2657551" progId="Excel.Chart.8">
                  <p:embed/>
                </p:oleObj>
              </mc:Choice>
              <mc:Fallback>
                <p:oleObj name="Chart" r:id="rId4" imgW="4667402" imgH="2657551" progId="Excel.Chart.8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211388"/>
                        <a:ext cx="7694613" cy="438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49" name="Rectangle 5"/>
          <p:cNvSpPr>
            <a:spLocks noChangeArrowheads="1"/>
          </p:cNvSpPr>
          <p:nvPr/>
        </p:nvSpPr>
        <p:spPr bwMode="auto">
          <a:xfrm>
            <a:off x="457200" y="1600200"/>
            <a:ext cx="8153400" cy="609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2400" dirty="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EOC Activities : 1997- 2011 (Hospital Delivery )</a:t>
            </a:r>
          </a:p>
        </p:txBody>
      </p:sp>
    </p:spTree>
    <p:extLst>
      <p:ext uri="{BB962C8B-B14F-4D97-AF65-F5344CB8AC3E}">
        <p14:creationId xmlns:p14="http://schemas.microsoft.com/office/powerpoint/2010/main" val="288839910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accent1"/>
          </a:solidFill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sz="3200" b="1" smtClean="0"/>
              <a:t>Upazila Health  Complex</a:t>
            </a:r>
            <a:br>
              <a:rPr lang="en-US" sz="3200" b="1" smtClean="0"/>
            </a:br>
            <a:r>
              <a:rPr lang="en-US" sz="2000" b="1" smtClean="0"/>
              <a:t>CHOWGACHA , JESSORE.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>
              <a:buFontTx/>
              <a:buNone/>
            </a:pPr>
            <a:endParaRPr lang="en-US" sz="2800" smtClean="0"/>
          </a:p>
          <a:p>
            <a:pPr algn="ctr">
              <a:buFontTx/>
              <a:buNone/>
            </a:pPr>
            <a:endParaRPr lang="en-US" sz="2800" smtClean="0"/>
          </a:p>
        </p:txBody>
      </p:sp>
      <p:sp>
        <p:nvSpPr>
          <p:cNvPr id="84996" name="Rectangle 4"/>
          <p:cNvSpPr>
            <a:spLocks noChangeArrowheads="1"/>
          </p:cNvSpPr>
          <p:nvPr/>
        </p:nvSpPr>
        <p:spPr bwMode="auto">
          <a:xfrm>
            <a:off x="457200" y="1600200"/>
            <a:ext cx="8153400" cy="609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 eaLnBrk="0" hangingPunct="0">
              <a:defRPr/>
            </a:pPr>
            <a:r>
              <a:rPr lang="en-US" sz="2400" dirty="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EOC Activities : 2000 - 2011 (Caesarian Section)</a:t>
            </a:r>
          </a:p>
        </p:txBody>
      </p:sp>
      <p:graphicFrame>
        <p:nvGraphicFramePr>
          <p:cNvPr id="13317" name="Object 105"/>
          <p:cNvGraphicFramePr>
            <a:graphicFrameLocks noGrp="1" noChangeAspect="1"/>
          </p:cNvGraphicFramePr>
          <p:nvPr>
            <p:ph sz="half" idx="2"/>
          </p:nvPr>
        </p:nvGraphicFramePr>
        <p:xfrm>
          <a:off x="1447800" y="2438400"/>
          <a:ext cx="6858000" cy="3906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0" name="Chart" r:id="rId4" imgW="4667402" imgH="2657551" progId="Excel.Chart.8">
                  <p:embed/>
                </p:oleObj>
              </mc:Choice>
              <mc:Fallback>
                <p:oleObj name="Chart" r:id="rId4" imgW="4667402" imgH="2657551" progId="Excel.Char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2438400"/>
                        <a:ext cx="6858000" cy="3906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2332701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accent1"/>
          </a:solidFill>
        </p:spPr>
        <p:txBody>
          <a:bodyPr/>
          <a:lstStyle/>
          <a:p>
            <a:pPr eaLnBrk="1" hangingPunct="1"/>
            <a:r>
              <a:rPr lang="en-US" sz="3600" b="1" smtClean="0"/>
              <a:t>Upazila Health  Complex</a:t>
            </a:r>
            <a:br>
              <a:rPr lang="en-US" sz="3600" b="1" smtClean="0"/>
            </a:br>
            <a:r>
              <a:rPr lang="en-US" sz="2800" b="1" smtClean="0"/>
              <a:t>CHOWGACHA , JESSORE.</a:t>
            </a:r>
          </a:p>
        </p:txBody>
      </p:sp>
      <p:sp>
        <p:nvSpPr>
          <p:cNvPr id="129027" name="Rectangle 3"/>
          <p:cNvSpPr>
            <a:spLocks noChangeArrowheads="1"/>
          </p:cNvSpPr>
          <p:nvPr/>
        </p:nvSpPr>
        <p:spPr bwMode="auto">
          <a:xfrm>
            <a:off x="457200" y="1524000"/>
            <a:ext cx="8153400" cy="6604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240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Comparative Data of Delivery of best performing EOC center of Khulna Division in 2011</a:t>
            </a:r>
          </a:p>
        </p:txBody>
      </p:sp>
      <p:graphicFrame>
        <p:nvGraphicFramePr>
          <p:cNvPr id="20216" name="Group 76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2017030"/>
              </p:ext>
            </p:extLst>
          </p:nvPr>
        </p:nvGraphicFramePr>
        <p:xfrm>
          <a:off x="533400" y="2362200"/>
          <a:ext cx="8153400" cy="3513107"/>
        </p:xfrm>
        <a:graphic>
          <a:graphicData uri="http://schemas.openxmlformats.org/drawingml/2006/table">
            <a:tbl>
              <a:tblPr/>
              <a:tblGrid>
                <a:gridCol w="660400"/>
                <a:gridCol w="2336800"/>
                <a:gridCol w="1117600"/>
                <a:gridCol w="1054100"/>
                <a:gridCol w="1041400"/>
                <a:gridCol w="952500"/>
                <a:gridCol w="990600"/>
              </a:tblGrid>
              <a:tr h="9681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SL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No</a:t>
                      </a:r>
                      <a:endParaRPr kumimoji="0" lang="en-US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Name of institute</a:t>
                      </a:r>
                      <a:endParaRPr kumimoji="0" 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NVD</a:t>
                      </a:r>
                      <a:endParaRPr kumimoji="0" 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Vacuum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Del.</a:t>
                      </a:r>
                      <a:endParaRPr kumimoji="0" 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V.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Breech</a:t>
                      </a:r>
                      <a:endParaRPr kumimoji="0" 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C.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Section</a:t>
                      </a:r>
                      <a:endParaRPr kumimoji="0" 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Total</a:t>
                      </a:r>
                      <a:endParaRPr kumimoji="0" 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094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01.</a:t>
                      </a:r>
                      <a:endParaRPr kumimoji="0" 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Chowgacha UHC</a:t>
                      </a:r>
                      <a:endParaRPr kumimoji="0" 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3346</a:t>
                      </a:r>
                      <a:endParaRPr kumimoji="0" 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34</a:t>
                      </a:r>
                      <a:endParaRPr kumimoji="0" 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26</a:t>
                      </a:r>
                      <a:endParaRPr kumimoji="0" 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1007</a:t>
                      </a:r>
                      <a:endParaRPr kumimoji="0" 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4413</a:t>
                      </a:r>
                      <a:endParaRPr kumimoji="0" 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094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02.</a:t>
                      </a:r>
                      <a:endParaRPr kumimoji="0" 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Ad-din Hospital Jessore.</a:t>
                      </a:r>
                      <a:endParaRPr kumimoji="0" 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1124</a:t>
                      </a:r>
                      <a:endParaRPr kumimoji="0" 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1864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3492</a:t>
                      </a:r>
                      <a:endParaRPr kumimoji="0" 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9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03.</a:t>
                      </a:r>
                      <a:endParaRPr kumimoji="0" 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Khulna Medical College Hospital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1581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58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18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1356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3013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2286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04.</a:t>
                      </a:r>
                      <a:endParaRPr kumimoji="0" 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250 bed Hospital, Jessore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1327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kumimoji="0" 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25</a:t>
                      </a:r>
                      <a:endParaRPr kumimoji="0" 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1498</a:t>
                      </a:r>
                      <a:endParaRPr kumimoji="0" 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2852</a:t>
                      </a:r>
                      <a:endParaRPr kumimoji="0" 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094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05.</a:t>
                      </a:r>
                      <a:endParaRPr kumimoji="0" 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250 bed Hospital, Kustia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1728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34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915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2677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196200"/>
      </p:ext>
    </p:extLst>
  </p:cSld>
  <p:clrMapOvr>
    <a:masterClrMapping/>
  </p:clrMapOvr>
  <p:transition spd="slow">
    <p:zoom dir="in"/>
    <p:sndAc>
      <p:stSnd>
        <p:snd r:embed="rId3" name="chimes.wav"/>
      </p:stSnd>
    </p:sndAc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57200" y="1905000"/>
            <a:ext cx="8229600" cy="449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325562"/>
          </a:xfrm>
          <a:solidFill>
            <a:srgbClr val="0070C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b="1" dirty="0" smtClean="0">
                <a:solidFill>
                  <a:schemeClr val="bg1"/>
                </a:solidFill>
              </a:rPr>
              <a:t>Upazilla Health  Complex</a:t>
            </a:r>
            <a:br>
              <a:rPr lang="en-US" sz="5400" b="1" dirty="0" smtClean="0">
                <a:solidFill>
                  <a:schemeClr val="bg1"/>
                </a:solidFill>
              </a:rPr>
            </a:br>
            <a:r>
              <a:rPr lang="en-US" b="1" dirty="0" smtClean="0">
                <a:solidFill>
                  <a:schemeClr val="bg1"/>
                </a:solidFill>
              </a:rPr>
              <a:t>CHOWGACHA , JESSORE.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0"/>
            <a:ext cx="8229600" cy="4495800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>
            <a:normAutofit fontScale="92500" lnSpcReduction="10000"/>
          </a:bodyPr>
          <a:lstStyle/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US" sz="3000" b="1" dirty="0" smtClean="0"/>
              <a:t>COMMUNITY  SUPPORTED MANPOWER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US" b="1" dirty="0" smtClean="0"/>
              <a:t>TOTAL</a:t>
            </a:r>
            <a:r>
              <a:rPr lang="en-US" dirty="0" smtClean="0"/>
              <a:t> 			:46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Volunteers 		:26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Cleaners &amp; guards	:16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Others			:04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The remunerations come from 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	</a:t>
            </a:r>
            <a:r>
              <a:rPr lang="en-US" sz="2000" dirty="0" smtClean="0"/>
              <a:t>Outsourcing	:25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2000" dirty="0" smtClean="0"/>
              <a:t>	Service provider	:21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2000" dirty="0" smtClean="0"/>
              <a:t>The amount of remuneration ranging  from 200/= To 8000/=tk. Per month depending  upon the style of work, which costs a total of nearly 90,ooo/=Tk per month.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5354060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890" name="Group 6"/>
          <p:cNvGrpSpPr>
            <a:grpSpLocks/>
          </p:cNvGrpSpPr>
          <p:nvPr/>
        </p:nvGrpSpPr>
        <p:grpSpPr bwMode="auto">
          <a:xfrm>
            <a:off x="4611688" y="647700"/>
            <a:ext cx="4267200" cy="2955925"/>
            <a:chOff x="1248" y="288"/>
            <a:chExt cx="3157" cy="2448"/>
          </a:xfrm>
        </p:grpSpPr>
        <p:pic>
          <p:nvPicPr>
            <p:cNvPr id="37894" name="Picture 4" descr="1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8" y="288"/>
              <a:ext cx="1782" cy="2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895" name="Picture 5" descr="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24" y="288"/>
              <a:ext cx="1381" cy="2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37891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8" y="612775"/>
            <a:ext cx="4170362" cy="300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2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8" y="3810000"/>
            <a:ext cx="4140200" cy="302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3" name="Picture 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5975" y="3810000"/>
            <a:ext cx="4518025" cy="302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44165601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ctrTitle"/>
          </p:nvPr>
        </p:nvSpPr>
        <p:spPr>
          <a:xfrm>
            <a:off x="308194" y="304800"/>
            <a:ext cx="8643938" cy="990600"/>
          </a:xfrm>
          <a:ln>
            <a:miter lim="800000"/>
            <a:headEnd/>
            <a:tailEnd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  <a:ex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100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kh¨v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wewkó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m`i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nvmcvZvj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,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wSbvB`n</a:t>
            </a:r>
            <a:endParaRPr lang="en-US" altLang="en-US" sz="4800" b="1" dirty="0" smtClean="0">
              <a:solidFill>
                <a:schemeClr val="bg1"/>
              </a:solidFill>
              <a:latin typeface="SutonnyMJ" pitchFamily="2" charset="0"/>
              <a:cs typeface="SutonnyMJ" pitchFamily="2" charset="0"/>
            </a:endParaRPr>
          </a:p>
        </p:txBody>
      </p:sp>
      <p:pic>
        <p:nvPicPr>
          <p:cNvPr id="3891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447800"/>
            <a:ext cx="8382000" cy="504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76320954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45720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dirty="0" smtClean="0"/>
              <a:t>Challenges of the hospital in 2012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305800" cy="601980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/>
          <a:p>
            <a:pPr marL="0" indent="0">
              <a:buNone/>
              <a:defRPr/>
            </a:pPr>
            <a:endParaRPr lang="en-US" sz="1800" b="1" dirty="0" smtClean="0"/>
          </a:p>
          <a:p>
            <a:pPr>
              <a:defRPr/>
            </a:pPr>
            <a:r>
              <a:rPr lang="en-US" sz="2800" b="1" dirty="0" smtClean="0"/>
              <a:t>Insecure  hospital environment.</a:t>
            </a:r>
          </a:p>
          <a:p>
            <a:pPr marL="0" indent="0">
              <a:buNone/>
              <a:defRPr/>
            </a:pPr>
            <a:r>
              <a:rPr lang="en-US" sz="2800" dirty="0" smtClean="0"/>
              <a:t>	</a:t>
            </a:r>
            <a:endParaRPr lang="en-US" sz="2800" dirty="0"/>
          </a:p>
          <a:p>
            <a:pPr>
              <a:defRPr/>
            </a:pPr>
            <a:r>
              <a:rPr lang="en-US" sz="2800" b="1" dirty="0" smtClean="0"/>
              <a:t>Performance of all activities</a:t>
            </a:r>
            <a:r>
              <a:rPr lang="en-US" sz="2400" b="1" dirty="0" smtClean="0"/>
              <a:t> </a:t>
            </a:r>
            <a:r>
              <a:rPr lang="en-US" sz="2800" b="1" dirty="0" smtClean="0"/>
              <a:t>was very low.</a:t>
            </a:r>
          </a:p>
          <a:p>
            <a:pPr>
              <a:defRPr/>
            </a:pPr>
            <a:endParaRPr lang="en-US" sz="2800" b="1" dirty="0"/>
          </a:p>
          <a:p>
            <a:pPr>
              <a:defRPr/>
            </a:pPr>
            <a:r>
              <a:rPr lang="en-US" sz="2800" b="1" dirty="0" smtClean="0"/>
              <a:t>Very limited support staff. </a:t>
            </a:r>
          </a:p>
          <a:p>
            <a:pPr>
              <a:defRPr/>
            </a:pPr>
            <a:endParaRPr lang="en-US" sz="2800" b="1" dirty="0"/>
          </a:p>
          <a:p>
            <a:pPr>
              <a:defRPr/>
            </a:pPr>
            <a:r>
              <a:rPr lang="en-US" sz="2800" b="1" dirty="0" smtClean="0"/>
              <a:t>Receiving </a:t>
            </a:r>
            <a:r>
              <a:rPr lang="en-US" sz="2800" b="1" smtClean="0"/>
              <a:t>money from </a:t>
            </a:r>
            <a:r>
              <a:rPr lang="en-US" sz="2800" b="1" dirty="0" smtClean="0"/>
              <a:t>the patients by non-</a:t>
            </a:r>
            <a:r>
              <a:rPr lang="en-US" sz="2800" b="1" dirty="0" err="1" smtClean="0"/>
              <a:t>gov.</a:t>
            </a:r>
            <a:r>
              <a:rPr lang="en-US" sz="2800" b="1" dirty="0" smtClean="0"/>
              <a:t> staff.</a:t>
            </a:r>
          </a:p>
          <a:p>
            <a:pPr>
              <a:defRPr/>
            </a:pPr>
            <a:endParaRPr lang="en-US" sz="2800" b="1" dirty="0" smtClean="0"/>
          </a:p>
          <a:p>
            <a:pPr>
              <a:defRPr/>
            </a:pPr>
            <a:r>
              <a:rPr lang="en-US" sz="2800" b="1" dirty="0" smtClean="0"/>
              <a:t>Waste management system was poor.</a:t>
            </a:r>
          </a:p>
          <a:p>
            <a:pPr>
              <a:defRPr/>
            </a:pPr>
            <a:endParaRPr lang="en-US" sz="2800" b="1" dirty="0" smtClean="0"/>
          </a:p>
          <a:p>
            <a:pPr>
              <a:defRPr/>
            </a:pPr>
            <a:r>
              <a:rPr lang="en-US" sz="2800" b="1" dirty="0" smtClean="0"/>
              <a:t>Monitoring  </a:t>
            </a:r>
            <a:r>
              <a:rPr lang="en-US" sz="2800" b="1" dirty="0"/>
              <a:t>m</a:t>
            </a:r>
            <a:r>
              <a:rPr lang="en-US" sz="2800" b="1" dirty="0" smtClean="0"/>
              <a:t>eeting was not performed regularly</a:t>
            </a:r>
          </a:p>
          <a:p>
            <a:pPr>
              <a:defRPr/>
            </a:pPr>
            <a:endParaRPr lang="en-US" sz="2000" b="1" dirty="0"/>
          </a:p>
          <a:p>
            <a:pPr>
              <a:defRPr/>
            </a:pPr>
            <a:endParaRPr lang="en-US" sz="2000" b="1" dirty="0" smtClean="0"/>
          </a:p>
          <a:p>
            <a:pPr>
              <a:defRPr/>
            </a:pPr>
            <a:endParaRPr lang="en-US" sz="1800" b="1" dirty="0"/>
          </a:p>
          <a:p>
            <a:pPr>
              <a:defRPr/>
            </a:pPr>
            <a:endParaRPr lang="en-US" sz="1800" b="1" dirty="0" smtClean="0"/>
          </a:p>
          <a:p>
            <a:pPr>
              <a:defRPr/>
            </a:pPr>
            <a:endParaRPr lang="en-US" sz="1800" b="1" dirty="0"/>
          </a:p>
          <a:p>
            <a:pPr>
              <a:defRPr/>
            </a:pPr>
            <a:endParaRPr lang="en-US" sz="1800" b="1" dirty="0" smtClean="0"/>
          </a:p>
          <a:p>
            <a:pPr>
              <a:defRPr/>
            </a:pPr>
            <a:endParaRPr lang="en-US" sz="1800" b="1" dirty="0"/>
          </a:p>
          <a:p>
            <a:pPr>
              <a:defRPr/>
            </a:pPr>
            <a:endParaRPr lang="en-US" sz="1800" b="1" dirty="0" smtClean="0"/>
          </a:p>
          <a:p>
            <a:pPr>
              <a:defRPr/>
            </a:pPr>
            <a:endParaRPr lang="en-US" sz="1800" b="1" dirty="0"/>
          </a:p>
          <a:p>
            <a:pPr>
              <a:defRPr/>
            </a:pPr>
            <a:endParaRPr lang="en-US" sz="1800" b="1" dirty="0" smtClean="0"/>
          </a:p>
          <a:p>
            <a:pPr>
              <a:defRPr/>
            </a:pPr>
            <a:endParaRPr lang="en-US" sz="1800" b="1" dirty="0"/>
          </a:p>
          <a:p>
            <a:pPr>
              <a:defRPr/>
            </a:pPr>
            <a:endParaRPr lang="en-US" sz="1800" b="1" dirty="0" smtClean="0"/>
          </a:p>
          <a:p>
            <a:pPr>
              <a:defRPr/>
            </a:pPr>
            <a:endParaRPr lang="en-US" sz="1800" b="1" dirty="0"/>
          </a:p>
          <a:p>
            <a:pPr>
              <a:defRPr/>
            </a:pPr>
            <a:endParaRPr lang="en-US" sz="1800" b="1" dirty="0" smtClean="0"/>
          </a:p>
          <a:p>
            <a:pPr>
              <a:defRPr/>
            </a:pPr>
            <a:endParaRPr lang="en-US" sz="1800" b="1" dirty="0"/>
          </a:p>
          <a:p>
            <a:pPr>
              <a:defRPr/>
            </a:pPr>
            <a:endParaRPr lang="en-US" sz="1800" b="1" dirty="0" smtClean="0"/>
          </a:p>
          <a:p>
            <a:pPr>
              <a:defRPr/>
            </a:pPr>
            <a:endParaRPr lang="en-US" sz="1800" b="1" dirty="0" smtClean="0"/>
          </a:p>
          <a:p>
            <a:pPr>
              <a:defRPr/>
            </a:pPr>
            <a:endParaRPr lang="en-US" sz="1800" b="1" dirty="0" smtClean="0"/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	</a:t>
            </a:r>
            <a:endParaRPr lang="en-US" sz="1800" b="1" dirty="0" smtClean="0"/>
          </a:p>
          <a:p>
            <a:pPr marL="0" indent="0">
              <a:buFont typeface="Arial" charset="0"/>
              <a:buNone/>
              <a:defRPr/>
            </a:pPr>
            <a:r>
              <a:rPr lang="en-US" sz="1800" dirty="0"/>
              <a:t> </a:t>
            </a:r>
            <a:endParaRPr lang="en-US" sz="1800" dirty="0" smtClean="0"/>
          </a:p>
        </p:txBody>
      </p:sp>
    </p:spTree>
    <p:extLst>
      <p:ext uri="{BB962C8B-B14F-4D97-AF65-F5344CB8AC3E}">
        <p14:creationId xmlns:p14="http://schemas.microsoft.com/office/powerpoint/2010/main" val="1176117434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77" name="Rectangle 57"/>
          <p:cNvSpPr>
            <a:spLocks noChangeArrowheads="1"/>
          </p:cNvSpPr>
          <p:nvPr/>
        </p:nvSpPr>
        <p:spPr bwMode="auto">
          <a:xfrm>
            <a:off x="462176" y="983206"/>
            <a:ext cx="8229600" cy="609601"/>
          </a:xfrm>
          <a:prstGeom prst="rect">
            <a:avLst/>
          </a:prstGeom>
          <a:ln>
            <a:headEnd/>
            <a:tailEnd/>
          </a:ln>
          <a:ex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>
              <a:defRPr/>
            </a:pPr>
            <a:r>
              <a:rPr lang="en-US" sz="2400" b="1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Bed Occupancy Rate from 1998 to </a:t>
            </a:r>
            <a:r>
              <a:rPr lang="en-US" sz="24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2019</a:t>
            </a:r>
            <a:endParaRPr lang="en-US" sz="2400" b="1" dirty="0">
              <a:solidFill>
                <a:srgbClr val="FFFFFF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42015" name="Title 1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875" y="-28032"/>
            <a:ext cx="8339138" cy="1316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544" name="Text Box 32"/>
          <p:cNvSpPr txBox="1">
            <a:spLocks noChangeArrowheads="1"/>
          </p:cNvSpPr>
          <p:nvPr/>
        </p:nvSpPr>
        <p:spPr bwMode="auto">
          <a:xfrm>
            <a:off x="452438" y="228600"/>
            <a:ext cx="8229600" cy="71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lnSpc>
                <a:spcPct val="90000"/>
              </a:lnSpc>
              <a:defRPr/>
            </a:pPr>
            <a:r>
              <a:rPr lang="en-US" sz="4300" b="1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itchFamily="34" charset="0"/>
              </a:rPr>
              <a:t>Sadar Hospital, Jhenaidah</a:t>
            </a: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3060224493"/>
              </p:ext>
            </p:extLst>
          </p:nvPr>
        </p:nvGraphicFramePr>
        <p:xfrm>
          <a:off x="381000" y="1676400"/>
          <a:ext cx="8305800" cy="436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2924131276"/>
      </p:ext>
    </p:extLst>
  </p:cSld>
  <p:clrMapOvr>
    <a:masterClrMapping/>
  </p:clrMapOvr>
  <p:transition spd="slow">
    <p:strips dir="ru"/>
    <p:sndAc>
      <p:stSnd>
        <p:snd r:embed="rId3" name="explode.wav"/>
      </p:stSnd>
    </p:sndAc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7"/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8534400" cy="655638"/>
          </a:xfrm>
          <a:blipFill>
            <a:blip r:embed="rId3"/>
            <a:tile tx="0" ty="0" sx="100000" sy="100000" flip="none" algn="tl"/>
          </a:blipFill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Emergency + Out Door &amp; Indoor  Service 1998 to 2019</a:t>
            </a: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2407633567"/>
              </p:ext>
            </p:extLst>
          </p:nvPr>
        </p:nvGraphicFramePr>
        <p:xfrm>
          <a:off x="228600" y="1219200"/>
          <a:ext cx="8534400" cy="5410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04800" y="838200"/>
            <a:ext cx="8610600" cy="369332"/>
          </a:xfrm>
          <a:prstGeom prst="rect">
            <a:avLst/>
          </a:prstGeom>
          <a:blipFill>
            <a:blip r:embed="rId5"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     </a:t>
            </a:r>
            <a:r>
              <a:rPr lang="en-US" b="1" dirty="0" smtClean="0">
                <a:solidFill>
                  <a:srgbClr val="0070C0"/>
                </a:solidFill>
              </a:rPr>
              <a:t>Emergency + Outdoor visit</a:t>
            </a:r>
            <a:r>
              <a:rPr lang="en-US" dirty="0" smtClean="0"/>
              <a:t>,       </a:t>
            </a:r>
            <a:r>
              <a:rPr lang="en-US" dirty="0" smtClean="0">
                <a:solidFill>
                  <a:srgbClr val="C00000"/>
                </a:solidFill>
              </a:rPr>
              <a:t>Indoor (admission)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752600" y="990600"/>
            <a:ext cx="152400" cy="15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257800" y="990600"/>
            <a:ext cx="152400" cy="15240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7415189"/>
      </p:ext>
    </p:extLst>
  </p:cSld>
  <p:clrMapOvr>
    <a:masterClrMapping/>
  </p:clrMapOvr>
  <p:transition spd="slow">
    <p:split orient="vert" dir="in"/>
    <p:sndAc>
      <p:stSnd>
        <p:snd r:embed="rId2" name="drumroll.wav"/>
      </p:stSnd>
    </p:sndAc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8"/>
          <p:cNvSpPr>
            <a:spLocks noGrp="1" noChangeArrowheads="1"/>
          </p:cNvSpPr>
          <p:nvPr>
            <p:ph type="title"/>
          </p:nvPr>
        </p:nvSpPr>
        <p:spPr>
          <a:xfrm>
            <a:off x="457200" y="990600"/>
            <a:ext cx="8305800" cy="609600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 smtClean="0">
                <a:solidFill>
                  <a:srgbClr val="FFFFFF"/>
                </a:solidFill>
              </a:rPr>
              <a:t>Operation Service (Major) 2011 to 2019</a:t>
            </a:r>
          </a:p>
        </p:txBody>
      </p:sp>
      <p:graphicFrame>
        <p:nvGraphicFramePr>
          <p:cNvPr id="2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34442999"/>
              </p:ext>
            </p:extLst>
          </p:nvPr>
        </p:nvGraphicFramePr>
        <p:xfrm>
          <a:off x="304800" y="1676400"/>
          <a:ext cx="86868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itle 1"/>
          <p:cNvSpPr txBox="1">
            <a:spLocks/>
          </p:cNvSpPr>
          <p:nvPr/>
        </p:nvSpPr>
        <p:spPr bwMode="auto">
          <a:xfrm>
            <a:off x="457200" y="2286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err="1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</a:t>
            </a: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Hosital</a:t>
            </a: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ransition spd="slow">
    <p:dissolve/>
    <p:sndAc>
      <p:stSnd>
        <p:snd r:embed="rId2" name="push.wav"/>
      </p:stSnd>
    </p:sndAc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23681107"/>
              </p:ext>
            </p:extLst>
          </p:nvPr>
        </p:nvGraphicFramePr>
        <p:xfrm>
          <a:off x="152400" y="1371601"/>
          <a:ext cx="8839200" cy="46828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itle 1"/>
          <p:cNvSpPr txBox="1">
            <a:spLocks/>
          </p:cNvSpPr>
          <p:nvPr/>
        </p:nvSpPr>
        <p:spPr bwMode="auto">
          <a:xfrm>
            <a:off x="152400" y="0"/>
            <a:ext cx="8991600" cy="762000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Box 4"/>
          <p:cNvSpPr txBox="1">
            <a:spLocks noChangeArrowheads="1"/>
          </p:cNvSpPr>
          <p:nvPr/>
        </p:nvSpPr>
        <p:spPr bwMode="auto">
          <a:xfrm>
            <a:off x="152400" y="762000"/>
            <a:ext cx="8991600" cy="461665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  <a:ln/>
          <a:ex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 dirty="0" smtClean="0">
                <a:solidFill>
                  <a:srgbClr val="FFFFFF"/>
                </a:solidFill>
              </a:rPr>
              <a:t>Admitted Under 5 children in  indoor from 2014 to 2019</a:t>
            </a:r>
            <a:endParaRPr lang="en-US" sz="24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3816239"/>
      </p:ext>
    </p:extLst>
  </p:cSld>
  <p:clrMapOvr>
    <a:masterClrMapping/>
  </p:clrMapOvr>
  <p:transition spd="slow">
    <p:blinds dir="vert"/>
    <p:sndAc>
      <p:stSnd>
        <p:snd r:embed="rId2" name="breeze.wav"/>
      </p:stSnd>
    </p:sndAc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r>
              <a:rPr lang="en-GB" sz="2400" dirty="0" smtClean="0"/>
              <a:t>Total ANC and Delivery in Jhenaidah District Hospital 2011-2019</a:t>
            </a:r>
            <a:endParaRPr lang="en-GB" sz="24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57874172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202181127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990600"/>
            <a:ext cx="9144000" cy="808038"/>
          </a:xfrm>
          <a:blipFill>
            <a:blip r:embed="rId3"/>
            <a:tile tx="0" ty="0" sx="100000" sy="100000" flip="none" algn="tl"/>
          </a:blip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sz="2400" b="1" dirty="0" smtClean="0">
                <a:solidFill>
                  <a:schemeClr val="bg1"/>
                </a:solidFill>
              </a:rPr>
              <a:t/>
            </a:r>
            <a:br>
              <a:rPr lang="en-US" sz="2400" b="1" dirty="0" smtClean="0">
                <a:solidFill>
                  <a:schemeClr val="bg1"/>
                </a:solidFill>
              </a:rPr>
            </a:br>
            <a:r>
              <a:rPr lang="en-US" sz="2400" b="1" dirty="0">
                <a:solidFill>
                  <a:schemeClr val="bg1"/>
                </a:solidFill>
              </a:rPr>
              <a:t/>
            </a:r>
            <a:br>
              <a:rPr lang="en-US" sz="2400" b="1" dirty="0">
                <a:solidFill>
                  <a:schemeClr val="bg1"/>
                </a:solidFill>
              </a:rPr>
            </a:br>
            <a:r>
              <a:rPr lang="en-US" sz="2500" b="1" dirty="0" smtClean="0">
                <a:solidFill>
                  <a:srgbClr val="00B050"/>
                </a:solidFill>
              </a:rPr>
              <a:t>Comparative </a:t>
            </a:r>
            <a:r>
              <a:rPr lang="en-US" sz="2500" b="1" dirty="0">
                <a:solidFill>
                  <a:srgbClr val="00B050"/>
                </a:solidFill>
              </a:rPr>
              <a:t>data of revenue </a:t>
            </a:r>
            <a:r>
              <a:rPr lang="en-US" sz="2500" b="1" dirty="0" smtClean="0">
                <a:solidFill>
                  <a:srgbClr val="00B050"/>
                </a:solidFill>
              </a:rPr>
              <a:t>income </a:t>
            </a:r>
            <a:r>
              <a:rPr lang="en-US" sz="2800" b="1" dirty="0" smtClean="0">
                <a:solidFill>
                  <a:srgbClr val="00B050"/>
                </a:solidFill>
              </a:rPr>
              <a:t>(</a:t>
            </a:r>
            <a:r>
              <a:rPr lang="en-US" sz="2200" b="1" dirty="0" smtClean="0">
                <a:solidFill>
                  <a:srgbClr val="00B050"/>
                </a:solidFill>
              </a:rPr>
              <a:t>in Taka</a:t>
            </a:r>
            <a:r>
              <a:rPr lang="en-US" sz="2800" b="1" dirty="0" smtClean="0">
                <a:solidFill>
                  <a:srgbClr val="00B050"/>
                </a:solidFill>
              </a:rPr>
              <a:t>) from </a:t>
            </a:r>
            <a:r>
              <a:rPr lang="en-US" sz="2600" b="1" dirty="0" smtClean="0">
                <a:solidFill>
                  <a:srgbClr val="00B050"/>
                </a:solidFill>
              </a:rPr>
              <a:t>2015 to 2019</a:t>
            </a:r>
            <a:r>
              <a:rPr lang="en-US" sz="4800" b="1" dirty="0"/>
              <a:t/>
            </a:r>
            <a:br>
              <a:rPr lang="en-US" sz="4800" b="1" dirty="0"/>
            </a:br>
            <a:endParaRPr lang="en-US" sz="5400" b="1" dirty="0"/>
          </a:p>
        </p:txBody>
      </p:sp>
      <p:graphicFrame>
        <p:nvGraphicFramePr>
          <p:cNvPr id="2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80880335"/>
              </p:ext>
            </p:extLst>
          </p:nvPr>
        </p:nvGraphicFramePr>
        <p:xfrm>
          <a:off x="0" y="1752600"/>
          <a:ext cx="91440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itle 1"/>
          <p:cNvSpPr txBox="1">
            <a:spLocks/>
          </p:cNvSpPr>
          <p:nvPr/>
        </p:nvSpPr>
        <p:spPr bwMode="auto">
          <a:xfrm>
            <a:off x="0" y="0"/>
            <a:ext cx="9144000" cy="1066800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38947691"/>
      </p:ext>
    </p:extLst>
  </p:cSld>
  <p:clrMapOvr>
    <a:masterClrMapping/>
  </p:clrMapOvr>
  <p:transition spd="slow">
    <p:zoom dir="in"/>
    <p:sndAc>
      <p:stSnd>
        <p:snd r:embed="rId2" name="cashreg.wav"/>
      </p:stSnd>
    </p:sndAc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GB" sz="2800" dirty="0" smtClean="0"/>
              <a:t>Comparative data of 4 best performing EOC Centre of </a:t>
            </a:r>
            <a:r>
              <a:rPr lang="en-GB" sz="2800" smtClean="0"/>
              <a:t>Khulna division 2019</a:t>
            </a:r>
            <a:endParaRPr lang="en-GB" sz="2800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413147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617225213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0"/>
            <a:ext cx="9144000" cy="7620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200" b="1" dirty="0">
                <a:solidFill>
                  <a:prstClr val="white"/>
                </a:solidFill>
                <a:latin typeface="Arial" charset="0"/>
                <a:cs typeface="Arial" charset="0"/>
              </a:rPr>
              <a:t>Community Support System in Sadar Hospital</a:t>
            </a: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0" y="781050"/>
            <a:ext cx="9144000" cy="60769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tx2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457200" indent="-457200" algn="just">
              <a:buFontTx/>
              <a:buAutoNum type="arabicPeriod"/>
              <a:defRPr/>
            </a:pP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53 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manpower (Cleaner 20, Ayah &amp; ward boy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21,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Guard 6, Volunteer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3,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Trolley man 3 )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is supported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by the community.</a:t>
            </a: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MP of Jhenaidah-2 donated 14 manpower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support.</a:t>
            </a:r>
            <a:endParaRPr lang="en-US" sz="2600" dirty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Chairman of 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Zahedee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Foundation supports 12 manpower and an intercom with a cost of nearly two lac taka. </a:t>
            </a: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Mayor of Jhenaidah Paurasava plays an important role in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security , cleanliness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, repaired the boundary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wall and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supports 5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man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power and renovation of pediatric word and donation of a biochemistry analyzer at a cost of 1,15,000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Taka. </a:t>
            </a:r>
            <a:endParaRPr lang="en-US" sz="2600" dirty="0" smtClean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Retired secretary donated a generator for 24 hours OT service    with a cost of nearly 33 thousand taka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.</a:t>
            </a:r>
          </a:p>
          <a:p>
            <a:pPr marL="457200" indent="-457200">
              <a:buFontTx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Former-chairman of 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Jhenidah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Pourosova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supports 2 manpower</a:t>
            </a:r>
            <a:endParaRPr lang="en-US" sz="2600" dirty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Doctors of the hospital and Jhenaidah town supports 10 man power.</a:t>
            </a:r>
            <a:endParaRPr lang="en-US" sz="2600" b="1" dirty="0" smtClean="0">
              <a:solidFill>
                <a:srgbClr val="1F497D">
                  <a:lumMod val="75000"/>
                </a:srgb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algn="just">
              <a:defRPr/>
            </a:pPr>
            <a:endParaRPr lang="en-US" sz="2600" dirty="0" smtClean="0">
              <a:solidFill>
                <a:srgbClr val="1F497D">
                  <a:lumMod val="75000"/>
                </a:srgbClr>
              </a:solidFill>
            </a:endParaRPr>
          </a:p>
          <a:p>
            <a:pPr marL="0" algn="just">
              <a:defRPr/>
            </a:pPr>
            <a:endParaRPr lang="en-US" sz="2600" dirty="0" smtClean="0">
              <a:solidFill>
                <a:srgbClr val="1F497D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6838665"/>
      </p:ext>
    </p:extLst>
  </p:cSld>
  <p:clrMapOvr>
    <a:masterClrMapping/>
  </p:clrMapOvr>
  <p:transition spd="slow">
    <p:zoom dir="in"/>
    <p:sndAc>
      <p:stSnd>
        <p:snd r:embed="rId3" name="chimes.wav"/>
      </p:stSnd>
    </p:sndAc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530" y="685800"/>
            <a:ext cx="4309243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0" y="0"/>
            <a:ext cx="9140825" cy="471488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Visit to </a:t>
            </a:r>
            <a:r>
              <a:rPr lang="en-US" sz="2000" b="1" dirty="0" err="1">
                <a:solidFill>
                  <a:schemeClr val="bg1"/>
                </a:solidFill>
              </a:rPr>
              <a:t>Shatkhira</a:t>
            </a:r>
            <a:r>
              <a:rPr lang="en-US" sz="2000" b="1" dirty="0">
                <a:solidFill>
                  <a:schemeClr val="bg1"/>
                </a:solidFill>
              </a:rPr>
              <a:t> District </a:t>
            </a:r>
            <a:r>
              <a:rPr lang="en-US" sz="2000" b="1" dirty="0" smtClean="0">
                <a:solidFill>
                  <a:schemeClr val="bg1"/>
                </a:solidFill>
              </a:rPr>
              <a:t>Hospital and Introduction </a:t>
            </a:r>
            <a:r>
              <a:rPr lang="en-US" sz="2000" b="1" dirty="0">
                <a:solidFill>
                  <a:schemeClr val="bg1"/>
                </a:solidFill>
              </a:rPr>
              <a:t>of TQM </a:t>
            </a:r>
            <a:r>
              <a:rPr lang="en-US" sz="2000" b="1" dirty="0" smtClean="0">
                <a:solidFill>
                  <a:schemeClr val="bg1"/>
                </a:solidFill>
              </a:rPr>
              <a:t>activities</a:t>
            </a: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7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4983" y="3814916"/>
            <a:ext cx="4303713" cy="295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827206"/>
            <a:ext cx="4303713" cy="295275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794" name="Picture 2" descr="DSC03196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4984" y="685801"/>
            <a:ext cx="4281094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78861772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/>
          <p:cNvSpPr>
            <a:spLocks noGrp="1"/>
          </p:cNvSpPr>
          <p:nvPr>
            <p:ph type="title" sz="quarter"/>
          </p:nvPr>
        </p:nvSpPr>
        <p:spPr>
          <a:xfrm>
            <a:off x="228600" y="152400"/>
            <a:ext cx="8686800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 smtClean="0">
                <a:solidFill>
                  <a:schemeClr val="bg1"/>
                </a:solidFill>
              </a:rPr>
              <a:t>Changes in EOC Ward</a:t>
            </a:r>
          </a:p>
        </p:txBody>
      </p:sp>
      <p:pic>
        <p:nvPicPr>
          <p:cNvPr id="45059" name="Picture 19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762000"/>
            <a:ext cx="3886200" cy="2743200"/>
          </a:xfrm>
          <a:noFill/>
        </p:spPr>
      </p:pic>
      <p:pic>
        <p:nvPicPr>
          <p:cNvPr id="45060" name="Picture 20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78388" y="762000"/>
            <a:ext cx="4037012" cy="2630488"/>
          </a:xfrm>
          <a:noFill/>
        </p:spPr>
      </p:pic>
      <p:pic>
        <p:nvPicPr>
          <p:cNvPr id="45061" name="コンテンツ プレースホルダ 4" descr="②.jpg"/>
          <p:cNvPicPr>
            <a:picLocks noGrp="1" noChangeAspect="1"/>
          </p:cNvPicPr>
          <p:nvPr>
            <p:ph sz="quarter" idx="3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3657600"/>
            <a:ext cx="3886200" cy="3048000"/>
          </a:xfrm>
        </p:spPr>
      </p:pic>
      <p:pic>
        <p:nvPicPr>
          <p:cNvPr id="45062" name="Picture 16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029200" y="3776663"/>
            <a:ext cx="3733800" cy="2860675"/>
          </a:xfrm>
          <a:noFill/>
        </p:spPr>
      </p:pic>
      <p:sp>
        <p:nvSpPr>
          <p:cNvPr id="45063" name="Right Arrow 2"/>
          <p:cNvSpPr>
            <a:spLocks noChangeArrowheads="1"/>
          </p:cNvSpPr>
          <p:nvPr/>
        </p:nvSpPr>
        <p:spPr bwMode="auto">
          <a:xfrm>
            <a:off x="4298950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5064" name="Right Arrow 11"/>
          <p:cNvSpPr>
            <a:spLocks noChangeArrowheads="1"/>
          </p:cNvSpPr>
          <p:nvPr/>
        </p:nvSpPr>
        <p:spPr bwMode="auto">
          <a:xfrm>
            <a:off x="4298950" y="4821238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5065" name="Rectangle 8"/>
          <p:cNvSpPr>
            <a:spLocks noChangeArrowheads="1"/>
          </p:cNvSpPr>
          <p:nvPr/>
        </p:nvSpPr>
        <p:spPr bwMode="auto">
          <a:xfrm>
            <a:off x="4938713" y="3859213"/>
            <a:ext cx="7239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5066" name="Rectangle 7"/>
          <p:cNvSpPr>
            <a:spLocks noChangeArrowheads="1"/>
          </p:cNvSpPr>
          <p:nvPr/>
        </p:nvSpPr>
        <p:spPr bwMode="auto">
          <a:xfrm>
            <a:off x="304800" y="3657600"/>
            <a:ext cx="9159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5067" name="Rectangle 1"/>
          <p:cNvSpPr>
            <a:spLocks noChangeArrowheads="1"/>
          </p:cNvSpPr>
          <p:nvPr/>
        </p:nvSpPr>
        <p:spPr bwMode="auto">
          <a:xfrm>
            <a:off x="333375" y="801688"/>
            <a:ext cx="9159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45068" name="Rectangle 9"/>
          <p:cNvSpPr>
            <a:spLocks noChangeArrowheads="1"/>
          </p:cNvSpPr>
          <p:nvPr/>
        </p:nvSpPr>
        <p:spPr bwMode="auto">
          <a:xfrm>
            <a:off x="4930775" y="742950"/>
            <a:ext cx="7239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slow">
    <p:zoom dir="in"/>
    <p:sndAc>
      <p:stSnd>
        <p:snd r:embed="rId2" name="chimes.wav"/>
      </p:stSnd>
    </p:sndAc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29200" y="3733800"/>
            <a:ext cx="3886200" cy="297180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Content Placeholder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88900" y="3733800"/>
            <a:ext cx="4102100" cy="295275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itle 1"/>
          <p:cNvSpPr txBox="1">
            <a:spLocks/>
          </p:cNvSpPr>
          <p:nvPr/>
        </p:nvSpPr>
        <p:spPr bwMode="auto">
          <a:xfrm>
            <a:off x="228600" y="152400"/>
            <a:ext cx="86868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 fontScale="900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smtClean="0">
                <a:solidFill>
                  <a:schemeClr val="bg1"/>
                </a:solidFill>
              </a:rPr>
              <a:t>Changes in Surgery &amp; Pediatric Word</a:t>
            </a:r>
            <a:endParaRPr lang="en-US" sz="2800" b="1" dirty="0" smtClean="0">
              <a:solidFill>
                <a:schemeClr val="bg1"/>
              </a:solidFill>
            </a:endParaRPr>
          </a:p>
        </p:txBody>
      </p:sp>
      <p:pic>
        <p:nvPicPr>
          <p:cNvPr id="21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17475" y="762000"/>
            <a:ext cx="4038600" cy="266700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876800" y="762000"/>
            <a:ext cx="4038600" cy="266700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Right Arrow 2"/>
          <p:cNvSpPr>
            <a:spLocks noChangeArrowheads="1"/>
          </p:cNvSpPr>
          <p:nvPr/>
        </p:nvSpPr>
        <p:spPr bwMode="auto">
          <a:xfrm>
            <a:off x="4333875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>
              <a:solidFill>
                <a:srgbClr val="000000"/>
              </a:solidFill>
            </a:endParaRPr>
          </a:p>
        </p:txBody>
      </p:sp>
      <p:pic>
        <p:nvPicPr>
          <p:cNvPr id="24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4363" y="4953000"/>
            <a:ext cx="476250" cy="42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" name="Picture 1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8" y="762000"/>
            <a:ext cx="1146175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" name="Picture 13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00" y="3884613"/>
            <a:ext cx="1146175" cy="56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" name="Picture 14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0125" y="3629025"/>
            <a:ext cx="1146175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" name="Picture 15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6625" y="609600"/>
            <a:ext cx="1146175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550863"/>
            <a:ext cx="4754563" cy="3621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4"/>
          <a:srcRect/>
          <a:stretch>
            <a:fillRect/>
          </a:stretch>
        </p:blipFill>
        <p:spPr>
          <a:xfrm>
            <a:off x="187325" y="706438"/>
            <a:ext cx="3978275" cy="3006725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8132" name="Title 1"/>
          <p:cNvSpPr txBox="1">
            <a:spLocks/>
          </p:cNvSpPr>
          <p:nvPr/>
        </p:nvSpPr>
        <p:spPr bwMode="auto">
          <a:xfrm>
            <a:off x="152400" y="152400"/>
            <a:ext cx="88392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en-US" sz="2800" b="1" dirty="0" smtClean="0">
                <a:solidFill>
                  <a:srgbClr val="FFFFFF"/>
                </a:solidFill>
              </a:rPr>
              <a:t>Waste </a:t>
            </a:r>
            <a:r>
              <a:rPr lang="en-US" sz="2800" b="1" dirty="0">
                <a:solidFill>
                  <a:srgbClr val="FFFFFF"/>
                </a:solidFill>
              </a:rPr>
              <a:t>Management &amp; Campus Protection</a:t>
            </a:r>
          </a:p>
        </p:txBody>
      </p:sp>
      <p:sp>
        <p:nvSpPr>
          <p:cNvPr id="48133" name="Right Arrow 8"/>
          <p:cNvSpPr>
            <a:spLocks noChangeArrowheads="1"/>
          </p:cNvSpPr>
          <p:nvPr/>
        </p:nvSpPr>
        <p:spPr bwMode="auto">
          <a:xfrm>
            <a:off x="4267200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8134" name="Right Arrow 9"/>
          <p:cNvSpPr>
            <a:spLocks noChangeArrowheads="1"/>
          </p:cNvSpPr>
          <p:nvPr/>
        </p:nvSpPr>
        <p:spPr bwMode="auto">
          <a:xfrm>
            <a:off x="4267200" y="48768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6393" name="Rectangle 10"/>
          <p:cNvSpPr>
            <a:spLocks noChangeArrowheads="1"/>
          </p:cNvSpPr>
          <p:nvPr/>
        </p:nvSpPr>
        <p:spPr bwMode="auto">
          <a:xfrm>
            <a:off x="169863" y="835025"/>
            <a:ext cx="915987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396" name="Rectangle 13"/>
          <p:cNvSpPr>
            <a:spLocks noChangeArrowheads="1"/>
          </p:cNvSpPr>
          <p:nvPr/>
        </p:nvSpPr>
        <p:spPr bwMode="auto">
          <a:xfrm>
            <a:off x="4899025" y="776288"/>
            <a:ext cx="7239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89097" name="Picture 1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52400" y="3856038"/>
            <a:ext cx="4013200" cy="28495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/>
        </p:spPr>
      </p:pic>
      <p:pic>
        <p:nvPicPr>
          <p:cNvPr id="89098" name="Picture 16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876800" y="3856038"/>
            <a:ext cx="4114800" cy="28495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/>
        </p:spPr>
      </p:pic>
      <p:sp>
        <p:nvSpPr>
          <p:cNvPr id="16394" name="Rectangle 11"/>
          <p:cNvSpPr>
            <a:spLocks noChangeArrowheads="1"/>
          </p:cNvSpPr>
          <p:nvPr/>
        </p:nvSpPr>
        <p:spPr bwMode="auto">
          <a:xfrm>
            <a:off x="169863" y="3886200"/>
            <a:ext cx="915987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395" name="Rectangle 12"/>
          <p:cNvSpPr>
            <a:spLocks noChangeArrowheads="1"/>
          </p:cNvSpPr>
          <p:nvPr/>
        </p:nvSpPr>
        <p:spPr bwMode="auto">
          <a:xfrm>
            <a:off x="4899025" y="3884613"/>
            <a:ext cx="7239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slow">
    <p:zoom dir="in"/>
    <p:sndAc>
      <p:stSnd>
        <p:snd r:embed="rId2" name="chimes.wav"/>
      </p:stSnd>
    </p:sndAc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2" name="Title 1"/>
          <p:cNvSpPr>
            <a:spLocks noGrp="1"/>
          </p:cNvSpPr>
          <p:nvPr>
            <p:ph type="title" sz="quarter"/>
          </p:nvPr>
        </p:nvSpPr>
        <p:spPr>
          <a:xfrm>
            <a:off x="228600" y="274638"/>
            <a:ext cx="8534400" cy="563562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000" b="1" dirty="0" smtClean="0">
                <a:solidFill>
                  <a:srgbClr val="FFFFFF"/>
                </a:solidFill>
                <a:latin typeface="Arial" charset="0"/>
                <a:cs typeface="Arial" charset="0"/>
              </a:rPr>
              <a:t>Use of direction sign, labeling of rooms, clean latrine and waste segregation</a:t>
            </a:r>
          </a:p>
        </p:txBody>
      </p:sp>
      <p:pic>
        <p:nvPicPr>
          <p:cNvPr id="51203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1085850"/>
            <a:ext cx="4114800" cy="2571750"/>
          </a:xfrm>
        </p:spPr>
      </p:pic>
      <p:pic>
        <p:nvPicPr>
          <p:cNvPr id="51204" name="Content Placeholder 9"/>
          <p:cNvPicPr>
            <a:picLocks noGrp="1" noChangeAspect="1"/>
          </p:cNvPicPr>
          <p:nvPr>
            <p:ph sz="quarter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24400" y="1066800"/>
            <a:ext cx="3968750" cy="2590800"/>
          </a:xfrm>
        </p:spPr>
      </p:pic>
      <p:pic>
        <p:nvPicPr>
          <p:cNvPr id="51205" name="Picture 6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000" y="3962400"/>
            <a:ext cx="4038600" cy="2625725"/>
          </a:xfrm>
          <a:noFill/>
        </p:spPr>
      </p:pic>
      <p:pic>
        <p:nvPicPr>
          <p:cNvPr id="51206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1225" y="3962400"/>
            <a:ext cx="3965575" cy="265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07" name="Rectangle 4"/>
          <p:cNvSpPr>
            <a:spLocks noChangeArrowheads="1"/>
          </p:cNvSpPr>
          <p:nvPr/>
        </p:nvSpPr>
        <p:spPr bwMode="auto">
          <a:xfrm>
            <a:off x="304800" y="1143000"/>
            <a:ext cx="2466975" cy="369888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Use of direction sign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51208" name="Rectangle 5"/>
          <p:cNvSpPr>
            <a:spLocks noChangeArrowheads="1"/>
          </p:cNvSpPr>
          <p:nvPr/>
        </p:nvSpPr>
        <p:spPr bwMode="auto">
          <a:xfrm>
            <a:off x="4941888" y="1143000"/>
            <a:ext cx="2185987" cy="369888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b="1">
                <a:solidFill>
                  <a:srgbClr val="FF0000"/>
                </a:solidFill>
              </a:rPr>
              <a:t>Labeling of rooms</a:t>
            </a:r>
          </a:p>
        </p:txBody>
      </p:sp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457200" y="3998913"/>
            <a:ext cx="1981200" cy="36988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waist segregation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1210" name="Rectangle 8"/>
          <p:cNvSpPr>
            <a:spLocks noChangeArrowheads="1"/>
          </p:cNvSpPr>
          <p:nvPr/>
        </p:nvSpPr>
        <p:spPr bwMode="auto">
          <a:xfrm>
            <a:off x="4702175" y="4021138"/>
            <a:ext cx="1570038" cy="3698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b="1">
                <a:solidFill>
                  <a:srgbClr val="FF0000"/>
                </a:solidFill>
              </a:rPr>
              <a:t>Clean latrine</a:t>
            </a:r>
            <a:endParaRPr lang="en-US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slow">
    <p:zoom dir="in"/>
    <p:sndAc>
      <p:stSnd>
        <p:snd r:embed="rId2" name="chimes.wav"/>
      </p:stSnd>
    </p:sndAc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/>
          <p:cNvSpPr>
            <a:spLocks noGrp="1"/>
          </p:cNvSpPr>
          <p:nvPr>
            <p:ph type="title" sz="quarter"/>
          </p:nvPr>
        </p:nvSpPr>
        <p:spPr>
          <a:xfrm>
            <a:off x="228600" y="274638"/>
            <a:ext cx="8458200" cy="563562"/>
          </a:xfrm>
          <a:solidFill>
            <a:srgbClr val="006600"/>
          </a:solidFill>
        </p:spPr>
        <p:txBody>
          <a:bodyPr/>
          <a:lstStyle/>
          <a:p>
            <a:pPr eaLnBrk="1" hangingPunct="1"/>
            <a:r>
              <a:rPr lang="en-US" sz="1800" b="1" dirty="0" smtClean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Use of color code, alignment of picture &amp; continuous big cleaning day</a:t>
            </a:r>
          </a:p>
        </p:txBody>
      </p:sp>
      <p:pic>
        <p:nvPicPr>
          <p:cNvPr id="52227" name="Content Placeholder 9"/>
          <p:cNvPicPr>
            <a:picLocks noGrp="1" noChangeAspect="1"/>
          </p:cNvPicPr>
          <p:nvPr>
            <p:ph sz="quarter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24400" y="1030288"/>
            <a:ext cx="3962400" cy="2603500"/>
          </a:xfrm>
        </p:spPr>
      </p:pic>
      <p:pic>
        <p:nvPicPr>
          <p:cNvPr id="52228" name="Content Placeholder 11"/>
          <p:cNvPicPr>
            <a:picLocks noGrp="1" noChangeAspect="1"/>
          </p:cNvPicPr>
          <p:nvPr>
            <p:ph sz="quarter" idx="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1001714"/>
            <a:ext cx="4132263" cy="2608262"/>
          </a:xfrm>
        </p:spPr>
      </p:pic>
      <p:pic>
        <p:nvPicPr>
          <p:cNvPr id="52229" name="Picture 10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810000"/>
            <a:ext cx="4114800" cy="290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30" name="Rectangle 4"/>
          <p:cNvSpPr>
            <a:spLocks noChangeArrowheads="1"/>
          </p:cNvSpPr>
          <p:nvPr/>
        </p:nvSpPr>
        <p:spPr bwMode="auto">
          <a:xfrm>
            <a:off x="304800" y="3979863"/>
            <a:ext cx="2557463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Alignment of pictures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2231" name="Rectangle 4"/>
          <p:cNvSpPr>
            <a:spLocks noChangeArrowheads="1"/>
          </p:cNvSpPr>
          <p:nvPr/>
        </p:nvSpPr>
        <p:spPr bwMode="auto">
          <a:xfrm>
            <a:off x="304800" y="1001713"/>
            <a:ext cx="1390650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Color code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2232" name="Rectangle 4"/>
          <p:cNvSpPr>
            <a:spLocks noChangeArrowheads="1"/>
          </p:cNvSpPr>
          <p:nvPr/>
        </p:nvSpPr>
        <p:spPr bwMode="auto">
          <a:xfrm>
            <a:off x="4876800" y="1001713"/>
            <a:ext cx="1390650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Color code</a:t>
            </a:r>
            <a:endParaRPr lang="en-US">
              <a:solidFill>
                <a:srgbClr val="FFFF00"/>
              </a:solidFill>
            </a:endParaRPr>
          </a:p>
        </p:txBody>
      </p:sp>
      <p:pic>
        <p:nvPicPr>
          <p:cNvPr id="13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3809999"/>
            <a:ext cx="4038600" cy="29083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zoom dir="in"/>
    <p:sndAc>
      <p:stSnd>
        <p:snd r:embed="rId3" name="chimes.wav"/>
      </p:stSnd>
    </p:sndAc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50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875" y="609600"/>
            <a:ext cx="3997325" cy="290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51" name="Content Placeholder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0" y="3733800"/>
            <a:ext cx="4013200" cy="293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52" name="Content Placeholder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3733800"/>
            <a:ext cx="3997325" cy="293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284162" y="669925"/>
            <a:ext cx="1709738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FF00"/>
                </a:solidFill>
              </a:rPr>
              <a:t>Reception room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239713" y="3762375"/>
            <a:ext cx="2570162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FF00"/>
                </a:solidFill>
              </a:rPr>
              <a:t>Health education session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4459288" y="3762375"/>
            <a:ext cx="2587625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tx1"/>
                </a:solidFill>
              </a:rPr>
              <a:t>Community engagement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69875" y="38100"/>
            <a:ext cx="82296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Jhenaidah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Sadar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Hospital - 1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53257" name="Content Placeholder 3"/>
          <p:cNvPicPr>
            <a:picLocks noGrp="1" noChangeAspect="1"/>
          </p:cNvPicPr>
          <p:nvPr>
            <p:ph idx="1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486275" y="609600"/>
            <a:ext cx="4006850" cy="2905125"/>
          </a:xfrm>
        </p:spPr>
      </p:pic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4495800" y="644525"/>
            <a:ext cx="2403475" cy="368300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FF00"/>
                </a:solidFill>
              </a:rPr>
              <a:t>Creation  of nursing aid</a:t>
            </a:r>
            <a:endParaRPr lang="en-US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 spd="slow">
    <p:zoom dir="in"/>
    <p:sndAc>
      <p:stSnd>
        <p:snd r:embed="rId2" name="chimes.wav"/>
      </p:stSnd>
    </p:sndAc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500" y="3927929"/>
            <a:ext cx="4267200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191407" y="152400"/>
            <a:ext cx="8838293" cy="490537"/>
          </a:xfrm>
          <a:prstGeom prst="rect">
            <a:avLst/>
          </a:prstGeom>
          <a:solidFill>
            <a:srgbClr val="0C7E17"/>
          </a:solidFill>
          <a:ln w="25400" cap="flat" cmpd="sng" algn="ctr">
            <a:solidFill>
              <a:schemeClr val="bg1"/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Jhenaidah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Sadar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Hospital - 2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Content Placeholder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407" y="3886200"/>
            <a:ext cx="4257675" cy="27849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8" descr="DSC02406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407" y="642937"/>
            <a:ext cx="4257675" cy="291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9950" y="642937"/>
            <a:ext cx="4432300" cy="2914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75220147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/>
          <p:cNvPicPr>
            <a:picLocks noGrp="1" noChangeAspect="1"/>
          </p:cNvPicPr>
          <p:nvPr>
            <p:ph sz="half" idx="4294967295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010" y="3886200"/>
            <a:ext cx="4133973" cy="2590800"/>
          </a:xfrm>
        </p:spPr>
      </p:pic>
      <p:pic>
        <p:nvPicPr>
          <p:cNvPr id="10" name="Content Placeholder 9"/>
          <p:cNvPicPr>
            <a:picLocks noGrp="1" noChangeAspect="1"/>
          </p:cNvPicPr>
          <p:nvPr>
            <p:ph sz="quarter" idx="4294967295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6186" y="3886200"/>
            <a:ext cx="4127426" cy="2590800"/>
          </a:xfrm>
        </p:spPr>
      </p:pic>
      <p:pic>
        <p:nvPicPr>
          <p:cNvPr id="11" name="Content Placeholder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00" y="1219200"/>
            <a:ext cx="4038599" cy="2514268"/>
          </a:xfrm>
          <a:prstGeom prst="rect">
            <a:avLst/>
          </a:prstGeom>
        </p:spPr>
      </p:pic>
      <p:pic>
        <p:nvPicPr>
          <p:cNvPr id="7" name="Content Placeholder 8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184" y="1219200"/>
            <a:ext cx="4114800" cy="2563359"/>
          </a:xfrm>
          <a:prstGeom prst="rect">
            <a:avLst/>
          </a:prstGeom>
        </p:spPr>
      </p:pic>
      <p:sp>
        <p:nvSpPr>
          <p:cNvPr id="13" name="Title 1"/>
          <p:cNvSpPr txBox="1">
            <a:spLocks/>
          </p:cNvSpPr>
          <p:nvPr/>
        </p:nvSpPr>
        <p:spPr bwMode="auto">
          <a:xfrm>
            <a:off x="246184" y="464343"/>
            <a:ext cx="8593015" cy="490537"/>
          </a:xfrm>
          <a:prstGeom prst="rect">
            <a:avLst/>
          </a:prstGeom>
          <a:solidFill>
            <a:srgbClr val="0C7E17"/>
          </a:solidFill>
          <a:ln w="25400" cap="flat" cmpd="sng" algn="ctr">
            <a:solidFill>
              <a:schemeClr val="bg1"/>
            </a:solidFill>
            <a:prstDash val="solid"/>
          </a:ln>
          <a:extLst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Jhenaidah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Sadar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Hospital - 3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3109367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/>
          <p:cNvPicPr>
            <a:picLocks noGrp="1" noChangeAspect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036" y="1066800"/>
            <a:ext cx="4342829" cy="2514599"/>
          </a:xfrm>
        </p:spPr>
      </p:pic>
      <p:pic>
        <p:nvPicPr>
          <p:cNvPr id="10" name="Content Placeholder 9"/>
          <p:cNvPicPr>
            <a:picLocks noGrp="1" noChangeAspect="1"/>
          </p:cNvPicPr>
          <p:nvPr>
            <p:ph sz="quarter" idx="4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84" y="990600"/>
            <a:ext cx="4041775" cy="2667000"/>
          </a:xfrm>
        </p:spPr>
      </p:pic>
      <p:pic>
        <p:nvPicPr>
          <p:cNvPr id="12" name="Content Placeholder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84" y="3886198"/>
            <a:ext cx="4041606" cy="2819401"/>
          </a:xfrm>
          <a:prstGeom prst="rect">
            <a:avLst/>
          </a:prstGeom>
        </p:spPr>
      </p:pic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304798" y="457200"/>
            <a:ext cx="8537491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Jhenaidah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Sadar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Hospital - 4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8" name="Content Placeholder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171" y="3886198"/>
            <a:ext cx="4293029" cy="2819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810031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1365250" y="4648200"/>
            <a:ext cx="30511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endParaRPr lang="en-US"/>
          </a:p>
        </p:txBody>
      </p:sp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14400"/>
            <a:ext cx="4176713" cy="287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1688" y="914400"/>
            <a:ext cx="4532312" cy="28765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4114800"/>
            <a:ext cx="4495800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Oval 8"/>
          <p:cNvSpPr/>
          <p:nvPr/>
        </p:nvSpPr>
        <p:spPr>
          <a:xfrm>
            <a:off x="7345363" y="2335213"/>
            <a:ext cx="1524000" cy="14478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10" name="Content Placeholder 3"/>
          <p:cNvPicPr>
            <a:picLocks noGrp="1" noChangeAspect="1"/>
          </p:cNvPicPr>
          <p:nvPr>
            <p:ph sz="quarter" idx="1"/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114800"/>
            <a:ext cx="4257675" cy="2743200"/>
          </a:xfrm>
        </p:spPr>
      </p:pic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Jhenaidah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Sadar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Hospital - 5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1310155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6273" y="847725"/>
            <a:ext cx="4652963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6" descr="G:\101MSDCF 1\DSC02621.JPG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838200"/>
            <a:ext cx="4343400" cy="2862263"/>
          </a:xfrm>
        </p:spPr>
      </p:pic>
      <p:pic>
        <p:nvPicPr>
          <p:cNvPr id="7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8" y="3981451"/>
            <a:ext cx="4329112" cy="287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6273" y="3962400"/>
            <a:ext cx="4662489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42863"/>
            <a:ext cx="91440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Involvement of MP, District </a:t>
            </a:r>
            <a:r>
              <a:rPr lang="en-US" sz="2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dministrator &amp; Mayor in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Sadar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Hospital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0986247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69490" y="601354"/>
            <a:ext cx="4191000" cy="2827646"/>
          </a:xfrm>
        </p:spPr>
      </p:pic>
      <p:pic>
        <p:nvPicPr>
          <p:cNvPr id="5" name="Content Placeholder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281" y="3599597"/>
            <a:ext cx="4343401" cy="28466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169" y="609600"/>
            <a:ext cx="4183626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3581400"/>
            <a:ext cx="4237232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42863"/>
            <a:ext cx="91440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Involvement of district high officials in hospital activities 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326840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Title 4"/>
          <p:cNvSpPr>
            <a:spLocks noGrp="1"/>
          </p:cNvSpPr>
          <p:nvPr>
            <p:ph type="title" sz="quarter"/>
          </p:nvPr>
        </p:nvSpPr>
        <p:spPr>
          <a:xfrm>
            <a:off x="0" y="-4763"/>
            <a:ext cx="9144000" cy="461963"/>
          </a:xfrm>
          <a:solidFill>
            <a:srgbClr val="0C7E17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smtClean="0">
                <a:solidFill>
                  <a:schemeClr val="bg1"/>
                </a:solidFill>
              </a:rPr>
              <a:t>Internal Monitoring System</a:t>
            </a:r>
          </a:p>
        </p:txBody>
      </p:sp>
      <p:pic>
        <p:nvPicPr>
          <p:cNvPr id="50179" name="Content Placeholder 10"/>
          <p:cNvPicPr>
            <a:picLocks noGrp="1" noChangeAspect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41837" y="3895725"/>
            <a:ext cx="4419600" cy="2914650"/>
          </a:xfrm>
        </p:spPr>
      </p:pic>
      <p:pic>
        <p:nvPicPr>
          <p:cNvPr id="50180" name="Picture 8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48200" y="685800"/>
            <a:ext cx="4343400" cy="2895600"/>
          </a:xfrm>
          <a:noFill/>
        </p:spPr>
      </p:pic>
      <p:pic>
        <p:nvPicPr>
          <p:cNvPr id="50181" name="Picture 7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200" y="674688"/>
            <a:ext cx="4327525" cy="2906712"/>
          </a:xfrm>
          <a:noFill/>
        </p:spPr>
      </p:pic>
      <p:pic>
        <p:nvPicPr>
          <p:cNvPr id="50182" name="Content Placeholder 11"/>
          <p:cNvPicPr>
            <a:picLocks noGrp="1" noChangeAspect="1"/>
          </p:cNvPicPr>
          <p:nvPr>
            <p:ph sz="quarter" idx="4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200" y="3900487"/>
            <a:ext cx="4306888" cy="2884488"/>
          </a:xfrm>
        </p:spPr>
      </p:pic>
      <p:sp>
        <p:nvSpPr>
          <p:cNvPr id="50183" name="Rectangle 4"/>
          <p:cNvSpPr>
            <a:spLocks noChangeArrowheads="1"/>
          </p:cNvSpPr>
          <p:nvPr/>
        </p:nvSpPr>
        <p:spPr bwMode="auto">
          <a:xfrm>
            <a:off x="76200" y="685800"/>
            <a:ext cx="42672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Meting of health improvement committee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0184" name="Rectangle 4"/>
          <p:cNvSpPr>
            <a:spLocks noChangeArrowheads="1"/>
          </p:cNvSpPr>
          <p:nvPr/>
        </p:nvSpPr>
        <p:spPr bwMode="auto">
          <a:xfrm>
            <a:off x="4648200" y="742950"/>
            <a:ext cx="44196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Meting of community support group committee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0185" name="Rectangle 3"/>
          <p:cNvSpPr>
            <a:spLocks noChangeArrowheads="1"/>
          </p:cNvSpPr>
          <p:nvPr/>
        </p:nvSpPr>
        <p:spPr bwMode="auto">
          <a:xfrm>
            <a:off x="122237" y="3886200"/>
            <a:ext cx="41751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QIC meeting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50186" name="Rectangle 4"/>
          <p:cNvSpPr>
            <a:spLocks noChangeArrowheads="1"/>
          </p:cNvSpPr>
          <p:nvPr/>
        </p:nvSpPr>
        <p:spPr bwMode="auto">
          <a:xfrm>
            <a:off x="4637087" y="3930816"/>
            <a:ext cx="44418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Monthly meeting schedule</a:t>
            </a:r>
            <a:endParaRPr lang="en-US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 spd="slow">
    <p:zoom dir="in"/>
    <p:sndAc>
      <p:stSnd>
        <p:snd r:embed="rId2" name="chimes.wav"/>
      </p:stSnd>
    </p:sndAc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3"/>
          <a:stretch>
            <a:fillRect/>
          </a:stretch>
        </p:blipFill>
        <p:spPr>
          <a:xfrm>
            <a:off x="58738" y="762000"/>
            <a:ext cx="4367212" cy="2762250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4"/>
          <a:stretch>
            <a:fillRect/>
          </a:stretch>
        </p:blipFill>
        <p:spPr>
          <a:xfrm>
            <a:off x="5083175" y="3879850"/>
            <a:ext cx="3925888" cy="2909888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6324" name="Title 1"/>
          <p:cNvSpPr txBox="1">
            <a:spLocks/>
          </p:cNvSpPr>
          <p:nvPr/>
        </p:nvSpPr>
        <p:spPr bwMode="auto">
          <a:xfrm>
            <a:off x="152400" y="152400"/>
            <a:ext cx="88392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en-US" sz="2800">
                <a:solidFill>
                  <a:schemeClr val="bg1"/>
                </a:solidFill>
              </a:rPr>
              <a:t>Improved pediatric word by local initiative</a:t>
            </a:r>
            <a:endParaRPr lang="en-US" sz="2800" b="1">
              <a:solidFill>
                <a:schemeClr val="bg1"/>
              </a:solidFill>
            </a:endParaRPr>
          </a:p>
        </p:txBody>
      </p:sp>
      <p:pic>
        <p:nvPicPr>
          <p:cNvPr id="56325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609600"/>
            <a:ext cx="4675188" cy="327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16"/>
          <p:cNvPicPr>
            <a:picLocks noChangeAspect="1" noChangeArrowheads="1"/>
          </p:cNvPicPr>
          <p:nvPr/>
        </p:nvPicPr>
        <p:blipFill>
          <a:blip r:embed="rId6"/>
          <a:stretch>
            <a:fillRect/>
          </a:stretch>
        </p:blipFill>
        <p:spPr bwMode="auto">
          <a:xfrm>
            <a:off x="152400" y="3732213"/>
            <a:ext cx="4267200" cy="30575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/>
        </p:spPr>
      </p:pic>
    </p:spTree>
  </p:cSld>
  <p:clrMapOvr>
    <a:masterClrMapping/>
  </p:clrMapOvr>
  <p:transition spd="slow">
    <p:zoom dir="in"/>
    <p:sndAc>
      <p:stSnd>
        <p:snd r:embed="rId2" name="chimes.wav"/>
      </p:stSnd>
    </p:sndAc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ctrTitle"/>
          </p:nvPr>
        </p:nvSpPr>
        <p:spPr>
          <a:xfrm>
            <a:off x="228600" y="76200"/>
            <a:ext cx="8631238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smtClean="0">
                <a:solidFill>
                  <a:schemeClr val="bg1"/>
                </a:solidFill>
              </a:rPr>
              <a:t>Hospital Environment</a:t>
            </a:r>
          </a:p>
        </p:txBody>
      </p:sp>
      <p:pic>
        <p:nvPicPr>
          <p:cNvPr id="57347" name="Picture 3" descr="11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3836987"/>
            <a:ext cx="4502150" cy="2994026"/>
          </a:xfrm>
        </p:spPr>
      </p:pic>
      <p:pic>
        <p:nvPicPr>
          <p:cNvPr id="57348" name="Picture 2" descr="DSC02561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76800" y="700088"/>
            <a:ext cx="4267200" cy="2936875"/>
          </a:xfrm>
        </p:spPr>
      </p:pic>
      <p:pic>
        <p:nvPicPr>
          <p:cNvPr id="57349" name="Picture 2" descr="G:\G\Dr Emdad\Photos- Jhenaidah\22-6-15\New folder\New folder\District hospital. Jhenaidah by GMB Akash (56)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8576" y="684213"/>
            <a:ext cx="4524375" cy="297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7350" name="Picture 7" descr="G:\101MSDCF\DSC02710.JP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3836987"/>
            <a:ext cx="4267200" cy="302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zoom dir="in"/>
    <p:sndAc>
      <p:stSnd>
        <p:snd r:embed="rId2" name="chimes.wav"/>
      </p:stSnd>
    </p:sndAc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914400"/>
          </a:xfrm>
          <a:solidFill>
            <a:srgbClr val="0C7E17"/>
          </a:solidFill>
          <a:ln>
            <a:solidFill>
              <a:schemeClr val="accent1"/>
            </a:solidFill>
          </a:ln>
        </p:spPr>
        <p:txBody>
          <a:bodyPr/>
          <a:lstStyle/>
          <a:p>
            <a:r>
              <a:rPr lang="en-GB" sz="3200" b="1" dirty="0" smtClean="0">
                <a:solidFill>
                  <a:schemeClr val="bg1"/>
                </a:solidFill>
              </a:rPr>
              <a:t>Community support in COVID -19 Management-2</a:t>
            </a:r>
            <a:endParaRPr lang="en-GB" sz="3200" b="1" dirty="0">
              <a:solidFill>
                <a:schemeClr val="bg1"/>
              </a:solidFill>
            </a:endParaRP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64245058"/>
              </p:ext>
            </p:extLst>
          </p:nvPr>
        </p:nvGraphicFramePr>
        <p:xfrm>
          <a:off x="381000" y="1158834"/>
          <a:ext cx="4419600" cy="27273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12" name="Diagram 11"/>
          <p:cNvGraphicFramePr/>
          <p:nvPr/>
        </p:nvGraphicFramePr>
        <p:xfrm>
          <a:off x="4876800" y="4708091"/>
          <a:ext cx="4267199" cy="1987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3778411560"/>
              </p:ext>
            </p:extLst>
          </p:nvPr>
        </p:nvGraphicFramePr>
        <p:xfrm>
          <a:off x="4876800" y="1920834"/>
          <a:ext cx="3962400" cy="10509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3" r:lo="rId14" r:qs="rId15" r:cs="rId16"/>
          </a:graphicData>
        </a:graphic>
      </p:graphicFrame>
      <p:grpSp>
        <p:nvGrpSpPr>
          <p:cNvPr id="13" name="Group 12"/>
          <p:cNvGrpSpPr/>
          <p:nvPr/>
        </p:nvGrpSpPr>
        <p:grpSpPr>
          <a:xfrm>
            <a:off x="4846615" y="3909139"/>
            <a:ext cx="4317856" cy="815261"/>
            <a:chOff x="0" y="8342"/>
            <a:chExt cx="3962399" cy="1034280"/>
          </a:xfrm>
        </p:grpSpPr>
        <p:sp>
          <p:nvSpPr>
            <p:cNvPr id="14" name="Rounded Rectangle 13"/>
            <p:cNvSpPr/>
            <p:nvPr/>
          </p:nvSpPr>
          <p:spPr>
            <a:xfrm>
              <a:off x="0" y="8342"/>
              <a:ext cx="3962399" cy="103428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5" name="Rounded Rectangle 4"/>
            <p:cNvSpPr/>
            <p:nvPr/>
          </p:nvSpPr>
          <p:spPr>
            <a:xfrm>
              <a:off x="50489" y="58831"/>
              <a:ext cx="3861421" cy="933302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lvl="0" algn="l" defTabSz="11557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GB" sz="2600" b="1" kern="1200" dirty="0" smtClean="0"/>
                <a:t>Source of Donation</a:t>
              </a:r>
              <a:endParaRPr lang="en-GB" sz="2600" b="1" kern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3896307187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1066800"/>
            <a:ext cx="4159250" cy="281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4114800"/>
            <a:ext cx="4114800" cy="266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" name="Picture 5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399" y="1066800"/>
            <a:ext cx="3962401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" name="Picture 6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4038600"/>
            <a:ext cx="3886200" cy="2697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98438"/>
            <a:ext cx="8229600" cy="487362"/>
          </a:xfrm>
        </p:spPr>
        <p:txBody>
          <a:bodyPr/>
          <a:lstStyle/>
          <a:p>
            <a:r>
              <a:rPr lang="en-GB" sz="3200" b="1" dirty="0" smtClean="0"/>
              <a:t>Community support in COVID -19 Management-1</a:t>
            </a:r>
            <a:endParaRPr lang="en-GB" sz="3200" b="1" dirty="0"/>
          </a:p>
        </p:txBody>
      </p:sp>
    </p:spTree>
    <p:extLst>
      <p:ext uri="{BB962C8B-B14F-4D97-AF65-F5344CB8AC3E}">
        <p14:creationId xmlns:p14="http://schemas.microsoft.com/office/powerpoint/2010/main" val="231218997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0"/>
            <a:ext cx="9144000" cy="9144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n-US" altLang="ja-JP" sz="3600" b="1" dirty="0" smtClean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Achievement </a:t>
            </a:r>
            <a:r>
              <a:rPr lang="en-US" altLang="ja-JP" sz="3600" b="1" dirty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of the Hospit</a:t>
            </a:r>
            <a:r>
              <a:rPr lang="en-US" altLang="ja-JP" sz="3200" b="1" dirty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al</a:t>
            </a: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0" y="914400"/>
            <a:ext cx="9144000" cy="5943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algn="just">
              <a:defRPr/>
            </a:pPr>
            <a:r>
              <a:rPr lang="en-US" b="1" dirty="0" smtClean="0"/>
              <a:t>1. Active </a:t>
            </a:r>
            <a:r>
              <a:rPr lang="en-US" b="1" dirty="0"/>
              <a:t>C</a:t>
            </a:r>
            <a:r>
              <a:rPr lang="en-US" b="1" dirty="0" smtClean="0"/>
              <a:t>ommunity Participation in health service is an example in Bangladesh.</a:t>
            </a:r>
          </a:p>
          <a:p>
            <a:pPr marL="0" algn="just">
              <a:defRPr/>
            </a:pPr>
            <a:r>
              <a:rPr lang="en-US" dirty="0" smtClean="0"/>
              <a:t> </a:t>
            </a:r>
          </a:p>
          <a:p>
            <a:pPr marL="0" algn="just">
              <a:defRPr/>
            </a:pPr>
            <a:r>
              <a:rPr lang="en-US" b="1" dirty="0" smtClean="0"/>
              <a:t>2. Improved   </a:t>
            </a:r>
            <a:r>
              <a:rPr lang="en-US" b="1" dirty="0"/>
              <a:t>p</a:t>
            </a:r>
            <a:r>
              <a:rPr lang="en-US" b="1" dirty="0" smtClean="0"/>
              <a:t>erformance  of all services specially Pediatric, </a:t>
            </a:r>
            <a:r>
              <a:rPr lang="en-US" b="1" dirty="0"/>
              <a:t>o</a:t>
            </a:r>
            <a:r>
              <a:rPr lang="en-US" b="1" dirty="0" smtClean="0"/>
              <a:t>bstetric, operation</a:t>
            </a:r>
          </a:p>
          <a:p>
            <a:pPr marL="0" algn="just">
              <a:defRPr/>
            </a:pPr>
            <a:r>
              <a:rPr lang="en-US" b="1" dirty="0" smtClean="0"/>
              <a:t>     and outdoor service.</a:t>
            </a:r>
            <a:endParaRPr lang="en-US" b="1" dirty="0"/>
          </a:p>
          <a:p>
            <a:pPr marL="0">
              <a:defRPr/>
            </a:pPr>
            <a:endParaRPr lang="en-US" b="1" dirty="0" smtClean="0"/>
          </a:p>
          <a:p>
            <a:pPr marL="0">
              <a:defRPr/>
            </a:pPr>
            <a:r>
              <a:rPr lang="en-US" b="1" dirty="0" smtClean="0"/>
              <a:t>3</a:t>
            </a:r>
            <a:r>
              <a:rPr lang="en-US" b="1" dirty="0"/>
              <a:t>. Improved Cleanliness and </a:t>
            </a:r>
            <a:r>
              <a:rPr lang="en-US" b="1" dirty="0" smtClean="0"/>
              <a:t>Beautification of Campus.</a:t>
            </a:r>
            <a:endParaRPr lang="en-US" b="1" dirty="0"/>
          </a:p>
          <a:p>
            <a:pPr marL="0" algn="just">
              <a:defRPr/>
            </a:pPr>
            <a:endParaRPr lang="en-US" b="1" dirty="0" smtClean="0"/>
          </a:p>
          <a:p>
            <a:pPr marL="0" algn="just">
              <a:defRPr/>
            </a:pPr>
            <a:r>
              <a:rPr lang="en-US" b="1" dirty="0" smtClean="0"/>
              <a:t>4.. </a:t>
            </a:r>
            <a:r>
              <a:rPr lang="en-US" b="1" dirty="0"/>
              <a:t>The hospital is awarded 6 times from 2013 to 2018. </a:t>
            </a:r>
            <a:endParaRPr lang="en-US" dirty="0"/>
          </a:p>
          <a:p>
            <a:pPr marL="0" algn="just">
              <a:defRPr/>
            </a:pPr>
            <a:endParaRPr lang="en-US" b="1" dirty="0" smtClean="0"/>
          </a:p>
          <a:p>
            <a:pPr marL="0" algn="just">
              <a:defRPr/>
            </a:pPr>
            <a:r>
              <a:rPr lang="en-US" b="1" dirty="0" smtClean="0"/>
              <a:t>5. </a:t>
            </a:r>
            <a:r>
              <a:rPr lang="en-US" b="1" dirty="0"/>
              <a:t>Improved </a:t>
            </a:r>
            <a:r>
              <a:rPr lang="en-US" b="1" dirty="0" smtClean="0"/>
              <a:t>Security.</a:t>
            </a:r>
            <a:endParaRPr lang="en-US" sz="900" dirty="0"/>
          </a:p>
          <a:p>
            <a:pPr marL="0" algn="just">
              <a:defRPr/>
            </a:pPr>
            <a:endParaRPr lang="en-US" b="1" dirty="0" smtClean="0"/>
          </a:p>
          <a:p>
            <a:pPr marL="0" algn="just">
              <a:defRPr/>
            </a:pPr>
            <a:r>
              <a:rPr lang="en-US" b="1" dirty="0" smtClean="0"/>
              <a:t>6. </a:t>
            </a:r>
            <a:r>
              <a:rPr lang="en-US" b="1" dirty="0"/>
              <a:t>Improved Financial Management</a:t>
            </a:r>
          </a:p>
          <a:p>
            <a:pPr marL="0" algn="just">
              <a:defRPr/>
            </a:pPr>
            <a:endParaRPr lang="en-US" b="1" dirty="0" smtClean="0"/>
          </a:p>
          <a:p>
            <a:pPr marL="0" algn="just">
              <a:defRPr/>
            </a:pPr>
            <a:r>
              <a:rPr lang="en-US" b="1" dirty="0"/>
              <a:t>7</a:t>
            </a:r>
            <a:r>
              <a:rPr lang="en-US" b="1" dirty="0" smtClean="0"/>
              <a:t>. Replication of C- J Model by DGHS in 20 District hospital &amp; 40 UHC of the country.</a:t>
            </a:r>
          </a:p>
          <a:p>
            <a:pPr marL="0" algn="just">
              <a:defRPr/>
            </a:pPr>
            <a:r>
              <a:rPr lang="en-US" b="1" dirty="0" smtClean="0"/>
              <a:t> 8. Nearly </a:t>
            </a:r>
            <a:r>
              <a:rPr lang="en-US" b="1" dirty="0"/>
              <a:t>45 </a:t>
            </a:r>
            <a:r>
              <a:rPr lang="en-US" b="1" dirty="0" err="1"/>
              <a:t>laks</a:t>
            </a:r>
            <a:r>
              <a:rPr lang="en-US" b="1" dirty="0"/>
              <a:t> Taka support  for 6 high flow   oxygen  nasal cannula, central </a:t>
            </a:r>
            <a:r>
              <a:rPr lang="en-US" b="1" dirty="0" err="1"/>
              <a:t>oxgen</a:t>
            </a:r>
            <a:r>
              <a:rPr lang="en-US" b="1" dirty="0"/>
              <a:t> supplying system for </a:t>
            </a:r>
            <a:r>
              <a:rPr lang="en-US" b="1" dirty="0" err="1"/>
              <a:t>covid</a:t>
            </a:r>
            <a:r>
              <a:rPr lang="en-US" b="1" dirty="0"/>
              <a:t> patient </a:t>
            </a:r>
            <a:endParaRPr lang="en-US" b="1" dirty="0" smtClean="0"/>
          </a:p>
          <a:p>
            <a:pPr marL="0" algn="just">
              <a:defRPr/>
            </a:pPr>
            <a:endParaRPr lang="en-US" b="1" dirty="0" smtClean="0"/>
          </a:p>
          <a:p>
            <a:pPr marL="0" algn="just">
              <a:defRPr/>
            </a:pPr>
            <a:endParaRPr lang="en-US" b="1" dirty="0"/>
          </a:p>
          <a:p>
            <a:pPr marL="0" algn="just">
              <a:defRPr/>
            </a:pPr>
            <a:endParaRPr lang="en-US" b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</p:cSld>
  <p:clrMapOvr>
    <a:masterClrMapping/>
  </p:clrMapOvr>
  <p:transition spd="slow">
    <p:zoom dir="in"/>
    <p:sndAc>
      <p:stSnd>
        <p:snd r:embed="rId3" name="chimes.wav"/>
      </p:stSnd>
    </p:sndAc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19800"/>
            <a:ext cx="8229600" cy="1219200"/>
          </a:xfrm>
        </p:spPr>
        <p:txBody>
          <a:bodyPr>
            <a:norm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4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Albertus Extra Bold"/>
              </a:rPr>
              <a:t>Thank You</a:t>
            </a:r>
          </a:p>
          <a:p>
            <a:endParaRPr lang="en-US" dirty="0"/>
          </a:p>
        </p:txBody>
      </p:sp>
      <p:pic>
        <p:nvPicPr>
          <p:cNvPr id="2051" name="Picture 3" descr="C:\Users\USER\Desktop\New folder (2)\IMG_4289.JPG"/>
          <p:cNvPicPr>
            <a:picLocks noGrp="1" noChangeAspect="1" noChangeArrowheads="1"/>
          </p:cNvPicPr>
          <p:nvPr>
            <p:ph idx="1"/>
          </p:nvPr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0"/>
            <a:ext cx="9144000" cy="5943600"/>
          </a:xfrm>
          <a:prstGeom prst="rect">
            <a:avLst/>
          </a:prstGeom>
          <a:noFill/>
        </p:spPr>
      </p:pic>
      <p:sp>
        <p:nvSpPr>
          <p:cNvPr id="7" name="TextBox 6"/>
          <p:cNvSpPr txBox="1"/>
          <p:nvPr/>
        </p:nvSpPr>
        <p:spPr>
          <a:xfrm>
            <a:off x="228600" y="5334000"/>
            <a:ext cx="228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rgbClr val="FFFF00"/>
                </a:solidFill>
                <a:latin typeface="NikoshBAN" pitchFamily="2" charset="0"/>
                <a:cs typeface="NikoshBAN" pitchFamily="2" charset="0"/>
              </a:rPr>
              <a:t>আমাদের</a:t>
            </a:r>
            <a:r>
              <a:rPr lang="en-US" dirty="0" smtClean="0">
                <a:solidFill>
                  <a:srgbClr val="FFFF00"/>
                </a:solidFill>
                <a:latin typeface="NikoshBAN" pitchFamily="2" charset="0"/>
                <a:cs typeface="NikoshBAN" pitchFamily="2" charset="0"/>
              </a:rPr>
              <a:t>  </a:t>
            </a:r>
            <a:r>
              <a:rPr lang="en-US" dirty="0" err="1" smtClean="0">
                <a:solidFill>
                  <a:srgbClr val="FFFF00"/>
                </a:solidFill>
                <a:latin typeface="NikoshBAN" pitchFamily="2" charset="0"/>
                <a:cs typeface="NikoshBAN" pitchFamily="2" charset="0"/>
              </a:rPr>
              <a:t>বাগানের</a:t>
            </a:r>
            <a:r>
              <a:rPr lang="en-US" dirty="0" smtClean="0">
                <a:solidFill>
                  <a:srgbClr val="FFFF00"/>
                </a:solidFill>
                <a:latin typeface="NikoshBAN" pitchFamily="2" charset="0"/>
                <a:cs typeface="NikoshBAN" pitchFamily="2" charset="0"/>
              </a:rPr>
              <a:t> </a:t>
            </a:r>
            <a:r>
              <a:rPr lang="en-US" dirty="0" err="1" smtClean="0">
                <a:solidFill>
                  <a:srgbClr val="FFFF00"/>
                </a:solidFill>
                <a:latin typeface="NikoshBAN" pitchFamily="2" charset="0"/>
                <a:cs typeface="NikoshBAN" pitchFamily="2" charset="0"/>
              </a:rPr>
              <a:t>ফুল</a:t>
            </a:r>
            <a:endParaRPr lang="en-US" dirty="0">
              <a:solidFill>
                <a:srgbClr val="FFFF00"/>
              </a:solidFill>
              <a:latin typeface="NikoshBAN" pitchFamily="2" charset="0"/>
              <a:cs typeface="NikoshBAN" pitchFamily="2" charset="0"/>
            </a:endParaRPr>
          </a:p>
        </p:txBody>
      </p:sp>
    </p:spTree>
  </p:cSld>
  <p:clrMapOvr>
    <a:masterClrMapping/>
  </p:clrMapOvr>
  <p:transition spd="slow">
    <p:checker/>
    <p:sndAc>
      <p:stSnd>
        <p:snd r:embed="rId3" name="suction.wav"/>
      </p:stSnd>
    </p:sndAc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8"/>
          <p:cNvSpPr>
            <a:spLocks noGrp="1" noChangeArrowheads="1"/>
          </p:cNvSpPr>
          <p:nvPr>
            <p:ph type="title"/>
          </p:nvPr>
        </p:nvSpPr>
        <p:spPr>
          <a:xfrm>
            <a:off x="457200" y="944562"/>
            <a:ext cx="8305800" cy="609600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rmAutofit fontScale="90000"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800" b="1" dirty="0" smtClean="0">
                <a:ea typeface="Calibri"/>
                <a:cs typeface="Vrinda"/>
              </a:rPr>
              <a:t>3 best performing </a:t>
            </a:r>
            <a:r>
              <a:rPr lang="en-US" sz="2800" b="1" dirty="0" err="1" smtClean="0">
                <a:ea typeface="Calibri"/>
                <a:cs typeface="Vrinda"/>
              </a:rPr>
              <a:t>EmOC</a:t>
            </a:r>
            <a:r>
              <a:rPr lang="en-US" sz="2800" b="1" dirty="0" smtClean="0">
                <a:ea typeface="Calibri"/>
                <a:cs typeface="Vrinda"/>
              </a:rPr>
              <a:t> Hospital </a:t>
            </a:r>
            <a:r>
              <a:rPr lang="en-US" sz="2800" b="1" dirty="0">
                <a:ea typeface="Calibri"/>
                <a:cs typeface="Vrinda"/>
              </a:rPr>
              <a:t>in Khulna division - </a:t>
            </a:r>
            <a:r>
              <a:rPr lang="en-US" sz="2800" b="1" dirty="0" smtClean="0">
                <a:ea typeface="Calibri"/>
                <a:cs typeface="Vrinda"/>
              </a:rPr>
              <a:t>2017</a:t>
            </a:r>
            <a:endParaRPr lang="en-US" sz="2800" dirty="0">
              <a:ea typeface="Calibri"/>
              <a:cs typeface="Vrinda"/>
            </a:endParaRP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79399626"/>
              </p:ext>
            </p:extLst>
          </p:nvPr>
        </p:nvGraphicFramePr>
        <p:xfrm>
          <a:off x="457200" y="2057400"/>
          <a:ext cx="8229600" cy="4525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itle 1"/>
          <p:cNvSpPr txBox="1">
            <a:spLocks/>
          </p:cNvSpPr>
          <p:nvPr/>
        </p:nvSpPr>
        <p:spPr bwMode="auto">
          <a:xfrm>
            <a:off x="457200" y="762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895403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487362"/>
          </a:xfrm>
        </p:spPr>
        <p:txBody>
          <a:bodyPr/>
          <a:lstStyle/>
          <a:p>
            <a:r>
              <a:rPr lang="en-GB" sz="3200" dirty="0" smtClean="0"/>
              <a:t>Community support in COVID -19 Management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19200"/>
            <a:ext cx="8610600" cy="4572000"/>
          </a:xfrm>
        </p:spPr>
        <p:txBody>
          <a:bodyPr/>
          <a:lstStyle/>
          <a:p>
            <a:r>
              <a:rPr lang="en-GB" sz="2400" dirty="0" smtClean="0"/>
              <a:t>Central oxygen system 	- 1 (16 Lac)</a:t>
            </a:r>
          </a:p>
          <a:p>
            <a:r>
              <a:rPr lang="en-GB" sz="2400" dirty="0" smtClean="0"/>
              <a:t>High flow nasal cannula	- 5(20 Lac)</a:t>
            </a:r>
          </a:p>
          <a:p>
            <a:r>
              <a:rPr lang="en-GB" sz="2400" dirty="0" smtClean="0"/>
              <a:t>Oxygen concentrator	- 3(3 Lac)</a:t>
            </a:r>
          </a:p>
          <a:p>
            <a:r>
              <a:rPr lang="en-GB" sz="2400" dirty="0" smtClean="0"/>
              <a:t>Large oxygen cylinder	- 48 (3.84 Lac)</a:t>
            </a:r>
          </a:p>
          <a:p>
            <a:r>
              <a:rPr lang="en-GB" sz="2400" dirty="0" smtClean="0"/>
              <a:t>C-PAP machine		- 1 (1 Lac)</a:t>
            </a:r>
          </a:p>
          <a:p>
            <a:r>
              <a:rPr lang="en-GB" sz="2400" dirty="0" smtClean="0"/>
              <a:t>Pick-up </a:t>
            </a:r>
            <a:r>
              <a:rPr lang="en-GB" sz="2400" dirty="0" err="1" smtClean="0"/>
              <a:t>caverd</a:t>
            </a:r>
            <a:r>
              <a:rPr lang="en-GB" sz="2400" dirty="0" smtClean="0"/>
              <a:t> van	  	- 1 (8 Lac)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84051825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Donors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GB" dirty="0" smtClean="0"/>
              <a:t>Prime minister’s relief fund.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 smtClean="0"/>
              <a:t>MP, Jhenaidah-2.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 smtClean="0"/>
              <a:t>Mayor, </a:t>
            </a:r>
            <a:r>
              <a:rPr lang="en-GB" dirty="0" err="1" smtClean="0"/>
              <a:t>Jhenaidah</a:t>
            </a:r>
            <a:r>
              <a:rPr lang="en-GB" dirty="0" smtClean="0"/>
              <a:t> </a:t>
            </a:r>
            <a:r>
              <a:rPr lang="en-GB" dirty="0" err="1" smtClean="0"/>
              <a:t>pourosova</a:t>
            </a:r>
            <a:r>
              <a:rPr lang="en-GB" dirty="0" smtClean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 err="1" smtClean="0"/>
              <a:t>Jaheedi</a:t>
            </a:r>
            <a:r>
              <a:rPr lang="en-GB" dirty="0" smtClean="0"/>
              <a:t> Foundation.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 err="1" smtClean="0"/>
              <a:t>Navana</a:t>
            </a:r>
            <a:r>
              <a:rPr lang="en-GB" dirty="0" smtClean="0"/>
              <a:t> group.</a:t>
            </a:r>
          </a:p>
        </p:txBody>
      </p:sp>
    </p:spTree>
    <p:extLst>
      <p:ext uri="{BB962C8B-B14F-4D97-AF65-F5344CB8AC3E}">
        <p14:creationId xmlns:p14="http://schemas.microsoft.com/office/powerpoint/2010/main" val="3712553706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150" y="3943350"/>
            <a:ext cx="4159250" cy="311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5456" y="457200"/>
            <a:ext cx="3962399" cy="297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" name="Picture 5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399" y="457200"/>
            <a:ext cx="4267199" cy="32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" name="Picture 6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7696" y="4038600"/>
            <a:ext cx="3800104" cy="2850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28035389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09599"/>
            <a:ext cx="3657600" cy="27432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3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609600"/>
            <a:ext cx="3524250" cy="264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3521074"/>
            <a:ext cx="3505200" cy="26289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Picture 5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3505200"/>
            <a:ext cx="3602566" cy="2720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40937582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757" name="Group 301"/>
          <p:cNvGraphicFramePr>
            <a:graphicFrameLocks noGrp="1"/>
          </p:cNvGraphicFramePr>
          <p:nvPr>
            <p:ph sz="half" idx="1"/>
          </p:nvPr>
        </p:nvGraphicFramePr>
        <p:xfrm>
          <a:off x="457200" y="2590800"/>
          <a:ext cx="8153399" cy="3475039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787865"/>
                <a:gridCol w="3194870"/>
                <a:gridCol w="922497"/>
                <a:gridCol w="930031"/>
                <a:gridCol w="1136341"/>
                <a:gridCol w="1181795"/>
              </a:tblGrid>
              <a:tr h="71101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SL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No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Name of institute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ANC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NVD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C. 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Section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Total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</a:tr>
              <a:tr h="4088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01</a:t>
                      </a: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Ad-din Hospital Jessore.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23981</a:t>
                      </a: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640</a:t>
                      </a: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3075</a:t>
                      </a: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3715</a:t>
                      </a:r>
                    </a:p>
                  </a:txBody>
                  <a:tcPr marT="45713" marB="45713" horzOverflow="overflow"/>
                </a:tc>
              </a:tr>
              <a:tr h="40883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02</a:t>
                      </a:r>
                      <a:endParaRPr lang="en-US" sz="1800" dirty="0"/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Jhenaidah</a:t>
                      </a: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</a:t>
                      </a:r>
                      <a:r>
                        <a:rPr kumimoji="0" lang="en-US" sz="1600" b="1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Sadar</a:t>
                      </a: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Hospital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15360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1839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1143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2997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</a:tr>
              <a:tr h="40883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03</a:t>
                      </a:r>
                      <a:endParaRPr lang="en-US" sz="1800" dirty="0"/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250 bed Hospital, Jessore </a:t>
                      </a: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13152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1327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1778</a:t>
                      </a:r>
                      <a:endParaRPr kumimoji="0" lang="en-US" sz="2000" b="1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2967</a:t>
                      </a:r>
                      <a:endParaRPr kumimoji="0" lang="en-US" sz="2000" b="1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T="45713" marB="45713" horzOverflow="overflow"/>
                </a:tc>
              </a:tr>
              <a:tr h="40883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04</a:t>
                      </a:r>
                      <a:endParaRPr lang="en-US" sz="1800" dirty="0"/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Chowgacha UHC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18650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2163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759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2922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</a:tr>
              <a:tr h="579155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05</a:t>
                      </a:r>
                      <a:endParaRPr lang="en-US" sz="1800" dirty="0"/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Khulna Medical College Hospital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6977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1455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1228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2683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</a:tr>
              <a:tr h="54955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06</a:t>
                      </a:r>
                      <a:endParaRPr lang="en-US" sz="1800" dirty="0"/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r>
                        <a:rPr lang="en-GB" sz="1600" b="1" dirty="0" smtClean="0"/>
                        <a:t>250</a:t>
                      </a:r>
                      <a:r>
                        <a:rPr lang="en-GB" sz="1600" b="1" baseline="0" dirty="0" smtClean="0"/>
                        <a:t> Bedded Hospital, </a:t>
                      </a:r>
                      <a:r>
                        <a:rPr lang="en-GB" sz="1600" b="1" baseline="0" dirty="0" err="1" smtClean="0"/>
                        <a:t>Kushtia</a:t>
                      </a:r>
                      <a:endParaRPr lang="en-GB" sz="1600" b="1" dirty="0"/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 smtClean="0"/>
                        <a:t>4735</a:t>
                      </a:r>
                      <a:endParaRPr lang="en-GB" sz="1800" b="1" dirty="0">
                        <a:latin typeface="+mn-lt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 smtClean="0"/>
                        <a:t>1595</a:t>
                      </a:r>
                      <a:endParaRPr lang="en-GB" sz="1800" b="1" dirty="0">
                        <a:latin typeface="+mn-lt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 smtClean="0"/>
                        <a:t>919</a:t>
                      </a:r>
                      <a:endParaRPr lang="en-GB" sz="1800" b="1" dirty="0">
                        <a:latin typeface="+mn-lt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baseline="0" dirty="0" smtClean="0"/>
                        <a:t>2514</a:t>
                      </a:r>
                      <a:endParaRPr lang="en-GB" sz="1800" b="1" dirty="0">
                        <a:latin typeface="+mn-lt"/>
                      </a:endParaRPr>
                    </a:p>
                  </a:txBody>
                  <a:tcPr marT="45713" marB="45713" horzOverflow="overflow"/>
                </a:tc>
              </a:tr>
            </a:tbl>
          </a:graphicData>
        </a:graphic>
      </p:graphicFrame>
      <p:sp>
        <p:nvSpPr>
          <p:cNvPr id="3282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990600"/>
          </a:xfrm>
          <a:solidFill>
            <a:srgbClr val="BBE0E3"/>
          </a:solidFill>
        </p:spPr>
        <p:txBody>
          <a:bodyPr/>
          <a:lstStyle/>
          <a:p>
            <a:pPr eaLnBrk="1" hangingPunct="1"/>
            <a:r>
              <a:rPr lang="en-US" sz="3200" b="1" smtClean="0">
                <a:solidFill>
                  <a:srgbClr val="000000"/>
                </a:solidFill>
              </a:rPr>
              <a:t>Upazila Health  Complex</a:t>
            </a:r>
            <a:br>
              <a:rPr lang="en-US" sz="3200" b="1" smtClean="0">
                <a:solidFill>
                  <a:srgbClr val="000000"/>
                </a:solidFill>
              </a:rPr>
            </a:br>
            <a:r>
              <a:rPr lang="en-US" sz="2000" b="1" smtClean="0">
                <a:solidFill>
                  <a:srgbClr val="000000"/>
                </a:solidFill>
              </a:rPr>
              <a:t>CHOWGACHA , JESSORE.</a:t>
            </a:r>
          </a:p>
        </p:txBody>
      </p:sp>
      <p:sp>
        <p:nvSpPr>
          <p:cNvPr id="32829" name="Rectangle 4"/>
          <p:cNvSpPr>
            <a:spLocks noChangeArrowheads="1"/>
          </p:cNvSpPr>
          <p:nvPr/>
        </p:nvSpPr>
        <p:spPr bwMode="auto">
          <a:xfrm>
            <a:off x="457200" y="1447800"/>
            <a:ext cx="8153400" cy="990600"/>
          </a:xfrm>
          <a:prstGeom prst="rect">
            <a:avLst/>
          </a:prstGeom>
          <a:solidFill>
            <a:srgbClr val="00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2400">
                <a:solidFill>
                  <a:srgbClr val="3333CC"/>
                </a:solidFill>
              </a:rPr>
              <a:t>Comparative Data of Delivery of best performing EOC center of Khulna Division in 2017</a:t>
            </a:r>
          </a:p>
        </p:txBody>
      </p:sp>
    </p:spTree>
    <p:extLst>
      <p:ext uri="{BB962C8B-B14F-4D97-AF65-F5344CB8AC3E}">
        <p14:creationId xmlns:p14="http://schemas.microsoft.com/office/powerpoint/2010/main" val="2646181876"/>
      </p:ext>
    </p:extLst>
  </p:cSld>
  <p:clrMapOvr>
    <a:masterClrMapping/>
  </p:clrMapOvr>
  <p:transition spd="slow">
    <p:zoom dir="in"/>
    <p:sndAc>
      <p:stSnd>
        <p:snd r:embed="rId3" name="chimes.wav"/>
      </p:stSnd>
    </p:sndAc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Couture</Template>
  <TotalTime>4907</TotalTime>
  <Words>1017</Words>
  <Application>Microsoft Office PowerPoint</Application>
  <PresentationFormat>On-screen Show (4:3)</PresentationFormat>
  <Paragraphs>370</Paragraphs>
  <Slides>45</Slides>
  <Notes>13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7" baseType="lpstr">
      <vt:lpstr>Office Theme</vt:lpstr>
      <vt:lpstr>Chart</vt:lpstr>
      <vt:lpstr>PowerPoint Presentation</vt:lpstr>
      <vt:lpstr>PowerPoint Presentation</vt:lpstr>
      <vt:lpstr>PowerPoint Presentation</vt:lpstr>
      <vt:lpstr>PowerPoint Presentation</vt:lpstr>
      <vt:lpstr>Upazila Health  Complex CHOWGACHA , JESSORE.</vt:lpstr>
      <vt:lpstr>Upazila Health  Complex CHOWGACHA , JESSORE.</vt:lpstr>
      <vt:lpstr>Upazila Health  Complex CHOWGACHA , JESSORE.</vt:lpstr>
      <vt:lpstr>Upazilla Health  Complex CHOWGACHA , JESSORE.</vt:lpstr>
      <vt:lpstr>PowerPoint Presentation</vt:lpstr>
      <vt:lpstr>100 kh¨v wewkó m`i nvmcvZvj, wSbvB`n</vt:lpstr>
      <vt:lpstr>Challenges of the hospital in 2012</vt:lpstr>
      <vt:lpstr>PowerPoint Presentation</vt:lpstr>
      <vt:lpstr>Emergency + Out Door &amp; Indoor  Service 1998 to 2019</vt:lpstr>
      <vt:lpstr>Operation Service (Major) 2011 to 2019</vt:lpstr>
      <vt:lpstr>PowerPoint Presentation</vt:lpstr>
      <vt:lpstr>Total ANC and Delivery in Jhenaidah District Hospital 2011-2019</vt:lpstr>
      <vt:lpstr>  Comparative data of revenue income (in Taka) from 2015 to 2019 </vt:lpstr>
      <vt:lpstr>Comparative data of 4 best performing EOC Centre of Khulna division 2019</vt:lpstr>
      <vt:lpstr>PowerPoint Presentation</vt:lpstr>
      <vt:lpstr>PowerPoint Presentation</vt:lpstr>
      <vt:lpstr>Changes in EOC Ward</vt:lpstr>
      <vt:lpstr>PowerPoint Presentation</vt:lpstr>
      <vt:lpstr>PowerPoint Presentation</vt:lpstr>
      <vt:lpstr>Use of direction sign, labeling of rooms, clean latrine and waste segregation</vt:lpstr>
      <vt:lpstr>Use of color code, alignment of picture &amp; continuous big cleaning day</vt:lpstr>
      <vt:lpstr>Innovative activities of Jhenaidah Sadar Hospital - 1</vt:lpstr>
      <vt:lpstr>PowerPoint Presentation</vt:lpstr>
      <vt:lpstr>PowerPoint Presentation</vt:lpstr>
      <vt:lpstr>Innovative activities of Jhenaidah Sadar Hospital - 4</vt:lpstr>
      <vt:lpstr>Innovative activities of Jhenaidah Sadar Hospital - 5</vt:lpstr>
      <vt:lpstr>Involvement of MP, District Administrator &amp; Mayor in Sadar Hospital</vt:lpstr>
      <vt:lpstr>Involvement of district high officials in hospital activities </vt:lpstr>
      <vt:lpstr>Internal Monitoring System</vt:lpstr>
      <vt:lpstr>PowerPoint Presentation</vt:lpstr>
      <vt:lpstr>Hospital Environment</vt:lpstr>
      <vt:lpstr>Community support in COVID -19 Management-2</vt:lpstr>
      <vt:lpstr>Community support in COVID -19 Management-1</vt:lpstr>
      <vt:lpstr>PowerPoint Presentation</vt:lpstr>
      <vt:lpstr>Thank You </vt:lpstr>
      <vt:lpstr>3 best performing EmOC Hospital in Khulna division - 2017</vt:lpstr>
      <vt:lpstr>Community support in COVID -19 Management</vt:lpstr>
      <vt:lpstr>Donors</vt:lpstr>
      <vt:lpstr>PowerPoint Presentation</vt:lpstr>
      <vt:lpstr>PowerPoint Presentation</vt:lpstr>
      <vt:lpstr>Upazila Health  Complex CHOWGACHA , JESSORE.</vt:lpstr>
    </vt:vector>
  </TitlesOfParts>
  <Company>UNICEF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Progress and good practice of Quality Improvement through 5S-CQI-TQM approach</dc:title>
  <dc:creator>Emdad</dc:creator>
  <cp:lastModifiedBy>Emdad</cp:lastModifiedBy>
  <cp:revision>742</cp:revision>
  <cp:lastPrinted>2017-03-18T23:47:54Z</cp:lastPrinted>
  <dcterms:created xsi:type="dcterms:W3CDTF">2013-05-05T09:56:19Z</dcterms:created>
  <dcterms:modified xsi:type="dcterms:W3CDTF">2022-02-13T16:13:15Z</dcterms:modified>
</cp:coreProperties>
</file>